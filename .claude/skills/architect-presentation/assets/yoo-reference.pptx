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6DFF4-997A-46AB-885E-08C25B81A166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17B06-B204-4E73-B04E-053CD704EF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7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166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45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55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79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775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923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657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649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90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546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593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192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00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79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02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57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96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14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113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34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52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12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70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466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2" name="갈매기형 수장 21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 smtClean="0">
                <a:solidFill>
                  <a:schemeClr val="bg1"/>
                </a:solidFill>
              </a:rPr>
              <a:t>과제 소개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갈매기형 수장 22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 smtClean="0">
                <a:solidFill>
                  <a:schemeClr val="bg1"/>
                </a:solidFill>
              </a:rPr>
              <a:t>요구사항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 smtClean="0">
                <a:solidFill>
                  <a:schemeClr val="bg1"/>
                </a:solidFill>
              </a:rPr>
              <a:t>설계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 smtClean="0">
                <a:solidFill>
                  <a:schemeClr val="bg1"/>
                </a:solidFill>
              </a:rPr>
              <a:t>구현</a:t>
            </a:r>
            <a:r>
              <a:rPr lang="en-US" altLang="ko-KR" sz="1000" b="1" dirty="0" smtClean="0">
                <a:solidFill>
                  <a:schemeClr val="bg1"/>
                </a:solidFill>
              </a:rPr>
              <a:t>/</a:t>
            </a:r>
            <a:r>
              <a:rPr lang="ko-KR" altLang="en-US" sz="1000" b="1" dirty="0" smtClean="0">
                <a:solidFill>
                  <a:schemeClr val="bg1"/>
                </a:solidFill>
              </a:rPr>
              <a:t>검증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7" name="갈매기형 수장 26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 smtClean="0">
                <a:solidFill>
                  <a:schemeClr val="bg1"/>
                </a:solidFill>
              </a:rPr>
              <a:t>결론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 smtClean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507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42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867400" y="6597650"/>
            <a:ext cx="45720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 smtClean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595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83F9-11C6-43F9-9CCF-256006557EC2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4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5.png"/><Relationship Id="rId5" Type="http://schemas.openxmlformats.org/officeDocument/2006/relationships/image" Target="../media/image84.gif"/><Relationship Id="rId4" Type="http://schemas.openxmlformats.org/officeDocument/2006/relationships/image" Target="../media/image8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amsung Semiconductor eSTORAGE UFS, Powering the Future of Mobile Stor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24667"/>
            <a:ext cx="12192000" cy="42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0" y="0"/>
            <a:ext cx="12192000" cy="2624667"/>
          </a:xfrm>
          <a:prstGeom prst="rect">
            <a:avLst/>
          </a:prstGeom>
          <a:solidFill>
            <a:srgbClr val="0501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635710" y="1825676"/>
            <a:ext cx="109205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60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SAMSUNG UFS </a:t>
            </a:r>
            <a:r>
              <a:rPr lang="en-US" altLang="ko-KR" sz="6000" b="1" dirty="0">
                <a:solidFill>
                  <a:schemeClr val="bg1"/>
                </a:solidFill>
                <a:cs typeface="Times New Roman" panose="02020603050405020304" pitchFamily="18" charset="0"/>
              </a:rPr>
              <a:t>FTL </a:t>
            </a:r>
            <a:r>
              <a:rPr lang="en-US" altLang="ko-KR" sz="60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Platform</a:t>
            </a:r>
            <a:endParaRPr lang="ko-KR" altLang="en-US" sz="6000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87754" y="1580632"/>
            <a:ext cx="4455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Powering the future of mobile storage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57604" y="5469884"/>
            <a:ext cx="28696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메모리 사업부 </a:t>
            </a:r>
            <a:r>
              <a:rPr lang="en-US" altLang="ko-KR" b="1" dirty="0" smtClean="0">
                <a:solidFill>
                  <a:schemeClr val="bg1"/>
                </a:solidFill>
              </a:rPr>
              <a:t>SW </a:t>
            </a:r>
            <a:r>
              <a:rPr lang="ko-KR" altLang="en-US" b="1" dirty="0" smtClean="0">
                <a:solidFill>
                  <a:schemeClr val="bg1"/>
                </a:solidFill>
              </a:rPr>
              <a:t>개발팀</a:t>
            </a:r>
            <a:endParaRPr lang="en-US" altLang="ko-KR" b="1" dirty="0" smtClean="0">
              <a:solidFill>
                <a:schemeClr val="bg1"/>
              </a:solidFill>
            </a:endParaRPr>
          </a:p>
          <a:p>
            <a:r>
              <a:rPr lang="ko-KR" altLang="en-US" b="1" dirty="0" smtClean="0">
                <a:solidFill>
                  <a:schemeClr val="bg1"/>
                </a:solidFill>
              </a:rPr>
              <a:t>유 상 욱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11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This is Samsung UFS 3.1 1TB chip image. On the back of the chip, the chip is connected in blue and is being utilize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37760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08571" y="1697177"/>
            <a:ext cx="36838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dirty="0" smtClean="0">
                <a:solidFill>
                  <a:schemeClr val="bg1"/>
                </a:solidFill>
              </a:rPr>
              <a:t>과제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소개</a:t>
            </a:r>
            <a:endParaRPr lang="en-US" altLang="ko-KR" sz="36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3600" b="1" dirty="0" smtClean="0">
                <a:solidFill>
                  <a:schemeClr val="bg1"/>
                </a:solidFill>
              </a:rPr>
              <a:t>요구사항 분석</a:t>
            </a:r>
            <a:endParaRPr lang="en-US" altLang="ko-KR" sz="3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3600" b="1" dirty="0" smtClean="0">
                <a:solidFill>
                  <a:schemeClr val="bg1"/>
                </a:solidFill>
              </a:rPr>
              <a:t>아키텍처 설계</a:t>
            </a:r>
            <a:endParaRPr lang="en-US" altLang="ko-KR" sz="3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3600" b="1" dirty="0" smtClean="0">
                <a:solidFill>
                  <a:schemeClr val="bg1"/>
                </a:solidFill>
              </a:rPr>
              <a:t>구현 및 검증</a:t>
            </a:r>
            <a:endParaRPr lang="en-US" altLang="ko-KR" sz="3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3600" b="1" dirty="0" smtClean="0">
                <a:solidFill>
                  <a:schemeClr val="bg1"/>
                </a:solidFill>
              </a:rPr>
              <a:t>성과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및 교훈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094982" y="609438"/>
            <a:ext cx="2882199" cy="8967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 smtClean="0">
                <a:solidFill>
                  <a:schemeClr val="bg1"/>
                </a:solidFill>
              </a:rPr>
              <a:t>CONTENTS</a:t>
            </a:r>
            <a:endParaRPr lang="en-US" altLang="ko-KR" sz="4000" b="1" dirty="0">
              <a:solidFill>
                <a:schemeClr val="bg1"/>
              </a:solidFill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6615878" y="2049232"/>
            <a:ext cx="345642" cy="256921"/>
          </a:xfrm>
          <a:prstGeom prst="chevron">
            <a:avLst>
              <a:gd name="adj" fmla="val 386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갈매기형 수장 9"/>
          <p:cNvSpPr/>
          <p:nvPr/>
        </p:nvSpPr>
        <p:spPr>
          <a:xfrm>
            <a:off x="6615878" y="2872635"/>
            <a:ext cx="345642" cy="256921"/>
          </a:xfrm>
          <a:prstGeom prst="chevron">
            <a:avLst>
              <a:gd name="adj" fmla="val 386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갈매기형 수장 10"/>
          <p:cNvSpPr/>
          <p:nvPr/>
        </p:nvSpPr>
        <p:spPr>
          <a:xfrm>
            <a:off x="6615878" y="3696038"/>
            <a:ext cx="345642" cy="256921"/>
          </a:xfrm>
          <a:prstGeom prst="chevron">
            <a:avLst>
              <a:gd name="adj" fmla="val 386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6615878" y="4519441"/>
            <a:ext cx="345642" cy="256921"/>
          </a:xfrm>
          <a:prstGeom prst="chevron">
            <a:avLst>
              <a:gd name="adj" fmla="val 386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갈매기형 수장 12"/>
          <p:cNvSpPr/>
          <p:nvPr/>
        </p:nvSpPr>
        <p:spPr>
          <a:xfrm>
            <a:off x="6615878" y="5342845"/>
            <a:ext cx="345642" cy="256921"/>
          </a:xfrm>
          <a:prstGeom prst="chevron">
            <a:avLst>
              <a:gd name="adj" fmla="val 386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62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과제 배경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38025" y="5418304"/>
            <a:ext cx="373320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당 사 플래시 스토리지 중 주력 제품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전 세계에서 가장 많이 팔리는 </a:t>
            </a:r>
            <a:r>
              <a:rPr lang="en-US" altLang="ko-KR" sz="1400" dirty="0" smtClean="0"/>
              <a:t>UFS </a:t>
            </a:r>
            <a:r>
              <a:rPr lang="ko-KR" altLang="en-US" sz="1400" dirty="0" smtClean="0"/>
              <a:t>제품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경쟁사 제품 대비 최고의 성능 </a:t>
            </a:r>
            <a:r>
              <a:rPr lang="en-US" altLang="ko-KR" sz="1400" dirty="0" smtClean="0"/>
              <a:t>&amp; </a:t>
            </a:r>
            <a:r>
              <a:rPr lang="ko-KR" altLang="en-US" sz="1400" dirty="0" smtClean="0"/>
              <a:t>용량</a:t>
            </a:r>
            <a:endParaRPr lang="ko-KR" altLang="en-US" sz="14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34949" y="899160"/>
            <a:ext cx="3733202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756344" y="5185428"/>
            <a:ext cx="2740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dirty="0"/>
              <a:t>[ SAMSUNG UFS</a:t>
            </a:r>
            <a:r>
              <a:rPr lang="ko-KR" altLang="en-US" dirty="0"/>
              <a:t>의 </a:t>
            </a:r>
            <a:r>
              <a:rPr lang="en-US" altLang="ko-KR" dirty="0"/>
              <a:t>Market Share ]</a:t>
            </a:r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024" y="3350797"/>
            <a:ext cx="3506902" cy="1836470"/>
          </a:xfrm>
          <a:prstGeom prst="rect">
            <a:avLst/>
          </a:prstGeom>
        </p:spPr>
      </p:pic>
      <p:sp>
        <p:nvSpPr>
          <p:cNvPr id="16" name="모서리가 둥근 직사각형 15"/>
          <p:cNvSpPr/>
          <p:nvPr/>
        </p:nvSpPr>
        <p:spPr>
          <a:xfrm>
            <a:off x="4229399" y="899160"/>
            <a:ext cx="3733202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223849" y="899160"/>
            <a:ext cx="3733202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678548" y="2972837"/>
            <a:ext cx="2886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+mn-ea"/>
              </a:rPr>
              <a:t>[ Flash Storage </a:t>
            </a:r>
            <a:r>
              <a:rPr lang="ko-KR" altLang="en-US" sz="1000" dirty="0" smtClean="0">
                <a:latin typeface="+mn-ea"/>
              </a:rPr>
              <a:t>제품 군 별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매출</a:t>
            </a:r>
            <a:r>
              <a:rPr lang="en-US" altLang="ko-KR" sz="1000" dirty="0" smtClean="0">
                <a:latin typeface="+mn-ea"/>
              </a:rPr>
              <a:t>(2019</a:t>
            </a:r>
            <a:r>
              <a:rPr lang="ko-KR" altLang="en-US" sz="1000" dirty="0" smtClean="0">
                <a:latin typeface="+mn-ea"/>
              </a:rPr>
              <a:t>년</a:t>
            </a:r>
            <a:r>
              <a:rPr lang="en-US" altLang="ko-KR" sz="1000" dirty="0" smtClean="0">
                <a:latin typeface="+mn-ea"/>
              </a:rPr>
              <a:t>) ]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749" y="1186002"/>
            <a:ext cx="3396793" cy="40270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0" y="5418304"/>
            <a:ext cx="373320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극한의 원가 경쟁력을 확보할 것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메모리는 초격차를 더욱 확대할 것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미래에 선제 대응하여 불확실성에 대응</a:t>
            </a:r>
            <a:endParaRPr lang="ko-KR" alt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8726069" y="5185428"/>
            <a:ext cx="2740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dirty="0"/>
              <a:t>[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DS</a:t>
            </a:r>
            <a:r>
              <a:rPr lang="ko-KR" altLang="en-US" dirty="0" smtClean="0"/>
              <a:t>부문 경영방침 설명회</a:t>
            </a:r>
            <a:r>
              <a:rPr lang="en-US" altLang="ko-KR" dirty="0" smtClean="0"/>
              <a:t> 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26324" y="5418304"/>
            <a:ext cx="373320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모바일 스토리지 중 최신 기술</a:t>
            </a:r>
            <a:r>
              <a:rPr lang="ko-KR" altLang="en-US" sz="1400" dirty="0"/>
              <a:t>의</a:t>
            </a:r>
            <a:r>
              <a:rPr lang="ko-KR" altLang="en-US" sz="1400" dirty="0" smtClean="0"/>
              <a:t> 제품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 smtClean="0"/>
              <a:t>Low Cost, Low Power, High Performance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 smtClean="0"/>
              <a:t>VR, AR, Automotive </a:t>
            </a:r>
            <a:r>
              <a:rPr lang="ko-KR" altLang="en-US" sz="1400" dirty="0" smtClean="0"/>
              <a:t>등 다양한 사용처</a:t>
            </a:r>
            <a:endParaRPr lang="ko-KR" altLang="en-US" sz="1400" dirty="0"/>
          </a:p>
        </p:txBody>
      </p:sp>
      <p:sp>
        <p:nvSpPr>
          <p:cNvPr id="36" name="타원 35"/>
          <p:cNvSpPr/>
          <p:nvPr/>
        </p:nvSpPr>
        <p:spPr>
          <a:xfrm>
            <a:off x="335377" y="1916164"/>
            <a:ext cx="1209404" cy="1001787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SCSI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2683316" y="1916164"/>
            <a:ext cx="1209404" cy="1001787"/>
          </a:xfrm>
          <a:prstGeom prst="ellipse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eMMC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" name="타원 3071"/>
          <p:cNvSpPr/>
          <p:nvPr/>
        </p:nvSpPr>
        <p:spPr>
          <a:xfrm>
            <a:off x="1231400" y="1773398"/>
            <a:ext cx="1681723" cy="1309274"/>
          </a:xfrm>
          <a:prstGeom prst="ellipse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UFS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3" name="TextBox 3072"/>
          <p:cNvSpPr txBox="1"/>
          <p:nvPr/>
        </p:nvSpPr>
        <p:spPr>
          <a:xfrm>
            <a:off x="335377" y="1207802"/>
            <a:ext cx="13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 smtClean="0"/>
              <a:t>High Speed Serial I/F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 smtClean="0"/>
              <a:t>Command Queue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 smtClean="0"/>
              <a:t>Proven Architecture</a:t>
            </a:r>
            <a:endParaRPr lang="ko-KR" altLang="en-US" sz="800" dirty="0"/>
          </a:p>
        </p:txBody>
      </p:sp>
      <p:sp>
        <p:nvSpPr>
          <p:cNvPr id="39" name="TextBox 38"/>
          <p:cNvSpPr txBox="1"/>
          <p:nvPr/>
        </p:nvSpPr>
        <p:spPr>
          <a:xfrm>
            <a:off x="2498623" y="1221808"/>
            <a:ext cx="1362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 smtClean="0"/>
              <a:t>Low Power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 smtClean="0"/>
              <a:t>Low Cost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 smtClean="0"/>
              <a:t>Optimized for Mobile</a:t>
            </a:r>
            <a:endParaRPr lang="ko-KR" altLang="en-US" sz="800" dirty="0"/>
          </a:p>
        </p:txBody>
      </p:sp>
      <p:sp>
        <p:nvSpPr>
          <p:cNvPr id="3075" name="모서리가 둥근 직사각형 3074"/>
          <p:cNvSpPr/>
          <p:nvPr/>
        </p:nvSpPr>
        <p:spPr>
          <a:xfrm>
            <a:off x="326752" y="1186002"/>
            <a:ext cx="1399275" cy="50886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2480457" y="1186002"/>
            <a:ext cx="1399275" cy="50886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8" name="직선 연결선 3077"/>
          <p:cNvCxnSpPr/>
          <p:nvPr/>
        </p:nvCxnSpPr>
        <p:spPr>
          <a:xfrm>
            <a:off x="1397000" y="1694867"/>
            <a:ext cx="0" cy="7331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2800350" y="1694867"/>
            <a:ext cx="0" cy="7331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Picture 10" descr="This is the image of Samsung UFS 3.1 1TB chip. Behind the chip, the image playback image and the image of several lifestyle images are shown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44" y="3242820"/>
            <a:ext cx="1739065" cy="175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12" descr="It's an image of a car driving on the road, a man wearing VR, a person holding a cell phone, and a person holding a hologram of a car.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4" b="10641"/>
          <a:stretch/>
        </p:blipFill>
        <p:spPr bwMode="auto">
          <a:xfrm>
            <a:off x="2208271" y="3242820"/>
            <a:ext cx="1653158" cy="18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731419" y="5185428"/>
            <a:ext cx="2740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dirty="0"/>
              <a:t>[ SAMSUNG UFS</a:t>
            </a:r>
            <a:r>
              <a:rPr lang="ko-KR" altLang="en-US" dirty="0"/>
              <a:t>의 </a:t>
            </a:r>
            <a:r>
              <a:rPr lang="ko-KR" altLang="en-US" dirty="0" smtClean="0"/>
              <a:t>특징 및 사용 범위</a:t>
            </a:r>
            <a:r>
              <a:rPr lang="en-US" altLang="ko-KR" dirty="0" smtClean="0"/>
              <a:t> 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089" name="직사각형 3088"/>
          <p:cNvSpPr/>
          <p:nvPr/>
        </p:nvSpPr>
        <p:spPr>
          <a:xfrm>
            <a:off x="8640938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경영진 </a:t>
            </a:r>
            <a:r>
              <a:rPr lang="en-US" altLang="ko-KR" sz="1600" b="1" dirty="0" smtClean="0"/>
              <a:t>Message</a:t>
            </a:r>
            <a:endParaRPr lang="ko-KR" altLang="en-US" sz="1600" b="1" dirty="0"/>
          </a:p>
        </p:txBody>
      </p:sp>
      <p:sp>
        <p:nvSpPr>
          <p:cNvPr id="62" name="직사각형 61"/>
          <p:cNvSpPr/>
          <p:nvPr/>
        </p:nvSpPr>
        <p:spPr>
          <a:xfrm>
            <a:off x="4626793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비즈니스 환경</a:t>
            </a:r>
            <a:endParaRPr lang="ko-KR" altLang="en-US" sz="16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2343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/>
              <a:t>UFS </a:t>
            </a:r>
            <a:r>
              <a:rPr lang="ko-KR" altLang="en-US" sz="1600" b="1" dirty="0" smtClean="0"/>
              <a:t>제품</a:t>
            </a:r>
            <a:endParaRPr lang="ko-KR" altLang="en-US" sz="1600" b="1" dirty="0"/>
          </a:p>
        </p:txBody>
      </p:sp>
      <p:pic>
        <p:nvPicPr>
          <p:cNvPr id="3091" name="그림 30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472" y="1277625"/>
            <a:ext cx="3563454" cy="16688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54574" y="3823681"/>
            <a:ext cx="435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solidFill>
                  <a:schemeClr val="accent2">
                    <a:lumMod val="75000"/>
                  </a:schemeClr>
                </a:solidFill>
              </a:rPr>
              <a:t>62%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15527" y="3450156"/>
            <a:ext cx="435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solidFill>
                  <a:schemeClr val="accent5">
                    <a:lumMod val="75000"/>
                  </a:schemeClr>
                </a:solidFill>
              </a:rPr>
              <a:t>67%</a:t>
            </a:r>
            <a:endParaRPr lang="ko-KR" alt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80589" y="3375190"/>
            <a:ext cx="435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68%</a:t>
            </a:r>
            <a:endParaRPr lang="ko-KR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550578" y="457199"/>
            <a:ext cx="15700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6759465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6968352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177241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49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/>
          <p:cNvSpPr/>
          <p:nvPr/>
        </p:nvSpPr>
        <p:spPr>
          <a:xfrm>
            <a:off x="6172198" y="899160"/>
            <a:ext cx="5830571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34948" y="899160"/>
            <a:ext cx="5830571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과제 필요성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32342" y="698834"/>
            <a:ext cx="4716897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기술 선도를 통한 초격차 경쟁력 확보</a:t>
            </a:r>
            <a:endParaRPr lang="ko-KR" altLang="en-US" sz="1600" b="1" dirty="0"/>
          </a:p>
        </p:txBody>
      </p:sp>
      <p:sp>
        <p:nvSpPr>
          <p:cNvPr id="7" name="직사각형 6"/>
          <p:cNvSpPr/>
          <p:nvPr/>
        </p:nvSpPr>
        <p:spPr>
          <a:xfrm>
            <a:off x="6729034" y="698834"/>
            <a:ext cx="4716897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다양한 고객사 및 </a:t>
            </a:r>
            <a:r>
              <a:rPr lang="en-US" altLang="ko-KR" sz="1600" b="1" dirty="0" smtClean="0"/>
              <a:t>NAND Flash </a:t>
            </a:r>
            <a:r>
              <a:rPr lang="ko-KR" altLang="en-US" sz="1600" b="1" dirty="0" smtClean="0"/>
              <a:t>대응</a:t>
            </a:r>
            <a:endParaRPr lang="ko-KR" altLang="en-US" sz="1600" b="1" dirty="0"/>
          </a:p>
        </p:txBody>
      </p:sp>
      <p:grpSp>
        <p:nvGrpSpPr>
          <p:cNvPr id="7171" name="그룹 7170"/>
          <p:cNvGrpSpPr/>
          <p:nvPr/>
        </p:nvGrpSpPr>
        <p:grpSpPr>
          <a:xfrm>
            <a:off x="6729034" y="1374123"/>
            <a:ext cx="4908559" cy="2324937"/>
            <a:chOff x="6324599" y="1350822"/>
            <a:chExt cx="5619459" cy="2661655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4599" y="1442549"/>
              <a:ext cx="2141115" cy="357494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13113" y="1442547"/>
              <a:ext cx="1856690" cy="1041184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4599" y="2632630"/>
              <a:ext cx="1969485" cy="663298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15103" y="1350822"/>
              <a:ext cx="1028955" cy="1028955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24599" y="2056221"/>
              <a:ext cx="2148372" cy="427510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40667" y="2407882"/>
              <a:ext cx="783373" cy="804545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74645" y="2632630"/>
              <a:ext cx="2313169" cy="527318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24599" y="3337538"/>
              <a:ext cx="2754477" cy="674939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11205" y="3242282"/>
              <a:ext cx="2446695" cy="737022"/>
            </a:xfrm>
            <a:prstGeom prst="rect">
              <a:avLst/>
            </a:prstGeom>
          </p:spPr>
        </p:pic>
      </p:grp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12"/>
          <a:srcRect l="10088" r="10187"/>
          <a:stretch/>
        </p:blipFill>
        <p:spPr>
          <a:xfrm>
            <a:off x="480601" y="1450400"/>
            <a:ext cx="2390503" cy="221954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13"/>
          <a:srcRect l="10482" r="9007"/>
          <a:stretch/>
        </p:blipFill>
        <p:spPr>
          <a:xfrm>
            <a:off x="3455657" y="1450399"/>
            <a:ext cx="2383971" cy="2219543"/>
          </a:xfrm>
          <a:prstGeom prst="rect">
            <a:avLst/>
          </a:prstGeom>
        </p:spPr>
      </p:pic>
      <p:sp>
        <p:nvSpPr>
          <p:cNvPr id="28" name="오른쪽 화살표 27"/>
          <p:cNvSpPr/>
          <p:nvPr/>
        </p:nvSpPr>
        <p:spPr>
          <a:xfrm>
            <a:off x="2960897" y="2370759"/>
            <a:ext cx="429032" cy="37882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5442409" y="3474744"/>
            <a:ext cx="1894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" name="TextBox 7168"/>
          <p:cNvSpPr txBox="1"/>
          <p:nvPr/>
        </p:nvSpPr>
        <p:spPr>
          <a:xfrm>
            <a:off x="5602018" y="3399677"/>
            <a:ext cx="4304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:</a:t>
            </a:r>
            <a:r>
              <a:rPr lang="ko-KR" altLang="en-US" sz="600" dirty="0" smtClean="0"/>
              <a:t>자社</a:t>
            </a:r>
            <a:endParaRPr lang="ko-KR" altLang="en-US" sz="600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5442409" y="3607940"/>
            <a:ext cx="189412" cy="0"/>
          </a:xfrm>
          <a:prstGeom prst="line">
            <a:avLst/>
          </a:prstGeom>
          <a:ln w="38100">
            <a:solidFill>
              <a:srgbClr val="EE7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02018" y="3532873"/>
            <a:ext cx="4304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:</a:t>
            </a:r>
            <a:r>
              <a:rPr lang="ko-KR" altLang="en-US" sz="600" dirty="0" smtClean="0"/>
              <a:t>타社</a:t>
            </a:r>
            <a:endParaRPr lang="ko-KR" altLang="en-US" sz="600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2273396" y="3474744"/>
            <a:ext cx="1894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433005" y="3367022"/>
            <a:ext cx="4304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:</a:t>
            </a:r>
            <a:r>
              <a:rPr lang="ko-KR" altLang="en-US" sz="600" dirty="0" smtClean="0"/>
              <a:t>자社</a:t>
            </a:r>
            <a:endParaRPr lang="ko-KR" altLang="en-US" sz="600" dirty="0"/>
          </a:p>
        </p:txBody>
      </p:sp>
      <p:cxnSp>
        <p:nvCxnSpPr>
          <p:cNvPr id="39" name="직선 연결선 38"/>
          <p:cNvCxnSpPr/>
          <p:nvPr/>
        </p:nvCxnSpPr>
        <p:spPr>
          <a:xfrm>
            <a:off x="2273396" y="3607940"/>
            <a:ext cx="189412" cy="0"/>
          </a:xfrm>
          <a:prstGeom prst="line">
            <a:avLst/>
          </a:prstGeom>
          <a:ln w="38100">
            <a:solidFill>
              <a:srgbClr val="EE7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33005" y="3500218"/>
            <a:ext cx="4304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:</a:t>
            </a:r>
            <a:r>
              <a:rPr lang="ko-KR" altLang="en-US" sz="600" dirty="0" smtClean="0"/>
              <a:t>타社</a:t>
            </a:r>
            <a:endParaRPr lang="ko-KR" altLang="en-US" sz="600" dirty="0"/>
          </a:p>
        </p:txBody>
      </p:sp>
      <p:sp>
        <p:nvSpPr>
          <p:cNvPr id="42" name="TextBox 41"/>
          <p:cNvSpPr txBox="1"/>
          <p:nvPr/>
        </p:nvSpPr>
        <p:spPr>
          <a:xfrm>
            <a:off x="6172198" y="1099256"/>
            <a:ext cx="5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 smtClean="0"/>
              <a:t>■ 당사 </a:t>
            </a:r>
            <a:r>
              <a:rPr lang="en-US" altLang="ko-KR" sz="1400" dirty="0" smtClean="0"/>
              <a:t>UFS</a:t>
            </a:r>
            <a:r>
              <a:rPr lang="ko-KR" altLang="en-US" sz="1400" dirty="0" smtClean="0"/>
              <a:t>를 사용하는 다양한 고객과 그에 따른 고객사 별 요구사항</a:t>
            </a:r>
            <a:endParaRPr lang="ko-KR" altLang="en-US" sz="1400" dirty="0"/>
          </a:p>
        </p:txBody>
      </p:sp>
      <p:graphicFrame>
        <p:nvGraphicFramePr>
          <p:cNvPr id="7170" name="표 7169"/>
          <p:cNvGraphicFramePr>
            <a:graphicFrameLocks noGrp="1"/>
          </p:cNvGraphicFramePr>
          <p:nvPr>
            <p:extLst/>
          </p:nvPr>
        </p:nvGraphicFramePr>
        <p:xfrm>
          <a:off x="6392980" y="4241565"/>
          <a:ext cx="5372191" cy="215279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769297">
                  <a:extLst>
                    <a:ext uri="{9D8B030D-6E8A-4147-A177-3AD203B41FA5}">
                      <a16:colId xmlns:a16="http://schemas.microsoft.com/office/drawing/2014/main" val="3378465947"/>
                    </a:ext>
                  </a:extLst>
                </a:gridCol>
                <a:gridCol w="707634">
                  <a:extLst>
                    <a:ext uri="{9D8B030D-6E8A-4147-A177-3AD203B41FA5}">
                      <a16:colId xmlns:a16="http://schemas.microsoft.com/office/drawing/2014/main" val="1657272948"/>
                    </a:ext>
                  </a:extLst>
                </a:gridCol>
                <a:gridCol w="773155">
                  <a:extLst>
                    <a:ext uri="{9D8B030D-6E8A-4147-A177-3AD203B41FA5}">
                      <a16:colId xmlns:a16="http://schemas.microsoft.com/office/drawing/2014/main" val="3955365195"/>
                    </a:ext>
                  </a:extLst>
                </a:gridCol>
                <a:gridCol w="1428371">
                  <a:extLst>
                    <a:ext uri="{9D8B030D-6E8A-4147-A177-3AD203B41FA5}">
                      <a16:colId xmlns:a16="http://schemas.microsoft.com/office/drawing/2014/main" val="390535436"/>
                    </a:ext>
                  </a:extLst>
                </a:gridCol>
                <a:gridCol w="855057">
                  <a:extLst>
                    <a:ext uri="{9D8B030D-6E8A-4147-A177-3AD203B41FA5}">
                      <a16:colId xmlns:a16="http://schemas.microsoft.com/office/drawing/2014/main" val="444953222"/>
                    </a:ext>
                  </a:extLst>
                </a:gridCol>
                <a:gridCol w="838677">
                  <a:extLst>
                    <a:ext uri="{9D8B030D-6E8A-4147-A177-3AD203B41FA5}">
                      <a16:colId xmlns:a16="http://schemas.microsoft.com/office/drawing/2014/main" val="3897232895"/>
                    </a:ext>
                  </a:extLst>
                </a:gridCol>
              </a:tblGrid>
              <a:tr h="2214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Controller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Capacity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NAND Flash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Voltage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Interface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82718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2.2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256GB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V5 1Tb QLC 2P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G3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3214827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128GB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V5 256Gb TLC 2P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2746686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128GB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V5 256Gb TLC 2P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371126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256GB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V5 512Gb TLC 2P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8571999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512GB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V5 512Gb TLC 2P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50581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1TB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V5 512Gb TLC 2P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5828718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256GB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V6 512Gb TLC 2P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0658210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512GB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V6 512Gb TLC 2P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475706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256GB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V7 512Gb TLC 4P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7969298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512GB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V7 512Gb TLC 4P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2201863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3.1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512GB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V7 512Gb TLC 4P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G4 2Lane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2470688"/>
                  </a:ext>
                </a:extLst>
              </a:tr>
              <a:tr h="1609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Sovit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UFS 2.2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256GB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V7 1Tb QLC 4P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1.8 / 3.3 V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G3 2Lane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90620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172198" y="3894782"/>
            <a:ext cx="5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 smtClean="0"/>
              <a:t>■ 본 과제가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지원해야 하는 </a:t>
            </a:r>
            <a:r>
              <a:rPr lang="en-US" altLang="ko-KR" sz="1400" dirty="0" smtClean="0"/>
              <a:t>UFS </a:t>
            </a:r>
            <a:r>
              <a:rPr lang="ko-KR" altLang="en-US" sz="1400" dirty="0" smtClean="0"/>
              <a:t>제품 적용 </a:t>
            </a:r>
            <a:r>
              <a:rPr lang="en-US" altLang="ko-KR" sz="1400" dirty="0" smtClean="0"/>
              <a:t>Line-up</a:t>
            </a:r>
            <a:endParaRPr lang="ko-KR" alt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264303" y="1099256"/>
            <a:ext cx="5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 smtClean="0"/>
              <a:t>■ 초고성능 달성 및 파워 효율 향상을 통한 제품 초격차 경쟁력 확보</a:t>
            </a:r>
            <a:endParaRPr lang="ko-KR" alt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264303" y="3894782"/>
            <a:ext cx="5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 smtClean="0"/>
              <a:t>■ </a:t>
            </a:r>
            <a:r>
              <a:rPr lang="en-US" altLang="ko-KR" sz="1400" dirty="0"/>
              <a:t>UFS </a:t>
            </a:r>
            <a:r>
              <a:rPr lang="ko-KR" altLang="en-US" sz="1400" dirty="0" smtClean="0"/>
              <a:t>기술 先개발로</a:t>
            </a:r>
            <a:r>
              <a:rPr lang="en-US" altLang="ko-KR" sz="1400" dirty="0" smtClean="0"/>
              <a:t> </a:t>
            </a:r>
            <a:r>
              <a:rPr lang="ko-KR" altLang="en-US" sz="1400" dirty="0"/>
              <a:t>기술 선도를 통한 시장 지배력 </a:t>
            </a:r>
            <a:r>
              <a:rPr lang="ko-KR" altLang="en-US" sz="1400" dirty="0" smtClean="0"/>
              <a:t>강화</a:t>
            </a:r>
            <a:endParaRPr lang="ko-KR" alt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1268720" y="3671374"/>
            <a:ext cx="376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UFS </a:t>
            </a:r>
            <a:r>
              <a:rPr lang="ko-KR" altLang="en-US" dirty="0" smtClean="0"/>
              <a:t>제품 경쟁력 및 본 과제의 제품 경쟁력 비교</a:t>
            </a:r>
            <a:r>
              <a:rPr lang="en-US" altLang="ko-KR" dirty="0" smtClean="0"/>
              <a:t> 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7173" name="표 7172"/>
          <p:cNvGraphicFramePr>
            <a:graphicFrameLocks noGrp="1"/>
          </p:cNvGraphicFramePr>
          <p:nvPr>
            <p:extLst/>
          </p:nvPr>
        </p:nvGraphicFramePr>
        <p:xfrm>
          <a:off x="491537" y="4241565"/>
          <a:ext cx="5350463" cy="2013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880">
                  <a:extLst>
                    <a:ext uri="{9D8B030D-6E8A-4147-A177-3AD203B41FA5}">
                      <a16:colId xmlns:a16="http://schemas.microsoft.com/office/drawing/2014/main" val="910892492"/>
                    </a:ext>
                  </a:extLst>
                </a:gridCol>
                <a:gridCol w="1460040">
                  <a:extLst>
                    <a:ext uri="{9D8B030D-6E8A-4147-A177-3AD203B41FA5}">
                      <a16:colId xmlns:a16="http://schemas.microsoft.com/office/drawing/2014/main" val="2088883588"/>
                    </a:ext>
                  </a:extLst>
                </a:gridCol>
                <a:gridCol w="1460040">
                  <a:extLst>
                    <a:ext uri="{9D8B030D-6E8A-4147-A177-3AD203B41FA5}">
                      <a16:colId xmlns:a16="http://schemas.microsoft.com/office/drawing/2014/main" val="55723162"/>
                    </a:ext>
                  </a:extLst>
                </a:gridCol>
                <a:gridCol w="1356503">
                  <a:extLst>
                    <a:ext uri="{9D8B030D-6E8A-4147-A177-3AD203B41FA5}">
                      <a16:colId xmlns:a16="http://schemas.microsoft.com/office/drawing/2014/main" val="3264972241"/>
                    </a:ext>
                  </a:extLst>
                </a:gridCol>
              </a:tblGrid>
              <a:tr h="2531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Category</a:t>
                      </a:r>
                      <a:endParaRPr lang="ko-KR" altLang="en-US" sz="9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2019</a:t>
                      </a:r>
                      <a:endParaRPr lang="ko-KR" altLang="en-US" sz="9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2020</a:t>
                      </a:r>
                      <a:endParaRPr lang="ko-KR" altLang="en-US" sz="9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2021</a:t>
                      </a:r>
                      <a:endParaRPr lang="ko-KR" altLang="en-US" sz="9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136971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 smtClean="0"/>
                        <a:t>Performance Booster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146555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 smtClean="0"/>
                        <a:t>IO Management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654983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 smtClean="0"/>
                        <a:t>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084371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1268720" y="6237001"/>
            <a:ext cx="376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 smtClean="0"/>
              <a:t>당사 </a:t>
            </a:r>
            <a:r>
              <a:rPr lang="en-US" altLang="ko-KR" dirty="0" smtClean="0"/>
              <a:t>UFS </a:t>
            </a:r>
            <a:r>
              <a:rPr lang="ko-KR" altLang="en-US" dirty="0" smtClean="0"/>
              <a:t>비 표준화 기술 개발 </a:t>
            </a:r>
            <a:r>
              <a:rPr lang="ko-KR" altLang="en-US" dirty="0" err="1" smtClean="0"/>
              <a:t>로드맵</a:t>
            </a:r>
            <a:r>
              <a:rPr lang="ko-KR" altLang="en-US" dirty="0" smtClean="0"/>
              <a:t> </a:t>
            </a:r>
            <a:r>
              <a:rPr lang="en-US" altLang="ko-KR" dirty="0" smtClean="0"/>
              <a:t>]</a:t>
            </a:r>
            <a:endParaRPr lang="ko-KR" altLang="en-US" dirty="0"/>
          </a:p>
        </p:txBody>
      </p:sp>
      <p:sp>
        <p:nvSpPr>
          <p:cNvPr id="7175" name="모서리가 둥근 직사각형 7174"/>
          <p:cNvSpPr/>
          <p:nvPr/>
        </p:nvSpPr>
        <p:spPr>
          <a:xfrm>
            <a:off x="1570907" y="4557123"/>
            <a:ext cx="2848047" cy="1852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HPB 2.0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1570906" y="4824911"/>
            <a:ext cx="1540653" cy="1852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Turbo Write 1.0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022600" y="5149849"/>
            <a:ext cx="2817028" cy="18523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HID 1.0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4211955" y="5417637"/>
            <a:ext cx="1618376" cy="18523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Stream IDs 1.0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2524302" y="5738047"/>
            <a:ext cx="1342848" cy="18523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CCD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3455657" y="6005835"/>
            <a:ext cx="2374673" cy="18523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Ring Buffer 1.0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3111559" y="4824911"/>
            <a:ext cx="2718773" cy="1852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Turbo Write 1.1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4420334" y="4557123"/>
            <a:ext cx="1419294" cy="1852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HPB 3.0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1570906" y="5149849"/>
            <a:ext cx="1449322" cy="18523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HAGC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1570906" y="5417637"/>
            <a:ext cx="2628211" cy="18523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Data Tag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6550578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759465" y="457199"/>
            <a:ext cx="15700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968352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7177241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27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과제의 목적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0" y="608487"/>
            <a:ext cx="12192000" cy="1476200"/>
            <a:chOff x="0" y="608487"/>
            <a:chExt cx="12192000" cy="1476200"/>
          </a:xfrm>
        </p:grpSpPr>
        <p:sp>
          <p:nvSpPr>
            <p:cNvPr id="30" name="직사각형 29"/>
            <p:cNvSpPr/>
            <p:nvPr/>
          </p:nvSpPr>
          <p:spPr>
            <a:xfrm>
              <a:off x="0" y="608487"/>
              <a:ext cx="12192000" cy="83005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800" b="1" dirty="0" smtClean="0"/>
                <a:t>          기술 선도를 통한 초격차 전략으로 제품 경쟁력 확보</a:t>
              </a:r>
              <a:endParaRPr lang="en-US" altLang="ko-KR" sz="2800" b="1" dirty="0" smtClean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88289" y="608487"/>
              <a:ext cx="830056" cy="830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320522" y="640720"/>
              <a:ext cx="765590" cy="76559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b="1" dirty="0" smtClean="0"/>
                <a:t>1</a:t>
              </a:r>
              <a:endParaRPr lang="ko-KR" altLang="en-US" sz="360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118345" y="1446051"/>
              <a:ext cx="11073655" cy="6386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152400" lvl="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경쟁사 대비 압도적 성능 </a:t>
              </a: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및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파워 소비 </a:t>
              </a:r>
              <a:r>
                <a:rPr lang="ko-KR" altLang="en-US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효율화</a:t>
              </a: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를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위한 솔루션 확보</a:t>
              </a:r>
              <a:endParaRPr lang="ko-KR" altLang="ko-KR" sz="1400" kern="100" dirty="0">
                <a:latin typeface="Calibri" panose="020F0502020204030204" pitchFamily="34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  <a:p>
              <a:pPr marL="342900" marR="152400" lvl="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en-GB" altLang="ko-KR" sz="1400" kern="100" dirty="0">
                  <a:latin typeface="맑은 고딕" panose="020B0503020000020004" pitchFamily="50" charset="-127"/>
                  <a:ea typeface="굴림" panose="020B0600000101010101" pitchFamily="50" charset="-127"/>
                  <a:cs typeface="Times New Roman" panose="02020603050405020304" pitchFamily="18" charset="0"/>
                </a:rPr>
                <a:t>UFS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에 특화된 비 표준화 기술 전개 용이성 확보</a:t>
              </a:r>
              <a:endParaRPr lang="ko-KR" altLang="ko-KR" sz="1400" kern="100" dirty="0">
                <a:latin typeface="Calibri" panose="020F0502020204030204" pitchFamily="34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0" y="2097281"/>
            <a:ext cx="12199619" cy="1474101"/>
            <a:chOff x="0" y="2097281"/>
            <a:chExt cx="12199619" cy="1474101"/>
          </a:xfrm>
        </p:grpSpPr>
        <p:sp>
          <p:nvSpPr>
            <p:cNvPr id="31" name="직사각형 30"/>
            <p:cNvSpPr/>
            <p:nvPr/>
          </p:nvSpPr>
          <p:spPr>
            <a:xfrm>
              <a:off x="0" y="2097281"/>
              <a:ext cx="12192000" cy="83005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800" b="1" dirty="0"/>
                <a:t> </a:t>
              </a:r>
              <a:r>
                <a:rPr lang="ko-KR" altLang="en-US" sz="2800" b="1" dirty="0" smtClean="0"/>
                <a:t>         세계 최초 </a:t>
              </a:r>
              <a:r>
                <a:rPr lang="en-US" altLang="ko-KR" sz="2800" b="1" dirty="0" smtClean="0"/>
                <a:t>QLC NAND Flash</a:t>
              </a:r>
              <a:r>
                <a:rPr lang="ko-KR" altLang="en-US" sz="2800" b="1" dirty="0" smtClean="0"/>
                <a:t>가 적용된 모바일 </a:t>
              </a:r>
              <a:r>
                <a:rPr lang="en-US" altLang="ko-KR" sz="2800" b="1" dirty="0" smtClean="0"/>
                <a:t>UFS </a:t>
              </a:r>
              <a:r>
                <a:rPr lang="ko-KR" altLang="en-US" sz="2800" b="1" dirty="0" smtClean="0"/>
                <a:t>제품 개발</a:t>
              </a:r>
              <a:endParaRPr lang="en-US" altLang="ko-KR" sz="2800" b="1" dirty="0" smtClean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88289" y="2097281"/>
              <a:ext cx="830056" cy="830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/>
            <p:cNvSpPr/>
            <p:nvPr/>
          </p:nvSpPr>
          <p:spPr>
            <a:xfrm>
              <a:off x="320522" y="2129514"/>
              <a:ext cx="765590" cy="76559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b="1" dirty="0" smtClean="0"/>
                <a:t>2</a:t>
              </a:r>
              <a:endParaRPr lang="ko-KR" altLang="en-US" sz="3600" b="1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125964" y="2932746"/>
              <a:ext cx="11073655" cy="6386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15240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성능 및 신뢰성은 낮지만 원가 경쟁력이 높은 </a:t>
              </a:r>
              <a:r>
                <a:rPr lang="en-GB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QLC 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NAND Flash </a:t>
              </a:r>
              <a:r>
                <a:rPr lang="ko-KR" altLang="en-US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지원</a:t>
              </a:r>
              <a:endParaRPr lang="ko-KR" altLang="ko-KR" sz="14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15240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en-GB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QLC 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NAND</a:t>
              </a:r>
              <a:r>
                <a:rPr lang="ko-KR" altLang="en-US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를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적용함에도 당사</a:t>
              </a:r>
              <a:r>
                <a:rPr lang="en-GB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TLC NAND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수준의 사용 성능을 위한 솔루션 확보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0" y="3581389"/>
            <a:ext cx="12199619" cy="1478787"/>
            <a:chOff x="0" y="3581389"/>
            <a:chExt cx="12199619" cy="1478787"/>
          </a:xfrm>
        </p:grpSpPr>
        <p:sp>
          <p:nvSpPr>
            <p:cNvPr id="32" name="직사각형 31"/>
            <p:cNvSpPr/>
            <p:nvPr/>
          </p:nvSpPr>
          <p:spPr>
            <a:xfrm>
              <a:off x="0" y="3581389"/>
              <a:ext cx="12192000" cy="83005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800" b="1" dirty="0" smtClean="0"/>
                <a:t>          차별화된 원가 경쟁력을 위한 모바일 스토리지 솔루션</a:t>
              </a:r>
              <a:endParaRPr lang="en-US" altLang="ko-KR" sz="2800" b="1" dirty="0" smtClean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88289" y="3581389"/>
              <a:ext cx="830056" cy="830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320522" y="3616556"/>
              <a:ext cx="765590" cy="76559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b="1" dirty="0"/>
                <a:t>3</a:t>
              </a:r>
              <a:endParaRPr lang="ko-KR" altLang="en-US" sz="3600" b="1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25964" y="4421540"/>
              <a:ext cx="11073655" cy="6386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15240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en-US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Cost </a:t>
              </a:r>
              <a:r>
                <a:rPr lang="en-US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Down</a:t>
              </a:r>
              <a:r>
                <a:rPr lang="ko-KR" altLang="en-US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을 위한 </a:t>
              </a:r>
              <a:r>
                <a:rPr lang="en-US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Low Frequency CPU </a:t>
              </a:r>
              <a:r>
                <a:rPr lang="ko-KR" altLang="en-US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및 </a:t>
              </a:r>
              <a:r>
                <a:rPr lang="en-US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DRAM-less </a:t>
              </a:r>
              <a:r>
                <a:rPr lang="ko-KR" altLang="en-US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컨트롤러 사용</a:t>
              </a:r>
            </a:p>
            <a:p>
              <a:pPr marL="342900" marR="15240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ko-KR" altLang="en-US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리소스 </a:t>
              </a:r>
              <a:r>
                <a:rPr lang="ko-KR" altLang="en-US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제약을 극복하고 압도적 성능 및 </a:t>
              </a:r>
              <a:r>
                <a:rPr lang="en-US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Power </a:t>
              </a:r>
              <a:r>
                <a:rPr lang="ko-KR" altLang="en-US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효율을 확보할 수 있도록 극한의 최적화 솔루션 도출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0" y="5067250"/>
            <a:ext cx="12192000" cy="1475080"/>
            <a:chOff x="0" y="5067250"/>
            <a:chExt cx="12192000" cy="1475080"/>
          </a:xfrm>
        </p:grpSpPr>
        <p:sp>
          <p:nvSpPr>
            <p:cNvPr id="33" name="직사각형 32"/>
            <p:cNvSpPr/>
            <p:nvPr/>
          </p:nvSpPr>
          <p:spPr>
            <a:xfrm>
              <a:off x="0" y="5067250"/>
              <a:ext cx="12192000" cy="830056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800" b="1" smtClean="0"/>
                <a:t>          개발 </a:t>
              </a:r>
              <a:r>
                <a:rPr lang="en-US" altLang="ko-KR" sz="2800" b="1" smtClean="0"/>
                <a:t>Resource </a:t>
              </a:r>
              <a:r>
                <a:rPr lang="ko-KR" altLang="en-US" sz="2800" b="1" smtClean="0"/>
                <a:t>효율화를 위한 </a:t>
              </a:r>
              <a:r>
                <a:rPr lang="en-US" altLang="ko-KR" sz="2800" b="1" smtClean="0"/>
                <a:t>Software Platform </a:t>
              </a:r>
              <a:r>
                <a:rPr lang="ko-KR" altLang="en-US" sz="2800" b="1" smtClean="0"/>
                <a:t>개발</a:t>
              </a:r>
              <a:endParaRPr lang="en-US" altLang="ko-KR" sz="2800" b="1" dirty="0" smtClean="0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88289" y="5067250"/>
              <a:ext cx="830056" cy="830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/>
            <p:cNvSpPr/>
            <p:nvPr/>
          </p:nvSpPr>
          <p:spPr>
            <a:xfrm>
              <a:off x="320522" y="5099483"/>
              <a:ext cx="765590" cy="76559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b="1" dirty="0" smtClean="0"/>
                <a:t>4</a:t>
              </a:r>
              <a:endParaRPr lang="ko-KR" altLang="en-US" sz="3600" b="1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135380" y="5903694"/>
              <a:ext cx="11056620" cy="6386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15240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현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세대 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NAND Flash</a:t>
              </a: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와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차세대 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NAND Flash,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그리고 </a:t>
              </a:r>
              <a:r>
                <a:rPr lang="en-GB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TLC / QLC Solution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이 동시 </a:t>
              </a: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지원</a:t>
              </a:r>
              <a:r>
                <a:rPr lang="en-US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ko-KR" altLang="en-US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가능한 솔루션</a:t>
              </a:r>
              <a:endParaRPr lang="ko-KR" altLang="ko-KR" sz="14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152400" indent="-342900" algn="just">
                <a:spcBef>
                  <a:spcPts val="900"/>
                </a:spcBef>
                <a:buFont typeface="바탕체" panose="02030609000101010101" pitchFamily="17" charset="-127"/>
                <a:buChar char="-"/>
                <a:tabLst>
                  <a:tab pos="571500" algn="l"/>
                </a:tabLst>
              </a:pP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고객이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요구하는 다양한 기능 제공 및 고객사 제품 </a:t>
              </a:r>
              <a:r>
                <a:rPr lang="en-GB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Line-up </a:t>
              </a:r>
              <a:r>
                <a:rPr lang="ko-KR" altLang="en-US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일정에 </a:t>
              </a:r>
              <a:r>
                <a:rPr lang="ko-KR" altLang="ko-KR" sz="1400" kern="10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따른 </a:t>
              </a:r>
              <a:r>
                <a:rPr lang="ko-KR" altLang="ko-KR" sz="1400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적기 개발 필수</a:t>
              </a:r>
            </a:p>
          </p:txBody>
        </p:sp>
      </p:grpSp>
      <p:cxnSp>
        <p:nvCxnSpPr>
          <p:cNvPr id="24" name="직선 연결선 23"/>
          <p:cNvCxnSpPr/>
          <p:nvPr/>
        </p:nvCxnSpPr>
        <p:spPr>
          <a:xfrm>
            <a:off x="6550578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759465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6968352" y="457199"/>
            <a:ext cx="15700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7177241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과제 개요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0673" y="542996"/>
            <a:ext cx="11042651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1600" dirty="0" smtClean="0"/>
              <a:t>■ 과제 명</a:t>
            </a:r>
            <a:endParaRPr lang="en-US" altLang="ko-KR" sz="180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세계 최초 모바일 </a:t>
            </a:r>
            <a:r>
              <a:rPr lang="en-US" altLang="ko-KR" sz="1400" dirty="0" smtClean="0"/>
              <a:t>QLC NAND</a:t>
            </a:r>
            <a:r>
              <a:rPr lang="ko-KR" altLang="en-US" sz="1400" dirty="0" smtClean="0"/>
              <a:t>를 지원하는 초고성능 </a:t>
            </a:r>
            <a:r>
              <a:rPr lang="en-US" altLang="ko-KR" sz="1400" dirty="0" smtClean="0"/>
              <a:t>UFS FTL Platform </a:t>
            </a:r>
            <a:r>
              <a:rPr lang="ko-KR" altLang="en-US" sz="1400" dirty="0" smtClean="0"/>
              <a:t>개발</a:t>
            </a:r>
            <a:endParaRPr lang="en-US" altLang="ko-KR" sz="1400" dirty="0" smtClean="0"/>
          </a:p>
          <a:p>
            <a:pPr algn="l">
              <a:lnSpc>
                <a:spcPct val="150000"/>
              </a:lnSpc>
            </a:pPr>
            <a:r>
              <a:rPr lang="ko-KR" altLang="en-US" sz="1600" dirty="0" smtClean="0"/>
              <a:t>■ 참여 인력</a:t>
            </a:r>
            <a:endParaRPr lang="en-US" altLang="ko-KR" sz="200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전체 </a:t>
            </a:r>
            <a:r>
              <a:rPr lang="ko-KR" altLang="en-US" sz="1400" dirty="0"/>
              <a:t>인력 </a:t>
            </a:r>
            <a:r>
              <a:rPr lang="en-US" altLang="ko-KR" sz="1400" dirty="0"/>
              <a:t>: </a:t>
            </a:r>
            <a:r>
              <a:rPr lang="ko-KR" altLang="en-US" sz="1400" dirty="0"/>
              <a:t>국내 </a:t>
            </a:r>
            <a:r>
              <a:rPr lang="en-US" altLang="ko-KR" sz="1400" dirty="0" smtClean="0"/>
              <a:t>56</a:t>
            </a:r>
            <a:r>
              <a:rPr lang="ko-KR" altLang="en-US" sz="1400" dirty="0" smtClean="0"/>
              <a:t>명 </a:t>
            </a:r>
            <a:r>
              <a:rPr lang="en-US" altLang="ko-KR" sz="1400" dirty="0" smtClean="0"/>
              <a:t>(CL4 4</a:t>
            </a:r>
            <a:r>
              <a:rPr lang="ko-KR" altLang="en-US" sz="1400" dirty="0" smtClean="0"/>
              <a:t>명</a:t>
            </a:r>
            <a:r>
              <a:rPr lang="en-US" altLang="ko-KR" sz="1400" dirty="0" smtClean="0"/>
              <a:t>, CL3 20</a:t>
            </a:r>
            <a:r>
              <a:rPr lang="ko-KR" altLang="en-US" sz="1400" dirty="0" smtClean="0"/>
              <a:t>명</a:t>
            </a:r>
            <a:r>
              <a:rPr lang="en-US" altLang="ko-KR" sz="1400" dirty="0"/>
              <a:t>, CL2/1 </a:t>
            </a:r>
            <a:r>
              <a:rPr lang="en-US" altLang="ko-KR" sz="1400" dirty="0" smtClean="0"/>
              <a:t>32</a:t>
            </a:r>
            <a:r>
              <a:rPr lang="ko-KR" altLang="en-US" sz="1400" dirty="0" smtClean="0"/>
              <a:t>명</a:t>
            </a:r>
            <a:r>
              <a:rPr lang="en-US" altLang="ko-KR" sz="1400" dirty="0" smtClean="0"/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리딩 인력 </a:t>
            </a:r>
            <a:r>
              <a:rPr lang="en-US" altLang="ko-KR" sz="1400" dirty="0"/>
              <a:t>: </a:t>
            </a:r>
            <a:r>
              <a:rPr lang="ko-KR" altLang="en-US" sz="1400" dirty="0"/>
              <a:t>국내 </a:t>
            </a:r>
            <a:r>
              <a:rPr lang="en-US" altLang="ko-KR" sz="1400" dirty="0" smtClean="0"/>
              <a:t>22</a:t>
            </a:r>
            <a:r>
              <a:rPr lang="ko-KR" altLang="en-US" sz="1400" dirty="0" smtClean="0"/>
              <a:t>명 </a:t>
            </a:r>
            <a:r>
              <a:rPr lang="en-US" altLang="ko-KR" sz="1400" dirty="0" smtClean="0"/>
              <a:t>(CL4 1</a:t>
            </a:r>
            <a:r>
              <a:rPr lang="ko-KR" altLang="en-US" sz="1400" dirty="0" smtClean="0"/>
              <a:t>명</a:t>
            </a:r>
            <a:r>
              <a:rPr lang="en-US" altLang="ko-KR" sz="1400" dirty="0" smtClean="0"/>
              <a:t>, CL3 11</a:t>
            </a:r>
            <a:r>
              <a:rPr lang="ko-KR" altLang="en-US" sz="1400" dirty="0" smtClean="0"/>
              <a:t>명</a:t>
            </a:r>
            <a:r>
              <a:rPr lang="en-US" altLang="ko-KR" sz="1400" dirty="0"/>
              <a:t>, CL2/1 10</a:t>
            </a:r>
            <a:r>
              <a:rPr lang="ko-KR" altLang="en-US" sz="1400" dirty="0"/>
              <a:t>명</a:t>
            </a:r>
            <a:r>
              <a:rPr lang="en-US" altLang="ko-KR" sz="1400" dirty="0" smtClean="0"/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600" dirty="0" smtClean="0"/>
              <a:t>■ 일정</a:t>
            </a:r>
            <a:endParaRPr lang="en-US" altLang="ko-KR" sz="200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System </a:t>
            </a:r>
            <a:r>
              <a:rPr lang="ko-KR" altLang="en-US" sz="1400" dirty="0"/>
              <a:t>구성 및 </a:t>
            </a:r>
            <a:r>
              <a:rPr lang="en-US" altLang="ko-KR" sz="1400" dirty="0" smtClean="0"/>
              <a:t>*MTO (Pre-Qual.) </a:t>
            </a:r>
            <a:r>
              <a:rPr lang="en-US" altLang="ko-KR" sz="1400" dirty="0"/>
              <a:t>: 2019</a:t>
            </a:r>
            <a:r>
              <a:rPr lang="ko-KR" altLang="en-US" sz="1400" dirty="0"/>
              <a:t>년 </a:t>
            </a:r>
            <a:r>
              <a:rPr lang="en-US" altLang="ko-KR" sz="1400" dirty="0"/>
              <a:t>4</a:t>
            </a:r>
            <a:r>
              <a:rPr lang="ko-KR" altLang="en-US" sz="1400" dirty="0"/>
              <a:t>월 </a:t>
            </a:r>
            <a:r>
              <a:rPr lang="en-US" altLang="ko-KR" sz="1400" dirty="0"/>
              <a:t>~ 2020</a:t>
            </a:r>
            <a:r>
              <a:rPr lang="ko-KR" altLang="en-US" sz="1400" dirty="0"/>
              <a:t>년 </a:t>
            </a:r>
            <a:r>
              <a:rPr lang="en-US" altLang="ko-KR" sz="1400" dirty="0"/>
              <a:t>6 </a:t>
            </a:r>
            <a:r>
              <a:rPr lang="ko-KR" altLang="en-US" sz="1400" dirty="0"/>
              <a:t>월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사업화 </a:t>
            </a:r>
            <a:r>
              <a:rPr lang="en-US" altLang="ko-KR" sz="1400" dirty="0" smtClean="0"/>
              <a:t>(**CS Qual.)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2020</a:t>
            </a:r>
            <a:r>
              <a:rPr lang="ko-KR" altLang="en-US" sz="1400" dirty="0" smtClean="0"/>
              <a:t>년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월 </a:t>
            </a:r>
            <a:r>
              <a:rPr lang="en-US" altLang="ko-KR" sz="1400" dirty="0" smtClean="0"/>
              <a:t>~ 2021</a:t>
            </a:r>
            <a:r>
              <a:rPr lang="ko-KR" altLang="en-US" sz="1400" dirty="0" smtClean="0"/>
              <a:t>년 </a:t>
            </a:r>
            <a:r>
              <a:rPr lang="en-US" altLang="ko-KR" sz="1400" dirty="0" smtClean="0"/>
              <a:t>6 </a:t>
            </a:r>
            <a:r>
              <a:rPr lang="ko-KR" altLang="en-US" sz="1400" dirty="0" smtClean="0"/>
              <a:t>월</a:t>
            </a:r>
            <a:endParaRPr lang="en-US" altLang="ko-KR" sz="1600" dirty="0"/>
          </a:p>
        </p:txBody>
      </p:sp>
      <p:sp>
        <p:nvSpPr>
          <p:cNvPr id="137" name="TextBox 136"/>
          <p:cNvSpPr txBox="1"/>
          <p:nvPr/>
        </p:nvSpPr>
        <p:spPr>
          <a:xfrm>
            <a:off x="7345903" y="6269778"/>
            <a:ext cx="376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 smtClean="0"/>
              <a:t>당사 </a:t>
            </a:r>
            <a:r>
              <a:rPr lang="en-US" altLang="ko-KR" dirty="0" smtClean="0"/>
              <a:t>UFS </a:t>
            </a:r>
            <a:r>
              <a:rPr lang="ko-KR" altLang="en-US" dirty="0" smtClean="0"/>
              <a:t>제품의 </a:t>
            </a:r>
            <a:r>
              <a:rPr lang="en-US" altLang="ko-KR" dirty="0" smtClean="0"/>
              <a:t>SW Hierarchy </a:t>
            </a:r>
            <a:r>
              <a:rPr lang="ko-KR" altLang="en-US" dirty="0" smtClean="0"/>
              <a:t>및 본 과제의 범위</a:t>
            </a:r>
            <a:r>
              <a:rPr lang="en-US" altLang="ko-KR" dirty="0" smtClean="0"/>
              <a:t> 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5735782" y="1031938"/>
            <a:ext cx="6360767" cy="5218367"/>
            <a:chOff x="6609079" y="1748390"/>
            <a:chExt cx="5487470" cy="4501915"/>
          </a:xfrm>
        </p:grpSpPr>
        <p:sp>
          <p:nvSpPr>
            <p:cNvPr id="117" name="TextBox 116"/>
            <p:cNvSpPr txBox="1"/>
            <p:nvPr/>
          </p:nvSpPr>
          <p:spPr>
            <a:xfrm>
              <a:off x="6609080" y="3018603"/>
              <a:ext cx="8252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CMD &amp; Data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609080" y="3672716"/>
              <a:ext cx="8638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CMD Parsing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6609080" y="4066043"/>
              <a:ext cx="881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Logical Addr. &amp; Data Buf.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609079" y="4597790"/>
              <a:ext cx="8935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Address Translation</a:t>
              </a:r>
            </a:p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&amp; Internal Op.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609080" y="5362320"/>
              <a:ext cx="8823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Physical Addr.</a:t>
              </a:r>
            </a:p>
            <a:p>
              <a:r>
                <a:rPr lang="en-US" altLang="ko-KR" sz="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&amp; Data Buf.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7571465" y="3126325"/>
              <a:ext cx="4398082" cy="3123980"/>
            </a:xfrm>
            <a:prstGeom prst="roundRect">
              <a:avLst>
                <a:gd name="adj" fmla="val 109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050" b="1" dirty="0" smtClean="0">
                  <a:solidFill>
                    <a:schemeClr val="tx1"/>
                  </a:solidFill>
                </a:rPr>
                <a:t>UFS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7661172" y="4257087"/>
              <a:ext cx="4235353" cy="1109795"/>
            </a:xfrm>
            <a:prstGeom prst="roundRect">
              <a:avLst>
                <a:gd name="adj" fmla="val 4472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050" b="1" dirty="0" smtClean="0">
                  <a:solidFill>
                    <a:schemeClr val="tx1"/>
                  </a:solidFill>
                </a:rPr>
                <a:t>Flash Translation Layer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7773278" y="4565456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Scheduler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8591084" y="4565456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Context &amp; Meta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9408889" y="4565456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Garbage Collector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10226694" y="4565456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User Data CMD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7773278" y="4969843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Control CMD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8591084" y="4969843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Vendor CMD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9408889" y="4969843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Flash IO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9" name="모서리가 둥근 직사각형 58"/>
            <p:cNvSpPr/>
            <p:nvPr/>
          </p:nvSpPr>
          <p:spPr>
            <a:xfrm>
              <a:off x="10226694" y="4969843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err="1" smtClean="0">
                  <a:solidFill>
                    <a:schemeClr val="bg1"/>
                  </a:solidFill>
                </a:rPr>
                <a:t>ReBuild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11044500" y="4563462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System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11044500" y="4972252"/>
              <a:ext cx="752245" cy="315022"/>
            </a:xfrm>
            <a:prstGeom prst="roundRect">
              <a:avLst>
                <a:gd name="adj" fmla="val 447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IPC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7661172" y="5485638"/>
              <a:ext cx="4235353" cy="696087"/>
            </a:xfrm>
            <a:prstGeom prst="roundRect">
              <a:avLst>
                <a:gd name="adj" fmla="val 447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050" b="1" dirty="0" smtClean="0">
                  <a:solidFill>
                    <a:schemeClr val="tx1"/>
                  </a:solidFill>
                </a:rPr>
                <a:t>Flash Interface Layer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모서리가 둥근 직사각형 65"/>
            <p:cNvSpPr/>
            <p:nvPr/>
          </p:nvSpPr>
          <p:spPr>
            <a:xfrm>
              <a:off x="7773278" y="5794007"/>
              <a:ext cx="752245" cy="315022"/>
            </a:xfrm>
            <a:prstGeom prst="roundRect">
              <a:avLst>
                <a:gd name="adj" fmla="val 447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bg1"/>
                  </a:solidFill>
                </a:rPr>
                <a:t>NAND IO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8591084" y="5794007"/>
              <a:ext cx="752245" cy="315022"/>
            </a:xfrm>
            <a:prstGeom prst="roundRect">
              <a:avLst>
                <a:gd name="adj" fmla="val 447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Queue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9408889" y="5794007"/>
              <a:ext cx="752245" cy="315022"/>
            </a:xfrm>
            <a:prstGeom prst="roundRect">
              <a:avLst>
                <a:gd name="adj" fmla="val 447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Vendor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10226694" y="5794007"/>
              <a:ext cx="752245" cy="315022"/>
            </a:xfrm>
            <a:prstGeom prst="roundRect">
              <a:avLst>
                <a:gd name="adj" fmla="val 447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NFC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11044500" y="5792013"/>
              <a:ext cx="752245" cy="315022"/>
            </a:xfrm>
            <a:prstGeom prst="roundRect">
              <a:avLst>
                <a:gd name="adj" fmla="val 447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Power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모서리가 둥근 직사각형 75"/>
            <p:cNvSpPr/>
            <p:nvPr/>
          </p:nvSpPr>
          <p:spPr>
            <a:xfrm>
              <a:off x="7661172" y="3431162"/>
              <a:ext cx="4235353" cy="707169"/>
            </a:xfrm>
            <a:prstGeom prst="roundRect">
              <a:avLst>
                <a:gd name="adj" fmla="val 447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050" b="1" dirty="0" smtClean="0">
                  <a:solidFill>
                    <a:schemeClr val="tx1"/>
                  </a:solidFill>
                </a:rPr>
                <a:t>Host Interface Layer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73277" y="3739531"/>
              <a:ext cx="944153" cy="315022"/>
            </a:xfrm>
            <a:prstGeom prst="roundRect">
              <a:avLst>
                <a:gd name="adj" fmla="val 4472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bg1"/>
                  </a:solidFill>
                </a:rPr>
                <a:t>Protocol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8799715" y="3739531"/>
              <a:ext cx="944153" cy="315022"/>
            </a:xfrm>
            <a:prstGeom prst="roundRect">
              <a:avLst>
                <a:gd name="adj" fmla="val 4472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Host IO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모서리가 둥근 직사각형 78"/>
            <p:cNvSpPr/>
            <p:nvPr/>
          </p:nvSpPr>
          <p:spPr>
            <a:xfrm>
              <a:off x="9826153" y="3739531"/>
              <a:ext cx="944153" cy="315022"/>
            </a:xfrm>
            <a:prstGeom prst="roundRect">
              <a:avLst>
                <a:gd name="adj" fmla="val 4472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MPCore Manager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10852591" y="3739531"/>
              <a:ext cx="944153" cy="315022"/>
            </a:xfrm>
            <a:prstGeom prst="roundRect">
              <a:avLst>
                <a:gd name="adj" fmla="val 4472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bg1"/>
                  </a:solidFill>
                </a:rPr>
                <a:t>System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7571465" y="2069355"/>
              <a:ext cx="4398082" cy="988170"/>
            </a:xfrm>
            <a:prstGeom prst="roundRect">
              <a:avLst>
                <a:gd name="adj" fmla="val 4091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050" b="1" dirty="0" smtClean="0">
                  <a:solidFill>
                    <a:schemeClr val="tx1"/>
                  </a:solidFill>
                </a:rPr>
                <a:t>Host System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모서리가 둥근 직사각형 90"/>
            <p:cNvSpPr/>
            <p:nvPr/>
          </p:nvSpPr>
          <p:spPr>
            <a:xfrm>
              <a:off x="7661172" y="2383502"/>
              <a:ext cx="4235353" cy="262763"/>
            </a:xfrm>
            <a:prstGeom prst="roundRect">
              <a:avLst>
                <a:gd name="adj" fmla="val 109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050" b="1" dirty="0" smtClean="0">
                  <a:solidFill>
                    <a:schemeClr val="tx1"/>
                  </a:solidFill>
                </a:rPr>
                <a:t>Host Application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모서리가 둥근 직사각형 91"/>
            <p:cNvSpPr/>
            <p:nvPr/>
          </p:nvSpPr>
          <p:spPr>
            <a:xfrm>
              <a:off x="7661172" y="2717882"/>
              <a:ext cx="4235353" cy="262763"/>
            </a:xfrm>
            <a:prstGeom prst="roundRect">
              <a:avLst>
                <a:gd name="adj" fmla="val 109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050" b="1" dirty="0" smtClean="0">
                  <a:solidFill>
                    <a:schemeClr val="tx1"/>
                  </a:solidFill>
                </a:rPr>
                <a:t>UFS Host Driver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꺾인 연결선 93"/>
            <p:cNvCxnSpPr>
              <a:stCxn id="101" idx="1"/>
              <a:endCxn id="103" idx="1"/>
            </p:cNvCxnSpPr>
            <p:nvPr/>
          </p:nvCxnSpPr>
          <p:spPr>
            <a:xfrm rot="10800000" flipH="1" flipV="1">
              <a:off x="7649085" y="4015042"/>
              <a:ext cx="6044" cy="412714"/>
            </a:xfrm>
            <a:prstGeom prst="bentConnector3">
              <a:avLst>
                <a:gd name="adj1" fmla="val -3600000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직사각형 95"/>
            <p:cNvSpPr/>
            <p:nvPr/>
          </p:nvSpPr>
          <p:spPr>
            <a:xfrm>
              <a:off x="7655128" y="3535092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7649085" y="3972648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7655128" y="4385362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7643041" y="5159468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꺾인 연결선 104"/>
            <p:cNvCxnSpPr>
              <a:stCxn id="90" idx="1"/>
              <a:endCxn id="96" idx="1"/>
            </p:cNvCxnSpPr>
            <p:nvPr/>
          </p:nvCxnSpPr>
          <p:spPr>
            <a:xfrm rot="10800000" flipH="1" flipV="1">
              <a:off x="7571464" y="2563440"/>
              <a:ext cx="83663" cy="1014046"/>
            </a:xfrm>
            <a:prstGeom prst="bentConnector3">
              <a:avLst>
                <a:gd name="adj1" fmla="val -169757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꺾인 연결선 110"/>
            <p:cNvCxnSpPr>
              <a:stCxn id="104" idx="1"/>
              <a:endCxn id="65" idx="1"/>
            </p:cNvCxnSpPr>
            <p:nvPr/>
          </p:nvCxnSpPr>
          <p:spPr>
            <a:xfrm rot="10800000" flipH="1" flipV="1">
              <a:off x="7643041" y="5201862"/>
              <a:ext cx="18131" cy="631820"/>
            </a:xfrm>
            <a:prstGeom prst="bentConnector3">
              <a:avLst>
                <a:gd name="adj1" fmla="val -1066667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꺾인 연결선 128"/>
            <p:cNvCxnSpPr>
              <a:stCxn id="130" idx="1"/>
              <a:endCxn id="131" idx="1"/>
            </p:cNvCxnSpPr>
            <p:nvPr/>
          </p:nvCxnSpPr>
          <p:spPr>
            <a:xfrm rot="10800000" flipV="1">
              <a:off x="7649085" y="3694982"/>
              <a:ext cx="12087" cy="196814"/>
            </a:xfrm>
            <a:prstGeom prst="bentConnector3">
              <a:avLst>
                <a:gd name="adj1" fmla="val 1912496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직사각형 129"/>
            <p:cNvSpPr/>
            <p:nvPr/>
          </p:nvSpPr>
          <p:spPr>
            <a:xfrm>
              <a:off x="7649085" y="3652588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7649085" y="3849402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2" name="꺾인 연결선 131"/>
            <p:cNvCxnSpPr>
              <a:stCxn id="133" idx="1"/>
              <a:endCxn id="134" idx="1"/>
            </p:cNvCxnSpPr>
            <p:nvPr/>
          </p:nvCxnSpPr>
          <p:spPr>
            <a:xfrm rot="10800000" flipH="1" flipV="1">
              <a:off x="7649085" y="4548892"/>
              <a:ext cx="2265" cy="544482"/>
            </a:xfrm>
            <a:prstGeom prst="bentConnector3">
              <a:avLst>
                <a:gd name="adj1" fmla="val -9605042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직사각형 132"/>
            <p:cNvSpPr/>
            <p:nvPr/>
          </p:nvSpPr>
          <p:spPr>
            <a:xfrm>
              <a:off x="7649085" y="4506498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7651350" y="5050980"/>
              <a:ext cx="81589" cy="84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585433" y="4212833"/>
              <a:ext cx="4364471" cy="1191765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571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직사각형 200"/>
            <p:cNvSpPr/>
            <p:nvPr/>
          </p:nvSpPr>
          <p:spPr>
            <a:xfrm>
              <a:off x="10828810" y="1802348"/>
              <a:ext cx="415756" cy="150279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381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1244524" y="1748390"/>
              <a:ext cx="8520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>
                  <a:latin typeface="+mn-ea"/>
                </a:defRPr>
              </a:lvl1pPr>
            </a:lstStyle>
            <a:p>
              <a:pPr algn="l"/>
              <a:r>
                <a:rPr lang="en-US" altLang="ko-KR" dirty="0" smtClean="0"/>
                <a:t>: </a:t>
              </a:r>
              <a:r>
                <a:rPr lang="ko-KR" altLang="en-US" dirty="0" smtClean="0"/>
                <a:t>과제 범위</a:t>
              </a:r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47216" y="5654651"/>
            <a:ext cx="2157884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accent5">
                    <a:lumMod val="50000"/>
                  </a:schemeClr>
                </a:solidFill>
              </a:rPr>
              <a:t>▲</a:t>
            </a:r>
            <a:r>
              <a:rPr lang="en-US" altLang="ko-KR" sz="1200" b="1" dirty="0" smtClean="0">
                <a:solidFill>
                  <a:schemeClr val="accent5">
                    <a:lumMod val="50000"/>
                  </a:schemeClr>
                </a:solidFill>
              </a:rPr>
              <a:t> High-end UFS 3.1 Solution</a:t>
            </a:r>
            <a:endParaRPr lang="ko-KR" alt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58800" y="3802224"/>
            <a:ext cx="3136900" cy="1833436"/>
          </a:xfrm>
          <a:prstGeom prst="roundRect">
            <a:avLst>
              <a:gd name="adj" fmla="val 8008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모서리가 둥근 직사각형 72"/>
          <p:cNvSpPr/>
          <p:nvPr/>
        </p:nvSpPr>
        <p:spPr>
          <a:xfrm>
            <a:off x="2208036" y="3802224"/>
            <a:ext cx="3136900" cy="1833436"/>
          </a:xfrm>
          <a:prstGeom prst="roundRect">
            <a:avLst>
              <a:gd name="adj" fmla="val 8701"/>
            </a:avLst>
          </a:prstGeom>
          <a:solidFill>
            <a:schemeClr val="accent6">
              <a:lumMod val="60000"/>
              <a:lumOff val="40000"/>
              <a:alpha val="5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435591" y="3975832"/>
            <a:ext cx="1076527" cy="6786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Solvit UFS Controller</a:t>
            </a:r>
            <a:endParaRPr lang="ko-KR" altLang="en-US" sz="1200" dirty="0"/>
          </a:p>
        </p:txBody>
      </p:sp>
      <p:sp>
        <p:nvSpPr>
          <p:cNvPr id="70" name="직사각형 69"/>
          <p:cNvSpPr/>
          <p:nvPr/>
        </p:nvSpPr>
        <p:spPr>
          <a:xfrm>
            <a:off x="2435591" y="4770937"/>
            <a:ext cx="1076527" cy="6786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UFS SW Platform</a:t>
            </a:r>
            <a:endParaRPr lang="ko-KR" altLang="en-US" sz="1400" b="1" dirty="0"/>
          </a:p>
        </p:txBody>
      </p:sp>
      <p:sp>
        <p:nvSpPr>
          <p:cNvPr id="62" name="직사각형 61"/>
          <p:cNvSpPr/>
          <p:nvPr/>
        </p:nvSpPr>
        <p:spPr>
          <a:xfrm>
            <a:off x="857898" y="4307265"/>
            <a:ext cx="1076527" cy="56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TLC NAND</a:t>
            </a:r>
            <a:endParaRPr lang="ko-KR" altLang="en-US" sz="1200" dirty="0"/>
          </a:p>
        </p:txBody>
      </p:sp>
      <p:sp>
        <p:nvSpPr>
          <p:cNvPr id="71" name="직사각형 70"/>
          <p:cNvSpPr/>
          <p:nvPr/>
        </p:nvSpPr>
        <p:spPr>
          <a:xfrm>
            <a:off x="4014535" y="4307265"/>
            <a:ext cx="1076527" cy="56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Q</a:t>
            </a:r>
            <a:r>
              <a:rPr lang="en-US" altLang="ko-KR" sz="1200" dirty="0" smtClean="0"/>
              <a:t>LC NAND</a:t>
            </a:r>
            <a:endParaRPr lang="ko-KR" alt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3238500" y="5654651"/>
            <a:ext cx="210092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accent6">
                    <a:lumMod val="50000"/>
                  </a:schemeClr>
                </a:solidFill>
              </a:rPr>
              <a:t>Low-end UFS 2.2 Solution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</a:rPr>
              <a:t>▲</a:t>
            </a:r>
            <a:endParaRPr lang="ko-KR" altLang="en-US" sz="1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8293" y="5184268"/>
            <a:ext cx="82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초고성능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14534" y="5184268"/>
            <a:ext cx="1076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원가 경쟁력</a:t>
            </a:r>
            <a:endParaRPr lang="ko-KR" alt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50687" y="6231984"/>
            <a:ext cx="609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*MTO : Mask </a:t>
            </a:r>
            <a:r>
              <a:rPr lang="en-US" altLang="ko-KR" sz="800" dirty="0"/>
              <a:t>Tooling </a:t>
            </a:r>
            <a:r>
              <a:rPr lang="en-US" altLang="ko-KR" sz="800" dirty="0" smtClean="0"/>
              <a:t>Out, </a:t>
            </a:r>
            <a:r>
              <a:rPr lang="ko-KR" altLang="en-US" sz="800" dirty="0" smtClean="0"/>
              <a:t>다른 용어로 </a:t>
            </a:r>
            <a:r>
              <a:rPr lang="en-US" altLang="ko-KR" sz="800" dirty="0" smtClean="0"/>
              <a:t>Package Out</a:t>
            </a:r>
            <a:r>
              <a:rPr lang="ko-KR" altLang="en-US" sz="800" dirty="0" smtClean="0"/>
              <a:t>이라고도 하며 컨트롤러의 </a:t>
            </a:r>
            <a:r>
              <a:rPr lang="en-US" altLang="ko-KR" sz="800" dirty="0" smtClean="0"/>
              <a:t>Layout</a:t>
            </a:r>
            <a:r>
              <a:rPr lang="ko-KR" altLang="en-US" sz="800" dirty="0" smtClean="0"/>
              <a:t>을 완료하여 </a:t>
            </a:r>
            <a:r>
              <a:rPr lang="en-US" altLang="ko-KR" sz="800" dirty="0" smtClean="0"/>
              <a:t>Mask </a:t>
            </a:r>
            <a:r>
              <a:rPr lang="ko-KR" altLang="en-US" sz="800" dirty="0" smtClean="0"/>
              <a:t>제작 의뢰 완료를 뜻함</a:t>
            </a:r>
            <a:endParaRPr lang="en-US" altLang="ko-KR" sz="800" dirty="0" smtClean="0"/>
          </a:p>
          <a:p>
            <a:r>
              <a:rPr lang="en-US" altLang="ko-KR" sz="800" dirty="0" smtClean="0"/>
              <a:t>**CS Qual. : Customer Sample Qualifying Test, </a:t>
            </a:r>
            <a:r>
              <a:rPr lang="ko-KR" altLang="en-US" sz="800" dirty="0" smtClean="0"/>
              <a:t>자사의 모든 평가가 완료됨을 뜻하며 </a:t>
            </a:r>
            <a:r>
              <a:rPr lang="ko-KR" altLang="en-US" sz="800" dirty="0" err="1" smtClean="0"/>
              <a:t>고객사에</a:t>
            </a:r>
            <a:r>
              <a:rPr lang="ko-KR" altLang="en-US" sz="800" dirty="0" smtClean="0"/>
              <a:t> 완성된 제품을 전달 가능</a:t>
            </a:r>
            <a:endParaRPr lang="ko-KR" altLang="en-US" sz="800" dirty="0"/>
          </a:p>
        </p:txBody>
      </p:sp>
      <p:cxnSp>
        <p:nvCxnSpPr>
          <p:cNvPr id="72" name="직선 연결선 71"/>
          <p:cNvCxnSpPr/>
          <p:nvPr/>
        </p:nvCxnSpPr>
        <p:spPr>
          <a:xfrm>
            <a:off x="6550578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6759465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6968352" y="457199"/>
            <a:ext cx="1570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7177241" y="457199"/>
            <a:ext cx="15700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12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요구사항 분석</a:t>
            </a:r>
            <a:endParaRPr lang="ko-KR" altLang="en-US" dirty="0"/>
          </a:p>
        </p:txBody>
      </p:sp>
      <p:sp>
        <p:nvSpPr>
          <p:cNvPr id="109" name="직사각형 108"/>
          <p:cNvSpPr/>
          <p:nvPr/>
        </p:nvSpPr>
        <p:spPr>
          <a:xfrm>
            <a:off x="234949" y="608583"/>
            <a:ext cx="11781791" cy="126196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/>
                </a:solidFill>
              </a:rPr>
              <a:t>      비즈니스 분석과 수집된 요구사항을 통해 </a:t>
            </a:r>
            <a:r>
              <a:rPr lang="ko-KR" altLang="en-US" sz="1600" dirty="0" smtClean="0">
                <a:solidFill>
                  <a:srgbClr val="0033CC"/>
                </a:solidFill>
              </a:rPr>
              <a:t>명확한 과제 목표를 선정하고 이를 요구사항에 반영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당사의 </a:t>
            </a:r>
            <a:r>
              <a:rPr lang="ko-KR" altLang="en-US" sz="1600" dirty="0" smtClean="0">
                <a:solidFill>
                  <a:srgbClr val="0033CC"/>
                </a:solidFill>
                <a:sym typeface="Wingdings" panose="05000000000000000000" pitchFamily="2" charset="2"/>
              </a:rPr>
              <a:t>초격차 전략</a:t>
            </a:r>
            <a:endParaRPr lang="en-US" altLang="ko-KR" sz="1600" dirty="0" smtClean="0">
              <a:solidFill>
                <a:srgbClr val="0033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/>
                </a:solidFill>
              </a:rPr>
              <a:t>      S/W </a:t>
            </a:r>
            <a:r>
              <a:rPr lang="ko-KR" altLang="en-US" sz="1600" dirty="0" smtClean="0">
                <a:solidFill>
                  <a:schemeClr val="tx1"/>
                </a:solidFill>
              </a:rPr>
              <a:t>뿐만 아니라 </a:t>
            </a:r>
            <a:r>
              <a:rPr lang="en-US" altLang="ko-KR" sz="1600" dirty="0" smtClean="0">
                <a:solidFill>
                  <a:srgbClr val="0033CC"/>
                </a:solidFill>
              </a:rPr>
              <a:t>H/W </a:t>
            </a:r>
            <a:r>
              <a:rPr lang="ko-KR" altLang="en-US" sz="1600" dirty="0" smtClean="0">
                <a:solidFill>
                  <a:srgbClr val="0033CC"/>
                </a:solidFill>
              </a:rPr>
              <a:t>설계부터 요구사항 분석 반영</a:t>
            </a:r>
            <a:r>
              <a:rPr lang="ko-KR" altLang="en-US" sz="1600" dirty="0" smtClean="0">
                <a:solidFill>
                  <a:schemeClr val="tx1"/>
                </a:solidFill>
              </a:rPr>
              <a:t> 필요 </a:t>
            </a:r>
            <a:r>
              <a:rPr lang="en-US" altLang="ko-KR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컨트롤러 개발팀과 공동 작업으로 시스템 아키텍처 결정</a:t>
            </a:r>
            <a:endParaRPr lang="en-US" altLang="ko-KR" sz="16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    Chief SW Architect</a:t>
            </a:r>
            <a:r>
              <a:rPr lang="ko-KR" altLang="en-US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의 </a:t>
            </a:r>
            <a:r>
              <a:rPr lang="ko-KR" altLang="en-US" sz="1600" dirty="0" smtClean="0">
                <a:solidFill>
                  <a:srgbClr val="0033CC"/>
                </a:solidFill>
                <a:sym typeface="Wingdings" panose="05000000000000000000" pitchFamily="2" charset="2"/>
              </a:rPr>
              <a:t>품질 향상 전략 및 개발 효율화</a:t>
            </a:r>
            <a:r>
              <a:rPr lang="ko-KR" altLang="en-US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를 위한 요구사항 적극 반영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4949" y="1976623"/>
            <a:ext cx="11781791" cy="344498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2290828" y="3489138"/>
            <a:ext cx="1788826" cy="659382"/>
          </a:xfrm>
          <a:prstGeom prst="roundRect">
            <a:avLst>
              <a:gd name="adj" fmla="val 1440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lt1"/>
                </a:solidFill>
              </a:rPr>
              <a:t>요구사항 수집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2619716" y="4595500"/>
            <a:ext cx="562294" cy="806779"/>
            <a:chOff x="840138" y="4973626"/>
            <a:chExt cx="707368" cy="101493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9655" y="4973626"/>
              <a:ext cx="288334" cy="74390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840138" y="5717528"/>
              <a:ext cx="707368" cy="27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/>
                <a:t>과제 </a:t>
              </a:r>
              <a:r>
                <a:rPr lang="en-US" altLang="ko-KR" sz="800" b="1" dirty="0" smtClean="0"/>
                <a:t>PL</a:t>
              </a:r>
              <a:endParaRPr lang="ko-KR" altLang="en-US" sz="800" b="1" dirty="0"/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1173809" y="2394616"/>
            <a:ext cx="592580" cy="929889"/>
            <a:chOff x="824898" y="4973626"/>
            <a:chExt cx="745468" cy="116980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9655" y="4973626"/>
              <a:ext cx="288334" cy="743903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824898" y="5717529"/>
              <a:ext cx="745468" cy="425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 smtClean="0"/>
                <a:t>상품기획</a:t>
              </a:r>
              <a:endParaRPr lang="en-US" altLang="ko-KR" sz="800" b="1" dirty="0" smtClean="0"/>
            </a:p>
            <a:p>
              <a:pPr algn="ctr"/>
              <a:r>
                <a:rPr lang="en-US" altLang="ko-KR" sz="800" b="1" dirty="0" smtClean="0"/>
                <a:t>/</a:t>
              </a:r>
              <a:r>
                <a:rPr lang="ko-KR" altLang="en-US" sz="800" b="1" dirty="0" smtClean="0"/>
                <a:t>마케팅</a:t>
              </a:r>
              <a:endParaRPr lang="ko-KR" altLang="en-US" sz="800" b="1" dirty="0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1130038" y="4337178"/>
            <a:ext cx="638026" cy="929890"/>
            <a:chOff x="1903162" y="4340065"/>
            <a:chExt cx="802639" cy="1169807"/>
          </a:xfrm>
        </p:grpSpPr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2695" y="4340065"/>
              <a:ext cx="288334" cy="743903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1903162" y="5083969"/>
              <a:ext cx="802639" cy="425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 smtClean="0"/>
                <a:t>Chief SW</a:t>
              </a:r>
            </a:p>
            <a:p>
              <a:pPr algn="ctr"/>
              <a:r>
                <a:rPr lang="en-US" altLang="ko-KR" sz="800" b="1" dirty="0" smtClean="0"/>
                <a:t>Architect</a:t>
              </a:r>
              <a:endParaRPr lang="ko-KR" altLang="en-US" sz="800" b="1" dirty="0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417344" y="2397142"/>
            <a:ext cx="638026" cy="929890"/>
            <a:chOff x="1895542" y="4340065"/>
            <a:chExt cx="802639" cy="1169807"/>
          </a:xfrm>
        </p:grpSpPr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2695" y="4340065"/>
              <a:ext cx="288334" cy="743903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1895542" y="5083969"/>
              <a:ext cx="802639" cy="425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 smtClean="0"/>
                <a:t>컨트롤러</a:t>
              </a:r>
              <a:endParaRPr lang="en-US" altLang="ko-KR" sz="800" b="1" dirty="0" smtClean="0"/>
            </a:p>
            <a:p>
              <a:pPr algn="ctr"/>
              <a:r>
                <a:rPr lang="ko-KR" altLang="en-US" sz="800" b="1" dirty="0" smtClean="0"/>
                <a:t>개발</a:t>
              </a:r>
              <a:endParaRPr lang="ko-KR" altLang="en-US" sz="800" b="1" dirty="0"/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686955" y="3411255"/>
            <a:ext cx="562294" cy="806779"/>
            <a:chOff x="840138" y="4973626"/>
            <a:chExt cx="707368" cy="1014932"/>
          </a:xfrm>
        </p:grpSpPr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9655" y="4973626"/>
              <a:ext cx="288334" cy="743903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840138" y="5717528"/>
              <a:ext cx="707368" cy="27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 smtClean="0"/>
                <a:t>경영진</a:t>
              </a:r>
              <a:endParaRPr lang="ko-KR" altLang="en-US" sz="800" b="1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592946" y="2371561"/>
            <a:ext cx="1377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제품 </a:t>
            </a:r>
            <a:r>
              <a:rPr lang="en-US" altLang="ko-KR" dirty="0" smtClean="0"/>
              <a:t>Road map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고객 요구사항</a:t>
            </a:r>
            <a:endParaRPr lang="en-US" altLang="ko-KR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dirty="0" smtClean="0"/>
              <a:t>NAND Datasheet</a:t>
            </a:r>
            <a:endParaRPr lang="ko-KR" altLang="en-US" dirty="0"/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185731" y="3817131"/>
            <a:ext cx="101422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95857" y="3389291"/>
            <a:ext cx="1255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dirty="0" smtClean="0"/>
              <a:t>KPI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비즈니스 전략</a:t>
            </a:r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1552846" y="4310468"/>
            <a:ext cx="1255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품질 향상 전략</a:t>
            </a:r>
            <a:endParaRPr lang="en-US" altLang="ko-KR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개발 효율화</a:t>
            </a:r>
            <a:endParaRPr lang="ko-KR" altLang="en-US" dirty="0"/>
          </a:p>
        </p:txBody>
      </p:sp>
      <p:cxnSp>
        <p:nvCxnSpPr>
          <p:cNvPr id="76" name="직선 화살표 연결선 75"/>
          <p:cNvCxnSpPr/>
          <p:nvPr/>
        </p:nvCxnSpPr>
        <p:spPr>
          <a:xfrm flipH="1">
            <a:off x="4019073" y="2925559"/>
            <a:ext cx="506120" cy="47625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833118" y="2379959"/>
            <a:ext cx="1501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컨트롤러 아키텍처</a:t>
            </a:r>
            <a:endParaRPr lang="en-US" altLang="ko-KR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컨트롤러 매뉴얼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021354" y="4566712"/>
            <a:ext cx="12359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조직 운영방안</a:t>
            </a:r>
            <a:endParaRPr lang="en-US" altLang="ko-KR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비 표준화 기술</a:t>
            </a:r>
            <a:endParaRPr lang="en-US" altLang="ko-KR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고객 요구사항</a:t>
            </a:r>
            <a:endParaRPr lang="ko-KR" altLang="en-US" dirty="0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4605575" y="3489138"/>
            <a:ext cx="1788826" cy="659382"/>
          </a:xfrm>
          <a:prstGeom prst="roundRect">
            <a:avLst>
              <a:gd name="adj" fmla="val 14406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요구사항 도출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6970599" y="3596543"/>
            <a:ext cx="2078924" cy="422157"/>
          </a:xfrm>
          <a:prstGeom prst="roundRect">
            <a:avLst>
              <a:gd name="adj" fmla="val 1440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품질 속성</a:t>
            </a:r>
            <a:r>
              <a:rPr lang="en-US" altLang="ko-KR" sz="1600" b="1" dirty="0"/>
              <a:t>(QA)</a:t>
            </a:r>
            <a:endParaRPr lang="ko-KR" altLang="en-US" sz="1600" b="1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6970599" y="2960464"/>
            <a:ext cx="2078924" cy="422157"/>
          </a:xfrm>
          <a:prstGeom prst="roundRect">
            <a:avLst>
              <a:gd name="adj" fmla="val 1440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기능 요구사항</a:t>
            </a:r>
            <a:r>
              <a:rPr lang="en-US" altLang="ko-KR" sz="1600" b="1" dirty="0"/>
              <a:t>(FR)</a:t>
            </a:r>
            <a:endParaRPr lang="ko-KR" altLang="en-US" sz="1600" b="1" dirty="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6970599" y="4232622"/>
            <a:ext cx="2078924" cy="422157"/>
          </a:xfrm>
          <a:prstGeom prst="roundRect">
            <a:avLst>
              <a:gd name="adj" fmla="val 1440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제약사항</a:t>
            </a:r>
            <a:r>
              <a:rPr lang="en-US" altLang="ko-KR" sz="1600" b="1" dirty="0"/>
              <a:t>(C)</a:t>
            </a:r>
            <a:endParaRPr lang="ko-KR" altLang="en-US" sz="1600" b="1" dirty="0"/>
          </a:p>
        </p:txBody>
      </p:sp>
      <p:sp>
        <p:nvSpPr>
          <p:cNvPr id="92" name="모서리가 둥근 직사각형 91"/>
          <p:cNvSpPr/>
          <p:nvPr/>
        </p:nvSpPr>
        <p:spPr>
          <a:xfrm>
            <a:off x="9625721" y="3489138"/>
            <a:ext cx="1949408" cy="659382"/>
          </a:xfrm>
          <a:prstGeom prst="roundRect">
            <a:avLst>
              <a:gd name="adj" fmla="val 14406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/>
              <a:t>아키텍처 드라이버</a:t>
            </a:r>
          </a:p>
        </p:txBody>
      </p:sp>
      <p:cxnSp>
        <p:nvCxnSpPr>
          <p:cNvPr id="82" name="직선 화살표 연결선 81"/>
          <p:cNvCxnSpPr>
            <a:stCxn id="38" idx="3"/>
            <a:endCxn id="87" idx="1"/>
          </p:cNvCxnSpPr>
          <p:nvPr/>
        </p:nvCxnSpPr>
        <p:spPr>
          <a:xfrm>
            <a:off x="4079654" y="3818829"/>
            <a:ext cx="52592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87" idx="3"/>
            <a:endCxn id="90" idx="1"/>
          </p:cNvCxnSpPr>
          <p:nvPr/>
        </p:nvCxnSpPr>
        <p:spPr>
          <a:xfrm flipV="1">
            <a:off x="6394401" y="3171543"/>
            <a:ext cx="576198" cy="64728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>
            <a:stCxn id="87" idx="3"/>
            <a:endCxn id="89" idx="1"/>
          </p:cNvCxnSpPr>
          <p:nvPr/>
        </p:nvCxnSpPr>
        <p:spPr>
          <a:xfrm flipV="1">
            <a:off x="6394401" y="3807622"/>
            <a:ext cx="576198" cy="11207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>
            <a:stCxn id="87" idx="3"/>
            <a:endCxn id="91" idx="1"/>
          </p:cNvCxnSpPr>
          <p:nvPr/>
        </p:nvCxnSpPr>
        <p:spPr>
          <a:xfrm>
            <a:off x="6394401" y="3818829"/>
            <a:ext cx="576198" cy="62487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>
            <a:stCxn id="90" idx="3"/>
            <a:endCxn id="92" idx="1"/>
          </p:cNvCxnSpPr>
          <p:nvPr/>
        </p:nvCxnSpPr>
        <p:spPr>
          <a:xfrm>
            <a:off x="9049523" y="3171543"/>
            <a:ext cx="576198" cy="64728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91" idx="3"/>
            <a:endCxn id="92" idx="1"/>
          </p:cNvCxnSpPr>
          <p:nvPr/>
        </p:nvCxnSpPr>
        <p:spPr>
          <a:xfrm flipV="1">
            <a:off x="9049523" y="3818829"/>
            <a:ext cx="576198" cy="62487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89" idx="3"/>
            <a:endCxn id="92" idx="1"/>
          </p:cNvCxnSpPr>
          <p:nvPr/>
        </p:nvCxnSpPr>
        <p:spPr>
          <a:xfrm>
            <a:off x="9049523" y="3807622"/>
            <a:ext cx="576198" cy="11207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/>
          <p:cNvCxnSpPr/>
          <p:nvPr/>
        </p:nvCxnSpPr>
        <p:spPr>
          <a:xfrm>
            <a:off x="1723851" y="2985951"/>
            <a:ext cx="449236" cy="40276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/>
          <p:cNvCxnSpPr/>
          <p:nvPr/>
        </p:nvCxnSpPr>
        <p:spPr>
          <a:xfrm flipH="1" flipV="1">
            <a:off x="2908024" y="4248367"/>
            <a:ext cx="2024" cy="31921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/>
          <p:cNvCxnSpPr/>
          <p:nvPr/>
        </p:nvCxnSpPr>
        <p:spPr>
          <a:xfrm flipV="1">
            <a:off x="1692845" y="4043540"/>
            <a:ext cx="480242" cy="27999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모서리가 둥근 직사각형 147"/>
          <p:cNvSpPr/>
          <p:nvPr/>
        </p:nvSpPr>
        <p:spPr>
          <a:xfrm>
            <a:off x="4605575" y="4506520"/>
            <a:ext cx="811024" cy="484813"/>
          </a:xfrm>
          <a:prstGeom prst="roundRect">
            <a:avLst>
              <a:gd name="adj" fmla="val 1440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mtClean="0">
                <a:solidFill>
                  <a:schemeClr val="tx1"/>
                </a:solidFill>
              </a:rPr>
              <a:t>요구사항 정제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573757" y="4506520"/>
            <a:ext cx="811024" cy="484813"/>
          </a:xfrm>
          <a:prstGeom prst="roundRect">
            <a:avLst>
              <a:gd name="adj" fmla="val 1440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tx1"/>
                </a:solidFill>
              </a:rPr>
              <a:t>QAW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cxnSp>
        <p:nvCxnSpPr>
          <p:cNvPr id="150" name="직선 화살표 연결선 149"/>
          <p:cNvCxnSpPr/>
          <p:nvPr/>
        </p:nvCxnSpPr>
        <p:spPr>
          <a:xfrm flipH="1" flipV="1">
            <a:off x="5042367" y="4163928"/>
            <a:ext cx="2024" cy="31921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/>
          <p:nvPr/>
        </p:nvCxnSpPr>
        <p:spPr>
          <a:xfrm flipH="1" flipV="1">
            <a:off x="5972726" y="4163928"/>
            <a:ext cx="2024" cy="31921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266510" y="2014924"/>
            <a:ext cx="185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요구사항 분석 절차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3" name="타원 152"/>
          <p:cNvSpPr/>
          <p:nvPr/>
        </p:nvSpPr>
        <p:spPr>
          <a:xfrm>
            <a:off x="463391" y="81067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54" name="타원 153"/>
          <p:cNvSpPr/>
          <p:nvPr/>
        </p:nvSpPr>
        <p:spPr>
          <a:xfrm>
            <a:off x="463391" y="1195095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463391" y="155109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234949" y="5493523"/>
            <a:ext cx="11781791" cy="98802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TextBox 156"/>
          <p:cNvSpPr txBox="1"/>
          <p:nvPr/>
        </p:nvSpPr>
        <p:spPr>
          <a:xfrm>
            <a:off x="266509" y="5533433"/>
            <a:ext cx="3059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Architect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로서의 역할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0226474" y="2014924"/>
            <a:ext cx="179026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en-US" altLang="ko-KR" sz="900" dirty="0" smtClean="0"/>
              <a:t>* FR : Functional Requirement</a:t>
            </a:r>
          </a:p>
          <a:p>
            <a:pPr algn="l"/>
            <a:r>
              <a:rPr lang="en-US" altLang="ko-KR" sz="900" dirty="0" smtClean="0"/>
              <a:t>* QA : Quality Attribute</a:t>
            </a:r>
          </a:p>
          <a:p>
            <a:pPr algn="l"/>
            <a:r>
              <a:rPr lang="en-US" altLang="ko-KR" sz="900" dirty="0" smtClean="0"/>
              <a:t>* C : Constraint</a:t>
            </a:r>
            <a:endParaRPr lang="ko-KR" altLang="en-US" sz="900" dirty="0"/>
          </a:p>
        </p:txBody>
      </p:sp>
      <p:sp>
        <p:nvSpPr>
          <p:cNvPr id="159" name="직사각형 158"/>
          <p:cNvSpPr/>
          <p:nvPr/>
        </p:nvSpPr>
        <p:spPr>
          <a:xfrm>
            <a:off x="609398" y="5821155"/>
            <a:ext cx="26471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System Architecture </a:t>
            </a:r>
            <a:r>
              <a:rPr lang="ko-KR" altLang="en-US" sz="1400" dirty="0" smtClean="0"/>
              <a:t>공동 진행</a:t>
            </a:r>
            <a:endParaRPr lang="ko-KR" altLang="en-US" sz="1400" dirty="0"/>
          </a:p>
        </p:txBody>
      </p:sp>
      <p:sp>
        <p:nvSpPr>
          <p:cNvPr id="161" name="타원 160"/>
          <p:cNvSpPr/>
          <p:nvPr/>
        </p:nvSpPr>
        <p:spPr>
          <a:xfrm>
            <a:off x="463391" y="590663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066594" y="5821155"/>
            <a:ext cx="18085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비 표준화 기술 도출</a:t>
            </a:r>
            <a:endParaRPr lang="ko-KR" altLang="en-US" sz="1400" dirty="0"/>
          </a:p>
        </p:txBody>
      </p:sp>
      <p:sp>
        <p:nvSpPr>
          <p:cNvPr id="163" name="타원 162"/>
          <p:cNvSpPr/>
          <p:nvPr/>
        </p:nvSpPr>
        <p:spPr>
          <a:xfrm>
            <a:off x="6920587" y="590663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9190923" y="5821155"/>
            <a:ext cx="28937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품질 </a:t>
            </a:r>
            <a:r>
              <a:rPr lang="ko-KR" altLang="en-US" sz="1400" dirty="0"/>
              <a:t>향상 및 구조설계 전략 도출 </a:t>
            </a:r>
          </a:p>
        </p:txBody>
      </p:sp>
      <p:sp>
        <p:nvSpPr>
          <p:cNvPr id="165" name="타원 164"/>
          <p:cNvSpPr/>
          <p:nvPr/>
        </p:nvSpPr>
        <p:spPr>
          <a:xfrm>
            <a:off x="9044916" y="590663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609398" y="6148787"/>
            <a:ext cx="28222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과제 범위 분석 및 요구사항 정제</a:t>
            </a:r>
          </a:p>
        </p:txBody>
      </p:sp>
      <p:sp>
        <p:nvSpPr>
          <p:cNvPr id="167" name="타원 166"/>
          <p:cNvSpPr/>
          <p:nvPr/>
        </p:nvSpPr>
        <p:spPr>
          <a:xfrm>
            <a:off x="463391" y="6234264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3931358" y="6148787"/>
            <a:ext cx="33836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QAW(Quality Attribute Workshop) </a:t>
            </a:r>
            <a:r>
              <a:rPr lang="ko-KR" altLang="en-US" sz="1400" dirty="0" smtClean="0"/>
              <a:t>주관</a:t>
            </a:r>
            <a:endParaRPr lang="ko-KR" altLang="en-US" sz="1400" dirty="0"/>
          </a:p>
        </p:txBody>
      </p:sp>
      <p:sp>
        <p:nvSpPr>
          <p:cNvPr id="169" name="타원 168"/>
          <p:cNvSpPr/>
          <p:nvPr/>
        </p:nvSpPr>
        <p:spPr>
          <a:xfrm>
            <a:off x="3785351" y="6234264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7728406" y="6148787"/>
            <a:ext cx="21341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Architecture Driver </a:t>
            </a:r>
            <a:r>
              <a:rPr lang="ko-KR" altLang="en-US" sz="1400" dirty="0" smtClean="0"/>
              <a:t>선정</a:t>
            </a:r>
            <a:endParaRPr lang="ko-KR" altLang="en-US" sz="1400" dirty="0"/>
          </a:p>
        </p:txBody>
      </p:sp>
      <p:sp>
        <p:nvSpPr>
          <p:cNvPr id="171" name="타원 170"/>
          <p:cNvSpPr/>
          <p:nvPr/>
        </p:nvSpPr>
        <p:spPr>
          <a:xfrm>
            <a:off x="7582399" y="6234264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3576269" y="5821155"/>
            <a:ext cx="31983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컨트롤러 요구사항</a:t>
            </a:r>
            <a:r>
              <a:rPr lang="en-US" altLang="ko-KR" sz="1400" dirty="0" smtClean="0"/>
              <a:t>(CRS)</a:t>
            </a:r>
            <a:r>
              <a:rPr lang="ko-KR" altLang="en-US" sz="1400" dirty="0" smtClean="0"/>
              <a:t> 도출 및 협의</a:t>
            </a:r>
            <a:endParaRPr lang="ko-KR" altLang="en-US" sz="1400" dirty="0"/>
          </a:p>
        </p:txBody>
      </p:sp>
      <p:sp>
        <p:nvSpPr>
          <p:cNvPr id="173" name="타원 172"/>
          <p:cNvSpPr/>
          <p:nvPr/>
        </p:nvSpPr>
        <p:spPr>
          <a:xfrm>
            <a:off x="3430262" y="590663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2842692" y="2381461"/>
            <a:ext cx="640332" cy="806779"/>
            <a:chOff x="796233" y="4973626"/>
            <a:chExt cx="805541" cy="1014932"/>
          </a:xfrm>
        </p:grpSpPr>
        <p:pic>
          <p:nvPicPr>
            <p:cNvPr id="175" name="그림 1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9655" y="4973626"/>
              <a:ext cx="288334" cy="743903"/>
            </a:xfrm>
            <a:prstGeom prst="rect">
              <a:avLst/>
            </a:prstGeom>
          </p:spPr>
        </p:pic>
        <p:sp>
          <p:nvSpPr>
            <p:cNvPr id="176" name="TextBox 175"/>
            <p:cNvSpPr txBox="1"/>
            <p:nvPr/>
          </p:nvSpPr>
          <p:spPr>
            <a:xfrm>
              <a:off x="796233" y="5717528"/>
              <a:ext cx="805541" cy="27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/>
                <a:t>검증 부서</a:t>
              </a:r>
              <a:endParaRPr lang="ko-KR" altLang="en-US" sz="800" b="1" dirty="0"/>
            </a:p>
          </p:txBody>
        </p:sp>
      </p:grpSp>
      <p:sp>
        <p:nvSpPr>
          <p:cNvPr id="177" name="TextBox 176"/>
          <p:cNvSpPr txBox="1"/>
          <p:nvPr/>
        </p:nvSpPr>
        <p:spPr>
          <a:xfrm>
            <a:off x="3279230" y="2352673"/>
            <a:ext cx="1235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검증 요구사항</a:t>
            </a:r>
            <a:endParaRPr lang="ko-KR" altLang="en-US" dirty="0"/>
          </a:p>
        </p:txBody>
      </p:sp>
      <p:cxnSp>
        <p:nvCxnSpPr>
          <p:cNvPr id="178" name="직선 화살표 연결선 177"/>
          <p:cNvCxnSpPr/>
          <p:nvPr/>
        </p:nvCxnSpPr>
        <p:spPr>
          <a:xfrm flipV="1">
            <a:off x="3170744" y="3167426"/>
            <a:ext cx="0" cy="25558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492033" y="5511109"/>
            <a:ext cx="25222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en-US" altLang="ko-KR" sz="900" dirty="0" smtClean="0"/>
              <a:t>* CRS : Controller Requirement Specification</a:t>
            </a:r>
            <a:endParaRPr lang="ko-KR" altLang="en-US" sz="900" dirty="0"/>
          </a:p>
        </p:txBody>
      </p:sp>
      <p:sp>
        <p:nvSpPr>
          <p:cNvPr id="75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cxnSp>
        <p:nvCxnSpPr>
          <p:cNvPr id="77" name="직선 연결선 76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93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주요 기능 요구사항 및 제약사항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33021" y="572170"/>
            <a:ext cx="185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chemeClr val="accent5">
                    <a:lumMod val="50000"/>
                  </a:schemeClr>
                </a:solidFill>
              </a:rPr>
              <a:t>기능 요구사항</a:t>
            </a:r>
            <a:endParaRPr lang="ko-KR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66510" y="967726"/>
            <a:ext cx="11697602" cy="4965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             </a:t>
            </a:r>
            <a:r>
              <a:rPr lang="en-US" altLang="ko-KR" b="1" dirty="0" smtClean="0">
                <a:solidFill>
                  <a:schemeClr val="tx1"/>
                </a:solidFill>
              </a:rPr>
              <a:t>Legacy UFS </a:t>
            </a:r>
            <a:r>
              <a:rPr lang="ko-KR" altLang="en-US" b="1" dirty="0" smtClean="0">
                <a:solidFill>
                  <a:schemeClr val="tx1"/>
                </a:solidFill>
              </a:rPr>
              <a:t>기능 제공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07361" y="967726"/>
            <a:ext cx="496501" cy="49650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626641" y="987006"/>
            <a:ext cx="457941" cy="45794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FR1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66510" y="1557590"/>
            <a:ext cx="11697602" cy="4965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             </a:t>
            </a:r>
            <a:r>
              <a:rPr lang="en-US" altLang="ko-KR" b="1" dirty="0">
                <a:solidFill>
                  <a:schemeClr val="tx1"/>
                </a:solidFill>
              </a:rPr>
              <a:t>Turbo Write 1.0 </a:t>
            </a:r>
            <a:r>
              <a:rPr lang="ko-KR" altLang="en-US" b="1" dirty="0">
                <a:solidFill>
                  <a:schemeClr val="tx1"/>
                </a:solidFill>
              </a:rPr>
              <a:t>기능 지원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07361" y="1557590"/>
            <a:ext cx="496501" cy="49650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26641" y="1576870"/>
            <a:ext cx="457941" cy="45794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FR2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66510" y="2148853"/>
            <a:ext cx="11697602" cy="4965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             </a:t>
            </a:r>
            <a:r>
              <a:rPr lang="en-US" altLang="ko-KR" b="1" dirty="0">
                <a:solidFill>
                  <a:schemeClr val="tx1"/>
                </a:solidFill>
              </a:rPr>
              <a:t>Host Performance Booster 2.0 </a:t>
            </a:r>
            <a:r>
              <a:rPr lang="ko-KR" altLang="en-US" b="1" dirty="0">
                <a:solidFill>
                  <a:schemeClr val="tx1"/>
                </a:solidFill>
              </a:rPr>
              <a:t>기능 지원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07361" y="2148853"/>
            <a:ext cx="496501" cy="49650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26641" y="2168133"/>
            <a:ext cx="457941" cy="45794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FR3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66510" y="2740117"/>
            <a:ext cx="11697602" cy="4965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             </a:t>
            </a:r>
            <a:r>
              <a:rPr lang="en-US" altLang="ko-KR" b="1" dirty="0">
                <a:solidFill>
                  <a:schemeClr val="tx1"/>
                </a:solidFill>
              </a:rPr>
              <a:t>Host Initiative Defrag 1.0 </a:t>
            </a:r>
            <a:r>
              <a:rPr lang="ko-KR" altLang="en-US" b="1" dirty="0">
                <a:solidFill>
                  <a:schemeClr val="tx1"/>
                </a:solidFill>
              </a:rPr>
              <a:t>기능 지원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7361" y="2740117"/>
            <a:ext cx="496501" cy="49650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626641" y="2759397"/>
            <a:ext cx="457941" cy="45794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FR4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66510" y="3672051"/>
            <a:ext cx="11697602" cy="49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             MPCore</a:t>
            </a:r>
            <a:r>
              <a:rPr lang="ko-KR" altLang="en-US" b="1" dirty="0" smtClean="0">
                <a:solidFill>
                  <a:schemeClr val="tx1"/>
                </a:solidFill>
              </a:rPr>
              <a:t>는 </a:t>
            </a:r>
            <a:r>
              <a:rPr lang="en-US" altLang="ko-KR" b="1" dirty="0" smtClean="0">
                <a:solidFill>
                  <a:schemeClr val="tx1"/>
                </a:solidFill>
              </a:rPr>
              <a:t>Cortex </a:t>
            </a:r>
            <a:r>
              <a:rPr lang="en-US" altLang="ko-KR" b="1" dirty="0">
                <a:solidFill>
                  <a:schemeClr val="tx1"/>
                </a:solidFill>
              </a:rPr>
              <a:t>M7 300MHz x </a:t>
            </a:r>
            <a:r>
              <a:rPr lang="en-US" altLang="ko-KR" b="1" dirty="0" smtClean="0">
                <a:solidFill>
                  <a:schemeClr val="tx1"/>
                </a:solidFill>
              </a:rPr>
              <a:t>4</a:t>
            </a:r>
            <a:r>
              <a:rPr lang="ko-KR" altLang="en-US" b="1" dirty="0" smtClean="0">
                <a:solidFill>
                  <a:schemeClr val="tx1"/>
                </a:solidFill>
              </a:rPr>
              <a:t>개로 구성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07361" y="3672051"/>
            <a:ext cx="496501" cy="49650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626641" y="3691331"/>
            <a:ext cx="457941" cy="45794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C1</a:t>
            </a:r>
            <a:endParaRPr lang="ko-KR" altLang="en-US" sz="1400" b="1" dirty="0"/>
          </a:p>
        </p:txBody>
      </p:sp>
      <p:sp>
        <p:nvSpPr>
          <p:cNvPr id="49" name="직사각형 48"/>
          <p:cNvSpPr/>
          <p:nvPr/>
        </p:nvSpPr>
        <p:spPr>
          <a:xfrm>
            <a:off x="266510" y="4261915"/>
            <a:ext cx="11697602" cy="49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             </a:t>
            </a:r>
            <a:r>
              <a:rPr lang="en-US" altLang="ko-KR" b="1" dirty="0" smtClean="0">
                <a:solidFill>
                  <a:schemeClr val="tx1"/>
                </a:solidFill>
              </a:rPr>
              <a:t>UFS </a:t>
            </a:r>
            <a:r>
              <a:rPr lang="en-US" altLang="ko-KR" b="1" dirty="0">
                <a:solidFill>
                  <a:schemeClr val="tx1"/>
                </a:solidFill>
              </a:rPr>
              <a:t>3.1 </a:t>
            </a:r>
            <a:r>
              <a:rPr lang="en-US" altLang="ko-KR" b="1" dirty="0" smtClean="0">
                <a:solidFill>
                  <a:schemeClr val="tx1"/>
                </a:solidFill>
              </a:rPr>
              <a:t>G4 2Lane, 2.2 G3 2Lane Host Specification </a:t>
            </a:r>
            <a:r>
              <a:rPr lang="ko-KR" altLang="en-US" b="1" dirty="0" smtClean="0">
                <a:solidFill>
                  <a:schemeClr val="tx1"/>
                </a:solidFill>
              </a:rPr>
              <a:t>지원 </a:t>
            </a:r>
            <a:r>
              <a:rPr lang="en-US" altLang="ko-KR" b="1" dirty="0" smtClean="0">
                <a:solidFill>
                  <a:schemeClr val="tx1"/>
                </a:solidFill>
              </a:rPr>
              <a:t>(QD32)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07361" y="4261915"/>
            <a:ext cx="496501" cy="49650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626641" y="4281195"/>
            <a:ext cx="457941" cy="45794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C2</a:t>
            </a:r>
            <a:endParaRPr lang="ko-KR" altLang="en-US" sz="1400" b="1" dirty="0"/>
          </a:p>
        </p:txBody>
      </p:sp>
      <p:sp>
        <p:nvSpPr>
          <p:cNvPr id="52" name="직사각형 51"/>
          <p:cNvSpPr/>
          <p:nvPr/>
        </p:nvSpPr>
        <p:spPr>
          <a:xfrm>
            <a:off x="266510" y="4853178"/>
            <a:ext cx="11697602" cy="49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        </a:t>
            </a:r>
            <a:r>
              <a:rPr lang="ko-KR" altLang="en-US" b="1" dirty="0" smtClean="0">
                <a:solidFill>
                  <a:schemeClr val="tx1"/>
                </a:solidFill>
              </a:rPr>
              <a:t>     </a:t>
            </a:r>
            <a:r>
              <a:rPr lang="en-US" altLang="ko-KR" b="1" dirty="0" smtClean="0">
                <a:solidFill>
                  <a:schemeClr val="tx1"/>
                </a:solidFill>
              </a:rPr>
              <a:t>QLC NAND</a:t>
            </a:r>
            <a:r>
              <a:rPr lang="ko-KR" altLang="en-US" b="1" dirty="0" smtClean="0">
                <a:solidFill>
                  <a:schemeClr val="tx1"/>
                </a:solidFill>
              </a:rPr>
              <a:t>는 낮은 성능 및 신뢰성과 </a:t>
            </a:r>
            <a:r>
              <a:rPr lang="en-US" altLang="ko-KR" b="1" dirty="0" smtClean="0">
                <a:solidFill>
                  <a:schemeClr val="tx1"/>
                </a:solidFill>
              </a:rPr>
              <a:t>Sun-Who Program </a:t>
            </a:r>
            <a:r>
              <a:rPr lang="ko-KR" altLang="en-US" b="1" dirty="0" smtClean="0">
                <a:solidFill>
                  <a:schemeClr val="tx1"/>
                </a:solidFill>
              </a:rPr>
              <a:t>필요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07361" y="4853178"/>
            <a:ext cx="496501" cy="49650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626641" y="4872458"/>
            <a:ext cx="457941" cy="45794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C3</a:t>
            </a:r>
            <a:endParaRPr lang="ko-KR" altLang="en-US" sz="1400" b="1" dirty="0"/>
          </a:p>
        </p:txBody>
      </p:sp>
      <p:sp>
        <p:nvSpPr>
          <p:cNvPr id="58" name="직사각형 57"/>
          <p:cNvSpPr/>
          <p:nvPr/>
        </p:nvSpPr>
        <p:spPr>
          <a:xfrm>
            <a:off x="266510" y="5444441"/>
            <a:ext cx="11697602" cy="49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             Solvit UFS </a:t>
            </a:r>
            <a:r>
              <a:rPr lang="ko-KR" altLang="en-US" b="1" dirty="0" smtClean="0">
                <a:solidFill>
                  <a:schemeClr val="tx1"/>
                </a:solidFill>
              </a:rPr>
              <a:t>컨트롤러의 </a:t>
            </a:r>
            <a:r>
              <a:rPr lang="en-US" altLang="ko-KR" b="1" dirty="0" smtClean="0">
                <a:solidFill>
                  <a:schemeClr val="tx1"/>
                </a:solidFill>
              </a:rPr>
              <a:t>Hardware IP </a:t>
            </a:r>
            <a:r>
              <a:rPr lang="ko-KR" altLang="en-US" b="1" dirty="0" smtClean="0">
                <a:solidFill>
                  <a:schemeClr val="tx1"/>
                </a:solidFill>
              </a:rPr>
              <a:t>사용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07361" y="5444441"/>
            <a:ext cx="496501" cy="49650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626641" y="5463721"/>
            <a:ext cx="457941" cy="45794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C4</a:t>
            </a:r>
            <a:endParaRPr lang="ko-KR" altLang="en-US" sz="1400" b="1" dirty="0"/>
          </a:p>
        </p:txBody>
      </p:sp>
      <p:sp>
        <p:nvSpPr>
          <p:cNvPr id="61" name="직사각형 60"/>
          <p:cNvSpPr/>
          <p:nvPr/>
        </p:nvSpPr>
        <p:spPr>
          <a:xfrm>
            <a:off x="266510" y="6035704"/>
            <a:ext cx="11697602" cy="49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             고객사 제품 일정에 맞춘 개발 일정 준수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607361" y="6035704"/>
            <a:ext cx="496501" cy="49650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626641" y="6054984"/>
            <a:ext cx="457941" cy="45794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C5</a:t>
            </a:r>
            <a:endParaRPr lang="ko-KR" altLang="en-US" sz="14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533021" y="3281581"/>
            <a:ext cx="185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chemeClr val="accent6">
                    <a:lumMod val="50000"/>
                  </a:schemeClr>
                </a:solidFill>
              </a:rPr>
              <a:t>제약사항</a:t>
            </a:r>
            <a:endParaRPr lang="ko-KR" altLang="en-US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8142" y="1202839"/>
            <a:ext cx="5838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smtClean="0"/>
              <a:t>* </a:t>
            </a:r>
            <a:r>
              <a:rPr lang="ko-KR" altLang="en-US" sz="1100" dirty="0" smtClean="0"/>
              <a:t>기존 </a:t>
            </a:r>
            <a:r>
              <a:rPr lang="en-US" altLang="ko-KR" sz="1100" dirty="0" smtClean="0"/>
              <a:t>UFS FTL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Platform</a:t>
            </a:r>
            <a:r>
              <a:rPr lang="ko-KR" altLang="en-US" sz="1100" dirty="0" smtClean="0"/>
              <a:t>에서 현재 지원하는 모든 기능</a:t>
            </a:r>
            <a:r>
              <a:rPr lang="en-US" altLang="ko-KR" sz="1100" dirty="0" smtClean="0"/>
              <a:t>(UFS Spec, </a:t>
            </a:r>
            <a:r>
              <a:rPr lang="ko-KR" altLang="en-US" sz="1100" dirty="0" smtClean="0"/>
              <a:t>검증</a:t>
            </a:r>
            <a:r>
              <a:rPr lang="en-US" altLang="ko-KR" sz="1100" dirty="0" smtClean="0"/>
              <a:t>,</a:t>
            </a:r>
            <a:r>
              <a:rPr lang="ko-KR" altLang="en-US" sz="1100" dirty="0" smtClean="0"/>
              <a:t> 고객의 기능</a:t>
            </a:r>
            <a:r>
              <a:rPr lang="en-US" altLang="ko-KR" sz="1100" dirty="0" smtClean="0"/>
              <a:t>) </a:t>
            </a:r>
            <a:r>
              <a:rPr lang="ko-KR" altLang="en-US" sz="1100" dirty="0" smtClean="0"/>
              <a:t>제공</a:t>
            </a:r>
            <a:endParaRPr lang="ko-KR" altLang="en-US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5867400" y="1795169"/>
            <a:ext cx="6089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smtClean="0"/>
              <a:t>* NAND Flash</a:t>
            </a:r>
            <a:r>
              <a:rPr lang="ko-KR" altLang="en-US" sz="1100" dirty="0" smtClean="0"/>
              <a:t>에서 </a:t>
            </a:r>
            <a:r>
              <a:rPr lang="en-US" altLang="ko-KR" sz="1100" dirty="0" smtClean="0"/>
              <a:t>Program </a:t>
            </a:r>
            <a:r>
              <a:rPr lang="ko-KR" altLang="en-US" sz="1100" dirty="0" smtClean="0"/>
              <a:t>속도가 빠른 </a:t>
            </a:r>
            <a:r>
              <a:rPr lang="en-US" altLang="ko-KR" sz="1100" dirty="0" smtClean="0"/>
              <a:t>SLC Block</a:t>
            </a:r>
            <a:r>
              <a:rPr lang="ko-KR" altLang="en-US" sz="1100" dirty="0" smtClean="0"/>
              <a:t>을 이용하여 </a:t>
            </a:r>
            <a:r>
              <a:rPr lang="en-US" altLang="ko-KR" sz="1100" dirty="0" smtClean="0"/>
              <a:t>Write </a:t>
            </a:r>
            <a:r>
              <a:rPr lang="ko-KR" altLang="en-US" sz="1100" dirty="0" smtClean="0"/>
              <a:t>성능을 향상시키는 기능</a:t>
            </a:r>
            <a:endParaRPr lang="ko-KR" altLang="en-US" sz="1100" dirty="0"/>
          </a:p>
        </p:txBody>
      </p:sp>
      <p:sp>
        <p:nvSpPr>
          <p:cNvPr id="74" name="TextBox 73"/>
          <p:cNvSpPr txBox="1"/>
          <p:nvPr/>
        </p:nvSpPr>
        <p:spPr>
          <a:xfrm>
            <a:off x="7300213" y="2384403"/>
            <a:ext cx="46566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smtClean="0"/>
              <a:t>* Host DRAM</a:t>
            </a:r>
            <a:r>
              <a:rPr lang="ko-KR" altLang="en-US" sz="1100" dirty="0" smtClean="0"/>
              <a:t>을 </a:t>
            </a:r>
            <a:r>
              <a:rPr lang="en-US" altLang="ko-KR" sz="1100" dirty="0" smtClean="0"/>
              <a:t>Map Cache</a:t>
            </a:r>
            <a:r>
              <a:rPr lang="ko-KR" altLang="en-US" sz="1100" dirty="0" smtClean="0"/>
              <a:t>로 이용하여 </a:t>
            </a:r>
            <a:r>
              <a:rPr lang="en-US" altLang="ko-KR" sz="1100" dirty="0" smtClean="0"/>
              <a:t>Read </a:t>
            </a:r>
            <a:r>
              <a:rPr lang="ko-KR" altLang="en-US" sz="1100" dirty="0" smtClean="0"/>
              <a:t>성능을 향상시키는 기능</a:t>
            </a:r>
            <a:endParaRPr lang="ko-KR" altLang="en-US" sz="1100" dirty="0"/>
          </a:p>
        </p:txBody>
      </p:sp>
      <p:sp>
        <p:nvSpPr>
          <p:cNvPr id="75" name="TextBox 74"/>
          <p:cNvSpPr txBox="1"/>
          <p:nvPr/>
        </p:nvSpPr>
        <p:spPr>
          <a:xfrm>
            <a:off x="7156935" y="2977697"/>
            <a:ext cx="47999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smtClean="0"/>
              <a:t>* Host System</a:t>
            </a:r>
            <a:r>
              <a:rPr lang="ko-KR" altLang="en-US" sz="1100" dirty="0" smtClean="0"/>
              <a:t>이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주도적으로 </a:t>
            </a:r>
            <a:r>
              <a:rPr lang="en-US" altLang="ko-KR" sz="1100" dirty="0" smtClean="0"/>
              <a:t>UFS</a:t>
            </a:r>
            <a:r>
              <a:rPr lang="ko-KR" altLang="en-US" sz="1100" dirty="0" smtClean="0"/>
              <a:t>의 </a:t>
            </a:r>
            <a:r>
              <a:rPr lang="en-US" altLang="ko-KR" sz="1100" dirty="0" smtClean="0"/>
              <a:t>Defragmentation</a:t>
            </a:r>
            <a:r>
              <a:rPr lang="ko-KR" altLang="en-US" sz="1100" dirty="0" smtClean="0"/>
              <a:t>을 수행시키는 기능</a:t>
            </a:r>
            <a:endParaRPr lang="ko-KR" altLang="en-US" sz="1100" dirty="0"/>
          </a:p>
        </p:txBody>
      </p:sp>
      <p:sp>
        <p:nvSpPr>
          <p:cNvPr id="46" name="모서리가 둥근 직사각형 45">
            <a:hlinkClick r:id="rId2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Detail 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7" name="모서리가 둥근 직사각형 46">
            <a:hlinkClick r:id="rId3" action="ppaction://hlinksldjump"/>
          </p:cNvPr>
          <p:cNvSpPr/>
          <p:nvPr/>
        </p:nvSpPr>
        <p:spPr>
          <a:xfrm>
            <a:off x="458861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분석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56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품질 요구사항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66510" y="2529158"/>
            <a:ext cx="871757" cy="69208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446186" y="2529158"/>
            <a:ext cx="692081" cy="692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473061" y="2556033"/>
            <a:ext cx="638331" cy="638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QA1</a:t>
            </a:r>
            <a:endParaRPr lang="ko-KR" altLang="en-US" sz="1400" b="1" dirty="0"/>
          </a:p>
        </p:txBody>
      </p:sp>
      <p:sp>
        <p:nvSpPr>
          <p:cNvPr id="8" name="직사각형 7"/>
          <p:cNvSpPr/>
          <p:nvPr/>
        </p:nvSpPr>
        <p:spPr>
          <a:xfrm>
            <a:off x="266510" y="3351377"/>
            <a:ext cx="871757" cy="69208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446186" y="3351377"/>
            <a:ext cx="692081" cy="692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73061" y="3378251"/>
            <a:ext cx="638331" cy="638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QA2</a:t>
            </a:r>
            <a:endParaRPr lang="ko-KR" altLang="en-US" sz="1400" b="1" dirty="0"/>
          </a:p>
        </p:txBody>
      </p:sp>
      <p:sp>
        <p:nvSpPr>
          <p:cNvPr id="11" name="직사각형 10"/>
          <p:cNvSpPr/>
          <p:nvPr/>
        </p:nvSpPr>
        <p:spPr>
          <a:xfrm>
            <a:off x="266510" y="4175548"/>
            <a:ext cx="871757" cy="69208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446186" y="4175548"/>
            <a:ext cx="692081" cy="692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473061" y="4202423"/>
            <a:ext cx="638331" cy="638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QA3</a:t>
            </a:r>
            <a:endParaRPr lang="ko-KR" altLang="en-US" sz="1400" b="1" dirty="0"/>
          </a:p>
        </p:txBody>
      </p:sp>
      <p:sp>
        <p:nvSpPr>
          <p:cNvPr id="14" name="직사각형 13"/>
          <p:cNvSpPr/>
          <p:nvPr/>
        </p:nvSpPr>
        <p:spPr>
          <a:xfrm>
            <a:off x="266510" y="4999718"/>
            <a:ext cx="871757" cy="69208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446186" y="4999718"/>
            <a:ext cx="692081" cy="692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473061" y="5026593"/>
            <a:ext cx="638331" cy="638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QA4</a:t>
            </a:r>
            <a:endParaRPr lang="ko-KR" altLang="en-US" sz="1400" b="1" dirty="0"/>
          </a:p>
        </p:txBody>
      </p:sp>
      <p:sp>
        <p:nvSpPr>
          <p:cNvPr id="26" name="직사각형 25"/>
          <p:cNvSpPr/>
          <p:nvPr/>
        </p:nvSpPr>
        <p:spPr>
          <a:xfrm>
            <a:off x="266510" y="5823890"/>
            <a:ext cx="871757" cy="69208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27" name="직사각형 26"/>
          <p:cNvSpPr/>
          <p:nvPr/>
        </p:nvSpPr>
        <p:spPr>
          <a:xfrm>
            <a:off x="446186" y="5823890"/>
            <a:ext cx="692081" cy="692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473061" y="5850765"/>
            <a:ext cx="638331" cy="638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QA5</a:t>
            </a:r>
            <a:endParaRPr lang="ko-KR" altLang="en-US" sz="1400" b="1" dirty="0"/>
          </a:p>
        </p:txBody>
      </p:sp>
      <p:sp>
        <p:nvSpPr>
          <p:cNvPr id="35" name="직사각형 34"/>
          <p:cNvSpPr/>
          <p:nvPr/>
        </p:nvSpPr>
        <p:spPr>
          <a:xfrm>
            <a:off x="1198228" y="2028436"/>
            <a:ext cx="1567458" cy="40979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QA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855509" y="2028436"/>
            <a:ext cx="2630774" cy="40979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Attribute Refinement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11063156" y="2028436"/>
            <a:ext cx="749508" cy="40979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중요도</a:t>
            </a:r>
            <a:endParaRPr lang="en-US" altLang="ko-KR" sz="1400" b="1" dirty="0" smtClean="0"/>
          </a:p>
        </p:txBody>
      </p:sp>
      <p:sp>
        <p:nvSpPr>
          <p:cNvPr id="38" name="직사각형 37"/>
          <p:cNvSpPr/>
          <p:nvPr/>
        </p:nvSpPr>
        <p:spPr>
          <a:xfrm>
            <a:off x="10223824" y="2028436"/>
            <a:ext cx="749508" cy="40979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난이도</a:t>
            </a:r>
            <a:endParaRPr lang="en-US" altLang="ko-KR" sz="1400" b="1" dirty="0" smtClean="0"/>
          </a:p>
        </p:txBody>
      </p:sp>
      <p:sp>
        <p:nvSpPr>
          <p:cNvPr id="39" name="직사각형 38"/>
          <p:cNvSpPr/>
          <p:nvPr/>
        </p:nvSpPr>
        <p:spPr>
          <a:xfrm>
            <a:off x="5576107" y="2028436"/>
            <a:ext cx="4557893" cy="40979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Scenario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198228" y="2529158"/>
            <a:ext cx="1567457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Performance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855509" y="2529158"/>
            <a:ext cx="2630774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Sequential Write </a:t>
            </a:r>
            <a:r>
              <a:rPr lang="ko-KR" altLang="en-US" sz="1400" dirty="0" smtClean="0">
                <a:solidFill>
                  <a:schemeClr val="tx1"/>
                </a:solidFill>
              </a:rPr>
              <a:t>성능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76107" y="2529158"/>
            <a:ext cx="4557893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Sequential Write </a:t>
            </a:r>
            <a:r>
              <a:rPr lang="ko-KR" altLang="en-US" sz="1400" dirty="0" smtClean="0">
                <a:solidFill>
                  <a:schemeClr val="tx1"/>
                </a:solidFill>
              </a:rPr>
              <a:t>성능</a:t>
            </a:r>
            <a:r>
              <a:rPr lang="en-US" altLang="ko-KR" sz="1400" dirty="0" smtClean="0">
                <a:solidFill>
                  <a:schemeClr val="tx1"/>
                </a:solidFill>
              </a:rPr>
              <a:t> 1600MB/s </a:t>
            </a:r>
            <a:r>
              <a:rPr lang="ko-KR" altLang="en-US" sz="1400" dirty="0" smtClean="0">
                <a:solidFill>
                  <a:schemeClr val="tx1"/>
                </a:solidFill>
              </a:rPr>
              <a:t>이상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0223824" y="2529158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1063156" y="2529158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98228" y="3378251"/>
            <a:ext cx="1567457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Performance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855509" y="3378251"/>
            <a:ext cx="2630774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Random Read </a:t>
            </a:r>
            <a:r>
              <a:rPr lang="ko-KR" altLang="en-US" sz="1400" dirty="0" smtClean="0">
                <a:solidFill>
                  <a:schemeClr val="tx1"/>
                </a:solidFill>
              </a:rPr>
              <a:t>성능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576107" y="3378251"/>
            <a:ext cx="4557893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</a:rPr>
              <a:t>4KB Chunk QD32 Random Read </a:t>
            </a:r>
            <a:r>
              <a:rPr lang="ko-KR" altLang="en-US" sz="1400" dirty="0" smtClean="0">
                <a:solidFill>
                  <a:schemeClr val="tx1"/>
                </a:solidFill>
              </a:rPr>
              <a:t>성능 </a:t>
            </a:r>
            <a:r>
              <a:rPr lang="en-US" altLang="ko-KR" sz="1400" dirty="0" smtClean="0">
                <a:solidFill>
                  <a:schemeClr val="tx1"/>
                </a:solidFill>
              </a:rPr>
              <a:t>350KIOPS </a:t>
            </a:r>
            <a:r>
              <a:rPr lang="ko-KR" altLang="en-US" sz="1400" dirty="0" smtClean="0">
                <a:solidFill>
                  <a:schemeClr val="tx1"/>
                </a:solidFill>
              </a:rPr>
              <a:t>이상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0223824" y="3378251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1063156" y="3378251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198228" y="4202423"/>
            <a:ext cx="1567457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Performance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855509" y="4202423"/>
            <a:ext cx="2630774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Idle Power Efficiency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576107" y="4202423"/>
            <a:ext cx="4557893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</a:rPr>
              <a:t>UFS</a:t>
            </a:r>
            <a:r>
              <a:rPr lang="ko-KR" altLang="en-US" sz="1400" dirty="0" smtClean="0">
                <a:solidFill>
                  <a:schemeClr val="tx1"/>
                </a:solidFill>
              </a:rPr>
              <a:t>에 동작 요청이 없을 때 파워 소비 감소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0223824" y="4202423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1063156" y="4202423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M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198228" y="4999718"/>
            <a:ext cx="1567457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Modifiability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855509" y="4999718"/>
            <a:ext cx="2630774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NAND Flash 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 용이성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576107" y="4999718"/>
            <a:ext cx="4557893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</a:rPr>
              <a:t>NAND Flash 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변경에 의한 </a:t>
            </a:r>
            <a:r>
              <a:rPr lang="en-US" altLang="ko-KR" sz="1400" dirty="0" smtClean="0">
                <a:solidFill>
                  <a:schemeClr val="tx1"/>
                </a:solidFill>
              </a:rPr>
              <a:t>Software 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 용이성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223824" y="4999718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M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1063156" y="4999718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198228" y="5823890"/>
            <a:ext cx="1567457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Modifiability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855509" y="5823890"/>
            <a:ext cx="2630774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신규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기능 변경 용이성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576107" y="5823890"/>
            <a:ext cx="4557893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비 표준화 기술 개발 시 </a:t>
            </a:r>
            <a:r>
              <a:rPr lang="en-US" altLang="ko-KR" sz="1400" dirty="0" smtClean="0">
                <a:solidFill>
                  <a:schemeClr val="tx1"/>
                </a:solidFill>
              </a:rPr>
              <a:t>Software 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 용이성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0223824" y="5823890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1063156" y="5823890"/>
            <a:ext cx="749508" cy="69208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M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34949" y="638564"/>
            <a:ext cx="11781791" cy="82908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/>
                </a:solidFill>
              </a:rPr>
              <a:t>      </a:t>
            </a:r>
            <a:r>
              <a:rPr lang="en-US" altLang="ko-KR" sz="1600" dirty="0" smtClean="0">
                <a:solidFill>
                  <a:schemeClr val="tx1"/>
                </a:solidFill>
              </a:rPr>
              <a:t>QAW</a:t>
            </a:r>
            <a:r>
              <a:rPr lang="ko-KR" altLang="en-US" sz="1600" dirty="0" smtClean="0">
                <a:solidFill>
                  <a:schemeClr val="tx1"/>
                </a:solidFill>
              </a:rPr>
              <a:t>에서 도출된 품질 요구사항을 </a:t>
            </a:r>
            <a:r>
              <a:rPr lang="en-US" altLang="ko-KR" sz="1600" dirty="0" smtClean="0">
                <a:solidFill>
                  <a:schemeClr val="tx1"/>
                </a:solidFill>
              </a:rPr>
              <a:t>Utility Tree</a:t>
            </a:r>
            <a:r>
              <a:rPr lang="ko-KR" altLang="en-US" sz="1600" dirty="0" smtClean="0">
                <a:solidFill>
                  <a:schemeClr val="tx1"/>
                </a:solidFill>
              </a:rPr>
              <a:t>를 통해 핵심 품질 속성</a:t>
            </a:r>
            <a:r>
              <a:rPr lang="en-US" altLang="ko-KR" sz="1600" dirty="0" smtClean="0">
                <a:solidFill>
                  <a:schemeClr val="tx1"/>
                </a:solidFill>
              </a:rPr>
              <a:t>(H/M or M/H </a:t>
            </a:r>
            <a:r>
              <a:rPr lang="ko-KR" altLang="en-US" sz="1600" dirty="0" smtClean="0">
                <a:solidFill>
                  <a:schemeClr val="tx1"/>
                </a:solidFill>
              </a:rPr>
              <a:t>이상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r>
              <a:rPr lang="ko-KR" altLang="en-US" sz="1600" dirty="0" smtClean="0">
                <a:solidFill>
                  <a:schemeClr val="tx1"/>
                </a:solidFill>
              </a:rPr>
              <a:t> 선정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/>
                </a:solidFill>
              </a:rPr>
              <a:t>      </a:t>
            </a:r>
            <a:r>
              <a:rPr lang="ko-KR" altLang="en-US" sz="1600" dirty="0" smtClean="0">
                <a:solidFill>
                  <a:schemeClr val="tx1"/>
                </a:solidFill>
              </a:rPr>
              <a:t>난이도는 실제 기술의 난이도를 대변하지 않으며 기존 과제의 재사용에 의해 개발 난이도가 감소하는 것을 고려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463391" y="775340"/>
            <a:ext cx="153762" cy="153762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463391" y="1159763"/>
            <a:ext cx="153762" cy="153762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11613717" y="2656093"/>
            <a:ext cx="442210" cy="442210"/>
          </a:xfrm>
          <a:prstGeom prst="ellipse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1613717" y="3497212"/>
            <a:ext cx="442210" cy="442210"/>
          </a:xfrm>
          <a:prstGeom prst="ellipse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11613717" y="4304494"/>
            <a:ext cx="442210" cy="442210"/>
          </a:xfrm>
          <a:prstGeom prst="ellipse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11613717" y="5124653"/>
            <a:ext cx="442210" cy="442210"/>
          </a:xfrm>
          <a:prstGeom prst="ellipse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11613717" y="5948825"/>
            <a:ext cx="442210" cy="442210"/>
          </a:xfrm>
          <a:prstGeom prst="ellipse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5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3419" y="1569726"/>
            <a:ext cx="3181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u="sng" dirty="0" smtClean="0">
                <a:solidFill>
                  <a:schemeClr val="accent2">
                    <a:lumMod val="50000"/>
                  </a:schemeClr>
                </a:solidFill>
              </a:rPr>
              <a:t>품질 속성 유틸리티 트리</a:t>
            </a:r>
            <a:endParaRPr lang="ko-KR" altLang="en-US" sz="20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649686" y="2984407"/>
            <a:ext cx="38010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* Business Goal : </a:t>
            </a:r>
            <a:r>
              <a:rPr lang="ko-KR" altLang="en-US" sz="1050" dirty="0" smtClean="0"/>
              <a:t>제품 경쟁력 지표 </a:t>
            </a:r>
            <a:r>
              <a:rPr lang="en-US" altLang="ko-KR" sz="1050" dirty="0" smtClean="0">
                <a:sym typeface="Wingdings" panose="05000000000000000000" pitchFamily="2" charset="2"/>
              </a:rPr>
              <a:t> </a:t>
            </a:r>
            <a:r>
              <a:rPr lang="ko-KR" altLang="en-US" sz="1050" dirty="0" smtClean="0"/>
              <a:t>초격차 성능 확보</a:t>
            </a:r>
            <a:endParaRPr lang="ko-KR" altLang="en-US" sz="1050" dirty="0"/>
          </a:p>
        </p:txBody>
      </p:sp>
      <p:sp>
        <p:nvSpPr>
          <p:cNvPr id="82" name="TextBox 81"/>
          <p:cNvSpPr txBox="1"/>
          <p:nvPr/>
        </p:nvSpPr>
        <p:spPr>
          <a:xfrm>
            <a:off x="5649686" y="3825526"/>
            <a:ext cx="38010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* Business Goal : </a:t>
            </a:r>
            <a:r>
              <a:rPr lang="ko-KR" altLang="en-US" sz="1050" dirty="0"/>
              <a:t>제품 경쟁력 지표 </a:t>
            </a:r>
            <a:r>
              <a:rPr lang="en-US" altLang="ko-KR" sz="1050" dirty="0">
                <a:sym typeface="Wingdings" panose="05000000000000000000" pitchFamily="2" charset="2"/>
              </a:rPr>
              <a:t> </a:t>
            </a:r>
            <a:r>
              <a:rPr lang="ko-KR" altLang="en-US" sz="1050" dirty="0" smtClean="0"/>
              <a:t>초격차 성능 확보</a:t>
            </a:r>
            <a:endParaRPr lang="ko-KR" altLang="en-US" sz="1050" dirty="0"/>
          </a:p>
        </p:txBody>
      </p:sp>
      <p:sp>
        <p:nvSpPr>
          <p:cNvPr id="83" name="TextBox 82"/>
          <p:cNvSpPr txBox="1"/>
          <p:nvPr/>
        </p:nvSpPr>
        <p:spPr>
          <a:xfrm>
            <a:off x="5649686" y="4666695"/>
            <a:ext cx="38010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* Business Goal : </a:t>
            </a:r>
            <a:r>
              <a:rPr lang="ko-KR" altLang="en-US" sz="1050" dirty="0"/>
              <a:t>제품 경쟁력 지표 </a:t>
            </a:r>
            <a:r>
              <a:rPr lang="en-US" altLang="ko-KR" sz="1050" dirty="0">
                <a:sym typeface="Wingdings" panose="05000000000000000000" pitchFamily="2" charset="2"/>
              </a:rPr>
              <a:t> </a:t>
            </a:r>
            <a:r>
              <a:rPr lang="ko-KR" altLang="en-US" sz="1050" dirty="0" smtClean="0"/>
              <a:t>파워 경쟁력 확보</a:t>
            </a:r>
            <a:endParaRPr lang="ko-KR" altLang="en-US" sz="1050" dirty="0"/>
          </a:p>
        </p:txBody>
      </p:sp>
      <p:sp>
        <p:nvSpPr>
          <p:cNvPr id="84" name="TextBox 83"/>
          <p:cNvSpPr txBox="1"/>
          <p:nvPr/>
        </p:nvSpPr>
        <p:spPr>
          <a:xfrm>
            <a:off x="5649686" y="5459130"/>
            <a:ext cx="42454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* Business Goal : </a:t>
            </a:r>
            <a:r>
              <a:rPr lang="ko-KR" altLang="en-US" sz="1050" dirty="0" smtClean="0"/>
              <a:t>개발 </a:t>
            </a:r>
            <a:r>
              <a:rPr lang="en-US" altLang="ko-KR" sz="1050" dirty="0" smtClean="0"/>
              <a:t>Resource </a:t>
            </a:r>
            <a:r>
              <a:rPr lang="ko-KR" altLang="en-US" sz="1050" dirty="0" smtClean="0"/>
              <a:t>효율화 </a:t>
            </a:r>
            <a:r>
              <a:rPr lang="en-US" altLang="ko-KR" sz="1050" dirty="0" smtClean="0">
                <a:sym typeface="Wingdings" panose="05000000000000000000" pitchFamily="2" charset="2"/>
              </a:rPr>
              <a:t> </a:t>
            </a:r>
            <a:r>
              <a:rPr lang="ko-KR" altLang="en-US" sz="1050" dirty="0" smtClean="0">
                <a:sym typeface="Wingdings" panose="05000000000000000000" pitchFamily="2" charset="2"/>
              </a:rPr>
              <a:t>원가 경쟁력 확보</a:t>
            </a:r>
            <a:endParaRPr lang="ko-KR" altLang="en-US" sz="1050" dirty="0"/>
          </a:p>
        </p:txBody>
      </p:sp>
      <p:sp>
        <p:nvSpPr>
          <p:cNvPr id="85" name="TextBox 84"/>
          <p:cNvSpPr txBox="1"/>
          <p:nvPr/>
        </p:nvSpPr>
        <p:spPr>
          <a:xfrm>
            <a:off x="5649686" y="6283302"/>
            <a:ext cx="42454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* Business Goal : </a:t>
            </a:r>
            <a:r>
              <a:rPr lang="ko-KR" altLang="en-US" sz="1050" dirty="0" smtClean="0"/>
              <a:t>개발 </a:t>
            </a:r>
            <a:r>
              <a:rPr lang="en-US" altLang="ko-KR" sz="1050" dirty="0" smtClean="0"/>
              <a:t>Resource </a:t>
            </a:r>
            <a:r>
              <a:rPr lang="ko-KR" altLang="en-US" sz="1050" dirty="0" smtClean="0"/>
              <a:t>효율화 </a:t>
            </a:r>
            <a:r>
              <a:rPr lang="en-US" altLang="ko-KR" sz="1050" dirty="0" smtClean="0">
                <a:sym typeface="Wingdings" panose="05000000000000000000" pitchFamily="2" charset="2"/>
              </a:rPr>
              <a:t> </a:t>
            </a:r>
            <a:r>
              <a:rPr lang="ko-KR" altLang="en-US" sz="1050" dirty="0" smtClean="0">
                <a:sym typeface="Wingdings" panose="05000000000000000000" pitchFamily="2" charset="2"/>
              </a:rPr>
              <a:t>시장 지배력 확대</a:t>
            </a:r>
            <a:endParaRPr lang="ko-KR" altLang="en-US" sz="1050" dirty="0"/>
          </a:p>
        </p:txBody>
      </p:sp>
      <p:sp>
        <p:nvSpPr>
          <p:cNvPr id="65" name="모서리가 둥근 직사각형 64">
            <a:hlinkClick r:id="rId2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평가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6" name="모서리가 둥근 직사각형 65">
            <a:hlinkClick r:id="rId3" action="ppaction://hlinksldjump"/>
          </p:cNvPr>
          <p:cNvSpPr/>
          <p:nvPr/>
        </p:nvSpPr>
        <p:spPr>
          <a:xfrm>
            <a:off x="4588943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전체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cxnSp>
        <p:nvCxnSpPr>
          <p:cNvPr id="68" name="직선 연결선 67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58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아키텍처 드라이버 선정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4194513" y="1013505"/>
            <a:ext cx="3637907" cy="369396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FR1. Legacy UFS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기능 제공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194513" y="1459184"/>
            <a:ext cx="3637907" cy="369396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</a:rPr>
              <a:t>FR2. Turbo Write 1.0 </a:t>
            </a:r>
            <a:r>
              <a:rPr lang="ko-KR" altLang="en-US" sz="1400" b="1" dirty="0" smtClean="0">
                <a:latin typeface="맑은 고딕" panose="020B0503020000020004" pitchFamily="50" charset="-127"/>
              </a:rPr>
              <a:t>지원</a:t>
            </a:r>
            <a:endParaRPr lang="ko-KR" altLang="en-US" sz="1400" b="1" dirty="0">
              <a:latin typeface="맑은 고딕" panose="020B0503020000020004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194513" y="2353275"/>
            <a:ext cx="3637907" cy="369396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</a:rPr>
              <a:t>FR4. Host Initiative Defrag 1.0 </a:t>
            </a:r>
            <a:r>
              <a:rPr lang="ko-KR" altLang="en-US" sz="1400" b="1" dirty="0" smtClean="0">
                <a:latin typeface="맑은 고딕" panose="020B0503020000020004" pitchFamily="50" charset="-127"/>
              </a:rPr>
              <a:t>지원</a:t>
            </a:r>
            <a:endParaRPr lang="ko-KR" altLang="en-US" sz="1400" b="1" dirty="0">
              <a:latin typeface="맑은 고딕" panose="020B050302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8482638" y="3484872"/>
            <a:ext cx="3210263" cy="3693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C2. UFS Specification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8482638" y="3943613"/>
            <a:ext cx="3210263" cy="3693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C3. QLC NAND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8482638" y="4402354"/>
            <a:ext cx="3210263" cy="3693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C4. Solvit UFS CTRL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HW IP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8482638" y="4861095"/>
            <a:ext cx="3210263" cy="3693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C5.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 제품 일정 준수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3819946" y="3707814"/>
            <a:ext cx="501051" cy="840993"/>
          </a:xfrm>
          <a:prstGeom prst="rightArrow">
            <a:avLst>
              <a:gd name="adj1" fmla="val 62309"/>
              <a:gd name="adj2" fmla="val 50000"/>
            </a:avLst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화살표 26"/>
          <p:cNvSpPr/>
          <p:nvPr/>
        </p:nvSpPr>
        <p:spPr>
          <a:xfrm flipH="1">
            <a:off x="7839762" y="3707814"/>
            <a:ext cx="501051" cy="840993"/>
          </a:xfrm>
          <a:prstGeom prst="rightArrow">
            <a:avLst>
              <a:gd name="adj1" fmla="val 62309"/>
              <a:gd name="adj2" fmla="val 50000"/>
            </a:avLst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Ins="0" rtlCol="0" anchor="ctr"/>
          <a:lstStyle/>
          <a:p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오른쪽 화살표 27"/>
          <p:cNvSpPr/>
          <p:nvPr/>
        </p:nvSpPr>
        <p:spPr>
          <a:xfrm rot="16200000" flipH="1">
            <a:off x="5818156" y="2678080"/>
            <a:ext cx="501051" cy="840993"/>
          </a:xfrm>
          <a:prstGeom prst="rightArrow">
            <a:avLst>
              <a:gd name="adj1" fmla="val 62309"/>
              <a:gd name="adj2" fmla="val 50000"/>
            </a:avLst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b="1">
              <a:latin typeface="맑은 고딕" panose="020B0503020000020004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4638614" y="4561764"/>
            <a:ext cx="2926751" cy="1198951"/>
            <a:chOff x="4638614" y="4449683"/>
            <a:chExt cx="2926751" cy="127408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>
                  <a:lumMod val="95000"/>
                </a:schemeClr>
              </a:gs>
              <a:gs pos="99000">
                <a:schemeClr val="bg1">
                  <a:lumMod val="95000"/>
                </a:schemeClr>
              </a:gs>
            </a:gsLst>
            <a:lin ang="5400000" scaled="1"/>
          </a:gradFill>
        </p:grpSpPr>
        <p:sp>
          <p:nvSpPr>
            <p:cNvPr id="7" name="순서도: 수동 연산 6"/>
            <p:cNvSpPr/>
            <p:nvPr/>
          </p:nvSpPr>
          <p:spPr>
            <a:xfrm>
              <a:off x="4638614" y="4449683"/>
              <a:ext cx="2926751" cy="672229"/>
            </a:xfrm>
            <a:prstGeom prst="flowChartManualOperat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solidFill>
                  <a:schemeClr val="tx1"/>
                </a:solidFill>
              </a:endParaRPr>
            </a:p>
          </p:txBody>
        </p:sp>
        <p:sp>
          <p:nvSpPr>
            <p:cNvPr id="29" name="이등변 삼각형 28"/>
            <p:cNvSpPr/>
            <p:nvPr/>
          </p:nvSpPr>
          <p:spPr>
            <a:xfrm flipV="1">
              <a:off x="4886646" y="5119021"/>
              <a:ext cx="2418707" cy="60474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solidFill>
                  <a:schemeClr val="tx1"/>
                </a:solidFill>
              </a:endParaRPr>
            </a:p>
          </p:txBody>
        </p:sp>
      </p:grpSp>
      <p:sp>
        <p:nvSpPr>
          <p:cNvPr id="4" name="타원 3"/>
          <p:cNvSpPr/>
          <p:nvPr/>
        </p:nvSpPr>
        <p:spPr>
          <a:xfrm>
            <a:off x="4443323" y="3443878"/>
            <a:ext cx="3305354" cy="151825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</a:t>
            </a:r>
          </a:p>
          <a:p>
            <a:pPr algn="ctr"/>
            <a:r>
              <a:rPr lang="en-US" altLang="ko-KR" sz="28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Drivers</a:t>
            </a:r>
            <a:endParaRPr lang="ko-KR" altLang="en-US" sz="28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6005" y="5832980"/>
            <a:ext cx="11580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i="1" dirty="0" smtClean="0">
                <a:solidFill>
                  <a:srgbClr val="0033CC"/>
                </a:solidFill>
              </a:rPr>
              <a:t>세계 최초 모바일 </a:t>
            </a:r>
            <a:r>
              <a:rPr lang="en-US" altLang="ko-KR" sz="2800" b="1" i="1" dirty="0" smtClean="0">
                <a:solidFill>
                  <a:srgbClr val="0033CC"/>
                </a:solidFill>
              </a:rPr>
              <a:t>QLC NAND</a:t>
            </a:r>
            <a:r>
              <a:rPr lang="ko-KR" altLang="en-US" sz="2800" b="1" i="1" dirty="0" smtClean="0">
                <a:solidFill>
                  <a:srgbClr val="0033CC"/>
                </a:solidFill>
              </a:rPr>
              <a:t>를 지원하는 초고성능 </a:t>
            </a:r>
            <a:r>
              <a:rPr lang="en-US" altLang="ko-KR" sz="2800" b="1" i="1" dirty="0" smtClean="0">
                <a:solidFill>
                  <a:srgbClr val="0033CC"/>
                </a:solidFill>
              </a:rPr>
              <a:t>UFS FTL Platform</a:t>
            </a:r>
            <a:endParaRPr lang="ko-KR" altLang="en-US" sz="2800" b="1" i="1" dirty="0">
              <a:solidFill>
                <a:srgbClr val="0033CC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95957" y="623711"/>
            <a:ext cx="320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accent5">
                    <a:lumMod val="50000"/>
                  </a:schemeClr>
                </a:solidFill>
              </a:rPr>
              <a:t>| Functional Requirements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72538" y="2636642"/>
            <a:ext cx="301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accent6">
                    <a:lumMod val="50000"/>
                  </a:schemeClr>
                </a:solidFill>
              </a:rPr>
              <a:t>| Constraints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8476689" y="3029617"/>
            <a:ext cx="3210263" cy="3693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MPCore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Cortex M7 x 4ea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194513" y="1904590"/>
            <a:ext cx="3637907" cy="369396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FR3. Host Performance Booster 2.0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27926" y="3039948"/>
            <a:ext cx="3210263" cy="36939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QA1. Sequential Write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성능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27926" y="3498689"/>
            <a:ext cx="3210263" cy="36939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QA2. Random Read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성능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27926" y="4418904"/>
            <a:ext cx="3210263" cy="36939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QA4.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NAND Flash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용이성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9370" y="2650154"/>
            <a:ext cx="320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accent2">
                    <a:lumMod val="50000"/>
                  </a:schemeClr>
                </a:solidFill>
              </a:rPr>
              <a:t>| Quality Attributes</a:t>
            </a:r>
            <a:endParaRPr lang="ko-KR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27926" y="3963688"/>
            <a:ext cx="3210263" cy="36939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QA3. Idle Power Efficiency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27926" y="4882336"/>
            <a:ext cx="3210263" cy="36939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QA5.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기능 변경 용이성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87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아키텍처 분석</a:t>
            </a:r>
            <a:endParaRPr lang="ko-KR" altLang="en-US" dirty="0"/>
          </a:p>
        </p:txBody>
      </p:sp>
      <p:sp>
        <p:nvSpPr>
          <p:cNvPr id="302" name="직사각형 301"/>
          <p:cNvSpPr/>
          <p:nvPr/>
        </p:nvSpPr>
        <p:spPr>
          <a:xfrm>
            <a:off x="4538487" y="4107957"/>
            <a:ext cx="4412256" cy="1930055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4679905" y="4177473"/>
            <a:ext cx="1591643" cy="49705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HIL MPCore</a:t>
            </a:r>
            <a:endParaRPr lang="ko-KR" altLang="en-US" sz="700" dirty="0"/>
          </a:p>
        </p:txBody>
      </p:sp>
      <p:sp>
        <p:nvSpPr>
          <p:cNvPr id="304" name="직사각형 303"/>
          <p:cNvSpPr/>
          <p:nvPr/>
        </p:nvSpPr>
        <p:spPr>
          <a:xfrm>
            <a:off x="4732259" y="4387620"/>
            <a:ext cx="333531" cy="24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05" name="직사각형 304"/>
          <p:cNvSpPr/>
          <p:nvPr/>
        </p:nvSpPr>
        <p:spPr>
          <a:xfrm>
            <a:off x="5117854" y="4387620"/>
            <a:ext cx="333531" cy="24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06" name="직사각형 305"/>
          <p:cNvSpPr/>
          <p:nvPr/>
        </p:nvSpPr>
        <p:spPr>
          <a:xfrm>
            <a:off x="5503449" y="4387620"/>
            <a:ext cx="333531" cy="24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07" name="직사각형 306"/>
          <p:cNvSpPr/>
          <p:nvPr/>
        </p:nvSpPr>
        <p:spPr>
          <a:xfrm>
            <a:off x="5889328" y="4387620"/>
            <a:ext cx="333531" cy="24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08" name="직사각형 307"/>
          <p:cNvSpPr/>
          <p:nvPr/>
        </p:nvSpPr>
        <p:spPr>
          <a:xfrm>
            <a:off x="6340148" y="4177473"/>
            <a:ext cx="1591643" cy="4970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/>
              <a:t>FTL MPCore</a:t>
            </a:r>
            <a:endParaRPr lang="ko-KR" altLang="en-US" sz="700" dirty="0"/>
          </a:p>
        </p:txBody>
      </p:sp>
      <p:sp>
        <p:nvSpPr>
          <p:cNvPr id="309" name="직사각형 308"/>
          <p:cNvSpPr/>
          <p:nvPr/>
        </p:nvSpPr>
        <p:spPr>
          <a:xfrm>
            <a:off x="6392502" y="4387620"/>
            <a:ext cx="333531" cy="2481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10" name="직사각형 309"/>
          <p:cNvSpPr/>
          <p:nvPr/>
        </p:nvSpPr>
        <p:spPr>
          <a:xfrm>
            <a:off x="6778097" y="4387620"/>
            <a:ext cx="333531" cy="2481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11" name="직사각형 310"/>
          <p:cNvSpPr/>
          <p:nvPr/>
        </p:nvSpPr>
        <p:spPr>
          <a:xfrm>
            <a:off x="7163692" y="4387620"/>
            <a:ext cx="333531" cy="2481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12" name="직사각형 311"/>
          <p:cNvSpPr/>
          <p:nvPr/>
        </p:nvSpPr>
        <p:spPr>
          <a:xfrm>
            <a:off x="7549571" y="4387620"/>
            <a:ext cx="333531" cy="2481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13" name="직사각형 312"/>
          <p:cNvSpPr/>
          <p:nvPr/>
        </p:nvSpPr>
        <p:spPr>
          <a:xfrm>
            <a:off x="7993646" y="4177473"/>
            <a:ext cx="820454" cy="49705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/>
              <a:t>FIL MPCore</a:t>
            </a:r>
            <a:endParaRPr lang="ko-KR" altLang="en-US" sz="700" dirty="0"/>
          </a:p>
        </p:txBody>
      </p:sp>
      <p:sp>
        <p:nvSpPr>
          <p:cNvPr id="314" name="직사각형 313"/>
          <p:cNvSpPr/>
          <p:nvPr/>
        </p:nvSpPr>
        <p:spPr>
          <a:xfrm>
            <a:off x="8046001" y="4387620"/>
            <a:ext cx="333531" cy="24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sp>
        <p:nvSpPr>
          <p:cNvPr id="315" name="직사각형 314"/>
          <p:cNvSpPr/>
          <p:nvPr/>
        </p:nvSpPr>
        <p:spPr>
          <a:xfrm>
            <a:off x="8431596" y="4387620"/>
            <a:ext cx="333531" cy="24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cxnSp>
        <p:nvCxnSpPr>
          <p:cNvPr id="316" name="직선 연결선 315"/>
          <p:cNvCxnSpPr/>
          <p:nvPr/>
        </p:nvCxnSpPr>
        <p:spPr>
          <a:xfrm>
            <a:off x="4679905" y="4845209"/>
            <a:ext cx="41341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/>
          <p:nvPr/>
        </p:nvCxnSpPr>
        <p:spPr>
          <a:xfrm>
            <a:off x="5478055" y="4669661"/>
            <a:ext cx="0" cy="1854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/>
          <p:cNvCxnSpPr/>
          <p:nvPr/>
        </p:nvCxnSpPr>
        <p:spPr>
          <a:xfrm>
            <a:off x="7137025" y="4669661"/>
            <a:ext cx="0" cy="1854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/>
          <p:cNvCxnSpPr/>
          <p:nvPr/>
        </p:nvCxnSpPr>
        <p:spPr>
          <a:xfrm>
            <a:off x="8404929" y="4669661"/>
            <a:ext cx="0" cy="1854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직사각형 319"/>
          <p:cNvSpPr/>
          <p:nvPr/>
        </p:nvSpPr>
        <p:spPr>
          <a:xfrm>
            <a:off x="8102912" y="5019614"/>
            <a:ext cx="439285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NFC</a:t>
            </a:r>
            <a:endParaRPr lang="ko-KR" altLang="en-US" sz="700" dirty="0"/>
          </a:p>
        </p:txBody>
      </p:sp>
      <p:sp>
        <p:nvSpPr>
          <p:cNvPr id="321" name="직사각형 320"/>
          <p:cNvSpPr/>
          <p:nvPr/>
        </p:nvSpPr>
        <p:spPr>
          <a:xfrm>
            <a:off x="8338484" y="5436198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22" name="직사각형 321"/>
          <p:cNvSpPr/>
          <p:nvPr/>
        </p:nvSpPr>
        <p:spPr>
          <a:xfrm>
            <a:off x="8338484" y="5782346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23" name="TextBox 322"/>
          <p:cNvSpPr txBox="1"/>
          <p:nvPr/>
        </p:nvSpPr>
        <p:spPr>
          <a:xfrm rot="5400000">
            <a:off x="8515787" y="5593165"/>
            <a:ext cx="181194" cy="20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800" dirty="0" smtClean="0"/>
              <a:t>…</a:t>
            </a:r>
            <a:endParaRPr lang="ko-KR" altLang="en-US" sz="800" dirty="0"/>
          </a:p>
        </p:txBody>
      </p:sp>
      <p:sp>
        <p:nvSpPr>
          <p:cNvPr id="324" name="직사각형 323"/>
          <p:cNvSpPr/>
          <p:nvPr/>
        </p:nvSpPr>
        <p:spPr>
          <a:xfrm>
            <a:off x="8161719" y="5219957"/>
            <a:ext cx="124391" cy="1257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700" dirty="0"/>
          </a:p>
        </p:txBody>
      </p:sp>
      <p:cxnSp>
        <p:nvCxnSpPr>
          <p:cNvPr id="325" name="꺾인 연결선 324"/>
          <p:cNvCxnSpPr>
            <a:stCxn id="324" idx="2"/>
            <a:endCxn id="321" idx="1"/>
          </p:cNvCxnSpPr>
          <p:nvPr/>
        </p:nvCxnSpPr>
        <p:spPr>
          <a:xfrm rot="16200000" flipH="1">
            <a:off x="8192989" y="5376680"/>
            <a:ext cx="176421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꺾인 연결선 325"/>
          <p:cNvCxnSpPr>
            <a:stCxn id="324" idx="2"/>
            <a:endCxn id="322" idx="1"/>
          </p:cNvCxnSpPr>
          <p:nvPr/>
        </p:nvCxnSpPr>
        <p:spPr>
          <a:xfrm rot="16200000" flipH="1">
            <a:off x="8019915" y="5549754"/>
            <a:ext cx="522569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직사각형 326"/>
          <p:cNvSpPr/>
          <p:nvPr/>
        </p:nvSpPr>
        <p:spPr>
          <a:xfrm>
            <a:off x="7316235" y="5019614"/>
            <a:ext cx="439285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NFC</a:t>
            </a:r>
            <a:endParaRPr lang="ko-KR" altLang="en-US" sz="700" dirty="0"/>
          </a:p>
        </p:txBody>
      </p:sp>
      <p:sp>
        <p:nvSpPr>
          <p:cNvPr id="328" name="직사각형 327"/>
          <p:cNvSpPr/>
          <p:nvPr/>
        </p:nvSpPr>
        <p:spPr>
          <a:xfrm>
            <a:off x="7551807" y="5436198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29" name="직사각형 328"/>
          <p:cNvSpPr/>
          <p:nvPr/>
        </p:nvSpPr>
        <p:spPr>
          <a:xfrm>
            <a:off x="7551807" y="5782346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30" name="TextBox 329"/>
          <p:cNvSpPr txBox="1"/>
          <p:nvPr/>
        </p:nvSpPr>
        <p:spPr>
          <a:xfrm rot="5400000">
            <a:off x="7729110" y="5593165"/>
            <a:ext cx="181194" cy="20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800" dirty="0" smtClean="0"/>
              <a:t>…</a:t>
            </a:r>
            <a:endParaRPr lang="ko-KR" altLang="en-US" sz="800" dirty="0"/>
          </a:p>
        </p:txBody>
      </p:sp>
      <p:sp>
        <p:nvSpPr>
          <p:cNvPr id="331" name="직사각형 330"/>
          <p:cNvSpPr/>
          <p:nvPr/>
        </p:nvSpPr>
        <p:spPr>
          <a:xfrm>
            <a:off x="7375042" y="5219957"/>
            <a:ext cx="124391" cy="1257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700" dirty="0"/>
          </a:p>
        </p:txBody>
      </p:sp>
      <p:cxnSp>
        <p:nvCxnSpPr>
          <p:cNvPr id="332" name="꺾인 연결선 331"/>
          <p:cNvCxnSpPr>
            <a:stCxn id="331" idx="2"/>
            <a:endCxn id="328" idx="1"/>
          </p:cNvCxnSpPr>
          <p:nvPr/>
        </p:nvCxnSpPr>
        <p:spPr>
          <a:xfrm rot="16200000" flipH="1">
            <a:off x="7406312" y="5376680"/>
            <a:ext cx="176421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꺾인 연결선 332"/>
          <p:cNvCxnSpPr>
            <a:stCxn id="331" idx="2"/>
            <a:endCxn id="329" idx="1"/>
          </p:cNvCxnSpPr>
          <p:nvPr/>
        </p:nvCxnSpPr>
        <p:spPr>
          <a:xfrm rot="16200000" flipH="1">
            <a:off x="7233238" y="5549754"/>
            <a:ext cx="522569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>
            <a:endCxn id="320" idx="0"/>
          </p:cNvCxnSpPr>
          <p:nvPr/>
        </p:nvCxnSpPr>
        <p:spPr>
          <a:xfrm flipH="1">
            <a:off x="8322555" y="4842417"/>
            <a:ext cx="56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/>
          <p:cNvCxnSpPr>
            <a:endCxn id="327" idx="0"/>
          </p:cNvCxnSpPr>
          <p:nvPr/>
        </p:nvCxnSpPr>
        <p:spPr>
          <a:xfrm>
            <a:off x="7534437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/>
          <p:cNvSpPr/>
          <p:nvPr/>
        </p:nvSpPr>
        <p:spPr>
          <a:xfrm>
            <a:off x="6698829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IOM</a:t>
            </a:r>
            <a:endParaRPr lang="ko-KR" altLang="en-US" sz="700" dirty="0"/>
          </a:p>
        </p:txBody>
      </p:sp>
      <p:cxnSp>
        <p:nvCxnSpPr>
          <p:cNvPr id="337" name="직선 연결선 336"/>
          <p:cNvCxnSpPr>
            <a:endCxn id="336" idx="0"/>
          </p:cNvCxnSpPr>
          <p:nvPr/>
        </p:nvCxnSpPr>
        <p:spPr>
          <a:xfrm>
            <a:off x="6964161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직사각형 337"/>
          <p:cNvSpPr/>
          <p:nvPr/>
        </p:nvSpPr>
        <p:spPr>
          <a:xfrm>
            <a:off x="6066653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BUFFERC</a:t>
            </a:r>
            <a:endParaRPr lang="ko-KR" altLang="en-US" sz="700" dirty="0"/>
          </a:p>
        </p:txBody>
      </p:sp>
      <p:cxnSp>
        <p:nvCxnSpPr>
          <p:cNvPr id="339" name="직선 연결선 338"/>
          <p:cNvCxnSpPr>
            <a:endCxn id="338" idx="0"/>
          </p:cNvCxnSpPr>
          <p:nvPr/>
        </p:nvCxnSpPr>
        <p:spPr>
          <a:xfrm>
            <a:off x="6331983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직사각형 339"/>
          <p:cNvSpPr/>
          <p:nvPr/>
        </p:nvSpPr>
        <p:spPr>
          <a:xfrm>
            <a:off x="5433034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POWERMAN</a:t>
            </a:r>
            <a:endParaRPr lang="ko-KR" altLang="en-US" sz="700" dirty="0"/>
          </a:p>
        </p:txBody>
      </p:sp>
      <p:cxnSp>
        <p:nvCxnSpPr>
          <p:cNvPr id="341" name="직선 연결선 340"/>
          <p:cNvCxnSpPr>
            <a:endCxn id="340" idx="0"/>
          </p:cNvCxnSpPr>
          <p:nvPr/>
        </p:nvCxnSpPr>
        <p:spPr>
          <a:xfrm>
            <a:off x="5698365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직사각형 341"/>
          <p:cNvSpPr/>
          <p:nvPr/>
        </p:nvSpPr>
        <p:spPr>
          <a:xfrm>
            <a:off x="4797642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UTP</a:t>
            </a:r>
          </a:p>
          <a:p>
            <a:pPr algn="ctr"/>
            <a:r>
              <a:rPr lang="en-US" altLang="ko-KR" sz="700" dirty="0" smtClean="0"/>
              <a:t>(Host)</a:t>
            </a:r>
            <a:endParaRPr lang="ko-KR" altLang="en-US" sz="700" dirty="0"/>
          </a:p>
        </p:txBody>
      </p:sp>
      <p:cxnSp>
        <p:nvCxnSpPr>
          <p:cNvPr id="343" name="직선 연결선 342"/>
          <p:cNvCxnSpPr>
            <a:endCxn id="342" idx="0"/>
          </p:cNvCxnSpPr>
          <p:nvPr/>
        </p:nvCxnSpPr>
        <p:spPr>
          <a:xfrm>
            <a:off x="5062973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4606710" y="5667628"/>
            <a:ext cx="1769615" cy="25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1100" b="1" dirty="0" smtClean="0"/>
              <a:t>Solvit UFS Controller</a:t>
            </a:r>
            <a:endParaRPr lang="ko-KR" altLang="en-US" sz="1100" b="1" dirty="0"/>
          </a:p>
        </p:txBody>
      </p:sp>
      <p:sp>
        <p:nvSpPr>
          <p:cNvPr id="345" name="직사각형 344"/>
          <p:cNvSpPr/>
          <p:nvPr/>
        </p:nvSpPr>
        <p:spPr>
          <a:xfrm>
            <a:off x="264805" y="4107957"/>
            <a:ext cx="3783311" cy="193005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47" name="직사각형 346"/>
          <p:cNvSpPr/>
          <p:nvPr/>
        </p:nvSpPr>
        <p:spPr>
          <a:xfrm>
            <a:off x="429869" y="4326935"/>
            <a:ext cx="718842" cy="340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HIL Core</a:t>
            </a:r>
          </a:p>
          <a:p>
            <a:pPr algn="ctr"/>
            <a:r>
              <a:rPr lang="en-US" altLang="ko-KR" sz="700" dirty="0" smtClean="0"/>
              <a:t>Cortex M7</a:t>
            </a:r>
            <a:endParaRPr lang="ko-KR" altLang="en-US" sz="700" dirty="0"/>
          </a:p>
        </p:txBody>
      </p:sp>
      <p:cxnSp>
        <p:nvCxnSpPr>
          <p:cNvPr id="359" name="직선 연결선 358"/>
          <p:cNvCxnSpPr/>
          <p:nvPr/>
        </p:nvCxnSpPr>
        <p:spPr>
          <a:xfrm>
            <a:off x="406223" y="4845209"/>
            <a:ext cx="34983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연결선 359"/>
          <p:cNvCxnSpPr/>
          <p:nvPr/>
        </p:nvCxnSpPr>
        <p:spPr>
          <a:xfrm>
            <a:off x="791500" y="4669661"/>
            <a:ext cx="0" cy="1854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직사각형 362"/>
          <p:cNvSpPr/>
          <p:nvPr/>
        </p:nvSpPr>
        <p:spPr>
          <a:xfrm>
            <a:off x="3186436" y="5019614"/>
            <a:ext cx="439285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NFC</a:t>
            </a:r>
            <a:endParaRPr lang="ko-KR" altLang="en-US" sz="700" dirty="0"/>
          </a:p>
        </p:txBody>
      </p:sp>
      <p:sp>
        <p:nvSpPr>
          <p:cNvPr id="364" name="직사각형 363"/>
          <p:cNvSpPr/>
          <p:nvPr/>
        </p:nvSpPr>
        <p:spPr>
          <a:xfrm>
            <a:off x="3422008" y="5436198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65" name="직사각형 364"/>
          <p:cNvSpPr/>
          <p:nvPr/>
        </p:nvSpPr>
        <p:spPr>
          <a:xfrm>
            <a:off x="3422008" y="5782346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66" name="TextBox 365"/>
          <p:cNvSpPr txBox="1"/>
          <p:nvPr/>
        </p:nvSpPr>
        <p:spPr>
          <a:xfrm rot="5400000">
            <a:off x="3599311" y="5593165"/>
            <a:ext cx="181194" cy="20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800" dirty="0" smtClean="0"/>
              <a:t>…</a:t>
            </a:r>
            <a:endParaRPr lang="ko-KR" altLang="en-US" sz="800" dirty="0"/>
          </a:p>
        </p:txBody>
      </p:sp>
      <p:sp>
        <p:nvSpPr>
          <p:cNvPr id="367" name="직사각형 366"/>
          <p:cNvSpPr/>
          <p:nvPr/>
        </p:nvSpPr>
        <p:spPr>
          <a:xfrm>
            <a:off x="3245243" y="5219957"/>
            <a:ext cx="124391" cy="1257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700" dirty="0"/>
          </a:p>
        </p:txBody>
      </p:sp>
      <p:cxnSp>
        <p:nvCxnSpPr>
          <p:cNvPr id="368" name="꺾인 연결선 367"/>
          <p:cNvCxnSpPr>
            <a:stCxn id="367" idx="2"/>
            <a:endCxn id="364" idx="1"/>
          </p:cNvCxnSpPr>
          <p:nvPr/>
        </p:nvCxnSpPr>
        <p:spPr>
          <a:xfrm rot="16200000" flipH="1">
            <a:off x="3276513" y="5376680"/>
            <a:ext cx="176421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꺾인 연결선 368"/>
          <p:cNvCxnSpPr>
            <a:stCxn id="367" idx="2"/>
            <a:endCxn id="365" idx="1"/>
          </p:cNvCxnSpPr>
          <p:nvPr/>
        </p:nvCxnSpPr>
        <p:spPr>
          <a:xfrm rot="16200000" flipH="1">
            <a:off x="3103439" y="5549754"/>
            <a:ext cx="522569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직사각형 369"/>
          <p:cNvSpPr/>
          <p:nvPr/>
        </p:nvSpPr>
        <p:spPr>
          <a:xfrm>
            <a:off x="2399759" y="5019614"/>
            <a:ext cx="439285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NFC</a:t>
            </a:r>
            <a:endParaRPr lang="ko-KR" altLang="en-US" sz="700" dirty="0"/>
          </a:p>
        </p:txBody>
      </p:sp>
      <p:sp>
        <p:nvSpPr>
          <p:cNvPr id="371" name="직사각형 370"/>
          <p:cNvSpPr/>
          <p:nvPr/>
        </p:nvSpPr>
        <p:spPr>
          <a:xfrm>
            <a:off x="2635331" y="5436198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72" name="직사각형 371"/>
          <p:cNvSpPr/>
          <p:nvPr/>
        </p:nvSpPr>
        <p:spPr>
          <a:xfrm>
            <a:off x="2635331" y="5782346"/>
            <a:ext cx="482607" cy="17195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73" name="TextBox 372"/>
          <p:cNvSpPr txBox="1"/>
          <p:nvPr/>
        </p:nvSpPr>
        <p:spPr>
          <a:xfrm rot="5400000">
            <a:off x="2812634" y="5593165"/>
            <a:ext cx="181194" cy="20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800" dirty="0" smtClean="0"/>
              <a:t>…</a:t>
            </a:r>
            <a:endParaRPr lang="ko-KR" altLang="en-US" sz="800" dirty="0"/>
          </a:p>
        </p:txBody>
      </p:sp>
      <p:sp>
        <p:nvSpPr>
          <p:cNvPr id="374" name="직사각형 373"/>
          <p:cNvSpPr/>
          <p:nvPr/>
        </p:nvSpPr>
        <p:spPr>
          <a:xfrm>
            <a:off x="2458566" y="5219957"/>
            <a:ext cx="124391" cy="1257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700" dirty="0"/>
          </a:p>
        </p:txBody>
      </p:sp>
      <p:cxnSp>
        <p:nvCxnSpPr>
          <p:cNvPr id="375" name="꺾인 연결선 374"/>
          <p:cNvCxnSpPr>
            <a:stCxn id="374" idx="2"/>
            <a:endCxn id="371" idx="1"/>
          </p:cNvCxnSpPr>
          <p:nvPr/>
        </p:nvCxnSpPr>
        <p:spPr>
          <a:xfrm rot="16200000" flipH="1">
            <a:off x="2489836" y="5376680"/>
            <a:ext cx="176421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꺾인 연결선 375"/>
          <p:cNvCxnSpPr>
            <a:stCxn id="374" idx="2"/>
            <a:endCxn id="372" idx="1"/>
          </p:cNvCxnSpPr>
          <p:nvPr/>
        </p:nvCxnSpPr>
        <p:spPr>
          <a:xfrm rot="16200000" flipH="1">
            <a:off x="2316762" y="5549754"/>
            <a:ext cx="522569" cy="114569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/>
          <p:cNvCxnSpPr>
            <a:endCxn id="363" idx="0"/>
          </p:cNvCxnSpPr>
          <p:nvPr/>
        </p:nvCxnSpPr>
        <p:spPr>
          <a:xfrm flipH="1">
            <a:off x="3406079" y="4842417"/>
            <a:ext cx="56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/>
          <p:cNvCxnSpPr>
            <a:endCxn id="370" idx="0"/>
          </p:cNvCxnSpPr>
          <p:nvPr/>
        </p:nvCxnSpPr>
        <p:spPr>
          <a:xfrm>
            <a:off x="2617961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직사각형 380"/>
          <p:cNvSpPr/>
          <p:nvPr/>
        </p:nvSpPr>
        <p:spPr>
          <a:xfrm>
            <a:off x="1792970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BUFFERC</a:t>
            </a:r>
            <a:endParaRPr lang="ko-KR" altLang="en-US" sz="700" dirty="0"/>
          </a:p>
        </p:txBody>
      </p:sp>
      <p:cxnSp>
        <p:nvCxnSpPr>
          <p:cNvPr id="382" name="직선 연결선 381"/>
          <p:cNvCxnSpPr>
            <a:endCxn id="381" idx="0"/>
          </p:cNvCxnSpPr>
          <p:nvPr/>
        </p:nvCxnSpPr>
        <p:spPr>
          <a:xfrm>
            <a:off x="2058301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직사각형 382"/>
          <p:cNvSpPr/>
          <p:nvPr/>
        </p:nvSpPr>
        <p:spPr>
          <a:xfrm>
            <a:off x="1159352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POWERMAN</a:t>
            </a:r>
            <a:endParaRPr lang="ko-KR" altLang="en-US" sz="700" dirty="0"/>
          </a:p>
        </p:txBody>
      </p:sp>
      <p:cxnSp>
        <p:nvCxnSpPr>
          <p:cNvPr id="384" name="직선 연결선 383"/>
          <p:cNvCxnSpPr>
            <a:endCxn id="383" idx="0"/>
          </p:cNvCxnSpPr>
          <p:nvPr/>
        </p:nvCxnSpPr>
        <p:spPr>
          <a:xfrm>
            <a:off x="1424683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직사각형 384"/>
          <p:cNvSpPr/>
          <p:nvPr/>
        </p:nvSpPr>
        <p:spPr>
          <a:xfrm>
            <a:off x="523959" y="5019614"/>
            <a:ext cx="533544" cy="324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700" dirty="0" smtClean="0"/>
              <a:t>UTP</a:t>
            </a:r>
          </a:p>
          <a:p>
            <a:pPr algn="ctr"/>
            <a:r>
              <a:rPr lang="en-US" altLang="ko-KR" sz="700" dirty="0" smtClean="0"/>
              <a:t>(Host)</a:t>
            </a:r>
            <a:endParaRPr lang="ko-KR" altLang="en-US" sz="700" dirty="0"/>
          </a:p>
        </p:txBody>
      </p:sp>
      <p:cxnSp>
        <p:nvCxnSpPr>
          <p:cNvPr id="386" name="직선 연결선 385"/>
          <p:cNvCxnSpPr>
            <a:endCxn id="385" idx="0"/>
          </p:cNvCxnSpPr>
          <p:nvPr/>
        </p:nvCxnSpPr>
        <p:spPr>
          <a:xfrm>
            <a:off x="789291" y="4842417"/>
            <a:ext cx="1441" cy="1771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TextBox 386"/>
          <p:cNvSpPr txBox="1"/>
          <p:nvPr/>
        </p:nvSpPr>
        <p:spPr>
          <a:xfrm>
            <a:off x="333028" y="5667628"/>
            <a:ext cx="1769615" cy="25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1100" b="1" dirty="0" smtClean="0"/>
              <a:t>Selen UFS Controller</a:t>
            </a:r>
            <a:endParaRPr lang="ko-KR" altLang="en-US" sz="1100" b="1" dirty="0"/>
          </a:p>
        </p:txBody>
      </p:sp>
      <p:sp>
        <p:nvSpPr>
          <p:cNvPr id="388" name="직사각형 387"/>
          <p:cNvSpPr/>
          <p:nvPr/>
        </p:nvSpPr>
        <p:spPr>
          <a:xfrm>
            <a:off x="1234527" y="4326935"/>
            <a:ext cx="718842" cy="34018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smtClean="0"/>
              <a:t>FTL </a:t>
            </a:r>
            <a:r>
              <a:rPr lang="en-US" altLang="ko-KR" sz="700" dirty="0"/>
              <a:t>Core</a:t>
            </a:r>
          </a:p>
          <a:p>
            <a:pPr algn="ctr"/>
            <a:r>
              <a:rPr lang="en-US" altLang="ko-KR" sz="700" dirty="0"/>
              <a:t>Cortex M7</a:t>
            </a:r>
            <a:endParaRPr lang="ko-KR" altLang="en-US" sz="700" dirty="0"/>
          </a:p>
        </p:txBody>
      </p:sp>
      <p:cxnSp>
        <p:nvCxnSpPr>
          <p:cNvPr id="389" name="직선 연결선 388"/>
          <p:cNvCxnSpPr/>
          <p:nvPr/>
        </p:nvCxnSpPr>
        <p:spPr>
          <a:xfrm>
            <a:off x="1596159" y="4669661"/>
            <a:ext cx="0" cy="1854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직사각형 389"/>
          <p:cNvSpPr/>
          <p:nvPr/>
        </p:nvSpPr>
        <p:spPr>
          <a:xfrm>
            <a:off x="2038128" y="4326935"/>
            <a:ext cx="718842" cy="340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/>
              <a:t>FIL Core</a:t>
            </a:r>
          </a:p>
          <a:p>
            <a:pPr algn="ctr"/>
            <a:r>
              <a:rPr lang="en-US" altLang="ko-KR" sz="700" dirty="0"/>
              <a:t>Cortex M7</a:t>
            </a:r>
            <a:endParaRPr lang="ko-KR" altLang="en-US" sz="700" dirty="0"/>
          </a:p>
        </p:txBody>
      </p:sp>
      <p:cxnSp>
        <p:nvCxnSpPr>
          <p:cNvPr id="391" name="직선 연결선 390"/>
          <p:cNvCxnSpPr/>
          <p:nvPr/>
        </p:nvCxnSpPr>
        <p:spPr>
          <a:xfrm>
            <a:off x="2399760" y="4669661"/>
            <a:ext cx="0" cy="1854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직사각형 392"/>
          <p:cNvSpPr/>
          <p:nvPr/>
        </p:nvSpPr>
        <p:spPr>
          <a:xfrm>
            <a:off x="2317010" y="6161551"/>
            <a:ext cx="482607" cy="33840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/>
              <a:t>MLC</a:t>
            </a:r>
          </a:p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94" name="직사각형 393"/>
          <p:cNvSpPr/>
          <p:nvPr/>
        </p:nvSpPr>
        <p:spPr>
          <a:xfrm>
            <a:off x="2962620" y="6161551"/>
            <a:ext cx="482607" cy="33840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/>
              <a:t>TLC</a:t>
            </a:r>
          </a:p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cxnSp>
        <p:nvCxnSpPr>
          <p:cNvPr id="11" name="직선 화살표 연결선 10"/>
          <p:cNvCxnSpPr>
            <a:stCxn id="393" idx="0"/>
            <a:endCxn id="372" idx="2"/>
          </p:cNvCxnSpPr>
          <p:nvPr/>
        </p:nvCxnSpPr>
        <p:spPr>
          <a:xfrm flipV="1">
            <a:off x="2558313" y="5954300"/>
            <a:ext cx="318321" cy="207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화살표 연결선 394"/>
          <p:cNvCxnSpPr>
            <a:stCxn id="394" idx="0"/>
            <a:endCxn id="372" idx="2"/>
          </p:cNvCxnSpPr>
          <p:nvPr/>
        </p:nvCxnSpPr>
        <p:spPr>
          <a:xfrm flipH="1" flipV="1">
            <a:off x="2876635" y="5954300"/>
            <a:ext cx="327289" cy="207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직사각형 395"/>
          <p:cNvSpPr/>
          <p:nvPr/>
        </p:nvSpPr>
        <p:spPr>
          <a:xfrm>
            <a:off x="6968636" y="6161551"/>
            <a:ext cx="482607" cy="33840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/>
              <a:t>MLC</a:t>
            </a:r>
          </a:p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sp>
        <p:nvSpPr>
          <p:cNvPr id="397" name="직사각형 396"/>
          <p:cNvSpPr/>
          <p:nvPr/>
        </p:nvSpPr>
        <p:spPr>
          <a:xfrm>
            <a:off x="7556523" y="6161551"/>
            <a:ext cx="482607" cy="33840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/>
              <a:t>TLC</a:t>
            </a:r>
          </a:p>
          <a:p>
            <a:pPr algn="ctr"/>
            <a:r>
              <a:rPr lang="en-US" altLang="ko-KR" sz="700" dirty="0" smtClean="0"/>
              <a:t>NAND</a:t>
            </a:r>
            <a:endParaRPr lang="ko-KR" altLang="en-US" sz="700" dirty="0"/>
          </a:p>
        </p:txBody>
      </p:sp>
      <p:cxnSp>
        <p:nvCxnSpPr>
          <p:cNvPr id="398" name="직선 화살표 연결선 397"/>
          <p:cNvCxnSpPr>
            <a:stCxn id="396" idx="0"/>
            <a:endCxn id="329" idx="1"/>
          </p:cNvCxnSpPr>
          <p:nvPr/>
        </p:nvCxnSpPr>
        <p:spPr>
          <a:xfrm flipV="1">
            <a:off x="7209940" y="5868323"/>
            <a:ext cx="341867" cy="2932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화살표 연결선 398"/>
          <p:cNvCxnSpPr>
            <a:stCxn id="397" idx="0"/>
            <a:endCxn id="329" idx="2"/>
          </p:cNvCxnSpPr>
          <p:nvPr/>
        </p:nvCxnSpPr>
        <p:spPr>
          <a:xfrm flipH="1" flipV="1">
            <a:off x="7793111" y="5954300"/>
            <a:ext cx="4716" cy="207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직사각형 399"/>
          <p:cNvSpPr/>
          <p:nvPr/>
        </p:nvSpPr>
        <p:spPr>
          <a:xfrm>
            <a:off x="8139694" y="6161551"/>
            <a:ext cx="482607" cy="3384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/>
              <a:t>QLC</a:t>
            </a:r>
          </a:p>
          <a:p>
            <a:pPr algn="ctr"/>
            <a:r>
              <a:rPr lang="en-US" altLang="ko-KR" sz="700" b="1" dirty="0" smtClean="0"/>
              <a:t>NAND</a:t>
            </a:r>
            <a:endParaRPr lang="ko-KR" altLang="en-US" sz="700" b="1" dirty="0"/>
          </a:p>
        </p:txBody>
      </p:sp>
      <p:cxnSp>
        <p:nvCxnSpPr>
          <p:cNvPr id="401" name="직선 화살표 연결선 400"/>
          <p:cNvCxnSpPr>
            <a:stCxn id="400" idx="0"/>
            <a:endCxn id="329" idx="3"/>
          </p:cNvCxnSpPr>
          <p:nvPr/>
        </p:nvCxnSpPr>
        <p:spPr>
          <a:xfrm flipH="1" flipV="1">
            <a:off x="8034414" y="5868323"/>
            <a:ext cx="346584" cy="2932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오른쪽 화살표 23"/>
          <p:cNvSpPr/>
          <p:nvPr/>
        </p:nvSpPr>
        <p:spPr>
          <a:xfrm>
            <a:off x="4165625" y="4861234"/>
            <a:ext cx="312881" cy="32082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8" name="직선 연결선 27"/>
          <p:cNvCxnSpPr/>
          <p:nvPr/>
        </p:nvCxnSpPr>
        <p:spPr>
          <a:xfrm flipH="1" flipV="1">
            <a:off x="264805" y="3871807"/>
            <a:ext cx="953033" cy="4246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연결선 432"/>
          <p:cNvCxnSpPr/>
          <p:nvPr/>
        </p:nvCxnSpPr>
        <p:spPr>
          <a:xfrm flipV="1">
            <a:off x="1953369" y="3878297"/>
            <a:ext cx="2094747" cy="4443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정육면체 433"/>
          <p:cNvSpPr/>
          <p:nvPr/>
        </p:nvSpPr>
        <p:spPr>
          <a:xfrm>
            <a:off x="264805" y="1138613"/>
            <a:ext cx="3845166" cy="2733194"/>
          </a:xfrm>
          <a:prstGeom prst="cube">
            <a:avLst>
              <a:gd name="adj" fmla="val 216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 smtClean="0"/>
              <a:t>FTL Core</a:t>
            </a:r>
            <a:endParaRPr lang="ko-KR" altLang="en-US" sz="1200" b="1" dirty="0"/>
          </a:p>
        </p:txBody>
      </p:sp>
      <p:sp>
        <p:nvSpPr>
          <p:cNvPr id="402" name="직사각형 401"/>
          <p:cNvSpPr/>
          <p:nvPr/>
        </p:nvSpPr>
        <p:spPr>
          <a:xfrm>
            <a:off x="405273" y="1515251"/>
            <a:ext cx="3503787" cy="2219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400" b="1" dirty="0">
              <a:solidFill>
                <a:schemeClr val="tx1"/>
              </a:solidFill>
            </a:endParaRPr>
          </a:p>
        </p:txBody>
      </p:sp>
      <p:sp>
        <p:nvSpPr>
          <p:cNvPr id="403" name="직사각형 402"/>
          <p:cNvSpPr/>
          <p:nvPr/>
        </p:nvSpPr>
        <p:spPr>
          <a:xfrm>
            <a:off x="476870" y="3369284"/>
            <a:ext cx="2947402" cy="277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Flash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IO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04" name="직사각형 403"/>
          <p:cNvSpPr/>
          <p:nvPr/>
        </p:nvSpPr>
        <p:spPr>
          <a:xfrm>
            <a:off x="1703189" y="2686904"/>
            <a:ext cx="460582" cy="49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altLang="ko-KR" sz="7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User </a:t>
            </a:r>
            <a:r>
              <a:rPr lang="en-US" altLang="ko-KR" sz="700" b="1" dirty="0">
                <a:solidFill>
                  <a:schemeClr val="tx1"/>
                </a:solidFill>
              </a:rPr>
              <a:t>Data CMD</a:t>
            </a:r>
          </a:p>
        </p:txBody>
      </p:sp>
      <p:sp>
        <p:nvSpPr>
          <p:cNvPr id="405" name="직사각형 404"/>
          <p:cNvSpPr/>
          <p:nvPr/>
        </p:nvSpPr>
        <p:spPr>
          <a:xfrm>
            <a:off x="2330024" y="2686904"/>
            <a:ext cx="447472" cy="493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altLang="ko-KR" sz="7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Context</a:t>
            </a:r>
          </a:p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&amp; </a:t>
            </a:r>
            <a:r>
              <a:rPr lang="en-US" altLang="ko-KR" sz="700" b="1" dirty="0">
                <a:solidFill>
                  <a:schemeClr val="tx1"/>
                </a:solidFill>
              </a:rPr>
              <a:t>Meta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06" name="직사각형 405"/>
          <p:cNvSpPr/>
          <p:nvPr/>
        </p:nvSpPr>
        <p:spPr>
          <a:xfrm>
            <a:off x="2943749" y="2686904"/>
            <a:ext cx="481227" cy="493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altLang="ko-KR" sz="7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Garbage </a:t>
            </a:r>
            <a:r>
              <a:rPr lang="en-US" altLang="ko-KR" sz="700" b="1" dirty="0">
                <a:solidFill>
                  <a:schemeClr val="tx1"/>
                </a:solidFill>
              </a:rPr>
              <a:t>Collection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07" name="직사각형 406"/>
          <p:cNvSpPr/>
          <p:nvPr/>
        </p:nvSpPr>
        <p:spPr>
          <a:xfrm>
            <a:off x="476873" y="2242240"/>
            <a:ext cx="2947401" cy="2447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Scheduler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08" name="직사각형 407"/>
          <p:cNvSpPr/>
          <p:nvPr/>
        </p:nvSpPr>
        <p:spPr>
          <a:xfrm>
            <a:off x="476873" y="2686904"/>
            <a:ext cx="446905" cy="49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altLang="ko-KR" sz="7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Control </a:t>
            </a:r>
            <a:r>
              <a:rPr lang="en-US" altLang="ko-KR" sz="700" b="1" dirty="0">
                <a:solidFill>
                  <a:schemeClr val="tx1"/>
                </a:solidFill>
              </a:rPr>
              <a:t>CMD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09" name="직사각형 408"/>
          <p:cNvSpPr/>
          <p:nvPr/>
        </p:nvSpPr>
        <p:spPr>
          <a:xfrm>
            <a:off x="1090031" y="2686904"/>
            <a:ext cx="446905" cy="49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altLang="ko-KR" sz="7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Vendor </a:t>
            </a:r>
            <a:r>
              <a:rPr lang="en-US" altLang="ko-KR" sz="700" b="1" dirty="0">
                <a:solidFill>
                  <a:schemeClr val="tx1"/>
                </a:solidFill>
              </a:rPr>
              <a:t>CMD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10" name="직사각형 409"/>
          <p:cNvSpPr/>
          <p:nvPr/>
        </p:nvSpPr>
        <p:spPr>
          <a:xfrm rot="5400000">
            <a:off x="2963501" y="2797279"/>
            <a:ext cx="1404525" cy="2944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System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11" name="직사각형 410"/>
          <p:cNvSpPr/>
          <p:nvPr/>
        </p:nvSpPr>
        <p:spPr>
          <a:xfrm>
            <a:off x="476871" y="1814068"/>
            <a:ext cx="1115788" cy="245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IPC Queue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12" name="한쪽 모서리가 잘린 사각형 411"/>
          <p:cNvSpPr/>
          <p:nvPr/>
        </p:nvSpPr>
        <p:spPr>
          <a:xfrm flipV="1">
            <a:off x="403860" y="1515252"/>
            <a:ext cx="1328048" cy="192143"/>
          </a:xfrm>
          <a:prstGeom prst="snip1Rect">
            <a:avLst>
              <a:gd name="adj" fmla="val 3794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400" b="1">
              <a:solidFill>
                <a:schemeClr val="tx1"/>
              </a:solidFill>
            </a:endParaRPr>
          </a:p>
        </p:txBody>
      </p:sp>
      <p:sp>
        <p:nvSpPr>
          <p:cNvPr id="413" name="TextBox 412"/>
          <p:cNvSpPr txBox="1"/>
          <p:nvPr/>
        </p:nvSpPr>
        <p:spPr>
          <a:xfrm>
            <a:off x="419524" y="1516884"/>
            <a:ext cx="12206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 smtClean="0"/>
              <a:t>Flash Translation Layer</a:t>
            </a:r>
            <a:endParaRPr lang="ko-KR" altLang="en-US" sz="700" dirty="0"/>
          </a:p>
        </p:txBody>
      </p:sp>
      <p:cxnSp>
        <p:nvCxnSpPr>
          <p:cNvPr id="414" name="직선 화살표 연결선 413"/>
          <p:cNvCxnSpPr/>
          <p:nvPr/>
        </p:nvCxnSpPr>
        <p:spPr>
          <a:xfrm flipH="1">
            <a:off x="1010648" y="2059290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화살표 연결선 414"/>
          <p:cNvCxnSpPr/>
          <p:nvPr/>
        </p:nvCxnSpPr>
        <p:spPr>
          <a:xfrm flipH="1">
            <a:off x="738991" y="2494952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화살표 연결선 415"/>
          <p:cNvCxnSpPr/>
          <p:nvPr/>
        </p:nvCxnSpPr>
        <p:spPr>
          <a:xfrm flipH="1">
            <a:off x="1316411" y="2494952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직선 화살표 연결선 416"/>
          <p:cNvCxnSpPr/>
          <p:nvPr/>
        </p:nvCxnSpPr>
        <p:spPr>
          <a:xfrm flipH="1">
            <a:off x="1929626" y="2494952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직선 화살표 연결선 417"/>
          <p:cNvCxnSpPr/>
          <p:nvPr/>
        </p:nvCxnSpPr>
        <p:spPr>
          <a:xfrm flipH="1">
            <a:off x="2558171" y="2494952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직선 화살표 연결선 418"/>
          <p:cNvCxnSpPr/>
          <p:nvPr/>
        </p:nvCxnSpPr>
        <p:spPr>
          <a:xfrm flipH="1">
            <a:off x="3140526" y="2494952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직선 화살표 연결선 419"/>
          <p:cNvCxnSpPr/>
          <p:nvPr/>
        </p:nvCxnSpPr>
        <p:spPr>
          <a:xfrm flipH="1">
            <a:off x="738991" y="3173845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화살표 연결선 420"/>
          <p:cNvCxnSpPr/>
          <p:nvPr/>
        </p:nvCxnSpPr>
        <p:spPr>
          <a:xfrm flipH="1">
            <a:off x="1330539" y="3173845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직선 화살표 연결선 421"/>
          <p:cNvCxnSpPr/>
          <p:nvPr/>
        </p:nvCxnSpPr>
        <p:spPr>
          <a:xfrm flipH="1">
            <a:off x="1929626" y="3173845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직선 화살표 연결선 422"/>
          <p:cNvCxnSpPr/>
          <p:nvPr/>
        </p:nvCxnSpPr>
        <p:spPr>
          <a:xfrm flipH="1">
            <a:off x="2527560" y="3173845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직선 화살표 연결선 423"/>
          <p:cNvCxnSpPr/>
          <p:nvPr/>
        </p:nvCxnSpPr>
        <p:spPr>
          <a:xfrm flipH="1">
            <a:off x="3140526" y="3173845"/>
            <a:ext cx="1494" cy="18399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직선 화살표 연결선 424"/>
          <p:cNvCxnSpPr/>
          <p:nvPr/>
        </p:nvCxnSpPr>
        <p:spPr>
          <a:xfrm flipH="1">
            <a:off x="2782205" y="3038978"/>
            <a:ext cx="15143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화살표 연결선 425"/>
          <p:cNvCxnSpPr/>
          <p:nvPr/>
        </p:nvCxnSpPr>
        <p:spPr>
          <a:xfrm flipH="1">
            <a:off x="2176238" y="3038978"/>
            <a:ext cx="15143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꺾인 연결선 426"/>
          <p:cNvCxnSpPr>
            <a:stCxn id="428" idx="0"/>
            <a:endCxn id="429" idx="0"/>
          </p:cNvCxnSpPr>
          <p:nvPr/>
        </p:nvCxnSpPr>
        <p:spPr>
          <a:xfrm rot="5400000" flipH="1" flipV="1">
            <a:off x="1933833" y="2240802"/>
            <a:ext cx="9419" cy="896202"/>
          </a:xfrm>
          <a:prstGeom prst="bentConnector3">
            <a:avLst>
              <a:gd name="adj1" fmla="val 1075000"/>
            </a:avLst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직사각형 427"/>
          <p:cNvSpPr/>
          <p:nvPr/>
        </p:nvSpPr>
        <p:spPr>
          <a:xfrm>
            <a:off x="1436210" y="2688903"/>
            <a:ext cx="99046" cy="909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29" name="직사각형 428"/>
          <p:cNvSpPr/>
          <p:nvPr/>
        </p:nvSpPr>
        <p:spPr>
          <a:xfrm>
            <a:off x="2332412" y="2688903"/>
            <a:ext cx="99046" cy="909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30" name="직사각형 429"/>
          <p:cNvSpPr/>
          <p:nvPr/>
        </p:nvSpPr>
        <p:spPr>
          <a:xfrm>
            <a:off x="2332412" y="3082278"/>
            <a:ext cx="99046" cy="909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31" name="직사각형 430"/>
          <p:cNvSpPr/>
          <p:nvPr/>
        </p:nvSpPr>
        <p:spPr>
          <a:xfrm>
            <a:off x="824732" y="3079814"/>
            <a:ext cx="99046" cy="909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432" name="꺾인 연결선 431"/>
          <p:cNvCxnSpPr>
            <a:stCxn id="431" idx="2"/>
            <a:endCxn id="430" idx="2"/>
          </p:cNvCxnSpPr>
          <p:nvPr/>
        </p:nvCxnSpPr>
        <p:spPr>
          <a:xfrm rot="16200000" flipH="1">
            <a:off x="1626862" y="2418146"/>
            <a:ext cx="2464" cy="1507679"/>
          </a:xfrm>
          <a:prstGeom prst="bentConnector3">
            <a:avLst>
              <a:gd name="adj1" fmla="val 3922998"/>
            </a:avLst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정육면체 434"/>
          <p:cNvSpPr/>
          <p:nvPr/>
        </p:nvSpPr>
        <p:spPr>
          <a:xfrm>
            <a:off x="4538487" y="1138613"/>
            <a:ext cx="4469100" cy="2733194"/>
          </a:xfrm>
          <a:prstGeom prst="cube">
            <a:avLst>
              <a:gd name="adj" fmla="val 216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 smtClean="0"/>
              <a:t>FTL MPCore</a:t>
            </a:r>
            <a:endParaRPr lang="ko-KR" altLang="en-US" sz="1200" b="1" dirty="0"/>
          </a:p>
        </p:txBody>
      </p:sp>
      <p:grpSp>
        <p:nvGrpSpPr>
          <p:cNvPr id="106" name="그룹 105"/>
          <p:cNvGrpSpPr/>
          <p:nvPr/>
        </p:nvGrpSpPr>
        <p:grpSpPr>
          <a:xfrm>
            <a:off x="4694401" y="1515251"/>
            <a:ext cx="4072636" cy="2217273"/>
            <a:chOff x="7081561" y="1293266"/>
            <a:chExt cx="3653939" cy="1791284"/>
          </a:xfrm>
        </p:grpSpPr>
        <p:sp>
          <p:nvSpPr>
            <p:cNvPr id="436" name="정육면체 435"/>
            <p:cNvSpPr/>
            <p:nvPr/>
          </p:nvSpPr>
          <p:spPr>
            <a:xfrm>
              <a:off x="7081561" y="1293266"/>
              <a:ext cx="1772981" cy="845811"/>
            </a:xfrm>
            <a:prstGeom prst="cube">
              <a:avLst>
                <a:gd name="adj" fmla="val 512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 smtClean="0"/>
                <a:t>F Core #0</a:t>
              </a:r>
              <a:endParaRPr lang="ko-KR" altLang="en-US" sz="1200" b="1" dirty="0"/>
            </a:p>
          </p:txBody>
        </p:sp>
        <p:sp>
          <p:nvSpPr>
            <p:cNvPr id="437" name="정육면체 436"/>
            <p:cNvSpPr/>
            <p:nvPr/>
          </p:nvSpPr>
          <p:spPr>
            <a:xfrm>
              <a:off x="8962519" y="1293266"/>
              <a:ext cx="1772981" cy="845811"/>
            </a:xfrm>
            <a:prstGeom prst="cube">
              <a:avLst>
                <a:gd name="adj" fmla="val 512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 smtClean="0"/>
                <a:t>F Core #1</a:t>
              </a:r>
              <a:endParaRPr lang="ko-KR" altLang="en-US" sz="1200" b="1" dirty="0"/>
            </a:p>
          </p:txBody>
        </p:sp>
        <p:sp>
          <p:nvSpPr>
            <p:cNvPr id="438" name="정육면체 437"/>
            <p:cNvSpPr/>
            <p:nvPr/>
          </p:nvSpPr>
          <p:spPr>
            <a:xfrm>
              <a:off x="7081561" y="2238739"/>
              <a:ext cx="1772981" cy="845811"/>
            </a:xfrm>
            <a:prstGeom prst="cube">
              <a:avLst>
                <a:gd name="adj" fmla="val 512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 smtClean="0"/>
                <a:t>F Core #2</a:t>
              </a:r>
              <a:endParaRPr lang="ko-KR" altLang="en-US" sz="1200" b="1" dirty="0"/>
            </a:p>
          </p:txBody>
        </p:sp>
        <p:sp>
          <p:nvSpPr>
            <p:cNvPr id="439" name="정육면체 438"/>
            <p:cNvSpPr/>
            <p:nvPr/>
          </p:nvSpPr>
          <p:spPr>
            <a:xfrm>
              <a:off x="8962519" y="2238739"/>
              <a:ext cx="1772981" cy="845811"/>
            </a:xfrm>
            <a:prstGeom prst="cube">
              <a:avLst>
                <a:gd name="adj" fmla="val 512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 smtClean="0"/>
                <a:t>F Core #3</a:t>
              </a:r>
              <a:endParaRPr lang="ko-KR" altLang="en-US" sz="1200" b="1" dirty="0"/>
            </a:p>
          </p:txBody>
        </p:sp>
      </p:grpSp>
      <p:cxnSp>
        <p:nvCxnSpPr>
          <p:cNvPr id="440" name="직선 연결선 439"/>
          <p:cNvCxnSpPr/>
          <p:nvPr/>
        </p:nvCxnSpPr>
        <p:spPr>
          <a:xfrm flipH="1" flipV="1">
            <a:off x="4538486" y="3871807"/>
            <a:ext cx="1805475" cy="3023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/>
          <p:cNvCxnSpPr/>
          <p:nvPr/>
        </p:nvCxnSpPr>
        <p:spPr>
          <a:xfrm flipH="1">
            <a:off x="7922786" y="3878297"/>
            <a:ext cx="1027957" cy="29585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직사각형 443"/>
          <p:cNvSpPr/>
          <p:nvPr/>
        </p:nvSpPr>
        <p:spPr>
          <a:xfrm>
            <a:off x="3003366" y="679217"/>
            <a:ext cx="1426974" cy="686119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b="1" dirty="0" smtClean="0"/>
              <a:t>극한의 </a:t>
            </a:r>
            <a:r>
              <a:rPr lang="en-US" altLang="ko-KR" sz="900" b="1" dirty="0" smtClean="0"/>
              <a:t>Vertical Optimization</a:t>
            </a:r>
            <a:r>
              <a:rPr lang="ko-KR" altLang="en-US" sz="900" b="1" dirty="0" smtClean="0"/>
              <a:t>으로 신규 기능 </a:t>
            </a:r>
            <a:r>
              <a:rPr lang="ko-KR" altLang="en-US" sz="900" b="1" dirty="0" smtClean="0">
                <a:sym typeface="Wingdings" panose="05000000000000000000" pitchFamily="2" charset="2"/>
              </a:rPr>
              <a:t>변경 용이성 ↓</a:t>
            </a:r>
            <a:endParaRPr lang="ko-KR" altLang="en-US" sz="900" b="1" dirty="0"/>
          </a:p>
        </p:txBody>
      </p:sp>
      <p:cxnSp>
        <p:nvCxnSpPr>
          <p:cNvPr id="446" name="직선 연결선 445"/>
          <p:cNvCxnSpPr>
            <a:stCxn id="444" idx="2"/>
          </p:cNvCxnSpPr>
          <p:nvPr/>
        </p:nvCxnSpPr>
        <p:spPr>
          <a:xfrm flipH="1">
            <a:off x="3308067" y="1365336"/>
            <a:ext cx="408786" cy="148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직사각형 449"/>
          <p:cNvSpPr/>
          <p:nvPr/>
        </p:nvSpPr>
        <p:spPr>
          <a:xfrm>
            <a:off x="5080164" y="5959533"/>
            <a:ext cx="1689683" cy="471820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b="1" dirty="0" smtClean="0"/>
              <a:t>성능 향상 및 사용 </a:t>
            </a:r>
            <a:r>
              <a:rPr lang="en-US" altLang="ko-KR" sz="900" b="1" dirty="0" smtClean="0"/>
              <a:t>Resource </a:t>
            </a:r>
            <a:r>
              <a:rPr lang="ko-KR" altLang="en-US" sz="900" b="1" dirty="0" smtClean="0"/>
              <a:t>감소</a:t>
            </a:r>
            <a:r>
              <a:rPr lang="en-US" altLang="ko-KR" sz="900" b="1" dirty="0" smtClean="0"/>
              <a:t> </a:t>
            </a:r>
            <a:r>
              <a:rPr lang="ko-KR" altLang="en-US" sz="900" b="1" dirty="0" smtClean="0"/>
              <a:t>솔루션 도출 필요</a:t>
            </a:r>
            <a:endParaRPr lang="ko-KR" altLang="en-US" sz="900" b="1" dirty="0"/>
          </a:p>
        </p:txBody>
      </p:sp>
      <p:cxnSp>
        <p:nvCxnSpPr>
          <p:cNvPr id="451" name="직선 연결선 450"/>
          <p:cNvCxnSpPr>
            <a:stCxn id="400" idx="1"/>
            <a:endCxn id="450" idx="3"/>
          </p:cNvCxnSpPr>
          <p:nvPr/>
        </p:nvCxnSpPr>
        <p:spPr>
          <a:xfrm flipH="1" flipV="1">
            <a:off x="6769847" y="6195443"/>
            <a:ext cx="1369847" cy="135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직사각형 480"/>
          <p:cNvSpPr/>
          <p:nvPr/>
        </p:nvSpPr>
        <p:spPr>
          <a:xfrm>
            <a:off x="5986361" y="2284618"/>
            <a:ext cx="1570162" cy="666208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900" b="1" dirty="0" smtClean="0"/>
              <a:t>Many Core</a:t>
            </a:r>
            <a:r>
              <a:rPr lang="ko-KR" altLang="en-US" sz="900" b="1" dirty="0" smtClean="0"/>
              <a:t>에서 기존 제품이 제공하는 기능을 어떻게 제공할 것인가</a:t>
            </a:r>
            <a:r>
              <a:rPr lang="en-US" altLang="ko-KR" sz="900" b="1" dirty="0" smtClean="0"/>
              <a:t>?</a:t>
            </a:r>
            <a:endParaRPr lang="ko-KR" altLang="en-US" sz="900" b="1" dirty="0"/>
          </a:p>
        </p:txBody>
      </p:sp>
      <p:sp>
        <p:nvSpPr>
          <p:cNvPr id="482" name="오른쪽 화살표 481"/>
          <p:cNvSpPr/>
          <p:nvPr/>
        </p:nvSpPr>
        <p:spPr>
          <a:xfrm>
            <a:off x="4165625" y="2319589"/>
            <a:ext cx="312881" cy="32082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 b="1">
              <a:solidFill>
                <a:schemeClr val="tx1"/>
              </a:solidFill>
            </a:endParaRPr>
          </a:p>
        </p:txBody>
      </p:sp>
      <p:sp>
        <p:nvSpPr>
          <p:cNvPr id="485" name="직사각형 484"/>
          <p:cNvSpPr/>
          <p:nvPr/>
        </p:nvSpPr>
        <p:spPr>
          <a:xfrm>
            <a:off x="10195559" y="2993145"/>
            <a:ext cx="1696211" cy="464042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b="1" dirty="0" smtClean="0"/>
              <a:t>늘어난 파워 소비 증가분을 상쇄하기 위한 </a:t>
            </a:r>
            <a:r>
              <a:rPr lang="en-US" altLang="ko-KR" sz="900" b="1" dirty="0" smtClean="0"/>
              <a:t>SW </a:t>
            </a:r>
            <a:r>
              <a:rPr lang="ko-KR" altLang="en-US" sz="900" b="1" dirty="0" smtClean="0"/>
              <a:t>운영 필요</a:t>
            </a:r>
            <a:endParaRPr lang="ko-KR" altLang="en-US" sz="900" b="1" dirty="0"/>
          </a:p>
        </p:txBody>
      </p:sp>
      <p:cxnSp>
        <p:nvCxnSpPr>
          <p:cNvPr id="486" name="직선 연결선 485"/>
          <p:cNvCxnSpPr>
            <a:stCxn id="512" idx="2"/>
            <a:endCxn id="485" idx="0"/>
          </p:cNvCxnSpPr>
          <p:nvPr/>
        </p:nvCxnSpPr>
        <p:spPr>
          <a:xfrm flipH="1">
            <a:off x="11043665" y="2844608"/>
            <a:ext cx="580881" cy="148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직사각형 494"/>
          <p:cNvSpPr/>
          <p:nvPr/>
        </p:nvSpPr>
        <p:spPr>
          <a:xfrm>
            <a:off x="10355580" y="679412"/>
            <a:ext cx="1536190" cy="447341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b="1" dirty="0" smtClean="0"/>
              <a:t>초고성능 요구사항 달성을 위한 </a:t>
            </a:r>
            <a:r>
              <a:rPr lang="en-US" altLang="ko-KR" sz="900" b="1" dirty="0" smtClean="0"/>
              <a:t>SW </a:t>
            </a:r>
            <a:r>
              <a:rPr lang="ko-KR" altLang="en-US" sz="900" b="1" dirty="0" smtClean="0"/>
              <a:t>최적화 필요</a:t>
            </a:r>
            <a:endParaRPr lang="ko-KR" altLang="en-US" sz="900" b="1" dirty="0"/>
          </a:p>
        </p:txBody>
      </p:sp>
      <p:graphicFrame>
        <p:nvGraphicFramePr>
          <p:cNvPr id="505" name="표 504"/>
          <p:cNvGraphicFramePr>
            <a:graphicFrameLocks noGrp="1"/>
          </p:cNvGraphicFramePr>
          <p:nvPr>
            <p:extLst/>
          </p:nvPr>
        </p:nvGraphicFramePr>
        <p:xfrm>
          <a:off x="9192514" y="1381568"/>
          <a:ext cx="2714691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1614">
                  <a:extLst>
                    <a:ext uri="{9D8B030D-6E8A-4147-A177-3AD203B41FA5}">
                      <a16:colId xmlns:a16="http://schemas.microsoft.com/office/drawing/2014/main" val="1763703198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191293009"/>
                    </a:ext>
                  </a:extLst>
                </a:gridCol>
                <a:gridCol w="569120">
                  <a:extLst>
                    <a:ext uri="{9D8B030D-6E8A-4147-A177-3AD203B41FA5}">
                      <a16:colId xmlns:a16="http://schemas.microsoft.com/office/drawing/2014/main" val="3746734762"/>
                    </a:ext>
                  </a:extLst>
                </a:gridCol>
                <a:gridCol w="569120">
                  <a:extLst>
                    <a:ext uri="{9D8B030D-6E8A-4147-A177-3AD203B41FA5}">
                      <a16:colId xmlns:a16="http://schemas.microsoft.com/office/drawing/2014/main" val="3318705210"/>
                    </a:ext>
                  </a:extLst>
                </a:gridCol>
              </a:tblGrid>
              <a:tr h="157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smtClean="0"/>
                        <a:t>항목</a:t>
                      </a:r>
                      <a:endParaRPr lang="ko-KR" altLang="en-US" sz="6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 smtClean="0"/>
                        <a:t>Condition</a:t>
                      </a:r>
                      <a:endParaRPr lang="ko-KR" altLang="en-US" sz="6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 smtClean="0"/>
                        <a:t>SELEN</a:t>
                      </a:r>
                      <a:endParaRPr lang="ko-KR" altLang="en-US" sz="6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 smtClean="0"/>
                        <a:t>SOLVIT</a:t>
                      </a:r>
                      <a:endParaRPr lang="ko-KR" altLang="en-US" sz="6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93773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Seq. Write (MB/s)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2 (HSG4)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1200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1600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99024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aseline="0" dirty="0" smtClean="0"/>
                        <a:t>Seq. Read (MB/s)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2 (HSG4)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2000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2000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0671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 smtClean="0"/>
                        <a:t>Random</a:t>
                      </a:r>
                      <a:r>
                        <a:rPr lang="en-US" altLang="ko-KR" sz="600" baseline="0" dirty="0" smtClean="0"/>
                        <a:t> Write (KIOPS)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8 (HSG4)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70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120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91027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Random</a:t>
                      </a:r>
                      <a:r>
                        <a:rPr lang="en-US" altLang="ko-KR" sz="600" baseline="0" dirty="0" smtClean="0"/>
                        <a:t> Read (KIOPS)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32 (HSG4)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100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350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631428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Power (mA)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aseline="0" dirty="0" smtClean="0"/>
                        <a:t>Active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550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560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999009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Power (mA)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Idle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230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170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621631"/>
                  </a:ext>
                </a:extLst>
              </a:tr>
              <a:tr h="1572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Power (mA)</a:t>
                      </a:r>
                      <a:endParaRPr lang="ko-KR" altLang="en-US" sz="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dirty="0" smtClean="0"/>
                        <a:t>Hibernation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0.4</a:t>
                      </a:r>
                      <a:endParaRPr lang="ko-KR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/>
                        <a:t>0.4</a:t>
                      </a:r>
                      <a:endParaRPr lang="ko-KR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920691"/>
                  </a:ext>
                </a:extLst>
              </a:tr>
            </a:tbl>
          </a:graphicData>
        </a:graphic>
      </p:graphicFrame>
      <p:sp>
        <p:nvSpPr>
          <p:cNvPr id="507" name="직사각형 506"/>
          <p:cNvSpPr/>
          <p:nvPr/>
        </p:nvSpPr>
        <p:spPr>
          <a:xfrm>
            <a:off x="11341887" y="1566694"/>
            <a:ext cx="565317" cy="726214"/>
          </a:xfrm>
          <a:prstGeom prst="rect">
            <a:avLst/>
          </a:prstGeom>
          <a:noFill/>
          <a:ln w="28575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6" name="직선 연결선 495"/>
          <p:cNvCxnSpPr>
            <a:stCxn id="507" idx="0"/>
            <a:endCxn id="495" idx="2"/>
          </p:cNvCxnSpPr>
          <p:nvPr/>
        </p:nvCxnSpPr>
        <p:spPr>
          <a:xfrm flipH="1" flipV="1">
            <a:off x="11123675" y="1126753"/>
            <a:ext cx="500871" cy="439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TextBox 509"/>
          <p:cNvSpPr txBox="1"/>
          <p:nvPr/>
        </p:nvSpPr>
        <p:spPr>
          <a:xfrm>
            <a:off x="9078874" y="1130824"/>
            <a:ext cx="23193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■ </a:t>
            </a:r>
            <a:r>
              <a:rPr lang="en-US" altLang="ko-KR" sz="1000" b="1" dirty="0" smtClean="0"/>
              <a:t>Non-</a:t>
            </a:r>
            <a:r>
              <a:rPr lang="en-US" altLang="ko-KR" sz="1000" b="1" dirty="0"/>
              <a:t>f</a:t>
            </a:r>
            <a:r>
              <a:rPr lang="en-US" altLang="ko-KR" sz="1000" b="1" dirty="0" smtClean="0"/>
              <a:t>unctional Requirements</a:t>
            </a:r>
            <a:endParaRPr lang="ko-KR" altLang="en-US" sz="1000" b="1" dirty="0"/>
          </a:p>
        </p:txBody>
      </p:sp>
      <p:sp>
        <p:nvSpPr>
          <p:cNvPr id="512" name="직사각형 511"/>
          <p:cNvSpPr/>
          <p:nvPr/>
        </p:nvSpPr>
        <p:spPr>
          <a:xfrm>
            <a:off x="11341887" y="2292907"/>
            <a:ext cx="565317" cy="551701"/>
          </a:xfrm>
          <a:prstGeom prst="rect">
            <a:avLst/>
          </a:prstGeom>
          <a:noFill/>
          <a:ln w="28575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5" name="TextBox 514"/>
          <p:cNvSpPr txBox="1"/>
          <p:nvPr/>
        </p:nvSpPr>
        <p:spPr>
          <a:xfrm>
            <a:off x="172389" y="867024"/>
            <a:ext cx="2771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100" b="1" dirty="0"/>
              <a:t>■ </a:t>
            </a:r>
            <a:r>
              <a:rPr lang="en-US" altLang="ko-KR" sz="1100" b="1" dirty="0" smtClean="0"/>
              <a:t>TERRA 2.3 UFS FTL Platform (Selen)</a:t>
            </a:r>
            <a:endParaRPr lang="ko-KR" altLang="en-US" sz="1100" b="1" dirty="0"/>
          </a:p>
        </p:txBody>
      </p:sp>
      <p:sp>
        <p:nvSpPr>
          <p:cNvPr id="516" name="TextBox 515"/>
          <p:cNvSpPr txBox="1"/>
          <p:nvPr/>
        </p:nvSpPr>
        <p:spPr>
          <a:xfrm>
            <a:off x="4447879" y="867024"/>
            <a:ext cx="2771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100" b="1" dirty="0"/>
              <a:t>■ </a:t>
            </a:r>
            <a:r>
              <a:rPr lang="en-US" altLang="ko-KR" sz="1100" b="1" dirty="0" smtClean="0"/>
              <a:t>TERRA 3.0 UFS FTL Platform (Solvit)</a:t>
            </a:r>
            <a:endParaRPr lang="ko-KR" altLang="en-US" sz="1100" b="1" dirty="0"/>
          </a:p>
        </p:txBody>
      </p:sp>
      <p:sp>
        <p:nvSpPr>
          <p:cNvPr id="529" name="직사각형 528"/>
          <p:cNvSpPr/>
          <p:nvPr/>
        </p:nvSpPr>
        <p:spPr>
          <a:xfrm>
            <a:off x="10925502" y="4767726"/>
            <a:ext cx="990528" cy="437641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b="1" dirty="0" smtClean="0"/>
              <a:t>개발 </a:t>
            </a:r>
            <a:r>
              <a:rPr lang="en-US" altLang="ko-KR" sz="900" b="1" dirty="0" smtClean="0"/>
              <a:t>Resource </a:t>
            </a:r>
            <a:r>
              <a:rPr lang="ko-KR" altLang="en-US" sz="900" b="1" dirty="0" smtClean="0"/>
              <a:t>효율화 필요</a:t>
            </a:r>
            <a:endParaRPr lang="ko-KR" altLang="en-US" sz="900" b="1" dirty="0"/>
          </a:p>
        </p:txBody>
      </p:sp>
      <p:sp>
        <p:nvSpPr>
          <p:cNvPr id="530" name="TextBox 529"/>
          <p:cNvSpPr txBox="1"/>
          <p:nvPr/>
        </p:nvSpPr>
        <p:spPr>
          <a:xfrm>
            <a:off x="9078874" y="3611693"/>
            <a:ext cx="268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■ 개발 조직 현황 </a:t>
            </a:r>
            <a:r>
              <a:rPr lang="en-US" altLang="ko-KR" sz="1000" b="1" dirty="0" smtClean="0"/>
              <a:t>(Work Assignment)</a:t>
            </a:r>
            <a:endParaRPr lang="ko-KR" altLang="en-US" sz="1000" b="1" dirty="0"/>
          </a:p>
        </p:txBody>
      </p:sp>
      <p:sp>
        <p:nvSpPr>
          <p:cNvPr id="536" name="TextBox 535"/>
          <p:cNvSpPr txBox="1"/>
          <p:nvPr/>
        </p:nvSpPr>
        <p:spPr>
          <a:xfrm>
            <a:off x="9177034" y="4426908"/>
            <a:ext cx="5762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PTL (3)</a:t>
            </a:r>
            <a:endParaRPr lang="ko-KR" altLang="en-US" sz="900" dirty="0"/>
          </a:p>
        </p:txBody>
      </p:sp>
      <p:sp>
        <p:nvSpPr>
          <p:cNvPr id="537" name="TextBox 536"/>
          <p:cNvSpPr txBox="1"/>
          <p:nvPr/>
        </p:nvSpPr>
        <p:spPr>
          <a:xfrm>
            <a:off x="9895740" y="4426908"/>
            <a:ext cx="5762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HIL (20)</a:t>
            </a:r>
            <a:endParaRPr lang="ko-KR" altLang="en-US" sz="900" dirty="0"/>
          </a:p>
        </p:txBody>
      </p:sp>
      <p:sp>
        <p:nvSpPr>
          <p:cNvPr id="538" name="TextBox 537"/>
          <p:cNvSpPr txBox="1"/>
          <p:nvPr/>
        </p:nvSpPr>
        <p:spPr>
          <a:xfrm>
            <a:off x="10620766" y="4426908"/>
            <a:ext cx="576232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FTL (22)</a:t>
            </a:r>
            <a:endParaRPr lang="ko-KR" altLang="en-US" sz="900" dirty="0"/>
          </a:p>
        </p:txBody>
      </p:sp>
      <p:sp>
        <p:nvSpPr>
          <p:cNvPr id="539" name="TextBox 538"/>
          <p:cNvSpPr txBox="1"/>
          <p:nvPr/>
        </p:nvSpPr>
        <p:spPr>
          <a:xfrm>
            <a:off x="11330638" y="4426908"/>
            <a:ext cx="5762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FIL (10)</a:t>
            </a:r>
            <a:endParaRPr lang="ko-KR" altLang="en-US" sz="900" dirty="0"/>
          </a:p>
        </p:txBody>
      </p:sp>
      <p:sp>
        <p:nvSpPr>
          <p:cNvPr id="540" name="TextBox 539"/>
          <p:cNvSpPr txBox="1"/>
          <p:nvPr/>
        </p:nvSpPr>
        <p:spPr>
          <a:xfrm>
            <a:off x="9475754" y="3925147"/>
            <a:ext cx="2132398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Mobile Storage </a:t>
            </a:r>
            <a:r>
              <a:rPr lang="ko-KR" altLang="en-US" sz="900" dirty="0" err="1" smtClean="0"/>
              <a:t>파트장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(CL4)</a:t>
            </a:r>
            <a:endParaRPr lang="ko-KR" altLang="en-US" sz="900" dirty="0"/>
          </a:p>
        </p:txBody>
      </p:sp>
      <p:cxnSp>
        <p:nvCxnSpPr>
          <p:cNvPr id="542" name="꺾인 연결선 541"/>
          <p:cNvCxnSpPr>
            <a:stCxn id="536" idx="0"/>
            <a:endCxn id="540" idx="2"/>
          </p:cNvCxnSpPr>
          <p:nvPr/>
        </p:nvCxnSpPr>
        <p:spPr>
          <a:xfrm rot="5400000" flipH="1" flipV="1">
            <a:off x="9868087" y="3753043"/>
            <a:ext cx="270929" cy="107680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꺾인 연결선 542"/>
          <p:cNvCxnSpPr>
            <a:stCxn id="537" idx="0"/>
            <a:endCxn id="540" idx="2"/>
          </p:cNvCxnSpPr>
          <p:nvPr/>
        </p:nvCxnSpPr>
        <p:spPr>
          <a:xfrm rot="5400000" flipH="1" flipV="1">
            <a:off x="10227440" y="4112396"/>
            <a:ext cx="270929" cy="35809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꺾인 연결선 545"/>
          <p:cNvCxnSpPr>
            <a:stCxn id="538" idx="0"/>
            <a:endCxn id="540" idx="2"/>
          </p:cNvCxnSpPr>
          <p:nvPr/>
        </p:nvCxnSpPr>
        <p:spPr>
          <a:xfrm rot="16200000" flipV="1">
            <a:off x="10589954" y="4107979"/>
            <a:ext cx="270929" cy="3669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꺾인 연결선 548"/>
          <p:cNvCxnSpPr>
            <a:stCxn id="539" idx="0"/>
            <a:endCxn id="540" idx="2"/>
          </p:cNvCxnSpPr>
          <p:nvPr/>
        </p:nvCxnSpPr>
        <p:spPr>
          <a:xfrm rot="16200000" flipV="1">
            <a:off x="10944890" y="3753043"/>
            <a:ext cx="270929" cy="10768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9177034" y="5822543"/>
            <a:ext cx="5611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 smtClean="0"/>
              <a:t>성능</a:t>
            </a:r>
            <a:r>
              <a:rPr lang="en-US" altLang="ko-KR" sz="900" dirty="0" smtClean="0"/>
              <a:t> (3)</a:t>
            </a:r>
            <a:endParaRPr lang="ko-KR" altLang="en-US" sz="900" dirty="0"/>
          </a:p>
        </p:txBody>
      </p:sp>
      <p:sp>
        <p:nvSpPr>
          <p:cNvPr id="583" name="TextBox 582"/>
          <p:cNvSpPr txBox="1"/>
          <p:nvPr/>
        </p:nvSpPr>
        <p:spPr>
          <a:xfrm>
            <a:off x="9895740" y="5822543"/>
            <a:ext cx="5611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HIL (3)</a:t>
            </a:r>
            <a:endParaRPr lang="ko-KR" altLang="en-US" sz="900" dirty="0"/>
          </a:p>
        </p:txBody>
      </p:sp>
      <p:sp>
        <p:nvSpPr>
          <p:cNvPr id="584" name="TextBox 583"/>
          <p:cNvSpPr txBox="1"/>
          <p:nvPr/>
        </p:nvSpPr>
        <p:spPr>
          <a:xfrm>
            <a:off x="10620766" y="5822543"/>
            <a:ext cx="5611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900"/>
            </a:lvl1pPr>
          </a:lstStyle>
          <a:p>
            <a:r>
              <a:rPr lang="en-US" altLang="ko-KR" dirty="0"/>
              <a:t>FTL (6)</a:t>
            </a:r>
            <a:endParaRPr lang="ko-KR" altLang="en-US" dirty="0"/>
          </a:p>
        </p:txBody>
      </p:sp>
      <p:sp>
        <p:nvSpPr>
          <p:cNvPr id="585" name="TextBox 584"/>
          <p:cNvSpPr txBox="1"/>
          <p:nvPr/>
        </p:nvSpPr>
        <p:spPr>
          <a:xfrm>
            <a:off x="11330638" y="5822543"/>
            <a:ext cx="561132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FIL (2)</a:t>
            </a:r>
            <a:endParaRPr lang="ko-KR" altLang="en-US" sz="900" dirty="0"/>
          </a:p>
        </p:txBody>
      </p:sp>
      <p:sp>
        <p:nvSpPr>
          <p:cNvPr id="586" name="TextBox 585"/>
          <p:cNvSpPr txBox="1"/>
          <p:nvPr/>
        </p:nvSpPr>
        <p:spPr>
          <a:xfrm>
            <a:off x="9475754" y="5320782"/>
            <a:ext cx="2132398" cy="230832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Chief Software Architect (</a:t>
            </a:r>
            <a:r>
              <a:rPr lang="ko-KR" altLang="en-US" sz="900" dirty="0" smtClean="0"/>
              <a:t>상무</a:t>
            </a:r>
            <a:r>
              <a:rPr lang="en-US" altLang="ko-KR" sz="900" dirty="0" smtClean="0"/>
              <a:t>)</a:t>
            </a:r>
            <a:endParaRPr lang="ko-KR" altLang="en-US" sz="900" dirty="0"/>
          </a:p>
        </p:txBody>
      </p:sp>
      <p:cxnSp>
        <p:nvCxnSpPr>
          <p:cNvPr id="587" name="꺾인 연결선 586"/>
          <p:cNvCxnSpPr>
            <a:stCxn id="582" idx="0"/>
            <a:endCxn id="586" idx="2"/>
          </p:cNvCxnSpPr>
          <p:nvPr/>
        </p:nvCxnSpPr>
        <p:spPr>
          <a:xfrm rot="5400000" flipH="1" flipV="1">
            <a:off x="9864312" y="5144903"/>
            <a:ext cx="270929" cy="108435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꺾인 연결선 587"/>
          <p:cNvCxnSpPr>
            <a:stCxn id="583" idx="0"/>
            <a:endCxn id="586" idx="2"/>
          </p:cNvCxnSpPr>
          <p:nvPr/>
        </p:nvCxnSpPr>
        <p:spPr>
          <a:xfrm rot="5400000" flipH="1" flipV="1">
            <a:off x="10223665" y="5504256"/>
            <a:ext cx="270929" cy="3656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꺾인 연결선 588"/>
          <p:cNvCxnSpPr>
            <a:stCxn id="584" idx="0"/>
            <a:endCxn id="586" idx="2"/>
          </p:cNvCxnSpPr>
          <p:nvPr/>
        </p:nvCxnSpPr>
        <p:spPr>
          <a:xfrm rot="16200000" flipV="1">
            <a:off x="10586179" y="5507389"/>
            <a:ext cx="270929" cy="35937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꺾인 연결선 589"/>
          <p:cNvCxnSpPr>
            <a:stCxn id="585" idx="0"/>
            <a:endCxn id="586" idx="2"/>
          </p:cNvCxnSpPr>
          <p:nvPr/>
        </p:nvCxnSpPr>
        <p:spPr>
          <a:xfrm rot="16200000" flipV="1">
            <a:off x="10941115" y="5152453"/>
            <a:ext cx="270929" cy="10692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5" name="TextBox 604"/>
          <p:cNvSpPr txBox="1"/>
          <p:nvPr/>
        </p:nvSpPr>
        <p:spPr>
          <a:xfrm>
            <a:off x="9099089" y="4668222"/>
            <a:ext cx="16187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* </a:t>
            </a:r>
            <a:r>
              <a:rPr lang="ko-KR" altLang="en-US" sz="900" dirty="0" smtClean="0"/>
              <a:t>참고</a:t>
            </a:r>
            <a:r>
              <a:rPr lang="en-US" altLang="ko-KR" sz="900" dirty="0" smtClean="0"/>
              <a:t>: SSD 6</a:t>
            </a:r>
            <a:r>
              <a:rPr lang="ko-KR" altLang="en-US" sz="900" dirty="0" smtClean="0"/>
              <a:t>개 파트 </a:t>
            </a:r>
            <a:r>
              <a:rPr lang="en-US" altLang="ko-KR" sz="900" dirty="0" smtClean="0"/>
              <a:t>304</a:t>
            </a:r>
            <a:r>
              <a:rPr lang="ko-KR" altLang="en-US" sz="900" dirty="0" smtClean="0"/>
              <a:t>名</a:t>
            </a:r>
            <a:endParaRPr lang="ko-KR" altLang="en-US" sz="900" dirty="0"/>
          </a:p>
        </p:txBody>
      </p:sp>
      <p:cxnSp>
        <p:nvCxnSpPr>
          <p:cNvPr id="613" name="직선 연결선 612"/>
          <p:cNvCxnSpPr>
            <a:stCxn id="529" idx="0"/>
            <a:endCxn id="538" idx="2"/>
          </p:cNvCxnSpPr>
          <p:nvPr/>
        </p:nvCxnSpPr>
        <p:spPr>
          <a:xfrm flipH="1" flipV="1">
            <a:off x="10908882" y="4657740"/>
            <a:ext cx="511884" cy="1099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직선 연결선 613"/>
          <p:cNvCxnSpPr>
            <a:stCxn id="529" idx="2"/>
            <a:endCxn id="620" idx="0"/>
          </p:cNvCxnSpPr>
          <p:nvPr/>
        </p:nvCxnSpPr>
        <p:spPr>
          <a:xfrm flipH="1">
            <a:off x="11403126" y="5205367"/>
            <a:ext cx="17640" cy="9214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0" name="TextBox 619"/>
          <p:cNvSpPr txBox="1"/>
          <p:nvPr/>
        </p:nvSpPr>
        <p:spPr>
          <a:xfrm>
            <a:off x="11044089" y="6126863"/>
            <a:ext cx="718073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Mobile (2)</a:t>
            </a:r>
            <a:endParaRPr lang="ko-KR" altLang="en-US" sz="900" dirty="0"/>
          </a:p>
        </p:txBody>
      </p:sp>
      <p:cxnSp>
        <p:nvCxnSpPr>
          <p:cNvPr id="621" name="꺾인 연결선 620"/>
          <p:cNvCxnSpPr>
            <a:stCxn id="620" idx="1"/>
            <a:endCxn id="584" idx="2"/>
          </p:cNvCxnSpPr>
          <p:nvPr/>
        </p:nvCxnSpPr>
        <p:spPr>
          <a:xfrm rot="10800000">
            <a:off x="10901333" y="6053375"/>
            <a:ext cx="142757" cy="18890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9685396" y="6333672"/>
            <a:ext cx="2431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0033CC"/>
                </a:solidFill>
              </a:rPr>
              <a:t>* </a:t>
            </a:r>
            <a:r>
              <a:rPr lang="ko-KR" altLang="en-US" sz="900" b="1" dirty="0" smtClean="0">
                <a:solidFill>
                  <a:srgbClr val="0033CC"/>
                </a:solidFill>
              </a:rPr>
              <a:t>본인의 역할 </a:t>
            </a:r>
            <a:r>
              <a:rPr lang="en-US" altLang="ko-KR" sz="900" b="1" dirty="0" smtClean="0">
                <a:solidFill>
                  <a:srgbClr val="0033CC"/>
                </a:solidFill>
              </a:rPr>
              <a:t>: Mobile FTL </a:t>
            </a:r>
            <a:r>
              <a:rPr lang="ko-KR" altLang="en-US" sz="900" b="1" dirty="0" smtClean="0">
                <a:solidFill>
                  <a:srgbClr val="0033CC"/>
                </a:solidFill>
              </a:rPr>
              <a:t>메인 </a:t>
            </a:r>
            <a:r>
              <a:rPr lang="en-US" altLang="ko-KR" sz="900" b="1" dirty="0" smtClean="0">
                <a:solidFill>
                  <a:srgbClr val="0033CC"/>
                </a:solidFill>
              </a:rPr>
              <a:t>Architect</a:t>
            </a:r>
            <a:endParaRPr lang="ko-KR" altLang="en-US" sz="900" b="1" dirty="0">
              <a:solidFill>
                <a:srgbClr val="0033CC"/>
              </a:solidFill>
            </a:endParaRPr>
          </a:p>
        </p:txBody>
      </p:sp>
      <p:sp>
        <p:nvSpPr>
          <p:cNvPr id="17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cxnSp>
        <p:nvCxnSpPr>
          <p:cNvPr id="173" name="직선 연결선 172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82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설계 </a:t>
            </a:r>
            <a:r>
              <a:rPr lang="en-US" altLang="ko-KR" dirty="0" smtClean="0"/>
              <a:t>Point </a:t>
            </a:r>
            <a:r>
              <a:rPr lang="ko-KR" altLang="en-US" dirty="0" smtClean="0"/>
              <a:t>선정</a:t>
            </a:r>
            <a:endParaRPr lang="ko-KR" altLang="en-US" dirty="0"/>
          </a:p>
        </p:txBody>
      </p:sp>
      <p:sp>
        <p:nvSpPr>
          <p:cNvPr id="108" name="직사각형 107"/>
          <p:cNvSpPr/>
          <p:nvPr/>
        </p:nvSpPr>
        <p:spPr>
          <a:xfrm>
            <a:off x="356869" y="1521834"/>
            <a:ext cx="1361933" cy="2306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</a:rPr>
              <a:t>Flash Translation Layer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/>
          <p:nvPr/>
        </p:nvCxnSpPr>
        <p:spPr>
          <a:xfrm>
            <a:off x="1216094" y="5308722"/>
            <a:ext cx="619747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56869" y="1752458"/>
            <a:ext cx="7930039" cy="45249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600" b="1" dirty="0">
              <a:solidFill>
                <a:schemeClr val="tx1"/>
              </a:solidFill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>
            <a:off x="2500957" y="3805333"/>
            <a:ext cx="49210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>
            <a:off x="3585414" y="4119678"/>
            <a:ext cx="383658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 flipV="1">
            <a:off x="4716992" y="4461780"/>
            <a:ext cx="2699377" cy="1360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/>
          <p:nvPr/>
        </p:nvCxnSpPr>
        <p:spPr>
          <a:xfrm>
            <a:off x="5817973" y="4767278"/>
            <a:ext cx="160402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>
            <a:off x="6973511" y="5089590"/>
            <a:ext cx="442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428637" y="5642294"/>
            <a:ext cx="6527195" cy="5479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Flash </a:t>
            </a:r>
            <a:r>
              <a:rPr lang="en-US" altLang="ko-KR" sz="900" b="1" dirty="0" smtClean="0">
                <a:solidFill>
                  <a:schemeClr val="tx1"/>
                </a:solidFill>
              </a:rPr>
              <a:t>IO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88605" y="5878506"/>
            <a:ext cx="1448267" cy="2306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Flash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Operation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3787497" y="5878506"/>
            <a:ext cx="1448267" cy="2306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Flash Prevention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436941" y="5878506"/>
            <a:ext cx="1448267" cy="2306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Flash Recovery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811490" y="3215839"/>
            <a:ext cx="897985" cy="19678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User Data CMD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944077" y="3215839"/>
            <a:ext cx="872424" cy="19779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Context &amp; Meta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6032650" y="3215839"/>
            <a:ext cx="938237" cy="19779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Garbage Collection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897107" y="3590948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Read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897107" y="4223442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Unmap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5025416" y="3569489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Block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5021496" y="3894178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Map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021496" y="4222844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Context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139511" y="3565267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GC Condition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139511" y="3889139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Incremental Calculator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6139511" y="4218918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Source Selector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6139511" y="4535615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Destination </a:t>
            </a:r>
            <a:r>
              <a:rPr lang="en-US" altLang="ko-KR" sz="700" b="1" dirty="0">
                <a:solidFill>
                  <a:schemeClr val="tx1"/>
                </a:solidFill>
              </a:rPr>
              <a:t>Selector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5021496" y="4544101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Map Cache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6139511" y="4857053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Copy-back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597681" y="2032170"/>
            <a:ext cx="5358150" cy="6374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Scheduler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897107" y="3906745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Write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3897107" y="4541257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Data Flush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021496" y="4858722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Meta Rebuilder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601572" y="3215839"/>
            <a:ext cx="871319" cy="19779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Control CMD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1673856" y="3565915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Power Mode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1673856" y="3895694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Partitioning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1673856" y="4212393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HID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673856" y="4533831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Purge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2714094" y="3215840"/>
            <a:ext cx="871319" cy="19678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Vendor CMD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2790811" y="3565267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Physical IO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2790811" y="3889139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OEM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2788532" y="4218918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Smart Report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2794369" y="4535615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Test Mode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2793415" y="4857053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Retrieval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2138052" y="5878506"/>
            <a:ext cx="1448267" cy="2306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Flash IO Parameter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7421998" y="2032170"/>
            <a:ext cx="771654" cy="4158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System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7479166" y="2322916"/>
            <a:ext cx="658624" cy="3494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Utility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479166" y="2791567"/>
            <a:ext cx="658624" cy="3494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</a:rPr>
              <a:t>Configuration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7479166" y="3260218"/>
            <a:ext cx="658624" cy="3494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Overlay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7479166" y="3728870"/>
            <a:ext cx="658624" cy="3494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ISR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7479166" y="4197522"/>
            <a:ext cx="658624" cy="3494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HAL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156" name="직선 화살표 연결선 155"/>
          <p:cNvCxnSpPr/>
          <p:nvPr/>
        </p:nvCxnSpPr>
        <p:spPr>
          <a:xfrm>
            <a:off x="4250966" y="5193752"/>
            <a:ext cx="0" cy="4594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4184060" y="5434104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158" name="직선 화살표 연결선 157"/>
          <p:cNvCxnSpPr/>
          <p:nvPr/>
        </p:nvCxnSpPr>
        <p:spPr>
          <a:xfrm>
            <a:off x="5394393" y="5193752"/>
            <a:ext cx="0" cy="4594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5326080" y="5434104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160" name="직선 화살표 연결선 159"/>
          <p:cNvCxnSpPr>
            <a:stCxn id="138" idx="2"/>
          </p:cNvCxnSpPr>
          <p:nvPr/>
        </p:nvCxnSpPr>
        <p:spPr>
          <a:xfrm>
            <a:off x="2037231" y="5193752"/>
            <a:ext cx="0" cy="45402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962339" y="5434104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162" name="직선 화살표 연결선 161"/>
          <p:cNvCxnSpPr/>
          <p:nvPr/>
        </p:nvCxnSpPr>
        <p:spPr>
          <a:xfrm>
            <a:off x="3165143" y="5179703"/>
            <a:ext cx="0" cy="4680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3096830" y="5434104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164" name="직선 화살표 연결선 163"/>
          <p:cNvCxnSpPr/>
          <p:nvPr/>
        </p:nvCxnSpPr>
        <p:spPr>
          <a:xfrm>
            <a:off x="6960725" y="2253416"/>
            <a:ext cx="4556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6994858" y="2140787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66" name="직사각형 165"/>
          <p:cNvSpPr/>
          <p:nvPr/>
        </p:nvSpPr>
        <p:spPr>
          <a:xfrm>
            <a:off x="428637" y="2032170"/>
            <a:ext cx="784102" cy="987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IPC Queue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483979" y="2273591"/>
            <a:ext cx="675940" cy="2986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IPC Queue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483418" y="2652362"/>
            <a:ext cx="673798" cy="2986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IPC HAL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169" name="직선 화살표 연결선 168"/>
          <p:cNvCxnSpPr/>
          <p:nvPr/>
        </p:nvCxnSpPr>
        <p:spPr>
          <a:xfrm flipH="1">
            <a:off x="1219328" y="2253416"/>
            <a:ext cx="37835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1147412" y="2081486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71" name="TextBox 170"/>
          <p:cNvSpPr txBox="1"/>
          <p:nvPr/>
        </p:nvSpPr>
        <p:spPr>
          <a:xfrm>
            <a:off x="6994858" y="3698690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72" name="TextBox 171"/>
          <p:cNvSpPr txBox="1"/>
          <p:nvPr/>
        </p:nvSpPr>
        <p:spPr>
          <a:xfrm>
            <a:off x="6994858" y="4004039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73" name="TextBox 172"/>
          <p:cNvSpPr txBox="1"/>
          <p:nvPr/>
        </p:nvSpPr>
        <p:spPr>
          <a:xfrm>
            <a:off x="6994858" y="4344390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74" name="TextBox 173"/>
          <p:cNvSpPr txBox="1"/>
          <p:nvPr/>
        </p:nvSpPr>
        <p:spPr>
          <a:xfrm>
            <a:off x="6994858" y="4657529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75" name="TextBox 174"/>
          <p:cNvSpPr txBox="1"/>
          <p:nvPr/>
        </p:nvSpPr>
        <p:spPr>
          <a:xfrm>
            <a:off x="6994858" y="4981305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76" name="직사각형 175"/>
          <p:cNvSpPr/>
          <p:nvPr/>
        </p:nvSpPr>
        <p:spPr>
          <a:xfrm>
            <a:off x="3007373" y="2308556"/>
            <a:ext cx="1224310" cy="2670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Latency Controller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4315604" y="2308556"/>
            <a:ext cx="1224310" cy="2670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External Buffer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5623836" y="2308556"/>
            <a:ext cx="1224310" cy="2670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Exception Handler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1699143" y="2308556"/>
            <a:ext cx="1224310" cy="2670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Scheduling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428637" y="4364804"/>
            <a:ext cx="784102" cy="1013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Rebuild Handler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494934" y="5050320"/>
            <a:ext cx="652477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Map Flush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494934" y="4726962"/>
            <a:ext cx="652477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Scan Block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183" name="직선 화살표 연결선 182"/>
          <p:cNvCxnSpPr/>
          <p:nvPr/>
        </p:nvCxnSpPr>
        <p:spPr>
          <a:xfrm flipH="1">
            <a:off x="1218369" y="4747602"/>
            <a:ext cx="37931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145234" y="4585640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185" name="직선 화살표 연결선 184"/>
          <p:cNvCxnSpPr/>
          <p:nvPr/>
        </p:nvCxnSpPr>
        <p:spPr>
          <a:xfrm>
            <a:off x="1026299" y="5372513"/>
            <a:ext cx="0" cy="26978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951409" y="5434104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87" name="TextBox 186"/>
          <p:cNvSpPr txBox="1"/>
          <p:nvPr/>
        </p:nvSpPr>
        <p:spPr>
          <a:xfrm>
            <a:off x="6994858" y="5200604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188" name="직선 화살표 연결선 187"/>
          <p:cNvCxnSpPr/>
          <p:nvPr/>
        </p:nvCxnSpPr>
        <p:spPr>
          <a:xfrm>
            <a:off x="1212740" y="2747375"/>
            <a:ext cx="620925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6994858" y="2635527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190" name="직사각형 189"/>
          <p:cNvSpPr/>
          <p:nvPr/>
        </p:nvSpPr>
        <p:spPr>
          <a:xfrm>
            <a:off x="5250404" y="3227952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1" name="직사각형 190"/>
          <p:cNvSpPr/>
          <p:nvPr/>
        </p:nvSpPr>
        <p:spPr>
          <a:xfrm>
            <a:off x="5368702" y="3227952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2" name="직사각형 191"/>
          <p:cNvSpPr/>
          <p:nvPr/>
        </p:nvSpPr>
        <p:spPr>
          <a:xfrm>
            <a:off x="5480187" y="3227952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3" name="직사각형 192"/>
          <p:cNvSpPr/>
          <p:nvPr/>
        </p:nvSpPr>
        <p:spPr>
          <a:xfrm>
            <a:off x="6441537" y="3227952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4" name="직사각형 193"/>
          <p:cNvSpPr/>
          <p:nvPr/>
        </p:nvSpPr>
        <p:spPr>
          <a:xfrm>
            <a:off x="2325132" y="3211778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5" name="직사각형 194"/>
          <p:cNvSpPr/>
          <p:nvPr/>
        </p:nvSpPr>
        <p:spPr>
          <a:xfrm>
            <a:off x="3443147" y="3211778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6" name="직사각형 195"/>
          <p:cNvSpPr/>
          <p:nvPr/>
        </p:nvSpPr>
        <p:spPr>
          <a:xfrm>
            <a:off x="4548785" y="3219864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7" name="직사각형 196"/>
          <p:cNvSpPr/>
          <p:nvPr/>
        </p:nvSpPr>
        <p:spPr>
          <a:xfrm>
            <a:off x="6328197" y="3214903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198" name="꺾인 연결선 197"/>
          <p:cNvCxnSpPr>
            <a:stCxn id="194" idx="0"/>
            <a:endCxn id="192" idx="0"/>
          </p:cNvCxnSpPr>
          <p:nvPr/>
        </p:nvCxnSpPr>
        <p:spPr>
          <a:xfrm rot="16200000" flipH="1">
            <a:off x="3932311" y="1642337"/>
            <a:ext cx="16172" cy="3155055"/>
          </a:xfrm>
          <a:prstGeom prst="bentConnector3">
            <a:avLst>
              <a:gd name="adj1" fmla="val -2000000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꺾인 연결선 198"/>
          <p:cNvCxnSpPr>
            <a:stCxn id="195" idx="0"/>
            <a:endCxn id="191" idx="0"/>
          </p:cNvCxnSpPr>
          <p:nvPr/>
        </p:nvCxnSpPr>
        <p:spPr>
          <a:xfrm rot="16200000" flipH="1">
            <a:off x="4435574" y="2257088"/>
            <a:ext cx="16172" cy="1925555"/>
          </a:xfrm>
          <a:prstGeom prst="bentConnector3">
            <a:avLst>
              <a:gd name="adj1" fmla="val -1566677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6" idx="0"/>
            <a:endCxn id="190" idx="0"/>
          </p:cNvCxnSpPr>
          <p:nvPr/>
        </p:nvCxnSpPr>
        <p:spPr>
          <a:xfrm rot="16200000" flipH="1">
            <a:off x="4933288" y="2873098"/>
            <a:ext cx="8086" cy="701619"/>
          </a:xfrm>
          <a:prstGeom prst="bentConnector3">
            <a:avLst>
              <a:gd name="adj1" fmla="val -2166667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200"/>
          <p:cNvCxnSpPr>
            <a:endCxn id="138" idx="0"/>
          </p:cNvCxnSpPr>
          <p:nvPr/>
        </p:nvCxnSpPr>
        <p:spPr>
          <a:xfrm>
            <a:off x="2037231" y="2565587"/>
            <a:ext cx="0" cy="6502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201"/>
          <p:cNvCxnSpPr/>
          <p:nvPr/>
        </p:nvCxnSpPr>
        <p:spPr>
          <a:xfrm>
            <a:off x="3164154" y="2669630"/>
            <a:ext cx="0" cy="54142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/>
          <p:cNvCxnSpPr/>
          <p:nvPr/>
        </p:nvCxnSpPr>
        <p:spPr>
          <a:xfrm>
            <a:off x="4273560" y="2669630"/>
            <a:ext cx="0" cy="53131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화살표 연결선 203"/>
          <p:cNvCxnSpPr/>
          <p:nvPr/>
        </p:nvCxnSpPr>
        <p:spPr>
          <a:xfrm>
            <a:off x="5646871" y="2669630"/>
            <a:ext cx="0" cy="5515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/>
          <p:cNvCxnSpPr/>
          <p:nvPr/>
        </p:nvCxnSpPr>
        <p:spPr>
          <a:xfrm>
            <a:off x="6507407" y="2669630"/>
            <a:ext cx="0" cy="54546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1943732" y="2760503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07" name="TextBox 206"/>
          <p:cNvSpPr txBox="1"/>
          <p:nvPr/>
        </p:nvSpPr>
        <p:spPr>
          <a:xfrm>
            <a:off x="3074586" y="2760503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08" name="TextBox 207"/>
          <p:cNvSpPr txBox="1"/>
          <p:nvPr/>
        </p:nvSpPr>
        <p:spPr>
          <a:xfrm>
            <a:off x="4185943" y="2760503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09" name="TextBox 208"/>
          <p:cNvSpPr txBox="1"/>
          <p:nvPr/>
        </p:nvSpPr>
        <p:spPr>
          <a:xfrm>
            <a:off x="5559401" y="2760503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10" name="TextBox 209"/>
          <p:cNvSpPr txBox="1"/>
          <p:nvPr/>
        </p:nvSpPr>
        <p:spPr>
          <a:xfrm>
            <a:off x="6425234" y="2760503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11" name="TextBox 210"/>
          <p:cNvSpPr txBox="1"/>
          <p:nvPr/>
        </p:nvSpPr>
        <p:spPr>
          <a:xfrm>
            <a:off x="5734726" y="2889081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12" name="TextBox 211"/>
          <p:cNvSpPr txBox="1"/>
          <p:nvPr/>
        </p:nvSpPr>
        <p:spPr>
          <a:xfrm>
            <a:off x="4958089" y="2835302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13" name="TextBox 212"/>
          <p:cNvSpPr txBox="1"/>
          <p:nvPr/>
        </p:nvSpPr>
        <p:spPr>
          <a:xfrm>
            <a:off x="4734057" y="2911163"/>
            <a:ext cx="482479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14" name="TextBox 213"/>
          <p:cNvSpPr txBox="1"/>
          <p:nvPr/>
        </p:nvSpPr>
        <p:spPr>
          <a:xfrm>
            <a:off x="4449640" y="2980547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cxnSp>
        <p:nvCxnSpPr>
          <p:cNvPr id="215" name="직선 화살표 연결선 214"/>
          <p:cNvCxnSpPr/>
          <p:nvPr/>
        </p:nvCxnSpPr>
        <p:spPr>
          <a:xfrm>
            <a:off x="6976900" y="5962575"/>
            <a:ext cx="445101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6994858" y="5855056"/>
            <a:ext cx="363019" cy="56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17" name="직사각형 216"/>
          <p:cNvSpPr/>
          <p:nvPr/>
        </p:nvSpPr>
        <p:spPr>
          <a:xfrm>
            <a:off x="7479166" y="4698892"/>
            <a:ext cx="658624" cy="3494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Debug Log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1673856" y="4858996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Retrieval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3897107" y="4856345"/>
            <a:ext cx="726750" cy="2584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</a:rPr>
              <a:t>4K Read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220" name="직선 화살표 연결선 219"/>
          <p:cNvCxnSpPr/>
          <p:nvPr/>
        </p:nvCxnSpPr>
        <p:spPr>
          <a:xfrm>
            <a:off x="6496989" y="5193752"/>
            <a:ext cx="0" cy="4594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6428676" y="5434104"/>
            <a:ext cx="519670" cy="1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 smtClean="0"/>
              <a:t>&lt;&lt;use&gt;&gt;</a:t>
            </a:r>
            <a:endParaRPr lang="ko-KR" altLang="en-US" sz="400" dirty="0"/>
          </a:p>
        </p:txBody>
      </p:sp>
      <p:sp>
        <p:nvSpPr>
          <p:cNvPr id="222" name="직사각형 221"/>
          <p:cNvSpPr/>
          <p:nvPr/>
        </p:nvSpPr>
        <p:spPr>
          <a:xfrm>
            <a:off x="428637" y="1917200"/>
            <a:ext cx="412244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1597528" y="1917200"/>
            <a:ext cx="412244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7421998" y="1917200"/>
            <a:ext cx="412244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1601671" y="3099243"/>
            <a:ext cx="235938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2714094" y="3099243"/>
            <a:ext cx="235938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3811490" y="3099243"/>
            <a:ext cx="235938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4944077" y="3099243"/>
            <a:ext cx="235938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5744476" y="3214903"/>
            <a:ext cx="75473" cy="118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230" name="꺾인 연결선 229"/>
          <p:cNvCxnSpPr>
            <a:stCxn id="197" idx="0"/>
            <a:endCxn id="229" idx="0"/>
          </p:cNvCxnSpPr>
          <p:nvPr/>
        </p:nvCxnSpPr>
        <p:spPr>
          <a:xfrm rot="16200000" flipV="1">
            <a:off x="6074074" y="2923044"/>
            <a:ext cx="10782" cy="58372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/>
          <p:cNvSpPr/>
          <p:nvPr/>
        </p:nvSpPr>
        <p:spPr>
          <a:xfrm>
            <a:off x="6032650" y="3099243"/>
            <a:ext cx="235938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428637" y="4246931"/>
            <a:ext cx="412244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428637" y="5533278"/>
            <a:ext cx="412244" cy="11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352507" y="1735823"/>
            <a:ext cx="7934401" cy="4536122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41" name="직사각형 240"/>
          <p:cNvSpPr/>
          <p:nvPr/>
        </p:nvSpPr>
        <p:spPr>
          <a:xfrm>
            <a:off x="452132" y="2257442"/>
            <a:ext cx="3823884" cy="361992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43" name="직사각형 242"/>
          <p:cNvSpPr/>
          <p:nvPr/>
        </p:nvSpPr>
        <p:spPr>
          <a:xfrm>
            <a:off x="1520921" y="1844984"/>
            <a:ext cx="5517409" cy="342275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46" name="직사각형 245"/>
          <p:cNvSpPr/>
          <p:nvPr/>
        </p:nvSpPr>
        <p:spPr>
          <a:xfrm>
            <a:off x="6057508" y="3236878"/>
            <a:ext cx="887396" cy="1926000"/>
          </a:xfrm>
          <a:prstGeom prst="rect">
            <a:avLst/>
          </a:prstGeom>
          <a:noFill/>
          <a:ln w="5715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49" name="직사각형 248"/>
          <p:cNvSpPr/>
          <p:nvPr/>
        </p:nvSpPr>
        <p:spPr>
          <a:xfrm>
            <a:off x="1634020" y="3540242"/>
            <a:ext cx="803239" cy="324580"/>
          </a:xfrm>
          <a:prstGeom prst="rect">
            <a:avLst/>
          </a:prstGeom>
          <a:noFill/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73" name="직사각형 272"/>
          <p:cNvSpPr/>
          <p:nvPr/>
        </p:nvSpPr>
        <p:spPr>
          <a:xfrm>
            <a:off x="8760343" y="2550115"/>
            <a:ext cx="2529219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DP-2. </a:t>
            </a:r>
            <a:r>
              <a:rPr lang="ko-KR" altLang="en-US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병렬 처리 </a:t>
            </a:r>
            <a:r>
              <a:rPr lang="en-US" altLang="ko-KR" sz="1250" b="1" dirty="0" smtClean="0">
                <a:cs typeface="Times New Roman" panose="02020603050405020304" pitchFamily="18" charset="0"/>
              </a:rPr>
              <a:t>Workflow </a:t>
            </a:r>
            <a:r>
              <a:rPr lang="ko-KR" altLang="en-US" sz="1250" b="1" dirty="0" smtClean="0">
                <a:cs typeface="Times New Roman" panose="02020603050405020304" pitchFamily="18" charset="0"/>
              </a:rPr>
              <a:t>설계</a:t>
            </a:r>
            <a:endParaRPr lang="ko-KR" altLang="en-US" sz="1250" b="1" dirty="0"/>
          </a:p>
        </p:txBody>
      </p:sp>
      <p:sp>
        <p:nvSpPr>
          <p:cNvPr id="274" name="직사각형 273"/>
          <p:cNvSpPr/>
          <p:nvPr/>
        </p:nvSpPr>
        <p:spPr>
          <a:xfrm>
            <a:off x="8760343" y="4909059"/>
            <a:ext cx="2948243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DP-5. </a:t>
            </a:r>
            <a:r>
              <a:rPr lang="en-US" altLang="ko-KR" sz="1250" b="1" dirty="0" smtClean="0">
                <a:cs typeface="Times New Roman" panose="02020603050405020304" pitchFamily="18" charset="0"/>
              </a:rPr>
              <a:t>Command</a:t>
            </a:r>
            <a:r>
              <a:rPr lang="ko-KR" altLang="en-US" sz="1250" b="1" dirty="0" smtClean="0">
                <a:cs typeface="Times New Roman" panose="02020603050405020304" pitchFamily="18" charset="0"/>
              </a:rPr>
              <a:t> 수행 시간 감소 방안</a:t>
            </a:r>
            <a:endParaRPr lang="ko-KR" altLang="en-US" sz="1250" b="1" dirty="0"/>
          </a:p>
        </p:txBody>
      </p:sp>
      <p:sp>
        <p:nvSpPr>
          <p:cNvPr id="275" name="직사각형 274"/>
          <p:cNvSpPr/>
          <p:nvPr/>
        </p:nvSpPr>
        <p:spPr>
          <a:xfrm>
            <a:off x="8769890" y="5627632"/>
            <a:ext cx="3156491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ko-KR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DP-6. </a:t>
            </a:r>
            <a:r>
              <a:rPr lang="ko-KR" altLang="en-US" sz="1250" b="1" dirty="0" smtClean="0">
                <a:cs typeface="Times New Roman" panose="02020603050405020304" pitchFamily="18" charset="0"/>
              </a:rPr>
              <a:t>다양한 고객사 </a:t>
            </a:r>
            <a:r>
              <a:rPr lang="en-US" altLang="ko-KR" sz="1250" b="1" dirty="0" smtClean="0">
                <a:cs typeface="Times New Roman" panose="02020603050405020304" pitchFamily="18" charset="0"/>
              </a:rPr>
              <a:t>&amp; NAND </a:t>
            </a:r>
            <a:r>
              <a:rPr lang="ko-KR" altLang="en-US" sz="1250" b="1" dirty="0" smtClean="0">
                <a:cs typeface="Times New Roman" panose="02020603050405020304" pitchFamily="18" charset="0"/>
              </a:rPr>
              <a:t>지원 방안</a:t>
            </a:r>
            <a:endParaRPr lang="ko-KR" altLang="en-US" sz="1250" b="1" dirty="0"/>
          </a:p>
        </p:txBody>
      </p:sp>
      <p:sp>
        <p:nvSpPr>
          <p:cNvPr id="276" name="직사각형 275"/>
          <p:cNvSpPr/>
          <p:nvPr/>
        </p:nvSpPr>
        <p:spPr>
          <a:xfrm>
            <a:off x="8760343" y="4100164"/>
            <a:ext cx="2262479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DP-4. </a:t>
            </a:r>
            <a:r>
              <a:rPr lang="en-US" altLang="ko-KR" sz="1250" b="1" dirty="0" smtClean="0">
                <a:cs typeface="Times New Roman" panose="02020603050405020304" pitchFamily="18" charset="0"/>
              </a:rPr>
              <a:t>QLC NAND </a:t>
            </a:r>
            <a:r>
              <a:rPr lang="ko-KR" altLang="en-US" sz="1250" b="1" dirty="0" smtClean="0">
                <a:cs typeface="Times New Roman" panose="02020603050405020304" pitchFamily="18" charset="0"/>
              </a:rPr>
              <a:t>적용 방안</a:t>
            </a:r>
            <a:endParaRPr lang="ko-KR" altLang="en-US" sz="1250" b="1" dirty="0"/>
          </a:p>
        </p:txBody>
      </p:sp>
      <p:sp>
        <p:nvSpPr>
          <p:cNvPr id="277" name="직사각형 276"/>
          <p:cNvSpPr/>
          <p:nvPr/>
        </p:nvSpPr>
        <p:spPr>
          <a:xfrm>
            <a:off x="8760343" y="1686703"/>
            <a:ext cx="2315890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DP-1</a:t>
            </a:r>
            <a:r>
              <a:rPr lang="en-GB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en-US" altLang="ko-KR" sz="1250" b="1" dirty="0" smtClean="0"/>
              <a:t>Multi-Processing </a:t>
            </a:r>
            <a:r>
              <a:rPr lang="ko-KR" altLang="ko-KR" sz="1250" b="1" dirty="0" smtClean="0"/>
              <a:t>방</a:t>
            </a:r>
            <a:r>
              <a:rPr lang="ko-KR" altLang="en-US" sz="1250" b="1" dirty="0" smtClean="0"/>
              <a:t>안</a:t>
            </a:r>
            <a:endParaRPr lang="ko-KR" altLang="en-US" sz="1250" b="1" dirty="0"/>
          </a:p>
        </p:txBody>
      </p:sp>
      <p:sp>
        <p:nvSpPr>
          <p:cNvPr id="278" name="직사각형 277"/>
          <p:cNvSpPr/>
          <p:nvPr/>
        </p:nvSpPr>
        <p:spPr>
          <a:xfrm>
            <a:off x="8623573" y="1742636"/>
            <a:ext cx="158966" cy="57142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직사각형 278"/>
          <p:cNvSpPr/>
          <p:nvPr/>
        </p:nvSpPr>
        <p:spPr>
          <a:xfrm>
            <a:off x="8969821" y="1941932"/>
            <a:ext cx="193354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QA1. Sequential Write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성능</a:t>
            </a:r>
            <a:endParaRPr lang="en-US" altLang="ko-KR" sz="1050" b="1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QA2. Random Read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성능</a:t>
            </a:r>
            <a:endParaRPr lang="ko-KR" altLang="en-US" sz="1050" b="1" dirty="0"/>
          </a:p>
        </p:txBody>
      </p:sp>
      <p:sp>
        <p:nvSpPr>
          <p:cNvPr id="280" name="직사각형 279"/>
          <p:cNvSpPr/>
          <p:nvPr/>
        </p:nvSpPr>
        <p:spPr>
          <a:xfrm>
            <a:off x="8623573" y="2598058"/>
            <a:ext cx="158966" cy="5714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직사각형 280"/>
          <p:cNvSpPr/>
          <p:nvPr/>
        </p:nvSpPr>
        <p:spPr>
          <a:xfrm>
            <a:off x="8969821" y="2805936"/>
            <a:ext cx="19014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QA2. Random Read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성능</a:t>
            </a:r>
            <a:endParaRPr lang="en-US" altLang="ko-KR" sz="1050" b="1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b="1" dirty="0" smtClean="0"/>
              <a:t>QA5. </a:t>
            </a:r>
            <a:r>
              <a:rPr lang="ko-KR" altLang="en-US" sz="1050" b="1" dirty="0" smtClean="0"/>
              <a:t>신규 기능 변경 용이성</a:t>
            </a:r>
            <a:endParaRPr lang="ko-KR" altLang="en-US" sz="1050" b="1" dirty="0"/>
          </a:p>
        </p:txBody>
      </p:sp>
      <p:sp>
        <p:nvSpPr>
          <p:cNvPr id="282" name="직사각형 281"/>
          <p:cNvSpPr/>
          <p:nvPr/>
        </p:nvSpPr>
        <p:spPr>
          <a:xfrm>
            <a:off x="8623573" y="4969855"/>
            <a:ext cx="158966" cy="41298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직사각형 282"/>
          <p:cNvSpPr/>
          <p:nvPr/>
        </p:nvSpPr>
        <p:spPr>
          <a:xfrm>
            <a:off x="8969821" y="5163159"/>
            <a:ext cx="17684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QA2. Random Read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성능</a:t>
            </a:r>
            <a:endParaRPr lang="ko-KR" altLang="en-US" sz="1050" b="1" dirty="0"/>
          </a:p>
        </p:txBody>
      </p:sp>
      <p:sp>
        <p:nvSpPr>
          <p:cNvPr id="284" name="직사각형 283"/>
          <p:cNvSpPr/>
          <p:nvPr/>
        </p:nvSpPr>
        <p:spPr>
          <a:xfrm>
            <a:off x="8969821" y="5898357"/>
            <a:ext cx="209865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QA4. NAND Flash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변경 용이성</a:t>
            </a:r>
            <a:endParaRPr lang="en-US" altLang="ko-KR" sz="1050" b="1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QA5.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신규 기능 변경 용이성</a:t>
            </a:r>
            <a:endParaRPr lang="ko-KR" altLang="en-US" sz="1050" b="1" dirty="0"/>
          </a:p>
        </p:txBody>
      </p:sp>
      <p:sp>
        <p:nvSpPr>
          <p:cNvPr id="285" name="직사각형 284"/>
          <p:cNvSpPr/>
          <p:nvPr/>
        </p:nvSpPr>
        <p:spPr>
          <a:xfrm>
            <a:off x="8623573" y="5688428"/>
            <a:ext cx="158966" cy="57142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직사각형 285"/>
          <p:cNvSpPr/>
          <p:nvPr/>
        </p:nvSpPr>
        <p:spPr>
          <a:xfrm>
            <a:off x="8623573" y="4160961"/>
            <a:ext cx="158966" cy="5714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직사각형 286"/>
          <p:cNvSpPr/>
          <p:nvPr/>
        </p:nvSpPr>
        <p:spPr>
          <a:xfrm>
            <a:off x="8969821" y="4362412"/>
            <a:ext cx="209865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QA1. Sequential Write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성능</a:t>
            </a:r>
            <a:endParaRPr lang="en-US" altLang="ko-KR" sz="1050" b="1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QA4. NAND Flash </a:t>
            </a:r>
            <a:r>
              <a:rPr lang="ko-KR" altLang="en-US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변경 용이성</a:t>
            </a:r>
            <a:endParaRPr lang="ko-KR" altLang="en-US" sz="1050" b="1" dirty="0"/>
          </a:p>
        </p:txBody>
      </p:sp>
      <p:sp>
        <p:nvSpPr>
          <p:cNvPr id="288" name="직사각형 287"/>
          <p:cNvSpPr/>
          <p:nvPr/>
        </p:nvSpPr>
        <p:spPr>
          <a:xfrm>
            <a:off x="8760343" y="3390581"/>
            <a:ext cx="2406749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DP-3. </a:t>
            </a:r>
            <a:r>
              <a:rPr lang="en-US" altLang="ko-KR" sz="1250" b="1" dirty="0" smtClean="0">
                <a:cs typeface="Times New Roman" panose="02020603050405020304" pitchFamily="18" charset="0"/>
              </a:rPr>
              <a:t>Idle Power Saving</a:t>
            </a:r>
            <a:r>
              <a:rPr lang="ko-KR" altLang="en-US" sz="1250" b="1" dirty="0" smtClean="0">
                <a:cs typeface="Times New Roman" panose="02020603050405020304" pitchFamily="18" charset="0"/>
              </a:rPr>
              <a:t> 방안</a:t>
            </a:r>
            <a:endParaRPr lang="ko-KR" altLang="en-US" sz="1250" b="1" dirty="0"/>
          </a:p>
        </p:txBody>
      </p:sp>
      <p:sp>
        <p:nvSpPr>
          <p:cNvPr id="289" name="직사각형 288"/>
          <p:cNvSpPr/>
          <p:nvPr/>
        </p:nvSpPr>
        <p:spPr>
          <a:xfrm>
            <a:off x="8623573" y="3451378"/>
            <a:ext cx="158966" cy="40396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직사각형 289"/>
          <p:cNvSpPr/>
          <p:nvPr/>
        </p:nvSpPr>
        <p:spPr>
          <a:xfrm>
            <a:off x="8969821" y="3652829"/>
            <a:ext cx="188384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QA3. Idle Power Efficiency</a:t>
            </a:r>
            <a:endParaRPr lang="ko-KR" altLang="en-US" sz="1050" b="1" dirty="0"/>
          </a:p>
        </p:txBody>
      </p:sp>
      <p:sp>
        <p:nvSpPr>
          <p:cNvPr id="295" name="직사각형 294"/>
          <p:cNvSpPr/>
          <p:nvPr/>
        </p:nvSpPr>
        <p:spPr>
          <a:xfrm>
            <a:off x="234949" y="1322393"/>
            <a:ext cx="11781791" cy="515025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직사각형 234"/>
          <p:cNvSpPr/>
          <p:nvPr/>
        </p:nvSpPr>
        <p:spPr>
          <a:xfrm>
            <a:off x="234949" y="621646"/>
            <a:ext cx="11781791" cy="60380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/>
                </a:solidFill>
              </a:rPr>
              <a:t>      </a:t>
            </a:r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ko-KR" altLang="en-US" sz="1600" dirty="0" smtClean="0">
                <a:solidFill>
                  <a:schemeClr val="tx1"/>
                </a:solidFill>
              </a:rPr>
              <a:t>시스템</a:t>
            </a:r>
            <a:r>
              <a:rPr lang="en-US" altLang="ko-KR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및 도메인 모델을 통해 아키텍처 분석을 수행하고 본 과제 요구사항을 만족하기 위한 주요 설계 </a:t>
            </a:r>
            <a:r>
              <a:rPr lang="en-US" altLang="ko-KR" sz="1600" dirty="0" smtClean="0">
                <a:solidFill>
                  <a:schemeClr val="tx1"/>
                </a:solidFill>
              </a:rPr>
              <a:t>Point </a:t>
            </a:r>
            <a:r>
              <a:rPr lang="ko-KR" altLang="en-US" sz="1600" dirty="0" smtClean="0">
                <a:solidFill>
                  <a:schemeClr val="tx1"/>
                </a:solidFill>
              </a:rPr>
              <a:t>선정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36" name="타원 235"/>
          <p:cNvSpPr/>
          <p:nvPr/>
        </p:nvSpPr>
        <p:spPr>
          <a:xfrm>
            <a:off x="463391" y="849858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23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cxnSp>
        <p:nvCxnSpPr>
          <p:cNvPr id="237" name="직선 연결선 236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연결선 237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23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 smtClean="0"/>
              <a:t>DP-1. Multi-Processing </a:t>
            </a:r>
            <a:r>
              <a:rPr lang="ko-KR" altLang="ko-KR" dirty="0" smtClean="0"/>
              <a:t>방</a:t>
            </a:r>
            <a:r>
              <a:rPr lang="ko-KR" altLang="en-US" dirty="0" smtClean="0"/>
              <a:t>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MPCore </a:t>
            </a:r>
            <a:r>
              <a:rPr lang="ko-KR" altLang="en-US" sz="1400" b="1" dirty="0">
                <a:solidFill>
                  <a:schemeClr val="bg1"/>
                </a:solidFill>
              </a:rPr>
              <a:t>활용을 위한 </a:t>
            </a:r>
            <a:r>
              <a:rPr lang="en-US" altLang="ko-KR" sz="1400" b="1" dirty="0">
                <a:solidFill>
                  <a:schemeClr val="bg1"/>
                </a:solidFill>
              </a:rPr>
              <a:t>SW</a:t>
            </a:r>
            <a:r>
              <a:rPr lang="ko-KR" altLang="en-US" sz="1400" b="1" dirty="0">
                <a:solidFill>
                  <a:schemeClr val="bg1"/>
                </a:solidFill>
              </a:rPr>
              <a:t>의 </a:t>
            </a:r>
            <a:r>
              <a:rPr lang="en-US" altLang="ko-KR" sz="1400" b="1" dirty="0">
                <a:solidFill>
                  <a:schemeClr val="bg1"/>
                </a:solidFill>
              </a:rPr>
              <a:t>Multi-Processing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방안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49" y="1051279"/>
          <a:ext cx="11747501" cy="5449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5104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</a:t>
                      </a:r>
                      <a:r>
                        <a:rPr lang="ko-KR" altLang="en-US" sz="1200" b="1" dirty="0" smtClean="0"/>
                        <a:t>동일한 기능을 수행하는 독립된 프로세스에 요청을 </a:t>
                      </a:r>
                      <a:r>
                        <a:rPr lang="en-US" altLang="ko-KR" sz="1200" b="1" dirty="0" smtClean="0"/>
                        <a:t>Dispatch</a:t>
                      </a:r>
                      <a:r>
                        <a:rPr lang="ko-KR" altLang="en-US" sz="1200" b="1" dirty="0" smtClean="0"/>
                        <a:t>하여 처리하는 </a:t>
                      </a:r>
                      <a:r>
                        <a:rPr lang="en-US" altLang="ko-KR" sz="1200" b="1" dirty="0" smtClean="0"/>
                        <a:t>SMP(Symmetric Multi-Processing) </a:t>
                      </a:r>
                      <a:r>
                        <a:rPr lang="ko-KR" altLang="en-US" sz="1200" b="1" dirty="0" smtClean="0"/>
                        <a:t>기법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받은 요청을 기능 별로 프로세스로 나누고 이를 병렬 처리하는 </a:t>
                      </a:r>
                      <a:r>
                        <a:rPr lang="en-US" altLang="ko-KR" sz="1200" b="1" dirty="0" smtClean="0"/>
                        <a:t>AMP(Asymmetric Multi Processing) </a:t>
                      </a:r>
                      <a:r>
                        <a:rPr lang="ko-KR" altLang="en-US" sz="1200" b="1" dirty="0" smtClean="0"/>
                        <a:t>기법 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384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단순 시나리오</a:t>
                      </a:r>
                      <a:r>
                        <a:rPr 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Workload</a:t>
                      </a:r>
                      <a:r>
                        <a:rPr 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균등 분산되어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병렬</a:t>
                      </a:r>
                      <a:r>
                        <a:rPr lang="ko-KR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 </a:t>
                      </a:r>
                      <a:r>
                        <a:rPr lang="ko-KR" sz="1200" kern="1200" baseline="0" dirty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 높음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</a:t>
                      </a:r>
                      <a:r>
                        <a:rPr 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 커뮤니케이션에 의한 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Overhead </a:t>
                      </a:r>
                      <a:r>
                        <a:rPr 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없음</a:t>
                      </a:r>
                      <a:endParaRPr lang="ko-KR" sz="120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>
                          <a:effectLst/>
                        </a:rPr>
                        <a:t>Host Pattern</a:t>
                      </a:r>
                      <a:r>
                        <a:rPr lang="ko-KR" altLang="en-US" sz="1200" dirty="0" smtClean="0">
                          <a:effectLst/>
                        </a:rPr>
                        <a:t>에 따른 </a:t>
                      </a: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다양한 성능 요구조건을 만족</a:t>
                      </a:r>
                      <a:r>
                        <a:rPr lang="ko-KR" altLang="en-US" sz="1200" dirty="0" smtClean="0">
                          <a:effectLst/>
                        </a:rPr>
                        <a:t>시키기에 용이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>
                          <a:effectLst/>
                        </a:rPr>
                        <a:t>NAND Chip</a:t>
                      </a:r>
                      <a:r>
                        <a:rPr lang="ko-KR" altLang="en-US" sz="1200" dirty="0" smtClean="0">
                          <a:effectLst/>
                        </a:rPr>
                        <a:t>간 사용량을 균등하게 관리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aseline="0" dirty="0" smtClean="0">
                          <a:effectLst/>
                        </a:rPr>
                        <a:t>Busy </a:t>
                      </a:r>
                      <a:r>
                        <a:rPr lang="ko-KR" altLang="en-US" sz="1200" baseline="0" dirty="0" smtClean="0">
                          <a:effectLst/>
                        </a:rPr>
                        <a:t>상황에 따라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Slack Time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발생</a:t>
                      </a:r>
                      <a:r>
                        <a:rPr lang="en-US" altLang="ko-KR" sz="1200" baseline="0" dirty="0" smtClean="0">
                          <a:effectLst/>
                        </a:rPr>
                        <a:t>(Queue Depth, Write Buffer </a:t>
                      </a:r>
                      <a:r>
                        <a:rPr lang="ko-KR" altLang="en-US" sz="1200" baseline="0" dirty="0" smtClean="0">
                          <a:effectLst/>
                        </a:rPr>
                        <a:t>제약</a:t>
                      </a:r>
                      <a:r>
                        <a:rPr lang="en-US" altLang="ko-KR" sz="1200" baseline="0" dirty="0" smtClean="0">
                          <a:effectLst/>
                        </a:rPr>
                        <a:t>)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aseline="0" dirty="0" smtClean="0">
                          <a:effectLst/>
                        </a:rPr>
                        <a:t>Host Pattern</a:t>
                      </a:r>
                      <a:r>
                        <a:rPr lang="ko-KR" altLang="en-US" sz="1200" baseline="0" dirty="0" smtClean="0">
                          <a:effectLst/>
                        </a:rPr>
                        <a:t>에 따른 </a:t>
                      </a:r>
                      <a:r>
                        <a:rPr lang="en-US" altLang="ko-KR" sz="1200" baseline="0" dirty="0" smtClean="0">
                          <a:effectLst/>
                        </a:rPr>
                        <a:t>NAND Chip</a:t>
                      </a:r>
                      <a:r>
                        <a:rPr lang="ko-KR" altLang="en-US" sz="1200" baseline="0" dirty="0" smtClean="0">
                          <a:effectLst/>
                        </a:rPr>
                        <a:t>간 사용량 불균형 발생 </a:t>
                      </a:r>
                      <a:r>
                        <a:rPr lang="en-US" altLang="ko-KR" sz="1200" baseline="0" dirty="0" smtClean="0">
                          <a:effectLst/>
                        </a:rPr>
                        <a:t>(Life Time </a:t>
                      </a:r>
                      <a:r>
                        <a:rPr lang="ko-KR" altLang="en-US" sz="1200" baseline="0" dirty="0" smtClean="0">
                          <a:effectLst/>
                        </a:rPr>
                        <a:t>↓</a:t>
                      </a:r>
                      <a:r>
                        <a:rPr lang="en-US" altLang="ko-KR" sz="1200" baseline="0" dirty="0" smtClean="0">
                          <a:effectLst/>
                        </a:rPr>
                        <a:t>)</a:t>
                      </a:r>
                      <a:endParaRPr lang="ko-KR" altLang="en-US" sz="1200" baseline="0" dirty="0" smtClean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aseline="0" dirty="0" smtClean="0">
                          <a:effectLst/>
                        </a:rPr>
                        <a:t>Core</a:t>
                      </a:r>
                      <a:r>
                        <a:rPr lang="ko-KR" altLang="en-US" sz="1200" baseline="0" dirty="0" smtClean="0">
                          <a:effectLst/>
                        </a:rPr>
                        <a:t>간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Communication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에 의한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Overhead</a:t>
                      </a:r>
                      <a:r>
                        <a:rPr lang="en-US" altLang="ko-KR" sz="1200" baseline="0" dirty="0" smtClean="0">
                          <a:effectLst/>
                        </a:rPr>
                        <a:t> </a:t>
                      </a:r>
                      <a:r>
                        <a:rPr lang="ko-KR" altLang="en-US" sz="1200" baseline="0" dirty="0" smtClean="0">
                          <a:effectLst/>
                        </a:rPr>
                        <a:t>존재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aseline="0" dirty="0" smtClean="0">
                          <a:effectLst/>
                        </a:rPr>
                        <a:t>시스템 복잡도가 상대적으로 높음 </a:t>
                      </a:r>
                      <a:r>
                        <a:rPr lang="en-US" altLang="ko-KR" sz="1200" baseline="0" dirty="0" smtClean="0">
                          <a:effectLst/>
                        </a:rPr>
                        <a:t>(</a:t>
                      </a:r>
                      <a:r>
                        <a:rPr lang="ko-KR" altLang="en-US" sz="1200" baseline="0" dirty="0" smtClean="0">
                          <a:effectLst/>
                        </a:rPr>
                        <a:t>기존 시스템 활용</a:t>
                      </a:r>
                      <a:r>
                        <a:rPr lang="en-US" altLang="ko-KR" sz="1200" baseline="0" dirty="0" smtClean="0">
                          <a:effectLst/>
                        </a:rPr>
                        <a:t> </a:t>
                      </a:r>
                      <a:r>
                        <a:rPr lang="ko-KR" altLang="en-US" sz="1200" baseline="0" dirty="0" smtClean="0">
                          <a:effectLst/>
                        </a:rPr>
                        <a:t>↓</a:t>
                      </a:r>
                      <a:r>
                        <a:rPr lang="en-US" altLang="ko-KR" sz="1200" baseline="0" dirty="0" smtClean="0">
                          <a:effectLst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</a:t>
                      </a:r>
                      <a:r>
                        <a:rPr lang="en-US" altLang="ko-KR" sz="1200" b="1" baseline="0" dirty="0" smtClean="0"/>
                        <a:t> &gt;</a:t>
                      </a:r>
                      <a:r>
                        <a:rPr lang="en-US" altLang="ko-KR" sz="1200" b="1" dirty="0" smtClean="0"/>
                        <a:t> Seq. Write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1" dirty="0" smtClean="0"/>
                        <a:t>Performance</a:t>
                      </a:r>
                      <a:r>
                        <a:rPr lang="en-US" altLang="ko-KR" sz="1200" b="1" baseline="0" dirty="0" smtClean="0"/>
                        <a:t> &gt;</a:t>
                      </a:r>
                      <a:r>
                        <a:rPr lang="en-US" altLang="ko-KR" sz="1200" b="1" dirty="0" smtClean="0"/>
                        <a:t> Random Read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dirty="0" smtClean="0"/>
                        <a:t>Performance</a:t>
                      </a:r>
                      <a:r>
                        <a:rPr lang="en-US" altLang="ko-KR" sz="1200" b="0" baseline="0" dirty="0" smtClean="0"/>
                        <a:t> &gt;</a:t>
                      </a:r>
                      <a:r>
                        <a:rPr lang="en-US" altLang="ko-KR" sz="1200" b="0" dirty="0" smtClean="0"/>
                        <a:t> Sustained</a:t>
                      </a:r>
                      <a:r>
                        <a:rPr lang="en-US" altLang="ko-KR" sz="1200" b="0" baseline="0" dirty="0" smtClean="0"/>
                        <a:t> Write</a:t>
                      </a:r>
                      <a:endParaRPr lang="ko-KR" altLang="en-US" sz="1200" b="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</a:t>
                      </a:r>
                      <a:r>
                        <a:rPr lang="en-US" altLang="ko-KR" sz="1200" b="1" baseline="0" dirty="0" smtClean="0"/>
                        <a:t> &gt;</a:t>
                      </a:r>
                      <a:r>
                        <a:rPr lang="en-US" altLang="ko-KR" sz="1200" b="1" dirty="0" smtClean="0"/>
                        <a:t> Seq. Write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1" dirty="0" smtClean="0"/>
                        <a:t>Performance</a:t>
                      </a:r>
                      <a:r>
                        <a:rPr lang="en-US" altLang="ko-KR" sz="1200" b="1" baseline="0" dirty="0" smtClean="0"/>
                        <a:t> &gt;</a:t>
                      </a:r>
                      <a:r>
                        <a:rPr lang="en-US" altLang="ko-KR" sz="1200" b="1" dirty="0" smtClean="0"/>
                        <a:t> Random Read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dirty="0" smtClean="0"/>
                        <a:t>Performance</a:t>
                      </a:r>
                      <a:r>
                        <a:rPr lang="en-US" altLang="ko-KR" sz="1200" b="0" baseline="0" dirty="0" smtClean="0"/>
                        <a:t> &gt;</a:t>
                      </a:r>
                      <a:r>
                        <a:rPr lang="en-US" altLang="ko-KR" sz="1200" b="0" dirty="0" smtClean="0"/>
                        <a:t> Sustained</a:t>
                      </a:r>
                      <a:r>
                        <a:rPr lang="en-US" altLang="ko-KR" sz="1200" b="0" baseline="0" dirty="0" smtClean="0"/>
                        <a:t> Write</a:t>
                      </a:r>
                      <a:endParaRPr lang="ko-KR" altLang="en-US" sz="1200" b="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Q1 Seq. Write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성능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Q2 Rnd. Read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성능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 UFS Spec</a:t>
            </a:r>
            <a:r>
              <a:rPr lang="ko-KR" altLang="en-US" sz="900" b="1" dirty="0">
                <a:latin typeface="맑은 고딕" panose="020B0503020000020004" pitchFamily="50" charset="-127"/>
              </a:rPr>
              <a:t>제약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251190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F3 HPB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439669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F4 HID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628148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258083" y="5864260"/>
            <a:ext cx="11877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dirty="0">
                <a:solidFill>
                  <a:prstClr val="black"/>
                </a:solidFill>
              </a:rPr>
              <a:t>○</a:t>
            </a:r>
            <a:r>
              <a:rPr lang="en-US" altLang="ko-KR" sz="1200" dirty="0" smtClean="0">
                <a:solidFill>
                  <a:prstClr val="black"/>
                </a:solidFill>
              </a:rPr>
              <a:t>●●</a:t>
            </a:r>
            <a:r>
              <a:rPr lang="en-US" altLang="ko-KR" sz="1200" dirty="0">
                <a:solidFill>
                  <a:prstClr val="black"/>
                </a:solidFill>
              </a:rPr>
              <a:t>|○○○</a:t>
            </a:r>
          </a:p>
          <a:p>
            <a:pPr lvl="0"/>
            <a:r>
              <a:rPr lang="en-US" altLang="ko-KR" sz="1200" dirty="0">
                <a:solidFill>
                  <a:prstClr val="black"/>
                </a:solidFill>
              </a:rPr>
              <a:t>○○○</a:t>
            </a:r>
            <a:r>
              <a:rPr lang="en-US" altLang="ko-KR" sz="1200" dirty="0" smtClean="0">
                <a:solidFill>
                  <a:prstClr val="black"/>
                </a:solidFill>
              </a:rPr>
              <a:t>|●●●</a:t>
            </a:r>
          </a:p>
          <a:p>
            <a:r>
              <a:rPr lang="en-US" altLang="ko-KR" sz="1200" dirty="0" smtClean="0">
                <a:solidFill>
                  <a:prstClr val="black"/>
                </a:solidFill>
              </a:rPr>
              <a:t>○○</a:t>
            </a:r>
            <a:r>
              <a:rPr lang="en-US" altLang="ko-KR" sz="1200" dirty="0">
                <a:solidFill>
                  <a:prstClr val="black"/>
                </a:solidFill>
              </a:rPr>
              <a:t>●</a:t>
            </a:r>
            <a:r>
              <a:rPr lang="en-US" altLang="ko-KR" sz="1200" dirty="0" smtClean="0">
                <a:solidFill>
                  <a:prstClr val="black"/>
                </a:solidFill>
              </a:rPr>
              <a:t>|○○○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0667327" y="5866711"/>
            <a:ext cx="11877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dirty="0" smtClean="0">
                <a:solidFill>
                  <a:prstClr val="black"/>
                </a:solidFill>
              </a:rPr>
              <a:t>○○</a:t>
            </a:r>
            <a:r>
              <a:rPr lang="en-US" altLang="ko-KR" sz="1200" dirty="0">
                <a:solidFill>
                  <a:prstClr val="black"/>
                </a:solidFill>
              </a:rPr>
              <a:t>○</a:t>
            </a:r>
            <a:r>
              <a:rPr lang="en-US" altLang="ko-KR" sz="1200" dirty="0" smtClean="0">
                <a:solidFill>
                  <a:prstClr val="black"/>
                </a:solidFill>
              </a:rPr>
              <a:t>|●●</a:t>
            </a:r>
            <a:r>
              <a:rPr lang="en-US" altLang="ko-KR" sz="1200" dirty="0">
                <a:solidFill>
                  <a:prstClr val="black"/>
                </a:solidFill>
              </a:rPr>
              <a:t>○</a:t>
            </a:r>
          </a:p>
          <a:p>
            <a:pPr lvl="0"/>
            <a:r>
              <a:rPr lang="en-US" altLang="ko-KR" sz="1200" dirty="0" smtClean="0">
                <a:solidFill>
                  <a:prstClr val="black"/>
                </a:solidFill>
              </a:rPr>
              <a:t>○○</a:t>
            </a:r>
            <a:r>
              <a:rPr lang="en-US" altLang="ko-KR" sz="1200" dirty="0">
                <a:solidFill>
                  <a:prstClr val="black"/>
                </a:solidFill>
              </a:rPr>
              <a:t>○</a:t>
            </a:r>
            <a:r>
              <a:rPr lang="en-US" altLang="ko-KR" sz="1200" dirty="0" smtClean="0">
                <a:solidFill>
                  <a:prstClr val="black"/>
                </a:solidFill>
              </a:rPr>
              <a:t>|●●○</a:t>
            </a:r>
          </a:p>
          <a:p>
            <a:pPr lvl="0"/>
            <a:r>
              <a:rPr lang="en-US" altLang="ko-KR" sz="1200" dirty="0">
                <a:solidFill>
                  <a:prstClr val="black"/>
                </a:solidFill>
              </a:rPr>
              <a:t>○○○|</a:t>
            </a:r>
            <a:r>
              <a:rPr lang="en-US" altLang="ko-KR" sz="1200" dirty="0" smtClean="0">
                <a:solidFill>
                  <a:prstClr val="black"/>
                </a:solidFill>
              </a:rPr>
              <a:t>●○○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12111" y="2888614"/>
            <a:ext cx="1119730" cy="421068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ko-KR" altLang="en-US" dirty="0" smtClean="0"/>
              <a:t>각 </a:t>
            </a:r>
            <a:r>
              <a:rPr lang="en-US" altLang="ko-KR" dirty="0" smtClean="0"/>
              <a:t>Core</a:t>
            </a:r>
            <a:r>
              <a:rPr lang="ko-KR" altLang="en-US" dirty="0"/>
              <a:t>에서 동일한 </a:t>
            </a:r>
            <a:r>
              <a:rPr lang="ko-KR" altLang="en-US" dirty="0" smtClean="0"/>
              <a:t>기능을 수행</a:t>
            </a:r>
            <a:endParaRPr lang="ko-KR" altLang="en-US" dirty="0"/>
          </a:p>
        </p:txBody>
      </p:sp>
      <p:cxnSp>
        <p:nvCxnSpPr>
          <p:cNvPr id="21" name="직선 연결선 20"/>
          <p:cNvCxnSpPr>
            <a:endCxn id="65" idx="0"/>
          </p:cNvCxnSpPr>
          <p:nvPr/>
        </p:nvCxnSpPr>
        <p:spPr>
          <a:xfrm>
            <a:off x="1857075" y="3309682"/>
            <a:ext cx="228772" cy="1996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68190" y="1869883"/>
            <a:ext cx="1185552" cy="421068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ko-KR" altLang="en-US" dirty="0" smtClean="0"/>
              <a:t>단순 </a:t>
            </a:r>
            <a:r>
              <a:rPr lang="en-US" altLang="ko-KR" dirty="0" smtClean="0"/>
              <a:t>Dispatch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Computing Time</a:t>
            </a:r>
            <a:r>
              <a:rPr lang="ko-KR" altLang="en-US" dirty="0" smtClean="0"/>
              <a:t> ↓</a:t>
            </a:r>
            <a:endParaRPr lang="ko-KR" altLang="en-US" dirty="0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C1 Many Core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정육면체 64"/>
          <p:cNvSpPr/>
          <p:nvPr/>
        </p:nvSpPr>
        <p:spPr>
          <a:xfrm>
            <a:off x="1507758" y="3509324"/>
            <a:ext cx="1101247" cy="1253263"/>
          </a:xfrm>
          <a:prstGeom prst="cube">
            <a:avLst>
              <a:gd name="adj" fmla="val 498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FCore0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6" name="정육면체 65"/>
          <p:cNvSpPr/>
          <p:nvPr/>
        </p:nvSpPr>
        <p:spPr>
          <a:xfrm>
            <a:off x="2680082" y="3509324"/>
            <a:ext cx="1101247" cy="1253263"/>
          </a:xfrm>
          <a:prstGeom prst="cube">
            <a:avLst>
              <a:gd name="adj" fmla="val 498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FCore1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8" name="정육면체 67"/>
          <p:cNvSpPr/>
          <p:nvPr/>
        </p:nvSpPr>
        <p:spPr>
          <a:xfrm>
            <a:off x="3852407" y="3509324"/>
            <a:ext cx="1101247" cy="1253263"/>
          </a:xfrm>
          <a:prstGeom prst="cube">
            <a:avLst>
              <a:gd name="adj" fmla="val 498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FCore2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9" name="정육면체 68"/>
          <p:cNvSpPr/>
          <p:nvPr/>
        </p:nvSpPr>
        <p:spPr>
          <a:xfrm>
            <a:off x="5024731" y="3509324"/>
            <a:ext cx="1101247" cy="1253263"/>
          </a:xfrm>
          <a:prstGeom prst="cube">
            <a:avLst>
              <a:gd name="adj" fmla="val 498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FCore3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2" name="정육면체 71"/>
          <p:cNvSpPr/>
          <p:nvPr/>
        </p:nvSpPr>
        <p:spPr>
          <a:xfrm>
            <a:off x="2714274" y="1740848"/>
            <a:ext cx="2239380" cy="810040"/>
          </a:xfrm>
          <a:prstGeom prst="cube">
            <a:avLst>
              <a:gd name="adj" fmla="val 373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 smtClean="0">
                <a:solidFill>
                  <a:schemeClr val="bg2">
                    <a:lumMod val="50000"/>
                  </a:schemeClr>
                </a:solidFill>
              </a:rPr>
              <a:t>&lt;&lt;MPCore&gt;&gt;</a:t>
            </a:r>
          </a:p>
          <a:p>
            <a:pPr algn="ctr"/>
            <a:r>
              <a:rPr lang="en-US" altLang="ko-KR" sz="1200" b="1" dirty="0" smtClean="0">
                <a:solidFill>
                  <a:schemeClr val="bg2">
                    <a:lumMod val="50000"/>
                  </a:schemeClr>
                </a:solidFill>
              </a:rPr>
              <a:t>HCORE</a:t>
            </a:r>
            <a:endParaRPr lang="ko-KR" alt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73" name="직선 화살표 연결선 72"/>
          <p:cNvCxnSpPr>
            <a:stCxn id="80" idx="2"/>
            <a:endCxn id="66" idx="0"/>
          </p:cNvCxnSpPr>
          <p:nvPr/>
        </p:nvCxnSpPr>
        <p:spPr>
          <a:xfrm flipH="1">
            <a:off x="3258171" y="2495638"/>
            <a:ext cx="562219" cy="101368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80" idx="2"/>
            <a:endCxn id="68" idx="0"/>
          </p:cNvCxnSpPr>
          <p:nvPr/>
        </p:nvCxnSpPr>
        <p:spPr>
          <a:xfrm>
            <a:off x="3820390" y="2495638"/>
            <a:ext cx="610106" cy="101368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1599938" y="4024294"/>
            <a:ext cx="862522" cy="6620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FTL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76" name="직선 화살표 연결선 75"/>
          <p:cNvCxnSpPr>
            <a:stCxn id="80" idx="2"/>
            <a:endCxn id="69" idx="0"/>
          </p:cNvCxnSpPr>
          <p:nvPr/>
        </p:nvCxnSpPr>
        <p:spPr>
          <a:xfrm>
            <a:off x="3820390" y="2495638"/>
            <a:ext cx="1782430" cy="101368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2772343" y="4024294"/>
            <a:ext cx="862522" cy="6620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FTL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948194" y="4024294"/>
            <a:ext cx="862522" cy="6620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FTL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115488" y="4024294"/>
            <a:ext cx="862522" cy="6620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FTL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834552" y="2235814"/>
            <a:ext cx="1971675" cy="2598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Dispatcher</a:t>
            </a:r>
            <a:endParaRPr lang="ko-KR" altLang="en-US" sz="1200" dirty="0"/>
          </a:p>
        </p:txBody>
      </p:sp>
      <p:cxnSp>
        <p:nvCxnSpPr>
          <p:cNvPr id="23" name="직선 연결선 22"/>
          <p:cNvCxnSpPr>
            <a:stCxn id="80" idx="3"/>
            <a:endCxn id="22" idx="1"/>
          </p:cNvCxnSpPr>
          <p:nvPr/>
        </p:nvCxnSpPr>
        <p:spPr>
          <a:xfrm flipV="1">
            <a:off x="4806227" y="2080417"/>
            <a:ext cx="261963" cy="285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stCxn id="83" idx="3"/>
            <a:endCxn id="84" idx="1"/>
          </p:cNvCxnSpPr>
          <p:nvPr/>
        </p:nvCxnSpPr>
        <p:spPr>
          <a:xfrm flipH="1">
            <a:off x="8625775" y="2231069"/>
            <a:ext cx="5308" cy="3441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정육면체 82"/>
          <p:cNvSpPr/>
          <p:nvPr/>
        </p:nvSpPr>
        <p:spPr>
          <a:xfrm>
            <a:off x="7773820" y="1736103"/>
            <a:ext cx="1733028" cy="494966"/>
          </a:xfrm>
          <a:prstGeom prst="cube">
            <a:avLst>
              <a:gd name="adj" fmla="val 373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 smtClean="0">
                <a:solidFill>
                  <a:schemeClr val="bg2">
                    <a:lumMod val="50000"/>
                  </a:schemeClr>
                </a:solidFill>
              </a:rPr>
              <a:t>&lt;&lt;MPCore&gt;&gt;</a:t>
            </a:r>
          </a:p>
          <a:p>
            <a:pPr algn="ctr"/>
            <a:r>
              <a:rPr lang="en-US" altLang="ko-KR" sz="1200" b="1" dirty="0" smtClean="0">
                <a:solidFill>
                  <a:schemeClr val="bg2">
                    <a:lumMod val="50000"/>
                  </a:schemeClr>
                </a:solidFill>
              </a:rPr>
              <a:t>HCORE</a:t>
            </a:r>
            <a:endParaRPr lang="ko-KR" alt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4" name="정육면체 83"/>
          <p:cNvSpPr/>
          <p:nvPr/>
        </p:nvSpPr>
        <p:spPr>
          <a:xfrm>
            <a:off x="7726194" y="2546143"/>
            <a:ext cx="1828280" cy="948807"/>
          </a:xfrm>
          <a:prstGeom prst="cube">
            <a:avLst>
              <a:gd name="adj" fmla="val 306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Master Core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820001" y="3061113"/>
            <a:ext cx="1640666" cy="3502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Schedule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6" name="정육면체 85"/>
          <p:cNvSpPr/>
          <p:nvPr/>
        </p:nvSpPr>
        <p:spPr>
          <a:xfrm>
            <a:off x="6771907" y="3809035"/>
            <a:ext cx="1828280" cy="948807"/>
          </a:xfrm>
          <a:prstGeom prst="cube">
            <a:avLst>
              <a:gd name="adj" fmla="val 306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IO Core #0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865714" y="4324005"/>
            <a:ext cx="1640666" cy="3502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User Data CMD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8" name="정육면체 87"/>
          <p:cNvSpPr/>
          <p:nvPr/>
        </p:nvSpPr>
        <p:spPr>
          <a:xfrm>
            <a:off x="8722558" y="3809035"/>
            <a:ext cx="1828280" cy="948807"/>
          </a:xfrm>
          <a:prstGeom prst="cube">
            <a:avLst>
              <a:gd name="adj" fmla="val 306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IO Core #1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8820148" y="4324005"/>
            <a:ext cx="1640666" cy="3502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User Data CMD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90" name="직선 화살표 연결선 89"/>
          <p:cNvCxnSpPr>
            <a:stCxn id="84" idx="3"/>
            <a:endCxn id="86" idx="1"/>
          </p:cNvCxnSpPr>
          <p:nvPr/>
        </p:nvCxnSpPr>
        <p:spPr>
          <a:xfrm flipH="1">
            <a:off x="7671488" y="3494950"/>
            <a:ext cx="954287" cy="34320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84" idx="4"/>
            <a:endCxn id="93" idx="2"/>
          </p:cNvCxnSpPr>
          <p:nvPr/>
        </p:nvCxnSpPr>
        <p:spPr>
          <a:xfrm>
            <a:off x="9525355" y="3035106"/>
            <a:ext cx="51165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84" idx="3"/>
            <a:endCxn id="88" idx="0"/>
          </p:cNvCxnSpPr>
          <p:nvPr/>
        </p:nvCxnSpPr>
        <p:spPr>
          <a:xfrm>
            <a:off x="8625775" y="3494950"/>
            <a:ext cx="1025482" cy="31408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정육면체 92"/>
          <p:cNvSpPr/>
          <p:nvPr/>
        </p:nvSpPr>
        <p:spPr>
          <a:xfrm>
            <a:off x="10037008" y="2546143"/>
            <a:ext cx="1828280" cy="948807"/>
          </a:xfrm>
          <a:prstGeom prst="cube">
            <a:avLst>
              <a:gd name="adj" fmla="val 306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&lt;&lt;Core&gt;&gt;</a:t>
            </a:r>
          </a:p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MG Core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0115548" y="3061113"/>
            <a:ext cx="1640666" cy="3502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Mapping</a:t>
            </a:r>
          </a:p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Garbage Collection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588268" y="2493684"/>
            <a:ext cx="1240914" cy="477168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Host</a:t>
            </a:r>
            <a:r>
              <a:rPr lang="ko-KR" altLang="en-US" dirty="0" smtClean="0"/>
              <a:t> 요청 및 내부 상태에 따른 </a:t>
            </a:r>
            <a:r>
              <a:rPr lang="en-US" altLang="ko-KR" dirty="0" smtClean="0"/>
              <a:t>Scheduling</a:t>
            </a:r>
            <a:endParaRPr lang="ko-KR" altLang="en-US" dirty="0"/>
          </a:p>
        </p:txBody>
      </p:sp>
      <p:cxnSp>
        <p:nvCxnSpPr>
          <p:cNvPr id="58" name="직선 연결선 57"/>
          <p:cNvCxnSpPr>
            <a:stCxn id="54" idx="2"/>
            <a:endCxn id="85" idx="1"/>
          </p:cNvCxnSpPr>
          <p:nvPr/>
        </p:nvCxnSpPr>
        <p:spPr>
          <a:xfrm>
            <a:off x="7208725" y="2970852"/>
            <a:ext cx="611276" cy="265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399222" y="1837306"/>
            <a:ext cx="1495404" cy="421956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SRAM Data Access</a:t>
            </a:r>
            <a:r>
              <a:rPr lang="ko-KR" altLang="en-US" dirty="0" smtClean="0"/>
              <a:t>가 많은 알고리즘 또는 내부 기능</a:t>
            </a:r>
            <a:endParaRPr lang="ko-KR" altLang="en-US" dirty="0"/>
          </a:p>
        </p:txBody>
      </p:sp>
      <p:cxnSp>
        <p:nvCxnSpPr>
          <p:cNvPr id="96" name="직선 연결선 95"/>
          <p:cNvCxnSpPr>
            <a:stCxn id="95" idx="2"/>
            <a:endCxn id="93" idx="0"/>
          </p:cNvCxnSpPr>
          <p:nvPr/>
        </p:nvCxnSpPr>
        <p:spPr>
          <a:xfrm flipH="1">
            <a:off x="10965707" y="2259262"/>
            <a:ext cx="181217" cy="2868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0781607" y="4119703"/>
            <a:ext cx="1073517" cy="638139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User Data CMD</a:t>
            </a:r>
            <a:r>
              <a:rPr lang="ko-KR" altLang="en-US" dirty="0"/>
              <a:t>의</a:t>
            </a:r>
            <a:r>
              <a:rPr lang="ko-KR" altLang="en-US" dirty="0" smtClean="0"/>
              <a:t> 최대 성능을 위한 </a:t>
            </a:r>
            <a:r>
              <a:rPr lang="en-US" altLang="ko-KR" dirty="0" smtClean="0"/>
              <a:t>2 Core </a:t>
            </a:r>
            <a:r>
              <a:rPr lang="ko-KR" altLang="en-US" dirty="0" smtClean="0"/>
              <a:t>병렬 처리</a:t>
            </a:r>
            <a:endParaRPr lang="ko-KR" altLang="en-US" dirty="0"/>
          </a:p>
        </p:txBody>
      </p:sp>
      <p:sp>
        <p:nvSpPr>
          <p:cNvPr id="106" name="모서리가 둥근 직사각형 105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Reason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00" name="직선 연결선 99"/>
          <p:cNvCxnSpPr>
            <a:stCxn id="99" idx="1"/>
            <a:endCxn id="89" idx="3"/>
          </p:cNvCxnSpPr>
          <p:nvPr/>
        </p:nvCxnSpPr>
        <p:spPr>
          <a:xfrm flipH="1">
            <a:off x="10460814" y="4438773"/>
            <a:ext cx="320793" cy="60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6536899" y="1023327"/>
            <a:ext cx="5445551" cy="5470708"/>
          </a:xfrm>
          <a:prstGeom prst="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화살표 연결선 70"/>
          <p:cNvCxnSpPr>
            <a:stCxn id="80" idx="2"/>
            <a:endCxn id="65" idx="0"/>
          </p:cNvCxnSpPr>
          <p:nvPr/>
        </p:nvCxnSpPr>
        <p:spPr>
          <a:xfrm flipH="1">
            <a:off x="2085847" y="2495638"/>
            <a:ext cx="1734543" cy="101368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69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DP-2</a:t>
            </a:r>
            <a:r>
              <a:rPr lang="en-GB" altLang="ko-KR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병렬 처리 </a:t>
            </a:r>
            <a:r>
              <a:rPr lang="en-US" altLang="ko-KR" dirty="0">
                <a:cs typeface="Times New Roman" panose="02020603050405020304" pitchFamily="18" charset="0"/>
              </a:rPr>
              <a:t>Workflow </a:t>
            </a:r>
            <a:r>
              <a:rPr lang="ko-KR" altLang="en-US" dirty="0">
                <a:cs typeface="Times New Roman" panose="02020603050405020304" pitchFamily="18" charset="0"/>
              </a:rPr>
              <a:t>설계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복잡도</a:t>
            </a:r>
            <a:r>
              <a:rPr lang="en-US" altLang="ko-KR" dirty="0"/>
              <a:t>, </a:t>
            </a:r>
            <a:r>
              <a:rPr lang="ko-KR" altLang="en-US" dirty="0"/>
              <a:t>변경 용이성을 고려한 </a:t>
            </a:r>
            <a:r>
              <a:rPr lang="en-US" altLang="ko-KR" dirty="0"/>
              <a:t>Workflow </a:t>
            </a:r>
            <a:r>
              <a:rPr lang="ko-KR" altLang="en-US" dirty="0"/>
              <a:t>운영 방안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49" y="1043579"/>
          <a:ext cx="11747501" cy="5481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3676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</a:t>
                      </a:r>
                      <a:r>
                        <a:rPr lang="ko-KR" altLang="en-US" sz="1200" b="1" dirty="0" smtClean="0"/>
                        <a:t>기능 별 최적화 </a:t>
                      </a:r>
                      <a:r>
                        <a:rPr lang="en-US" altLang="ko-KR" sz="1200" b="1" dirty="0" smtClean="0"/>
                        <a:t>Path </a:t>
                      </a:r>
                      <a:r>
                        <a:rPr lang="ko-KR" altLang="en-US" sz="1200" b="1" dirty="0" smtClean="0"/>
                        <a:t>구성이 가능한 </a:t>
                      </a:r>
                      <a:r>
                        <a:rPr lang="en-US" altLang="ko-KR" sz="1200" b="1" dirty="0" smtClean="0"/>
                        <a:t>Pipe &amp; Filter Architecture Style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高 신뢰성 분산 처리가 가능한 </a:t>
                      </a:r>
                      <a:r>
                        <a:rPr lang="en-US" altLang="ko-KR" sz="1200" b="1" dirty="0" smtClean="0"/>
                        <a:t>Master-Slave Architecture Style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19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5839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별로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가장 최적화된 </a:t>
                      </a:r>
                      <a:r>
                        <a:rPr lang="en-US" altLang="ko-KR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Workflow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가능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비용↓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Filter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단위로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Modulation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높아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Filter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기능의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용이성 좋음</a:t>
                      </a:r>
                      <a:endParaRPr lang="ko-KR" sz="120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effectLst/>
                        </a:rPr>
                        <a:t>Master – Slave</a:t>
                      </a:r>
                      <a:r>
                        <a:rPr lang="ko-KR" altLang="en-US" sz="1200" dirty="0" smtClean="0">
                          <a:effectLst/>
                        </a:rPr>
                        <a:t>의 분할 정복 방식으로 병렬 처리가 용이</a:t>
                      </a:r>
                      <a:endParaRPr lang="en-US" altLang="ko-KR" sz="1200" dirty="0" smtClean="0">
                        <a:effectLst/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smtClean="0">
                          <a:effectLst/>
                        </a:rPr>
                        <a:t>신규 기능 추가 시 </a:t>
                      </a: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단순 </a:t>
                      </a:r>
                      <a:r>
                        <a:rPr lang="en-US" altLang="ko-KR" sz="1200" dirty="0" smtClean="0">
                          <a:solidFill>
                            <a:srgbClr val="0033CC"/>
                          </a:solidFill>
                          <a:effectLst/>
                        </a:rPr>
                        <a:t>Service </a:t>
                      </a: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추가로 대응</a:t>
                      </a:r>
                      <a:r>
                        <a:rPr lang="ko-KR" altLang="en-US" sz="1200" dirty="0" smtClean="0">
                          <a:effectLst/>
                        </a:rPr>
                        <a:t> 가능</a:t>
                      </a:r>
                      <a:r>
                        <a:rPr lang="ko-KR" altLang="en-US" sz="1200" baseline="0" dirty="0" smtClean="0">
                          <a:effectLst/>
                        </a:rPr>
                        <a:t> </a:t>
                      </a:r>
                      <a:r>
                        <a:rPr lang="en-US" altLang="ko-KR" sz="1200" baseline="0" dirty="0" smtClean="0">
                          <a:effectLst/>
                        </a:rPr>
                        <a:t>(</a:t>
                      </a:r>
                      <a:r>
                        <a:rPr lang="ko-KR" altLang="en-US" sz="1200" baseline="0" dirty="0" smtClean="0">
                          <a:effectLst/>
                        </a:rPr>
                        <a:t>변경 용이성↑</a:t>
                      </a:r>
                      <a:r>
                        <a:rPr lang="en-US" altLang="ko-KR" sz="1200" baseline="0" dirty="0" smtClean="0">
                          <a:effectLst/>
                        </a:rPr>
                        <a:t>)</a:t>
                      </a:r>
                      <a:endParaRPr lang="ko-KR" altLang="en-US" sz="1200" dirty="0" smtClean="0">
                        <a:effectLst/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>
                          <a:effectLst/>
                        </a:rPr>
                        <a:t>Simple</a:t>
                      </a:r>
                      <a:r>
                        <a:rPr lang="ko-KR" altLang="en-US" sz="1200" dirty="0" smtClean="0">
                          <a:effectLst/>
                        </a:rPr>
                        <a:t>한 </a:t>
                      </a:r>
                      <a:r>
                        <a:rPr lang="en-US" altLang="ko-KR" sz="1200" dirty="0" smtClean="0">
                          <a:effectLst/>
                        </a:rPr>
                        <a:t>Workflow</a:t>
                      </a:r>
                      <a:r>
                        <a:rPr lang="ko-KR" altLang="en-US" sz="1200" dirty="0" smtClean="0">
                          <a:effectLst/>
                        </a:rPr>
                        <a:t>로 </a:t>
                      </a:r>
                      <a:r>
                        <a:rPr lang="en-US" altLang="ko-KR" sz="1200" dirty="0" smtClean="0">
                          <a:effectLst/>
                        </a:rPr>
                        <a:t>Dead Lock, Starvation, Exception </a:t>
                      </a:r>
                      <a:r>
                        <a:rPr lang="ko-KR" altLang="en-US" sz="1200" dirty="0" smtClean="0">
                          <a:effectLst/>
                        </a:rPr>
                        <a:t>처리</a:t>
                      </a:r>
                      <a:r>
                        <a:rPr lang="en-US" altLang="ko-KR" sz="1200" dirty="0" smtClean="0">
                          <a:effectLst/>
                        </a:rPr>
                        <a:t> </a:t>
                      </a:r>
                      <a:r>
                        <a:rPr lang="ko-KR" altLang="en-US" sz="1200" dirty="0" smtClean="0">
                          <a:effectLst/>
                        </a:rPr>
                        <a:t>용이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aseline="0" dirty="0" smtClean="0">
                          <a:effectLst/>
                        </a:rPr>
                        <a:t>다양한 </a:t>
                      </a:r>
                      <a:r>
                        <a:rPr lang="en-US" altLang="ko-KR" sz="1200" baseline="0" dirty="0" smtClean="0">
                          <a:effectLst/>
                        </a:rPr>
                        <a:t>Workflow</a:t>
                      </a:r>
                      <a:r>
                        <a:rPr lang="ko-KR" altLang="en-US" sz="1200" baseline="0" dirty="0" smtClean="0">
                          <a:effectLst/>
                        </a:rPr>
                        <a:t>로 </a:t>
                      </a:r>
                      <a:r>
                        <a:rPr lang="en-US" altLang="ko-KR" sz="1200" baseline="0" dirty="0" smtClean="0">
                          <a:effectLst/>
                        </a:rPr>
                        <a:t>Dead Lock, Starvation, Exception </a:t>
                      </a:r>
                      <a:r>
                        <a:rPr lang="ko-KR" altLang="en-US" sz="1200" baseline="0" dirty="0" smtClean="0">
                          <a:effectLst/>
                        </a:rPr>
                        <a:t>처리 복잡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aseline="0" dirty="0" smtClean="0">
                          <a:effectLst/>
                        </a:rPr>
                        <a:t>신규 기능 중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기존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Workflow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를 변경</a:t>
                      </a:r>
                      <a:r>
                        <a:rPr lang="ko-KR" altLang="en-US" sz="1200" baseline="0" dirty="0" smtClean="0">
                          <a:effectLst/>
                        </a:rPr>
                        <a:t>하는 경우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기능 추가 어려움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aseline="0" dirty="0" smtClean="0">
                          <a:effectLst/>
                        </a:rPr>
                        <a:t>Service</a:t>
                      </a:r>
                      <a:r>
                        <a:rPr lang="ko-KR" altLang="en-US" sz="1200" baseline="0" dirty="0" smtClean="0">
                          <a:effectLst/>
                        </a:rPr>
                        <a:t>와 </a:t>
                      </a:r>
                      <a:r>
                        <a:rPr lang="en-US" altLang="ko-KR" sz="1200" baseline="0" dirty="0" smtClean="0">
                          <a:effectLst/>
                        </a:rPr>
                        <a:t>Sub-service</a:t>
                      </a:r>
                      <a:r>
                        <a:rPr lang="ko-KR" altLang="en-US" sz="1200" baseline="0" dirty="0" smtClean="0">
                          <a:effectLst/>
                        </a:rPr>
                        <a:t>간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통신 빈도수 증가로 성능에 영향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aseline="0" dirty="0" smtClean="0">
                          <a:effectLst/>
                        </a:rPr>
                        <a:t>Sub-service</a:t>
                      </a:r>
                      <a:r>
                        <a:rPr lang="ko-KR" altLang="en-US" sz="1200" baseline="0" dirty="0" smtClean="0">
                          <a:effectLst/>
                        </a:rPr>
                        <a:t>간의 통신 불가로 유연성 저하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Random Read </a:t>
                      </a:r>
                      <a:r>
                        <a:rPr lang="ko-KR" altLang="en-US" sz="1200" b="1" dirty="0" smtClean="0"/>
                        <a:t>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Modifiability &gt; </a:t>
                      </a:r>
                      <a:r>
                        <a:rPr lang="ko-KR" altLang="en-US" sz="1200" b="1" dirty="0" smtClean="0"/>
                        <a:t>신규 기능 추가 용이성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/>
                        <a:t>Availability &gt; Exception Handling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0" dirty="0" smtClean="0"/>
                        <a:t>개발 용이성 </a:t>
                      </a:r>
                      <a:r>
                        <a:rPr lang="en-US" altLang="ko-KR" sz="1200" b="0" dirty="0" smtClean="0"/>
                        <a:t>&gt; </a:t>
                      </a:r>
                      <a:r>
                        <a:rPr lang="ko-KR" altLang="en-US" sz="1200" b="0" dirty="0" smtClean="0"/>
                        <a:t>기존 시스템 활용</a:t>
                      </a:r>
                      <a:endParaRPr lang="ko-KR" altLang="en-US" sz="1200" b="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Random Read </a:t>
                      </a:r>
                      <a:r>
                        <a:rPr lang="ko-KR" altLang="en-US" sz="1200" b="1" dirty="0" smtClean="0"/>
                        <a:t>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Modifiability &gt; </a:t>
                      </a:r>
                      <a:r>
                        <a:rPr lang="ko-KR" altLang="en-US" sz="1200" b="1" dirty="0" smtClean="0"/>
                        <a:t>신규 기능 추가 용이성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/>
                        <a:t>Availability &gt; Exception Handling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0" dirty="0" smtClean="0"/>
                        <a:t>개발 용이성 </a:t>
                      </a:r>
                      <a:r>
                        <a:rPr lang="en-US" altLang="ko-KR" sz="1200" b="0" dirty="0" smtClean="0"/>
                        <a:t>&gt; </a:t>
                      </a:r>
                      <a:r>
                        <a:rPr lang="ko-KR" altLang="en-US" sz="1200" b="0" dirty="0" smtClean="0"/>
                        <a:t>기존 시스템 활용</a:t>
                      </a:r>
                      <a:endParaRPr lang="ko-KR" altLang="en-US" sz="1200" b="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6" name="모서리가 둥근 직사각형 15"/>
          <p:cNvSpPr/>
          <p:nvPr/>
        </p:nvSpPr>
        <p:spPr>
          <a:xfrm>
            <a:off x="7271644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F3 HPB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694364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Q5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신규</a:t>
            </a:r>
            <a:endParaRPr lang="en-US" altLang="ko-KR" sz="900" b="1" dirty="0" smtClean="0">
              <a:latin typeface="맑은 고딕" panose="020B0503020000020004" pitchFamily="50" charset="-127"/>
            </a:endParaRPr>
          </a:p>
          <a:p>
            <a:r>
              <a:rPr lang="ko-KR" altLang="en-US" sz="900" b="1" dirty="0" smtClean="0">
                <a:latin typeface="맑은 고딕" panose="020B0503020000020004" pitchFamily="50" charset="-127"/>
              </a:rPr>
              <a:t>기능 추가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494621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C1 Many Core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261226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 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준수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6460123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8083165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F4 HID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48602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8894107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Rnd. Read </a:t>
            </a:r>
            <a:r>
              <a:rPr lang="ko-KR" altLang="en-US" sz="900" b="1" dirty="0">
                <a:latin typeface="맑은 고딕" panose="020B0503020000020004" pitchFamily="50" charset="-127"/>
              </a:rPr>
              <a:t>성능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5258083" y="5690802"/>
            <a:ext cx="11877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|●○○</a:t>
            </a:r>
          </a:p>
          <a:p>
            <a:r>
              <a:rPr lang="en-US" altLang="ko-KR" sz="1200" dirty="0" smtClean="0"/>
              <a:t>○○●</a:t>
            </a:r>
            <a:r>
              <a:rPr lang="en-US" altLang="ko-KR" sz="1200" dirty="0"/>
              <a:t>|○○○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667327" y="5691982"/>
            <a:ext cx="11877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|●○○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|●●●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|●○○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294052" y="1503946"/>
            <a:ext cx="765153" cy="281035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328447" y="2724540"/>
            <a:ext cx="1607510" cy="70458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Context &amp; Meta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179269" y="2717471"/>
            <a:ext cx="765153" cy="71165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User Data CMD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736660" y="1503947"/>
            <a:ext cx="765153" cy="70458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Garbage Collection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2059205" y="2955125"/>
            <a:ext cx="269242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3935956" y="2955125"/>
            <a:ext cx="250917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endCxn id="82" idx="0"/>
          </p:cNvCxnSpPr>
          <p:nvPr/>
        </p:nvCxnSpPr>
        <p:spPr>
          <a:xfrm>
            <a:off x="2053350" y="2493462"/>
            <a:ext cx="2508496" cy="224010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 flipH="1">
            <a:off x="3935956" y="3233477"/>
            <a:ext cx="250917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 flipH="1">
            <a:off x="2053350" y="3233477"/>
            <a:ext cx="275097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stCxn id="82" idx="2"/>
          </p:cNvCxnSpPr>
          <p:nvPr/>
        </p:nvCxnSpPr>
        <p:spPr>
          <a:xfrm rot="5400000">
            <a:off x="3186681" y="2301651"/>
            <a:ext cx="247687" cy="2502641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2983774" y="2207745"/>
            <a:ext cx="0" cy="52076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>
            <a:off x="3252970" y="2207745"/>
            <a:ext cx="0" cy="52076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2328447" y="3945135"/>
            <a:ext cx="765153" cy="3691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Control CMD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3171447" y="3945135"/>
            <a:ext cx="765153" cy="3691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Vendor CMD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94" name="직선 화살표 연결선 93"/>
          <p:cNvCxnSpPr/>
          <p:nvPr/>
        </p:nvCxnSpPr>
        <p:spPr>
          <a:xfrm>
            <a:off x="2854314" y="3429129"/>
            <a:ext cx="0" cy="520765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2590664" y="3429129"/>
            <a:ext cx="0" cy="520765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79" idx="2"/>
            <a:endCxn id="93" idx="2"/>
          </p:cNvCxnSpPr>
          <p:nvPr/>
        </p:nvCxnSpPr>
        <p:spPr>
          <a:xfrm rot="16200000" flipH="1">
            <a:off x="2615325" y="3375607"/>
            <a:ext cx="1" cy="1877395"/>
          </a:xfrm>
          <a:prstGeom prst="bentConnector3">
            <a:avLst>
              <a:gd name="adj1" fmla="val 22860100000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/>
          <p:nvPr/>
        </p:nvCxnSpPr>
        <p:spPr>
          <a:xfrm>
            <a:off x="2059205" y="1981169"/>
            <a:ext cx="68125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/>
          <p:nvPr/>
        </p:nvCxnSpPr>
        <p:spPr>
          <a:xfrm>
            <a:off x="2059205" y="4065626"/>
            <a:ext cx="269242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>
            <a:off x="2059205" y="4198087"/>
            <a:ext cx="269242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3670445" y="3429129"/>
            <a:ext cx="0" cy="52076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>
            <a:off x="3406796" y="3429129"/>
            <a:ext cx="0" cy="52076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stCxn id="93" idx="0"/>
          </p:cNvCxnSpPr>
          <p:nvPr/>
        </p:nvCxnSpPr>
        <p:spPr>
          <a:xfrm rot="16200000" flipV="1">
            <a:off x="2741481" y="3132593"/>
            <a:ext cx="135859" cy="1489225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/>
          <p:nvPr/>
        </p:nvCxnSpPr>
        <p:spPr>
          <a:xfrm>
            <a:off x="2059205" y="1754703"/>
            <a:ext cx="68125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직사각형 103"/>
          <p:cNvSpPr/>
          <p:nvPr/>
        </p:nvSpPr>
        <p:spPr>
          <a:xfrm>
            <a:off x="5279289" y="3382749"/>
            <a:ext cx="273724" cy="16800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5148566" y="3103517"/>
            <a:ext cx="1327061" cy="143078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Legend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/>
          <p:nvPr/>
        </p:nvCxnSpPr>
        <p:spPr>
          <a:xfrm>
            <a:off x="5287905" y="3680215"/>
            <a:ext cx="251854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39759" y="3565364"/>
            <a:ext cx="818424" cy="22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User Pipe</a:t>
            </a:r>
            <a:endParaRPr lang="ko-KR" altLang="en-US" sz="900" dirty="0"/>
          </a:p>
        </p:txBody>
      </p:sp>
      <p:cxnSp>
        <p:nvCxnSpPr>
          <p:cNvPr id="108" name="직선 화살표 연결선 107"/>
          <p:cNvCxnSpPr/>
          <p:nvPr/>
        </p:nvCxnSpPr>
        <p:spPr>
          <a:xfrm>
            <a:off x="5287905" y="4120857"/>
            <a:ext cx="265108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553013" y="4006006"/>
            <a:ext cx="931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Control Pipe</a:t>
            </a:r>
            <a:endParaRPr lang="ko-KR" altLang="en-US" sz="900" dirty="0"/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5287905" y="3904017"/>
            <a:ext cx="25185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539759" y="3789166"/>
            <a:ext cx="929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Vendor Pipe</a:t>
            </a:r>
            <a:endParaRPr lang="ko-KR" altLang="en-US" sz="900" dirty="0"/>
          </a:p>
        </p:txBody>
      </p:sp>
      <p:cxnSp>
        <p:nvCxnSpPr>
          <p:cNvPr id="112" name="직선 화살표 연결선 111"/>
          <p:cNvCxnSpPr/>
          <p:nvPr/>
        </p:nvCxnSpPr>
        <p:spPr>
          <a:xfrm>
            <a:off x="5287905" y="4344659"/>
            <a:ext cx="26510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5553012" y="4229808"/>
            <a:ext cx="9192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G/C Pipe</a:t>
            </a:r>
            <a:endParaRPr lang="ko-KR" altLang="en-US" sz="900" dirty="0"/>
          </a:p>
        </p:txBody>
      </p:sp>
      <p:sp>
        <p:nvSpPr>
          <p:cNvPr id="114" name="TextBox 113"/>
          <p:cNvSpPr txBox="1"/>
          <p:nvPr/>
        </p:nvSpPr>
        <p:spPr>
          <a:xfrm>
            <a:off x="5548578" y="3349307"/>
            <a:ext cx="523252" cy="22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Filter</a:t>
            </a:r>
            <a:endParaRPr lang="ko-KR" altLang="en-US" sz="900" dirty="0"/>
          </a:p>
        </p:txBody>
      </p:sp>
      <p:sp>
        <p:nvSpPr>
          <p:cNvPr id="115" name="직사각형 114"/>
          <p:cNvSpPr/>
          <p:nvPr/>
        </p:nvSpPr>
        <p:spPr>
          <a:xfrm>
            <a:off x="7232277" y="1533665"/>
            <a:ext cx="845811" cy="7861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&lt;&lt;Master&gt;&gt;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Scheduler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848348" y="1533665"/>
            <a:ext cx="845811" cy="77886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&lt;&lt;Master&gt;&gt;</a:t>
            </a: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Service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17" name="직선 화살표 연결선 116"/>
          <p:cNvCxnSpPr/>
          <p:nvPr/>
        </p:nvCxnSpPr>
        <p:spPr>
          <a:xfrm>
            <a:off x="8089812" y="1963254"/>
            <a:ext cx="75307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6709357" y="3030956"/>
            <a:ext cx="845811" cy="7788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 smtClean="0">
                <a:solidFill>
                  <a:prstClr val="white"/>
                </a:solidFill>
              </a:rPr>
              <a:t>&lt;&lt;Slave&gt;&gt;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Context &amp; Meta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780242" y="3030956"/>
            <a:ext cx="845811" cy="7788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&lt;&lt;Slave&gt;&gt;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User Data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8851127" y="3030956"/>
            <a:ext cx="845811" cy="7788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&lt;&lt;Slave&gt;&gt;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Control CMD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922012" y="3030956"/>
            <a:ext cx="845811" cy="7788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&lt;&lt;Slave&gt;&gt;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Vendor CMD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0992898" y="3030956"/>
            <a:ext cx="845811" cy="7788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&lt;&lt;Slave&gt;&gt;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chemeClr val="bg1"/>
                </a:solidFill>
              </a:rPr>
              <a:t>Garbage Collection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23" name="직선 화살표 연결선 122"/>
          <p:cNvCxnSpPr>
            <a:stCxn id="116" idx="2"/>
            <a:endCxn id="118" idx="0"/>
          </p:cNvCxnSpPr>
          <p:nvPr/>
        </p:nvCxnSpPr>
        <p:spPr>
          <a:xfrm flipH="1">
            <a:off x="7132263" y="2312527"/>
            <a:ext cx="2138991" cy="718429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직선 화살표 연결선 123"/>
          <p:cNvCxnSpPr>
            <a:stCxn id="116" idx="2"/>
            <a:endCxn id="119" idx="0"/>
          </p:cNvCxnSpPr>
          <p:nvPr/>
        </p:nvCxnSpPr>
        <p:spPr>
          <a:xfrm flipH="1">
            <a:off x="8203148" y="2312527"/>
            <a:ext cx="1068106" cy="718429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>
            <a:stCxn id="116" idx="2"/>
            <a:endCxn id="120" idx="0"/>
          </p:cNvCxnSpPr>
          <p:nvPr/>
        </p:nvCxnSpPr>
        <p:spPr>
          <a:xfrm>
            <a:off x="9271254" y="2312527"/>
            <a:ext cx="2779" cy="718429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16" idx="2"/>
            <a:endCxn id="121" idx="0"/>
          </p:cNvCxnSpPr>
          <p:nvPr/>
        </p:nvCxnSpPr>
        <p:spPr>
          <a:xfrm>
            <a:off x="9271254" y="2312527"/>
            <a:ext cx="1073664" cy="718429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화살표 연결선 126"/>
          <p:cNvCxnSpPr>
            <a:stCxn id="116" idx="2"/>
            <a:endCxn id="122" idx="0"/>
          </p:cNvCxnSpPr>
          <p:nvPr/>
        </p:nvCxnSpPr>
        <p:spPr>
          <a:xfrm>
            <a:off x="9271254" y="2312527"/>
            <a:ext cx="2144550" cy="718429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직사각형 127"/>
          <p:cNvSpPr/>
          <p:nvPr/>
        </p:nvSpPr>
        <p:spPr>
          <a:xfrm>
            <a:off x="6715346" y="4269843"/>
            <a:ext cx="218749" cy="15361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800" b="1" dirty="0">
              <a:solidFill>
                <a:prstClr val="white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610131" y="3997693"/>
            <a:ext cx="5318065" cy="52829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Legend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913412" y="4221335"/>
            <a:ext cx="1173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Master Module</a:t>
            </a:r>
            <a:endParaRPr lang="ko-KR" altLang="en-US" sz="1000" dirty="0"/>
          </a:p>
        </p:txBody>
      </p:sp>
      <p:sp>
        <p:nvSpPr>
          <p:cNvPr id="131" name="직사각형 130"/>
          <p:cNvSpPr/>
          <p:nvPr/>
        </p:nvSpPr>
        <p:spPr>
          <a:xfrm>
            <a:off x="8091844" y="4269843"/>
            <a:ext cx="207098" cy="15361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800" b="1" dirty="0">
              <a:solidFill>
                <a:prstClr val="white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306319" y="4221335"/>
            <a:ext cx="1173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Slave Module</a:t>
            </a:r>
            <a:endParaRPr lang="ko-KR" altLang="en-US" sz="1000" dirty="0"/>
          </a:p>
        </p:txBody>
      </p:sp>
      <p:cxnSp>
        <p:nvCxnSpPr>
          <p:cNvPr id="133" name="직선 화살표 연결선 132"/>
          <p:cNvCxnSpPr/>
          <p:nvPr/>
        </p:nvCxnSpPr>
        <p:spPr>
          <a:xfrm>
            <a:off x="9409893" y="4354189"/>
            <a:ext cx="343735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9779826" y="4221553"/>
            <a:ext cx="1041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Scheduling</a:t>
            </a:r>
            <a:endParaRPr lang="ko-KR" altLang="en-US" sz="1000" dirty="0"/>
          </a:p>
        </p:txBody>
      </p:sp>
      <p:cxnSp>
        <p:nvCxnSpPr>
          <p:cNvPr id="135" name="직선 화살표 연결선 134"/>
          <p:cNvCxnSpPr/>
          <p:nvPr/>
        </p:nvCxnSpPr>
        <p:spPr>
          <a:xfrm>
            <a:off x="10719796" y="4354189"/>
            <a:ext cx="273102" cy="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1019097" y="4221553"/>
            <a:ext cx="942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Distribution</a:t>
            </a:r>
            <a:endParaRPr lang="ko-KR" altLang="en-US" sz="1000" dirty="0"/>
          </a:p>
        </p:txBody>
      </p:sp>
      <p:sp>
        <p:nvSpPr>
          <p:cNvPr id="150" name="TextBox 149"/>
          <p:cNvSpPr txBox="1"/>
          <p:nvPr/>
        </p:nvSpPr>
        <p:spPr>
          <a:xfrm>
            <a:off x="10009389" y="1459374"/>
            <a:ext cx="1658735" cy="434901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ko-KR" dirty="0" smtClean="0"/>
              <a:t>Sub-service</a:t>
            </a:r>
            <a:r>
              <a:rPr lang="ko-KR" altLang="en-US" dirty="0" smtClean="0"/>
              <a:t>로 기능을 분산 처리하고 분산 수행 결과 취합</a:t>
            </a:r>
            <a:endParaRPr lang="ko-KR" altLang="en-US" dirty="0"/>
          </a:p>
        </p:txBody>
      </p:sp>
      <p:cxnSp>
        <p:nvCxnSpPr>
          <p:cNvPr id="151" name="직선 연결선 150"/>
          <p:cNvCxnSpPr>
            <a:stCxn id="150" idx="1"/>
            <a:endCxn id="116" idx="3"/>
          </p:cNvCxnSpPr>
          <p:nvPr/>
        </p:nvCxnSpPr>
        <p:spPr>
          <a:xfrm flipH="1">
            <a:off x="9694159" y="1676825"/>
            <a:ext cx="315230" cy="246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808685" y="1790715"/>
            <a:ext cx="1173801" cy="421569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ko-KR" altLang="en-US" dirty="0" smtClean="0"/>
              <a:t>기능 별로 최적화된 </a:t>
            </a:r>
            <a:r>
              <a:rPr lang="en-US" altLang="ko-KR" dirty="0" smtClean="0"/>
              <a:t>Workflow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cxnSp>
        <p:nvCxnSpPr>
          <p:cNvPr id="156" name="직선 연결선 155"/>
          <p:cNvCxnSpPr>
            <a:stCxn id="155" idx="2"/>
          </p:cNvCxnSpPr>
          <p:nvPr/>
        </p:nvCxnSpPr>
        <p:spPr>
          <a:xfrm flipH="1">
            <a:off x="4012269" y="2212284"/>
            <a:ext cx="383317" cy="278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모서리가 둥근 직사각형 160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Reason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6536899" y="1046775"/>
            <a:ext cx="5445551" cy="5470708"/>
          </a:xfrm>
          <a:prstGeom prst="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cxnSp>
        <p:nvCxnSpPr>
          <p:cNvPr id="138" name="직선 연결선 137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3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DP-3. </a:t>
            </a:r>
            <a:r>
              <a:rPr lang="en-US" altLang="ko-KR" dirty="0" smtClean="0">
                <a:cs typeface="Times New Roman" panose="02020603050405020304" pitchFamily="18" charset="0"/>
              </a:rPr>
              <a:t>Idle </a:t>
            </a:r>
            <a:r>
              <a:rPr lang="en-US" altLang="ko-KR" dirty="0">
                <a:cs typeface="Times New Roman" panose="02020603050405020304" pitchFamily="18" charset="0"/>
              </a:rPr>
              <a:t>Power Saving</a:t>
            </a:r>
            <a:r>
              <a:rPr lang="ko-KR" altLang="en-US" dirty="0">
                <a:cs typeface="Times New Roman" panose="02020603050405020304" pitchFamily="18" charset="0"/>
              </a:rPr>
              <a:t> 방안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485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/>
              <a:t>Multi Core</a:t>
            </a:r>
            <a:r>
              <a:rPr lang="ko-KR" altLang="ko-KR" dirty="0"/>
              <a:t>가</a:t>
            </a:r>
            <a:r>
              <a:rPr lang="en-US" altLang="ko-KR" dirty="0"/>
              <a:t> Idle</a:t>
            </a:r>
            <a:r>
              <a:rPr lang="ko-KR" altLang="ko-KR" dirty="0"/>
              <a:t>시</a:t>
            </a:r>
            <a:r>
              <a:rPr lang="en-US" altLang="ko-KR" dirty="0"/>
              <a:t> Power Saving Mode</a:t>
            </a:r>
            <a:r>
              <a:rPr lang="ko-KR" altLang="ko-KR" dirty="0"/>
              <a:t>로 진입하는 방법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50" y="1043173"/>
          <a:ext cx="11747501" cy="5497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506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Power Mode </a:t>
                      </a:r>
                      <a:r>
                        <a:rPr lang="ko-KR" altLang="en-US" sz="1200" b="1" dirty="0" smtClean="0"/>
                        <a:t>변경 요청을 통한 </a:t>
                      </a:r>
                      <a:r>
                        <a:rPr lang="en-US" altLang="ko-KR" sz="1200" b="1" dirty="0" smtClean="0"/>
                        <a:t>HIL </a:t>
                      </a:r>
                      <a:r>
                        <a:rPr lang="en-US" altLang="ko-KR" sz="1200" b="1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200" b="1" dirty="0" smtClean="0"/>
                        <a:t>Master Core </a:t>
                      </a:r>
                      <a:r>
                        <a:rPr lang="en-US" altLang="ko-KR" sz="1200" b="1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200" b="1" dirty="0" smtClean="0"/>
                        <a:t>Slave Core </a:t>
                      </a:r>
                      <a:r>
                        <a:rPr lang="ko-KR" altLang="en-US" sz="1200" b="1" dirty="0" smtClean="0"/>
                        <a:t>순의 </a:t>
                      </a:r>
                      <a:r>
                        <a:rPr lang="en-US" altLang="ko-KR" sz="1200" b="1" dirty="0" smtClean="0"/>
                        <a:t>Power Mode </a:t>
                      </a:r>
                      <a:r>
                        <a:rPr lang="ko-KR" altLang="en-US" sz="1200" b="1" dirty="0" smtClean="0"/>
                        <a:t>전환 방식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en-US" altLang="ko-KR" sz="1200" b="1" dirty="0" smtClean="0"/>
                        <a:t>Master / Slave Scheduler</a:t>
                      </a:r>
                      <a:r>
                        <a:rPr lang="ko-KR" altLang="en-US" sz="1200" b="1" dirty="0" smtClean="0"/>
                        <a:t>가 </a:t>
                      </a:r>
                      <a:r>
                        <a:rPr lang="en-US" altLang="ko-KR" sz="1200" b="1" dirty="0" smtClean="0"/>
                        <a:t>Idle</a:t>
                      </a:r>
                      <a:r>
                        <a:rPr lang="ko-KR" altLang="en-US" sz="1200" b="1" dirty="0" smtClean="0"/>
                        <a:t>을 판단하여 </a:t>
                      </a:r>
                      <a:r>
                        <a:rPr lang="en-US" altLang="ko-KR" sz="1200" b="1" dirty="0" smtClean="0"/>
                        <a:t>Power Mode</a:t>
                      </a:r>
                      <a:r>
                        <a:rPr lang="ko-KR" altLang="en-US" sz="1200" b="1" dirty="0" smtClean="0"/>
                        <a:t>를 전환하는 방식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5027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별도의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Monitoring Overhead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없음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 성능↑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상태에서는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Mode Change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Delay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없음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빠른 </a:t>
                      </a:r>
                      <a:r>
                        <a:rPr lang="en-US" altLang="ko-KR" sz="1200" dirty="0" smtClean="0">
                          <a:effectLst/>
                        </a:rPr>
                        <a:t>Power Saving Mode </a:t>
                      </a:r>
                      <a:r>
                        <a:rPr lang="ko-KR" altLang="en-US" sz="1200" dirty="0" smtClean="0">
                          <a:effectLst/>
                        </a:rPr>
                        <a:t>진입으로 </a:t>
                      </a:r>
                      <a:r>
                        <a:rPr lang="en-US" altLang="ko-KR" sz="1200" dirty="0" smtClean="0">
                          <a:solidFill>
                            <a:srgbClr val="0033CC"/>
                          </a:solidFill>
                          <a:effectLst/>
                        </a:rPr>
                        <a:t>Idle </a:t>
                      </a: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파워 효율 최대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effectLst/>
                        </a:rPr>
                        <a:t>Active </a:t>
                      </a:r>
                      <a:r>
                        <a:rPr lang="ko-KR" altLang="en-US" sz="1200" dirty="0" smtClean="0">
                          <a:effectLst/>
                        </a:rPr>
                        <a:t>상태 중</a:t>
                      </a:r>
                      <a:r>
                        <a:rPr lang="en-US" altLang="ko-KR" sz="1200" dirty="0" smtClean="0">
                          <a:effectLst/>
                        </a:rPr>
                        <a:t> </a:t>
                      </a:r>
                      <a:r>
                        <a:rPr lang="ko-KR" altLang="en-US" sz="1200" dirty="0" smtClean="0">
                          <a:effectLst/>
                        </a:rPr>
                        <a:t>미 동작 </a:t>
                      </a:r>
                      <a:r>
                        <a:rPr lang="en-US" altLang="ko-KR" sz="1200" dirty="0" smtClean="0">
                          <a:effectLst/>
                        </a:rPr>
                        <a:t>Core</a:t>
                      </a:r>
                      <a:r>
                        <a:rPr lang="ko-KR" altLang="en-US" sz="1200" dirty="0" smtClean="0">
                          <a:effectLst/>
                        </a:rPr>
                        <a:t>의 </a:t>
                      </a:r>
                      <a:r>
                        <a:rPr lang="en-US" altLang="ko-KR" sz="1200" dirty="0" smtClean="0">
                          <a:effectLst/>
                        </a:rPr>
                        <a:t>Power</a:t>
                      </a:r>
                      <a:r>
                        <a:rPr lang="en-US" altLang="ko-KR" sz="1200" baseline="0" dirty="0" smtClean="0">
                          <a:effectLst/>
                        </a:rPr>
                        <a:t> Saving</a:t>
                      </a:r>
                      <a:r>
                        <a:rPr lang="ko-KR" altLang="en-US" sz="1200" baseline="0" dirty="0" smtClean="0">
                          <a:effectLst/>
                        </a:rPr>
                        <a:t>으로 사용자 시나리오 </a:t>
                      </a:r>
                      <a:r>
                        <a:rPr lang="ko-KR" altLang="en-US" sz="1200" dirty="0" smtClean="0">
                          <a:effectLst/>
                        </a:rPr>
                        <a:t>파워 효율 향상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384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aseline="0" dirty="0" smtClean="0">
                          <a:effectLst/>
                        </a:rPr>
                        <a:t>Idle / Active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파워 효율이 상대적으로 좋지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aseline="0" dirty="0" smtClean="0">
                          <a:effectLst/>
                        </a:rPr>
                        <a:t>Active </a:t>
                      </a:r>
                      <a:r>
                        <a:rPr lang="ko-KR" altLang="en-US" sz="1200" baseline="0" dirty="0" smtClean="0">
                          <a:effectLst/>
                        </a:rPr>
                        <a:t>상태에서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Monitoring Overhead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가 존재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</a:t>
                      </a:r>
                      <a:r>
                        <a:rPr lang="ko-KR" altLang="en-US" sz="1200" b="1" dirty="0" smtClean="0"/>
                        <a:t>전체 시스템 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en-US" altLang="ko-KR" sz="1200" b="1" dirty="0" smtClean="0"/>
                        <a:t>&gt; </a:t>
                      </a:r>
                      <a:r>
                        <a:rPr lang="ko-KR" altLang="en-US" sz="1200" b="1" dirty="0" smtClean="0"/>
                        <a:t>파워 효율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</a:t>
                      </a:r>
                      <a:r>
                        <a:rPr lang="ko-KR" altLang="en-US" sz="1200" b="1" dirty="0" smtClean="0"/>
                        <a:t>전체 시스템 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en-US" altLang="ko-KR" sz="1200" b="1" dirty="0" smtClean="0"/>
                        <a:t>&gt; </a:t>
                      </a:r>
                      <a:r>
                        <a:rPr lang="ko-KR" altLang="en-US" sz="1200" b="1" dirty="0" smtClean="0"/>
                        <a:t>파워 효율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7" name="모서리가 둥근 직사각형 16"/>
          <p:cNvSpPr/>
          <p:nvPr/>
        </p:nvSpPr>
        <p:spPr>
          <a:xfrm>
            <a:off x="9578665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Q3 Idle</a:t>
            </a:r>
          </a:p>
          <a:p>
            <a:r>
              <a:rPr lang="ko-KR" altLang="en-US" sz="900" b="1" dirty="0" smtClean="0">
                <a:latin typeface="맑은 고딕" panose="020B0503020000020004" pitchFamily="50" charset="-127"/>
              </a:rPr>
              <a:t>파워 효율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193780" y="627572"/>
            <a:ext cx="700846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C4 Solvit CTRL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402430" y="627572"/>
            <a:ext cx="703526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C1 M</a:t>
            </a:r>
            <a:r>
              <a:rPr lang="en-US" altLang="ko-KR" sz="900" b="1" dirty="0" smtClean="0">
                <a:latin typeface="맑은 고딕" panose="020B0503020000020004" pitchFamily="50" charset="-127"/>
              </a:rPr>
              <a:t>any </a:t>
            </a:r>
            <a:r>
              <a:rPr lang="en-US" altLang="ko-KR" sz="900" b="1" dirty="0">
                <a:latin typeface="맑은 고딕" panose="020B0503020000020004" pitchFamily="50" charset="-127"/>
              </a:rPr>
              <a:t>Core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258083" y="6057587"/>
            <a:ext cx="1187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667327" y="6063937"/>
            <a:ext cx="1187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</a:t>
            </a:r>
            <a:r>
              <a:rPr lang="en-US" altLang="ko-KR" sz="1200" dirty="0" smtClean="0"/>
              <a:t>●</a:t>
            </a:r>
            <a:r>
              <a:rPr lang="en-US" altLang="ko-KR" sz="1200" dirty="0"/>
              <a:t>○</a:t>
            </a:r>
            <a:r>
              <a:rPr lang="en-US" altLang="ko-KR" sz="1200" dirty="0" smtClean="0"/>
              <a:t>○</a:t>
            </a:r>
            <a:endParaRPr lang="en-US" altLang="ko-KR" sz="1200" dirty="0"/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</a:t>
            </a:r>
            <a:r>
              <a:rPr lang="en-US" altLang="ko-KR" sz="1200" dirty="0" smtClean="0"/>
              <a:t>●</a:t>
            </a:r>
            <a:r>
              <a:rPr lang="en-US" altLang="ko-KR" sz="1200" dirty="0"/>
              <a:t>●</a:t>
            </a:r>
            <a:r>
              <a:rPr lang="en-US" altLang="ko-KR" sz="1200" dirty="0" smtClean="0"/>
              <a:t>●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110619" y="2917357"/>
            <a:ext cx="1261905" cy="68773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&lt;&lt;Master Core&gt;&gt;</a:t>
            </a:r>
          </a:p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Master Scheduler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62695" y="1908675"/>
            <a:ext cx="1261905" cy="68773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&lt;&lt;IO Core #0&gt;&gt;</a:t>
            </a:r>
          </a:p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IO Slave 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062695" y="2917357"/>
            <a:ext cx="1261905" cy="68773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&lt;&lt;IO Core #1&gt;&gt;</a:t>
            </a:r>
          </a:p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IO Slave 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062695" y="3926040"/>
            <a:ext cx="1261905" cy="68773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&lt;&lt;MG Core&gt;&gt;</a:t>
            </a:r>
          </a:p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MG Slave 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34" name="직선 화살표 연결선 33"/>
          <p:cNvCxnSpPr>
            <a:stCxn id="28" idx="3"/>
            <a:endCxn id="29" idx="1"/>
          </p:cNvCxnSpPr>
          <p:nvPr/>
        </p:nvCxnSpPr>
        <p:spPr>
          <a:xfrm flipV="1">
            <a:off x="3372523" y="2252542"/>
            <a:ext cx="1690172" cy="1008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28" idx="3"/>
            <a:endCxn id="30" idx="1"/>
          </p:cNvCxnSpPr>
          <p:nvPr/>
        </p:nvCxnSpPr>
        <p:spPr>
          <a:xfrm>
            <a:off x="3372523" y="3261225"/>
            <a:ext cx="1690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28" idx="3"/>
            <a:endCxn id="31" idx="1"/>
          </p:cNvCxnSpPr>
          <p:nvPr/>
        </p:nvCxnSpPr>
        <p:spPr>
          <a:xfrm>
            <a:off x="3372523" y="3261225"/>
            <a:ext cx="1690172" cy="1008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endCxn id="28" idx="1"/>
          </p:cNvCxnSpPr>
          <p:nvPr/>
        </p:nvCxnSpPr>
        <p:spPr>
          <a:xfrm flipV="1">
            <a:off x="1309056" y="3261224"/>
            <a:ext cx="80156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75157" y="3076558"/>
            <a:ext cx="572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Saving</a:t>
            </a:r>
          </a:p>
          <a:p>
            <a:r>
              <a:rPr lang="en-US" altLang="ko-KR" sz="900" dirty="0" smtClean="0"/>
              <a:t>/Active</a:t>
            </a:r>
            <a:endParaRPr lang="ko-KR" altLang="en-US" sz="900" dirty="0"/>
          </a:p>
        </p:txBody>
      </p:sp>
      <p:sp>
        <p:nvSpPr>
          <p:cNvPr id="42" name="TextBox 41"/>
          <p:cNvSpPr txBox="1"/>
          <p:nvPr/>
        </p:nvSpPr>
        <p:spPr>
          <a:xfrm rot="19752356">
            <a:off x="3692059" y="2554835"/>
            <a:ext cx="1010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Saving / Active</a:t>
            </a:r>
            <a:endParaRPr lang="ko-KR" altLang="en-US" sz="900" dirty="0"/>
          </a:p>
        </p:txBody>
      </p:sp>
      <p:sp>
        <p:nvSpPr>
          <p:cNvPr id="43" name="직사각형 42"/>
          <p:cNvSpPr/>
          <p:nvPr/>
        </p:nvSpPr>
        <p:spPr>
          <a:xfrm>
            <a:off x="2478158" y="2917357"/>
            <a:ext cx="141216" cy="161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2857359" y="2917357"/>
            <a:ext cx="141216" cy="161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꺾인 연결선 46"/>
          <p:cNvCxnSpPr>
            <a:stCxn id="43" idx="0"/>
            <a:endCxn id="44" idx="0"/>
          </p:cNvCxnSpPr>
          <p:nvPr/>
        </p:nvCxnSpPr>
        <p:spPr>
          <a:xfrm rot="5400000" flipH="1" flipV="1">
            <a:off x="2738366" y="2727757"/>
            <a:ext cx="11208" cy="379201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263566" y="2476303"/>
            <a:ext cx="9921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Check Services</a:t>
            </a:r>
            <a:endParaRPr lang="ko-KR" altLang="en-US" sz="900" dirty="0"/>
          </a:p>
        </p:txBody>
      </p:sp>
      <p:sp>
        <p:nvSpPr>
          <p:cNvPr id="49" name="TextBox 48"/>
          <p:cNvSpPr txBox="1"/>
          <p:nvPr/>
        </p:nvSpPr>
        <p:spPr>
          <a:xfrm rot="1857243">
            <a:off x="3759712" y="3577352"/>
            <a:ext cx="9985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Saving / Active</a:t>
            </a:r>
            <a:endParaRPr lang="ko-KR" altLang="en-US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3744708" y="3069343"/>
            <a:ext cx="9926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Saving / Active</a:t>
            </a:r>
            <a:endParaRPr lang="ko-KR" altLang="en-US" sz="900" dirty="0"/>
          </a:p>
        </p:txBody>
      </p:sp>
      <p:sp>
        <p:nvSpPr>
          <p:cNvPr id="53" name="TextBox 52"/>
          <p:cNvSpPr txBox="1"/>
          <p:nvPr/>
        </p:nvSpPr>
        <p:spPr>
          <a:xfrm>
            <a:off x="1189655" y="1710915"/>
            <a:ext cx="1421584" cy="600796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Master Scheduler</a:t>
            </a:r>
            <a:r>
              <a:rPr lang="ko-KR" altLang="en-US" dirty="0" smtClean="0"/>
              <a:t>가 진행 여부 판단 가능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en-US" altLang="ko-KR" dirty="0"/>
              <a:t>Master-Slave </a:t>
            </a:r>
            <a:r>
              <a:rPr lang="ko-KR" altLang="en-US" dirty="0" smtClean="0"/>
              <a:t>구조</a:t>
            </a:r>
            <a:r>
              <a:rPr lang="en-US" altLang="ko-KR" dirty="0" smtClean="0"/>
              <a:t>)</a:t>
            </a:r>
          </a:p>
        </p:txBody>
      </p:sp>
      <p:cxnSp>
        <p:nvCxnSpPr>
          <p:cNvPr id="54" name="직선 연결선 53"/>
          <p:cNvCxnSpPr>
            <a:stCxn id="53" idx="2"/>
            <a:endCxn id="48" idx="1"/>
          </p:cNvCxnSpPr>
          <p:nvPr/>
        </p:nvCxnSpPr>
        <p:spPr>
          <a:xfrm>
            <a:off x="1900447" y="2311711"/>
            <a:ext cx="363119" cy="280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03566" y="4446534"/>
            <a:ext cx="1606782" cy="395520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Slave Core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Message</a:t>
            </a:r>
            <a:r>
              <a:rPr lang="ko-KR" altLang="en-US" dirty="0" smtClean="0"/>
              <a:t>를 받는 즉시 </a:t>
            </a:r>
            <a:r>
              <a:rPr lang="en-US" altLang="ko-KR" dirty="0" smtClean="0"/>
              <a:t>Power Mode</a:t>
            </a:r>
            <a:r>
              <a:rPr lang="ko-KR" altLang="en-US" dirty="0" smtClean="0"/>
              <a:t>를 변경</a:t>
            </a:r>
            <a:endParaRPr lang="ko-KR" altLang="en-US" dirty="0"/>
          </a:p>
        </p:txBody>
      </p:sp>
      <p:cxnSp>
        <p:nvCxnSpPr>
          <p:cNvPr id="56" name="직선 연결선 55"/>
          <p:cNvCxnSpPr>
            <a:endCxn id="55" idx="3"/>
          </p:cNvCxnSpPr>
          <p:nvPr/>
        </p:nvCxnSpPr>
        <p:spPr>
          <a:xfrm flipH="1">
            <a:off x="4710348" y="4321429"/>
            <a:ext cx="372827" cy="322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7242777" y="3088457"/>
            <a:ext cx="1313023" cy="63306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&lt;&lt;Master Core&gt;&gt;</a:t>
            </a:r>
          </a:p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Master Scheduler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9926081" y="1902790"/>
            <a:ext cx="1161584" cy="6330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&lt;&lt;IO Core #0&gt;&gt;</a:t>
            </a:r>
          </a:p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IO Slave 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9926081" y="3090362"/>
            <a:ext cx="1161584" cy="6330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&lt;&lt;IO Core #1&gt;&gt;</a:t>
            </a:r>
          </a:p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IO Slave 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9926081" y="4209354"/>
            <a:ext cx="1161584" cy="6330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&lt;&lt;MG Core&gt;&gt;</a:t>
            </a:r>
          </a:p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MG Slave Scheduler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61" name="직선 화살표 연결선 60"/>
          <p:cNvCxnSpPr>
            <a:stCxn id="57" idx="3"/>
            <a:endCxn id="58" idx="1"/>
          </p:cNvCxnSpPr>
          <p:nvPr/>
        </p:nvCxnSpPr>
        <p:spPr>
          <a:xfrm flipV="1">
            <a:off x="8555800" y="2219320"/>
            <a:ext cx="1370281" cy="1185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57" idx="3"/>
            <a:endCxn id="59" idx="1"/>
          </p:cNvCxnSpPr>
          <p:nvPr/>
        </p:nvCxnSpPr>
        <p:spPr>
          <a:xfrm>
            <a:off x="8555800" y="3404987"/>
            <a:ext cx="1370281" cy="1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57" idx="3"/>
            <a:endCxn id="60" idx="1"/>
          </p:cNvCxnSpPr>
          <p:nvPr/>
        </p:nvCxnSpPr>
        <p:spPr>
          <a:xfrm>
            <a:off x="8555800" y="3404987"/>
            <a:ext cx="1370281" cy="1120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6641858" y="3404987"/>
            <a:ext cx="5847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683035" y="3199207"/>
            <a:ext cx="4743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/>
            </a:lvl1pPr>
          </a:lstStyle>
          <a:p>
            <a:r>
              <a:rPr lang="en-US" altLang="ko-KR" dirty="0"/>
              <a:t>Msg.</a:t>
            </a:r>
            <a:endParaRPr lang="ko-KR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9053557" y="3166996"/>
            <a:ext cx="4611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/>
            </a:lvl1pPr>
          </a:lstStyle>
          <a:p>
            <a:r>
              <a:rPr lang="en-US" altLang="ko-KR" dirty="0"/>
              <a:t>Msg.</a:t>
            </a:r>
            <a:endParaRPr lang="ko-KR" altLang="en-US" dirty="0"/>
          </a:p>
        </p:txBody>
      </p:sp>
      <p:sp>
        <p:nvSpPr>
          <p:cNvPr id="67" name="TextBox 66"/>
          <p:cNvSpPr txBox="1"/>
          <p:nvPr/>
        </p:nvSpPr>
        <p:spPr>
          <a:xfrm rot="19248286">
            <a:off x="9017081" y="2558154"/>
            <a:ext cx="4727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/>
            </a:lvl1pPr>
          </a:lstStyle>
          <a:p>
            <a:r>
              <a:rPr lang="en-US" altLang="ko-KR" dirty="0"/>
              <a:t>Msg.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 rot="2186046">
            <a:off x="9021966" y="3686579"/>
            <a:ext cx="412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/>
            </a:lvl1pPr>
          </a:lstStyle>
          <a:p>
            <a:r>
              <a:rPr lang="en-US" altLang="ko-KR" dirty="0"/>
              <a:t>Msg.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10957676" y="1913392"/>
            <a:ext cx="129989" cy="148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꺾인 연결선 69"/>
          <p:cNvCxnSpPr>
            <a:stCxn id="69" idx="3"/>
            <a:endCxn id="69" idx="0"/>
          </p:cNvCxnSpPr>
          <p:nvPr/>
        </p:nvCxnSpPr>
        <p:spPr>
          <a:xfrm flipH="1" flipV="1">
            <a:off x="11022670" y="1913392"/>
            <a:ext cx="64994" cy="74486"/>
          </a:xfrm>
          <a:prstGeom prst="bentConnector4">
            <a:avLst>
              <a:gd name="adj1" fmla="val -285714"/>
              <a:gd name="adj2" fmla="val 3493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0957676" y="3085292"/>
            <a:ext cx="129989" cy="148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꺾인 연결선 71"/>
          <p:cNvCxnSpPr>
            <a:stCxn id="71" idx="3"/>
            <a:endCxn id="71" idx="0"/>
          </p:cNvCxnSpPr>
          <p:nvPr/>
        </p:nvCxnSpPr>
        <p:spPr>
          <a:xfrm flipH="1" flipV="1">
            <a:off x="11022670" y="3085292"/>
            <a:ext cx="64994" cy="74486"/>
          </a:xfrm>
          <a:prstGeom prst="bentConnector4">
            <a:avLst>
              <a:gd name="adj1" fmla="val -285714"/>
              <a:gd name="adj2" fmla="val 3493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10957676" y="4209354"/>
            <a:ext cx="129989" cy="148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꺾인 연결선 73"/>
          <p:cNvCxnSpPr>
            <a:stCxn id="73" idx="3"/>
            <a:endCxn id="73" idx="0"/>
          </p:cNvCxnSpPr>
          <p:nvPr/>
        </p:nvCxnSpPr>
        <p:spPr>
          <a:xfrm flipH="1" flipV="1">
            <a:off x="11022670" y="4209354"/>
            <a:ext cx="64994" cy="74486"/>
          </a:xfrm>
          <a:prstGeom prst="bentConnector4">
            <a:avLst>
              <a:gd name="adj1" fmla="val -285714"/>
              <a:gd name="adj2" fmla="val 3493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8425811" y="3092511"/>
            <a:ext cx="129989" cy="148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꺾인 연결선 75"/>
          <p:cNvCxnSpPr>
            <a:stCxn id="75" idx="3"/>
            <a:endCxn id="75" idx="0"/>
          </p:cNvCxnSpPr>
          <p:nvPr/>
        </p:nvCxnSpPr>
        <p:spPr>
          <a:xfrm flipH="1" flipV="1">
            <a:off x="8490805" y="3092511"/>
            <a:ext cx="64994" cy="74486"/>
          </a:xfrm>
          <a:prstGeom prst="bentConnector4">
            <a:avLst>
              <a:gd name="adj1" fmla="val -285714"/>
              <a:gd name="adj2" fmla="val 3493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139026" y="2525583"/>
            <a:ext cx="73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Check Idle</a:t>
            </a:r>
          </a:p>
          <a:p>
            <a:r>
              <a:rPr lang="ko-KR" altLang="en-US" sz="900" dirty="0" smtClean="0"/>
              <a:t>▶ </a:t>
            </a:r>
            <a:r>
              <a:rPr lang="en-US" altLang="ko-KR" sz="900" dirty="0" smtClean="0"/>
              <a:t>Saving</a:t>
            </a:r>
            <a:endParaRPr lang="ko-KR" altLang="en-US" sz="900" dirty="0"/>
          </a:p>
        </p:txBody>
      </p:sp>
      <p:sp>
        <p:nvSpPr>
          <p:cNvPr id="78" name="번개 77"/>
          <p:cNvSpPr/>
          <p:nvPr/>
        </p:nvSpPr>
        <p:spPr>
          <a:xfrm>
            <a:off x="6952669" y="3120630"/>
            <a:ext cx="241408" cy="213392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6641858" y="2899768"/>
            <a:ext cx="649711" cy="212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accent4">
                    <a:lumMod val="50000"/>
                  </a:schemeClr>
                </a:solidFill>
              </a:rPr>
              <a:t>Active</a:t>
            </a:r>
            <a:endParaRPr lang="ko-KR" altLang="en-US" sz="11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0" name="번개 79"/>
          <p:cNvSpPr/>
          <p:nvPr/>
        </p:nvSpPr>
        <p:spPr>
          <a:xfrm>
            <a:off x="9626448" y="1948948"/>
            <a:ext cx="241408" cy="213392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9315637" y="1728085"/>
            <a:ext cx="649711" cy="212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accent4">
                    <a:lumMod val="50000"/>
                  </a:schemeClr>
                </a:solidFill>
              </a:rPr>
              <a:t>Active</a:t>
            </a:r>
            <a:endParaRPr lang="ko-KR" altLang="en-US" sz="11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3" name="번개 82"/>
          <p:cNvSpPr/>
          <p:nvPr/>
        </p:nvSpPr>
        <p:spPr>
          <a:xfrm>
            <a:off x="9626448" y="3094416"/>
            <a:ext cx="241408" cy="213392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9315637" y="2850694"/>
            <a:ext cx="649711" cy="212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accent4">
                    <a:lumMod val="50000"/>
                  </a:schemeClr>
                </a:solidFill>
              </a:rPr>
              <a:t>Active</a:t>
            </a:r>
            <a:endParaRPr lang="ko-KR" altLang="en-US" sz="11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5" name="번개 84"/>
          <p:cNvSpPr/>
          <p:nvPr/>
        </p:nvSpPr>
        <p:spPr>
          <a:xfrm>
            <a:off x="9626448" y="4202061"/>
            <a:ext cx="241408" cy="213392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9315637" y="3981199"/>
            <a:ext cx="649711" cy="212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accent4">
                    <a:lumMod val="50000"/>
                  </a:schemeClr>
                </a:solidFill>
              </a:rPr>
              <a:t>Active</a:t>
            </a:r>
            <a:endParaRPr lang="ko-KR" altLang="en-US" sz="11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241660" y="1679676"/>
            <a:ext cx="73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Check Idle</a:t>
            </a:r>
          </a:p>
          <a:p>
            <a:r>
              <a:rPr lang="ko-KR" altLang="en-US" sz="900" dirty="0" smtClean="0"/>
              <a:t>▶ </a:t>
            </a:r>
            <a:r>
              <a:rPr lang="en-US" altLang="ko-KR" sz="900" dirty="0" smtClean="0"/>
              <a:t>Saving</a:t>
            </a:r>
            <a:endParaRPr lang="ko-KR" altLang="en-US" sz="900" dirty="0"/>
          </a:p>
        </p:txBody>
      </p:sp>
      <p:sp>
        <p:nvSpPr>
          <p:cNvPr id="93" name="TextBox 92"/>
          <p:cNvSpPr txBox="1"/>
          <p:nvPr/>
        </p:nvSpPr>
        <p:spPr>
          <a:xfrm>
            <a:off x="11241660" y="2853667"/>
            <a:ext cx="73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Check Idle</a:t>
            </a:r>
          </a:p>
          <a:p>
            <a:r>
              <a:rPr lang="ko-KR" altLang="en-US" sz="900" dirty="0" smtClean="0"/>
              <a:t>▶ </a:t>
            </a:r>
            <a:r>
              <a:rPr lang="en-US" altLang="ko-KR" sz="900" dirty="0" smtClean="0"/>
              <a:t>Saving</a:t>
            </a:r>
            <a:endParaRPr lang="ko-KR" altLang="en-US" sz="900" dirty="0"/>
          </a:p>
        </p:txBody>
      </p:sp>
      <p:sp>
        <p:nvSpPr>
          <p:cNvPr id="94" name="TextBox 93"/>
          <p:cNvSpPr txBox="1"/>
          <p:nvPr/>
        </p:nvSpPr>
        <p:spPr>
          <a:xfrm>
            <a:off x="11241660" y="3963191"/>
            <a:ext cx="73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Check Idle</a:t>
            </a:r>
          </a:p>
          <a:p>
            <a:r>
              <a:rPr lang="ko-KR" altLang="en-US" sz="900" dirty="0" smtClean="0"/>
              <a:t>▶ </a:t>
            </a:r>
            <a:r>
              <a:rPr lang="en-US" altLang="ko-KR" sz="900" dirty="0" smtClean="0"/>
              <a:t>Saving</a:t>
            </a:r>
            <a:endParaRPr lang="ko-KR" altLang="en-US" sz="900" dirty="0"/>
          </a:p>
        </p:txBody>
      </p:sp>
      <p:sp>
        <p:nvSpPr>
          <p:cNvPr id="95" name="TextBox 94"/>
          <p:cNvSpPr txBox="1"/>
          <p:nvPr/>
        </p:nvSpPr>
        <p:spPr>
          <a:xfrm>
            <a:off x="6657405" y="2032038"/>
            <a:ext cx="1470786" cy="395520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ko-KR" altLang="en-US" dirty="0" smtClean="0"/>
              <a:t>각 </a:t>
            </a:r>
            <a:r>
              <a:rPr lang="en-US" altLang="ko-KR" dirty="0" smtClean="0"/>
              <a:t>Scheduler</a:t>
            </a:r>
            <a:r>
              <a:rPr lang="ko-KR" altLang="en-US" dirty="0" smtClean="0"/>
              <a:t>의 상태만으로 </a:t>
            </a:r>
            <a:r>
              <a:rPr lang="en-US" altLang="ko-KR" dirty="0" smtClean="0"/>
              <a:t>Idle</a:t>
            </a:r>
            <a:r>
              <a:rPr lang="ko-KR" altLang="en-US" dirty="0" smtClean="0"/>
              <a:t>임을 판단</a:t>
            </a:r>
            <a:endParaRPr lang="ko-KR" altLang="en-US" dirty="0"/>
          </a:p>
        </p:txBody>
      </p:sp>
      <p:cxnSp>
        <p:nvCxnSpPr>
          <p:cNvPr id="96" name="직선 연결선 95"/>
          <p:cNvCxnSpPr>
            <a:stCxn id="95" idx="3"/>
          </p:cNvCxnSpPr>
          <p:nvPr/>
        </p:nvCxnSpPr>
        <p:spPr>
          <a:xfrm>
            <a:off x="8128191" y="2229798"/>
            <a:ext cx="266700" cy="3434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752222" y="4446534"/>
            <a:ext cx="1619108" cy="425616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Solvit CTRL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Message </a:t>
            </a:r>
            <a:r>
              <a:rPr lang="ko-KR" altLang="en-US" dirty="0" smtClean="0"/>
              <a:t>전송 시 </a:t>
            </a:r>
            <a:r>
              <a:rPr lang="en-US" altLang="ko-KR" dirty="0" smtClean="0"/>
              <a:t>Active Mode</a:t>
            </a:r>
            <a:r>
              <a:rPr lang="ko-KR" altLang="en-US" dirty="0" smtClean="0"/>
              <a:t>로 자동 변경</a:t>
            </a:r>
            <a:endParaRPr lang="ko-KR" altLang="en-US" dirty="0"/>
          </a:p>
        </p:txBody>
      </p:sp>
      <p:cxnSp>
        <p:nvCxnSpPr>
          <p:cNvPr id="98" name="직선 연결선 97"/>
          <p:cNvCxnSpPr>
            <a:stCxn id="97" idx="3"/>
          </p:cNvCxnSpPr>
          <p:nvPr/>
        </p:nvCxnSpPr>
        <p:spPr>
          <a:xfrm flipV="1">
            <a:off x="9371330" y="4389565"/>
            <a:ext cx="353695" cy="269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6536899" y="1046775"/>
            <a:ext cx="5445551" cy="5470708"/>
          </a:xfrm>
          <a:prstGeom prst="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모서리가 둥근 직사각형 86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Reason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cxnSp>
        <p:nvCxnSpPr>
          <p:cNvPr id="89" name="직선 연결선 8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74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50" y="1043173"/>
          <a:ext cx="11747501" cy="551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3919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SLC Block</a:t>
                      </a:r>
                      <a:r>
                        <a:rPr lang="ko-KR" altLang="en-US" sz="1200" b="1" dirty="0" smtClean="0"/>
                        <a:t>에 </a:t>
                      </a:r>
                      <a:r>
                        <a:rPr lang="en-US" altLang="ko-KR" sz="1200" b="1" dirty="0" smtClean="0"/>
                        <a:t>On-Chip Buffered</a:t>
                      </a:r>
                      <a:r>
                        <a:rPr lang="en-US" altLang="ko-KR" sz="1200" b="1" baseline="0" dirty="0" smtClean="0"/>
                        <a:t> Program (SLC </a:t>
                      </a:r>
                      <a:r>
                        <a:rPr lang="en-US" altLang="ko-KR" sz="1200" b="1" baseline="0" dirty="0" smtClean="0">
                          <a:sym typeface="Wingdings" panose="05000000000000000000" pitchFamily="2" charset="2"/>
                        </a:rPr>
                        <a:t> QLC Migration)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T</a:t>
                      </a:r>
                      <a:r>
                        <a:rPr lang="en-US" altLang="ko-KR" sz="1200" b="1" dirty="0" smtClean="0"/>
                        <a:t>LC Block</a:t>
                      </a:r>
                      <a:r>
                        <a:rPr lang="ko-KR" altLang="en-US" sz="1200" b="1" dirty="0" smtClean="0"/>
                        <a:t>에 </a:t>
                      </a:r>
                      <a:r>
                        <a:rPr lang="en-US" altLang="ko-KR" sz="1200" b="1" dirty="0" smtClean="0"/>
                        <a:t>On-Chip Buffered</a:t>
                      </a:r>
                      <a:r>
                        <a:rPr lang="en-US" altLang="ko-KR" sz="1200" b="1" baseline="0" dirty="0" smtClean="0"/>
                        <a:t> Program (TLC </a:t>
                      </a:r>
                      <a:r>
                        <a:rPr lang="en-US" altLang="ko-KR" sz="1200" b="1" baseline="0" dirty="0" smtClean="0">
                          <a:sym typeface="Wingdings" panose="05000000000000000000" pitchFamily="2" charset="2"/>
                        </a:rPr>
                        <a:t> QLC Migration)</a:t>
                      </a:r>
                      <a:endParaRPr lang="ko-KR" altLang="en-US" sz="1200" b="1" dirty="0" smtClean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658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</a:t>
                      </a:r>
                      <a:r>
                        <a:rPr lang="en-US" altLang="ko-KR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구간이 상대적으로 넓은 영역 지원</a:t>
                      </a:r>
                      <a:endParaRPr lang="ko-KR" altLang="en-US" sz="120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SLC / QLC Block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가지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NAND Cell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특성만 고려 가능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사용자 </a:t>
                      </a: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사용</a:t>
                      </a:r>
                      <a:r>
                        <a:rPr lang="ko-KR" altLang="en-US" sz="1200" baseline="0" dirty="0" smtClean="0">
                          <a:solidFill>
                            <a:srgbClr val="0033CC"/>
                          </a:solidFill>
                          <a:effectLst/>
                        </a:rPr>
                        <a:t> 가능한 수준</a:t>
                      </a:r>
                      <a:r>
                        <a:rPr lang="en-US" altLang="ko-KR" sz="1200" baseline="0" dirty="0" smtClean="0">
                          <a:solidFill>
                            <a:srgbClr val="0033CC"/>
                          </a:solidFill>
                          <a:effectLst/>
                        </a:rPr>
                        <a:t>(100MB/s)</a:t>
                      </a:r>
                      <a:r>
                        <a:rPr lang="ko-KR" altLang="en-US" sz="1200" baseline="0" dirty="0" smtClean="0">
                          <a:solidFill>
                            <a:srgbClr val="0033CC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baseline="0" dirty="0" smtClean="0">
                          <a:solidFill>
                            <a:srgbClr val="0033CC"/>
                          </a:solidFill>
                          <a:effectLst/>
                        </a:rPr>
                        <a:t>Write </a:t>
                      </a:r>
                      <a:r>
                        <a:rPr lang="ko-KR" altLang="en-US" sz="1200" baseline="0" dirty="0" smtClean="0">
                          <a:solidFill>
                            <a:srgbClr val="0033CC"/>
                          </a:solidFill>
                          <a:effectLst/>
                        </a:rPr>
                        <a:t>성능을 넓게 지원</a:t>
                      </a:r>
                      <a:endParaRPr lang="ko-KR" altLang="en-US" sz="1200" dirty="0" smtClean="0">
                        <a:solidFill>
                          <a:srgbClr val="0033CC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상대적으로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넓은 영역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effectLst/>
                        </a:rPr>
                        <a:t>(3/4)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의 신뢰성 높은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effectLst/>
                        </a:rPr>
                        <a:t>Buffering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용량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aseline="0" dirty="0" smtClean="0">
                          <a:effectLst/>
                        </a:rPr>
                        <a:t>상대적으로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좁은 영역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(1/4)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의 신뢰성 높은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Buffering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용량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aseline="0" dirty="0" smtClean="0">
                          <a:effectLst/>
                        </a:rPr>
                        <a:t>SLC Block Buffering</a:t>
                      </a:r>
                      <a:r>
                        <a:rPr lang="ko-KR" altLang="en-US" sz="1200" baseline="0" dirty="0" smtClean="0">
                          <a:effectLst/>
                        </a:rPr>
                        <a:t>시 차이가 큰 </a:t>
                      </a:r>
                      <a:r>
                        <a:rPr lang="en-US" altLang="ko-KR" sz="1200" baseline="0" dirty="0" smtClean="0">
                          <a:effectLst/>
                        </a:rPr>
                        <a:t>Latency </a:t>
                      </a:r>
                      <a:r>
                        <a:rPr lang="ko-KR" altLang="en-US" sz="1200" baseline="0" dirty="0" smtClean="0">
                          <a:effectLst/>
                        </a:rPr>
                        <a:t>성능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aseline="0" dirty="0" smtClean="0">
                          <a:effectLst/>
                        </a:rPr>
                        <a:t>SLC / TLC / QLC Block</a:t>
                      </a:r>
                      <a:r>
                        <a:rPr lang="ko-KR" altLang="en-US" sz="1200" baseline="0" dirty="0" smtClean="0">
                          <a:effectLst/>
                        </a:rPr>
                        <a:t>으로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가지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Type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NAND Cell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특성 고려</a:t>
                      </a:r>
                      <a:endParaRPr lang="en-US" altLang="ko-KR" sz="1200" baseline="0" dirty="0" smtClean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aseline="0" dirty="0" smtClean="0">
                          <a:effectLst/>
                        </a:rPr>
                        <a:t>상대적으로 좁은 최대 성능 지원 영역</a:t>
                      </a:r>
                      <a:endParaRPr lang="ko-KR" altLang="en-US" sz="1200" baseline="0" dirty="0" smtClean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Sequential Write </a:t>
                      </a:r>
                      <a:r>
                        <a:rPr lang="ko-KR" altLang="en-US" sz="1200" b="1" dirty="0" smtClean="0"/>
                        <a:t>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/>
                        <a:t>Reliability &gt; Recovery </a:t>
                      </a:r>
                      <a:r>
                        <a:rPr lang="ko-KR" altLang="en-US" sz="1200" dirty="0" smtClean="0"/>
                        <a:t>동작 확률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Sequential Write </a:t>
                      </a:r>
                      <a:r>
                        <a:rPr lang="ko-KR" altLang="en-US" sz="1200" b="1" dirty="0" smtClean="0"/>
                        <a:t>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/>
                        <a:t>Reliability &gt; Recovery </a:t>
                      </a:r>
                      <a:r>
                        <a:rPr lang="ko-KR" altLang="en-US" sz="1200" dirty="0" smtClean="0"/>
                        <a:t>동작 확률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DP-4. </a:t>
            </a:r>
            <a:r>
              <a:rPr lang="en-US" altLang="ko-KR" dirty="0" smtClean="0">
                <a:cs typeface="Times New Roman" panose="02020603050405020304" pitchFamily="18" charset="0"/>
              </a:rPr>
              <a:t>QLC NAND </a:t>
            </a:r>
            <a:r>
              <a:rPr lang="ko-KR" altLang="en-US" dirty="0" smtClean="0">
                <a:cs typeface="Times New Roman" panose="02020603050405020304" pitchFamily="18" charset="0"/>
              </a:rPr>
              <a:t>적용 방안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485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altLang="ko-KR" dirty="0" smtClean="0"/>
              <a:t>QLC </a:t>
            </a:r>
            <a:r>
              <a:rPr lang="en-GB" altLang="ko-KR" dirty="0"/>
              <a:t>NAND(Low Reliability &amp; Performance, More Resource) </a:t>
            </a:r>
            <a:r>
              <a:rPr lang="ko-KR" altLang="ko-KR" dirty="0"/>
              <a:t>지원을 위한 </a:t>
            </a:r>
            <a:r>
              <a:rPr lang="en-GB" altLang="ko-KR" dirty="0"/>
              <a:t>Write Scheme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0440109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Q4 </a:t>
            </a:r>
            <a:r>
              <a:rPr lang="ko-KR" altLang="en-US" sz="900" b="1" dirty="0">
                <a:latin typeface="맑은 고딕" panose="020B0503020000020004" pitchFamily="50" charset="-127"/>
              </a:rPr>
              <a:t>다양한 </a:t>
            </a:r>
            <a:r>
              <a:rPr lang="en-US" altLang="ko-KR" sz="900" b="1" dirty="0">
                <a:latin typeface="맑은 고딕" panose="020B0503020000020004" pitchFamily="50" charset="-127"/>
              </a:rPr>
              <a:t>NAND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8790595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F4 HID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639852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 Seq. Write </a:t>
            </a:r>
            <a:r>
              <a:rPr lang="ko-KR" altLang="en-US" sz="900" b="1" dirty="0">
                <a:latin typeface="맑은 고딕" panose="020B0503020000020004" pitchFamily="50" charset="-127"/>
              </a:rPr>
              <a:t>성능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1248629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C3 QLC NAND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224770" y="1519453"/>
            <a:ext cx="4196506" cy="1661516"/>
          </a:xfrm>
          <a:prstGeom prst="roundRect">
            <a:avLst>
              <a:gd name="adj" fmla="val 735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직사각형 28"/>
          <p:cNvSpPr/>
          <p:nvPr/>
        </p:nvSpPr>
        <p:spPr>
          <a:xfrm>
            <a:off x="5304458" y="1975828"/>
            <a:ext cx="923245" cy="10237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95222" y="1520634"/>
            <a:ext cx="65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 smtClean="0"/>
              <a:t>UFS</a:t>
            </a:r>
            <a:endParaRPr lang="ko-KR" altLang="en-US" sz="1200" b="1" u="sng" dirty="0"/>
          </a:p>
        </p:txBody>
      </p:sp>
      <p:sp>
        <p:nvSpPr>
          <p:cNvPr id="33" name="TextBox 32"/>
          <p:cNvSpPr txBox="1"/>
          <p:nvPr/>
        </p:nvSpPr>
        <p:spPr>
          <a:xfrm>
            <a:off x="2512078" y="2259139"/>
            <a:ext cx="952098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100" dirty="0"/>
              <a:t>SLC Blocks</a:t>
            </a:r>
            <a:endParaRPr lang="ko-KR" alt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5261181" y="1988264"/>
            <a:ext cx="101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QLC Blocks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515598" y="2252924"/>
            <a:ext cx="5306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/>
              <a:t>Write</a:t>
            </a:r>
            <a:endParaRPr lang="ko-KR" altLang="en-US" sz="1050" dirty="0"/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3464176" y="2381319"/>
            <a:ext cx="1797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/>
          <p:cNvSpPr/>
          <p:nvPr/>
        </p:nvSpPr>
        <p:spPr>
          <a:xfrm>
            <a:off x="7646382" y="1513188"/>
            <a:ext cx="4217957" cy="1677304"/>
          </a:xfrm>
          <a:prstGeom prst="roundRect">
            <a:avLst>
              <a:gd name="adj" fmla="val 735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4" name="직사각형 43"/>
          <p:cNvSpPr/>
          <p:nvPr/>
        </p:nvSpPr>
        <p:spPr>
          <a:xfrm>
            <a:off x="7906368" y="2290552"/>
            <a:ext cx="927964" cy="76705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>
              <a:solidFill>
                <a:schemeClr val="bg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741814" y="2027326"/>
            <a:ext cx="927964" cy="10198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>
              <a:solidFill>
                <a:prstClr val="whit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06368" y="2290876"/>
            <a:ext cx="956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TLC Blocks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98314" y="2030353"/>
            <a:ext cx="10166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QLC Blocks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416108" y="1513289"/>
            <a:ext cx="678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 smtClean="0"/>
              <a:t>UFS</a:t>
            </a:r>
            <a:endParaRPr lang="ko-KR" altLang="en-US" sz="1200" b="1" u="sng" dirty="0"/>
          </a:p>
        </p:txBody>
      </p:sp>
      <p:sp>
        <p:nvSpPr>
          <p:cNvPr id="59" name="TextBox 58"/>
          <p:cNvSpPr txBox="1"/>
          <p:nvPr/>
        </p:nvSpPr>
        <p:spPr>
          <a:xfrm>
            <a:off x="8947385" y="2784405"/>
            <a:ext cx="1619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Background Migration</a:t>
            </a:r>
            <a:endParaRPr lang="ko-KR" alt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3514131" y="2345071"/>
            <a:ext cx="1605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Foreground Migration</a:t>
            </a:r>
            <a:endParaRPr lang="ko-KR" altLang="en-US" sz="1100" dirty="0"/>
          </a:p>
        </p:txBody>
      </p:sp>
      <p:sp>
        <p:nvSpPr>
          <p:cNvPr id="61" name="TextBox 60"/>
          <p:cNvSpPr txBox="1"/>
          <p:nvPr/>
        </p:nvSpPr>
        <p:spPr>
          <a:xfrm>
            <a:off x="6549825" y="2684351"/>
            <a:ext cx="927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HID</a:t>
            </a:r>
            <a:endParaRPr lang="ko-KR" altLang="en-US" sz="1000" dirty="0"/>
          </a:p>
        </p:txBody>
      </p:sp>
      <p:sp>
        <p:nvSpPr>
          <p:cNvPr id="85" name="직사각형 84"/>
          <p:cNvSpPr/>
          <p:nvPr/>
        </p:nvSpPr>
        <p:spPr>
          <a:xfrm>
            <a:off x="5258083" y="6057587"/>
            <a:ext cx="1187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</a:p>
          <a:p>
            <a:r>
              <a:rPr lang="en-US" altLang="ko-KR" sz="1200" dirty="0" smtClean="0"/>
              <a:t>○○●</a:t>
            </a:r>
            <a:r>
              <a:rPr lang="en-US" altLang="ko-KR" sz="1200" dirty="0"/>
              <a:t>|</a:t>
            </a:r>
            <a:r>
              <a:rPr lang="en-US" altLang="ko-KR" sz="1200" dirty="0" smtClean="0"/>
              <a:t>○○○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0667327" y="6063937"/>
            <a:ext cx="1187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</a:t>
            </a:r>
            <a:r>
              <a:rPr lang="en-US" altLang="ko-KR" sz="1200" dirty="0" smtClean="0"/>
              <a:t>●○○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cxnSp>
        <p:nvCxnSpPr>
          <p:cNvPr id="103" name="직선 화살표 연결선 102"/>
          <p:cNvCxnSpPr/>
          <p:nvPr/>
        </p:nvCxnSpPr>
        <p:spPr>
          <a:xfrm>
            <a:off x="7445721" y="2391788"/>
            <a:ext cx="4606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772348" y="2264830"/>
            <a:ext cx="7052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/>
              <a:t>Write</a:t>
            </a:r>
            <a:endParaRPr lang="ko-KR" altLang="en-US" sz="1050" dirty="0"/>
          </a:p>
        </p:txBody>
      </p:sp>
      <p:cxnSp>
        <p:nvCxnSpPr>
          <p:cNvPr id="106" name="직선 화살표 연결선 105"/>
          <p:cNvCxnSpPr/>
          <p:nvPr/>
        </p:nvCxnSpPr>
        <p:spPr>
          <a:xfrm>
            <a:off x="7454265" y="2802504"/>
            <a:ext cx="324404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/>
          <p:nvPr/>
        </p:nvCxnSpPr>
        <p:spPr>
          <a:xfrm>
            <a:off x="8834332" y="2377336"/>
            <a:ext cx="1863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947385" y="2343152"/>
            <a:ext cx="1619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Foreground Migration</a:t>
            </a:r>
            <a:endParaRPr lang="ko-KR" altLang="en-US" sz="1100" dirty="0"/>
          </a:p>
        </p:txBody>
      </p:sp>
      <p:sp>
        <p:nvSpPr>
          <p:cNvPr id="117" name="TextBox 116"/>
          <p:cNvSpPr txBox="1"/>
          <p:nvPr/>
        </p:nvSpPr>
        <p:spPr>
          <a:xfrm>
            <a:off x="3483313" y="2751914"/>
            <a:ext cx="16719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Background Migration</a:t>
            </a:r>
            <a:endParaRPr lang="ko-KR" altLang="en-US" sz="1100" dirty="0"/>
          </a:p>
        </p:txBody>
      </p:sp>
      <p:sp>
        <p:nvSpPr>
          <p:cNvPr id="118" name="TextBox 117"/>
          <p:cNvSpPr txBox="1"/>
          <p:nvPr/>
        </p:nvSpPr>
        <p:spPr>
          <a:xfrm>
            <a:off x="1077851" y="2649188"/>
            <a:ext cx="9684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HID</a:t>
            </a:r>
            <a:endParaRPr lang="ko-KR" altLang="en-US" sz="1000" dirty="0"/>
          </a:p>
        </p:txBody>
      </p:sp>
      <p:cxnSp>
        <p:nvCxnSpPr>
          <p:cNvPr id="120" name="직선 화살표 연결선 119"/>
          <p:cNvCxnSpPr>
            <a:stCxn id="118" idx="3"/>
          </p:cNvCxnSpPr>
          <p:nvPr/>
        </p:nvCxnSpPr>
        <p:spPr>
          <a:xfrm flipV="1">
            <a:off x="2046258" y="2767341"/>
            <a:ext cx="3214923" cy="4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그림 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21" y="3321839"/>
            <a:ext cx="4981484" cy="1543032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127" name="그림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906" y="3324021"/>
            <a:ext cx="4985100" cy="1540849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134" name="TextBox 133"/>
          <p:cNvSpPr txBox="1"/>
          <p:nvPr/>
        </p:nvSpPr>
        <p:spPr>
          <a:xfrm>
            <a:off x="2183417" y="4836455"/>
            <a:ext cx="332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[ Full Range 512KB QD2 Sequential Write </a:t>
            </a:r>
            <a:r>
              <a:rPr lang="ko-KR" altLang="en-US" sz="1100" dirty="0" smtClean="0"/>
              <a:t>성능</a:t>
            </a:r>
            <a:r>
              <a:rPr lang="en-US" altLang="ko-KR" sz="1100" dirty="0" smtClean="0"/>
              <a:t> ]</a:t>
            </a:r>
            <a:endParaRPr lang="ko-KR" altLang="en-US" sz="11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330403" y="3379134"/>
            <a:ext cx="15689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accent5">
                    <a:lumMod val="50000"/>
                  </a:schemeClr>
                </a:solidFill>
              </a:rPr>
              <a:t>◀ </a:t>
            </a:r>
            <a:r>
              <a:rPr lang="en-US" altLang="ko-KR" sz="1100" b="1" dirty="0" smtClean="0">
                <a:solidFill>
                  <a:schemeClr val="accent5">
                    <a:lumMod val="50000"/>
                  </a:schemeClr>
                </a:solidFill>
              </a:rPr>
              <a:t>Turbo </a:t>
            </a:r>
            <a:r>
              <a:rPr lang="en-US" altLang="ko-KR" sz="1100" b="1" dirty="0">
                <a:solidFill>
                  <a:schemeClr val="accent5">
                    <a:lumMod val="50000"/>
                  </a:schemeClr>
                </a:solidFill>
              </a:rPr>
              <a:t>Write  </a:t>
            </a:r>
            <a:r>
              <a:rPr lang="ko-KR" altLang="en-US" sz="1100" b="1" dirty="0">
                <a:solidFill>
                  <a:schemeClr val="accent5">
                    <a:lumMod val="50000"/>
                  </a:schemeClr>
                </a:solidFill>
              </a:rPr>
              <a:t>구간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28174" y="3374617"/>
            <a:ext cx="31524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solidFill>
                  <a:schemeClr val="accent5">
                    <a:lumMod val="50000"/>
                  </a:schemeClr>
                </a:solidFill>
              </a:rPr>
              <a:t>◀ </a:t>
            </a:r>
            <a:r>
              <a:rPr lang="en-US" altLang="ko-KR" sz="1100" b="1" dirty="0" smtClean="0">
                <a:solidFill>
                  <a:schemeClr val="accent5">
                    <a:lumMod val="50000"/>
                  </a:schemeClr>
                </a:solidFill>
              </a:rPr>
              <a:t>Turbo Write &amp; SLC Block Buffering </a:t>
            </a:r>
            <a:r>
              <a:rPr lang="ko-KR" altLang="en-US" sz="1100" b="1" dirty="0" smtClean="0">
                <a:solidFill>
                  <a:schemeClr val="accent5">
                    <a:lumMod val="50000"/>
                  </a:schemeClr>
                </a:solidFill>
              </a:rPr>
              <a:t>구간</a:t>
            </a:r>
            <a:endParaRPr lang="ko-KR" altLang="en-US" sz="11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866102" y="3912746"/>
            <a:ext cx="21690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solidFill>
                  <a:schemeClr val="accent5">
                    <a:lumMod val="50000"/>
                  </a:schemeClr>
                </a:solidFill>
              </a:rPr>
              <a:t>▼ </a:t>
            </a:r>
            <a:r>
              <a:rPr lang="en-US" altLang="ko-KR" sz="1100" b="1" dirty="0" smtClean="0">
                <a:solidFill>
                  <a:schemeClr val="accent5">
                    <a:lumMod val="50000"/>
                  </a:schemeClr>
                </a:solidFill>
              </a:rPr>
              <a:t>TLC Block Buffering  </a:t>
            </a:r>
            <a:r>
              <a:rPr lang="ko-KR" altLang="en-US" sz="1100" b="1" dirty="0">
                <a:solidFill>
                  <a:schemeClr val="accent5">
                    <a:lumMod val="50000"/>
                  </a:schemeClr>
                </a:solidFill>
              </a:rPr>
              <a:t>구간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00650" y="4094540"/>
            <a:ext cx="2272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solidFill>
                  <a:schemeClr val="accent5">
                    <a:lumMod val="50000"/>
                  </a:schemeClr>
                </a:solidFill>
              </a:rPr>
              <a:t>▼ </a:t>
            </a:r>
            <a:r>
              <a:rPr lang="en-US" altLang="ko-KR" sz="1100" b="1" dirty="0" smtClean="0">
                <a:solidFill>
                  <a:schemeClr val="accent5">
                    <a:lumMod val="50000"/>
                  </a:schemeClr>
                </a:solidFill>
              </a:rPr>
              <a:t>Foreground Migration </a:t>
            </a:r>
            <a:r>
              <a:rPr lang="ko-KR" altLang="en-US" sz="1100" b="1" dirty="0">
                <a:solidFill>
                  <a:schemeClr val="accent5">
                    <a:lumMod val="50000"/>
                  </a:schemeClr>
                </a:solidFill>
              </a:rPr>
              <a:t>구간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1" y="4240267"/>
            <a:ext cx="2247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solidFill>
                  <a:schemeClr val="accent5">
                    <a:lumMod val="50000"/>
                  </a:schemeClr>
                </a:solidFill>
              </a:rPr>
              <a:t>Foreground Migration </a:t>
            </a:r>
            <a:r>
              <a:rPr lang="ko-KR" altLang="en-US" sz="1100" b="1" dirty="0" smtClean="0">
                <a:solidFill>
                  <a:schemeClr val="accent5">
                    <a:lumMod val="50000"/>
                  </a:schemeClr>
                </a:solidFill>
              </a:rPr>
              <a:t>구간 ▶</a:t>
            </a:r>
            <a:endParaRPr lang="ko-KR" altLang="en-US" sz="11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6534585" y="1046774"/>
            <a:ext cx="5445551" cy="5509473"/>
          </a:xfrm>
          <a:prstGeom prst="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1992523" y="2382263"/>
            <a:ext cx="4464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512078" y="1859413"/>
            <a:ext cx="952098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100" dirty="0"/>
              <a:t>SLC Blocks</a:t>
            </a:r>
            <a:endParaRPr lang="ko-KR" altLang="en-US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7897795" y="1868938"/>
            <a:ext cx="952098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100" dirty="0"/>
              <a:t>SLC Blocks</a:t>
            </a:r>
            <a:endParaRPr lang="ko-KR" altLang="en-US" sz="1100" dirty="0"/>
          </a:p>
        </p:txBody>
      </p:sp>
      <p:cxnSp>
        <p:nvCxnSpPr>
          <p:cNvPr id="74" name="직선 화살표 연결선 73"/>
          <p:cNvCxnSpPr/>
          <p:nvPr/>
        </p:nvCxnSpPr>
        <p:spPr>
          <a:xfrm>
            <a:off x="7445721" y="2004561"/>
            <a:ext cx="4606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542745" y="1870948"/>
            <a:ext cx="9348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/>
              <a:t>Turbo Write</a:t>
            </a:r>
            <a:endParaRPr lang="ko-KR" altLang="en-US" sz="1050" dirty="0"/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1992523" y="1995036"/>
            <a:ext cx="4464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77851" y="1861423"/>
            <a:ext cx="9684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/>
              <a:t>Turbo Write</a:t>
            </a:r>
            <a:endParaRPr lang="ko-KR" altLang="en-US" sz="1050" dirty="0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7941338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646382" y="4836455"/>
            <a:ext cx="332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[ Full Range 512KB QD2 Sequential Write </a:t>
            </a:r>
            <a:r>
              <a:rPr lang="ko-KR" altLang="en-US" sz="1100" dirty="0" smtClean="0"/>
              <a:t>성능</a:t>
            </a:r>
            <a:r>
              <a:rPr lang="en-US" altLang="ko-KR" sz="1100" dirty="0" smtClean="0"/>
              <a:t> ]</a:t>
            </a:r>
            <a:endParaRPr lang="ko-KR" altLang="en-US" sz="1100" dirty="0"/>
          </a:p>
        </p:txBody>
      </p:sp>
      <p:sp>
        <p:nvSpPr>
          <p:cNvPr id="6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1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DP-5. Command </a:t>
            </a:r>
            <a:r>
              <a:rPr lang="ko-KR" altLang="en-US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수행 시간 감소 방안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1" y="627926"/>
            <a:ext cx="5854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CMD </a:t>
            </a:r>
            <a:r>
              <a:rPr lang="ko-KR" altLang="ko-KR" dirty="0"/>
              <a:t>별 수행 시간 감소를 위한 </a:t>
            </a:r>
            <a:r>
              <a:rPr lang="en-US" altLang="ko-KR" dirty="0"/>
              <a:t>Master Scheduler</a:t>
            </a:r>
            <a:r>
              <a:rPr lang="ko-KR" altLang="ko-KR" dirty="0"/>
              <a:t>의 </a:t>
            </a:r>
            <a:r>
              <a:rPr lang="en-US" altLang="ko-KR" dirty="0"/>
              <a:t>Scheduling </a:t>
            </a:r>
            <a:r>
              <a:rPr lang="ko-KR" altLang="ko-KR" dirty="0"/>
              <a:t>기법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50" y="1043173"/>
          <a:ext cx="11747501" cy="5486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3676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Scheduler</a:t>
                      </a:r>
                      <a:r>
                        <a:rPr lang="ko-KR" altLang="en-US" sz="1200" b="1" dirty="0" smtClean="0"/>
                        <a:t>가 </a:t>
                      </a:r>
                      <a:r>
                        <a:rPr lang="en-US" altLang="ko-KR" sz="1200" b="1" dirty="0" smtClean="0"/>
                        <a:t>Task</a:t>
                      </a:r>
                      <a:r>
                        <a:rPr lang="ko-KR" altLang="en-US" sz="1200" b="1" dirty="0" smtClean="0"/>
                        <a:t>를 결정하여 </a:t>
                      </a:r>
                      <a:r>
                        <a:rPr lang="en-US" altLang="ko-KR" sz="1200" b="1" dirty="0" smtClean="0"/>
                        <a:t>Service</a:t>
                      </a:r>
                      <a:r>
                        <a:rPr lang="ko-KR" altLang="en-US" sz="1200" b="1" dirty="0" smtClean="0"/>
                        <a:t>를 수행하는 </a:t>
                      </a:r>
                      <a:r>
                        <a:rPr lang="en-US" altLang="ko-KR" sz="1200" b="1" dirty="0" smtClean="0"/>
                        <a:t>Task Scheduling </a:t>
                      </a:r>
                      <a:r>
                        <a:rPr lang="ko-KR" altLang="en-US" sz="1200" b="1" dirty="0" smtClean="0"/>
                        <a:t>기법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en-US" altLang="ko-KR" sz="1200" b="1" dirty="0" smtClean="0"/>
                        <a:t>Message Queue </a:t>
                      </a:r>
                      <a:r>
                        <a:rPr lang="ko-KR" altLang="en-US" sz="1200" b="1" dirty="0" smtClean="0"/>
                        <a:t>선택에 따른 </a:t>
                      </a:r>
                      <a:r>
                        <a:rPr lang="en-US" altLang="ko-KR" sz="1200" b="1" dirty="0" smtClean="0"/>
                        <a:t>Service</a:t>
                      </a:r>
                      <a:r>
                        <a:rPr lang="ko-KR" altLang="en-US" sz="1200" b="1" dirty="0" smtClean="0"/>
                        <a:t>를 수행하는 </a:t>
                      </a:r>
                      <a:r>
                        <a:rPr lang="en-US" altLang="ko-KR" sz="1200" b="1" dirty="0" smtClean="0"/>
                        <a:t>Message Driven Scheduling </a:t>
                      </a:r>
                      <a:r>
                        <a:rPr lang="ko-KR" altLang="en-US" sz="1200" b="1" dirty="0" smtClean="0"/>
                        <a:t>기법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29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 요구사항을 만족할 수 있는 성능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요구사항 만족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기능들이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동일한 자료구조 및 동작 방식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Scheduling</a:t>
                      </a:r>
                      <a:endParaRPr lang="ko-KR" altLang="en-US" sz="120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effectLst/>
                        </a:rPr>
                        <a:t>Scheduling</a:t>
                      </a:r>
                      <a:r>
                        <a:rPr lang="ko-KR" altLang="en-US" sz="1200" dirty="0" smtClean="0">
                          <a:effectLst/>
                        </a:rPr>
                        <a:t>의 </a:t>
                      </a:r>
                      <a:r>
                        <a:rPr lang="en-US" altLang="ko-KR" sz="1200" dirty="0" smtClean="0">
                          <a:effectLst/>
                        </a:rPr>
                        <a:t>Overhead</a:t>
                      </a:r>
                      <a:r>
                        <a:rPr lang="ko-KR" altLang="en-US" sz="1200" dirty="0" smtClean="0">
                          <a:effectLst/>
                        </a:rPr>
                        <a:t>를 최소화 할 수 있는 설계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요구사항 만족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dirty="0" smtClean="0"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effectLst/>
                        </a:rPr>
                        <a:t>Latency Control</a:t>
                      </a:r>
                      <a:r>
                        <a:rPr lang="ko-KR" altLang="en-US" sz="1200" dirty="0" smtClean="0">
                          <a:effectLst/>
                        </a:rPr>
                        <a:t>의 </a:t>
                      </a:r>
                      <a:r>
                        <a:rPr lang="en-US" altLang="ko-KR" sz="1200" dirty="0" smtClean="0">
                          <a:effectLst/>
                        </a:rPr>
                        <a:t>Modulation</a:t>
                      </a:r>
                      <a:r>
                        <a:rPr lang="ko-KR" altLang="en-US" sz="1200" dirty="0" smtClean="0">
                          <a:effectLst/>
                        </a:rPr>
                        <a:t>으로 </a:t>
                      </a:r>
                      <a:r>
                        <a:rPr lang="en-US" altLang="ko-KR" sz="1200" dirty="0" err="1" smtClean="0">
                          <a:solidFill>
                            <a:srgbClr val="0033CC"/>
                          </a:solidFill>
                          <a:effectLst/>
                        </a:rPr>
                        <a:t>QoS</a:t>
                      </a: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를 위한 변경 용이성 높음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aseline="0" dirty="0" smtClean="0">
                          <a:effectLst/>
                        </a:rPr>
                        <a:t>2</a:t>
                      </a:r>
                      <a:r>
                        <a:rPr lang="ko-KR" altLang="en-US" sz="1200" baseline="0" dirty="0" smtClean="0">
                          <a:effectLst/>
                        </a:rPr>
                        <a:t>안과 비교 시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상대적으로 낮은 성능</a:t>
                      </a:r>
                      <a:endParaRPr lang="en-US" altLang="ko-KR" sz="1200" baseline="0" dirty="0" smtClean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aseline="0" dirty="0" smtClean="0">
                          <a:effectLst/>
                        </a:rPr>
                        <a:t>제품 별 </a:t>
                      </a:r>
                      <a:r>
                        <a:rPr lang="en-US" altLang="ko-KR" sz="1200" baseline="0" dirty="0" smtClean="0">
                          <a:effectLst/>
                        </a:rPr>
                        <a:t>Latency Control</a:t>
                      </a:r>
                      <a:r>
                        <a:rPr lang="ko-KR" altLang="en-US" sz="1200" baseline="0" dirty="0" smtClean="0">
                          <a:effectLst/>
                        </a:rPr>
                        <a:t>을 위한 변경 용이성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aseline="0" dirty="0" smtClean="0">
                          <a:effectLst/>
                        </a:rPr>
                        <a:t>기존 시스템과 비교 시 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변경사항 많음</a:t>
                      </a:r>
                      <a:endParaRPr lang="en-US" altLang="ko-KR" sz="1200" baseline="0" dirty="0" smtClean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aseline="0" dirty="0" smtClean="0">
                          <a:effectLst/>
                        </a:rPr>
                        <a:t>Scheduling</a:t>
                      </a:r>
                      <a:r>
                        <a:rPr lang="ko-KR" altLang="en-US" sz="1200" baseline="0" dirty="0" smtClean="0">
                          <a:effectLst/>
                        </a:rPr>
                        <a:t>을 위한 동작 방식의 일관성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</a:t>
                      </a:r>
                      <a:r>
                        <a:rPr lang="ko-KR" altLang="en-US" sz="1200" b="1" dirty="0" smtClean="0"/>
                        <a:t>전체 시스템 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Modifiability &gt; </a:t>
                      </a:r>
                      <a:r>
                        <a:rPr lang="ko-KR" altLang="en-US" sz="1200" b="1" dirty="0" smtClean="0"/>
                        <a:t>기능 변경 용이성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smtClean="0"/>
                        <a:t>개발 용이성 </a:t>
                      </a:r>
                      <a:r>
                        <a:rPr lang="en-US" altLang="ko-KR" sz="1200" dirty="0" smtClean="0"/>
                        <a:t>&gt; </a:t>
                      </a:r>
                      <a:r>
                        <a:rPr lang="ko-KR" altLang="en-US" sz="1200" dirty="0" smtClean="0"/>
                        <a:t>기존 시스템 활용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Performance &gt; </a:t>
                      </a:r>
                      <a:r>
                        <a:rPr lang="ko-KR" altLang="en-US" sz="1200" b="1" dirty="0" smtClean="0"/>
                        <a:t>전체 시스템 성능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Modifiability &gt; </a:t>
                      </a:r>
                      <a:r>
                        <a:rPr lang="ko-KR" altLang="en-US" sz="1200" b="1" dirty="0" smtClean="0"/>
                        <a:t>기능 변경 용이성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smtClean="0"/>
                        <a:t>개발 용이성 </a:t>
                      </a:r>
                      <a:r>
                        <a:rPr lang="en-US" altLang="ko-KR" sz="1200" dirty="0" smtClean="0"/>
                        <a:t>&gt; </a:t>
                      </a:r>
                      <a:r>
                        <a:rPr lang="ko-KR" altLang="en-US" sz="1200" dirty="0" smtClean="0"/>
                        <a:t>기존 시스템 활용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6" name="모서리가 둥근 직사각형 15"/>
          <p:cNvSpPr/>
          <p:nvPr/>
        </p:nvSpPr>
        <p:spPr>
          <a:xfrm>
            <a:off x="8871578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F3 HPB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694364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Rnd. Read </a:t>
            </a:r>
            <a:r>
              <a:rPr lang="ko-KR" altLang="en-US" sz="900" b="1" dirty="0">
                <a:latin typeface="맑은 고딕" panose="020B0503020000020004" pitchFamily="50" charset="-127"/>
              </a:rPr>
              <a:t>성능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494621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C2 UFS Spec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261226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 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준수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060057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248536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258083" y="5863794"/>
            <a:ext cx="11877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</a:p>
          <a:p>
            <a:r>
              <a:rPr lang="en-US" altLang="ko-KR" sz="1200" dirty="0" smtClean="0"/>
              <a:t>○○●</a:t>
            </a:r>
            <a:r>
              <a:rPr lang="en-US" altLang="ko-KR" sz="1200" dirty="0"/>
              <a:t>|○○○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|●●●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667327" y="5858972"/>
            <a:ext cx="11877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|●●●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|●●○</a:t>
            </a:r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654912" y="1801459"/>
            <a:ext cx="1062848" cy="2963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Check IPC</a:t>
            </a:r>
            <a:endParaRPr lang="ko-KR" altLang="en-US" sz="900" dirty="0"/>
          </a:p>
        </p:txBody>
      </p:sp>
      <p:sp>
        <p:nvSpPr>
          <p:cNvPr id="35" name="다이아몬드 34"/>
          <p:cNvSpPr/>
          <p:nvPr/>
        </p:nvSpPr>
        <p:spPr>
          <a:xfrm>
            <a:off x="2089279" y="2350585"/>
            <a:ext cx="189539" cy="1895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654912" y="2792855"/>
            <a:ext cx="1062848" cy="4932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Run Host CMD Schedule</a:t>
            </a:r>
            <a:endParaRPr lang="ko-KR" altLang="en-US" sz="900" dirty="0"/>
          </a:p>
        </p:txBody>
      </p:sp>
      <p:cxnSp>
        <p:nvCxnSpPr>
          <p:cNvPr id="37" name="직선 화살표 연결선 36"/>
          <p:cNvCxnSpPr>
            <a:stCxn id="34" idx="2"/>
            <a:endCxn id="35" idx="0"/>
          </p:cNvCxnSpPr>
          <p:nvPr/>
        </p:nvCxnSpPr>
        <p:spPr>
          <a:xfrm flipH="1">
            <a:off x="2184049" y="2097855"/>
            <a:ext cx="2287" cy="252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35" idx="2"/>
            <a:endCxn id="36" idx="0"/>
          </p:cNvCxnSpPr>
          <p:nvPr/>
        </p:nvCxnSpPr>
        <p:spPr>
          <a:xfrm>
            <a:off x="2184049" y="2540124"/>
            <a:ext cx="2287" cy="252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43"/>
          <p:cNvSpPr/>
          <p:nvPr/>
        </p:nvSpPr>
        <p:spPr>
          <a:xfrm>
            <a:off x="3011173" y="2297157"/>
            <a:ext cx="980784" cy="2963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Get IPC</a:t>
            </a:r>
            <a:endParaRPr lang="ko-KR" altLang="en-US" sz="900" dirty="0"/>
          </a:p>
        </p:txBody>
      </p:sp>
      <p:cxnSp>
        <p:nvCxnSpPr>
          <p:cNvPr id="45" name="직선 화살표 연결선 44"/>
          <p:cNvCxnSpPr>
            <a:stCxn id="35" idx="3"/>
            <a:endCxn id="44" idx="1"/>
          </p:cNvCxnSpPr>
          <p:nvPr/>
        </p:nvCxnSpPr>
        <p:spPr>
          <a:xfrm>
            <a:off x="2278818" y="2445355"/>
            <a:ext cx="732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모서리가 둥근 직사각형 45"/>
          <p:cNvSpPr/>
          <p:nvPr/>
        </p:nvSpPr>
        <p:spPr>
          <a:xfrm>
            <a:off x="4293858" y="2297157"/>
            <a:ext cx="980784" cy="2963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Create Task</a:t>
            </a:r>
            <a:endParaRPr lang="ko-KR" altLang="en-US" sz="900" dirty="0"/>
          </a:p>
        </p:txBody>
      </p:sp>
      <p:cxnSp>
        <p:nvCxnSpPr>
          <p:cNvPr id="49" name="직선 화살표 연결선 48"/>
          <p:cNvCxnSpPr>
            <a:stCxn id="44" idx="3"/>
            <a:endCxn id="46" idx="1"/>
          </p:cNvCxnSpPr>
          <p:nvPr/>
        </p:nvCxnSpPr>
        <p:spPr>
          <a:xfrm>
            <a:off x="3991957" y="2445355"/>
            <a:ext cx="301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46" idx="2"/>
            <a:endCxn id="36" idx="3"/>
          </p:cNvCxnSpPr>
          <p:nvPr/>
        </p:nvCxnSpPr>
        <p:spPr>
          <a:xfrm rot="5400000">
            <a:off x="3528052" y="1783261"/>
            <a:ext cx="445906" cy="20664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/>
          <p:cNvSpPr/>
          <p:nvPr/>
        </p:nvSpPr>
        <p:spPr>
          <a:xfrm>
            <a:off x="1654912" y="3470811"/>
            <a:ext cx="1062848" cy="4932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Run Meta </a:t>
            </a:r>
            <a:r>
              <a:rPr lang="en-US" altLang="ko-KR" sz="900" dirty="0"/>
              <a:t>Schedule</a:t>
            </a:r>
            <a:endParaRPr lang="ko-KR" altLang="en-US" sz="900" dirty="0"/>
          </a:p>
        </p:txBody>
      </p:sp>
      <p:cxnSp>
        <p:nvCxnSpPr>
          <p:cNvPr id="52" name="직선 화살표 연결선 51"/>
          <p:cNvCxnSpPr>
            <a:stCxn id="36" idx="2"/>
            <a:endCxn id="51" idx="0"/>
          </p:cNvCxnSpPr>
          <p:nvPr/>
        </p:nvCxnSpPr>
        <p:spPr>
          <a:xfrm>
            <a:off x="2186336" y="3286063"/>
            <a:ext cx="0" cy="184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52"/>
          <p:cNvSpPr/>
          <p:nvPr/>
        </p:nvSpPr>
        <p:spPr>
          <a:xfrm>
            <a:off x="1654910" y="4139192"/>
            <a:ext cx="1062848" cy="4932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Run GC</a:t>
            </a:r>
            <a:r>
              <a:rPr lang="en-US" altLang="ko-KR" sz="900" dirty="0"/>
              <a:t> Schedule</a:t>
            </a:r>
            <a:endParaRPr lang="ko-KR" altLang="en-US" sz="900" dirty="0"/>
          </a:p>
        </p:txBody>
      </p:sp>
      <p:cxnSp>
        <p:nvCxnSpPr>
          <p:cNvPr id="54" name="직선 화살표 연결선 53"/>
          <p:cNvCxnSpPr>
            <a:stCxn id="51" idx="2"/>
            <a:endCxn id="53" idx="0"/>
          </p:cNvCxnSpPr>
          <p:nvPr/>
        </p:nvCxnSpPr>
        <p:spPr>
          <a:xfrm flipH="1">
            <a:off x="2186334" y="3964019"/>
            <a:ext cx="2" cy="175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/>
          <p:nvPr/>
        </p:nvCxnSpPr>
        <p:spPr>
          <a:xfrm rot="16200000" flipV="1">
            <a:off x="654627" y="3216929"/>
            <a:ext cx="2830941" cy="2"/>
          </a:xfrm>
          <a:prstGeom prst="bentConnector5">
            <a:avLst>
              <a:gd name="adj1" fmla="val -6155"/>
              <a:gd name="adj2" fmla="val 38663850000"/>
              <a:gd name="adj3" fmla="val 1061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구부러진 연결선 70"/>
          <p:cNvCxnSpPr>
            <a:stCxn id="46" idx="3"/>
            <a:endCxn id="63" idx="0"/>
          </p:cNvCxnSpPr>
          <p:nvPr/>
        </p:nvCxnSpPr>
        <p:spPr>
          <a:xfrm>
            <a:off x="5274642" y="2445355"/>
            <a:ext cx="743275" cy="790726"/>
          </a:xfrm>
          <a:prstGeom prst="curvedConnector2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AutoShape 10"/>
          <p:cNvSpPr>
            <a:spLocks noChangeArrowheads="1"/>
          </p:cNvSpPr>
          <p:nvPr/>
        </p:nvSpPr>
        <p:spPr bwMode="auto">
          <a:xfrm>
            <a:off x="4566136" y="1788070"/>
            <a:ext cx="168176" cy="82776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701129" y="1731371"/>
            <a:ext cx="854861" cy="22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b="1" dirty="0" smtClean="0"/>
              <a:t>: Task (Active)</a:t>
            </a:r>
            <a:endParaRPr lang="en-US" altLang="ko-KR" sz="700" b="1" dirty="0"/>
          </a:p>
        </p:txBody>
      </p:sp>
      <p:sp>
        <p:nvSpPr>
          <p:cNvPr id="79" name="직사각형 78"/>
          <p:cNvSpPr/>
          <p:nvPr/>
        </p:nvSpPr>
        <p:spPr>
          <a:xfrm>
            <a:off x="4450080" y="1555051"/>
            <a:ext cx="2026520" cy="40250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endParaRPr lang="en-US" altLang="ko-KR" sz="800" b="1" dirty="0" smtClean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163962" y="1539147"/>
            <a:ext cx="552754" cy="22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b="1" dirty="0" smtClean="0"/>
              <a:t>Legend</a:t>
            </a:r>
            <a:endParaRPr lang="en-US" altLang="ko-KR" sz="700" b="1" dirty="0"/>
          </a:p>
        </p:txBody>
      </p:sp>
      <p:sp>
        <p:nvSpPr>
          <p:cNvPr id="82" name="AutoShape 10"/>
          <p:cNvSpPr>
            <a:spLocks noChangeArrowheads="1"/>
          </p:cNvSpPr>
          <p:nvPr/>
        </p:nvSpPr>
        <p:spPr bwMode="auto">
          <a:xfrm>
            <a:off x="5494845" y="1788070"/>
            <a:ext cx="168176" cy="82776"/>
          </a:xfrm>
          <a:prstGeom prst="flowChartAlternateProcess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ko-KR" sz="700" b="1" dirty="0">
              <a:solidFill>
                <a:schemeClr val="bg1"/>
              </a:solidFill>
              <a:ea typeface="HY헤드라인M" pitchFamily="18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629839" y="1731371"/>
            <a:ext cx="846761" cy="22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b="1" dirty="0" smtClean="0"/>
              <a:t>: Task (Inactive)</a:t>
            </a:r>
            <a:endParaRPr lang="en-US" altLang="ko-KR" sz="7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1699510" y="2101109"/>
            <a:ext cx="470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Exist?</a:t>
            </a:r>
            <a:endParaRPr lang="ko-KR" alt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2486099" y="2388327"/>
            <a:ext cx="201818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/>
              <a:t>[Yes]</a:t>
            </a:r>
            <a:endParaRPr lang="ko-KR" altLang="en-US" sz="700" dirty="0"/>
          </a:p>
        </p:txBody>
      </p:sp>
      <p:sp>
        <p:nvSpPr>
          <p:cNvPr id="86" name="TextBox 85"/>
          <p:cNvSpPr txBox="1"/>
          <p:nvPr/>
        </p:nvSpPr>
        <p:spPr>
          <a:xfrm>
            <a:off x="1984403" y="2571833"/>
            <a:ext cx="172408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/>
            </a:lvl1pPr>
          </a:lstStyle>
          <a:p>
            <a:r>
              <a:rPr lang="en-US" altLang="ko-KR" sz="700" dirty="0"/>
              <a:t>[No]</a:t>
            </a:r>
            <a:endParaRPr lang="ko-KR" altLang="en-US" sz="700" dirty="0"/>
          </a:p>
        </p:txBody>
      </p:sp>
      <p:sp>
        <p:nvSpPr>
          <p:cNvPr id="56" name="직사각형 55"/>
          <p:cNvSpPr/>
          <p:nvPr/>
        </p:nvSpPr>
        <p:spPr>
          <a:xfrm>
            <a:off x="3345201" y="3124830"/>
            <a:ext cx="3100679" cy="1705443"/>
          </a:xfrm>
          <a:prstGeom prst="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 b="1" dirty="0" smtClean="0">
              <a:solidFill>
                <a:schemeClr val="tx1"/>
              </a:solidFill>
            </a:endParaRPr>
          </a:p>
        </p:txBody>
      </p:sp>
      <p:sp>
        <p:nvSpPr>
          <p:cNvPr id="57" name="AutoShape 10"/>
          <p:cNvSpPr>
            <a:spLocks noChangeArrowheads="1"/>
          </p:cNvSpPr>
          <p:nvPr/>
        </p:nvSpPr>
        <p:spPr bwMode="auto">
          <a:xfrm>
            <a:off x="4426658" y="3236081"/>
            <a:ext cx="503390" cy="225005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Read 1</a:t>
            </a:r>
          </a:p>
        </p:txBody>
      </p:sp>
      <p:sp>
        <p:nvSpPr>
          <p:cNvPr id="60" name="AutoShape 10"/>
          <p:cNvSpPr>
            <a:spLocks noChangeArrowheads="1"/>
          </p:cNvSpPr>
          <p:nvPr/>
        </p:nvSpPr>
        <p:spPr bwMode="auto">
          <a:xfrm>
            <a:off x="4426658" y="3556908"/>
            <a:ext cx="503390" cy="225005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Write 1</a:t>
            </a:r>
          </a:p>
        </p:txBody>
      </p:sp>
      <p:sp>
        <p:nvSpPr>
          <p:cNvPr id="61" name="AutoShape 10"/>
          <p:cNvSpPr>
            <a:spLocks noChangeArrowheads="1"/>
          </p:cNvSpPr>
          <p:nvPr/>
        </p:nvSpPr>
        <p:spPr bwMode="auto">
          <a:xfrm>
            <a:off x="5104253" y="3561011"/>
            <a:ext cx="503390" cy="225005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Write 2</a:t>
            </a:r>
          </a:p>
        </p:txBody>
      </p:sp>
      <p:sp>
        <p:nvSpPr>
          <p:cNvPr id="62" name="AutoShape 10"/>
          <p:cNvSpPr>
            <a:spLocks noChangeArrowheads="1"/>
          </p:cNvSpPr>
          <p:nvPr/>
        </p:nvSpPr>
        <p:spPr bwMode="auto">
          <a:xfrm>
            <a:off x="5104252" y="3236081"/>
            <a:ext cx="503390" cy="225005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Read 2</a:t>
            </a:r>
          </a:p>
        </p:txBody>
      </p:sp>
      <p:sp>
        <p:nvSpPr>
          <p:cNvPr id="63" name="AutoShape 10"/>
          <p:cNvSpPr>
            <a:spLocks noChangeArrowheads="1"/>
          </p:cNvSpPr>
          <p:nvPr/>
        </p:nvSpPr>
        <p:spPr bwMode="auto">
          <a:xfrm>
            <a:off x="5766222" y="3236081"/>
            <a:ext cx="503390" cy="225005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Read 3</a:t>
            </a:r>
          </a:p>
        </p:txBody>
      </p:sp>
      <p:sp>
        <p:nvSpPr>
          <p:cNvPr id="64" name="AutoShape 10"/>
          <p:cNvSpPr>
            <a:spLocks noChangeArrowheads="1"/>
          </p:cNvSpPr>
          <p:nvPr/>
        </p:nvSpPr>
        <p:spPr bwMode="auto">
          <a:xfrm>
            <a:off x="5766222" y="3556908"/>
            <a:ext cx="503390" cy="225005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Control</a:t>
            </a:r>
          </a:p>
        </p:txBody>
      </p:sp>
      <p:cxnSp>
        <p:nvCxnSpPr>
          <p:cNvPr id="65" name="직선 화살표 연결선 64"/>
          <p:cNvCxnSpPr>
            <a:stCxn id="57" idx="3"/>
            <a:endCxn id="62" idx="1"/>
          </p:cNvCxnSpPr>
          <p:nvPr/>
        </p:nvCxnSpPr>
        <p:spPr>
          <a:xfrm>
            <a:off x="4930047" y="3348584"/>
            <a:ext cx="1742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62" idx="3"/>
            <a:endCxn id="63" idx="1"/>
          </p:cNvCxnSpPr>
          <p:nvPr/>
        </p:nvCxnSpPr>
        <p:spPr>
          <a:xfrm>
            <a:off x="5607642" y="3348584"/>
            <a:ext cx="158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>
            <a:stCxn id="60" idx="3"/>
            <a:endCxn id="61" idx="1"/>
          </p:cNvCxnSpPr>
          <p:nvPr/>
        </p:nvCxnSpPr>
        <p:spPr>
          <a:xfrm>
            <a:off x="4930047" y="3669410"/>
            <a:ext cx="174207" cy="4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61" idx="3"/>
            <a:endCxn id="64" idx="1"/>
          </p:cNvCxnSpPr>
          <p:nvPr/>
        </p:nvCxnSpPr>
        <p:spPr>
          <a:xfrm flipV="1">
            <a:off x="5607643" y="3669410"/>
            <a:ext cx="158580" cy="4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469579" y="3234440"/>
            <a:ext cx="976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 smtClean="0"/>
              <a:t>High Priority :</a:t>
            </a:r>
            <a:endParaRPr lang="ko-KR" altLang="en-US" sz="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3469579" y="3569274"/>
            <a:ext cx="976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 smtClean="0"/>
              <a:t>Normal Priority :</a:t>
            </a:r>
            <a:endParaRPr lang="ko-KR" altLang="en-US" sz="800" b="1" dirty="0"/>
          </a:p>
        </p:txBody>
      </p:sp>
      <p:sp>
        <p:nvSpPr>
          <p:cNvPr id="72" name="AutoShape 10"/>
          <p:cNvSpPr>
            <a:spLocks noChangeArrowheads="1"/>
          </p:cNvSpPr>
          <p:nvPr/>
        </p:nvSpPr>
        <p:spPr bwMode="auto">
          <a:xfrm>
            <a:off x="4426658" y="4047843"/>
            <a:ext cx="503390" cy="218447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Allocate</a:t>
            </a:r>
          </a:p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Block</a:t>
            </a:r>
          </a:p>
        </p:txBody>
      </p:sp>
      <p:sp>
        <p:nvSpPr>
          <p:cNvPr id="73" name="AutoShape 10"/>
          <p:cNvSpPr>
            <a:spLocks noChangeArrowheads="1"/>
          </p:cNvSpPr>
          <p:nvPr/>
        </p:nvSpPr>
        <p:spPr bwMode="auto">
          <a:xfrm>
            <a:off x="5096330" y="4047918"/>
            <a:ext cx="503390" cy="224929"/>
          </a:xfrm>
          <a:prstGeom prst="flowChartAlternateProcess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700" b="1" dirty="0" smtClean="0">
                <a:solidFill>
                  <a:schemeClr val="bg1"/>
                </a:solidFill>
                <a:ea typeface="HY헤드라인M" pitchFamily="18" charset="-127"/>
              </a:rPr>
              <a:t>Meta</a:t>
            </a:r>
          </a:p>
          <a:p>
            <a:pPr algn="ctr"/>
            <a:r>
              <a:rPr lang="en-US" altLang="ko-KR" sz="700" b="1" dirty="0" smtClean="0">
                <a:solidFill>
                  <a:schemeClr val="bg1"/>
                </a:solidFill>
                <a:ea typeface="HY헤드라인M" pitchFamily="18" charset="-127"/>
              </a:rPr>
              <a:t>Block</a:t>
            </a:r>
            <a:endParaRPr lang="en-US" altLang="ko-KR" sz="700" b="1" dirty="0">
              <a:solidFill>
                <a:schemeClr val="bg1"/>
              </a:solidFill>
              <a:ea typeface="HY헤드라인M" pitchFamily="18" charset="-127"/>
            </a:endParaRPr>
          </a:p>
        </p:txBody>
      </p:sp>
      <p:sp>
        <p:nvSpPr>
          <p:cNvPr id="74" name="AutoShape 10"/>
          <p:cNvSpPr>
            <a:spLocks noChangeArrowheads="1"/>
          </p:cNvSpPr>
          <p:nvPr/>
        </p:nvSpPr>
        <p:spPr bwMode="auto">
          <a:xfrm>
            <a:off x="5763728" y="4043462"/>
            <a:ext cx="503390" cy="229385"/>
          </a:xfrm>
          <a:prstGeom prst="flowChartAlternateProcess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ea typeface="HY헤드라인M" pitchFamily="18" charset="-127"/>
              </a:rPr>
              <a:t>Flush</a:t>
            </a:r>
          </a:p>
          <a:p>
            <a:pPr algn="ctr"/>
            <a:r>
              <a:rPr lang="en-US" altLang="ko-KR" sz="700" b="1" dirty="0">
                <a:solidFill>
                  <a:schemeClr val="bg1"/>
                </a:solidFill>
                <a:ea typeface="HY헤드라인M" pitchFamily="18" charset="-127"/>
              </a:rPr>
              <a:t>Meta Log</a:t>
            </a:r>
          </a:p>
        </p:txBody>
      </p:sp>
      <p:cxnSp>
        <p:nvCxnSpPr>
          <p:cNvPr id="75" name="구부러진 연결선 74"/>
          <p:cNvCxnSpPr>
            <a:stCxn id="72" idx="2"/>
            <a:endCxn id="88" idx="0"/>
          </p:cNvCxnSpPr>
          <p:nvPr/>
        </p:nvCxnSpPr>
        <p:spPr>
          <a:xfrm rot="5400000">
            <a:off x="4560822" y="4383819"/>
            <a:ext cx="235062" cy="10692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구부러진 연결선 75"/>
          <p:cNvCxnSpPr>
            <a:stCxn id="61" idx="2"/>
            <a:endCxn id="72" idx="0"/>
          </p:cNvCxnSpPr>
          <p:nvPr/>
        </p:nvCxnSpPr>
        <p:spPr>
          <a:xfrm rot="5400000">
            <a:off x="4886237" y="3578131"/>
            <a:ext cx="261827" cy="677595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905245" y="4039308"/>
            <a:ext cx="5413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 smtClean="0"/>
              <a:t>Meta :</a:t>
            </a:r>
            <a:endParaRPr lang="ko-KR" altLang="en-US" sz="800" b="1" dirty="0"/>
          </a:p>
        </p:txBody>
      </p:sp>
      <p:sp>
        <p:nvSpPr>
          <p:cNvPr id="88" name="AutoShape 10"/>
          <p:cNvSpPr>
            <a:spLocks noChangeArrowheads="1"/>
          </p:cNvSpPr>
          <p:nvPr/>
        </p:nvSpPr>
        <p:spPr bwMode="auto">
          <a:xfrm>
            <a:off x="4426658" y="4501351"/>
            <a:ext cx="503390" cy="218447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Normal</a:t>
            </a:r>
          </a:p>
        </p:txBody>
      </p:sp>
      <p:sp>
        <p:nvSpPr>
          <p:cNvPr id="89" name="AutoShape 10"/>
          <p:cNvSpPr>
            <a:spLocks noChangeArrowheads="1"/>
          </p:cNvSpPr>
          <p:nvPr/>
        </p:nvSpPr>
        <p:spPr bwMode="auto">
          <a:xfrm>
            <a:off x="5096330" y="4501426"/>
            <a:ext cx="503390" cy="224929"/>
          </a:xfrm>
          <a:prstGeom prst="flowChartAlternateProcess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700" b="1" dirty="0" err="1" smtClean="0">
                <a:solidFill>
                  <a:schemeClr val="bg1"/>
                </a:solidFill>
                <a:ea typeface="HY헤드라인M" pitchFamily="18" charset="-127"/>
              </a:rPr>
              <a:t>WearLevel</a:t>
            </a:r>
            <a:endParaRPr lang="en-US" altLang="ko-KR" sz="700" b="1" dirty="0">
              <a:solidFill>
                <a:schemeClr val="bg1"/>
              </a:solidFill>
              <a:ea typeface="HY헤드라인M" pitchFamily="18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992860" y="4492816"/>
            <a:ext cx="453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 smtClean="0"/>
              <a:t>G/C :</a:t>
            </a:r>
            <a:endParaRPr lang="ko-KR" altLang="en-US" sz="800" b="1" dirty="0"/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6912465" y="2680490"/>
            <a:ext cx="955641" cy="3411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Select Message</a:t>
            </a:r>
            <a:endParaRPr lang="ko-KR" altLang="en-US" sz="900" dirty="0"/>
          </a:p>
        </p:txBody>
      </p:sp>
      <p:cxnSp>
        <p:nvCxnSpPr>
          <p:cNvPr id="123" name="직선 화살표 연결선 122"/>
          <p:cNvCxnSpPr>
            <a:stCxn id="122" idx="2"/>
            <a:endCxn id="124" idx="0"/>
          </p:cNvCxnSpPr>
          <p:nvPr/>
        </p:nvCxnSpPr>
        <p:spPr>
          <a:xfrm>
            <a:off x="7390286" y="3021600"/>
            <a:ext cx="0" cy="3466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모서리가 둥근 직사각형 123"/>
          <p:cNvSpPr/>
          <p:nvPr/>
        </p:nvSpPr>
        <p:spPr>
          <a:xfrm>
            <a:off x="6912465" y="3368286"/>
            <a:ext cx="955641" cy="3411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Execute Service</a:t>
            </a:r>
            <a:endParaRPr lang="ko-KR" altLang="en-US" sz="900" dirty="0"/>
          </a:p>
        </p:txBody>
      </p:sp>
      <p:cxnSp>
        <p:nvCxnSpPr>
          <p:cNvPr id="125" name="꺾인 연결선 124"/>
          <p:cNvCxnSpPr>
            <a:stCxn id="124" idx="2"/>
            <a:endCxn id="122" idx="0"/>
          </p:cNvCxnSpPr>
          <p:nvPr/>
        </p:nvCxnSpPr>
        <p:spPr>
          <a:xfrm rot="5400000" flipH="1">
            <a:off x="6875834" y="3194943"/>
            <a:ext cx="1028905" cy="11141"/>
          </a:xfrm>
          <a:prstGeom prst="bentConnector5">
            <a:avLst>
              <a:gd name="adj1" fmla="val -19491"/>
              <a:gd name="adj2" fmla="val 6088780"/>
              <a:gd name="adj3" fmla="val 1194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22" idx="3"/>
            <a:endCxn id="127" idx="1"/>
          </p:cNvCxnSpPr>
          <p:nvPr/>
        </p:nvCxnSpPr>
        <p:spPr>
          <a:xfrm flipV="1">
            <a:off x="7868106" y="2612612"/>
            <a:ext cx="291376" cy="238433"/>
          </a:xfrm>
          <a:prstGeom prst="straightConnector1">
            <a:avLst/>
          </a:prstGeom>
          <a:solidFill>
            <a:srgbClr val="FFC000">
              <a:alpha val="22000"/>
            </a:srgbClr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직사각형 126"/>
          <p:cNvSpPr/>
          <p:nvPr/>
        </p:nvSpPr>
        <p:spPr>
          <a:xfrm>
            <a:off x="8159482" y="1730377"/>
            <a:ext cx="3715090" cy="1764470"/>
          </a:xfrm>
          <a:prstGeom prst="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8267158" y="1854116"/>
            <a:ext cx="1012146" cy="15423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Message</a:t>
            </a:r>
          </a:p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Queue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pSp>
        <p:nvGrpSpPr>
          <p:cNvPr id="195" name="그룹 194"/>
          <p:cNvGrpSpPr/>
          <p:nvPr/>
        </p:nvGrpSpPr>
        <p:grpSpPr>
          <a:xfrm>
            <a:off x="8368271" y="2313495"/>
            <a:ext cx="812259" cy="1021457"/>
            <a:chOff x="8134776" y="2226680"/>
            <a:chExt cx="468171" cy="985527"/>
          </a:xfrm>
        </p:grpSpPr>
        <p:sp>
          <p:nvSpPr>
            <p:cNvPr id="129" name="직사각형 128"/>
            <p:cNvSpPr/>
            <p:nvPr/>
          </p:nvSpPr>
          <p:spPr>
            <a:xfrm>
              <a:off x="8134776" y="2226680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0" name="직사각형 129"/>
            <p:cNvSpPr/>
            <p:nvPr/>
          </p:nvSpPr>
          <p:spPr>
            <a:xfrm>
              <a:off x="8251819" y="2226680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8368862" y="2226680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8485905" y="2226680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8134776" y="234899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8251819" y="234899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8368862" y="234899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8485905" y="234899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8134776" y="2472389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8251819" y="2472389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8368862" y="2472389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8485905" y="2472389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8134776" y="2596788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8251819" y="2596788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8368862" y="2596788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7" name="직사각형 146"/>
            <p:cNvSpPr/>
            <p:nvPr/>
          </p:nvSpPr>
          <p:spPr>
            <a:xfrm>
              <a:off x="8485905" y="2596788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8134776" y="2719294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8251819" y="2719294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8368862" y="2719294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8485905" y="2719294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8134776" y="2842305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8251819" y="2842305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8368862" y="2842305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8485905" y="2842305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8134776" y="296670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8251819" y="296670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8368862" y="296670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8485905" y="2966703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8134776" y="3089211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8251819" y="3089211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8368862" y="3089211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8485905" y="3089211"/>
              <a:ext cx="117042" cy="1229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sz="800" b="1" dirty="0"/>
            </a:p>
          </p:txBody>
        </p:sp>
      </p:grpSp>
      <p:sp>
        <p:nvSpPr>
          <p:cNvPr id="169" name="직사각형 168"/>
          <p:cNvSpPr/>
          <p:nvPr/>
        </p:nvSpPr>
        <p:spPr>
          <a:xfrm>
            <a:off x="10042928" y="2689149"/>
            <a:ext cx="1073816" cy="3339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800" b="1" dirty="0" smtClean="0">
                <a:solidFill>
                  <a:schemeClr val="dk1"/>
                </a:solidFill>
              </a:rPr>
              <a:t>Latency Controller</a:t>
            </a:r>
            <a:endParaRPr lang="ko-KR" altLang="en-US" sz="800" b="1" dirty="0">
              <a:solidFill>
                <a:schemeClr val="dk1"/>
              </a:solidFill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9376233" y="1893261"/>
            <a:ext cx="2436656" cy="557303"/>
            <a:chOff x="8047383" y="4103425"/>
            <a:chExt cx="2953804" cy="462018"/>
          </a:xfrm>
        </p:grpSpPr>
        <p:sp>
          <p:nvSpPr>
            <p:cNvPr id="171" name="모서리가 둥근 사각형 설명선 170"/>
            <p:cNvSpPr/>
            <p:nvPr/>
          </p:nvSpPr>
          <p:spPr>
            <a:xfrm>
              <a:off x="8047383" y="4191000"/>
              <a:ext cx="914582" cy="374443"/>
            </a:xfrm>
            <a:prstGeom prst="wedgeRoundRectCallout">
              <a:avLst>
                <a:gd name="adj1" fmla="val 57517"/>
                <a:gd name="adj2" fmla="val 88417"/>
                <a:gd name="adj3" fmla="val 1666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800" b="1" dirty="0">
                  <a:solidFill>
                    <a:schemeClr val="dk1"/>
                  </a:solidFill>
                </a:rPr>
                <a:t>MQ Priority</a:t>
              </a:r>
              <a:endParaRPr lang="ko-KR" altLang="en-US" sz="800" b="1" dirty="0">
                <a:solidFill>
                  <a:schemeClr val="dk1"/>
                </a:solidFill>
              </a:endParaRPr>
            </a:p>
          </p:txBody>
        </p:sp>
        <p:sp>
          <p:nvSpPr>
            <p:cNvPr id="172" name="모서리가 둥근 사각형 설명선 171"/>
            <p:cNvSpPr/>
            <p:nvPr/>
          </p:nvSpPr>
          <p:spPr>
            <a:xfrm>
              <a:off x="9066994" y="4103425"/>
              <a:ext cx="914582" cy="374443"/>
            </a:xfrm>
            <a:prstGeom prst="wedgeRoundRectCallout">
              <a:avLst>
                <a:gd name="adj1" fmla="val 1197"/>
                <a:gd name="adj2" fmla="val 115836"/>
                <a:gd name="adj3" fmla="val 1666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800" b="1" dirty="0" smtClean="0">
                  <a:solidFill>
                    <a:schemeClr val="dk1"/>
                  </a:solidFill>
                </a:rPr>
                <a:t>Internal Conditions</a:t>
              </a:r>
              <a:endParaRPr lang="ko-KR" altLang="en-US" sz="800" b="1" dirty="0">
                <a:solidFill>
                  <a:schemeClr val="dk1"/>
                </a:solidFill>
              </a:endParaRPr>
            </a:p>
          </p:txBody>
        </p:sp>
        <p:sp>
          <p:nvSpPr>
            <p:cNvPr id="173" name="모서리가 둥근 사각형 설명선 172"/>
            <p:cNvSpPr/>
            <p:nvPr/>
          </p:nvSpPr>
          <p:spPr>
            <a:xfrm>
              <a:off x="10086605" y="4191000"/>
              <a:ext cx="914582" cy="374443"/>
            </a:xfrm>
            <a:prstGeom prst="wedgeRoundRectCallout">
              <a:avLst>
                <a:gd name="adj1" fmla="val -63813"/>
                <a:gd name="adj2" fmla="val 90961"/>
                <a:gd name="adj3" fmla="val 1666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800" b="1" dirty="0" smtClean="0"/>
                <a:t>Policy</a:t>
              </a:r>
              <a:endParaRPr lang="ko-KR" altLang="en-US" sz="800" b="1" dirty="0">
                <a:solidFill>
                  <a:schemeClr val="dk1"/>
                </a:solidFill>
              </a:endParaRPr>
            </a:p>
          </p:txBody>
        </p:sp>
      </p:grpSp>
      <p:sp>
        <p:nvSpPr>
          <p:cNvPr id="174" name="타원 173"/>
          <p:cNvSpPr/>
          <p:nvPr/>
        </p:nvSpPr>
        <p:spPr>
          <a:xfrm>
            <a:off x="8975358" y="2393705"/>
            <a:ext cx="219565" cy="219565"/>
          </a:xfrm>
          <a:prstGeom prst="ellipse">
            <a:avLst/>
          </a:prstGeom>
          <a:noFill/>
          <a:ln w="28575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75" name="직선 화살표 연결선 174"/>
          <p:cNvCxnSpPr>
            <a:stCxn id="169" idx="1"/>
            <a:endCxn id="174" idx="6"/>
          </p:cNvCxnSpPr>
          <p:nvPr/>
        </p:nvCxnSpPr>
        <p:spPr>
          <a:xfrm flipH="1" flipV="1">
            <a:off x="9194923" y="2503488"/>
            <a:ext cx="848005" cy="352629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6" name="TextBox 175"/>
          <p:cNvSpPr txBox="1"/>
          <p:nvPr/>
        </p:nvSpPr>
        <p:spPr>
          <a:xfrm>
            <a:off x="9343187" y="2754064"/>
            <a:ext cx="784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FF"/>
                </a:solidFill>
              </a:rPr>
              <a:t>Select</a:t>
            </a:r>
          </a:p>
          <a:p>
            <a:r>
              <a:rPr lang="en-US" altLang="ko-KR" sz="1000" dirty="0" smtClean="0">
                <a:solidFill>
                  <a:srgbClr val="0000FF"/>
                </a:solidFill>
              </a:rPr>
              <a:t>Message</a:t>
            </a:r>
            <a:endParaRPr lang="ko-KR" altLang="en-US" sz="1000" dirty="0">
              <a:solidFill>
                <a:srgbClr val="0000FF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8159482" y="3658453"/>
            <a:ext cx="3715090" cy="820681"/>
          </a:xfrm>
          <a:prstGeom prst="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 b="1" dirty="0">
              <a:solidFill>
                <a:schemeClr val="tx1"/>
              </a:solidFill>
            </a:endParaRPr>
          </a:p>
        </p:txBody>
      </p:sp>
      <p:cxnSp>
        <p:nvCxnSpPr>
          <p:cNvPr id="178" name="직선 화살표 연결선 177"/>
          <p:cNvCxnSpPr>
            <a:stCxn id="124" idx="3"/>
            <a:endCxn id="177" idx="1"/>
          </p:cNvCxnSpPr>
          <p:nvPr/>
        </p:nvCxnSpPr>
        <p:spPr>
          <a:xfrm>
            <a:off x="7868106" y="3538841"/>
            <a:ext cx="291376" cy="529953"/>
          </a:xfrm>
          <a:prstGeom prst="straightConnector1">
            <a:avLst/>
          </a:prstGeom>
          <a:solidFill>
            <a:srgbClr val="FFC000">
              <a:alpha val="22000"/>
            </a:srgbClr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9" name="다이아몬드 178"/>
          <p:cNvSpPr/>
          <p:nvPr/>
        </p:nvSpPr>
        <p:spPr>
          <a:xfrm>
            <a:off x="9760079" y="4011184"/>
            <a:ext cx="218133" cy="21813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dk1"/>
              </a:solidFill>
            </a:endParaRPr>
          </a:p>
        </p:txBody>
      </p:sp>
      <p:cxnSp>
        <p:nvCxnSpPr>
          <p:cNvPr id="180" name="직선 화살표 연결선 179"/>
          <p:cNvCxnSpPr>
            <a:stCxn id="181" idx="3"/>
            <a:endCxn id="179" idx="1"/>
          </p:cNvCxnSpPr>
          <p:nvPr/>
        </p:nvCxnSpPr>
        <p:spPr>
          <a:xfrm flipV="1">
            <a:off x="9382796" y="4120251"/>
            <a:ext cx="377283" cy="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모서리가 둥근 직사각형 180"/>
          <p:cNvSpPr/>
          <p:nvPr/>
        </p:nvSpPr>
        <p:spPr>
          <a:xfrm>
            <a:off x="8310217" y="3950505"/>
            <a:ext cx="1072579" cy="3411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Check OP Code in Message</a:t>
            </a:r>
            <a:endParaRPr lang="ko-KR" altLang="en-US" sz="900" b="1" dirty="0"/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10635720" y="3950505"/>
            <a:ext cx="1072579" cy="3411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Read Service</a:t>
            </a:r>
            <a:endParaRPr lang="ko-KR" altLang="en-US" sz="900" b="1" dirty="0"/>
          </a:p>
        </p:txBody>
      </p:sp>
      <p:cxnSp>
        <p:nvCxnSpPr>
          <p:cNvPr id="183" name="직선 화살표 연결선 182"/>
          <p:cNvCxnSpPr>
            <a:stCxn id="179" idx="3"/>
            <a:endCxn id="182" idx="1"/>
          </p:cNvCxnSpPr>
          <p:nvPr/>
        </p:nvCxnSpPr>
        <p:spPr>
          <a:xfrm>
            <a:off x="9978212" y="4120251"/>
            <a:ext cx="657508" cy="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0065742" y="4029488"/>
            <a:ext cx="36613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600" dirty="0" smtClean="0"/>
              <a:t>[ Read ]</a:t>
            </a:r>
            <a:endParaRPr lang="ko-KR" altLang="en-US" sz="600" dirty="0"/>
          </a:p>
        </p:txBody>
      </p:sp>
      <p:sp>
        <p:nvSpPr>
          <p:cNvPr id="185" name="TextBox 184"/>
          <p:cNvSpPr txBox="1"/>
          <p:nvPr/>
        </p:nvSpPr>
        <p:spPr>
          <a:xfrm>
            <a:off x="9586872" y="3823805"/>
            <a:ext cx="586965" cy="20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OP Code?</a:t>
            </a:r>
            <a:endParaRPr lang="ko-KR" altLang="en-US" sz="600" dirty="0"/>
          </a:p>
        </p:txBody>
      </p:sp>
      <p:cxnSp>
        <p:nvCxnSpPr>
          <p:cNvPr id="186" name="구부러진 연결선 185"/>
          <p:cNvCxnSpPr>
            <a:stCxn id="174" idx="4"/>
            <a:endCxn id="181" idx="0"/>
          </p:cNvCxnSpPr>
          <p:nvPr/>
        </p:nvCxnSpPr>
        <p:spPr>
          <a:xfrm rot="5400000">
            <a:off x="8297207" y="3162570"/>
            <a:ext cx="1337235" cy="238634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모서리가 둥근 사각형 설명선 221"/>
          <p:cNvSpPr/>
          <p:nvPr/>
        </p:nvSpPr>
        <p:spPr>
          <a:xfrm>
            <a:off x="2982142" y="1801459"/>
            <a:ext cx="754458" cy="388228"/>
          </a:xfrm>
          <a:prstGeom prst="wedgeRoundRectCallout">
            <a:avLst>
              <a:gd name="adj1" fmla="val 36056"/>
              <a:gd name="adj2" fmla="val 78217"/>
              <a:gd name="adj3" fmla="val 166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schemeClr val="dk1"/>
                </a:solidFill>
              </a:rPr>
              <a:t>MQ </a:t>
            </a:r>
            <a:r>
              <a:rPr lang="en-US" altLang="ko-KR" sz="800" b="1" dirty="0" smtClean="0">
                <a:solidFill>
                  <a:schemeClr val="dk1"/>
                </a:solidFill>
              </a:rPr>
              <a:t>Priority</a:t>
            </a:r>
            <a:endParaRPr lang="ko-KR" altLang="en-US" sz="800" b="1" dirty="0">
              <a:solidFill>
                <a:schemeClr val="dk1"/>
              </a:solidFill>
            </a:endParaRPr>
          </a:p>
        </p:txBody>
      </p:sp>
      <p:sp>
        <p:nvSpPr>
          <p:cNvPr id="223" name="모서리가 둥근 사각형 설명선 222"/>
          <p:cNvSpPr/>
          <p:nvPr/>
        </p:nvSpPr>
        <p:spPr>
          <a:xfrm>
            <a:off x="3155881" y="3913358"/>
            <a:ext cx="754458" cy="451667"/>
          </a:xfrm>
          <a:prstGeom prst="wedgeRoundRectCallout">
            <a:avLst>
              <a:gd name="adj1" fmla="val 74422"/>
              <a:gd name="adj2" fmla="val 50461"/>
              <a:gd name="adj3" fmla="val 166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800" b="1" dirty="0" smtClean="0">
                <a:solidFill>
                  <a:schemeClr val="dk1"/>
                </a:solidFill>
              </a:rPr>
              <a:t>Internal Conditions</a:t>
            </a:r>
            <a:endParaRPr lang="ko-KR" altLang="en-US" sz="800" b="1" dirty="0">
              <a:solidFill>
                <a:schemeClr val="dk1"/>
              </a:solidFill>
            </a:endParaRPr>
          </a:p>
        </p:txBody>
      </p:sp>
      <p:sp>
        <p:nvSpPr>
          <p:cNvPr id="224" name="모서리가 둥근 사각형 설명선 223"/>
          <p:cNvSpPr/>
          <p:nvPr/>
        </p:nvSpPr>
        <p:spPr>
          <a:xfrm>
            <a:off x="3297108" y="2624969"/>
            <a:ext cx="783463" cy="387835"/>
          </a:xfrm>
          <a:prstGeom prst="wedgeRoundRectCallout">
            <a:avLst>
              <a:gd name="adj1" fmla="val 42639"/>
              <a:gd name="adj2" fmla="val 113655"/>
              <a:gd name="adj3" fmla="val 166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800" b="1" dirty="0" smtClean="0">
                <a:solidFill>
                  <a:schemeClr val="dk1"/>
                </a:solidFill>
              </a:rPr>
              <a:t>Policy,</a:t>
            </a:r>
          </a:p>
          <a:p>
            <a:pPr algn="ctr"/>
            <a:r>
              <a:rPr lang="ko-KR" altLang="en-US" sz="800" b="1" dirty="0" smtClean="0"/>
              <a:t>병렬처리</a:t>
            </a:r>
            <a:endParaRPr lang="ko-KR" altLang="en-US" sz="800" b="1" dirty="0">
              <a:solidFill>
                <a:schemeClr val="dk1"/>
              </a:solidFill>
            </a:endParaRPr>
          </a:p>
        </p:txBody>
      </p:sp>
      <p:sp>
        <p:nvSpPr>
          <p:cNvPr id="226" name="모서리가 둥근 사각형 설명선 225"/>
          <p:cNvSpPr/>
          <p:nvPr/>
        </p:nvSpPr>
        <p:spPr>
          <a:xfrm>
            <a:off x="10268927" y="4530252"/>
            <a:ext cx="754458" cy="291400"/>
          </a:xfrm>
          <a:prstGeom prst="wedgeRoundRectCallout">
            <a:avLst>
              <a:gd name="adj1" fmla="val 30874"/>
              <a:gd name="adj2" fmla="val -109591"/>
              <a:gd name="adj3" fmla="val 166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800" b="1" dirty="0" smtClean="0"/>
              <a:t>병렬처리</a:t>
            </a:r>
            <a:endParaRPr lang="ko-KR" altLang="en-US" sz="800" b="1" dirty="0">
              <a:solidFill>
                <a:schemeClr val="dk1"/>
              </a:solidFill>
            </a:endParaRPr>
          </a:p>
        </p:txBody>
      </p:sp>
      <p:sp>
        <p:nvSpPr>
          <p:cNvPr id="227" name="모서리가 둥근 직사각형 226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Reason</a:t>
            </a:r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▶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534585" y="1046774"/>
            <a:ext cx="5445551" cy="5458529"/>
          </a:xfrm>
          <a:prstGeom prst="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cxnSp>
        <p:nvCxnSpPr>
          <p:cNvPr id="138" name="직선 연결선 137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84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DP-6. </a:t>
            </a:r>
            <a:r>
              <a:rPr lang="ko-KR" altLang="en-US" dirty="0" smtClean="0">
                <a:cs typeface="Times New Roman" panose="02020603050405020304" pitchFamily="18" charset="0"/>
              </a:rPr>
              <a:t>다양한 </a:t>
            </a:r>
            <a:r>
              <a:rPr lang="ko-KR" altLang="en-US" dirty="0">
                <a:cs typeface="Times New Roman" panose="02020603050405020304" pitchFamily="18" charset="0"/>
              </a:rPr>
              <a:t>고객사 </a:t>
            </a:r>
            <a:r>
              <a:rPr lang="en-US" altLang="ko-KR" dirty="0">
                <a:cs typeface="Times New Roman" panose="02020603050405020304" pitchFamily="18" charset="0"/>
              </a:rPr>
              <a:t>&amp; NAND </a:t>
            </a:r>
            <a:r>
              <a:rPr lang="ko-KR" altLang="en-US" dirty="0">
                <a:cs typeface="Times New Roman" panose="02020603050405020304" pitchFamily="18" charset="0"/>
              </a:rPr>
              <a:t>지원 방안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1" y="627926"/>
            <a:ext cx="5854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ko-KR" altLang="ko-KR" dirty="0" smtClean="0"/>
              <a:t>다양한 </a:t>
            </a:r>
            <a:r>
              <a:rPr lang="ko-KR" altLang="ko-KR" dirty="0"/>
              <a:t>고객사 요구사항 및</a:t>
            </a:r>
            <a:r>
              <a:rPr lang="en-US" altLang="ko-KR" dirty="0"/>
              <a:t> NAND Flash</a:t>
            </a:r>
            <a:r>
              <a:rPr lang="ko-KR" altLang="ko-KR" dirty="0"/>
              <a:t>를 지원하기 위한 </a:t>
            </a:r>
            <a:r>
              <a:rPr lang="ko-KR" altLang="ko-KR" dirty="0" smtClean="0"/>
              <a:t>구조설계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48" y="1043579"/>
          <a:ext cx="11747501" cy="55126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43605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4292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Module </a:t>
                      </a:r>
                      <a:r>
                        <a:rPr lang="ko-KR" altLang="en-US" sz="1200" b="1" dirty="0" smtClean="0"/>
                        <a:t>별 공통 </a:t>
                      </a:r>
                      <a:r>
                        <a:rPr lang="en-US" altLang="ko-KR" sz="1200" b="1" dirty="0" smtClean="0"/>
                        <a:t>/ </a:t>
                      </a:r>
                      <a:r>
                        <a:rPr lang="ko-KR" altLang="en-US" sz="1200" b="1" dirty="0" smtClean="0"/>
                        <a:t>가변 설계 및 </a:t>
                      </a:r>
                      <a:r>
                        <a:rPr lang="en-US" altLang="ko-KR" sz="1200" b="1" dirty="0" smtClean="0"/>
                        <a:t>Configuration</a:t>
                      </a:r>
                      <a:r>
                        <a:rPr lang="ko-KR" altLang="en-US" sz="1200" b="1" dirty="0" smtClean="0"/>
                        <a:t>을 통한 재 사용성 확보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en-US" altLang="ko-KR" sz="1200" b="1" dirty="0" smtClean="0"/>
                        <a:t>Core</a:t>
                      </a:r>
                      <a:r>
                        <a:rPr lang="ko-KR" altLang="en-US" sz="1200" b="1" dirty="0" smtClean="0"/>
                        <a:t>와 </a:t>
                      </a:r>
                      <a:r>
                        <a:rPr lang="en-US" altLang="ko-KR" sz="1200" b="1" dirty="0" smtClean="0"/>
                        <a:t>Product Module</a:t>
                      </a:r>
                      <a:r>
                        <a:rPr lang="ko-KR" altLang="en-US" sz="1200" b="1" dirty="0" smtClean="0"/>
                        <a:t>을 구분하여 가변 </a:t>
                      </a:r>
                      <a:r>
                        <a:rPr lang="en-US" altLang="ko-KR" sz="1200" b="1" dirty="0" smtClean="0"/>
                        <a:t>Module</a:t>
                      </a:r>
                      <a:r>
                        <a:rPr lang="ko-KR" altLang="en-US" sz="1200" b="1" dirty="0" smtClean="0"/>
                        <a:t> 부분 개발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5551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en-US" altLang="ko-KR" sz="1050" dirty="0" smtClean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566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 과제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r>
                        <a:rPr lang="en-US" altLang="ko-KR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</a:t>
                      </a:r>
                      <a:r>
                        <a:rPr lang="ko-KR" altLang="en-US" sz="1200" kern="1200" baseline="0" dirty="0" smtClean="0">
                          <a:solidFill>
                            <a:srgbClr val="0033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투입 최소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(One Source Repository)</a:t>
                      </a:r>
                      <a:endParaRPr lang="ko-KR" altLang="en-US" sz="120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시스템의 자 과제 개발 전략 사용으로 개발 용이성 높음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smtClean="0">
                          <a:effectLst/>
                        </a:rPr>
                        <a:t>자 과제 개발 </a:t>
                      </a:r>
                      <a:r>
                        <a:rPr lang="en-US" altLang="ko-KR" sz="1200" dirty="0" smtClean="0">
                          <a:effectLst/>
                        </a:rPr>
                        <a:t>Resource</a:t>
                      </a:r>
                      <a:r>
                        <a:rPr lang="en-US" altLang="ko-KR" sz="1200" baseline="0" dirty="0" smtClean="0">
                          <a:effectLst/>
                        </a:rPr>
                        <a:t> </a:t>
                      </a:r>
                      <a:r>
                        <a:rPr lang="ko-KR" altLang="en-US" sz="1200" baseline="0" dirty="0" smtClean="0">
                          <a:effectLst/>
                        </a:rPr>
                        <a:t>투입 효율화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(One Trunk Repository)</a:t>
                      </a:r>
                      <a:endParaRPr lang="en-US" altLang="ko-KR" sz="1200" dirty="0" smtClean="0"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rgbClr val="0033CC"/>
                          </a:solidFill>
                          <a:effectLst/>
                        </a:rPr>
                        <a:t>요구사항 규모와 관계 없이 자 과제 대응이 가능</a:t>
                      </a:r>
                      <a:r>
                        <a:rPr lang="ko-KR" altLang="en-US" sz="1200" dirty="0" smtClean="0">
                          <a:effectLst/>
                        </a:rPr>
                        <a:t>한 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77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요구사항 변경이 많은 경우 </a:t>
                      </a:r>
                      <a:r>
                        <a:rPr lang="en-US" altLang="ko-KR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Common Module</a:t>
                      </a: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의 재설계</a:t>
                      </a:r>
                      <a:r>
                        <a:rPr lang="ko-KR" altLang="en-US" sz="1200" baseline="0" dirty="0" smtClean="0">
                          <a:effectLst/>
                        </a:rPr>
                        <a:t> 필요</a:t>
                      </a:r>
                      <a:endParaRPr lang="en-US" altLang="ko-KR" sz="1200" baseline="0" dirty="0" smtClean="0">
                        <a:effectLst/>
                      </a:endParaRP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aseline="0" dirty="0" err="1" smtClean="0">
                          <a:effectLst/>
                        </a:rPr>
                        <a:t>변경점을</a:t>
                      </a:r>
                      <a:r>
                        <a:rPr lang="ko-KR" altLang="en-US" sz="1200" baseline="0" dirty="0" smtClean="0">
                          <a:effectLst/>
                        </a:rPr>
                        <a:t> 최소화 하기 위한 </a:t>
                      </a:r>
                      <a:r>
                        <a:rPr lang="en-US" altLang="ko-KR" sz="1200" baseline="0" dirty="0" smtClean="0">
                          <a:effectLst/>
                        </a:rPr>
                        <a:t>#if #else </a:t>
                      </a:r>
                      <a:r>
                        <a:rPr lang="ko-KR" altLang="en-US" sz="1200" baseline="0" dirty="0" smtClean="0">
                          <a:effectLst/>
                        </a:rPr>
                        <a:t>일부 허용 </a:t>
                      </a:r>
                      <a:r>
                        <a:rPr lang="en-US" altLang="ko-KR" sz="1200" baseline="0" dirty="0" smtClean="0">
                          <a:effectLst/>
                        </a:rPr>
                        <a:t>(Readability</a:t>
                      </a:r>
                      <a:r>
                        <a:rPr lang="ko-KR" altLang="en-US" sz="1200" baseline="0" dirty="0" smtClean="0">
                          <a:effectLst/>
                        </a:rPr>
                        <a:t>↓</a:t>
                      </a:r>
                      <a:r>
                        <a:rPr lang="en-US" altLang="ko-KR" sz="1200" baseline="0" dirty="0" smtClean="0">
                          <a:effectLst/>
                        </a:rPr>
                        <a:t>)</a:t>
                      </a:r>
                      <a:endParaRPr lang="ko-KR" altLang="en-US" sz="1200" baseline="0" dirty="0" smtClean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aseline="0" dirty="0" smtClean="0">
                          <a:solidFill>
                            <a:srgbClr val="C00000"/>
                          </a:solidFill>
                          <a:effectLst/>
                        </a:rPr>
                        <a:t>요구사항 변경의 규모가 적을 경우 상대적으로 재 사용성↓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aseline="0" dirty="0" smtClean="0">
                          <a:effectLst/>
                        </a:rPr>
                        <a:t>기존 시스템과 비교 시 변경사항 많음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484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Modifiability &gt; </a:t>
                      </a:r>
                      <a:r>
                        <a:rPr lang="ko-KR" altLang="en-US" sz="1200" b="1" dirty="0" smtClean="0"/>
                        <a:t>요구사항에 의한 변경 용이성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0" dirty="0" smtClean="0"/>
                        <a:t>개발 용이성 </a:t>
                      </a:r>
                      <a:r>
                        <a:rPr lang="en-US" altLang="ko-KR" sz="1200" b="0" dirty="0" smtClean="0"/>
                        <a:t>&gt; </a:t>
                      </a:r>
                      <a:r>
                        <a:rPr lang="ko-KR" altLang="en-US" sz="1200" b="0" dirty="0" smtClean="0"/>
                        <a:t>자 과제 개발 </a:t>
                      </a:r>
                      <a:r>
                        <a:rPr lang="en-US" altLang="ko-KR" sz="1200" b="0" dirty="0" smtClean="0"/>
                        <a:t>Resource</a:t>
                      </a:r>
                      <a:endParaRPr lang="ko-KR" altLang="en-US" sz="1200" b="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Modifiability &gt; </a:t>
                      </a:r>
                      <a:r>
                        <a:rPr lang="ko-KR" altLang="en-US" sz="1200" b="1" dirty="0" smtClean="0"/>
                        <a:t>요구사항에 의한 변경 용이성</a:t>
                      </a:r>
                      <a:endParaRPr lang="en-US" altLang="ko-KR" sz="1200" b="1" dirty="0" smtClean="0"/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0" dirty="0" smtClean="0"/>
                        <a:t>개발 용이성 </a:t>
                      </a:r>
                      <a:r>
                        <a:rPr lang="en-US" altLang="ko-KR" sz="1200" b="0" dirty="0" smtClean="0"/>
                        <a:t>&gt; </a:t>
                      </a:r>
                      <a:r>
                        <a:rPr lang="ko-KR" altLang="en-US" sz="1200" b="0" dirty="0" smtClean="0"/>
                        <a:t>자 과제 개발 </a:t>
                      </a:r>
                      <a:r>
                        <a:rPr lang="en-US" altLang="ko-KR" sz="1200" b="0" dirty="0" smtClean="0"/>
                        <a:t>Resource</a:t>
                      </a:r>
                      <a:endParaRPr lang="ko-KR" altLang="en-US" sz="1200" b="0" dirty="0" smtClean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7" name="모서리가 둥근 직사각형 16"/>
          <p:cNvSpPr/>
          <p:nvPr/>
        </p:nvSpPr>
        <p:spPr>
          <a:xfrm>
            <a:off x="10434498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Q5 </a:t>
            </a:r>
            <a:r>
              <a:rPr lang="ko-KR" altLang="en-US" sz="900" b="1" dirty="0">
                <a:latin typeface="맑은 고딕" panose="020B0503020000020004" pitchFamily="50" charset="-127"/>
              </a:rPr>
              <a:t>신규</a:t>
            </a:r>
            <a:endParaRPr lang="en-US" altLang="ko-KR" sz="900" b="1" dirty="0">
              <a:latin typeface="맑은 고딕" panose="020B0503020000020004" pitchFamily="50" charset="-127"/>
            </a:endParaRPr>
          </a:p>
          <a:p>
            <a:r>
              <a:rPr lang="ko-KR" altLang="en-US" sz="900" b="1" dirty="0">
                <a:latin typeface="맑은 고딕" panose="020B0503020000020004" pitchFamily="50" charset="-127"/>
              </a:rPr>
              <a:t>기능 추가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261226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 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준수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8784984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634241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Q4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다양한 </a:t>
            </a:r>
            <a:r>
              <a:rPr lang="en-US" altLang="ko-KR" sz="900" b="1" dirty="0" smtClean="0">
                <a:latin typeface="맑은 고딕" panose="020B0503020000020004" pitchFamily="50" charset="-127"/>
              </a:rPr>
              <a:t>NAND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085868" y="2436272"/>
            <a:ext cx="946382" cy="27921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Common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276555" y="2063987"/>
            <a:ext cx="857872" cy="27921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Module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6" name="꺾인 연결선 15"/>
          <p:cNvCxnSpPr>
            <a:stCxn id="15" idx="2"/>
            <a:endCxn id="14" idx="1"/>
          </p:cNvCxnSpPr>
          <p:nvPr/>
        </p:nvCxnSpPr>
        <p:spPr>
          <a:xfrm rot="16200000" flipH="1">
            <a:off x="2779340" y="2269351"/>
            <a:ext cx="232678" cy="38037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1248727" y="1618865"/>
            <a:ext cx="1521509" cy="279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Flash Translation Layer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22" name="꺾인 연결선 21"/>
          <p:cNvCxnSpPr>
            <a:stCxn id="18" idx="2"/>
            <a:endCxn id="15" idx="1"/>
          </p:cNvCxnSpPr>
          <p:nvPr/>
        </p:nvCxnSpPr>
        <p:spPr>
          <a:xfrm rot="16200000" flipH="1">
            <a:off x="1990260" y="1917299"/>
            <a:ext cx="305515" cy="26707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085868" y="2831824"/>
            <a:ext cx="946382" cy="2792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Variable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cxnSp>
        <p:nvCxnSpPr>
          <p:cNvPr id="26" name="꺾인 연결선 25"/>
          <p:cNvCxnSpPr>
            <a:stCxn id="15" idx="2"/>
            <a:endCxn id="25" idx="1"/>
          </p:cNvCxnSpPr>
          <p:nvPr/>
        </p:nvCxnSpPr>
        <p:spPr>
          <a:xfrm rot="16200000" flipH="1">
            <a:off x="2581565" y="2467126"/>
            <a:ext cx="628230" cy="38037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276555" y="3359234"/>
            <a:ext cx="857872" cy="27921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System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30" name="꺾인 연결선 29"/>
          <p:cNvCxnSpPr>
            <a:stCxn id="18" idx="2"/>
            <a:endCxn id="29" idx="1"/>
          </p:cNvCxnSpPr>
          <p:nvPr/>
        </p:nvCxnSpPr>
        <p:spPr>
          <a:xfrm rot="16200000" flipH="1">
            <a:off x="1342637" y="2564922"/>
            <a:ext cx="1600763" cy="26707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3085868" y="3726936"/>
            <a:ext cx="1060681" cy="2792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Configuration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cxnSp>
        <p:nvCxnSpPr>
          <p:cNvPr id="35" name="꺾인 연결선 34"/>
          <p:cNvCxnSpPr>
            <a:stCxn id="29" idx="2"/>
            <a:endCxn id="34" idx="1"/>
          </p:cNvCxnSpPr>
          <p:nvPr/>
        </p:nvCxnSpPr>
        <p:spPr>
          <a:xfrm rot="16200000" flipH="1">
            <a:off x="2781631" y="3562306"/>
            <a:ext cx="228096" cy="38037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8527223" y="2455320"/>
            <a:ext cx="946382" cy="2792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Module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7717910" y="2083035"/>
            <a:ext cx="857872" cy="2792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Product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cxnSp>
        <p:nvCxnSpPr>
          <p:cNvPr id="41" name="꺾인 연결선 40"/>
          <p:cNvCxnSpPr>
            <a:stCxn id="40" idx="2"/>
            <a:endCxn id="38" idx="1"/>
          </p:cNvCxnSpPr>
          <p:nvPr/>
        </p:nvCxnSpPr>
        <p:spPr>
          <a:xfrm rot="16200000" flipH="1">
            <a:off x="8220695" y="2288399"/>
            <a:ext cx="232678" cy="38037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6690082" y="1637913"/>
            <a:ext cx="1521509" cy="279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Flash Translation Layer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43" name="꺾인 연결선 42"/>
          <p:cNvCxnSpPr>
            <a:stCxn id="42" idx="2"/>
            <a:endCxn id="40" idx="1"/>
          </p:cNvCxnSpPr>
          <p:nvPr/>
        </p:nvCxnSpPr>
        <p:spPr>
          <a:xfrm rot="16200000" flipH="1">
            <a:off x="7431615" y="1936347"/>
            <a:ext cx="305515" cy="26707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8527223" y="2850872"/>
            <a:ext cx="946382" cy="2792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prstClr val="white"/>
                </a:solidFill>
              </a:rPr>
              <a:t>Configuration</a:t>
            </a:r>
            <a:endParaRPr lang="ko-KR" altLang="en-US" sz="900" b="1" dirty="0">
              <a:solidFill>
                <a:prstClr val="white"/>
              </a:solidFill>
            </a:endParaRPr>
          </a:p>
        </p:txBody>
      </p:sp>
      <p:cxnSp>
        <p:nvCxnSpPr>
          <p:cNvPr id="45" name="꺾인 연결선 44"/>
          <p:cNvCxnSpPr>
            <a:stCxn id="40" idx="2"/>
            <a:endCxn id="44" idx="1"/>
          </p:cNvCxnSpPr>
          <p:nvPr/>
        </p:nvCxnSpPr>
        <p:spPr>
          <a:xfrm rot="16200000" flipH="1">
            <a:off x="8022920" y="2486174"/>
            <a:ext cx="628230" cy="38037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7717910" y="3378282"/>
            <a:ext cx="857872" cy="27921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Core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47" name="꺾인 연결선 46"/>
          <p:cNvCxnSpPr>
            <a:stCxn id="42" idx="2"/>
            <a:endCxn id="46" idx="1"/>
          </p:cNvCxnSpPr>
          <p:nvPr/>
        </p:nvCxnSpPr>
        <p:spPr>
          <a:xfrm rot="16200000" flipH="1">
            <a:off x="6783992" y="2583970"/>
            <a:ext cx="1600763" cy="26707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8527223" y="3745984"/>
            <a:ext cx="1060681" cy="27921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Module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49" name="꺾인 연결선 48"/>
          <p:cNvCxnSpPr>
            <a:stCxn id="46" idx="2"/>
            <a:endCxn id="48" idx="1"/>
          </p:cNvCxnSpPr>
          <p:nvPr/>
        </p:nvCxnSpPr>
        <p:spPr>
          <a:xfrm rot="16200000" flipH="1">
            <a:off x="8222986" y="3581354"/>
            <a:ext cx="228096" cy="38037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30989" y="1537960"/>
            <a:ext cx="1238638" cy="441022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ko-KR" altLang="en-US" dirty="0" smtClean="0"/>
              <a:t>기능 및 역할의 </a:t>
            </a:r>
            <a:r>
              <a:rPr lang="en-US" altLang="ko-KR" dirty="0" smtClean="0"/>
              <a:t>Modulation</a:t>
            </a:r>
            <a:r>
              <a:rPr lang="ko-KR" altLang="en-US" dirty="0" smtClean="0"/>
              <a:t>을 우선시</a:t>
            </a:r>
            <a:endParaRPr lang="ko-KR" altLang="en-US" dirty="0"/>
          </a:p>
        </p:txBody>
      </p:sp>
      <p:cxnSp>
        <p:nvCxnSpPr>
          <p:cNvPr id="51" name="직선 연결선 50"/>
          <p:cNvCxnSpPr>
            <a:stCxn id="50" idx="1"/>
            <a:endCxn id="15" idx="3"/>
          </p:cNvCxnSpPr>
          <p:nvPr/>
        </p:nvCxnSpPr>
        <p:spPr>
          <a:xfrm flipH="1">
            <a:off x="3134427" y="1758471"/>
            <a:ext cx="396562" cy="4451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497671" y="2194879"/>
            <a:ext cx="1545470" cy="608512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Module</a:t>
            </a:r>
            <a:r>
              <a:rPr lang="ko-KR" altLang="en-US" dirty="0" smtClean="0"/>
              <a:t>의 가변 </a:t>
            </a:r>
            <a:r>
              <a:rPr lang="en-US" altLang="ko-KR" dirty="0" smtClean="0"/>
              <a:t>Operation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Variable</a:t>
            </a:r>
            <a:r>
              <a:rPr lang="ko-KR" altLang="en-US" dirty="0" smtClean="0"/>
              <a:t>로 구분하여 별도로 설계 및 구현</a:t>
            </a:r>
            <a:endParaRPr lang="ko-KR" altLang="en-US" dirty="0"/>
          </a:p>
        </p:txBody>
      </p:sp>
      <p:cxnSp>
        <p:nvCxnSpPr>
          <p:cNvPr id="55" name="직선 연결선 54"/>
          <p:cNvCxnSpPr>
            <a:stCxn id="54" idx="1"/>
            <a:endCxn id="25" idx="3"/>
          </p:cNvCxnSpPr>
          <p:nvPr/>
        </p:nvCxnSpPr>
        <p:spPr>
          <a:xfrm flipH="1">
            <a:off x="4032250" y="2499135"/>
            <a:ext cx="465421" cy="472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497671" y="3127035"/>
            <a:ext cx="1848035" cy="798399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ko-KR" altLang="en-US" dirty="0" smtClean="0"/>
              <a:t>가변 상수 및 </a:t>
            </a:r>
            <a:r>
              <a:rPr lang="en-US" altLang="ko-KR" dirty="0" smtClean="0"/>
              <a:t>Definition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NAND</a:t>
            </a:r>
            <a:r>
              <a:rPr lang="ko-KR" altLang="en-US" dirty="0" smtClean="0"/>
              <a:t> </a:t>
            </a:r>
            <a:r>
              <a:rPr lang="en-US" altLang="ko-KR" dirty="0" smtClean="0"/>
              <a:t>/ OEM</a:t>
            </a:r>
            <a:r>
              <a:rPr lang="ko-KR" altLang="en-US" dirty="0" smtClean="0"/>
              <a:t> </a:t>
            </a:r>
            <a:r>
              <a:rPr lang="en-US" altLang="ko-KR" dirty="0" smtClean="0"/>
              <a:t>/ Density </a:t>
            </a:r>
            <a:r>
              <a:rPr lang="ko-KR" altLang="en-US" dirty="0" smtClean="0"/>
              <a:t>별로 관리하여 </a:t>
            </a:r>
            <a:r>
              <a:rPr lang="en-US" altLang="ko-KR" dirty="0" smtClean="0"/>
              <a:t>Compile </a:t>
            </a:r>
            <a:r>
              <a:rPr lang="ko-KR" altLang="en-US" dirty="0" smtClean="0"/>
              <a:t>시 결정되도록 구성</a:t>
            </a:r>
            <a:endParaRPr lang="en-US" altLang="ko-KR" dirty="0" smtClean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dirty="0" smtClean="0"/>
              <a:t>가변부 최소화</a:t>
            </a:r>
            <a:endParaRPr lang="ko-KR" altLang="en-US" dirty="0"/>
          </a:p>
        </p:txBody>
      </p:sp>
      <p:cxnSp>
        <p:nvCxnSpPr>
          <p:cNvPr id="67" name="직선 연결선 66"/>
          <p:cNvCxnSpPr>
            <a:stCxn id="66" idx="1"/>
            <a:endCxn id="34" idx="3"/>
          </p:cNvCxnSpPr>
          <p:nvPr/>
        </p:nvCxnSpPr>
        <p:spPr>
          <a:xfrm flipH="1">
            <a:off x="4146549" y="3526235"/>
            <a:ext cx="351122" cy="340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90153" y="4178295"/>
            <a:ext cx="5304473" cy="8213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▶ 자 과제 개발 전략 </a:t>
            </a:r>
            <a:r>
              <a:rPr lang="en-US" altLang="ko-KR" sz="1100" dirty="0" smtClean="0"/>
              <a:t>: Core Module</a:t>
            </a:r>
            <a:r>
              <a:rPr lang="ko-KR" altLang="en-US" sz="1100" dirty="0" smtClean="0"/>
              <a:t>은 재사용하고 </a:t>
            </a:r>
            <a:r>
              <a:rPr lang="en-US" altLang="ko-KR" sz="1100" dirty="0" smtClean="0"/>
              <a:t>Product Module</a:t>
            </a:r>
            <a:r>
              <a:rPr lang="ko-KR" altLang="en-US" sz="1100" dirty="0" smtClean="0"/>
              <a:t>만 추가 개발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 smtClean="0"/>
              <a:t>Core Module</a:t>
            </a:r>
            <a:r>
              <a:rPr lang="ko-KR" altLang="en-US" sz="1100" dirty="0" smtClean="0"/>
              <a:t>은 </a:t>
            </a:r>
            <a:r>
              <a:rPr lang="en-US" altLang="ko-KR" sz="1100" dirty="0" smtClean="0"/>
              <a:t>Library or Tag </a:t>
            </a:r>
            <a:r>
              <a:rPr lang="ko-KR" altLang="en-US" sz="1100" dirty="0" smtClean="0"/>
              <a:t>형태로 </a:t>
            </a:r>
            <a:r>
              <a:rPr lang="en-US" altLang="ko-KR" sz="1100" dirty="0" smtClean="0"/>
              <a:t>Import</a:t>
            </a:r>
            <a:r>
              <a:rPr lang="ko-KR" altLang="en-US" sz="1100" dirty="0" smtClean="0"/>
              <a:t>하여 사용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 smtClean="0"/>
              <a:t>시스템의 일부</a:t>
            </a:r>
            <a:r>
              <a:rPr lang="en-US" altLang="ko-KR" sz="1100" dirty="0" smtClean="0"/>
              <a:t>(Product) </a:t>
            </a:r>
            <a:r>
              <a:rPr lang="ko-KR" altLang="en-US" sz="1100" dirty="0" smtClean="0"/>
              <a:t>만 개발함으로써 개발 </a:t>
            </a:r>
            <a:r>
              <a:rPr lang="en-US" altLang="ko-KR" sz="1100" dirty="0"/>
              <a:t>Resource </a:t>
            </a:r>
            <a:r>
              <a:rPr lang="ko-KR" altLang="en-US" sz="1100" dirty="0"/>
              <a:t>투입 </a:t>
            </a:r>
            <a:r>
              <a:rPr lang="ko-KR" altLang="en-US" sz="1100" dirty="0" smtClean="0"/>
              <a:t>효율화</a:t>
            </a:r>
            <a:endParaRPr lang="ko-KR" altLang="en-US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1178876" y="4178295"/>
            <a:ext cx="5304473" cy="8213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smtClean="0"/>
              <a:t>▶ 자 과제 개발 전략 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모 과제에 최소한의 자 과제 변경 사항을 </a:t>
            </a:r>
            <a:r>
              <a:rPr lang="ko-KR" altLang="en-US" sz="1100" dirty="0" err="1" smtClean="0"/>
              <a:t>가변부에</a:t>
            </a:r>
            <a:r>
              <a:rPr lang="ko-KR" altLang="en-US" sz="1100" dirty="0" smtClean="0"/>
              <a:t> 추가</a:t>
            </a:r>
            <a:endParaRPr lang="en-US" altLang="ko-KR" sz="1100" dirty="0" smtClean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 smtClean="0"/>
              <a:t>Configuration </a:t>
            </a:r>
            <a:r>
              <a:rPr lang="ko-KR" altLang="en-US" sz="1100" dirty="0" smtClean="0"/>
              <a:t>및 일부 </a:t>
            </a:r>
            <a:r>
              <a:rPr lang="en-US" altLang="ko-KR" sz="1100" dirty="0" smtClean="0"/>
              <a:t>Module</a:t>
            </a:r>
            <a:r>
              <a:rPr lang="ko-KR" altLang="en-US" sz="1100" dirty="0" smtClean="0"/>
              <a:t>에 가변 </a:t>
            </a:r>
            <a:r>
              <a:rPr lang="en-US" altLang="ko-KR" sz="1100" dirty="0" smtClean="0"/>
              <a:t>Operation</a:t>
            </a:r>
            <a:r>
              <a:rPr lang="ko-KR" altLang="en-US" sz="1100" dirty="0" smtClean="0"/>
              <a:t> 추가로 </a:t>
            </a:r>
            <a:r>
              <a:rPr lang="ko-KR" altLang="en-US" sz="1100" dirty="0" err="1" smtClean="0"/>
              <a:t>변경점</a:t>
            </a:r>
            <a:r>
              <a:rPr lang="ko-KR" altLang="en-US" sz="1100" dirty="0" smtClean="0"/>
              <a:t> 대응</a:t>
            </a:r>
            <a:endParaRPr lang="en-US" altLang="ko-KR" sz="1100" dirty="0" smtClean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 smtClean="0"/>
              <a:t>기존 과제 대부분을 재사용 함으로써 개발 </a:t>
            </a:r>
            <a:r>
              <a:rPr lang="en-US" altLang="ko-KR" sz="1100" dirty="0" smtClean="0"/>
              <a:t>Resource </a:t>
            </a:r>
            <a:r>
              <a:rPr lang="ko-KR" altLang="en-US" sz="1100" dirty="0" smtClean="0"/>
              <a:t>투입 최소화</a:t>
            </a:r>
            <a:endParaRPr lang="ko-KR" altLang="en-US" sz="1100" dirty="0"/>
          </a:p>
        </p:txBody>
      </p:sp>
      <p:sp>
        <p:nvSpPr>
          <p:cNvPr id="78" name="TextBox 77"/>
          <p:cNvSpPr txBox="1"/>
          <p:nvPr/>
        </p:nvSpPr>
        <p:spPr>
          <a:xfrm>
            <a:off x="8972344" y="1537960"/>
            <a:ext cx="1238638" cy="441022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Product</a:t>
            </a:r>
            <a:r>
              <a:rPr lang="ko-KR" altLang="en-US" dirty="0" smtClean="0"/>
              <a:t>에 따른 변경사항</a:t>
            </a:r>
            <a:r>
              <a:rPr lang="en-US" altLang="ko-KR" dirty="0" smtClean="0"/>
              <a:t> </a:t>
            </a:r>
            <a:r>
              <a:rPr lang="ko-KR" altLang="en-US" dirty="0" smtClean="0"/>
              <a:t>우선시</a:t>
            </a:r>
            <a:endParaRPr lang="ko-KR" altLang="en-US" dirty="0"/>
          </a:p>
        </p:txBody>
      </p:sp>
      <p:cxnSp>
        <p:nvCxnSpPr>
          <p:cNvPr id="79" name="직선 연결선 78"/>
          <p:cNvCxnSpPr>
            <a:stCxn id="78" idx="1"/>
            <a:endCxn id="40" idx="3"/>
          </p:cNvCxnSpPr>
          <p:nvPr/>
        </p:nvCxnSpPr>
        <p:spPr>
          <a:xfrm flipH="1">
            <a:off x="8575782" y="1758471"/>
            <a:ext cx="396562" cy="4641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952018" y="2531426"/>
            <a:ext cx="1545470" cy="601212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/>
              <a:t>NAND</a:t>
            </a:r>
            <a:r>
              <a:rPr lang="ko-KR" altLang="en-US" dirty="0"/>
              <a:t> </a:t>
            </a:r>
            <a:r>
              <a:rPr lang="en-US" altLang="ko-KR" dirty="0"/>
              <a:t>/ OEM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en-US" altLang="ko-KR" dirty="0" smtClean="0"/>
              <a:t>Density</a:t>
            </a:r>
            <a:r>
              <a:rPr lang="ko-KR" altLang="en-US" dirty="0" smtClean="0"/>
              <a:t>와 관련된 </a:t>
            </a:r>
            <a:r>
              <a:rPr lang="en-US" altLang="ko-KR" dirty="0" smtClean="0"/>
              <a:t>Module</a:t>
            </a:r>
            <a:r>
              <a:rPr lang="ko-KR" altLang="en-US" dirty="0" smtClean="0"/>
              <a:t>들로 구성</a:t>
            </a:r>
            <a:endParaRPr lang="en-US" altLang="ko-KR" dirty="0" smtClean="0"/>
          </a:p>
          <a:p>
            <a:r>
              <a:rPr lang="en-US" altLang="ko-KR" dirty="0" smtClean="0">
                <a:sym typeface="Wingdings" panose="05000000000000000000" pitchFamily="2" charset="2"/>
              </a:rPr>
              <a:t> SRP </a:t>
            </a:r>
            <a:r>
              <a:rPr lang="ko-KR" altLang="en-US" dirty="0" smtClean="0">
                <a:sym typeface="Wingdings" panose="05000000000000000000" pitchFamily="2" charset="2"/>
              </a:rPr>
              <a:t>최대한 고려</a:t>
            </a:r>
            <a:endParaRPr lang="ko-KR" altLang="en-US" dirty="0"/>
          </a:p>
        </p:txBody>
      </p:sp>
      <p:cxnSp>
        <p:nvCxnSpPr>
          <p:cNvPr id="85" name="직선 연결선 84"/>
          <p:cNvCxnSpPr>
            <a:stCxn id="84" idx="1"/>
            <a:endCxn id="38" idx="3"/>
          </p:cNvCxnSpPr>
          <p:nvPr/>
        </p:nvCxnSpPr>
        <p:spPr>
          <a:xfrm flipH="1" flipV="1">
            <a:off x="9473605" y="2594927"/>
            <a:ext cx="478413" cy="237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952018" y="3477978"/>
            <a:ext cx="1942608" cy="571961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r>
              <a:rPr lang="en-US" altLang="ko-KR" dirty="0" smtClean="0"/>
              <a:t>Flash Storage</a:t>
            </a:r>
            <a:r>
              <a:rPr lang="ko-KR" altLang="en-US" dirty="0"/>
              <a:t> </a:t>
            </a:r>
            <a:r>
              <a:rPr lang="ko-KR" altLang="en-US" dirty="0" smtClean="0"/>
              <a:t>관련 </a:t>
            </a:r>
            <a:r>
              <a:rPr lang="en-US" altLang="ko-KR" dirty="0" smtClean="0"/>
              <a:t>Module,</a:t>
            </a:r>
          </a:p>
          <a:p>
            <a:r>
              <a:rPr lang="en-US" altLang="ko-KR" dirty="0" smtClean="0"/>
              <a:t>UFS Spec</a:t>
            </a:r>
            <a:r>
              <a:rPr lang="ko-KR" altLang="en-US" dirty="0" smtClean="0"/>
              <a:t> 기능 </a:t>
            </a:r>
            <a:r>
              <a:rPr lang="en-US" altLang="ko-KR" dirty="0" smtClean="0"/>
              <a:t>Module, Solvit </a:t>
            </a:r>
            <a:r>
              <a:rPr lang="ko-KR" altLang="en-US" dirty="0" smtClean="0"/>
              <a:t>컨트롤러 기능 </a:t>
            </a:r>
            <a:r>
              <a:rPr lang="en-US" altLang="ko-KR" dirty="0" smtClean="0"/>
              <a:t>Module</a:t>
            </a:r>
            <a:r>
              <a:rPr lang="ko-KR" altLang="en-US" dirty="0" smtClean="0"/>
              <a:t>들로 구성</a:t>
            </a:r>
            <a:endParaRPr lang="ko-KR" altLang="en-US" dirty="0"/>
          </a:p>
        </p:txBody>
      </p:sp>
      <p:cxnSp>
        <p:nvCxnSpPr>
          <p:cNvPr id="93" name="직선 연결선 92"/>
          <p:cNvCxnSpPr>
            <a:stCxn id="92" idx="1"/>
            <a:endCxn id="48" idx="3"/>
          </p:cNvCxnSpPr>
          <p:nvPr/>
        </p:nvCxnSpPr>
        <p:spPr>
          <a:xfrm flipH="1">
            <a:off x="9587904" y="3763959"/>
            <a:ext cx="364114" cy="1216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5258083" y="6073807"/>
            <a:ext cx="1187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</a:t>
            </a:r>
            <a:r>
              <a:rPr lang="en-US" altLang="ko-KR" sz="1200" dirty="0" smtClean="0"/>
              <a:t>●</a:t>
            </a:r>
            <a:r>
              <a:rPr lang="en-US" altLang="ko-KR" sz="1200" dirty="0"/>
              <a:t>●</a:t>
            </a:r>
            <a:r>
              <a:rPr lang="en-US" altLang="ko-KR" sz="1200" dirty="0" smtClean="0"/>
              <a:t>○</a:t>
            </a:r>
            <a:endParaRPr lang="en-US" altLang="ko-KR" sz="1200" dirty="0"/>
          </a:p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|●●●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10667327" y="6073806"/>
            <a:ext cx="1187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○○○</a:t>
            </a:r>
            <a:r>
              <a:rPr lang="en-US" altLang="ko-KR" sz="1200" dirty="0"/>
              <a:t>|●●●</a:t>
            </a:r>
          </a:p>
          <a:p>
            <a:r>
              <a:rPr lang="en-US" altLang="ko-KR" sz="1200" dirty="0" smtClean="0"/>
              <a:t>○○</a:t>
            </a:r>
            <a:r>
              <a:rPr lang="en-US" altLang="ko-KR" sz="1200" dirty="0"/>
              <a:t>○</a:t>
            </a:r>
            <a:r>
              <a:rPr lang="en-US" altLang="ko-KR" sz="1200" dirty="0" smtClean="0"/>
              <a:t>|</a:t>
            </a:r>
            <a:r>
              <a:rPr lang="en-US" altLang="ko-KR" sz="1200" dirty="0"/>
              <a:t>●</a:t>
            </a:r>
            <a:r>
              <a:rPr lang="en-US" altLang="ko-KR" sz="1200" dirty="0" smtClean="0"/>
              <a:t>○○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116815" y="1046774"/>
            <a:ext cx="5445551" cy="5509473"/>
          </a:xfrm>
          <a:prstGeom prst="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61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/>
              <a:t>전체 설계 </a:t>
            </a:r>
            <a:r>
              <a:rPr lang="en-US" altLang="ko-KR" dirty="0"/>
              <a:t>Coverage </a:t>
            </a:r>
            <a:r>
              <a:rPr lang="ko-KR" altLang="en-US" dirty="0"/>
              <a:t>검증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/>
          </p:nvPr>
        </p:nvGraphicFramePr>
        <p:xfrm>
          <a:off x="234949" y="647699"/>
          <a:ext cx="11791952" cy="57988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28174">
                  <a:extLst>
                    <a:ext uri="{9D8B030D-6E8A-4147-A177-3AD203B41FA5}">
                      <a16:colId xmlns:a16="http://schemas.microsoft.com/office/drawing/2014/main" val="3876751573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3424524937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3526789597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1626881063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1642019748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1892154638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756203644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4099750709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2506515776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422103562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63254425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1108185092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4074618787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2231158890"/>
                    </a:ext>
                  </a:extLst>
                </a:gridCol>
                <a:gridCol w="583127">
                  <a:extLst>
                    <a:ext uri="{9D8B030D-6E8A-4147-A177-3AD203B41FA5}">
                      <a16:colId xmlns:a16="http://schemas.microsoft.com/office/drawing/2014/main" val="561446596"/>
                    </a:ext>
                  </a:extLst>
                </a:gridCol>
              </a:tblGrid>
              <a:tr h="363174">
                <a:tc rowSpan="2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Functional Requirements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Quality Attributes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Constraints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153044"/>
                  </a:ext>
                </a:extLst>
              </a:tr>
              <a:tr h="191564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FR-1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en-US" altLang="ko-KR" sz="1400" b="1" dirty="0" smtClean="0"/>
                        <a:t>Legacy UFS </a:t>
                      </a:r>
                    </a:p>
                    <a:p>
                      <a:pPr latinLnBrk="1"/>
                      <a:r>
                        <a:rPr lang="ko-KR" altLang="en-US" sz="1400" b="1" dirty="0" smtClean="0"/>
                        <a:t>기능</a:t>
                      </a:r>
                      <a:endParaRPr lang="ko-KR" altLang="en-US" sz="1400" b="1" dirty="0"/>
                    </a:p>
                  </a:txBody>
                  <a:tcPr vert="vert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FR-2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en-US" altLang="ko-KR" sz="1400" b="1" dirty="0" smtClean="0"/>
                        <a:t>Turbo Write 1.0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FR-3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en-US" altLang="ko-KR" sz="1400" b="1" dirty="0" smtClean="0"/>
                        <a:t>HPB 2.0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FR-4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en-US" altLang="ko-KR" sz="1400" b="1" dirty="0" smtClean="0"/>
                        <a:t>HID 1.0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QA-1 Sequential Write </a:t>
                      </a:r>
                      <a:r>
                        <a:rPr lang="ko-KR" altLang="en-US" sz="1400" b="1" dirty="0" smtClean="0"/>
                        <a:t>성능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QA-2 Random Read </a:t>
                      </a:r>
                      <a:r>
                        <a:rPr lang="ko-KR" altLang="en-US" sz="1400" b="1" dirty="0" smtClean="0"/>
                        <a:t>성능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QA-3 Idle Power Efficiency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QA-4 NAND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ko-KR" altLang="en-US" sz="1400" b="1" baseline="0" dirty="0" smtClean="0"/>
                        <a:t>변경</a:t>
                      </a:r>
                      <a:endParaRPr lang="en-US" altLang="ko-KR" sz="1400" b="1" baseline="0" dirty="0" smtClean="0"/>
                    </a:p>
                    <a:p>
                      <a:pPr latinLnBrk="1"/>
                      <a:r>
                        <a:rPr lang="ko-KR" altLang="en-US" sz="1400" b="1" baseline="0" dirty="0" smtClean="0"/>
                        <a:t>용이성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QA-5 </a:t>
                      </a:r>
                      <a:r>
                        <a:rPr lang="ko-KR" altLang="en-US" sz="1400" b="1" dirty="0" smtClean="0"/>
                        <a:t>신규 기능 변경 용이성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C-1</a:t>
                      </a:r>
                      <a:r>
                        <a:rPr lang="en-US" altLang="ko-KR" sz="1400" b="1" baseline="0" dirty="0" smtClean="0"/>
                        <a:t> Cortex M7 x 4ea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C-2 UFS 3.1 G4 2L,</a:t>
                      </a:r>
                      <a:r>
                        <a:rPr lang="ko-KR" altLang="en-US" sz="1400" b="1" dirty="0" smtClean="0"/>
                        <a:t> </a:t>
                      </a:r>
                      <a:r>
                        <a:rPr lang="en-US" altLang="ko-KR" sz="1400" b="1" dirty="0" smtClean="0"/>
                        <a:t>UFS 2.2 G3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en-US" altLang="ko-KR" sz="1400" b="1" dirty="0" smtClean="0"/>
                        <a:t>2L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C-3</a:t>
                      </a:r>
                      <a:r>
                        <a:rPr lang="en-US" altLang="ko-KR" sz="1400" b="1" baseline="0" dirty="0" smtClean="0"/>
                        <a:t> QLC </a:t>
                      </a:r>
                      <a:r>
                        <a:rPr lang="ko-KR" altLang="en-US" sz="1400" b="1" baseline="0" dirty="0" smtClean="0"/>
                        <a:t>제약조건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C-4</a:t>
                      </a:r>
                      <a:r>
                        <a:rPr lang="en-US" altLang="ko-KR" sz="1400" b="1" baseline="0" dirty="0" smtClean="0"/>
                        <a:t> Solvit UFS CTRL</a:t>
                      </a:r>
                      <a:r>
                        <a:rPr lang="ko-KR" altLang="en-US" sz="1400" b="1" baseline="0" dirty="0" smtClean="0"/>
                        <a:t> </a:t>
                      </a:r>
                      <a:r>
                        <a:rPr lang="en-US" altLang="ko-KR" sz="1400" b="1" baseline="0" dirty="0" smtClean="0"/>
                        <a:t>HW IP</a:t>
                      </a:r>
                      <a:r>
                        <a:rPr lang="ko-KR" altLang="en-US" sz="1400" b="1" baseline="0" dirty="0" smtClean="0"/>
                        <a:t> 사용</a:t>
                      </a:r>
                      <a:endParaRPr lang="ko-KR" altLang="en-US" sz="1400" b="1" dirty="0"/>
                    </a:p>
                  </a:txBody>
                  <a:tcPr vert="vert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/>
                        <a:t>C-5 </a:t>
                      </a:r>
                      <a:r>
                        <a:rPr lang="ko-KR" altLang="en-US" sz="1400" b="1" dirty="0" smtClean="0"/>
                        <a:t>고객사 제품 일정 준수</a:t>
                      </a:r>
                      <a:endParaRPr lang="ko-KR" altLang="en-US" sz="1400" b="1" dirty="0"/>
                    </a:p>
                  </a:txBody>
                  <a:tcPr vert="vert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445878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[DP-1] Multi-Processing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방안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15879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[DP-2]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병렬 처리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Workflow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358692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[DP-3] Idle Power Saving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방안</a:t>
                      </a:r>
                      <a:endParaRPr lang="ko-KR" altLang="en-US" sz="1400" b="1" dirty="0" smtClean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664408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[DP-4] QLC NAND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방안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697694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[DP-5]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수행 시간 감소 방안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234932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[DP-6]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다양한 고객사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NAND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지원 방안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19531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/>
                        <a:t>전체 </a:t>
                      </a:r>
                      <a:r>
                        <a:rPr lang="en-US" altLang="ko-KR" sz="1400" b="1" dirty="0" smtClean="0"/>
                        <a:t>Coverage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052147"/>
                  </a:ext>
                </a:extLst>
              </a:tr>
            </a:tbl>
          </a:graphicData>
        </a:graphic>
      </p:graphicFrame>
      <p:sp>
        <p:nvSpPr>
          <p:cNvPr id="5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93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105295" cy="365125"/>
          </a:xfrm>
        </p:spPr>
        <p:txBody>
          <a:bodyPr/>
          <a:lstStyle/>
          <a:p>
            <a:r>
              <a:rPr lang="ko-KR" altLang="en-US" dirty="0" smtClean="0"/>
              <a:t>최종 설계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67587"/>
            <a:ext cx="5695950" cy="5070412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234950" y="1149351"/>
            <a:ext cx="5839280" cy="53466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6144080" y="1149351"/>
            <a:ext cx="5839280" cy="53466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34949" y="621645"/>
            <a:ext cx="5839281" cy="46965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/>
                </a:solidFill>
              </a:rPr>
              <a:t>      최종 구조설계 </a:t>
            </a:r>
            <a:r>
              <a:rPr lang="en-US" altLang="ko-KR" sz="1600" dirty="0" smtClean="0">
                <a:solidFill>
                  <a:schemeClr val="tx1"/>
                </a:solidFill>
              </a:rPr>
              <a:t>– Module View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463391" y="779591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144079" y="621645"/>
            <a:ext cx="5839281" cy="46965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/>
                </a:solidFill>
              </a:rPr>
              <a:t>      최종 구조설계 </a:t>
            </a:r>
            <a:r>
              <a:rPr lang="en-US" altLang="ko-KR" sz="1600" dirty="0" smtClean="0">
                <a:solidFill>
                  <a:schemeClr val="tx1"/>
                </a:solidFill>
              </a:rPr>
              <a:t>– C&amp;C View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372521" y="779591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99" y="1515711"/>
            <a:ext cx="5730694" cy="4922288"/>
          </a:xfrm>
          <a:prstGeom prst="rect">
            <a:avLst/>
          </a:prstGeom>
        </p:spPr>
      </p:pic>
      <p:sp>
        <p:nvSpPr>
          <p:cNvPr id="1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73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구현 설계</a:t>
            </a:r>
            <a:endParaRPr lang="ko-KR" altLang="en-US" dirty="0"/>
          </a:p>
        </p:txBody>
      </p:sp>
      <p:pic>
        <p:nvPicPr>
          <p:cNvPr id="24" name="그림 2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36" y="1494965"/>
            <a:ext cx="2818448" cy="75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그림 3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763" y="2924698"/>
            <a:ext cx="2858763" cy="1255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직사각형 31"/>
          <p:cNvSpPr/>
          <p:nvPr/>
        </p:nvSpPr>
        <p:spPr>
          <a:xfrm>
            <a:off x="3289371" y="2579581"/>
            <a:ext cx="2972422" cy="180804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3" name="TextBox 32"/>
          <p:cNvSpPr txBox="1"/>
          <p:nvPr/>
        </p:nvSpPr>
        <p:spPr>
          <a:xfrm>
            <a:off x="3301785" y="2576022"/>
            <a:ext cx="1358309" cy="271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Read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73464" y="2579581"/>
            <a:ext cx="2962474" cy="17962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TextBox 35"/>
          <p:cNvSpPr txBox="1"/>
          <p:nvPr/>
        </p:nvSpPr>
        <p:spPr>
          <a:xfrm>
            <a:off x="285879" y="2572282"/>
            <a:ext cx="1358309" cy="271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Write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7" name="그림 3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2" y="2890799"/>
            <a:ext cx="2893426" cy="1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직사각형 37"/>
          <p:cNvSpPr/>
          <p:nvPr/>
        </p:nvSpPr>
        <p:spPr>
          <a:xfrm>
            <a:off x="6322186" y="1020392"/>
            <a:ext cx="2787629" cy="1349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TextBox 38"/>
          <p:cNvSpPr txBox="1"/>
          <p:nvPr/>
        </p:nvSpPr>
        <p:spPr>
          <a:xfrm>
            <a:off x="6334149" y="1008415"/>
            <a:ext cx="170744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Context Meta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82519" y="1016315"/>
            <a:ext cx="2978224" cy="14907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3294483" y="987247"/>
            <a:ext cx="14793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Data Flush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328893" y="3683239"/>
            <a:ext cx="2780922" cy="70150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6" name="TextBox 45"/>
          <p:cNvSpPr txBox="1"/>
          <p:nvPr/>
        </p:nvSpPr>
        <p:spPr>
          <a:xfrm>
            <a:off x="6343531" y="3676391"/>
            <a:ext cx="1309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Purge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322185" y="2433482"/>
            <a:ext cx="2787630" cy="1179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9" name="TextBox 48"/>
          <p:cNvSpPr txBox="1"/>
          <p:nvPr/>
        </p:nvSpPr>
        <p:spPr>
          <a:xfrm>
            <a:off x="6334150" y="2433482"/>
            <a:ext cx="1309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Unmap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0" name="그림 4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100" y="2685725"/>
            <a:ext cx="2667799" cy="899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그림 50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990" y="1396139"/>
            <a:ext cx="2795536" cy="84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그림 51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715" y="3918570"/>
            <a:ext cx="2660709" cy="45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그림 52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697" y="1249598"/>
            <a:ext cx="2573712" cy="109234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286970" y="987247"/>
            <a:ext cx="1477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u="sng" dirty="0" smtClean="0">
                <a:solidFill>
                  <a:schemeClr val="accent5">
                    <a:lumMod val="50000"/>
                  </a:schemeClr>
                </a:solidFill>
              </a:rPr>
              <a:t>Master Scheduler</a:t>
            </a:r>
            <a:endParaRPr lang="ko-KR" altLang="en-US" sz="12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73464" y="1015486"/>
            <a:ext cx="2953014" cy="150406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6552" y="1261483"/>
            <a:ext cx="2595010" cy="16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직사각형 54"/>
          <p:cNvSpPr/>
          <p:nvPr/>
        </p:nvSpPr>
        <p:spPr>
          <a:xfrm>
            <a:off x="9180339" y="1020396"/>
            <a:ext cx="2787629" cy="19706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6" name="TextBox 55"/>
          <p:cNvSpPr txBox="1"/>
          <p:nvPr/>
        </p:nvSpPr>
        <p:spPr>
          <a:xfrm>
            <a:off x="9192302" y="1008419"/>
            <a:ext cx="1959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Garbage Collection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7" name="그림 56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785" y="3291697"/>
            <a:ext cx="2694113" cy="108207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직사각형 57"/>
          <p:cNvSpPr/>
          <p:nvPr/>
        </p:nvSpPr>
        <p:spPr>
          <a:xfrm>
            <a:off x="9175210" y="3050850"/>
            <a:ext cx="2787629" cy="133146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TextBox 58"/>
          <p:cNvSpPr txBox="1"/>
          <p:nvPr/>
        </p:nvSpPr>
        <p:spPr>
          <a:xfrm>
            <a:off x="9187173" y="3037781"/>
            <a:ext cx="1959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Migration Service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0" name="그림 59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28" y="4740426"/>
            <a:ext cx="2797920" cy="32000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직사각형 60"/>
          <p:cNvSpPr/>
          <p:nvPr/>
        </p:nvSpPr>
        <p:spPr>
          <a:xfrm>
            <a:off x="273463" y="4454755"/>
            <a:ext cx="2962475" cy="20706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827" y="5105399"/>
            <a:ext cx="2797920" cy="134076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85879" y="4454114"/>
            <a:ext cx="1358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Debug Log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5" name="그림 6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260" y="4717900"/>
            <a:ext cx="1841839" cy="17570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직사각형 65"/>
          <p:cNvSpPr/>
          <p:nvPr/>
        </p:nvSpPr>
        <p:spPr>
          <a:xfrm>
            <a:off x="3291066" y="4454755"/>
            <a:ext cx="2007328" cy="20706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7" name="TextBox 66"/>
          <p:cNvSpPr txBox="1"/>
          <p:nvPr/>
        </p:nvSpPr>
        <p:spPr>
          <a:xfrm>
            <a:off x="3294935" y="4454114"/>
            <a:ext cx="11745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Code Overlay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353522" y="4454755"/>
            <a:ext cx="3320460" cy="20706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9" name="TextBox 68"/>
          <p:cNvSpPr txBox="1"/>
          <p:nvPr/>
        </p:nvSpPr>
        <p:spPr>
          <a:xfrm>
            <a:off x="5357391" y="4454114"/>
            <a:ext cx="11745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Interfaces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7437" y="4710103"/>
            <a:ext cx="3153780" cy="659646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37749" y="5439764"/>
            <a:ext cx="3152397" cy="1020318"/>
          </a:xfrm>
          <a:prstGeom prst="rect">
            <a:avLst/>
          </a:prstGeom>
        </p:spPr>
      </p:pic>
      <p:sp>
        <p:nvSpPr>
          <p:cNvPr id="75" name="직사각형 74"/>
          <p:cNvSpPr/>
          <p:nvPr/>
        </p:nvSpPr>
        <p:spPr>
          <a:xfrm>
            <a:off x="8729110" y="4454755"/>
            <a:ext cx="3233729" cy="20706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6" name="TextBox 75"/>
          <p:cNvSpPr txBox="1"/>
          <p:nvPr/>
        </p:nvSpPr>
        <p:spPr>
          <a:xfrm>
            <a:off x="8732978" y="4454114"/>
            <a:ext cx="18301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u="sng" dirty="0" smtClean="0">
                <a:solidFill>
                  <a:schemeClr val="accent5">
                    <a:lumMod val="50000"/>
                  </a:schemeClr>
                </a:solidFill>
              </a:rPr>
              <a:t>구현 설계 </a:t>
            </a:r>
            <a:r>
              <a:rPr lang="en-US" altLang="ko-KR" sz="1050" b="1" u="sng" dirty="0" smtClean="0">
                <a:solidFill>
                  <a:schemeClr val="accent5">
                    <a:lumMod val="50000"/>
                  </a:schemeClr>
                </a:solidFill>
              </a:rPr>
              <a:t>Documentation</a:t>
            </a:r>
            <a:endParaRPr lang="ko-KR" altLang="en-US" sz="105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70388" y="578773"/>
            <a:ext cx="11692451" cy="38963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/>
                </a:solidFill>
              </a:rPr>
              <a:t>      현재 </a:t>
            </a:r>
            <a:r>
              <a:rPr lang="en-US" altLang="ko-KR" sz="1600" dirty="0" smtClean="0">
                <a:solidFill>
                  <a:schemeClr val="tx1"/>
                </a:solidFill>
              </a:rPr>
              <a:t>SW </a:t>
            </a:r>
            <a:r>
              <a:rPr lang="ko-KR" altLang="en-US" sz="1600" dirty="0" smtClean="0">
                <a:solidFill>
                  <a:schemeClr val="tx1"/>
                </a:solidFill>
              </a:rPr>
              <a:t>구현 </a:t>
            </a:r>
            <a:r>
              <a:rPr lang="en-US" altLang="ko-KR" sz="1600" dirty="0" smtClean="0">
                <a:solidFill>
                  <a:schemeClr val="tx1"/>
                </a:solidFill>
              </a:rPr>
              <a:t>Phase </a:t>
            </a:r>
            <a:r>
              <a:rPr lang="ko-KR" altLang="en-US" sz="1600" dirty="0" smtClean="0">
                <a:solidFill>
                  <a:schemeClr val="tx1"/>
                </a:solidFill>
              </a:rPr>
              <a:t>로</a:t>
            </a:r>
            <a:r>
              <a:rPr lang="en-US" altLang="ko-KR" sz="1600" dirty="0" smtClean="0">
                <a:solidFill>
                  <a:schemeClr val="tx1"/>
                </a:solidFill>
              </a:rPr>
              <a:t> 21</a:t>
            </a:r>
            <a:r>
              <a:rPr lang="ko-KR" altLang="en-US" sz="1600" dirty="0" smtClean="0">
                <a:solidFill>
                  <a:schemeClr val="tx1"/>
                </a:solidFill>
              </a:rPr>
              <a:t>년 </a:t>
            </a:r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  <a:r>
              <a:rPr lang="ko-KR" altLang="en-US" sz="1600" dirty="0" smtClean="0">
                <a:solidFill>
                  <a:schemeClr val="tx1"/>
                </a:solidFill>
              </a:rPr>
              <a:t>월 </a:t>
            </a:r>
            <a:r>
              <a:rPr lang="en-US" altLang="ko-KR" sz="1600" dirty="0" smtClean="0">
                <a:solidFill>
                  <a:schemeClr val="tx1"/>
                </a:solidFill>
              </a:rPr>
              <a:t>UFS 2.2 QLC 256GB </a:t>
            </a:r>
            <a:r>
              <a:rPr lang="ko-KR" altLang="en-US" sz="1600" dirty="0" smtClean="0">
                <a:solidFill>
                  <a:schemeClr val="tx1"/>
                </a:solidFill>
              </a:rPr>
              <a:t>및 </a:t>
            </a:r>
            <a:r>
              <a:rPr lang="en-US" altLang="ko-KR" sz="1600" dirty="0" smtClean="0">
                <a:solidFill>
                  <a:schemeClr val="tx1"/>
                </a:solidFill>
              </a:rPr>
              <a:t>21</a:t>
            </a:r>
            <a:r>
              <a:rPr lang="ko-KR" altLang="en-US" sz="1600" dirty="0" smtClean="0">
                <a:solidFill>
                  <a:schemeClr val="tx1"/>
                </a:solidFill>
              </a:rPr>
              <a:t>년 </a:t>
            </a:r>
            <a:r>
              <a:rPr lang="en-US" altLang="ko-KR" sz="1600" dirty="0" smtClean="0">
                <a:solidFill>
                  <a:schemeClr val="tx1"/>
                </a:solidFill>
              </a:rPr>
              <a:t>6</a:t>
            </a:r>
            <a:r>
              <a:rPr lang="ko-KR" altLang="en-US" sz="1600" dirty="0" smtClean="0">
                <a:solidFill>
                  <a:schemeClr val="tx1"/>
                </a:solidFill>
              </a:rPr>
              <a:t>월 </a:t>
            </a:r>
            <a:r>
              <a:rPr lang="en-US" altLang="ko-KR" sz="1600" dirty="0" smtClean="0">
                <a:solidFill>
                  <a:schemeClr val="tx1"/>
                </a:solidFill>
              </a:rPr>
              <a:t>UFS 3.1 TLC 512GB Customer Sample </a:t>
            </a:r>
            <a:r>
              <a:rPr lang="ko-KR" altLang="en-US" sz="1600" dirty="0" smtClean="0">
                <a:solidFill>
                  <a:schemeClr val="tx1"/>
                </a:solidFill>
              </a:rPr>
              <a:t>대응 목표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498830" y="715172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7627" y="4745986"/>
            <a:ext cx="1113160" cy="145511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17"/>
          <a:srcRect b="48515"/>
          <a:stretch/>
        </p:blipFill>
        <p:spPr>
          <a:xfrm>
            <a:off x="9923514" y="4745987"/>
            <a:ext cx="1053236" cy="1446023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17"/>
          <a:srcRect l="11990" t="52439" r="3997"/>
          <a:stretch/>
        </p:blipFill>
        <p:spPr>
          <a:xfrm>
            <a:off x="11013196" y="4737705"/>
            <a:ext cx="907176" cy="1369527"/>
          </a:xfrm>
          <a:prstGeom prst="rect">
            <a:avLst/>
          </a:prstGeom>
        </p:spPr>
      </p:pic>
      <p:sp>
        <p:nvSpPr>
          <p:cNvPr id="6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72" name="직선 연결선 71"/>
          <p:cNvCxnSpPr/>
          <p:nvPr/>
        </p:nvCxnSpPr>
        <p:spPr>
          <a:xfrm>
            <a:off x="9362343" y="457197"/>
            <a:ext cx="3011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9704443" y="457197"/>
            <a:ext cx="30119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66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개발 진행사항 및 품질 측정</a:t>
            </a:r>
            <a:endParaRPr lang="ko-KR" altLang="en-US" dirty="0"/>
          </a:p>
        </p:txBody>
      </p:sp>
      <p:pic>
        <p:nvPicPr>
          <p:cNvPr id="8" name="그림 7"/>
          <p:cNvPicPr/>
          <p:nvPr/>
        </p:nvPicPr>
        <p:blipFill>
          <a:blip r:embed="rId2"/>
          <a:stretch>
            <a:fillRect/>
          </a:stretch>
        </p:blipFill>
        <p:spPr>
          <a:xfrm>
            <a:off x="8671904" y="1450895"/>
            <a:ext cx="3210533" cy="18391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6376987" y="629837"/>
            <a:ext cx="5632450" cy="2730499"/>
          </a:xfrm>
          <a:prstGeom prst="rect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74" y="1085828"/>
            <a:ext cx="3316690" cy="11823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35723" y="701075"/>
            <a:ext cx="3579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 u="sng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Pre-Qualification Test </a:t>
            </a:r>
            <a:r>
              <a:rPr lang="ko-KR" altLang="en-US" dirty="0"/>
              <a:t>결과 </a:t>
            </a:r>
            <a:r>
              <a:rPr lang="en-US" altLang="ko-KR" dirty="0"/>
              <a:t>– </a:t>
            </a:r>
            <a:r>
              <a:rPr lang="ko-KR" altLang="en-US" dirty="0"/>
              <a:t>승인 완료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34950" y="629837"/>
            <a:ext cx="5765800" cy="2730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93686" y="696395"/>
            <a:ext cx="3579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 u="sng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ko-KR" altLang="en-US" dirty="0" smtClean="0"/>
              <a:t>본 과제의 개발 일정 </a:t>
            </a:r>
            <a:r>
              <a:rPr lang="en-US" altLang="ko-KR" dirty="0"/>
              <a:t>– </a:t>
            </a:r>
            <a:r>
              <a:rPr lang="en-US" altLang="ko-KR" dirty="0" smtClean="0"/>
              <a:t>SW </a:t>
            </a:r>
            <a:r>
              <a:rPr lang="ko-KR" altLang="en-US" dirty="0" smtClean="0"/>
              <a:t>구현 중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234949" y="3507589"/>
            <a:ext cx="11774487" cy="298211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93686" y="3574147"/>
            <a:ext cx="4328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 u="sng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ko-KR" altLang="en-US" dirty="0" smtClean="0"/>
              <a:t>검증 진행 현황</a:t>
            </a:r>
            <a:endParaRPr lang="ko-KR" altLang="en-US" dirty="0"/>
          </a:p>
        </p:txBody>
      </p:sp>
      <p:sp>
        <p:nvSpPr>
          <p:cNvPr id="20" name="아래쪽 화살표 19"/>
          <p:cNvSpPr/>
          <p:nvPr/>
        </p:nvSpPr>
        <p:spPr>
          <a:xfrm>
            <a:off x="2075069" y="5229836"/>
            <a:ext cx="447261" cy="1035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/>
          </p:nvPr>
        </p:nvGraphicFramePr>
        <p:xfrm>
          <a:off x="4365370" y="4155558"/>
          <a:ext cx="3231970" cy="1937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783">
                  <a:extLst>
                    <a:ext uri="{9D8B030D-6E8A-4147-A177-3AD203B41FA5}">
                      <a16:colId xmlns:a16="http://schemas.microsoft.com/office/drawing/2014/main" val="1763703198"/>
                    </a:ext>
                  </a:extLst>
                </a:gridCol>
                <a:gridCol w="732272">
                  <a:extLst>
                    <a:ext uri="{9D8B030D-6E8A-4147-A177-3AD203B41FA5}">
                      <a16:colId xmlns:a16="http://schemas.microsoft.com/office/drawing/2014/main" val="2191293009"/>
                    </a:ext>
                  </a:extLst>
                </a:gridCol>
                <a:gridCol w="577415">
                  <a:extLst>
                    <a:ext uri="{9D8B030D-6E8A-4147-A177-3AD203B41FA5}">
                      <a16:colId xmlns:a16="http://schemas.microsoft.com/office/drawing/2014/main" val="374673476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318705210"/>
                    </a:ext>
                  </a:extLst>
                </a:gridCol>
              </a:tblGrid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항목</a:t>
                      </a:r>
                      <a:endParaRPr lang="ko-KR" altLang="en-US" sz="9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Condition</a:t>
                      </a:r>
                      <a:endParaRPr lang="ko-KR" altLang="en-US" sz="9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목표</a:t>
                      </a:r>
                      <a:endParaRPr lang="ko-KR" altLang="en-US" sz="9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현재</a:t>
                      </a:r>
                      <a:endParaRPr lang="ko-KR" altLang="en-US" sz="9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93773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Seq. Write (MB/s)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 (HSG4)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1600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1928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88599024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aseline="0" dirty="0" smtClean="0"/>
                        <a:t>Seq. Read (MB/s)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 (HSG4)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2000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2093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93210671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/>
                        <a:t>Random</a:t>
                      </a:r>
                      <a:r>
                        <a:rPr lang="en-US" altLang="ko-KR" sz="900" baseline="0" dirty="0" smtClean="0"/>
                        <a:t> Write (KIOPS)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8 (HSG4)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120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123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3167691027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Random</a:t>
                      </a:r>
                      <a:r>
                        <a:rPr lang="en-US" altLang="ko-KR" sz="900" baseline="0" dirty="0" smtClean="0"/>
                        <a:t> Read (KIOPS)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32 (HSG4)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350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372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787631428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Power (mA)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/>
                        <a:t>Active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560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551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44999009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Power (mA)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Idle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170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70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983621631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Power (mA)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Sleep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0.4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0033CC"/>
                          </a:solidFill>
                        </a:rPr>
                        <a:t>0.4</a:t>
                      </a:r>
                      <a:endParaRPr lang="ko-KR" altLang="en-US" sz="9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45892069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93686" y="3850342"/>
            <a:ext cx="3344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100" b="1" dirty="0"/>
              <a:t>■ </a:t>
            </a:r>
            <a:r>
              <a:rPr lang="en-US" altLang="ko-KR" sz="1100" b="1" dirty="0" smtClean="0"/>
              <a:t>Functional &amp; Stress &amp; Fail Injection Test </a:t>
            </a:r>
            <a:endParaRPr lang="ko-KR" altLang="en-US" sz="11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264410" y="3850342"/>
            <a:ext cx="150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100" b="1" dirty="0" smtClean="0"/>
              <a:t>■ 제품 경쟁력 </a:t>
            </a:r>
            <a:r>
              <a:rPr lang="en-US" altLang="ko-KR" sz="1100" b="1" dirty="0" smtClean="0"/>
              <a:t>Test </a:t>
            </a:r>
            <a:endParaRPr lang="ko-KR" altLang="en-US" sz="11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365371" y="6156222"/>
            <a:ext cx="323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ko-KR" altLang="en-US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초격차를 위한 제품 경쟁력 확보</a:t>
            </a:r>
            <a:r>
              <a:rPr lang="en-US" altLang="ko-KR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!!</a:t>
            </a:r>
            <a:endParaRPr lang="ko-KR" altLang="en-US" sz="1400" b="1" dirty="0">
              <a:solidFill>
                <a:srgbClr val="0033C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85252" y="3850342"/>
            <a:ext cx="17831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100" b="1" smtClean="0"/>
              <a:t>■ 설계 </a:t>
            </a:r>
            <a:r>
              <a:rPr lang="ko-KR" altLang="en-US" sz="1100" b="1" dirty="0" smtClean="0"/>
              <a:t>품질 </a:t>
            </a:r>
            <a:r>
              <a:rPr lang="en-US" altLang="ko-KR" sz="1100" b="1" dirty="0" smtClean="0"/>
              <a:t>Test (SAM)</a:t>
            </a:r>
            <a:endParaRPr lang="ko-KR" altLang="en-US" sz="11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248746" y="6156222"/>
            <a:ext cx="3020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r>
              <a:rPr lang="en-US" altLang="ko-KR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4.86</a:t>
            </a:r>
            <a:r>
              <a:rPr lang="ko-KR" altLang="en-US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으로</a:t>
            </a:r>
            <a:r>
              <a:rPr lang="en-US" altLang="ko-KR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 SAM </a:t>
            </a:r>
            <a:r>
              <a:rPr lang="ko-KR" altLang="en-US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목표 초과 달성</a:t>
            </a:r>
            <a:r>
              <a:rPr lang="en-US" altLang="ko-KR" sz="14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!!</a:t>
            </a:r>
            <a:endParaRPr lang="ko-KR" altLang="en-US" sz="1400" b="1" dirty="0">
              <a:solidFill>
                <a:srgbClr val="0033CC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l="12240"/>
          <a:stretch/>
        </p:blipFill>
        <p:spPr>
          <a:xfrm>
            <a:off x="345189" y="4085527"/>
            <a:ext cx="3820411" cy="1076326"/>
          </a:xfrm>
          <a:prstGeom prst="rect">
            <a:avLst/>
          </a:prstGeom>
        </p:spPr>
      </p:pic>
      <p:graphicFrame>
        <p:nvGraphicFramePr>
          <p:cNvPr id="29" name="표 28"/>
          <p:cNvGraphicFramePr>
            <a:graphicFrameLocks noGrp="1"/>
          </p:cNvGraphicFramePr>
          <p:nvPr>
            <p:extLst/>
          </p:nvPr>
        </p:nvGraphicFramePr>
        <p:xfrm>
          <a:off x="349952" y="5377089"/>
          <a:ext cx="3815648" cy="1062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7848">
                  <a:extLst>
                    <a:ext uri="{9D8B030D-6E8A-4147-A177-3AD203B41FA5}">
                      <a16:colId xmlns:a16="http://schemas.microsoft.com/office/drawing/2014/main" val="1763703198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19129300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746734762"/>
                    </a:ext>
                  </a:extLst>
                </a:gridCol>
              </a:tblGrid>
              <a:tr h="19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/>
                        <a:t>Functional Requirements</a:t>
                      </a:r>
                      <a:endParaRPr lang="ko-KR" altLang="en-US" sz="8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/>
                        <a:t>Pass / Total</a:t>
                      </a:r>
                      <a:endParaRPr lang="ko-KR" altLang="en-US" sz="8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/>
                        <a:t>진행율</a:t>
                      </a:r>
                      <a:endParaRPr lang="ko-KR" altLang="en-US" sz="8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93773"/>
                  </a:ext>
                </a:extLst>
              </a:tr>
              <a:tr h="1976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FR1.</a:t>
                      </a:r>
                      <a:r>
                        <a:rPr lang="en-US" altLang="ko-KR" sz="800" baseline="0" dirty="0" smtClean="0"/>
                        <a:t> Legacy UFS </a:t>
                      </a:r>
                      <a:r>
                        <a:rPr lang="ko-KR" altLang="en-US" sz="800" baseline="0" dirty="0" smtClean="0"/>
                        <a:t>기능 제공</a:t>
                      </a:r>
                      <a:endParaRPr lang="ko-KR" altLang="en-US" sz="800" dirty="0"/>
                    </a:p>
                  </a:txBody>
                  <a:tcPr marL="90661" marR="90661" marT="45331" marB="4533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181 / 181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100%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88599024"/>
                  </a:ext>
                </a:extLst>
              </a:tr>
              <a:tr h="1976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 smtClean="0"/>
                        <a:t>FR2. Turbo Write 1.0 </a:t>
                      </a:r>
                      <a:r>
                        <a:rPr lang="ko-KR" altLang="en-US" sz="800" baseline="0" dirty="0" smtClean="0"/>
                        <a:t>기능 지원</a:t>
                      </a:r>
                      <a:endParaRPr lang="ko-KR" altLang="en-US" sz="800" dirty="0"/>
                    </a:p>
                  </a:txBody>
                  <a:tcPr marL="90661" marR="90661" marT="45331" marB="4533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9 / 9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100%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93210671"/>
                  </a:ext>
                </a:extLst>
              </a:tr>
              <a:tr h="1976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/>
                        <a:t>FR3. Host</a:t>
                      </a:r>
                      <a:r>
                        <a:rPr lang="en-US" altLang="ko-KR" sz="800" baseline="0" dirty="0" smtClean="0"/>
                        <a:t> Performance Booster 2.0 </a:t>
                      </a:r>
                      <a:r>
                        <a:rPr lang="ko-KR" altLang="en-US" sz="800" baseline="0" dirty="0" smtClean="0"/>
                        <a:t>기능 지원</a:t>
                      </a:r>
                      <a:endParaRPr lang="ko-KR" altLang="en-US" sz="800" dirty="0"/>
                    </a:p>
                  </a:txBody>
                  <a:tcPr marL="90661" marR="90661" marT="45331" marB="4533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14 / 14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100%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3167691027"/>
                  </a:ext>
                </a:extLst>
              </a:tr>
              <a:tr h="1976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FR4.</a:t>
                      </a:r>
                      <a:r>
                        <a:rPr lang="en-US" altLang="ko-KR" sz="800" baseline="0" dirty="0" smtClean="0"/>
                        <a:t> Host Initiative Defrag 1.0 </a:t>
                      </a:r>
                      <a:r>
                        <a:rPr lang="ko-KR" altLang="en-US" sz="800" baseline="0" dirty="0" smtClean="0"/>
                        <a:t>기능 지원</a:t>
                      </a:r>
                      <a:endParaRPr lang="ko-KR" altLang="en-US" sz="800" dirty="0"/>
                    </a:p>
                  </a:txBody>
                  <a:tcPr marL="90661" marR="90661" marT="45331" marB="4533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6 / 6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100%</a:t>
                      </a:r>
                      <a:endParaRPr lang="ko-KR" altLang="en-US" sz="8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787631428"/>
                  </a:ext>
                </a:extLst>
              </a:tr>
            </a:tbl>
          </a:graphicData>
        </a:graphic>
      </p:graphicFrame>
      <p:sp>
        <p:nvSpPr>
          <p:cNvPr id="2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92" y="1048873"/>
            <a:ext cx="5567557" cy="2277637"/>
          </a:xfrm>
          <a:prstGeom prst="rect">
            <a:avLst/>
          </a:prstGeom>
        </p:spPr>
      </p:pic>
      <p:cxnSp>
        <p:nvCxnSpPr>
          <p:cNvPr id="15" name="직선 화살표 연결선 14"/>
          <p:cNvCxnSpPr/>
          <p:nvPr/>
        </p:nvCxnSpPr>
        <p:spPr>
          <a:xfrm>
            <a:off x="2298700" y="1612900"/>
            <a:ext cx="4078287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110" y="4171050"/>
            <a:ext cx="2341314" cy="19216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aphicFrame>
        <p:nvGraphicFramePr>
          <p:cNvPr id="27" name="표 26"/>
          <p:cNvGraphicFramePr>
            <a:graphicFrameLocks noGrp="1"/>
          </p:cNvGraphicFramePr>
          <p:nvPr>
            <p:extLst/>
          </p:nvPr>
        </p:nvGraphicFramePr>
        <p:xfrm>
          <a:off x="10205492" y="4155558"/>
          <a:ext cx="1681708" cy="1937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328">
                  <a:extLst>
                    <a:ext uri="{9D8B030D-6E8A-4147-A177-3AD203B41FA5}">
                      <a16:colId xmlns:a16="http://schemas.microsoft.com/office/drawing/2014/main" val="1763703198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191293009"/>
                    </a:ext>
                  </a:extLst>
                </a:gridCol>
              </a:tblGrid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SAM</a:t>
                      </a:r>
                      <a:r>
                        <a:rPr lang="en-US" altLang="ko-KR" sz="900" b="1" baseline="0" dirty="0" smtClean="0"/>
                        <a:t> Metrics</a:t>
                      </a:r>
                      <a:endParaRPr lang="ko-KR" altLang="en-US" sz="9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Score</a:t>
                      </a:r>
                      <a:endParaRPr lang="ko-KR" altLang="en-US" sz="9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93773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CC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4.59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88599024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/>
                        <a:t>DC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4.68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93210671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/>
                        <a:t>MCD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4.86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3167691027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CBO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787631428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LOC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/>
                        <a:t>5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44999009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GV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3.17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983621631"/>
                  </a:ext>
                </a:extLst>
              </a:tr>
              <a:tr h="2421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PP</a:t>
                      </a:r>
                      <a:endParaRPr lang="ko-KR" altLang="en-US" sz="9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1.12</a:t>
                      </a:r>
                      <a:endParaRPr lang="ko-KR" altLang="en-US" sz="900" dirty="0"/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458920691"/>
                  </a:ext>
                </a:extLst>
              </a:tr>
            </a:tbl>
          </a:graphicData>
        </a:graphic>
      </p:graphicFrame>
      <p:cxnSp>
        <p:nvCxnSpPr>
          <p:cNvPr id="30" name="직선 연결선 29"/>
          <p:cNvCxnSpPr/>
          <p:nvPr/>
        </p:nvCxnSpPr>
        <p:spPr>
          <a:xfrm>
            <a:off x="9362343" y="457197"/>
            <a:ext cx="30119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9704443" y="457197"/>
            <a:ext cx="3011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3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성과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82483" y="645820"/>
            <a:ext cx="11627033" cy="1938992"/>
          </a:xfrm>
          <a:prstGeom prst="rect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 smtClean="0"/>
              <a:t>     경쟁사를 압도하는 초고성능 </a:t>
            </a:r>
            <a:r>
              <a:rPr lang="en-US" altLang="ko-KR" sz="2000" b="1" dirty="0" smtClean="0"/>
              <a:t>UFS </a:t>
            </a:r>
            <a:r>
              <a:rPr lang="ko-KR" altLang="en-US" sz="2000" b="1" dirty="0" smtClean="0"/>
              <a:t>개발  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 </a:t>
            </a:r>
            <a:r>
              <a:rPr lang="ko-KR" altLang="en-US" sz="2000" b="1" dirty="0" err="1" smtClean="0">
                <a:sym typeface="Wingdings" panose="05000000000000000000" pitchFamily="2" charset="2"/>
              </a:rPr>
              <a:t>초격차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 확대</a:t>
            </a:r>
            <a:endParaRPr lang="en-US" altLang="ko-KR" sz="2000" b="1" dirty="0" smtClean="0">
              <a:sym typeface="Wingdings" panose="05000000000000000000" pitchFamily="2" charset="2"/>
            </a:endParaRPr>
          </a:p>
          <a:p>
            <a:pPr lvl="0">
              <a:lnSpc>
                <a:spcPct val="150000"/>
              </a:lnSpc>
            </a:pPr>
            <a:r>
              <a:rPr lang="ko-KR" altLang="en-US" sz="2000" b="1" dirty="0" smtClean="0"/>
              <a:t>     세계 최초 모바일 </a:t>
            </a:r>
            <a:r>
              <a:rPr lang="en-US" altLang="ko-KR" sz="2000" b="1" dirty="0" smtClean="0"/>
              <a:t>QLC NAND </a:t>
            </a:r>
            <a:r>
              <a:rPr lang="ko-KR" altLang="en-US" sz="2000" b="1" dirty="0" smtClean="0"/>
              <a:t>적용 </a:t>
            </a:r>
            <a:r>
              <a:rPr lang="en-US" altLang="ko-KR" sz="2000" b="1" dirty="0" smtClean="0"/>
              <a:t>UFS </a:t>
            </a:r>
            <a:r>
              <a:rPr lang="ko-KR" altLang="en-US" sz="2000" b="1" dirty="0" smtClean="0"/>
              <a:t>개발 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 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극한의 원가 경쟁력 확보</a:t>
            </a:r>
            <a:endParaRPr lang="en-US" altLang="ko-KR" sz="2000" b="1" dirty="0" smtClean="0"/>
          </a:p>
          <a:p>
            <a:pPr>
              <a:lnSpc>
                <a:spcPct val="150000"/>
              </a:lnSpc>
            </a:pPr>
            <a:r>
              <a:rPr lang="ko-KR" altLang="en-US" sz="2000" b="1" dirty="0" smtClean="0"/>
              <a:t>     기민한 제품 개발을 통한 마케팅 및 </a:t>
            </a:r>
            <a:r>
              <a:rPr lang="en-US" altLang="ko-KR" sz="2000" b="1" dirty="0" smtClean="0"/>
              <a:t>PMO </a:t>
            </a:r>
            <a:r>
              <a:rPr lang="ko-KR" altLang="en-US" sz="2000" b="1" dirty="0" smtClean="0"/>
              <a:t>전략 수행 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 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빠른 시장 대응</a:t>
            </a:r>
            <a:endParaRPr lang="en-US" altLang="ko-KR" sz="2000" b="1" dirty="0" smtClean="0"/>
          </a:p>
          <a:p>
            <a:pPr>
              <a:lnSpc>
                <a:spcPct val="150000"/>
              </a:lnSpc>
            </a:pPr>
            <a:r>
              <a:rPr lang="en-US" altLang="ko-KR" sz="2000" b="1" dirty="0" smtClean="0"/>
              <a:t>     SW Business</a:t>
            </a:r>
            <a:r>
              <a:rPr lang="ko-KR" altLang="en-US" sz="2000" b="1" dirty="0" smtClean="0"/>
              <a:t>를 통한 신규 비 표준화 기술 확장 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 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시장 지배력 확대</a:t>
            </a:r>
            <a:endParaRPr lang="en-US" altLang="ko-KR" sz="2000" b="1" dirty="0"/>
          </a:p>
        </p:txBody>
      </p:sp>
      <p:sp>
        <p:nvSpPr>
          <p:cNvPr id="11" name="직사각형 10"/>
          <p:cNvSpPr/>
          <p:nvPr/>
        </p:nvSpPr>
        <p:spPr>
          <a:xfrm>
            <a:off x="262071" y="2756757"/>
            <a:ext cx="3819065" cy="13102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67715" y="2756757"/>
            <a:ext cx="3819065" cy="13102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073359" y="2756757"/>
            <a:ext cx="3819065" cy="13102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t="19381"/>
          <a:stretch/>
        </p:blipFill>
        <p:spPr>
          <a:xfrm>
            <a:off x="4306844" y="2827817"/>
            <a:ext cx="3433372" cy="115192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t="21545"/>
          <a:stretch/>
        </p:blipFill>
        <p:spPr>
          <a:xfrm>
            <a:off x="8205064" y="2827820"/>
            <a:ext cx="3268615" cy="75940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t="24186"/>
          <a:stretch/>
        </p:blipFill>
        <p:spPr>
          <a:xfrm>
            <a:off x="351096" y="2827819"/>
            <a:ext cx="3628490" cy="7608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0832" y="4083992"/>
            <a:ext cx="2709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삼성전자 실적발표 </a:t>
            </a:r>
            <a:r>
              <a:rPr lang="en-US" altLang="ko-KR" sz="1400" dirty="0" smtClean="0"/>
              <a:t>‘20</a:t>
            </a:r>
            <a:r>
              <a:rPr lang="ko-KR" altLang="en-US" sz="1400" dirty="0" smtClean="0"/>
              <a:t>년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분기 </a:t>
            </a:r>
            <a:endParaRPr lang="ko-KR" altLang="en-US" sz="140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2495374" y="2998736"/>
            <a:ext cx="9229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4845466" y="3802040"/>
            <a:ext cx="102193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8767985" y="3578682"/>
            <a:ext cx="8545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58582" y="4083992"/>
            <a:ext cx="2709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삼성전자 실적발표 </a:t>
            </a:r>
            <a:r>
              <a:rPr lang="en-US" altLang="ko-KR" sz="1400" dirty="0" smtClean="0"/>
              <a:t>‘20</a:t>
            </a:r>
            <a:r>
              <a:rPr lang="ko-KR" altLang="en-US" sz="1400" dirty="0" smtClean="0"/>
              <a:t>년 </a:t>
            </a:r>
            <a:r>
              <a:rPr lang="en-US" altLang="ko-KR" sz="1400" dirty="0"/>
              <a:t>2</a:t>
            </a:r>
            <a:r>
              <a:rPr lang="ko-KR" altLang="en-US" sz="1400" dirty="0" smtClean="0"/>
              <a:t>분기 </a:t>
            </a:r>
            <a:endParaRPr lang="ko-KR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8628382" y="4083992"/>
            <a:ext cx="2709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삼성전자 실적발표 </a:t>
            </a:r>
            <a:r>
              <a:rPr lang="en-US" altLang="ko-KR" sz="1400" dirty="0" smtClean="0"/>
              <a:t>‘20</a:t>
            </a:r>
            <a:r>
              <a:rPr lang="ko-KR" altLang="en-US" sz="1400" dirty="0" smtClean="0"/>
              <a:t>년 </a:t>
            </a:r>
            <a:r>
              <a:rPr lang="en-US" altLang="ko-KR" sz="1400" dirty="0"/>
              <a:t>3</a:t>
            </a:r>
            <a:r>
              <a:rPr lang="ko-KR" altLang="en-US" sz="1400" dirty="0" smtClean="0"/>
              <a:t>분기 </a:t>
            </a:r>
            <a:endParaRPr lang="ko-KR" altLang="en-US" sz="1400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37" y="4470532"/>
            <a:ext cx="9526445" cy="5706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83" y="5257910"/>
            <a:ext cx="9525737" cy="4801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071" y="5908188"/>
            <a:ext cx="10458130" cy="4774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타원 27"/>
          <p:cNvSpPr/>
          <p:nvPr/>
        </p:nvSpPr>
        <p:spPr>
          <a:xfrm>
            <a:off x="512707" y="857769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512707" y="1327090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512707" y="1764043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512707" y="2233364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0" y="3290639"/>
            <a:ext cx="12192000" cy="154272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smtClean="0"/>
              <a:t>초 고성능과 극한의 원가 경쟁력을 갖춘</a:t>
            </a:r>
            <a:endParaRPr lang="en-US" altLang="ko-KR" sz="3200" b="1" dirty="0" smtClean="0"/>
          </a:p>
          <a:p>
            <a:pPr algn="ctr"/>
            <a:r>
              <a:rPr lang="ko-KR" altLang="en-US" sz="3200" b="1" dirty="0" smtClean="0"/>
              <a:t>세계 최고의 </a:t>
            </a:r>
            <a:r>
              <a:rPr lang="en-US" altLang="ko-KR" sz="3200" b="1" dirty="0" smtClean="0"/>
              <a:t>UFS </a:t>
            </a:r>
            <a:r>
              <a:rPr lang="ko-KR" altLang="en-US" sz="3200" b="1" dirty="0" smtClean="0"/>
              <a:t>솔루션 개발</a:t>
            </a:r>
            <a:endParaRPr lang="ko-KR" altLang="en-US" sz="3200" b="1" dirty="0"/>
          </a:p>
        </p:txBody>
      </p:sp>
      <p:sp>
        <p:nvSpPr>
          <p:cNvPr id="3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cxnSp>
        <p:nvCxnSpPr>
          <p:cNvPr id="34" name="직선 연결선 33"/>
          <p:cNvCxnSpPr/>
          <p:nvPr/>
        </p:nvCxnSpPr>
        <p:spPr>
          <a:xfrm>
            <a:off x="10196812" y="457197"/>
            <a:ext cx="8521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70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요구사항 분석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기능 요구사항 분석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50" y="567927"/>
            <a:ext cx="5432426" cy="593764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4" name="그림 7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44588"/>
            <a:ext cx="5090784" cy="5432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그림 7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444" y="1062254"/>
            <a:ext cx="5999486" cy="529840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직사각형 76"/>
          <p:cNvSpPr/>
          <p:nvPr/>
        </p:nvSpPr>
        <p:spPr>
          <a:xfrm>
            <a:off x="5813426" y="570083"/>
            <a:ext cx="6178548" cy="593764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248458" y="652369"/>
            <a:ext cx="2802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주요 기능의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Use Case Diagram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813426" y="652369"/>
            <a:ext cx="2316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Domain Model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1" name="모서리가 둥근 직사각형 80">
            <a:hlinkClick r:id="rId4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23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요구사항 분석 </a:t>
            </a:r>
            <a:r>
              <a:rPr lang="en-US" altLang="ko-KR" dirty="0" smtClean="0"/>
              <a:t>– Legacy UFS </a:t>
            </a:r>
            <a:r>
              <a:rPr lang="ko-KR" altLang="en-US" dirty="0" smtClean="0"/>
              <a:t>기능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234950" y="654050"/>
          <a:ext cx="3141849" cy="585479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141849">
                  <a:extLst>
                    <a:ext uri="{9D8B030D-6E8A-4147-A177-3AD203B41FA5}">
                      <a16:colId xmlns:a16="http://schemas.microsoft.com/office/drawing/2014/main" val="535890229"/>
                    </a:ext>
                  </a:extLst>
                </a:gridCol>
              </a:tblGrid>
              <a:tr h="146495">
                <a:tc>
                  <a:txBody>
                    <a:bodyPr/>
                    <a:lstStyle/>
                    <a:p>
                      <a:pPr algn="ctr" fontAlgn="ctr"/>
                      <a:r>
                        <a:rPr lang="ko-KR" sz="900" u="none" strike="noStrike" dirty="0">
                          <a:effectLst/>
                        </a:rPr>
                        <a:t>지원 기능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82874380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Normal Zone TLC Write - Write-back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82213684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Normal Zone Turbo Write - Write-back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035504513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Normal Zone SLC Write - Write-through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590100716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 Boot LU Write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271985173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 RPMB Write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203023246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Enhanced Zone SLC Write - Write-back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111646715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 SLC Write - Write-through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930713192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Normal Zone SLC / TLC Read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675862746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Normal Zone SLC / TLC Read - HPB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727493591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 SLC Read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535846630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 Boot LU Read 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40820793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 RPMB Read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996048508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Buffer for HPB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449127551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Host Flush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10474973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Erase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46620255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Discard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213837105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Purge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698077821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Turbo Write Flush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371389449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Open Partition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800640663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Make Partition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71803645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Start Boot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33260736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Update Host Repository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5247250"/>
                  </a:ext>
                </a:extLst>
              </a:tr>
              <a:tr h="287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Change Power Mode (Sleep, Power Down, Active, Hibern)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05552496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Change Background Operation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866842499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FTL Characteristic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842054200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Check Compatibility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805252167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Lock FlashCore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460399439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Notify Aborted Host Dma Done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165042645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Reclaim FW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227247496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Old FW Activate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422469332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Update Ref Clock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896545672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Set Rom Burst State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68559519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Notify FFU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622152052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Set Debug Feature(RTBB 발생시 FW hang)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332546953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Notify Open Partition Done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709247472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Abort Host DMA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708723053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Error History Data(On Board Debugging) 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672146782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Get WAI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20718602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3552577" y="654050"/>
          <a:ext cx="2666554" cy="585479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666554">
                  <a:extLst>
                    <a:ext uri="{9D8B030D-6E8A-4147-A177-3AD203B41FA5}">
                      <a16:colId xmlns:a16="http://schemas.microsoft.com/office/drawing/2014/main" val="329434013"/>
                    </a:ext>
                  </a:extLst>
                </a:gridCol>
              </a:tblGrid>
              <a:tr h="150123">
                <a:tc>
                  <a:txBody>
                    <a:bodyPr/>
                    <a:lstStyle/>
                    <a:p>
                      <a:pPr algn="ctr" fontAlgn="ctr"/>
                      <a:r>
                        <a:rPr lang="ko-KR" sz="900" u="none" strike="noStrike">
                          <a:effectLst/>
                        </a:rPr>
                        <a:t>지원 기능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48832697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Get WAF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911898838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Erase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08120367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Remain Reserved Block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600288309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Total Nand Write Bytes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9799998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Total Nand Erase Bytes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94430999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FTL Open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895917031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Total Bad Block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69714321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Recovery Descriptor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91381476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zone Free Block List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1080771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Profile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66361293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Block Cell Type list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85127512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Total Block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95638823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Bad Block List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2320796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Convert L2P Address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44230854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Convert P2L Address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17975449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Inject Fault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67939933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RPMB Write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49251292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Set RPMB Write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4354201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EOL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29494467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Lifetime Estimation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601191325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TurboWrite Lifetime Estimation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5880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Block Erase Count List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23852527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LVD Detect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017791415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Boot context Update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9212062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Runtime Overlay Load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763093858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Debugging Context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39052009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OSV Report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70941681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Secure Smart Report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60917613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Write Buffer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420240255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Read Buffer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55360569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L2P Update Event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87016950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SRAM Ecc Debugging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57647882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Correct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33344064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Cell Vth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077299815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Distribution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01974781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FRL Test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22923396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Increase PE Cycle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3975845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Read Page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67910470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6394910" y="654050"/>
          <a:ext cx="2578331" cy="585479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578331">
                  <a:extLst>
                    <a:ext uri="{9D8B030D-6E8A-4147-A177-3AD203B41FA5}">
                      <a16:colId xmlns:a16="http://schemas.microsoft.com/office/drawing/2014/main" val="191713432"/>
                    </a:ext>
                  </a:extLst>
                </a:gridCol>
              </a:tblGrid>
              <a:tr h="150123">
                <a:tc>
                  <a:txBody>
                    <a:bodyPr/>
                    <a:lstStyle/>
                    <a:p>
                      <a:pPr algn="ctr" fontAlgn="ctr"/>
                      <a:r>
                        <a:rPr lang="ko-KR" sz="900" u="none" strike="noStrike">
                          <a:effectLst/>
                        </a:rPr>
                        <a:t>지원 기능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27825804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Write Page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37798842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Erase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46483931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Erase All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63376783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Erase Good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94347329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Security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51908318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CD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18084434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Write CD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27830387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Erase CD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56357254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Device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780670755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Result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339086338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Page Buffer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57488787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Write Page Buffer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33472657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Read10 Debug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99255403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CheckStatus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50660537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Issue UIB Command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20996886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Feature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12262337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ID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84881160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Change Nand Clock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52887862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Set Prevention Erase Count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49644156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Get Prevention Erase Count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8160214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Get Patrol Read History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77858645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RINC Profile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5150725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Get SRAM ECC Debugging Info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41386833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Write Full Free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24793501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Verify Full Free Block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10103484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Purge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128712991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Normal Zone Urgent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108654831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 Urgent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030538350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Reclaim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41754264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MLC Wear Leveling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868995906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SLC Wear Leveling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562143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Normal Zone Greedy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811062597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Enhanced Zone Greedy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136891048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Delayed Bad Block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90062214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SLC Migration (SMT)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413965228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GC Suspend for Host Read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899958911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Incremental (1:N) GC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927195682"/>
                  </a:ext>
                </a:extLst>
              </a:tr>
              <a:tr h="150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Early GC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708608183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9184176" y="654050"/>
          <a:ext cx="2777839" cy="585480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777839">
                  <a:extLst>
                    <a:ext uri="{9D8B030D-6E8A-4147-A177-3AD203B41FA5}">
                      <a16:colId xmlns:a16="http://schemas.microsoft.com/office/drawing/2014/main" val="1731536262"/>
                    </a:ext>
                  </a:extLst>
                </a:gridCol>
              </a:tblGrid>
              <a:tr h="158238">
                <a:tc>
                  <a:txBody>
                    <a:bodyPr/>
                    <a:lstStyle/>
                    <a:p>
                      <a:pPr algn="ctr" fontAlgn="ctr"/>
                      <a:r>
                        <a:rPr lang="ko-KR" sz="900" u="none" strike="noStrike">
                          <a:effectLst/>
                        </a:rPr>
                        <a:t>지원 기능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6760822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2-Stream GC (Wear Level and others)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136052028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Sequential Write Acceleration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4066914439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Random Write Acceleration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049742229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Random Read Acceleration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414562082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Meta Suspend for Host Read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043805858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4KB Directory Map Management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258715995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1GB Range L2P Map Cache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431006584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Full Range Directory Map Cache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905194106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Bad Block Management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605767174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Fast Open - Power Off Notification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584842173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Incremental Meta Merge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682658745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Meta SB Read Reclaim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15544172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Meta SB Wear Leveling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008084809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Shared Buffer Management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442266290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Program Fail Recovery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377120604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Runtime Code Overlay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158661543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Initializing Code Overlay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723543909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Idle Power Saving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129248464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Patrol Read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486041416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Async. PDT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537609812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Preemptive Read Level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249855540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RINC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593267576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RINCA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982943126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Read Retry for Free Page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510895082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Idle Auto Flush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904052314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Safe Mode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007771992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Meta Corruption Recovery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845149707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SRAM E2P Protection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4075757563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LVDF Protection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046878859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GC UECC Notification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296190211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Debug Log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852665020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Open Time Logger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4163871961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All Core Stop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414607604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On Board Debugging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523412507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Trace32 Vendor Debugging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670636035"/>
                  </a:ext>
                </a:extLst>
              </a:tr>
              <a:tr h="1582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iNFA</a:t>
                      </a:r>
                      <a:r>
                        <a:rPr lang="en-US" sz="900" u="none" strike="noStrike" dirty="0">
                          <a:effectLst/>
                        </a:rPr>
                        <a:t> (Internal NAND Fault Accelerator)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890651730"/>
                  </a:ext>
                </a:extLst>
              </a:tr>
            </a:tbl>
          </a:graphicData>
        </a:graphic>
      </p:graphicFrame>
      <p:sp>
        <p:nvSpPr>
          <p:cNvPr id="11" name="모서리가 둥근 직사각형 10">
            <a:hlinkClick r:id="rId2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713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요구사항 분석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속성 유틸리티 트리</a:t>
            </a:r>
            <a:endParaRPr lang="ko-KR" altLang="en-US" dirty="0"/>
          </a:p>
        </p:txBody>
      </p:sp>
      <p:sp>
        <p:nvSpPr>
          <p:cNvPr id="67" name="모서리가 둥근 직사각형 66">
            <a:hlinkClick r:id="rId2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266811" y="610176"/>
          <a:ext cx="11728452" cy="5884627"/>
        </p:xfrm>
        <a:graphic>
          <a:graphicData uri="http://schemas.openxmlformats.org/drawingml/2006/table">
            <a:tbl>
              <a:tblPr firstRow="1" firstCol="1" bandRow="1"/>
              <a:tblGrid>
                <a:gridCol w="988411">
                  <a:extLst>
                    <a:ext uri="{9D8B030D-6E8A-4147-A177-3AD203B41FA5}">
                      <a16:colId xmlns:a16="http://schemas.microsoft.com/office/drawing/2014/main" val="2813321046"/>
                    </a:ext>
                  </a:extLst>
                </a:gridCol>
                <a:gridCol w="1539253">
                  <a:extLst>
                    <a:ext uri="{9D8B030D-6E8A-4147-A177-3AD203B41FA5}">
                      <a16:colId xmlns:a16="http://schemas.microsoft.com/office/drawing/2014/main" val="3748154692"/>
                    </a:ext>
                  </a:extLst>
                </a:gridCol>
                <a:gridCol w="7776673">
                  <a:extLst>
                    <a:ext uri="{9D8B030D-6E8A-4147-A177-3AD203B41FA5}">
                      <a16:colId xmlns:a16="http://schemas.microsoft.com/office/drawing/2014/main" val="688152209"/>
                    </a:ext>
                  </a:extLst>
                </a:gridCol>
                <a:gridCol w="478564">
                  <a:extLst>
                    <a:ext uri="{9D8B030D-6E8A-4147-A177-3AD203B41FA5}">
                      <a16:colId xmlns:a16="http://schemas.microsoft.com/office/drawing/2014/main" val="2527120340"/>
                    </a:ext>
                  </a:extLst>
                </a:gridCol>
                <a:gridCol w="483450">
                  <a:extLst>
                    <a:ext uri="{9D8B030D-6E8A-4147-A177-3AD203B41FA5}">
                      <a16:colId xmlns:a16="http://schemas.microsoft.com/office/drawing/2014/main" val="3455043876"/>
                    </a:ext>
                  </a:extLst>
                </a:gridCol>
                <a:gridCol w="462101">
                  <a:extLst>
                    <a:ext uri="{9D8B030D-6E8A-4147-A177-3AD203B41FA5}">
                      <a16:colId xmlns:a16="http://schemas.microsoft.com/office/drawing/2014/main" val="1167543205"/>
                    </a:ext>
                  </a:extLst>
                </a:gridCol>
              </a:tblGrid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Quality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Attribute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Attribute Refinement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Scenario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 b="1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중요도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 b="1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복잡도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 b="1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순위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5674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Sequential Write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성능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512KB Chunk 1GB Range Sequential Write (QD2)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수행 시 성능은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512GB TLC UFS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Turbo Write 1600MB/s, 256GB QLC UFS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Turbo Write 400MB/s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이상을 만족해야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370232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Sequential Read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성능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512KB Chunk 1GB Range Sequential Read (QD2)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수행 시 성능은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512GB TLC UFS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2000MB/s, 256GB QLC UFS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1000MB/s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이상을 만족해야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636878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Random Write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성능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4KB Chunk 1GB Range Random Write (QD32)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수행 시 성능은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512GB TLC UFS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120KIOPS, 256GB QLC UFS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65KIOPS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이상을 만족해야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604805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Random Read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성능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4KB Chunk 1GB Range Random Read (QD32)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수행 시 성능은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512GB TLC UFS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350KIOPS, 256GB QLC UFS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35KIOPS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이상을 만족해야 한다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09283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Booting Time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Power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인가부터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fDeviceInit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Time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완료까지의 시간을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Power Off Notification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30ms, Sudden Power Off Recovery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1000ms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만족해야 한다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751315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Mixed Pattern QoS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Write / Read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비율을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10:0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에서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0:10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까지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10%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씩 비율에 따라 바꿔가면서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Sequential / Random IO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수행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(Stage)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하였을 때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Read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비율이 증가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(Next Stage)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할수록 성능이 증가해야 한다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225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Garbage Collection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중 </a:t>
                      </a: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Write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성능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가용 공간을 대부분 사용한 이후에도 모바일 제품의 사용성에 문제가 되지 않도록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Garbage Collection Condition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Full Range Random Chunk(QD16) Write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수행하였을 때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MAX Write Latency 20s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보장해야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554758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Idle Power Efficiency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Host Device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파워 소비를 감소시키기 위해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UFS System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파워 소비가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Command Idle 170mA / Hibernation 430uA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이하여야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024577"/>
                  </a:ext>
                </a:extLst>
              </a:tr>
              <a:tr h="2273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Performance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Peak Power Efficiency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Host Device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파워 허용범위 내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UFS Device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동작시키기 위해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UFS System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Active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파워 소비가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800mA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이하여야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226951"/>
                  </a:ext>
                </a:extLst>
              </a:tr>
              <a:tr h="366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Reliability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Life time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</a:pP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TBW 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측정 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Pattern 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수행 후 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Smart Report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를 통한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UFS Device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MAX EC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값을 확인하였을 때 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UFS Device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Wear-out</a:t>
                      </a:r>
                      <a:r>
                        <a:rPr lang="ko-KR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이 없어야 한다</a:t>
                      </a:r>
                      <a:r>
                        <a:rPr lang="en-GB" altLang="ko-KR" sz="1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326911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Reliability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User Data Integrity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주기적으로 온도를 변경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(-55℃ ~ 125℃)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하면서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Read Command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통한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Verify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수행하였을 때 사용자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Error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 없어야 한다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418635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Reliability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Power Off Recovery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Write Command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수행 중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Sudden Power Off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 발생시킨 후 </a:t>
                      </a: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fDeviceInit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Read Verify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실행하였을 때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Old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New Data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보장하여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Host Flush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이후 요청된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Write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라 할지라도 최대한 복구하되 복구한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신뢰성을 보장해야 한다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429447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Availability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HW Reset Recovery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UFS Device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예외적인 문제로 정상동작 하지 않았을 때 응답 상태를 확인한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Host System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HW Reset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전달하면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UFS System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은 정상적으로 동작해야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972465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Reusability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OEM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별 제품 재사용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본 과제를 이용한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OEM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별 제품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 과제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대응을 위해서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One Repository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로 별도의 개발을 위한 프로세스 없이 단순 작업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(ex. Configuration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수정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으로 대응이 가능해야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348476"/>
                  </a:ext>
                </a:extLst>
              </a:tr>
              <a:tr h="218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Modifiability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Modifiability by NAND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NAND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변경에 대한</a:t>
                      </a: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Software </a:t>
                      </a:r>
                      <a:r>
                        <a:rPr lang="ko-KR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변경이 용이해야 한다</a:t>
                      </a: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755143"/>
                  </a:ext>
                </a:extLst>
              </a:tr>
              <a:tr h="349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Modifiability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Modifiability by Unstandardized Specification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비 표준화 기술 개발 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SW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변경이 용이해야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3136"/>
                  </a:ext>
                </a:extLst>
              </a:tr>
              <a:tr h="174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Availability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Fail Analysis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고객사 제품 불량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(Field Defect)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 발생하였을 때 문제의 원인 파악이 용이해야 한다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 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03" marR="35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016517"/>
                  </a:ext>
                </a:extLst>
              </a:tr>
            </a:tbl>
          </a:graphicData>
        </a:graphic>
      </p:graphicFrame>
      <p:sp>
        <p:nvSpPr>
          <p:cNvPr id="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68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요구사항 분석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전체 품질 평가 시나리오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34948" y="622347"/>
          <a:ext cx="3763474" cy="586992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733622">
                  <a:extLst>
                    <a:ext uri="{9D8B030D-6E8A-4147-A177-3AD203B41FA5}">
                      <a16:colId xmlns:a16="http://schemas.microsoft.com/office/drawing/2014/main" val="3875742869"/>
                    </a:ext>
                  </a:extLst>
                </a:gridCol>
                <a:gridCol w="3029852">
                  <a:extLst>
                    <a:ext uri="{9D8B030D-6E8A-4147-A177-3AD203B41FA5}">
                      <a16:colId xmlns:a16="http://schemas.microsoft.com/office/drawing/2014/main" val="1539443053"/>
                    </a:ext>
                  </a:extLst>
                </a:gridCol>
              </a:tblGrid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품질 속성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품질 시나리오</a:t>
                      </a:r>
                      <a:endParaRPr 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216047588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1GB Range Turbo </a:t>
                      </a:r>
                      <a:r>
                        <a:rPr lang="en-US" sz="800" u="none" strike="noStrike" dirty="0" smtClean="0">
                          <a:effectLst/>
                        </a:rPr>
                        <a:t>Write </a:t>
                      </a:r>
                      <a:r>
                        <a:rPr lang="en-US" sz="800" u="none" strike="noStrike" dirty="0">
                          <a:effectLst/>
                        </a:rPr>
                        <a:t>Sequential (MB/s)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036084991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1GB Range Turbo </a:t>
                      </a:r>
                      <a:r>
                        <a:rPr lang="en-US" sz="800" u="none" strike="noStrike" dirty="0" smtClean="0">
                          <a:effectLst/>
                        </a:rPr>
                        <a:t>Write </a:t>
                      </a:r>
                      <a:r>
                        <a:rPr lang="en-US" sz="800" u="none" strike="noStrike" dirty="0">
                          <a:effectLst/>
                        </a:rPr>
                        <a:t>Random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091324508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1GB Range Sequential Write (MB/s)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030322816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1GB Range Sequential Read (MB/s)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554764093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1GB Range 4KB Chunk Random Write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789897587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1GB Range 4KB Chunk Random Read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82540382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Enhanced Partition 1GB Range Sequential Write (MB/s)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42875320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Enhanced Partition 1GB Range Sequential Read (MB/s)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754176049"/>
                  </a:ext>
                </a:extLst>
              </a:tr>
              <a:tr h="2626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Performance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Enhanced Partition 1GB Range 4KB Chunk Random Write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991961636"/>
                  </a:ext>
                </a:extLst>
              </a:tr>
              <a:tr h="2626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Enhanced Partition 1GB Range 4KB Chunk Random Read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820539639"/>
                  </a:ext>
                </a:extLst>
              </a:tr>
              <a:tr h="2626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128MB ~ Full Range </a:t>
                      </a:r>
                      <a:r>
                        <a:rPr lang="en-US" sz="800" u="none" strike="noStrike" dirty="0" smtClean="0">
                          <a:effectLst/>
                        </a:rPr>
                        <a:t>Chunk 별 </a:t>
                      </a:r>
                      <a:r>
                        <a:rPr lang="en-US" sz="800" u="none" strike="noStrike" dirty="0">
                          <a:effectLst/>
                        </a:rPr>
                        <a:t>Random Write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795362748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30GB Range 4KB Chunk Random Read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817918977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Normal Partition Full Range 4KB Chunk Random Read (KIOPS)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76236266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Mixed Pattern - Sequential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93593970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Mixed Pattern - Random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452633437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HPB - Address range별 Random Read 성능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28675591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HPB - 4KB Read Latency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158587386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HPB - User Pattern의 Latency 평가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00118877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FIO Test MAX Latency (ms)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017720853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Full Range Random Write MAX Latency (ms)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011148452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Ideal Wrost Write MAX Latency (ms)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224150592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RPMB Write 성능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48748075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RPMB Read 성능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408025813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Open Time - NOP IN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989738599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Open Time - Boot LU Read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851727160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Open Time - fDeviceInit (w/ PON)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053530556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Open Time - fDeviceInit (w/o PON)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843508450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Open Time - fDeviceInit (w/o PON, w/ Read Reclaim)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031798933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PA Latency - Write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07159459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PA Latency - Read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278912856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PA Latency - Unmap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277794873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Hibernation8 이후 1st Read Latency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801936305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TASK MANAGEMENT REQUEST Timeout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20003203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QUERY REQUEST Timeout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691220298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TEST UNIT READY Timeout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860686382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SCSI Timeout - Start Stop Unit (No Flush)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91687835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SCSI Timeout - Start Stop Unit (Flush)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171285544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SCSI Timeout - Purge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526532168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SCSI Timeout - Write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742437780"/>
                  </a:ext>
                </a:extLst>
              </a:tr>
              <a:tr h="133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SCSI Timeout - Read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30951790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4233661" y="622358"/>
          <a:ext cx="3443489" cy="586989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78172">
                  <a:extLst>
                    <a:ext uri="{9D8B030D-6E8A-4147-A177-3AD203B41FA5}">
                      <a16:colId xmlns:a16="http://schemas.microsoft.com/office/drawing/2014/main" val="105663418"/>
                    </a:ext>
                  </a:extLst>
                </a:gridCol>
                <a:gridCol w="2765317">
                  <a:extLst>
                    <a:ext uri="{9D8B030D-6E8A-4147-A177-3AD203B41FA5}">
                      <a16:colId xmlns:a16="http://schemas.microsoft.com/office/drawing/2014/main" val="1461757712"/>
                    </a:ext>
                  </a:extLst>
                </a:gridCol>
              </a:tblGrid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</a:rPr>
                        <a:t>품질 속성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</a:rPr>
                        <a:t>품질 시나리오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022557728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SCSI Timeout - Unmap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644481091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SCSI Timeout - Sync Cache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603205375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SCSI Timeout - Format, Purge, Unmap </a:t>
                      </a:r>
                      <a:r>
                        <a:rPr lang="en-US" sz="800" u="none" strike="noStrike" dirty="0" err="1">
                          <a:effectLst/>
                        </a:rPr>
                        <a:t>제외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464067120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512KB Chunk Write Latency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924307799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Fragmented 8MB File Write Latency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73124219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QD1 4KB Chunk Write Latency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41073928"/>
                  </a:ext>
                </a:extLst>
              </a:tr>
              <a:tr h="251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QD8 4KB Chunk Read Latency while QD1 512KB Chunk Seq. Write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17445114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(OS) Discard CMD Medium </a:t>
                      </a:r>
                      <a:r>
                        <a:rPr lang="en-US" sz="800" u="none" strike="noStrike" dirty="0" err="1">
                          <a:effectLst/>
                        </a:rPr>
                        <a:t>성능</a:t>
                      </a:r>
                      <a:r>
                        <a:rPr lang="en-US" sz="800" u="none" strike="noStrike" dirty="0">
                          <a:effectLst/>
                        </a:rPr>
                        <a:t> (</a:t>
                      </a:r>
                      <a:r>
                        <a:rPr lang="en-US" sz="800" u="none" strike="noStrike" dirty="0" err="1">
                          <a:effectLst/>
                        </a:rPr>
                        <a:t>ms</a:t>
                      </a:r>
                      <a:r>
                        <a:rPr lang="en-US" sz="800" u="none" strike="noStrike" dirty="0">
                          <a:effectLst/>
                        </a:rPr>
                        <a:t>, QD16)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85590754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sz="800" u="none" strike="noStrike">
                          <a:effectLst/>
                        </a:rPr>
                        <a:t>가용량 별 Aging 조건 I/O 성능 요구조건 - Seq. Read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101705630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sz="800" u="none" strike="noStrike">
                          <a:effectLst/>
                        </a:rPr>
                        <a:t>가용량 별 Aging 조건 I/O 성능 요구조건 - Seq. Write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78194017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Dirty State 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1757929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Partition Type별 장기 사용자 성능 시나리오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27617271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Filled MobileBench Aging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498883974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Fragmentation Latency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670757581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Fill Test S/R (MB/s)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155738448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(OS) TIO Fill Test S/W (MB/s)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339509935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Fill Test R/R (KIOPS)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420764480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Fill Test R/W (KIOPS)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659670228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Clean Test S/R (MB/s)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08875345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Clean Test S/W (MB/s)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862453423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Clean Test R/R (KIOPS, QD4)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275031685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(OS) TIO Clean Test R/W (KIOPS QD4)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959198859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Clean Test R/R (KIOPS, QD8)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569732407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TIO Clean Test R/W (KIOPS QD8)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767128839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Andro Bench S/R (MB/s)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789100000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Andro Bench S/W (MB/s)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651824041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Andro Bench R/R (KIOPS)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261891627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Andro Bench R/W (KIOPS)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833258700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IO Zone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225722789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(OS) Antutu Bench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840712855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EOL Target 성능 (100% TBW)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856381624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Retention Target 성능 (User hot spot 70% @ fast cycle)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447487321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Temp Bump Target 성능 (10% TBW, 0~80℃)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19147500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1N + IR Target 성능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601813622"/>
                  </a:ext>
                </a:extLst>
              </a:tr>
              <a:tr h="251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Turbo Write(=Write Booster)가 가능한 상태에서는 Turbo Write Throughput 성능 유지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52626294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Peak Current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2485873486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RMS Current - Hibernation8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4014624798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RMS Current - NAND Sleep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1432942152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RMS Current - Read Operation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821997979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RMS Current - Write Operation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14" marR="4614" marT="4614" marB="0" anchor="ctr"/>
                </a:tc>
                <a:extLst>
                  <a:ext uri="{0D108BD9-81ED-4DB2-BD59-A6C34878D82A}">
                    <a16:rowId xmlns:a16="http://schemas.microsoft.com/office/drawing/2014/main" val="3234495745"/>
                  </a:ext>
                </a:extLst>
              </a:tr>
              <a:tr h="1272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RMS Current - Idle Current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203351980"/>
                  </a:ext>
                </a:extLst>
              </a:tr>
              <a:tr h="1272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RMS Current - CTRL Idle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932255130"/>
                  </a:ext>
                </a:extLst>
              </a:tr>
              <a:tr h="1272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Performance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RMS Current - Deep Sleep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210162456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7912390" y="622358"/>
          <a:ext cx="4082876" cy="586989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41733">
                  <a:extLst>
                    <a:ext uri="{9D8B030D-6E8A-4147-A177-3AD203B41FA5}">
                      <a16:colId xmlns:a16="http://schemas.microsoft.com/office/drawing/2014/main" val="851288471"/>
                    </a:ext>
                  </a:extLst>
                </a:gridCol>
                <a:gridCol w="3241143">
                  <a:extLst>
                    <a:ext uri="{9D8B030D-6E8A-4147-A177-3AD203B41FA5}">
                      <a16:colId xmlns:a16="http://schemas.microsoft.com/office/drawing/2014/main" val="1002298889"/>
                    </a:ext>
                  </a:extLst>
                </a:gridCol>
              </a:tblGrid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품질 속성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</a:rPr>
                        <a:t>품질 시나리오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15234849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Reliability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Life Time </a:t>
                      </a:r>
                      <a:r>
                        <a:rPr lang="ko-KR" altLang="en-US" sz="800" u="none" strike="noStrike" dirty="0">
                          <a:effectLst/>
                        </a:rPr>
                        <a:t>시나리오 </a:t>
                      </a:r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en-US" sz="800" u="none" strike="noStrike" dirty="0">
                          <a:effectLst/>
                        </a:rPr>
                        <a:t>User Scenario Pattern (PON 2.5K)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400849129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Life Time </a:t>
                      </a:r>
                      <a:r>
                        <a:rPr lang="ko-KR" altLang="en-US" sz="800" u="none" strike="noStrike">
                          <a:effectLst/>
                        </a:rPr>
                        <a:t>시나리오 </a:t>
                      </a:r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en-US" sz="800" u="none" strike="noStrike">
                          <a:effectLst/>
                        </a:rPr>
                        <a:t>User Scenario Pattern (PONLess)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034349970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Life Time </a:t>
                      </a:r>
                      <a:r>
                        <a:rPr lang="ko-KR" altLang="en-US" sz="800" u="none" strike="noStrike">
                          <a:effectLst/>
                        </a:rPr>
                        <a:t>시나리오 </a:t>
                      </a:r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en-US" sz="800" u="none" strike="noStrike">
                          <a:effectLst/>
                        </a:rPr>
                        <a:t>Normal Partition QA TBW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972025220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Life Time </a:t>
                      </a:r>
                      <a:r>
                        <a:rPr lang="ko-KR" altLang="en-US" sz="800" u="none" strike="noStrike">
                          <a:effectLst/>
                        </a:rPr>
                        <a:t>시나리오 </a:t>
                      </a:r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en-US" sz="800" u="none" strike="noStrike">
                          <a:effectLst/>
                        </a:rPr>
                        <a:t>Full Enhanced Partition QA-TBW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2348629031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SMART Report </a:t>
                      </a:r>
                      <a:r>
                        <a:rPr lang="ko-KR" altLang="en-US" sz="800" u="none" strike="noStrike">
                          <a:effectLst/>
                        </a:rPr>
                        <a:t>상의 </a:t>
                      </a:r>
                      <a:r>
                        <a:rPr lang="en-US" sz="800" u="none" strike="noStrike">
                          <a:effectLst/>
                        </a:rPr>
                        <a:t>Mix / Max EC Gap </a:t>
                      </a:r>
                      <a:r>
                        <a:rPr lang="ko-KR" altLang="en-US" sz="800" u="none" strike="noStrike">
                          <a:effectLst/>
                        </a:rPr>
                        <a:t>증폭 방지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251121369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User </a:t>
                      </a:r>
                      <a:r>
                        <a:rPr lang="ko-KR" altLang="en-US" sz="800" u="none" strike="noStrike">
                          <a:effectLst/>
                        </a:rPr>
                        <a:t>시나리오 </a:t>
                      </a:r>
                      <a:r>
                        <a:rPr lang="en-US" altLang="ko-KR" sz="800" u="none" strike="noStrike">
                          <a:effectLst/>
                        </a:rPr>
                        <a:t>WAF </a:t>
                      </a:r>
                      <a:r>
                        <a:rPr lang="ko-KR" altLang="en-US" sz="800" u="none" strike="noStrike">
                          <a:effectLst/>
                        </a:rPr>
                        <a:t>조건 만족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771190874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동작 온도 </a:t>
                      </a:r>
                      <a:r>
                        <a:rPr lang="en-US" sz="800" u="none" strike="noStrike">
                          <a:effectLst/>
                        </a:rPr>
                        <a:t>Data Retention (Ta = 85℃ / 1</a:t>
                      </a:r>
                      <a:r>
                        <a:rPr lang="ko-KR" altLang="en-US" sz="800" u="none" strike="noStrike">
                          <a:effectLst/>
                        </a:rPr>
                        <a:t>년 </a:t>
                      </a:r>
                      <a:r>
                        <a:rPr lang="en-US" altLang="ko-KR" sz="800" u="none" strike="noStrike">
                          <a:effectLst/>
                        </a:rPr>
                        <a:t>@ 100% </a:t>
                      </a:r>
                      <a:r>
                        <a:rPr lang="en-US" sz="800" u="none" strike="noStrike">
                          <a:effectLst/>
                        </a:rPr>
                        <a:t>TBW)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166437252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동작 온도 </a:t>
                      </a:r>
                      <a:r>
                        <a:rPr lang="en-US" sz="800" u="none" strike="noStrike">
                          <a:effectLst/>
                        </a:rPr>
                        <a:t>Data Retention (Ta = 85℃ / 5</a:t>
                      </a:r>
                      <a:r>
                        <a:rPr lang="ko-KR" altLang="en-US" sz="800" u="none" strike="noStrike">
                          <a:effectLst/>
                        </a:rPr>
                        <a:t>년 </a:t>
                      </a:r>
                      <a:r>
                        <a:rPr lang="en-US" altLang="ko-KR" sz="800" u="none" strike="noStrike">
                          <a:effectLst/>
                        </a:rPr>
                        <a:t>@ 10% </a:t>
                      </a:r>
                      <a:r>
                        <a:rPr lang="en-US" sz="800" u="none" strike="noStrike">
                          <a:effectLst/>
                        </a:rPr>
                        <a:t>TBW)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282965425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동작 온도 </a:t>
                      </a:r>
                      <a:r>
                        <a:rPr lang="en-US" sz="800" u="none" strike="noStrike">
                          <a:effectLst/>
                        </a:rPr>
                        <a:t>Data Retention (Tu = 55℃ / 1</a:t>
                      </a:r>
                      <a:r>
                        <a:rPr lang="ko-KR" altLang="en-US" sz="800" u="none" strike="noStrike">
                          <a:effectLst/>
                        </a:rPr>
                        <a:t>년 </a:t>
                      </a:r>
                      <a:r>
                        <a:rPr lang="en-US" altLang="ko-KR" sz="800" u="none" strike="noStrike">
                          <a:effectLst/>
                        </a:rPr>
                        <a:t>@ 100% </a:t>
                      </a:r>
                      <a:r>
                        <a:rPr lang="en-US" sz="800" u="none" strike="noStrike">
                          <a:effectLst/>
                        </a:rPr>
                        <a:t>TBW)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004355263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동작 온도 </a:t>
                      </a:r>
                      <a:r>
                        <a:rPr lang="en-US" sz="800" u="none" strike="noStrike">
                          <a:effectLst/>
                        </a:rPr>
                        <a:t>Data Retention (Tu = 55℃ / 5</a:t>
                      </a:r>
                      <a:r>
                        <a:rPr lang="ko-KR" altLang="en-US" sz="800" u="none" strike="noStrike">
                          <a:effectLst/>
                        </a:rPr>
                        <a:t>년 </a:t>
                      </a:r>
                      <a:r>
                        <a:rPr lang="en-US" altLang="ko-KR" sz="800" u="none" strike="noStrike">
                          <a:effectLst/>
                        </a:rPr>
                        <a:t>@ 10% </a:t>
                      </a:r>
                      <a:r>
                        <a:rPr lang="en-US" sz="800" u="none" strike="noStrike">
                          <a:effectLst/>
                        </a:rPr>
                        <a:t>TBW)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820380248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동작 온도 </a:t>
                      </a:r>
                      <a:r>
                        <a:rPr lang="en-US" sz="800" u="none" strike="noStrike" dirty="0">
                          <a:effectLst/>
                        </a:rPr>
                        <a:t>Data Retention - HTDR (85℃ / 122hr)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79693141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동작 온도 </a:t>
                      </a:r>
                      <a:r>
                        <a:rPr lang="en-US" sz="800" u="none" strike="noStrike">
                          <a:effectLst/>
                        </a:rPr>
                        <a:t>Data Retention - Temp. Swing (-55℃ ~ 125℃ / 122hr)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05009144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방치 온도 </a:t>
                      </a:r>
                      <a:r>
                        <a:rPr lang="en-US" sz="800" u="none" strike="noStrike" dirty="0">
                          <a:effectLst/>
                        </a:rPr>
                        <a:t>Data Retention - HTS (150</a:t>
                      </a:r>
                      <a:r>
                        <a:rPr lang="en-US" sz="800" u="none" strike="noStrike" dirty="0" smtClean="0">
                          <a:effectLst/>
                        </a:rPr>
                        <a:t>℃/No Bias/Cold </a:t>
                      </a:r>
                      <a:r>
                        <a:rPr lang="en-US" sz="800" u="none" strike="noStrike" dirty="0">
                          <a:effectLst/>
                        </a:rPr>
                        <a:t>Temp</a:t>
                      </a:r>
                      <a:r>
                        <a:rPr lang="en-US" sz="800" u="none" strike="noStrike" dirty="0" smtClean="0">
                          <a:effectLst/>
                        </a:rPr>
                        <a:t>./ </a:t>
                      </a:r>
                      <a:r>
                        <a:rPr lang="en-US" sz="800" u="none" strike="noStrike" dirty="0">
                          <a:effectLst/>
                        </a:rPr>
                        <a:t>300hrs)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2820738216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방치 온도 </a:t>
                      </a:r>
                      <a:r>
                        <a:rPr lang="en-US" sz="800" u="none" strike="noStrike" dirty="0">
                          <a:effectLst/>
                        </a:rPr>
                        <a:t>Data Retention - LTS (-40</a:t>
                      </a:r>
                      <a:r>
                        <a:rPr lang="en-US" sz="800" u="none" strike="noStrike" dirty="0" smtClean="0">
                          <a:effectLst/>
                        </a:rPr>
                        <a:t>℃/No Bias/Cold </a:t>
                      </a:r>
                      <a:r>
                        <a:rPr lang="en-US" sz="800" u="none" strike="noStrike" dirty="0">
                          <a:effectLst/>
                        </a:rPr>
                        <a:t>Temp</a:t>
                      </a:r>
                      <a:r>
                        <a:rPr lang="en-US" sz="800" u="none" strike="noStrike" dirty="0" smtClean="0">
                          <a:effectLst/>
                        </a:rPr>
                        <a:t>./ </a:t>
                      </a:r>
                      <a:r>
                        <a:rPr lang="en-US" sz="800" u="none" strike="noStrike" dirty="0">
                          <a:effectLst/>
                        </a:rPr>
                        <a:t>300hrs)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193342024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ESD Data Retention (HBM - 2000V, CDM - 500V)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71586981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무한 </a:t>
                      </a:r>
                      <a:r>
                        <a:rPr lang="en-US" altLang="ko-KR" sz="800" u="none" strike="noStrike">
                          <a:effectLst/>
                        </a:rPr>
                        <a:t>Read Stress </a:t>
                      </a:r>
                      <a:r>
                        <a:rPr lang="ko-KR" altLang="en-US" sz="800" u="none" strike="noStrike">
                          <a:effectLst/>
                        </a:rPr>
                        <a:t>시나리오 </a:t>
                      </a:r>
                      <a:r>
                        <a:rPr lang="en-US" altLang="ko-KR" sz="800" u="none" strike="noStrike">
                          <a:effectLst/>
                        </a:rPr>
                        <a:t>Data </a:t>
                      </a:r>
                      <a:r>
                        <a:rPr lang="ko-KR" altLang="en-US" sz="800" u="none" strike="noStrike">
                          <a:effectLst/>
                        </a:rPr>
                        <a:t>신뢰성 보장 </a:t>
                      </a:r>
                      <a:r>
                        <a:rPr lang="en-US" altLang="ko-KR" sz="800" u="none" strike="noStrike">
                          <a:effectLst/>
                        </a:rPr>
                        <a:t>(100% TBW)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441147583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무한 </a:t>
                      </a:r>
                      <a:r>
                        <a:rPr lang="en-US" sz="800" u="none" strike="noStrike" dirty="0">
                          <a:effectLst/>
                        </a:rPr>
                        <a:t>Reset(w/o Read/Write) </a:t>
                      </a:r>
                      <a:r>
                        <a:rPr lang="ko-KR" altLang="en-US" sz="800" u="none" strike="noStrike" dirty="0">
                          <a:effectLst/>
                        </a:rPr>
                        <a:t>시나리오 </a:t>
                      </a:r>
                      <a:r>
                        <a:rPr lang="en-US" sz="800" u="none" strike="noStrike" dirty="0">
                          <a:effectLst/>
                        </a:rPr>
                        <a:t>Data </a:t>
                      </a:r>
                      <a:r>
                        <a:rPr lang="ko-KR" altLang="en-US" sz="800" u="none" strike="noStrike" dirty="0">
                          <a:effectLst/>
                        </a:rPr>
                        <a:t>신뢰성 보장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77964718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Sudden Power Off Recovery </a:t>
                      </a:r>
                      <a:r>
                        <a:rPr lang="ko-KR" altLang="en-US" sz="800" u="none" strike="noStrike">
                          <a:effectLst/>
                        </a:rPr>
                        <a:t>시 복구된 </a:t>
                      </a:r>
                      <a:r>
                        <a:rPr lang="en-US" sz="800" u="none" strike="noStrike">
                          <a:effectLst/>
                        </a:rPr>
                        <a:t>Data</a:t>
                      </a:r>
                      <a:r>
                        <a:rPr lang="ko-KR" altLang="en-US" sz="800" u="none" strike="noStrike">
                          <a:effectLst/>
                        </a:rPr>
                        <a:t>의 신뢰성 보장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856876329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JEDEC Level3 Pre-Condition Test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873147084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Reliability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SMT Mode</a:t>
                      </a:r>
                      <a:r>
                        <a:rPr lang="ko-KR" altLang="en-US" sz="800" u="none" strike="noStrike">
                          <a:effectLst/>
                        </a:rPr>
                        <a:t>에서의 </a:t>
                      </a:r>
                      <a:r>
                        <a:rPr lang="en-US" sz="800" u="none" strike="noStrike">
                          <a:effectLst/>
                        </a:rPr>
                        <a:t>IR Reflow </a:t>
                      </a:r>
                      <a:r>
                        <a:rPr lang="ko-KR" altLang="en-US" sz="800" u="none" strike="noStrike">
                          <a:effectLst/>
                        </a:rPr>
                        <a:t>발생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Soldering) </a:t>
                      </a:r>
                      <a:r>
                        <a:rPr lang="ko-KR" altLang="en-US" sz="800" u="none" strike="noStrike">
                          <a:effectLst/>
                        </a:rPr>
                        <a:t>시 </a:t>
                      </a:r>
                      <a:r>
                        <a:rPr lang="en-US" sz="800" u="none" strike="noStrike">
                          <a:effectLst/>
                        </a:rPr>
                        <a:t>Data </a:t>
                      </a:r>
                      <a:r>
                        <a:rPr lang="ko-KR" altLang="en-US" sz="800" u="none" strike="noStrike">
                          <a:effectLst/>
                        </a:rPr>
                        <a:t>보장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636425908"/>
                  </a:ext>
                </a:extLst>
              </a:tr>
              <a:tr h="2514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Sudden Power Off </a:t>
                      </a:r>
                      <a:r>
                        <a:rPr lang="ko-KR" altLang="en-US" sz="800" u="none" strike="noStrike" dirty="0">
                          <a:effectLst/>
                        </a:rPr>
                        <a:t>이후 </a:t>
                      </a:r>
                      <a:r>
                        <a:rPr lang="en-US" sz="800" u="none" strike="noStrike" dirty="0">
                          <a:effectLst/>
                        </a:rPr>
                        <a:t>Recovery</a:t>
                      </a:r>
                      <a:r>
                        <a:rPr lang="ko-KR" altLang="en-US" sz="800" u="none" strike="noStrike" dirty="0">
                          <a:effectLst/>
                        </a:rPr>
                        <a:t>시 </a:t>
                      </a:r>
                      <a:r>
                        <a:rPr lang="en-US" sz="800" u="none" strike="noStrike" dirty="0">
                          <a:effectLst/>
                        </a:rPr>
                        <a:t>UFS Spec </a:t>
                      </a:r>
                      <a:r>
                        <a:rPr lang="ko-KR" altLang="en-US" sz="800" u="none" strike="noStrike" dirty="0">
                          <a:effectLst/>
                        </a:rPr>
                        <a:t>보장 밖의 </a:t>
                      </a:r>
                      <a:r>
                        <a:rPr lang="en-US" sz="800" u="none" strike="noStrike" dirty="0">
                          <a:effectLst/>
                        </a:rPr>
                        <a:t>Data</a:t>
                      </a:r>
                      <a:r>
                        <a:rPr lang="ko-KR" altLang="en-US" sz="800" u="none" strike="noStrike" dirty="0">
                          <a:effectLst/>
                        </a:rPr>
                        <a:t>라도 최대 상태 복구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059019149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신뢰성 보장 실패한 </a:t>
                      </a:r>
                      <a:r>
                        <a:rPr lang="en-US" altLang="ko-KR" sz="800" u="none" strike="noStrike">
                          <a:effectLst/>
                        </a:rPr>
                        <a:t>Data</a:t>
                      </a:r>
                      <a:r>
                        <a:rPr lang="ko-KR" altLang="en-US" sz="800" u="none" strike="noStrike">
                          <a:effectLst/>
                        </a:rPr>
                        <a:t>의 </a:t>
                      </a:r>
                      <a:r>
                        <a:rPr lang="en-US" altLang="ko-KR" sz="800" u="none" strike="noStrike">
                          <a:effectLst/>
                        </a:rPr>
                        <a:t>Error Propagation </a:t>
                      </a:r>
                      <a:r>
                        <a:rPr lang="ko-KR" altLang="en-US" sz="800" u="none" strike="noStrike">
                          <a:effectLst/>
                        </a:rPr>
                        <a:t>방지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822053174"/>
                  </a:ext>
                </a:extLst>
              </a:tr>
              <a:tr h="2514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UFS Device </a:t>
                      </a:r>
                      <a:r>
                        <a:rPr lang="ko-KR" altLang="en-US" sz="800" u="none" strike="noStrike">
                          <a:effectLst/>
                        </a:rPr>
                        <a:t>동작 중 문제가 발생하더라도 전원이 재인가된 경우 정상 동작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74144699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UFS Device</a:t>
                      </a:r>
                      <a:r>
                        <a:rPr lang="ko-KR" altLang="en-US" sz="800" u="none" strike="noStrike">
                          <a:effectLst/>
                        </a:rPr>
                        <a:t>가 정상 동작이 불가능하더라도 </a:t>
                      </a:r>
                      <a:r>
                        <a:rPr lang="en-US" altLang="ko-KR" sz="800" u="none" strike="noStrike">
                          <a:effectLst/>
                        </a:rPr>
                        <a:t>Read Service </a:t>
                      </a:r>
                      <a:r>
                        <a:rPr lang="ko-KR" altLang="en-US" sz="800" u="none" strike="noStrike">
                          <a:effectLst/>
                        </a:rPr>
                        <a:t>가능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338773892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UFS Device </a:t>
                      </a:r>
                      <a:r>
                        <a:rPr lang="ko-KR" altLang="en-US" sz="800" u="none" strike="noStrike">
                          <a:effectLst/>
                        </a:rPr>
                        <a:t>내 </a:t>
                      </a:r>
                      <a:r>
                        <a:rPr lang="en-US" sz="800" u="none" strike="noStrike">
                          <a:effectLst/>
                        </a:rPr>
                        <a:t>Bus / SRAM</a:t>
                      </a:r>
                      <a:r>
                        <a:rPr lang="ko-KR" altLang="en-US" sz="800" u="none" strike="noStrike">
                          <a:effectLst/>
                        </a:rPr>
                        <a:t>등의 </a:t>
                      </a:r>
                      <a:r>
                        <a:rPr lang="en-US" sz="800" u="none" strike="noStrike">
                          <a:effectLst/>
                        </a:rPr>
                        <a:t>Bit Flip</a:t>
                      </a:r>
                      <a:r>
                        <a:rPr lang="ko-KR" altLang="en-US" sz="800" u="none" strike="noStrike">
                          <a:effectLst/>
                        </a:rPr>
                        <a:t>에 의한 </a:t>
                      </a:r>
                      <a:r>
                        <a:rPr lang="en-US" sz="800" u="none" strike="noStrike">
                          <a:effectLst/>
                        </a:rPr>
                        <a:t>Data Error </a:t>
                      </a:r>
                      <a:r>
                        <a:rPr lang="ko-KR" altLang="en-US" sz="800" u="none" strike="noStrike">
                          <a:effectLst/>
                        </a:rPr>
                        <a:t>방지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23788997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예상치 못한 </a:t>
                      </a:r>
                      <a:r>
                        <a:rPr lang="en-US" sz="800" u="none" strike="noStrike">
                          <a:effectLst/>
                        </a:rPr>
                        <a:t>Data Error </a:t>
                      </a:r>
                      <a:r>
                        <a:rPr lang="ko-KR" altLang="en-US" sz="800" u="none" strike="noStrike">
                          <a:effectLst/>
                        </a:rPr>
                        <a:t>발생 시 </a:t>
                      </a:r>
                      <a:r>
                        <a:rPr lang="en-US" sz="800" u="none" strike="noStrike">
                          <a:effectLst/>
                        </a:rPr>
                        <a:t>Data Error Detection </a:t>
                      </a:r>
                      <a:r>
                        <a:rPr lang="ko-KR" altLang="en-US" sz="800" u="none" strike="noStrike">
                          <a:effectLst/>
                        </a:rPr>
                        <a:t>가능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399601584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NAND </a:t>
                      </a:r>
                      <a:r>
                        <a:rPr lang="ko-KR" altLang="en-US" sz="800" u="none" strike="noStrike">
                          <a:effectLst/>
                        </a:rPr>
                        <a:t>보장범위 밖 </a:t>
                      </a:r>
                      <a:r>
                        <a:rPr lang="en-US" altLang="ko-KR" sz="800" u="none" strike="noStrike">
                          <a:effectLst/>
                        </a:rPr>
                        <a:t>Current</a:t>
                      </a:r>
                      <a:r>
                        <a:rPr lang="ko-KR" altLang="en-US" sz="800" u="none" strike="noStrike">
                          <a:effectLst/>
                        </a:rPr>
                        <a:t>에서의 </a:t>
                      </a:r>
                      <a:r>
                        <a:rPr lang="en-US" altLang="ko-KR" sz="800" u="none" strike="noStrike">
                          <a:effectLst/>
                        </a:rPr>
                        <a:t>NAND </a:t>
                      </a:r>
                      <a:r>
                        <a:rPr lang="ko-KR" altLang="en-US" sz="800" u="none" strike="noStrike">
                          <a:effectLst/>
                        </a:rPr>
                        <a:t>동작 배제 </a:t>
                      </a:r>
                      <a:r>
                        <a:rPr lang="en-US" altLang="ko-KR" sz="800" u="none" strike="noStrike">
                          <a:effectLst/>
                        </a:rPr>
                        <a:t>(LVDF)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774040568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Availability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Controller </a:t>
                      </a:r>
                      <a:r>
                        <a:rPr lang="ko-KR" altLang="en-US" sz="800" u="none" strike="noStrike">
                          <a:effectLst/>
                        </a:rPr>
                        <a:t>보장범위 밖 </a:t>
                      </a:r>
                      <a:r>
                        <a:rPr lang="en-US" altLang="ko-KR" sz="800" u="none" strike="noStrike">
                          <a:effectLst/>
                        </a:rPr>
                        <a:t>Current</a:t>
                      </a:r>
                      <a:r>
                        <a:rPr lang="ko-KR" altLang="en-US" sz="800" u="none" strike="noStrike">
                          <a:effectLst/>
                        </a:rPr>
                        <a:t>에서의 </a:t>
                      </a:r>
                      <a:r>
                        <a:rPr lang="en-US" altLang="ko-KR" sz="800" u="none" strike="noStrike">
                          <a:effectLst/>
                        </a:rPr>
                        <a:t>FW </a:t>
                      </a:r>
                      <a:r>
                        <a:rPr lang="ko-KR" altLang="en-US" sz="800" u="none" strike="noStrike">
                          <a:effectLst/>
                        </a:rPr>
                        <a:t>동작 배제 </a:t>
                      </a:r>
                      <a:r>
                        <a:rPr lang="en-US" altLang="ko-KR" sz="800" u="none" strike="noStrike">
                          <a:effectLst/>
                        </a:rPr>
                        <a:t>(LVD)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145348127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Reusability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모재품으로부터의 파생된 제품들의 코드 재사용률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730257330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Reusability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기존 </a:t>
                      </a:r>
                      <a:r>
                        <a:rPr lang="en-US" altLang="ko-KR" sz="800" u="none" strike="noStrike">
                          <a:effectLst/>
                        </a:rPr>
                        <a:t>UFS FTL Platform</a:t>
                      </a:r>
                      <a:r>
                        <a:rPr lang="ko-KR" altLang="en-US" sz="800" u="none" strike="noStrike">
                          <a:effectLst/>
                        </a:rPr>
                        <a:t>으로부터의 코드 재사용률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249797700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다양한 </a:t>
                      </a:r>
                      <a:r>
                        <a:rPr lang="en-US" altLang="ko-KR" sz="800" u="none" strike="noStrike">
                          <a:effectLst/>
                        </a:rPr>
                        <a:t>Density </a:t>
                      </a:r>
                      <a:r>
                        <a:rPr lang="ko-KR" altLang="en-US" sz="800" u="none" strike="noStrike">
                          <a:effectLst/>
                        </a:rPr>
                        <a:t>지원을 위한 </a:t>
                      </a:r>
                      <a:r>
                        <a:rPr lang="en-US" altLang="ko-KR" sz="800" u="none" strike="noStrike">
                          <a:effectLst/>
                        </a:rPr>
                        <a:t>Firmware </a:t>
                      </a:r>
                      <a:r>
                        <a:rPr lang="ko-KR" altLang="en-US" sz="800" u="none" strike="noStrike">
                          <a:effectLst/>
                        </a:rPr>
                        <a:t>변경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45884642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Block Size, Block </a:t>
                      </a:r>
                      <a:r>
                        <a:rPr lang="ko-KR" altLang="en-US" sz="800" u="none" strike="noStrike">
                          <a:effectLst/>
                        </a:rPr>
                        <a:t>개수</a:t>
                      </a:r>
                      <a:r>
                        <a:rPr lang="en-US" altLang="ko-KR" sz="800" u="none" strike="noStrike">
                          <a:effectLst/>
                        </a:rPr>
                        <a:t>, Plane </a:t>
                      </a:r>
                      <a:r>
                        <a:rPr lang="ko-KR" altLang="en-US" sz="800" u="none" strike="noStrike">
                          <a:effectLst/>
                        </a:rPr>
                        <a:t>개수 변경에 따른 </a:t>
                      </a:r>
                      <a:r>
                        <a:rPr lang="en-US" altLang="ko-KR" sz="800" u="none" strike="noStrike">
                          <a:effectLst/>
                        </a:rPr>
                        <a:t>Firmware </a:t>
                      </a:r>
                      <a:r>
                        <a:rPr lang="ko-KR" altLang="en-US" sz="800" u="none" strike="noStrike">
                          <a:effectLst/>
                        </a:rPr>
                        <a:t>변경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83077995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NAND Ch. </a:t>
                      </a:r>
                      <a:r>
                        <a:rPr lang="ko-KR" altLang="en-US" sz="800" u="none" strike="noStrike">
                          <a:effectLst/>
                        </a:rPr>
                        <a:t>변경에 따른 </a:t>
                      </a:r>
                      <a:r>
                        <a:rPr lang="en-US" altLang="ko-KR" sz="800" u="none" strike="noStrike">
                          <a:effectLst/>
                        </a:rPr>
                        <a:t>Firmware </a:t>
                      </a:r>
                      <a:r>
                        <a:rPr lang="ko-KR" altLang="en-US" sz="800" u="none" strike="noStrike">
                          <a:effectLst/>
                        </a:rPr>
                        <a:t>변경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050460730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NAND UIB Guide </a:t>
                      </a:r>
                      <a:r>
                        <a:rPr lang="ko-KR" altLang="en-US" sz="800" u="none" strike="noStrike">
                          <a:effectLst/>
                        </a:rPr>
                        <a:t>반영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550122913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기능 추가 및 </a:t>
                      </a:r>
                      <a:r>
                        <a:rPr lang="en-US" altLang="ko-KR" sz="800" u="none" strike="noStrike">
                          <a:effectLst/>
                        </a:rPr>
                        <a:t>Defect </a:t>
                      </a:r>
                      <a:r>
                        <a:rPr lang="ko-KR" altLang="en-US" sz="800" u="none" strike="noStrike">
                          <a:effectLst/>
                        </a:rPr>
                        <a:t>수정 시 </a:t>
                      </a:r>
                      <a:r>
                        <a:rPr lang="en-US" altLang="ko-KR" sz="800" u="none" strike="noStrike">
                          <a:effectLst/>
                        </a:rPr>
                        <a:t>FFU </a:t>
                      </a:r>
                      <a:r>
                        <a:rPr lang="ko-KR" altLang="en-US" sz="800" u="none" strike="noStrike">
                          <a:effectLst/>
                        </a:rPr>
                        <a:t>대응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2779828151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시장 상황을 대처하기 위한 새로운 </a:t>
                      </a:r>
                      <a:r>
                        <a:rPr lang="en-US" altLang="ko-KR" sz="800" u="none" strike="noStrike">
                          <a:effectLst/>
                        </a:rPr>
                        <a:t>UFS Feature</a:t>
                      </a:r>
                      <a:r>
                        <a:rPr lang="ko-KR" altLang="en-US" sz="800" u="none" strike="noStrike">
                          <a:effectLst/>
                        </a:rPr>
                        <a:t>의 지원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721769272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Modifiability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불량 횡전개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48896789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Security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HPB Data</a:t>
                      </a:r>
                      <a:r>
                        <a:rPr lang="ko-KR" altLang="en-US" sz="800" u="none" strike="noStrike">
                          <a:effectLst/>
                        </a:rPr>
                        <a:t>를 이용한 </a:t>
                      </a:r>
                      <a:r>
                        <a:rPr lang="en-US" sz="800" u="none" strike="noStrike">
                          <a:effectLst/>
                        </a:rPr>
                        <a:t>Reverse Engineering </a:t>
                      </a:r>
                      <a:r>
                        <a:rPr lang="ko-KR" altLang="en-US" sz="800" u="none" strike="noStrike">
                          <a:effectLst/>
                        </a:rPr>
                        <a:t>방지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946967434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Traceability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고객사 </a:t>
                      </a:r>
                      <a:r>
                        <a:rPr lang="en-US" altLang="ko-KR" sz="800" u="none" strike="noStrike">
                          <a:effectLst/>
                        </a:rPr>
                        <a:t>Field </a:t>
                      </a:r>
                      <a:r>
                        <a:rPr lang="ko-KR" altLang="en-US" sz="800" u="none" strike="noStrike">
                          <a:effectLst/>
                        </a:rPr>
                        <a:t>불량의 분석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1346658505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Traceability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TRACE32 </a:t>
                      </a:r>
                      <a:r>
                        <a:rPr lang="ko-KR" altLang="en-US" sz="800" u="none" strike="noStrike">
                          <a:effectLst/>
                        </a:rPr>
                        <a:t>사용 불가능 환경에서의 분석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62810392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Traceability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TRACE32 </a:t>
                      </a:r>
                      <a:r>
                        <a:rPr lang="ko-KR" altLang="en-US" sz="800" u="none" strike="noStrike">
                          <a:effectLst/>
                        </a:rPr>
                        <a:t>사용 가능 환경에서의 분석 용이성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670637356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Traceability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White Box Test(Simulation) </a:t>
                      </a:r>
                      <a:r>
                        <a:rPr lang="ko-KR" altLang="en-US" sz="800" u="none" strike="noStrike" dirty="0">
                          <a:effectLst/>
                        </a:rPr>
                        <a:t>환경에서의 분석 용이성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4255928183"/>
                  </a:ext>
                </a:extLst>
              </a:tr>
              <a:tr h="127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Traceability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 err="1">
                          <a:effectLst/>
                        </a:rPr>
                        <a:t>fDeviceInit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중 </a:t>
                      </a:r>
                      <a:r>
                        <a:rPr lang="en-US" altLang="ko-KR" sz="800" u="none" strike="noStrike" dirty="0">
                          <a:effectLst/>
                        </a:rPr>
                        <a:t>NAND </a:t>
                      </a:r>
                      <a:r>
                        <a:rPr lang="ko-KR" altLang="en-US" sz="800" u="none" strike="noStrike" dirty="0">
                          <a:effectLst/>
                        </a:rPr>
                        <a:t>상태에 따른 </a:t>
                      </a:r>
                      <a:r>
                        <a:rPr lang="en-US" altLang="ko-KR" sz="800" u="none" strike="noStrike" dirty="0">
                          <a:effectLst/>
                        </a:rPr>
                        <a:t>Recovery </a:t>
                      </a:r>
                      <a:r>
                        <a:rPr lang="ko-KR" altLang="en-US" sz="800" u="none" strike="noStrike" dirty="0">
                          <a:effectLst/>
                        </a:rPr>
                        <a:t>동작 분석 용이성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25" marR="4025" marT="4025" marB="0" anchor="ctr"/>
                </a:tc>
                <a:extLst>
                  <a:ext uri="{0D108BD9-81ED-4DB2-BD59-A6C34878D82A}">
                    <a16:rowId xmlns:a16="http://schemas.microsoft.com/office/drawing/2014/main" val="3282044069"/>
                  </a:ext>
                </a:extLst>
              </a:tr>
            </a:tbl>
          </a:graphicData>
        </a:graphic>
      </p:graphicFrame>
      <p:sp>
        <p:nvSpPr>
          <p:cNvPr id="7" name="모서리가 둥근 직사각형 6">
            <a:hlinkClick r:id="rId2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80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 smtClean="0"/>
              <a:t>System Architecture – Overall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246677" y="5527688"/>
            <a:ext cx="28965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Cortex M7 300MHz x 10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endParaRPr lang="en-US" altLang="ko-KR" sz="1200" dirty="0" smtClean="0">
              <a:solidFill>
                <a:srgbClr val="000000"/>
              </a:solidFill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Full Shared TCM (for each cluster)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Multi-Processer Manager </a:t>
            </a:r>
            <a:r>
              <a:rPr lang="ko-KR" altLang="en-US" sz="1200" dirty="0" smtClean="0"/>
              <a:t>지원</a:t>
            </a:r>
            <a:endParaRPr lang="ko-KR" altLang="en-US" sz="1200" dirty="0"/>
          </a:p>
        </p:txBody>
      </p:sp>
      <p:pic>
        <p:nvPicPr>
          <p:cNvPr id="58" name="그림 57" descr="https://solwiki.swservice.samsungds.net:8090/wiki/download/attachments/160590928/image2019-12-31_9-42-49.png?version=1&amp;modificationDate=1577752969393&amp;api=v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99" y="1032753"/>
            <a:ext cx="11604513" cy="423649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직사각형 58"/>
          <p:cNvSpPr/>
          <p:nvPr/>
        </p:nvSpPr>
        <p:spPr>
          <a:xfrm>
            <a:off x="3287457" y="5527688"/>
            <a:ext cx="25663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Extreme ECC Engine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2-Ch NAND Flash Control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E2E Protection (SRAM / BUS)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34950" y="609600"/>
            <a:ext cx="11774486" cy="477944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48457" y="684128"/>
            <a:ext cx="3251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Solvit UFS Controller Block Diagram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34950" y="5441950"/>
            <a:ext cx="11774486" cy="10359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9235412" y="5527688"/>
            <a:ext cx="2705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/>
              <a:t>IOM HW Acceleration </a:t>
            </a:r>
            <a:r>
              <a:rPr lang="en-US" altLang="ko-KR" sz="1200" dirty="0" smtClean="0"/>
              <a:t>IP </a:t>
            </a:r>
            <a:r>
              <a:rPr lang="ko-KR" altLang="en-US" sz="1200" dirty="0" smtClean="0"/>
              <a:t>지원</a:t>
            </a:r>
            <a:endParaRPr lang="en-US" altLang="ko-KR" sz="12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/>
              <a:t>DBS HW Acceleration </a:t>
            </a:r>
            <a:r>
              <a:rPr lang="en-US" altLang="ko-KR" sz="1200" dirty="0" smtClean="0"/>
              <a:t>IP </a:t>
            </a:r>
            <a:r>
              <a:rPr lang="ko-KR" altLang="en-US" sz="1200" dirty="0" smtClean="0"/>
              <a:t>지원</a:t>
            </a:r>
            <a:endParaRPr lang="en-US" altLang="ko-KR" sz="12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/>
              <a:t>RDD </a:t>
            </a:r>
            <a:r>
              <a:rPr lang="en-US" altLang="ko-KR" sz="1200" dirty="0" smtClean="0"/>
              <a:t>HW </a:t>
            </a:r>
            <a:r>
              <a:rPr lang="en-US" altLang="ko-KR" sz="1200" dirty="0"/>
              <a:t>Acceleration </a:t>
            </a:r>
            <a:r>
              <a:rPr lang="en-US" altLang="ko-KR" sz="1200" dirty="0" smtClean="0"/>
              <a:t>IP </a:t>
            </a:r>
            <a:r>
              <a:rPr lang="ko-KR" altLang="en-US" sz="1200" dirty="0" smtClean="0"/>
              <a:t>지원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6114515" y="5527688"/>
            <a:ext cx="28602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Auto DMA (Host / NAND)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Self Power Saving </a:t>
            </a:r>
            <a:r>
              <a:rPr lang="ko-KR" altLang="en-US" sz="1200" dirty="0" smtClean="0"/>
              <a:t>기능 지원</a:t>
            </a:r>
            <a:endParaRPr lang="en-US" altLang="ko-KR" sz="12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 smtClean="0"/>
              <a:t>Dynamic Clock Gating </a:t>
            </a:r>
            <a:r>
              <a:rPr lang="ko-KR" altLang="en-US" sz="1200" dirty="0" smtClean="0"/>
              <a:t>기능 지원</a:t>
            </a:r>
            <a:endParaRPr lang="ko-KR" altLang="en-US" sz="1200" dirty="0"/>
          </a:p>
        </p:txBody>
      </p:sp>
      <p:sp>
        <p:nvSpPr>
          <p:cNvPr id="1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36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 smtClean="0"/>
              <a:t>DP-1. Multi-Processing </a:t>
            </a:r>
            <a:r>
              <a:rPr lang="ko-KR" altLang="ko-KR" dirty="0" smtClean="0"/>
              <a:t>방</a:t>
            </a:r>
            <a:r>
              <a:rPr lang="ko-KR" altLang="en-US" dirty="0" smtClean="0"/>
              <a:t>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MPCore </a:t>
            </a:r>
            <a:r>
              <a:rPr lang="ko-KR" altLang="en-US" sz="1400" b="1" dirty="0">
                <a:solidFill>
                  <a:schemeClr val="bg1"/>
                </a:solidFill>
              </a:rPr>
              <a:t>활용을 위한 </a:t>
            </a:r>
            <a:r>
              <a:rPr lang="en-US" altLang="ko-KR" sz="1400" b="1" dirty="0">
                <a:solidFill>
                  <a:schemeClr val="bg1"/>
                </a:solidFill>
              </a:rPr>
              <a:t>SW</a:t>
            </a:r>
            <a:r>
              <a:rPr lang="ko-KR" altLang="en-US" sz="1400" b="1" dirty="0">
                <a:solidFill>
                  <a:schemeClr val="bg1"/>
                </a:solidFill>
              </a:rPr>
              <a:t>의 </a:t>
            </a:r>
            <a:r>
              <a:rPr lang="en-US" altLang="ko-KR" sz="1400" b="1" dirty="0">
                <a:solidFill>
                  <a:schemeClr val="bg1"/>
                </a:solidFill>
              </a:rPr>
              <a:t>Multi-Processing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방안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50" y="1043174"/>
          <a:ext cx="11747500" cy="3163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3750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87375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490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</a:t>
                      </a:r>
                      <a:r>
                        <a:rPr lang="ko-KR" altLang="en-US" sz="1200" b="1" dirty="0" smtClean="0"/>
                        <a:t>동일한 기능을 수행하는 독립된 프로세스에 요청을 </a:t>
                      </a:r>
                      <a:r>
                        <a:rPr lang="en-US" altLang="ko-KR" sz="1200" b="1" dirty="0" smtClean="0"/>
                        <a:t>Dispatch</a:t>
                      </a:r>
                      <a:r>
                        <a:rPr lang="ko-KR" altLang="en-US" sz="1200" b="1" dirty="0" smtClean="0"/>
                        <a:t>하여 처리하는 </a:t>
                      </a:r>
                      <a:r>
                        <a:rPr lang="en-US" altLang="ko-KR" sz="1200" b="1" dirty="0" smtClean="0"/>
                        <a:t>SMP(Symmetric Multi-Processing) </a:t>
                      </a:r>
                      <a:r>
                        <a:rPr lang="ko-KR" altLang="en-US" sz="1200" b="1" dirty="0" smtClean="0"/>
                        <a:t>기법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받은 요청을 기능 별로 프로세스로 나누고 이를 병렬 처리하는 </a:t>
                      </a:r>
                      <a:r>
                        <a:rPr lang="en-US" altLang="ko-KR" sz="1200" b="1" dirty="0" smtClean="0"/>
                        <a:t>AMP(Asymmetric Multi Processing) </a:t>
                      </a:r>
                      <a:r>
                        <a:rPr lang="ko-KR" altLang="en-US" sz="1200" b="1" dirty="0" smtClean="0"/>
                        <a:t>기법 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2672785"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</a:tbl>
          </a:graphicData>
        </a:graphic>
      </p:graphicFrame>
      <p:sp>
        <p:nvSpPr>
          <p:cNvPr id="48" name="모서리가 둥근 직사각형 47"/>
          <p:cNvSpPr/>
          <p:nvPr/>
        </p:nvSpPr>
        <p:spPr>
          <a:xfrm>
            <a:off x="8190978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Q1 Seq. Write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성능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8999128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Q2 Rnd. Read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성능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0513155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 UFS Spec</a:t>
            </a:r>
            <a:r>
              <a:rPr lang="ko-KR" altLang="en-US" sz="900" b="1" dirty="0">
                <a:latin typeface="맑은 고딕" panose="020B0503020000020004" pitchFamily="50" charset="-127"/>
              </a:rPr>
              <a:t>제약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1261226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 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준수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6576408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F3 HPB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764887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457" y="1569717"/>
            <a:ext cx="2316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>
                <a:solidFill>
                  <a:schemeClr val="accent5">
                    <a:lumMod val="50000"/>
                  </a:schemeClr>
                </a:solidFill>
              </a:rPr>
              <a:t>Random Read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예측 성능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7387929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F4 HID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953366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9778708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C1 Many Core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2124" y="1877494"/>
            <a:ext cx="57877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기존 </a:t>
            </a:r>
            <a:r>
              <a:rPr lang="en-US" altLang="ko-KR" sz="1200" dirty="0" smtClean="0"/>
              <a:t>4KB Random Read Code </a:t>
            </a:r>
            <a:r>
              <a:rPr lang="ko-KR" altLang="en-US" sz="1200" dirty="0" smtClean="0"/>
              <a:t>수행 시간 </a:t>
            </a:r>
            <a:r>
              <a:rPr lang="en-US" altLang="ko-KR" sz="1200" dirty="0" smtClean="0"/>
              <a:t>= 6.44us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4</a:t>
            </a:r>
            <a:r>
              <a:rPr lang="ko-KR" altLang="en-US" sz="1200" dirty="0" smtClean="0"/>
              <a:t>개의 </a:t>
            </a:r>
            <a:r>
              <a:rPr lang="en-US" altLang="ko-KR" sz="1200" dirty="0" smtClean="0"/>
              <a:t>Core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4KB </a:t>
            </a:r>
            <a:r>
              <a:rPr lang="en-US" altLang="ko-KR" sz="1200" dirty="0"/>
              <a:t>Random Read Code </a:t>
            </a:r>
            <a:r>
              <a:rPr lang="ko-KR" altLang="en-US" sz="1200" dirty="0"/>
              <a:t>수행 시간 </a:t>
            </a:r>
            <a:r>
              <a:rPr lang="en-US" altLang="ko-KR" sz="1200" dirty="0"/>
              <a:t>= 6.44us ÷ 4 = </a:t>
            </a:r>
            <a:r>
              <a:rPr lang="en-US" altLang="ko-KR" sz="1200" dirty="0" smtClean="0"/>
              <a:t>1.61us = 621KIOPS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</a:t>
            </a:r>
            <a:r>
              <a:rPr lang="ko-KR" altLang="en-US" sz="1200" dirty="0" smtClean="0"/>
              <a:t>안의 </a:t>
            </a:r>
            <a:r>
              <a:rPr lang="en-US" altLang="ko-KR" sz="1200" dirty="0"/>
              <a:t>Core</a:t>
            </a:r>
            <a:r>
              <a:rPr lang="ko-KR" altLang="en-US" sz="1200" dirty="0"/>
              <a:t>에서 </a:t>
            </a:r>
            <a:r>
              <a:rPr lang="en-US" altLang="ko-KR" sz="1200" dirty="0"/>
              <a:t>4KB Random Read Code </a:t>
            </a:r>
            <a:r>
              <a:rPr lang="ko-KR" altLang="en-US" sz="1200" dirty="0"/>
              <a:t>수행 </a:t>
            </a:r>
            <a:r>
              <a:rPr lang="ko-KR" altLang="en-US" sz="1200" dirty="0" smtClean="0"/>
              <a:t>시간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= </a:t>
            </a:r>
            <a:r>
              <a:rPr lang="en-US" altLang="ko-KR" sz="1200" b="1" dirty="0" smtClean="0">
                <a:solidFill>
                  <a:srgbClr val="0033CC"/>
                </a:solidFill>
              </a:rPr>
              <a:t>621KIOPS</a:t>
            </a:r>
            <a:endParaRPr lang="ko-KR" altLang="en-US" sz="1200" b="1" dirty="0">
              <a:solidFill>
                <a:srgbClr val="0033CC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14064" y="1569717"/>
            <a:ext cx="2233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>
                <a:solidFill>
                  <a:schemeClr val="accent5">
                    <a:lumMod val="50000"/>
                  </a:schemeClr>
                </a:solidFill>
              </a:rPr>
              <a:t>Random Read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예측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ko-KR" altLang="en-US" sz="1400" b="1" u="sng" dirty="0">
                <a:solidFill>
                  <a:schemeClr val="accent5">
                    <a:lumMod val="50000"/>
                  </a:schemeClr>
                </a:solidFill>
              </a:rPr>
              <a:t>성능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4719" y="1863337"/>
            <a:ext cx="5787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기존 </a:t>
            </a:r>
            <a:r>
              <a:rPr lang="en-US" altLang="ko-KR" sz="1200" dirty="0"/>
              <a:t>4KB Random Read </a:t>
            </a:r>
            <a:r>
              <a:rPr lang="ko-KR" altLang="en-US" sz="1200" dirty="0"/>
              <a:t>중 </a:t>
            </a:r>
            <a:r>
              <a:rPr lang="en-US" altLang="ko-KR" sz="1200" dirty="0"/>
              <a:t>Scheduler Code </a:t>
            </a:r>
            <a:r>
              <a:rPr lang="ko-KR" altLang="en-US" sz="1200" dirty="0"/>
              <a:t>수행 시간 </a:t>
            </a:r>
            <a:r>
              <a:rPr lang="en-US" altLang="ko-KR" sz="1200" dirty="0"/>
              <a:t>= 2.01us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기존 </a:t>
            </a:r>
            <a:r>
              <a:rPr lang="en-US" altLang="ko-KR" sz="1200" dirty="0"/>
              <a:t>4KB Random Read </a:t>
            </a:r>
            <a:r>
              <a:rPr lang="ko-KR" altLang="en-US" sz="1200" dirty="0"/>
              <a:t>중 </a:t>
            </a:r>
            <a:r>
              <a:rPr lang="en-US" altLang="ko-KR" sz="1200" dirty="0"/>
              <a:t>User Data CMD Code </a:t>
            </a:r>
            <a:r>
              <a:rPr lang="ko-KR" altLang="en-US" sz="1200" dirty="0"/>
              <a:t>수행 시간 </a:t>
            </a:r>
            <a:r>
              <a:rPr lang="en-US" altLang="ko-KR" sz="1200" dirty="0"/>
              <a:t>= 3.78us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기존 </a:t>
            </a:r>
            <a:r>
              <a:rPr lang="en-US" altLang="ko-KR" sz="1200" dirty="0"/>
              <a:t>4KB Random Read </a:t>
            </a:r>
            <a:r>
              <a:rPr lang="ko-KR" altLang="en-US" sz="1200" dirty="0"/>
              <a:t>중 </a:t>
            </a:r>
            <a:r>
              <a:rPr lang="en-US" altLang="ko-KR" sz="1200" dirty="0"/>
              <a:t>Context &amp; Meta Code </a:t>
            </a:r>
            <a:r>
              <a:rPr lang="ko-KR" altLang="en-US" sz="1200" dirty="0"/>
              <a:t>수행 시간 </a:t>
            </a:r>
            <a:r>
              <a:rPr lang="en-US" altLang="ko-KR" sz="1200" dirty="0"/>
              <a:t>= 1.81us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Core</a:t>
            </a:r>
            <a:r>
              <a:rPr lang="ko-KR" altLang="en-US" sz="1200" dirty="0"/>
              <a:t>간 </a:t>
            </a:r>
            <a:r>
              <a:rPr lang="en-US" altLang="ko-KR" sz="1200" dirty="0"/>
              <a:t>Communication Overhead = 0.2us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2</a:t>
            </a:r>
            <a:r>
              <a:rPr lang="ko-KR" altLang="en-US" sz="1200" dirty="0"/>
              <a:t>안의 </a:t>
            </a:r>
            <a:r>
              <a:rPr lang="en-US" altLang="ko-KR" sz="1200" dirty="0"/>
              <a:t>4KB Random Read Code </a:t>
            </a:r>
            <a:r>
              <a:rPr lang="ko-KR" altLang="en-US" sz="1200" dirty="0"/>
              <a:t>수행 시간 </a:t>
            </a:r>
            <a:r>
              <a:rPr lang="en-US" altLang="ko-KR" sz="1200" dirty="0"/>
              <a:t>= MAX(2.08us, (3.78us ÷ 2), 1.81us) + 0.2us = 2.21us </a:t>
            </a:r>
            <a:r>
              <a:rPr lang="en-US" altLang="ko-KR" sz="1200" dirty="0" smtClean="0"/>
              <a:t>= </a:t>
            </a:r>
            <a:r>
              <a:rPr lang="en-US" altLang="ko-KR" sz="1200" b="1" dirty="0" smtClean="0">
                <a:solidFill>
                  <a:srgbClr val="0033CC"/>
                </a:solidFill>
              </a:rPr>
              <a:t>452KIOPS</a:t>
            </a:r>
            <a:endParaRPr lang="en-US" altLang="ko-KR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248457" y="3067002"/>
            <a:ext cx="3036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Sequential Turbo Write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예측 성능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2124" y="3374779"/>
            <a:ext cx="5787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1GB </a:t>
            </a:r>
            <a:r>
              <a:rPr lang="en-US" altLang="ko-KR" sz="1200" dirty="0"/>
              <a:t>SLC Seq. Write </a:t>
            </a:r>
            <a:r>
              <a:rPr lang="ko-KR" altLang="en-US" sz="1200" dirty="0"/>
              <a:t>시간 </a:t>
            </a:r>
            <a:r>
              <a:rPr lang="en-US" altLang="ko-KR" sz="1200" dirty="0"/>
              <a:t>= 0.480s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1GB </a:t>
            </a:r>
            <a:r>
              <a:rPr lang="en-US" altLang="ko-KR" sz="1200" dirty="0"/>
              <a:t>SLC Block (128MB x 8</a:t>
            </a:r>
            <a:r>
              <a:rPr lang="ko-KR" altLang="en-US" sz="1200" dirty="0"/>
              <a:t>개</a:t>
            </a:r>
            <a:r>
              <a:rPr lang="en-US" altLang="ko-KR" sz="1200" dirty="0"/>
              <a:t>) </a:t>
            </a:r>
            <a:r>
              <a:rPr lang="ko-KR" altLang="en-US" sz="1200" dirty="0"/>
              <a:t>시간 </a:t>
            </a:r>
            <a:r>
              <a:rPr lang="en-US" altLang="ko-KR" sz="1200" dirty="0"/>
              <a:t>= 5ms x 8 x 1.5 = 0.06s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1GB </a:t>
            </a:r>
            <a:r>
              <a:rPr lang="en-US" altLang="ko-KR" sz="1200" dirty="0"/>
              <a:t>Meta log flush </a:t>
            </a:r>
            <a:r>
              <a:rPr lang="ko-KR" altLang="en-US" sz="1200" dirty="0"/>
              <a:t>시간 </a:t>
            </a:r>
            <a:r>
              <a:rPr lang="en-US" altLang="ko-KR" sz="1200" dirty="0"/>
              <a:t>= 0.075ms x 1.5 = 0.113s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1024 </a:t>
            </a:r>
            <a:r>
              <a:rPr lang="en-US" altLang="ko-KR" sz="1200" dirty="0"/>
              <a:t>MB / 0.653 s = </a:t>
            </a:r>
            <a:r>
              <a:rPr lang="en-US" altLang="ko-KR" sz="1200" b="1" dirty="0">
                <a:solidFill>
                  <a:srgbClr val="C00000"/>
                </a:solidFill>
              </a:rPr>
              <a:t>1568 MB/s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4719" y="3360622"/>
            <a:ext cx="5787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1GB </a:t>
            </a:r>
            <a:r>
              <a:rPr lang="en-US" altLang="ko-KR" sz="1200" dirty="0"/>
              <a:t>SLC Seq. Write </a:t>
            </a:r>
            <a:r>
              <a:rPr lang="ko-KR" altLang="en-US" sz="1200" dirty="0"/>
              <a:t>시간 </a:t>
            </a:r>
            <a:r>
              <a:rPr lang="en-US" altLang="ko-KR" sz="1200" dirty="0"/>
              <a:t>= 0.480s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1GB </a:t>
            </a:r>
            <a:r>
              <a:rPr lang="en-US" altLang="ko-KR" sz="1200" dirty="0"/>
              <a:t>SLC Block (128MB x 8</a:t>
            </a:r>
            <a:r>
              <a:rPr lang="ko-KR" altLang="en-US" sz="1200" dirty="0"/>
              <a:t>개</a:t>
            </a:r>
            <a:r>
              <a:rPr lang="en-US" altLang="ko-KR" sz="1200" dirty="0"/>
              <a:t>) </a:t>
            </a:r>
            <a:r>
              <a:rPr lang="ko-KR" altLang="en-US" sz="1200" dirty="0"/>
              <a:t>시간 </a:t>
            </a:r>
            <a:r>
              <a:rPr lang="en-US" altLang="ko-KR" sz="1200" dirty="0"/>
              <a:t>= 5ms x 8 = 0.04s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1GB </a:t>
            </a:r>
            <a:r>
              <a:rPr lang="en-US" altLang="ko-KR" sz="1200" dirty="0"/>
              <a:t>Meta log flush </a:t>
            </a:r>
            <a:r>
              <a:rPr lang="ko-KR" altLang="en-US" sz="1200" dirty="0"/>
              <a:t>시간 </a:t>
            </a:r>
            <a:r>
              <a:rPr lang="en-US" altLang="ko-KR" sz="1200" dirty="0"/>
              <a:t>= 0.075ms = 0.075s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1024 </a:t>
            </a:r>
            <a:r>
              <a:rPr lang="en-US" altLang="ko-KR" sz="1200" dirty="0"/>
              <a:t>MB / 0.595 s = </a:t>
            </a:r>
            <a:r>
              <a:rPr lang="en-US" altLang="ko-KR" sz="1200" b="1" dirty="0">
                <a:solidFill>
                  <a:srgbClr val="0033CC"/>
                </a:solidFill>
              </a:rPr>
              <a:t>1721 MB/s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15453" y="3067002"/>
            <a:ext cx="3036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Sequential Turbo Write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예측 성능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48456" y="4266163"/>
            <a:ext cx="320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Normal Write (Dirty Pattern)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예측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b="15471"/>
          <a:stretch/>
        </p:blipFill>
        <p:spPr>
          <a:xfrm>
            <a:off x="241703" y="4584370"/>
            <a:ext cx="10486218" cy="18912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10817110" y="5540335"/>
            <a:ext cx="1165340" cy="9352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1167802" y="5853912"/>
            <a:ext cx="8146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1</a:t>
            </a:r>
            <a:r>
              <a:rPr lang="ko-KR" altLang="en-US" sz="900" dirty="0" smtClean="0"/>
              <a:t>안 </a:t>
            </a:r>
            <a:r>
              <a:rPr lang="en-US" altLang="ko-KR" sz="900" dirty="0" smtClean="0"/>
              <a:t>- SMP</a:t>
            </a:r>
            <a:endParaRPr lang="ko-KR" altLang="en-US" sz="900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10906298" y="6281062"/>
            <a:ext cx="265740" cy="0"/>
          </a:xfrm>
          <a:prstGeom prst="line">
            <a:avLst/>
          </a:prstGeom>
          <a:ln w="28575">
            <a:solidFill>
              <a:srgbClr val="EE7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17109" y="5540335"/>
            <a:ext cx="1076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/>
              <a:t>Legend</a:t>
            </a:r>
            <a:endParaRPr lang="ko-KR" alt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10129852" y="4569749"/>
            <a:ext cx="19091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C00000"/>
                </a:solidFill>
              </a:rPr>
              <a:t>∵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NAND Chip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간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Data 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불균형 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167802" y="6154020"/>
            <a:ext cx="8146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: 2</a:t>
            </a:r>
            <a:r>
              <a:rPr lang="ko-KR" altLang="en-US" sz="900" dirty="0" smtClean="0"/>
              <a:t>안 </a:t>
            </a:r>
            <a:r>
              <a:rPr lang="en-US" altLang="ko-KR" sz="900" dirty="0" smtClean="0"/>
              <a:t>- AMP</a:t>
            </a:r>
            <a:endParaRPr lang="ko-KR" altLang="en-US" sz="900" dirty="0"/>
          </a:p>
        </p:txBody>
      </p:sp>
      <p:cxnSp>
        <p:nvCxnSpPr>
          <p:cNvPr id="44" name="직선 연결선 43"/>
          <p:cNvCxnSpPr/>
          <p:nvPr/>
        </p:nvCxnSpPr>
        <p:spPr>
          <a:xfrm>
            <a:off x="10906298" y="5995409"/>
            <a:ext cx="26574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9571735" y="4675809"/>
            <a:ext cx="711109" cy="701890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>
            <a:hlinkClick r:id="rId4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29336" y="2624398"/>
            <a:ext cx="29664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 NAND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고려 </a:t>
            </a:r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Ideal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성능</a:t>
            </a:r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(380KIOPS)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초과 달성</a:t>
            </a:r>
            <a:endParaRPr lang="ko-KR" altLang="en-US" sz="1000" b="1" dirty="0">
              <a:solidFill>
                <a:srgbClr val="0033CC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69198" y="2802842"/>
            <a:ext cx="29664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 NAND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고려 </a:t>
            </a:r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Ideal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성능</a:t>
            </a:r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(380KIOPS)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초과 달성</a:t>
            </a:r>
            <a:endParaRPr lang="ko-KR" altLang="en-US" sz="1000" b="1" dirty="0">
              <a:solidFill>
                <a:srgbClr val="0033CC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95863" y="3945398"/>
            <a:ext cx="33074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10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요구사항</a:t>
            </a:r>
            <a:r>
              <a:rPr lang="en-US" altLang="ko-KR" sz="10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(1600MB/s) </a:t>
            </a:r>
            <a:r>
              <a:rPr lang="ko-KR" altLang="en-US" sz="10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만족을 위한 추가 아이템 필요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76020" y="3945398"/>
            <a:ext cx="190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요구사항</a:t>
            </a:r>
            <a:r>
              <a:rPr lang="en-US" altLang="ko-KR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(1600MB/s) </a:t>
            </a:r>
            <a:r>
              <a:rPr lang="ko-KR" altLang="en-US" sz="1000" b="1" dirty="0" smtClean="0">
                <a:solidFill>
                  <a:srgbClr val="0033CC"/>
                </a:solidFill>
                <a:sym typeface="Wingdings" panose="05000000000000000000" pitchFamily="2" charset="2"/>
              </a:rPr>
              <a:t>만족</a:t>
            </a:r>
            <a:endParaRPr lang="ko-KR" altLang="en-US" sz="1000" b="1" dirty="0">
              <a:solidFill>
                <a:srgbClr val="0033CC"/>
              </a:solidFill>
            </a:endParaRPr>
          </a:p>
        </p:txBody>
      </p:sp>
      <p:sp>
        <p:nvSpPr>
          <p:cNvPr id="5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64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49" y="1043579"/>
          <a:ext cx="11726500" cy="5456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2650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369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고 신뢰성 분산 처리가 가능한 </a:t>
                      </a:r>
                      <a:r>
                        <a:rPr lang="en-US" altLang="ko-KR" sz="1200" b="1" dirty="0" smtClean="0"/>
                        <a:t>Master-Slave Architecture Style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5087389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DP-2</a:t>
            </a:r>
            <a:r>
              <a:rPr lang="en-GB" altLang="ko-KR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병렬 처리 </a:t>
            </a:r>
            <a:r>
              <a:rPr lang="en-US" altLang="ko-KR" dirty="0">
                <a:cs typeface="Times New Roman" panose="02020603050405020304" pitchFamily="18" charset="0"/>
              </a:rPr>
              <a:t>Workflow </a:t>
            </a:r>
            <a:r>
              <a:rPr lang="ko-KR" altLang="en-US" dirty="0">
                <a:cs typeface="Times New Roman" panose="02020603050405020304" pitchFamily="18" charset="0"/>
              </a:rPr>
              <a:t>설계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복잡도</a:t>
            </a:r>
            <a:r>
              <a:rPr lang="en-US" altLang="ko-KR" dirty="0"/>
              <a:t>, </a:t>
            </a:r>
            <a:r>
              <a:rPr lang="ko-KR" altLang="en-US" dirty="0"/>
              <a:t>변경 용이성을 고려한 </a:t>
            </a:r>
            <a:r>
              <a:rPr lang="en-US" altLang="ko-KR" dirty="0"/>
              <a:t>Workflow </a:t>
            </a:r>
            <a:r>
              <a:rPr lang="ko-KR" altLang="en-US" dirty="0"/>
              <a:t>운영 방안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7271644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F3 HPB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694364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Q5 </a:t>
            </a:r>
            <a:r>
              <a:rPr lang="ko-KR" altLang="en-US" sz="900" b="1" dirty="0" smtClean="0">
                <a:latin typeface="맑은 고딕" panose="020B0503020000020004" pitchFamily="50" charset="-127"/>
              </a:rPr>
              <a:t>신규</a:t>
            </a:r>
            <a:endParaRPr lang="en-US" altLang="ko-KR" sz="900" b="1" dirty="0" smtClean="0">
              <a:latin typeface="맑은 고딕" panose="020B0503020000020004" pitchFamily="50" charset="-127"/>
            </a:endParaRPr>
          </a:p>
          <a:p>
            <a:r>
              <a:rPr lang="ko-KR" altLang="en-US" sz="900" b="1" dirty="0" smtClean="0">
                <a:latin typeface="맑은 고딕" panose="020B0503020000020004" pitchFamily="50" charset="-127"/>
              </a:rPr>
              <a:t>기능 추가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494621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C1 Many Core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261226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 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준수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6460123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8083165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F4 HID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48602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8894107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Rnd. Read </a:t>
            </a:r>
            <a:r>
              <a:rPr lang="ko-KR" altLang="en-US" sz="900" b="1" dirty="0">
                <a:latin typeface="맑은 고딕" panose="020B0503020000020004" pitchFamily="50" charset="-127"/>
              </a:rPr>
              <a:t>성능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48457" y="1441701"/>
            <a:ext cx="3251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Service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와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Sub Service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설계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(Detail)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353809" y="1768590"/>
            <a:ext cx="5656466" cy="4613922"/>
            <a:chOff x="353809" y="1768590"/>
            <a:chExt cx="5357033" cy="4613922"/>
          </a:xfrm>
        </p:grpSpPr>
        <p:sp>
          <p:nvSpPr>
            <p:cNvPr id="140" name="직사각형 139"/>
            <p:cNvSpPr/>
            <p:nvPr/>
          </p:nvSpPr>
          <p:spPr>
            <a:xfrm>
              <a:off x="361521" y="3900420"/>
              <a:ext cx="5349321" cy="24820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361521" y="1800278"/>
              <a:ext cx="5349321" cy="20160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2313308" y="1884370"/>
              <a:ext cx="1446519" cy="63204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Master Scheduler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418255" y="2762720"/>
              <a:ext cx="5236713" cy="96512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&lt;&lt;service&gt;&gt; Service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464982" y="2996678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Read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1523951" y="2996678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Write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2582919" y="2996678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Unmap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7" name="직사각형 146"/>
            <p:cNvSpPr/>
            <p:nvPr/>
          </p:nvSpPr>
          <p:spPr>
            <a:xfrm>
              <a:off x="3641888" y="2996678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Data Flush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3641887" y="3350824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Control CMD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4700856" y="3350824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Vendor CMD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464981" y="3350824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Context Meta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1523950" y="3356914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G/C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2582918" y="3356914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Migration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4700855" y="2996678"/>
              <a:ext cx="898597" cy="3066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Purge Service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8" name="직선 화살표 연결선 157"/>
            <p:cNvCxnSpPr>
              <a:stCxn id="142" idx="2"/>
              <a:endCxn id="143" idx="0"/>
            </p:cNvCxnSpPr>
            <p:nvPr/>
          </p:nvCxnSpPr>
          <p:spPr>
            <a:xfrm>
              <a:off x="3036567" y="2516410"/>
              <a:ext cx="44" cy="24631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화살표 연결선 158"/>
            <p:cNvCxnSpPr>
              <a:stCxn id="143" idx="2"/>
              <a:endCxn id="168" idx="0"/>
            </p:cNvCxnSpPr>
            <p:nvPr/>
          </p:nvCxnSpPr>
          <p:spPr>
            <a:xfrm flipH="1">
              <a:off x="877332" y="3727848"/>
              <a:ext cx="2159280" cy="63205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화살표 연결선 159"/>
            <p:cNvCxnSpPr>
              <a:stCxn id="143" idx="2"/>
              <a:endCxn id="169" idx="0"/>
            </p:cNvCxnSpPr>
            <p:nvPr/>
          </p:nvCxnSpPr>
          <p:spPr>
            <a:xfrm flipH="1">
              <a:off x="1954406" y="3727848"/>
              <a:ext cx="1082206" cy="63205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화살표 연결선 161"/>
            <p:cNvCxnSpPr>
              <a:stCxn id="143" idx="2"/>
              <a:endCxn id="165" idx="0"/>
            </p:cNvCxnSpPr>
            <p:nvPr/>
          </p:nvCxnSpPr>
          <p:spPr>
            <a:xfrm flipH="1">
              <a:off x="3031479" y="3727848"/>
              <a:ext cx="5133" cy="63205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화살표 연결선 162"/>
            <p:cNvCxnSpPr>
              <a:stCxn id="143" idx="2"/>
              <a:endCxn id="166" idx="0"/>
            </p:cNvCxnSpPr>
            <p:nvPr/>
          </p:nvCxnSpPr>
          <p:spPr>
            <a:xfrm>
              <a:off x="3036612" y="3727848"/>
              <a:ext cx="1072209" cy="63205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화살표 연결선 163"/>
            <p:cNvCxnSpPr>
              <a:stCxn id="143" idx="2"/>
              <a:endCxn id="167" idx="0"/>
            </p:cNvCxnSpPr>
            <p:nvPr/>
          </p:nvCxnSpPr>
          <p:spPr>
            <a:xfrm>
              <a:off x="3036612" y="3727848"/>
              <a:ext cx="2149555" cy="63205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직사각형 164"/>
            <p:cNvSpPr/>
            <p:nvPr/>
          </p:nvSpPr>
          <p:spPr>
            <a:xfrm>
              <a:off x="2572402" y="4359900"/>
              <a:ext cx="918154" cy="1912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altLang="ko-KR" sz="800" b="1" dirty="0">
                  <a:solidFill>
                    <a:prstClr val="black"/>
                  </a:solidFill>
                </a:rPr>
                <a:t>&lt;&lt;sub-service&gt;&gt;</a:t>
              </a:r>
              <a:r>
                <a:rPr lang="en-US" altLang="ko-KR" sz="700" b="1" dirty="0">
                  <a:solidFill>
                    <a:prstClr val="black"/>
                  </a:solidFill>
                </a:rPr>
                <a:t> </a:t>
              </a:r>
              <a:r>
                <a:rPr lang="en-US" altLang="ko-KR" sz="900" b="1" dirty="0" smtClean="0">
                  <a:solidFill>
                    <a:schemeClr val="tx1"/>
                  </a:solidFill>
                </a:rPr>
                <a:t>User Data CMD</a:t>
              </a:r>
              <a:endParaRPr lang="en-US" altLang="ko-KR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3649744" y="4359900"/>
              <a:ext cx="918154" cy="1912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altLang="ko-KR" sz="800" b="1" dirty="0">
                  <a:solidFill>
                    <a:prstClr val="black"/>
                  </a:solidFill>
                </a:rPr>
                <a:t>&lt;&lt;sub-service&gt;&gt; </a:t>
              </a:r>
              <a:r>
                <a:rPr lang="en-US" altLang="ko-KR" sz="900" b="1" dirty="0" err="1" smtClean="0">
                  <a:solidFill>
                    <a:schemeClr val="tx1"/>
                  </a:solidFill>
                </a:rPr>
                <a:t>Context&amp;Meta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727087" y="4359900"/>
              <a:ext cx="918159" cy="1912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altLang="ko-KR" sz="800" b="1" dirty="0">
                  <a:solidFill>
                    <a:prstClr val="black"/>
                  </a:solidFill>
                </a:rPr>
                <a:t>&lt;&lt;sub-service&gt;&gt; </a:t>
              </a:r>
              <a:endParaRPr lang="en-US" altLang="ko-KR" sz="800" b="1" dirty="0" smtClean="0">
                <a:solidFill>
                  <a:prstClr val="black"/>
                </a:solidFill>
              </a:endParaRPr>
            </a:p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G/C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418254" y="4359900"/>
              <a:ext cx="918155" cy="19128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&lt;&lt;sub-service&gt;&gt;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Control CMD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1495597" y="4359900"/>
              <a:ext cx="917617" cy="1912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lang="en-US" altLang="ko-KR" sz="800" b="1" dirty="0">
                  <a:solidFill>
                    <a:prstClr val="black"/>
                  </a:solidFill>
                </a:rPr>
                <a:t>&lt;&lt;sub-service&gt;&gt; </a:t>
              </a:r>
              <a:r>
                <a:rPr lang="en-US" altLang="ko-KR" sz="900" b="1" dirty="0" smtClean="0">
                  <a:solidFill>
                    <a:schemeClr val="tx1"/>
                  </a:solidFill>
                </a:rPr>
                <a:t>Vendor CMD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353809" y="1768590"/>
              <a:ext cx="1120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accent2">
                      <a:lumMod val="75000"/>
                    </a:schemeClr>
                  </a:solidFill>
                </a:rPr>
                <a:t>Master</a:t>
              </a:r>
              <a:endParaRPr lang="ko-KR" altLang="en-US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358710" y="3890708"/>
              <a:ext cx="97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accent4">
                      <a:lumMod val="75000"/>
                    </a:schemeClr>
                  </a:solidFill>
                </a:rPr>
                <a:t>Slave</a:t>
              </a:r>
              <a:endParaRPr lang="ko-KR" altLang="en-US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2640876" y="4718020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User SLC Program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2640876" y="6019863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RPMB Read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2640876" y="5238241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Auto User Read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2640876" y="5759382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RPMB Program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3710219" y="4712088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Block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3710219" y="4984479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Map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3710219" y="5254804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Context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4787565" y="4712088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GC Condition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4787565" y="4978469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Incremental Calculator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4787565" y="5249710"/>
              <a:ext cx="797204" cy="212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Source Selector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4787565" y="5510191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Destination 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Selector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3710219" y="5519035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Map Cache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4787565" y="5774572"/>
              <a:ext cx="797204" cy="212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Copy-back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2640876" y="4977761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User TLC Program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2640876" y="5499641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Manual User Read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3710219" y="5777809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Meta Rebuilder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475582" y="4719498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Power Mode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475582" y="4990739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Partitioning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475582" y="5251220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Retrieval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91" name="직사각형 190"/>
            <p:cNvSpPr/>
            <p:nvPr/>
          </p:nvSpPr>
          <p:spPr>
            <a:xfrm>
              <a:off x="1559898" y="4719498"/>
              <a:ext cx="797204" cy="21253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Physical IO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1559898" y="4985879"/>
              <a:ext cx="797204" cy="212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OEM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1557397" y="5257120"/>
              <a:ext cx="797204" cy="21253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/>
                  </a:solidFill>
                </a:rPr>
                <a:t>Smart Report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1563803" y="5517601"/>
              <a:ext cx="797204" cy="21253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Test Mode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1562755" y="5781982"/>
              <a:ext cx="797204" cy="21253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</a:rPr>
                <a:t>Retrieval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97" name="TextBox 196"/>
          <p:cNvSpPr txBox="1"/>
          <p:nvPr/>
        </p:nvSpPr>
        <p:spPr>
          <a:xfrm>
            <a:off x="6620682" y="1441701"/>
            <a:ext cx="4428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Service</a:t>
            </a:r>
            <a:r>
              <a:rPr lang="ko-KR" altLang="en-US" sz="1400" b="1" u="sng" dirty="0">
                <a:solidFill>
                  <a:schemeClr val="accent5">
                    <a:lumMod val="50000"/>
                  </a:schemeClr>
                </a:solidFill>
              </a:rPr>
              <a:t>와 </a:t>
            </a:r>
            <a:r>
              <a:rPr lang="en-US" altLang="ko-KR" sz="1400" b="1" u="sng" dirty="0">
                <a:solidFill>
                  <a:schemeClr val="accent5">
                    <a:lumMod val="50000"/>
                  </a:schemeClr>
                </a:solidFill>
              </a:rPr>
              <a:t>Sub-service</a:t>
            </a:r>
            <a:r>
              <a:rPr lang="ko-KR" altLang="en-US" sz="1400" b="1" u="sng" dirty="0">
                <a:solidFill>
                  <a:schemeClr val="accent5">
                    <a:lumMod val="50000"/>
                  </a:schemeClr>
                </a:solidFill>
              </a:rPr>
              <a:t>간 통신 </a:t>
            </a:r>
            <a:r>
              <a:rPr lang="en-US" altLang="ko-KR" sz="1400" b="1" u="sng" dirty="0">
                <a:solidFill>
                  <a:schemeClr val="accent5">
                    <a:lumMod val="50000"/>
                  </a:schemeClr>
                </a:solidFill>
              </a:rPr>
              <a:t>Overhead </a:t>
            </a:r>
            <a:r>
              <a:rPr lang="ko-KR" altLang="en-US" sz="1400" b="1" u="sng" dirty="0">
                <a:solidFill>
                  <a:schemeClr val="accent5">
                    <a:lumMod val="50000"/>
                  </a:schemeClr>
                </a:solidFill>
              </a:rPr>
              <a:t>감소 방안</a:t>
            </a:r>
          </a:p>
        </p:txBody>
      </p:sp>
      <p:sp>
        <p:nvSpPr>
          <p:cNvPr id="199" name="직사각형 198"/>
          <p:cNvSpPr/>
          <p:nvPr/>
        </p:nvSpPr>
        <p:spPr>
          <a:xfrm>
            <a:off x="6304267" y="3927564"/>
            <a:ext cx="1876492" cy="631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Service</a:t>
            </a:r>
            <a:endParaRPr lang="ko-KR" altLang="en-US" sz="1200" dirty="0"/>
          </a:p>
        </p:txBody>
      </p:sp>
      <p:sp>
        <p:nvSpPr>
          <p:cNvPr id="200" name="직사각형 199"/>
          <p:cNvSpPr/>
          <p:nvPr/>
        </p:nvSpPr>
        <p:spPr>
          <a:xfrm>
            <a:off x="9830190" y="2909066"/>
            <a:ext cx="1876492" cy="631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User Data CMD</a:t>
            </a:r>
          </a:p>
          <a:p>
            <a:pPr algn="ctr"/>
            <a:r>
              <a:rPr lang="en-US" altLang="ko-KR" sz="1200" dirty="0" smtClean="0"/>
              <a:t>Sub-service</a:t>
            </a:r>
            <a:endParaRPr lang="ko-KR" altLang="en-US" sz="1200" dirty="0"/>
          </a:p>
        </p:txBody>
      </p:sp>
      <p:sp>
        <p:nvSpPr>
          <p:cNvPr id="201" name="직사각형 200"/>
          <p:cNvSpPr/>
          <p:nvPr/>
        </p:nvSpPr>
        <p:spPr>
          <a:xfrm>
            <a:off x="9830190" y="3816177"/>
            <a:ext cx="1876492" cy="631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Context &amp; Meta</a:t>
            </a:r>
          </a:p>
          <a:p>
            <a:pPr algn="ctr"/>
            <a:r>
              <a:rPr lang="en-US" altLang="ko-KR" sz="1200" dirty="0" smtClean="0"/>
              <a:t>Sub-service</a:t>
            </a:r>
            <a:endParaRPr lang="ko-KR" altLang="en-US" sz="1200" dirty="0"/>
          </a:p>
        </p:txBody>
      </p:sp>
      <p:sp>
        <p:nvSpPr>
          <p:cNvPr id="202" name="직사각형 201"/>
          <p:cNvSpPr/>
          <p:nvPr/>
        </p:nvSpPr>
        <p:spPr>
          <a:xfrm>
            <a:off x="9830190" y="4723289"/>
            <a:ext cx="1876492" cy="631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Garbage Collection</a:t>
            </a:r>
          </a:p>
          <a:p>
            <a:pPr algn="ctr"/>
            <a:r>
              <a:rPr lang="en-US" altLang="ko-KR" sz="1200" dirty="0" smtClean="0"/>
              <a:t>Sub-service</a:t>
            </a:r>
            <a:endParaRPr lang="ko-KR" altLang="en-US" sz="1200" dirty="0"/>
          </a:p>
        </p:txBody>
      </p:sp>
      <p:sp>
        <p:nvSpPr>
          <p:cNvPr id="203" name="직사각형 202"/>
          <p:cNvSpPr/>
          <p:nvPr/>
        </p:nvSpPr>
        <p:spPr>
          <a:xfrm>
            <a:off x="8128047" y="3986244"/>
            <a:ext cx="105425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04" name="직사각형 203"/>
          <p:cNvSpPr/>
          <p:nvPr/>
        </p:nvSpPr>
        <p:spPr>
          <a:xfrm>
            <a:off x="8128047" y="4184662"/>
            <a:ext cx="105425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05" name="직사각형 204"/>
          <p:cNvSpPr/>
          <p:nvPr/>
        </p:nvSpPr>
        <p:spPr>
          <a:xfrm>
            <a:off x="8128047" y="4383081"/>
            <a:ext cx="105425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06" name="직사각형 205"/>
          <p:cNvSpPr/>
          <p:nvPr/>
        </p:nvSpPr>
        <p:spPr>
          <a:xfrm>
            <a:off x="9777478" y="3294137"/>
            <a:ext cx="105425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lt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9777478" y="4197080"/>
            <a:ext cx="105425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08" name="직사각형 207"/>
          <p:cNvSpPr/>
          <p:nvPr/>
        </p:nvSpPr>
        <p:spPr>
          <a:xfrm>
            <a:off x="9777478" y="5108360"/>
            <a:ext cx="105425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cxnSp>
        <p:nvCxnSpPr>
          <p:cNvPr id="209" name="직선 연결선 208"/>
          <p:cNvCxnSpPr>
            <a:stCxn id="203" idx="3"/>
            <a:endCxn id="206" idx="1"/>
          </p:cNvCxnSpPr>
          <p:nvPr/>
        </p:nvCxnSpPr>
        <p:spPr>
          <a:xfrm flipV="1">
            <a:off x="8233472" y="3352948"/>
            <a:ext cx="1544006" cy="692107"/>
          </a:xfrm>
          <a:prstGeom prst="lin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10" name="직선 연결선 209"/>
          <p:cNvCxnSpPr>
            <a:stCxn id="204" idx="3"/>
            <a:endCxn id="207" idx="1"/>
          </p:cNvCxnSpPr>
          <p:nvPr/>
        </p:nvCxnSpPr>
        <p:spPr>
          <a:xfrm>
            <a:off x="8233472" y="4243473"/>
            <a:ext cx="1544006" cy="1241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11" name="직선 연결선 210"/>
          <p:cNvCxnSpPr>
            <a:stCxn id="205" idx="3"/>
            <a:endCxn id="208" idx="1"/>
          </p:cNvCxnSpPr>
          <p:nvPr/>
        </p:nvCxnSpPr>
        <p:spPr>
          <a:xfrm>
            <a:off x="8233472" y="4441892"/>
            <a:ext cx="1544006" cy="72527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2" name="직사각형 211"/>
          <p:cNvSpPr/>
          <p:nvPr/>
        </p:nvSpPr>
        <p:spPr>
          <a:xfrm>
            <a:off x="6323262" y="5531034"/>
            <a:ext cx="5325200" cy="84967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000"/>
              </a:lnSpc>
            </a:pPr>
            <a:r>
              <a:rPr lang="en-US" altLang="ko-KR" sz="1050" b="1" dirty="0" smtClean="0">
                <a:solidFill>
                  <a:schemeClr val="tx1"/>
                </a:solidFill>
              </a:rPr>
              <a:t>Legend</a:t>
            </a:r>
          </a:p>
        </p:txBody>
      </p:sp>
      <p:sp>
        <p:nvSpPr>
          <p:cNvPr id="213" name="직사각형 212"/>
          <p:cNvSpPr/>
          <p:nvPr/>
        </p:nvSpPr>
        <p:spPr>
          <a:xfrm>
            <a:off x="6472291" y="6157804"/>
            <a:ext cx="81153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14" name="직사각형 213"/>
          <p:cNvSpPr/>
          <p:nvPr/>
        </p:nvSpPr>
        <p:spPr>
          <a:xfrm>
            <a:off x="6783816" y="6157804"/>
            <a:ext cx="81153" cy="117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cxnSp>
        <p:nvCxnSpPr>
          <p:cNvPr id="215" name="직선 연결선 214"/>
          <p:cNvCxnSpPr>
            <a:stCxn id="213" idx="3"/>
            <a:endCxn id="214" idx="1"/>
          </p:cNvCxnSpPr>
          <p:nvPr/>
        </p:nvCxnSpPr>
        <p:spPr>
          <a:xfrm>
            <a:off x="6553444" y="6216615"/>
            <a:ext cx="230373" cy="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6" name="TextBox 215"/>
          <p:cNvSpPr txBox="1"/>
          <p:nvPr/>
        </p:nvSpPr>
        <p:spPr>
          <a:xfrm>
            <a:off x="6934963" y="6124929"/>
            <a:ext cx="12906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:</a:t>
            </a:r>
            <a:r>
              <a:rPr lang="en-US" altLang="ko-KR" sz="800" dirty="0"/>
              <a:t> </a:t>
            </a:r>
            <a:r>
              <a:rPr lang="en-US" altLang="ko-KR" sz="800" dirty="0" smtClean="0"/>
              <a:t>Sub-service Message</a:t>
            </a:r>
            <a:endParaRPr lang="ko-KR" altLang="en-US" sz="800" dirty="0"/>
          </a:p>
        </p:txBody>
      </p:sp>
      <p:sp>
        <p:nvSpPr>
          <p:cNvPr id="217" name="직사각형 216"/>
          <p:cNvSpPr/>
          <p:nvPr/>
        </p:nvSpPr>
        <p:spPr>
          <a:xfrm>
            <a:off x="6457832" y="5816286"/>
            <a:ext cx="467606" cy="2244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218" name="TextBox 217"/>
          <p:cNvSpPr txBox="1"/>
          <p:nvPr/>
        </p:nvSpPr>
        <p:spPr>
          <a:xfrm>
            <a:off x="6939673" y="5815852"/>
            <a:ext cx="1327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:</a:t>
            </a:r>
            <a:r>
              <a:rPr lang="en-US" altLang="ko-KR" sz="800" dirty="0"/>
              <a:t> </a:t>
            </a:r>
            <a:r>
              <a:rPr lang="en-US" altLang="ko-KR" sz="800" dirty="0" smtClean="0"/>
              <a:t>Service or Sub-service</a:t>
            </a:r>
            <a:endParaRPr lang="ko-KR" altLang="en-US" sz="800" dirty="0"/>
          </a:p>
        </p:txBody>
      </p:sp>
      <p:cxnSp>
        <p:nvCxnSpPr>
          <p:cNvPr id="220" name="직선 화살표 연결선 219"/>
          <p:cNvCxnSpPr>
            <a:endCxn id="229" idx="3"/>
          </p:cNvCxnSpPr>
          <p:nvPr/>
        </p:nvCxnSpPr>
        <p:spPr>
          <a:xfrm flipH="1" flipV="1">
            <a:off x="9529831" y="2597936"/>
            <a:ext cx="299968" cy="48205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화살표 연결선 220"/>
          <p:cNvCxnSpPr>
            <a:endCxn id="228" idx="2"/>
          </p:cNvCxnSpPr>
          <p:nvPr/>
        </p:nvCxnSpPr>
        <p:spPr>
          <a:xfrm flipH="1" flipV="1">
            <a:off x="8090004" y="2903545"/>
            <a:ext cx="1736768" cy="1076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/>
          <p:cNvCxnSpPr>
            <a:endCxn id="227" idx="2"/>
          </p:cNvCxnSpPr>
          <p:nvPr/>
        </p:nvCxnSpPr>
        <p:spPr>
          <a:xfrm flipH="1" flipV="1">
            <a:off x="7107829" y="2903545"/>
            <a:ext cx="2722366" cy="20086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모서리가 둥근 직사각형 222"/>
          <p:cNvSpPr/>
          <p:nvPr/>
        </p:nvSpPr>
        <p:spPr>
          <a:xfrm>
            <a:off x="8425746" y="5804849"/>
            <a:ext cx="467606" cy="2244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24" name="TextBox 223"/>
          <p:cNvSpPr txBox="1"/>
          <p:nvPr/>
        </p:nvSpPr>
        <p:spPr>
          <a:xfrm>
            <a:off x="8882128" y="5825365"/>
            <a:ext cx="1290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:</a:t>
            </a:r>
            <a:r>
              <a:rPr lang="en-US" altLang="ko-KR" sz="800" dirty="0"/>
              <a:t> </a:t>
            </a:r>
            <a:r>
              <a:rPr lang="en-US" altLang="ko-KR" sz="800" dirty="0" smtClean="0"/>
              <a:t>Full Shared TCM</a:t>
            </a:r>
            <a:endParaRPr lang="ko-KR" altLang="en-US" sz="800" dirty="0"/>
          </a:p>
        </p:txBody>
      </p:sp>
      <p:sp>
        <p:nvSpPr>
          <p:cNvPr id="225" name="TextBox 224"/>
          <p:cNvSpPr txBox="1"/>
          <p:nvPr/>
        </p:nvSpPr>
        <p:spPr>
          <a:xfrm>
            <a:off x="8841345" y="6092950"/>
            <a:ext cx="1373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:</a:t>
            </a:r>
            <a:r>
              <a:rPr lang="en-US" altLang="ko-KR" sz="800" dirty="0"/>
              <a:t> </a:t>
            </a:r>
            <a:r>
              <a:rPr lang="en-US" altLang="ko-KR" sz="800" dirty="0" smtClean="0"/>
              <a:t>Data Access (w/o Lock)</a:t>
            </a:r>
            <a:endParaRPr lang="ko-KR" altLang="en-US" sz="800" dirty="0"/>
          </a:p>
        </p:txBody>
      </p:sp>
      <p:cxnSp>
        <p:nvCxnSpPr>
          <p:cNvPr id="226" name="직선 화살표 연결선 225"/>
          <p:cNvCxnSpPr/>
          <p:nvPr/>
        </p:nvCxnSpPr>
        <p:spPr>
          <a:xfrm flipH="1">
            <a:off x="8419456" y="6216615"/>
            <a:ext cx="44405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/>
          <p:cNvGrpSpPr/>
          <p:nvPr/>
        </p:nvGrpSpPr>
        <p:grpSpPr>
          <a:xfrm>
            <a:off x="6572877" y="1936842"/>
            <a:ext cx="3002545" cy="1076084"/>
            <a:chOff x="7235398" y="1936841"/>
            <a:chExt cx="2139479" cy="1416107"/>
          </a:xfrm>
        </p:grpSpPr>
        <p:sp>
          <p:nvSpPr>
            <p:cNvPr id="219" name="모서리가 둥근 직사각형 218"/>
            <p:cNvSpPr/>
            <p:nvPr/>
          </p:nvSpPr>
          <p:spPr>
            <a:xfrm>
              <a:off x="7235398" y="1936841"/>
              <a:ext cx="2139479" cy="14161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 smtClean="0"/>
                <a:t>Shared Memory</a:t>
              </a:r>
              <a:endParaRPr lang="ko-KR" altLang="en-US" sz="1200" dirty="0"/>
            </a:p>
          </p:txBody>
        </p:sp>
        <p:sp>
          <p:nvSpPr>
            <p:cNvPr id="227" name="순서도: 문서 226"/>
            <p:cNvSpPr/>
            <p:nvPr/>
          </p:nvSpPr>
          <p:spPr>
            <a:xfrm>
              <a:off x="7284150" y="2343373"/>
              <a:ext cx="664861" cy="926911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00" dirty="0"/>
                <a:t>G/C</a:t>
              </a:r>
            </a:p>
            <a:p>
              <a:pPr algn="ctr"/>
              <a:r>
                <a:rPr lang="en-US" altLang="ko-KR" sz="900" dirty="0" smtClean="0"/>
                <a:t>Parameters</a:t>
              </a:r>
              <a:endParaRPr lang="ko-KR" altLang="en-US" sz="900" dirty="0"/>
            </a:p>
          </p:txBody>
        </p:sp>
        <p:sp>
          <p:nvSpPr>
            <p:cNvPr id="228" name="순서도: 문서 227"/>
            <p:cNvSpPr/>
            <p:nvPr/>
          </p:nvSpPr>
          <p:spPr>
            <a:xfrm>
              <a:off x="7984004" y="2343373"/>
              <a:ext cx="664861" cy="926911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00" dirty="0"/>
                <a:t>Context &amp; Meta </a:t>
              </a:r>
              <a:r>
                <a:rPr lang="en-US" altLang="ko-KR" sz="900" dirty="0" smtClean="0"/>
                <a:t>Parameters</a:t>
              </a:r>
              <a:endParaRPr lang="ko-KR" altLang="en-US" sz="900" dirty="0"/>
            </a:p>
          </p:txBody>
        </p:sp>
        <p:sp>
          <p:nvSpPr>
            <p:cNvPr id="229" name="순서도: 문서 228"/>
            <p:cNvSpPr/>
            <p:nvPr/>
          </p:nvSpPr>
          <p:spPr>
            <a:xfrm>
              <a:off x="8677530" y="2343373"/>
              <a:ext cx="664861" cy="926911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00" dirty="0" smtClean="0"/>
                <a:t>User Data CMD Parameters</a:t>
              </a:r>
              <a:endParaRPr lang="ko-KR" altLang="en-US" sz="900" dirty="0"/>
            </a:p>
          </p:txBody>
        </p:sp>
      </p:grpSp>
      <p:cxnSp>
        <p:nvCxnSpPr>
          <p:cNvPr id="230" name="꺾인 연결선 229"/>
          <p:cNvCxnSpPr>
            <a:stCxn id="219" idx="1"/>
          </p:cNvCxnSpPr>
          <p:nvPr/>
        </p:nvCxnSpPr>
        <p:spPr>
          <a:xfrm rot="10800000" flipV="1">
            <a:off x="6390329" y="2474883"/>
            <a:ext cx="182549" cy="145045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순서도: 문서 230"/>
          <p:cNvSpPr/>
          <p:nvPr/>
        </p:nvSpPr>
        <p:spPr>
          <a:xfrm>
            <a:off x="10172573" y="5814528"/>
            <a:ext cx="467606" cy="224403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/>
          </a:p>
        </p:txBody>
      </p:sp>
      <p:sp>
        <p:nvSpPr>
          <p:cNvPr id="232" name="TextBox 231"/>
          <p:cNvSpPr txBox="1"/>
          <p:nvPr/>
        </p:nvSpPr>
        <p:spPr>
          <a:xfrm>
            <a:off x="10649599" y="5835044"/>
            <a:ext cx="9988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:</a:t>
            </a:r>
            <a:r>
              <a:rPr lang="en-US" altLang="ko-KR" sz="800" dirty="0"/>
              <a:t> </a:t>
            </a:r>
            <a:r>
              <a:rPr lang="en-US" altLang="ko-KR" sz="800" dirty="0" smtClean="0"/>
              <a:t>Shared Memory</a:t>
            </a:r>
            <a:endParaRPr lang="ko-KR" altLang="en-US" sz="800" dirty="0"/>
          </a:p>
        </p:txBody>
      </p:sp>
      <p:grpSp>
        <p:nvGrpSpPr>
          <p:cNvPr id="54" name="그룹 53"/>
          <p:cNvGrpSpPr/>
          <p:nvPr/>
        </p:nvGrpSpPr>
        <p:grpSpPr>
          <a:xfrm>
            <a:off x="7859559" y="3979630"/>
            <a:ext cx="151924" cy="124236"/>
            <a:chOff x="10606089" y="2207143"/>
            <a:chExt cx="271461" cy="221987"/>
          </a:xfrm>
        </p:grpSpPr>
        <p:sp>
          <p:nvSpPr>
            <p:cNvPr id="233" name="직사각형 232"/>
            <p:cNvSpPr/>
            <p:nvPr/>
          </p:nvSpPr>
          <p:spPr>
            <a:xfrm>
              <a:off x="10639680" y="2207143"/>
              <a:ext cx="237870" cy="2219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34" name="직사각형 233"/>
            <p:cNvSpPr/>
            <p:nvPr/>
          </p:nvSpPr>
          <p:spPr>
            <a:xfrm>
              <a:off x="10606089" y="2233108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35" name="직사각형 234"/>
            <p:cNvSpPr/>
            <p:nvPr/>
          </p:nvSpPr>
          <p:spPr>
            <a:xfrm>
              <a:off x="10606089" y="2299254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grpSp>
        <p:nvGrpSpPr>
          <p:cNvPr id="236" name="그룹 235"/>
          <p:cNvGrpSpPr/>
          <p:nvPr/>
        </p:nvGrpSpPr>
        <p:grpSpPr>
          <a:xfrm>
            <a:off x="11487341" y="2976566"/>
            <a:ext cx="151924" cy="124236"/>
            <a:chOff x="10606089" y="2207143"/>
            <a:chExt cx="271461" cy="221987"/>
          </a:xfrm>
        </p:grpSpPr>
        <p:sp>
          <p:nvSpPr>
            <p:cNvPr id="237" name="직사각형 236"/>
            <p:cNvSpPr/>
            <p:nvPr/>
          </p:nvSpPr>
          <p:spPr>
            <a:xfrm>
              <a:off x="10639680" y="2207143"/>
              <a:ext cx="237870" cy="2219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10606089" y="2233108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39" name="직사각형 238"/>
            <p:cNvSpPr/>
            <p:nvPr/>
          </p:nvSpPr>
          <p:spPr>
            <a:xfrm>
              <a:off x="10606089" y="2299254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grpSp>
        <p:nvGrpSpPr>
          <p:cNvPr id="240" name="그룹 239"/>
          <p:cNvGrpSpPr/>
          <p:nvPr/>
        </p:nvGrpSpPr>
        <p:grpSpPr>
          <a:xfrm>
            <a:off x="11487341" y="3890708"/>
            <a:ext cx="151924" cy="124236"/>
            <a:chOff x="10606089" y="2207143"/>
            <a:chExt cx="271461" cy="221987"/>
          </a:xfrm>
        </p:grpSpPr>
        <p:sp>
          <p:nvSpPr>
            <p:cNvPr id="241" name="직사각형 240"/>
            <p:cNvSpPr/>
            <p:nvPr/>
          </p:nvSpPr>
          <p:spPr>
            <a:xfrm>
              <a:off x="10639680" y="2207143"/>
              <a:ext cx="237870" cy="2219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42" name="직사각형 241"/>
            <p:cNvSpPr/>
            <p:nvPr/>
          </p:nvSpPr>
          <p:spPr>
            <a:xfrm>
              <a:off x="10606089" y="2233108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43" name="직사각형 242"/>
            <p:cNvSpPr/>
            <p:nvPr/>
          </p:nvSpPr>
          <p:spPr>
            <a:xfrm>
              <a:off x="10606089" y="2299254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grpSp>
        <p:nvGrpSpPr>
          <p:cNvPr id="244" name="그룹 243"/>
          <p:cNvGrpSpPr/>
          <p:nvPr/>
        </p:nvGrpSpPr>
        <p:grpSpPr>
          <a:xfrm>
            <a:off x="11487341" y="4787955"/>
            <a:ext cx="151924" cy="124236"/>
            <a:chOff x="10606089" y="2207143"/>
            <a:chExt cx="271461" cy="221987"/>
          </a:xfrm>
        </p:grpSpPr>
        <p:sp>
          <p:nvSpPr>
            <p:cNvPr id="245" name="직사각형 244"/>
            <p:cNvSpPr/>
            <p:nvPr/>
          </p:nvSpPr>
          <p:spPr>
            <a:xfrm>
              <a:off x="10639680" y="2207143"/>
              <a:ext cx="237870" cy="2219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10606089" y="2233108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47" name="직사각형 246"/>
            <p:cNvSpPr/>
            <p:nvPr/>
          </p:nvSpPr>
          <p:spPr>
            <a:xfrm>
              <a:off x="10606089" y="2299254"/>
              <a:ext cx="73800" cy="50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6541036" y="3293385"/>
            <a:ext cx="1684587" cy="404659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0" rIns="9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pPr marR="152400" lvl="0">
              <a:lnSpc>
                <a:spcPct val="100000"/>
              </a:lnSpc>
              <a:spcBef>
                <a:spcPts val="900"/>
              </a:spcBef>
              <a:buSzPts val="900"/>
              <a:tabLst>
                <a:tab pos="571500" algn="l"/>
              </a:tabLst>
            </a:pPr>
            <a:r>
              <a:rPr lang="en-US" altLang="ko-KR" sz="1000" kern="100" dirty="0">
                <a:latin typeface="Calibri" panose="020F0502020204030204" pitchFamily="34" charset="0"/>
              </a:rPr>
              <a:t>Service</a:t>
            </a:r>
            <a:r>
              <a:rPr lang="ko-KR" altLang="ko-KR" sz="1000" kern="100" dirty="0">
                <a:latin typeface="Calibri" panose="020F0502020204030204" pitchFamily="34" charset="0"/>
              </a:rPr>
              <a:t>를 분할 처리하는 동안 </a:t>
            </a:r>
            <a:r>
              <a:rPr lang="en-US" altLang="ko-KR" sz="1000" kern="100" dirty="0">
                <a:latin typeface="Calibri" panose="020F0502020204030204" pitchFamily="34" charset="0"/>
              </a:rPr>
              <a:t>Data</a:t>
            </a:r>
            <a:r>
              <a:rPr lang="ko-KR" altLang="ko-KR" sz="1000" kern="100" dirty="0">
                <a:latin typeface="Calibri" panose="020F0502020204030204" pitchFamily="34" charset="0"/>
              </a:rPr>
              <a:t> </a:t>
            </a:r>
            <a:r>
              <a:rPr lang="en-US" altLang="ko-KR" sz="1000" kern="100" dirty="0">
                <a:latin typeface="Calibri" panose="020F0502020204030204" pitchFamily="34" charset="0"/>
              </a:rPr>
              <a:t>Copy X</a:t>
            </a:r>
            <a:endParaRPr lang="ko-KR" altLang="ko-KR" sz="1000" kern="100" dirty="0">
              <a:latin typeface="Calibri" panose="020F0502020204030204" pitchFamily="34" charset="0"/>
              <a:ea typeface="굴림" panose="020B0600000101010101" pitchFamily="50" charset="-127"/>
            </a:endParaRPr>
          </a:p>
        </p:txBody>
      </p:sp>
      <p:cxnSp>
        <p:nvCxnSpPr>
          <p:cNvPr id="59" name="직선 연결선 58"/>
          <p:cNvCxnSpPr>
            <a:stCxn id="248" idx="2"/>
            <a:endCxn id="199" idx="0"/>
          </p:cNvCxnSpPr>
          <p:nvPr/>
        </p:nvCxnSpPr>
        <p:spPr>
          <a:xfrm flipH="1">
            <a:off x="7242513" y="3698044"/>
            <a:ext cx="140817" cy="229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/>
          <p:cNvSpPr txBox="1"/>
          <p:nvPr/>
        </p:nvSpPr>
        <p:spPr>
          <a:xfrm>
            <a:off x="9894189" y="1936842"/>
            <a:ext cx="1812493" cy="504462"/>
          </a:xfrm>
          <a:prstGeom prst="rect">
            <a:avLst/>
          </a:prstGeom>
          <a:solidFill>
            <a:srgbClr val="FFC000"/>
          </a:solidFill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800" b="1"/>
            </a:lvl1pPr>
          </a:lstStyle>
          <a:p>
            <a:pPr marR="152400" lvl="0">
              <a:lnSpc>
                <a:spcPct val="100000"/>
              </a:lnSpc>
              <a:spcBef>
                <a:spcPts val="900"/>
              </a:spcBef>
              <a:buSzPts val="900"/>
              <a:tabLst>
                <a:tab pos="571500" algn="l"/>
              </a:tabLst>
            </a:pPr>
            <a:r>
              <a:rPr lang="en-US" altLang="ko-KR" sz="1000" dirty="0"/>
              <a:t>Message</a:t>
            </a:r>
            <a:r>
              <a:rPr lang="ko-KR" altLang="ko-KR" sz="1000" dirty="0"/>
              <a:t>를 </a:t>
            </a:r>
            <a:r>
              <a:rPr lang="ko-KR" altLang="ko-KR" sz="1000" dirty="0" smtClean="0"/>
              <a:t>받</a:t>
            </a:r>
            <a:r>
              <a:rPr lang="ko-KR" altLang="en-US" sz="1000" dirty="0" smtClean="0"/>
              <a:t>아야 </a:t>
            </a:r>
            <a:r>
              <a:rPr lang="en-US" altLang="ko-KR" sz="1000" dirty="0" smtClean="0"/>
              <a:t>Parameter </a:t>
            </a:r>
            <a:r>
              <a:rPr lang="ko-KR" altLang="ko-KR" sz="1000" dirty="0"/>
              <a:t>접근을 </a:t>
            </a:r>
            <a:r>
              <a:rPr lang="ko-KR" altLang="ko-KR" sz="1000" dirty="0" smtClean="0"/>
              <a:t>허용</a:t>
            </a:r>
            <a:r>
              <a:rPr lang="en-US" altLang="ko-KR" sz="1000" dirty="0"/>
              <a:t> </a:t>
            </a:r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en-US" altLang="ko-KR" sz="1000" dirty="0" smtClean="0"/>
              <a:t>Lock X, </a:t>
            </a:r>
            <a:r>
              <a:rPr lang="ko-KR" altLang="en-US" sz="1000" dirty="0" smtClean="0"/>
              <a:t>운영</a:t>
            </a:r>
            <a:r>
              <a:rPr lang="ko-KR" altLang="ko-KR" sz="1000" dirty="0" smtClean="0"/>
              <a:t> </a:t>
            </a:r>
            <a:r>
              <a:rPr lang="en-US" altLang="ko-KR" sz="1000" dirty="0" smtClean="0"/>
              <a:t>Cost </a:t>
            </a:r>
            <a:r>
              <a:rPr lang="ko-KR" altLang="en-US" sz="1000" dirty="0" smtClean="0"/>
              <a:t>↓</a:t>
            </a:r>
            <a:endParaRPr lang="ko-KR" altLang="ko-KR" sz="1000" kern="100" dirty="0">
              <a:latin typeface="Calibri" panose="020F0502020204030204" pitchFamily="34" charset="0"/>
              <a:ea typeface="굴림" panose="020B0600000101010101" pitchFamily="50" charset="-127"/>
            </a:endParaRPr>
          </a:p>
        </p:txBody>
      </p:sp>
      <p:cxnSp>
        <p:nvCxnSpPr>
          <p:cNvPr id="250" name="직선 연결선 249"/>
          <p:cNvCxnSpPr>
            <a:stCxn id="249" idx="1"/>
            <a:endCxn id="219" idx="3"/>
          </p:cNvCxnSpPr>
          <p:nvPr/>
        </p:nvCxnSpPr>
        <p:spPr>
          <a:xfrm flipH="1">
            <a:off x="9575422" y="2189073"/>
            <a:ext cx="318767" cy="285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모서리가 둥근 직사각형 250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186850" y="2240818"/>
            <a:ext cx="1550351" cy="41900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기능을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Service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로 설계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en-US" altLang="ko-KR" sz="1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신규 기능 추가 용이</a:t>
            </a:r>
            <a:endParaRPr lang="en-US" altLang="ko-KR" sz="1000" b="1" dirty="0" smtClean="0">
              <a:solidFill>
                <a:schemeClr val="tx1"/>
              </a:solidFill>
            </a:endParaRPr>
          </a:p>
        </p:txBody>
      </p:sp>
      <p:cxnSp>
        <p:nvCxnSpPr>
          <p:cNvPr id="253" name="직선 연결선 252"/>
          <p:cNvCxnSpPr>
            <a:stCxn id="73" idx="2"/>
            <a:endCxn id="147" idx="0"/>
          </p:cNvCxnSpPr>
          <p:nvPr/>
        </p:nvCxnSpPr>
        <p:spPr>
          <a:xfrm flipH="1">
            <a:off x="4300088" y="2659825"/>
            <a:ext cx="661938" cy="3368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51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DP-3. </a:t>
            </a:r>
            <a:r>
              <a:rPr lang="en-US" altLang="ko-KR" dirty="0" smtClean="0">
                <a:cs typeface="Times New Roman" panose="02020603050405020304" pitchFamily="18" charset="0"/>
              </a:rPr>
              <a:t>Idle </a:t>
            </a:r>
            <a:r>
              <a:rPr lang="en-US" altLang="ko-KR" dirty="0">
                <a:cs typeface="Times New Roman" panose="02020603050405020304" pitchFamily="18" charset="0"/>
              </a:rPr>
              <a:t>Power Saving</a:t>
            </a:r>
            <a:r>
              <a:rPr lang="ko-KR" altLang="en-US" dirty="0">
                <a:cs typeface="Times New Roman" panose="02020603050405020304" pitchFamily="18" charset="0"/>
              </a:rPr>
              <a:t> 방안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485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/>
              <a:t>Multi Core</a:t>
            </a:r>
            <a:r>
              <a:rPr lang="ko-KR" altLang="ko-KR" dirty="0"/>
              <a:t>가</a:t>
            </a:r>
            <a:r>
              <a:rPr lang="en-US" altLang="ko-KR" dirty="0"/>
              <a:t> Idle</a:t>
            </a:r>
            <a:r>
              <a:rPr lang="ko-KR" altLang="ko-KR" dirty="0"/>
              <a:t>시</a:t>
            </a:r>
            <a:r>
              <a:rPr lang="en-US" altLang="ko-KR" dirty="0"/>
              <a:t> Power Saving Mode</a:t>
            </a:r>
            <a:r>
              <a:rPr lang="ko-KR" altLang="ko-KR" dirty="0"/>
              <a:t>로 진입하는 방법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9578665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</a:rPr>
              <a:t>Q3 Idle</a:t>
            </a:r>
          </a:p>
          <a:p>
            <a:r>
              <a:rPr lang="ko-KR" altLang="en-US" sz="900" b="1" dirty="0" smtClean="0">
                <a:latin typeface="맑은 고딕" panose="020B0503020000020004" pitchFamily="50" charset="-127"/>
              </a:rPr>
              <a:t>파워 효율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193780" y="627572"/>
            <a:ext cx="700846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C4 Solvit CTRL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402430" y="627572"/>
            <a:ext cx="703526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C1 M</a:t>
            </a:r>
            <a:r>
              <a:rPr lang="en-US" altLang="ko-KR" sz="900" b="1" dirty="0" smtClean="0">
                <a:latin typeface="맑은 고딕" panose="020B0503020000020004" pitchFamily="50" charset="-127"/>
              </a:rPr>
              <a:t>any </a:t>
            </a:r>
            <a:r>
              <a:rPr lang="en-US" altLang="ko-KR" sz="900" b="1" dirty="0">
                <a:latin typeface="맑은 고딕" panose="020B0503020000020004" pitchFamily="50" charset="-127"/>
              </a:rPr>
              <a:t>Core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87" name="모서리가 둥근 직사각형 86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4949" y="1043579"/>
            <a:ext cx="11747501" cy="54334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248457" y="1108938"/>
            <a:ext cx="3742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Power Mode Change Sequence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7333" y="4047309"/>
            <a:ext cx="1575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총 </a:t>
            </a:r>
            <a:r>
              <a:rPr lang="en-US" altLang="ko-KR" sz="1400" dirty="0" smtClean="0"/>
              <a:t>20 ~ 27 Cycle</a:t>
            </a:r>
            <a:endParaRPr lang="ko-KR" altLang="en-US" sz="1400" dirty="0"/>
          </a:p>
        </p:txBody>
      </p:sp>
      <p:grpSp>
        <p:nvGrpSpPr>
          <p:cNvPr id="6" name="그룹 5"/>
          <p:cNvGrpSpPr/>
          <p:nvPr/>
        </p:nvGrpSpPr>
        <p:grpSpPr>
          <a:xfrm>
            <a:off x="1698612" y="1539224"/>
            <a:ext cx="8119710" cy="4739064"/>
            <a:chOff x="414690" y="1445290"/>
            <a:chExt cx="9204326" cy="5372100"/>
          </a:xfrm>
        </p:grpSpPr>
        <p:sp>
          <p:nvSpPr>
            <p:cNvPr id="99" name="직사각형 98"/>
            <p:cNvSpPr/>
            <p:nvPr/>
          </p:nvSpPr>
          <p:spPr>
            <a:xfrm>
              <a:off x="414690" y="1445290"/>
              <a:ext cx="12446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&lt;&lt;Core&gt;&gt;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Master Core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2472090" y="1445290"/>
              <a:ext cx="12446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&lt;&lt;HW IP&gt;&gt;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MPM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4529490" y="1445290"/>
              <a:ext cx="12446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&lt;&lt;HW IP&gt;&gt;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PWRMAN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586890" y="1445290"/>
              <a:ext cx="12446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&lt;&lt;Core&gt;&gt;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Slave Core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직선 연결선 103"/>
            <p:cNvCxnSpPr>
              <a:stCxn id="99" idx="2"/>
            </p:cNvCxnSpPr>
            <p:nvPr/>
          </p:nvCxnSpPr>
          <p:spPr>
            <a:xfrm>
              <a:off x="1036990" y="2054890"/>
              <a:ext cx="0" cy="47625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>
            <a:xfrm>
              <a:off x="3094390" y="2054890"/>
              <a:ext cx="0" cy="47625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>
            <a:xfrm>
              <a:off x="5164490" y="2054890"/>
              <a:ext cx="0" cy="47625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7209190" y="2054890"/>
              <a:ext cx="0" cy="47625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/>
            <p:cNvSpPr/>
            <p:nvPr/>
          </p:nvSpPr>
          <p:spPr>
            <a:xfrm>
              <a:off x="7101240" y="2258090"/>
              <a:ext cx="215900" cy="84455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7101240" y="3102640"/>
              <a:ext cx="215900" cy="261090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7101240" y="5723069"/>
              <a:ext cx="215900" cy="88017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11" name="직선 화살표 연결선 110"/>
            <p:cNvCxnSpPr/>
            <p:nvPr/>
          </p:nvCxnSpPr>
          <p:spPr>
            <a:xfrm flipH="1">
              <a:off x="5151790" y="3093115"/>
              <a:ext cx="1949450" cy="2460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/>
            <p:cNvCxnSpPr/>
            <p:nvPr/>
          </p:nvCxnSpPr>
          <p:spPr>
            <a:xfrm>
              <a:off x="5164490" y="3499713"/>
              <a:ext cx="1936750" cy="4250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/>
            <p:cNvCxnSpPr/>
            <p:nvPr/>
          </p:nvCxnSpPr>
          <p:spPr>
            <a:xfrm>
              <a:off x="1024291" y="4223613"/>
              <a:ext cx="2082800" cy="4250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화살표 연결선 113"/>
            <p:cNvCxnSpPr/>
            <p:nvPr/>
          </p:nvCxnSpPr>
          <p:spPr>
            <a:xfrm>
              <a:off x="3107091" y="4785294"/>
              <a:ext cx="2082800" cy="4250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/>
            <p:cNvCxnSpPr/>
            <p:nvPr/>
          </p:nvCxnSpPr>
          <p:spPr>
            <a:xfrm>
              <a:off x="5177191" y="5320889"/>
              <a:ext cx="1924049" cy="3926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7425090" y="2435503"/>
              <a:ext cx="444500" cy="296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/>
                <a:t>ISB</a:t>
              </a:r>
              <a:endParaRPr lang="ko-KR" altLang="en-US" sz="1100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25090" y="2825641"/>
              <a:ext cx="2193926" cy="296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/>
                <a:t>WFE (=Power Saving Mode)</a:t>
              </a:r>
              <a:endParaRPr lang="ko-KR" altLang="en-US" sz="11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990783" y="3102640"/>
              <a:ext cx="392907" cy="1918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/>
                <a:t>Sleep</a:t>
              </a:r>
              <a:endParaRPr lang="ko-KR" altLang="en-US" sz="1100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882436" y="3625237"/>
              <a:ext cx="621508" cy="1918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/>
                <a:t>CLK OFF</a:t>
              </a:r>
              <a:endParaRPr lang="ko-KR" altLang="en-US" sz="1100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593609" y="4343805"/>
              <a:ext cx="1050529" cy="1918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/>
                <a:t>Wakeup Event</a:t>
              </a:r>
              <a:endParaRPr lang="ko-KR" altLang="en-US" sz="1100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913800" y="4905487"/>
              <a:ext cx="615691" cy="1918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/>
                <a:t>Wakeup</a:t>
              </a:r>
              <a:endParaRPr lang="ko-KR" altLang="en-US" sz="1100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882436" y="5424883"/>
              <a:ext cx="621508" cy="1918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/>
                <a:t>CLK ON</a:t>
              </a:r>
              <a:endParaRPr lang="ko-KR" altLang="en-US" sz="1100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7540661" y="5978489"/>
              <a:ext cx="797560" cy="1918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/>
                <a:t>NOP x 16</a:t>
              </a:r>
              <a:endParaRPr lang="ko-KR" altLang="en-US" sz="1100" dirty="0"/>
            </a:p>
          </p:txBody>
        </p:sp>
      </p:grpSp>
      <p:cxnSp>
        <p:nvCxnSpPr>
          <p:cNvPr id="10" name="직선 연결선 9"/>
          <p:cNvCxnSpPr>
            <a:stCxn id="108" idx="0"/>
          </p:cNvCxnSpPr>
          <p:nvPr/>
        </p:nvCxnSpPr>
        <p:spPr>
          <a:xfrm>
            <a:off x="7692465" y="2256246"/>
            <a:ext cx="23744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7692465" y="6089374"/>
            <a:ext cx="23744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9938761" y="2256246"/>
            <a:ext cx="0" cy="383312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4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GB" altLang="ko-KR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DP-5. Command </a:t>
            </a:r>
            <a:r>
              <a:rPr lang="ko-KR" altLang="en-US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수행 시간 감소 방안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1" y="627926"/>
            <a:ext cx="5854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CMD </a:t>
            </a:r>
            <a:r>
              <a:rPr lang="ko-KR" altLang="ko-KR" dirty="0"/>
              <a:t>별 수행 시간 감소를 위한 </a:t>
            </a:r>
            <a:r>
              <a:rPr lang="en-US" altLang="ko-KR" dirty="0"/>
              <a:t>Master Scheduler</a:t>
            </a:r>
            <a:r>
              <a:rPr lang="ko-KR" altLang="ko-KR" dirty="0"/>
              <a:t>의 </a:t>
            </a:r>
            <a:r>
              <a:rPr lang="en-US" altLang="ko-KR" dirty="0"/>
              <a:t>Scheduling </a:t>
            </a:r>
            <a:r>
              <a:rPr lang="ko-KR" altLang="ko-KR" dirty="0"/>
              <a:t>기법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/>
          </p:nvPr>
        </p:nvGraphicFramePr>
        <p:xfrm>
          <a:off x="234950" y="1043173"/>
          <a:ext cx="11747500" cy="54719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3750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587375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</a:tblGrid>
              <a:tr h="367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(1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 Scheduler</a:t>
                      </a:r>
                      <a:r>
                        <a:rPr lang="ko-KR" altLang="en-US" sz="1200" b="1" dirty="0" smtClean="0"/>
                        <a:t>가 </a:t>
                      </a:r>
                      <a:r>
                        <a:rPr lang="en-US" altLang="ko-KR" sz="1200" b="1" dirty="0" smtClean="0"/>
                        <a:t>Task</a:t>
                      </a:r>
                      <a:r>
                        <a:rPr lang="ko-KR" altLang="en-US" sz="1200" b="1" dirty="0" smtClean="0"/>
                        <a:t>를 결정하여 </a:t>
                      </a:r>
                      <a:r>
                        <a:rPr lang="en-US" altLang="ko-KR" sz="1200" b="1" dirty="0" smtClean="0"/>
                        <a:t>Service</a:t>
                      </a:r>
                      <a:r>
                        <a:rPr lang="ko-KR" altLang="en-US" sz="1200" b="1" dirty="0" smtClean="0"/>
                        <a:t>를 수행하는 </a:t>
                      </a:r>
                      <a:r>
                        <a:rPr lang="en-US" altLang="ko-KR" sz="1200" b="1" dirty="0" smtClean="0"/>
                        <a:t>Task Scheduling </a:t>
                      </a:r>
                      <a:r>
                        <a:rPr lang="ko-KR" altLang="en-US" sz="1200" b="1" dirty="0" smtClean="0"/>
                        <a:t>기법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(2</a:t>
                      </a:r>
                      <a:r>
                        <a:rPr lang="ko-KR" altLang="en-US" sz="1200" b="1" dirty="0" smtClean="0"/>
                        <a:t>안</a:t>
                      </a:r>
                      <a:r>
                        <a:rPr lang="en-US" altLang="ko-KR" sz="1200" b="1" dirty="0" smtClean="0"/>
                        <a:t>)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en-US" altLang="ko-KR" sz="1200" b="1" dirty="0" smtClean="0"/>
                        <a:t>Message Queue </a:t>
                      </a:r>
                      <a:r>
                        <a:rPr lang="ko-KR" altLang="en-US" sz="1200" b="1" dirty="0" smtClean="0"/>
                        <a:t>선택에 따른 </a:t>
                      </a:r>
                      <a:r>
                        <a:rPr lang="en-US" altLang="ko-KR" sz="1200" b="1" dirty="0" smtClean="0"/>
                        <a:t>Service</a:t>
                      </a:r>
                      <a:r>
                        <a:rPr lang="ko-KR" altLang="en-US" sz="1200" b="1" dirty="0" smtClean="0"/>
                        <a:t>를 수행하는 </a:t>
                      </a:r>
                      <a:r>
                        <a:rPr lang="en-US" altLang="ko-KR" sz="1200" b="1" dirty="0" smtClean="0"/>
                        <a:t>Message Driven Scheduling </a:t>
                      </a:r>
                      <a:r>
                        <a:rPr lang="ko-KR" altLang="en-US" sz="1200" b="1" dirty="0" smtClean="0"/>
                        <a:t>기법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5014727"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</a:tbl>
          </a:graphicData>
        </a:graphic>
      </p:graphicFrame>
      <p:sp>
        <p:nvSpPr>
          <p:cNvPr id="16" name="모서리가 둥근 직사각형 15"/>
          <p:cNvSpPr/>
          <p:nvPr/>
        </p:nvSpPr>
        <p:spPr>
          <a:xfrm>
            <a:off x="8871578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F3 HPB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694364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Rnd. Read </a:t>
            </a:r>
            <a:r>
              <a:rPr lang="ko-KR" altLang="en-US" sz="900" b="1" dirty="0">
                <a:latin typeface="맑은 고딕" panose="020B0503020000020004" pitchFamily="50" charset="-127"/>
              </a:rPr>
              <a:t>성능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494621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C2 UFS Spec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261226" y="627572"/>
            <a:ext cx="633400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C5 </a:t>
            </a:r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준수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060057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F2 Turbo Write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248536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F1 Legacy UFS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2826460" y="2792990"/>
            <a:ext cx="1224061" cy="3828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Master Scheduler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4684159" y="2817833"/>
            <a:ext cx="1224061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Service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cxnSp>
        <p:nvCxnSpPr>
          <p:cNvPr id="148" name="직선 연결선 147"/>
          <p:cNvCxnSpPr>
            <a:stCxn id="138" idx="3"/>
            <a:endCxn id="143" idx="1"/>
          </p:cNvCxnSpPr>
          <p:nvPr/>
        </p:nvCxnSpPr>
        <p:spPr>
          <a:xfrm flipV="1">
            <a:off x="4050521" y="2983496"/>
            <a:ext cx="633638" cy="8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1925655" y="2781332"/>
            <a:ext cx="40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1.. *</a:t>
            </a:r>
            <a:endParaRPr lang="ko-KR" altLang="en-US" sz="800" dirty="0"/>
          </a:p>
        </p:txBody>
      </p:sp>
      <p:sp>
        <p:nvSpPr>
          <p:cNvPr id="158" name="TextBox 157"/>
          <p:cNvSpPr txBox="1"/>
          <p:nvPr/>
        </p:nvSpPr>
        <p:spPr>
          <a:xfrm>
            <a:off x="4002047" y="2782520"/>
            <a:ext cx="19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163" name="TextBox 162"/>
          <p:cNvSpPr txBox="1"/>
          <p:nvPr/>
        </p:nvSpPr>
        <p:spPr>
          <a:xfrm>
            <a:off x="4342425" y="2788870"/>
            <a:ext cx="4203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 .. *</a:t>
            </a:r>
            <a:endParaRPr lang="ko-KR" altLang="en-US" sz="800" dirty="0"/>
          </a:p>
        </p:txBody>
      </p:sp>
      <p:cxnSp>
        <p:nvCxnSpPr>
          <p:cNvPr id="168" name="직선 연결선 167"/>
          <p:cNvCxnSpPr>
            <a:endCxn id="192" idx="3"/>
          </p:cNvCxnSpPr>
          <p:nvPr/>
        </p:nvCxnSpPr>
        <p:spPr>
          <a:xfrm flipH="1" flipV="1">
            <a:off x="1949297" y="2965980"/>
            <a:ext cx="810413" cy="6660"/>
          </a:xfrm>
          <a:prstGeom prst="line">
            <a:avLst/>
          </a:prstGeom>
          <a:ln>
            <a:solidFill>
              <a:schemeClr val="tx1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2536625" y="2781332"/>
            <a:ext cx="174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188" name="직사각형 187"/>
          <p:cNvSpPr/>
          <p:nvPr/>
        </p:nvSpPr>
        <p:spPr>
          <a:xfrm>
            <a:off x="395108" y="3698000"/>
            <a:ext cx="1181893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External IO Task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1691098" y="3698000"/>
            <a:ext cx="1181893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/>
              <a:t>Meta Task</a:t>
            </a:r>
            <a:endParaRPr lang="ko-KR" altLang="en-US" sz="1000" b="1" dirty="0"/>
          </a:p>
        </p:txBody>
      </p:sp>
      <p:sp>
        <p:nvSpPr>
          <p:cNvPr id="190" name="직사각형 189"/>
          <p:cNvSpPr/>
          <p:nvPr/>
        </p:nvSpPr>
        <p:spPr>
          <a:xfrm>
            <a:off x="2988950" y="3698397"/>
            <a:ext cx="1181893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/>
              <a:t>GC Task</a:t>
            </a:r>
            <a:endParaRPr lang="ko-KR" altLang="en-US" sz="1000" b="1" dirty="0"/>
          </a:p>
        </p:txBody>
      </p:sp>
      <p:sp>
        <p:nvSpPr>
          <p:cNvPr id="191" name="TextBox 190"/>
          <p:cNvSpPr txBox="1"/>
          <p:nvPr/>
        </p:nvSpPr>
        <p:spPr>
          <a:xfrm>
            <a:off x="4129720" y="3036064"/>
            <a:ext cx="4803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 smtClean="0"/>
              <a:t>Task </a:t>
            </a:r>
            <a:r>
              <a:rPr lang="ko-KR" altLang="en-US" sz="700" dirty="0" smtClean="0"/>
              <a:t>▶</a:t>
            </a:r>
            <a:endParaRPr lang="ko-KR" altLang="en-US" sz="700" dirty="0"/>
          </a:p>
        </p:txBody>
      </p:sp>
      <p:sp>
        <p:nvSpPr>
          <p:cNvPr id="192" name="직사각형 191"/>
          <p:cNvSpPr/>
          <p:nvPr/>
        </p:nvSpPr>
        <p:spPr>
          <a:xfrm>
            <a:off x="767404" y="2800317"/>
            <a:ext cx="1181893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/>
              <a:t>Task</a:t>
            </a:r>
            <a:endParaRPr lang="ko-KR" altLang="en-US" sz="1000" b="1" dirty="0"/>
          </a:p>
        </p:txBody>
      </p:sp>
      <p:sp>
        <p:nvSpPr>
          <p:cNvPr id="193" name="이등변 삼각형 192"/>
          <p:cNvSpPr/>
          <p:nvPr/>
        </p:nvSpPr>
        <p:spPr>
          <a:xfrm>
            <a:off x="1263617" y="3143231"/>
            <a:ext cx="189469" cy="16916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 b="1">
              <a:solidFill>
                <a:schemeClr val="dk1"/>
              </a:solidFill>
            </a:endParaRPr>
          </a:p>
        </p:txBody>
      </p:sp>
      <p:cxnSp>
        <p:nvCxnSpPr>
          <p:cNvPr id="194" name="꺾인 연결선 193"/>
          <p:cNvCxnSpPr>
            <a:stCxn id="188" idx="0"/>
            <a:endCxn id="193" idx="3"/>
          </p:cNvCxnSpPr>
          <p:nvPr/>
        </p:nvCxnSpPr>
        <p:spPr>
          <a:xfrm rot="5400000" flipH="1" flipV="1">
            <a:off x="979400" y="3319049"/>
            <a:ext cx="385606" cy="37229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9" idx="0"/>
            <a:endCxn id="193" idx="3"/>
          </p:cNvCxnSpPr>
          <p:nvPr/>
        </p:nvCxnSpPr>
        <p:spPr>
          <a:xfrm rot="16200000" flipV="1">
            <a:off x="1627396" y="3043350"/>
            <a:ext cx="385606" cy="9236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꺾인 연결선 196"/>
          <p:cNvCxnSpPr>
            <a:stCxn id="190" idx="0"/>
            <a:endCxn id="193" idx="3"/>
          </p:cNvCxnSpPr>
          <p:nvPr/>
        </p:nvCxnSpPr>
        <p:spPr>
          <a:xfrm rot="16200000" flipV="1">
            <a:off x="2276124" y="2394623"/>
            <a:ext cx="386003" cy="222154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/>
          <p:cNvSpPr/>
          <p:nvPr/>
        </p:nvSpPr>
        <p:spPr>
          <a:xfrm>
            <a:off x="2830801" y="1903596"/>
            <a:ext cx="1224061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Message Queue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cxnSp>
        <p:nvCxnSpPr>
          <p:cNvPr id="199" name="직선 연결선 198"/>
          <p:cNvCxnSpPr>
            <a:stCxn id="198" idx="2"/>
            <a:endCxn id="138" idx="0"/>
          </p:cNvCxnSpPr>
          <p:nvPr/>
        </p:nvCxnSpPr>
        <p:spPr>
          <a:xfrm flipH="1">
            <a:off x="3438491" y="2234921"/>
            <a:ext cx="4341" cy="558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3403537" y="2219226"/>
            <a:ext cx="19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01" name="TextBox 200"/>
          <p:cNvSpPr txBox="1"/>
          <p:nvPr/>
        </p:nvSpPr>
        <p:spPr>
          <a:xfrm>
            <a:off x="3403537" y="2584873"/>
            <a:ext cx="19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02" name="TextBox 201"/>
          <p:cNvSpPr txBox="1"/>
          <p:nvPr/>
        </p:nvSpPr>
        <p:spPr>
          <a:xfrm rot="16200000">
            <a:off x="2989575" y="2380174"/>
            <a:ext cx="719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smtClean="0"/>
              <a:t>◀ </a:t>
            </a:r>
            <a:r>
              <a:rPr lang="en-US" altLang="ko-KR" sz="700" dirty="0" smtClean="0"/>
              <a:t>Message</a:t>
            </a:r>
            <a:endParaRPr lang="ko-KR" altLang="en-US" sz="700" dirty="0"/>
          </a:p>
        </p:txBody>
      </p:sp>
      <p:sp>
        <p:nvSpPr>
          <p:cNvPr id="203" name="직사각형 202"/>
          <p:cNvSpPr/>
          <p:nvPr/>
        </p:nvSpPr>
        <p:spPr>
          <a:xfrm>
            <a:off x="7533660" y="3271681"/>
            <a:ext cx="1224061" cy="374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Master</a:t>
            </a:r>
          </a:p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Scheduler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33660" y="2131918"/>
            <a:ext cx="1224061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Message Queue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9989665" y="3303431"/>
            <a:ext cx="1224061" cy="3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 smtClean="0">
                <a:solidFill>
                  <a:schemeClr val="dk1"/>
                </a:solidFill>
              </a:rPr>
              <a:t>Service</a:t>
            </a:r>
            <a:endParaRPr lang="ko-KR" altLang="en-US" sz="1000" b="1" dirty="0">
              <a:solidFill>
                <a:schemeClr val="dk1"/>
              </a:solidFill>
            </a:endParaRPr>
          </a:p>
        </p:txBody>
      </p:sp>
      <p:cxnSp>
        <p:nvCxnSpPr>
          <p:cNvPr id="206" name="직선 연결선 205"/>
          <p:cNvCxnSpPr>
            <a:stCxn id="203" idx="3"/>
            <a:endCxn id="205" idx="1"/>
          </p:cNvCxnSpPr>
          <p:nvPr/>
        </p:nvCxnSpPr>
        <p:spPr>
          <a:xfrm>
            <a:off x="8757721" y="3459154"/>
            <a:ext cx="1231944" cy="9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8709247" y="3247827"/>
            <a:ext cx="19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08" name="TextBox 207"/>
          <p:cNvSpPr txBox="1"/>
          <p:nvPr/>
        </p:nvSpPr>
        <p:spPr>
          <a:xfrm>
            <a:off x="9648860" y="3297693"/>
            <a:ext cx="40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1.. *</a:t>
            </a:r>
            <a:endParaRPr lang="ko-KR" altLang="en-US" sz="800" dirty="0"/>
          </a:p>
        </p:txBody>
      </p:sp>
      <p:cxnSp>
        <p:nvCxnSpPr>
          <p:cNvPr id="209" name="직선 연결선 208"/>
          <p:cNvCxnSpPr>
            <a:stCxn id="204" idx="2"/>
            <a:endCxn id="203" idx="0"/>
          </p:cNvCxnSpPr>
          <p:nvPr/>
        </p:nvCxnSpPr>
        <p:spPr>
          <a:xfrm>
            <a:off x="8145691" y="2463243"/>
            <a:ext cx="0" cy="808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8106396" y="2447548"/>
            <a:ext cx="19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11" name="TextBox 210"/>
          <p:cNvSpPr txBox="1"/>
          <p:nvPr/>
        </p:nvSpPr>
        <p:spPr>
          <a:xfrm>
            <a:off x="8106396" y="3096098"/>
            <a:ext cx="19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12" name="TextBox 211"/>
          <p:cNvSpPr txBox="1"/>
          <p:nvPr/>
        </p:nvSpPr>
        <p:spPr>
          <a:xfrm>
            <a:off x="9063195" y="3432387"/>
            <a:ext cx="6977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 smtClean="0"/>
              <a:t>Message </a:t>
            </a:r>
            <a:r>
              <a:rPr lang="ko-KR" altLang="en-US" sz="700" dirty="0" smtClean="0"/>
              <a:t>▶</a:t>
            </a:r>
            <a:endParaRPr lang="ko-KR" altLang="en-US" sz="700" dirty="0"/>
          </a:p>
        </p:txBody>
      </p:sp>
      <p:sp>
        <p:nvSpPr>
          <p:cNvPr id="213" name="TextBox 212"/>
          <p:cNvSpPr txBox="1"/>
          <p:nvPr/>
        </p:nvSpPr>
        <p:spPr>
          <a:xfrm rot="16200000">
            <a:off x="7703149" y="2733512"/>
            <a:ext cx="6977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smtClean="0"/>
              <a:t>◀ </a:t>
            </a:r>
            <a:r>
              <a:rPr lang="en-US" altLang="ko-KR" sz="700" dirty="0" smtClean="0"/>
              <a:t>Message</a:t>
            </a:r>
            <a:endParaRPr lang="ko-KR" altLang="en-US" sz="7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328433" y="4488037"/>
          <a:ext cx="5691367" cy="1972310"/>
        </p:xfrm>
        <a:graphic>
          <a:graphicData uri="http://schemas.openxmlformats.org/drawingml/2006/table">
            <a:tbl>
              <a:tblPr firstRow="1" firstCol="1" bandRow="1"/>
              <a:tblGrid>
                <a:gridCol w="1614667">
                  <a:extLst>
                    <a:ext uri="{9D8B030D-6E8A-4147-A177-3AD203B41FA5}">
                      <a16:colId xmlns:a16="http://schemas.microsoft.com/office/drawing/2014/main" val="2078363526"/>
                    </a:ext>
                  </a:extLst>
                </a:gridCol>
                <a:gridCol w="3019425">
                  <a:extLst>
                    <a:ext uri="{9D8B030D-6E8A-4147-A177-3AD203B41FA5}">
                      <a16:colId xmlns:a16="http://schemas.microsoft.com/office/drawing/2014/main" val="837294464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58910974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Module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Function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Time(ns)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12748"/>
                  </a:ext>
                </a:extLst>
              </a:tr>
              <a:tr h="20955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Master Scheduler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Check Message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43.316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625973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Run Host CMD Schedule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653.112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006197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Run Meta Schedule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39.992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957016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Run GC Schedule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46.648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867022"/>
                  </a:ext>
                </a:extLst>
              </a:tr>
              <a:tr h="20955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Message Queue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Latency Control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266.64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043371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Select Message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103.292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172764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Initialize External IO Task + Add List Tail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853.716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046492"/>
                  </a:ext>
                </a:extLst>
              </a:tr>
              <a:tr h="29591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Total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2006.716</a:t>
                      </a:r>
                      <a:endParaRPr lang="ko-KR" sz="1200" b="1" dirty="0">
                        <a:solidFill>
                          <a:srgbClr val="0033C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53664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6192343" y="4470051"/>
          <a:ext cx="5702283" cy="1990296"/>
        </p:xfrm>
        <a:graphic>
          <a:graphicData uri="http://schemas.openxmlformats.org/drawingml/2006/table">
            <a:tbl>
              <a:tblPr firstRow="1" firstCol="1" bandRow="1"/>
              <a:tblGrid>
                <a:gridCol w="1722932">
                  <a:extLst>
                    <a:ext uri="{9D8B030D-6E8A-4147-A177-3AD203B41FA5}">
                      <a16:colId xmlns:a16="http://schemas.microsoft.com/office/drawing/2014/main" val="65655507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597995226"/>
                    </a:ext>
                  </a:extLst>
                </a:gridCol>
                <a:gridCol w="1083751">
                  <a:extLst>
                    <a:ext uri="{9D8B030D-6E8A-4147-A177-3AD203B41FA5}">
                      <a16:colId xmlns:a16="http://schemas.microsoft.com/office/drawing/2014/main" val="1363308221"/>
                    </a:ext>
                  </a:extLst>
                </a:gridCol>
              </a:tblGrid>
              <a:tr h="259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Module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Function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Time(ns)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425280"/>
                  </a:ext>
                </a:extLst>
              </a:tr>
              <a:tr h="259912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Master Scheduler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Check Message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43.316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208095"/>
                  </a:ext>
                </a:extLst>
              </a:tr>
              <a:tr h="2599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Execute Service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16.541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45744"/>
                  </a:ext>
                </a:extLst>
              </a:tr>
              <a:tr h="259912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Message Queue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Latency Control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266.64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946347"/>
                  </a:ext>
                </a:extLst>
              </a:tr>
              <a:tr h="2599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Select Message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103.292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73770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Service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Initialize Entry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478.45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963449"/>
                  </a:ext>
                </a:extLst>
              </a:tr>
              <a:tr h="43082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Total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708.239</a:t>
                      </a:r>
                      <a:endParaRPr lang="ko-KR" sz="1200" b="1" dirty="0">
                        <a:solidFill>
                          <a:srgbClr val="0033C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596085"/>
                  </a:ext>
                </a:extLst>
              </a:tr>
            </a:tbl>
          </a:graphicData>
        </a:graphic>
      </p:graphicFrame>
      <p:sp>
        <p:nvSpPr>
          <p:cNvPr id="214" name="TextBox 213"/>
          <p:cNvSpPr txBox="1"/>
          <p:nvPr/>
        </p:nvSpPr>
        <p:spPr>
          <a:xfrm>
            <a:off x="248457" y="1516274"/>
            <a:ext cx="255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Class Diagram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(Conceptual)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115453" y="1516274"/>
            <a:ext cx="255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Class Diagram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(Conceptual)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48457" y="4144906"/>
            <a:ext cx="255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Scheduling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시간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(Prototype)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6115453" y="4144906"/>
            <a:ext cx="255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>
                <a:solidFill>
                  <a:schemeClr val="accent5">
                    <a:lumMod val="50000"/>
                  </a:schemeClr>
                </a:solidFill>
              </a:rPr>
              <a:t>Scheduling </a:t>
            </a:r>
            <a:r>
              <a:rPr lang="ko-KR" altLang="en-US" sz="1400" b="1" u="sng" dirty="0">
                <a:solidFill>
                  <a:schemeClr val="accent5">
                    <a:lumMod val="50000"/>
                  </a:schemeClr>
                </a:solidFill>
              </a:rPr>
              <a:t>시간 </a:t>
            </a:r>
            <a:r>
              <a:rPr lang="en-US" altLang="ko-KR" sz="1400" b="1" u="sng" dirty="0">
                <a:solidFill>
                  <a:schemeClr val="accent5">
                    <a:lumMod val="50000"/>
                  </a:schemeClr>
                </a:solidFill>
              </a:rPr>
              <a:t>(Prototype)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9" name="모서리가 둥근 직사각형 218">
            <a:hlinkClick r:id="rId3" action="ppaction://hlinksldjump"/>
          </p:cNvPr>
          <p:cNvSpPr/>
          <p:nvPr/>
        </p:nvSpPr>
        <p:spPr>
          <a:xfrm>
            <a:off x="5536276" y="174753"/>
            <a:ext cx="897340" cy="28637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◀ </a:t>
            </a:r>
            <a:r>
              <a:rPr lang="en-US" altLang="ko-KR" sz="12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</a:t>
            </a:r>
            <a:endParaRPr lang="ko-KR" alt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87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핵심 </a:t>
            </a:r>
            <a:r>
              <a:rPr lang="en-US" altLang="ko-KR" dirty="0" smtClean="0"/>
              <a:t>Quality Attribute </a:t>
            </a:r>
            <a:r>
              <a:rPr lang="ko-KR" altLang="en-US" dirty="0" smtClean="0"/>
              <a:t>만족 여부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1484119" y="598201"/>
            <a:ext cx="1260920" cy="4512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QA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2791490" y="598201"/>
            <a:ext cx="1301946" cy="4512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Attribute Refinement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4139887" y="598201"/>
            <a:ext cx="4585013" cy="4418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검증 </a:t>
            </a:r>
            <a:r>
              <a:rPr lang="en-US" altLang="ko-KR" sz="1400" b="1" dirty="0" smtClean="0"/>
              <a:t>Scenario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66509" y="1098267"/>
            <a:ext cx="1139250" cy="10410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29" name="직사각형 28"/>
          <p:cNvSpPr/>
          <p:nvPr/>
        </p:nvSpPr>
        <p:spPr>
          <a:xfrm>
            <a:off x="501317" y="1098267"/>
            <a:ext cx="904441" cy="1041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536439" y="1138693"/>
            <a:ext cx="834199" cy="96018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QA1</a:t>
            </a:r>
            <a:endParaRPr lang="ko-KR" altLang="en-US" sz="1400" b="1" dirty="0"/>
          </a:p>
        </p:txBody>
      </p:sp>
      <p:sp>
        <p:nvSpPr>
          <p:cNvPr id="46" name="직사각형 45"/>
          <p:cNvSpPr/>
          <p:nvPr/>
        </p:nvSpPr>
        <p:spPr>
          <a:xfrm>
            <a:off x="1484119" y="1098267"/>
            <a:ext cx="1260920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Performance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791490" y="1098267"/>
            <a:ext cx="1301946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Sequential Write </a:t>
            </a:r>
            <a:r>
              <a:rPr lang="ko-KR" altLang="en-US" sz="1400" dirty="0" smtClean="0">
                <a:solidFill>
                  <a:schemeClr val="tx1"/>
                </a:solidFill>
              </a:rPr>
              <a:t>성능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39888" y="1098267"/>
            <a:ext cx="4585012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512KB Chunk 1GB Range Sequential Write (QD2) </a:t>
            </a:r>
            <a:r>
              <a:rPr lang="ko-KR" altLang="en-US" sz="1400" dirty="0">
                <a:solidFill>
                  <a:schemeClr val="tx1"/>
                </a:solidFill>
              </a:rPr>
              <a:t>수행 시 성능은 </a:t>
            </a:r>
            <a:r>
              <a:rPr lang="en-US" altLang="ko-KR" sz="1400" dirty="0">
                <a:solidFill>
                  <a:schemeClr val="tx1"/>
                </a:solidFill>
              </a:rPr>
              <a:t>512GB TLC UFS </a:t>
            </a:r>
            <a:r>
              <a:rPr lang="ko-KR" altLang="en-US" sz="1400" dirty="0">
                <a:solidFill>
                  <a:schemeClr val="tx1"/>
                </a:solidFill>
              </a:rPr>
              <a:t>기준 </a:t>
            </a:r>
            <a:r>
              <a:rPr lang="en-US" altLang="ko-KR" sz="1400" dirty="0">
                <a:solidFill>
                  <a:schemeClr val="tx1"/>
                </a:solidFill>
              </a:rPr>
              <a:t>Turbo Write 1600MB/s, 256GB QLC UFS </a:t>
            </a:r>
            <a:r>
              <a:rPr lang="ko-KR" altLang="en-US" sz="1400" dirty="0">
                <a:solidFill>
                  <a:schemeClr val="tx1"/>
                </a:solidFill>
              </a:rPr>
              <a:t>기준 </a:t>
            </a:r>
            <a:r>
              <a:rPr lang="en-US" altLang="ko-KR" sz="1400" dirty="0">
                <a:solidFill>
                  <a:schemeClr val="tx1"/>
                </a:solidFill>
              </a:rPr>
              <a:t>Turbo Write 400MB/s </a:t>
            </a:r>
            <a:r>
              <a:rPr lang="ko-KR" altLang="en-US" sz="1400" dirty="0">
                <a:solidFill>
                  <a:schemeClr val="tx1"/>
                </a:solidFill>
              </a:rPr>
              <a:t>이상을 만족해야 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66509" y="2166497"/>
            <a:ext cx="1139250" cy="10410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32" name="직사각형 31"/>
          <p:cNvSpPr/>
          <p:nvPr/>
        </p:nvSpPr>
        <p:spPr>
          <a:xfrm>
            <a:off x="501317" y="2166497"/>
            <a:ext cx="904441" cy="1041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536439" y="2206920"/>
            <a:ext cx="834199" cy="96018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QA2</a:t>
            </a:r>
            <a:endParaRPr lang="ko-KR" altLang="en-US" sz="1400" b="1" dirty="0"/>
          </a:p>
        </p:txBody>
      </p:sp>
      <p:sp>
        <p:nvSpPr>
          <p:cNvPr id="49" name="직사각형 48"/>
          <p:cNvSpPr/>
          <p:nvPr/>
        </p:nvSpPr>
        <p:spPr>
          <a:xfrm>
            <a:off x="1484119" y="2188094"/>
            <a:ext cx="1260920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Performance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791490" y="2188094"/>
            <a:ext cx="1301946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Random Read </a:t>
            </a:r>
            <a:r>
              <a:rPr lang="ko-KR" altLang="en-US" sz="1400" dirty="0" smtClean="0">
                <a:solidFill>
                  <a:schemeClr val="tx1"/>
                </a:solidFill>
              </a:rPr>
              <a:t>성능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139888" y="2188094"/>
            <a:ext cx="4585012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4KB Chunk 1GB Range Random Read (QD32) </a:t>
            </a:r>
            <a:r>
              <a:rPr lang="ko-KR" altLang="en-US" sz="1400" dirty="0">
                <a:solidFill>
                  <a:schemeClr val="tx1"/>
                </a:solidFill>
              </a:rPr>
              <a:t>수행 시 성능은 </a:t>
            </a:r>
            <a:r>
              <a:rPr lang="en-US" altLang="ko-KR" sz="1400" dirty="0">
                <a:solidFill>
                  <a:schemeClr val="tx1"/>
                </a:solidFill>
              </a:rPr>
              <a:t>512GB TLC UFS </a:t>
            </a:r>
            <a:r>
              <a:rPr lang="ko-KR" altLang="en-US" sz="1400" dirty="0">
                <a:solidFill>
                  <a:schemeClr val="tx1"/>
                </a:solidFill>
              </a:rPr>
              <a:t>기준 </a:t>
            </a:r>
            <a:r>
              <a:rPr lang="en-US" altLang="ko-KR" sz="1400" dirty="0">
                <a:solidFill>
                  <a:schemeClr val="tx1"/>
                </a:solidFill>
              </a:rPr>
              <a:t>350KIOPS, 256GB QLC UFS </a:t>
            </a:r>
            <a:r>
              <a:rPr lang="ko-KR" altLang="en-US" sz="1400" dirty="0">
                <a:solidFill>
                  <a:schemeClr val="tx1"/>
                </a:solidFill>
              </a:rPr>
              <a:t>기준 </a:t>
            </a:r>
            <a:r>
              <a:rPr lang="en-US" altLang="ko-KR" sz="1400" dirty="0">
                <a:solidFill>
                  <a:schemeClr val="tx1"/>
                </a:solidFill>
              </a:rPr>
              <a:t>35KIOPS </a:t>
            </a:r>
            <a:r>
              <a:rPr lang="ko-KR" altLang="en-US" sz="1400" dirty="0">
                <a:solidFill>
                  <a:schemeClr val="tx1"/>
                </a:solidFill>
              </a:rPr>
              <a:t>이상을 만족해야 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66509" y="3275150"/>
            <a:ext cx="1139250" cy="10410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35" name="직사각형 34"/>
          <p:cNvSpPr/>
          <p:nvPr/>
        </p:nvSpPr>
        <p:spPr>
          <a:xfrm>
            <a:off x="501317" y="3275150"/>
            <a:ext cx="904441" cy="1041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536439" y="3315575"/>
            <a:ext cx="834199" cy="96018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QA3</a:t>
            </a:r>
            <a:endParaRPr lang="ko-KR" altLang="en-US" sz="1400" b="1" dirty="0"/>
          </a:p>
        </p:txBody>
      </p:sp>
      <p:sp>
        <p:nvSpPr>
          <p:cNvPr id="52" name="직사각형 51"/>
          <p:cNvSpPr/>
          <p:nvPr/>
        </p:nvSpPr>
        <p:spPr>
          <a:xfrm>
            <a:off x="1484119" y="3287335"/>
            <a:ext cx="1260920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Performance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791490" y="3287335"/>
            <a:ext cx="1301946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Idle Power Efficiency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139888" y="3287335"/>
            <a:ext cx="4585012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Host Device</a:t>
            </a:r>
            <a:r>
              <a:rPr lang="ko-KR" altLang="en-US" sz="1400" dirty="0">
                <a:solidFill>
                  <a:schemeClr val="tx1"/>
                </a:solidFill>
              </a:rPr>
              <a:t>의 파워 소비를 감소시키기 위해 </a:t>
            </a:r>
            <a:r>
              <a:rPr lang="en-US" altLang="ko-KR" sz="1400" dirty="0">
                <a:solidFill>
                  <a:schemeClr val="tx1"/>
                </a:solidFill>
              </a:rPr>
              <a:t>UFS System</a:t>
            </a:r>
            <a:r>
              <a:rPr lang="ko-KR" altLang="en-US" sz="1400" dirty="0">
                <a:solidFill>
                  <a:schemeClr val="tx1"/>
                </a:solidFill>
              </a:rPr>
              <a:t>의 파워 소비가 </a:t>
            </a:r>
            <a:r>
              <a:rPr lang="en-US" altLang="ko-KR" sz="1400" dirty="0">
                <a:solidFill>
                  <a:schemeClr val="tx1"/>
                </a:solidFill>
              </a:rPr>
              <a:t>Command Idle 170mA / Hibernation 430uA </a:t>
            </a:r>
            <a:r>
              <a:rPr lang="ko-KR" altLang="en-US" sz="1400" dirty="0">
                <a:solidFill>
                  <a:schemeClr val="tx1"/>
                </a:solidFill>
              </a:rPr>
              <a:t>이하여야 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6509" y="4383805"/>
            <a:ext cx="1139250" cy="10410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38" name="직사각형 37"/>
          <p:cNvSpPr/>
          <p:nvPr/>
        </p:nvSpPr>
        <p:spPr>
          <a:xfrm>
            <a:off x="501317" y="4383805"/>
            <a:ext cx="904441" cy="1041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536439" y="4424230"/>
            <a:ext cx="834199" cy="96018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QA4</a:t>
            </a:r>
            <a:endParaRPr lang="ko-KR" altLang="en-US" sz="1400" b="1" dirty="0"/>
          </a:p>
        </p:txBody>
      </p:sp>
      <p:sp>
        <p:nvSpPr>
          <p:cNvPr id="55" name="직사각형 54"/>
          <p:cNvSpPr/>
          <p:nvPr/>
        </p:nvSpPr>
        <p:spPr>
          <a:xfrm>
            <a:off x="1484119" y="4383805"/>
            <a:ext cx="1260920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Modifiability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791490" y="4383805"/>
            <a:ext cx="1301946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NAND 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 용이성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139888" y="4383805"/>
            <a:ext cx="4585012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NAND Flash </a:t>
            </a:r>
            <a:r>
              <a:rPr lang="ko-KR" altLang="en-US" sz="1400" dirty="0">
                <a:solidFill>
                  <a:schemeClr val="tx1"/>
                </a:solidFill>
              </a:rPr>
              <a:t>적용에 대한 </a:t>
            </a:r>
            <a:r>
              <a:rPr lang="en-US" altLang="ko-KR" sz="1400" dirty="0">
                <a:solidFill>
                  <a:schemeClr val="tx1"/>
                </a:solidFill>
              </a:rPr>
              <a:t>SW </a:t>
            </a:r>
            <a:r>
              <a:rPr lang="ko-KR" altLang="en-US" sz="1400" dirty="0">
                <a:solidFill>
                  <a:schemeClr val="tx1"/>
                </a:solidFill>
              </a:rPr>
              <a:t>변경이 용이해야 한다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66509" y="5470861"/>
            <a:ext cx="1139250" cy="10410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 smtClean="0"/>
          </a:p>
        </p:txBody>
      </p:sp>
      <p:sp>
        <p:nvSpPr>
          <p:cNvPr id="41" name="직사각형 40"/>
          <p:cNvSpPr/>
          <p:nvPr/>
        </p:nvSpPr>
        <p:spPr>
          <a:xfrm>
            <a:off x="501317" y="5470861"/>
            <a:ext cx="904441" cy="1041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36439" y="5511288"/>
            <a:ext cx="834199" cy="96018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 smtClean="0"/>
              <a:t>QA5</a:t>
            </a:r>
            <a:endParaRPr lang="ko-KR" altLang="en-US" sz="1400" b="1" dirty="0"/>
          </a:p>
        </p:txBody>
      </p:sp>
      <p:sp>
        <p:nvSpPr>
          <p:cNvPr id="58" name="직사각형 57"/>
          <p:cNvSpPr/>
          <p:nvPr/>
        </p:nvSpPr>
        <p:spPr>
          <a:xfrm>
            <a:off x="1484119" y="5479407"/>
            <a:ext cx="1260920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Modifiability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791490" y="5479407"/>
            <a:ext cx="1301946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신규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기능 변경 용이성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139888" y="5479407"/>
            <a:ext cx="4585012" cy="104103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비 표준화 기술 개발 시 </a:t>
            </a:r>
            <a:r>
              <a:rPr lang="en-US" altLang="ko-KR" sz="1400" dirty="0" smtClean="0">
                <a:solidFill>
                  <a:schemeClr val="tx1"/>
                </a:solidFill>
              </a:rPr>
              <a:t>SW 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변경이 용이해야 한다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</a:p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>
            <p:extLst/>
          </p:nvPr>
        </p:nvGraphicFramePr>
        <p:xfrm>
          <a:off x="8836351" y="1138690"/>
          <a:ext cx="3121377" cy="3143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166">
                  <a:extLst>
                    <a:ext uri="{9D8B030D-6E8A-4147-A177-3AD203B41FA5}">
                      <a16:colId xmlns:a16="http://schemas.microsoft.com/office/drawing/2014/main" val="1763703198"/>
                    </a:ext>
                  </a:extLst>
                </a:gridCol>
                <a:gridCol w="979467">
                  <a:extLst>
                    <a:ext uri="{9D8B030D-6E8A-4147-A177-3AD203B41FA5}">
                      <a16:colId xmlns:a16="http://schemas.microsoft.com/office/drawing/2014/main" val="2191293009"/>
                    </a:ext>
                  </a:extLst>
                </a:gridCol>
                <a:gridCol w="950744">
                  <a:extLst>
                    <a:ext uri="{9D8B030D-6E8A-4147-A177-3AD203B41FA5}">
                      <a16:colId xmlns:a16="http://schemas.microsoft.com/office/drawing/2014/main" val="3318705210"/>
                    </a:ext>
                  </a:extLst>
                </a:gridCol>
              </a:tblGrid>
              <a:tr h="3921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항목</a:t>
                      </a:r>
                      <a:endParaRPr lang="ko-KR" altLang="en-US" sz="10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Condition</a:t>
                      </a:r>
                      <a:endParaRPr lang="ko-KR" altLang="en-US" sz="10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현재</a:t>
                      </a:r>
                      <a:endParaRPr lang="ko-KR" altLang="en-US" sz="1000" b="1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093773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Seq. Write (MB/s)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2 (HSG4)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1928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88599024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/>
                        <a:t>Seq. Read (MB/s)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2 (HSG4)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2093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93210671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Random</a:t>
                      </a:r>
                      <a:r>
                        <a:rPr lang="en-US" altLang="ko-KR" sz="1000" baseline="0" dirty="0" smtClean="0"/>
                        <a:t> Write (KIOPS)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8 (HSG4)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123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3167691027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Random</a:t>
                      </a:r>
                      <a:r>
                        <a:rPr lang="en-US" altLang="ko-KR" sz="1000" baseline="0" dirty="0" smtClean="0"/>
                        <a:t> Read (KIOPS)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32 (HSG4)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372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787631428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Power (mA)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/>
                        <a:t>Active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551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144999009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Power (mA)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Idle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70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983621631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Power (mA)</a:t>
                      </a:r>
                      <a:endParaRPr lang="ko-KR" altLang="en-US" sz="1000" dirty="0"/>
                    </a:p>
                  </a:txBody>
                  <a:tcPr marL="90661" marR="90661" marT="45331" marB="4533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Hibernation</a:t>
                      </a:r>
                      <a:endParaRPr lang="ko-KR" altLang="en-US" sz="1000" dirty="0"/>
                    </a:p>
                  </a:txBody>
                  <a:tcPr marL="90661" marR="90661" marT="45331" marB="4533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</a:rPr>
                        <a:t>0.4</a:t>
                      </a:r>
                      <a:endParaRPr lang="ko-KR" altLang="en-US" sz="1000" b="1" dirty="0">
                        <a:solidFill>
                          <a:srgbClr val="0033CC"/>
                        </a:solidFill>
                      </a:endParaRPr>
                    </a:p>
                  </a:txBody>
                  <a:tcPr marL="90661" marR="90661" marT="45331" marB="45331"/>
                </a:tc>
                <a:extLst>
                  <a:ext uri="{0D108BD9-81ED-4DB2-BD59-A6C34878D82A}">
                    <a16:rowId xmlns:a16="http://schemas.microsoft.com/office/drawing/2014/main" val="2458920691"/>
                  </a:ext>
                </a:extLst>
              </a:tr>
            </a:tbl>
          </a:graphicData>
        </a:graphic>
      </p:graphicFrame>
      <p:sp>
        <p:nvSpPr>
          <p:cNvPr id="72" name="직사각형 71"/>
          <p:cNvSpPr/>
          <p:nvPr/>
        </p:nvSpPr>
        <p:spPr>
          <a:xfrm>
            <a:off x="8771351" y="1098267"/>
            <a:ext cx="3237653" cy="3230103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771351" y="598201"/>
            <a:ext cx="3237653" cy="4418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검증</a:t>
            </a:r>
            <a:endParaRPr lang="en-US" altLang="ko-KR" sz="1400" b="1" dirty="0" smtClean="0"/>
          </a:p>
        </p:txBody>
      </p:sp>
      <p:sp>
        <p:nvSpPr>
          <p:cNvPr id="74" name="직사각형 73"/>
          <p:cNvSpPr/>
          <p:nvPr/>
        </p:nvSpPr>
        <p:spPr>
          <a:xfrm>
            <a:off x="8771351" y="4383805"/>
            <a:ext cx="3237653" cy="2136637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85" name="그림 84"/>
          <p:cNvPicPr/>
          <p:nvPr/>
        </p:nvPicPr>
        <p:blipFill rotWithShape="1">
          <a:blip r:embed="rId2"/>
          <a:srcRect r="15449"/>
          <a:stretch/>
        </p:blipFill>
        <p:spPr>
          <a:xfrm>
            <a:off x="10571074" y="4424229"/>
            <a:ext cx="1392325" cy="960183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825" y="4420499"/>
            <a:ext cx="1679249" cy="976027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4"/>
          <a:srcRect l="61451" t="14156"/>
          <a:stretch/>
        </p:blipFill>
        <p:spPr>
          <a:xfrm>
            <a:off x="9537106" y="5424835"/>
            <a:ext cx="1993332" cy="1046635"/>
          </a:xfrm>
          <a:prstGeom prst="rect">
            <a:avLst/>
          </a:prstGeom>
        </p:spPr>
      </p:pic>
      <p:sp>
        <p:nvSpPr>
          <p:cNvPr id="91" name="직사각형 90"/>
          <p:cNvSpPr/>
          <p:nvPr/>
        </p:nvSpPr>
        <p:spPr>
          <a:xfrm>
            <a:off x="8893154" y="1181422"/>
            <a:ext cx="2994046" cy="874724"/>
          </a:xfrm>
          <a:prstGeom prst="rect">
            <a:avLst/>
          </a:prstGeom>
          <a:solidFill>
            <a:schemeClr val="accent5">
              <a:lumMod val="50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/>
              <a:t>만족</a:t>
            </a:r>
            <a:endParaRPr lang="ko-KR" altLang="en-US" sz="2800" dirty="0"/>
          </a:p>
        </p:txBody>
      </p:sp>
      <p:sp>
        <p:nvSpPr>
          <p:cNvPr id="92" name="직사각형 91"/>
          <p:cNvSpPr/>
          <p:nvPr/>
        </p:nvSpPr>
        <p:spPr>
          <a:xfrm>
            <a:off x="8893154" y="2222452"/>
            <a:ext cx="2994046" cy="874724"/>
          </a:xfrm>
          <a:prstGeom prst="rect">
            <a:avLst/>
          </a:prstGeom>
          <a:solidFill>
            <a:schemeClr val="accent5">
              <a:lumMod val="50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mtClean="0"/>
              <a:t>만족</a:t>
            </a:r>
            <a:endParaRPr lang="ko-KR" altLang="en-US" sz="2800"/>
          </a:p>
        </p:txBody>
      </p:sp>
      <p:sp>
        <p:nvSpPr>
          <p:cNvPr id="93" name="직사각형 92"/>
          <p:cNvSpPr/>
          <p:nvPr/>
        </p:nvSpPr>
        <p:spPr>
          <a:xfrm>
            <a:off x="8893154" y="3358304"/>
            <a:ext cx="2994046" cy="874724"/>
          </a:xfrm>
          <a:prstGeom prst="rect">
            <a:avLst/>
          </a:prstGeom>
          <a:solidFill>
            <a:schemeClr val="accent5">
              <a:lumMod val="50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mtClean="0"/>
              <a:t>만족</a:t>
            </a:r>
            <a:endParaRPr lang="ko-KR" altLang="en-US" sz="2800"/>
          </a:p>
        </p:txBody>
      </p:sp>
      <p:sp>
        <p:nvSpPr>
          <p:cNvPr id="94" name="직사각형 93"/>
          <p:cNvSpPr/>
          <p:nvPr/>
        </p:nvSpPr>
        <p:spPr>
          <a:xfrm>
            <a:off x="8893154" y="4466958"/>
            <a:ext cx="2994046" cy="874724"/>
          </a:xfrm>
          <a:prstGeom prst="rect">
            <a:avLst/>
          </a:prstGeom>
          <a:solidFill>
            <a:schemeClr val="accent5">
              <a:lumMod val="50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mtClean="0"/>
              <a:t>만족</a:t>
            </a:r>
            <a:endParaRPr lang="ko-KR" altLang="en-US" sz="2800"/>
          </a:p>
        </p:txBody>
      </p:sp>
      <p:sp>
        <p:nvSpPr>
          <p:cNvPr id="95" name="직사각형 94"/>
          <p:cNvSpPr/>
          <p:nvPr/>
        </p:nvSpPr>
        <p:spPr>
          <a:xfrm>
            <a:off x="8893154" y="5527920"/>
            <a:ext cx="2994046" cy="874724"/>
          </a:xfrm>
          <a:prstGeom prst="rect">
            <a:avLst/>
          </a:prstGeom>
          <a:solidFill>
            <a:schemeClr val="accent5">
              <a:lumMod val="50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mtClean="0"/>
              <a:t>만족</a:t>
            </a:r>
            <a:endParaRPr lang="ko-KR" altLang="en-US" sz="2800"/>
          </a:p>
        </p:txBody>
      </p:sp>
      <p:sp>
        <p:nvSpPr>
          <p:cNvPr id="6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537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ko-KR" altLang="en-US" dirty="0" smtClean="0"/>
              <a:t>구현 및 검증 </a:t>
            </a:r>
            <a:r>
              <a:rPr lang="en-US" altLang="ko-KR" dirty="0" smtClean="0"/>
              <a:t>– Simulator </a:t>
            </a:r>
            <a:r>
              <a:rPr lang="ko-KR" altLang="en-US" dirty="0" smtClean="0"/>
              <a:t>종류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234950" y="629838"/>
            <a:ext cx="11774486" cy="73866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11200" y="629837"/>
            <a:ext cx="112982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하드웨어 에뮬레이터를 이용한 </a:t>
            </a:r>
            <a:r>
              <a:rPr lang="en-US" altLang="ko-KR" sz="1400" dirty="0" smtClean="0"/>
              <a:t>Virtual Platform</a:t>
            </a:r>
            <a:r>
              <a:rPr lang="ko-KR" altLang="en-US" sz="1400" dirty="0" smtClean="0"/>
              <a:t>으로 컨트롤러와 </a:t>
            </a:r>
            <a:r>
              <a:rPr lang="en-US" altLang="ko-KR" sz="1400" dirty="0" smtClean="0"/>
              <a:t>NAND Flash</a:t>
            </a:r>
            <a:r>
              <a:rPr lang="ko-KR" altLang="en-US" sz="1400" dirty="0" smtClean="0"/>
              <a:t>를 에뮬레이</a:t>
            </a:r>
            <a:r>
              <a:rPr lang="ko-KR" altLang="en-US" sz="1400" dirty="0"/>
              <a:t>션</a:t>
            </a:r>
            <a:r>
              <a:rPr lang="ko-KR" altLang="en-US" sz="1400" dirty="0" smtClean="0"/>
              <a:t>을 하여 </a:t>
            </a:r>
            <a:r>
              <a:rPr lang="en-US" altLang="ko-KR" sz="1400" dirty="0" smtClean="0"/>
              <a:t>Software</a:t>
            </a:r>
            <a:r>
              <a:rPr lang="ko-KR" altLang="en-US" sz="1400" dirty="0" smtClean="0"/>
              <a:t>의 동작을 확인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en-US" altLang="ko-KR" sz="1400" dirty="0" smtClean="0"/>
              <a:t>SW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HW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Co-development &amp; Performance Verification</a:t>
            </a:r>
            <a:r>
              <a:rPr lang="ko-KR" altLang="en-US" sz="1400" dirty="0" smtClean="0"/>
              <a:t>을 목적으로 하며 실제 </a:t>
            </a:r>
            <a:r>
              <a:rPr lang="en-US" altLang="ko-KR" sz="1400" dirty="0" smtClean="0"/>
              <a:t>Package </a:t>
            </a:r>
            <a:r>
              <a:rPr lang="ko-KR" altLang="en-US" sz="1400" dirty="0" smtClean="0"/>
              <a:t>성능과 오차 없이 동작 확인이 가능</a:t>
            </a:r>
            <a:endParaRPr lang="ko-KR" altLang="en-US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234950" y="1422400"/>
            <a:ext cx="11774486" cy="5054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57" y="1796929"/>
            <a:ext cx="5448353" cy="28263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5257" y="1489151"/>
            <a:ext cx="5448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err="1" smtClean="0">
                <a:solidFill>
                  <a:schemeClr val="accent5">
                    <a:lumMod val="50000"/>
                  </a:schemeClr>
                </a:solidFill>
              </a:rPr>
              <a:t>Candence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 Palladium XP (PXP)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12707" y="767815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512707" y="1084954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000" y="1796928"/>
            <a:ext cx="5093248" cy="28191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91000" y="1489151"/>
            <a:ext cx="5093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Mentor </a:t>
            </a:r>
            <a:r>
              <a:rPr lang="en-US" altLang="ko-KR" sz="1400" b="1" u="sng" dirty="0" err="1" smtClean="0">
                <a:solidFill>
                  <a:schemeClr val="accent5">
                    <a:lumMod val="50000"/>
                  </a:schemeClr>
                </a:solidFill>
              </a:rPr>
              <a:t>Veloce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 Emulation Platform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600560" y="5209059"/>
            <a:ext cx="11043265" cy="1191745"/>
            <a:chOff x="40905" y="2120024"/>
            <a:chExt cx="11043265" cy="1191745"/>
          </a:xfrm>
        </p:grpSpPr>
        <p:sp>
          <p:nvSpPr>
            <p:cNvPr id="19" name="직사각형 18"/>
            <p:cNvSpPr/>
            <p:nvPr/>
          </p:nvSpPr>
          <p:spPr>
            <a:xfrm>
              <a:off x="46767" y="2401887"/>
              <a:ext cx="11037403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34949" y="2403475"/>
              <a:ext cx="709613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Check IPC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131887" y="2403475"/>
              <a:ext cx="2346326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Create Task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234949" y="2619375"/>
              <a:ext cx="709613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33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131886" y="2619375"/>
              <a:ext cx="2346327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1430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222374" y="2835275"/>
              <a:ext cx="1022351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 smtClean="0">
                  <a:solidFill>
                    <a:schemeClr val="tx1"/>
                  </a:solidFill>
                </a:rPr>
                <a:t>Alloc</a:t>
              </a:r>
              <a:r>
                <a:rPr lang="en-US" altLang="ko-KR" sz="900" dirty="0" smtClean="0">
                  <a:solidFill>
                    <a:schemeClr val="tx1"/>
                  </a:solidFill>
                </a:rPr>
                <a:t> Task Entry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244725" y="2835275"/>
              <a:ext cx="1233488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Initialize Task Entry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3665536" y="2403475"/>
              <a:ext cx="1022350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Insert Task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665536" y="2619375"/>
              <a:ext cx="1022350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229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875209" y="2403475"/>
              <a:ext cx="1022350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Select IO Task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897559" y="2403475"/>
              <a:ext cx="1812929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IOM Lookup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897559" y="2619375"/>
              <a:ext cx="1812929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2037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222374" y="3051175"/>
              <a:ext cx="1022351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427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244725" y="3051175"/>
              <a:ext cx="1233488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887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6089649" y="2835275"/>
              <a:ext cx="1525589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CMM Lookup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942384" y="2401887"/>
              <a:ext cx="2020765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IOM Issue Read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942384" y="2619375"/>
              <a:ext cx="2020765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2998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187354" y="2401887"/>
              <a:ext cx="896816" cy="215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Done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089648" y="3051175"/>
              <a:ext cx="1525589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1576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187354" y="2619375"/>
              <a:ext cx="896816" cy="215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1276 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직선 연결선 38"/>
            <p:cNvCxnSpPr/>
            <p:nvPr/>
          </p:nvCxnSpPr>
          <p:spPr>
            <a:xfrm>
              <a:off x="40905" y="2174631"/>
              <a:ext cx="0" cy="11371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11084170" y="2174631"/>
              <a:ext cx="0" cy="11371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40905" y="2268415"/>
              <a:ext cx="11043265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5197601" y="2120024"/>
              <a:ext cx="73800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/>
                <a:t>≒ </a:t>
              </a:r>
              <a:r>
                <a:rPr lang="en-US" altLang="ko-KR" sz="1100" dirty="0" smtClean="0"/>
                <a:t>10 us</a:t>
              </a:r>
              <a:endParaRPr lang="ko-KR" altLang="en-US" sz="1100" dirty="0"/>
            </a:p>
          </p:txBody>
        </p:sp>
      </p:grpSp>
      <p:sp>
        <p:nvSpPr>
          <p:cNvPr id="10" name="아래쪽 화살표 9"/>
          <p:cNvSpPr/>
          <p:nvPr/>
        </p:nvSpPr>
        <p:spPr>
          <a:xfrm>
            <a:off x="2864704" y="4782272"/>
            <a:ext cx="923558" cy="322385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아래쪽 화살표 42"/>
          <p:cNvSpPr/>
          <p:nvPr/>
        </p:nvSpPr>
        <p:spPr>
          <a:xfrm>
            <a:off x="8948980" y="4782272"/>
            <a:ext cx="923558" cy="322385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17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결론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82483" y="645820"/>
            <a:ext cx="11627033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altLang="ko-KR" b="1" u="sng" dirty="0" smtClean="0"/>
              <a:t>Architect</a:t>
            </a:r>
            <a:r>
              <a:rPr lang="ko-KR" altLang="ko-KR" b="1" u="sng" dirty="0"/>
              <a:t>로서의 역할</a:t>
            </a:r>
            <a:endParaRPr lang="ko-KR" altLang="ko-K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dirty="0"/>
              <a:t>SW Domain Architect</a:t>
            </a:r>
            <a:r>
              <a:rPr lang="ko-KR" altLang="ko-KR" dirty="0"/>
              <a:t>로서</a:t>
            </a:r>
            <a:r>
              <a:rPr lang="en-GB" altLang="ko-KR" dirty="0"/>
              <a:t> SOLVIT UFS </a:t>
            </a:r>
            <a:r>
              <a:rPr lang="ko-KR" altLang="ko-KR" dirty="0"/>
              <a:t>컨트롤러 포함</a:t>
            </a:r>
            <a:r>
              <a:rPr lang="en-GB" altLang="ko-KR" dirty="0"/>
              <a:t> System Architecture </a:t>
            </a:r>
            <a:r>
              <a:rPr lang="ko-KR" altLang="ko-KR" dirty="0"/>
              <a:t>수행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요구사항 수집</a:t>
            </a:r>
            <a:r>
              <a:rPr lang="en-GB" altLang="ko-KR" dirty="0"/>
              <a:t>, </a:t>
            </a:r>
            <a:r>
              <a:rPr lang="ko-KR" altLang="ko-KR" dirty="0"/>
              <a:t>정제</a:t>
            </a:r>
            <a:r>
              <a:rPr lang="en-GB" altLang="ko-KR" dirty="0"/>
              <a:t>, </a:t>
            </a:r>
            <a:r>
              <a:rPr lang="ko-KR" altLang="ko-KR" dirty="0"/>
              <a:t>분석 및 품질 속성을 위한 </a:t>
            </a:r>
            <a:r>
              <a:rPr lang="en-GB" altLang="ko-KR" dirty="0"/>
              <a:t>QAW </a:t>
            </a:r>
            <a:r>
              <a:rPr lang="ko-KR" altLang="ko-KR" dirty="0"/>
              <a:t>진행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dirty="0"/>
              <a:t>S/W Architecture</a:t>
            </a:r>
            <a:r>
              <a:rPr lang="ko-KR" altLang="ko-KR" dirty="0"/>
              <a:t>를 설계하고</a:t>
            </a:r>
            <a:r>
              <a:rPr lang="en-GB" altLang="ko-KR" dirty="0"/>
              <a:t> tactic </a:t>
            </a:r>
            <a:r>
              <a:rPr lang="ko-KR" altLang="ko-KR" dirty="0"/>
              <a:t>적용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dirty="0"/>
              <a:t>Architecture </a:t>
            </a:r>
            <a:r>
              <a:rPr lang="ko-KR" altLang="ko-KR" dirty="0"/>
              <a:t>비교 및 기술 검토를 통한 최적의</a:t>
            </a:r>
            <a:r>
              <a:rPr lang="en-GB" altLang="ko-KR" dirty="0"/>
              <a:t> Architecture </a:t>
            </a:r>
            <a:r>
              <a:rPr lang="ko-KR" altLang="ko-KR" dirty="0"/>
              <a:t>선정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선정된</a:t>
            </a:r>
            <a:r>
              <a:rPr lang="en-GB" altLang="ko-KR" dirty="0"/>
              <a:t> Architecture </a:t>
            </a:r>
            <a:r>
              <a:rPr lang="ko-KR" altLang="ko-KR" dirty="0"/>
              <a:t>검증 및 평가 결과 분석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자기 개발 및 상호 개발을 위한 노력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이해 관계자의 대화 </a:t>
            </a:r>
            <a:r>
              <a:rPr lang="ko-KR" altLang="ko-KR" dirty="0" smtClean="0"/>
              <a:t>채널</a:t>
            </a:r>
            <a:endParaRPr lang="en-US" altLang="ko-KR" dirty="0" smtClean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0"/>
            <a:r>
              <a:rPr lang="en-GB" altLang="ko-KR" b="1" u="sng" dirty="0"/>
              <a:t>Architect </a:t>
            </a:r>
            <a:r>
              <a:rPr lang="ko-KR" altLang="ko-KR" b="1" u="sng" dirty="0"/>
              <a:t>양성 과정 효과</a:t>
            </a:r>
            <a:endParaRPr lang="ko-KR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양성 과정에서 학습한 설계 방법론을 현업 과제에 적용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요구사항 도출 및 선정은 과제 전체에 영향을 미치는 중요한 요소임을 이해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dirty="0"/>
              <a:t>Business Driver</a:t>
            </a:r>
            <a:r>
              <a:rPr lang="ko-KR" altLang="ko-KR" dirty="0" smtClean="0"/>
              <a:t>부터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과제 목표</a:t>
            </a:r>
            <a:r>
              <a:rPr lang="en-US" altLang="ko-KR" dirty="0" smtClean="0"/>
              <a:t>,</a:t>
            </a:r>
            <a:r>
              <a:rPr lang="ko-KR" altLang="ko-KR" dirty="0" smtClean="0"/>
              <a:t> </a:t>
            </a:r>
            <a:r>
              <a:rPr lang="ko-KR" altLang="ko-KR" dirty="0"/>
              <a:t>요구사항</a:t>
            </a:r>
            <a:r>
              <a:rPr lang="en-GB" altLang="ko-KR" dirty="0"/>
              <a:t>, </a:t>
            </a:r>
            <a:r>
              <a:rPr lang="ko-KR" altLang="ko-KR" dirty="0"/>
              <a:t>설계</a:t>
            </a:r>
            <a:r>
              <a:rPr lang="en-GB" altLang="ko-KR" dirty="0"/>
              <a:t>, </a:t>
            </a:r>
            <a:r>
              <a:rPr lang="ko-KR" altLang="ko-KR" dirty="0"/>
              <a:t>구현</a:t>
            </a:r>
            <a:r>
              <a:rPr lang="en-GB" altLang="ko-KR" dirty="0"/>
              <a:t>, </a:t>
            </a:r>
            <a:r>
              <a:rPr lang="ko-KR" altLang="ko-KR" dirty="0"/>
              <a:t>검증까지 정합성 유지가 중요함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dirty="0"/>
          </a:p>
        </p:txBody>
      </p:sp>
      <p:sp>
        <p:nvSpPr>
          <p:cNvPr id="5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953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SW Architect</a:t>
            </a:r>
            <a:r>
              <a:rPr lang="ko-KR" altLang="en-US" dirty="0" smtClean="0"/>
              <a:t> 역할 수행 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8457" y="600764"/>
            <a:ext cx="3678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SW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개발 파트와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Co-work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을 통한 구조설계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48458" y="1247204"/>
            <a:ext cx="1729938" cy="2327846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02" y="1336102"/>
            <a:ext cx="1644952" cy="21371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948" y="977263"/>
            <a:ext cx="1847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1. </a:t>
            </a:r>
            <a:r>
              <a:rPr lang="ko-KR" altLang="en-US" sz="1100" dirty="0" smtClean="0"/>
              <a:t>구조설계 아이템 선정</a:t>
            </a:r>
            <a:endParaRPr lang="ko-KR" altLang="en-US" sz="1100" dirty="0"/>
          </a:p>
        </p:txBody>
      </p:sp>
      <p:sp>
        <p:nvSpPr>
          <p:cNvPr id="19" name="직사각형 18"/>
          <p:cNvSpPr/>
          <p:nvPr/>
        </p:nvSpPr>
        <p:spPr>
          <a:xfrm>
            <a:off x="2434854" y="1247204"/>
            <a:ext cx="2839151" cy="2327846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r="29816"/>
          <a:stretch/>
        </p:blipFill>
        <p:spPr>
          <a:xfrm>
            <a:off x="2491601" y="1338548"/>
            <a:ext cx="2726719" cy="21371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34854" y="977263"/>
            <a:ext cx="1847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구조설계 작성</a:t>
            </a:r>
            <a:endParaRPr lang="ko-KR" altLang="en-US" sz="1100" dirty="0"/>
          </a:p>
        </p:txBody>
      </p:sp>
      <p:sp>
        <p:nvSpPr>
          <p:cNvPr id="21" name="오른쪽 화살표 20"/>
          <p:cNvSpPr/>
          <p:nvPr/>
        </p:nvSpPr>
        <p:spPr>
          <a:xfrm>
            <a:off x="2082800" y="2302859"/>
            <a:ext cx="247650" cy="28575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화살표 21"/>
          <p:cNvSpPr/>
          <p:nvPr/>
        </p:nvSpPr>
        <p:spPr>
          <a:xfrm>
            <a:off x="5378409" y="2302859"/>
            <a:ext cx="247650" cy="28575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730463" y="1247204"/>
            <a:ext cx="2885905" cy="232784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730462" y="977263"/>
            <a:ext cx="1349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3. </a:t>
            </a:r>
            <a:r>
              <a:rPr lang="ko-KR" altLang="en-US" sz="1100" dirty="0" smtClean="0"/>
              <a:t>구조설계 공유</a:t>
            </a:r>
            <a:endParaRPr lang="ko-KR" altLang="en-US" sz="1100" dirty="0"/>
          </a:p>
        </p:txBody>
      </p:sp>
      <p:sp>
        <p:nvSpPr>
          <p:cNvPr id="25" name="직사각형 24"/>
          <p:cNvSpPr/>
          <p:nvPr/>
        </p:nvSpPr>
        <p:spPr>
          <a:xfrm>
            <a:off x="2512435" y="4195627"/>
            <a:ext cx="3965204" cy="22871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632" y="4237909"/>
            <a:ext cx="3871081" cy="218872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318" y="2377738"/>
            <a:ext cx="2330450" cy="1098001"/>
          </a:xfrm>
          <a:prstGeom prst="rect">
            <a:avLst/>
          </a:prstGeom>
        </p:spPr>
      </p:pic>
      <p:sp>
        <p:nvSpPr>
          <p:cNvPr id="31" name="모서리가 둥근 사각형 설명선 30"/>
          <p:cNvSpPr/>
          <p:nvPr/>
        </p:nvSpPr>
        <p:spPr>
          <a:xfrm>
            <a:off x="5843960" y="1338549"/>
            <a:ext cx="2689858" cy="877602"/>
          </a:xfrm>
          <a:prstGeom prst="wedgeRoundRectCallout">
            <a:avLst>
              <a:gd name="adj1" fmla="val 20480"/>
              <a:gd name="adj2" fmla="val 71842"/>
              <a:gd name="adj3" fmla="val 16667"/>
            </a:avLst>
          </a:prstGeom>
          <a:solidFill>
            <a:srgbClr val="FCFCF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757" y="1406961"/>
            <a:ext cx="2494109" cy="732989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>
            <a:off x="8714623" y="2302859"/>
            <a:ext cx="247650" cy="28575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9066677" y="1247204"/>
            <a:ext cx="2885905" cy="2327846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066677" y="977263"/>
            <a:ext cx="1443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4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구조설계 </a:t>
            </a:r>
            <a:r>
              <a:rPr lang="en-US" altLang="ko-KR" sz="1100" dirty="0" smtClean="0"/>
              <a:t>Review</a:t>
            </a:r>
            <a:endParaRPr lang="ko-KR" altLang="en-US" sz="1100" dirty="0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9628" y="1377135"/>
            <a:ext cx="2758048" cy="205772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7010401" y="4196861"/>
            <a:ext cx="4942182" cy="2285865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7010400" y="3935251"/>
            <a:ext cx="18170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5. </a:t>
            </a:r>
            <a:r>
              <a:rPr lang="ko-KR" altLang="en-US" sz="1100" dirty="0" smtClean="0"/>
              <a:t>품질 속성 및 </a:t>
            </a:r>
            <a:r>
              <a:rPr lang="en-US" altLang="ko-KR" sz="1100" dirty="0" smtClean="0"/>
              <a:t>Risk</a:t>
            </a:r>
            <a:r>
              <a:rPr lang="ko-KR" altLang="en-US" sz="1100" dirty="0" smtClean="0"/>
              <a:t> 검토</a:t>
            </a:r>
            <a:endParaRPr lang="ko-KR" altLang="en-US" sz="1100" dirty="0"/>
          </a:p>
        </p:txBody>
      </p:sp>
      <p:sp>
        <p:nvSpPr>
          <p:cNvPr id="39" name="오른쪽 화살표 38"/>
          <p:cNvSpPr/>
          <p:nvPr/>
        </p:nvSpPr>
        <p:spPr>
          <a:xfrm rot="5400000">
            <a:off x="10438841" y="3743080"/>
            <a:ext cx="247650" cy="28575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화살표 40"/>
          <p:cNvSpPr/>
          <p:nvPr/>
        </p:nvSpPr>
        <p:spPr>
          <a:xfrm flipH="1">
            <a:off x="6620195" y="5196302"/>
            <a:ext cx="247650" cy="28575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2512434" y="3935251"/>
            <a:ext cx="18170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6. </a:t>
            </a:r>
            <a:r>
              <a:rPr lang="ko-KR" altLang="en-US" sz="1100" dirty="0" smtClean="0"/>
              <a:t>아키텍처 검증</a:t>
            </a:r>
            <a:endParaRPr lang="ko-KR" altLang="en-US" sz="1100" dirty="0"/>
          </a:p>
        </p:txBody>
      </p:sp>
      <p:sp>
        <p:nvSpPr>
          <p:cNvPr id="43" name="오른쪽 화살표 42"/>
          <p:cNvSpPr/>
          <p:nvPr/>
        </p:nvSpPr>
        <p:spPr>
          <a:xfrm flipH="1">
            <a:off x="2082800" y="5196302"/>
            <a:ext cx="247650" cy="28575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234948" y="4195627"/>
            <a:ext cx="1743448" cy="22871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234948" y="3935251"/>
            <a:ext cx="1743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7. </a:t>
            </a:r>
            <a:r>
              <a:rPr lang="ko-KR" altLang="en-US" sz="1100" dirty="0" smtClean="0"/>
              <a:t>아키텍처 확정</a:t>
            </a:r>
            <a:endParaRPr lang="ko-KR" altLang="en-US" sz="1100" dirty="0"/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2396" y="4497760"/>
            <a:ext cx="2745367" cy="195686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811" y="4237909"/>
            <a:ext cx="2671614" cy="1262332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438" y="5500241"/>
            <a:ext cx="1286087" cy="954382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277" y="4364795"/>
            <a:ext cx="1625600" cy="9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3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SW </a:t>
            </a:r>
            <a:r>
              <a:rPr lang="en-US" altLang="ko-KR" dirty="0" smtClean="0"/>
              <a:t>Architect</a:t>
            </a:r>
            <a:r>
              <a:rPr lang="ko-KR" altLang="en-US" dirty="0" smtClean="0"/>
              <a:t> </a:t>
            </a:r>
            <a:r>
              <a:rPr lang="ko-KR" altLang="en-US" dirty="0"/>
              <a:t>역할 수행 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8456" y="577316"/>
            <a:ext cx="415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컨트롤러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개발 파트와 </a:t>
            </a:r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Co-work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을 통한 구조설계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96" y="956358"/>
            <a:ext cx="5094025" cy="29897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43" y="4268924"/>
            <a:ext cx="4149970" cy="20201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8931" y="3944709"/>
            <a:ext cx="2667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[ SW </a:t>
            </a:r>
            <a:r>
              <a:rPr lang="ko-KR" altLang="en-US" sz="900" dirty="0" smtClean="0"/>
              <a:t>사용을 고려한 </a:t>
            </a:r>
            <a:r>
              <a:rPr lang="en-US" altLang="ko-KR" sz="900" dirty="0" smtClean="0"/>
              <a:t>System Architecture </a:t>
            </a:r>
            <a:r>
              <a:rPr lang="ko-KR" altLang="en-US" sz="900" dirty="0" smtClean="0"/>
              <a:t>제안</a:t>
            </a:r>
            <a:r>
              <a:rPr lang="en-US" altLang="ko-KR" sz="900" dirty="0" smtClean="0"/>
              <a:t> ]</a:t>
            </a:r>
            <a:endParaRPr lang="ko-KR" alt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5024976" y="6288309"/>
            <a:ext cx="31107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[ SW </a:t>
            </a:r>
            <a:r>
              <a:rPr lang="ko-KR" altLang="en-US" sz="900" dirty="0" smtClean="0"/>
              <a:t>운영을 위한 </a:t>
            </a:r>
            <a:r>
              <a:rPr lang="en-US" altLang="ko-KR" sz="900" dirty="0" smtClean="0"/>
              <a:t>Data Buffer(TBRAM)</a:t>
            </a:r>
            <a:r>
              <a:rPr lang="ko-KR" altLang="en-US" sz="900" dirty="0"/>
              <a:t> </a:t>
            </a:r>
            <a:r>
              <a:rPr lang="ko-KR" altLang="en-US" sz="900" dirty="0" smtClean="0"/>
              <a:t>최적화 </a:t>
            </a:r>
            <a:r>
              <a:rPr lang="en-US" altLang="ko-KR" sz="900" dirty="0" smtClean="0"/>
              <a:t>Size </a:t>
            </a:r>
            <a:r>
              <a:rPr lang="ko-KR" altLang="en-US" sz="900" dirty="0" smtClean="0"/>
              <a:t>제안</a:t>
            </a:r>
            <a:r>
              <a:rPr lang="en-US" altLang="ko-KR" sz="900" dirty="0" smtClean="0"/>
              <a:t> ]</a:t>
            </a:r>
            <a:endParaRPr lang="ko-KR" altLang="en-US" sz="900" dirty="0"/>
          </a:p>
        </p:txBody>
      </p:sp>
      <p:sp>
        <p:nvSpPr>
          <p:cNvPr id="15" name="직사각형 14"/>
          <p:cNvSpPr/>
          <p:nvPr/>
        </p:nvSpPr>
        <p:spPr>
          <a:xfrm>
            <a:off x="234950" y="885094"/>
            <a:ext cx="5245588" cy="33138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564384" y="885094"/>
            <a:ext cx="6416793" cy="33138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4450806" y="4243753"/>
            <a:ext cx="4260850" cy="227538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946" y="4268924"/>
            <a:ext cx="3103477" cy="2019385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8766193" y="4243753"/>
            <a:ext cx="3214984" cy="227538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815946" y="6288309"/>
            <a:ext cx="31107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[ Solvit UFS </a:t>
            </a:r>
            <a:r>
              <a:rPr lang="ko-KR" altLang="en-US" sz="900" dirty="0" smtClean="0"/>
              <a:t>컨트롤러 </a:t>
            </a:r>
            <a:r>
              <a:rPr lang="en-US" altLang="ko-KR" sz="900" dirty="0" smtClean="0"/>
              <a:t>ADD &amp; CRS</a:t>
            </a:r>
            <a:r>
              <a:rPr lang="ko-KR" altLang="en-US" sz="900" dirty="0" smtClean="0"/>
              <a:t> 검토</a:t>
            </a:r>
            <a:r>
              <a:rPr lang="en-US" altLang="ko-KR" sz="900" dirty="0" smtClean="0"/>
              <a:t>]</a:t>
            </a:r>
            <a:endParaRPr lang="ko-KR" altLang="en-US" sz="900" dirty="0"/>
          </a:p>
        </p:txBody>
      </p:sp>
      <p:sp>
        <p:nvSpPr>
          <p:cNvPr id="21" name="직사각형 20"/>
          <p:cNvSpPr/>
          <p:nvPr/>
        </p:nvSpPr>
        <p:spPr>
          <a:xfrm>
            <a:off x="237267" y="4243753"/>
            <a:ext cx="4159002" cy="227538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39827" y="6288309"/>
            <a:ext cx="27538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[ SW</a:t>
            </a:r>
            <a:r>
              <a:rPr lang="ko-KR" altLang="en-US" sz="900" dirty="0"/>
              <a:t> 동작을 </a:t>
            </a:r>
            <a:r>
              <a:rPr lang="en-US" altLang="ko-KR" sz="900" dirty="0"/>
              <a:t>Acceleration </a:t>
            </a:r>
            <a:r>
              <a:rPr lang="ko-KR" altLang="en-US" sz="900" dirty="0"/>
              <a:t>할 수 있는 </a:t>
            </a:r>
            <a:r>
              <a:rPr lang="en-US" altLang="ko-KR" sz="900" dirty="0"/>
              <a:t>HW IP </a:t>
            </a:r>
            <a:r>
              <a:rPr lang="ko-KR" altLang="en-US" sz="900" dirty="0"/>
              <a:t>제안</a:t>
            </a:r>
            <a:r>
              <a:rPr lang="en-US" altLang="ko-KR" sz="900" dirty="0"/>
              <a:t> ]</a:t>
            </a:r>
            <a:endParaRPr lang="ko-KR" altLang="en-US" sz="900" dirty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5"/>
          <a:srcRect r="21733"/>
          <a:stretch/>
        </p:blipFill>
        <p:spPr>
          <a:xfrm>
            <a:off x="293170" y="4275220"/>
            <a:ext cx="1547353" cy="2013088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7587" y="4268923"/>
            <a:ext cx="2449951" cy="934372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242" y="5241635"/>
            <a:ext cx="1930016" cy="10914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39379" y="3944709"/>
            <a:ext cx="2871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[ SW </a:t>
            </a:r>
            <a:r>
              <a:rPr lang="ko-KR" altLang="en-US" sz="900" dirty="0" smtClean="0"/>
              <a:t>구조설계 안에 따른 컨트롤러 사용 방안 설계</a:t>
            </a:r>
            <a:r>
              <a:rPr lang="en-US" altLang="ko-KR" sz="900" dirty="0" smtClean="0"/>
              <a:t> ]</a:t>
            </a:r>
            <a:endParaRPr lang="ko-KR" altLang="en-US" sz="900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748" y="956358"/>
            <a:ext cx="2571751" cy="1472311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397" y="956358"/>
            <a:ext cx="2733968" cy="147231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342" y="2537150"/>
            <a:ext cx="2462213" cy="140960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599" y="2602464"/>
            <a:ext cx="3348354" cy="131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7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Virtual Table </a:t>
            </a:r>
            <a:r>
              <a:rPr lang="ko-KR" altLang="en-US" dirty="0" smtClean="0"/>
              <a:t>분석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48456" y="2218934"/>
            <a:ext cx="415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Test Code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771" y="2800904"/>
            <a:ext cx="5785247" cy="10308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84039" y="2537845"/>
            <a:ext cx="1371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Virtual Function</a:t>
            </a:r>
            <a:endParaRPr lang="ko-KR" alt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9689889" y="2536497"/>
            <a:ext cx="153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Non-Virtual Function</a:t>
            </a:r>
            <a:endParaRPr lang="ko-KR" alt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248456" y="681943"/>
            <a:ext cx="11720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dirty="0" smtClean="0">
                <a:solidFill>
                  <a:schemeClr val="accent5">
                    <a:lumMod val="50000"/>
                  </a:schemeClr>
                </a:solidFill>
              </a:rPr>
              <a:t>Test </a:t>
            </a:r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환경</a:t>
            </a:r>
            <a:endParaRPr lang="ko-KR" alt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48456" y="920295"/>
            <a:ext cx="5797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Controller : Pablo PM991a (Client SSD)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CPU : Cortex R5 590MHz</a:t>
            </a:r>
          </a:p>
          <a:p>
            <a:r>
              <a:rPr lang="en-US" altLang="ko-KR" sz="1400" dirty="0" smtClean="0"/>
              <a:t>              - Eight-stage </a:t>
            </a:r>
            <a:r>
              <a:rPr lang="en-US" altLang="ko-KR" sz="1400" dirty="0"/>
              <a:t>pipeline with instruction </a:t>
            </a:r>
            <a:r>
              <a:rPr lang="en-US" altLang="ko-KR" sz="1400" dirty="0" smtClean="0"/>
              <a:t>pre-fetch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- Branch </a:t>
            </a:r>
            <a:r>
              <a:rPr lang="en-US" altLang="ko-KR" sz="1400" dirty="0"/>
              <a:t>prediction and selected dual-issue </a:t>
            </a:r>
            <a:r>
              <a:rPr lang="en-US" altLang="ko-KR" sz="1400" dirty="0" smtClean="0"/>
              <a:t>execution.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- Parallel </a:t>
            </a:r>
            <a:r>
              <a:rPr lang="en-US" altLang="ko-KR" sz="1400" dirty="0"/>
              <a:t>execution paths for </a:t>
            </a:r>
            <a:r>
              <a:rPr lang="en-US" altLang="ko-KR" sz="1400" dirty="0" smtClean="0"/>
              <a:t>load-store</a:t>
            </a:r>
            <a:endParaRPr lang="ko-KR" altLang="en-US" sz="1400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772" y="4241773"/>
            <a:ext cx="5763549" cy="17492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20024" y="920295"/>
            <a:ext cx="60739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Tool : Trace32 Bench Mark Counter (BMC)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</a:t>
            </a:r>
            <a:r>
              <a:rPr lang="en-US" altLang="ko-KR" sz="1400" dirty="0" smtClean="0">
                <a:sym typeface="Wingdings" panose="05000000000000000000" pitchFamily="2" charset="2"/>
              </a:rPr>
              <a:t> </a:t>
            </a:r>
            <a:r>
              <a:rPr lang="en-US" altLang="ko-KR" sz="1400" dirty="0" smtClean="0"/>
              <a:t>ARM</a:t>
            </a:r>
            <a:r>
              <a:rPr lang="ko-KR" altLang="en-US" sz="1400" dirty="0" smtClean="0"/>
              <a:t>에서 제공하는 </a:t>
            </a:r>
            <a:r>
              <a:rPr lang="en-US" altLang="ko-KR" sz="1400" dirty="0" smtClean="0"/>
              <a:t>*PMU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Event Counter</a:t>
            </a:r>
            <a:r>
              <a:rPr lang="ko-KR" altLang="en-US" sz="1400" dirty="0" smtClean="0"/>
              <a:t>를 이용하여 </a:t>
            </a:r>
            <a:r>
              <a:rPr lang="en-US" altLang="ko-KR" sz="1400" dirty="0" smtClean="0"/>
              <a:t>Target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Hardware</a:t>
            </a:r>
            <a:r>
              <a:rPr lang="ko-KR" altLang="en-US" sz="1400" dirty="0" smtClean="0"/>
              <a:t>로 부터 동작 정보를 얻어오는 </a:t>
            </a:r>
            <a:r>
              <a:rPr lang="en-US" altLang="ko-KR" sz="1400" dirty="0" smtClean="0"/>
              <a:t>Trace32 </a:t>
            </a:r>
            <a:r>
              <a:rPr lang="ko-KR" altLang="en-US" sz="1400" dirty="0" smtClean="0"/>
              <a:t>기능</a:t>
            </a:r>
            <a:endParaRPr lang="en-US" altLang="ko-KR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9814719" y="1757843"/>
            <a:ext cx="2198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*PMU : Performance Monitoring Unit</a:t>
            </a:r>
            <a:endParaRPr lang="ko-KR" altLang="en-US" sz="900" dirty="0"/>
          </a:p>
        </p:txBody>
      </p:sp>
      <p:sp>
        <p:nvSpPr>
          <p:cNvPr id="30" name="직사각형 29"/>
          <p:cNvSpPr/>
          <p:nvPr/>
        </p:nvSpPr>
        <p:spPr>
          <a:xfrm>
            <a:off x="234950" y="630552"/>
            <a:ext cx="11774486" cy="145929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34950" y="2160744"/>
            <a:ext cx="5755542" cy="431962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8100815" y="3831775"/>
            <a:ext cx="18561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[ Compile </a:t>
            </a:r>
            <a:r>
              <a:rPr lang="ko-KR" altLang="en-US" sz="900" dirty="0" smtClean="0"/>
              <a:t>이후 </a:t>
            </a:r>
            <a:r>
              <a:rPr lang="en-US" altLang="ko-KR" sz="900" dirty="0" smtClean="0"/>
              <a:t>ARM ASM </a:t>
            </a:r>
            <a:r>
              <a:rPr lang="ko-KR" altLang="en-US" sz="900" dirty="0" smtClean="0"/>
              <a:t>비교 </a:t>
            </a:r>
            <a:r>
              <a:rPr lang="en-US" altLang="ko-KR" sz="900" dirty="0" smtClean="0"/>
              <a:t>]</a:t>
            </a:r>
            <a:endParaRPr lang="ko-KR" altLang="en-US" sz="900" dirty="0"/>
          </a:p>
        </p:txBody>
      </p:sp>
      <p:sp>
        <p:nvSpPr>
          <p:cNvPr id="33" name="TextBox 32"/>
          <p:cNvSpPr txBox="1"/>
          <p:nvPr/>
        </p:nvSpPr>
        <p:spPr>
          <a:xfrm>
            <a:off x="7955361" y="6002200"/>
            <a:ext cx="21470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[ BMC</a:t>
            </a:r>
            <a:r>
              <a:rPr lang="ko-KR" altLang="en-US" sz="900" dirty="0" smtClean="0"/>
              <a:t>를 통한 </a:t>
            </a:r>
            <a:r>
              <a:rPr lang="en-US" altLang="ko-KR" sz="900" dirty="0" smtClean="0"/>
              <a:t>Code </a:t>
            </a:r>
            <a:r>
              <a:rPr lang="ko-KR" altLang="en-US" sz="900" dirty="0" smtClean="0"/>
              <a:t>수행 시간 분석 </a:t>
            </a:r>
            <a:r>
              <a:rPr lang="en-US" altLang="ko-KR" sz="900" dirty="0" smtClean="0"/>
              <a:t>]</a:t>
            </a:r>
            <a:endParaRPr lang="ko-KR" altLang="en-US" sz="900" dirty="0"/>
          </a:p>
        </p:txBody>
      </p:sp>
      <p:sp>
        <p:nvSpPr>
          <p:cNvPr id="34" name="직사각형 33"/>
          <p:cNvSpPr/>
          <p:nvPr/>
        </p:nvSpPr>
        <p:spPr>
          <a:xfrm>
            <a:off x="6282716" y="6241692"/>
            <a:ext cx="576189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/>
              <a:t>CPI = clock cycle counter (computed using PMU) / Number of instruction executed (computed using PMU)</a:t>
            </a:r>
            <a:endParaRPr lang="ko-KR" altLang="en-US" sz="900" dirty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347333" y="2826682"/>
            <a:ext cx="5590405" cy="696732"/>
          </a:xfrm>
          <a:prstGeom prst="roundRect">
            <a:avLst>
              <a:gd name="adj" fmla="val 7310"/>
            </a:avLst>
          </a:prstGeom>
          <a:solidFill>
            <a:schemeClr val="tx1"/>
          </a:solidFill>
          <a:ln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60" y="2908686"/>
            <a:ext cx="5424196" cy="545555"/>
          </a:xfrm>
          <a:prstGeom prst="rect">
            <a:avLst/>
          </a:prstGeom>
        </p:spPr>
      </p:pic>
      <p:sp>
        <p:nvSpPr>
          <p:cNvPr id="38" name="모서리가 둥근 직사각형 37"/>
          <p:cNvSpPr/>
          <p:nvPr/>
        </p:nvSpPr>
        <p:spPr>
          <a:xfrm>
            <a:off x="347333" y="3893712"/>
            <a:ext cx="5590405" cy="696732"/>
          </a:xfrm>
          <a:prstGeom prst="roundRect">
            <a:avLst>
              <a:gd name="adj" fmla="val 7310"/>
            </a:avLst>
          </a:prstGeom>
          <a:solidFill>
            <a:schemeClr val="tx1"/>
          </a:solidFill>
          <a:ln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9" y="3968995"/>
            <a:ext cx="5186849" cy="551793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47334" y="4962217"/>
            <a:ext cx="2507236" cy="1303413"/>
          </a:xfrm>
          <a:prstGeom prst="roundRect">
            <a:avLst>
              <a:gd name="adj" fmla="val 7310"/>
            </a:avLst>
          </a:prstGeom>
          <a:solidFill>
            <a:srgbClr val="1E1E1E"/>
          </a:solidFill>
          <a:ln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3" b="2182"/>
          <a:stretch/>
        </p:blipFill>
        <p:spPr>
          <a:xfrm>
            <a:off x="454576" y="5089623"/>
            <a:ext cx="1995548" cy="108264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47333" y="2577917"/>
            <a:ext cx="1305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 smtClean="0"/>
              <a:t>Virtual Function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347333" y="3644255"/>
            <a:ext cx="1663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 smtClean="0"/>
              <a:t>Non-Virtual Function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47333" y="4716923"/>
            <a:ext cx="1663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 smtClean="0"/>
              <a:t>Function Caller</a:t>
            </a:r>
            <a:endParaRPr lang="ko-KR" altLang="en-US" sz="1000" dirty="0"/>
          </a:p>
        </p:txBody>
      </p:sp>
      <p:sp>
        <p:nvSpPr>
          <p:cNvPr id="44" name="직사각형 43"/>
          <p:cNvSpPr/>
          <p:nvPr/>
        </p:nvSpPr>
        <p:spPr>
          <a:xfrm>
            <a:off x="6044979" y="2160744"/>
            <a:ext cx="5967817" cy="431962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044980" y="2218934"/>
            <a:ext cx="1205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 smtClean="0">
                <a:solidFill>
                  <a:schemeClr val="accent5">
                    <a:lumMod val="50000"/>
                  </a:schemeClr>
                </a:solidFill>
              </a:rPr>
              <a:t>분석 결과</a:t>
            </a:r>
            <a:endParaRPr lang="ko-KR" altLang="en-US" sz="1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9676918" y="4575489"/>
            <a:ext cx="991081" cy="517989"/>
          </a:xfrm>
          <a:prstGeom prst="roundRect">
            <a:avLst>
              <a:gd name="adj" fmla="val 6651"/>
            </a:avLst>
          </a:prstGeom>
          <a:solidFill>
            <a:schemeClr val="accent5">
              <a:alpha val="30000"/>
            </a:schemeClr>
          </a:solidFill>
          <a:ln w="28575">
            <a:prstDash val="sysDot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9676918" y="5484211"/>
            <a:ext cx="991081" cy="517989"/>
          </a:xfrm>
          <a:prstGeom prst="roundRect">
            <a:avLst>
              <a:gd name="adj" fmla="val 6651"/>
            </a:avLst>
          </a:prstGeom>
          <a:solidFill>
            <a:schemeClr val="accent5">
              <a:alpha val="30000"/>
            </a:schemeClr>
          </a:solidFill>
          <a:ln w="28575">
            <a:prstDash val="sysDot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87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8406</Words>
  <Application>Microsoft Office PowerPoint</Application>
  <PresentationFormat>와이드스크린</PresentationFormat>
  <Paragraphs>2140</Paragraphs>
  <Slides>39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9" baseType="lpstr">
      <vt:lpstr>HY헤드라인M</vt:lpstr>
      <vt:lpstr>굴림</vt:lpstr>
      <vt:lpstr>돋움</vt:lpstr>
      <vt:lpstr>바탕체</vt:lpstr>
      <vt:lpstr>Arial</vt:lpstr>
      <vt:lpstr>Calibri</vt:lpstr>
      <vt:lpstr>Times New Roman</vt:lpstr>
      <vt:lpstr>Wingdings</vt:lpstr>
      <vt:lpstr>맑은 고딕</vt:lpstr>
      <vt:lpstr>Office 테마</vt:lpstr>
      <vt:lpstr>PowerPoint 프레젠테이션</vt:lpstr>
      <vt:lpstr>PowerPoint 프레젠테이션</vt:lpstr>
      <vt:lpstr>과제 배경</vt:lpstr>
      <vt:lpstr>과제 필요성</vt:lpstr>
      <vt:lpstr>과제의 목적</vt:lpstr>
      <vt:lpstr>과제 개요</vt:lpstr>
      <vt:lpstr>요구사항 분석</vt:lpstr>
      <vt:lpstr>주요 기능 요구사항 및 제약사항</vt:lpstr>
      <vt:lpstr>품질 요구사항</vt:lpstr>
      <vt:lpstr>아키텍처 드라이버 선정</vt:lpstr>
      <vt:lpstr>아키텍처 분석</vt:lpstr>
      <vt:lpstr>설계 Point 선정</vt:lpstr>
      <vt:lpstr>DP-1. Multi-Processing 방안</vt:lpstr>
      <vt:lpstr>DP-2. 병렬 처리 Workflow 설계</vt:lpstr>
      <vt:lpstr>DP-3. Idle Power Saving 방안</vt:lpstr>
      <vt:lpstr>DP-4. QLC NAND 적용 방안</vt:lpstr>
      <vt:lpstr>DP-5. Command 수행 시간 감소 방안</vt:lpstr>
      <vt:lpstr>DP-6. 다양한 고객사 &amp; NAND 지원 방안</vt:lpstr>
      <vt:lpstr>전체 설계 Coverage 검증</vt:lpstr>
      <vt:lpstr>최종 설계</vt:lpstr>
      <vt:lpstr>구현 설계</vt:lpstr>
      <vt:lpstr>개발 진행사항 및 품질 측정</vt:lpstr>
      <vt:lpstr>성과</vt:lpstr>
      <vt:lpstr>PowerPoint 프레젠테이션</vt:lpstr>
      <vt:lpstr>요구사항 분석 – 기능 요구사항 분석</vt:lpstr>
      <vt:lpstr>요구사항 분석 – Legacy UFS 기능</vt:lpstr>
      <vt:lpstr>요구사항 분석 – 품질 속성 유틸리티 트리</vt:lpstr>
      <vt:lpstr>요구사항 분석 – 전체 품질 평가 시나리오</vt:lpstr>
      <vt:lpstr>System Architecture – Overall</vt:lpstr>
      <vt:lpstr>DP-1. Multi-Processing 방안</vt:lpstr>
      <vt:lpstr>DP-2. 병렬 처리 Workflow 설계</vt:lpstr>
      <vt:lpstr>DP-3. Idle Power Saving 방안</vt:lpstr>
      <vt:lpstr>DP-5. Command 수행 시간 감소 방안</vt:lpstr>
      <vt:lpstr>핵심 Quality Attribute 만족 여부</vt:lpstr>
      <vt:lpstr>구현 및 검증 – Simulator 종류</vt:lpstr>
      <vt:lpstr>결론</vt:lpstr>
      <vt:lpstr>[참고] SW Architect 역할 수행 (1)</vt:lpstr>
      <vt:lpstr>[참고] SW Architect 역할 수행 (2)</vt:lpstr>
      <vt:lpstr>[참고] Virtual Table 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김명우/MYEONG WOO KIM</dc:creator>
  <cp:lastModifiedBy>김명우/MYEONG WOO KIM</cp:lastModifiedBy>
  <cp:revision>1</cp:revision>
  <dcterms:created xsi:type="dcterms:W3CDTF">2026-06-30T10:16:17Z</dcterms:created>
  <dcterms:modified xsi:type="dcterms:W3CDTF">2026-06-30T10:16:57Z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
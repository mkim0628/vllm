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937" r:id="rId2"/>
    <p:sldId id="696" r:id="rId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65940" autoAdjust="0"/>
  </p:normalViewPr>
  <p:slideViewPr>
    <p:cSldViewPr snapToGrid="0">
      <p:cViewPr varScale="1">
        <p:scale>
          <a:sx n="59" d="100"/>
          <a:sy n="59" d="100"/>
        </p:scale>
        <p:origin x="1311"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BD34AE-5237-4294-A910-3897B2887BC5}" type="datetimeFigureOut">
              <a:rPr lang="ko-KR" altLang="en-US" smtClean="0"/>
              <a:t>2026-10-28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3F9D4-02BF-4FF5-A06D-D1F60E4DF8F7}" type="slidenum">
              <a:rPr lang="ko-KR" altLang="en-US" smtClean="0"/>
              <a:t>‹#›</a:t>
            </a:fld>
            <a:endParaRPr lang="ko-KR" altLang="en-US"/>
          </a:p>
        </p:txBody>
      </p:sp>
    </p:spTree>
    <p:extLst>
      <p:ext uri="{BB962C8B-B14F-4D97-AF65-F5344CB8AC3E}">
        <p14:creationId xmlns:p14="http://schemas.microsoft.com/office/powerpoint/2010/main" val="108658224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dirty="0"/>
              <a:t>[발표 스크립트 | 슬라이드 5 | 약 2분00초 | 누적 약 6분]</a:t>
            </a:r>
          </a:p>
          <a:p>
            <a:r>
              <a:rPr lang="ko-KR" dirty="0"/>
              <a:t>그렇다면 왜 이런 연구를 우리가, 그것도 지금 해야 하는가를 말씀드리겠습니다. 두 가지 논거입니다.</a:t>
            </a:r>
          </a:p>
          <a:p>
            <a:r>
              <a:rPr lang="ko-KR" dirty="0"/>
              <a:t>첫 번째는 왼쪽, 미래 시장 수요에 선제 대응해야 한다는 점입니다. 앞서 본 것처럼 어떤 메모리 제품의 수요가 늘어날지는 불확실합니다. HBM이 좋은 참고 사례입니다. 2016년에 HBM2 양산을 시작했지만 GPU·HPC 중심의 작은 틈새 시장이었고, 2022년경까지는 수요가 제한적인 HBM 대신 범용 DRAM 경쟁력에 집중했습니다. 그러다 2023년 이후 AI가 급부상하면서 HBM 시장이 2024년 160억 달러에서 2025년 350억 달러로 2.2배 커졌습니다. 그런데 HBM3E 12단 고객 인증에 시간이 걸렸고, 지금은 HBM4 인증이 진행 중입니다. 시사점은 수요 변곡점이 예측보다 빠르고, 개발·인증·양산 리드타임이 대응 속도를 좌우한다는 것입니다. 그래서 다음 수요 후보를 미리 연구해 둘 필요가 있습니다. 이 사례는 공개 보도 기준으로 요약한 것입니다.</a:t>
            </a:r>
          </a:p>
          <a:p>
            <a:r>
              <a:rPr lang="ko-KR" dirty="0"/>
              <a:t>그 아래는 연구소의 역할입니다. 시장·고객, 현재 Meta, Google Research, MS Research와 연구 협업을 논의하거나 진행하고 있는데, 이들의 workload와 요구를 연구소가 선제적으로 파악해 이기종 메모리 인지형 시스템·SW를 연구하고, 그 결과인 HW Spec 요구사항을 사업부가 차세대 Device 개발에 반영하는 흐름입니다.</a:t>
            </a:r>
          </a:p>
          <a:p>
            <a:r>
              <a:rPr lang="ko-KR" dirty="0"/>
              <a:t>두 번째는 오른쪽, 기존 AI SW 역할의 한계입니다. Agent는 자원 수요가 동적으로 변하기 때문에 런타임의 역할이 결정적입니다. 같은 HW에서도 SW 정책에 따라 성능이 크게 달라진다는 사례가 두 가지 있습니다. 첫째, H100 80GB에서 Llama-3.1-8B로 동시성이 높은 부하를 걸었을 때 CPU DRAM 128GB로 KV를 offloading 하면 처리량이 초당 1,850토큰에서 16,650토큰으로 9배 늘었습니다. 둘째, GLM-4.5-fp8로 mini-SWE-agent를 144개 동시 실행한 환경에서 요청 단위로 처리하는 vLLM 기본 방식 대비 프로그램 단위로 인지하는 ThunderAgent가 분당 375 step에서 672 step으로 1.79배 높았습니다. 벤치마크 전반으로는 1.48~3.58배입니다.</a:t>
            </a:r>
          </a:p>
          <a:p>
            <a:r>
              <a:rPr lang="ko-KR" dirty="0"/>
              <a:t>문제는 이 최적화들이 HBM, DRAM, SSD 같은 기존 메모리 계층을 전제한다는 것입니다. CXL-Memory, CXL-PNM, HBF·PIM 같은 신규 메모리는 대역폭, 용량, 연산 가능 여부 같은 특성을 SW가 인식하지 못해 활용할 수 없습니다. 즉 메모리 특성을 인식해 배치와 스케줄링을 결정하는 이기종 메모리 인지형 런타임, 서빙 엔진이 지금은 없습니다.</a:t>
            </a:r>
          </a:p>
          <a:p>
            <a:r>
              <a:rPr lang="ko-KR" dirty="0"/>
              <a:t>정리하면, 시장·고객 요구를 선제적으로 반영하기 위해 이기종 메모리를 활용해 LLM 추론 처리량을 높이는 SW 연구 개발이 필요합니다.</a:t>
            </a:r>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1</a:t>
            </a:fld>
            <a:endParaRPr lang="ko-KR" altLang="en-US"/>
          </a:p>
        </p:txBody>
      </p:sp>
    </p:spTree>
    <p:extLst>
      <p:ext uri="{BB962C8B-B14F-4D97-AF65-F5344CB8AC3E}">
        <p14:creationId xmlns:p14="http://schemas.microsoft.com/office/powerpoint/2010/main" val="2133379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dirty="0"/>
              <a:t>[발표 스크립트 | 슬라이드 6 | 약 1분00초 | 누적 약 7분]</a:t>
            </a:r>
          </a:p>
          <a:p>
            <a:r>
              <a:rPr lang="ko-KR" dirty="0"/>
              <a:t>그럼 과제 개요입니다. 과제명은 이기종 메모리 기반 서빙 엔진, 즉 AI 추론 런타임 개발입니다. 서로 다른 특성의 메모리가 혼재된 시스템에서 AI 워크로드를 최적화하는 런타임을 설계하고, LLM 추론 성능을 개선해 당사 메모리 제품의 가치를 다시 확인하는 것이 목표입니다.</a:t>
            </a:r>
          </a:p>
          <a:p>
            <a:r>
              <a:rPr lang="ko-KR" dirty="0"/>
              <a:t>오른쪽 과제 범위를 보시면, 위에서부터 Application인 Agent 봇과 챗봇, 그리고 Reasoning loop 안에서 LLM 호출, 문서 검색, 도구 호출을 판단하는 Agent Framework가 있고, 여기서 Web fetch나 스크립트 실행 같은 Tool을 부릅니다. 그 아래 요청 라우팅과 스케줄링을 맡는 Inference Orchestrator와 토큰을 생성하는 Inference Engine이 빨간 점선 박스로 표시한 이번 과제의 핵심 범위이고, vLLM 같은 오픈소스 프레임워크를 확장하는 방식으로 진행합니다. 그 밑에 Compute·Network Library와 실제 HW를 제어하는 Device Runtime/Driver가 있고, 맨 아래가 대상 메모리입니다.</a:t>
            </a:r>
          </a:p>
          <a:p>
            <a:r>
              <a:rPr lang="ko-KR" dirty="0"/>
              <a:t>대상 메모리는 현세대 HBM, DRAM, SSD와 차세대 CXL-PNM, SSD-PIM, ScHBM, HBF입니다. 노란색이 신규 메모리이고, 이 신규 메모리의 특성을 런타임이 인식해 쓸 수 있게 하는 것이 핵심입니다. 참고로 PNM은 메모리 근처, PIM은 메모리 내부에서 연산하는 구조이고, ScHBM은 Base Die에 Processing Element를 둔 삼성 Custom HBM입니다.</a:t>
            </a:r>
          </a:p>
          <a:p>
            <a:r>
              <a:rPr lang="ko-KR" dirty="0"/>
              <a:t>참여 인력은 전체 국내 22명과 SRCX 4명이고, 이 중 리딩은 국내 7명과 SRCX 4명입니다. 일정은 이번 과제가 2026년 1월부터 12월까지 12개월이고, 연구과제 전체로는 2026년 1월부터 2028년 12월까지 36개월입니다.</a:t>
            </a:r>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2</a:t>
            </a:fld>
            <a:endParaRPr lang="ko-KR" altLang="en-US"/>
          </a:p>
        </p:txBody>
      </p:sp>
    </p:spTree>
    <p:extLst>
      <p:ext uri="{BB962C8B-B14F-4D97-AF65-F5344CB8AC3E}">
        <p14:creationId xmlns:p14="http://schemas.microsoft.com/office/powerpoint/2010/main" val="2703925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BF7324-79CD-463B-A3A4-C2FC75B26BE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33A88350-9987-4F11-B31B-D46E31B03A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D629BA10-4D7D-4EF6-9DE4-0D31577CFB69}"/>
              </a:ext>
            </a:extLst>
          </p:cNvPr>
          <p:cNvSpPr>
            <a:spLocks noGrp="1"/>
          </p:cNvSpPr>
          <p:nvPr>
            <p:ph type="dt" sz="half" idx="10"/>
          </p:nvPr>
        </p:nvSpPr>
        <p:spPr/>
        <p:txBody>
          <a:bodyPr/>
          <a:lstStyle/>
          <a:p>
            <a:fld id="{E711EA96-8E69-4E3A-9D2F-C6DECB3A626B}" type="datetimeFigureOut">
              <a:rPr lang="ko-KR" altLang="en-US" smtClean="0"/>
              <a:t>2026-10-28</a:t>
            </a:fld>
            <a:endParaRPr lang="ko-KR" altLang="en-US"/>
          </a:p>
        </p:txBody>
      </p:sp>
      <p:sp>
        <p:nvSpPr>
          <p:cNvPr id="5" name="바닥글 개체 틀 4">
            <a:extLst>
              <a:ext uri="{FF2B5EF4-FFF2-40B4-BE49-F238E27FC236}">
                <a16:creationId xmlns:a16="http://schemas.microsoft.com/office/drawing/2014/main" id="{BD18B27A-9A2F-4A12-BD37-2BEC452F94A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E74A83C-5DF0-4F5B-B4E8-9B918F050BD2}"/>
              </a:ext>
            </a:extLst>
          </p:cNvPr>
          <p:cNvSpPr>
            <a:spLocks noGrp="1"/>
          </p:cNvSpPr>
          <p:nvPr>
            <p:ph type="sldNum" sz="quarter" idx="12"/>
          </p:nvPr>
        </p:nvSpPr>
        <p:spPr/>
        <p:txBody>
          <a:bodyPr/>
          <a:lstStyle/>
          <a:p>
            <a:fld id="{FF197C78-C3C8-4C01-AE93-61C10AFD17BD}" type="slidenum">
              <a:rPr lang="ko-KR" altLang="en-US" smtClean="0"/>
              <a:t>‹#›</a:t>
            </a:fld>
            <a:endParaRPr lang="ko-KR" altLang="en-US"/>
          </a:p>
        </p:txBody>
      </p:sp>
    </p:spTree>
    <p:extLst>
      <p:ext uri="{BB962C8B-B14F-4D97-AF65-F5344CB8AC3E}">
        <p14:creationId xmlns:p14="http://schemas.microsoft.com/office/powerpoint/2010/main" val="3686722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7507FCE-69E0-41BE-B0A2-E6AA0663C07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DEF35B9-8213-4BC7-A2AB-66DC8EC13221}"/>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1476FBC-C0C2-48A8-81AF-F5C1C2460365}"/>
              </a:ext>
            </a:extLst>
          </p:cNvPr>
          <p:cNvSpPr>
            <a:spLocks noGrp="1"/>
          </p:cNvSpPr>
          <p:nvPr>
            <p:ph type="dt" sz="half" idx="10"/>
          </p:nvPr>
        </p:nvSpPr>
        <p:spPr/>
        <p:txBody>
          <a:bodyPr/>
          <a:lstStyle/>
          <a:p>
            <a:fld id="{E711EA96-8E69-4E3A-9D2F-C6DECB3A626B}" type="datetimeFigureOut">
              <a:rPr lang="ko-KR" altLang="en-US" smtClean="0"/>
              <a:t>2026-10-28</a:t>
            </a:fld>
            <a:endParaRPr lang="ko-KR" altLang="en-US"/>
          </a:p>
        </p:txBody>
      </p:sp>
      <p:sp>
        <p:nvSpPr>
          <p:cNvPr id="5" name="바닥글 개체 틀 4">
            <a:extLst>
              <a:ext uri="{FF2B5EF4-FFF2-40B4-BE49-F238E27FC236}">
                <a16:creationId xmlns:a16="http://schemas.microsoft.com/office/drawing/2014/main" id="{26BD430E-4E51-427C-86B8-97D26FA12EF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AFFED0A-F2F2-4F0F-ADEB-FC1A106BA0B3}"/>
              </a:ext>
            </a:extLst>
          </p:cNvPr>
          <p:cNvSpPr>
            <a:spLocks noGrp="1"/>
          </p:cNvSpPr>
          <p:nvPr>
            <p:ph type="sldNum" sz="quarter" idx="12"/>
          </p:nvPr>
        </p:nvSpPr>
        <p:spPr/>
        <p:txBody>
          <a:bodyPr/>
          <a:lstStyle/>
          <a:p>
            <a:fld id="{FF197C78-C3C8-4C01-AE93-61C10AFD17BD}" type="slidenum">
              <a:rPr lang="ko-KR" altLang="en-US" smtClean="0"/>
              <a:t>‹#›</a:t>
            </a:fld>
            <a:endParaRPr lang="ko-KR" altLang="en-US"/>
          </a:p>
        </p:txBody>
      </p:sp>
    </p:spTree>
    <p:extLst>
      <p:ext uri="{BB962C8B-B14F-4D97-AF65-F5344CB8AC3E}">
        <p14:creationId xmlns:p14="http://schemas.microsoft.com/office/powerpoint/2010/main" val="3821204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36147C4-27BB-44A0-8379-6C0834F7F92E}"/>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C454D6D2-B361-44BB-9854-4E965C844B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D2565F02-A6C4-495E-8A1A-A6170C1E1D24}"/>
              </a:ext>
            </a:extLst>
          </p:cNvPr>
          <p:cNvSpPr>
            <a:spLocks noGrp="1"/>
          </p:cNvSpPr>
          <p:nvPr>
            <p:ph type="dt" sz="half" idx="10"/>
          </p:nvPr>
        </p:nvSpPr>
        <p:spPr/>
        <p:txBody>
          <a:bodyPr/>
          <a:lstStyle/>
          <a:p>
            <a:fld id="{E711EA96-8E69-4E3A-9D2F-C6DECB3A626B}" type="datetimeFigureOut">
              <a:rPr lang="ko-KR" altLang="en-US" smtClean="0"/>
              <a:t>2026-10-28</a:t>
            </a:fld>
            <a:endParaRPr lang="ko-KR" altLang="en-US"/>
          </a:p>
        </p:txBody>
      </p:sp>
      <p:sp>
        <p:nvSpPr>
          <p:cNvPr id="5" name="바닥글 개체 틀 4">
            <a:extLst>
              <a:ext uri="{FF2B5EF4-FFF2-40B4-BE49-F238E27FC236}">
                <a16:creationId xmlns:a16="http://schemas.microsoft.com/office/drawing/2014/main" id="{41C366D5-28B8-46E8-A83B-C61ADE344CF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6BCC8D8-DA41-4314-A7BF-F6049235EF93}"/>
              </a:ext>
            </a:extLst>
          </p:cNvPr>
          <p:cNvSpPr>
            <a:spLocks noGrp="1"/>
          </p:cNvSpPr>
          <p:nvPr>
            <p:ph type="sldNum" sz="quarter" idx="12"/>
          </p:nvPr>
        </p:nvSpPr>
        <p:spPr/>
        <p:txBody>
          <a:bodyPr/>
          <a:lstStyle/>
          <a:p>
            <a:fld id="{FF197C78-C3C8-4C01-AE93-61C10AFD17BD}" type="slidenum">
              <a:rPr lang="ko-KR" altLang="en-US" smtClean="0"/>
              <a:t>‹#›</a:t>
            </a:fld>
            <a:endParaRPr lang="ko-KR" altLang="en-US"/>
          </a:p>
        </p:txBody>
      </p:sp>
    </p:spTree>
    <p:extLst>
      <p:ext uri="{BB962C8B-B14F-4D97-AF65-F5344CB8AC3E}">
        <p14:creationId xmlns:p14="http://schemas.microsoft.com/office/powerpoint/2010/main" val="2781881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948AAD-EB4B-4DC1-B70D-AC2896C8E51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544FA1C3-9D18-4B82-92D7-F1F4BA2AC548}"/>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4B70F836-4CBC-40BF-BE05-61FAD84EB598}"/>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B0A99482-CF43-4711-B6EE-A6CA10306CF7}"/>
              </a:ext>
            </a:extLst>
          </p:cNvPr>
          <p:cNvSpPr>
            <a:spLocks noGrp="1"/>
          </p:cNvSpPr>
          <p:nvPr>
            <p:ph type="dt" sz="half" idx="10"/>
          </p:nvPr>
        </p:nvSpPr>
        <p:spPr/>
        <p:txBody>
          <a:bodyPr/>
          <a:lstStyle/>
          <a:p>
            <a:fld id="{E711EA96-8E69-4E3A-9D2F-C6DECB3A626B}" type="datetimeFigureOut">
              <a:rPr lang="ko-KR" altLang="en-US" smtClean="0"/>
              <a:t>2026-10-28</a:t>
            </a:fld>
            <a:endParaRPr lang="ko-KR" altLang="en-US"/>
          </a:p>
        </p:txBody>
      </p:sp>
      <p:sp>
        <p:nvSpPr>
          <p:cNvPr id="6" name="바닥글 개체 틀 5">
            <a:extLst>
              <a:ext uri="{FF2B5EF4-FFF2-40B4-BE49-F238E27FC236}">
                <a16:creationId xmlns:a16="http://schemas.microsoft.com/office/drawing/2014/main" id="{DD80B28B-5B42-45DA-A151-5D3CB09D899C}"/>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13C7EBE9-194F-4581-A700-96F6FDED04F1}"/>
              </a:ext>
            </a:extLst>
          </p:cNvPr>
          <p:cNvSpPr>
            <a:spLocks noGrp="1"/>
          </p:cNvSpPr>
          <p:nvPr>
            <p:ph type="sldNum" sz="quarter" idx="12"/>
          </p:nvPr>
        </p:nvSpPr>
        <p:spPr/>
        <p:txBody>
          <a:bodyPr/>
          <a:lstStyle/>
          <a:p>
            <a:fld id="{FF197C78-C3C8-4C01-AE93-61C10AFD17BD}" type="slidenum">
              <a:rPr lang="ko-KR" altLang="en-US" smtClean="0"/>
              <a:t>‹#›</a:t>
            </a:fld>
            <a:endParaRPr lang="ko-KR" altLang="en-US"/>
          </a:p>
        </p:txBody>
      </p:sp>
    </p:spTree>
    <p:extLst>
      <p:ext uri="{BB962C8B-B14F-4D97-AF65-F5344CB8AC3E}">
        <p14:creationId xmlns:p14="http://schemas.microsoft.com/office/powerpoint/2010/main" val="4108640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05AC3F9-3A41-4929-8243-B090CC9FD6E8}"/>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C9339A67-8AD8-4BD4-AFA5-CD0E118458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B712C6FB-CE31-4D46-94F6-0088FA45CFD3}"/>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A505428-BB7C-4445-8233-DE024B4F89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39855EF9-A3D3-415D-BEF3-29F0446B808C}"/>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7D238C77-CCD7-4D52-8FFA-A3E78A3C435B}"/>
              </a:ext>
            </a:extLst>
          </p:cNvPr>
          <p:cNvSpPr>
            <a:spLocks noGrp="1"/>
          </p:cNvSpPr>
          <p:nvPr>
            <p:ph type="dt" sz="half" idx="10"/>
          </p:nvPr>
        </p:nvSpPr>
        <p:spPr/>
        <p:txBody>
          <a:bodyPr/>
          <a:lstStyle/>
          <a:p>
            <a:fld id="{E711EA96-8E69-4E3A-9D2F-C6DECB3A626B}" type="datetimeFigureOut">
              <a:rPr lang="ko-KR" altLang="en-US" smtClean="0"/>
              <a:t>2026-10-28</a:t>
            </a:fld>
            <a:endParaRPr lang="ko-KR" altLang="en-US"/>
          </a:p>
        </p:txBody>
      </p:sp>
      <p:sp>
        <p:nvSpPr>
          <p:cNvPr id="8" name="바닥글 개체 틀 7">
            <a:extLst>
              <a:ext uri="{FF2B5EF4-FFF2-40B4-BE49-F238E27FC236}">
                <a16:creationId xmlns:a16="http://schemas.microsoft.com/office/drawing/2014/main" id="{F734A536-2BBC-4307-BFA4-F4AB676E6047}"/>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102EAA8A-7EF9-4E59-82E7-A2CEE1A4C242}"/>
              </a:ext>
            </a:extLst>
          </p:cNvPr>
          <p:cNvSpPr>
            <a:spLocks noGrp="1"/>
          </p:cNvSpPr>
          <p:nvPr>
            <p:ph type="sldNum" sz="quarter" idx="12"/>
          </p:nvPr>
        </p:nvSpPr>
        <p:spPr/>
        <p:txBody>
          <a:bodyPr/>
          <a:lstStyle/>
          <a:p>
            <a:fld id="{FF197C78-C3C8-4C01-AE93-61C10AFD17BD}" type="slidenum">
              <a:rPr lang="ko-KR" altLang="en-US" smtClean="0"/>
              <a:t>‹#›</a:t>
            </a:fld>
            <a:endParaRPr lang="ko-KR" altLang="en-US"/>
          </a:p>
        </p:txBody>
      </p:sp>
    </p:spTree>
    <p:extLst>
      <p:ext uri="{BB962C8B-B14F-4D97-AF65-F5344CB8AC3E}">
        <p14:creationId xmlns:p14="http://schemas.microsoft.com/office/powerpoint/2010/main" val="4019501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9A986E8-83CF-4C4D-94BC-E5AEA91FF508}"/>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15907648-C7FF-4895-AEA6-6BE87AF936B8}"/>
              </a:ext>
            </a:extLst>
          </p:cNvPr>
          <p:cNvSpPr>
            <a:spLocks noGrp="1"/>
          </p:cNvSpPr>
          <p:nvPr>
            <p:ph type="dt" sz="half" idx="10"/>
          </p:nvPr>
        </p:nvSpPr>
        <p:spPr/>
        <p:txBody>
          <a:bodyPr/>
          <a:lstStyle/>
          <a:p>
            <a:fld id="{E711EA96-8E69-4E3A-9D2F-C6DECB3A626B}" type="datetimeFigureOut">
              <a:rPr lang="ko-KR" altLang="en-US" smtClean="0"/>
              <a:t>2026-10-28</a:t>
            </a:fld>
            <a:endParaRPr lang="ko-KR" altLang="en-US"/>
          </a:p>
        </p:txBody>
      </p:sp>
      <p:sp>
        <p:nvSpPr>
          <p:cNvPr id="4" name="바닥글 개체 틀 3">
            <a:extLst>
              <a:ext uri="{FF2B5EF4-FFF2-40B4-BE49-F238E27FC236}">
                <a16:creationId xmlns:a16="http://schemas.microsoft.com/office/drawing/2014/main" id="{84DF3C85-925C-4C98-97B9-92ACF7E2EA7F}"/>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B9C609D8-34C8-413A-9596-BC9F24546943}"/>
              </a:ext>
            </a:extLst>
          </p:cNvPr>
          <p:cNvSpPr>
            <a:spLocks noGrp="1"/>
          </p:cNvSpPr>
          <p:nvPr>
            <p:ph type="sldNum" sz="quarter" idx="12"/>
          </p:nvPr>
        </p:nvSpPr>
        <p:spPr/>
        <p:txBody>
          <a:bodyPr/>
          <a:lstStyle/>
          <a:p>
            <a:fld id="{FF197C78-C3C8-4C01-AE93-61C10AFD17BD}" type="slidenum">
              <a:rPr lang="ko-KR" altLang="en-US" smtClean="0"/>
              <a:t>‹#›</a:t>
            </a:fld>
            <a:endParaRPr lang="ko-KR" altLang="en-US"/>
          </a:p>
        </p:txBody>
      </p:sp>
    </p:spTree>
    <p:extLst>
      <p:ext uri="{BB962C8B-B14F-4D97-AF65-F5344CB8AC3E}">
        <p14:creationId xmlns:p14="http://schemas.microsoft.com/office/powerpoint/2010/main" val="1341837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A2E910A0-75D3-4820-A200-5102B6B4CF7B}"/>
              </a:ext>
            </a:extLst>
          </p:cNvPr>
          <p:cNvSpPr>
            <a:spLocks noGrp="1"/>
          </p:cNvSpPr>
          <p:nvPr>
            <p:ph type="dt" sz="half" idx="10"/>
          </p:nvPr>
        </p:nvSpPr>
        <p:spPr/>
        <p:txBody>
          <a:bodyPr/>
          <a:lstStyle/>
          <a:p>
            <a:fld id="{E711EA96-8E69-4E3A-9D2F-C6DECB3A626B}" type="datetimeFigureOut">
              <a:rPr lang="ko-KR" altLang="en-US" smtClean="0"/>
              <a:t>2026-10-28</a:t>
            </a:fld>
            <a:endParaRPr lang="ko-KR" altLang="en-US"/>
          </a:p>
        </p:txBody>
      </p:sp>
      <p:sp>
        <p:nvSpPr>
          <p:cNvPr id="3" name="바닥글 개체 틀 2">
            <a:extLst>
              <a:ext uri="{FF2B5EF4-FFF2-40B4-BE49-F238E27FC236}">
                <a16:creationId xmlns:a16="http://schemas.microsoft.com/office/drawing/2014/main" id="{2918F6C6-7D50-4690-909E-24D70857122D}"/>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FC003D21-7E9F-4E7A-9E4E-D87C7CBEFFA7}"/>
              </a:ext>
            </a:extLst>
          </p:cNvPr>
          <p:cNvSpPr>
            <a:spLocks noGrp="1"/>
          </p:cNvSpPr>
          <p:nvPr>
            <p:ph type="sldNum" sz="quarter" idx="12"/>
          </p:nvPr>
        </p:nvSpPr>
        <p:spPr/>
        <p:txBody>
          <a:bodyPr/>
          <a:lstStyle/>
          <a:p>
            <a:fld id="{FF197C78-C3C8-4C01-AE93-61C10AFD17BD}" type="slidenum">
              <a:rPr lang="ko-KR" altLang="en-US" smtClean="0"/>
              <a:t>‹#›</a:t>
            </a:fld>
            <a:endParaRPr lang="ko-KR" altLang="en-US"/>
          </a:p>
        </p:txBody>
      </p:sp>
    </p:spTree>
    <p:extLst>
      <p:ext uri="{BB962C8B-B14F-4D97-AF65-F5344CB8AC3E}">
        <p14:creationId xmlns:p14="http://schemas.microsoft.com/office/powerpoint/2010/main" val="1238197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BBE2F91-2495-4F37-87BF-039B756D5292}"/>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87FE11D3-468A-410E-A892-E377C4C517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AF8A8787-151B-47FC-92DF-FD0FA4A6CB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1EFA7F3-CCDF-424A-B878-F04F2E4ADC2A}"/>
              </a:ext>
            </a:extLst>
          </p:cNvPr>
          <p:cNvSpPr>
            <a:spLocks noGrp="1"/>
          </p:cNvSpPr>
          <p:nvPr>
            <p:ph type="dt" sz="half" idx="10"/>
          </p:nvPr>
        </p:nvSpPr>
        <p:spPr/>
        <p:txBody>
          <a:bodyPr/>
          <a:lstStyle/>
          <a:p>
            <a:fld id="{E711EA96-8E69-4E3A-9D2F-C6DECB3A626B}" type="datetimeFigureOut">
              <a:rPr lang="ko-KR" altLang="en-US" smtClean="0"/>
              <a:t>2026-10-28</a:t>
            </a:fld>
            <a:endParaRPr lang="ko-KR" altLang="en-US"/>
          </a:p>
        </p:txBody>
      </p:sp>
      <p:sp>
        <p:nvSpPr>
          <p:cNvPr id="6" name="바닥글 개체 틀 5">
            <a:extLst>
              <a:ext uri="{FF2B5EF4-FFF2-40B4-BE49-F238E27FC236}">
                <a16:creationId xmlns:a16="http://schemas.microsoft.com/office/drawing/2014/main" id="{1745D9B1-6DEA-40FB-8CB7-377FB6F9852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192F4C63-4FE3-44D6-9F59-BD60C55639D3}"/>
              </a:ext>
            </a:extLst>
          </p:cNvPr>
          <p:cNvSpPr>
            <a:spLocks noGrp="1"/>
          </p:cNvSpPr>
          <p:nvPr>
            <p:ph type="sldNum" sz="quarter" idx="12"/>
          </p:nvPr>
        </p:nvSpPr>
        <p:spPr/>
        <p:txBody>
          <a:bodyPr/>
          <a:lstStyle/>
          <a:p>
            <a:fld id="{FF197C78-C3C8-4C01-AE93-61C10AFD17BD}" type="slidenum">
              <a:rPr lang="ko-KR" altLang="en-US" smtClean="0"/>
              <a:t>‹#›</a:t>
            </a:fld>
            <a:endParaRPr lang="ko-KR" altLang="en-US"/>
          </a:p>
        </p:txBody>
      </p:sp>
    </p:spTree>
    <p:extLst>
      <p:ext uri="{BB962C8B-B14F-4D97-AF65-F5344CB8AC3E}">
        <p14:creationId xmlns:p14="http://schemas.microsoft.com/office/powerpoint/2010/main" val="3566386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954F19E-0CB6-416E-ADB6-2F49FC4B02E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0DD912E4-08EF-4822-BD2F-F16681B060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5755BAD4-0DF2-4A27-9098-0577EEF291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97639D11-8A60-4AA5-B15C-A758D9E6F242}"/>
              </a:ext>
            </a:extLst>
          </p:cNvPr>
          <p:cNvSpPr>
            <a:spLocks noGrp="1"/>
          </p:cNvSpPr>
          <p:nvPr>
            <p:ph type="dt" sz="half" idx="10"/>
          </p:nvPr>
        </p:nvSpPr>
        <p:spPr/>
        <p:txBody>
          <a:bodyPr/>
          <a:lstStyle/>
          <a:p>
            <a:fld id="{E711EA96-8E69-4E3A-9D2F-C6DECB3A626B}" type="datetimeFigureOut">
              <a:rPr lang="ko-KR" altLang="en-US" smtClean="0"/>
              <a:t>2026-10-28</a:t>
            </a:fld>
            <a:endParaRPr lang="ko-KR" altLang="en-US"/>
          </a:p>
        </p:txBody>
      </p:sp>
      <p:sp>
        <p:nvSpPr>
          <p:cNvPr id="6" name="바닥글 개체 틀 5">
            <a:extLst>
              <a:ext uri="{FF2B5EF4-FFF2-40B4-BE49-F238E27FC236}">
                <a16:creationId xmlns:a16="http://schemas.microsoft.com/office/drawing/2014/main" id="{4BA1365D-0B8D-40D2-B0C8-D5DCC0CEA17D}"/>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91F348F-940C-48A1-A6FA-A3F46C5B882E}"/>
              </a:ext>
            </a:extLst>
          </p:cNvPr>
          <p:cNvSpPr>
            <a:spLocks noGrp="1"/>
          </p:cNvSpPr>
          <p:nvPr>
            <p:ph type="sldNum" sz="quarter" idx="12"/>
          </p:nvPr>
        </p:nvSpPr>
        <p:spPr/>
        <p:txBody>
          <a:bodyPr/>
          <a:lstStyle/>
          <a:p>
            <a:fld id="{FF197C78-C3C8-4C01-AE93-61C10AFD17BD}" type="slidenum">
              <a:rPr lang="ko-KR" altLang="en-US" smtClean="0"/>
              <a:t>‹#›</a:t>
            </a:fld>
            <a:endParaRPr lang="ko-KR" altLang="en-US"/>
          </a:p>
        </p:txBody>
      </p:sp>
    </p:spTree>
    <p:extLst>
      <p:ext uri="{BB962C8B-B14F-4D97-AF65-F5344CB8AC3E}">
        <p14:creationId xmlns:p14="http://schemas.microsoft.com/office/powerpoint/2010/main" val="1763289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8BF51F2-AF90-4633-BB15-B02AE961C2FF}"/>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628BBA9-B365-47A2-B152-9160599C3104}"/>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51AF7C64-026B-43B7-AB37-5032B2D0E0AF}"/>
              </a:ext>
            </a:extLst>
          </p:cNvPr>
          <p:cNvSpPr>
            <a:spLocks noGrp="1"/>
          </p:cNvSpPr>
          <p:nvPr>
            <p:ph type="dt" sz="half" idx="10"/>
          </p:nvPr>
        </p:nvSpPr>
        <p:spPr/>
        <p:txBody>
          <a:bodyPr/>
          <a:lstStyle/>
          <a:p>
            <a:fld id="{E711EA96-8E69-4E3A-9D2F-C6DECB3A626B}" type="datetimeFigureOut">
              <a:rPr lang="ko-KR" altLang="en-US" smtClean="0"/>
              <a:t>2026-10-28</a:t>
            </a:fld>
            <a:endParaRPr lang="ko-KR" altLang="en-US"/>
          </a:p>
        </p:txBody>
      </p:sp>
      <p:sp>
        <p:nvSpPr>
          <p:cNvPr id="5" name="바닥글 개체 틀 4">
            <a:extLst>
              <a:ext uri="{FF2B5EF4-FFF2-40B4-BE49-F238E27FC236}">
                <a16:creationId xmlns:a16="http://schemas.microsoft.com/office/drawing/2014/main" id="{96B9517F-01D1-42EA-946A-0DE42C68FEE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3A0F8CC-24E7-4C94-89BF-9EBDCDCEAEB0}"/>
              </a:ext>
            </a:extLst>
          </p:cNvPr>
          <p:cNvSpPr>
            <a:spLocks noGrp="1"/>
          </p:cNvSpPr>
          <p:nvPr>
            <p:ph type="sldNum" sz="quarter" idx="12"/>
          </p:nvPr>
        </p:nvSpPr>
        <p:spPr/>
        <p:txBody>
          <a:bodyPr/>
          <a:lstStyle/>
          <a:p>
            <a:fld id="{FF197C78-C3C8-4C01-AE93-61C10AFD17BD}" type="slidenum">
              <a:rPr lang="ko-KR" altLang="en-US" smtClean="0"/>
              <a:t>‹#›</a:t>
            </a:fld>
            <a:endParaRPr lang="ko-KR" altLang="en-US"/>
          </a:p>
        </p:txBody>
      </p:sp>
    </p:spTree>
    <p:extLst>
      <p:ext uri="{BB962C8B-B14F-4D97-AF65-F5344CB8AC3E}">
        <p14:creationId xmlns:p14="http://schemas.microsoft.com/office/powerpoint/2010/main" val="849483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80900B77-163D-43FD-ACBE-E6D254F41E7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B0D1AC74-E935-4D6B-A660-123984D7D1AB}"/>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E9ABD84-B392-4F95-93DD-2CCE6C8BBB91}"/>
              </a:ext>
            </a:extLst>
          </p:cNvPr>
          <p:cNvSpPr>
            <a:spLocks noGrp="1"/>
          </p:cNvSpPr>
          <p:nvPr>
            <p:ph type="dt" sz="half" idx="10"/>
          </p:nvPr>
        </p:nvSpPr>
        <p:spPr/>
        <p:txBody>
          <a:bodyPr/>
          <a:lstStyle/>
          <a:p>
            <a:fld id="{E711EA96-8E69-4E3A-9D2F-C6DECB3A626B}" type="datetimeFigureOut">
              <a:rPr lang="ko-KR" altLang="en-US" smtClean="0"/>
              <a:t>2026-10-28</a:t>
            </a:fld>
            <a:endParaRPr lang="ko-KR" altLang="en-US"/>
          </a:p>
        </p:txBody>
      </p:sp>
      <p:sp>
        <p:nvSpPr>
          <p:cNvPr id="5" name="바닥글 개체 틀 4">
            <a:extLst>
              <a:ext uri="{FF2B5EF4-FFF2-40B4-BE49-F238E27FC236}">
                <a16:creationId xmlns:a16="http://schemas.microsoft.com/office/drawing/2014/main" id="{C2D11B3F-2E92-4B6C-9C59-F2DE46CE471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72596E0-407A-415D-A6E0-D68C2E89F81D}"/>
              </a:ext>
            </a:extLst>
          </p:cNvPr>
          <p:cNvSpPr>
            <a:spLocks noGrp="1"/>
          </p:cNvSpPr>
          <p:nvPr>
            <p:ph type="sldNum" sz="quarter" idx="12"/>
          </p:nvPr>
        </p:nvSpPr>
        <p:spPr/>
        <p:txBody>
          <a:bodyPr/>
          <a:lstStyle/>
          <a:p>
            <a:fld id="{FF197C78-C3C8-4C01-AE93-61C10AFD17BD}" type="slidenum">
              <a:rPr lang="ko-KR" altLang="en-US" smtClean="0"/>
              <a:t>‹#›</a:t>
            </a:fld>
            <a:endParaRPr lang="ko-KR" altLang="en-US"/>
          </a:p>
        </p:txBody>
      </p:sp>
    </p:spTree>
    <p:extLst>
      <p:ext uri="{BB962C8B-B14F-4D97-AF65-F5344CB8AC3E}">
        <p14:creationId xmlns:p14="http://schemas.microsoft.com/office/powerpoint/2010/main" val="362051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과제소개">
    <p:spTree>
      <p:nvGrpSpPr>
        <p:cNvPr id="1" name=""/>
        <p:cNvGrpSpPr/>
        <p:nvPr/>
      </p:nvGrpSpPr>
      <p:grpSpPr>
        <a:xfrm>
          <a:off x="0" y="0"/>
          <a:ext cx="0" cy="0"/>
          <a:chOff x="0" y="0"/>
          <a:chExt cx="0" cy="0"/>
        </a:xfrm>
      </p:grpSpPr>
      <p:cxnSp>
        <p:nvCxnSpPr>
          <p:cNvPr id="12" name="직선 연결선 11"/>
          <p:cNvCxnSpPr/>
          <p:nvPr userDrawn="1"/>
        </p:nvCxnSpPr>
        <p:spPr>
          <a:xfrm>
            <a:off x="234950" y="654050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직선 연결선 19"/>
          <p:cNvCxnSpPr/>
          <p:nvPr userDrawn="1"/>
        </p:nvCxnSpPr>
        <p:spPr>
          <a:xfrm>
            <a:off x="234950" y="53975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제목 개체 틀 1"/>
          <p:cNvSpPr>
            <a:spLocks noGrp="1"/>
          </p:cNvSpPr>
          <p:nvPr>
            <p:ph type="title"/>
          </p:nvPr>
        </p:nvSpPr>
        <p:spPr>
          <a:xfrm>
            <a:off x="234948" y="137379"/>
            <a:ext cx="7655985" cy="365125"/>
          </a:xfrm>
          <a:prstGeom prst="rect">
            <a:avLst/>
          </a:prstGeom>
        </p:spPr>
        <p:txBody>
          <a:bodyPr vert="horz" lIns="91440" tIns="45720" rIns="91440" bIns="45720" rtlCol="0" anchor="ctr">
            <a:noAutofit/>
          </a:bodyPr>
          <a:lstStyle>
            <a:lvl1pPr>
              <a:defRPr sz="1800" b="1"/>
            </a:lvl1pPr>
          </a:lstStyle>
          <a:p>
            <a:r>
              <a:rPr lang="ko-KR" altLang="en-US" dirty="0"/>
              <a:t>마스터 제목 스타일 편집</a:t>
            </a:r>
          </a:p>
        </p:txBody>
      </p:sp>
      <p:grpSp>
        <p:nvGrpSpPr>
          <p:cNvPr id="3" name="그룹 2">
            <a:extLst>
              <a:ext uri="{FF2B5EF4-FFF2-40B4-BE49-F238E27FC236}">
                <a16:creationId xmlns:a16="http://schemas.microsoft.com/office/drawing/2014/main" id="{BF6FB25F-7B1E-410A-903C-9DE680EED1C3}"/>
              </a:ext>
            </a:extLst>
          </p:cNvPr>
          <p:cNvGrpSpPr/>
          <p:nvPr userDrawn="1"/>
        </p:nvGrpSpPr>
        <p:grpSpPr>
          <a:xfrm>
            <a:off x="7995393" y="137379"/>
            <a:ext cx="4006094" cy="357521"/>
            <a:chOff x="7522576" y="137379"/>
            <a:chExt cx="4478924" cy="357521"/>
          </a:xfrm>
        </p:grpSpPr>
        <p:sp>
          <p:nvSpPr>
            <p:cNvPr id="22" name="갈매기형 수장 21"/>
            <p:cNvSpPr/>
            <p:nvPr userDrawn="1"/>
          </p:nvSpPr>
          <p:spPr>
            <a:xfrm>
              <a:off x="7522576" y="137379"/>
              <a:ext cx="1031887" cy="357521"/>
            </a:xfrm>
            <a:prstGeom prst="chevron">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lIns="0" tIns="0" rIns="0" bIns="0" rtlCol="0" anchor="ctr"/>
            <a:lstStyle/>
            <a:p>
              <a:pPr lvl="0" algn="ctr"/>
              <a:r>
                <a:rPr lang="ko-KR" altLang="en-US" sz="1000" b="1" dirty="0">
                  <a:solidFill>
                    <a:schemeClr val="bg1"/>
                  </a:solidFill>
                </a:rPr>
                <a:t>과제 소개</a:t>
              </a:r>
            </a:p>
          </p:txBody>
        </p:sp>
        <p:sp>
          <p:nvSpPr>
            <p:cNvPr id="23" name="갈매기형 수장 22"/>
            <p:cNvSpPr/>
            <p:nvPr userDrawn="1"/>
          </p:nvSpPr>
          <p:spPr>
            <a:xfrm>
              <a:off x="8415057"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요구사항</a:t>
              </a:r>
            </a:p>
          </p:txBody>
        </p:sp>
        <p:sp>
          <p:nvSpPr>
            <p:cNvPr id="25" name="갈매기형 수장 24"/>
            <p:cNvSpPr/>
            <p:nvPr userDrawn="1"/>
          </p:nvSpPr>
          <p:spPr>
            <a:xfrm>
              <a:off x="9313975"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설계</a:t>
              </a:r>
            </a:p>
          </p:txBody>
        </p:sp>
        <p:sp>
          <p:nvSpPr>
            <p:cNvPr id="26" name="갈매기형 수장 25"/>
            <p:cNvSpPr/>
            <p:nvPr userDrawn="1"/>
          </p:nvSpPr>
          <p:spPr>
            <a:xfrm>
              <a:off x="10206457"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구현</a:t>
              </a:r>
              <a:r>
                <a:rPr lang="en-US" altLang="ko-KR" sz="1000" b="1" dirty="0">
                  <a:solidFill>
                    <a:schemeClr val="bg1"/>
                  </a:solidFill>
                </a:rPr>
                <a:t>/</a:t>
              </a:r>
              <a:r>
                <a:rPr lang="ko-KR" altLang="en-US" sz="1000" b="1" dirty="0">
                  <a:solidFill>
                    <a:schemeClr val="bg1"/>
                  </a:solidFill>
                </a:rPr>
                <a:t>검증</a:t>
              </a:r>
            </a:p>
          </p:txBody>
        </p:sp>
        <p:sp>
          <p:nvSpPr>
            <p:cNvPr id="27" name="갈매기형 수장 26"/>
            <p:cNvSpPr/>
            <p:nvPr userDrawn="1"/>
          </p:nvSpPr>
          <p:spPr>
            <a:xfrm>
              <a:off x="11105815" y="137379"/>
              <a:ext cx="892483"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결론</a:t>
              </a:r>
            </a:p>
          </p:txBody>
        </p:sp>
        <p:sp>
          <p:nvSpPr>
            <p:cNvPr id="29" name="직사각형 28"/>
            <p:cNvSpPr/>
            <p:nvPr userDrawn="1"/>
          </p:nvSpPr>
          <p:spPr>
            <a:xfrm>
              <a:off x="11789373" y="137379"/>
              <a:ext cx="212127" cy="357521"/>
            </a:xfrm>
            <a:prstGeom prst="rect">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endParaRPr lang="ko-KR" altLang="en-US" sz="1000" b="1">
                <a:solidFill>
                  <a:schemeClr val="bg1"/>
                </a:solidFill>
              </a:endParaRPr>
            </a:p>
          </p:txBody>
        </p:sp>
        <p:sp>
          <p:nvSpPr>
            <p:cNvPr id="30" name="직사각형 29"/>
            <p:cNvSpPr/>
            <p:nvPr userDrawn="1"/>
          </p:nvSpPr>
          <p:spPr>
            <a:xfrm>
              <a:off x="7528835" y="137379"/>
              <a:ext cx="212127" cy="357521"/>
            </a:xfrm>
            <a:prstGeom prst="rect">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lIns="0" tIns="0" rIns="0" bIns="0" rtlCol="0" anchor="ctr"/>
            <a:lstStyle/>
            <a:p>
              <a:pPr lvl="0" algn="ctr"/>
              <a:endParaRPr lang="ko-KR" altLang="en-US" sz="1000" b="1" dirty="0">
                <a:solidFill>
                  <a:schemeClr val="bg1"/>
                </a:solidFill>
              </a:endParaRPr>
            </a:p>
          </p:txBody>
        </p:sp>
      </p:grpSp>
    </p:spTree>
    <p:extLst>
      <p:ext uri="{BB962C8B-B14F-4D97-AF65-F5344CB8AC3E}">
        <p14:creationId xmlns:p14="http://schemas.microsoft.com/office/powerpoint/2010/main" val="2231954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9C0F7566-AE01-471E-8BA4-E8D53CC0E2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F7270F5-62D9-496C-897C-6B892050E6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8F0CFBD-8A2D-483D-81C3-5CC97EBBF2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11EA96-8E69-4E3A-9D2F-C6DECB3A626B}" type="datetimeFigureOut">
              <a:rPr lang="ko-KR" altLang="en-US" smtClean="0"/>
              <a:t>2026-10-28</a:t>
            </a:fld>
            <a:endParaRPr lang="ko-KR" altLang="en-US"/>
          </a:p>
        </p:txBody>
      </p:sp>
      <p:sp>
        <p:nvSpPr>
          <p:cNvPr id="5" name="바닥글 개체 틀 4">
            <a:extLst>
              <a:ext uri="{FF2B5EF4-FFF2-40B4-BE49-F238E27FC236}">
                <a16:creationId xmlns:a16="http://schemas.microsoft.com/office/drawing/2014/main" id="{7F3FDE61-B9F7-4A49-9ABD-F39F343B25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ED6BD013-C5A8-4420-B138-E6B6E894CA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197C78-C3C8-4C01-AE93-61C10AFD17BD}" type="slidenum">
              <a:rPr lang="ko-KR" altLang="en-US" smtClean="0"/>
              <a:t>‹#›</a:t>
            </a:fld>
            <a:endParaRPr lang="ko-KR" altLang="en-US"/>
          </a:p>
        </p:txBody>
      </p:sp>
    </p:spTree>
    <p:extLst>
      <p:ext uri="{BB962C8B-B14F-4D97-AF65-F5344CB8AC3E}">
        <p14:creationId xmlns:p14="http://schemas.microsoft.com/office/powerpoint/2010/main" val="37874441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과제 필요성</a:t>
            </a:r>
          </a:p>
        </p:txBody>
      </p:sp>
      <p:sp>
        <p:nvSpPr>
          <p:cNvPr id="55" name="모서리가 둥근 직사각형 54"/>
          <p:cNvSpPr/>
          <p:nvPr/>
        </p:nvSpPr>
        <p:spPr>
          <a:xfrm>
            <a:off x="6172198" y="899161"/>
            <a:ext cx="5830571" cy="4625758"/>
          </a:xfrm>
          <a:prstGeom prst="roundRect">
            <a:avLst>
              <a:gd name="adj" fmla="val 4519"/>
            </a:avLst>
          </a:prstGeom>
          <a:noFill/>
          <a:ln w="28575">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모서리가 둥근 직사각형 55"/>
          <p:cNvSpPr/>
          <p:nvPr/>
        </p:nvSpPr>
        <p:spPr>
          <a:xfrm>
            <a:off x="234948" y="899160"/>
            <a:ext cx="5830571" cy="5492839"/>
          </a:xfrm>
          <a:prstGeom prst="roundRect">
            <a:avLst>
              <a:gd name="adj" fmla="val 4519"/>
            </a:avLst>
          </a:prstGeom>
          <a:noFill/>
          <a:ln w="28575">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803967" y="698834"/>
            <a:ext cx="4716897" cy="369715"/>
          </a:xfrm>
          <a:prstGeom prst="rect">
            <a:avLst/>
          </a:prstGeom>
          <a:solidFill>
            <a:schemeClr val="bg2">
              <a:lumMod val="2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ko-KR" altLang="en-US" sz="1400" b="1" dirty="0"/>
              <a:t>미래 시장 수요에 선제 대응하기 위한 솔루션 연구 필요 </a:t>
            </a:r>
            <a:endParaRPr lang="en-US" altLang="ko-KR" sz="1400" b="1" dirty="0"/>
          </a:p>
        </p:txBody>
      </p:sp>
      <p:sp>
        <p:nvSpPr>
          <p:cNvPr id="59" name="직사각형 58"/>
          <p:cNvSpPr/>
          <p:nvPr/>
        </p:nvSpPr>
        <p:spPr>
          <a:xfrm>
            <a:off x="6943438" y="698834"/>
            <a:ext cx="4288088" cy="369715"/>
          </a:xfrm>
          <a:prstGeom prst="rect">
            <a:avLst/>
          </a:prstGeom>
          <a:solidFill>
            <a:schemeClr val="bg2">
              <a:lumMod val="2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ko-KR" altLang="en-US" sz="1400" b="1" dirty="0"/>
              <a:t>기존 </a:t>
            </a:r>
            <a:r>
              <a:rPr lang="en-US" altLang="ko-KR" sz="1400" b="1" dirty="0"/>
              <a:t>AI SW </a:t>
            </a:r>
            <a:r>
              <a:rPr lang="ko-KR" altLang="en-US" sz="1400" b="1" dirty="0"/>
              <a:t>역할의 한계</a:t>
            </a:r>
          </a:p>
        </p:txBody>
      </p:sp>
      <p:sp>
        <p:nvSpPr>
          <p:cNvPr id="4" name="실행 단추: 앞으로 또는 다음 3">
            <a:hlinkClick r:id="" action="ppaction://noaction" highlightClick="1"/>
          </p:cNvPr>
          <p:cNvSpPr/>
          <p:nvPr/>
        </p:nvSpPr>
        <p:spPr>
          <a:xfrm>
            <a:off x="7557747" y="205641"/>
            <a:ext cx="220978" cy="228599"/>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7" name="TextBox 106"/>
          <p:cNvSpPr txBox="1"/>
          <p:nvPr/>
        </p:nvSpPr>
        <p:spPr>
          <a:xfrm>
            <a:off x="6382851" y="205641"/>
            <a:ext cx="1174896" cy="215444"/>
          </a:xfrm>
          <a:prstGeom prst="rect">
            <a:avLst/>
          </a:prstGeom>
          <a:noFill/>
        </p:spPr>
        <p:txBody>
          <a:bodyPr wrap="square" rtlCol="0">
            <a:spAutoFit/>
          </a:bodyPr>
          <a:lstStyle/>
          <a:p>
            <a:r>
              <a:rPr lang="en-US" altLang="ko-KR" sz="800" b="1" dirty="0">
                <a:solidFill>
                  <a:schemeClr val="tx1">
                    <a:lumMod val="50000"/>
                    <a:lumOff val="50000"/>
                  </a:schemeClr>
                </a:solidFill>
              </a:rPr>
              <a:t>System </a:t>
            </a:r>
            <a:r>
              <a:rPr lang="ko-KR" altLang="en-US" sz="800" b="1" dirty="0">
                <a:solidFill>
                  <a:schemeClr val="tx1">
                    <a:lumMod val="50000"/>
                    <a:lumOff val="50000"/>
                  </a:schemeClr>
                </a:solidFill>
              </a:rPr>
              <a:t>연구 필요성</a:t>
            </a:r>
          </a:p>
        </p:txBody>
      </p:sp>
      <p:sp>
        <p:nvSpPr>
          <p:cNvPr id="111" name="TextBox 110"/>
          <p:cNvSpPr txBox="1"/>
          <p:nvPr/>
        </p:nvSpPr>
        <p:spPr>
          <a:xfrm>
            <a:off x="264303" y="1147570"/>
            <a:ext cx="5771860" cy="333617"/>
          </a:xfrm>
          <a:prstGeom prst="rect">
            <a:avLst/>
          </a:prstGeom>
          <a:noFill/>
        </p:spPr>
        <p:txBody>
          <a:bodyPr wrap="square" rtlCol="0">
            <a:spAutoFit/>
          </a:bodyPr>
          <a:lstStyle>
            <a:defPPr>
              <a:defRPr lang="ko-KR"/>
            </a:defPPr>
            <a:lvl1pPr algn="ctr">
              <a:defRPr sz="1000">
                <a:latin typeface="+mn-ea"/>
              </a:defRPr>
            </a:lvl1pPr>
          </a:lstStyle>
          <a:p>
            <a:pPr algn="l">
              <a:lnSpc>
                <a:spcPct val="150000"/>
              </a:lnSpc>
            </a:pPr>
            <a:r>
              <a:rPr lang="ko-KR" altLang="en-US" sz="1200" dirty="0">
                <a:latin typeface="+mj-ea"/>
                <a:ea typeface="+mj-ea"/>
              </a:rPr>
              <a:t>■ </a:t>
            </a:r>
            <a:r>
              <a:rPr lang="ko-KR" altLang="en-US" sz="1200" b="1" dirty="0">
                <a:latin typeface="+mj-ea"/>
                <a:ea typeface="+mj-ea"/>
              </a:rPr>
              <a:t>향후 어떤 메모리</a:t>
            </a:r>
            <a:r>
              <a:rPr lang="en-US" altLang="ko-KR" sz="1200" b="1" dirty="0">
                <a:latin typeface="+mj-ea"/>
                <a:ea typeface="+mj-ea"/>
              </a:rPr>
              <a:t> </a:t>
            </a:r>
            <a:r>
              <a:rPr lang="ko-KR" altLang="en-US" sz="1200" b="1" dirty="0">
                <a:latin typeface="+mj-ea"/>
                <a:ea typeface="+mj-ea"/>
              </a:rPr>
              <a:t>제품의 수요가 증가할지 불확실 </a:t>
            </a:r>
            <a:r>
              <a:rPr lang="en-US" altLang="ko-KR" sz="1200" b="1" dirty="0">
                <a:latin typeface="+mj-ea"/>
                <a:ea typeface="+mj-ea"/>
              </a:rPr>
              <a:t>→ </a:t>
            </a:r>
            <a:r>
              <a:rPr lang="ko-KR" altLang="en-US" sz="1200" b="1" dirty="0">
                <a:latin typeface="+mj-ea"/>
                <a:ea typeface="+mj-ea"/>
              </a:rPr>
              <a:t>선제적 솔루션 준비 필요</a:t>
            </a:r>
            <a:endParaRPr lang="en-US" altLang="ko-KR" sz="1200" b="1" dirty="0">
              <a:solidFill>
                <a:srgbClr val="222222"/>
              </a:solidFill>
              <a:latin typeface="+mj-ea"/>
              <a:ea typeface="+mj-ea"/>
            </a:endParaRPr>
          </a:p>
        </p:txBody>
      </p:sp>
      <p:sp>
        <p:nvSpPr>
          <p:cNvPr id="112" name="TextBox 111"/>
          <p:cNvSpPr txBox="1"/>
          <p:nvPr/>
        </p:nvSpPr>
        <p:spPr>
          <a:xfrm>
            <a:off x="293659" y="4163440"/>
            <a:ext cx="5771860" cy="610616"/>
          </a:xfrm>
          <a:prstGeom prst="rect">
            <a:avLst/>
          </a:prstGeom>
          <a:noFill/>
        </p:spPr>
        <p:txBody>
          <a:bodyPr wrap="square" rtlCol="0">
            <a:spAutoFit/>
          </a:bodyPr>
          <a:lstStyle>
            <a:defPPr>
              <a:defRPr lang="ko-KR"/>
            </a:defPPr>
            <a:lvl1pPr algn="ctr">
              <a:defRPr sz="1000">
                <a:latin typeface="+mn-ea"/>
              </a:defRPr>
            </a:lvl1pPr>
          </a:lstStyle>
          <a:p>
            <a:pPr algn="l">
              <a:lnSpc>
                <a:spcPct val="150000"/>
              </a:lnSpc>
            </a:pPr>
            <a:r>
              <a:rPr lang="ko-KR" altLang="en-US" sz="1200" b="1" dirty="0"/>
              <a:t>■ 연구소의 역할</a:t>
            </a:r>
            <a:r>
              <a:rPr lang="en-US" altLang="ko-KR" sz="1200" b="1" dirty="0"/>
              <a:t>: </a:t>
            </a:r>
            <a:r>
              <a:rPr lang="ko-KR" altLang="en-US" sz="1200" b="1" dirty="0"/>
              <a:t>시스템 관점에서 시장</a:t>
            </a:r>
            <a:r>
              <a:rPr lang="en-US" altLang="ko-KR" sz="1200" b="1" dirty="0"/>
              <a:t>, </a:t>
            </a:r>
            <a:r>
              <a:rPr lang="ko-KR" altLang="en-US" sz="1200" b="1" dirty="0"/>
              <a:t>고객이 필요로 하는 것을 선제 파악하고 당사 차세대 </a:t>
            </a:r>
            <a:r>
              <a:rPr lang="en-US" altLang="ko-KR" sz="1200" b="1" dirty="0"/>
              <a:t>Device </a:t>
            </a:r>
            <a:r>
              <a:rPr lang="ko-KR" altLang="en-US" sz="1200" b="1" dirty="0"/>
              <a:t>개발 방향을 제시 </a:t>
            </a:r>
            <a:endParaRPr lang="en-US" altLang="ko-KR" sz="1200" b="1" strike="sngStrike" dirty="0"/>
          </a:p>
        </p:txBody>
      </p:sp>
      <p:sp>
        <p:nvSpPr>
          <p:cNvPr id="118" name="TextBox 117"/>
          <p:cNvSpPr txBox="1"/>
          <p:nvPr/>
        </p:nvSpPr>
        <p:spPr>
          <a:xfrm>
            <a:off x="6201552" y="3447357"/>
            <a:ext cx="5771860" cy="333617"/>
          </a:xfrm>
          <a:prstGeom prst="rect">
            <a:avLst/>
          </a:prstGeom>
          <a:noFill/>
        </p:spPr>
        <p:txBody>
          <a:bodyPr wrap="square" rtlCol="0">
            <a:spAutoFit/>
          </a:bodyPr>
          <a:lstStyle>
            <a:defPPr>
              <a:defRPr lang="ko-KR"/>
            </a:defPPr>
            <a:lvl1pPr algn="ctr">
              <a:defRPr sz="1000">
                <a:latin typeface="+mn-ea"/>
              </a:defRPr>
            </a:lvl1pPr>
          </a:lstStyle>
          <a:p>
            <a:pPr algn="l">
              <a:lnSpc>
                <a:spcPct val="150000"/>
              </a:lnSpc>
            </a:pPr>
            <a:r>
              <a:rPr lang="ko-KR" altLang="en-US" sz="1200" dirty="0"/>
              <a:t>■ </a:t>
            </a:r>
            <a:r>
              <a:rPr lang="ko-KR" altLang="en-US" sz="1200" b="1" dirty="0"/>
              <a:t>이기종 메모리를 고려하는 </a:t>
            </a:r>
            <a:r>
              <a:rPr lang="en-US" altLang="ko-KR" sz="1200" b="1" dirty="0"/>
              <a:t>SW </a:t>
            </a:r>
            <a:r>
              <a:rPr lang="ko-KR" altLang="en-US" sz="1200" b="1" dirty="0"/>
              <a:t>부재</a:t>
            </a:r>
            <a:endParaRPr lang="en-US" altLang="ko-KR" sz="1200" b="1" dirty="0"/>
          </a:p>
        </p:txBody>
      </p:sp>
      <p:sp>
        <p:nvSpPr>
          <p:cNvPr id="8" name="TextBox 7">
            <a:extLst>
              <a:ext uri="{FF2B5EF4-FFF2-40B4-BE49-F238E27FC236}">
                <a16:creationId xmlns:a16="http://schemas.microsoft.com/office/drawing/2014/main" id="{3E426D35-55AF-4F94-AC6D-261857A848AB}"/>
              </a:ext>
            </a:extLst>
          </p:cNvPr>
          <p:cNvSpPr txBox="1"/>
          <p:nvPr/>
        </p:nvSpPr>
        <p:spPr>
          <a:xfrm>
            <a:off x="6311736" y="5829014"/>
            <a:ext cx="5660287" cy="675634"/>
          </a:xfrm>
          <a:prstGeom prst="rect">
            <a:avLst/>
          </a:prstGeom>
          <a:noFill/>
        </p:spPr>
        <p:txBody>
          <a:bodyPr wrap="square" rtlCol="0">
            <a:spAutoFit/>
          </a:bodyPr>
          <a:lstStyle/>
          <a:p>
            <a:pPr algn="ctr">
              <a:lnSpc>
                <a:spcPct val="125000"/>
              </a:lnSpc>
            </a:pPr>
            <a:r>
              <a:rPr lang="ko-KR" altLang="en-US" sz="1600" b="1" dirty="0">
                <a:solidFill>
                  <a:srgbClr val="0000FF"/>
                </a:solidFill>
              </a:rPr>
              <a:t>이기종 메모리를 활용하여 </a:t>
            </a:r>
            <a:endParaRPr lang="en-US" altLang="ko-KR" sz="1600" b="1" dirty="0">
              <a:solidFill>
                <a:srgbClr val="0000FF"/>
              </a:solidFill>
            </a:endParaRPr>
          </a:p>
          <a:p>
            <a:pPr algn="ctr">
              <a:lnSpc>
                <a:spcPct val="125000"/>
              </a:lnSpc>
            </a:pPr>
            <a:r>
              <a:rPr lang="en-US" altLang="ko-KR" sz="1600" b="1" dirty="0">
                <a:solidFill>
                  <a:srgbClr val="0000FF"/>
                </a:solidFill>
              </a:rPr>
              <a:t>LLM </a:t>
            </a:r>
            <a:r>
              <a:rPr lang="ko-KR" altLang="en-US" sz="1600" b="1" dirty="0">
                <a:solidFill>
                  <a:srgbClr val="0000FF"/>
                </a:solidFill>
              </a:rPr>
              <a:t>추론 처리량을 향상시키는 </a:t>
            </a:r>
            <a:r>
              <a:rPr lang="en-US" altLang="ko-KR" sz="1600" b="1" dirty="0">
                <a:solidFill>
                  <a:srgbClr val="0000FF"/>
                </a:solidFill>
              </a:rPr>
              <a:t>SW </a:t>
            </a:r>
            <a:r>
              <a:rPr lang="ko-KR" altLang="en-US" sz="1600" b="1" dirty="0">
                <a:solidFill>
                  <a:srgbClr val="0000FF"/>
                </a:solidFill>
              </a:rPr>
              <a:t>연구 개발 필요 </a:t>
            </a:r>
          </a:p>
        </p:txBody>
      </p:sp>
      <p:sp>
        <p:nvSpPr>
          <p:cNvPr id="2" name="화살표: 아래쪽 1">
            <a:extLst>
              <a:ext uri="{FF2B5EF4-FFF2-40B4-BE49-F238E27FC236}">
                <a16:creationId xmlns:a16="http://schemas.microsoft.com/office/drawing/2014/main" id="{B625C597-E67B-4695-9BC8-B8F2F6B8E5EB}"/>
              </a:ext>
            </a:extLst>
          </p:cNvPr>
          <p:cNvSpPr/>
          <p:nvPr/>
        </p:nvSpPr>
        <p:spPr>
          <a:xfrm>
            <a:off x="8857640" y="5605896"/>
            <a:ext cx="651672" cy="2013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6" name="Text 72">
            <a:extLst>
              <a:ext uri="{FF2B5EF4-FFF2-40B4-BE49-F238E27FC236}">
                <a16:creationId xmlns:a16="http://schemas.microsoft.com/office/drawing/2014/main" id="{6A49CD4B-9085-4E60-A50E-F364EF7FACD3}"/>
              </a:ext>
            </a:extLst>
          </p:cNvPr>
          <p:cNvSpPr/>
          <p:nvPr/>
        </p:nvSpPr>
        <p:spPr>
          <a:xfrm>
            <a:off x="355600" y="6529437"/>
            <a:ext cx="11825224" cy="406400"/>
          </a:xfrm>
          <a:prstGeom prst="rect">
            <a:avLst/>
          </a:prstGeom>
          <a:noFill/>
          <a:ln/>
        </p:spPr>
        <p:txBody>
          <a:bodyPr wrap="square" lIns="0" tIns="0" rIns="0" bIns="0" rtlCol="0" anchor="t">
            <a:normAutofit/>
          </a:bodyPr>
          <a:lstStyle/>
          <a:p>
            <a:pPr marL="0" indent="0" algn="l">
              <a:lnSpc>
                <a:spcPts val="1500"/>
              </a:lnSpc>
              <a:buNone/>
            </a:pPr>
            <a:endParaRPr lang="en-US" sz="800" dirty="0"/>
          </a:p>
        </p:txBody>
      </p:sp>
      <p:sp>
        <p:nvSpPr>
          <p:cNvPr id="147" name="Text 73">
            <a:extLst>
              <a:ext uri="{FF2B5EF4-FFF2-40B4-BE49-F238E27FC236}">
                <a16:creationId xmlns:a16="http://schemas.microsoft.com/office/drawing/2014/main" id="{F75DD127-0D34-4AC7-9145-274EC0C2BBCC}"/>
              </a:ext>
            </a:extLst>
          </p:cNvPr>
          <p:cNvSpPr/>
          <p:nvPr/>
        </p:nvSpPr>
        <p:spPr>
          <a:xfrm>
            <a:off x="355600" y="6643194"/>
            <a:ext cx="11825224" cy="196959"/>
          </a:xfrm>
          <a:prstGeom prst="rect">
            <a:avLst/>
          </a:prstGeom>
          <a:noFill/>
          <a:ln/>
        </p:spPr>
        <p:txBody>
          <a:bodyPr wrap="square" lIns="0" tIns="0" rIns="0" bIns="0" rtlCol="0" anchor="t">
            <a:normAutofit/>
          </a:bodyPr>
          <a:lstStyle/>
          <a:p>
            <a:pPr marL="0" indent="0" algn="l">
              <a:lnSpc>
                <a:spcPts val="1500"/>
              </a:lnSpc>
              <a:buNone/>
            </a:pPr>
            <a:r>
              <a:rPr lang="en-US" sz="800" dirty="0">
                <a:solidFill>
                  <a:srgbClr val="555555"/>
                </a:solidFill>
                <a:latin typeface="Noto Sans KR" pitchFamily="34" charset="0"/>
                <a:ea typeface="Noto Sans KR" pitchFamily="34" charset="-122"/>
                <a:cs typeface="Noto Sans KR" pitchFamily="34" charset="-120"/>
              </a:rPr>
              <a:t>출처: [1] arXiv:2608.15127 · [2] ThunderAgent, arXiv:2602.13692 · [3] XConn·MemVerge SC25 시연(Introl 인용) · [4] arXiv:2607.28633 · [5] LMCache Docs, Architecture · [6] TrendForce News(2026.10.13) 등 공개 보도</a:t>
            </a:r>
            <a:endParaRPr lang="en-US" sz="800" dirty="0"/>
          </a:p>
        </p:txBody>
      </p:sp>
      <p:sp>
        <p:nvSpPr>
          <p:cNvPr id="47" name="Rectangle 64">
            <a:extLst>
              <a:ext uri="{FF2B5EF4-FFF2-40B4-BE49-F238E27FC236}">
                <a16:creationId xmlns:a16="http://schemas.microsoft.com/office/drawing/2014/main" id="{8DCA8C13-6BCB-483C-8687-92D69655611B}"/>
              </a:ext>
            </a:extLst>
          </p:cNvPr>
          <p:cNvSpPr/>
          <p:nvPr/>
        </p:nvSpPr>
        <p:spPr>
          <a:xfrm>
            <a:off x="6411954" y="3877593"/>
            <a:ext cx="5212080" cy="274320"/>
          </a:xfrm>
          <a:prstGeom prst="rect">
            <a:avLst/>
          </a:prstGeom>
          <a:solidFill>
            <a:srgbClr val="DEEBF7"/>
          </a:solidFill>
          <a:ln w="1016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200"/>
              </a:spcAft>
            </a:pPr>
            <a:r>
              <a:rPr sz="1000" b="1" dirty="0">
                <a:solidFill>
                  <a:srgbClr val="000000"/>
                </a:solidFill>
                <a:latin typeface="맑은 고딕"/>
                <a:ea typeface="맑은 고딕"/>
                <a:cs typeface="맑은 고딕"/>
              </a:rPr>
              <a:t>AI </a:t>
            </a:r>
            <a:r>
              <a:rPr sz="1000" b="1" dirty="0" err="1">
                <a:solidFill>
                  <a:srgbClr val="000000"/>
                </a:solidFill>
                <a:latin typeface="맑은 고딕"/>
                <a:ea typeface="맑은 고딕"/>
                <a:cs typeface="맑은 고딕"/>
              </a:rPr>
              <a:t>워크로드</a:t>
            </a:r>
            <a:r>
              <a:rPr lang="en-US" sz="1000" b="1" dirty="0">
                <a:solidFill>
                  <a:srgbClr val="000000"/>
                </a:solidFill>
                <a:latin typeface="맑은 고딕"/>
                <a:ea typeface="맑은 고딕"/>
                <a:cs typeface="맑은 고딕"/>
              </a:rPr>
              <a:t> (</a:t>
            </a:r>
            <a:r>
              <a:rPr lang="ko-KR" altLang="en-US" sz="1000" b="1" dirty="0">
                <a:solidFill>
                  <a:srgbClr val="000000"/>
                </a:solidFill>
                <a:latin typeface="맑은 고딕"/>
                <a:ea typeface="맑은 고딕"/>
                <a:cs typeface="맑은 고딕"/>
              </a:rPr>
              <a:t>자원 수요 동적 변동</a:t>
            </a:r>
            <a:r>
              <a:rPr lang="en-US" altLang="ko-KR" sz="1000" b="1" dirty="0">
                <a:solidFill>
                  <a:srgbClr val="000000"/>
                </a:solidFill>
                <a:latin typeface="맑은 고딕"/>
                <a:ea typeface="맑은 고딕"/>
                <a:cs typeface="맑은 고딕"/>
              </a:rPr>
              <a:t>)</a:t>
            </a:r>
            <a:endParaRPr sz="1000" b="1" dirty="0">
              <a:solidFill>
                <a:srgbClr val="000000"/>
              </a:solidFill>
              <a:latin typeface="맑은 고딕"/>
              <a:ea typeface="맑은 고딕"/>
              <a:cs typeface="맑은 고딕"/>
            </a:endParaRPr>
          </a:p>
        </p:txBody>
      </p:sp>
      <p:cxnSp>
        <p:nvCxnSpPr>
          <p:cNvPr id="48" name="Connector 65">
            <a:extLst>
              <a:ext uri="{FF2B5EF4-FFF2-40B4-BE49-F238E27FC236}">
                <a16:creationId xmlns:a16="http://schemas.microsoft.com/office/drawing/2014/main" id="{A686614B-E1CA-4E7B-A5A4-A47937F3C5BB}"/>
              </a:ext>
            </a:extLst>
          </p:cNvPr>
          <p:cNvCxnSpPr>
            <a:stCxn id="47" idx="2"/>
          </p:cNvCxnSpPr>
          <p:nvPr/>
        </p:nvCxnSpPr>
        <p:spPr>
          <a:xfrm>
            <a:off x="9017994" y="4151913"/>
            <a:ext cx="0" cy="179026"/>
          </a:xfrm>
          <a:prstGeom prst="line">
            <a:avLst/>
          </a:prstGeom>
          <a:ln w="19050">
            <a:solidFill>
              <a:srgbClr val="FF000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49" name="Rectangle 66">
            <a:extLst>
              <a:ext uri="{FF2B5EF4-FFF2-40B4-BE49-F238E27FC236}">
                <a16:creationId xmlns:a16="http://schemas.microsoft.com/office/drawing/2014/main" id="{45CE6021-533E-4D48-BA43-BBA13E9CF3CA}"/>
              </a:ext>
            </a:extLst>
          </p:cNvPr>
          <p:cNvSpPr/>
          <p:nvPr/>
        </p:nvSpPr>
        <p:spPr>
          <a:xfrm>
            <a:off x="6411954" y="4305434"/>
            <a:ext cx="5212080" cy="493776"/>
          </a:xfrm>
          <a:prstGeom prst="rect">
            <a:avLst/>
          </a:prstGeom>
          <a:solidFill>
            <a:srgbClr val="FFFFFF"/>
          </a:solidFill>
          <a:ln w="19050">
            <a:solidFill>
              <a:srgbClr val="FF0000"/>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200"/>
              </a:spcAft>
            </a:pPr>
            <a:r>
              <a:rPr sz="1100" b="1" dirty="0" err="1">
                <a:solidFill>
                  <a:srgbClr val="FF0000"/>
                </a:solidFill>
                <a:latin typeface="맑은 고딕"/>
                <a:ea typeface="맑은 고딕"/>
                <a:cs typeface="맑은 고딕"/>
              </a:rPr>
              <a:t>이기종</a:t>
            </a:r>
            <a:r>
              <a:rPr sz="1100" b="1" dirty="0">
                <a:solidFill>
                  <a:srgbClr val="FF0000"/>
                </a:solidFill>
                <a:latin typeface="맑은 고딕"/>
                <a:ea typeface="맑은 고딕"/>
                <a:cs typeface="맑은 고딕"/>
              </a:rPr>
              <a:t> </a:t>
            </a:r>
            <a:r>
              <a:rPr sz="1100" b="1" dirty="0" err="1">
                <a:solidFill>
                  <a:srgbClr val="FF0000"/>
                </a:solidFill>
                <a:latin typeface="맑은 고딕"/>
                <a:ea typeface="맑은 고딕"/>
                <a:cs typeface="맑은 고딕"/>
              </a:rPr>
              <a:t>메모리</a:t>
            </a:r>
            <a:r>
              <a:rPr sz="1100" b="1" dirty="0">
                <a:solidFill>
                  <a:srgbClr val="FF0000"/>
                </a:solidFill>
                <a:latin typeface="맑은 고딕"/>
                <a:ea typeface="맑은 고딕"/>
                <a:cs typeface="맑은 고딕"/>
              </a:rPr>
              <a:t> </a:t>
            </a:r>
            <a:r>
              <a:rPr sz="1100" b="1" dirty="0" err="1">
                <a:solidFill>
                  <a:srgbClr val="FF0000"/>
                </a:solidFill>
                <a:latin typeface="맑은 고딕"/>
                <a:ea typeface="맑은 고딕"/>
                <a:cs typeface="맑은 고딕"/>
              </a:rPr>
              <a:t>인지형</a:t>
            </a:r>
            <a:r>
              <a:rPr sz="1100" b="1" dirty="0">
                <a:solidFill>
                  <a:srgbClr val="FF0000"/>
                </a:solidFill>
                <a:latin typeface="맑은 고딕"/>
                <a:ea typeface="맑은 고딕"/>
                <a:cs typeface="맑은 고딕"/>
              </a:rPr>
              <a:t> </a:t>
            </a:r>
            <a:r>
              <a:rPr sz="1100" b="1" dirty="0" err="1">
                <a:solidFill>
                  <a:srgbClr val="FF0000"/>
                </a:solidFill>
                <a:latin typeface="맑은 고딕"/>
                <a:ea typeface="맑은 고딕"/>
                <a:cs typeface="맑은 고딕"/>
              </a:rPr>
              <a:t>런타임</a:t>
            </a:r>
            <a:r>
              <a:rPr lang="en-US" sz="1100" b="1" dirty="0">
                <a:solidFill>
                  <a:srgbClr val="FF0000"/>
                </a:solidFill>
                <a:latin typeface="맑은 고딕"/>
                <a:ea typeface="맑은 고딕"/>
                <a:cs typeface="맑은 고딕"/>
              </a:rPr>
              <a:t>(</a:t>
            </a:r>
            <a:r>
              <a:rPr lang="ko-KR" altLang="en-US" sz="1100" b="1" dirty="0" err="1">
                <a:solidFill>
                  <a:srgbClr val="FF0000"/>
                </a:solidFill>
                <a:latin typeface="맑은 고딕"/>
                <a:ea typeface="맑은 고딕"/>
                <a:cs typeface="맑은 고딕"/>
              </a:rPr>
              <a:t>서빙</a:t>
            </a:r>
            <a:r>
              <a:rPr lang="ko-KR" altLang="en-US" sz="1100" b="1" dirty="0">
                <a:solidFill>
                  <a:srgbClr val="FF0000"/>
                </a:solidFill>
                <a:latin typeface="맑은 고딕"/>
                <a:ea typeface="맑은 고딕"/>
                <a:cs typeface="맑은 고딕"/>
              </a:rPr>
              <a:t> 엔진</a:t>
            </a:r>
            <a:r>
              <a:rPr lang="en-US" altLang="ko-KR" sz="1100" b="1" dirty="0">
                <a:solidFill>
                  <a:srgbClr val="FF0000"/>
                </a:solidFill>
                <a:latin typeface="맑은 고딕"/>
                <a:ea typeface="맑은 고딕"/>
                <a:cs typeface="맑은 고딕"/>
              </a:rPr>
              <a:t>)</a:t>
            </a:r>
            <a:r>
              <a:rPr sz="1100" b="1" dirty="0">
                <a:solidFill>
                  <a:srgbClr val="FF0000"/>
                </a:solidFill>
                <a:latin typeface="맑은 고딕"/>
                <a:ea typeface="맑은 고딕"/>
                <a:cs typeface="맑은 고딕"/>
              </a:rPr>
              <a:t> </a:t>
            </a:r>
            <a:r>
              <a:rPr sz="1100" b="1" dirty="0" err="1">
                <a:solidFill>
                  <a:srgbClr val="FF0000"/>
                </a:solidFill>
                <a:latin typeface="맑은 고딕"/>
                <a:ea typeface="맑은 고딕"/>
                <a:cs typeface="맑은 고딕"/>
              </a:rPr>
              <a:t>부재</a:t>
            </a:r>
            <a:r>
              <a:rPr sz="1100" b="1" dirty="0">
                <a:solidFill>
                  <a:srgbClr val="FF0000"/>
                </a:solidFill>
                <a:latin typeface="맑은 고딕"/>
                <a:ea typeface="맑은 고딕"/>
                <a:cs typeface="맑은 고딕"/>
              </a:rPr>
              <a:t> </a:t>
            </a:r>
            <a:endParaRPr lang="en-US" sz="1100" b="1" dirty="0">
              <a:solidFill>
                <a:srgbClr val="FF0000"/>
              </a:solidFill>
              <a:latin typeface="맑은 고딕"/>
              <a:ea typeface="맑은 고딕"/>
              <a:cs typeface="맑은 고딕"/>
            </a:endParaRPr>
          </a:p>
          <a:p>
            <a:pPr algn="ctr">
              <a:spcAft>
                <a:spcPts val="200"/>
              </a:spcAft>
            </a:pPr>
            <a:r>
              <a:rPr sz="850" b="0" dirty="0" err="1">
                <a:solidFill>
                  <a:srgbClr val="595959"/>
                </a:solidFill>
                <a:latin typeface="맑은 고딕"/>
                <a:ea typeface="맑은 고딕"/>
                <a:cs typeface="맑은 고딕"/>
              </a:rPr>
              <a:t>메모리</a:t>
            </a:r>
            <a:r>
              <a:rPr sz="850" b="0" dirty="0">
                <a:solidFill>
                  <a:srgbClr val="595959"/>
                </a:solidFill>
                <a:latin typeface="맑은 고딕"/>
                <a:ea typeface="맑은 고딕"/>
                <a:cs typeface="맑은 고딕"/>
              </a:rPr>
              <a:t> </a:t>
            </a:r>
            <a:r>
              <a:rPr sz="850" b="0" dirty="0" err="1">
                <a:solidFill>
                  <a:srgbClr val="595959"/>
                </a:solidFill>
                <a:latin typeface="맑은 고딕"/>
                <a:ea typeface="맑은 고딕"/>
                <a:cs typeface="맑은 고딕"/>
              </a:rPr>
              <a:t>특성</a:t>
            </a:r>
            <a:r>
              <a:rPr sz="850" b="0" dirty="0">
                <a:solidFill>
                  <a:srgbClr val="595959"/>
                </a:solidFill>
                <a:latin typeface="맑은 고딕"/>
                <a:ea typeface="맑은 고딕"/>
                <a:cs typeface="맑은 고딕"/>
              </a:rPr>
              <a:t>(</a:t>
            </a:r>
            <a:r>
              <a:rPr sz="850" b="0" dirty="0" err="1">
                <a:solidFill>
                  <a:srgbClr val="595959"/>
                </a:solidFill>
                <a:latin typeface="맑은 고딕"/>
                <a:ea typeface="맑은 고딕"/>
                <a:cs typeface="맑은 고딕"/>
              </a:rPr>
              <a:t>대역폭·용량·연산</a:t>
            </a:r>
            <a:r>
              <a:rPr sz="850" b="0" dirty="0">
                <a:solidFill>
                  <a:srgbClr val="595959"/>
                </a:solidFill>
                <a:latin typeface="맑은 고딕"/>
                <a:ea typeface="맑은 고딕"/>
                <a:cs typeface="맑은 고딕"/>
              </a:rPr>
              <a:t> </a:t>
            </a:r>
            <a:r>
              <a:rPr sz="850" b="0" dirty="0" err="1">
                <a:solidFill>
                  <a:srgbClr val="595959"/>
                </a:solidFill>
                <a:latin typeface="맑은 고딕"/>
                <a:ea typeface="맑은 고딕"/>
                <a:cs typeface="맑은 고딕"/>
              </a:rPr>
              <a:t>가능</a:t>
            </a:r>
            <a:r>
              <a:rPr sz="850" b="0" dirty="0">
                <a:solidFill>
                  <a:srgbClr val="595959"/>
                </a:solidFill>
                <a:latin typeface="맑은 고딕"/>
                <a:ea typeface="맑은 고딕"/>
                <a:cs typeface="맑은 고딕"/>
              </a:rPr>
              <a:t> </a:t>
            </a:r>
            <a:r>
              <a:rPr sz="850" b="0" dirty="0" err="1">
                <a:solidFill>
                  <a:srgbClr val="595959"/>
                </a:solidFill>
                <a:latin typeface="맑은 고딕"/>
                <a:ea typeface="맑은 고딕"/>
                <a:cs typeface="맑은 고딕"/>
              </a:rPr>
              <a:t>여부</a:t>
            </a:r>
            <a:r>
              <a:rPr sz="850" b="0" dirty="0">
                <a:solidFill>
                  <a:srgbClr val="595959"/>
                </a:solidFill>
                <a:latin typeface="맑은 고딕"/>
                <a:ea typeface="맑은 고딕"/>
                <a:cs typeface="맑은 고딕"/>
              </a:rPr>
              <a:t>) </a:t>
            </a:r>
            <a:r>
              <a:rPr sz="850" b="0" dirty="0" err="1">
                <a:solidFill>
                  <a:srgbClr val="595959"/>
                </a:solidFill>
                <a:latin typeface="맑은 고딕"/>
                <a:ea typeface="맑은 고딕"/>
                <a:cs typeface="맑은 고딕"/>
              </a:rPr>
              <a:t>인식</a:t>
            </a:r>
            <a:r>
              <a:rPr sz="850" b="0" dirty="0">
                <a:solidFill>
                  <a:srgbClr val="595959"/>
                </a:solidFill>
                <a:latin typeface="맑은 고딕"/>
                <a:ea typeface="맑은 고딕"/>
                <a:cs typeface="맑은 고딕"/>
              </a:rPr>
              <a:t> → </a:t>
            </a:r>
            <a:r>
              <a:rPr sz="850" b="0" dirty="0" err="1">
                <a:solidFill>
                  <a:srgbClr val="595959"/>
                </a:solidFill>
                <a:latin typeface="맑은 고딕"/>
                <a:ea typeface="맑은 고딕"/>
                <a:cs typeface="맑은 고딕"/>
              </a:rPr>
              <a:t>배치·스케줄링</a:t>
            </a:r>
            <a:r>
              <a:rPr sz="850" b="0" dirty="0">
                <a:solidFill>
                  <a:srgbClr val="595959"/>
                </a:solidFill>
                <a:latin typeface="맑은 고딕"/>
                <a:ea typeface="맑은 고딕"/>
                <a:cs typeface="맑은 고딕"/>
              </a:rPr>
              <a:t> </a:t>
            </a:r>
            <a:r>
              <a:rPr sz="850" b="0" dirty="0" err="1">
                <a:solidFill>
                  <a:srgbClr val="595959"/>
                </a:solidFill>
                <a:latin typeface="맑은 고딕"/>
                <a:ea typeface="맑은 고딕"/>
                <a:cs typeface="맑은 고딕"/>
              </a:rPr>
              <a:t>결정</a:t>
            </a:r>
            <a:endParaRPr sz="850" b="0" dirty="0">
              <a:solidFill>
                <a:srgbClr val="595959"/>
              </a:solidFill>
              <a:latin typeface="맑은 고딕"/>
              <a:ea typeface="맑은 고딕"/>
              <a:cs typeface="맑은 고딕"/>
            </a:endParaRPr>
          </a:p>
        </p:txBody>
      </p:sp>
      <p:cxnSp>
        <p:nvCxnSpPr>
          <p:cNvPr id="50" name="Connector 67">
            <a:extLst>
              <a:ext uri="{FF2B5EF4-FFF2-40B4-BE49-F238E27FC236}">
                <a16:creationId xmlns:a16="http://schemas.microsoft.com/office/drawing/2014/main" id="{5D282C66-6D3B-4CCE-96C5-463FFBD46600}"/>
              </a:ext>
            </a:extLst>
          </p:cNvPr>
          <p:cNvCxnSpPr>
            <a:stCxn id="49" idx="2"/>
          </p:cNvCxnSpPr>
          <p:nvPr/>
        </p:nvCxnSpPr>
        <p:spPr>
          <a:xfrm>
            <a:off x="9017994" y="4799210"/>
            <a:ext cx="0" cy="231455"/>
          </a:xfrm>
          <a:prstGeom prst="line">
            <a:avLst/>
          </a:prstGeom>
          <a:ln w="19050">
            <a:solidFill>
              <a:srgbClr val="FF0000"/>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51" name="Rectangle 68">
            <a:extLst>
              <a:ext uri="{FF2B5EF4-FFF2-40B4-BE49-F238E27FC236}">
                <a16:creationId xmlns:a16="http://schemas.microsoft.com/office/drawing/2014/main" id="{D14A622C-56E0-4758-A09A-6DC13A6A0844}"/>
              </a:ext>
            </a:extLst>
          </p:cNvPr>
          <p:cNvSpPr/>
          <p:nvPr/>
        </p:nvSpPr>
        <p:spPr>
          <a:xfrm>
            <a:off x="6338802" y="5030665"/>
            <a:ext cx="822960" cy="256032"/>
          </a:xfrm>
          <a:prstGeom prst="rect">
            <a:avLst/>
          </a:prstGeom>
          <a:solidFill>
            <a:srgbClr val="F0F1F3"/>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9144" tIns="27432" rIns="9144" bIns="27432" rtlCol="0" anchor="ctr"/>
          <a:lstStyle/>
          <a:p>
            <a:pPr algn="ctr">
              <a:spcAft>
                <a:spcPts val="200"/>
              </a:spcAft>
            </a:pPr>
            <a:r>
              <a:rPr sz="850" b="1">
                <a:solidFill>
                  <a:srgbClr val="000000"/>
                </a:solidFill>
                <a:latin typeface="맑은 고딕"/>
                <a:ea typeface="맑은 고딕"/>
                <a:cs typeface="맑은 고딕"/>
              </a:rPr>
              <a:t>HBM</a:t>
            </a:r>
          </a:p>
        </p:txBody>
      </p:sp>
      <p:sp>
        <p:nvSpPr>
          <p:cNvPr id="52" name="Rectangle 69">
            <a:extLst>
              <a:ext uri="{FF2B5EF4-FFF2-40B4-BE49-F238E27FC236}">
                <a16:creationId xmlns:a16="http://schemas.microsoft.com/office/drawing/2014/main" id="{3ED850D0-4EB0-4CA5-AF32-D0F7BB94F778}"/>
              </a:ext>
            </a:extLst>
          </p:cNvPr>
          <p:cNvSpPr/>
          <p:nvPr/>
        </p:nvSpPr>
        <p:spPr>
          <a:xfrm>
            <a:off x="7225770" y="5030665"/>
            <a:ext cx="822960" cy="256032"/>
          </a:xfrm>
          <a:prstGeom prst="rect">
            <a:avLst/>
          </a:prstGeom>
          <a:solidFill>
            <a:srgbClr val="F0F1F3"/>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9144" tIns="27432" rIns="9144" bIns="27432" rtlCol="0" anchor="ctr"/>
          <a:lstStyle/>
          <a:p>
            <a:pPr algn="ctr">
              <a:spcAft>
                <a:spcPts val="200"/>
              </a:spcAft>
            </a:pPr>
            <a:r>
              <a:rPr sz="850" b="1">
                <a:solidFill>
                  <a:srgbClr val="000000"/>
                </a:solidFill>
                <a:latin typeface="맑은 고딕"/>
                <a:ea typeface="맑은 고딕"/>
                <a:cs typeface="맑은 고딕"/>
              </a:rPr>
              <a:t>DRAM</a:t>
            </a:r>
          </a:p>
        </p:txBody>
      </p:sp>
      <p:sp>
        <p:nvSpPr>
          <p:cNvPr id="53" name="Rectangle 70">
            <a:extLst>
              <a:ext uri="{FF2B5EF4-FFF2-40B4-BE49-F238E27FC236}">
                <a16:creationId xmlns:a16="http://schemas.microsoft.com/office/drawing/2014/main" id="{EA7EC8A1-A9C0-490E-B42F-7E9101EF6AAD}"/>
              </a:ext>
            </a:extLst>
          </p:cNvPr>
          <p:cNvSpPr/>
          <p:nvPr/>
        </p:nvSpPr>
        <p:spPr>
          <a:xfrm>
            <a:off x="8112738" y="5030665"/>
            <a:ext cx="822960" cy="256032"/>
          </a:xfrm>
          <a:prstGeom prst="rect">
            <a:avLst/>
          </a:prstGeom>
          <a:solidFill>
            <a:srgbClr val="F0F1F3"/>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9144" tIns="27432" rIns="9144" bIns="27432" rtlCol="0" anchor="ctr"/>
          <a:lstStyle/>
          <a:p>
            <a:pPr algn="ctr">
              <a:spcAft>
                <a:spcPts val="200"/>
              </a:spcAft>
            </a:pPr>
            <a:r>
              <a:rPr sz="850" b="1">
                <a:solidFill>
                  <a:srgbClr val="000000"/>
                </a:solidFill>
                <a:latin typeface="맑은 고딕"/>
                <a:ea typeface="맑은 고딕"/>
                <a:cs typeface="맑은 고딕"/>
              </a:rPr>
              <a:t>SSD</a:t>
            </a:r>
          </a:p>
        </p:txBody>
      </p:sp>
      <p:sp>
        <p:nvSpPr>
          <p:cNvPr id="54" name="Rectangle 71">
            <a:extLst>
              <a:ext uri="{FF2B5EF4-FFF2-40B4-BE49-F238E27FC236}">
                <a16:creationId xmlns:a16="http://schemas.microsoft.com/office/drawing/2014/main" id="{80B38AE7-A1A7-42C7-AA04-9B472F02A2D2}"/>
              </a:ext>
            </a:extLst>
          </p:cNvPr>
          <p:cNvSpPr/>
          <p:nvPr/>
        </p:nvSpPr>
        <p:spPr>
          <a:xfrm>
            <a:off x="8999706" y="5030665"/>
            <a:ext cx="822960" cy="256032"/>
          </a:xfrm>
          <a:prstGeom prst="rect">
            <a:avLst/>
          </a:prstGeom>
          <a:solidFill>
            <a:srgbClr val="FFFFFF"/>
          </a:solidFill>
          <a:ln w="12700">
            <a:solidFill>
              <a:srgbClr val="C55A11"/>
            </a:solidFill>
            <a:prstDash val="dash"/>
          </a:ln>
          <a:effectLst/>
        </p:spPr>
        <p:style>
          <a:lnRef idx="1">
            <a:schemeClr val="accent1"/>
          </a:lnRef>
          <a:fillRef idx="3">
            <a:schemeClr val="accent1"/>
          </a:fillRef>
          <a:effectRef idx="2">
            <a:schemeClr val="accent1"/>
          </a:effectRef>
          <a:fontRef idx="minor">
            <a:schemeClr val="lt1"/>
          </a:fontRef>
        </p:style>
        <p:txBody>
          <a:bodyPr wrap="square" lIns="9144" tIns="27432" rIns="9144" bIns="27432" rtlCol="0" anchor="ctr"/>
          <a:lstStyle/>
          <a:p>
            <a:pPr algn="ctr">
              <a:spcAft>
                <a:spcPts val="200"/>
              </a:spcAft>
            </a:pPr>
            <a:r>
              <a:rPr sz="850" b="1" dirty="0">
                <a:solidFill>
                  <a:srgbClr val="000000"/>
                </a:solidFill>
                <a:latin typeface="맑은 고딕"/>
                <a:ea typeface="맑은 고딕"/>
                <a:cs typeface="맑은 고딕"/>
              </a:rPr>
              <a:t>CXL-Memory</a:t>
            </a:r>
          </a:p>
        </p:txBody>
      </p:sp>
      <p:sp>
        <p:nvSpPr>
          <p:cNvPr id="57" name="Rectangle 72">
            <a:extLst>
              <a:ext uri="{FF2B5EF4-FFF2-40B4-BE49-F238E27FC236}">
                <a16:creationId xmlns:a16="http://schemas.microsoft.com/office/drawing/2014/main" id="{D39180E6-1BC0-4BF6-A0C5-972782D939A5}"/>
              </a:ext>
            </a:extLst>
          </p:cNvPr>
          <p:cNvSpPr/>
          <p:nvPr/>
        </p:nvSpPr>
        <p:spPr>
          <a:xfrm>
            <a:off x="9886674" y="5030665"/>
            <a:ext cx="822960" cy="256032"/>
          </a:xfrm>
          <a:prstGeom prst="rect">
            <a:avLst/>
          </a:prstGeom>
          <a:solidFill>
            <a:srgbClr val="FFFFFF"/>
          </a:solidFill>
          <a:ln w="12700">
            <a:solidFill>
              <a:srgbClr val="C55A11"/>
            </a:solidFill>
            <a:prstDash val="dash"/>
          </a:ln>
          <a:effectLst/>
        </p:spPr>
        <p:style>
          <a:lnRef idx="1">
            <a:schemeClr val="accent1"/>
          </a:lnRef>
          <a:fillRef idx="3">
            <a:schemeClr val="accent1"/>
          </a:fillRef>
          <a:effectRef idx="2">
            <a:schemeClr val="accent1"/>
          </a:effectRef>
          <a:fontRef idx="minor">
            <a:schemeClr val="lt1"/>
          </a:fontRef>
        </p:style>
        <p:txBody>
          <a:bodyPr wrap="square" lIns="9144" tIns="27432" rIns="9144" bIns="27432" rtlCol="0" anchor="ctr"/>
          <a:lstStyle/>
          <a:p>
            <a:pPr algn="ctr">
              <a:spcAft>
                <a:spcPts val="200"/>
              </a:spcAft>
            </a:pPr>
            <a:r>
              <a:rPr sz="850" b="1">
                <a:solidFill>
                  <a:srgbClr val="000000"/>
                </a:solidFill>
                <a:latin typeface="맑은 고딕"/>
                <a:ea typeface="맑은 고딕"/>
                <a:cs typeface="맑은 고딕"/>
              </a:rPr>
              <a:t>CXL-PNM</a:t>
            </a:r>
          </a:p>
        </p:txBody>
      </p:sp>
      <p:sp>
        <p:nvSpPr>
          <p:cNvPr id="60" name="Rectangle 73">
            <a:extLst>
              <a:ext uri="{FF2B5EF4-FFF2-40B4-BE49-F238E27FC236}">
                <a16:creationId xmlns:a16="http://schemas.microsoft.com/office/drawing/2014/main" id="{3AF4BA0F-B071-4D25-85D2-27FD11833D3B}"/>
              </a:ext>
            </a:extLst>
          </p:cNvPr>
          <p:cNvSpPr/>
          <p:nvPr/>
        </p:nvSpPr>
        <p:spPr>
          <a:xfrm>
            <a:off x="10773642" y="5030665"/>
            <a:ext cx="822960" cy="256032"/>
          </a:xfrm>
          <a:prstGeom prst="rect">
            <a:avLst/>
          </a:prstGeom>
          <a:solidFill>
            <a:srgbClr val="FFFFFF"/>
          </a:solidFill>
          <a:ln w="12700">
            <a:solidFill>
              <a:srgbClr val="C55A11"/>
            </a:solidFill>
            <a:prstDash val="dash"/>
          </a:ln>
          <a:effectLst/>
        </p:spPr>
        <p:style>
          <a:lnRef idx="1">
            <a:schemeClr val="accent1"/>
          </a:lnRef>
          <a:fillRef idx="3">
            <a:schemeClr val="accent1"/>
          </a:fillRef>
          <a:effectRef idx="2">
            <a:schemeClr val="accent1"/>
          </a:effectRef>
          <a:fontRef idx="minor">
            <a:schemeClr val="lt1"/>
          </a:fontRef>
        </p:style>
        <p:txBody>
          <a:bodyPr wrap="square" lIns="9144" tIns="27432" rIns="9144" bIns="27432" rtlCol="0" anchor="ctr"/>
          <a:lstStyle/>
          <a:p>
            <a:pPr algn="ctr">
              <a:spcAft>
                <a:spcPts val="200"/>
              </a:spcAft>
            </a:pPr>
            <a:r>
              <a:rPr sz="850" b="1">
                <a:solidFill>
                  <a:srgbClr val="000000"/>
                </a:solidFill>
                <a:latin typeface="맑은 고딕"/>
                <a:ea typeface="맑은 고딕"/>
                <a:cs typeface="맑은 고딕"/>
              </a:rPr>
              <a:t>HBF · PIM</a:t>
            </a:r>
          </a:p>
        </p:txBody>
      </p:sp>
      <p:sp>
        <p:nvSpPr>
          <p:cNvPr id="61" name="TextBox 60">
            <a:extLst>
              <a:ext uri="{FF2B5EF4-FFF2-40B4-BE49-F238E27FC236}">
                <a16:creationId xmlns:a16="http://schemas.microsoft.com/office/drawing/2014/main" id="{D163E465-429E-4E53-81C1-5082B8CADCE8}"/>
              </a:ext>
            </a:extLst>
          </p:cNvPr>
          <p:cNvSpPr txBox="1"/>
          <p:nvPr/>
        </p:nvSpPr>
        <p:spPr>
          <a:xfrm>
            <a:off x="6338802" y="5286697"/>
            <a:ext cx="2651760" cy="164592"/>
          </a:xfrm>
          <a:prstGeom prst="rect">
            <a:avLst/>
          </a:prstGeom>
          <a:noFill/>
        </p:spPr>
        <p:txBody>
          <a:bodyPr wrap="square" lIns="45720" tIns="27432" rIns="45720" bIns="27432" anchor="t">
            <a:spAutoFit/>
          </a:bodyPr>
          <a:lstStyle/>
          <a:p>
            <a:pPr algn="l">
              <a:spcAft>
                <a:spcPts val="200"/>
              </a:spcAft>
            </a:pPr>
            <a:r>
              <a:rPr sz="700" b="0">
                <a:solidFill>
                  <a:srgbClr val="7F7F7F"/>
                </a:solidFill>
                <a:latin typeface="맑은 고딕"/>
                <a:ea typeface="맑은 고딕"/>
                <a:cs typeface="맑은 고딕"/>
              </a:rPr>
              <a:t>기존 메모리 계층</a:t>
            </a:r>
          </a:p>
        </p:txBody>
      </p:sp>
      <p:sp>
        <p:nvSpPr>
          <p:cNvPr id="62" name="TextBox 61">
            <a:extLst>
              <a:ext uri="{FF2B5EF4-FFF2-40B4-BE49-F238E27FC236}">
                <a16:creationId xmlns:a16="http://schemas.microsoft.com/office/drawing/2014/main" id="{6F400612-4371-4D0B-A293-563CC829736A}"/>
              </a:ext>
            </a:extLst>
          </p:cNvPr>
          <p:cNvSpPr txBox="1"/>
          <p:nvPr/>
        </p:nvSpPr>
        <p:spPr>
          <a:xfrm>
            <a:off x="8972274" y="5286697"/>
            <a:ext cx="2743200" cy="164592"/>
          </a:xfrm>
          <a:prstGeom prst="rect">
            <a:avLst/>
          </a:prstGeom>
          <a:noFill/>
        </p:spPr>
        <p:txBody>
          <a:bodyPr wrap="square" lIns="45720" tIns="27432" rIns="45720" bIns="27432" anchor="t">
            <a:spAutoFit/>
          </a:bodyPr>
          <a:lstStyle/>
          <a:p>
            <a:pPr algn="r">
              <a:spcAft>
                <a:spcPts val="200"/>
              </a:spcAft>
            </a:pPr>
            <a:r>
              <a:rPr sz="700" b="0">
                <a:solidFill>
                  <a:srgbClr val="C55A11"/>
                </a:solidFill>
                <a:latin typeface="맑은 고딕"/>
                <a:ea typeface="맑은 고딕"/>
                <a:cs typeface="맑은 고딕"/>
              </a:rPr>
              <a:t>신규 메모리: 특성 미인식 → 활용 불가</a:t>
            </a:r>
          </a:p>
        </p:txBody>
      </p:sp>
      <p:sp>
        <p:nvSpPr>
          <p:cNvPr id="124" name="TextBox 123">
            <a:extLst>
              <a:ext uri="{FF2B5EF4-FFF2-40B4-BE49-F238E27FC236}">
                <a16:creationId xmlns:a16="http://schemas.microsoft.com/office/drawing/2014/main" id="{60EF1153-DBBA-46A9-AD3F-8F8A70E4B661}"/>
              </a:ext>
            </a:extLst>
          </p:cNvPr>
          <p:cNvSpPr txBox="1"/>
          <p:nvPr/>
        </p:nvSpPr>
        <p:spPr>
          <a:xfrm>
            <a:off x="6336792" y="1173575"/>
            <a:ext cx="5486400" cy="240066"/>
          </a:xfrm>
          <a:prstGeom prst="rect">
            <a:avLst/>
          </a:prstGeom>
          <a:noFill/>
        </p:spPr>
        <p:txBody>
          <a:bodyPr wrap="square" lIns="45720" tIns="27432" rIns="45720" bIns="27432" anchor="ctr">
            <a:spAutoFit/>
          </a:bodyPr>
          <a:lstStyle/>
          <a:p>
            <a:pPr algn="l">
              <a:spcAft>
                <a:spcPts val="200"/>
              </a:spcAft>
            </a:pPr>
            <a:r>
              <a:rPr sz="1200" b="1" dirty="0">
                <a:solidFill>
                  <a:srgbClr val="000000"/>
                </a:solidFill>
                <a:latin typeface="맑은 고딕"/>
                <a:ea typeface="맑은 고딕"/>
                <a:cs typeface="맑은 고딕"/>
              </a:rPr>
              <a:t>■ </a:t>
            </a:r>
            <a:r>
              <a:rPr sz="1200" b="1" dirty="0" err="1">
                <a:solidFill>
                  <a:srgbClr val="000000"/>
                </a:solidFill>
                <a:latin typeface="맑은 고딕"/>
                <a:ea typeface="맑은 고딕"/>
                <a:cs typeface="맑은 고딕"/>
              </a:rPr>
              <a:t>Agent의</a:t>
            </a:r>
            <a:r>
              <a:rPr sz="1200" b="1" dirty="0">
                <a:solidFill>
                  <a:srgbClr val="000000"/>
                </a:solidFill>
                <a:latin typeface="맑은 고딕"/>
                <a:ea typeface="맑은 고딕"/>
                <a:cs typeface="맑은 고딕"/>
              </a:rPr>
              <a:t> </a:t>
            </a:r>
            <a:r>
              <a:rPr sz="1200" b="1" dirty="0" err="1">
                <a:solidFill>
                  <a:srgbClr val="000000"/>
                </a:solidFill>
                <a:latin typeface="맑은 고딕"/>
                <a:ea typeface="맑은 고딕"/>
                <a:cs typeface="맑은 고딕"/>
              </a:rPr>
              <a:t>자원</a:t>
            </a:r>
            <a:r>
              <a:rPr sz="1200" b="1" dirty="0">
                <a:solidFill>
                  <a:srgbClr val="000000"/>
                </a:solidFill>
                <a:latin typeface="맑은 고딕"/>
                <a:ea typeface="맑은 고딕"/>
                <a:cs typeface="맑은 고딕"/>
              </a:rPr>
              <a:t> </a:t>
            </a:r>
            <a:r>
              <a:rPr sz="1200" b="1" dirty="0" err="1">
                <a:solidFill>
                  <a:srgbClr val="000000"/>
                </a:solidFill>
                <a:latin typeface="맑은 고딕"/>
                <a:ea typeface="맑은 고딕"/>
                <a:cs typeface="맑은 고딕"/>
              </a:rPr>
              <a:t>수요가</a:t>
            </a:r>
            <a:r>
              <a:rPr sz="1200" b="1" dirty="0">
                <a:solidFill>
                  <a:srgbClr val="000000"/>
                </a:solidFill>
                <a:latin typeface="맑은 고딕"/>
                <a:ea typeface="맑은 고딕"/>
                <a:cs typeface="맑은 고딕"/>
              </a:rPr>
              <a:t> </a:t>
            </a:r>
            <a:r>
              <a:rPr sz="1200" b="1" dirty="0" err="1">
                <a:solidFill>
                  <a:srgbClr val="000000"/>
                </a:solidFill>
                <a:latin typeface="맑은 고딕"/>
                <a:ea typeface="맑은 고딕"/>
                <a:cs typeface="맑은 고딕"/>
              </a:rPr>
              <a:t>동적으로</a:t>
            </a:r>
            <a:r>
              <a:rPr sz="1200" b="1" dirty="0">
                <a:solidFill>
                  <a:srgbClr val="000000"/>
                </a:solidFill>
                <a:latin typeface="맑은 고딕"/>
                <a:ea typeface="맑은 고딕"/>
                <a:cs typeface="맑은 고딕"/>
              </a:rPr>
              <a:t> </a:t>
            </a:r>
            <a:r>
              <a:rPr sz="1200" b="1" dirty="0" err="1">
                <a:solidFill>
                  <a:srgbClr val="000000"/>
                </a:solidFill>
                <a:latin typeface="맑은 고딕"/>
                <a:ea typeface="맑은 고딕"/>
                <a:cs typeface="맑은 고딕"/>
              </a:rPr>
              <a:t>변하는</a:t>
            </a:r>
            <a:r>
              <a:rPr sz="1200" b="1" dirty="0">
                <a:solidFill>
                  <a:srgbClr val="000000"/>
                </a:solidFill>
                <a:latin typeface="맑은 고딕"/>
                <a:ea typeface="맑은 고딕"/>
                <a:cs typeface="맑은 고딕"/>
              </a:rPr>
              <a:t> </a:t>
            </a:r>
            <a:r>
              <a:rPr sz="1200" b="1" dirty="0" err="1">
                <a:solidFill>
                  <a:srgbClr val="000000"/>
                </a:solidFill>
                <a:latin typeface="맑은 고딕"/>
                <a:ea typeface="맑은 고딕"/>
                <a:cs typeface="맑은 고딕"/>
              </a:rPr>
              <a:t>상황에서</a:t>
            </a:r>
            <a:r>
              <a:rPr sz="1200" b="1" dirty="0">
                <a:solidFill>
                  <a:srgbClr val="000000"/>
                </a:solidFill>
                <a:latin typeface="맑은 고딕"/>
                <a:ea typeface="맑은 고딕"/>
                <a:cs typeface="맑은 고딕"/>
              </a:rPr>
              <a:t> </a:t>
            </a:r>
            <a:r>
              <a:rPr sz="1200" b="1" dirty="0" err="1">
                <a:solidFill>
                  <a:srgbClr val="000000"/>
                </a:solidFill>
                <a:latin typeface="맑은 고딕"/>
                <a:ea typeface="맑은 고딕"/>
                <a:cs typeface="맑은 고딕"/>
              </a:rPr>
              <a:t>런타임</a:t>
            </a:r>
            <a:r>
              <a:rPr sz="1200" b="1" dirty="0">
                <a:solidFill>
                  <a:srgbClr val="000000"/>
                </a:solidFill>
                <a:latin typeface="맑은 고딕"/>
                <a:ea typeface="맑은 고딕"/>
                <a:cs typeface="맑은 고딕"/>
              </a:rPr>
              <a:t> </a:t>
            </a:r>
            <a:r>
              <a:rPr sz="1200" b="1" dirty="0" err="1">
                <a:solidFill>
                  <a:srgbClr val="000000"/>
                </a:solidFill>
                <a:latin typeface="맑은 고딕"/>
                <a:ea typeface="맑은 고딕"/>
                <a:cs typeface="맑은 고딕"/>
              </a:rPr>
              <a:t>역할이</a:t>
            </a:r>
            <a:r>
              <a:rPr sz="1200" b="1" dirty="0">
                <a:solidFill>
                  <a:srgbClr val="000000"/>
                </a:solidFill>
                <a:latin typeface="맑은 고딕"/>
                <a:ea typeface="맑은 고딕"/>
                <a:cs typeface="맑은 고딕"/>
              </a:rPr>
              <a:t> </a:t>
            </a:r>
            <a:r>
              <a:rPr sz="1200" b="1" dirty="0" err="1">
                <a:solidFill>
                  <a:srgbClr val="000000"/>
                </a:solidFill>
                <a:latin typeface="맑은 고딕"/>
                <a:ea typeface="맑은 고딕"/>
                <a:cs typeface="맑은 고딕"/>
              </a:rPr>
              <a:t>결정적</a:t>
            </a:r>
            <a:endParaRPr sz="1200" b="1" dirty="0">
              <a:solidFill>
                <a:srgbClr val="000000"/>
              </a:solidFill>
              <a:latin typeface="맑은 고딕"/>
              <a:ea typeface="맑은 고딕"/>
              <a:cs typeface="맑은 고딕"/>
            </a:endParaRPr>
          </a:p>
        </p:txBody>
      </p:sp>
      <p:sp>
        <p:nvSpPr>
          <p:cNvPr id="155" name="Customers">
            <a:extLst>
              <a:ext uri="{FF2B5EF4-FFF2-40B4-BE49-F238E27FC236}">
                <a16:creationId xmlns:a16="http://schemas.microsoft.com/office/drawing/2014/main" id="{AE067F2F-D83F-4552-8F5C-DBF285D81799}"/>
              </a:ext>
            </a:extLst>
          </p:cNvPr>
          <p:cNvSpPr/>
          <p:nvPr/>
        </p:nvSpPr>
        <p:spPr>
          <a:xfrm>
            <a:off x="347472" y="4840334"/>
            <a:ext cx="1664208" cy="960120"/>
          </a:xfrm>
          <a:prstGeom prst="roundRect">
            <a:avLst>
              <a:gd name="adj" fmla="val 8000"/>
            </a:avLst>
          </a:prstGeom>
          <a:solidFill>
            <a:srgbClr val="F0F1F3"/>
          </a:solidFill>
          <a:ln w="12700">
            <a:solidFill>
              <a:srgbClr val="7F7F7F"/>
            </a:solidFill>
          </a:ln>
        </p:spPr>
        <p:txBody>
          <a:bodyPr wrap="square" lIns="45720" tIns="18288" rIns="45720" bIns="18288" rtlCol="0" anchor="ctr"/>
          <a:lstStyle/>
          <a:p>
            <a:pPr algn="ctr">
              <a:lnSpc>
                <a:spcPct val="150000"/>
              </a:lnSpc>
            </a:pPr>
            <a:r>
              <a:rPr sz="1100" b="1" dirty="0" err="1">
                <a:solidFill>
                  <a:srgbClr val="222222"/>
                </a:solidFill>
                <a:latin typeface="+mj-ea"/>
                <a:ea typeface="+mj-ea"/>
              </a:rPr>
              <a:t>시장</a:t>
            </a:r>
            <a:r>
              <a:rPr sz="1100" b="1" dirty="0">
                <a:solidFill>
                  <a:srgbClr val="222222"/>
                </a:solidFill>
                <a:latin typeface="+mj-ea"/>
                <a:ea typeface="+mj-ea"/>
              </a:rPr>
              <a:t> · </a:t>
            </a:r>
            <a:r>
              <a:rPr sz="1100" b="1" dirty="0" err="1">
                <a:solidFill>
                  <a:srgbClr val="222222"/>
                </a:solidFill>
                <a:latin typeface="+mj-ea"/>
                <a:ea typeface="+mj-ea"/>
              </a:rPr>
              <a:t>고객</a:t>
            </a:r>
            <a:endParaRPr sz="1100" b="1" dirty="0">
              <a:solidFill>
                <a:srgbClr val="222222"/>
              </a:solidFill>
              <a:latin typeface="+mj-ea"/>
              <a:ea typeface="+mj-ea"/>
            </a:endParaRPr>
          </a:p>
          <a:p>
            <a:pPr algn="ctr">
              <a:lnSpc>
                <a:spcPct val="125000"/>
              </a:lnSpc>
            </a:pPr>
            <a:r>
              <a:rPr sz="900" b="0" dirty="0">
                <a:solidFill>
                  <a:srgbClr val="555555"/>
                </a:solidFill>
                <a:latin typeface="+mj-ea"/>
                <a:ea typeface="+mj-ea"/>
              </a:rPr>
              <a:t>Meta</a:t>
            </a:r>
            <a:r>
              <a:rPr lang="en-US" sz="900" b="0" dirty="0">
                <a:solidFill>
                  <a:srgbClr val="555555"/>
                </a:solidFill>
                <a:latin typeface="+mj-ea"/>
                <a:ea typeface="+mj-ea"/>
              </a:rPr>
              <a:t>, </a:t>
            </a:r>
            <a:r>
              <a:rPr sz="900" b="0" dirty="0">
                <a:solidFill>
                  <a:srgbClr val="555555"/>
                </a:solidFill>
                <a:latin typeface="+mj-ea"/>
                <a:ea typeface="+mj-ea"/>
              </a:rPr>
              <a:t>Google Research</a:t>
            </a:r>
            <a:r>
              <a:rPr lang="en-US" sz="900" b="0" dirty="0">
                <a:solidFill>
                  <a:srgbClr val="555555"/>
                </a:solidFill>
                <a:latin typeface="+mj-ea"/>
                <a:ea typeface="+mj-ea"/>
              </a:rPr>
              <a:t>, </a:t>
            </a:r>
            <a:r>
              <a:rPr lang="en-US" sz="900" dirty="0">
                <a:solidFill>
                  <a:srgbClr val="555555"/>
                </a:solidFill>
                <a:latin typeface="+mj-ea"/>
                <a:ea typeface="+mj-ea"/>
              </a:rPr>
              <a:t>MS </a:t>
            </a:r>
            <a:r>
              <a:rPr sz="900" b="0" dirty="0">
                <a:solidFill>
                  <a:srgbClr val="555555"/>
                </a:solidFill>
                <a:latin typeface="+mj-ea"/>
                <a:ea typeface="+mj-ea"/>
              </a:rPr>
              <a:t>Research 와 </a:t>
            </a:r>
            <a:r>
              <a:rPr sz="900" b="0" dirty="0" err="1">
                <a:solidFill>
                  <a:srgbClr val="555555"/>
                </a:solidFill>
                <a:latin typeface="+mj-ea"/>
                <a:ea typeface="+mj-ea"/>
              </a:rPr>
              <a:t>연구</a:t>
            </a:r>
            <a:r>
              <a:rPr sz="900" b="0" dirty="0">
                <a:solidFill>
                  <a:srgbClr val="555555"/>
                </a:solidFill>
                <a:latin typeface="+mj-ea"/>
                <a:ea typeface="+mj-ea"/>
              </a:rPr>
              <a:t> </a:t>
            </a:r>
            <a:r>
              <a:rPr sz="900" b="0" dirty="0" err="1">
                <a:solidFill>
                  <a:srgbClr val="555555"/>
                </a:solidFill>
                <a:latin typeface="+mj-ea"/>
                <a:ea typeface="+mj-ea"/>
              </a:rPr>
              <a:t>협업</a:t>
            </a:r>
            <a:r>
              <a:rPr sz="900" b="0" dirty="0">
                <a:solidFill>
                  <a:srgbClr val="555555"/>
                </a:solidFill>
                <a:latin typeface="+mj-ea"/>
                <a:ea typeface="+mj-ea"/>
              </a:rPr>
              <a:t> </a:t>
            </a:r>
            <a:r>
              <a:rPr lang="ko-KR" altLang="en-US" sz="900" b="0" dirty="0">
                <a:solidFill>
                  <a:srgbClr val="555555"/>
                </a:solidFill>
                <a:latin typeface="+mj-ea"/>
                <a:ea typeface="+mj-ea"/>
              </a:rPr>
              <a:t>논의</a:t>
            </a:r>
            <a:r>
              <a:rPr lang="en-US" altLang="ko-KR" sz="900" b="0" dirty="0">
                <a:solidFill>
                  <a:srgbClr val="555555"/>
                </a:solidFill>
                <a:latin typeface="+mj-ea"/>
                <a:ea typeface="+mj-ea"/>
              </a:rPr>
              <a:t>/</a:t>
            </a:r>
            <a:r>
              <a:rPr sz="900" b="0" dirty="0" err="1">
                <a:solidFill>
                  <a:srgbClr val="555555"/>
                </a:solidFill>
                <a:latin typeface="+mj-ea"/>
                <a:ea typeface="+mj-ea"/>
              </a:rPr>
              <a:t>진행</a:t>
            </a:r>
            <a:r>
              <a:rPr sz="900" b="0" dirty="0">
                <a:solidFill>
                  <a:srgbClr val="555555"/>
                </a:solidFill>
                <a:latin typeface="+mj-ea"/>
                <a:ea typeface="+mj-ea"/>
              </a:rPr>
              <a:t> 중</a:t>
            </a:r>
          </a:p>
        </p:txBody>
      </p:sp>
      <p:sp>
        <p:nvSpPr>
          <p:cNvPr id="156" name="Research lab">
            <a:extLst>
              <a:ext uri="{FF2B5EF4-FFF2-40B4-BE49-F238E27FC236}">
                <a16:creationId xmlns:a16="http://schemas.microsoft.com/office/drawing/2014/main" id="{5489BF64-474A-4FD6-9F1A-5E5B29635537}"/>
              </a:ext>
            </a:extLst>
          </p:cNvPr>
          <p:cNvSpPr/>
          <p:nvPr/>
        </p:nvSpPr>
        <p:spPr>
          <a:xfrm>
            <a:off x="2304288" y="4840334"/>
            <a:ext cx="1664208" cy="960120"/>
          </a:xfrm>
          <a:prstGeom prst="roundRect">
            <a:avLst>
              <a:gd name="adj" fmla="val 8000"/>
            </a:avLst>
          </a:prstGeom>
          <a:solidFill>
            <a:srgbClr val="EAF1FA"/>
          </a:solidFill>
          <a:ln w="22225">
            <a:solidFill>
              <a:srgbClr val="2F6DB5"/>
            </a:solidFill>
          </a:ln>
        </p:spPr>
        <p:txBody>
          <a:bodyPr wrap="square" lIns="45720" tIns="18288" rIns="45720" bIns="18288" rtlCol="0" anchor="ctr"/>
          <a:lstStyle/>
          <a:p>
            <a:pPr algn="ctr">
              <a:lnSpc>
                <a:spcPct val="150000"/>
              </a:lnSpc>
            </a:pPr>
            <a:r>
              <a:rPr sz="1100" b="1" dirty="0" err="1">
                <a:solidFill>
                  <a:srgbClr val="1C3F6E"/>
                </a:solidFill>
                <a:latin typeface="+mj-ea"/>
                <a:ea typeface="+mj-ea"/>
              </a:rPr>
              <a:t>연구소</a:t>
            </a:r>
            <a:endParaRPr sz="1100" b="1" dirty="0">
              <a:solidFill>
                <a:srgbClr val="1C3F6E"/>
              </a:solidFill>
              <a:latin typeface="+mj-ea"/>
              <a:ea typeface="+mj-ea"/>
            </a:endParaRPr>
          </a:p>
          <a:p>
            <a:pPr algn="ctr">
              <a:lnSpc>
                <a:spcPct val="125000"/>
              </a:lnSpc>
            </a:pPr>
            <a:r>
              <a:rPr sz="900" b="0" dirty="0" err="1">
                <a:solidFill>
                  <a:srgbClr val="222222"/>
                </a:solidFill>
                <a:latin typeface="+mj-ea"/>
                <a:ea typeface="+mj-ea"/>
              </a:rPr>
              <a:t>고객</a:t>
            </a:r>
            <a:r>
              <a:rPr sz="900" b="0" dirty="0">
                <a:solidFill>
                  <a:srgbClr val="222222"/>
                </a:solidFill>
                <a:latin typeface="+mj-ea"/>
                <a:ea typeface="+mj-ea"/>
              </a:rPr>
              <a:t> </a:t>
            </a:r>
            <a:r>
              <a:rPr sz="900" b="0" dirty="0" err="1">
                <a:solidFill>
                  <a:srgbClr val="222222"/>
                </a:solidFill>
                <a:latin typeface="+mj-ea"/>
                <a:ea typeface="+mj-ea"/>
              </a:rPr>
              <a:t>workload·요구</a:t>
            </a:r>
            <a:r>
              <a:rPr sz="900" b="0" dirty="0">
                <a:solidFill>
                  <a:srgbClr val="222222"/>
                </a:solidFill>
                <a:latin typeface="+mj-ea"/>
                <a:ea typeface="+mj-ea"/>
              </a:rPr>
              <a:t> </a:t>
            </a:r>
            <a:r>
              <a:rPr sz="900" b="0" dirty="0" err="1">
                <a:solidFill>
                  <a:srgbClr val="222222"/>
                </a:solidFill>
                <a:latin typeface="+mj-ea"/>
                <a:ea typeface="+mj-ea"/>
              </a:rPr>
              <a:t>선제</a:t>
            </a:r>
            <a:r>
              <a:rPr sz="900" b="0" dirty="0">
                <a:solidFill>
                  <a:srgbClr val="222222"/>
                </a:solidFill>
                <a:latin typeface="+mj-ea"/>
                <a:ea typeface="+mj-ea"/>
              </a:rPr>
              <a:t> </a:t>
            </a:r>
            <a:r>
              <a:rPr sz="900" b="0" dirty="0" err="1">
                <a:solidFill>
                  <a:srgbClr val="222222"/>
                </a:solidFill>
                <a:latin typeface="+mj-ea"/>
                <a:ea typeface="+mj-ea"/>
              </a:rPr>
              <a:t>파악</a:t>
            </a:r>
            <a:r>
              <a:rPr sz="900" b="0" dirty="0">
                <a:solidFill>
                  <a:srgbClr val="222222"/>
                </a:solidFill>
                <a:latin typeface="+mj-ea"/>
                <a:ea typeface="+mj-ea"/>
              </a:rPr>
              <a:t> → </a:t>
            </a:r>
            <a:r>
              <a:rPr sz="900" b="0" dirty="0" err="1">
                <a:solidFill>
                  <a:srgbClr val="222222"/>
                </a:solidFill>
                <a:latin typeface="+mj-ea"/>
                <a:ea typeface="+mj-ea"/>
              </a:rPr>
              <a:t>이기종</a:t>
            </a:r>
            <a:r>
              <a:rPr sz="900" b="0" dirty="0">
                <a:solidFill>
                  <a:srgbClr val="222222"/>
                </a:solidFill>
                <a:latin typeface="+mj-ea"/>
                <a:ea typeface="+mj-ea"/>
              </a:rPr>
              <a:t> </a:t>
            </a:r>
            <a:r>
              <a:rPr sz="900" b="0" dirty="0" err="1">
                <a:solidFill>
                  <a:srgbClr val="222222"/>
                </a:solidFill>
                <a:latin typeface="+mj-ea"/>
                <a:ea typeface="+mj-ea"/>
              </a:rPr>
              <a:t>메모리</a:t>
            </a:r>
            <a:r>
              <a:rPr sz="900" b="0" dirty="0">
                <a:solidFill>
                  <a:srgbClr val="222222"/>
                </a:solidFill>
                <a:latin typeface="+mj-ea"/>
                <a:ea typeface="+mj-ea"/>
              </a:rPr>
              <a:t> </a:t>
            </a:r>
            <a:r>
              <a:rPr sz="900" b="0" dirty="0" err="1">
                <a:solidFill>
                  <a:srgbClr val="222222"/>
                </a:solidFill>
                <a:latin typeface="+mj-ea"/>
                <a:ea typeface="+mj-ea"/>
              </a:rPr>
              <a:t>인지형</a:t>
            </a:r>
            <a:r>
              <a:rPr sz="900" b="0" dirty="0">
                <a:solidFill>
                  <a:srgbClr val="222222"/>
                </a:solidFill>
                <a:latin typeface="+mj-ea"/>
                <a:ea typeface="+mj-ea"/>
              </a:rPr>
              <a:t> </a:t>
            </a:r>
            <a:r>
              <a:rPr sz="900" b="0" dirty="0" err="1">
                <a:solidFill>
                  <a:srgbClr val="222222"/>
                </a:solidFill>
                <a:latin typeface="+mj-ea"/>
                <a:ea typeface="+mj-ea"/>
              </a:rPr>
              <a:t>시스템·SW</a:t>
            </a:r>
            <a:r>
              <a:rPr sz="900" b="0" dirty="0">
                <a:solidFill>
                  <a:srgbClr val="222222"/>
                </a:solidFill>
                <a:latin typeface="+mj-ea"/>
                <a:ea typeface="+mj-ea"/>
              </a:rPr>
              <a:t> </a:t>
            </a:r>
            <a:r>
              <a:rPr sz="900" b="0" dirty="0" err="1">
                <a:solidFill>
                  <a:srgbClr val="222222"/>
                </a:solidFill>
                <a:latin typeface="+mj-ea"/>
                <a:ea typeface="+mj-ea"/>
              </a:rPr>
              <a:t>연구</a:t>
            </a:r>
            <a:endParaRPr sz="900" b="0" dirty="0">
              <a:solidFill>
                <a:srgbClr val="222222"/>
              </a:solidFill>
              <a:latin typeface="+mj-ea"/>
              <a:ea typeface="+mj-ea"/>
            </a:endParaRPr>
          </a:p>
        </p:txBody>
      </p:sp>
      <p:sp>
        <p:nvSpPr>
          <p:cNvPr id="157" name="Business unit">
            <a:extLst>
              <a:ext uri="{FF2B5EF4-FFF2-40B4-BE49-F238E27FC236}">
                <a16:creationId xmlns:a16="http://schemas.microsoft.com/office/drawing/2014/main" id="{6657B398-553F-4050-BB27-324EA9F4960A}"/>
              </a:ext>
            </a:extLst>
          </p:cNvPr>
          <p:cNvSpPr/>
          <p:nvPr/>
        </p:nvSpPr>
        <p:spPr>
          <a:xfrm>
            <a:off x="4261104" y="4840334"/>
            <a:ext cx="1664208" cy="960120"/>
          </a:xfrm>
          <a:prstGeom prst="roundRect">
            <a:avLst>
              <a:gd name="adj" fmla="val 8000"/>
            </a:avLst>
          </a:prstGeom>
          <a:solidFill>
            <a:srgbClr val="F0F1F3"/>
          </a:solidFill>
          <a:ln w="12700">
            <a:solidFill>
              <a:srgbClr val="7F7F7F"/>
            </a:solidFill>
          </a:ln>
        </p:spPr>
        <p:txBody>
          <a:bodyPr wrap="square" lIns="45720" tIns="18288" rIns="45720" bIns="18288" rtlCol="0" anchor="ctr"/>
          <a:lstStyle/>
          <a:p>
            <a:pPr algn="ctr">
              <a:lnSpc>
                <a:spcPct val="150000"/>
              </a:lnSpc>
            </a:pPr>
            <a:r>
              <a:rPr sz="1100" b="1" dirty="0" err="1">
                <a:solidFill>
                  <a:srgbClr val="222222"/>
                </a:solidFill>
                <a:latin typeface="+mj-ea"/>
                <a:ea typeface="+mj-ea"/>
              </a:rPr>
              <a:t>사업부</a:t>
            </a:r>
            <a:endParaRPr sz="1100" b="1" dirty="0">
              <a:solidFill>
                <a:srgbClr val="222222"/>
              </a:solidFill>
              <a:latin typeface="+mj-ea"/>
              <a:ea typeface="+mj-ea"/>
            </a:endParaRPr>
          </a:p>
          <a:p>
            <a:pPr algn="ctr">
              <a:lnSpc>
                <a:spcPct val="125000"/>
              </a:lnSpc>
            </a:pPr>
            <a:r>
              <a:rPr sz="900" b="0" dirty="0" err="1">
                <a:solidFill>
                  <a:srgbClr val="555555"/>
                </a:solidFill>
                <a:latin typeface="+mj-ea"/>
                <a:ea typeface="+mj-ea"/>
              </a:rPr>
              <a:t>연구</a:t>
            </a:r>
            <a:r>
              <a:rPr sz="900" b="0" dirty="0">
                <a:solidFill>
                  <a:srgbClr val="555555"/>
                </a:solidFill>
                <a:latin typeface="+mj-ea"/>
                <a:ea typeface="+mj-ea"/>
              </a:rPr>
              <a:t> </a:t>
            </a:r>
            <a:r>
              <a:rPr sz="900" b="0" dirty="0" err="1">
                <a:solidFill>
                  <a:srgbClr val="555555"/>
                </a:solidFill>
                <a:latin typeface="+mj-ea"/>
                <a:ea typeface="+mj-ea"/>
              </a:rPr>
              <a:t>결과</a:t>
            </a:r>
            <a:r>
              <a:rPr lang="en-US" sz="900" b="0" dirty="0">
                <a:solidFill>
                  <a:srgbClr val="555555"/>
                </a:solidFill>
                <a:latin typeface="+mj-ea"/>
                <a:ea typeface="+mj-ea"/>
              </a:rPr>
              <a:t> </a:t>
            </a:r>
          </a:p>
          <a:p>
            <a:pPr algn="ctr">
              <a:lnSpc>
                <a:spcPct val="125000"/>
              </a:lnSpc>
            </a:pPr>
            <a:r>
              <a:rPr sz="900" b="0" dirty="0">
                <a:solidFill>
                  <a:srgbClr val="555555"/>
                </a:solidFill>
                <a:latin typeface="+mj-ea"/>
                <a:ea typeface="+mj-ea"/>
              </a:rPr>
              <a:t>(HW Spec </a:t>
            </a:r>
            <a:r>
              <a:rPr sz="900" b="0" dirty="0" err="1">
                <a:solidFill>
                  <a:srgbClr val="555555"/>
                </a:solidFill>
                <a:latin typeface="+mj-ea"/>
                <a:ea typeface="+mj-ea"/>
              </a:rPr>
              <a:t>요구사항</a:t>
            </a:r>
            <a:r>
              <a:rPr sz="900" b="0" dirty="0">
                <a:solidFill>
                  <a:srgbClr val="555555"/>
                </a:solidFill>
                <a:latin typeface="+mj-ea"/>
                <a:ea typeface="+mj-ea"/>
              </a:rPr>
              <a:t>) </a:t>
            </a:r>
            <a:r>
              <a:rPr sz="900" b="0" dirty="0" err="1">
                <a:solidFill>
                  <a:srgbClr val="555555"/>
                </a:solidFill>
                <a:latin typeface="+mj-ea"/>
                <a:ea typeface="+mj-ea"/>
              </a:rPr>
              <a:t>반영</a:t>
            </a:r>
            <a:endParaRPr lang="en-US" sz="900" b="0" dirty="0">
              <a:solidFill>
                <a:srgbClr val="555555"/>
              </a:solidFill>
              <a:latin typeface="+mj-ea"/>
              <a:ea typeface="+mj-ea"/>
            </a:endParaRPr>
          </a:p>
          <a:p>
            <a:pPr algn="ctr">
              <a:lnSpc>
                <a:spcPct val="125000"/>
              </a:lnSpc>
            </a:pPr>
            <a:r>
              <a:rPr lang="ko-KR" altLang="en-US" sz="900" dirty="0">
                <a:solidFill>
                  <a:srgbClr val="222222"/>
                </a:solidFill>
                <a:latin typeface="+mj-ea"/>
              </a:rPr>
              <a:t>→ </a:t>
            </a:r>
            <a:r>
              <a:rPr lang="ko-KR" altLang="en-US" sz="900" dirty="0">
                <a:solidFill>
                  <a:srgbClr val="555555"/>
                </a:solidFill>
                <a:latin typeface="+mj-ea"/>
              </a:rPr>
              <a:t>차세대 </a:t>
            </a:r>
            <a:r>
              <a:rPr lang="en-US" altLang="ko-KR" sz="900" dirty="0">
                <a:solidFill>
                  <a:srgbClr val="555555"/>
                </a:solidFill>
                <a:latin typeface="+mj-ea"/>
              </a:rPr>
              <a:t>Device </a:t>
            </a:r>
            <a:r>
              <a:rPr lang="ko-KR" altLang="en-US" sz="900" dirty="0">
                <a:solidFill>
                  <a:srgbClr val="555555"/>
                </a:solidFill>
                <a:latin typeface="+mj-ea"/>
              </a:rPr>
              <a:t>개발</a:t>
            </a:r>
          </a:p>
        </p:txBody>
      </p:sp>
      <p:sp>
        <p:nvSpPr>
          <p:cNvPr id="158" name="flow arrow">
            <a:extLst>
              <a:ext uri="{FF2B5EF4-FFF2-40B4-BE49-F238E27FC236}">
                <a16:creationId xmlns:a16="http://schemas.microsoft.com/office/drawing/2014/main" id="{E339278A-C89C-4EAA-99F3-FFCBF3F8F261}"/>
              </a:ext>
            </a:extLst>
          </p:cNvPr>
          <p:cNvSpPr/>
          <p:nvPr/>
        </p:nvSpPr>
        <p:spPr>
          <a:xfrm>
            <a:off x="2039112" y="5210666"/>
            <a:ext cx="237744" cy="219456"/>
          </a:xfrm>
          <a:prstGeom prst="rightArrow">
            <a:avLst/>
          </a:prstGeom>
          <a:solidFill>
            <a:srgbClr val="7F7F7F"/>
          </a:solidFill>
          <a:ln>
            <a:noFill/>
          </a:ln>
        </p:spPr>
        <p:txBody>
          <a:bodyPr rtlCol="0" anchor="ctr"/>
          <a:lstStyle/>
          <a:p>
            <a:pPr algn="ctr"/>
            <a:endParaRPr/>
          </a:p>
        </p:txBody>
      </p:sp>
      <p:sp>
        <p:nvSpPr>
          <p:cNvPr id="159" name="flow arrow">
            <a:extLst>
              <a:ext uri="{FF2B5EF4-FFF2-40B4-BE49-F238E27FC236}">
                <a16:creationId xmlns:a16="http://schemas.microsoft.com/office/drawing/2014/main" id="{343CF676-4ACD-4B05-9FF3-AC348B04D1DC}"/>
              </a:ext>
            </a:extLst>
          </p:cNvPr>
          <p:cNvSpPr/>
          <p:nvPr/>
        </p:nvSpPr>
        <p:spPr>
          <a:xfrm>
            <a:off x="3995928" y="5210666"/>
            <a:ext cx="237744" cy="219456"/>
          </a:xfrm>
          <a:prstGeom prst="rightArrow">
            <a:avLst/>
          </a:prstGeom>
          <a:solidFill>
            <a:srgbClr val="7F7F7F"/>
          </a:solidFill>
          <a:ln>
            <a:noFill/>
          </a:ln>
        </p:spPr>
        <p:txBody>
          <a:bodyPr rtlCol="0" anchor="ctr"/>
          <a:lstStyle/>
          <a:p>
            <a:pPr algn="ctr"/>
            <a:endParaRPr/>
          </a:p>
        </p:txBody>
      </p:sp>
      <p:sp>
        <p:nvSpPr>
          <p:cNvPr id="160" name="Conclusion">
            <a:extLst>
              <a:ext uri="{FF2B5EF4-FFF2-40B4-BE49-F238E27FC236}">
                <a16:creationId xmlns:a16="http://schemas.microsoft.com/office/drawing/2014/main" id="{7F19F002-64D8-4D83-90E3-06335248ECD7}"/>
              </a:ext>
            </a:extLst>
          </p:cNvPr>
          <p:cNvSpPr/>
          <p:nvPr/>
        </p:nvSpPr>
        <p:spPr>
          <a:xfrm>
            <a:off x="347472" y="6009242"/>
            <a:ext cx="5577840" cy="310896"/>
          </a:xfrm>
          <a:prstGeom prst="roundRect">
            <a:avLst>
              <a:gd name="adj" fmla="val 20000"/>
            </a:avLst>
          </a:prstGeom>
          <a:solidFill>
            <a:srgbClr val="FDF1E7"/>
          </a:solidFill>
          <a:ln>
            <a:noFill/>
          </a:ln>
        </p:spPr>
        <p:txBody>
          <a:bodyPr wrap="square" lIns="45720" tIns="18288" rIns="45720" bIns="18288" rtlCol="0" anchor="ctr"/>
          <a:lstStyle/>
          <a:p>
            <a:pPr algn="ctr"/>
            <a:r>
              <a:rPr sz="1050" b="1" dirty="0">
                <a:solidFill>
                  <a:srgbClr val="222222"/>
                </a:solidFill>
                <a:latin typeface="+mj-ea"/>
                <a:ea typeface="+mj-ea"/>
              </a:rPr>
              <a:t>→ </a:t>
            </a:r>
            <a:r>
              <a:rPr sz="1050" b="1" dirty="0" err="1">
                <a:solidFill>
                  <a:srgbClr val="222222"/>
                </a:solidFill>
                <a:latin typeface="+mj-ea"/>
                <a:ea typeface="+mj-ea"/>
              </a:rPr>
              <a:t>시장·고객</a:t>
            </a:r>
            <a:r>
              <a:rPr sz="1050" b="1" dirty="0">
                <a:solidFill>
                  <a:srgbClr val="222222"/>
                </a:solidFill>
                <a:latin typeface="+mj-ea"/>
                <a:ea typeface="+mj-ea"/>
              </a:rPr>
              <a:t> </a:t>
            </a:r>
            <a:r>
              <a:rPr sz="1050" b="1" dirty="0" err="1">
                <a:solidFill>
                  <a:srgbClr val="222222"/>
                </a:solidFill>
                <a:latin typeface="+mj-ea"/>
                <a:ea typeface="+mj-ea"/>
              </a:rPr>
              <a:t>요구를</a:t>
            </a:r>
            <a:r>
              <a:rPr sz="1050" b="1" dirty="0">
                <a:solidFill>
                  <a:srgbClr val="222222"/>
                </a:solidFill>
                <a:latin typeface="+mj-ea"/>
                <a:ea typeface="+mj-ea"/>
              </a:rPr>
              <a:t> </a:t>
            </a:r>
            <a:r>
              <a:rPr sz="1050" b="1" dirty="0" err="1">
                <a:solidFill>
                  <a:srgbClr val="222222"/>
                </a:solidFill>
                <a:latin typeface="+mj-ea"/>
                <a:ea typeface="+mj-ea"/>
              </a:rPr>
              <a:t>선제</a:t>
            </a:r>
            <a:r>
              <a:rPr sz="1050" b="1" dirty="0">
                <a:solidFill>
                  <a:srgbClr val="222222"/>
                </a:solidFill>
                <a:latin typeface="+mj-ea"/>
                <a:ea typeface="+mj-ea"/>
              </a:rPr>
              <a:t> </a:t>
            </a:r>
            <a:r>
              <a:rPr sz="1050" b="1" dirty="0" err="1">
                <a:solidFill>
                  <a:srgbClr val="222222"/>
                </a:solidFill>
                <a:latin typeface="+mj-ea"/>
                <a:ea typeface="+mj-ea"/>
              </a:rPr>
              <a:t>반영하기</a:t>
            </a:r>
            <a:r>
              <a:rPr sz="1050" b="1" dirty="0">
                <a:solidFill>
                  <a:srgbClr val="222222"/>
                </a:solidFill>
                <a:latin typeface="+mj-ea"/>
                <a:ea typeface="+mj-ea"/>
              </a:rPr>
              <a:t> </a:t>
            </a:r>
            <a:r>
              <a:rPr sz="1050" b="1" dirty="0" err="1">
                <a:solidFill>
                  <a:srgbClr val="222222"/>
                </a:solidFill>
                <a:latin typeface="+mj-ea"/>
                <a:ea typeface="+mj-ea"/>
              </a:rPr>
              <a:t>위한</a:t>
            </a:r>
            <a:r>
              <a:rPr sz="1050" b="1" dirty="0">
                <a:solidFill>
                  <a:srgbClr val="222222"/>
                </a:solidFill>
                <a:latin typeface="+mj-ea"/>
                <a:ea typeface="+mj-ea"/>
              </a:rPr>
              <a:t>  </a:t>
            </a:r>
            <a:r>
              <a:rPr sz="1050" b="1" dirty="0" err="1">
                <a:solidFill>
                  <a:srgbClr val="C55A11"/>
                </a:solidFill>
                <a:latin typeface="+mj-ea"/>
                <a:ea typeface="+mj-ea"/>
              </a:rPr>
              <a:t>이기종</a:t>
            </a:r>
            <a:r>
              <a:rPr sz="1050" b="1" dirty="0">
                <a:solidFill>
                  <a:srgbClr val="C55A11"/>
                </a:solidFill>
                <a:latin typeface="+mj-ea"/>
                <a:ea typeface="+mj-ea"/>
              </a:rPr>
              <a:t> </a:t>
            </a:r>
            <a:r>
              <a:rPr sz="1050" b="1" dirty="0" err="1">
                <a:solidFill>
                  <a:srgbClr val="C55A11"/>
                </a:solidFill>
                <a:latin typeface="+mj-ea"/>
                <a:ea typeface="+mj-ea"/>
              </a:rPr>
              <a:t>메모리</a:t>
            </a:r>
            <a:r>
              <a:rPr sz="1050" b="1" dirty="0">
                <a:solidFill>
                  <a:srgbClr val="C55A11"/>
                </a:solidFill>
                <a:latin typeface="+mj-ea"/>
                <a:ea typeface="+mj-ea"/>
              </a:rPr>
              <a:t> </a:t>
            </a:r>
            <a:r>
              <a:rPr sz="1050" b="1" dirty="0" err="1">
                <a:solidFill>
                  <a:srgbClr val="C55A11"/>
                </a:solidFill>
                <a:latin typeface="+mj-ea"/>
                <a:ea typeface="+mj-ea"/>
              </a:rPr>
              <a:t>시스템</a:t>
            </a:r>
            <a:r>
              <a:rPr sz="1050" b="1" dirty="0">
                <a:solidFill>
                  <a:srgbClr val="C55A11"/>
                </a:solidFill>
                <a:latin typeface="+mj-ea"/>
                <a:ea typeface="+mj-ea"/>
              </a:rPr>
              <a:t> </a:t>
            </a:r>
            <a:r>
              <a:rPr sz="1050" b="1" dirty="0" err="1">
                <a:solidFill>
                  <a:srgbClr val="C55A11"/>
                </a:solidFill>
                <a:latin typeface="+mj-ea"/>
                <a:ea typeface="+mj-ea"/>
              </a:rPr>
              <a:t>연구</a:t>
            </a:r>
            <a:r>
              <a:rPr sz="1050" b="1" dirty="0" err="1">
                <a:solidFill>
                  <a:srgbClr val="222222"/>
                </a:solidFill>
                <a:latin typeface="+mj-ea"/>
                <a:ea typeface="+mj-ea"/>
              </a:rPr>
              <a:t>가</a:t>
            </a:r>
            <a:r>
              <a:rPr sz="1050" b="1" dirty="0">
                <a:solidFill>
                  <a:srgbClr val="222222"/>
                </a:solidFill>
                <a:latin typeface="+mj-ea"/>
                <a:ea typeface="+mj-ea"/>
              </a:rPr>
              <a:t> </a:t>
            </a:r>
            <a:r>
              <a:rPr sz="1050" b="1" dirty="0" err="1">
                <a:solidFill>
                  <a:srgbClr val="222222"/>
                </a:solidFill>
                <a:latin typeface="+mj-ea"/>
                <a:ea typeface="+mj-ea"/>
              </a:rPr>
              <a:t>필요</a:t>
            </a:r>
            <a:endParaRPr sz="1050" b="1" dirty="0">
              <a:solidFill>
                <a:srgbClr val="222222"/>
              </a:solidFill>
              <a:latin typeface="+mj-ea"/>
              <a:ea typeface="+mj-ea"/>
            </a:endParaRPr>
          </a:p>
        </p:txBody>
      </p:sp>
      <p:sp>
        <p:nvSpPr>
          <p:cNvPr id="161" name="Case box">
            <a:extLst>
              <a:ext uri="{FF2B5EF4-FFF2-40B4-BE49-F238E27FC236}">
                <a16:creationId xmlns:a16="http://schemas.microsoft.com/office/drawing/2014/main" id="{5DD0417E-7882-4D24-A2ED-3AFE9B562693}"/>
              </a:ext>
            </a:extLst>
          </p:cNvPr>
          <p:cNvSpPr/>
          <p:nvPr/>
        </p:nvSpPr>
        <p:spPr>
          <a:xfrm>
            <a:off x="347472" y="1556385"/>
            <a:ext cx="5577840" cy="2332179"/>
          </a:xfrm>
          <a:prstGeom prst="roundRect">
            <a:avLst>
              <a:gd name="adj" fmla="val 4000"/>
            </a:avLst>
          </a:prstGeom>
          <a:solidFill>
            <a:srgbClr val="F4F7FB"/>
          </a:solidFill>
          <a:ln>
            <a:noFill/>
          </a:ln>
        </p:spPr>
        <p:txBody>
          <a:bodyPr rtlCol="0" anchor="ctr"/>
          <a:lstStyle/>
          <a:p>
            <a:pPr algn="ctr"/>
            <a:endParaRPr/>
          </a:p>
        </p:txBody>
      </p:sp>
      <p:sp>
        <p:nvSpPr>
          <p:cNvPr id="162" name="TextBox 161">
            <a:extLst>
              <a:ext uri="{FF2B5EF4-FFF2-40B4-BE49-F238E27FC236}">
                <a16:creationId xmlns:a16="http://schemas.microsoft.com/office/drawing/2014/main" id="{7AFD0E6F-DD21-4A01-8EC4-C2D0D40E7DED}"/>
              </a:ext>
            </a:extLst>
          </p:cNvPr>
          <p:cNvSpPr txBox="1"/>
          <p:nvPr/>
        </p:nvSpPr>
        <p:spPr>
          <a:xfrm>
            <a:off x="475488" y="1629537"/>
            <a:ext cx="4572000" cy="182880"/>
          </a:xfrm>
          <a:prstGeom prst="rect">
            <a:avLst/>
          </a:prstGeom>
          <a:noFill/>
        </p:spPr>
        <p:txBody>
          <a:bodyPr wrap="square" lIns="0" tIns="0" rIns="0" bIns="0" anchor="t">
            <a:noAutofit/>
          </a:bodyPr>
          <a:lstStyle/>
          <a:p>
            <a:pPr algn="l"/>
            <a:r>
              <a:rPr sz="1050" b="1" dirty="0" err="1">
                <a:solidFill>
                  <a:srgbClr val="C55A11"/>
                </a:solidFill>
                <a:latin typeface="+mj-ea"/>
                <a:ea typeface="+mj-ea"/>
              </a:rPr>
              <a:t>참고</a:t>
            </a:r>
            <a:r>
              <a:rPr sz="1050" b="1" dirty="0">
                <a:solidFill>
                  <a:srgbClr val="C55A11"/>
                </a:solidFill>
                <a:latin typeface="+mj-ea"/>
                <a:ea typeface="+mj-ea"/>
              </a:rPr>
              <a:t> </a:t>
            </a:r>
            <a:r>
              <a:rPr sz="1050" b="1" dirty="0" err="1">
                <a:solidFill>
                  <a:srgbClr val="C55A11"/>
                </a:solidFill>
                <a:latin typeface="+mj-ea"/>
                <a:ea typeface="+mj-ea"/>
              </a:rPr>
              <a:t>사례</a:t>
            </a:r>
            <a:r>
              <a:rPr sz="1050" b="1" dirty="0">
                <a:solidFill>
                  <a:srgbClr val="222222"/>
                </a:solidFill>
                <a:latin typeface="+mj-ea"/>
                <a:ea typeface="+mj-ea"/>
              </a:rPr>
              <a:t>  </a:t>
            </a:r>
            <a:r>
              <a:rPr sz="1050" b="1" dirty="0" err="1">
                <a:solidFill>
                  <a:srgbClr val="222222"/>
                </a:solidFill>
                <a:latin typeface="+mj-ea"/>
                <a:ea typeface="+mj-ea"/>
              </a:rPr>
              <a:t>시장</a:t>
            </a:r>
            <a:r>
              <a:rPr sz="1050" b="1" dirty="0">
                <a:solidFill>
                  <a:srgbClr val="222222"/>
                </a:solidFill>
                <a:latin typeface="+mj-ea"/>
                <a:ea typeface="+mj-ea"/>
              </a:rPr>
              <a:t> </a:t>
            </a:r>
            <a:r>
              <a:rPr sz="1050" b="1" dirty="0" err="1">
                <a:solidFill>
                  <a:srgbClr val="222222"/>
                </a:solidFill>
                <a:latin typeface="+mj-ea"/>
                <a:ea typeface="+mj-ea"/>
              </a:rPr>
              <a:t>전환기</a:t>
            </a:r>
            <a:r>
              <a:rPr sz="1050" b="1" dirty="0">
                <a:solidFill>
                  <a:srgbClr val="222222"/>
                </a:solidFill>
                <a:latin typeface="+mj-ea"/>
                <a:ea typeface="+mj-ea"/>
              </a:rPr>
              <a:t>, </a:t>
            </a:r>
            <a:r>
              <a:rPr sz="1050" b="1" dirty="0" err="1">
                <a:solidFill>
                  <a:srgbClr val="222222"/>
                </a:solidFill>
                <a:latin typeface="+mj-ea"/>
                <a:ea typeface="+mj-ea"/>
              </a:rPr>
              <a:t>수요</a:t>
            </a:r>
            <a:r>
              <a:rPr sz="1050" b="1" dirty="0">
                <a:solidFill>
                  <a:srgbClr val="222222"/>
                </a:solidFill>
                <a:latin typeface="+mj-ea"/>
                <a:ea typeface="+mj-ea"/>
              </a:rPr>
              <a:t> </a:t>
            </a:r>
            <a:r>
              <a:rPr sz="1050" b="1" dirty="0" err="1">
                <a:solidFill>
                  <a:srgbClr val="222222"/>
                </a:solidFill>
                <a:latin typeface="+mj-ea"/>
                <a:ea typeface="+mj-ea"/>
              </a:rPr>
              <a:t>변곡점</a:t>
            </a:r>
            <a:r>
              <a:rPr sz="1050" b="1" dirty="0">
                <a:solidFill>
                  <a:srgbClr val="222222"/>
                </a:solidFill>
                <a:latin typeface="+mj-ea"/>
                <a:ea typeface="+mj-ea"/>
              </a:rPr>
              <a:t> </a:t>
            </a:r>
            <a:r>
              <a:rPr sz="1050" b="1" dirty="0" err="1">
                <a:solidFill>
                  <a:srgbClr val="222222"/>
                </a:solidFill>
                <a:latin typeface="+mj-ea"/>
                <a:ea typeface="+mj-ea"/>
              </a:rPr>
              <a:t>대응에</a:t>
            </a:r>
            <a:r>
              <a:rPr sz="1050" b="1" dirty="0">
                <a:solidFill>
                  <a:srgbClr val="222222"/>
                </a:solidFill>
                <a:latin typeface="+mj-ea"/>
                <a:ea typeface="+mj-ea"/>
              </a:rPr>
              <a:t> </a:t>
            </a:r>
            <a:r>
              <a:rPr sz="1050" b="1" dirty="0" err="1">
                <a:solidFill>
                  <a:srgbClr val="222222"/>
                </a:solidFill>
                <a:latin typeface="+mj-ea"/>
                <a:ea typeface="+mj-ea"/>
              </a:rPr>
              <a:t>걸린</a:t>
            </a:r>
            <a:r>
              <a:rPr sz="1050" b="1" dirty="0">
                <a:solidFill>
                  <a:srgbClr val="222222"/>
                </a:solidFill>
                <a:latin typeface="+mj-ea"/>
                <a:ea typeface="+mj-ea"/>
              </a:rPr>
              <a:t> </a:t>
            </a:r>
            <a:r>
              <a:rPr sz="1050" b="1" dirty="0" err="1">
                <a:solidFill>
                  <a:srgbClr val="222222"/>
                </a:solidFill>
                <a:latin typeface="+mj-ea"/>
                <a:ea typeface="+mj-ea"/>
              </a:rPr>
              <a:t>시간</a:t>
            </a:r>
            <a:r>
              <a:rPr sz="1050" b="1" dirty="0">
                <a:solidFill>
                  <a:srgbClr val="222222"/>
                </a:solidFill>
                <a:latin typeface="+mj-ea"/>
                <a:ea typeface="+mj-ea"/>
              </a:rPr>
              <a:t> (HBM)</a:t>
            </a:r>
          </a:p>
        </p:txBody>
      </p:sp>
      <p:sp>
        <p:nvSpPr>
          <p:cNvPr id="163" name="TextBox 162">
            <a:extLst>
              <a:ext uri="{FF2B5EF4-FFF2-40B4-BE49-F238E27FC236}">
                <a16:creationId xmlns:a16="http://schemas.microsoft.com/office/drawing/2014/main" id="{9091D874-470E-42D1-B9E2-EC24C784E2D6}"/>
              </a:ext>
            </a:extLst>
          </p:cNvPr>
          <p:cNvSpPr txBox="1"/>
          <p:nvPr/>
        </p:nvSpPr>
        <p:spPr>
          <a:xfrm>
            <a:off x="4828032" y="1647825"/>
            <a:ext cx="1005840" cy="146304"/>
          </a:xfrm>
          <a:prstGeom prst="rect">
            <a:avLst/>
          </a:prstGeom>
          <a:noFill/>
        </p:spPr>
        <p:txBody>
          <a:bodyPr wrap="square" lIns="0" tIns="0" rIns="0" bIns="0" anchor="t">
            <a:noAutofit/>
          </a:bodyPr>
          <a:lstStyle/>
          <a:p>
            <a:pPr algn="r"/>
            <a:r>
              <a:rPr sz="800" b="0" dirty="0" err="1">
                <a:solidFill>
                  <a:srgbClr val="555555"/>
                </a:solidFill>
                <a:latin typeface="+mj-ea"/>
                <a:ea typeface="+mj-ea"/>
              </a:rPr>
              <a:t>공개</a:t>
            </a:r>
            <a:r>
              <a:rPr sz="800" b="0" dirty="0">
                <a:solidFill>
                  <a:srgbClr val="555555"/>
                </a:solidFill>
                <a:latin typeface="+mj-ea"/>
                <a:ea typeface="+mj-ea"/>
              </a:rPr>
              <a:t> </a:t>
            </a:r>
            <a:r>
              <a:rPr sz="800" b="0" dirty="0" err="1">
                <a:solidFill>
                  <a:srgbClr val="555555"/>
                </a:solidFill>
                <a:latin typeface="+mj-ea"/>
                <a:ea typeface="+mj-ea"/>
              </a:rPr>
              <a:t>보도</a:t>
            </a:r>
            <a:r>
              <a:rPr sz="800" b="0" dirty="0">
                <a:solidFill>
                  <a:srgbClr val="555555"/>
                </a:solidFill>
                <a:latin typeface="+mj-ea"/>
                <a:ea typeface="+mj-ea"/>
              </a:rPr>
              <a:t> </a:t>
            </a:r>
            <a:r>
              <a:rPr sz="800" b="0" dirty="0" err="1">
                <a:solidFill>
                  <a:srgbClr val="555555"/>
                </a:solidFill>
                <a:latin typeface="+mj-ea"/>
                <a:ea typeface="+mj-ea"/>
              </a:rPr>
              <a:t>기준</a:t>
            </a:r>
            <a:endParaRPr sz="800" b="0" dirty="0">
              <a:solidFill>
                <a:srgbClr val="555555"/>
              </a:solidFill>
              <a:latin typeface="+mj-ea"/>
              <a:ea typeface="+mj-ea"/>
            </a:endParaRPr>
          </a:p>
        </p:txBody>
      </p:sp>
      <p:cxnSp>
        <p:nvCxnSpPr>
          <p:cNvPr id="164" name="Connector 151">
            <a:extLst>
              <a:ext uri="{FF2B5EF4-FFF2-40B4-BE49-F238E27FC236}">
                <a16:creationId xmlns:a16="http://schemas.microsoft.com/office/drawing/2014/main" id="{7DC344EC-6985-4B6C-8B7C-E4009CF78636}"/>
              </a:ext>
            </a:extLst>
          </p:cNvPr>
          <p:cNvCxnSpPr/>
          <p:nvPr/>
        </p:nvCxnSpPr>
        <p:spPr>
          <a:xfrm>
            <a:off x="621792" y="2214753"/>
            <a:ext cx="5029200" cy="0"/>
          </a:xfrm>
          <a:prstGeom prst="line">
            <a:avLst/>
          </a:prstGeom>
          <a:ln w="19050">
            <a:solidFill>
              <a:srgbClr val="A6A6A6"/>
            </a:solidFill>
          </a:ln>
        </p:spPr>
      </p:cxnSp>
      <p:sp>
        <p:nvSpPr>
          <p:cNvPr id="165" name="TextBox 164">
            <a:extLst>
              <a:ext uri="{FF2B5EF4-FFF2-40B4-BE49-F238E27FC236}">
                <a16:creationId xmlns:a16="http://schemas.microsoft.com/office/drawing/2014/main" id="{DF021E09-C593-4851-9F01-170106E4745E}"/>
              </a:ext>
            </a:extLst>
          </p:cNvPr>
          <p:cNvSpPr txBox="1"/>
          <p:nvPr/>
        </p:nvSpPr>
        <p:spPr>
          <a:xfrm>
            <a:off x="475488" y="1867280"/>
            <a:ext cx="1335024" cy="182880"/>
          </a:xfrm>
          <a:prstGeom prst="rect">
            <a:avLst/>
          </a:prstGeom>
          <a:noFill/>
        </p:spPr>
        <p:txBody>
          <a:bodyPr wrap="square" lIns="0" tIns="0" rIns="0" bIns="0" anchor="t">
            <a:noAutofit/>
          </a:bodyPr>
          <a:lstStyle/>
          <a:p>
            <a:pPr algn="ctr"/>
            <a:r>
              <a:rPr sz="1100" b="1">
                <a:solidFill>
                  <a:srgbClr val="2F6DB5"/>
                </a:solidFill>
                <a:latin typeface="+mj-ea"/>
                <a:ea typeface="+mj-ea"/>
              </a:rPr>
              <a:t>2016</a:t>
            </a:r>
          </a:p>
        </p:txBody>
      </p:sp>
      <p:sp>
        <p:nvSpPr>
          <p:cNvPr id="166" name="timeline dot">
            <a:extLst>
              <a:ext uri="{FF2B5EF4-FFF2-40B4-BE49-F238E27FC236}">
                <a16:creationId xmlns:a16="http://schemas.microsoft.com/office/drawing/2014/main" id="{7840A52F-DEB3-49C4-8004-31BEDA573DC9}"/>
              </a:ext>
            </a:extLst>
          </p:cNvPr>
          <p:cNvSpPr/>
          <p:nvPr/>
        </p:nvSpPr>
        <p:spPr>
          <a:xfrm>
            <a:off x="1078992" y="2150745"/>
            <a:ext cx="128016" cy="128016"/>
          </a:xfrm>
          <a:prstGeom prst="ellipse">
            <a:avLst/>
          </a:prstGeom>
          <a:solidFill>
            <a:srgbClr val="2F6DB5"/>
          </a:solidFill>
          <a:ln>
            <a:noFill/>
          </a:ln>
        </p:spPr>
        <p:txBody>
          <a:bodyPr rtlCol="0" anchor="ctr"/>
          <a:lstStyle/>
          <a:p>
            <a:pPr algn="ctr"/>
            <a:endParaRPr/>
          </a:p>
        </p:txBody>
      </p:sp>
      <p:sp>
        <p:nvSpPr>
          <p:cNvPr id="167" name="TextBox 166">
            <a:extLst>
              <a:ext uri="{FF2B5EF4-FFF2-40B4-BE49-F238E27FC236}">
                <a16:creationId xmlns:a16="http://schemas.microsoft.com/office/drawing/2014/main" id="{EFA66737-7E92-4F82-9606-6E9533AFD7A6}"/>
              </a:ext>
            </a:extLst>
          </p:cNvPr>
          <p:cNvSpPr txBox="1"/>
          <p:nvPr/>
        </p:nvSpPr>
        <p:spPr>
          <a:xfrm>
            <a:off x="475488" y="2342769"/>
            <a:ext cx="1335024" cy="182880"/>
          </a:xfrm>
          <a:prstGeom prst="rect">
            <a:avLst/>
          </a:prstGeom>
          <a:noFill/>
        </p:spPr>
        <p:txBody>
          <a:bodyPr wrap="square" lIns="0" tIns="0" rIns="0" bIns="0" anchor="t">
            <a:noAutofit/>
          </a:bodyPr>
          <a:lstStyle/>
          <a:p>
            <a:pPr algn="ctr"/>
            <a:r>
              <a:rPr sz="1000" b="1">
                <a:solidFill>
                  <a:srgbClr val="222222"/>
                </a:solidFill>
                <a:latin typeface="+mj-ea"/>
                <a:ea typeface="+mj-ea"/>
              </a:rPr>
              <a:t>HBM2 양산 개시</a:t>
            </a:r>
          </a:p>
        </p:txBody>
      </p:sp>
      <p:sp>
        <p:nvSpPr>
          <p:cNvPr id="168" name="TextBox 167">
            <a:extLst>
              <a:ext uri="{FF2B5EF4-FFF2-40B4-BE49-F238E27FC236}">
                <a16:creationId xmlns:a16="http://schemas.microsoft.com/office/drawing/2014/main" id="{3F861876-17C7-4D01-8E96-098E908FF03E}"/>
              </a:ext>
            </a:extLst>
          </p:cNvPr>
          <p:cNvSpPr txBox="1"/>
          <p:nvPr/>
        </p:nvSpPr>
        <p:spPr>
          <a:xfrm>
            <a:off x="512064" y="2534793"/>
            <a:ext cx="1261872" cy="676656"/>
          </a:xfrm>
          <a:prstGeom prst="rect">
            <a:avLst/>
          </a:prstGeom>
          <a:noFill/>
        </p:spPr>
        <p:txBody>
          <a:bodyPr wrap="square" lIns="0" tIns="0" rIns="0" bIns="0" anchor="t">
            <a:noAutofit/>
          </a:bodyPr>
          <a:lstStyle/>
          <a:p>
            <a:pPr algn="l">
              <a:lnSpc>
                <a:spcPct val="125000"/>
              </a:lnSpc>
            </a:pPr>
            <a:r>
              <a:rPr sz="800" b="0" dirty="0">
                <a:solidFill>
                  <a:srgbClr val="555555"/>
                </a:solidFill>
                <a:latin typeface="+mj-ea"/>
                <a:ea typeface="+mj-ea"/>
              </a:rPr>
              <a:t>GPU·HPC </a:t>
            </a:r>
            <a:r>
              <a:rPr sz="800" b="0" dirty="0" err="1">
                <a:solidFill>
                  <a:srgbClr val="555555"/>
                </a:solidFill>
                <a:latin typeface="+mj-ea"/>
                <a:ea typeface="+mj-ea"/>
              </a:rPr>
              <a:t>중심의</a:t>
            </a:r>
            <a:r>
              <a:rPr sz="800" b="0" dirty="0">
                <a:solidFill>
                  <a:srgbClr val="555555"/>
                </a:solidFill>
                <a:latin typeface="+mj-ea"/>
                <a:ea typeface="+mj-ea"/>
              </a:rPr>
              <a:t> </a:t>
            </a:r>
            <a:r>
              <a:rPr sz="800" b="0" dirty="0" err="1">
                <a:solidFill>
                  <a:srgbClr val="555555"/>
                </a:solidFill>
                <a:latin typeface="+mj-ea"/>
                <a:ea typeface="+mj-ea"/>
              </a:rPr>
              <a:t>소규모</a:t>
            </a:r>
            <a:r>
              <a:rPr sz="800" b="0" dirty="0">
                <a:solidFill>
                  <a:srgbClr val="555555"/>
                </a:solidFill>
                <a:latin typeface="+mj-ea"/>
                <a:ea typeface="+mj-ea"/>
              </a:rPr>
              <a:t> </a:t>
            </a:r>
            <a:r>
              <a:rPr sz="800" b="0" dirty="0" err="1">
                <a:solidFill>
                  <a:srgbClr val="555555"/>
                </a:solidFill>
                <a:latin typeface="+mj-ea"/>
                <a:ea typeface="+mj-ea"/>
              </a:rPr>
              <a:t>틈새</a:t>
            </a:r>
            <a:r>
              <a:rPr sz="800" b="0" dirty="0">
                <a:solidFill>
                  <a:srgbClr val="555555"/>
                </a:solidFill>
                <a:latin typeface="+mj-ea"/>
                <a:ea typeface="+mj-ea"/>
              </a:rPr>
              <a:t> </a:t>
            </a:r>
            <a:r>
              <a:rPr sz="800" b="0" dirty="0" err="1">
                <a:solidFill>
                  <a:srgbClr val="555555"/>
                </a:solidFill>
                <a:latin typeface="+mj-ea"/>
                <a:ea typeface="+mj-ea"/>
              </a:rPr>
              <a:t>시장</a:t>
            </a:r>
            <a:endParaRPr sz="800" b="0" dirty="0">
              <a:solidFill>
                <a:srgbClr val="555555"/>
              </a:solidFill>
              <a:latin typeface="+mj-ea"/>
              <a:ea typeface="+mj-ea"/>
            </a:endParaRPr>
          </a:p>
        </p:txBody>
      </p:sp>
      <p:sp>
        <p:nvSpPr>
          <p:cNvPr id="169" name="TextBox 168">
            <a:extLst>
              <a:ext uri="{FF2B5EF4-FFF2-40B4-BE49-F238E27FC236}">
                <a16:creationId xmlns:a16="http://schemas.microsoft.com/office/drawing/2014/main" id="{D8F47929-67E8-420C-8BD4-8BDFB0E1F56B}"/>
              </a:ext>
            </a:extLst>
          </p:cNvPr>
          <p:cNvSpPr txBox="1"/>
          <p:nvPr/>
        </p:nvSpPr>
        <p:spPr>
          <a:xfrm>
            <a:off x="1847088" y="1867280"/>
            <a:ext cx="1335024" cy="182880"/>
          </a:xfrm>
          <a:prstGeom prst="rect">
            <a:avLst/>
          </a:prstGeom>
          <a:noFill/>
        </p:spPr>
        <p:txBody>
          <a:bodyPr wrap="square" lIns="0" tIns="0" rIns="0" bIns="0" anchor="t">
            <a:noAutofit/>
          </a:bodyPr>
          <a:lstStyle/>
          <a:p>
            <a:pPr algn="ctr"/>
            <a:r>
              <a:rPr sz="1100" b="1">
                <a:solidFill>
                  <a:srgbClr val="2F6DB5"/>
                </a:solidFill>
                <a:latin typeface="+mj-ea"/>
                <a:ea typeface="+mj-ea"/>
              </a:rPr>
              <a:t>~2022</a:t>
            </a:r>
          </a:p>
        </p:txBody>
      </p:sp>
      <p:sp>
        <p:nvSpPr>
          <p:cNvPr id="170" name="timeline dot">
            <a:extLst>
              <a:ext uri="{FF2B5EF4-FFF2-40B4-BE49-F238E27FC236}">
                <a16:creationId xmlns:a16="http://schemas.microsoft.com/office/drawing/2014/main" id="{54B0998F-E545-420E-B989-1DCCEAEED8F5}"/>
              </a:ext>
            </a:extLst>
          </p:cNvPr>
          <p:cNvSpPr/>
          <p:nvPr/>
        </p:nvSpPr>
        <p:spPr>
          <a:xfrm>
            <a:off x="2450592" y="2150745"/>
            <a:ext cx="128016" cy="128016"/>
          </a:xfrm>
          <a:prstGeom prst="ellipse">
            <a:avLst/>
          </a:prstGeom>
          <a:solidFill>
            <a:srgbClr val="2F6DB5"/>
          </a:solidFill>
          <a:ln>
            <a:noFill/>
          </a:ln>
        </p:spPr>
        <p:txBody>
          <a:bodyPr rtlCol="0" anchor="ctr"/>
          <a:lstStyle/>
          <a:p>
            <a:pPr algn="ctr"/>
            <a:endParaRPr/>
          </a:p>
        </p:txBody>
      </p:sp>
      <p:sp>
        <p:nvSpPr>
          <p:cNvPr id="171" name="TextBox 170">
            <a:extLst>
              <a:ext uri="{FF2B5EF4-FFF2-40B4-BE49-F238E27FC236}">
                <a16:creationId xmlns:a16="http://schemas.microsoft.com/office/drawing/2014/main" id="{8C1F3E0E-2841-4121-B2B1-BDA761D96C54}"/>
              </a:ext>
            </a:extLst>
          </p:cNvPr>
          <p:cNvSpPr txBox="1"/>
          <p:nvPr/>
        </p:nvSpPr>
        <p:spPr>
          <a:xfrm>
            <a:off x="1847088" y="2342769"/>
            <a:ext cx="1335024" cy="182880"/>
          </a:xfrm>
          <a:prstGeom prst="rect">
            <a:avLst/>
          </a:prstGeom>
          <a:noFill/>
        </p:spPr>
        <p:txBody>
          <a:bodyPr wrap="square" lIns="0" tIns="0" rIns="0" bIns="0" anchor="t">
            <a:noAutofit/>
          </a:bodyPr>
          <a:lstStyle/>
          <a:p>
            <a:pPr algn="ctr"/>
            <a:r>
              <a:rPr sz="1000" b="1">
                <a:solidFill>
                  <a:srgbClr val="222222"/>
                </a:solidFill>
                <a:latin typeface="+mj-ea"/>
                <a:ea typeface="+mj-ea"/>
              </a:rPr>
              <a:t>범용 DRAM 집중</a:t>
            </a:r>
          </a:p>
        </p:txBody>
      </p:sp>
      <p:sp>
        <p:nvSpPr>
          <p:cNvPr id="172" name="TextBox 171">
            <a:extLst>
              <a:ext uri="{FF2B5EF4-FFF2-40B4-BE49-F238E27FC236}">
                <a16:creationId xmlns:a16="http://schemas.microsoft.com/office/drawing/2014/main" id="{B7D2F3F8-D830-4EB2-BD84-A4D895B79108}"/>
              </a:ext>
            </a:extLst>
          </p:cNvPr>
          <p:cNvSpPr txBox="1"/>
          <p:nvPr/>
        </p:nvSpPr>
        <p:spPr>
          <a:xfrm>
            <a:off x="1883664" y="2534793"/>
            <a:ext cx="1261872" cy="676656"/>
          </a:xfrm>
          <a:prstGeom prst="rect">
            <a:avLst/>
          </a:prstGeom>
          <a:noFill/>
        </p:spPr>
        <p:txBody>
          <a:bodyPr wrap="square" lIns="0" tIns="0" rIns="0" bIns="0" anchor="t">
            <a:noAutofit/>
          </a:bodyPr>
          <a:lstStyle/>
          <a:p>
            <a:pPr algn="l">
              <a:lnSpc>
                <a:spcPct val="125000"/>
              </a:lnSpc>
            </a:pPr>
            <a:r>
              <a:rPr sz="800" b="0" dirty="0" err="1">
                <a:solidFill>
                  <a:srgbClr val="555555"/>
                </a:solidFill>
                <a:latin typeface="+mj-ea"/>
                <a:ea typeface="+mj-ea"/>
              </a:rPr>
              <a:t>수요가</a:t>
            </a:r>
            <a:r>
              <a:rPr sz="800" b="0" dirty="0">
                <a:solidFill>
                  <a:srgbClr val="555555"/>
                </a:solidFill>
                <a:latin typeface="+mj-ea"/>
                <a:ea typeface="+mj-ea"/>
              </a:rPr>
              <a:t> </a:t>
            </a:r>
            <a:r>
              <a:rPr sz="800" b="0" dirty="0" err="1">
                <a:solidFill>
                  <a:srgbClr val="555555"/>
                </a:solidFill>
                <a:latin typeface="+mj-ea"/>
                <a:ea typeface="+mj-ea"/>
              </a:rPr>
              <a:t>제한적이던</a:t>
            </a:r>
            <a:r>
              <a:rPr sz="800" b="0" dirty="0">
                <a:solidFill>
                  <a:srgbClr val="555555"/>
                </a:solidFill>
                <a:latin typeface="+mj-ea"/>
                <a:ea typeface="+mj-ea"/>
              </a:rPr>
              <a:t> HBM </a:t>
            </a:r>
            <a:r>
              <a:rPr sz="800" b="0" dirty="0" err="1">
                <a:solidFill>
                  <a:srgbClr val="555555"/>
                </a:solidFill>
                <a:latin typeface="+mj-ea"/>
                <a:ea typeface="+mj-ea"/>
              </a:rPr>
              <a:t>대신</a:t>
            </a:r>
            <a:r>
              <a:rPr sz="800" b="0" dirty="0">
                <a:solidFill>
                  <a:srgbClr val="555555"/>
                </a:solidFill>
                <a:latin typeface="+mj-ea"/>
                <a:ea typeface="+mj-ea"/>
              </a:rPr>
              <a:t> </a:t>
            </a:r>
            <a:r>
              <a:rPr sz="800" b="0" dirty="0" err="1">
                <a:solidFill>
                  <a:srgbClr val="555555"/>
                </a:solidFill>
                <a:latin typeface="+mj-ea"/>
                <a:ea typeface="+mj-ea"/>
              </a:rPr>
              <a:t>범용</a:t>
            </a:r>
            <a:r>
              <a:rPr sz="800" b="0" dirty="0">
                <a:solidFill>
                  <a:srgbClr val="555555"/>
                </a:solidFill>
                <a:latin typeface="+mj-ea"/>
                <a:ea typeface="+mj-ea"/>
              </a:rPr>
              <a:t> DRAM(DDR·LPDDR) </a:t>
            </a:r>
            <a:r>
              <a:rPr sz="800" b="0" dirty="0" err="1">
                <a:solidFill>
                  <a:srgbClr val="555555"/>
                </a:solidFill>
                <a:latin typeface="+mj-ea"/>
                <a:ea typeface="+mj-ea"/>
              </a:rPr>
              <a:t>경쟁력에</a:t>
            </a:r>
            <a:r>
              <a:rPr sz="800" b="0" dirty="0">
                <a:solidFill>
                  <a:srgbClr val="555555"/>
                </a:solidFill>
                <a:latin typeface="+mj-ea"/>
                <a:ea typeface="+mj-ea"/>
              </a:rPr>
              <a:t> </a:t>
            </a:r>
            <a:r>
              <a:rPr sz="800" b="0" dirty="0" err="1">
                <a:solidFill>
                  <a:srgbClr val="555555"/>
                </a:solidFill>
                <a:latin typeface="+mj-ea"/>
                <a:ea typeface="+mj-ea"/>
              </a:rPr>
              <a:t>집중</a:t>
            </a:r>
            <a:endParaRPr sz="800" b="0" dirty="0">
              <a:solidFill>
                <a:srgbClr val="555555"/>
              </a:solidFill>
              <a:latin typeface="+mj-ea"/>
              <a:ea typeface="+mj-ea"/>
            </a:endParaRPr>
          </a:p>
        </p:txBody>
      </p:sp>
      <p:sp>
        <p:nvSpPr>
          <p:cNvPr id="173" name="TextBox 172">
            <a:extLst>
              <a:ext uri="{FF2B5EF4-FFF2-40B4-BE49-F238E27FC236}">
                <a16:creationId xmlns:a16="http://schemas.microsoft.com/office/drawing/2014/main" id="{ECAD46D3-A777-478C-A253-6C892443C6C0}"/>
              </a:ext>
            </a:extLst>
          </p:cNvPr>
          <p:cNvSpPr txBox="1"/>
          <p:nvPr/>
        </p:nvSpPr>
        <p:spPr>
          <a:xfrm>
            <a:off x="3218688" y="1867280"/>
            <a:ext cx="1335024" cy="182880"/>
          </a:xfrm>
          <a:prstGeom prst="rect">
            <a:avLst/>
          </a:prstGeom>
          <a:noFill/>
        </p:spPr>
        <p:txBody>
          <a:bodyPr wrap="square" lIns="0" tIns="0" rIns="0" bIns="0" anchor="t">
            <a:noAutofit/>
          </a:bodyPr>
          <a:lstStyle/>
          <a:p>
            <a:pPr algn="ctr"/>
            <a:r>
              <a:rPr sz="1100" b="1" dirty="0">
                <a:solidFill>
                  <a:srgbClr val="C55A11"/>
                </a:solidFill>
                <a:latin typeface="+mj-ea"/>
                <a:ea typeface="+mj-ea"/>
              </a:rPr>
              <a:t>2023~</a:t>
            </a:r>
          </a:p>
        </p:txBody>
      </p:sp>
      <p:sp>
        <p:nvSpPr>
          <p:cNvPr id="174" name="timeline dot">
            <a:extLst>
              <a:ext uri="{FF2B5EF4-FFF2-40B4-BE49-F238E27FC236}">
                <a16:creationId xmlns:a16="http://schemas.microsoft.com/office/drawing/2014/main" id="{458473B9-1CD8-4037-8C52-A9EBF83644BB}"/>
              </a:ext>
            </a:extLst>
          </p:cNvPr>
          <p:cNvSpPr/>
          <p:nvPr/>
        </p:nvSpPr>
        <p:spPr>
          <a:xfrm>
            <a:off x="3822191" y="2150745"/>
            <a:ext cx="128016" cy="128016"/>
          </a:xfrm>
          <a:prstGeom prst="ellipse">
            <a:avLst/>
          </a:prstGeom>
          <a:solidFill>
            <a:srgbClr val="C55A11"/>
          </a:solidFill>
          <a:ln>
            <a:noFill/>
          </a:ln>
        </p:spPr>
        <p:txBody>
          <a:bodyPr rtlCol="0" anchor="ctr"/>
          <a:lstStyle/>
          <a:p>
            <a:pPr algn="ctr"/>
            <a:endParaRPr/>
          </a:p>
        </p:txBody>
      </p:sp>
      <p:sp>
        <p:nvSpPr>
          <p:cNvPr id="175" name="TextBox 174">
            <a:extLst>
              <a:ext uri="{FF2B5EF4-FFF2-40B4-BE49-F238E27FC236}">
                <a16:creationId xmlns:a16="http://schemas.microsoft.com/office/drawing/2014/main" id="{59F8BD59-5AA7-4A58-AA3F-225BF2C95A75}"/>
              </a:ext>
            </a:extLst>
          </p:cNvPr>
          <p:cNvSpPr txBox="1"/>
          <p:nvPr/>
        </p:nvSpPr>
        <p:spPr>
          <a:xfrm>
            <a:off x="3218688" y="2342769"/>
            <a:ext cx="1335024" cy="182880"/>
          </a:xfrm>
          <a:prstGeom prst="rect">
            <a:avLst/>
          </a:prstGeom>
          <a:noFill/>
        </p:spPr>
        <p:txBody>
          <a:bodyPr wrap="square" lIns="0" tIns="0" rIns="0" bIns="0" anchor="t">
            <a:noAutofit/>
          </a:bodyPr>
          <a:lstStyle/>
          <a:p>
            <a:pPr algn="ctr"/>
            <a:r>
              <a:rPr sz="1000" b="1">
                <a:solidFill>
                  <a:srgbClr val="222222"/>
                </a:solidFill>
                <a:latin typeface="+mj-ea"/>
                <a:ea typeface="+mj-ea"/>
              </a:rPr>
              <a:t>AI 급부상</a:t>
            </a:r>
          </a:p>
        </p:txBody>
      </p:sp>
      <p:sp>
        <p:nvSpPr>
          <p:cNvPr id="176" name="TextBox 175">
            <a:extLst>
              <a:ext uri="{FF2B5EF4-FFF2-40B4-BE49-F238E27FC236}">
                <a16:creationId xmlns:a16="http://schemas.microsoft.com/office/drawing/2014/main" id="{42F8EB34-2138-4974-998F-49A2B82B25C5}"/>
              </a:ext>
            </a:extLst>
          </p:cNvPr>
          <p:cNvSpPr txBox="1"/>
          <p:nvPr/>
        </p:nvSpPr>
        <p:spPr>
          <a:xfrm>
            <a:off x="3255264" y="2534793"/>
            <a:ext cx="1261872" cy="387512"/>
          </a:xfrm>
          <a:prstGeom prst="rect">
            <a:avLst/>
          </a:prstGeom>
          <a:noFill/>
        </p:spPr>
        <p:txBody>
          <a:bodyPr wrap="square" lIns="0" tIns="0" rIns="0" bIns="0" anchor="t">
            <a:noAutofit/>
          </a:bodyPr>
          <a:lstStyle/>
          <a:p>
            <a:pPr algn="l">
              <a:lnSpc>
                <a:spcPct val="125000"/>
              </a:lnSpc>
            </a:pPr>
            <a:r>
              <a:rPr sz="800" b="0" dirty="0">
                <a:solidFill>
                  <a:srgbClr val="555555"/>
                </a:solidFill>
                <a:latin typeface="+mj-ea"/>
                <a:ea typeface="+mj-ea"/>
              </a:rPr>
              <a:t>HBM </a:t>
            </a:r>
            <a:r>
              <a:rPr sz="800" b="0" dirty="0" err="1">
                <a:solidFill>
                  <a:srgbClr val="555555"/>
                </a:solidFill>
                <a:latin typeface="+mj-ea"/>
                <a:ea typeface="+mj-ea"/>
              </a:rPr>
              <a:t>수요</a:t>
            </a:r>
            <a:r>
              <a:rPr sz="800" b="0" dirty="0">
                <a:solidFill>
                  <a:srgbClr val="555555"/>
                </a:solidFill>
                <a:latin typeface="+mj-ea"/>
                <a:ea typeface="+mj-ea"/>
              </a:rPr>
              <a:t> </a:t>
            </a:r>
            <a:r>
              <a:rPr sz="800" b="0" dirty="0" err="1">
                <a:solidFill>
                  <a:srgbClr val="555555"/>
                </a:solidFill>
                <a:latin typeface="+mj-ea"/>
                <a:ea typeface="+mj-ea"/>
              </a:rPr>
              <a:t>급증</a:t>
            </a:r>
            <a:r>
              <a:rPr sz="800" b="0" dirty="0">
                <a:solidFill>
                  <a:srgbClr val="555555"/>
                </a:solidFill>
                <a:latin typeface="+mj-ea"/>
                <a:ea typeface="+mj-ea"/>
              </a:rPr>
              <a:t>: 2024 $16B → 2025 $35B (2.2×)</a:t>
            </a:r>
          </a:p>
        </p:txBody>
      </p:sp>
      <p:sp>
        <p:nvSpPr>
          <p:cNvPr id="177" name="TextBox 176">
            <a:extLst>
              <a:ext uri="{FF2B5EF4-FFF2-40B4-BE49-F238E27FC236}">
                <a16:creationId xmlns:a16="http://schemas.microsoft.com/office/drawing/2014/main" id="{0F217585-5CD9-48CA-A5CA-6E494D70C461}"/>
              </a:ext>
            </a:extLst>
          </p:cNvPr>
          <p:cNvSpPr txBox="1"/>
          <p:nvPr/>
        </p:nvSpPr>
        <p:spPr>
          <a:xfrm>
            <a:off x="4590288" y="1867280"/>
            <a:ext cx="1335024" cy="182880"/>
          </a:xfrm>
          <a:prstGeom prst="rect">
            <a:avLst/>
          </a:prstGeom>
          <a:noFill/>
        </p:spPr>
        <p:txBody>
          <a:bodyPr wrap="square" lIns="0" tIns="0" rIns="0" bIns="0" anchor="t">
            <a:noAutofit/>
          </a:bodyPr>
          <a:lstStyle/>
          <a:p>
            <a:pPr algn="ctr"/>
            <a:r>
              <a:rPr sz="1100" b="1">
                <a:solidFill>
                  <a:srgbClr val="C55A11"/>
                </a:solidFill>
                <a:latin typeface="+mj-ea"/>
                <a:ea typeface="+mj-ea"/>
              </a:rPr>
              <a:t>2024~25</a:t>
            </a:r>
          </a:p>
        </p:txBody>
      </p:sp>
      <p:sp>
        <p:nvSpPr>
          <p:cNvPr id="178" name="timeline dot">
            <a:extLst>
              <a:ext uri="{FF2B5EF4-FFF2-40B4-BE49-F238E27FC236}">
                <a16:creationId xmlns:a16="http://schemas.microsoft.com/office/drawing/2014/main" id="{E5115058-AAF8-4FF8-8281-537800902D29}"/>
              </a:ext>
            </a:extLst>
          </p:cNvPr>
          <p:cNvSpPr/>
          <p:nvPr/>
        </p:nvSpPr>
        <p:spPr>
          <a:xfrm>
            <a:off x="5193792" y="2150745"/>
            <a:ext cx="128016" cy="128016"/>
          </a:xfrm>
          <a:prstGeom prst="ellipse">
            <a:avLst/>
          </a:prstGeom>
          <a:solidFill>
            <a:srgbClr val="C55A11"/>
          </a:solidFill>
          <a:ln>
            <a:noFill/>
          </a:ln>
        </p:spPr>
        <p:txBody>
          <a:bodyPr rtlCol="0" anchor="ctr"/>
          <a:lstStyle/>
          <a:p>
            <a:pPr algn="ctr"/>
            <a:endParaRPr/>
          </a:p>
        </p:txBody>
      </p:sp>
      <p:sp>
        <p:nvSpPr>
          <p:cNvPr id="179" name="TextBox 178">
            <a:extLst>
              <a:ext uri="{FF2B5EF4-FFF2-40B4-BE49-F238E27FC236}">
                <a16:creationId xmlns:a16="http://schemas.microsoft.com/office/drawing/2014/main" id="{048B1904-DC95-407E-84C8-C13F5413C035}"/>
              </a:ext>
            </a:extLst>
          </p:cNvPr>
          <p:cNvSpPr txBox="1"/>
          <p:nvPr/>
        </p:nvSpPr>
        <p:spPr>
          <a:xfrm>
            <a:off x="4590288" y="2342769"/>
            <a:ext cx="1335024" cy="182880"/>
          </a:xfrm>
          <a:prstGeom prst="rect">
            <a:avLst/>
          </a:prstGeom>
          <a:noFill/>
        </p:spPr>
        <p:txBody>
          <a:bodyPr wrap="square" lIns="0" tIns="0" rIns="0" bIns="0" anchor="t">
            <a:noAutofit/>
          </a:bodyPr>
          <a:lstStyle/>
          <a:p>
            <a:pPr algn="ctr"/>
            <a:r>
              <a:rPr sz="1000" b="1">
                <a:solidFill>
                  <a:srgbClr val="222222"/>
                </a:solidFill>
                <a:latin typeface="+mj-ea"/>
                <a:ea typeface="+mj-ea"/>
              </a:rPr>
              <a:t>대응에 시간 소요</a:t>
            </a:r>
          </a:p>
        </p:txBody>
      </p:sp>
      <p:sp>
        <p:nvSpPr>
          <p:cNvPr id="180" name="TextBox 179">
            <a:extLst>
              <a:ext uri="{FF2B5EF4-FFF2-40B4-BE49-F238E27FC236}">
                <a16:creationId xmlns:a16="http://schemas.microsoft.com/office/drawing/2014/main" id="{7F57237E-F5BA-4C1F-B6F4-CE33ED518896}"/>
              </a:ext>
            </a:extLst>
          </p:cNvPr>
          <p:cNvSpPr txBox="1"/>
          <p:nvPr/>
        </p:nvSpPr>
        <p:spPr>
          <a:xfrm>
            <a:off x="4626864" y="2534793"/>
            <a:ext cx="1261872" cy="676656"/>
          </a:xfrm>
          <a:prstGeom prst="rect">
            <a:avLst/>
          </a:prstGeom>
          <a:noFill/>
        </p:spPr>
        <p:txBody>
          <a:bodyPr wrap="square" lIns="0" tIns="0" rIns="0" bIns="0" anchor="t">
            <a:noAutofit/>
          </a:bodyPr>
          <a:lstStyle/>
          <a:p>
            <a:pPr algn="l">
              <a:lnSpc>
                <a:spcPct val="125000"/>
              </a:lnSpc>
            </a:pPr>
            <a:r>
              <a:rPr sz="800" b="0" dirty="0">
                <a:solidFill>
                  <a:srgbClr val="555555"/>
                </a:solidFill>
                <a:latin typeface="+mj-ea"/>
                <a:ea typeface="+mj-ea"/>
              </a:rPr>
              <a:t>HBM3E 12단 </a:t>
            </a:r>
            <a:r>
              <a:rPr sz="800" b="0" dirty="0" err="1">
                <a:solidFill>
                  <a:srgbClr val="555555"/>
                </a:solidFill>
                <a:latin typeface="+mj-ea"/>
                <a:ea typeface="+mj-ea"/>
              </a:rPr>
              <a:t>고객</a:t>
            </a:r>
            <a:r>
              <a:rPr sz="800" b="0" dirty="0">
                <a:solidFill>
                  <a:srgbClr val="555555"/>
                </a:solidFill>
                <a:latin typeface="+mj-ea"/>
                <a:ea typeface="+mj-ea"/>
              </a:rPr>
              <a:t> </a:t>
            </a:r>
            <a:r>
              <a:rPr sz="800" b="0" dirty="0" err="1">
                <a:solidFill>
                  <a:srgbClr val="555555"/>
                </a:solidFill>
                <a:latin typeface="+mj-ea"/>
                <a:ea typeface="+mj-ea"/>
              </a:rPr>
              <a:t>인증에</a:t>
            </a:r>
            <a:r>
              <a:rPr sz="800" b="0" dirty="0">
                <a:solidFill>
                  <a:srgbClr val="555555"/>
                </a:solidFill>
                <a:latin typeface="+mj-ea"/>
                <a:ea typeface="+mj-ea"/>
              </a:rPr>
              <a:t> </a:t>
            </a:r>
            <a:r>
              <a:rPr sz="800" b="0" dirty="0" err="1">
                <a:solidFill>
                  <a:srgbClr val="555555"/>
                </a:solidFill>
                <a:latin typeface="+mj-ea"/>
                <a:ea typeface="+mj-ea"/>
              </a:rPr>
              <a:t>시간</a:t>
            </a:r>
            <a:r>
              <a:rPr sz="800" b="0" dirty="0">
                <a:solidFill>
                  <a:srgbClr val="555555"/>
                </a:solidFill>
                <a:latin typeface="+mj-ea"/>
                <a:ea typeface="+mj-ea"/>
              </a:rPr>
              <a:t> </a:t>
            </a:r>
            <a:r>
              <a:rPr sz="800" b="0" dirty="0" err="1">
                <a:solidFill>
                  <a:srgbClr val="555555"/>
                </a:solidFill>
                <a:latin typeface="+mj-ea"/>
                <a:ea typeface="+mj-ea"/>
              </a:rPr>
              <a:t>소요</a:t>
            </a:r>
            <a:r>
              <a:rPr sz="800" b="0" dirty="0">
                <a:solidFill>
                  <a:srgbClr val="555555"/>
                </a:solidFill>
                <a:latin typeface="+mj-ea"/>
                <a:ea typeface="+mj-ea"/>
              </a:rPr>
              <a:t> (</a:t>
            </a:r>
            <a:r>
              <a:rPr sz="800" b="0" dirty="0" err="1">
                <a:solidFill>
                  <a:srgbClr val="555555"/>
                </a:solidFill>
                <a:latin typeface="+mj-ea"/>
                <a:ea typeface="+mj-ea"/>
              </a:rPr>
              <a:t>공개</a:t>
            </a:r>
            <a:r>
              <a:rPr sz="800" b="0" dirty="0">
                <a:solidFill>
                  <a:srgbClr val="555555"/>
                </a:solidFill>
                <a:latin typeface="+mj-ea"/>
                <a:ea typeface="+mj-ea"/>
              </a:rPr>
              <a:t> </a:t>
            </a:r>
            <a:r>
              <a:rPr sz="800" b="0" dirty="0" err="1">
                <a:solidFill>
                  <a:srgbClr val="555555"/>
                </a:solidFill>
                <a:latin typeface="+mj-ea"/>
                <a:ea typeface="+mj-ea"/>
              </a:rPr>
              <a:t>보도</a:t>
            </a:r>
            <a:r>
              <a:rPr sz="800" b="0" dirty="0">
                <a:solidFill>
                  <a:srgbClr val="555555"/>
                </a:solidFill>
                <a:latin typeface="+mj-ea"/>
                <a:ea typeface="+mj-ea"/>
              </a:rPr>
              <a:t>) → HBM4 </a:t>
            </a:r>
            <a:r>
              <a:rPr sz="800" b="0" dirty="0" err="1">
                <a:solidFill>
                  <a:srgbClr val="555555"/>
                </a:solidFill>
                <a:latin typeface="+mj-ea"/>
                <a:ea typeface="+mj-ea"/>
              </a:rPr>
              <a:t>인증</a:t>
            </a:r>
            <a:r>
              <a:rPr sz="800" b="0" dirty="0">
                <a:solidFill>
                  <a:srgbClr val="555555"/>
                </a:solidFill>
                <a:latin typeface="+mj-ea"/>
                <a:ea typeface="+mj-ea"/>
              </a:rPr>
              <a:t> </a:t>
            </a:r>
            <a:r>
              <a:rPr sz="800" b="0" dirty="0" err="1">
                <a:solidFill>
                  <a:srgbClr val="555555"/>
                </a:solidFill>
                <a:latin typeface="+mj-ea"/>
                <a:ea typeface="+mj-ea"/>
              </a:rPr>
              <a:t>진행</a:t>
            </a:r>
            <a:endParaRPr sz="800" b="0" dirty="0">
              <a:solidFill>
                <a:srgbClr val="555555"/>
              </a:solidFill>
              <a:latin typeface="+mj-ea"/>
              <a:ea typeface="+mj-ea"/>
            </a:endParaRPr>
          </a:p>
        </p:txBody>
      </p:sp>
      <p:sp>
        <p:nvSpPr>
          <p:cNvPr id="181" name="Insight">
            <a:extLst>
              <a:ext uri="{FF2B5EF4-FFF2-40B4-BE49-F238E27FC236}">
                <a16:creationId xmlns:a16="http://schemas.microsoft.com/office/drawing/2014/main" id="{08845506-1E78-4859-A2FB-365EDAB0145F}"/>
              </a:ext>
            </a:extLst>
          </p:cNvPr>
          <p:cNvSpPr/>
          <p:nvPr/>
        </p:nvSpPr>
        <p:spPr>
          <a:xfrm>
            <a:off x="475488" y="3140903"/>
            <a:ext cx="5321807" cy="457200"/>
          </a:xfrm>
          <a:prstGeom prst="roundRect">
            <a:avLst>
              <a:gd name="adj" fmla="val 12000"/>
            </a:avLst>
          </a:prstGeom>
          <a:solidFill>
            <a:srgbClr val="FDF1E7"/>
          </a:solidFill>
          <a:ln>
            <a:noFill/>
          </a:ln>
        </p:spPr>
        <p:txBody>
          <a:bodyPr wrap="square" tIns="18288" bIns="18288" rtlCol="0" anchor="ctr"/>
          <a:lstStyle/>
          <a:p>
            <a:pPr algn="l">
              <a:lnSpc>
                <a:spcPct val="105000"/>
              </a:lnSpc>
            </a:pPr>
            <a:r>
              <a:rPr sz="1000" b="1" dirty="0" err="1">
                <a:solidFill>
                  <a:srgbClr val="C55A11"/>
                </a:solidFill>
                <a:latin typeface="+mj-ea"/>
                <a:ea typeface="+mj-ea"/>
              </a:rPr>
              <a:t>시사점</a:t>
            </a:r>
            <a:r>
              <a:rPr sz="1000" b="1" dirty="0">
                <a:solidFill>
                  <a:srgbClr val="C55A11"/>
                </a:solidFill>
                <a:latin typeface="+mj-ea"/>
                <a:ea typeface="+mj-ea"/>
              </a:rPr>
              <a:t>  </a:t>
            </a:r>
            <a:r>
              <a:rPr sz="1000" b="1" dirty="0" err="1">
                <a:solidFill>
                  <a:srgbClr val="222222"/>
                </a:solidFill>
                <a:latin typeface="+mj-ea"/>
                <a:ea typeface="+mj-ea"/>
              </a:rPr>
              <a:t>수요</a:t>
            </a:r>
            <a:r>
              <a:rPr sz="1000" b="1" dirty="0">
                <a:solidFill>
                  <a:srgbClr val="222222"/>
                </a:solidFill>
                <a:latin typeface="+mj-ea"/>
                <a:ea typeface="+mj-ea"/>
              </a:rPr>
              <a:t> </a:t>
            </a:r>
            <a:r>
              <a:rPr sz="1000" b="1" dirty="0" err="1">
                <a:solidFill>
                  <a:srgbClr val="222222"/>
                </a:solidFill>
                <a:latin typeface="+mj-ea"/>
                <a:ea typeface="+mj-ea"/>
              </a:rPr>
              <a:t>변곡점은</a:t>
            </a:r>
            <a:r>
              <a:rPr sz="1000" b="1" dirty="0">
                <a:solidFill>
                  <a:srgbClr val="222222"/>
                </a:solidFill>
                <a:latin typeface="+mj-ea"/>
                <a:ea typeface="+mj-ea"/>
              </a:rPr>
              <a:t> </a:t>
            </a:r>
            <a:r>
              <a:rPr sz="1000" b="1" dirty="0" err="1">
                <a:solidFill>
                  <a:srgbClr val="222222"/>
                </a:solidFill>
                <a:latin typeface="+mj-ea"/>
                <a:ea typeface="+mj-ea"/>
              </a:rPr>
              <a:t>예측보다</a:t>
            </a:r>
            <a:r>
              <a:rPr sz="1000" b="1" dirty="0">
                <a:solidFill>
                  <a:srgbClr val="222222"/>
                </a:solidFill>
                <a:latin typeface="+mj-ea"/>
                <a:ea typeface="+mj-ea"/>
              </a:rPr>
              <a:t> </a:t>
            </a:r>
            <a:r>
              <a:rPr sz="1000" b="1" dirty="0" err="1">
                <a:solidFill>
                  <a:srgbClr val="222222"/>
                </a:solidFill>
                <a:latin typeface="+mj-ea"/>
                <a:ea typeface="+mj-ea"/>
              </a:rPr>
              <a:t>빠르고</a:t>
            </a:r>
            <a:r>
              <a:rPr sz="1000" b="1" dirty="0">
                <a:solidFill>
                  <a:srgbClr val="222222"/>
                </a:solidFill>
                <a:latin typeface="+mj-ea"/>
                <a:ea typeface="+mj-ea"/>
              </a:rPr>
              <a:t>, </a:t>
            </a:r>
            <a:r>
              <a:rPr sz="1000" b="1" dirty="0" err="1">
                <a:solidFill>
                  <a:srgbClr val="222222"/>
                </a:solidFill>
                <a:latin typeface="+mj-ea"/>
                <a:ea typeface="+mj-ea"/>
              </a:rPr>
              <a:t>개발·인증·양산</a:t>
            </a:r>
            <a:r>
              <a:rPr sz="1000" b="1" dirty="0">
                <a:solidFill>
                  <a:srgbClr val="222222"/>
                </a:solidFill>
                <a:latin typeface="+mj-ea"/>
                <a:ea typeface="+mj-ea"/>
              </a:rPr>
              <a:t> </a:t>
            </a:r>
            <a:r>
              <a:rPr sz="1000" b="1" dirty="0" err="1">
                <a:solidFill>
                  <a:srgbClr val="222222"/>
                </a:solidFill>
                <a:latin typeface="+mj-ea"/>
                <a:ea typeface="+mj-ea"/>
              </a:rPr>
              <a:t>리드타임이</a:t>
            </a:r>
            <a:r>
              <a:rPr sz="1000" b="1" dirty="0">
                <a:solidFill>
                  <a:srgbClr val="222222"/>
                </a:solidFill>
                <a:latin typeface="+mj-ea"/>
                <a:ea typeface="+mj-ea"/>
              </a:rPr>
              <a:t> </a:t>
            </a:r>
            <a:r>
              <a:rPr sz="1000" b="1" dirty="0" err="1">
                <a:solidFill>
                  <a:srgbClr val="222222"/>
                </a:solidFill>
                <a:latin typeface="+mj-ea"/>
                <a:ea typeface="+mj-ea"/>
              </a:rPr>
              <a:t>대응</a:t>
            </a:r>
            <a:r>
              <a:rPr sz="1000" b="1" dirty="0">
                <a:solidFill>
                  <a:srgbClr val="222222"/>
                </a:solidFill>
                <a:latin typeface="+mj-ea"/>
                <a:ea typeface="+mj-ea"/>
              </a:rPr>
              <a:t> </a:t>
            </a:r>
            <a:r>
              <a:rPr sz="1000" b="1" dirty="0" err="1">
                <a:solidFill>
                  <a:srgbClr val="222222"/>
                </a:solidFill>
                <a:latin typeface="+mj-ea"/>
                <a:ea typeface="+mj-ea"/>
              </a:rPr>
              <a:t>속도를</a:t>
            </a:r>
            <a:r>
              <a:rPr sz="1000" b="1" dirty="0">
                <a:solidFill>
                  <a:srgbClr val="222222"/>
                </a:solidFill>
                <a:latin typeface="+mj-ea"/>
                <a:ea typeface="+mj-ea"/>
              </a:rPr>
              <a:t> </a:t>
            </a:r>
            <a:r>
              <a:rPr sz="1000" b="1" dirty="0" err="1">
                <a:solidFill>
                  <a:srgbClr val="222222"/>
                </a:solidFill>
                <a:latin typeface="+mj-ea"/>
                <a:ea typeface="+mj-ea"/>
              </a:rPr>
              <a:t>좌우</a:t>
            </a:r>
            <a:r>
              <a:rPr sz="1000" b="1" dirty="0">
                <a:solidFill>
                  <a:srgbClr val="222222"/>
                </a:solidFill>
                <a:latin typeface="+mj-ea"/>
                <a:ea typeface="+mj-ea"/>
              </a:rPr>
              <a:t> → </a:t>
            </a:r>
            <a:r>
              <a:rPr sz="1000" b="1" dirty="0" err="1">
                <a:solidFill>
                  <a:srgbClr val="222222"/>
                </a:solidFill>
                <a:latin typeface="+mj-ea"/>
                <a:ea typeface="+mj-ea"/>
              </a:rPr>
              <a:t>다음</a:t>
            </a:r>
            <a:r>
              <a:rPr sz="1000" b="1" dirty="0">
                <a:solidFill>
                  <a:srgbClr val="222222"/>
                </a:solidFill>
                <a:latin typeface="+mj-ea"/>
                <a:ea typeface="+mj-ea"/>
              </a:rPr>
              <a:t> </a:t>
            </a:r>
            <a:r>
              <a:rPr sz="1000" b="1" dirty="0" err="1">
                <a:solidFill>
                  <a:srgbClr val="222222"/>
                </a:solidFill>
                <a:latin typeface="+mj-ea"/>
                <a:ea typeface="+mj-ea"/>
              </a:rPr>
              <a:t>수요</a:t>
            </a:r>
            <a:r>
              <a:rPr sz="1000" b="1" dirty="0">
                <a:solidFill>
                  <a:srgbClr val="222222"/>
                </a:solidFill>
                <a:latin typeface="+mj-ea"/>
                <a:ea typeface="+mj-ea"/>
              </a:rPr>
              <a:t> </a:t>
            </a:r>
            <a:r>
              <a:rPr sz="1000" b="1" dirty="0" err="1">
                <a:solidFill>
                  <a:srgbClr val="222222"/>
                </a:solidFill>
                <a:latin typeface="+mj-ea"/>
                <a:ea typeface="+mj-ea"/>
              </a:rPr>
              <a:t>후보를</a:t>
            </a:r>
            <a:r>
              <a:rPr sz="1000" b="1" dirty="0">
                <a:solidFill>
                  <a:srgbClr val="222222"/>
                </a:solidFill>
                <a:latin typeface="+mj-ea"/>
                <a:ea typeface="+mj-ea"/>
              </a:rPr>
              <a:t> </a:t>
            </a:r>
            <a:r>
              <a:rPr sz="1000" b="1" dirty="0" err="1">
                <a:solidFill>
                  <a:srgbClr val="222222"/>
                </a:solidFill>
                <a:latin typeface="+mj-ea"/>
                <a:ea typeface="+mj-ea"/>
              </a:rPr>
              <a:t>미리</a:t>
            </a:r>
            <a:r>
              <a:rPr sz="1000" b="1" dirty="0">
                <a:solidFill>
                  <a:srgbClr val="222222"/>
                </a:solidFill>
                <a:latin typeface="+mj-ea"/>
                <a:ea typeface="+mj-ea"/>
              </a:rPr>
              <a:t> </a:t>
            </a:r>
            <a:r>
              <a:rPr sz="1000" b="1" dirty="0" err="1">
                <a:solidFill>
                  <a:srgbClr val="222222"/>
                </a:solidFill>
                <a:latin typeface="+mj-ea"/>
                <a:ea typeface="+mj-ea"/>
              </a:rPr>
              <a:t>연구해</a:t>
            </a:r>
            <a:r>
              <a:rPr sz="1000" b="1" dirty="0">
                <a:solidFill>
                  <a:srgbClr val="222222"/>
                </a:solidFill>
                <a:latin typeface="+mj-ea"/>
                <a:ea typeface="+mj-ea"/>
              </a:rPr>
              <a:t> 둘 </a:t>
            </a:r>
            <a:r>
              <a:rPr sz="1000" b="1" dirty="0" err="1">
                <a:solidFill>
                  <a:srgbClr val="222222"/>
                </a:solidFill>
                <a:latin typeface="+mj-ea"/>
                <a:ea typeface="+mj-ea"/>
              </a:rPr>
              <a:t>필요</a:t>
            </a:r>
            <a:endParaRPr sz="1000" b="1" dirty="0">
              <a:solidFill>
                <a:srgbClr val="222222"/>
              </a:solidFill>
              <a:latin typeface="+mj-ea"/>
              <a:ea typeface="+mj-ea"/>
            </a:endParaRPr>
          </a:p>
        </p:txBody>
      </p:sp>
      <p:sp>
        <p:nvSpPr>
          <p:cNvPr id="182" name="TextBox 181">
            <a:extLst>
              <a:ext uri="{FF2B5EF4-FFF2-40B4-BE49-F238E27FC236}">
                <a16:creationId xmlns:a16="http://schemas.microsoft.com/office/drawing/2014/main" id="{59C04A12-23FA-420E-A103-80FB627BE3AA}"/>
              </a:ext>
            </a:extLst>
          </p:cNvPr>
          <p:cNvSpPr txBox="1"/>
          <p:nvPr/>
        </p:nvSpPr>
        <p:spPr>
          <a:xfrm>
            <a:off x="475488" y="3651373"/>
            <a:ext cx="5321807" cy="128016"/>
          </a:xfrm>
          <a:prstGeom prst="rect">
            <a:avLst/>
          </a:prstGeom>
          <a:noFill/>
        </p:spPr>
        <p:txBody>
          <a:bodyPr wrap="square" lIns="0" tIns="0" rIns="0" bIns="0" anchor="t">
            <a:noAutofit/>
          </a:bodyPr>
          <a:lstStyle/>
          <a:p>
            <a:pPr algn="l"/>
            <a:r>
              <a:rPr sz="650" b="0" dirty="0" err="1">
                <a:solidFill>
                  <a:srgbClr val="555555"/>
                </a:solidFill>
                <a:latin typeface="+mj-ea"/>
                <a:ea typeface="+mj-ea"/>
              </a:rPr>
              <a:t>출처</a:t>
            </a:r>
            <a:r>
              <a:rPr sz="650" b="0" dirty="0">
                <a:solidFill>
                  <a:srgbClr val="555555"/>
                </a:solidFill>
                <a:latin typeface="+mj-ea"/>
                <a:ea typeface="+mj-ea"/>
              </a:rPr>
              <a:t>: Micron(HBM TAM), </a:t>
            </a:r>
            <a:r>
              <a:rPr sz="650" b="0" dirty="0" err="1">
                <a:solidFill>
                  <a:srgbClr val="555555"/>
                </a:solidFill>
                <a:latin typeface="+mj-ea"/>
                <a:ea typeface="+mj-ea"/>
              </a:rPr>
              <a:t>공개</a:t>
            </a:r>
            <a:r>
              <a:rPr sz="650" b="0" dirty="0">
                <a:solidFill>
                  <a:srgbClr val="555555"/>
                </a:solidFill>
                <a:latin typeface="+mj-ea"/>
                <a:ea typeface="+mj-ea"/>
              </a:rPr>
              <a:t> </a:t>
            </a:r>
            <a:r>
              <a:rPr sz="650" b="0" dirty="0" err="1">
                <a:solidFill>
                  <a:srgbClr val="555555"/>
                </a:solidFill>
                <a:latin typeface="+mj-ea"/>
                <a:ea typeface="+mj-ea"/>
              </a:rPr>
              <a:t>보도</a:t>
            </a:r>
            <a:r>
              <a:rPr sz="650" b="0" dirty="0">
                <a:solidFill>
                  <a:srgbClr val="555555"/>
                </a:solidFill>
                <a:latin typeface="+mj-ea"/>
                <a:ea typeface="+mj-ea"/>
              </a:rPr>
              <a:t>(</a:t>
            </a:r>
            <a:r>
              <a:rPr sz="650" b="0" dirty="0" err="1">
                <a:solidFill>
                  <a:srgbClr val="555555"/>
                </a:solidFill>
                <a:latin typeface="+mj-ea"/>
                <a:ea typeface="+mj-ea"/>
              </a:rPr>
              <a:t>삼성</a:t>
            </a:r>
            <a:r>
              <a:rPr sz="650" b="0" dirty="0">
                <a:solidFill>
                  <a:srgbClr val="555555"/>
                </a:solidFill>
                <a:latin typeface="+mj-ea"/>
                <a:ea typeface="+mj-ea"/>
              </a:rPr>
              <a:t> HBM2 </a:t>
            </a:r>
            <a:r>
              <a:rPr sz="650" b="0" dirty="0" err="1">
                <a:solidFill>
                  <a:srgbClr val="555555"/>
                </a:solidFill>
                <a:latin typeface="+mj-ea"/>
                <a:ea typeface="+mj-ea"/>
              </a:rPr>
              <a:t>양산</a:t>
            </a:r>
            <a:r>
              <a:rPr sz="650" b="0" dirty="0">
                <a:solidFill>
                  <a:srgbClr val="555555"/>
                </a:solidFill>
                <a:latin typeface="+mj-ea"/>
                <a:ea typeface="+mj-ea"/>
              </a:rPr>
              <a:t> 2016.1; HBM3E/HBM4 </a:t>
            </a:r>
            <a:r>
              <a:rPr sz="650" b="0" dirty="0" err="1">
                <a:solidFill>
                  <a:srgbClr val="555555"/>
                </a:solidFill>
                <a:latin typeface="+mj-ea"/>
                <a:ea typeface="+mj-ea"/>
              </a:rPr>
              <a:t>인증</a:t>
            </a:r>
            <a:r>
              <a:rPr sz="650" b="0" dirty="0">
                <a:solidFill>
                  <a:srgbClr val="555555"/>
                </a:solidFill>
                <a:latin typeface="+mj-ea"/>
                <a:ea typeface="+mj-ea"/>
              </a:rPr>
              <a:t> </a:t>
            </a:r>
            <a:r>
              <a:rPr sz="650" b="0" dirty="0" err="1">
                <a:solidFill>
                  <a:srgbClr val="555555"/>
                </a:solidFill>
                <a:latin typeface="+mj-ea"/>
                <a:ea typeface="+mj-ea"/>
              </a:rPr>
              <a:t>관련</a:t>
            </a:r>
            <a:r>
              <a:rPr sz="650" b="0" dirty="0">
                <a:solidFill>
                  <a:srgbClr val="555555"/>
                </a:solidFill>
                <a:latin typeface="+mj-ea"/>
                <a:ea typeface="+mj-ea"/>
              </a:rPr>
              <a:t> Bloomberg 2026.1, Korea Times 2025.1 등). </a:t>
            </a:r>
            <a:r>
              <a:rPr sz="650" b="0" dirty="0" err="1">
                <a:solidFill>
                  <a:srgbClr val="555555"/>
                </a:solidFill>
                <a:latin typeface="+mj-ea"/>
                <a:ea typeface="+mj-ea"/>
              </a:rPr>
              <a:t>사례는</a:t>
            </a:r>
            <a:r>
              <a:rPr sz="650" b="0" dirty="0">
                <a:solidFill>
                  <a:srgbClr val="555555"/>
                </a:solidFill>
                <a:latin typeface="+mj-ea"/>
                <a:ea typeface="+mj-ea"/>
              </a:rPr>
              <a:t> </a:t>
            </a:r>
            <a:r>
              <a:rPr sz="650" b="0" dirty="0" err="1">
                <a:solidFill>
                  <a:srgbClr val="555555"/>
                </a:solidFill>
                <a:latin typeface="+mj-ea"/>
                <a:ea typeface="+mj-ea"/>
              </a:rPr>
              <a:t>공개</a:t>
            </a:r>
            <a:r>
              <a:rPr sz="650" b="0" dirty="0">
                <a:solidFill>
                  <a:srgbClr val="555555"/>
                </a:solidFill>
                <a:latin typeface="+mj-ea"/>
                <a:ea typeface="+mj-ea"/>
              </a:rPr>
              <a:t> </a:t>
            </a:r>
            <a:r>
              <a:rPr sz="650" b="0" dirty="0" err="1">
                <a:solidFill>
                  <a:srgbClr val="555555"/>
                </a:solidFill>
                <a:latin typeface="+mj-ea"/>
                <a:ea typeface="+mj-ea"/>
              </a:rPr>
              <a:t>정보</a:t>
            </a:r>
            <a:r>
              <a:rPr sz="650" b="0" dirty="0">
                <a:solidFill>
                  <a:srgbClr val="555555"/>
                </a:solidFill>
                <a:latin typeface="+mj-ea"/>
                <a:ea typeface="+mj-ea"/>
              </a:rPr>
              <a:t> </a:t>
            </a:r>
            <a:r>
              <a:rPr sz="650" b="0" dirty="0" err="1">
                <a:solidFill>
                  <a:srgbClr val="555555"/>
                </a:solidFill>
                <a:latin typeface="+mj-ea"/>
                <a:ea typeface="+mj-ea"/>
              </a:rPr>
              <a:t>기준</a:t>
            </a:r>
            <a:r>
              <a:rPr sz="650" b="0" dirty="0">
                <a:solidFill>
                  <a:srgbClr val="555555"/>
                </a:solidFill>
                <a:latin typeface="+mj-ea"/>
                <a:ea typeface="+mj-ea"/>
              </a:rPr>
              <a:t> </a:t>
            </a:r>
            <a:r>
              <a:rPr sz="650" b="0" dirty="0" err="1">
                <a:solidFill>
                  <a:srgbClr val="555555"/>
                </a:solidFill>
                <a:latin typeface="+mj-ea"/>
                <a:ea typeface="+mj-ea"/>
              </a:rPr>
              <a:t>요약</a:t>
            </a:r>
            <a:endParaRPr sz="650" b="0" dirty="0">
              <a:solidFill>
                <a:srgbClr val="555555"/>
              </a:solidFill>
              <a:latin typeface="+mj-ea"/>
              <a:ea typeface="+mj-ea"/>
            </a:endParaRPr>
          </a:p>
        </p:txBody>
      </p:sp>
      <p:sp>
        <p:nvSpPr>
          <p:cNvPr id="205" name="TextBox 204">
            <a:extLst>
              <a:ext uri="{FF2B5EF4-FFF2-40B4-BE49-F238E27FC236}">
                <a16:creationId xmlns:a16="http://schemas.microsoft.com/office/drawing/2014/main" id="{A64E17D7-8BDD-4C61-8412-8BA7FCCB797A}"/>
              </a:ext>
            </a:extLst>
          </p:cNvPr>
          <p:cNvSpPr txBox="1"/>
          <p:nvPr/>
        </p:nvSpPr>
        <p:spPr>
          <a:xfrm>
            <a:off x="6291072" y="1524154"/>
            <a:ext cx="2743200" cy="201594"/>
          </a:xfrm>
          <a:prstGeom prst="rect">
            <a:avLst/>
          </a:prstGeom>
          <a:noFill/>
        </p:spPr>
        <p:txBody>
          <a:bodyPr wrap="square" lIns="45720" tIns="27432" rIns="45720" bIns="27432" anchor="t">
            <a:spAutoFit/>
          </a:bodyPr>
          <a:lstStyle/>
          <a:p>
            <a:pPr algn="l">
              <a:spcAft>
                <a:spcPts val="200"/>
              </a:spcAft>
            </a:pPr>
            <a:r>
              <a:rPr sz="950" b="1" dirty="0">
                <a:solidFill>
                  <a:srgbClr val="404040"/>
                </a:solidFill>
                <a:latin typeface="맑은 고딕"/>
                <a:ea typeface="맑은 고딕"/>
                <a:cs typeface="맑은 고딕"/>
              </a:rPr>
              <a:t>① KV Offloading </a:t>
            </a:r>
            <a:r>
              <a:rPr sz="950" b="1" dirty="0" err="1">
                <a:solidFill>
                  <a:srgbClr val="404040"/>
                </a:solidFill>
                <a:latin typeface="맑은 고딕"/>
                <a:ea typeface="맑은 고딕"/>
                <a:cs typeface="맑은 고딕"/>
              </a:rPr>
              <a:t>유무</a:t>
            </a:r>
            <a:r>
              <a:rPr sz="950" b="1" dirty="0">
                <a:solidFill>
                  <a:srgbClr val="404040"/>
                </a:solidFill>
                <a:latin typeface="맑은 고딕"/>
                <a:ea typeface="맑은 고딕"/>
                <a:cs typeface="맑은 고딕"/>
              </a:rPr>
              <a:t>: </a:t>
            </a:r>
            <a:r>
              <a:rPr sz="950" b="1" dirty="0" err="1">
                <a:solidFill>
                  <a:srgbClr val="404040"/>
                </a:solidFill>
                <a:latin typeface="맑은 고딕"/>
                <a:ea typeface="맑은 고딕"/>
                <a:cs typeface="맑은 고딕"/>
              </a:rPr>
              <a:t>처리량</a:t>
            </a:r>
            <a:r>
              <a:rPr sz="950" b="1" dirty="0">
                <a:solidFill>
                  <a:srgbClr val="404040"/>
                </a:solidFill>
                <a:latin typeface="맑은 고딕"/>
                <a:ea typeface="맑은 고딕"/>
                <a:cs typeface="맑은 고딕"/>
              </a:rPr>
              <a:t> (</a:t>
            </a:r>
            <a:r>
              <a:rPr sz="950" b="1" dirty="0" err="1">
                <a:solidFill>
                  <a:srgbClr val="404040"/>
                </a:solidFill>
                <a:latin typeface="맑은 고딕"/>
                <a:ea typeface="맑은 고딕"/>
                <a:cs typeface="맑은 고딕"/>
              </a:rPr>
              <a:t>tok</a:t>
            </a:r>
            <a:r>
              <a:rPr sz="950" b="1" dirty="0">
                <a:solidFill>
                  <a:srgbClr val="404040"/>
                </a:solidFill>
                <a:latin typeface="맑은 고딕"/>
                <a:ea typeface="맑은 고딕"/>
                <a:cs typeface="맑은 고딕"/>
              </a:rPr>
              <a:t>/s)</a:t>
            </a:r>
          </a:p>
        </p:txBody>
      </p:sp>
      <p:sp>
        <p:nvSpPr>
          <p:cNvPr id="206" name="Rectangle 31">
            <a:extLst>
              <a:ext uri="{FF2B5EF4-FFF2-40B4-BE49-F238E27FC236}">
                <a16:creationId xmlns:a16="http://schemas.microsoft.com/office/drawing/2014/main" id="{B0E2EFC8-B917-4BA0-88A5-FE713A7CD70D}"/>
              </a:ext>
            </a:extLst>
          </p:cNvPr>
          <p:cNvSpPr/>
          <p:nvPr/>
        </p:nvSpPr>
        <p:spPr>
          <a:xfrm>
            <a:off x="6565392" y="2603146"/>
            <a:ext cx="640080" cy="73152"/>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Rectangle 32">
            <a:extLst>
              <a:ext uri="{FF2B5EF4-FFF2-40B4-BE49-F238E27FC236}">
                <a16:creationId xmlns:a16="http://schemas.microsoft.com/office/drawing/2014/main" id="{752DF412-A467-4E1F-B309-9767B807853D}"/>
              </a:ext>
            </a:extLst>
          </p:cNvPr>
          <p:cNvSpPr/>
          <p:nvPr/>
        </p:nvSpPr>
        <p:spPr>
          <a:xfrm>
            <a:off x="7662671" y="2017930"/>
            <a:ext cx="640080" cy="65836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Rectangle 33">
            <a:extLst>
              <a:ext uri="{FF2B5EF4-FFF2-40B4-BE49-F238E27FC236}">
                <a16:creationId xmlns:a16="http://schemas.microsoft.com/office/drawing/2014/main" id="{23C5192F-98D1-429C-92DD-754045C20AE3}"/>
              </a:ext>
            </a:extLst>
          </p:cNvPr>
          <p:cNvSpPr/>
          <p:nvPr/>
        </p:nvSpPr>
        <p:spPr>
          <a:xfrm>
            <a:off x="6382512" y="2676298"/>
            <a:ext cx="2286000" cy="9144"/>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TextBox 208">
            <a:extLst>
              <a:ext uri="{FF2B5EF4-FFF2-40B4-BE49-F238E27FC236}">
                <a16:creationId xmlns:a16="http://schemas.microsoft.com/office/drawing/2014/main" id="{7131D982-9861-4FE8-A13B-13745661F2FE}"/>
              </a:ext>
            </a:extLst>
          </p:cNvPr>
          <p:cNvSpPr txBox="1"/>
          <p:nvPr/>
        </p:nvSpPr>
        <p:spPr>
          <a:xfrm>
            <a:off x="6382512" y="2401977"/>
            <a:ext cx="1005840" cy="182880"/>
          </a:xfrm>
          <a:prstGeom prst="rect">
            <a:avLst/>
          </a:prstGeom>
          <a:noFill/>
        </p:spPr>
        <p:txBody>
          <a:bodyPr wrap="square" lIns="45720" tIns="27432" rIns="45720" bIns="27432" anchor="t">
            <a:spAutoFit/>
          </a:bodyPr>
          <a:lstStyle/>
          <a:p>
            <a:pPr algn="ctr">
              <a:spcAft>
                <a:spcPts val="200"/>
              </a:spcAft>
            </a:pPr>
            <a:r>
              <a:rPr sz="900" b="1">
                <a:solidFill>
                  <a:srgbClr val="000000"/>
                </a:solidFill>
                <a:latin typeface="맑은 고딕"/>
                <a:ea typeface="맑은 고딕"/>
                <a:cs typeface="맑은 고딕"/>
              </a:rPr>
              <a:t>1,850</a:t>
            </a:r>
          </a:p>
        </p:txBody>
      </p:sp>
      <p:sp>
        <p:nvSpPr>
          <p:cNvPr id="210" name="TextBox 209">
            <a:extLst>
              <a:ext uri="{FF2B5EF4-FFF2-40B4-BE49-F238E27FC236}">
                <a16:creationId xmlns:a16="http://schemas.microsoft.com/office/drawing/2014/main" id="{12337B45-DB1F-493C-82CB-D3467E2F4C40}"/>
              </a:ext>
            </a:extLst>
          </p:cNvPr>
          <p:cNvSpPr txBox="1"/>
          <p:nvPr/>
        </p:nvSpPr>
        <p:spPr>
          <a:xfrm>
            <a:off x="7479792" y="1816762"/>
            <a:ext cx="1005840" cy="182880"/>
          </a:xfrm>
          <a:prstGeom prst="rect">
            <a:avLst/>
          </a:prstGeom>
          <a:noFill/>
        </p:spPr>
        <p:txBody>
          <a:bodyPr wrap="square" lIns="45720" tIns="27432" rIns="45720" bIns="27432" anchor="t">
            <a:spAutoFit/>
          </a:bodyPr>
          <a:lstStyle/>
          <a:p>
            <a:pPr algn="ctr">
              <a:spcAft>
                <a:spcPts val="200"/>
              </a:spcAft>
            </a:pPr>
            <a:r>
              <a:rPr sz="900" b="1">
                <a:solidFill>
                  <a:srgbClr val="000000"/>
                </a:solidFill>
                <a:latin typeface="맑은 고딕"/>
                <a:ea typeface="맑은 고딕"/>
                <a:cs typeface="맑은 고딕"/>
              </a:rPr>
              <a:t>16,650</a:t>
            </a:r>
          </a:p>
        </p:txBody>
      </p:sp>
      <p:sp>
        <p:nvSpPr>
          <p:cNvPr id="212" name="TextBox 211">
            <a:extLst>
              <a:ext uri="{FF2B5EF4-FFF2-40B4-BE49-F238E27FC236}">
                <a16:creationId xmlns:a16="http://schemas.microsoft.com/office/drawing/2014/main" id="{3BC95C49-4E19-434B-89BB-747C4DC89DDD}"/>
              </a:ext>
            </a:extLst>
          </p:cNvPr>
          <p:cNvSpPr txBox="1"/>
          <p:nvPr/>
        </p:nvSpPr>
        <p:spPr>
          <a:xfrm>
            <a:off x="6382512" y="2694586"/>
            <a:ext cx="1188720" cy="310896"/>
          </a:xfrm>
          <a:prstGeom prst="rect">
            <a:avLst/>
          </a:prstGeom>
          <a:noFill/>
        </p:spPr>
        <p:txBody>
          <a:bodyPr wrap="square" lIns="45720" tIns="27432" rIns="45720" bIns="27432" anchor="t">
            <a:spAutoFit/>
          </a:bodyPr>
          <a:lstStyle/>
          <a:p>
            <a:pPr algn="ctr">
              <a:spcAft>
                <a:spcPts val="200"/>
              </a:spcAft>
            </a:pPr>
            <a:r>
              <a:rPr sz="750" b="0">
                <a:solidFill>
                  <a:srgbClr val="404040"/>
                </a:solidFill>
                <a:latin typeface="맑은 고딕"/>
                <a:ea typeface="맑은 고딕"/>
                <a:cs typeface="맑은 고딕"/>
              </a:rPr>
              <a:t>Baseline
(offloading 없음)</a:t>
            </a:r>
          </a:p>
        </p:txBody>
      </p:sp>
      <p:sp>
        <p:nvSpPr>
          <p:cNvPr id="213" name="TextBox 212">
            <a:extLst>
              <a:ext uri="{FF2B5EF4-FFF2-40B4-BE49-F238E27FC236}">
                <a16:creationId xmlns:a16="http://schemas.microsoft.com/office/drawing/2014/main" id="{DEFE0375-942D-4E73-B8B1-E0D416F90618}"/>
              </a:ext>
            </a:extLst>
          </p:cNvPr>
          <p:cNvSpPr txBox="1"/>
          <p:nvPr/>
        </p:nvSpPr>
        <p:spPr>
          <a:xfrm>
            <a:off x="7479792" y="2694586"/>
            <a:ext cx="1188720" cy="310896"/>
          </a:xfrm>
          <a:prstGeom prst="rect">
            <a:avLst/>
          </a:prstGeom>
          <a:noFill/>
        </p:spPr>
        <p:txBody>
          <a:bodyPr wrap="square" lIns="45720" tIns="27432" rIns="45720" bIns="27432" anchor="t">
            <a:spAutoFit/>
          </a:bodyPr>
          <a:lstStyle/>
          <a:p>
            <a:pPr algn="ctr">
              <a:spcAft>
                <a:spcPts val="200"/>
              </a:spcAft>
            </a:pPr>
            <a:r>
              <a:rPr sz="750" b="1">
                <a:solidFill>
                  <a:srgbClr val="404040"/>
                </a:solidFill>
                <a:latin typeface="맑은 고딕"/>
                <a:ea typeface="맑은 고딕"/>
                <a:cs typeface="맑은 고딕"/>
              </a:rPr>
              <a:t>CPU DRAM Offloading</a:t>
            </a:r>
          </a:p>
        </p:txBody>
      </p:sp>
      <p:sp>
        <p:nvSpPr>
          <p:cNvPr id="214" name="TextBox 213">
            <a:extLst>
              <a:ext uri="{FF2B5EF4-FFF2-40B4-BE49-F238E27FC236}">
                <a16:creationId xmlns:a16="http://schemas.microsoft.com/office/drawing/2014/main" id="{4FCDC9F5-D66A-4E36-8843-200B176A9619}"/>
              </a:ext>
            </a:extLst>
          </p:cNvPr>
          <p:cNvSpPr txBox="1"/>
          <p:nvPr/>
        </p:nvSpPr>
        <p:spPr>
          <a:xfrm>
            <a:off x="6291072" y="3005482"/>
            <a:ext cx="2743200" cy="270843"/>
          </a:xfrm>
          <a:prstGeom prst="rect">
            <a:avLst/>
          </a:prstGeom>
          <a:noFill/>
        </p:spPr>
        <p:txBody>
          <a:bodyPr wrap="square" lIns="45720" tIns="27432" rIns="45720" bIns="27432" anchor="t">
            <a:spAutoFit/>
          </a:bodyPr>
          <a:lstStyle/>
          <a:p>
            <a:pPr algn="l">
              <a:spcAft>
                <a:spcPts val="0"/>
              </a:spcAft>
            </a:pPr>
            <a:r>
              <a:rPr sz="700" b="0" dirty="0" err="1">
                <a:solidFill>
                  <a:srgbClr val="595959"/>
                </a:solidFill>
                <a:latin typeface="맑은 고딕"/>
                <a:ea typeface="맑은 고딕"/>
                <a:cs typeface="맑은 고딕"/>
              </a:rPr>
              <a:t>환경</a:t>
            </a:r>
            <a:r>
              <a:rPr sz="700" b="0" dirty="0">
                <a:solidFill>
                  <a:srgbClr val="595959"/>
                </a:solidFill>
                <a:latin typeface="맑은 고딕"/>
                <a:ea typeface="맑은 고딕"/>
                <a:cs typeface="맑은 고딕"/>
              </a:rPr>
              <a:t>: H100 80GB, Llama-3.1-8B-Instruct, CPU DRAM 128GB offload, </a:t>
            </a:r>
            <a:r>
              <a:rPr sz="700" b="0" dirty="0" err="1">
                <a:solidFill>
                  <a:srgbClr val="595959"/>
                </a:solidFill>
                <a:latin typeface="맑은 고딕"/>
                <a:ea typeface="맑은 고딕"/>
                <a:cs typeface="맑은 고딕"/>
              </a:rPr>
              <a:t>vLLM</a:t>
            </a:r>
            <a:r>
              <a:rPr sz="700" b="0" dirty="0">
                <a:solidFill>
                  <a:srgbClr val="595959"/>
                </a:solidFill>
                <a:latin typeface="맑은 고딕"/>
                <a:ea typeface="맑은 고딕"/>
                <a:cs typeface="맑은 고딕"/>
              </a:rPr>
              <a:t> native connector (</a:t>
            </a:r>
            <a:r>
              <a:rPr sz="700" b="0" dirty="0" err="1">
                <a:solidFill>
                  <a:srgbClr val="595959"/>
                </a:solidFill>
                <a:latin typeface="맑은 고딕"/>
                <a:ea typeface="맑은 고딕"/>
                <a:cs typeface="맑은 고딕"/>
              </a:rPr>
              <a:t>동시성</a:t>
            </a:r>
            <a:r>
              <a:rPr sz="700" b="0" dirty="0">
                <a:solidFill>
                  <a:srgbClr val="595959"/>
                </a:solidFill>
                <a:latin typeface="맑은 고딕"/>
                <a:ea typeface="맑은 고딕"/>
                <a:cs typeface="맑은 고딕"/>
              </a:rPr>
              <a:t> </a:t>
            </a:r>
            <a:r>
              <a:rPr sz="700" b="0" dirty="0" err="1">
                <a:solidFill>
                  <a:srgbClr val="595959"/>
                </a:solidFill>
                <a:latin typeface="맑은 고딕"/>
                <a:ea typeface="맑은 고딕"/>
                <a:cs typeface="맑은 고딕"/>
              </a:rPr>
              <a:t>높은</a:t>
            </a:r>
            <a:r>
              <a:rPr sz="700" b="0" dirty="0">
                <a:solidFill>
                  <a:srgbClr val="595959"/>
                </a:solidFill>
                <a:latin typeface="맑은 고딕"/>
                <a:ea typeface="맑은 고딕"/>
                <a:cs typeface="맑은 고딕"/>
              </a:rPr>
              <a:t> </a:t>
            </a:r>
            <a:r>
              <a:rPr sz="700" b="0" dirty="0" err="1">
                <a:solidFill>
                  <a:srgbClr val="595959"/>
                </a:solidFill>
                <a:latin typeface="맑은 고딕"/>
                <a:ea typeface="맑은 고딕"/>
                <a:cs typeface="맑은 고딕"/>
              </a:rPr>
              <a:t>부하</a:t>
            </a:r>
            <a:r>
              <a:rPr sz="700" b="0" dirty="0">
                <a:solidFill>
                  <a:srgbClr val="595959"/>
                </a:solidFill>
                <a:latin typeface="맑은 고딕"/>
                <a:ea typeface="맑은 고딕"/>
                <a:cs typeface="맑은 고딕"/>
              </a:rPr>
              <a:t>)</a:t>
            </a:r>
          </a:p>
        </p:txBody>
      </p:sp>
      <p:sp>
        <p:nvSpPr>
          <p:cNvPr id="215" name="TextBox 214">
            <a:extLst>
              <a:ext uri="{FF2B5EF4-FFF2-40B4-BE49-F238E27FC236}">
                <a16:creationId xmlns:a16="http://schemas.microsoft.com/office/drawing/2014/main" id="{4BBDCBC5-3274-4C9D-9351-E98C025F173E}"/>
              </a:ext>
            </a:extLst>
          </p:cNvPr>
          <p:cNvSpPr txBox="1"/>
          <p:nvPr/>
        </p:nvSpPr>
        <p:spPr>
          <a:xfrm>
            <a:off x="9144000" y="1524154"/>
            <a:ext cx="2743200" cy="201594"/>
          </a:xfrm>
          <a:prstGeom prst="rect">
            <a:avLst/>
          </a:prstGeom>
          <a:noFill/>
        </p:spPr>
        <p:txBody>
          <a:bodyPr wrap="square" lIns="45720" tIns="27432" rIns="45720" bIns="27432" anchor="t">
            <a:spAutoFit/>
          </a:bodyPr>
          <a:lstStyle/>
          <a:p>
            <a:pPr algn="l">
              <a:spcAft>
                <a:spcPts val="200"/>
              </a:spcAft>
            </a:pPr>
            <a:r>
              <a:rPr sz="950" b="1" dirty="0">
                <a:solidFill>
                  <a:srgbClr val="404040"/>
                </a:solidFill>
                <a:latin typeface="맑은 고딕"/>
                <a:ea typeface="맑은 고딕"/>
                <a:cs typeface="맑은 고딕"/>
              </a:rPr>
              <a:t>② </a:t>
            </a:r>
            <a:r>
              <a:rPr sz="950" b="1" dirty="0" err="1">
                <a:solidFill>
                  <a:srgbClr val="404040"/>
                </a:solidFill>
                <a:latin typeface="맑은 고딕"/>
                <a:ea typeface="맑은 고딕"/>
                <a:cs typeface="맑은 고딕"/>
              </a:rPr>
              <a:t>스케줄링</a:t>
            </a:r>
            <a:r>
              <a:rPr sz="950" b="1" dirty="0">
                <a:solidFill>
                  <a:srgbClr val="404040"/>
                </a:solidFill>
                <a:latin typeface="맑은 고딕"/>
                <a:ea typeface="맑은 고딕"/>
                <a:cs typeface="맑은 고딕"/>
              </a:rPr>
              <a:t> </a:t>
            </a:r>
            <a:r>
              <a:rPr sz="950" b="1" dirty="0" err="1">
                <a:solidFill>
                  <a:srgbClr val="404040"/>
                </a:solidFill>
                <a:latin typeface="맑은 고딕"/>
                <a:ea typeface="맑은 고딕"/>
                <a:cs typeface="맑은 고딕"/>
              </a:rPr>
              <a:t>유무</a:t>
            </a:r>
            <a:r>
              <a:rPr sz="950" b="1" dirty="0">
                <a:solidFill>
                  <a:srgbClr val="404040"/>
                </a:solidFill>
                <a:latin typeface="맑은 고딕"/>
                <a:ea typeface="맑은 고딕"/>
                <a:cs typeface="맑은 고딕"/>
              </a:rPr>
              <a:t>: </a:t>
            </a:r>
            <a:r>
              <a:rPr sz="950" b="1" dirty="0" err="1">
                <a:solidFill>
                  <a:srgbClr val="404040"/>
                </a:solidFill>
                <a:latin typeface="맑은 고딕"/>
                <a:ea typeface="맑은 고딕"/>
                <a:cs typeface="맑은 고딕"/>
              </a:rPr>
              <a:t>처리량</a:t>
            </a:r>
            <a:r>
              <a:rPr sz="950" b="1" dirty="0">
                <a:solidFill>
                  <a:srgbClr val="404040"/>
                </a:solidFill>
                <a:latin typeface="맑은 고딕"/>
                <a:ea typeface="맑은 고딕"/>
                <a:cs typeface="맑은 고딕"/>
              </a:rPr>
              <a:t> (steps/min)</a:t>
            </a:r>
          </a:p>
        </p:txBody>
      </p:sp>
      <p:sp>
        <p:nvSpPr>
          <p:cNvPr id="216" name="Rectangle 41">
            <a:extLst>
              <a:ext uri="{FF2B5EF4-FFF2-40B4-BE49-F238E27FC236}">
                <a16:creationId xmlns:a16="http://schemas.microsoft.com/office/drawing/2014/main" id="{D0008F20-5B4A-4E97-89FA-0CEC288F5D99}"/>
              </a:ext>
            </a:extLst>
          </p:cNvPr>
          <p:cNvSpPr/>
          <p:nvPr/>
        </p:nvSpPr>
        <p:spPr>
          <a:xfrm>
            <a:off x="9418320" y="2308905"/>
            <a:ext cx="640080" cy="367392"/>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Rectangle 42">
            <a:extLst>
              <a:ext uri="{FF2B5EF4-FFF2-40B4-BE49-F238E27FC236}">
                <a16:creationId xmlns:a16="http://schemas.microsoft.com/office/drawing/2014/main" id="{EEB62AA9-15B8-4FFF-802C-65076326380E}"/>
              </a:ext>
            </a:extLst>
          </p:cNvPr>
          <p:cNvSpPr/>
          <p:nvPr/>
        </p:nvSpPr>
        <p:spPr>
          <a:xfrm>
            <a:off x="10515600" y="2017930"/>
            <a:ext cx="640080" cy="65836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Rectangle 43">
            <a:extLst>
              <a:ext uri="{FF2B5EF4-FFF2-40B4-BE49-F238E27FC236}">
                <a16:creationId xmlns:a16="http://schemas.microsoft.com/office/drawing/2014/main" id="{F14639DB-F376-4842-9A6F-389D6F3A47F1}"/>
              </a:ext>
            </a:extLst>
          </p:cNvPr>
          <p:cNvSpPr/>
          <p:nvPr/>
        </p:nvSpPr>
        <p:spPr>
          <a:xfrm>
            <a:off x="9235440" y="2676298"/>
            <a:ext cx="2286000" cy="9144"/>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TextBox 218">
            <a:extLst>
              <a:ext uri="{FF2B5EF4-FFF2-40B4-BE49-F238E27FC236}">
                <a16:creationId xmlns:a16="http://schemas.microsoft.com/office/drawing/2014/main" id="{6381F0CB-9155-43F8-B43D-CFAE9A9084CE}"/>
              </a:ext>
            </a:extLst>
          </p:cNvPr>
          <p:cNvSpPr txBox="1"/>
          <p:nvPr/>
        </p:nvSpPr>
        <p:spPr>
          <a:xfrm>
            <a:off x="9235440" y="2107737"/>
            <a:ext cx="1005840" cy="182880"/>
          </a:xfrm>
          <a:prstGeom prst="rect">
            <a:avLst/>
          </a:prstGeom>
          <a:noFill/>
        </p:spPr>
        <p:txBody>
          <a:bodyPr wrap="square" lIns="45720" tIns="27432" rIns="45720" bIns="27432" anchor="t">
            <a:spAutoFit/>
          </a:bodyPr>
          <a:lstStyle/>
          <a:p>
            <a:pPr algn="ctr">
              <a:spcAft>
                <a:spcPts val="200"/>
              </a:spcAft>
            </a:pPr>
            <a:r>
              <a:rPr sz="900" b="1">
                <a:solidFill>
                  <a:srgbClr val="000000"/>
                </a:solidFill>
                <a:latin typeface="맑은 고딕"/>
                <a:ea typeface="맑은 고딕"/>
                <a:cs typeface="맑은 고딕"/>
              </a:rPr>
              <a:t>375</a:t>
            </a:r>
          </a:p>
        </p:txBody>
      </p:sp>
      <p:sp>
        <p:nvSpPr>
          <p:cNvPr id="220" name="TextBox 219">
            <a:extLst>
              <a:ext uri="{FF2B5EF4-FFF2-40B4-BE49-F238E27FC236}">
                <a16:creationId xmlns:a16="http://schemas.microsoft.com/office/drawing/2014/main" id="{FC99675F-3487-4CE6-8F60-F13D3A35F994}"/>
              </a:ext>
            </a:extLst>
          </p:cNvPr>
          <p:cNvSpPr txBox="1"/>
          <p:nvPr/>
        </p:nvSpPr>
        <p:spPr>
          <a:xfrm>
            <a:off x="10332720" y="1816762"/>
            <a:ext cx="1005840" cy="182880"/>
          </a:xfrm>
          <a:prstGeom prst="rect">
            <a:avLst/>
          </a:prstGeom>
          <a:noFill/>
        </p:spPr>
        <p:txBody>
          <a:bodyPr wrap="square" lIns="45720" tIns="27432" rIns="45720" bIns="27432" anchor="t">
            <a:spAutoFit/>
          </a:bodyPr>
          <a:lstStyle/>
          <a:p>
            <a:pPr algn="ctr">
              <a:spcAft>
                <a:spcPts val="200"/>
              </a:spcAft>
            </a:pPr>
            <a:r>
              <a:rPr sz="900" b="1">
                <a:solidFill>
                  <a:srgbClr val="000000"/>
                </a:solidFill>
                <a:latin typeface="맑은 고딕"/>
                <a:ea typeface="맑은 고딕"/>
                <a:cs typeface="맑은 고딕"/>
              </a:rPr>
              <a:t>672</a:t>
            </a:r>
          </a:p>
        </p:txBody>
      </p:sp>
      <p:sp>
        <p:nvSpPr>
          <p:cNvPr id="222" name="TextBox 221">
            <a:extLst>
              <a:ext uri="{FF2B5EF4-FFF2-40B4-BE49-F238E27FC236}">
                <a16:creationId xmlns:a16="http://schemas.microsoft.com/office/drawing/2014/main" id="{F9F35526-4891-4E0F-9E17-4DA302616D33}"/>
              </a:ext>
            </a:extLst>
          </p:cNvPr>
          <p:cNvSpPr txBox="1"/>
          <p:nvPr/>
        </p:nvSpPr>
        <p:spPr>
          <a:xfrm>
            <a:off x="9235440" y="2694586"/>
            <a:ext cx="1188720" cy="310896"/>
          </a:xfrm>
          <a:prstGeom prst="rect">
            <a:avLst/>
          </a:prstGeom>
          <a:noFill/>
        </p:spPr>
        <p:txBody>
          <a:bodyPr wrap="square" lIns="45720" tIns="27432" rIns="45720" bIns="27432" anchor="t">
            <a:spAutoFit/>
          </a:bodyPr>
          <a:lstStyle/>
          <a:p>
            <a:pPr algn="ctr">
              <a:spcAft>
                <a:spcPts val="200"/>
              </a:spcAft>
            </a:pPr>
            <a:r>
              <a:rPr sz="750" b="0">
                <a:solidFill>
                  <a:srgbClr val="404040"/>
                </a:solidFill>
                <a:latin typeface="맑은 고딕"/>
                <a:ea typeface="맑은 고딕"/>
                <a:cs typeface="맑은 고딕"/>
              </a:rPr>
              <a:t>Baseline
(vLLM 요청 단위)</a:t>
            </a:r>
          </a:p>
        </p:txBody>
      </p:sp>
      <p:sp>
        <p:nvSpPr>
          <p:cNvPr id="223" name="TextBox 222">
            <a:extLst>
              <a:ext uri="{FF2B5EF4-FFF2-40B4-BE49-F238E27FC236}">
                <a16:creationId xmlns:a16="http://schemas.microsoft.com/office/drawing/2014/main" id="{35ECBD35-84F6-4E33-81E0-D11380516924}"/>
              </a:ext>
            </a:extLst>
          </p:cNvPr>
          <p:cNvSpPr txBox="1"/>
          <p:nvPr/>
        </p:nvSpPr>
        <p:spPr>
          <a:xfrm>
            <a:off x="10332720" y="2694586"/>
            <a:ext cx="1188720" cy="310896"/>
          </a:xfrm>
          <a:prstGeom prst="rect">
            <a:avLst/>
          </a:prstGeom>
          <a:noFill/>
        </p:spPr>
        <p:txBody>
          <a:bodyPr wrap="square" lIns="45720" tIns="27432" rIns="45720" bIns="27432" anchor="t">
            <a:spAutoFit/>
          </a:bodyPr>
          <a:lstStyle/>
          <a:p>
            <a:pPr algn="ctr">
              <a:spcAft>
                <a:spcPts val="200"/>
              </a:spcAft>
            </a:pPr>
            <a:r>
              <a:rPr sz="750" b="1" dirty="0" err="1">
                <a:solidFill>
                  <a:srgbClr val="404040"/>
                </a:solidFill>
                <a:latin typeface="맑은 고딕"/>
                <a:ea typeface="맑은 고딕"/>
                <a:cs typeface="맑은 고딕"/>
              </a:rPr>
              <a:t>ThunderAgent</a:t>
            </a:r>
            <a:r>
              <a:rPr sz="750" b="1" dirty="0">
                <a:solidFill>
                  <a:srgbClr val="404040"/>
                </a:solidFill>
                <a:latin typeface="맑은 고딕"/>
                <a:ea typeface="맑은 고딕"/>
                <a:cs typeface="맑은 고딕"/>
              </a:rPr>
              <a:t>
(</a:t>
            </a:r>
            <a:r>
              <a:rPr sz="750" b="1" dirty="0" err="1">
                <a:solidFill>
                  <a:srgbClr val="404040"/>
                </a:solidFill>
                <a:latin typeface="맑은 고딕"/>
                <a:ea typeface="맑은 고딕"/>
                <a:cs typeface="맑은 고딕"/>
              </a:rPr>
              <a:t>프로그램</a:t>
            </a:r>
            <a:r>
              <a:rPr sz="750" b="1" dirty="0">
                <a:solidFill>
                  <a:srgbClr val="404040"/>
                </a:solidFill>
                <a:latin typeface="맑은 고딕"/>
                <a:ea typeface="맑은 고딕"/>
                <a:cs typeface="맑은 고딕"/>
              </a:rPr>
              <a:t> </a:t>
            </a:r>
            <a:r>
              <a:rPr sz="750" b="1" dirty="0" err="1">
                <a:solidFill>
                  <a:srgbClr val="404040"/>
                </a:solidFill>
                <a:latin typeface="맑은 고딕"/>
                <a:ea typeface="맑은 고딕"/>
                <a:cs typeface="맑은 고딕"/>
              </a:rPr>
              <a:t>인지</a:t>
            </a:r>
            <a:r>
              <a:rPr sz="750" b="1" dirty="0">
                <a:solidFill>
                  <a:srgbClr val="404040"/>
                </a:solidFill>
                <a:latin typeface="맑은 고딕"/>
                <a:ea typeface="맑은 고딕"/>
                <a:cs typeface="맑은 고딕"/>
              </a:rPr>
              <a:t>)</a:t>
            </a:r>
          </a:p>
        </p:txBody>
      </p:sp>
      <p:sp>
        <p:nvSpPr>
          <p:cNvPr id="224" name="TextBox 223">
            <a:extLst>
              <a:ext uri="{FF2B5EF4-FFF2-40B4-BE49-F238E27FC236}">
                <a16:creationId xmlns:a16="http://schemas.microsoft.com/office/drawing/2014/main" id="{F65A71C5-9DB0-4068-B7C4-1EE5059AFC4C}"/>
              </a:ext>
            </a:extLst>
          </p:cNvPr>
          <p:cNvSpPr txBox="1"/>
          <p:nvPr/>
        </p:nvSpPr>
        <p:spPr>
          <a:xfrm>
            <a:off x="9144000" y="3005482"/>
            <a:ext cx="2743200" cy="270843"/>
          </a:xfrm>
          <a:prstGeom prst="rect">
            <a:avLst/>
          </a:prstGeom>
          <a:noFill/>
        </p:spPr>
        <p:txBody>
          <a:bodyPr wrap="square" lIns="45720" tIns="27432" rIns="45720" bIns="27432" anchor="t">
            <a:spAutoFit/>
          </a:bodyPr>
          <a:lstStyle/>
          <a:p>
            <a:pPr algn="l">
              <a:spcAft>
                <a:spcPts val="0"/>
              </a:spcAft>
            </a:pPr>
            <a:r>
              <a:rPr sz="700" b="0" dirty="0" err="1">
                <a:solidFill>
                  <a:srgbClr val="595959"/>
                </a:solidFill>
                <a:latin typeface="맑은 고딕"/>
                <a:ea typeface="맑은 고딕"/>
                <a:cs typeface="맑은 고딕"/>
              </a:rPr>
              <a:t>환경</a:t>
            </a:r>
            <a:r>
              <a:rPr sz="700" b="0" dirty="0">
                <a:solidFill>
                  <a:srgbClr val="595959"/>
                </a:solidFill>
                <a:latin typeface="맑은 고딕"/>
                <a:ea typeface="맑은 고딕"/>
                <a:cs typeface="맑은 고딕"/>
              </a:rPr>
              <a:t>: H100 2노드, GLM-4.5-fp8, mini-SWE-agent, </a:t>
            </a:r>
            <a:r>
              <a:rPr sz="700" b="0" dirty="0" err="1">
                <a:solidFill>
                  <a:srgbClr val="595959"/>
                </a:solidFill>
                <a:latin typeface="맑은 고딕"/>
                <a:ea typeface="맑은 고딕"/>
                <a:cs typeface="맑은 고딕"/>
              </a:rPr>
              <a:t>동시</a:t>
            </a:r>
            <a:r>
              <a:rPr sz="700" b="0" dirty="0">
                <a:solidFill>
                  <a:srgbClr val="595959"/>
                </a:solidFill>
                <a:latin typeface="맑은 고딕"/>
                <a:ea typeface="맑은 고딕"/>
                <a:cs typeface="맑은 고딕"/>
              </a:rPr>
              <a:t> 144 programs (</a:t>
            </a:r>
            <a:r>
              <a:rPr sz="700" b="0" dirty="0" err="1">
                <a:solidFill>
                  <a:srgbClr val="595959"/>
                </a:solidFill>
                <a:latin typeface="맑은 고딕"/>
                <a:ea typeface="맑은 고딕"/>
                <a:cs typeface="맑은 고딕"/>
              </a:rPr>
              <a:t>벤치마크</a:t>
            </a:r>
            <a:r>
              <a:rPr sz="700" b="0" dirty="0">
                <a:solidFill>
                  <a:srgbClr val="595959"/>
                </a:solidFill>
                <a:latin typeface="맑은 고딕"/>
                <a:ea typeface="맑은 고딕"/>
                <a:cs typeface="맑은 고딕"/>
              </a:rPr>
              <a:t> </a:t>
            </a:r>
            <a:r>
              <a:rPr sz="700" b="0" dirty="0" err="1">
                <a:solidFill>
                  <a:srgbClr val="595959"/>
                </a:solidFill>
                <a:latin typeface="맑은 고딕"/>
                <a:ea typeface="맑은 고딕"/>
                <a:cs typeface="맑은 고딕"/>
              </a:rPr>
              <a:t>전반</a:t>
            </a:r>
            <a:r>
              <a:rPr sz="700" b="0" dirty="0">
                <a:solidFill>
                  <a:srgbClr val="595959"/>
                </a:solidFill>
                <a:latin typeface="맑은 고딕"/>
                <a:ea typeface="맑은 고딕"/>
                <a:cs typeface="맑은 고딕"/>
              </a:rPr>
              <a:t> 1.48–3.58×)</a:t>
            </a:r>
          </a:p>
        </p:txBody>
      </p:sp>
      <p:sp>
        <p:nvSpPr>
          <p:cNvPr id="225" name="Rectangle 50">
            <a:extLst>
              <a:ext uri="{FF2B5EF4-FFF2-40B4-BE49-F238E27FC236}">
                <a16:creationId xmlns:a16="http://schemas.microsoft.com/office/drawing/2014/main" id="{E1F1BB41-859B-470F-9C55-5E80CC314A67}"/>
              </a:ext>
            </a:extLst>
          </p:cNvPr>
          <p:cNvSpPr/>
          <p:nvPr/>
        </p:nvSpPr>
        <p:spPr>
          <a:xfrm>
            <a:off x="9132736" y="1571303"/>
            <a:ext cx="9144" cy="1755648"/>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9195" y="2117171"/>
            <a:ext cx="434734" cy="246221"/>
          </a:xfrm>
          <a:prstGeom prst="rect">
            <a:avLst/>
          </a:prstGeom>
          <a:noFill/>
        </p:spPr>
        <p:txBody>
          <a:bodyPr wrap="none" rtlCol="0">
            <a:spAutoFit/>
          </a:bodyPr>
          <a:lstStyle/>
          <a:p>
            <a:r>
              <a:rPr lang="en-US" altLang="ko-KR" sz="1000" b="1" dirty="0"/>
              <a:t>9.0x</a:t>
            </a:r>
            <a:endParaRPr lang="ko-KR" altLang="en-US" sz="1000" b="1" dirty="0"/>
          </a:p>
        </p:txBody>
      </p:sp>
      <p:sp>
        <p:nvSpPr>
          <p:cNvPr id="80" name="TextBox 79"/>
          <p:cNvSpPr txBox="1"/>
          <p:nvPr/>
        </p:nvSpPr>
        <p:spPr>
          <a:xfrm>
            <a:off x="11262359" y="2090932"/>
            <a:ext cx="508473" cy="246221"/>
          </a:xfrm>
          <a:prstGeom prst="rect">
            <a:avLst/>
          </a:prstGeom>
          <a:noFill/>
        </p:spPr>
        <p:txBody>
          <a:bodyPr wrap="none" rtlCol="0">
            <a:spAutoFit/>
          </a:bodyPr>
          <a:lstStyle/>
          <a:p>
            <a:r>
              <a:rPr lang="en-US" altLang="ko-KR" sz="1000" b="1" dirty="0"/>
              <a:t>1.79x</a:t>
            </a:r>
            <a:endParaRPr lang="ko-KR" altLang="en-US" sz="1000" b="1" dirty="0"/>
          </a:p>
        </p:txBody>
      </p:sp>
    </p:spTree>
    <p:extLst>
      <p:ext uri="{BB962C8B-B14F-4D97-AF65-F5344CB8AC3E}">
        <p14:creationId xmlns:p14="http://schemas.microsoft.com/office/powerpoint/2010/main" val="1181953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과제 개요</a:t>
            </a:r>
          </a:p>
        </p:txBody>
      </p:sp>
      <p:sp>
        <p:nvSpPr>
          <p:cNvPr id="5" name="TextBox 4"/>
          <p:cNvSpPr txBox="1"/>
          <p:nvPr/>
        </p:nvSpPr>
        <p:spPr>
          <a:xfrm>
            <a:off x="320673" y="542996"/>
            <a:ext cx="5618107" cy="5493812"/>
          </a:xfrm>
          <a:prstGeom prst="rect">
            <a:avLst/>
          </a:prstGeom>
          <a:noFill/>
        </p:spPr>
        <p:txBody>
          <a:bodyPr wrap="square" rtlCol="0">
            <a:spAutoFit/>
          </a:bodyPr>
          <a:lstStyle>
            <a:defPPr>
              <a:defRPr lang="ko-KR"/>
            </a:defPPr>
            <a:lvl1pPr algn="ctr">
              <a:defRPr sz="1000">
                <a:latin typeface="+mn-ea"/>
              </a:defRPr>
            </a:lvl1pPr>
          </a:lstStyle>
          <a:p>
            <a:pPr algn="l">
              <a:lnSpc>
                <a:spcPct val="150000"/>
              </a:lnSpc>
            </a:pPr>
            <a:r>
              <a:rPr lang="ko-KR" altLang="en-US" sz="1600" dirty="0"/>
              <a:t>■ </a:t>
            </a:r>
            <a:r>
              <a:rPr lang="ko-KR" altLang="en-US" sz="1600" dirty="0" err="1"/>
              <a:t>과제명</a:t>
            </a:r>
            <a:endParaRPr lang="en-US" altLang="ko-KR" sz="1800" dirty="0"/>
          </a:p>
          <a:p>
            <a:pPr marL="742950" lvl="1" indent="-285750">
              <a:lnSpc>
                <a:spcPct val="150000"/>
              </a:lnSpc>
              <a:buFont typeface="Wingdings" panose="05000000000000000000" pitchFamily="2" charset="2"/>
              <a:buChar char="§"/>
            </a:pPr>
            <a:r>
              <a:rPr lang="ko-KR" altLang="en-US" sz="1400" dirty="0"/>
              <a:t>이기종 메모리 기반 </a:t>
            </a:r>
            <a:r>
              <a:rPr lang="ko-KR" altLang="en-US" sz="1400" dirty="0" err="1"/>
              <a:t>서빙</a:t>
            </a:r>
            <a:r>
              <a:rPr lang="ko-KR" altLang="en-US" sz="1400" dirty="0"/>
              <a:t> 엔진</a:t>
            </a:r>
            <a:r>
              <a:rPr lang="en-US" altLang="ko-KR" sz="1400" dirty="0"/>
              <a:t>(AI </a:t>
            </a:r>
            <a:r>
              <a:rPr lang="ko-KR" altLang="en-US" sz="1400" dirty="0"/>
              <a:t>추론 런타임</a:t>
            </a:r>
            <a:r>
              <a:rPr lang="en-US" altLang="ko-KR" sz="1400" dirty="0"/>
              <a:t>)</a:t>
            </a:r>
            <a:r>
              <a:rPr lang="ko-KR" altLang="en-US" sz="1400" dirty="0"/>
              <a:t> 개발</a:t>
            </a:r>
            <a:endParaRPr lang="en-US" altLang="ko-KR" sz="1400" dirty="0"/>
          </a:p>
          <a:p>
            <a:pPr algn="l">
              <a:lnSpc>
                <a:spcPct val="150000"/>
              </a:lnSpc>
            </a:pPr>
            <a:r>
              <a:rPr lang="ko-KR" altLang="en-US" sz="1600" dirty="0"/>
              <a:t>■ 과제 개요</a:t>
            </a:r>
            <a:endParaRPr lang="en-US" altLang="ko-KR" sz="1600" dirty="0"/>
          </a:p>
          <a:p>
            <a:pPr marL="742950" lvl="1" indent="-285750">
              <a:lnSpc>
                <a:spcPct val="150000"/>
              </a:lnSpc>
              <a:buFont typeface="Wingdings" panose="05000000000000000000" pitchFamily="2" charset="2"/>
              <a:buChar char="§"/>
            </a:pPr>
            <a:r>
              <a:rPr lang="ko-KR" altLang="en-US" sz="1400" dirty="0">
                <a:solidFill>
                  <a:prstClr val="black"/>
                </a:solidFill>
              </a:rPr>
              <a:t>서로 다른 특성을 가진 메모리가 혼재된 시스템에서 </a:t>
            </a:r>
            <a:r>
              <a:rPr lang="en-US" altLang="ko-KR" sz="1400" dirty="0">
                <a:solidFill>
                  <a:prstClr val="black"/>
                </a:solidFill>
              </a:rPr>
              <a:t>AI </a:t>
            </a:r>
            <a:r>
              <a:rPr lang="ko-KR" altLang="en-US" sz="1400" dirty="0">
                <a:solidFill>
                  <a:prstClr val="black"/>
                </a:solidFill>
              </a:rPr>
              <a:t>워크로드를 최적화하는 런타임 설계</a:t>
            </a:r>
            <a:endParaRPr lang="en-US" altLang="ko-KR" sz="1400" dirty="0">
              <a:solidFill>
                <a:prstClr val="black"/>
              </a:solidFill>
            </a:endParaRPr>
          </a:p>
          <a:p>
            <a:pPr marL="742950" lvl="1" indent="-285750">
              <a:lnSpc>
                <a:spcPct val="150000"/>
              </a:lnSpc>
              <a:buFont typeface="Wingdings" panose="05000000000000000000" pitchFamily="2" charset="2"/>
              <a:buChar char="§"/>
            </a:pPr>
            <a:r>
              <a:rPr lang="en-US" altLang="ko-KR" sz="1400" dirty="0">
                <a:solidFill>
                  <a:prstClr val="black"/>
                </a:solidFill>
              </a:rPr>
              <a:t>LM </a:t>
            </a:r>
            <a:r>
              <a:rPr lang="ko-KR" altLang="en-US" sz="1400" dirty="0">
                <a:solidFill>
                  <a:prstClr val="black"/>
                </a:solidFill>
              </a:rPr>
              <a:t>추론 성능 개선을 통해 당사의 다양한 메모리 제품 가치 재고 </a:t>
            </a:r>
            <a:endParaRPr lang="en-US" altLang="ko-KR" sz="1600" dirty="0"/>
          </a:p>
          <a:p>
            <a:pPr algn="l">
              <a:lnSpc>
                <a:spcPct val="150000"/>
              </a:lnSpc>
            </a:pPr>
            <a:r>
              <a:rPr lang="ko-KR" altLang="en-US" sz="1600" dirty="0"/>
              <a:t>■ 참여 인력</a:t>
            </a:r>
            <a:endParaRPr lang="en-US" altLang="ko-KR" sz="2000" dirty="0"/>
          </a:p>
          <a:p>
            <a:pPr marL="742950" lvl="1" indent="-285750">
              <a:lnSpc>
                <a:spcPct val="150000"/>
              </a:lnSpc>
              <a:buFont typeface="Wingdings" panose="05000000000000000000" pitchFamily="2" charset="2"/>
              <a:buChar char="§"/>
            </a:pPr>
            <a:r>
              <a:rPr lang="ko-KR" altLang="en-US" sz="1400" dirty="0"/>
              <a:t>전체</a:t>
            </a:r>
            <a:r>
              <a:rPr lang="en-US" altLang="ko-KR" sz="1400" dirty="0"/>
              <a:t>: </a:t>
            </a:r>
            <a:r>
              <a:rPr lang="ko-KR" altLang="en-US" sz="1400" dirty="0"/>
              <a:t>국내 </a:t>
            </a:r>
            <a:r>
              <a:rPr lang="en-US" altLang="ko-KR" sz="1400" dirty="0"/>
              <a:t>22</a:t>
            </a:r>
            <a:r>
              <a:rPr lang="ko-KR" altLang="en-US" sz="1400" dirty="0"/>
              <a:t>명</a:t>
            </a:r>
            <a:r>
              <a:rPr lang="en-US" altLang="ko-KR" sz="1400" dirty="0"/>
              <a:t>, SRCX 4</a:t>
            </a:r>
            <a:r>
              <a:rPr lang="ko-KR" altLang="en-US" sz="1400" dirty="0"/>
              <a:t>명</a:t>
            </a:r>
            <a:endParaRPr lang="en-US" altLang="ko-KR" sz="1400" dirty="0"/>
          </a:p>
          <a:p>
            <a:pPr marL="742950" lvl="1" indent="-285750">
              <a:lnSpc>
                <a:spcPct val="150000"/>
              </a:lnSpc>
              <a:buFont typeface="Wingdings" panose="05000000000000000000" pitchFamily="2" charset="2"/>
              <a:buChar char="§"/>
            </a:pPr>
            <a:r>
              <a:rPr lang="ko-KR" altLang="en-US" sz="1400" dirty="0"/>
              <a:t>리딩</a:t>
            </a:r>
            <a:r>
              <a:rPr lang="en-US" altLang="ko-KR" sz="1400" dirty="0"/>
              <a:t>: </a:t>
            </a:r>
            <a:r>
              <a:rPr lang="ko-KR" altLang="en-US" sz="1400" dirty="0"/>
              <a:t>국내 </a:t>
            </a:r>
            <a:r>
              <a:rPr lang="en-US" altLang="ko-KR" sz="1400" dirty="0"/>
              <a:t>7</a:t>
            </a:r>
            <a:r>
              <a:rPr lang="ko-KR" altLang="en-US" sz="1400" dirty="0"/>
              <a:t>명</a:t>
            </a:r>
            <a:r>
              <a:rPr lang="en-US" altLang="ko-KR" sz="1400" dirty="0"/>
              <a:t>, SRCX 4</a:t>
            </a:r>
            <a:r>
              <a:rPr lang="ko-KR" altLang="en-US" sz="1400" dirty="0"/>
              <a:t>명</a:t>
            </a:r>
            <a:endParaRPr lang="en-US" altLang="ko-KR" sz="1400" dirty="0"/>
          </a:p>
          <a:p>
            <a:pPr algn="l">
              <a:lnSpc>
                <a:spcPct val="150000"/>
              </a:lnSpc>
            </a:pPr>
            <a:r>
              <a:rPr lang="ko-KR" altLang="en-US" sz="1600" dirty="0"/>
              <a:t>■ </a:t>
            </a:r>
            <a:r>
              <a:rPr lang="en-US" altLang="ko-KR" sz="1600" dirty="0"/>
              <a:t>Target </a:t>
            </a:r>
            <a:r>
              <a:rPr lang="ko-KR" altLang="en-US" sz="1600" dirty="0"/>
              <a:t>시스템 </a:t>
            </a:r>
            <a:r>
              <a:rPr lang="en-US" altLang="ko-KR" sz="1600" dirty="0"/>
              <a:t>/ </a:t>
            </a:r>
            <a:r>
              <a:rPr lang="ko-KR" altLang="en-US" sz="1600" dirty="0"/>
              <a:t>장치</a:t>
            </a:r>
            <a:endParaRPr lang="en-US" altLang="ko-KR" sz="1600" dirty="0"/>
          </a:p>
          <a:p>
            <a:pPr marL="742950" lvl="1" indent="-285750">
              <a:lnSpc>
                <a:spcPct val="150000"/>
              </a:lnSpc>
              <a:buFont typeface="Wingdings" panose="05000000000000000000" pitchFamily="2" charset="2"/>
              <a:buChar char="§"/>
            </a:pPr>
            <a:r>
              <a:rPr lang="ko-KR" altLang="en-US" sz="1400" dirty="0" err="1">
                <a:solidFill>
                  <a:prstClr val="black"/>
                </a:solidFill>
              </a:rPr>
              <a:t>현세대</a:t>
            </a:r>
            <a:r>
              <a:rPr lang="ko-KR" altLang="en-US" sz="1400" dirty="0">
                <a:solidFill>
                  <a:prstClr val="black"/>
                </a:solidFill>
              </a:rPr>
              <a:t> 메모리</a:t>
            </a:r>
            <a:r>
              <a:rPr lang="en-US" altLang="ko-KR" sz="1400" dirty="0">
                <a:solidFill>
                  <a:prstClr val="black"/>
                </a:solidFill>
              </a:rPr>
              <a:t>: HBM, DRAM, SSD, </a:t>
            </a:r>
          </a:p>
          <a:p>
            <a:pPr marL="742950" lvl="1" indent="-285750">
              <a:lnSpc>
                <a:spcPct val="150000"/>
              </a:lnSpc>
              <a:buFont typeface="Wingdings" panose="05000000000000000000" pitchFamily="2" charset="2"/>
              <a:buChar char="§"/>
            </a:pPr>
            <a:r>
              <a:rPr lang="ko-KR" altLang="en-US" sz="1400" dirty="0">
                <a:solidFill>
                  <a:prstClr val="black"/>
                </a:solidFill>
              </a:rPr>
              <a:t>차세대 메모리</a:t>
            </a:r>
            <a:r>
              <a:rPr lang="en-US" altLang="ko-KR" sz="1400" dirty="0">
                <a:solidFill>
                  <a:prstClr val="black"/>
                </a:solidFill>
              </a:rPr>
              <a:t>: CXL-PNM*. SSD-PIM**, </a:t>
            </a:r>
            <a:r>
              <a:rPr lang="en-US" altLang="ko-KR" sz="1400" dirty="0" err="1">
                <a:solidFill>
                  <a:prstClr val="black"/>
                </a:solidFill>
              </a:rPr>
              <a:t>ScHBM</a:t>
            </a:r>
            <a:r>
              <a:rPr lang="en-US" altLang="ko-KR" sz="1400" dirty="0">
                <a:solidFill>
                  <a:prstClr val="black"/>
                </a:solidFill>
              </a:rPr>
              <a:t>***, HBF</a:t>
            </a:r>
            <a:endParaRPr lang="en-US" altLang="ko-KR" sz="1600" dirty="0"/>
          </a:p>
          <a:p>
            <a:pPr algn="l">
              <a:lnSpc>
                <a:spcPct val="150000"/>
              </a:lnSpc>
            </a:pPr>
            <a:r>
              <a:rPr lang="ko-KR" altLang="en-US" sz="1600" dirty="0"/>
              <a:t>■ 일정</a:t>
            </a:r>
            <a:endParaRPr lang="en-US" altLang="ko-KR" sz="2000" dirty="0"/>
          </a:p>
          <a:p>
            <a:pPr marL="742950" lvl="1" indent="-285750">
              <a:lnSpc>
                <a:spcPct val="150000"/>
              </a:lnSpc>
              <a:buFont typeface="Wingdings" panose="05000000000000000000" pitchFamily="2" charset="2"/>
              <a:buChar char="§"/>
            </a:pPr>
            <a:r>
              <a:rPr lang="en-US" altLang="ko-KR" sz="1400" dirty="0">
                <a:solidFill>
                  <a:schemeClr val="tx1">
                    <a:lumMod val="75000"/>
                    <a:lumOff val="25000"/>
                  </a:schemeClr>
                </a:solidFill>
                <a:latin typeface="맑은 고딕" panose="020B0503020000020004" pitchFamily="50" charset="-127"/>
              </a:rPr>
              <a:t>26</a:t>
            </a:r>
            <a:r>
              <a:rPr lang="ko-KR" altLang="en-US" sz="1400" dirty="0">
                <a:solidFill>
                  <a:schemeClr val="tx1">
                    <a:lumMod val="75000"/>
                    <a:lumOff val="25000"/>
                  </a:schemeClr>
                </a:solidFill>
                <a:latin typeface="맑은 고딕" panose="020B0503020000020004" pitchFamily="50" charset="-127"/>
              </a:rPr>
              <a:t>년 </a:t>
            </a:r>
            <a:r>
              <a:rPr lang="en-US" altLang="ko-KR" sz="1400" dirty="0">
                <a:solidFill>
                  <a:schemeClr val="tx1">
                    <a:lumMod val="75000"/>
                    <a:lumOff val="25000"/>
                  </a:schemeClr>
                </a:solidFill>
                <a:latin typeface="맑은 고딕" panose="020B0503020000020004" pitchFamily="50" charset="-127"/>
              </a:rPr>
              <a:t>1</a:t>
            </a:r>
            <a:r>
              <a:rPr lang="ko-KR" altLang="en-US" sz="1400" dirty="0">
                <a:solidFill>
                  <a:schemeClr val="tx1">
                    <a:lumMod val="75000"/>
                    <a:lumOff val="25000"/>
                  </a:schemeClr>
                </a:solidFill>
                <a:latin typeface="맑은 고딕" panose="020B0503020000020004" pitchFamily="50" charset="-127"/>
              </a:rPr>
              <a:t>월 </a:t>
            </a:r>
            <a:r>
              <a:rPr lang="en-US" altLang="ko-KR" sz="1400" dirty="0">
                <a:solidFill>
                  <a:schemeClr val="tx1">
                    <a:lumMod val="75000"/>
                    <a:lumOff val="25000"/>
                  </a:schemeClr>
                </a:solidFill>
                <a:latin typeface="맑은 고딕" panose="020B0503020000020004" pitchFamily="50" charset="-127"/>
              </a:rPr>
              <a:t>~ 26</a:t>
            </a:r>
            <a:r>
              <a:rPr lang="ko-KR" altLang="en-US" sz="1400" dirty="0">
                <a:solidFill>
                  <a:schemeClr val="tx1">
                    <a:lumMod val="75000"/>
                    <a:lumOff val="25000"/>
                  </a:schemeClr>
                </a:solidFill>
                <a:latin typeface="맑은 고딕" panose="020B0503020000020004" pitchFamily="50" charset="-127"/>
              </a:rPr>
              <a:t>년 </a:t>
            </a:r>
            <a:r>
              <a:rPr lang="en-US" altLang="ko-KR" sz="1400" dirty="0">
                <a:solidFill>
                  <a:schemeClr val="tx1">
                    <a:lumMod val="75000"/>
                    <a:lumOff val="25000"/>
                  </a:schemeClr>
                </a:solidFill>
                <a:latin typeface="맑은 고딕" panose="020B0503020000020004" pitchFamily="50" charset="-127"/>
              </a:rPr>
              <a:t>12</a:t>
            </a:r>
            <a:r>
              <a:rPr lang="ko-KR" altLang="en-US" sz="1400" dirty="0">
                <a:solidFill>
                  <a:schemeClr val="tx1">
                    <a:lumMod val="75000"/>
                    <a:lumOff val="25000"/>
                  </a:schemeClr>
                </a:solidFill>
                <a:latin typeface="맑은 고딕" panose="020B0503020000020004" pitchFamily="50" charset="-127"/>
              </a:rPr>
              <a:t>월 </a:t>
            </a:r>
            <a:r>
              <a:rPr lang="en-US" altLang="ko-KR" sz="1400" dirty="0">
                <a:solidFill>
                  <a:schemeClr val="tx1">
                    <a:lumMod val="75000"/>
                    <a:lumOff val="25000"/>
                  </a:schemeClr>
                </a:solidFill>
                <a:latin typeface="맑은 고딕" panose="020B0503020000020004" pitchFamily="50" charset="-127"/>
              </a:rPr>
              <a:t>(</a:t>
            </a:r>
            <a:r>
              <a:rPr lang="ko-KR" altLang="en-US" sz="1400" dirty="0">
                <a:solidFill>
                  <a:schemeClr val="tx1">
                    <a:lumMod val="75000"/>
                    <a:lumOff val="25000"/>
                  </a:schemeClr>
                </a:solidFill>
                <a:latin typeface="맑은 고딕" panose="020B0503020000020004" pitchFamily="50" charset="-127"/>
              </a:rPr>
              <a:t>총 </a:t>
            </a:r>
            <a:r>
              <a:rPr lang="en-US" altLang="ko-KR" sz="1400" dirty="0">
                <a:solidFill>
                  <a:schemeClr val="tx1">
                    <a:lumMod val="75000"/>
                    <a:lumOff val="25000"/>
                  </a:schemeClr>
                </a:solidFill>
                <a:latin typeface="맑은 고딕" panose="020B0503020000020004" pitchFamily="50" charset="-127"/>
              </a:rPr>
              <a:t>12</a:t>
            </a:r>
            <a:r>
              <a:rPr lang="ko-KR" altLang="en-US" sz="1400" dirty="0">
                <a:solidFill>
                  <a:schemeClr val="tx1">
                    <a:lumMod val="75000"/>
                    <a:lumOff val="25000"/>
                  </a:schemeClr>
                </a:solidFill>
                <a:latin typeface="맑은 고딕" panose="020B0503020000020004" pitchFamily="50" charset="-127"/>
              </a:rPr>
              <a:t>개월</a:t>
            </a:r>
            <a:r>
              <a:rPr lang="en-US" altLang="ko-KR" sz="1400" dirty="0">
                <a:solidFill>
                  <a:schemeClr val="tx1">
                    <a:lumMod val="75000"/>
                    <a:lumOff val="25000"/>
                  </a:schemeClr>
                </a:solidFill>
                <a:latin typeface="맑은 고딕" panose="020B0503020000020004" pitchFamily="50" charset="-127"/>
              </a:rPr>
              <a:t>)</a:t>
            </a:r>
            <a:endParaRPr lang="en-US" altLang="ko-KR" sz="1400" dirty="0"/>
          </a:p>
          <a:p>
            <a:pPr marL="742950" lvl="1" indent="-285750">
              <a:lnSpc>
                <a:spcPct val="150000"/>
              </a:lnSpc>
              <a:buFont typeface="Wingdings" panose="05000000000000000000" pitchFamily="2" charset="2"/>
              <a:buChar char="§"/>
            </a:pPr>
            <a:r>
              <a:rPr lang="ko-KR" altLang="en-US" sz="1400" dirty="0">
                <a:solidFill>
                  <a:schemeClr val="tx1">
                    <a:lumMod val="75000"/>
                    <a:lumOff val="25000"/>
                  </a:schemeClr>
                </a:solidFill>
                <a:latin typeface="맑은 고딕" panose="020B0503020000020004" pitchFamily="50" charset="-127"/>
              </a:rPr>
              <a:t>연구과제 일정 </a:t>
            </a:r>
            <a:r>
              <a:rPr lang="en-US" altLang="ko-KR" sz="1400" dirty="0">
                <a:solidFill>
                  <a:schemeClr val="tx1">
                    <a:lumMod val="75000"/>
                    <a:lumOff val="25000"/>
                  </a:schemeClr>
                </a:solidFill>
                <a:latin typeface="맑은 고딕" panose="020B0503020000020004" pitchFamily="50" charset="-127"/>
              </a:rPr>
              <a:t>26</a:t>
            </a:r>
            <a:r>
              <a:rPr lang="ko-KR" altLang="en-US" sz="1400" dirty="0">
                <a:solidFill>
                  <a:schemeClr val="tx1">
                    <a:lumMod val="75000"/>
                    <a:lumOff val="25000"/>
                  </a:schemeClr>
                </a:solidFill>
                <a:latin typeface="맑은 고딕" panose="020B0503020000020004" pitchFamily="50" charset="-127"/>
              </a:rPr>
              <a:t>년 </a:t>
            </a:r>
            <a:r>
              <a:rPr lang="en-US" altLang="ko-KR" sz="1400" dirty="0">
                <a:solidFill>
                  <a:schemeClr val="tx1">
                    <a:lumMod val="75000"/>
                    <a:lumOff val="25000"/>
                  </a:schemeClr>
                </a:solidFill>
                <a:latin typeface="맑은 고딕" panose="020B0503020000020004" pitchFamily="50" charset="-127"/>
              </a:rPr>
              <a:t>1</a:t>
            </a:r>
            <a:r>
              <a:rPr lang="ko-KR" altLang="en-US" sz="1400" dirty="0">
                <a:solidFill>
                  <a:schemeClr val="tx1">
                    <a:lumMod val="75000"/>
                    <a:lumOff val="25000"/>
                  </a:schemeClr>
                </a:solidFill>
                <a:latin typeface="맑은 고딕" panose="020B0503020000020004" pitchFamily="50" charset="-127"/>
              </a:rPr>
              <a:t>월 </a:t>
            </a:r>
            <a:r>
              <a:rPr lang="en-US" altLang="ko-KR" sz="1400" dirty="0">
                <a:solidFill>
                  <a:schemeClr val="tx1">
                    <a:lumMod val="75000"/>
                    <a:lumOff val="25000"/>
                  </a:schemeClr>
                </a:solidFill>
                <a:latin typeface="맑은 고딕" panose="020B0503020000020004" pitchFamily="50" charset="-127"/>
              </a:rPr>
              <a:t>~ 28</a:t>
            </a:r>
            <a:r>
              <a:rPr lang="ko-KR" altLang="en-US" sz="1400" dirty="0">
                <a:solidFill>
                  <a:schemeClr val="tx1">
                    <a:lumMod val="75000"/>
                    <a:lumOff val="25000"/>
                  </a:schemeClr>
                </a:solidFill>
                <a:latin typeface="맑은 고딕" panose="020B0503020000020004" pitchFamily="50" charset="-127"/>
              </a:rPr>
              <a:t>년 </a:t>
            </a:r>
            <a:r>
              <a:rPr lang="en-US" altLang="ko-KR" sz="1400" dirty="0">
                <a:solidFill>
                  <a:schemeClr val="tx1">
                    <a:lumMod val="75000"/>
                    <a:lumOff val="25000"/>
                  </a:schemeClr>
                </a:solidFill>
                <a:latin typeface="맑은 고딕" panose="020B0503020000020004" pitchFamily="50" charset="-127"/>
              </a:rPr>
              <a:t>12</a:t>
            </a:r>
            <a:r>
              <a:rPr lang="ko-KR" altLang="en-US" sz="1400" dirty="0">
                <a:solidFill>
                  <a:schemeClr val="tx1">
                    <a:lumMod val="75000"/>
                    <a:lumOff val="25000"/>
                  </a:schemeClr>
                </a:solidFill>
                <a:latin typeface="맑은 고딕" panose="020B0503020000020004" pitchFamily="50" charset="-127"/>
              </a:rPr>
              <a:t>월 </a:t>
            </a:r>
            <a:r>
              <a:rPr lang="en-US" altLang="ko-KR" sz="1400" dirty="0">
                <a:solidFill>
                  <a:schemeClr val="tx1">
                    <a:lumMod val="75000"/>
                    <a:lumOff val="25000"/>
                  </a:schemeClr>
                </a:solidFill>
                <a:latin typeface="맑은 고딕" panose="020B0503020000020004" pitchFamily="50" charset="-127"/>
              </a:rPr>
              <a:t>(</a:t>
            </a:r>
            <a:r>
              <a:rPr lang="ko-KR" altLang="en-US" sz="1400" dirty="0">
                <a:solidFill>
                  <a:schemeClr val="tx1">
                    <a:lumMod val="75000"/>
                    <a:lumOff val="25000"/>
                  </a:schemeClr>
                </a:solidFill>
                <a:latin typeface="맑은 고딕" panose="020B0503020000020004" pitchFamily="50" charset="-127"/>
              </a:rPr>
              <a:t>총 </a:t>
            </a:r>
            <a:r>
              <a:rPr lang="en-US" altLang="ko-KR" sz="1400" dirty="0">
                <a:solidFill>
                  <a:schemeClr val="tx1">
                    <a:lumMod val="75000"/>
                    <a:lumOff val="25000"/>
                  </a:schemeClr>
                </a:solidFill>
                <a:latin typeface="맑은 고딕" panose="020B0503020000020004" pitchFamily="50" charset="-127"/>
              </a:rPr>
              <a:t>36</a:t>
            </a:r>
            <a:r>
              <a:rPr lang="ko-KR" altLang="en-US" sz="1400" dirty="0">
                <a:solidFill>
                  <a:schemeClr val="tx1">
                    <a:lumMod val="75000"/>
                    <a:lumOff val="25000"/>
                  </a:schemeClr>
                </a:solidFill>
                <a:latin typeface="맑은 고딕" panose="020B0503020000020004" pitchFamily="50" charset="-127"/>
              </a:rPr>
              <a:t>개월</a:t>
            </a:r>
            <a:r>
              <a:rPr lang="en-US" altLang="ko-KR" sz="1400" dirty="0">
                <a:solidFill>
                  <a:schemeClr val="tx1">
                    <a:lumMod val="75000"/>
                    <a:lumOff val="25000"/>
                  </a:schemeClr>
                </a:solidFill>
                <a:latin typeface="맑은 고딕" panose="020B0503020000020004" pitchFamily="50" charset="-127"/>
              </a:rPr>
              <a:t>)</a:t>
            </a:r>
          </a:p>
        </p:txBody>
      </p:sp>
      <p:sp>
        <p:nvSpPr>
          <p:cNvPr id="232" name="TextBox 231"/>
          <p:cNvSpPr txBox="1"/>
          <p:nvPr/>
        </p:nvSpPr>
        <p:spPr>
          <a:xfrm>
            <a:off x="223924" y="6306461"/>
            <a:ext cx="3336170" cy="215444"/>
          </a:xfrm>
          <a:prstGeom prst="rect">
            <a:avLst/>
          </a:prstGeom>
          <a:noFill/>
        </p:spPr>
        <p:txBody>
          <a:bodyPr wrap="none" rtlCol="0">
            <a:spAutoFit/>
          </a:bodyPr>
          <a:lstStyle/>
          <a:p>
            <a:r>
              <a:rPr lang="en-US" altLang="ko-KR" sz="800" dirty="0">
                <a:solidFill>
                  <a:schemeClr val="tx1">
                    <a:lumMod val="75000"/>
                    <a:lumOff val="25000"/>
                  </a:schemeClr>
                </a:solidFill>
              </a:rPr>
              <a:t>***</a:t>
            </a:r>
            <a:r>
              <a:rPr lang="en-US" altLang="ko-KR" sz="800" dirty="0" err="1">
                <a:solidFill>
                  <a:schemeClr val="tx1">
                    <a:lumMod val="75000"/>
                    <a:lumOff val="25000"/>
                  </a:schemeClr>
                </a:solidFill>
              </a:rPr>
              <a:t>ScHBM</a:t>
            </a:r>
            <a:r>
              <a:rPr lang="en-US" altLang="ko-KR" sz="800" dirty="0">
                <a:solidFill>
                  <a:schemeClr val="tx1">
                    <a:lumMod val="75000"/>
                    <a:lumOff val="25000"/>
                  </a:schemeClr>
                </a:solidFill>
              </a:rPr>
              <a:t>: Samsung Custom HBM (Base Die</a:t>
            </a:r>
            <a:r>
              <a:rPr lang="ko-KR" altLang="en-US" sz="800" dirty="0">
                <a:solidFill>
                  <a:schemeClr val="tx1">
                    <a:lumMod val="75000"/>
                    <a:lumOff val="25000"/>
                  </a:schemeClr>
                </a:solidFill>
              </a:rPr>
              <a:t>에 </a:t>
            </a:r>
            <a:r>
              <a:rPr lang="en-US" altLang="ko-KR" sz="800" dirty="0">
                <a:solidFill>
                  <a:schemeClr val="tx1">
                    <a:lumMod val="75000"/>
                    <a:lumOff val="25000"/>
                  </a:schemeClr>
                </a:solidFill>
              </a:rPr>
              <a:t>Processing Element)</a:t>
            </a:r>
            <a:endParaRPr lang="ko-KR" altLang="en-US" sz="800" dirty="0">
              <a:solidFill>
                <a:schemeClr val="tx1">
                  <a:lumMod val="75000"/>
                  <a:lumOff val="25000"/>
                </a:schemeClr>
              </a:solidFill>
            </a:endParaRPr>
          </a:p>
        </p:txBody>
      </p:sp>
      <p:sp>
        <p:nvSpPr>
          <p:cNvPr id="19" name="TextBox 18">
            <a:extLst>
              <a:ext uri="{FF2B5EF4-FFF2-40B4-BE49-F238E27FC236}">
                <a16:creationId xmlns:a16="http://schemas.microsoft.com/office/drawing/2014/main" id="{EDF70A8A-9B7B-449F-A5DD-3D6FB7C549AF}"/>
              </a:ext>
            </a:extLst>
          </p:cNvPr>
          <p:cNvSpPr txBox="1"/>
          <p:nvPr/>
        </p:nvSpPr>
        <p:spPr>
          <a:xfrm>
            <a:off x="223924" y="6070903"/>
            <a:ext cx="1737976" cy="215444"/>
          </a:xfrm>
          <a:prstGeom prst="rect">
            <a:avLst/>
          </a:prstGeom>
          <a:noFill/>
        </p:spPr>
        <p:txBody>
          <a:bodyPr wrap="none" rtlCol="0">
            <a:spAutoFit/>
          </a:bodyPr>
          <a:lstStyle/>
          <a:p>
            <a:r>
              <a:rPr lang="en-US" altLang="ko-KR" sz="800" dirty="0">
                <a:solidFill>
                  <a:schemeClr val="tx1">
                    <a:lumMod val="75000"/>
                    <a:lumOff val="25000"/>
                  </a:schemeClr>
                </a:solidFill>
              </a:rPr>
              <a:t>*PNM: Processing Near Memory </a:t>
            </a:r>
          </a:p>
        </p:txBody>
      </p:sp>
      <p:sp>
        <p:nvSpPr>
          <p:cNvPr id="20" name="TextBox 19">
            <a:extLst>
              <a:ext uri="{FF2B5EF4-FFF2-40B4-BE49-F238E27FC236}">
                <a16:creationId xmlns:a16="http://schemas.microsoft.com/office/drawing/2014/main" id="{B567E618-E632-4153-BD3F-663FACD83C6A}"/>
              </a:ext>
            </a:extLst>
          </p:cNvPr>
          <p:cNvSpPr txBox="1"/>
          <p:nvPr/>
        </p:nvSpPr>
        <p:spPr>
          <a:xfrm>
            <a:off x="223924" y="6188682"/>
            <a:ext cx="1593706" cy="215444"/>
          </a:xfrm>
          <a:prstGeom prst="rect">
            <a:avLst/>
          </a:prstGeom>
          <a:noFill/>
        </p:spPr>
        <p:txBody>
          <a:bodyPr wrap="none" rtlCol="0">
            <a:spAutoFit/>
          </a:bodyPr>
          <a:lstStyle/>
          <a:p>
            <a:r>
              <a:rPr lang="en-US" altLang="ko-KR" sz="800" dirty="0">
                <a:solidFill>
                  <a:schemeClr val="tx1">
                    <a:lumMod val="75000"/>
                    <a:lumOff val="25000"/>
                  </a:schemeClr>
                </a:solidFill>
              </a:rPr>
              <a:t>**PIM: Processing In Memory </a:t>
            </a:r>
            <a:endParaRPr lang="ko-KR" altLang="en-US" sz="800" dirty="0">
              <a:solidFill>
                <a:schemeClr val="tx1">
                  <a:lumMod val="75000"/>
                  <a:lumOff val="25000"/>
                </a:schemeClr>
              </a:solidFill>
            </a:endParaRPr>
          </a:p>
        </p:txBody>
      </p:sp>
      <p:grpSp>
        <p:nvGrpSpPr>
          <p:cNvPr id="2" name="그룹 1"/>
          <p:cNvGrpSpPr/>
          <p:nvPr/>
        </p:nvGrpSpPr>
        <p:grpSpPr>
          <a:xfrm>
            <a:off x="6716307" y="697349"/>
            <a:ext cx="3629820" cy="5706777"/>
            <a:chOff x="3059952" y="717570"/>
            <a:chExt cx="4831290" cy="5706777"/>
          </a:xfrm>
        </p:grpSpPr>
        <p:cxnSp>
          <p:nvCxnSpPr>
            <p:cNvPr id="82" name="직선 화살표 연결선 185">
              <a:extLst>
                <a:ext uri="{FF2B5EF4-FFF2-40B4-BE49-F238E27FC236}">
                  <a16:creationId xmlns:a16="http://schemas.microsoft.com/office/drawing/2014/main" id="{C77B044C-CFD5-4C99-9B08-C9CDFDD38AC5}"/>
                </a:ext>
              </a:extLst>
            </p:cNvPr>
            <p:cNvCxnSpPr>
              <a:cxnSpLocks/>
            </p:cNvCxnSpPr>
            <p:nvPr/>
          </p:nvCxnSpPr>
          <p:spPr>
            <a:xfrm flipV="1">
              <a:off x="7034559" y="3128628"/>
              <a:ext cx="0" cy="1122023"/>
            </a:xfrm>
            <a:prstGeom prst="straightConnector1">
              <a:avLst/>
            </a:prstGeom>
            <a:noFill/>
            <a:ln w="6350">
              <a:solidFill>
                <a:srgbClr val="888C91"/>
              </a:solidFill>
              <a:prstDash val="solid"/>
              <a:headEnd type="triangle" w="med" len="med"/>
              <a:tailEnd type="none" w="med" len="med"/>
            </a:ln>
          </p:spPr>
        </p:cxnSp>
        <p:sp>
          <p:nvSpPr>
            <p:cNvPr id="83" name="직사각형 82"/>
            <p:cNvSpPr/>
            <p:nvPr/>
          </p:nvSpPr>
          <p:spPr>
            <a:xfrm>
              <a:off x="4435174" y="1141656"/>
              <a:ext cx="1865308" cy="3746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lvl="0" algn="ctr">
                <a:defRPr/>
              </a:pPr>
              <a:r>
                <a:rPr lang="en-US" altLang="ko-KR" sz="1200" b="1">
                  <a:solidFill>
                    <a:schemeClr val="tx1"/>
                  </a:solidFill>
                  <a:latin typeface="Calibri" panose="020F0502020204030204"/>
                  <a:ea typeface="맑은 고딕" panose="020B0503020000020004" pitchFamily="50" charset="-127"/>
                </a:rPr>
                <a:t>Application</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1">
                  <a:solidFill>
                    <a:schemeClr val="bg1">
                      <a:lumMod val="50000"/>
                    </a:schemeClr>
                  </a:solidFill>
                  <a:latin typeface="Calibri" panose="020F0502020204030204"/>
                  <a:ea typeface="맑은 고딕" panose="020B0503020000020004" pitchFamily="50" charset="-127"/>
                </a:rPr>
                <a:t>Agent </a:t>
              </a:r>
              <a:r>
                <a:rPr lang="ko-KR" altLang="en-US" sz="800" b="1">
                  <a:solidFill>
                    <a:schemeClr val="bg1">
                      <a:lumMod val="50000"/>
                    </a:schemeClr>
                  </a:solidFill>
                  <a:latin typeface="Calibri" panose="020F0502020204030204"/>
                  <a:ea typeface="맑은 고딕" panose="020B0503020000020004" pitchFamily="50" charset="-127"/>
                </a:rPr>
                <a:t>봇</a:t>
              </a:r>
              <a:r>
                <a:rPr lang="en-US" altLang="ko-KR" sz="800" b="1">
                  <a:solidFill>
                    <a:schemeClr val="bg1">
                      <a:lumMod val="50000"/>
                    </a:schemeClr>
                  </a:solidFill>
                  <a:latin typeface="Calibri" panose="020F0502020204030204"/>
                  <a:ea typeface="맑은 고딕" panose="020B0503020000020004" pitchFamily="50" charset="-127"/>
                </a:rPr>
                <a:t>, </a:t>
              </a:r>
              <a:r>
                <a:rPr lang="ko-KR" altLang="en-US" sz="800" b="1">
                  <a:solidFill>
                    <a:schemeClr val="bg1">
                      <a:lumMod val="50000"/>
                    </a:schemeClr>
                  </a:solidFill>
                  <a:latin typeface="Calibri" panose="020F0502020204030204"/>
                  <a:ea typeface="맑은 고딕" panose="020B0503020000020004" pitchFamily="50" charset="-127"/>
                </a:rPr>
                <a:t>챗봇</a:t>
              </a:r>
              <a:endParaRPr lang="ko-KR" altLang="en-US" sz="800" b="1" dirty="0">
                <a:solidFill>
                  <a:schemeClr val="bg1">
                    <a:lumMod val="50000"/>
                  </a:schemeClr>
                </a:solidFill>
                <a:latin typeface="Calibri" panose="020F0502020204030204"/>
                <a:ea typeface="맑은 고딕" panose="020B0503020000020004" pitchFamily="50" charset="-127"/>
              </a:endParaRPr>
            </a:p>
          </p:txBody>
        </p:sp>
        <p:sp>
          <p:nvSpPr>
            <p:cNvPr id="84" name="직사각형 83"/>
            <p:cNvSpPr/>
            <p:nvPr/>
          </p:nvSpPr>
          <p:spPr>
            <a:xfrm>
              <a:off x="4002329" y="1713974"/>
              <a:ext cx="2730999" cy="60333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ltLang="ko-KR" sz="1200" b="1">
                  <a:solidFill>
                    <a:schemeClr val="tx1"/>
                  </a:solidFill>
                  <a:latin typeface="Calibri" panose="020F0502020204030204"/>
                  <a:ea typeface="맑은 고딕" panose="020B0503020000020004" pitchFamily="50" charset="-127"/>
                </a:rPr>
                <a:t>Agent Framework</a:t>
              </a:r>
              <a:endParaRPr lang="en-US" altLang="ko-KR" sz="1200" b="1" noProof="0" dirty="0">
                <a:solidFill>
                  <a:schemeClr val="tx1"/>
                </a:solidFill>
                <a:latin typeface="Calibri" panose="020F0502020204030204"/>
                <a:ea typeface="맑은 고딕" panose="020B0503020000020004" pitchFamily="50"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1" dirty="0">
                  <a:solidFill>
                    <a:schemeClr val="bg1">
                      <a:lumMod val="50000"/>
                    </a:schemeClr>
                  </a:solidFill>
                  <a:latin typeface="Calibri" panose="020F0502020204030204"/>
                  <a:ea typeface="맑은 고딕" panose="020B0503020000020004" pitchFamily="50" charset="-127"/>
                </a:rPr>
                <a:t>Reasoning loop </a:t>
              </a:r>
              <a:r>
                <a:rPr lang="ko-KR" altLang="en-US" sz="800" b="1" dirty="0">
                  <a:solidFill>
                    <a:schemeClr val="bg1">
                      <a:lumMod val="50000"/>
                    </a:schemeClr>
                  </a:solidFill>
                  <a:latin typeface="Calibri" panose="020F0502020204030204"/>
                  <a:ea typeface="맑은 고딕" panose="020B0503020000020004" pitchFamily="50" charset="-127"/>
                </a:rPr>
                <a:t>진행 중 </a:t>
              </a:r>
              <a:endParaRPr lang="en-US" altLang="ko-KR" sz="800" b="1" dirty="0">
                <a:solidFill>
                  <a:schemeClr val="bg1">
                    <a:lumMod val="50000"/>
                  </a:schemeClr>
                </a:solidFill>
                <a:latin typeface="Calibri" panose="020F0502020204030204"/>
                <a:ea typeface="맑은 고딕" panose="020B0503020000020004" pitchFamily="50"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1" dirty="0">
                  <a:solidFill>
                    <a:schemeClr val="bg1">
                      <a:lumMod val="50000"/>
                    </a:schemeClr>
                  </a:solidFill>
                  <a:latin typeface="Calibri" panose="020F0502020204030204"/>
                  <a:ea typeface="맑은 고딕" panose="020B0503020000020004" pitchFamily="50" charset="-127"/>
                </a:rPr>
                <a:t>“LLM </a:t>
              </a:r>
              <a:r>
                <a:rPr lang="ko-KR" altLang="en-US" sz="800" b="1" dirty="0">
                  <a:solidFill>
                    <a:schemeClr val="bg1">
                      <a:lumMod val="50000"/>
                    </a:schemeClr>
                  </a:solidFill>
                  <a:latin typeface="Calibri" panose="020F0502020204030204"/>
                  <a:ea typeface="맑은 고딕" panose="020B0503020000020004" pitchFamily="50" charset="-127"/>
                </a:rPr>
                <a:t>호출 필요</a:t>
              </a:r>
              <a:r>
                <a:rPr lang="en-US" altLang="ko-KR" sz="800" b="1" dirty="0">
                  <a:solidFill>
                    <a:schemeClr val="bg1">
                      <a:lumMod val="50000"/>
                    </a:schemeClr>
                  </a:solidFill>
                  <a:latin typeface="Calibri" panose="020F0502020204030204"/>
                  <a:ea typeface="맑은 고딕" panose="020B0503020000020004" pitchFamily="50" charset="-127"/>
                </a:rPr>
                <a:t> / “</a:t>
              </a:r>
              <a:r>
                <a:rPr lang="ko-KR" altLang="en-US" sz="800" b="1" dirty="0">
                  <a:solidFill>
                    <a:schemeClr val="bg1">
                      <a:lumMod val="50000"/>
                    </a:schemeClr>
                  </a:solidFill>
                  <a:latin typeface="Calibri" panose="020F0502020204030204"/>
                  <a:ea typeface="맑은 고딕" panose="020B0503020000020004" pitchFamily="50" charset="-127"/>
                </a:rPr>
                <a:t>문서 검색 필요</a:t>
              </a:r>
              <a:r>
                <a:rPr lang="en-US" altLang="ko-KR" sz="800" b="1" dirty="0">
                  <a:solidFill>
                    <a:schemeClr val="bg1">
                      <a:lumMod val="50000"/>
                    </a:schemeClr>
                  </a:solidFill>
                  <a:latin typeface="Calibri" panose="020F0502020204030204"/>
                  <a:ea typeface="맑은 고딕" panose="020B0503020000020004" pitchFamily="50" charset="-127"/>
                </a:rPr>
                <a:t>” /  </a:t>
              </a:r>
              <a:r>
                <a:rPr lang="ko-KR" altLang="en-US" sz="800" b="1" dirty="0">
                  <a:solidFill>
                    <a:schemeClr val="bg1">
                      <a:lumMod val="50000"/>
                    </a:schemeClr>
                  </a:solidFill>
                  <a:latin typeface="Calibri" panose="020F0502020204030204"/>
                  <a:ea typeface="맑은 고딕" panose="020B0503020000020004" pitchFamily="50" charset="-127"/>
                </a:rPr>
                <a:t>도구 호출 필요</a:t>
              </a:r>
              <a:r>
                <a:rPr lang="en-US" altLang="ko-KR" sz="800" b="1" dirty="0">
                  <a:solidFill>
                    <a:schemeClr val="bg1">
                      <a:lumMod val="50000"/>
                    </a:schemeClr>
                  </a:solidFill>
                  <a:latin typeface="Calibri" panose="020F0502020204030204"/>
                  <a:ea typeface="맑은 고딕" panose="020B0503020000020004" pitchFamily="50" charset="-127"/>
                </a:rPr>
                <a:t>” </a:t>
              </a:r>
              <a:r>
                <a:rPr lang="ko-KR" altLang="en-US" sz="800" b="1" dirty="0">
                  <a:solidFill>
                    <a:schemeClr val="bg1">
                      <a:lumMod val="50000"/>
                    </a:schemeClr>
                  </a:solidFill>
                  <a:latin typeface="Calibri" panose="020F0502020204030204"/>
                  <a:ea typeface="맑은 고딕" panose="020B0503020000020004" pitchFamily="50" charset="-127"/>
                </a:rPr>
                <a:t>판단</a:t>
              </a:r>
              <a:endParaRPr kumimoji="0" lang="ko-KR" altLang="en-US" sz="800" b="1" i="0" u="none" strike="noStrike" kern="1200" cap="none" spc="0" normalizeH="0" baseline="0" noProof="0" dirty="0">
                <a:ln>
                  <a:noFill/>
                </a:ln>
                <a:solidFill>
                  <a:schemeClr val="bg1">
                    <a:lumMod val="50000"/>
                  </a:schemeClr>
                </a:solidFill>
                <a:effectLst/>
                <a:uLnTx/>
                <a:uFillTx/>
                <a:latin typeface="Calibri" panose="020F0502020204030204"/>
                <a:ea typeface="맑은 고딕" panose="020B0503020000020004" pitchFamily="50" charset="-127"/>
              </a:endParaRPr>
            </a:p>
          </p:txBody>
        </p:sp>
        <p:sp>
          <p:nvSpPr>
            <p:cNvPr id="85" name="직사각형 84"/>
            <p:cNvSpPr/>
            <p:nvPr/>
          </p:nvSpPr>
          <p:spPr>
            <a:xfrm>
              <a:off x="3492704" y="2623962"/>
              <a:ext cx="1865308" cy="498623"/>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ko-KR" sz="1200" b="1" dirty="0">
                  <a:solidFill>
                    <a:schemeClr val="tx1"/>
                  </a:solidFill>
                  <a:latin typeface="Calibri" panose="020F0502020204030204"/>
                  <a:ea typeface="맑은 고딕" panose="020B0503020000020004" pitchFamily="50" charset="-127"/>
                </a:rPr>
                <a:t>Inference Orchestrator </a:t>
              </a:r>
            </a:p>
            <a:p>
              <a:pPr algn="ctr">
                <a:defRPr/>
              </a:pPr>
              <a:r>
                <a:rPr lang="ko-KR" altLang="en-US" sz="800" b="1" dirty="0">
                  <a:solidFill>
                    <a:schemeClr val="bg1">
                      <a:lumMod val="50000"/>
                    </a:schemeClr>
                  </a:solidFill>
                  <a:latin typeface="Calibri" panose="020F0502020204030204"/>
                </a:rPr>
                <a:t>요청 라우팅</a:t>
              </a:r>
              <a:r>
                <a:rPr lang="en-US" altLang="ko-KR" sz="800" b="1" dirty="0">
                  <a:solidFill>
                    <a:schemeClr val="bg1">
                      <a:lumMod val="50000"/>
                    </a:schemeClr>
                  </a:solidFill>
                  <a:latin typeface="Calibri" panose="020F0502020204030204"/>
                </a:rPr>
                <a:t>/</a:t>
              </a:r>
              <a:r>
                <a:rPr lang="ko-KR" altLang="en-US" sz="800" b="1" dirty="0">
                  <a:solidFill>
                    <a:schemeClr val="bg1">
                      <a:lumMod val="50000"/>
                    </a:schemeClr>
                  </a:solidFill>
                  <a:latin typeface="Calibri" panose="020F0502020204030204"/>
                </a:rPr>
                <a:t>스케줄링</a:t>
              </a:r>
              <a:endParaRPr lang="en-US" altLang="ko-KR" sz="800" b="1" dirty="0">
                <a:solidFill>
                  <a:schemeClr val="bg1">
                    <a:lumMod val="50000"/>
                  </a:schemeClr>
                </a:solidFill>
                <a:latin typeface="Calibri" panose="020F0502020204030204"/>
              </a:endParaRPr>
            </a:p>
          </p:txBody>
        </p:sp>
        <p:sp>
          <p:nvSpPr>
            <p:cNvPr id="86" name="직사각형 85"/>
            <p:cNvSpPr/>
            <p:nvPr/>
          </p:nvSpPr>
          <p:spPr>
            <a:xfrm>
              <a:off x="5850247" y="2623962"/>
              <a:ext cx="1865308" cy="4986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lvl="0" algn="ctr">
                <a:defRPr/>
              </a:pPr>
              <a:r>
                <a:rPr lang="en-US" altLang="ko-KR" sz="1200" b="1">
                  <a:solidFill>
                    <a:schemeClr val="tx1"/>
                  </a:solidFill>
                  <a:latin typeface="Calibri" panose="020F0502020204030204"/>
                </a:rPr>
                <a:t>Compute Library</a:t>
              </a:r>
            </a:p>
            <a:p>
              <a:pPr algn="ctr">
                <a:defRPr/>
              </a:pPr>
              <a:r>
                <a:rPr lang="ko-KR" altLang="en-US" sz="800" b="1">
                  <a:solidFill>
                    <a:schemeClr val="bg1">
                      <a:lumMod val="50000"/>
                    </a:schemeClr>
                  </a:solidFill>
                  <a:latin typeface="Calibri" panose="020F0502020204030204"/>
                </a:rPr>
                <a:t>연산 함수 </a:t>
              </a:r>
            </a:p>
          </p:txBody>
        </p:sp>
        <p:sp>
          <p:nvSpPr>
            <p:cNvPr id="87" name="직사각형 86"/>
            <p:cNvSpPr/>
            <p:nvPr/>
          </p:nvSpPr>
          <p:spPr>
            <a:xfrm>
              <a:off x="3492704" y="3318470"/>
              <a:ext cx="1865308" cy="498623"/>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tx1"/>
                  </a:solidFill>
                  <a:latin typeface="Calibri" panose="020F0502020204030204"/>
                  <a:ea typeface="맑은 고딕" panose="020B0503020000020004" pitchFamily="50" charset="-127"/>
                </a:rPr>
                <a:t>Inference Engine</a:t>
              </a:r>
            </a:p>
            <a:p>
              <a:pPr lvl="0" algn="ctr">
                <a:defRPr/>
              </a:pPr>
              <a:r>
                <a:rPr lang="en-US" altLang="ko-KR" sz="800" b="1" dirty="0">
                  <a:solidFill>
                    <a:schemeClr val="bg1">
                      <a:lumMod val="50000"/>
                    </a:schemeClr>
                  </a:solidFill>
                  <a:latin typeface="Calibri" panose="020F0502020204030204"/>
                </a:rPr>
                <a:t>LLM </a:t>
              </a:r>
              <a:r>
                <a:rPr lang="ko-KR" altLang="en-US" sz="800" b="1" dirty="0">
                  <a:solidFill>
                    <a:schemeClr val="bg1">
                      <a:lumMod val="50000"/>
                    </a:schemeClr>
                  </a:solidFill>
                  <a:latin typeface="Calibri" panose="020F0502020204030204"/>
                </a:rPr>
                <a:t>출력 </a:t>
              </a:r>
              <a:r>
                <a:rPr lang="en-US" altLang="ko-KR" sz="800" b="1" dirty="0">
                  <a:solidFill>
                    <a:schemeClr val="bg1">
                      <a:lumMod val="50000"/>
                    </a:schemeClr>
                  </a:solidFill>
                  <a:latin typeface="Calibri" panose="020F0502020204030204"/>
                </a:rPr>
                <a:t>(</a:t>
              </a:r>
              <a:r>
                <a:rPr lang="ko-KR" altLang="en-US" sz="800" b="1" dirty="0">
                  <a:solidFill>
                    <a:schemeClr val="bg1">
                      <a:lumMod val="50000"/>
                    </a:schemeClr>
                  </a:solidFill>
                  <a:latin typeface="Calibri" panose="020F0502020204030204"/>
                </a:rPr>
                <a:t>토큰 생성</a:t>
              </a:r>
              <a:r>
                <a:rPr lang="en-US" altLang="ko-KR" sz="800" b="1" dirty="0">
                  <a:solidFill>
                    <a:schemeClr val="bg1">
                      <a:lumMod val="50000"/>
                    </a:schemeClr>
                  </a:solidFill>
                  <a:latin typeface="Calibri" panose="020F0502020204030204"/>
                </a:rPr>
                <a:t>)</a:t>
              </a:r>
              <a:endParaRPr lang="ko-KR" altLang="en-US" sz="800" b="1" dirty="0">
                <a:solidFill>
                  <a:schemeClr val="bg1">
                    <a:lumMod val="50000"/>
                  </a:schemeClr>
                </a:solidFill>
                <a:latin typeface="Calibri" panose="020F0502020204030204"/>
              </a:endParaRPr>
            </a:p>
          </p:txBody>
        </p:sp>
        <p:sp>
          <p:nvSpPr>
            <p:cNvPr id="88" name="직사각형 87"/>
            <p:cNvSpPr/>
            <p:nvPr/>
          </p:nvSpPr>
          <p:spPr>
            <a:xfrm>
              <a:off x="3492703" y="4250651"/>
              <a:ext cx="4222851" cy="45329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b="1">
                  <a:solidFill>
                    <a:schemeClr val="tx1"/>
                  </a:solidFill>
                  <a:latin typeface="Calibri" panose="020F0502020204030204"/>
                  <a:ea typeface="맑은 고딕" panose="020B0503020000020004" pitchFamily="50" charset="-127"/>
                </a:rPr>
                <a:t>Device Runtime/Driver</a:t>
              </a:r>
              <a:endParaRPr lang="en-US" altLang="ko-KR" sz="1200" b="1" dirty="0">
                <a:solidFill>
                  <a:schemeClr val="tx1"/>
                </a:solidFill>
                <a:latin typeface="Calibri" panose="020F0502020204030204"/>
                <a:ea typeface="맑은 고딕" panose="020B0503020000020004" pitchFamily="50" charset="-127"/>
              </a:endParaRPr>
            </a:p>
            <a:p>
              <a:pPr lvl="0" algn="ctr">
                <a:defRPr/>
              </a:pPr>
              <a:r>
                <a:rPr lang="ko-KR" altLang="en-US" sz="800" b="1">
                  <a:solidFill>
                    <a:prstClr val="white">
                      <a:lumMod val="50000"/>
                    </a:prstClr>
                  </a:solidFill>
                  <a:latin typeface="Calibri" panose="020F0502020204030204"/>
                </a:rPr>
                <a:t>실제 </a:t>
              </a:r>
              <a:r>
                <a:rPr lang="en-US" altLang="ko-KR" sz="800" b="1">
                  <a:solidFill>
                    <a:prstClr val="white">
                      <a:lumMod val="50000"/>
                    </a:prstClr>
                  </a:solidFill>
                  <a:latin typeface="Calibri" panose="020F0502020204030204"/>
                </a:rPr>
                <a:t>HW </a:t>
              </a:r>
              <a:r>
                <a:rPr lang="ko-KR" altLang="en-US" sz="800" b="1">
                  <a:solidFill>
                    <a:prstClr val="white">
                      <a:lumMod val="50000"/>
                    </a:prstClr>
                  </a:solidFill>
                  <a:latin typeface="Calibri" panose="020F0502020204030204"/>
                </a:rPr>
                <a:t>제어 함수 제공</a:t>
              </a:r>
            </a:p>
          </p:txBody>
        </p:sp>
        <p:sp>
          <p:nvSpPr>
            <p:cNvPr id="89" name="직사각형 88"/>
            <p:cNvSpPr/>
            <p:nvPr/>
          </p:nvSpPr>
          <p:spPr>
            <a:xfrm>
              <a:off x="3399220" y="5022253"/>
              <a:ext cx="666903" cy="3154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R="0" indent="0" algn="ctr" fontAlgn="auto">
                <a:lnSpc>
                  <a:spcPct val="100000"/>
                </a:lnSpc>
                <a:spcBef>
                  <a:spcPts val="0"/>
                </a:spcBef>
                <a:spcAft>
                  <a:spcPts val="0"/>
                </a:spcAft>
                <a:buClrTx/>
                <a:buSzTx/>
                <a:buFontTx/>
                <a:buNone/>
                <a:tabLst/>
                <a:defRPr/>
              </a:pPr>
              <a:r>
                <a:rPr lang="en-US" altLang="ko-KR" sz="1100" b="1" dirty="0">
                  <a:solidFill>
                    <a:prstClr val="black"/>
                  </a:solidFill>
                  <a:latin typeface="Calibri" panose="020F0502020204030204"/>
                </a:rPr>
                <a:t>GPU </a:t>
              </a:r>
              <a:endParaRPr lang="ko-KR" altLang="en-US" sz="800" b="1" dirty="0">
                <a:solidFill>
                  <a:prstClr val="black"/>
                </a:solidFill>
                <a:latin typeface="Calibri" panose="020F0502020204030204"/>
              </a:endParaRPr>
            </a:p>
          </p:txBody>
        </p:sp>
        <p:cxnSp>
          <p:nvCxnSpPr>
            <p:cNvPr id="90" name="직선 화살표 연결선 185">
              <a:extLst>
                <a:ext uri="{FF2B5EF4-FFF2-40B4-BE49-F238E27FC236}">
                  <a16:creationId xmlns:a16="http://schemas.microsoft.com/office/drawing/2014/main" id="{C77B044C-CFD5-4C99-9B08-C9CDFDD38AC5}"/>
                </a:ext>
              </a:extLst>
            </p:cNvPr>
            <p:cNvCxnSpPr>
              <a:cxnSpLocks/>
              <a:stCxn id="84" idx="0"/>
              <a:endCxn id="83" idx="2"/>
            </p:cNvCxnSpPr>
            <p:nvPr/>
          </p:nvCxnSpPr>
          <p:spPr>
            <a:xfrm flipV="1">
              <a:off x="5367829" y="1483770"/>
              <a:ext cx="1" cy="230204"/>
            </a:xfrm>
            <a:prstGeom prst="straightConnector1">
              <a:avLst/>
            </a:prstGeom>
            <a:noFill/>
            <a:ln w="6350">
              <a:solidFill>
                <a:srgbClr val="888C91"/>
              </a:solidFill>
              <a:prstDash val="solid"/>
              <a:headEnd type="triangle" w="med" len="med"/>
              <a:tailEnd type="none" w="med" len="med"/>
            </a:ln>
          </p:spPr>
        </p:cxnSp>
        <p:cxnSp>
          <p:nvCxnSpPr>
            <p:cNvPr id="93" name="직선 화살표 연결선 185">
              <a:extLst>
                <a:ext uri="{FF2B5EF4-FFF2-40B4-BE49-F238E27FC236}">
                  <a16:creationId xmlns:a16="http://schemas.microsoft.com/office/drawing/2014/main" id="{C77B044C-CFD5-4C99-9B08-C9CDFDD38AC5}"/>
                </a:ext>
              </a:extLst>
            </p:cNvPr>
            <p:cNvCxnSpPr>
              <a:cxnSpLocks/>
              <a:stCxn id="87" idx="0"/>
              <a:endCxn id="85" idx="2"/>
            </p:cNvCxnSpPr>
            <p:nvPr/>
          </p:nvCxnSpPr>
          <p:spPr>
            <a:xfrm flipV="1">
              <a:off x="4425358" y="3122585"/>
              <a:ext cx="0" cy="195885"/>
            </a:xfrm>
            <a:prstGeom prst="straightConnector1">
              <a:avLst/>
            </a:prstGeom>
            <a:noFill/>
            <a:ln w="6350">
              <a:solidFill>
                <a:srgbClr val="888C91"/>
              </a:solidFill>
              <a:prstDash val="solid"/>
              <a:headEnd type="triangle" w="med" len="med"/>
              <a:tailEnd type="none" w="med" len="med"/>
            </a:ln>
          </p:spPr>
        </p:cxnSp>
        <p:cxnSp>
          <p:nvCxnSpPr>
            <p:cNvPr id="94" name="직선 화살표 연결선 185">
              <a:extLst>
                <a:ext uri="{FF2B5EF4-FFF2-40B4-BE49-F238E27FC236}">
                  <a16:creationId xmlns:a16="http://schemas.microsoft.com/office/drawing/2014/main" id="{C77B044C-CFD5-4C99-9B08-C9CDFDD38AC5}"/>
                </a:ext>
              </a:extLst>
            </p:cNvPr>
            <p:cNvCxnSpPr>
              <a:cxnSpLocks/>
              <a:endCxn id="87" idx="2"/>
            </p:cNvCxnSpPr>
            <p:nvPr/>
          </p:nvCxnSpPr>
          <p:spPr>
            <a:xfrm flipV="1">
              <a:off x="4425358" y="3817093"/>
              <a:ext cx="0" cy="425073"/>
            </a:xfrm>
            <a:prstGeom prst="straightConnector1">
              <a:avLst/>
            </a:prstGeom>
            <a:noFill/>
            <a:ln w="6350">
              <a:solidFill>
                <a:srgbClr val="888C91"/>
              </a:solidFill>
              <a:prstDash val="solid"/>
              <a:headEnd type="triangle" w="med" len="med"/>
              <a:tailEnd type="none" w="med" len="med"/>
            </a:ln>
          </p:spPr>
        </p:cxnSp>
        <p:cxnSp>
          <p:nvCxnSpPr>
            <p:cNvPr id="95" name="직선 화살표 연결선 185">
              <a:extLst>
                <a:ext uri="{FF2B5EF4-FFF2-40B4-BE49-F238E27FC236}">
                  <a16:creationId xmlns:a16="http://schemas.microsoft.com/office/drawing/2014/main" id="{C77B044C-CFD5-4C99-9B08-C9CDFDD38AC5}"/>
                </a:ext>
              </a:extLst>
            </p:cNvPr>
            <p:cNvCxnSpPr>
              <a:cxnSpLocks/>
              <a:stCxn id="115" idx="0"/>
              <a:endCxn id="88" idx="2"/>
            </p:cNvCxnSpPr>
            <p:nvPr/>
          </p:nvCxnSpPr>
          <p:spPr>
            <a:xfrm rot="5400000" flipH="1" flipV="1">
              <a:off x="5218294" y="4636418"/>
              <a:ext cx="318308" cy="453363"/>
            </a:xfrm>
            <a:prstGeom prst="bentConnector3">
              <a:avLst>
                <a:gd name="adj1" fmla="val 50000"/>
              </a:avLst>
            </a:prstGeom>
            <a:noFill/>
            <a:ln w="6350">
              <a:solidFill>
                <a:srgbClr val="888C91"/>
              </a:solidFill>
              <a:prstDash val="solid"/>
              <a:headEnd type="triangle" w="med" len="med"/>
              <a:tailEnd type="none" w="med" len="med"/>
            </a:ln>
          </p:spPr>
        </p:cxnSp>
        <p:cxnSp>
          <p:nvCxnSpPr>
            <p:cNvPr id="97" name="직선 화살표 연결선 185">
              <a:extLst>
                <a:ext uri="{FF2B5EF4-FFF2-40B4-BE49-F238E27FC236}">
                  <a16:creationId xmlns:a16="http://schemas.microsoft.com/office/drawing/2014/main" id="{C77B044C-CFD5-4C99-9B08-C9CDFDD38AC5}"/>
                </a:ext>
              </a:extLst>
            </p:cNvPr>
            <p:cNvCxnSpPr>
              <a:cxnSpLocks/>
              <a:stCxn id="85" idx="0"/>
              <a:endCxn id="84" idx="2"/>
            </p:cNvCxnSpPr>
            <p:nvPr/>
          </p:nvCxnSpPr>
          <p:spPr>
            <a:xfrm rot="5400000" flipH="1" flipV="1">
              <a:off x="4743266" y="1999400"/>
              <a:ext cx="306654" cy="942470"/>
            </a:xfrm>
            <a:prstGeom prst="bentConnector3">
              <a:avLst>
                <a:gd name="adj1" fmla="val 50000"/>
              </a:avLst>
            </a:prstGeom>
            <a:noFill/>
            <a:ln w="6350">
              <a:solidFill>
                <a:srgbClr val="888C91"/>
              </a:solidFill>
              <a:prstDash val="solid"/>
              <a:headEnd type="triangle" w="med" len="med"/>
              <a:tailEnd type="none" w="med" len="med"/>
            </a:ln>
          </p:spPr>
        </p:cxnSp>
        <p:sp>
          <p:nvSpPr>
            <p:cNvPr id="98" name="직사각형 97"/>
            <p:cNvSpPr/>
            <p:nvPr/>
          </p:nvSpPr>
          <p:spPr>
            <a:xfrm>
              <a:off x="6972988" y="1685133"/>
              <a:ext cx="876880" cy="663667"/>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marR="0" indent="0" algn="ctr" fontAlgn="auto">
                <a:lnSpc>
                  <a:spcPct val="100000"/>
                </a:lnSpc>
                <a:spcBef>
                  <a:spcPts val="0"/>
                </a:spcBef>
                <a:spcAft>
                  <a:spcPts val="0"/>
                </a:spcAft>
                <a:buClrTx/>
                <a:buSzTx/>
                <a:buFontTx/>
                <a:buNone/>
                <a:tabLst/>
                <a:defRPr/>
              </a:pPr>
              <a:r>
                <a:rPr lang="en-US" altLang="ko-KR" sz="1200" b="1" dirty="0">
                  <a:solidFill>
                    <a:prstClr val="black"/>
                  </a:solidFill>
                  <a:latin typeface="Calibri" panose="020F0502020204030204"/>
                </a:rPr>
                <a:t>Tool </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1" dirty="0">
                  <a:solidFill>
                    <a:schemeClr val="bg1">
                      <a:lumMod val="50000"/>
                    </a:schemeClr>
                  </a:solidFill>
                  <a:latin typeface="Calibri" panose="020F0502020204030204"/>
                  <a:ea typeface="맑은 고딕" panose="020B0503020000020004" pitchFamily="50" charset="-127"/>
                </a:rPr>
                <a:t>Web fetch, </a:t>
              </a:r>
              <a:r>
                <a:rPr lang="ko-KR" altLang="en-US" sz="800" b="1" dirty="0">
                  <a:solidFill>
                    <a:schemeClr val="bg1">
                      <a:lumMod val="50000"/>
                    </a:schemeClr>
                  </a:solidFill>
                  <a:latin typeface="Calibri" panose="020F0502020204030204"/>
                  <a:ea typeface="맑은 고딕" panose="020B0503020000020004" pitchFamily="50" charset="-127"/>
                </a:rPr>
                <a:t>스크립트 실행</a:t>
              </a:r>
              <a:r>
                <a:rPr lang="en-US" altLang="ko-KR" sz="800" b="1" dirty="0">
                  <a:solidFill>
                    <a:schemeClr val="bg1">
                      <a:lumMod val="50000"/>
                    </a:schemeClr>
                  </a:solidFill>
                  <a:latin typeface="Calibri" panose="020F0502020204030204"/>
                  <a:ea typeface="맑은 고딕" panose="020B0503020000020004" pitchFamily="50" charset="-127"/>
                </a:rPr>
                <a:t>, </a:t>
              </a:r>
              <a:r>
                <a:rPr lang="ko-KR" altLang="en-US" sz="800" b="1" dirty="0">
                  <a:solidFill>
                    <a:schemeClr val="bg1">
                      <a:lumMod val="50000"/>
                    </a:schemeClr>
                  </a:solidFill>
                  <a:latin typeface="Calibri" panose="020F0502020204030204"/>
                  <a:ea typeface="맑은 고딕" panose="020B0503020000020004" pitchFamily="50" charset="-127"/>
                </a:rPr>
                <a:t>계산기</a:t>
              </a:r>
              <a:r>
                <a:rPr lang="en-US" altLang="ko-KR" sz="800" b="1" dirty="0">
                  <a:solidFill>
                    <a:schemeClr val="bg1">
                      <a:lumMod val="50000"/>
                    </a:schemeClr>
                  </a:solidFill>
                  <a:latin typeface="Calibri" panose="020F0502020204030204"/>
                  <a:ea typeface="맑은 고딕" panose="020B0503020000020004" pitchFamily="50" charset="-127"/>
                </a:rPr>
                <a:t>, … </a:t>
              </a:r>
              <a:r>
                <a:rPr lang="ko-KR" altLang="en-US" sz="800" b="1" dirty="0">
                  <a:solidFill>
                    <a:schemeClr val="bg1">
                      <a:lumMod val="50000"/>
                    </a:schemeClr>
                  </a:solidFill>
                  <a:latin typeface="Calibri" panose="020F0502020204030204"/>
                  <a:ea typeface="맑은 고딕" panose="020B0503020000020004" pitchFamily="50" charset="-127"/>
                </a:rPr>
                <a:t> </a:t>
              </a:r>
            </a:p>
          </p:txBody>
        </p:sp>
        <p:cxnSp>
          <p:nvCxnSpPr>
            <p:cNvPr id="99" name="직선 화살표 연결선 185">
              <a:extLst>
                <a:ext uri="{FF2B5EF4-FFF2-40B4-BE49-F238E27FC236}">
                  <a16:creationId xmlns:a16="http://schemas.microsoft.com/office/drawing/2014/main" id="{C77B044C-CFD5-4C99-9B08-C9CDFDD38AC5}"/>
                </a:ext>
              </a:extLst>
            </p:cNvPr>
            <p:cNvCxnSpPr>
              <a:cxnSpLocks/>
              <a:stCxn id="98" idx="1"/>
              <a:endCxn id="84" idx="3"/>
            </p:cNvCxnSpPr>
            <p:nvPr/>
          </p:nvCxnSpPr>
          <p:spPr>
            <a:xfrm flipH="1" flipV="1">
              <a:off x="6733328" y="2015641"/>
              <a:ext cx="239660" cy="1326"/>
            </a:xfrm>
            <a:prstGeom prst="straightConnector1">
              <a:avLst/>
            </a:prstGeom>
            <a:noFill/>
            <a:ln w="6350">
              <a:solidFill>
                <a:srgbClr val="888C91"/>
              </a:solidFill>
              <a:prstDash val="solid"/>
              <a:headEnd type="triangle" w="med" len="med"/>
              <a:tailEnd type="none" w="med" len="med"/>
            </a:ln>
          </p:spPr>
        </p:cxnSp>
        <p:pic>
          <p:nvPicPr>
            <p:cNvPr id="100" name="Picture 20" descr="Welcome to vLLM — vLLM">
              <a:extLst>
                <a:ext uri="{FF2B5EF4-FFF2-40B4-BE49-F238E27FC236}">
                  <a16:creationId xmlns:a16="http://schemas.microsoft.com/office/drawing/2014/main" id="{9884D772-A696-C6F1-82A5-9A35E51C035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63869" y="3909451"/>
              <a:ext cx="575821" cy="183699"/>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4" descr="Pris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84069" y="3092071"/>
              <a:ext cx="541224" cy="182129"/>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2" descr="OpenCode, 오픈소스 AI 코딩 에이전트의 가능성과 현실 - 박재홍의 실리콘밸리"/>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13102" y="1766483"/>
              <a:ext cx="364235" cy="225684"/>
            </a:xfrm>
            <a:prstGeom prst="rect">
              <a:avLst/>
            </a:prstGeom>
            <a:noFill/>
            <a:extLst>
              <a:ext uri="{909E8E84-426E-40DD-AFC4-6F175D3DCCD1}">
                <a14:hiddenFill xmlns:a14="http://schemas.microsoft.com/office/drawing/2010/main">
                  <a:solidFill>
                    <a:srgbClr val="FFFFFF"/>
                  </a:solidFill>
                </a14:hiddenFill>
              </a:ext>
            </a:extLst>
          </p:spPr>
        </p:pic>
        <p:sp>
          <p:nvSpPr>
            <p:cNvPr id="103" name="직사각형 102"/>
            <p:cNvSpPr/>
            <p:nvPr/>
          </p:nvSpPr>
          <p:spPr>
            <a:xfrm>
              <a:off x="3378450" y="2552220"/>
              <a:ext cx="2026092" cy="129700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직사각형 103"/>
            <p:cNvSpPr/>
            <p:nvPr/>
          </p:nvSpPr>
          <p:spPr>
            <a:xfrm>
              <a:off x="5850247" y="3322867"/>
              <a:ext cx="1865308" cy="4986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lvl="0" algn="ctr">
                <a:defRPr/>
              </a:pPr>
              <a:r>
                <a:rPr lang="en-US" altLang="ko-KR" sz="1200" b="1">
                  <a:solidFill>
                    <a:schemeClr val="tx1"/>
                  </a:solidFill>
                  <a:latin typeface="Calibri" panose="020F0502020204030204"/>
                </a:rPr>
                <a:t>Network Library</a:t>
              </a:r>
            </a:p>
            <a:p>
              <a:pPr algn="ctr">
                <a:defRPr/>
              </a:pPr>
              <a:r>
                <a:rPr lang="ko-KR" altLang="en-US" sz="800" b="1">
                  <a:solidFill>
                    <a:schemeClr val="bg1">
                      <a:lumMod val="50000"/>
                    </a:schemeClr>
                  </a:solidFill>
                  <a:latin typeface="Calibri" panose="020F0502020204030204"/>
                </a:rPr>
                <a:t>연산 함수 제공 </a:t>
              </a:r>
            </a:p>
          </p:txBody>
        </p:sp>
        <p:sp>
          <p:nvSpPr>
            <p:cNvPr id="105" name="모서리가 둥근 직사각형 104"/>
            <p:cNvSpPr/>
            <p:nvPr/>
          </p:nvSpPr>
          <p:spPr>
            <a:xfrm>
              <a:off x="3066450" y="925284"/>
              <a:ext cx="4824792" cy="5499063"/>
            </a:xfrm>
            <a:prstGeom prst="roundRect">
              <a:avLst>
                <a:gd name="adj" fmla="val 2369"/>
              </a:avLst>
            </a:prstGeom>
            <a:noFill/>
            <a:ln w="1905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양쪽 모서리가 잘린 사각형 105"/>
            <p:cNvSpPr/>
            <p:nvPr/>
          </p:nvSpPr>
          <p:spPr>
            <a:xfrm>
              <a:off x="3059952" y="717570"/>
              <a:ext cx="4830981" cy="328694"/>
            </a:xfrm>
            <a:prstGeom prst="snip2SameRect">
              <a:avLst/>
            </a:prstGeom>
            <a:solidFill>
              <a:srgbClr val="333F50"/>
            </a:solidFill>
            <a:ln>
              <a:noFill/>
            </a:ln>
          </p:spPr>
          <p:style>
            <a:lnRef idx="2">
              <a:schemeClr val="accent1">
                <a:shade val="50000"/>
              </a:schemeClr>
            </a:lnRef>
            <a:fillRef idx="1">
              <a:schemeClr val="accent1"/>
            </a:fillRef>
            <a:effectRef idx="0">
              <a:schemeClr val="accent1"/>
            </a:effectRef>
            <a:fontRef idx="minor">
              <a:schemeClr val="lt1"/>
            </a:fontRef>
          </p:style>
          <p:txBody>
            <a:bodyPr lIns="91434" tIns="45718" rIns="91434" bIns="45718" rtlCol="0" anchor="ctr"/>
            <a:lstStyle/>
            <a:p>
              <a:pPr algn="ctr"/>
              <a:r>
                <a:rPr lang="ko-KR" altLang="en-US" sz="1200" b="1" dirty="0">
                  <a:latin typeface="+mn-ea"/>
                </a:rPr>
                <a:t>과제 범위</a:t>
              </a:r>
            </a:p>
          </p:txBody>
        </p:sp>
        <p:pic>
          <p:nvPicPr>
            <p:cNvPr id="107" name="Picture 10" descr="Learning PyTorch: The Basic Program Structure | by Dagang Wei | Medium">
              <a:extLst>
                <a:ext uri="{FF2B5EF4-FFF2-40B4-BE49-F238E27FC236}">
                  <a16:creationId xmlns:a16="http://schemas.microsoft.com/office/drawing/2014/main" id="{B7B9C22F-82A6-003F-3AC0-C06AD410E2DE}"/>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r="66105"/>
            <a:stretch/>
          </p:blipFill>
          <p:spPr bwMode="auto">
            <a:xfrm>
              <a:off x="5926757" y="2780820"/>
              <a:ext cx="276305" cy="357423"/>
            </a:xfrm>
            <a:prstGeom prst="rect">
              <a:avLst/>
            </a:prstGeom>
            <a:noFill/>
          </p:spPr>
        </p:pic>
        <p:pic>
          <p:nvPicPr>
            <p:cNvPr id="108" name="그림 107"/>
            <p:cNvPicPr>
              <a:picLocks noChangeAspect="1"/>
            </p:cNvPicPr>
            <p:nvPr/>
          </p:nvPicPr>
          <p:blipFill rotWithShape="1">
            <a:blip r:embed="rId7"/>
            <a:srcRect r="22427" b="34194"/>
            <a:stretch/>
          </p:blipFill>
          <p:spPr>
            <a:xfrm>
              <a:off x="5905707" y="2657416"/>
              <a:ext cx="275589" cy="172166"/>
            </a:xfrm>
            <a:prstGeom prst="rect">
              <a:avLst/>
            </a:prstGeom>
          </p:spPr>
        </p:pic>
        <p:cxnSp>
          <p:nvCxnSpPr>
            <p:cNvPr id="109" name="직선 화살표 연결선 185">
              <a:extLst>
                <a:ext uri="{FF2B5EF4-FFF2-40B4-BE49-F238E27FC236}">
                  <a16:creationId xmlns:a16="http://schemas.microsoft.com/office/drawing/2014/main" id="{C77B044C-CFD5-4C99-9B08-C9CDFDD38AC5}"/>
                </a:ext>
              </a:extLst>
            </p:cNvPr>
            <p:cNvCxnSpPr>
              <a:cxnSpLocks/>
              <a:stCxn id="86" idx="1"/>
              <a:endCxn id="87" idx="3"/>
            </p:cNvCxnSpPr>
            <p:nvPr/>
          </p:nvCxnSpPr>
          <p:spPr>
            <a:xfrm rot="10800000" flipV="1">
              <a:off x="5358014" y="2873274"/>
              <a:ext cx="492235" cy="694508"/>
            </a:xfrm>
            <a:prstGeom prst="bentConnector3">
              <a:avLst>
                <a:gd name="adj1" fmla="val 50000"/>
              </a:avLst>
            </a:prstGeom>
            <a:noFill/>
            <a:ln w="6350">
              <a:solidFill>
                <a:srgbClr val="888C91"/>
              </a:solidFill>
              <a:prstDash val="solid"/>
              <a:headEnd type="triangle" w="med" len="med"/>
              <a:tailEnd type="none" w="med" len="med"/>
            </a:ln>
          </p:spPr>
        </p:cxnSp>
        <p:cxnSp>
          <p:nvCxnSpPr>
            <p:cNvPr id="110" name="직선 화살표 연결선 185">
              <a:extLst>
                <a:ext uri="{FF2B5EF4-FFF2-40B4-BE49-F238E27FC236}">
                  <a16:creationId xmlns:a16="http://schemas.microsoft.com/office/drawing/2014/main" id="{C77B044C-CFD5-4C99-9B08-C9CDFDD38AC5}"/>
                </a:ext>
              </a:extLst>
            </p:cNvPr>
            <p:cNvCxnSpPr>
              <a:cxnSpLocks/>
            </p:cNvCxnSpPr>
            <p:nvPr/>
          </p:nvCxnSpPr>
          <p:spPr>
            <a:xfrm flipV="1">
              <a:off x="6401234" y="3825578"/>
              <a:ext cx="0" cy="425073"/>
            </a:xfrm>
            <a:prstGeom prst="straightConnector1">
              <a:avLst/>
            </a:prstGeom>
            <a:noFill/>
            <a:ln w="6350">
              <a:solidFill>
                <a:srgbClr val="888C91"/>
              </a:solidFill>
              <a:prstDash val="solid"/>
              <a:headEnd type="triangle" w="med" len="med"/>
              <a:tailEnd type="none" w="med" len="med"/>
            </a:ln>
          </p:spPr>
        </p:cxnSp>
        <p:sp>
          <p:nvSpPr>
            <p:cNvPr id="111" name="실행 단추: 앞으로 또는 다음 110">
              <a:hlinkClick r:id="" action="ppaction://noaction" highlightClick="1"/>
            </p:cNvPr>
            <p:cNvSpPr/>
            <p:nvPr/>
          </p:nvSpPr>
          <p:spPr>
            <a:xfrm>
              <a:off x="5039692" y="3919715"/>
              <a:ext cx="278562" cy="150490"/>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3" name="직사각형 112"/>
            <p:cNvSpPr/>
            <p:nvPr/>
          </p:nvSpPr>
          <p:spPr>
            <a:xfrm>
              <a:off x="3399220" y="5466703"/>
              <a:ext cx="666903" cy="3154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R="0" indent="0" algn="ctr" fontAlgn="auto">
                <a:lnSpc>
                  <a:spcPct val="100000"/>
                </a:lnSpc>
                <a:spcBef>
                  <a:spcPts val="0"/>
                </a:spcBef>
                <a:spcAft>
                  <a:spcPts val="0"/>
                </a:spcAft>
                <a:buClrTx/>
                <a:buSzTx/>
                <a:buFontTx/>
                <a:buNone/>
                <a:tabLst/>
                <a:defRPr/>
              </a:pPr>
              <a:r>
                <a:rPr lang="en-US" altLang="ko-KR" sz="1100" b="1" dirty="0">
                  <a:solidFill>
                    <a:prstClr val="black"/>
                  </a:solidFill>
                  <a:latin typeface="Calibri" panose="020F0502020204030204"/>
                </a:rPr>
                <a:t>HBM</a:t>
              </a:r>
              <a:endParaRPr lang="ko-KR" altLang="en-US" sz="800" b="1" dirty="0">
                <a:solidFill>
                  <a:prstClr val="black"/>
                </a:solidFill>
                <a:latin typeface="Calibri" panose="020F0502020204030204"/>
              </a:endParaRPr>
            </a:p>
          </p:txBody>
        </p:sp>
        <p:sp>
          <p:nvSpPr>
            <p:cNvPr id="114" name="직사각형 113"/>
            <p:cNvSpPr/>
            <p:nvPr/>
          </p:nvSpPr>
          <p:spPr>
            <a:xfrm>
              <a:off x="4153495" y="5466703"/>
              <a:ext cx="806952" cy="3154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R="0" indent="0" algn="ctr" fontAlgn="auto">
                <a:lnSpc>
                  <a:spcPct val="100000"/>
                </a:lnSpc>
                <a:spcBef>
                  <a:spcPts val="0"/>
                </a:spcBef>
                <a:spcAft>
                  <a:spcPts val="0"/>
                </a:spcAft>
                <a:buClrTx/>
                <a:buSzTx/>
                <a:buFontTx/>
                <a:buNone/>
                <a:tabLst/>
                <a:defRPr/>
              </a:pPr>
              <a:r>
                <a:rPr lang="en-US" altLang="ko-KR" sz="1100" b="1" dirty="0">
                  <a:solidFill>
                    <a:prstClr val="black"/>
                  </a:solidFill>
                  <a:latin typeface="Calibri" panose="020F0502020204030204"/>
                </a:rPr>
                <a:t>DRAM</a:t>
              </a:r>
              <a:endParaRPr lang="ko-KR" altLang="en-US" sz="800" b="1" dirty="0">
                <a:solidFill>
                  <a:prstClr val="black"/>
                </a:solidFill>
                <a:latin typeface="Calibri" panose="020F0502020204030204"/>
              </a:endParaRPr>
            </a:p>
          </p:txBody>
        </p:sp>
        <p:sp>
          <p:nvSpPr>
            <p:cNvPr id="115" name="직사각형 114"/>
            <p:cNvSpPr/>
            <p:nvPr/>
          </p:nvSpPr>
          <p:spPr>
            <a:xfrm>
              <a:off x="4817315" y="5022253"/>
              <a:ext cx="666903" cy="3154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R="0" indent="0" algn="ctr" fontAlgn="auto">
                <a:lnSpc>
                  <a:spcPct val="100000"/>
                </a:lnSpc>
                <a:spcBef>
                  <a:spcPts val="0"/>
                </a:spcBef>
                <a:spcAft>
                  <a:spcPts val="0"/>
                </a:spcAft>
                <a:buClrTx/>
                <a:buSzTx/>
                <a:buFontTx/>
                <a:buNone/>
                <a:tabLst/>
                <a:defRPr/>
              </a:pPr>
              <a:r>
                <a:rPr lang="en-US" altLang="ko-KR" sz="1100" b="1" dirty="0">
                  <a:solidFill>
                    <a:prstClr val="black"/>
                  </a:solidFill>
                  <a:latin typeface="Calibri" panose="020F0502020204030204"/>
                </a:rPr>
                <a:t>CPU </a:t>
              </a:r>
              <a:endParaRPr lang="ko-KR" altLang="en-US" sz="800" b="1" dirty="0">
                <a:solidFill>
                  <a:prstClr val="black"/>
                </a:solidFill>
                <a:latin typeface="Calibri" panose="020F0502020204030204"/>
              </a:endParaRPr>
            </a:p>
          </p:txBody>
        </p:sp>
        <p:sp>
          <p:nvSpPr>
            <p:cNvPr id="116" name="직사각형 115"/>
            <p:cNvSpPr/>
            <p:nvPr/>
          </p:nvSpPr>
          <p:spPr>
            <a:xfrm>
              <a:off x="5073877" y="5465017"/>
              <a:ext cx="976414" cy="315422"/>
            </a:xfrm>
            <a:prstGeom prst="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marR="0" indent="0" algn="ctr" fontAlgn="auto">
                <a:lnSpc>
                  <a:spcPct val="100000"/>
                </a:lnSpc>
                <a:spcBef>
                  <a:spcPts val="0"/>
                </a:spcBef>
                <a:spcAft>
                  <a:spcPts val="0"/>
                </a:spcAft>
                <a:buClrTx/>
                <a:buSzTx/>
                <a:buFontTx/>
                <a:buNone/>
                <a:tabLst/>
                <a:defRPr/>
              </a:pPr>
              <a:r>
                <a:rPr lang="en-US" altLang="ko-KR" sz="1100" b="1" dirty="0">
                  <a:solidFill>
                    <a:prstClr val="black"/>
                  </a:solidFill>
                  <a:latin typeface="Calibri" panose="020F0502020204030204"/>
                </a:rPr>
                <a:t>CXL-Memory</a:t>
              </a:r>
              <a:endParaRPr lang="ko-KR" altLang="en-US" sz="800" b="1" dirty="0">
                <a:solidFill>
                  <a:prstClr val="black"/>
                </a:solidFill>
                <a:latin typeface="Calibri" panose="020F0502020204030204"/>
              </a:endParaRPr>
            </a:p>
          </p:txBody>
        </p:sp>
        <p:cxnSp>
          <p:nvCxnSpPr>
            <p:cNvPr id="117" name="직선 연결선 116"/>
            <p:cNvCxnSpPr>
              <a:stCxn id="89" idx="2"/>
              <a:endCxn id="113" idx="0"/>
            </p:cNvCxnSpPr>
            <p:nvPr/>
          </p:nvCxnSpPr>
          <p:spPr>
            <a:xfrm>
              <a:off x="3732671" y="5337675"/>
              <a:ext cx="0" cy="1290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 name="직선 연결선 117"/>
            <p:cNvCxnSpPr>
              <a:stCxn id="115" idx="2"/>
              <a:endCxn id="114" idx="0"/>
            </p:cNvCxnSpPr>
            <p:nvPr/>
          </p:nvCxnSpPr>
          <p:spPr>
            <a:xfrm flipH="1">
              <a:off x="4556971" y="5337675"/>
              <a:ext cx="593795" cy="1290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 name="직선 연결선 118"/>
            <p:cNvCxnSpPr>
              <a:stCxn id="115" idx="2"/>
              <a:endCxn id="116" idx="0"/>
            </p:cNvCxnSpPr>
            <p:nvPr/>
          </p:nvCxnSpPr>
          <p:spPr>
            <a:xfrm>
              <a:off x="5150766" y="5337675"/>
              <a:ext cx="411318" cy="12734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0" name="직사각형 119"/>
            <p:cNvSpPr/>
            <p:nvPr/>
          </p:nvSpPr>
          <p:spPr>
            <a:xfrm>
              <a:off x="6890889" y="5465017"/>
              <a:ext cx="666903" cy="3154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R="0" indent="0" algn="ctr" fontAlgn="auto">
                <a:lnSpc>
                  <a:spcPct val="100000"/>
                </a:lnSpc>
                <a:spcBef>
                  <a:spcPts val="0"/>
                </a:spcBef>
                <a:spcAft>
                  <a:spcPts val="0"/>
                </a:spcAft>
                <a:buClrTx/>
                <a:buSzTx/>
                <a:buFontTx/>
                <a:buNone/>
                <a:tabLst/>
                <a:defRPr/>
              </a:pPr>
              <a:r>
                <a:rPr lang="en-US" altLang="ko-KR" sz="1100" b="1" dirty="0">
                  <a:solidFill>
                    <a:prstClr val="black"/>
                  </a:solidFill>
                  <a:latin typeface="Calibri" panose="020F0502020204030204"/>
                </a:rPr>
                <a:t>SSD</a:t>
              </a:r>
              <a:endParaRPr lang="ko-KR" altLang="en-US" sz="800" b="1" dirty="0">
                <a:solidFill>
                  <a:prstClr val="black"/>
                </a:solidFill>
                <a:latin typeface="Calibri" panose="020F0502020204030204"/>
              </a:endParaRPr>
            </a:p>
          </p:txBody>
        </p:sp>
        <p:cxnSp>
          <p:nvCxnSpPr>
            <p:cNvPr id="121" name="직선 연결선 120"/>
            <p:cNvCxnSpPr>
              <a:stCxn id="115" idx="2"/>
              <a:endCxn id="120" idx="0"/>
            </p:cNvCxnSpPr>
            <p:nvPr/>
          </p:nvCxnSpPr>
          <p:spPr>
            <a:xfrm>
              <a:off x="5150766" y="5337675"/>
              <a:ext cx="2073574" cy="12734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 name="직선 화살표 연결선 185">
              <a:extLst>
                <a:ext uri="{FF2B5EF4-FFF2-40B4-BE49-F238E27FC236}">
                  <a16:creationId xmlns:a16="http://schemas.microsoft.com/office/drawing/2014/main" id="{C77B044C-CFD5-4C99-9B08-C9CDFDD38AC5}"/>
                </a:ext>
              </a:extLst>
            </p:cNvPr>
            <p:cNvCxnSpPr>
              <a:cxnSpLocks/>
              <a:stCxn id="89" idx="0"/>
              <a:endCxn id="88" idx="2"/>
            </p:cNvCxnSpPr>
            <p:nvPr/>
          </p:nvCxnSpPr>
          <p:spPr>
            <a:xfrm rot="5400000" flipH="1" flipV="1">
              <a:off x="4509246" y="3927370"/>
              <a:ext cx="318308" cy="1871458"/>
            </a:xfrm>
            <a:prstGeom prst="bentConnector3">
              <a:avLst>
                <a:gd name="adj1" fmla="val 50000"/>
              </a:avLst>
            </a:prstGeom>
            <a:noFill/>
            <a:ln w="6350">
              <a:solidFill>
                <a:srgbClr val="888C91"/>
              </a:solidFill>
              <a:prstDash val="solid"/>
              <a:headEnd type="triangle" w="med" len="med"/>
              <a:tailEnd type="none" w="med" len="med"/>
            </a:ln>
          </p:spPr>
        </p:cxnSp>
        <p:sp>
          <p:nvSpPr>
            <p:cNvPr id="123" name="직사각형 122"/>
            <p:cNvSpPr/>
            <p:nvPr/>
          </p:nvSpPr>
          <p:spPr>
            <a:xfrm>
              <a:off x="5118261" y="5907781"/>
              <a:ext cx="887649" cy="315422"/>
            </a:xfrm>
            <a:prstGeom prst="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marR="0" indent="0" algn="ctr" fontAlgn="auto">
                <a:lnSpc>
                  <a:spcPct val="100000"/>
                </a:lnSpc>
                <a:spcBef>
                  <a:spcPts val="0"/>
                </a:spcBef>
                <a:spcAft>
                  <a:spcPts val="0"/>
                </a:spcAft>
                <a:buClrTx/>
                <a:buSzTx/>
                <a:buFontTx/>
                <a:buNone/>
                <a:tabLst/>
                <a:defRPr/>
              </a:pPr>
              <a:r>
                <a:rPr lang="en-US" altLang="ko-KR" sz="1100" b="1" dirty="0">
                  <a:solidFill>
                    <a:prstClr val="black"/>
                  </a:solidFill>
                  <a:latin typeface="Calibri" panose="020F0502020204030204"/>
                </a:rPr>
                <a:t>CXL-PNM</a:t>
              </a:r>
              <a:endParaRPr lang="ko-KR" altLang="en-US" sz="800" b="1" dirty="0">
                <a:solidFill>
                  <a:prstClr val="black"/>
                </a:solidFill>
                <a:latin typeface="Calibri" panose="020F0502020204030204"/>
              </a:endParaRPr>
            </a:p>
          </p:txBody>
        </p:sp>
        <p:sp>
          <p:nvSpPr>
            <p:cNvPr id="124" name="직사각형 123"/>
            <p:cNvSpPr/>
            <p:nvPr/>
          </p:nvSpPr>
          <p:spPr>
            <a:xfrm>
              <a:off x="6603694" y="5022253"/>
              <a:ext cx="861728" cy="315422"/>
            </a:xfrm>
            <a:prstGeom prst="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marR="0" indent="0" algn="ctr" fontAlgn="auto">
                <a:lnSpc>
                  <a:spcPct val="100000"/>
                </a:lnSpc>
                <a:spcBef>
                  <a:spcPts val="0"/>
                </a:spcBef>
                <a:spcAft>
                  <a:spcPts val="0"/>
                </a:spcAft>
                <a:buClrTx/>
                <a:buSzTx/>
                <a:buFontTx/>
                <a:buNone/>
                <a:tabLst/>
                <a:defRPr/>
              </a:pPr>
              <a:r>
                <a:rPr lang="en-US" altLang="ko-KR" sz="1100" b="1" dirty="0" err="1">
                  <a:solidFill>
                    <a:prstClr val="black"/>
                  </a:solidFill>
                  <a:latin typeface="Calibri" panose="020F0502020204030204"/>
                </a:rPr>
                <a:t>ScHBM</a:t>
              </a:r>
              <a:endParaRPr lang="ko-KR" altLang="en-US" sz="800" b="1" dirty="0">
                <a:solidFill>
                  <a:prstClr val="black"/>
                </a:solidFill>
                <a:latin typeface="Calibri" panose="020F0502020204030204"/>
              </a:endParaRPr>
            </a:p>
          </p:txBody>
        </p:sp>
        <p:cxnSp>
          <p:nvCxnSpPr>
            <p:cNvPr id="125" name="직선 화살표 연결선 185">
              <a:extLst>
                <a:ext uri="{FF2B5EF4-FFF2-40B4-BE49-F238E27FC236}">
                  <a16:creationId xmlns:a16="http://schemas.microsoft.com/office/drawing/2014/main" id="{C77B044C-CFD5-4C99-9B08-C9CDFDD38AC5}"/>
                </a:ext>
              </a:extLst>
            </p:cNvPr>
            <p:cNvCxnSpPr>
              <a:cxnSpLocks/>
              <a:stCxn id="124" idx="0"/>
              <a:endCxn id="88" idx="2"/>
            </p:cNvCxnSpPr>
            <p:nvPr/>
          </p:nvCxnSpPr>
          <p:spPr>
            <a:xfrm rot="16200000" flipV="1">
              <a:off x="6160190" y="4147884"/>
              <a:ext cx="318308" cy="1430430"/>
            </a:xfrm>
            <a:prstGeom prst="bentConnector3">
              <a:avLst>
                <a:gd name="adj1" fmla="val 50000"/>
              </a:avLst>
            </a:prstGeom>
            <a:noFill/>
            <a:ln w="6350">
              <a:solidFill>
                <a:srgbClr val="888C91"/>
              </a:solidFill>
              <a:prstDash val="solid"/>
              <a:headEnd type="triangle" w="med" len="med"/>
              <a:tailEnd type="none" w="med" len="med"/>
            </a:ln>
          </p:spPr>
        </p:cxnSp>
        <p:sp>
          <p:nvSpPr>
            <p:cNvPr id="126" name="직사각형 125"/>
            <p:cNvSpPr/>
            <p:nvPr/>
          </p:nvSpPr>
          <p:spPr>
            <a:xfrm>
              <a:off x="6890889" y="5884226"/>
              <a:ext cx="666903" cy="315422"/>
            </a:xfrm>
            <a:prstGeom prst="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marR="0" indent="0" algn="ctr" fontAlgn="auto">
                <a:lnSpc>
                  <a:spcPct val="100000"/>
                </a:lnSpc>
                <a:spcBef>
                  <a:spcPts val="0"/>
                </a:spcBef>
                <a:spcAft>
                  <a:spcPts val="0"/>
                </a:spcAft>
                <a:buClrTx/>
                <a:buSzTx/>
                <a:buFontTx/>
                <a:buNone/>
                <a:tabLst/>
                <a:defRPr/>
              </a:pPr>
              <a:r>
                <a:rPr lang="en-US" altLang="ko-KR" sz="1100" b="1" dirty="0">
                  <a:solidFill>
                    <a:prstClr val="black"/>
                  </a:solidFill>
                  <a:latin typeface="Calibri" panose="020F0502020204030204"/>
                </a:rPr>
                <a:t>PIM</a:t>
              </a:r>
              <a:endParaRPr lang="ko-KR" altLang="en-US" sz="800" b="1" dirty="0">
                <a:solidFill>
                  <a:prstClr val="black"/>
                </a:solidFill>
                <a:latin typeface="Calibri" panose="020F0502020204030204"/>
              </a:endParaRPr>
            </a:p>
          </p:txBody>
        </p:sp>
        <p:cxnSp>
          <p:nvCxnSpPr>
            <p:cNvPr id="127" name="직선 연결선 126"/>
            <p:cNvCxnSpPr>
              <a:stCxn id="120" idx="2"/>
              <a:endCxn id="126" idx="0"/>
            </p:cNvCxnSpPr>
            <p:nvPr/>
          </p:nvCxnSpPr>
          <p:spPr>
            <a:xfrm>
              <a:off x="7224341" y="5780439"/>
              <a:ext cx="0" cy="10378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8" name="직사각형 127"/>
            <p:cNvSpPr/>
            <p:nvPr/>
          </p:nvSpPr>
          <p:spPr>
            <a:xfrm>
              <a:off x="6186000" y="5465017"/>
              <a:ext cx="614531" cy="315422"/>
            </a:xfrm>
            <a:prstGeom prst="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marR="0" indent="0" algn="ctr" fontAlgn="auto">
                <a:lnSpc>
                  <a:spcPct val="100000"/>
                </a:lnSpc>
                <a:spcBef>
                  <a:spcPts val="0"/>
                </a:spcBef>
                <a:spcAft>
                  <a:spcPts val="0"/>
                </a:spcAft>
                <a:buClrTx/>
                <a:buSzTx/>
                <a:buFontTx/>
                <a:buNone/>
                <a:tabLst/>
                <a:defRPr/>
              </a:pPr>
              <a:r>
                <a:rPr lang="en-US" altLang="ko-KR" sz="1100" b="1" dirty="0">
                  <a:solidFill>
                    <a:prstClr val="black"/>
                  </a:solidFill>
                  <a:latin typeface="Calibri" panose="020F0502020204030204"/>
                </a:rPr>
                <a:t>HBF</a:t>
              </a:r>
              <a:endParaRPr lang="ko-KR" altLang="en-US" sz="800" b="1" dirty="0">
                <a:solidFill>
                  <a:prstClr val="black"/>
                </a:solidFill>
                <a:latin typeface="Calibri" panose="020F0502020204030204"/>
              </a:endParaRPr>
            </a:p>
          </p:txBody>
        </p:sp>
        <p:cxnSp>
          <p:nvCxnSpPr>
            <p:cNvPr id="129" name="직선 연결선 128"/>
            <p:cNvCxnSpPr>
              <a:stCxn id="115" idx="2"/>
              <a:endCxn id="128" idx="0"/>
            </p:cNvCxnSpPr>
            <p:nvPr/>
          </p:nvCxnSpPr>
          <p:spPr>
            <a:xfrm>
              <a:off x="5150766" y="5337675"/>
              <a:ext cx="1342498" cy="12734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a:stCxn id="116" idx="2"/>
              <a:endCxn id="123" idx="0"/>
            </p:cNvCxnSpPr>
            <p:nvPr/>
          </p:nvCxnSpPr>
          <p:spPr>
            <a:xfrm>
              <a:off x="5562084" y="5780439"/>
              <a:ext cx="1" cy="12734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31" name="직사각형 130"/>
          <p:cNvSpPr/>
          <p:nvPr/>
        </p:nvSpPr>
        <p:spPr>
          <a:xfrm>
            <a:off x="5881185" y="5862056"/>
            <a:ext cx="749883" cy="267872"/>
          </a:xfrm>
          <a:prstGeom prst="rect">
            <a:avLst/>
          </a:prstGeom>
          <a:solidFill>
            <a:schemeClr val="accent1">
              <a:lumMod val="20000"/>
              <a:lumOff val="80000"/>
            </a:schemeClr>
          </a:solidFill>
          <a:ln w="9525"/>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b="1" dirty="0">
                <a:solidFill>
                  <a:schemeClr val="tx1"/>
                </a:solidFill>
                <a:latin typeface="Calibri" panose="020F0502020204030204"/>
              </a:rPr>
              <a:t>오픈소스 </a:t>
            </a:r>
            <a:r>
              <a:rPr lang="en-US" altLang="ko-KR" sz="800" b="1" dirty="0">
                <a:solidFill>
                  <a:schemeClr val="tx1"/>
                </a:solidFill>
                <a:latin typeface="Calibri" panose="020F0502020204030204"/>
              </a:rPr>
              <a:t>FW </a:t>
            </a:r>
            <a:r>
              <a:rPr lang="ko-KR" altLang="en-US" sz="800" b="1" dirty="0">
                <a:solidFill>
                  <a:schemeClr val="tx1"/>
                </a:solidFill>
                <a:latin typeface="Calibri" panose="020F0502020204030204"/>
              </a:rPr>
              <a:t>확장 </a:t>
            </a:r>
          </a:p>
        </p:txBody>
      </p:sp>
      <p:sp>
        <p:nvSpPr>
          <p:cNvPr id="133" name="직사각형 132"/>
          <p:cNvSpPr/>
          <p:nvPr/>
        </p:nvSpPr>
        <p:spPr>
          <a:xfrm>
            <a:off x="5877827" y="6150573"/>
            <a:ext cx="742663" cy="221382"/>
          </a:xfrm>
          <a:prstGeom prst="rect">
            <a:avLst/>
          </a:prstGeom>
          <a:solidFill>
            <a:schemeClr val="accent4">
              <a:lumMod val="20000"/>
              <a:lumOff val="80000"/>
            </a:schemeClr>
          </a:solidFill>
          <a:ln w="9525"/>
        </p:spPr>
        <p:style>
          <a:lnRef idx="2">
            <a:schemeClr val="dk1"/>
          </a:lnRef>
          <a:fillRef idx="1">
            <a:schemeClr val="lt1"/>
          </a:fillRef>
          <a:effectRef idx="0">
            <a:schemeClr val="dk1"/>
          </a:effectRef>
          <a:fontRef idx="minor">
            <a:schemeClr val="dk1"/>
          </a:fontRef>
        </p:style>
        <p:txBody>
          <a:bodyPr rtlCol="0" anchor="ctr"/>
          <a:lstStyle/>
          <a:p>
            <a:pPr algn="ctr"/>
            <a:r>
              <a:rPr lang="ko-KR" altLang="en-US" sz="800" b="1" dirty="0">
                <a:solidFill>
                  <a:prstClr val="black"/>
                </a:solidFill>
                <a:latin typeface="Calibri" panose="020F0502020204030204"/>
              </a:rPr>
              <a:t>신규 메모리</a:t>
            </a:r>
          </a:p>
        </p:txBody>
      </p:sp>
      <p:sp>
        <p:nvSpPr>
          <p:cNvPr id="134" name="모서리가 둥근 직사각형 133"/>
          <p:cNvSpPr/>
          <p:nvPr/>
        </p:nvSpPr>
        <p:spPr>
          <a:xfrm>
            <a:off x="10526187" y="923476"/>
            <a:ext cx="1418987" cy="5526039"/>
          </a:xfrm>
          <a:prstGeom prst="roundRect">
            <a:avLst>
              <a:gd name="adj" fmla="val 2369"/>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5" name="양쪽 모서리가 잘린 사각형 134"/>
          <p:cNvSpPr/>
          <p:nvPr/>
        </p:nvSpPr>
        <p:spPr>
          <a:xfrm>
            <a:off x="10526187" y="717570"/>
            <a:ext cx="1418988" cy="318961"/>
          </a:xfrm>
          <a:prstGeom prst="snip2SameRect">
            <a:avLst/>
          </a:prstGeom>
          <a:solidFill>
            <a:srgbClr val="33513D"/>
          </a:solidFill>
          <a:ln>
            <a:noFill/>
          </a:ln>
        </p:spPr>
        <p:style>
          <a:lnRef idx="2">
            <a:schemeClr val="accent1">
              <a:shade val="50000"/>
            </a:schemeClr>
          </a:lnRef>
          <a:fillRef idx="1">
            <a:schemeClr val="accent1"/>
          </a:fillRef>
          <a:effectRef idx="0">
            <a:schemeClr val="accent1"/>
          </a:effectRef>
          <a:fontRef idx="minor">
            <a:schemeClr val="lt1"/>
          </a:fontRef>
        </p:style>
        <p:txBody>
          <a:bodyPr lIns="91434" tIns="45718" rIns="91434" bIns="45718" rtlCol="0" anchor="ctr"/>
          <a:lstStyle/>
          <a:p>
            <a:pPr algn="ctr"/>
            <a:r>
              <a:rPr lang="en-US" altLang="ko-KR" sz="1200" b="1" dirty="0">
                <a:latin typeface="+mn-ea"/>
              </a:rPr>
              <a:t>Target Memory</a:t>
            </a:r>
            <a:endParaRPr lang="ko-KR" altLang="en-US" sz="1200" b="1" dirty="0">
              <a:latin typeface="+mn-ea"/>
            </a:endParaRPr>
          </a:p>
        </p:txBody>
      </p:sp>
      <p:grpSp>
        <p:nvGrpSpPr>
          <p:cNvPr id="136" name="그룹 135"/>
          <p:cNvGrpSpPr/>
          <p:nvPr/>
        </p:nvGrpSpPr>
        <p:grpSpPr>
          <a:xfrm>
            <a:off x="10685458" y="4729113"/>
            <a:ext cx="1063160" cy="1316778"/>
            <a:chOff x="10380055" y="2623962"/>
            <a:chExt cx="1286424" cy="1316778"/>
          </a:xfrm>
        </p:grpSpPr>
        <p:pic>
          <p:nvPicPr>
            <p:cNvPr id="137" name="그림 136"/>
            <p:cNvPicPr>
              <a:picLocks noChangeAspect="1"/>
            </p:cNvPicPr>
            <p:nvPr/>
          </p:nvPicPr>
          <p:blipFill rotWithShape="1">
            <a:blip r:embed="rId8"/>
            <a:srcRect l="8565" t="2372" r="9981" b="34301"/>
            <a:stretch/>
          </p:blipFill>
          <p:spPr>
            <a:xfrm>
              <a:off x="10380055" y="2623962"/>
              <a:ext cx="1286424" cy="1094829"/>
            </a:xfrm>
            <a:prstGeom prst="rect">
              <a:avLst/>
            </a:prstGeom>
            <a:solidFill>
              <a:schemeClr val="tx1"/>
            </a:solidFill>
          </p:spPr>
        </p:pic>
        <p:sp>
          <p:nvSpPr>
            <p:cNvPr id="139" name="TextBox 138"/>
            <p:cNvSpPr txBox="1"/>
            <p:nvPr/>
          </p:nvSpPr>
          <p:spPr>
            <a:xfrm>
              <a:off x="10681719" y="3679130"/>
              <a:ext cx="774571" cy="261610"/>
            </a:xfrm>
            <a:prstGeom prst="rect">
              <a:avLst/>
            </a:prstGeom>
            <a:noFill/>
          </p:spPr>
          <p:txBody>
            <a:bodyPr wrap="none" rtlCol="0">
              <a:spAutoFit/>
            </a:bodyPr>
            <a:lstStyle/>
            <a:p>
              <a:r>
                <a:rPr lang="en-US" altLang="ko-KR" sz="1100" b="1" dirty="0"/>
                <a:t>SSD-PIM</a:t>
              </a:r>
              <a:endParaRPr lang="ko-KR" altLang="en-US" sz="1100" b="1" dirty="0"/>
            </a:p>
          </p:txBody>
        </p:sp>
      </p:grpSp>
      <p:sp>
        <p:nvSpPr>
          <p:cNvPr id="140" name="실행 단추: 앞으로 또는 다음 139">
            <a:hlinkClick r:id="" action="ppaction://noaction" highlightClick="1"/>
          </p:cNvPr>
          <p:cNvSpPr/>
          <p:nvPr/>
        </p:nvSpPr>
        <p:spPr>
          <a:xfrm>
            <a:off x="11649107" y="6244538"/>
            <a:ext cx="230216" cy="150490"/>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41" name="그룹 140"/>
          <p:cNvGrpSpPr/>
          <p:nvPr/>
        </p:nvGrpSpPr>
        <p:grpSpPr>
          <a:xfrm>
            <a:off x="10634399" y="3250271"/>
            <a:ext cx="1214899" cy="1276029"/>
            <a:chOff x="10219614" y="3398879"/>
            <a:chExt cx="1617031" cy="1403632"/>
          </a:xfrm>
        </p:grpSpPr>
        <p:pic>
          <p:nvPicPr>
            <p:cNvPr id="142" name="그림 141"/>
            <p:cNvPicPr>
              <a:picLocks noChangeAspect="1"/>
            </p:cNvPicPr>
            <p:nvPr/>
          </p:nvPicPr>
          <p:blipFill rotWithShape="1">
            <a:blip r:embed="rId9" cstate="print">
              <a:extLst>
                <a:ext uri="{28A0092B-C50C-407E-A947-70E740481C1C}">
                  <a14:useLocalDpi xmlns:a14="http://schemas.microsoft.com/office/drawing/2010/main" val="0"/>
                </a:ext>
              </a:extLst>
            </a:blip>
            <a:srcRect l="2149" t="2553" r="9045" b="45911"/>
            <a:stretch/>
          </p:blipFill>
          <p:spPr>
            <a:xfrm>
              <a:off x="10219614" y="3398879"/>
              <a:ext cx="1617031" cy="1149321"/>
            </a:xfrm>
            <a:prstGeom prst="rect">
              <a:avLst/>
            </a:prstGeom>
          </p:spPr>
        </p:pic>
        <p:sp>
          <p:nvSpPr>
            <p:cNvPr id="143" name="TextBox 142"/>
            <p:cNvSpPr txBox="1"/>
            <p:nvPr/>
          </p:nvSpPr>
          <p:spPr>
            <a:xfrm>
              <a:off x="10633718" y="4540901"/>
              <a:ext cx="830676" cy="261610"/>
            </a:xfrm>
            <a:prstGeom prst="rect">
              <a:avLst/>
            </a:prstGeom>
            <a:noFill/>
          </p:spPr>
          <p:txBody>
            <a:bodyPr wrap="none" rtlCol="0">
              <a:spAutoFit/>
            </a:bodyPr>
            <a:lstStyle/>
            <a:p>
              <a:pPr algn="ctr"/>
              <a:r>
                <a:rPr lang="en-US" altLang="ko-KR" sz="1100" b="1" dirty="0"/>
                <a:t>CXL-PNM</a:t>
              </a:r>
              <a:endParaRPr lang="ko-KR" altLang="en-US" sz="1100" b="1" dirty="0"/>
            </a:p>
          </p:txBody>
        </p:sp>
      </p:grpSp>
      <p:pic>
        <p:nvPicPr>
          <p:cNvPr id="144" name="그림 143"/>
          <p:cNvPicPr>
            <a:picLocks noChangeAspect="1"/>
          </p:cNvPicPr>
          <p:nvPr/>
        </p:nvPicPr>
        <p:blipFill rotWithShape="1">
          <a:blip r:embed="rId10"/>
          <a:srcRect l="6481" t="25682" r="5591" b="13151"/>
          <a:stretch/>
        </p:blipFill>
        <p:spPr>
          <a:xfrm>
            <a:off x="10612534" y="1147960"/>
            <a:ext cx="1209007" cy="595041"/>
          </a:xfrm>
          <a:prstGeom prst="rect">
            <a:avLst/>
          </a:prstGeom>
        </p:spPr>
      </p:pic>
      <p:pic>
        <p:nvPicPr>
          <p:cNvPr id="145" name="그림 144"/>
          <p:cNvPicPr>
            <a:picLocks noChangeAspect="1"/>
          </p:cNvPicPr>
          <p:nvPr/>
        </p:nvPicPr>
        <p:blipFill rotWithShape="1">
          <a:blip r:embed="rId11"/>
          <a:srcRect l="6282" t="29226" r="3865" b="20950"/>
          <a:stretch/>
        </p:blipFill>
        <p:spPr>
          <a:xfrm>
            <a:off x="10606862" y="2191839"/>
            <a:ext cx="1318378" cy="682318"/>
          </a:xfrm>
          <a:prstGeom prst="rect">
            <a:avLst/>
          </a:prstGeom>
        </p:spPr>
      </p:pic>
      <p:sp>
        <p:nvSpPr>
          <p:cNvPr id="146" name="TextBox 145"/>
          <p:cNvSpPr txBox="1"/>
          <p:nvPr/>
        </p:nvSpPr>
        <p:spPr>
          <a:xfrm>
            <a:off x="11048027" y="1846995"/>
            <a:ext cx="429499" cy="261610"/>
          </a:xfrm>
          <a:prstGeom prst="rect">
            <a:avLst/>
          </a:prstGeom>
          <a:noFill/>
        </p:spPr>
        <p:txBody>
          <a:bodyPr wrap="none" rtlCol="0">
            <a:spAutoFit/>
          </a:bodyPr>
          <a:lstStyle/>
          <a:p>
            <a:pPr algn="ctr"/>
            <a:r>
              <a:rPr lang="en-US" altLang="ko-KR" sz="1100" b="1" dirty="0"/>
              <a:t>HBM</a:t>
            </a:r>
            <a:endParaRPr lang="ko-KR" altLang="en-US" sz="1100" b="1" dirty="0"/>
          </a:p>
        </p:txBody>
      </p:sp>
      <p:sp>
        <p:nvSpPr>
          <p:cNvPr id="147" name="TextBox 146"/>
          <p:cNvSpPr txBox="1"/>
          <p:nvPr/>
        </p:nvSpPr>
        <p:spPr>
          <a:xfrm>
            <a:off x="11006958" y="2879321"/>
            <a:ext cx="511636" cy="261610"/>
          </a:xfrm>
          <a:prstGeom prst="rect">
            <a:avLst/>
          </a:prstGeom>
          <a:noFill/>
        </p:spPr>
        <p:txBody>
          <a:bodyPr wrap="none" rtlCol="0">
            <a:spAutoFit/>
          </a:bodyPr>
          <a:lstStyle/>
          <a:p>
            <a:pPr algn="ctr"/>
            <a:r>
              <a:rPr lang="en-US" altLang="ko-KR" sz="1100" b="1" dirty="0"/>
              <a:t>DRAM</a:t>
            </a:r>
            <a:endParaRPr lang="ko-KR" altLang="en-US" sz="1100" b="1" dirty="0"/>
          </a:p>
        </p:txBody>
      </p:sp>
      <p:sp>
        <p:nvSpPr>
          <p:cNvPr id="148" name="TextBox 147"/>
          <p:cNvSpPr txBox="1"/>
          <p:nvPr/>
        </p:nvSpPr>
        <p:spPr>
          <a:xfrm>
            <a:off x="10567274" y="6188978"/>
            <a:ext cx="1017708" cy="261610"/>
          </a:xfrm>
          <a:prstGeom prst="rect">
            <a:avLst/>
          </a:prstGeom>
          <a:noFill/>
        </p:spPr>
        <p:txBody>
          <a:bodyPr wrap="none" rtlCol="0">
            <a:spAutoFit/>
          </a:bodyPr>
          <a:lstStyle/>
          <a:p>
            <a:pPr algn="ctr"/>
            <a:r>
              <a:rPr lang="en-US" altLang="ko-KR" sz="1100" b="1" dirty="0"/>
              <a:t>+ </a:t>
            </a:r>
            <a:r>
              <a:rPr lang="ko-KR" altLang="en-US" sz="1100" b="1" dirty="0"/>
              <a:t>차세대 메모리</a:t>
            </a:r>
          </a:p>
        </p:txBody>
      </p:sp>
    </p:spTree>
    <p:extLst>
      <p:ext uri="{BB962C8B-B14F-4D97-AF65-F5344CB8AC3E}">
        <p14:creationId xmlns:p14="http://schemas.microsoft.com/office/powerpoint/2010/main" val="3611483607"/>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957</Words>
  <Application>Microsoft Office PowerPoint</Application>
  <PresentationFormat>와이드스크린</PresentationFormat>
  <Paragraphs>147</Paragraphs>
  <Slides>2</Slides>
  <Notes>2</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2</vt:i4>
      </vt:variant>
    </vt:vector>
  </HeadingPairs>
  <TitlesOfParts>
    <vt:vector size="8" baseType="lpstr">
      <vt:lpstr>Noto Sans KR</vt:lpstr>
      <vt:lpstr>맑은 고딕</vt:lpstr>
      <vt:lpstr>Arial</vt:lpstr>
      <vt:lpstr>Calibri</vt:lpstr>
      <vt:lpstr>Wingdings</vt:lpstr>
      <vt:lpstr>Office 테마</vt:lpstr>
      <vt:lpstr>과제 필요성</vt:lpstr>
      <vt:lpstr>과제 개요</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과제 필요성</dc:title>
  <dc:creator>SAMSUNG</dc:creator>
  <cp:lastModifiedBy>SAMSUNG</cp:lastModifiedBy>
  <cp:revision>1</cp:revision>
  <dcterms:created xsi:type="dcterms:W3CDTF">2026-10-27T15:08:04Z</dcterms:created>
  <dcterms:modified xsi:type="dcterms:W3CDTF">2026-10-27T15:16:15Z</dcterms:modified>
</cp:coreProperties>
</file>
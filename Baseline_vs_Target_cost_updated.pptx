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1038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8E92C5-ED7E-4875-B274-95F23C2CE9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F1C1181-5137-4A59-849E-EF429916B4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A24972-B43D-4BFB-B22B-EAD3863A1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03CAF-3915-481D-ADE8-B1FC5DC199FE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C32921-8B0B-4240-B78F-BE51A423D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772B79-6A32-4330-A7F4-FC3D5E72D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CADFC-0F0A-44E4-90CA-0FB62FAFA2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7674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36A0DD-8E60-47F4-9843-7878E35CB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CFFE95-324D-4A9B-BB47-730AF6C5FB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DD69E4-CE98-474A-B4A4-DE527B875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03CAF-3915-481D-ADE8-B1FC5DC199FE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0422FE-50AB-4528-BA32-748D2BE5C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CF3FD6-A665-4323-934B-A4D8C9C60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CADFC-0F0A-44E4-90CA-0FB62FAFA2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6187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4A6054-7008-4B47-AFBB-FD1265B62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F9AAAB9-A6AF-4BB9-98A2-7D28B926F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0C2101-9FC7-48B4-B49B-A48DA9100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03CAF-3915-481D-ADE8-B1FC5DC199FE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3104BD-C87F-415E-B98B-C8414AEF6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6E5F6B-13C3-48F7-82EF-66F0CEDE7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CADFC-0F0A-44E4-90CA-0FB62FAFA2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8963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8448FB-4345-4203-9C0B-4E92F0BA3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F8ED0C-F7F0-434C-8964-1EA661FB51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9D6865-ADF3-49A0-B648-900E822CC6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CB1A3AA-FC14-46C9-90FC-AD15710AE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03CAF-3915-481D-ADE8-B1FC5DC199FE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17D8DC6-9ED2-425C-ADC2-E5B687B6A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DDBE30C-DBE2-4B5A-A411-2D6C59EEF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CADFC-0F0A-44E4-90CA-0FB62FAFA2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476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39F96D-D0DB-4FE8-BEA4-262662E59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2C76505-FFE7-41B5-9D5F-F4D305B501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FF74824-FF95-4859-B7A5-C35D512F4D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C1F40A1-90E3-4B3B-98C7-51DB44CCE5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832B02B-3242-4673-8095-9BF70E683A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CFD10D9-086C-4D17-9235-D791D0E0B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03CAF-3915-481D-ADE8-B1FC5DC199FE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A9C1E53-F41E-4F65-8E4E-C760B3CA2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6EF15AA-38C2-4C19-A259-97FB63F1B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CADFC-0F0A-44E4-90CA-0FB62FAFA2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5111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D705F1-F4A1-496F-B807-2EF9BB10F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9175092-548C-4318-B0CC-2453DE170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03CAF-3915-481D-ADE8-B1FC5DC199FE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33E8A59-3054-45C6-9459-FD1161E00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40DE3BC-28AC-47CC-827C-484564F4C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CADFC-0F0A-44E4-90CA-0FB62FAFA2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274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34A590C-E83E-4F61-AED3-F70B1F1B1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03CAF-3915-481D-ADE8-B1FC5DC199FE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39C82E-0B76-481E-A0F1-7C561AB12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17E542-9FD8-4008-BDA5-86516F1A9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CADFC-0F0A-44E4-90CA-0FB62FAFA2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0846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571994-CC03-4E80-B4C2-DD695E36F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BDB054-5802-49E2-981B-A497A7599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CF6B05F-0F3C-4AA5-AB0B-C8045D3AC2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2107CAC-A703-4AD2-9678-330AE604E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03CAF-3915-481D-ADE8-B1FC5DC199FE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F7A0BB8-291B-486F-8F41-F1975A0BC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F94767A-A762-4644-B746-3494E11F1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CADFC-0F0A-44E4-90CA-0FB62FAFA2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2171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553291-DC6B-4836-B88A-C5A95AD91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69F4547-3CEA-4C51-973C-4372F7BA34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82984F6-ECBB-4279-8D8F-72C2D30FFA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09EEE63-CEC3-4DA3-9215-35012ADC6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03CAF-3915-481D-ADE8-B1FC5DC199FE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30E1EE8-56ED-4B6F-BBD7-66D5835A5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45F57F4-7924-490B-9306-9ABA29245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CADFC-0F0A-44E4-90CA-0FB62FAFA2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1889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5F96D5-8AE9-4C38-8DEF-EBAF997D0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8FAEA51-C168-44DE-9DE4-EBC81676AF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86998F5-57A0-4E13-8C65-B6ACFDF9A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03CAF-3915-481D-ADE8-B1FC5DC199FE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C6EBBAF-4F0D-41C3-84D1-4C0C69917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B48A8B-AD22-4092-B971-7ECD6E00D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CADFC-0F0A-44E4-90CA-0FB62FAFA2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1537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08D06EF-29EE-4375-A26F-AC8426666A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B97E908-7C85-4FD7-A4DE-1CFACACAF1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146172-F96A-4922-B82A-3FCB079F8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03CAF-3915-481D-ADE8-B1FC5DC199FE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285D2D-7C12-41A7-97AB-B3BB86267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30C980-B384-40E1-8C20-697ABE923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CADFC-0F0A-44E4-90CA-0FB62FAFA2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34725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요구사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개체 틀 1"/>
          <p:cNvSpPr>
            <a:spLocks noGrp="1"/>
          </p:cNvSpPr>
          <p:nvPr>
            <p:ph type="title"/>
          </p:nvPr>
        </p:nvSpPr>
        <p:spPr>
          <a:xfrm>
            <a:off x="234948" y="137379"/>
            <a:ext cx="76559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F6FB25F-7B1E-410A-903C-9DE680EED1C3}"/>
              </a:ext>
            </a:extLst>
          </p:cNvPr>
          <p:cNvGrpSpPr/>
          <p:nvPr userDrawn="1"/>
        </p:nvGrpSpPr>
        <p:grpSpPr>
          <a:xfrm>
            <a:off x="7995393" y="137379"/>
            <a:ext cx="4006094" cy="357521"/>
            <a:chOff x="7522576" y="137379"/>
            <a:chExt cx="4478924" cy="357521"/>
          </a:xfrm>
        </p:grpSpPr>
        <p:sp>
          <p:nvSpPr>
            <p:cNvPr id="22" name="갈매기형 수장 21"/>
            <p:cNvSpPr/>
            <p:nvPr userDrawn="1"/>
          </p:nvSpPr>
          <p:spPr>
            <a:xfrm>
              <a:off x="7522576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과제 소개</a:t>
              </a:r>
            </a:p>
          </p:txBody>
        </p:sp>
        <p:sp>
          <p:nvSpPr>
            <p:cNvPr id="23" name="갈매기형 수장 22"/>
            <p:cNvSpPr/>
            <p:nvPr userDrawn="1"/>
          </p:nvSpPr>
          <p:spPr>
            <a:xfrm>
              <a:off x="8415057" y="137379"/>
              <a:ext cx="1031887" cy="357521"/>
            </a:xfrm>
            <a:prstGeom prst="chevron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요구사항</a:t>
              </a:r>
            </a:p>
          </p:txBody>
        </p:sp>
        <p:sp>
          <p:nvSpPr>
            <p:cNvPr id="25" name="갈매기형 수장 24"/>
            <p:cNvSpPr/>
            <p:nvPr userDrawn="1"/>
          </p:nvSpPr>
          <p:spPr>
            <a:xfrm>
              <a:off x="9313975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설계</a:t>
              </a:r>
            </a:p>
          </p:txBody>
        </p:sp>
        <p:sp>
          <p:nvSpPr>
            <p:cNvPr id="26" name="갈매기형 수장 25"/>
            <p:cNvSpPr/>
            <p:nvPr userDrawn="1"/>
          </p:nvSpPr>
          <p:spPr>
            <a:xfrm>
              <a:off x="102064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구현</a:t>
              </a:r>
              <a:r>
                <a:rPr lang="en-US" altLang="ko-KR" sz="1000" b="1" dirty="0">
                  <a:solidFill>
                    <a:schemeClr val="bg1"/>
                  </a:solidFill>
                </a:rPr>
                <a:t>/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검증</a:t>
              </a:r>
            </a:p>
          </p:txBody>
        </p:sp>
        <p:sp>
          <p:nvSpPr>
            <p:cNvPr id="27" name="갈매기형 수장 26"/>
            <p:cNvSpPr/>
            <p:nvPr userDrawn="1"/>
          </p:nvSpPr>
          <p:spPr>
            <a:xfrm>
              <a:off x="11105815" y="137379"/>
              <a:ext cx="892483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결론</a:t>
              </a:r>
            </a:p>
          </p:txBody>
        </p:sp>
        <p:sp>
          <p:nvSpPr>
            <p:cNvPr id="29" name="직사각형 28"/>
            <p:cNvSpPr/>
            <p:nvPr userDrawn="1"/>
          </p:nvSpPr>
          <p:spPr>
            <a:xfrm>
              <a:off x="11789373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>
                <a:solidFill>
                  <a:schemeClr val="bg1"/>
                </a:solidFill>
              </a:endParaRPr>
            </a:p>
          </p:txBody>
        </p:sp>
        <p:sp>
          <p:nvSpPr>
            <p:cNvPr id="30" name="직사각형 29"/>
            <p:cNvSpPr/>
            <p:nvPr userDrawn="1"/>
          </p:nvSpPr>
          <p:spPr>
            <a:xfrm>
              <a:off x="7528835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13362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E2ABE4C-3010-41F0-A5B4-75F310189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E1EE271-FEA3-441B-8976-599BE3FB06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1D6435-F383-4D1E-9B4B-F73E4ED22A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103CAF-3915-481D-ADE8-B1FC5DC199FE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E0076D-A9D6-4EAF-81EE-8FAB519DDD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5E12E2-2E98-4625-8B2B-DC3B9CBDBD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6CADFC-0F0A-44E4-90CA-0FB62FAFA2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2589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Baseline </a:t>
            </a:r>
            <a:r>
              <a:rPr lang="ko-KR" altLang="en-US" dirty="0"/>
              <a:t>시스템 </a:t>
            </a:r>
            <a:r>
              <a:rPr lang="en-US" altLang="ko-KR" dirty="0"/>
              <a:t>vs Target </a:t>
            </a:r>
            <a:r>
              <a:rPr lang="ko-KR" altLang="en-US" dirty="0"/>
              <a:t>시스템</a:t>
            </a:r>
          </a:p>
        </p:txBody>
      </p:sp>
      <p:sp>
        <p:nvSpPr>
          <p:cNvPr id="119" name="Rectangle 3"/>
          <p:cNvSpPr/>
          <p:nvPr/>
        </p:nvSpPr>
        <p:spPr>
          <a:xfrm>
            <a:off x="365760" y="694944"/>
            <a:ext cx="11521440" cy="18288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361950" y="804672"/>
            <a:ext cx="173355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808080"/>
                </a:solidFill>
                <a:latin typeface="맑은 고딕"/>
                <a:ea typeface="맑은 고딕"/>
              </a:rPr>
              <a:t>구성  (1노드 · ×4노드)</a:t>
            </a:r>
          </a:p>
        </p:txBody>
      </p:sp>
      <p:sp>
        <p:nvSpPr>
          <p:cNvPr id="121" name="Rectangle 5"/>
          <p:cNvSpPr/>
          <p:nvPr/>
        </p:nvSpPr>
        <p:spPr>
          <a:xfrm>
            <a:off x="2171700" y="804672"/>
            <a:ext cx="2381250" cy="292608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</a:rPr>
              <a:t>Baseline  —  H100 × 8</a:t>
            </a:r>
          </a:p>
        </p:txBody>
      </p:sp>
      <p:sp>
        <p:nvSpPr>
          <p:cNvPr id="236" name="Rectangle 6"/>
          <p:cNvSpPr/>
          <p:nvPr/>
        </p:nvSpPr>
        <p:spPr>
          <a:xfrm>
            <a:off x="4629150" y="804672"/>
            <a:ext cx="2381250" cy="292608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</a:rPr>
              <a:t>Target  —  H100 × 4  +  CXL-PNM × 4</a:t>
            </a:r>
          </a:p>
        </p:txBody>
      </p:sp>
      <p:sp>
        <p:nvSpPr>
          <p:cNvPr id="237" name="Rectangle 7"/>
          <p:cNvSpPr/>
          <p:nvPr/>
        </p:nvSpPr>
        <p:spPr>
          <a:xfrm>
            <a:off x="7086600" y="804672"/>
            <a:ext cx="4791075" cy="292608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</a:rPr>
              <a:t>산출식  ·  제품 (세대 / 타입)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361950" y="1181100"/>
            <a:ext cx="1733550" cy="53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08080"/>
                </a:solidFill>
                <a:latin typeface="맑은 고딕"/>
                <a:ea typeface="맑은 고딕"/>
              </a:rPr>
              <a:t>가속기  상단 4슬롯</a:t>
            </a:r>
          </a:p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08080"/>
                </a:solidFill>
                <a:latin typeface="맑은 고딕"/>
                <a:ea typeface="맑은 고딕"/>
              </a:rPr>
              <a:t>연산 + 고대역 메모리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361950" y="1752600"/>
            <a:ext cx="173355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08080"/>
                </a:solidFill>
                <a:latin typeface="맑은 고딕"/>
                <a:ea typeface="맑은 고딕"/>
              </a:rPr>
              <a:t>CPU  2소켓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361950" y="2181225"/>
            <a:ext cx="1733550" cy="53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08080"/>
                </a:solidFill>
                <a:latin typeface="맑은 고딕"/>
                <a:ea typeface="맑은 고딕"/>
              </a:rPr>
              <a:t>가속기  하단 4슬롯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361950" y="2762250"/>
            <a:ext cx="173355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08080"/>
                </a:solidFill>
                <a:latin typeface="맑은 고딕"/>
                <a:ea typeface="맑은 고딕"/>
              </a:rPr>
              <a:t>스토리지</a:t>
            </a:r>
          </a:p>
        </p:txBody>
      </p:sp>
      <p:sp>
        <p:nvSpPr>
          <p:cNvPr id="242" name="Rectangle 12"/>
          <p:cNvSpPr/>
          <p:nvPr/>
        </p:nvSpPr>
        <p:spPr>
          <a:xfrm>
            <a:off x="2171700" y="1133475"/>
            <a:ext cx="2381250" cy="1933575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endParaRPr/>
          </a:p>
        </p:txBody>
      </p:sp>
      <p:sp>
        <p:nvSpPr>
          <p:cNvPr id="243" name="Rectangle 13"/>
          <p:cNvSpPr/>
          <p:nvPr/>
        </p:nvSpPr>
        <p:spPr>
          <a:xfrm>
            <a:off x="2247900" y="1181100"/>
            <a:ext cx="523875" cy="209550"/>
          </a:xfrm>
          <a:prstGeom prst="rect">
            <a:avLst/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FFFFFF"/>
                </a:solidFill>
                <a:latin typeface="맑은 고딕"/>
                <a:ea typeface="맑은 고딕"/>
              </a:rPr>
              <a:t>GPU0</a:t>
            </a:r>
          </a:p>
        </p:txBody>
      </p:sp>
      <p:sp>
        <p:nvSpPr>
          <p:cNvPr id="244" name="Rectangle 14"/>
          <p:cNvSpPr/>
          <p:nvPr/>
        </p:nvSpPr>
        <p:spPr>
          <a:xfrm>
            <a:off x="2247900" y="1409700"/>
            <a:ext cx="523875" cy="304800"/>
          </a:xfrm>
          <a:prstGeom prst="rect">
            <a:avLst/>
          </a:prstGeom>
          <a:solidFill>
            <a:srgbClr val="DAE8F6"/>
          </a:solidFill>
          <a:ln w="9525">
            <a:solidFill>
              <a:srgbClr val="1F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1F6FB5"/>
                </a:solidFill>
                <a:latin typeface="맑은 고딕"/>
                <a:ea typeface="맑은 고딕"/>
              </a:rPr>
              <a:t>HBM 80GB</a:t>
            </a:r>
          </a:p>
        </p:txBody>
      </p:sp>
      <p:sp>
        <p:nvSpPr>
          <p:cNvPr id="245" name="Rectangle 15"/>
          <p:cNvSpPr/>
          <p:nvPr/>
        </p:nvSpPr>
        <p:spPr>
          <a:xfrm>
            <a:off x="2805112" y="1181100"/>
            <a:ext cx="523875" cy="209550"/>
          </a:xfrm>
          <a:prstGeom prst="rect">
            <a:avLst/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FFFFFF"/>
                </a:solidFill>
                <a:latin typeface="맑은 고딕"/>
                <a:ea typeface="맑은 고딕"/>
              </a:rPr>
              <a:t>GPU1</a:t>
            </a:r>
          </a:p>
        </p:txBody>
      </p:sp>
      <p:sp>
        <p:nvSpPr>
          <p:cNvPr id="246" name="Rectangle 16"/>
          <p:cNvSpPr/>
          <p:nvPr/>
        </p:nvSpPr>
        <p:spPr>
          <a:xfrm>
            <a:off x="2805112" y="1409700"/>
            <a:ext cx="523875" cy="304800"/>
          </a:xfrm>
          <a:prstGeom prst="rect">
            <a:avLst/>
          </a:prstGeom>
          <a:solidFill>
            <a:srgbClr val="DAE8F6"/>
          </a:solidFill>
          <a:ln w="9525">
            <a:solidFill>
              <a:srgbClr val="1F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1F6FB5"/>
                </a:solidFill>
                <a:latin typeface="맑은 고딕"/>
                <a:ea typeface="맑은 고딕"/>
              </a:rPr>
              <a:t>HBM 80GB</a:t>
            </a:r>
          </a:p>
        </p:txBody>
      </p:sp>
      <p:sp>
        <p:nvSpPr>
          <p:cNvPr id="247" name="Rectangle 17"/>
          <p:cNvSpPr/>
          <p:nvPr/>
        </p:nvSpPr>
        <p:spPr>
          <a:xfrm>
            <a:off x="3362325" y="1181100"/>
            <a:ext cx="523875" cy="209550"/>
          </a:xfrm>
          <a:prstGeom prst="rect">
            <a:avLst/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FFFFFF"/>
                </a:solidFill>
                <a:latin typeface="맑은 고딕"/>
                <a:ea typeface="맑은 고딕"/>
              </a:rPr>
              <a:t>GPU2</a:t>
            </a:r>
          </a:p>
        </p:txBody>
      </p:sp>
      <p:sp>
        <p:nvSpPr>
          <p:cNvPr id="248" name="Rectangle 18"/>
          <p:cNvSpPr/>
          <p:nvPr/>
        </p:nvSpPr>
        <p:spPr>
          <a:xfrm>
            <a:off x="3362325" y="1409700"/>
            <a:ext cx="523875" cy="304800"/>
          </a:xfrm>
          <a:prstGeom prst="rect">
            <a:avLst/>
          </a:prstGeom>
          <a:solidFill>
            <a:srgbClr val="DAE8F6"/>
          </a:solidFill>
          <a:ln w="9525">
            <a:solidFill>
              <a:srgbClr val="1F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1F6FB5"/>
                </a:solidFill>
                <a:latin typeface="맑은 고딕"/>
                <a:ea typeface="맑은 고딕"/>
              </a:rPr>
              <a:t>HBM 80GB</a:t>
            </a:r>
          </a:p>
        </p:txBody>
      </p:sp>
      <p:sp>
        <p:nvSpPr>
          <p:cNvPr id="249" name="Rectangle 19"/>
          <p:cNvSpPr/>
          <p:nvPr/>
        </p:nvSpPr>
        <p:spPr>
          <a:xfrm>
            <a:off x="3919538" y="1181100"/>
            <a:ext cx="523875" cy="209550"/>
          </a:xfrm>
          <a:prstGeom prst="rect">
            <a:avLst/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FFFFFF"/>
                </a:solidFill>
                <a:latin typeface="맑은 고딕"/>
                <a:ea typeface="맑은 고딕"/>
              </a:rPr>
              <a:t>GPU3</a:t>
            </a:r>
          </a:p>
        </p:txBody>
      </p:sp>
      <p:sp>
        <p:nvSpPr>
          <p:cNvPr id="250" name="Rectangle 20"/>
          <p:cNvSpPr/>
          <p:nvPr/>
        </p:nvSpPr>
        <p:spPr>
          <a:xfrm>
            <a:off x="3919538" y="1409700"/>
            <a:ext cx="523875" cy="304800"/>
          </a:xfrm>
          <a:prstGeom prst="rect">
            <a:avLst/>
          </a:prstGeom>
          <a:solidFill>
            <a:srgbClr val="DAE8F6"/>
          </a:solidFill>
          <a:ln w="9525">
            <a:solidFill>
              <a:srgbClr val="1F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1F6FB5"/>
                </a:solidFill>
                <a:latin typeface="맑은 고딕"/>
                <a:ea typeface="맑은 고딕"/>
              </a:rPr>
              <a:t>HBM 80GB</a:t>
            </a:r>
          </a:p>
        </p:txBody>
      </p:sp>
      <p:sp>
        <p:nvSpPr>
          <p:cNvPr id="251" name="Rectangle 21"/>
          <p:cNvSpPr/>
          <p:nvPr/>
        </p:nvSpPr>
        <p:spPr>
          <a:xfrm>
            <a:off x="2247900" y="1752600"/>
            <a:ext cx="1081088" cy="381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15000"/>
              </a:lnSpc>
            </a:pPr>
            <a:r>
              <a:rPr sz="750" b="0" i="0">
                <a:solidFill>
                  <a:srgbClr val="262626"/>
                </a:solidFill>
                <a:latin typeface="맑은 고딕"/>
                <a:ea typeface="맑은 고딕"/>
              </a:rPr>
              <a:t>CPU0</a:t>
            </a:r>
          </a:p>
          <a:p>
            <a:pPr algn="ctr">
              <a:lnSpc>
                <a:spcPct val="115000"/>
              </a:lnSpc>
            </a:pPr>
            <a:r>
              <a:rPr sz="750" b="0" i="0">
                <a:solidFill>
                  <a:srgbClr val="262626"/>
                </a:solidFill>
                <a:latin typeface="맑은 고딕"/>
                <a:ea typeface="맑은 고딕"/>
              </a:rPr>
              <a:t>56C · DDR 512GB</a:t>
            </a:r>
          </a:p>
        </p:txBody>
      </p:sp>
      <p:sp>
        <p:nvSpPr>
          <p:cNvPr id="252" name="Rectangle 22"/>
          <p:cNvSpPr/>
          <p:nvPr/>
        </p:nvSpPr>
        <p:spPr>
          <a:xfrm>
            <a:off x="3362325" y="1752600"/>
            <a:ext cx="1081088" cy="381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15000"/>
              </a:lnSpc>
            </a:pPr>
            <a:r>
              <a:rPr sz="750" b="0" i="0">
                <a:solidFill>
                  <a:srgbClr val="262626"/>
                </a:solidFill>
                <a:latin typeface="맑은 고딕"/>
                <a:ea typeface="맑은 고딕"/>
              </a:rPr>
              <a:t>CPU1</a:t>
            </a:r>
          </a:p>
          <a:p>
            <a:pPr algn="ctr">
              <a:lnSpc>
                <a:spcPct val="115000"/>
              </a:lnSpc>
            </a:pPr>
            <a:r>
              <a:rPr sz="750" b="0" i="0">
                <a:solidFill>
                  <a:srgbClr val="262626"/>
                </a:solidFill>
                <a:latin typeface="맑은 고딕"/>
                <a:ea typeface="맑은 고딕"/>
              </a:rPr>
              <a:t>56C · DDR 512GB</a:t>
            </a:r>
          </a:p>
        </p:txBody>
      </p:sp>
      <p:sp>
        <p:nvSpPr>
          <p:cNvPr id="253" name="Rectangle 23"/>
          <p:cNvSpPr/>
          <p:nvPr/>
        </p:nvSpPr>
        <p:spPr>
          <a:xfrm>
            <a:off x="2247900" y="2181225"/>
            <a:ext cx="523875" cy="209550"/>
          </a:xfrm>
          <a:prstGeom prst="rect">
            <a:avLst/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FFFFFF"/>
                </a:solidFill>
                <a:latin typeface="맑은 고딕"/>
                <a:ea typeface="맑은 고딕"/>
              </a:rPr>
              <a:t>GPU4</a:t>
            </a:r>
          </a:p>
        </p:txBody>
      </p:sp>
      <p:sp>
        <p:nvSpPr>
          <p:cNvPr id="254" name="Rectangle 24"/>
          <p:cNvSpPr/>
          <p:nvPr/>
        </p:nvSpPr>
        <p:spPr>
          <a:xfrm>
            <a:off x="2247900" y="2409825"/>
            <a:ext cx="523875" cy="304800"/>
          </a:xfrm>
          <a:prstGeom prst="rect">
            <a:avLst/>
          </a:prstGeom>
          <a:solidFill>
            <a:srgbClr val="DAE8F6"/>
          </a:solidFill>
          <a:ln w="9525">
            <a:solidFill>
              <a:srgbClr val="1F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1F6FB5"/>
                </a:solidFill>
                <a:latin typeface="맑은 고딕"/>
                <a:ea typeface="맑은 고딕"/>
              </a:rPr>
              <a:t>HBM 80GB</a:t>
            </a:r>
          </a:p>
        </p:txBody>
      </p:sp>
      <p:sp>
        <p:nvSpPr>
          <p:cNvPr id="255" name="Rectangle 25"/>
          <p:cNvSpPr/>
          <p:nvPr/>
        </p:nvSpPr>
        <p:spPr>
          <a:xfrm>
            <a:off x="2805112" y="2181225"/>
            <a:ext cx="523875" cy="209550"/>
          </a:xfrm>
          <a:prstGeom prst="rect">
            <a:avLst/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FFFFFF"/>
                </a:solidFill>
                <a:latin typeface="맑은 고딕"/>
                <a:ea typeface="맑은 고딕"/>
              </a:rPr>
              <a:t>GPU5</a:t>
            </a:r>
          </a:p>
        </p:txBody>
      </p:sp>
      <p:sp>
        <p:nvSpPr>
          <p:cNvPr id="256" name="Rectangle 26"/>
          <p:cNvSpPr/>
          <p:nvPr/>
        </p:nvSpPr>
        <p:spPr>
          <a:xfrm>
            <a:off x="2805112" y="2409825"/>
            <a:ext cx="523875" cy="304800"/>
          </a:xfrm>
          <a:prstGeom prst="rect">
            <a:avLst/>
          </a:prstGeom>
          <a:solidFill>
            <a:srgbClr val="DAE8F6"/>
          </a:solidFill>
          <a:ln w="9525">
            <a:solidFill>
              <a:srgbClr val="1F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1F6FB5"/>
                </a:solidFill>
                <a:latin typeface="맑은 고딕"/>
                <a:ea typeface="맑은 고딕"/>
              </a:rPr>
              <a:t>HBM 80GB</a:t>
            </a:r>
          </a:p>
        </p:txBody>
      </p:sp>
      <p:sp>
        <p:nvSpPr>
          <p:cNvPr id="257" name="Rectangle 27"/>
          <p:cNvSpPr/>
          <p:nvPr/>
        </p:nvSpPr>
        <p:spPr>
          <a:xfrm>
            <a:off x="3362325" y="2181225"/>
            <a:ext cx="523875" cy="209550"/>
          </a:xfrm>
          <a:prstGeom prst="rect">
            <a:avLst/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FFFFFF"/>
                </a:solidFill>
                <a:latin typeface="맑은 고딕"/>
                <a:ea typeface="맑은 고딕"/>
              </a:rPr>
              <a:t>GPU6</a:t>
            </a:r>
          </a:p>
        </p:txBody>
      </p:sp>
      <p:sp>
        <p:nvSpPr>
          <p:cNvPr id="258" name="Rectangle 28"/>
          <p:cNvSpPr/>
          <p:nvPr/>
        </p:nvSpPr>
        <p:spPr>
          <a:xfrm>
            <a:off x="3362325" y="2409825"/>
            <a:ext cx="523875" cy="304800"/>
          </a:xfrm>
          <a:prstGeom prst="rect">
            <a:avLst/>
          </a:prstGeom>
          <a:solidFill>
            <a:srgbClr val="DAE8F6"/>
          </a:solidFill>
          <a:ln w="9525">
            <a:solidFill>
              <a:srgbClr val="1F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1F6FB5"/>
                </a:solidFill>
                <a:latin typeface="맑은 고딕"/>
                <a:ea typeface="맑은 고딕"/>
              </a:rPr>
              <a:t>HBM 80GB</a:t>
            </a:r>
          </a:p>
        </p:txBody>
      </p:sp>
      <p:sp>
        <p:nvSpPr>
          <p:cNvPr id="259" name="Rectangle 29"/>
          <p:cNvSpPr/>
          <p:nvPr/>
        </p:nvSpPr>
        <p:spPr>
          <a:xfrm>
            <a:off x="3919538" y="2181225"/>
            <a:ext cx="523875" cy="209550"/>
          </a:xfrm>
          <a:prstGeom prst="rect">
            <a:avLst/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FFFFFF"/>
                </a:solidFill>
                <a:latin typeface="맑은 고딕"/>
                <a:ea typeface="맑은 고딕"/>
              </a:rPr>
              <a:t>GPU7</a:t>
            </a:r>
          </a:p>
        </p:txBody>
      </p:sp>
      <p:sp>
        <p:nvSpPr>
          <p:cNvPr id="260" name="Rectangle 30"/>
          <p:cNvSpPr/>
          <p:nvPr/>
        </p:nvSpPr>
        <p:spPr>
          <a:xfrm>
            <a:off x="3919538" y="2409825"/>
            <a:ext cx="523875" cy="304800"/>
          </a:xfrm>
          <a:prstGeom prst="rect">
            <a:avLst/>
          </a:prstGeom>
          <a:solidFill>
            <a:srgbClr val="DAE8F6"/>
          </a:solidFill>
          <a:ln w="9525">
            <a:solidFill>
              <a:srgbClr val="1F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1F6FB5"/>
                </a:solidFill>
                <a:latin typeface="맑은 고딕"/>
                <a:ea typeface="맑은 고딕"/>
              </a:rPr>
              <a:t>HBM 80GB</a:t>
            </a:r>
          </a:p>
        </p:txBody>
      </p:sp>
      <p:sp>
        <p:nvSpPr>
          <p:cNvPr id="261" name="Rectangle 31"/>
          <p:cNvSpPr/>
          <p:nvPr/>
        </p:nvSpPr>
        <p:spPr>
          <a:xfrm>
            <a:off x="2247900" y="2762250"/>
            <a:ext cx="2195512" cy="24765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750" b="1" i="0">
                <a:solidFill>
                  <a:srgbClr val="262626"/>
                </a:solidFill>
                <a:latin typeface="맑은 고딕"/>
                <a:ea typeface="맑은 고딕"/>
              </a:rPr>
              <a:t>NVMe SSD  16TB</a:t>
            </a:r>
          </a:p>
        </p:txBody>
      </p:sp>
      <p:sp>
        <p:nvSpPr>
          <p:cNvPr id="262" name="Rectangle 32"/>
          <p:cNvSpPr/>
          <p:nvPr/>
        </p:nvSpPr>
        <p:spPr>
          <a:xfrm>
            <a:off x="4629150" y="1133475"/>
            <a:ext cx="2381250" cy="1933575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endParaRPr/>
          </a:p>
        </p:txBody>
      </p:sp>
      <p:sp>
        <p:nvSpPr>
          <p:cNvPr id="263" name="Rectangle 33"/>
          <p:cNvSpPr/>
          <p:nvPr/>
        </p:nvSpPr>
        <p:spPr>
          <a:xfrm>
            <a:off x="4705350" y="1181100"/>
            <a:ext cx="523875" cy="209550"/>
          </a:xfrm>
          <a:prstGeom prst="rect">
            <a:avLst/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FFFFFF"/>
                </a:solidFill>
                <a:latin typeface="맑은 고딕"/>
                <a:ea typeface="맑은 고딕"/>
              </a:rPr>
              <a:t>GPU0</a:t>
            </a:r>
          </a:p>
        </p:txBody>
      </p:sp>
      <p:sp>
        <p:nvSpPr>
          <p:cNvPr id="264" name="Rectangle 34"/>
          <p:cNvSpPr/>
          <p:nvPr/>
        </p:nvSpPr>
        <p:spPr>
          <a:xfrm>
            <a:off x="4705350" y="1409700"/>
            <a:ext cx="523875" cy="304800"/>
          </a:xfrm>
          <a:prstGeom prst="rect">
            <a:avLst/>
          </a:prstGeom>
          <a:solidFill>
            <a:srgbClr val="DAE8F6"/>
          </a:solidFill>
          <a:ln w="9525">
            <a:solidFill>
              <a:srgbClr val="1F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1F6FB5"/>
                </a:solidFill>
                <a:latin typeface="맑은 고딕"/>
                <a:ea typeface="맑은 고딕"/>
              </a:rPr>
              <a:t>HBM 80GB</a:t>
            </a:r>
          </a:p>
        </p:txBody>
      </p:sp>
      <p:sp>
        <p:nvSpPr>
          <p:cNvPr id="265" name="Rectangle 35"/>
          <p:cNvSpPr/>
          <p:nvPr/>
        </p:nvSpPr>
        <p:spPr>
          <a:xfrm>
            <a:off x="5262562" y="1181100"/>
            <a:ext cx="523875" cy="209550"/>
          </a:xfrm>
          <a:prstGeom prst="rect">
            <a:avLst/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FFFFFF"/>
                </a:solidFill>
                <a:latin typeface="맑은 고딕"/>
                <a:ea typeface="맑은 고딕"/>
              </a:rPr>
              <a:t>GPU1</a:t>
            </a:r>
          </a:p>
        </p:txBody>
      </p:sp>
      <p:sp>
        <p:nvSpPr>
          <p:cNvPr id="266" name="Rectangle 36"/>
          <p:cNvSpPr/>
          <p:nvPr/>
        </p:nvSpPr>
        <p:spPr>
          <a:xfrm>
            <a:off x="5262562" y="1409700"/>
            <a:ext cx="523875" cy="304800"/>
          </a:xfrm>
          <a:prstGeom prst="rect">
            <a:avLst/>
          </a:prstGeom>
          <a:solidFill>
            <a:srgbClr val="DAE8F6"/>
          </a:solidFill>
          <a:ln w="9525">
            <a:solidFill>
              <a:srgbClr val="1F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1F6FB5"/>
                </a:solidFill>
                <a:latin typeface="맑은 고딕"/>
                <a:ea typeface="맑은 고딕"/>
              </a:rPr>
              <a:t>HBM 80GB</a:t>
            </a:r>
          </a:p>
        </p:txBody>
      </p:sp>
      <p:sp>
        <p:nvSpPr>
          <p:cNvPr id="267" name="Rectangle 37"/>
          <p:cNvSpPr/>
          <p:nvPr/>
        </p:nvSpPr>
        <p:spPr>
          <a:xfrm>
            <a:off x="5819775" y="1181100"/>
            <a:ext cx="523875" cy="209550"/>
          </a:xfrm>
          <a:prstGeom prst="rect">
            <a:avLst/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FFFFFF"/>
                </a:solidFill>
                <a:latin typeface="맑은 고딕"/>
                <a:ea typeface="맑은 고딕"/>
              </a:rPr>
              <a:t>GPU2</a:t>
            </a:r>
          </a:p>
        </p:txBody>
      </p:sp>
      <p:sp>
        <p:nvSpPr>
          <p:cNvPr id="268" name="Rectangle 38"/>
          <p:cNvSpPr/>
          <p:nvPr/>
        </p:nvSpPr>
        <p:spPr>
          <a:xfrm>
            <a:off x="5819775" y="1409700"/>
            <a:ext cx="523875" cy="304800"/>
          </a:xfrm>
          <a:prstGeom prst="rect">
            <a:avLst/>
          </a:prstGeom>
          <a:solidFill>
            <a:srgbClr val="DAE8F6"/>
          </a:solidFill>
          <a:ln w="9525">
            <a:solidFill>
              <a:srgbClr val="1F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1F6FB5"/>
                </a:solidFill>
                <a:latin typeface="맑은 고딕"/>
                <a:ea typeface="맑은 고딕"/>
              </a:rPr>
              <a:t>HBM 80GB</a:t>
            </a:r>
          </a:p>
        </p:txBody>
      </p:sp>
      <p:sp>
        <p:nvSpPr>
          <p:cNvPr id="269" name="Rectangle 39"/>
          <p:cNvSpPr/>
          <p:nvPr/>
        </p:nvSpPr>
        <p:spPr>
          <a:xfrm>
            <a:off x="6376988" y="1181100"/>
            <a:ext cx="523875" cy="209550"/>
          </a:xfrm>
          <a:prstGeom prst="rect">
            <a:avLst/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FFFFFF"/>
                </a:solidFill>
                <a:latin typeface="맑은 고딕"/>
                <a:ea typeface="맑은 고딕"/>
              </a:rPr>
              <a:t>GPU3</a:t>
            </a:r>
          </a:p>
        </p:txBody>
      </p:sp>
      <p:sp>
        <p:nvSpPr>
          <p:cNvPr id="270" name="Rectangle 40"/>
          <p:cNvSpPr/>
          <p:nvPr/>
        </p:nvSpPr>
        <p:spPr>
          <a:xfrm>
            <a:off x="6376988" y="1409700"/>
            <a:ext cx="523875" cy="304800"/>
          </a:xfrm>
          <a:prstGeom prst="rect">
            <a:avLst/>
          </a:prstGeom>
          <a:solidFill>
            <a:srgbClr val="DAE8F6"/>
          </a:solidFill>
          <a:ln w="9525">
            <a:solidFill>
              <a:srgbClr val="1F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1F6FB5"/>
                </a:solidFill>
                <a:latin typeface="맑은 고딕"/>
                <a:ea typeface="맑은 고딕"/>
              </a:rPr>
              <a:t>HBM 80GB</a:t>
            </a:r>
          </a:p>
        </p:txBody>
      </p:sp>
      <p:sp>
        <p:nvSpPr>
          <p:cNvPr id="271" name="Rectangle 41"/>
          <p:cNvSpPr/>
          <p:nvPr/>
        </p:nvSpPr>
        <p:spPr>
          <a:xfrm>
            <a:off x="4705350" y="1752600"/>
            <a:ext cx="1081088" cy="381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15000"/>
              </a:lnSpc>
            </a:pPr>
            <a:r>
              <a:rPr sz="750" b="0" i="0">
                <a:solidFill>
                  <a:srgbClr val="262626"/>
                </a:solidFill>
                <a:latin typeface="맑은 고딕"/>
                <a:ea typeface="맑은 고딕"/>
              </a:rPr>
              <a:t>CPU0</a:t>
            </a:r>
          </a:p>
          <a:p>
            <a:pPr algn="ctr">
              <a:lnSpc>
                <a:spcPct val="115000"/>
              </a:lnSpc>
            </a:pPr>
            <a:r>
              <a:rPr sz="750" b="0" i="0">
                <a:solidFill>
                  <a:srgbClr val="262626"/>
                </a:solidFill>
                <a:latin typeface="맑은 고딕"/>
                <a:ea typeface="맑은 고딕"/>
              </a:rPr>
              <a:t>56C · DDR 512GB</a:t>
            </a:r>
          </a:p>
        </p:txBody>
      </p:sp>
      <p:sp>
        <p:nvSpPr>
          <p:cNvPr id="272" name="Rectangle 42"/>
          <p:cNvSpPr/>
          <p:nvPr/>
        </p:nvSpPr>
        <p:spPr>
          <a:xfrm>
            <a:off x="5819775" y="1752600"/>
            <a:ext cx="1081088" cy="381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15000"/>
              </a:lnSpc>
            </a:pPr>
            <a:r>
              <a:rPr sz="750" b="0" i="0">
                <a:solidFill>
                  <a:srgbClr val="262626"/>
                </a:solidFill>
                <a:latin typeface="맑은 고딕"/>
                <a:ea typeface="맑은 고딕"/>
              </a:rPr>
              <a:t>CPU1</a:t>
            </a:r>
          </a:p>
          <a:p>
            <a:pPr algn="ctr">
              <a:lnSpc>
                <a:spcPct val="115000"/>
              </a:lnSpc>
            </a:pPr>
            <a:r>
              <a:rPr sz="750" b="0" i="0">
                <a:solidFill>
                  <a:srgbClr val="262626"/>
                </a:solidFill>
                <a:latin typeface="맑은 고딕"/>
                <a:ea typeface="맑은 고딕"/>
              </a:rPr>
              <a:t>56C · DDR 512GB</a:t>
            </a:r>
          </a:p>
        </p:txBody>
      </p:sp>
      <p:sp>
        <p:nvSpPr>
          <p:cNvPr id="273" name="Rectangle 43"/>
          <p:cNvSpPr/>
          <p:nvPr/>
        </p:nvSpPr>
        <p:spPr>
          <a:xfrm>
            <a:off x="4705350" y="2181225"/>
            <a:ext cx="523875" cy="209550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FFFFFF"/>
                </a:solidFill>
                <a:latin typeface="맑은 고딕"/>
                <a:ea typeface="맑은 고딕"/>
              </a:rPr>
              <a:t>PNM0</a:t>
            </a:r>
          </a:p>
        </p:txBody>
      </p:sp>
      <p:sp>
        <p:nvSpPr>
          <p:cNvPr id="274" name="Rectangle 44"/>
          <p:cNvSpPr/>
          <p:nvPr/>
        </p:nvSpPr>
        <p:spPr>
          <a:xfrm>
            <a:off x="4705350" y="2409825"/>
            <a:ext cx="523875" cy="304800"/>
          </a:xfrm>
          <a:prstGeom prst="rect">
            <a:avLst/>
          </a:prstGeom>
          <a:solidFill>
            <a:srgbClr val="FFF2CC"/>
          </a:solidFill>
          <a:ln w="952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7F5F00"/>
                </a:solidFill>
                <a:latin typeface="맑은 고딕"/>
                <a:ea typeface="맑은 고딕"/>
              </a:rPr>
              <a:t>DDR 128GB</a:t>
            </a:r>
          </a:p>
        </p:txBody>
      </p:sp>
      <p:sp>
        <p:nvSpPr>
          <p:cNvPr id="275" name="Rectangle 45"/>
          <p:cNvSpPr/>
          <p:nvPr/>
        </p:nvSpPr>
        <p:spPr>
          <a:xfrm>
            <a:off x="5262562" y="2181225"/>
            <a:ext cx="523875" cy="209550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FFFFFF"/>
                </a:solidFill>
                <a:latin typeface="맑은 고딕"/>
                <a:ea typeface="맑은 고딕"/>
              </a:rPr>
              <a:t>PNM1</a:t>
            </a:r>
          </a:p>
        </p:txBody>
      </p:sp>
      <p:sp>
        <p:nvSpPr>
          <p:cNvPr id="276" name="Rectangle 46"/>
          <p:cNvSpPr/>
          <p:nvPr/>
        </p:nvSpPr>
        <p:spPr>
          <a:xfrm>
            <a:off x="5262562" y="2409825"/>
            <a:ext cx="523875" cy="304800"/>
          </a:xfrm>
          <a:prstGeom prst="rect">
            <a:avLst/>
          </a:prstGeom>
          <a:solidFill>
            <a:srgbClr val="FFF2CC"/>
          </a:solidFill>
          <a:ln w="952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7F5F00"/>
                </a:solidFill>
                <a:latin typeface="맑은 고딕"/>
                <a:ea typeface="맑은 고딕"/>
              </a:rPr>
              <a:t>DDR 128GB</a:t>
            </a:r>
          </a:p>
        </p:txBody>
      </p:sp>
      <p:sp>
        <p:nvSpPr>
          <p:cNvPr id="277" name="Rectangle 47"/>
          <p:cNvSpPr/>
          <p:nvPr/>
        </p:nvSpPr>
        <p:spPr>
          <a:xfrm>
            <a:off x="5819775" y="2181225"/>
            <a:ext cx="523875" cy="209550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FFFFFF"/>
                </a:solidFill>
                <a:latin typeface="맑은 고딕"/>
                <a:ea typeface="맑은 고딕"/>
              </a:rPr>
              <a:t>PNM2</a:t>
            </a:r>
          </a:p>
        </p:txBody>
      </p:sp>
      <p:sp>
        <p:nvSpPr>
          <p:cNvPr id="278" name="Rectangle 48"/>
          <p:cNvSpPr/>
          <p:nvPr/>
        </p:nvSpPr>
        <p:spPr>
          <a:xfrm>
            <a:off x="5819775" y="2409825"/>
            <a:ext cx="523875" cy="304800"/>
          </a:xfrm>
          <a:prstGeom prst="rect">
            <a:avLst/>
          </a:prstGeom>
          <a:solidFill>
            <a:srgbClr val="FFF2CC"/>
          </a:solidFill>
          <a:ln w="952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7F5F00"/>
                </a:solidFill>
                <a:latin typeface="맑은 고딕"/>
                <a:ea typeface="맑은 고딕"/>
              </a:rPr>
              <a:t>DDR 128GB</a:t>
            </a:r>
          </a:p>
        </p:txBody>
      </p:sp>
      <p:sp>
        <p:nvSpPr>
          <p:cNvPr id="279" name="Rectangle 49"/>
          <p:cNvSpPr/>
          <p:nvPr/>
        </p:nvSpPr>
        <p:spPr>
          <a:xfrm>
            <a:off x="6376988" y="2181225"/>
            <a:ext cx="523875" cy="209550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FFFFFF"/>
                </a:solidFill>
                <a:latin typeface="맑은 고딕"/>
                <a:ea typeface="맑은 고딕"/>
              </a:rPr>
              <a:t>PNM3</a:t>
            </a:r>
          </a:p>
        </p:txBody>
      </p:sp>
      <p:sp>
        <p:nvSpPr>
          <p:cNvPr id="280" name="Rectangle 50"/>
          <p:cNvSpPr/>
          <p:nvPr/>
        </p:nvSpPr>
        <p:spPr>
          <a:xfrm>
            <a:off x="6376988" y="2409825"/>
            <a:ext cx="523875" cy="304800"/>
          </a:xfrm>
          <a:prstGeom prst="rect">
            <a:avLst/>
          </a:prstGeom>
          <a:solidFill>
            <a:srgbClr val="FFF2CC"/>
          </a:solidFill>
          <a:ln w="952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7F5F00"/>
                </a:solidFill>
                <a:latin typeface="맑은 고딕"/>
                <a:ea typeface="맑은 고딕"/>
              </a:rPr>
              <a:t>DDR 128GB</a:t>
            </a:r>
          </a:p>
        </p:txBody>
      </p:sp>
      <p:sp>
        <p:nvSpPr>
          <p:cNvPr id="281" name="Rectangle 51"/>
          <p:cNvSpPr/>
          <p:nvPr/>
        </p:nvSpPr>
        <p:spPr>
          <a:xfrm>
            <a:off x="4705350" y="2762250"/>
            <a:ext cx="1081088" cy="24765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750" b="1" i="0">
                <a:solidFill>
                  <a:srgbClr val="262626"/>
                </a:solidFill>
                <a:latin typeface="맑은 고딕"/>
                <a:ea typeface="맑은 고딕"/>
              </a:rPr>
              <a:t>NVMe SSD  16TB</a:t>
            </a:r>
          </a:p>
        </p:txBody>
      </p:sp>
      <p:sp>
        <p:nvSpPr>
          <p:cNvPr id="282" name="Rectangle 52"/>
          <p:cNvSpPr/>
          <p:nvPr/>
        </p:nvSpPr>
        <p:spPr>
          <a:xfrm>
            <a:off x="5819775" y="2762250"/>
            <a:ext cx="1081088" cy="247650"/>
          </a:xfrm>
          <a:prstGeom prst="rect">
            <a:avLst/>
          </a:prstGeom>
          <a:solidFill>
            <a:srgbClr val="E2EFDA"/>
          </a:solidFill>
          <a:ln w="952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750" b="1" i="0">
                <a:solidFill>
                  <a:srgbClr val="375623"/>
                </a:solidFill>
                <a:latin typeface="맑은 고딕"/>
                <a:ea typeface="맑은 고딕"/>
              </a:rPr>
              <a:t>PIM-SSD  16TB</a:t>
            </a:r>
          </a:p>
        </p:txBody>
      </p:sp>
      <p:sp>
        <p:nvSpPr>
          <p:cNvPr id="283" name="Rectangle 53"/>
          <p:cNvSpPr/>
          <p:nvPr/>
        </p:nvSpPr>
        <p:spPr>
          <a:xfrm>
            <a:off x="7086600" y="1133475"/>
            <a:ext cx="4791075" cy="1933575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64008" rIns="82296" bIns="0" rtlCol="0" anchor="t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1" i="0">
                <a:solidFill>
                  <a:srgbClr val="1F4E79"/>
                </a:solidFill>
                <a:latin typeface="맑은 고딕"/>
                <a:ea typeface="맑은 고딕"/>
              </a:rPr>
              <a:t>GPU  </a:t>
            </a:r>
            <a:r>
              <a:rPr sz="800" b="0" i="0">
                <a:solidFill>
                  <a:srgbClr val="262626"/>
                </a:solidFill>
                <a:latin typeface="맑은 고딕"/>
                <a:ea typeface="맑은 고딕"/>
              </a:rPr>
              <a:t>NVIDIA H100 SXM5 80GB · HBM3 (5-stack) · 3.35 TB/s · 132 SM — 신품 $30K/장 (HBM 포함)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1" i="0">
                <a:solidFill>
                  <a:srgbClr val="1F4E79"/>
                </a:solidFill>
                <a:latin typeface="맑은 고딕"/>
                <a:ea typeface="맑은 고딕"/>
              </a:rPr>
              <a:t>CPU  </a:t>
            </a:r>
            <a:r>
              <a:rPr sz="800" b="0" i="0">
                <a:solidFill>
                  <a:srgbClr val="262626"/>
                </a:solidFill>
                <a:latin typeface="맑은 고딕"/>
                <a:ea typeface="맑은 고딕"/>
              </a:rPr>
              <a:t>Xeon Platinum 8480+급 (Sapphire Rapids, 56C) × 2소켓 · DDR5-4800 8ch × 64GB RDIMM = 512GB/소켓 — 신품 $35/GB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1" i="0">
                <a:solidFill>
                  <a:srgbClr val="1F4E79"/>
                </a:solidFill>
                <a:latin typeface="맑은 고딕"/>
                <a:ea typeface="맑은 고딕"/>
              </a:rPr>
              <a:t>CXL-PNM  </a:t>
            </a:r>
            <a:r>
              <a:rPr sz="800" b="0" i="0">
                <a:solidFill>
                  <a:srgbClr val="262626"/>
                </a:solidFill>
                <a:latin typeface="맑은 고딕"/>
                <a:ea typeface="맑은 고딕"/>
              </a:rPr>
              <a:t>Marvell Structera A 2504 (CXL Type-3 · Arm Neoverse V2 16코어 near-memory) · DDR5-6400 4ch × 32GB RDIMM = 128GB/카드 — 카드 $1.5K (가정, 가격 비공개)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1" i="0">
                <a:solidFill>
                  <a:srgbClr val="1F4E79"/>
                </a:solidFill>
                <a:latin typeface="맑은 고딕"/>
                <a:ea typeface="맑은 고딕"/>
              </a:rPr>
              <a:t>NVMe SSD  </a:t>
            </a:r>
            <a:r>
              <a:rPr sz="800" b="0" i="0">
                <a:solidFill>
                  <a:srgbClr val="262626"/>
                </a:solidFill>
                <a:latin typeface="맑은 고딕"/>
                <a:ea typeface="맑은 고딕"/>
              </a:rPr>
              <a:t>엔터프라이즈 PCIe Gen4 U.3 TLC (Micron 7450 PRO급) 4TB × 4대, 7 GB/s × 4 = 28 GB/s — 신품 $0.45/GB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1" i="0">
                <a:solidFill>
                  <a:srgbClr val="1F4E79"/>
                </a:solidFill>
                <a:latin typeface="맑은 고딕"/>
                <a:ea typeface="맑은 고딕"/>
              </a:rPr>
              <a:t>PIM-SSD  </a:t>
            </a:r>
            <a:r>
              <a:rPr sz="800" b="0" i="0">
                <a:solidFill>
                  <a:srgbClr val="262626"/>
                </a:solidFill>
                <a:latin typeface="맑은 고딕"/>
                <a:ea typeface="맑은 고딕"/>
              </a:rPr>
              <a:t>연산 내장 SSD — NVMe와 동일 용량 · 대역폭 · 단가로 가정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1" i="0">
                <a:solidFill>
                  <a:srgbClr val="1F4E79"/>
                </a:solidFill>
                <a:latin typeface="맑은 고딕"/>
                <a:ea typeface="맑은 고딕"/>
              </a:rPr>
              <a:t>노드  </a:t>
            </a:r>
            <a:r>
              <a:rPr sz="800" b="0" i="0">
                <a:solidFill>
                  <a:srgbClr val="262626"/>
                </a:solidFill>
                <a:latin typeface="맑은 고딕"/>
                <a:ea typeface="맑은 고딕"/>
              </a:rPr>
              <a:t>Baseline · Target 모두 4노드. 표의 용량 · 대역폭은 1노드 기준, 비용은 4노드 합계</a:t>
            </a:r>
          </a:p>
        </p:txBody>
      </p:sp>
      <p:sp>
        <p:nvSpPr>
          <p:cNvPr id="308" name="Rectangle 78"/>
          <p:cNvSpPr/>
          <p:nvPr/>
        </p:nvSpPr>
        <p:spPr>
          <a:xfrm>
            <a:off x="361950" y="3124200"/>
            <a:ext cx="11515725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endParaRPr/>
          </a:p>
        </p:txBody>
      </p:sp>
      <p:sp>
        <p:nvSpPr>
          <p:cNvPr id="309" name="TextBox 308"/>
          <p:cNvSpPr txBox="1"/>
          <p:nvPr/>
        </p:nvSpPr>
        <p:spPr>
          <a:xfrm>
            <a:off x="361950" y="3171825"/>
            <a:ext cx="2686050" cy="133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 i="0">
                <a:solidFill>
                  <a:srgbClr val="808080"/>
                </a:solidFill>
                <a:latin typeface="맑은 고딕"/>
                <a:ea typeface="맑은 고딕"/>
              </a:rPr>
              <a:t>계층별  용량  ·  대역폭  (1노드 기준)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361950" y="3333750"/>
            <a:ext cx="173355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808080"/>
                </a:solidFill>
                <a:latin typeface="맑은 고딕"/>
                <a:ea typeface="맑은 고딕"/>
              </a:rPr>
              <a:t>HBM</a:t>
            </a:r>
          </a:p>
        </p:txBody>
      </p:sp>
      <p:sp>
        <p:nvSpPr>
          <p:cNvPr id="311" name="TextBox 310"/>
          <p:cNvSpPr txBox="1"/>
          <p:nvPr/>
        </p:nvSpPr>
        <p:spPr>
          <a:xfrm>
            <a:off x="2171700" y="3333750"/>
            <a:ext cx="238125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404040"/>
                </a:solidFill>
                <a:latin typeface="맑은 고딕"/>
                <a:ea typeface="맑은 고딕"/>
              </a:rPr>
              <a:t>640 GB  ·  26.8 TB/s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4629150" y="3333750"/>
            <a:ext cx="238125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404040"/>
                </a:solidFill>
                <a:latin typeface="맑은 고딕"/>
                <a:ea typeface="맑은 고딕"/>
              </a:rPr>
              <a:t>320 GB  ·  13.4 TB/s</a:t>
            </a:r>
          </a:p>
        </p:txBody>
      </p:sp>
      <p:sp>
        <p:nvSpPr>
          <p:cNvPr id="313" name="TextBox 312"/>
          <p:cNvSpPr txBox="1"/>
          <p:nvPr/>
        </p:nvSpPr>
        <p:spPr>
          <a:xfrm>
            <a:off x="7143750" y="3333750"/>
            <a:ext cx="4733925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  <a:latin typeface="맑은 고딕"/>
                <a:ea typeface="맑은 고딕"/>
              </a:rPr>
              <a:t>H100 SXM5 80GB · HBM3 · 3.35 TB/s — Base 8×80GB, 8×3.35 / Target 4×80GB, 4×3.35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361950" y="3543300"/>
            <a:ext cx="173355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808080"/>
                </a:solidFill>
                <a:latin typeface="맑은 고딕"/>
                <a:ea typeface="맑은 고딕"/>
              </a:rPr>
              <a:t>CXL-PNM (DDR)</a:t>
            </a:r>
          </a:p>
        </p:txBody>
      </p:sp>
      <p:sp>
        <p:nvSpPr>
          <p:cNvPr id="319" name="TextBox 318"/>
          <p:cNvSpPr txBox="1"/>
          <p:nvPr/>
        </p:nvSpPr>
        <p:spPr>
          <a:xfrm>
            <a:off x="2171700" y="3543300"/>
            <a:ext cx="238125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404040"/>
                </a:solidFill>
                <a:latin typeface="맑은 고딕"/>
                <a:ea typeface="맑은 고딕"/>
              </a:rPr>
              <a:t>—</a:t>
            </a:r>
          </a:p>
        </p:txBody>
      </p:sp>
      <p:sp>
        <p:nvSpPr>
          <p:cNvPr id="320" name="TextBox 319"/>
          <p:cNvSpPr txBox="1"/>
          <p:nvPr/>
        </p:nvSpPr>
        <p:spPr>
          <a:xfrm>
            <a:off x="4629150" y="3543300"/>
            <a:ext cx="238125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404040"/>
                </a:solidFill>
                <a:latin typeface="맑은 고딕"/>
                <a:ea typeface="맑은 고딕"/>
              </a:rPr>
              <a:t>512 GB  ·  800 GB/s</a:t>
            </a:r>
          </a:p>
        </p:txBody>
      </p:sp>
      <p:sp>
        <p:nvSpPr>
          <p:cNvPr id="321" name="TextBox 320"/>
          <p:cNvSpPr txBox="1"/>
          <p:nvPr/>
        </p:nvSpPr>
        <p:spPr>
          <a:xfrm>
            <a:off x="7143750" y="3543300"/>
            <a:ext cx="4733925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  <a:latin typeface="맑은 고딕"/>
                <a:ea typeface="맑은 고딕"/>
              </a:rPr>
              <a:t>Structera A 2504 · DDR5-6400 4ch×32GB = 128GB, ≈200 GB/s/카드 — 4카드: 4×128, 4×200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361950" y="3752850"/>
            <a:ext cx="173355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808080"/>
                </a:solidFill>
                <a:latin typeface="맑은 고딕"/>
                <a:ea typeface="맑은 고딕"/>
              </a:rPr>
              <a:t>CPU DDR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2171700" y="3752850"/>
            <a:ext cx="238125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404040"/>
                </a:solidFill>
                <a:latin typeface="맑은 고딕"/>
                <a:ea typeface="맑은 고딕"/>
              </a:rPr>
              <a:t>1,024 GB  ·  350 GB/s</a:t>
            </a:r>
          </a:p>
        </p:txBody>
      </p:sp>
      <p:sp>
        <p:nvSpPr>
          <p:cNvPr id="324" name="TextBox 323"/>
          <p:cNvSpPr txBox="1"/>
          <p:nvPr/>
        </p:nvSpPr>
        <p:spPr>
          <a:xfrm>
            <a:off x="4629150" y="3752850"/>
            <a:ext cx="238125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404040"/>
                </a:solidFill>
                <a:latin typeface="맑은 고딕"/>
                <a:ea typeface="맑은 고딕"/>
              </a:rPr>
              <a:t>1,024 GB  ·  350 GB/s</a:t>
            </a:r>
          </a:p>
        </p:txBody>
      </p:sp>
      <p:sp>
        <p:nvSpPr>
          <p:cNvPr id="325" name="TextBox 324"/>
          <p:cNvSpPr txBox="1"/>
          <p:nvPr/>
        </p:nvSpPr>
        <p:spPr>
          <a:xfrm>
            <a:off x="7143750" y="3752850"/>
            <a:ext cx="4733925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  <a:latin typeface="맑은 고딕"/>
                <a:ea typeface="맑은 고딕"/>
              </a:rPr>
              <a:t>Xeon 8480+급 56C ×2 · DDR5-4800 8ch×64GB = 512GB, 유효 175 GB/s/소켓 — 2×512, 2×175</a:t>
            </a:r>
          </a:p>
        </p:txBody>
      </p:sp>
      <p:sp>
        <p:nvSpPr>
          <p:cNvPr id="326" name="TextBox 325"/>
          <p:cNvSpPr txBox="1"/>
          <p:nvPr/>
        </p:nvSpPr>
        <p:spPr>
          <a:xfrm>
            <a:off x="361950" y="3962400"/>
            <a:ext cx="173355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808080"/>
                </a:solidFill>
                <a:latin typeface="맑은 고딕"/>
                <a:ea typeface="맑은 고딕"/>
              </a:rPr>
              <a:t>NVMe SSD</a:t>
            </a:r>
          </a:p>
        </p:txBody>
      </p:sp>
      <p:sp>
        <p:nvSpPr>
          <p:cNvPr id="327" name="TextBox 326"/>
          <p:cNvSpPr txBox="1"/>
          <p:nvPr/>
        </p:nvSpPr>
        <p:spPr>
          <a:xfrm>
            <a:off x="2171700" y="3962400"/>
            <a:ext cx="238125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404040"/>
                </a:solidFill>
                <a:latin typeface="맑은 고딕"/>
                <a:ea typeface="맑은 고딕"/>
              </a:rPr>
              <a:t>16,000 GB  ·  28 GB/s</a:t>
            </a:r>
          </a:p>
        </p:txBody>
      </p:sp>
      <p:sp>
        <p:nvSpPr>
          <p:cNvPr id="328" name="TextBox 327"/>
          <p:cNvSpPr txBox="1"/>
          <p:nvPr/>
        </p:nvSpPr>
        <p:spPr>
          <a:xfrm>
            <a:off x="4629150" y="3962400"/>
            <a:ext cx="238125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404040"/>
                </a:solidFill>
                <a:latin typeface="맑은 고딕"/>
                <a:ea typeface="맑은 고딕"/>
              </a:rPr>
              <a:t>16,000 GB  ·  28 GB/s</a:t>
            </a:r>
          </a:p>
        </p:txBody>
      </p:sp>
      <p:sp>
        <p:nvSpPr>
          <p:cNvPr id="329" name="TextBox 328"/>
          <p:cNvSpPr txBox="1"/>
          <p:nvPr/>
        </p:nvSpPr>
        <p:spPr>
          <a:xfrm>
            <a:off x="7143750" y="3962400"/>
            <a:ext cx="4733925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  <a:latin typeface="맑은 고딕"/>
                <a:ea typeface="맑은 고딕"/>
              </a:rPr>
              <a:t>NVMe PCIe Gen4 U.3 TLC · 4TB×4 = 16TB, 7 GB/s×4 = 28 GB/s</a:t>
            </a:r>
          </a:p>
        </p:txBody>
      </p:sp>
      <p:sp>
        <p:nvSpPr>
          <p:cNvPr id="330" name="TextBox 329"/>
          <p:cNvSpPr txBox="1"/>
          <p:nvPr/>
        </p:nvSpPr>
        <p:spPr>
          <a:xfrm>
            <a:off x="361950" y="4171950"/>
            <a:ext cx="173355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808080"/>
                </a:solidFill>
                <a:latin typeface="맑은 고딕"/>
                <a:ea typeface="맑은 고딕"/>
              </a:rPr>
              <a:t>PIM-SSD</a:t>
            </a:r>
          </a:p>
        </p:txBody>
      </p:sp>
      <p:sp>
        <p:nvSpPr>
          <p:cNvPr id="331" name="TextBox 330"/>
          <p:cNvSpPr txBox="1"/>
          <p:nvPr/>
        </p:nvSpPr>
        <p:spPr>
          <a:xfrm>
            <a:off x="2171700" y="4171950"/>
            <a:ext cx="238125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404040"/>
                </a:solidFill>
                <a:latin typeface="맑은 고딕"/>
                <a:ea typeface="맑은 고딕"/>
              </a:rPr>
              <a:t>—</a:t>
            </a:r>
          </a:p>
        </p:txBody>
      </p:sp>
      <p:sp>
        <p:nvSpPr>
          <p:cNvPr id="332" name="TextBox 331"/>
          <p:cNvSpPr txBox="1"/>
          <p:nvPr/>
        </p:nvSpPr>
        <p:spPr>
          <a:xfrm>
            <a:off x="4629150" y="4171950"/>
            <a:ext cx="238125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404040"/>
                </a:solidFill>
                <a:latin typeface="맑은 고딕"/>
                <a:ea typeface="맑은 고딕"/>
              </a:rPr>
              <a:t>16,000 GB  ·  28 GB/s</a:t>
            </a:r>
          </a:p>
        </p:txBody>
      </p:sp>
      <p:sp>
        <p:nvSpPr>
          <p:cNvPr id="333" name="TextBox 332"/>
          <p:cNvSpPr txBox="1"/>
          <p:nvPr/>
        </p:nvSpPr>
        <p:spPr>
          <a:xfrm>
            <a:off x="7143750" y="4171950"/>
            <a:ext cx="4733925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  <a:latin typeface="맑은 고딕"/>
                <a:ea typeface="맑은 고딕"/>
              </a:rPr>
              <a:t>PIM(연산 내장) SSD · NVMe와 동일 용량·대역폭·단가 가정 — 16TB, 28 GB/s</a:t>
            </a:r>
          </a:p>
        </p:txBody>
      </p:sp>
      <p:sp>
        <p:nvSpPr>
          <p:cNvPr id="334" name="Rectangle 104"/>
          <p:cNvSpPr/>
          <p:nvPr/>
        </p:nvSpPr>
        <p:spPr>
          <a:xfrm>
            <a:off x="361950" y="4419600"/>
            <a:ext cx="11515725" cy="20955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endParaRPr/>
          </a:p>
        </p:txBody>
      </p:sp>
      <p:sp>
        <p:nvSpPr>
          <p:cNvPr id="335" name="TextBox 334"/>
          <p:cNvSpPr txBox="1"/>
          <p:nvPr/>
        </p:nvSpPr>
        <p:spPr>
          <a:xfrm>
            <a:off x="438150" y="4419600"/>
            <a:ext cx="165735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262626"/>
                </a:solidFill>
                <a:latin typeface="맑은 고딕"/>
                <a:ea typeface="맑은 고딕"/>
              </a:rPr>
              <a:t>가속기측 고대역 용량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2171700" y="4419600"/>
            <a:ext cx="238125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262626"/>
                </a:solidFill>
                <a:latin typeface="맑은 고딕"/>
                <a:ea typeface="맑은 고딕"/>
              </a:rPr>
              <a:t>640 GB  (1.00×)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4629150" y="4419600"/>
            <a:ext cx="238125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262626"/>
                </a:solidFill>
                <a:latin typeface="맑은 고딕"/>
                <a:ea typeface="맑은 고딕"/>
              </a:rPr>
              <a:t>832 GB  (1.30×)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7143750" y="4419600"/>
            <a:ext cx="4733925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404040"/>
                </a:solidFill>
                <a:latin typeface="맑은 고딕"/>
                <a:ea typeface="맑은 고딕"/>
              </a:rPr>
              <a:t>HBM + PNM : 640 / 320 + 512 = 832 GB</a:t>
            </a:r>
          </a:p>
        </p:txBody>
      </p:sp>
      <p:sp>
        <p:nvSpPr>
          <p:cNvPr id="339" name="Rectangle 109"/>
          <p:cNvSpPr/>
          <p:nvPr/>
        </p:nvSpPr>
        <p:spPr>
          <a:xfrm>
            <a:off x="361950" y="4629150"/>
            <a:ext cx="11515725" cy="20955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endParaRPr/>
          </a:p>
        </p:txBody>
      </p:sp>
      <p:sp>
        <p:nvSpPr>
          <p:cNvPr id="340" name="TextBox 339"/>
          <p:cNvSpPr txBox="1"/>
          <p:nvPr/>
        </p:nvSpPr>
        <p:spPr>
          <a:xfrm>
            <a:off x="438150" y="4629150"/>
            <a:ext cx="165735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262626"/>
                </a:solidFill>
                <a:latin typeface="맑은 고딕"/>
                <a:ea typeface="맑은 고딕"/>
              </a:rPr>
              <a:t>가속기측 고대역 대역폭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2171700" y="4629150"/>
            <a:ext cx="238125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262626"/>
                </a:solidFill>
                <a:latin typeface="맑은 고딕"/>
                <a:ea typeface="맑은 고딕"/>
              </a:rPr>
              <a:t>26.8 TB/s  (1.00×)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4629150" y="4629150"/>
            <a:ext cx="238125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262626"/>
                </a:solidFill>
                <a:latin typeface="맑은 고딕"/>
                <a:ea typeface="맑은 고딕"/>
              </a:rPr>
              <a:t>14.2 TB/s  (0.53×)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7143750" y="4629150"/>
            <a:ext cx="4733925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404040"/>
                </a:solidFill>
                <a:latin typeface="맑은 고딕"/>
                <a:ea typeface="맑은 고딕"/>
              </a:rPr>
              <a:t>HBM + PNM : 8×3.35 = 26.8 / 4×3.35 + 4×0.2 = 14.2 TB/s</a:t>
            </a:r>
          </a:p>
        </p:txBody>
      </p:sp>
      <p:sp>
        <p:nvSpPr>
          <p:cNvPr id="344" name="Rectangle 114"/>
          <p:cNvSpPr/>
          <p:nvPr/>
        </p:nvSpPr>
        <p:spPr>
          <a:xfrm>
            <a:off x="361950" y="4838700"/>
            <a:ext cx="11515725" cy="20955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endParaRPr/>
          </a:p>
        </p:txBody>
      </p:sp>
      <p:sp>
        <p:nvSpPr>
          <p:cNvPr id="345" name="TextBox 344"/>
          <p:cNvSpPr txBox="1"/>
          <p:nvPr/>
        </p:nvSpPr>
        <p:spPr>
          <a:xfrm>
            <a:off x="438150" y="4838700"/>
            <a:ext cx="165735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262626"/>
                </a:solidFill>
                <a:latin typeface="맑은 고딕"/>
                <a:ea typeface="맑은 고딕"/>
              </a:rPr>
              <a:t>총 메모리 용량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171700" y="4838700"/>
            <a:ext cx="238125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262626"/>
                </a:solidFill>
                <a:latin typeface="맑은 고딕"/>
                <a:ea typeface="맑은 고딕"/>
              </a:rPr>
              <a:t>17,664 GB  (1.00×)</a:t>
            </a:r>
          </a:p>
        </p:txBody>
      </p:sp>
      <p:sp>
        <p:nvSpPr>
          <p:cNvPr id="347" name="TextBox 346"/>
          <p:cNvSpPr txBox="1"/>
          <p:nvPr/>
        </p:nvSpPr>
        <p:spPr>
          <a:xfrm>
            <a:off x="4629150" y="4838700"/>
            <a:ext cx="238125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262626"/>
                </a:solidFill>
                <a:latin typeface="맑은 고딕"/>
                <a:ea typeface="맑은 고딕"/>
              </a:rPr>
              <a:t>33,856 GB  (1.92×)</a:t>
            </a:r>
          </a:p>
        </p:txBody>
      </p:sp>
      <p:sp>
        <p:nvSpPr>
          <p:cNvPr id="348" name="TextBox 347"/>
          <p:cNvSpPr txBox="1"/>
          <p:nvPr/>
        </p:nvSpPr>
        <p:spPr>
          <a:xfrm>
            <a:off x="7143750" y="4838700"/>
            <a:ext cx="4733925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404040"/>
                </a:solidFill>
                <a:latin typeface="맑은 고딕"/>
                <a:ea typeface="맑은 고딕"/>
              </a:rPr>
              <a:t>HBM+PNM+DDR+NVMe+PIM : 640+1,024+16,000 / 320+512+1,024+16,000+16,000</a:t>
            </a:r>
          </a:p>
        </p:txBody>
      </p:sp>
      <p:sp>
        <p:nvSpPr>
          <p:cNvPr id="349" name="Rectangle 119"/>
          <p:cNvSpPr/>
          <p:nvPr/>
        </p:nvSpPr>
        <p:spPr>
          <a:xfrm>
            <a:off x="361950" y="5467350"/>
            <a:ext cx="11515725" cy="20955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endParaRPr/>
          </a:p>
        </p:txBody>
      </p:sp>
      <p:sp>
        <p:nvSpPr>
          <p:cNvPr id="350" name="TextBox 349"/>
          <p:cNvSpPr txBox="1"/>
          <p:nvPr/>
        </p:nvSpPr>
        <p:spPr>
          <a:xfrm>
            <a:off x="438150" y="5467350"/>
            <a:ext cx="165735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</a:rPr>
              <a:t>총 비용 (4노드)</a:t>
            </a:r>
          </a:p>
        </p:txBody>
      </p:sp>
      <p:sp>
        <p:nvSpPr>
          <p:cNvPr id="351" name="TextBox 350"/>
          <p:cNvSpPr txBox="1"/>
          <p:nvPr/>
        </p:nvSpPr>
        <p:spPr>
          <a:xfrm>
            <a:off x="2171700" y="5467350"/>
            <a:ext cx="238125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</a:rPr>
              <a:t>$1,132K  (1.00×)</a:t>
            </a:r>
          </a:p>
        </p:txBody>
      </p:sp>
      <p:sp>
        <p:nvSpPr>
          <p:cNvPr id="352" name="TextBox 351"/>
          <p:cNvSpPr txBox="1"/>
          <p:nvPr/>
        </p:nvSpPr>
        <p:spPr>
          <a:xfrm>
            <a:off x="4629150" y="5467350"/>
            <a:ext cx="238125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</a:rPr>
              <a:t>$777K  (0.69×)</a:t>
            </a:r>
          </a:p>
        </p:txBody>
      </p:sp>
      <p:sp>
        <p:nvSpPr>
          <p:cNvPr id="353" name="TextBox 352"/>
          <p:cNvSpPr txBox="1"/>
          <p:nvPr/>
        </p:nvSpPr>
        <p:spPr>
          <a:xfrm>
            <a:off x="7143750" y="5467350"/>
            <a:ext cx="4733925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맑은 고딕"/>
                <a:ea typeface="맑은 고딕"/>
              </a:rPr>
              <a:t>메모리·SSD + 카드 : $172K + $960K / $273K + $504K  (CPU·보드·전원 제외)</a:t>
            </a:r>
          </a:p>
        </p:txBody>
      </p:sp>
      <p:sp>
        <p:nvSpPr>
          <p:cNvPr id="354" name="Rectangle 124"/>
          <p:cNvSpPr/>
          <p:nvPr/>
        </p:nvSpPr>
        <p:spPr>
          <a:xfrm>
            <a:off x="365760" y="5753100"/>
            <a:ext cx="11521440" cy="381000"/>
          </a:xfrm>
          <a:prstGeom prst="rect">
            <a:avLst/>
          </a:prstGeom>
          <a:solidFill>
            <a:srgbClr val="FFF2CC"/>
          </a:solidFill>
          <a:ln w="1270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7F5F00"/>
                </a:solidFill>
                <a:latin typeface="맑은 고딕"/>
                <a:ea typeface="맑은 고딕"/>
              </a:rPr>
              <a:t>집계 대역폭 0.53×는 슬롯당 대역폭이 낮아진 게 아니라 GPU가 4대 줄어든 몫이다 — 슬롯당 HBM 3.35 TB/s는 두 구성 모두 같고, decode attention이 묶이는 것은 슬롯당 대역폭이다</a:t>
            </a:r>
          </a:p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7F5F00"/>
                </a:solidFill>
                <a:latin typeface="맑은 고딕"/>
                <a:ea typeface="맑은 고딕"/>
              </a:rPr>
              <a:t>매체 지연 : HBM ~100 ns · CXL-PNM ~300 ns · NVMe ~100 μs → KV 상주 계층은 HBM · CXL-PNM이 맡고, NVMe · PIM-SSD는 cold 계층이다</a:t>
            </a:r>
          </a:p>
        </p:txBody>
      </p:sp>
      <p:sp>
        <p:nvSpPr>
          <p:cNvPr id="355" name="TextBox 354"/>
          <p:cNvSpPr txBox="1"/>
          <p:nvPr/>
        </p:nvSpPr>
        <p:spPr>
          <a:xfrm>
            <a:off x="365760" y="6210300"/>
            <a:ext cx="1152144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808080"/>
                </a:solidFill>
                <a:latin typeface="맑은 고딕"/>
                <a:ea typeface="맑은 고딕"/>
              </a:rPr>
              <a:t>※ GPU = H100 SXM5 (132 SM · HBM3 80GB · 3.35 TB/s) · CPU DDR 175 GB/s × 2소켓 · CXL-PNM(Structera A) 200 GB/s × 4카드. 용량 · 대역폭은 1노드 기준.</a:t>
            </a:r>
          </a:p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808080"/>
                </a:solidFill>
                <a:latin typeface="맑은 고딕"/>
                <a:ea typeface="맑은 고딕"/>
              </a:rPr>
              <a:t>※ 신품 단가(2026.10) H100 SXM5 80GB $30K(범위 $25~35K, HBM 포함) · DDR5 RDIMM $35/GB · 엔터프라이즈 NVMe·PIM-SSD $0.45/GB · PNM 카드 $1.5K(가정). 4노드 합계, CPU·보드·전원은 제외.</a:t>
            </a:r>
          </a:p>
        </p:txBody>
      </p:sp>
      <p:sp>
        <p:nvSpPr>
          <p:cNvPr id="356" name="Rectangle N1"/>
          <p:cNvSpPr/>
          <p:nvPr/>
        </p:nvSpPr>
        <p:spPr>
          <a:xfrm>
            <a:off x="361950" y="5048250"/>
            <a:ext cx="11515725" cy="20955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endParaRPr/>
          </a:p>
        </p:txBody>
      </p:sp>
      <p:sp>
        <p:nvSpPr>
          <p:cNvPr id="357" name="TextBox NL1"/>
          <p:cNvSpPr txBox="1"/>
          <p:nvPr/>
        </p:nvSpPr>
        <p:spPr>
          <a:xfrm>
            <a:off x="438150" y="5048250"/>
            <a:ext cx="165735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262626"/>
                </a:solidFill>
                <a:latin typeface="맑은 고딕"/>
                <a:ea typeface="맑은 고딕"/>
              </a:rPr>
              <a:t>메모리·SSD 비용 (4노드)</a:t>
            </a:r>
          </a:p>
        </p:txBody>
      </p:sp>
      <p:sp>
        <p:nvSpPr>
          <p:cNvPr id="358" name="TextBox NB1"/>
          <p:cNvSpPr txBox="1"/>
          <p:nvPr/>
        </p:nvSpPr>
        <p:spPr>
          <a:xfrm>
            <a:off x="2171700" y="5048250"/>
            <a:ext cx="238125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262626"/>
                </a:solidFill>
                <a:latin typeface="맑은 고딕"/>
                <a:ea typeface="맑은 고딕"/>
              </a:rPr>
              <a:t>$172K  (1.00×)</a:t>
            </a:r>
          </a:p>
        </p:txBody>
      </p:sp>
      <p:sp>
        <p:nvSpPr>
          <p:cNvPr id="359" name="TextBox NT1"/>
          <p:cNvSpPr txBox="1"/>
          <p:nvPr/>
        </p:nvSpPr>
        <p:spPr>
          <a:xfrm>
            <a:off x="4629150" y="5048250"/>
            <a:ext cx="238125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262626"/>
                </a:solidFill>
                <a:latin typeface="맑은 고딕"/>
                <a:ea typeface="맑은 고딕"/>
              </a:rPr>
              <a:t>$273K  (1.58×)</a:t>
            </a:r>
          </a:p>
        </p:txBody>
      </p:sp>
      <p:sp>
        <p:nvSpPr>
          <p:cNvPr id="360" name="TextBox NF1"/>
          <p:cNvSpPr txBox="1"/>
          <p:nvPr/>
        </p:nvSpPr>
        <p:spPr>
          <a:xfrm>
            <a:off x="7143750" y="5048250"/>
            <a:ext cx="4733925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404040"/>
                </a:solidFill>
                <a:latin typeface="맑은 고딕"/>
                <a:ea typeface="맑은 고딕"/>
              </a:rPr>
              <a:t>4×[DDR 1,024GB×$35 + NVMe 16TB×$0.45] / 4×[DDR 1,536GB×$35 + SSD 32TB×$0.45]</a:t>
            </a:r>
          </a:p>
        </p:txBody>
      </p:sp>
      <p:sp>
        <p:nvSpPr>
          <p:cNvPr id="361" name="Rectangle N2"/>
          <p:cNvSpPr/>
          <p:nvPr/>
        </p:nvSpPr>
        <p:spPr>
          <a:xfrm>
            <a:off x="361950" y="5257800"/>
            <a:ext cx="11515725" cy="20955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endParaRPr/>
          </a:p>
        </p:txBody>
      </p:sp>
      <p:sp>
        <p:nvSpPr>
          <p:cNvPr id="362" name="TextBox NL2"/>
          <p:cNvSpPr txBox="1"/>
          <p:nvPr/>
        </p:nvSpPr>
        <p:spPr>
          <a:xfrm>
            <a:off x="438150" y="5257800"/>
            <a:ext cx="165735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262626"/>
                </a:solidFill>
                <a:latin typeface="맑은 고딕"/>
                <a:ea typeface="맑은 고딕"/>
              </a:rPr>
              <a:t>카드 비용 (4노드)</a:t>
            </a:r>
          </a:p>
        </p:txBody>
      </p:sp>
      <p:sp>
        <p:nvSpPr>
          <p:cNvPr id="363" name="TextBox NB2"/>
          <p:cNvSpPr txBox="1"/>
          <p:nvPr/>
        </p:nvSpPr>
        <p:spPr>
          <a:xfrm>
            <a:off x="2171700" y="5257800"/>
            <a:ext cx="238125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262626"/>
                </a:solidFill>
                <a:latin typeface="맑은 고딕"/>
                <a:ea typeface="맑은 고딕"/>
              </a:rPr>
              <a:t>$960K  (1.00×)</a:t>
            </a:r>
          </a:p>
        </p:txBody>
      </p:sp>
      <p:sp>
        <p:nvSpPr>
          <p:cNvPr id="364" name="TextBox NT2"/>
          <p:cNvSpPr txBox="1"/>
          <p:nvPr/>
        </p:nvSpPr>
        <p:spPr>
          <a:xfrm>
            <a:off x="4629150" y="5257800"/>
            <a:ext cx="238125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262626"/>
                </a:solidFill>
                <a:latin typeface="맑은 고딕"/>
                <a:ea typeface="맑은 고딕"/>
              </a:rPr>
              <a:t>$504K  (0.53×)</a:t>
            </a:r>
          </a:p>
        </p:txBody>
      </p:sp>
      <p:sp>
        <p:nvSpPr>
          <p:cNvPr id="365" name="TextBox NF2"/>
          <p:cNvSpPr txBox="1"/>
          <p:nvPr/>
        </p:nvSpPr>
        <p:spPr>
          <a:xfrm>
            <a:off x="7143750" y="5257800"/>
            <a:ext cx="4733925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404040"/>
                </a:solidFill>
                <a:latin typeface="맑은 고딕"/>
                <a:ea typeface="맑은 고딕"/>
              </a:rPr>
              <a:t>4×(8×$30K) / 4×(4×$30K + 4×$1.5K PNM) — H100 가격에 HBM 포함</a:t>
            </a:r>
          </a:p>
        </p:txBody>
      </p:sp>
    </p:spTree>
    <p:extLst>
      <p:ext uri="{BB962C8B-B14F-4D97-AF65-F5344CB8AC3E}">
        <p14:creationId xmlns:p14="http://schemas.microsoft.com/office/powerpoint/2010/main" val="4223400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574</Words>
  <Application>Microsoft Office PowerPoint</Application>
  <PresentationFormat>와이드스크린</PresentationFormat>
  <Paragraphs>124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Baseline 시스템 vs Target 시스템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Baseline 시스템 vs Target 시스템</dc:title>
  <dc:creator>Myeong Woo Kim</dc:creator>
  <cp:lastModifiedBy>Myeong Woo Kim</cp:lastModifiedBy>
  <cp:revision>1</cp:revision>
  <dcterms:created xsi:type="dcterms:W3CDTF">2026-10-28T13:22:18Z</dcterms:created>
  <dcterms:modified xsi:type="dcterms:W3CDTF">2026-10-28T13:22:27Z</dcterms:modified>
</cp:coreProperties>
</file>
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1038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51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8E92C5-ED7E-4875-B274-95F23C2CE9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F1C1181-5137-4A59-849E-EF429916B4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EA24972-B43D-4BFB-B22B-EAD3863A1F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103CAF-3915-481D-ADE8-B1FC5DC199FE}" type="datetimeFigureOut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AC32921-8B0B-4240-B78F-BE51A423D5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5772B79-6A32-4330-A7F4-FC3D5E72DC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6CADFC-0F0A-44E4-90CA-0FB62FAFA24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576748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436A0DD-8E60-47F4-9843-7878E35CB4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0CFFE95-324D-4A9B-BB47-730AF6C5FB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DDD69E4-CE98-474A-B4A4-DE527B8754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103CAF-3915-481D-ADE8-B1FC5DC199FE}" type="datetimeFigureOut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20422FE-50AB-4528-BA32-748D2BE5C7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8CF3FD6-A665-4323-934B-A4D8C9C60E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6CADFC-0F0A-44E4-90CA-0FB62FAFA24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61872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4A6054-7008-4B47-AFBB-FD1265B628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F9AAAB9-A6AF-4BB9-98A2-7D28B926F8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10C2101-9FC7-48B4-B49B-A48DA9100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103CAF-3915-481D-ADE8-B1FC5DC199FE}" type="datetimeFigureOut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43104BD-C87F-415E-B98B-C8414AEF67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56E5F6B-13C3-48F7-82EF-66F0CEDE78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6CADFC-0F0A-44E4-90CA-0FB62FAFA24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89630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A8448FB-4345-4203-9C0B-4E92F0BA30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EF8ED0C-F7F0-434C-8964-1EA661FB515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9D6865-ADF3-49A0-B648-900E822CC6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CB1A3AA-FC14-46C9-90FC-AD15710AE5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103CAF-3915-481D-ADE8-B1FC5DC199FE}" type="datetimeFigureOut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17D8DC6-9ED2-425C-ADC2-E5B687B6A8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DDBE30C-DBE2-4B5A-A411-2D6C59EEF6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6CADFC-0F0A-44E4-90CA-0FB62FAFA24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4768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939F96D-D0DB-4FE8-BEA4-262662E591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2C76505-FFE7-41B5-9D5F-F4D305B501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FF74824-FF95-4859-B7A5-C35D512F4D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AC1F40A1-90E3-4B3B-98C7-51DB44CCE56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832B02B-3242-4673-8095-9BF70E683A1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4CFD10D9-086C-4D17-9235-D791D0E0B3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103CAF-3915-481D-ADE8-B1FC5DC199FE}" type="datetimeFigureOut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A9C1E53-F41E-4F65-8E4E-C760B3CA23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E6EF15AA-38C2-4C19-A259-97FB63F1BC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6CADFC-0F0A-44E4-90CA-0FB62FAFA24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51114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D705F1-F4A1-496F-B807-2EF9BB10F7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9175092-548C-4318-B0CC-2453DE1701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103CAF-3915-481D-ADE8-B1FC5DC199FE}" type="datetimeFigureOut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33E8A59-3054-45C6-9459-FD1161E00B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40DE3BC-28AC-47CC-827C-484564F4CB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6CADFC-0F0A-44E4-90CA-0FB62FAFA24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842748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A34A590C-E83E-4F61-AED3-F70B1F1B14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103CAF-3915-481D-ADE8-B1FC5DC199FE}" type="datetimeFigureOut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2A39C82E-0B76-481E-A0F1-7C561AB127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C17E542-9FD8-4008-BDA5-86516F1A9C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6CADFC-0F0A-44E4-90CA-0FB62FAFA24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08463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4571994-CC03-4E80-B4C2-DD695E36F1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9BDB054-5802-49E2-981B-A497A75995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CF6B05F-0F3C-4AA5-AB0B-C8045D3AC26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2107CAC-A703-4AD2-9678-330AE604E1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103CAF-3915-481D-ADE8-B1FC5DC199FE}" type="datetimeFigureOut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F7A0BB8-291B-486F-8F41-F1975A0BC3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F94767A-A762-4644-B746-3494E11F1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6CADFC-0F0A-44E4-90CA-0FB62FAFA24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21718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553291-DC6B-4836-B88A-C5A95AD91C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A69F4547-3CEA-4C51-973C-4372F7BA34C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82984F6-ECBB-4279-8D8F-72C2D30FFA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09EEE63-CEC3-4DA3-9215-35012ADC62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103CAF-3915-481D-ADE8-B1FC5DC199FE}" type="datetimeFigureOut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30E1EE8-56ED-4B6F-BBD7-66D5835A58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45F57F4-7924-490B-9306-9ABA292458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6CADFC-0F0A-44E4-90CA-0FB62FAFA24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618897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35F96D5-8AE9-4C38-8DEF-EBAF997D09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8FAEA51-C168-44DE-9DE4-EBC81676AF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86998F5-57A0-4E13-8C65-B6ACFDF9A6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103CAF-3915-481D-ADE8-B1FC5DC199FE}" type="datetimeFigureOut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C6EBBAF-4F0D-41C3-84D1-4C0C699177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3B48A8B-AD22-4092-B971-7ECD6E00DB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6CADFC-0F0A-44E4-90CA-0FB62FAFA24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15379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C08D06EF-29EE-4375-A26F-AC8426666AE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B97E908-7C85-4FD7-A4DE-1CFACACAF1B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A146172-F96A-4922-B82A-3FCB079F83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103CAF-3915-481D-ADE8-B1FC5DC199FE}" type="datetimeFigureOut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7285D2D-7C12-41A7-97AB-B3BB86267D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230C980-B384-40E1-8C20-697ABE923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6CADFC-0F0A-44E4-90CA-0FB62FAFA24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4347250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요구사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직선 연결선 11"/>
          <p:cNvCxnSpPr/>
          <p:nvPr userDrawn="1"/>
        </p:nvCxnSpPr>
        <p:spPr>
          <a:xfrm>
            <a:off x="234950" y="654050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연결선 19"/>
          <p:cNvCxnSpPr/>
          <p:nvPr userDrawn="1"/>
        </p:nvCxnSpPr>
        <p:spPr>
          <a:xfrm>
            <a:off x="234950" y="53975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제목 개체 틀 1"/>
          <p:cNvSpPr>
            <a:spLocks noGrp="1"/>
          </p:cNvSpPr>
          <p:nvPr>
            <p:ph type="title"/>
          </p:nvPr>
        </p:nvSpPr>
        <p:spPr>
          <a:xfrm>
            <a:off x="234948" y="137379"/>
            <a:ext cx="7655985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 sz="18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BF6FB25F-7B1E-410A-903C-9DE680EED1C3}"/>
              </a:ext>
            </a:extLst>
          </p:cNvPr>
          <p:cNvGrpSpPr/>
          <p:nvPr userDrawn="1"/>
        </p:nvGrpSpPr>
        <p:grpSpPr>
          <a:xfrm>
            <a:off x="7995393" y="137379"/>
            <a:ext cx="4006094" cy="357521"/>
            <a:chOff x="7522576" y="137379"/>
            <a:chExt cx="4478924" cy="357521"/>
          </a:xfrm>
        </p:grpSpPr>
        <p:sp>
          <p:nvSpPr>
            <p:cNvPr id="22" name="갈매기형 수장 21"/>
            <p:cNvSpPr/>
            <p:nvPr userDrawn="1"/>
          </p:nvSpPr>
          <p:spPr>
            <a:xfrm>
              <a:off x="7522576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과제 소개</a:t>
              </a:r>
            </a:p>
          </p:txBody>
        </p:sp>
        <p:sp>
          <p:nvSpPr>
            <p:cNvPr id="23" name="갈매기형 수장 22"/>
            <p:cNvSpPr/>
            <p:nvPr userDrawn="1"/>
          </p:nvSpPr>
          <p:spPr>
            <a:xfrm>
              <a:off x="8415057" y="137379"/>
              <a:ext cx="1031887" cy="357521"/>
            </a:xfrm>
            <a:prstGeom prst="chevron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요구사항</a:t>
              </a:r>
            </a:p>
          </p:txBody>
        </p:sp>
        <p:sp>
          <p:nvSpPr>
            <p:cNvPr id="25" name="갈매기형 수장 24"/>
            <p:cNvSpPr/>
            <p:nvPr userDrawn="1"/>
          </p:nvSpPr>
          <p:spPr>
            <a:xfrm>
              <a:off x="9313975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설계</a:t>
              </a:r>
            </a:p>
          </p:txBody>
        </p:sp>
        <p:sp>
          <p:nvSpPr>
            <p:cNvPr id="26" name="갈매기형 수장 25"/>
            <p:cNvSpPr/>
            <p:nvPr userDrawn="1"/>
          </p:nvSpPr>
          <p:spPr>
            <a:xfrm>
              <a:off x="102064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구현</a:t>
              </a:r>
              <a:r>
                <a:rPr lang="en-US" altLang="ko-KR" sz="1000" b="1" dirty="0">
                  <a:solidFill>
                    <a:schemeClr val="bg1"/>
                  </a:solidFill>
                </a:rPr>
                <a:t>/</a:t>
              </a:r>
              <a:r>
                <a:rPr lang="ko-KR" altLang="en-US" sz="1000" b="1" dirty="0">
                  <a:solidFill>
                    <a:schemeClr val="bg1"/>
                  </a:solidFill>
                </a:rPr>
                <a:t>검증</a:t>
              </a:r>
            </a:p>
          </p:txBody>
        </p:sp>
        <p:sp>
          <p:nvSpPr>
            <p:cNvPr id="27" name="갈매기형 수장 26"/>
            <p:cNvSpPr/>
            <p:nvPr userDrawn="1"/>
          </p:nvSpPr>
          <p:spPr>
            <a:xfrm>
              <a:off x="11105815" y="137379"/>
              <a:ext cx="892483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결론</a:t>
              </a:r>
            </a:p>
          </p:txBody>
        </p:sp>
        <p:sp>
          <p:nvSpPr>
            <p:cNvPr id="29" name="직사각형 28"/>
            <p:cNvSpPr/>
            <p:nvPr userDrawn="1"/>
          </p:nvSpPr>
          <p:spPr>
            <a:xfrm>
              <a:off x="11789373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>
                <a:solidFill>
                  <a:schemeClr val="bg1"/>
                </a:solidFill>
              </a:endParaRPr>
            </a:p>
          </p:txBody>
        </p:sp>
        <p:sp>
          <p:nvSpPr>
            <p:cNvPr id="30" name="직사각형 29"/>
            <p:cNvSpPr/>
            <p:nvPr userDrawn="1"/>
          </p:nvSpPr>
          <p:spPr>
            <a:xfrm>
              <a:off x="7528835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133627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5E2ABE4C-3010-41F0-A5B4-75F310189E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E1EE271-FEA3-441B-8976-599BE3FB06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01D6435-F383-4D1E-9B4B-F73E4ED22A3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103CAF-3915-481D-ADE8-B1FC5DC199FE}" type="datetimeFigureOut">
              <a:rPr lang="ko-KR" altLang="en-US" smtClean="0"/>
              <a:t>2026-10-28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3E0076D-A9D6-4EAF-81EE-8FAB519DDD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15E12E2-2E98-4625-8B2B-DC3B9CBDBD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26CADFC-0F0A-44E4-90CA-0FB62FAFA24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25898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Baseline </a:t>
            </a:r>
            <a:r>
              <a:rPr lang="ko-KR" altLang="en-US" dirty="0"/>
              <a:t>시스템 </a:t>
            </a:r>
            <a:r>
              <a:rPr lang="en-US" altLang="ko-KR" dirty="0"/>
              <a:t>vs Target </a:t>
            </a:r>
            <a:r>
              <a:rPr lang="ko-KR" altLang="en-US" dirty="0"/>
              <a:t>시스템</a:t>
            </a:r>
          </a:p>
        </p:txBody>
      </p:sp>
      <p:sp>
        <p:nvSpPr>
          <p:cNvPr id="119" name="Rectangle 3"/>
          <p:cNvSpPr/>
          <p:nvPr/>
        </p:nvSpPr>
        <p:spPr>
          <a:xfrm>
            <a:off x="365760" y="694944"/>
            <a:ext cx="11521440" cy="18288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endParaRPr/>
          </a:p>
        </p:txBody>
      </p:sp>
      <p:sp>
        <p:nvSpPr>
          <p:cNvPr id="120" name="TextBox 119"/>
          <p:cNvSpPr txBox="1"/>
          <p:nvPr/>
        </p:nvSpPr>
        <p:spPr>
          <a:xfrm>
            <a:off x="365760" y="804672"/>
            <a:ext cx="201168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 i="0">
                <a:solidFill>
                  <a:srgbClr val="808080"/>
                </a:solidFill>
                <a:latin typeface="맑은 고딕"/>
                <a:ea typeface="맑은 고딕"/>
              </a:rPr>
              <a:t>구성</a:t>
            </a:r>
          </a:p>
        </p:txBody>
      </p:sp>
      <p:sp>
        <p:nvSpPr>
          <p:cNvPr id="121" name="Rectangle 5"/>
          <p:cNvSpPr/>
          <p:nvPr/>
        </p:nvSpPr>
        <p:spPr>
          <a:xfrm>
            <a:off x="2468880" y="804672"/>
            <a:ext cx="3054096" cy="292608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맑은 고딕"/>
                <a:ea typeface="맑은 고딕"/>
              </a:rPr>
              <a:t>Baseline  —  GPU × 8</a:t>
            </a:r>
          </a:p>
        </p:txBody>
      </p:sp>
      <p:sp>
        <p:nvSpPr>
          <p:cNvPr id="236" name="Rectangle 6"/>
          <p:cNvSpPr/>
          <p:nvPr/>
        </p:nvSpPr>
        <p:spPr>
          <a:xfrm>
            <a:off x="5650992" y="804672"/>
            <a:ext cx="3054096" cy="292608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맑은 고딕"/>
                <a:ea typeface="맑은 고딕"/>
              </a:rPr>
              <a:t>Target 1  —  GPU × 4  +  CXL-PNM × 4</a:t>
            </a:r>
          </a:p>
        </p:txBody>
      </p:sp>
      <p:sp>
        <p:nvSpPr>
          <p:cNvPr id="237" name="Rectangle 7"/>
          <p:cNvSpPr/>
          <p:nvPr/>
        </p:nvSpPr>
        <p:spPr>
          <a:xfrm>
            <a:off x="8833104" y="804672"/>
            <a:ext cx="3054096" cy="292608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FFFFFF"/>
                </a:solidFill>
                <a:latin typeface="맑은 고딕"/>
                <a:ea typeface="맑은 고딕"/>
              </a:rPr>
              <a:t>Target 2  —  Target 1 + HBM 절반을 HBF로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365760" y="1207008"/>
            <a:ext cx="2011680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808080"/>
                </a:solidFill>
                <a:latin typeface="맑은 고딕"/>
                <a:ea typeface="맑은 고딕"/>
              </a:rPr>
              <a:t>가속기  상단 4슬롯</a:t>
            </a:r>
          </a:p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808080"/>
                </a:solidFill>
                <a:latin typeface="맑은 고딕"/>
                <a:ea typeface="맑은 고딕"/>
              </a:rPr>
              <a:t>연산 + 고대역 메모리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365760" y="1865376"/>
            <a:ext cx="201168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808080"/>
                </a:solidFill>
                <a:latin typeface="맑은 고딕"/>
                <a:ea typeface="맑은 고딕"/>
              </a:rPr>
              <a:t>CPU  2소켓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365760" y="2377440"/>
            <a:ext cx="2011680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808080"/>
                </a:solidFill>
                <a:latin typeface="맑은 고딕"/>
                <a:ea typeface="맑은 고딕"/>
              </a:rPr>
              <a:t>가속기  하단 4슬롯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365760" y="3035808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i="0">
                <a:solidFill>
                  <a:srgbClr val="808080"/>
                </a:solidFill>
                <a:latin typeface="맑은 고딕"/>
                <a:ea typeface="맑은 고딕"/>
              </a:rPr>
              <a:t>스토리지</a:t>
            </a:r>
          </a:p>
        </p:txBody>
      </p:sp>
      <p:sp>
        <p:nvSpPr>
          <p:cNvPr id="242" name="Rectangle 12"/>
          <p:cNvSpPr/>
          <p:nvPr/>
        </p:nvSpPr>
        <p:spPr>
          <a:xfrm>
            <a:off x="2468880" y="1133856"/>
            <a:ext cx="3054096" cy="2249424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endParaRPr/>
          </a:p>
        </p:txBody>
      </p:sp>
      <p:sp>
        <p:nvSpPr>
          <p:cNvPr id="243" name="Rectangle 13"/>
          <p:cNvSpPr/>
          <p:nvPr/>
        </p:nvSpPr>
        <p:spPr>
          <a:xfrm>
            <a:off x="2560320" y="1207008"/>
            <a:ext cx="697230" cy="237744"/>
          </a:xfrm>
          <a:prstGeom prst="rect">
            <a:avLst/>
          </a:prstGeom>
          <a:solidFill>
            <a:srgbClr val="1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FFFFFF"/>
                </a:solidFill>
                <a:latin typeface="맑은 고딕"/>
                <a:ea typeface="맑은 고딕"/>
              </a:rPr>
              <a:t>GPU0</a:t>
            </a:r>
          </a:p>
        </p:txBody>
      </p:sp>
      <p:sp>
        <p:nvSpPr>
          <p:cNvPr id="244" name="Rectangle 14"/>
          <p:cNvSpPr/>
          <p:nvPr/>
        </p:nvSpPr>
        <p:spPr>
          <a:xfrm>
            <a:off x="2560320" y="1444752"/>
            <a:ext cx="697230" cy="384048"/>
          </a:xfrm>
          <a:prstGeom prst="rect">
            <a:avLst/>
          </a:prstGeom>
          <a:solidFill>
            <a:srgbClr val="DAE8F6"/>
          </a:solidFill>
          <a:ln w="9525">
            <a:solidFill>
              <a:srgbClr val="1F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1F6FB5"/>
                </a:solidFill>
                <a:latin typeface="맑은 고딕"/>
                <a:ea typeface="맑은 고딕"/>
              </a:rPr>
              <a:t>HBM 80GB</a:t>
            </a:r>
          </a:p>
        </p:txBody>
      </p:sp>
      <p:sp>
        <p:nvSpPr>
          <p:cNvPr id="245" name="Rectangle 15"/>
          <p:cNvSpPr/>
          <p:nvPr/>
        </p:nvSpPr>
        <p:spPr>
          <a:xfrm>
            <a:off x="3284982" y="1207008"/>
            <a:ext cx="697230" cy="237744"/>
          </a:xfrm>
          <a:prstGeom prst="rect">
            <a:avLst/>
          </a:prstGeom>
          <a:solidFill>
            <a:srgbClr val="1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FFFFFF"/>
                </a:solidFill>
                <a:latin typeface="맑은 고딕"/>
                <a:ea typeface="맑은 고딕"/>
              </a:rPr>
              <a:t>GPU1</a:t>
            </a:r>
          </a:p>
        </p:txBody>
      </p:sp>
      <p:sp>
        <p:nvSpPr>
          <p:cNvPr id="246" name="Rectangle 16"/>
          <p:cNvSpPr/>
          <p:nvPr/>
        </p:nvSpPr>
        <p:spPr>
          <a:xfrm>
            <a:off x="3284982" y="1444752"/>
            <a:ext cx="697230" cy="384048"/>
          </a:xfrm>
          <a:prstGeom prst="rect">
            <a:avLst/>
          </a:prstGeom>
          <a:solidFill>
            <a:srgbClr val="DAE8F6"/>
          </a:solidFill>
          <a:ln w="9525">
            <a:solidFill>
              <a:srgbClr val="1F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1F6FB5"/>
                </a:solidFill>
                <a:latin typeface="맑은 고딕"/>
                <a:ea typeface="맑은 고딕"/>
              </a:rPr>
              <a:t>HBM 80GB</a:t>
            </a:r>
          </a:p>
        </p:txBody>
      </p:sp>
      <p:sp>
        <p:nvSpPr>
          <p:cNvPr id="247" name="Rectangle 17"/>
          <p:cNvSpPr/>
          <p:nvPr/>
        </p:nvSpPr>
        <p:spPr>
          <a:xfrm>
            <a:off x="4009644" y="1207008"/>
            <a:ext cx="697230" cy="237744"/>
          </a:xfrm>
          <a:prstGeom prst="rect">
            <a:avLst/>
          </a:prstGeom>
          <a:solidFill>
            <a:srgbClr val="1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FFFFFF"/>
                </a:solidFill>
                <a:latin typeface="맑은 고딕"/>
                <a:ea typeface="맑은 고딕"/>
              </a:rPr>
              <a:t>GPU2</a:t>
            </a:r>
          </a:p>
        </p:txBody>
      </p:sp>
      <p:sp>
        <p:nvSpPr>
          <p:cNvPr id="248" name="Rectangle 18"/>
          <p:cNvSpPr/>
          <p:nvPr/>
        </p:nvSpPr>
        <p:spPr>
          <a:xfrm>
            <a:off x="4009644" y="1444752"/>
            <a:ext cx="697230" cy="384048"/>
          </a:xfrm>
          <a:prstGeom prst="rect">
            <a:avLst/>
          </a:prstGeom>
          <a:solidFill>
            <a:srgbClr val="DAE8F6"/>
          </a:solidFill>
          <a:ln w="9525">
            <a:solidFill>
              <a:srgbClr val="1F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1F6FB5"/>
                </a:solidFill>
                <a:latin typeface="맑은 고딕"/>
                <a:ea typeface="맑은 고딕"/>
              </a:rPr>
              <a:t>HBM 80GB</a:t>
            </a:r>
          </a:p>
        </p:txBody>
      </p:sp>
      <p:sp>
        <p:nvSpPr>
          <p:cNvPr id="249" name="Rectangle 19"/>
          <p:cNvSpPr/>
          <p:nvPr/>
        </p:nvSpPr>
        <p:spPr>
          <a:xfrm>
            <a:off x="4734306" y="1207008"/>
            <a:ext cx="697230" cy="237744"/>
          </a:xfrm>
          <a:prstGeom prst="rect">
            <a:avLst/>
          </a:prstGeom>
          <a:solidFill>
            <a:srgbClr val="1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FFFFFF"/>
                </a:solidFill>
                <a:latin typeface="맑은 고딕"/>
                <a:ea typeface="맑은 고딕"/>
              </a:rPr>
              <a:t>GPU3</a:t>
            </a:r>
          </a:p>
        </p:txBody>
      </p:sp>
      <p:sp>
        <p:nvSpPr>
          <p:cNvPr id="250" name="Rectangle 20"/>
          <p:cNvSpPr/>
          <p:nvPr/>
        </p:nvSpPr>
        <p:spPr>
          <a:xfrm>
            <a:off x="4734306" y="1444752"/>
            <a:ext cx="697230" cy="384048"/>
          </a:xfrm>
          <a:prstGeom prst="rect">
            <a:avLst/>
          </a:prstGeom>
          <a:solidFill>
            <a:srgbClr val="DAE8F6"/>
          </a:solidFill>
          <a:ln w="9525">
            <a:solidFill>
              <a:srgbClr val="1F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1F6FB5"/>
                </a:solidFill>
                <a:latin typeface="맑은 고딕"/>
                <a:ea typeface="맑은 고딕"/>
              </a:rPr>
              <a:t>HBM 80GB</a:t>
            </a:r>
          </a:p>
        </p:txBody>
      </p:sp>
      <p:sp>
        <p:nvSpPr>
          <p:cNvPr id="251" name="Rectangle 21"/>
          <p:cNvSpPr/>
          <p:nvPr/>
        </p:nvSpPr>
        <p:spPr>
          <a:xfrm>
            <a:off x="2560320" y="1865376"/>
            <a:ext cx="1421892" cy="475488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115000"/>
              </a:lnSpc>
            </a:pPr>
            <a:r>
              <a:rPr sz="750" b="0" i="0">
                <a:solidFill>
                  <a:srgbClr val="262626"/>
                </a:solidFill>
                <a:latin typeface="맑은 고딕"/>
                <a:ea typeface="맑은 고딕"/>
              </a:rPr>
              <a:t>CPU0</a:t>
            </a:r>
          </a:p>
          <a:p>
            <a:pPr algn="ctr">
              <a:lnSpc>
                <a:spcPct val="115000"/>
              </a:lnSpc>
            </a:pPr>
            <a:r>
              <a:rPr sz="750" b="0" i="0">
                <a:solidFill>
                  <a:srgbClr val="262626"/>
                </a:solidFill>
                <a:latin typeface="맑은 고딕"/>
                <a:ea typeface="맑은 고딕"/>
              </a:rPr>
              <a:t>56 cores · DDR 512GB</a:t>
            </a:r>
          </a:p>
        </p:txBody>
      </p:sp>
      <p:sp>
        <p:nvSpPr>
          <p:cNvPr id="252" name="Rectangle 22"/>
          <p:cNvSpPr/>
          <p:nvPr/>
        </p:nvSpPr>
        <p:spPr>
          <a:xfrm>
            <a:off x="4009644" y="1865376"/>
            <a:ext cx="1421892" cy="475488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115000"/>
              </a:lnSpc>
            </a:pPr>
            <a:r>
              <a:rPr sz="750" b="0" i="0">
                <a:solidFill>
                  <a:srgbClr val="262626"/>
                </a:solidFill>
                <a:latin typeface="맑은 고딕"/>
                <a:ea typeface="맑은 고딕"/>
              </a:rPr>
              <a:t>CPU1</a:t>
            </a:r>
          </a:p>
          <a:p>
            <a:pPr algn="ctr">
              <a:lnSpc>
                <a:spcPct val="115000"/>
              </a:lnSpc>
            </a:pPr>
            <a:r>
              <a:rPr sz="750" b="0" i="0">
                <a:solidFill>
                  <a:srgbClr val="262626"/>
                </a:solidFill>
                <a:latin typeface="맑은 고딕"/>
                <a:ea typeface="맑은 고딕"/>
              </a:rPr>
              <a:t>56 cores · DDR 512GB</a:t>
            </a:r>
          </a:p>
        </p:txBody>
      </p:sp>
      <p:sp>
        <p:nvSpPr>
          <p:cNvPr id="253" name="Rectangle 23"/>
          <p:cNvSpPr/>
          <p:nvPr/>
        </p:nvSpPr>
        <p:spPr>
          <a:xfrm>
            <a:off x="2560320" y="2377440"/>
            <a:ext cx="697230" cy="237744"/>
          </a:xfrm>
          <a:prstGeom prst="rect">
            <a:avLst/>
          </a:prstGeom>
          <a:solidFill>
            <a:srgbClr val="1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FFFFFF"/>
                </a:solidFill>
                <a:latin typeface="맑은 고딕"/>
                <a:ea typeface="맑은 고딕"/>
              </a:rPr>
              <a:t>GPU4</a:t>
            </a:r>
          </a:p>
        </p:txBody>
      </p:sp>
      <p:sp>
        <p:nvSpPr>
          <p:cNvPr id="254" name="Rectangle 24"/>
          <p:cNvSpPr/>
          <p:nvPr/>
        </p:nvSpPr>
        <p:spPr>
          <a:xfrm>
            <a:off x="2560320" y="2615184"/>
            <a:ext cx="697230" cy="384048"/>
          </a:xfrm>
          <a:prstGeom prst="rect">
            <a:avLst/>
          </a:prstGeom>
          <a:solidFill>
            <a:srgbClr val="DAE8F6"/>
          </a:solidFill>
          <a:ln w="9525">
            <a:solidFill>
              <a:srgbClr val="1F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1F6FB5"/>
                </a:solidFill>
                <a:latin typeface="맑은 고딕"/>
                <a:ea typeface="맑은 고딕"/>
              </a:rPr>
              <a:t>HBM 80GB</a:t>
            </a:r>
          </a:p>
        </p:txBody>
      </p:sp>
      <p:sp>
        <p:nvSpPr>
          <p:cNvPr id="255" name="Rectangle 25"/>
          <p:cNvSpPr/>
          <p:nvPr/>
        </p:nvSpPr>
        <p:spPr>
          <a:xfrm>
            <a:off x="3284982" y="2377440"/>
            <a:ext cx="697230" cy="237744"/>
          </a:xfrm>
          <a:prstGeom prst="rect">
            <a:avLst/>
          </a:prstGeom>
          <a:solidFill>
            <a:srgbClr val="1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FFFFFF"/>
                </a:solidFill>
                <a:latin typeface="맑은 고딕"/>
                <a:ea typeface="맑은 고딕"/>
              </a:rPr>
              <a:t>GPU5</a:t>
            </a:r>
          </a:p>
        </p:txBody>
      </p:sp>
      <p:sp>
        <p:nvSpPr>
          <p:cNvPr id="256" name="Rectangle 26"/>
          <p:cNvSpPr/>
          <p:nvPr/>
        </p:nvSpPr>
        <p:spPr>
          <a:xfrm>
            <a:off x="3284982" y="2615184"/>
            <a:ext cx="697230" cy="384048"/>
          </a:xfrm>
          <a:prstGeom prst="rect">
            <a:avLst/>
          </a:prstGeom>
          <a:solidFill>
            <a:srgbClr val="DAE8F6"/>
          </a:solidFill>
          <a:ln w="9525">
            <a:solidFill>
              <a:srgbClr val="1F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1F6FB5"/>
                </a:solidFill>
                <a:latin typeface="맑은 고딕"/>
                <a:ea typeface="맑은 고딕"/>
              </a:rPr>
              <a:t>HBM 80GB</a:t>
            </a:r>
          </a:p>
        </p:txBody>
      </p:sp>
      <p:sp>
        <p:nvSpPr>
          <p:cNvPr id="257" name="Rectangle 27"/>
          <p:cNvSpPr/>
          <p:nvPr/>
        </p:nvSpPr>
        <p:spPr>
          <a:xfrm>
            <a:off x="4009644" y="2377440"/>
            <a:ext cx="697230" cy="237744"/>
          </a:xfrm>
          <a:prstGeom prst="rect">
            <a:avLst/>
          </a:prstGeom>
          <a:solidFill>
            <a:srgbClr val="1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FFFFFF"/>
                </a:solidFill>
                <a:latin typeface="맑은 고딕"/>
                <a:ea typeface="맑은 고딕"/>
              </a:rPr>
              <a:t>GPU6</a:t>
            </a:r>
          </a:p>
        </p:txBody>
      </p:sp>
      <p:sp>
        <p:nvSpPr>
          <p:cNvPr id="258" name="Rectangle 28"/>
          <p:cNvSpPr/>
          <p:nvPr/>
        </p:nvSpPr>
        <p:spPr>
          <a:xfrm>
            <a:off x="4009644" y="2615184"/>
            <a:ext cx="697230" cy="384048"/>
          </a:xfrm>
          <a:prstGeom prst="rect">
            <a:avLst/>
          </a:prstGeom>
          <a:solidFill>
            <a:srgbClr val="DAE8F6"/>
          </a:solidFill>
          <a:ln w="9525">
            <a:solidFill>
              <a:srgbClr val="1F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1F6FB5"/>
                </a:solidFill>
                <a:latin typeface="맑은 고딕"/>
                <a:ea typeface="맑은 고딕"/>
              </a:rPr>
              <a:t>HBM 80GB</a:t>
            </a:r>
          </a:p>
        </p:txBody>
      </p:sp>
      <p:sp>
        <p:nvSpPr>
          <p:cNvPr id="259" name="Rectangle 29"/>
          <p:cNvSpPr/>
          <p:nvPr/>
        </p:nvSpPr>
        <p:spPr>
          <a:xfrm>
            <a:off x="4734306" y="2377440"/>
            <a:ext cx="697230" cy="237744"/>
          </a:xfrm>
          <a:prstGeom prst="rect">
            <a:avLst/>
          </a:prstGeom>
          <a:solidFill>
            <a:srgbClr val="1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FFFFFF"/>
                </a:solidFill>
                <a:latin typeface="맑은 고딕"/>
                <a:ea typeface="맑은 고딕"/>
              </a:rPr>
              <a:t>GPU7</a:t>
            </a:r>
          </a:p>
        </p:txBody>
      </p:sp>
      <p:sp>
        <p:nvSpPr>
          <p:cNvPr id="260" name="Rectangle 30"/>
          <p:cNvSpPr/>
          <p:nvPr/>
        </p:nvSpPr>
        <p:spPr>
          <a:xfrm>
            <a:off x="4734306" y="2615184"/>
            <a:ext cx="697230" cy="384048"/>
          </a:xfrm>
          <a:prstGeom prst="rect">
            <a:avLst/>
          </a:prstGeom>
          <a:solidFill>
            <a:srgbClr val="DAE8F6"/>
          </a:solidFill>
          <a:ln w="9525">
            <a:solidFill>
              <a:srgbClr val="1F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1F6FB5"/>
                </a:solidFill>
                <a:latin typeface="맑은 고딕"/>
                <a:ea typeface="맑은 고딕"/>
              </a:rPr>
              <a:t>HBM 80GB</a:t>
            </a:r>
          </a:p>
        </p:txBody>
      </p:sp>
      <p:sp>
        <p:nvSpPr>
          <p:cNvPr id="261" name="Rectangle 31"/>
          <p:cNvSpPr/>
          <p:nvPr/>
        </p:nvSpPr>
        <p:spPr>
          <a:xfrm>
            <a:off x="2560320" y="3035808"/>
            <a:ext cx="2871215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50" b="1" i="0">
                <a:solidFill>
                  <a:srgbClr val="262626"/>
                </a:solidFill>
                <a:latin typeface="맑은 고딕"/>
                <a:ea typeface="맑은 고딕"/>
              </a:rPr>
              <a:t>NVMe SSD  16TB</a:t>
            </a:r>
          </a:p>
        </p:txBody>
      </p:sp>
      <p:sp>
        <p:nvSpPr>
          <p:cNvPr id="262" name="Rectangle 32"/>
          <p:cNvSpPr/>
          <p:nvPr/>
        </p:nvSpPr>
        <p:spPr>
          <a:xfrm>
            <a:off x="5650992" y="1133856"/>
            <a:ext cx="3054096" cy="2249424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endParaRPr/>
          </a:p>
        </p:txBody>
      </p:sp>
      <p:sp>
        <p:nvSpPr>
          <p:cNvPr id="263" name="Rectangle 33"/>
          <p:cNvSpPr/>
          <p:nvPr/>
        </p:nvSpPr>
        <p:spPr>
          <a:xfrm>
            <a:off x="5742431" y="1207008"/>
            <a:ext cx="697230" cy="237744"/>
          </a:xfrm>
          <a:prstGeom prst="rect">
            <a:avLst/>
          </a:prstGeom>
          <a:solidFill>
            <a:srgbClr val="1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FFFFFF"/>
                </a:solidFill>
                <a:latin typeface="맑은 고딕"/>
                <a:ea typeface="맑은 고딕"/>
              </a:rPr>
              <a:t>GPU0</a:t>
            </a:r>
          </a:p>
        </p:txBody>
      </p:sp>
      <p:sp>
        <p:nvSpPr>
          <p:cNvPr id="264" name="Rectangle 34"/>
          <p:cNvSpPr/>
          <p:nvPr/>
        </p:nvSpPr>
        <p:spPr>
          <a:xfrm>
            <a:off x="5742431" y="1444752"/>
            <a:ext cx="697230" cy="384048"/>
          </a:xfrm>
          <a:prstGeom prst="rect">
            <a:avLst/>
          </a:prstGeom>
          <a:solidFill>
            <a:srgbClr val="DAE8F6"/>
          </a:solidFill>
          <a:ln w="9525">
            <a:solidFill>
              <a:srgbClr val="1F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1F6FB5"/>
                </a:solidFill>
                <a:latin typeface="맑은 고딕"/>
                <a:ea typeface="맑은 고딕"/>
              </a:rPr>
              <a:t>HBM 80GB</a:t>
            </a:r>
          </a:p>
        </p:txBody>
      </p:sp>
      <p:sp>
        <p:nvSpPr>
          <p:cNvPr id="265" name="Rectangle 35"/>
          <p:cNvSpPr/>
          <p:nvPr/>
        </p:nvSpPr>
        <p:spPr>
          <a:xfrm>
            <a:off x="6467094" y="1207008"/>
            <a:ext cx="697230" cy="237744"/>
          </a:xfrm>
          <a:prstGeom prst="rect">
            <a:avLst/>
          </a:prstGeom>
          <a:solidFill>
            <a:srgbClr val="1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FFFFFF"/>
                </a:solidFill>
                <a:latin typeface="맑은 고딕"/>
                <a:ea typeface="맑은 고딕"/>
              </a:rPr>
              <a:t>GPU1</a:t>
            </a:r>
          </a:p>
        </p:txBody>
      </p:sp>
      <p:sp>
        <p:nvSpPr>
          <p:cNvPr id="266" name="Rectangle 36"/>
          <p:cNvSpPr/>
          <p:nvPr/>
        </p:nvSpPr>
        <p:spPr>
          <a:xfrm>
            <a:off x="6467094" y="1444752"/>
            <a:ext cx="697230" cy="384048"/>
          </a:xfrm>
          <a:prstGeom prst="rect">
            <a:avLst/>
          </a:prstGeom>
          <a:solidFill>
            <a:srgbClr val="DAE8F6"/>
          </a:solidFill>
          <a:ln w="9525">
            <a:solidFill>
              <a:srgbClr val="1F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1F6FB5"/>
                </a:solidFill>
                <a:latin typeface="맑은 고딕"/>
                <a:ea typeface="맑은 고딕"/>
              </a:rPr>
              <a:t>HBM 80GB</a:t>
            </a:r>
          </a:p>
        </p:txBody>
      </p:sp>
      <p:sp>
        <p:nvSpPr>
          <p:cNvPr id="267" name="Rectangle 37"/>
          <p:cNvSpPr/>
          <p:nvPr/>
        </p:nvSpPr>
        <p:spPr>
          <a:xfrm>
            <a:off x="7191755" y="1207008"/>
            <a:ext cx="697230" cy="237744"/>
          </a:xfrm>
          <a:prstGeom prst="rect">
            <a:avLst/>
          </a:prstGeom>
          <a:solidFill>
            <a:srgbClr val="1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FFFFFF"/>
                </a:solidFill>
                <a:latin typeface="맑은 고딕"/>
                <a:ea typeface="맑은 고딕"/>
              </a:rPr>
              <a:t>GPU2</a:t>
            </a:r>
          </a:p>
        </p:txBody>
      </p:sp>
      <p:sp>
        <p:nvSpPr>
          <p:cNvPr id="268" name="Rectangle 38"/>
          <p:cNvSpPr/>
          <p:nvPr/>
        </p:nvSpPr>
        <p:spPr>
          <a:xfrm>
            <a:off x="7191755" y="1444752"/>
            <a:ext cx="697230" cy="384048"/>
          </a:xfrm>
          <a:prstGeom prst="rect">
            <a:avLst/>
          </a:prstGeom>
          <a:solidFill>
            <a:srgbClr val="DAE8F6"/>
          </a:solidFill>
          <a:ln w="9525">
            <a:solidFill>
              <a:srgbClr val="1F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1F6FB5"/>
                </a:solidFill>
                <a:latin typeface="맑은 고딕"/>
                <a:ea typeface="맑은 고딕"/>
              </a:rPr>
              <a:t>HBM 80GB</a:t>
            </a:r>
          </a:p>
        </p:txBody>
      </p:sp>
      <p:sp>
        <p:nvSpPr>
          <p:cNvPr id="269" name="Rectangle 39"/>
          <p:cNvSpPr/>
          <p:nvPr/>
        </p:nvSpPr>
        <p:spPr>
          <a:xfrm>
            <a:off x="7916417" y="1207008"/>
            <a:ext cx="697230" cy="237744"/>
          </a:xfrm>
          <a:prstGeom prst="rect">
            <a:avLst/>
          </a:prstGeom>
          <a:solidFill>
            <a:srgbClr val="1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FFFFFF"/>
                </a:solidFill>
                <a:latin typeface="맑은 고딕"/>
                <a:ea typeface="맑은 고딕"/>
              </a:rPr>
              <a:t>GPU3</a:t>
            </a:r>
          </a:p>
        </p:txBody>
      </p:sp>
      <p:sp>
        <p:nvSpPr>
          <p:cNvPr id="270" name="Rectangle 40"/>
          <p:cNvSpPr/>
          <p:nvPr/>
        </p:nvSpPr>
        <p:spPr>
          <a:xfrm>
            <a:off x="7916417" y="1444752"/>
            <a:ext cx="697230" cy="384048"/>
          </a:xfrm>
          <a:prstGeom prst="rect">
            <a:avLst/>
          </a:prstGeom>
          <a:solidFill>
            <a:srgbClr val="DAE8F6"/>
          </a:solidFill>
          <a:ln w="9525">
            <a:solidFill>
              <a:srgbClr val="1F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1F6FB5"/>
                </a:solidFill>
                <a:latin typeface="맑은 고딕"/>
                <a:ea typeface="맑은 고딕"/>
              </a:rPr>
              <a:t>HBM 80GB</a:t>
            </a:r>
          </a:p>
        </p:txBody>
      </p:sp>
      <p:sp>
        <p:nvSpPr>
          <p:cNvPr id="271" name="Rectangle 41"/>
          <p:cNvSpPr/>
          <p:nvPr/>
        </p:nvSpPr>
        <p:spPr>
          <a:xfrm>
            <a:off x="5742431" y="1865376"/>
            <a:ext cx="1421892" cy="475488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115000"/>
              </a:lnSpc>
            </a:pPr>
            <a:r>
              <a:rPr sz="750" b="0" i="0">
                <a:solidFill>
                  <a:srgbClr val="262626"/>
                </a:solidFill>
                <a:latin typeface="맑은 고딕"/>
                <a:ea typeface="맑은 고딕"/>
              </a:rPr>
              <a:t>CPU0</a:t>
            </a:r>
          </a:p>
          <a:p>
            <a:pPr algn="ctr">
              <a:lnSpc>
                <a:spcPct val="115000"/>
              </a:lnSpc>
            </a:pPr>
            <a:r>
              <a:rPr sz="750" b="0" i="0">
                <a:solidFill>
                  <a:srgbClr val="262626"/>
                </a:solidFill>
                <a:latin typeface="맑은 고딕"/>
                <a:ea typeface="맑은 고딕"/>
              </a:rPr>
              <a:t>56 cores · DDR 512GB</a:t>
            </a:r>
          </a:p>
        </p:txBody>
      </p:sp>
      <p:sp>
        <p:nvSpPr>
          <p:cNvPr id="272" name="Rectangle 42"/>
          <p:cNvSpPr/>
          <p:nvPr/>
        </p:nvSpPr>
        <p:spPr>
          <a:xfrm>
            <a:off x="7191755" y="1865376"/>
            <a:ext cx="1421892" cy="475488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115000"/>
              </a:lnSpc>
            </a:pPr>
            <a:r>
              <a:rPr sz="750" b="0" i="0">
                <a:solidFill>
                  <a:srgbClr val="262626"/>
                </a:solidFill>
                <a:latin typeface="맑은 고딕"/>
                <a:ea typeface="맑은 고딕"/>
              </a:rPr>
              <a:t>CPU1</a:t>
            </a:r>
          </a:p>
          <a:p>
            <a:pPr algn="ctr">
              <a:lnSpc>
                <a:spcPct val="115000"/>
              </a:lnSpc>
            </a:pPr>
            <a:r>
              <a:rPr sz="750" b="0" i="0">
                <a:solidFill>
                  <a:srgbClr val="262626"/>
                </a:solidFill>
                <a:latin typeface="맑은 고딕"/>
                <a:ea typeface="맑은 고딕"/>
              </a:rPr>
              <a:t>56 cores · DDR 512GB</a:t>
            </a:r>
          </a:p>
        </p:txBody>
      </p:sp>
      <p:sp>
        <p:nvSpPr>
          <p:cNvPr id="273" name="Rectangle 43"/>
          <p:cNvSpPr/>
          <p:nvPr/>
        </p:nvSpPr>
        <p:spPr>
          <a:xfrm>
            <a:off x="5742431" y="2377440"/>
            <a:ext cx="697230" cy="237744"/>
          </a:xfrm>
          <a:prstGeom prst="rect">
            <a:avLst/>
          </a:prstGeom>
          <a:solidFill>
            <a:srgbClr val="BF8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FFFFFF"/>
                </a:solidFill>
                <a:latin typeface="맑은 고딕"/>
                <a:ea typeface="맑은 고딕"/>
              </a:rPr>
              <a:t>CXL-PNM0</a:t>
            </a:r>
          </a:p>
        </p:txBody>
      </p:sp>
      <p:sp>
        <p:nvSpPr>
          <p:cNvPr id="274" name="Rectangle 44"/>
          <p:cNvSpPr/>
          <p:nvPr/>
        </p:nvSpPr>
        <p:spPr>
          <a:xfrm>
            <a:off x="5742431" y="2615184"/>
            <a:ext cx="697230" cy="384048"/>
          </a:xfrm>
          <a:prstGeom prst="rect">
            <a:avLst/>
          </a:prstGeom>
          <a:solidFill>
            <a:srgbClr val="FFF2CC"/>
          </a:solidFill>
          <a:ln w="952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7F5F00"/>
                </a:solidFill>
                <a:latin typeface="맑은 고딕"/>
                <a:ea typeface="맑은 고딕"/>
              </a:rPr>
              <a:t>DDR 128GB</a:t>
            </a:r>
          </a:p>
        </p:txBody>
      </p:sp>
      <p:sp>
        <p:nvSpPr>
          <p:cNvPr id="275" name="Rectangle 45"/>
          <p:cNvSpPr/>
          <p:nvPr/>
        </p:nvSpPr>
        <p:spPr>
          <a:xfrm>
            <a:off x="6467094" y="2377440"/>
            <a:ext cx="697230" cy="237744"/>
          </a:xfrm>
          <a:prstGeom prst="rect">
            <a:avLst/>
          </a:prstGeom>
          <a:solidFill>
            <a:srgbClr val="BF8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FFFFFF"/>
                </a:solidFill>
                <a:latin typeface="맑은 고딕"/>
                <a:ea typeface="맑은 고딕"/>
              </a:rPr>
              <a:t>CXL-PNM1</a:t>
            </a:r>
          </a:p>
        </p:txBody>
      </p:sp>
      <p:sp>
        <p:nvSpPr>
          <p:cNvPr id="276" name="Rectangle 46"/>
          <p:cNvSpPr/>
          <p:nvPr/>
        </p:nvSpPr>
        <p:spPr>
          <a:xfrm>
            <a:off x="6467094" y="2615184"/>
            <a:ext cx="697230" cy="384048"/>
          </a:xfrm>
          <a:prstGeom prst="rect">
            <a:avLst/>
          </a:prstGeom>
          <a:solidFill>
            <a:srgbClr val="FFF2CC"/>
          </a:solidFill>
          <a:ln w="952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7F5F00"/>
                </a:solidFill>
                <a:latin typeface="맑은 고딕"/>
                <a:ea typeface="맑은 고딕"/>
              </a:rPr>
              <a:t>DDR 128GB</a:t>
            </a:r>
          </a:p>
        </p:txBody>
      </p:sp>
      <p:sp>
        <p:nvSpPr>
          <p:cNvPr id="277" name="Rectangle 47"/>
          <p:cNvSpPr/>
          <p:nvPr/>
        </p:nvSpPr>
        <p:spPr>
          <a:xfrm>
            <a:off x="7191755" y="2377440"/>
            <a:ext cx="697230" cy="237744"/>
          </a:xfrm>
          <a:prstGeom prst="rect">
            <a:avLst/>
          </a:prstGeom>
          <a:solidFill>
            <a:srgbClr val="BF8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FFFFFF"/>
                </a:solidFill>
                <a:latin typeface="맑은 고딕"/>
                <a:ea typeface="맑은 고딕"/>
              </a:rPr>
              <a:t>CXL-PNM2</a:t>
            </a:r>
          </a:p>
        </p:txBody>
      </p:sp>
      <p:sp>
        <p:nvSpPr>
          <p:cNvPr id="278" name="Rectangle 48"/>
          <p:cNvSpPr/>
          <p:nvPr/>
        </p:nvSpPr>
        <p:spPr>
          <a:xfrm>
            <a:off x="7191755" y="2615184"/>
            <a:ext cx="697230" cy="384048"/>
          </a:xfrm>
          <a:prstGeom prst="rect">
            <a:avLst/>
          </a:prstGeom>
          <a:solidFill>
            <a:srgbClr val="FFF2CC"/>
          </a:solidFill>
          <a:ln w="952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7F5F00"/>
                </a:solidFill>
                <a:latin typeface="맑은 고딕"/>
                <a:ea typeface="맑은 고딕"/>
              </a:rPr>
              <a:t>DDR 128GB</a:t>
            </a:r>
          </a:p>
        </p:txBody>
      </p:sp>
      <p:sp>
        <p:nvSpPr>
          <p:cNvPr id="279" name="Rectangle 49"/>
          <p:cNvSpPr/>
          <p:nvPr/>
        </p:nvSpPr>
        <p:spPr>
          <a:xfrm>
            <a:off x="7916417" y="2377440"/>
            <a:ext cx="697230" cy="237744"/>
          </a:xfrm>
          <a:prstGeom prst="rect">
            <a:avLst/>
          </a:prstGeom>
          <a:solidFill>
            <a:srgbClr val="BF8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FFFFFF"/>
                </a:solidFill>
                <a:latin typeface="맑은 고딕"/>
                <a:ea typeface="맑은 고딕"/>
              </a:rPr>
              <a:t>CXL-PNM3</a:t>
            </a:r>
          </a:p>
        </p:txBody>
      </p:sp>
      <p:sp>
        <p:nvSpPr>
          <p:cNvPr id="280" name="Rectangle 50"/>
          <p:cNvSpPr/>
          <p:nvPr/>
        </p:nvSpPr>
        <p:spPr>
          <a:xfrm>
            <a:off x="7916417" y="2615184"/>
            <a:ext cx="697230" cy="384048"/>
          </a:xfrm>
          <a:prstGeom prst="rect">
            <a:avLst/>
          </a:prstGeom>
          <a:solidFill>
            <a:srgbClr val="FFF2CC"/>
          </a:solidFill>
          <a:ln w="952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7F5F00"/>
                </a:solidFill>
                <a:latin typeface="맑은 고딕"/>
                <a:ea typeface="맑은 고딕"/>
              </a:rPr>
              <a:t>DDR 128GB</a:t>
            </a:r>
          </a:p>
        </p:txBody>
      </p:sp>
      <p:sp>
        <p:nvSpPr>
          <p:cNvPr id="281" name="Rectangle 51"/>
          <p:cNvSpPr/>
          <p:nvPr/>
        </p:nvSpPr>
        <p:spPr>
          <a:xfrm>
            <a:off x="5742431" y="3035808"/>
            <a:ext cx="1421892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50" b="1" i="0">
                <a:solidFill>
                  <a:srgbClr val="262626"/>
                </a:solidFill>
                <a:latin typeface="맑은 고딕"/>
                <a:ea typeface="맑은 고딕"/>
              </a:rPr>
              <a:t>NVMe SSD  16TB</a:t>
            </a:r>
          </a:p>
        </p:txBody>
      </p:sp>
      <p:sp>
        <p:nvSpPr>
          <p:cNvPr id="282" name="Rectangle 52"/>
          <p:cNvSpPr/>
          <p:nvPr/>
        </p:nvSpPr>
        <p:spPr>
          <a:xfrm>
            <a:off x="7191755" y="3035808"/>
            <a:ext cx="1421892" cy="274320"/>
          </a:xfrm>
          <a:prstGeom prst="rect">
            <a:avLst/>
          </a:prstGeom>
          <a:solidFill>
            <a:srgbClr val="E2EFDA"/>
          </a:solidFill>
          <a:ln w="952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50" b="1" i="0">
                <a:solidFill>
                  <a:srgbClr val="375623"/>
                </a:solidFill>
                <a:latin typeface="맑은 고딕"/>
                <a:ea typeface="맑은 고딕"/>
              </a:rPr>
              <a:t>PIM-SSD  16TB</a:t>
            </a:r>
          </a:p>
        </p:txBody>
      </p:sp>
      <p:sp>
        <p:nvSpPr>
          <p:cNvPr id="283" name="Rectangle 53"/>
          <p:cNvSpPr/>
          <p:nvPr/>
        </p:nvSpPr>
        <p:spPr>
          <a:xfrm>
            <a:off x="8833104" y="1133856"/>
            <a:ext cx="3054096" cy="2249424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endParaRPr/>
          </a:p>
        </p:txBody>
      </p:sp>
      <p:sp>
        <p:nvSpPr>
          <p:cNvPr id="284" name="Rectangle 54"/>
          <p:cNvSpPr/>
          <p:nvPr/>
        </p:nvSpPr>
        <p:spPr>
          <a:xfrm>
            <a:off x="8924544" y="1207008"/>
            <a:ext cx="697230" cy="237744"/>
          </a:xfrm>
          <a:prstGeom prst="rect">
            <a:avLst/>
          </a:prstGeom>
          <a:solidFill>
            <a:srgbClr val="1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FFFFFF"/>
                </a:solidFill>
                <a:latin typeface="맑은 고딕"/>
                <a:ea typeface="맑은 고딕"/>
              </a:rPr>
              <a:t>GPU0</a:t>
            </a:r>
          </a:p>
        </p:txBody>
      </p:sp>
      <p:sp>
        <p:nvSpPr>
          <p:cNvPr id="285" name="Rectangle 55"/>
          <p:cNvSpPr/>
          <p:nvPr/>
        </p:nvSpPr>
        <p:spPr>
          <a:xfrm>
            <a:off x="8924544" y="1444752"/>
            <a:ext cx="697230" cy="192024"/>
          </a:xfrm>
          <a:prstGeom prst="rect">
            <a:avLst/>
          </a:prstGeom>
          <a:solidFill>
            <a:srgbClr val="DAE8F6"/>
          </a:solidFill>
          <a:ln w="9525">
            <a:solidFill>
              <a:srgbClr val="1F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1F6FB5"/>
                </a:solidFill>
                <a:latin typeface="맑은 고딕"/>
                <a:ea typeface="맑은 고딕"/>
              </a:rPr>
              <a:t>HBM 40GB</a:t>
            </a:r>
          </a:p>
        </p:txBody>
      </p:sp>
      <p:sp>
        <p:nvSpPr>
          <p:cNvPr id="286" name="Rectangle 56"/>
          <p:cNvSpPr/>
          <p:nvPr/>
        </p:nvSpPr>
        <p:spPr>
          <a:xfrm>
            <a:off x="8924544" y="1636776"/>
            <a:ext cx="697230" cy="192024"/>
          </a:xfrm>
          <a:prstGeom prst="rect">
            <a:avLst/>
          </a:prstGeom>
          <a:solidFill>
            <a:srgbClr val="E7DEF2"/>
          </a:solidFill>
          <a:ln w="9525">
            <a:solidFill>
              <a:srgbClr val="7B5E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4A2E73"/>
                </a:solidFill>
                <a:latin typeface="맑은 고딕"/>
                <a:ea typeface="맑은 고딕"/>
              </a:rPr>
              <a:t>HBF 320GB</a:t>
            </a:r>
          </a:p>
        </p:txBody>
      </p:sp>
      <p:sp>
        <p:nvSpPr>
          <p:cNvPr id="287" name="Rectangle 57"/>
          <p:cNvSpPr/>
          <p:nvPr/>
        </p:nvSpPr>
        <p:spPr>
          <a:xfrm>
            <a:off x="9649206" y="1207008"/>
            <a:ext cx="697230" cy="237744"/>
          </a:xfrm>
          <a:prstGeom prst="rect">
            <a:avLst/>
          </a:prstGeom>
          <a:solidFill>
            <a:srgbClr val="1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FFFFFF"/>
                </a:solidFill>
                <a:latin typeface="맑은 고딕"/>
                <a:ea typeface="맑은 고딕"/>
              </a:rPr>
              <a:t>GPU1</a:t>
            </a:r>
          </a:p>
        </p:txBody>
      </p:sp>
      <p:sp>
        <p:nvSpPr>
          <p:cNvPr id="288" name="Rectangle 58"/>
          <p:cNvSpPr/>
          <p:nvPr/>
        </p:nvSpPr>
        <p:spPr>
          <a:xfrm>
            <a:off x="9649206" y="1444752"/>
            <a:ext cx="697230" cy="192024"/>
          </a:xfrm>
          <a:prstGeom prst="rect">
            <a:avLst/>
          </a:prstGeom>
          <a:solidFill>
            <a:srgbClr val="DAE8F6"/>
          </a:solidFill>
          <a:ln w="9525">
            <a:solidFill>
              <a:srgbClr val="1F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1F6FB5"/>
                </a:solidFill>
                <a:latin typeface="맑은 고딕"/>
                <a:ea typeface="맑은 고딕"/>
              </a:rPr>
              <a:t>HBM 40GB</a:t>
            </a:r>
          </a:p>
        </p:txBody>
      </p:sp>
      <p:sp>
        <p:nvSpPr>
          <p:cNvPr id="289" name="Rectangle 59"/>
          <p:cNvSpPr/>
          <p:nvPr/>
        </p:nvSpPr>
        <p:spPr>
          <a:xfrm>
            <a:off x="9649206" y="1636776"/>
            <a:ext cx="697230" cy="192024"/>
          </a:xfrm>
          <a:prstGeom prst="rect">
            <a:avLst/>
          </a:prstGeom>
          <a:solidFill>
            <a:srgbClr val="E7DEF2"/>
          </a:solidFill>
          <a:ln w="9525">
            <a:solidFill>
              <a:srgbClr val="7B5E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4A2E73"/>
                </a:solidFill>
                <a:latin typeface="맑은 고딕"/>
                <a:ea typeface="맑은 고딕"/>
              </a:rPr>
              <a:t>HBF 320GB</a:t>
            </a:r>
          </a:p>
        </p:txBody>
      </p:sp>
      <p:sp>
        <p:nvSpPr>
          <p:cNvPr id="290" name="Rectangle 60"/>
          <p:cNvSpPr/>
          <p:nvPr/>
        </p:nvSpPr>
        <p:spPr>
          <a:xfrm>
            <a:off x="10373867" y="1207008"/>
            <a:ext cx="697230" cy="237744"/>
          </a:xfrm>
          <a:prstGeom prst="rect">
            <a:avLst/>
          </a:prstGeom>
          <a:solidFill>
            <a:srgbClr val="1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FFFFFF"/>
                </a:solidFill>
                <a:latin typeface="맑은 고딕"/>
                <a:ea typeface="맑은 고딕"/>
              </a:rPr>
              <a:t>GPU2</a:t>
            </a:r>
          </a:p>
        </p:txBody>
      </p:sp>
      <p:sp>
        <p:nvSpPr>
          <p:cNvPr id="291" name="Rectangle 61"/>
          <p:cNvSpPr/>
          <p:nvPr/>
        </p:nvSpPr>
        <p:spPr>
          <a:xfrm>
            <a:off x="10373867" y="1444752"/>
            <a:ext cx="697230" cy="192024"/>
          </a:xfrm>
          <a:prstGeom prst="rect">
            <a:avLst/>
          </a:prstGeom>
          <a:solidFill>
            <a:srgbClr val="DAE8F6"/>
          </a:solidFill>
          <a:ln w="9525">
            <a:solidFill>
              <a:srgbClr val="1F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1F6FB5"/>
                </a:solidFill>
                <a:latin typeface="맑은 고딕"/>
                <a:ea typeface="맑은 고딕"/>
              </a:rPr>
              <a:t>HBM 40GB</a:t>
            </a:r>
          </a:p>
        </p:txBody>
      </p:sp>
      <p:sp>
        <p:nvSpPr>
          <p:cNvPr id="292" name="Rectangle 62"/>
          <p:cNvSpPr/>
          <p:nvPr/>
        </p:nvSpPr>
        <p:spPr>
          <a:xfrm>
            <a:off x="10373867" y="1636776"/>
            <a:ext cx="697230" cy="192024"/>
          </a:xfrm>
          <a:prstGeom prst="rect">
            <a:avLst/>
          </a:prstGeom>
          <a:solidFill>
            <a:srgbClr val="E7DEF2"/>
          </a:solidFill>
          <a:ln w="9525">
            <a:solidFill>
              <a:srgbClr val="7B5E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4A2E73"/>
                </a:solidFill>
                <a:latin typeface="맑은 고딕"/>
                <a:ea typeface="맑은 고딕"/>
              </a:rPr>
              <a:t>HBF 320GB</a:t>
            </a:r>
          </a:p>
        </p:txBody>
      </p:sp>
      <p:sp>
        <p:nvSpPr>
          <p:cNvPr id="293" name="Rectangle 63"/>
          <p:cNvSpPr/>
          <p:nvPr/>
        </p:nvSpPr>
        <p:spPr>
          <a:xfrm>
            <a:off x="11098530" y="1207008"/>
            <a:ext cx="697230" cy="237744"/>
          </a:xfrm>
          <a:prstGeom prst="rect">
            <a:avLst/>
          </a:prstGeom>
          <a:solidFill>
            <a:srgbClr val="1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FFFFFF"/>
                </a:solidFill>
                <a:latin typeface="맑은 고딕"/>
                <a:ea typeface="맑은 고딕"/>
              </a:rPr>
              <a:t>GPU3</a:t>
            </a:r>
          </a:p>
        </p:txBody>
      </p:sp>
      <p:sp>
        <p:nvSpPr>
          <p:cNvPr id="294" name="Rectangle 64"/>
          <p:cNvSpPr/>
          <p:nvPr/>
        </p:nvSpPr>
        <p:spPr>
          <a:xfrm>
            <a:off x="11098530" y="1444752"/>
            <a:ext cx="697230" cy="192024"/>
          </a:xfrm>
          <a:prstGeom prst="rect">
            <a:avLst/>
          </a:prstGeom>
          <a:solidFill>
            <a:srgbClr val="DAE8F6"/>
          </a:solidFill>
          <a:ln w="9525">
            <a:solidFill>
              <a:srgbClr val="1F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1F6FB5"/>
                </a:solidFill>
                <a:latin typeface="맑은 고딕"/>
                <a:ea typeface="맑은 고딕"/>
              </a:rPr>
              <a:t>HBM 40GB</a:t>
            </a:r>
          </a:p>
        </p:txBody>
      </p:sp>
      <p:sp>
        <p:nvSpPr>
          <p:cNvPr id="295" name="Rectangle 65"/>
          <p:cNvSpPr/>
          <p:nvPr/>
        </p:nvSpPr>
        <p:spPr>
          <a:xfrm>
            <a:off x="11098530" y="1636776"/>
            <a:ext cx="697230" cy="192024"/>
          </a:xfrm>
          <a:prstGeom prst="rect">
            <a:avLst/>
          </a:prstGeom>
          <a:solidFill>
            <a:srgbClr val="E7DEF2"/>
          </a:solidFill>
          <a:ln w="9525">
            <a:solidFill>
              <a:srgbClr val="7B5EA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4A2E73"/>
                </a:solidFill>
                <a:latin typeface="맑은 고딕"/>
                <a:ea typeface="맑은 고딕"/>
              </a:rPr>
              <a:t>HBF 320GB</a:t>
            </a:r>
          </a:p>
        </p:txBody>
      </p:sp>
      <p:sp>
        <p:nvSpPr>
          <p:cNvPr id="296" name="Rectangle 66"/>
          <p:cNvSpPr/>
          <p:nvPr/>
        </p:nvSpPr>
        <p:spPr>
          <a:xfrm>
            <a:off x="8924544" y="1865376"/>
            <a:ext cx="1421892" cy="475488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115000"/>
              </a:lnSpc>
            </a:pPr>
            <a:r>
              <a:rPr sz="750" b="0" i="0">
                <a:solidFill>
                  <a:srgbClr val="262626"/>
                </a:solidFill>
                <a:latin typeface="맑은 고딕"/>
                <a:ea typeface="맑은 고딕"/>
              </a:rPr>
              <a:t>CPU0</a:t>
            </a:r>
          </a:p>
          <a:p>
            <a:pPr algn="ctr">
              <a:lnSpc>
                <a:spcPct val="115000"/>
              </a:lnSpc>
            </a:pPr>
            <a:r>
              <a:rPr sz="750" b="0" i="0">
                <a:solidFill>
                  <a:srgbClr val="262626"/>
                </a:solidFill>
                <a:latin typeface="맑은 고딕"/>
                <a:ea typeface="맑은 고딕"/>
              </a:rPr>
              <a:t>56 cores · DDR 512GB</a:t>
            </a:r>
          </a:p>
        </p:txBody>
      </p:sp>
      <p:sp>
        <p:nvSpPr>
          <p:cNvPr id="297" name="Rectangle 67"/>
          <p:cNvSpPr/>
          <p:nvPr/>
        </p:nvSpPr>
        <p:spPr>
          <a:xfrm>
            <a:off x="10373867" y="1865376"/>
            <a:ext cx="1421892" cy="475488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115000"/>
              </a:lnSpc>
            </a:pPr>
            <a:r>
              <a:rPr sz="750" b="0" i="0">
                <a:solidFill>
                  <a:srgbClr val="262626"/>
                </a:solidFill>
                <a:latin typeface="맑은 고딕"/>
                <a:ea typeface="맑은 고딕"/>
              </a:rPr>
              <a:t>CPU1</a:t>
            </a:r>
          </a:p>
          <a:p>
            <a:pPr algn="ctr">
              <a:lnSpc>
                <a:spcPct val="115000"/>
              </a:lnSpc>
            </a:pPr>
            <a:r>
              <a:rPr sz="750" b="0" i="0">
                <a:solidFill>
                  <a:srgbClr val="262626"/>
                </a:solidFill>
                <a:latin typeface="맑은 고딕"/>
                <a:ea typeface="맑은 고딕"/>
              </a:rPr>
              <a:t>56 cores · DDR 512GB</a:t>
            </a:r>
          </a:p>
        </p:txBody>
      </p:sp>
      <p:sp>
        <p:nvSpPr>
          <p:cNvPr id="298" name="Rectangle 68"/>
          <p:cNvSpPr/>
          <p:nvPr/>
        </p:nvSpPr>
        <p:spPr>
          <a:xfrm>
            <a:off x="8924544" y="2377440"/>
            <a:ext cx="697230" cy="237744"/>
          </a:xfrm>
          <a:prstGeom prst="rect">
            <a:avLst/>
          </a:prstGeom>
          <a:solidFill>
            <a:srgbClr val="BF8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FFFFFF"/>
                </a:solidFill>
                <a:latin typeface="맑은 고딕"/>
                <a:ea typeface="맑은 고딕"/>
              </a:rPr>
              <a:t>CXL-PNM0</a:t>
            </a:r>
          </a:p>
        </p:txBody>
      </p:sp>
      <p:sp>
        <p:nvSpPr>
          <p:cNvPr id="299" name="Rectangle 69"/>
          <p:cNvSpPr/>
          <p:nvPr/>
        </p:nvSpPr>
        <p:spPr>
          <a:xfrm>
            <a:off x="8924544" y="2615184"/>
            <a:ext cx="697230" cy="384048"/>
          </a:xfrm>
          <a:prstGeom prst="rect">
            <a:avLst/>
          </a:prstGeom>
          <a:solidFill>
            <a:srgbClr val="FFF2CC"/>
          </a:solidFill>
          <a:ln w="952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7F5F00"/>
                </a:solidFill>
                <a:latin typeface="맑은 고딕"/>
                <a:ea typeface="맑은 고딕"/>
              </a:rPr>
              <a:t>DDR 128GB</a:t>
            </a:r>
          </a:p>
        </p:txBody>
      </p:sp>
      <p:sp>
        <p:nvSpPr>
          <p:cNvPr id="300" name="Rectangle 70"/>
          <p:cNvSpPr/>
          <p:nvPr/>
        </p:nvSpPr>
        <p:spPr>
          <a:xfrm>
            <a:off x="9649206" y="2377440"/>
            <a:ext cx="697230" cy="237744"/>
          </a:xfrm>
          <a:prstGeom prst="rect">
            <a:avLst/>
          </a:prstGeom>
          <a:solidFill>
            <a:srgbClr val="BF8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FFFFFF"/>
                </a:solidFill>
                <a:latin typeface="맑은 고딕"/>
                <a:ea typeface="맑은 고딕"/>
              </a:rPr>
              <a:t>CXL-PNM1</a:t>
            </a:r>
          </a:p>
        </p:txBody>
      </p:sp>
      <p:sp>
        <p:nvSpPr>
          <p:cNvPr id="301" name="Rectangle 71"/>
          <p:cNvSpPr/>
          <p:nvPr/>
        </p:nvSpPr>
        <p:spPr>
          <a:xfrm>
            <a:off x="9649206" y="2615184"/>
            <a:ext cx="697230" cy="384048"/>
          </a:xfrm>
          <a:prstGeom prst="rect">
            <a:avLst/>
          </a:prstGeom>
          <a:solidFill>
            <a:srgbClr val="FFF2CC"/>
          </a:solidFill>
          <a:ln w="952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7F5F00"/>
                </a:solidFill>
                <a:latin typeface="맑은 고딕"/>
                <a:ea typeface="맑은 고딕"/>
              </a:rPr>
              <a:t>DDR 128GB</a:t>
            </a:r>
          </a:p>
        </p:txBody>
      </p:sp>
      <p:sp>
        <p:nvSpPr>
          <p:cNvPr id="302" name="Rectangle 72"/>
          <p:cNvSpPr/>
          <p:nvPr/>
        </p:nvSpPr>
        <p:spPr>
          <a:xfrm>
            <a:off x="10373867" y="2377440"/>
            <a:ext cx="697230" cy="237744"/>
          </a:xfrm>
          <a:prstGeom prst="rect">
            <a:avLst/>
          </a:prstGeom>
          <a:solidFill>
            <a:srgbClr val="BF8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FFFFFF"/>
                </a:solidFill>
                <a:latin typeface="맑은 고딕"/>
                <a:ea typeface="맑은 고딕"/>
              </a:rPr>
              <a:t>CXL-PNM2</a:t>
            </a:r>
          </a:p>
        </p:txBody>
      </p:sp>
      <p:sp>
        <p:nvSpPr>
          <p:cNvPr id="303" name="Rectangle 73"/>
          <p:cNvSpPr/>
          <p:nvPr/>
        </p:nvSpPr>
        <p:spPr>
          <a:xfrm>
            <a:off x="10373867" y="2615184"/>
            <a:ext cx="697230" cy="384048"/>
          </a:xfrm>
          <a:prstGeom prst="rect">
            <a:avLst/>
          </a:prstGeom>
          <a:solidFill>
            <a:srgbClr val="FFF2CC"/>
          </a:solidFill>
          <a:ln w="952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7F5F00"/>
                </a:solidFill>
                <a:latin typeface="맑은 고딕"/>
                <a:ea typeface="맑은 고딕"/>
              </a:rPr>
              <a:t>DDR 128GB</a:t>
            </a:r>
          </a:p>
        </p:txBody>
      </p:sp>
      <p:sp>
        <p:nvSpPr>
          <p:cNvPr id="304" name="Rectangle 74"/>
          <p:cNvSpPr/>
          <p:nvPr/>
        </p:nvSpPr>
        <p:spPr>
          <a:xfrm>
            <a:off x="11098530" y="2377440"/>
            <a:ext cx="697230" cy="237744"/>
          </a:xfrm>
          <a:prstGeom prst="rect">
            <a:avLst/>
          </a:prstGeom>
          <a:solidFill>
            <a:srgbClr val="BF8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FFFFFF"/>
                </a:solidFill>
                <a:latin typeface="맑은 고딕"/>
                <a:ea typeface="맑은 고딕"/>
              </a:rPr>
              <a:t>CXL-PNM3</a:t>
            </a:r>
          </a:p>
        </p:txBody>
      </p:sp>
      <p:sp>
        <p:nvSpPr>
          <p:cNvPr id="305" name="Rectangle 75"/>
          <p:cNvSpPr/>
          <p:nvPr/>
        </p:nvSpPr>
        <p:spPr>
          <a:xfrm>
            <a:off x="11098530" y="2615184"/>
            <a:ext cx="697230" cy="384048"/>
          </a:xfrm>
          <a:prstGeom prst="rect">
            <a:avLst/>
          </a:prstGeom>
          <a:solidFill>
            <a:srgbClr val="FFF2CC"/>
          </a:solidFill>
          <a:ln w="952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00" b="1" i="0">
                <a:solidFill>
                  <a:srgbClr val="7F5F00"/>
                </a:solidFill>
                <a:latin typeface="맑은 고딕"/>
                <a:ea typeface="맑은 고딕"/>
              </a:rPr>
              <a:t>DDR 128GB</a:t>
            </a:r>
          </a:p>
        </p:txBody>
      </p:sp>
      <p:sp>
        <p:nvSpPr>
          <p:cNvPr id="306" name="Rectangle 76"/>
          <p:cNvSpPr/>
          <p:nvPr/>
        </p:nvSpPr>
        <p:spPr>
          <a:xfrm>
            <a:off x="8924544" y="3035808"/>
            <a:ext cx="1421892" cy="27432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50" b="1" i="0">
                <a:solidFill>
                  <a:srgbClr val="262626"/>
                </a:solidFill>
                <a:latin typeface="맑은 고딕"/>
                <a:ea typeface="맑은 고딕"/>
              </a:rPr>
              <a:t>NVMe SSD  16TB</a:t>
            </a:r>
          </a:p>
        </p:txBody>
      </p:sp>
      <p:sp>
        <p:nvSpPr>
          <p:cNvPr id="307" name="Rectangle 77"/>
          <p:cNvSpPr/>
          <p:nvPr/>
        </p:nvSpPr>
        <p:spPr>
          <a:xfrm>
            <a:off x="10373867" y="3035808"/>
            <a:ext cx="1421892" cy="274320"/>
          </a:xfrm>
          <a:prstGeom prst="rect">
            <a:avLst/>
          </a:prstGeom>
          <a:solidFill>
            <a:srgbClr val="E2EFDA"/>
          </a:solidFill>
          <a:ln w="952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750" b="1" i="0">
                <a:solidFill>
                  <a:srgbClr val="375623"/>
                </a:solidFill>
                <a:latin typeface="맑은 고딕"/>
                <a:ea typeface="맑은 고딕"/>
              </a:rPr>
              <a:t>PIM-SSD  16TB</a:t>
            </a:r>
          </a:p>
        </p:txBody>
      </p:sp>
      <p:sp>
        <p:nvSpPr>
          <p:cNvPr id="308" name="Rectangle 78"/>
          <p:cNvSpPr/>
          <p:nvPr/>
        </p:nvSpPr>
        <p:spPr>
          <a:xfrm>
            <a:off x="365760" y="3493008"/>
            <a:ext cx="11521440" cy="18288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endParaRPr/>
          </a:p>
        </p:txBody>
      </p:sp>
      <p:sp>
        <p:nvSpPr>
          <p:cNvPr id="309" name="TextBox 308"/>
          <p:cNvSpPr txBox="1"/>
          <p:nvPr/>
        </p:nvSpPr>
        <p:spPr>
          <a:xfrm>
            <a:off x="365760" y="3401568"/>
            <a:ext cx="2011680" cy="1645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50" b="1" i="0">
                <a:solidFill>
                  <a:srgbClr val="808080"/>
                </a:solidFill>
                <a:latin typeface="맑은 고딕"/>
                <a:ea typeface="맑은 고딕"/>
              </a:rPr>
              <a:t>계층별  용량  ·  대역폭</a:t>
            </a:r>
          </a:p>
        </p:txBody>
      </p:sp>
      <p:sp>
        <p:nvSpPr>
          <p:cNvPr id="310" name="TextBox 309"/>
          <p:cNvSpPr txBox="1"/>
          <p:nvPr/>
        </p:nvSpPr>
        <p:spPr>
          <a:xfrm>
            <a:off x="365760" y="3584448"/>
            <a:ext cx="2011680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 i="0">
                <a:solidFill>
                  <a:srgbClr val="808080"/>
                </a:solidFill>
                <a:latin typeface="맑은 고딕"/>
                <a:ea typeface="맑은 고딕"/>
              </a:rPr>
              <a:t>HBM</a:t>
            </a:r>
          </a:p>
        </p:txBody>
      </p:sp>
      <p:sp>
        <p:nvSpPr>
          <p:cNvPr id="311" name="TextBox 310"/>
          <p:cNvSpPr txBox="1"/>
          <p:nvPr/>
        </p:nvSpPr>
        <p:spPr>
          <a:xfrm>
            <a:off x="2468880" y="3584448"/>
            <a:ext cx="3054096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640 GB  ·  16.0 TB/s</a:t>
            </a:r>
          </a:p>
        </p:txBody>
      </p:sp>
      <p:sp>
        <p:nvSpPr>
          <p:cNvPr id="312" name="TextBox 311"/>
          <p:cNvSpPr txBox="1"/>
          <p:nvPr/>
        </p:nvSpPr>
        <p:spPr>
          <a:xfrm>
            <a:off x="5650992" y="3584448"/>
            <a:ext cx="3054096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320 GB  ·  8.0 TB/s</a:t>
            </a:r>
          </a:p>
        </p:txBody>
      </p:sp>
      <p:sp>
        <p:nvSpPr>
          <p:cNvPr id="313" name="TextBox 312"/>
          <p:cNvSpPr txBox="1"/>
          <p:nvPr/>
        </p:nvSpPr>
        <p:spPr>
          <a:xfrm>
            <a:off x="8833104" y="3584448"/>
            <a:ext cx="3054096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160 GB  ·  4.0 TB/s</a:t>
            </a:r>
          </a:p>
        </p:txBody>
      </p:sp>
      <p:sp>
        <p:nvSpPr>
          <p:cNvPr id="314" name="TextBox 313"/>
          <p:cNvSpPr txBox="1"/>
          <p:nvPr/>
        </p:nvSpPr>
        <p:spPr>
          <a:xfrm>
            <a:off x="365760" y="3794760"/>
            <a:ext cx="2011680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 i="0">
                <a:solidFill>
                  <a:srgbClr val="808080"/>
                </a:solidFill>
                <a:latin typeface="맑은 고딕"/>
                <a:ea typeface="맑은 고딕"/>
              </a:rPr>
              <a:t>HBF</a:t>
            </a:r>
          </a:p>
        </p:txBody>
      </p:sp>
      <p:sp>
        <p:nvSpPr>
          <p:cNvPr id="315" name="TextBox 314"/>
          <p:cNvSpPr txBox="1"/>
          <p:nvPr/>
        </p:nvSpPr>
        <p:spPr>
          <a:xfrm>
            <a:off x="2468880" y="3794760"/>
            <a:ext cx="3054096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—</a:t>
            </a:r>
          </a:p>
        </p:txBody>
      </p:sp>
      <p:sp>
        <p:nvSpPr>
          <p:cNvPr id="316" name="TextBox 315"/>
          <p:cNvSpPr txBox="1"/>
          <p:nvPr/>
        </p:nvSpPr>
        <p:spPr>
          <a:xfrm>
            <a:off x="5650992" y="3794760"/>
            <a:ext cx="3054096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—</a:t>
            </a:r>
          </a:p>
        </p:txBody>
      </p:sp>
      <p:sp>
        <p:nvSpPr>
          <p:cNvPr id="317" name="TextBox 316"/>
          <p:cNvSpPr txBox="1"/>
          <p:nvPr/>
        </p:nvSpPr>
        <p:spPr>
          <a:xfrm>
            <a:off x="8833104" y="3794760"/>
            <a:ext cx="3054096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1,280 GB  ·  4.0 TB/s</a:t>
            </a:r>
          </a:p>
        </p:txBody>
      </p:sp>
      <p:sp>
        <p:nvSpPr>
          <p:cNvPr id="318" name="TextBox 317"/>
          <p:cNvSpPr txBox="1"/>
          <p:nvPr/>
        </p:nvSpPr>
        <p:spPr>
          <a:xfrm>
            <a:off x="365760" y="4005072"/>
            <a:ext cx="2011680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 i="0">
                <a:solidFill>
                  <a:srgbClr val="808080"/>
                </a:solidFill>
                <a:latin typeface="맑은 고딕"/>
                <a:ea typeface="맑은 고딕"/>
              </a:rPr>
              <a:t>CXL-PNM (DDR)</a:t>
            </a:r>
          </a:p>
        </p:txBody>
      </p:sp>
      <p:sp>
        <p:nvSpPr>
          <p:cNvPr id="319" name="TextBox 318"/>
          <p:cNvSpPr txBox="1"/>
          <p:nvPr/>
        </p:nvSpPr>
        <p:spPr>
          <a:xfrm>
            <a:off x="2468880" y="4005072"/>
            <a:ext cx="3054096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—</a:t>
            </a:r>
          </a:p>
        </p:txBody>
      </p:sp>
      <p:sp>
        <p:nvSpPr>
          <p:cNvPr id="320" name="TextBox 319"/>
          <p:cNvSpPr txBox="1"/>
          <p:nvPr/>
        </p:nvSpPr>
        <p:spPr>
          <a:xfrm>
            <a:off x="5650992" y="4005072"/>
            <a:ext cx="3054096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512 GB  ·  800 GB/s</a:t>
            </a:r>
          </a:p>
        </p:txBody>
      </p:sp>
      <p:sp>
        <p:nvSpPr>
          <p:cNvPr id="321" name="TextBox 320"/>
          <p:cNvSpPr txBox="1"/>
          <p:nvPr/>
        </p:nvSpPr>
        <p:spPr>
          <a:xfrm>
            <a:off x="8833104" y="4005072"/>
            <a:ext cx="3054096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512 GB  ·  800 GB/s</a:t>
            </a:r>
          </a:p>
        </p:txBody>
      </p:sp>
      <p:sp>
        <p:nvSpPr>
          <p:cNvPr id="322" name="TextBox 321"/>
          <p:cNvSpPr txBox="1"/>
          <p:nvPr/>
        </p:nvSpPr>
        <p:spPr>
          <a:xfrm>
            <a:off x="365760" y="4215384"/>
            <a:ext cx="2011680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 i="0">
                <a:solidFill>
                  <a:srgbClr val="808080"/>
                </a:solidFill>
                <a:latin typeface="맑은 고딕"/>
                <a:ea typeface="맑은 고딕"/>
              </a:rPr>
              <a:t>CPU DDR</a:t>
            </a:r>
          </a:p>
        </p:txBody>
      </p:sp>
      <p:sp>
        <p:nvSpPr>
          <p:cNvPr id="323" name="TextBox 322"/>
          <p:cNvSpPr txBox="1"/>
          <p:nvPr/>
        </p:nvSpPr>
        <p:spPr>
          <a:xfrm>
            <a:off x="2468880" y="4215384"/>
            <a:ext cx="3054096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1,024 GB  ·  350 GB/s</a:t>
            </a:r>
          </a:p>
        </p:txBody>
      </p:sp>
      <p:sp>
        <p:nvSpPr>
          <p:cNvPr id="324" name="TextBox 323"/>
          <p:cNvSpPr txBox="1"/>
          <p:nvPr/>
        </p:nvSpPr>
        <p:spPr>
          <a:xfrm>
            <a:off x="5650992" y="4215384"/>
            <a:ext cx="3054096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1,024 GB  ·  350 GB/s</a:t>
            </a:r>
          </a:p>
        </p:txBody>
      </p:sp>
      <p:sp>
        <p:nvSpPr>
          <p:cNvPr id="325" name="TextBox 324"/>
          <p:cNvSpPr txBox="1"/>
          <p:nvPr/>
        </p:nvSpPr>
        <p:spPr>
          <a:xfrm>
            <a:off x="8833104" y="4215384"/>
            <a:ext cx="3054096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1,024 GB  ·  350 GB/s</a:t>
            </a:r>
          </a:p>
        </p:txBody>
      </p:sp>
      <p:sp>
        <p:nvSpPr>
          <p:cNvPr id="326" name="TextBox 325"/>
          <p:cNvSpPr txBox="1"/>
          <p:nvPr/>
        </p:nvSpPr>
        <p:spPr>
          <a:xfrm>
            <a:off x="365760" y="4425696"/>
            <a:ext cx="2011680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 i="0">
                <a:solidFill>
                  <a:srgbClr val="808080"/>
                </a:solidFill>
                <a:latin typeface="맑은 고딕"/>
                <a:ea typeface="맑은 고딕"/>
              </a:rPr>
              <a:t>NVMe SSD</a:t>
            </a:r>
          </a:p>
        </p:txBody>
      </p:sp>
      <p:sp>
        <p:nvSpPr>
          <p:cNvPr id="327" name="TextBox 326"/>
          <p:cNvSpPr txBox="1"/>
          <p:nvPr/>
        </p:nvSpPr>
        <p:spPr>
          <a:xfrm>
            <a:off x="2468880" y="4425696"/>
            <a:ext cx="3054096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16,000 GB  ·  28 GB/s</a:t>
            </a:r>
          </a:p>
        </p:txBody>
      </p:sp>
      <p:sp>
        <p:nvSpPr>
          <p:cNvPr id="328" name="TextBox 327"/>
          <p:cNvSpPr txBox="1"/>
          <p:nvPr/>
        </p:nvSpPr>
        <p:spPr>
          <a:xfrm>
            <a:off x="5650992" y="4425696"/>
            <a:ext cx="3054096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16,000 GB  ·  28 GB/s</a:t>
            </a:r>
          </a:p>
        </p:txBody>
      </p:sp>
      <p:sp>
        <p:nvSpPr>
          <p:cNvPr id="329" name="TextBox 328"/>
          <p:cNvSpPr txBox="1"/>
          <p:nvPr/>
        </p:nvSpPr>
        <p:spPr>
          <a:xfrm>
            <a:off x="8833104" y="4425696"/>
            <a:ext cx="3054096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16,000 GB  ·  28 GB/s</a:t>
            </a:r>
          </a:p>
        </p:txBody>
      </p:sp>
      <p:sp>
        <p:nvSpPr>
          <p:cNvPr id="330" name="TextBox 329"/>
          <p:cNvSpPr txBox="1"/>
          <p:nvPr/>
        </p:nvSpPr>
        <p:spPr>
          <a:xfrm>
            <a:off x="365760" y="4636008"/>
            <a:ext cx="2011680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 i="0">
                <a:solidFill>
                  <a:srgbClr val="808080"/>
                </a:solidFill>
                <a:latin typeface="맑은 고딕"/>
                <a:ea typeface="맑은 고딕"/>
              </a:rPr>
              <a:t>PIM-SSD</a:t>
            </a:r>
          </a:p>
        </p:txBody>
      </p:sp>
      <p:sp>
        <p:nvSpPr>
          <p:cNvPr id="331" name="TextBox 330"/>
          <p:cNvSpPr txBox="1"/>
          <p:nvPr/>
        </p:nvSpPr>
        <p:spPr>
          <a:xfrm>
            <a:off x="2468880" y="4636008"/>
            <a:ext cx="3054096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—</a:t>
            </a:r>
          </a:p>
        </p:txBody>
      </p:sp>
      <p:sp>
        <p:nvSpPr>
          <p:cNvPr id="332" name="TextBox 331"/>
          <p:cNvSpPr txBox="1"/>
          <p:nvPr/>
        </p:nvSpPr>
        <p:spPr>
          <a:xfrm>
            <a:off x="5650992" y="4636008"/>
            <a:ext cx="3054096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16,000 GB  ·  28 GB/s</a:t>
            </a:r>
          </a:p>
        </p:txBody>
      </p:sp>
      <p:sp>
        <p:nvSpPr>
          <p:cNvPr id="333" name="TextBox 332"/>
          <p:cNvSpPr txBox="1"/>
          <p:nvPr/>
        </p:nvSpPr>
        <p:spPr>
          <a:xfrm>
            <a:off x="8833104" y="4636008"/>
            <a:ext cx="3054096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0" i="0">
                <a:solidFill>
                  <a:srgbClr val="404040"/>
                </a:solidFill>
                <a:latin typeface="맑은 고딕"/>
                <a:ea typeface="맑은 고딕"/>
              </a:rPr>
              <a:t>16,000 GB  ·  28 GB/s</a:t>
            </a:r>
          </a:p>
        </p:txBody>
      </p:sp>
      <p:sp>
        <p:nvSpPr>
          <p:cNvPr id="334" name="Rectangle 104"/>
          <p:cNvSpPr/>
          <p:nvPr/>
        </p:nvSpPr>
        <p:spPr>
          <a:xfrm>
            <a:off x="365760" y="4882896"/>
            <a:ext cx="11521440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endParaRPr/>
          </a:p>
        </p:txBody>
      </p:sp>
      <p:sp>
        <p:nvSpPr>
          <p:cNvPr id="335" name="TextBox 334"/>
          <p:cNvSpPr txBox="1"/>
          <p:nvPr/>
        </p:nvSpPr>
        <p:spPr>
          <a:xfrm>
            <a:off x="438912" y="4882896"/>
            <a:ext cx="2011680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 i="0">
                <a:solidFill>
                  <a:srgbClr val="262626"/>
                </a:solidFill>
                <a:latin typeface="맑은 고딕"/>
                <a:ea typeface="맑은 고딕"/>
              </a:rPr>
              <a:t>가속기측 고대역 용량</a:t>
            </a:r>
          </a:p>
        </p:txBody>
      </p:sp>
      <p:sp>
        <p:nvSpPr>
          <p:cNvPr id="336" name="TextBox 335"/>
          <p:cNvSpPr txBox="1"/>
          <p:nvPr/>
        </p:nvSpPr>
        <p:spPr>
          <a:xfrm>
            <a:off x="2468880" y="4882896"/>
            <a:ext cx="3054096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262626"/>
                </a:solidFill>
                <a:latin typeface="맑은 고딕"/>
                <a:ea typeface="맑은 고딕"/>
              </a:rPr>
              <a:t>640 GB  (1.00×)</a:t>
            </a:r>
          </a:p>
        </p:txBody>
      </p:sp>
      <p:sp>
        <p:nvSpPr>
          <p:cNvPr id="337" name="TextBox 336"/>
          <p:cNvSpPr txBox="1"/>
          <p:nvPr/>
        </p:nvSpPr>
        <p:spPr>
          <a:xfrm>
            <a:off x="5650992" y="4882896"/>
            <a:ext cx="3054096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262626"/>
                </a:solidFill>
                <a:latin typeface="맑은 고딕"/>
                <a:ea typeface="맑은 고딕"/>
              </a:rPr>
              <a:t>832 GB  (1.30×)</a:t>
            </a:r>
          </a:p>
        </p:txBody>
      </p:sp>
      <p:sp>
        <p:nvSpPr>
          <p:cNvPr id="338" name="TextBox 337"/>
          <p:cNvSpPr txBox="1"/>
          <p:nvPr/>
        </p:nvSpPr>
        <p:spPr>
          <a:xfrm>
            <a:off x="8833104" y="4882896"/>
            <a:ext cx="3054096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262626"/>
                </a:solidFill>
                <a:latin typeface="맑은 고딕"/>
                <a:ea typeface="맑은 고딕"/>
              </a:rPr>
              <a:t>1,952 GB  (3.05×)</a:t>
            </a:r>
          </a:p>
        </p:txBody>
      </p:sp>
      <p:sp>
        <p:nvSpPr>
          <p:cNvPr id="339" name="Rectangle 109"/>
          <p:cNvSpPr/>
          <p:nvPr/>
        </p:nvSpPr>
        <p:spPr>
          <a:xfrm>
            <a:off x="365760" y="5093208"/>
            <a:ext cx="11521440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endParaRPr/>
          </a:p>
        </p:txBody>
      </p:sp>
      <p:sp>
        <p:nvSpPr>
          <p:cNvPr id="340" name="TextBox 339"/>
          <p:cNvSpPr txBox="1"/>
          <p:nvPr/>
        </p:nvSpPr>
        <p:spPr>
          <a:xfrm>
            <a:off x="438912" y="5093208"/>
            <a:ext cx="2011680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 i="0">
                <a:solidFill>
                  <a:srgbClr val="262626"/>
                </a:solidFill>
                <a:latin typeface="맑은 고딕"/>
                <a:ea typeface="맑은 고딕"/>
              </a:rPr>
              <a:t>가속기측 고대역 대역폭</a:t>
            </a:r>
          </a:p>
        </p:txBody>
      </p:sp>
      <p:sp>
        <p:nvSpPr>
          <p:cNvPr id="341" name="TextBox 340"/>
          <p:cNvSpPr txBox="1"/>
          <p:nvPr/>
        </p:nvSpPr>
        <p:spPr>
          <a:xfrm>
            <a:off x="2468880" y="5093208"/>
            <a:ext cx="3054096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262626"/>
                </a:solidFill>
                <a:latin typeface="맑은 고딕"/>
                <a:ea typeface="맑은 고딕"/>
              </a:rPr>
              <a:t>16.0 TB/s  (1.00×)</a:t>
            </a:r>
          </a:p>
        </p:txBody>
      </p:sp>
      <p:sp>
        <p:nvSpPr>
          <p:cNvPr id="342" name="TextBox 341"/>
          <p:cNvSpPr txBox="1"/>
          <p:nvPr/>
        </p:nvSpPr>
        <p:spPr>
          <a:xfrm>
            <a:off x="5650992" y="5093208"/>
            <a:ext cx="3054096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262626"/>
                </a:solidFill>
                <a:latin typeface="맑은 고딕"/>
                <a:ea typeface="맑은 고딕"/>
              </a:rPr>
              <a:t>8.8 TB/s  (0.55×)</a:t>
            </a:r>
          </a:p>
        </p:txBody>
      </p:sp>
      <p:sp>
        <p:nvSpPr>
          <p:cNvPr id="343" name="TextBox 342"/>
          <p:cNvSpPr txBox="1"/>
          <p:nvPr/>
        </p:nvSpPr>
        <p:spPr>
          <a:xfrm>
            <a:off x="8833104" y="5093208"/>
            <a:ext cx="3054096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262626"/>
                </a:solidFill>
                <a:latin typeface="맑은 고딕"/>
                <a:ea typeface="맑은 고딕"/>
              </a:rPr>
              <a:t>8.8 TB/s  (0.55×)</a:t>
            </a:r>
          </a:p>
        </p:txBody>
      </p:sp>
      <p:sp>
        <p:nvSpPr>
          <p:cNvPr id="344" name="Rectangle 114"/>
          <p:cNvSpPr/>
          <p:nvPr/>
        </p:nvSpPr>
        <p:spPr>
          <a:xfrm>
            <a:off x="365760" y="5303520"/>
            <a:ext cx="11521440" cy="2103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endParaRPr/>
          </a:p>
        </p:txBody>
      </p:sp>
      <p:sp>
        <p:nvSpPr>
          <p:cNvPr id="345" name="TextBox 344"/>
          <p:cNvSpPr txBox="1"/>
          <p:nvPr/>
        </p:nvSpPr>
        <p:spPr>
          <a:xfrm>
            <a:off x="438912" y="5303520"/>
            <a:ext cx="2011680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 i="0">
                <a:solidFill>
                  <a:srgbClr val="262626"/>
                </a:solidFill>
                <a:latin typeface="맑은 고딕"/>
                <a:ea typeface="맑은 고딕"/>
              </a:rPr>
              <a:t>총 메모리 용량</a:t>
            </a:r>
          </a:p>
        </p:txBody>
      </p:sp>
      <p:sp>
        <p:nvSpPr>
          <p:cNvPr id="346" name="TextBox 345"/>
          <p:cNvSpPr txBox="1"/>
          <p:nvPr/>
        </p:nvSpPr>
        <p:spPr>
          <a:xfrm>
            <a:off x="2468880" y="5303520"/>
            <a:ext cx="3054096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262626"/>
                </a:solidFill>
                <a:latin typeface="맑은 고딕"/>
                <a:ea typeface="맑은 고딕"/>
              </a:rPr>
              <a:t>17,664 GB  (1.00×)</a:t>
            </a:r>
          </a:p>
        </p:txBody>
      </p:sp>
      <p:sp>
        <p:nvSpPr>
          <p:cNvPr id="347" name="TextBox 346"/>
          <p:cNvSpPr txBox="1"/>
          <p:nvPr/>
        </p:nvSpPr>
        <p:spPr>
          <a:xfrm>
            <a:off x="5650992" y="5303520"/>
            <a:ext cx="3054096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262626"/>
                </a:solidFill>
                <a:latin typeface="맑은 고딕"/>
                <a:ea typeface="맑은 고딕"/>
              </a:rPr>
              <a:t>33,856 GB  (1.92×)</a:t>
            </a:r>
          </a:p>
        </p:txBody>
      </p:sp>
      <p:sp>
        <p:nvSpPr>
          <p:cNvPr id="348" name="TextBox 347"/>
          <p:cNvSpPr txBox="1"/>
          <p:nvPr/>
        </p:nvSpPr>
        <p:spPr>
          <a:xfrm>
            <a:off x="8833104" y="5303520"/>
            <a:ext cx="3054096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262626"/>
                </a:solidFill>
                <a:latin typeface="맑은 고딕"/>
                <a:ea typeface="맑은 고딕"/>
              </a:rPr>
              <a:t>34,976 GB  (1.98×)</a:t>
            </a:r>
          </a:p>
        </p:txBody>
      </p:sp>
      <p:sp>
        <p:nvSpPr>
          <p:cNvPr id="349" name="Rectangle 119"/>
          <p:cNvSpPr/>
          <p:nvPr/>
        </p:nvSpPr>
        <p:spPr>
          <a:xfrm>
            <a:off x="365760" y="5513832"/>
            <a:ext cx="11521440" cy="21031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endParaRPr/>
          </a:p>
        </p:txBody>
      </p:sp>
      <p:sp>
        <p:nvSpPr>
          <p:cNvPr id="350" name="TextBox 349"/>
          <p:cNvSpPr txBox="1"/>
          <p:nvPr/>
        </p:nvSpPr>
        <p:spPr>
          <a:xfrm>
            <a:off x="438912" y="5513832"/>
            <a:ext cx="2011680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맑은 고딕"/>
                <a:ea typeface="맑은 고딕"/>
              </a:rPr>
              <a:t>메모리 비용 (추정)</a:t>
            </a:r>
          </a:p>
        </p:txBody>
      </p:sp>
      <p:sp>
        <p:nvSpPr>
          <p:cNvPr id="351" name="TextBox 350"/>
          <p:cNvSpPr txBox="1"/>
          <p:nvPr/>
        </p:nvSpPr>
        <p:spPr>
          <a:xfrm>
            <a:off x="2468880" y="5513832"/>
            <a:ext cx="3054096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맑은 고딕"/>
                <a:ea typeface="맑은 고딕"/>
              </a:rPr>
              <a:t>$53.8K  (1.00×)</a:t>
            </a:r>
          </a:p>
        </p:txBody>
      </p:sp>
      <p:sp>
        <p:nvSpPr>
          <p:cNvPr id="352" name="TextBox 351"/>
          <p:cNvSpPr txBox="1"/>
          <p:nvPr/>
        </p:nvSpPr>
        <p:spPr>
          <a:xfrm>
            <a:off x="5650992" y="5513832"/>
            <a:ext cx="3054096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맑은 고딕"/>
                <a:ea typeface="맑은 고딕"/>
              </a:rPr>
              <a:t>$78.8K  (1.46×)</a:t>
            </a:r>
          </a:p>
        </p:txBody>
      </p:sp>
      <p:sp>
        <p:nvSpPr>
          <p:cNvPr id="353" name="TextBox 352"/>
          <p:cNvSpPr txBox="1"/>
          <p:nvPr/>
        </p:nvSpPr>
        <p:spPr>
          <a:xfrm>
            <a:off x="8833104" y="5513832"/>
            <a:ext cx="3054096" cy="2103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맑은 고딕"/>
                <a:ea typeface="맑은 고딕"/>
              </a:rPr>
              <a:t>$78.8K  (1.46×)</a:t>
            </a:r>
          </a:p>
        </p:txBody>
      </p:sp>
      <p:sp>
        <p:nvSpPr>
          <p:cNvPr id="354" name="Rectangle 124"/>
          <p:cNvSpPr/>
          <p:nvPr/>
        </p:nvSpPr>
        <p:spPr>
          <a:xfrm>
            <a:off x="365760" y="5797296"/>
            <a:ext cx="11521440" cy="420624"/>
          </a:xfrm>
          <a:prstGeom prst="rect">
            <a:avLst/>
          </a:prstGeom>
          <a:solidFill>
            <a:srgbClr val="FFF2CC"/>
          </a:solidFill>
          <a:ln w="12700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7F5F00"/>
                </a:solidFill>
                <a:latin typeface="맑은 고딕"/>
                <a:ea typeface="맑은 고딕"/>
              </a:rPr>
              <a:t>집계 대역폭 0.55×는 슬롯당 대역폭이 낮아진 게 아니라 GPU가 4대 줄어든 몫이다 — 슬롯당 HBM 2.0 TB/s는 세 구성 모두 같고, decode attention이 묶이는 것은 슬롯당 대역폭이다</a:t>
            </a:r>
          </a:p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7F5F00"/>
                </a:solidFill>
                <a:latin typeface="맑은 고딕"/>
                <a:ea typeface="맑은 고딕"/>
              </a:rPr>
              <a:t>매체 지연 : HBM ~100 ns · CXL-PNM ~300 ns · HBF ~10 μs급(NAND) · NVMe ~100 μs → HBF는 read-dominant 계층(weight · cold KV)이고, KV 상주 계층은 HBM · CXL-PNM이 맡는다</a:t>
            </a:r>
          </a:p>
        </p:txBody>
      </p:sp>
      <p:sp>
        <p:nvSpPr>
          <p:cNvPr id="355" name="TextBox 354"/>
          <p:cNvSpPr txBox="1"/>
          <p:nvPr/>
        </p:nvSpPr>
        <p:spPr>
          <a:xfrm>
            <a:off x="365760" y="6291072"/>
            <a:ext cx="11521440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 i="0">
                <a:solidFill>
                  <a:srgbClr val="808080"/>
                </a:solidFill>
                <a:latin typeface="맑은 고딕"/>
                <a:ea typeface="맑은 고딕"/>
              </a:rPr>
              <a:t>※ GPU = A100급(108 SM · HBM 2.0 TB/s) · CPU DDR 175 GB/s × 2소켓 · CXL-PNM(Structera-A) 200 GB/s × 4카드. Target 2는 HBM 스택 절반을 HBF로 교체 — 동일 스택 비용에 8× 용량, 스택당 HBM급 대역폭(SanDisk HBF 공개 주장) 전제.</a:t>
            </a:r>
          </a:p>
          <a:p>
            <a:pPr algn="l">
              <a:lnSpc>
                <a:spcPct val="130000"/>
              </a:lnSpc>
            </a:pPr>
            <a:r>
              <a:rPr sz="800" b="0" i="0">
                <a:solidFill>
                  <a:srgbClr val="808080"/>
                </a:solidFill>
                <a:latin typeface="맑은 고딕"/>
                <a:ea typeface="맑은 고딕"/>
              </a:rPr>
              <a:t>※ 단가(2026.10 시장가) HBM3E $15.6 / HBF $1.95(HBM÷8 가정) / DDR5 RDIMM $35 / NVMe $0.50 / PIM-SSD $0.75(NVMe×1.5) per GB. 메모리 매체 비용만 비교 — GPU 8대 → 4대 감소분은 카드 비용 제외라 별도 절감이다.</a:t>
            </a:r>
          </a:p>
        </p:txBody>
      </p:sp>
    </p:spTree>
    <p:extLst>
      <p:ext uri="{BB962C8B-B14F-4D97-AF65-F5344CB8AC3E}">
        <p14:creationId xmlns:p14="http://schemas.microsoft.com/office/powerpoint/2010/main" val="42234000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574</Words>
  <Application>Microsoft Office PowerPoint</Application>
  <PresentationFormat>와이드스크린</PresentationFormat>
  <Paragraphs>124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4" baseType="lpstr">
      <vt:lpstr>맑은 고딕</vt:lpstr>
      <vt:lpstr>Arial</vt:lpstr>
      <vt:lpstr>Office 테마</vt:lpstr>
      <vt:lpstr>Baseline 시스템 vs Target 시스템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Baseline 시스템 vs Target 시스템</dc:title>
  <dc:creator>Myeong Woo Kim</dc:creator>
  <cp:lastModifiedBy>Myeong Woo Kim</cp:lastModifiedBy>
  <cp:revision>1</cp:revision>
  <dcterms:created xsi:type="dcterms:W3CDTF">2026-10-28T13:22:18Z</dcterms:created>
  <dcterms:modified xsi:type="dcterms:W3CDTF">2026-10-28T13:22:27Z</dcterms:modified>
</cp:coreProperties>
</file>
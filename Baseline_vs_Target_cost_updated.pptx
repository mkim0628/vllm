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1038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8E92C5-ED7E-4875-B274-95F23C2CE9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F1C1181-5137-4A59-849E-EF429916B4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A24972-B43D-4BFB-B22B-EAD3863A1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C32921-8B0B-4240-B78F-BE51A423D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772B79-6A32-4330-A7F4-FC3D5E72D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7674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36A0DD-8E60-47F4-9843-7878E35CB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CFFE95-324D-4A9B-BB47-730AF6C5F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DD69E4-CE98-474A-B4A4-DE527B875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422FE-50AB-4528-BA32-748D2BE5C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CF3FD6-A665-4323-934B-A4D8C9C60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187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4A6054-7008-4B47-AFBB-FD1265B62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9AAAB9-A6AF-4BB9-98A2-7D28B926F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0C2101-9FC7-48B4-B49B-A48DA9100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3104BD-C87F-415E-B98B-C8414AEF6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E5F6B-13C3-48F7-82EF-66F0CEDE7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963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8448FB-4345-4203-9C0B-4E92F0BA3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F8ED0C-F7F0-434C-8964-1EA661FB51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9D6865-ADF3-49A0-B648-900E822CC6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CB1A3AA-FC14-46C9-90FC-AD15710AE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7D8DC6-9ED2-425C-ADC2-E5B687B6A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DBE30C-DBE2-4B5A-A411-2D6C59EEF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76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39F96D-D0DB-4FE8-BEA4-262662E59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C76505-FFE7-41B5-9D5F-F4D305B501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FF74824-FF95-4859-B7A5-C35D512F4D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C1F40A1-90E3-4B3B-98C7-51DB44CCE5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832B02B-3242-4673-8095-9BF70E683A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CFD10D9-086C-4D17-9235-D791D0E0B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A9C1E53-F41E-4F65-8E4E-C760B3CA2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6EF15AA-38C2-4C19-A259-97FB63F1B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111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D705F1-F4A1-496F-B807-2EF9BB10F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9175092-548C-4318-B0CC-2453DE170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E8A59-3054-45C6-9459-FD1161E00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40DE3BC-28AC-47CC-827C-484564F4C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274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34A590C-E83E-4F61-AED3-F70B1F1B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A39C82E-0B76-481E-A0F1-7C561AB12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17E542-9FD8-4008-BDA5-86516F1A9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846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571994-CC03-4E80-B4C2-DD695E36F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BDB054-5802-49E2-981B-A497A7599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CF6B05F-0F3C-4AA5-AB0B-C8045D3AC2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107CAC-A703-4AD2-9678-330AE604E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7A0BB8-291B-486F-8F41-F1975A0BC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94767A-A762-4644-B746-3494E11F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2171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553291-DC6B-4836-B88A-C5A95AD91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69F4547-3CEA-4C51-973C-4372F7BA34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82984F6-ECBB-4279-8D8F-72C2D30FFA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9EEE63-CEC3-4DA3-9215-35012ADC6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30E1EE8-56ED-4B6F-BBD7-66D5835A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5F57F4-7924-490B-9306-9ABA2924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1889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5F96D5-8AE9-4C38-8DEF-EBAF997D0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8FAEA51-C168-44DE-9DE4-EBC81676A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86998F5-57A0-4E13-8C65-B6ACFDF9A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C6EBBAF-4F0D-41C3-84D1-4C0C69917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B48A8B-AD22-4092-B971-7ECD6E00D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53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08D06EF-29EE-4375-A26F-AC8426666A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B97E908-7C85-4FD7-A4DE-1CFACACAF1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146172-F96A-4922-B82A-3FCB079F8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285D2D-7C12-41A7-97AB-B3BB86267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30C980-B384-40E1-8C20-697ABE923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34725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3362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2ABE4C-3010-41F0-A5B4-75F310189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1EE271-FEA3-441B-8976-599BE3FB0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1D6435-F383-4D1E-9B4B-F73E4ED22A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E0076D-A9D6-4EAF-81EE-8FAB519DD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5E12E2-2E98-4625-8B2B-DC3B9CBDBD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589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Baseline </a:t>
            </a:r>
            <a:r>
              <a:rPr lang="ko-KR" altLang="en-US" dirty="0"/>
              <a:t>시스템 </a:t>
            </a:r>
            <a:r>
              <a:rPr lang="en-US" altLang="ko-KR" dirty="0"/>
              <a:t>vs Target </a:t>
            </a:r>
            <a:r>
              <a:rPr lang="ko-KR" altLang="en-US" dirty="0"/>
              <a:t>시스템</a:t>
            </a:r>
          </a:p>
        </p:txBody>
      </p:sp>
      <p:sp>
        <p:nvSpPr>
          <p:cNvPr id="119" name="Rectangle 3"/>
          <p:cNvSpPr/>
          <p:nvPr/>
        </p:nvSpPr>
        <p:spPr>
          <a:xfrm>
            <a:off x="365760" y="694944"/>
            <a:ext cx="11521440" cy="1828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361950" y="804672"/>
            <a:ext cx="173355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808080"/>
                </a:solidFill>
                <a:latin typeface="맑은 고딕"/>
                <a:ea typeface="맑은 고딕"/>
              </a:rPr>
              <a:t>구성  (1노드 · ×4노드)</a:t>
            </a:r>
          </a:p>
        </p:txBody>
      </p:sp>
      <p:sp>
        <p:nvSpPr>
          <p:cNvPr id="121" name="Rectangle 5"/>
          <p:cNvSpPr/>
          <p:nvPr/>
        </p:nvSpPr>
        <p:spPr>
          <a:xfrm>
            <a:off x="2171700" y="804672"/>
            <a:ext cx="2381250" cy="29260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Baseline  —  H100 × 8</a:t>
            </a:r>
          </a:p>
        </p:txBody>
      </p:sp>
      <p:sp>
        <p:nvSpPr>
          <p:cNvPr id="236" name="Rectangle 6"/>
          <p:cNvSpPr/>
          <p:nvPr/>
        </p:nvSpPr>
        <p:spPr>
          <a:xfrm>
            <a:off x="4629150" y="804672"/>
            <a:ext cx="2381250" cy="29260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Target  —  H100 × 6  +  CXL-PNM × 2</a:t>
            </a:r>
          </a:p>
        </p:txBody>
      </p:sp>
      <p:sp>
        <p:nvSpPr>
          <p:cNvPr id="237" name="Rectangle 7"/>
          <p:cNvSpPr/>
          <p:nvPr/>
        </p:nvSpPr>
        <p:spPr>
          <a:xfrm>
            <a:off x="7086600" y="804672"/>
            <a:ext cx="4791075" cy="29260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산출식  ·  제품 (세대 / 타입)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61950" y="1181100"/>
            <a:ext cx="17335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가속기  상단 4슬롯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연산 + 고대역 메모리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361950" y="1752600"/>
            <a:ext cx="173355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CPU  2소켓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361950" y="2181225"/>
            <a:ext cx="17335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가속기  하단 4슬롯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61950" y="2762250"/>
            <a:ext cx="17335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스토리지</a:t>
            </a:r>
          </a:p>
        </p:txBody>
      </p:sp>
      <p:sp>
        <p:nvSpPr>
          <p:cNvPr id="242" name="Rectangle 12"/>
          <p:cNvSpPr/>
          <p:nvPr/>
        </p:nvSpPr>
        <p:spPr>
          <a:xfrm>
            <a:off x="2171700" y="1133475"/>
            <a:ext cx="2381250" cy="1933575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243" name="Rectangle 13"/>
          <p:cNvSpPr/>
          <p:nvPr/>
        </p:nvSpPr>
        <p:spPr>
          <a:xfrm>
            <a:off x="2247900" y="1181100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GPU0</a:t>
            </a:r>
          </a:p>
        </p:txBody>
      </p:sp>
      <p:sp>
        <p:nvSpPr>
          <p:cNvPr id="244" name="Rectangle 14"/>
          <p:cNvSpPr/>
          <p:nvPr/>
        </p:nvSpPr>
        <p:spPr>
          <a:xfrm>
            <a:off x="2247900" y="1409700"/>
            <a:ext cx="523875" cy="3048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45" name="Rectangle 15"/>
          <p:cNvSpPr/>
          <p:nvPr/>
        </p:nvSpPr>
        <p:spPr>
          <a:xfrm>
            <a:off x="2805112" y="1181100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GPU1</a:t>
            </a:r>
          </a:p>
        </p:txBody>
      </p:sp>
      <p:sp>
        <p:nvSpPr>
          <p:cNvPr id="246" name="Rectangle 16"/>
          <p:cNvSpPr/>
          <p:nvPr/>
        </p:nvSpPr>
        <p:spPr>
          <a:xfrm>
            <a:off x="2805112" y="1409700"/>
            <a:ext cx="523875" cy="3048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47" name="Rectangle 17"/>
          <p:cNvSpPr/>
          <p:nvPr/>
        </p:nvSpPr>
        <p:spPr>
          <a:xfrm>
            <a:off x="3362325" y="1181100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GPU2</a:t>
            </a:r>
          </a:p>
        </p:txBody>
      </p:sp>
      <p:sp>
        <p:nvSpPr>
          <p:cNvPr id="248" name="Rectangle 18"/>
          <p:cNvSpPr/>
          <p:nvPr/>
        </p:nvSpPr>
        <p:spPr>
          <a:xfrm>
            <a:off x="3362325" y="1409700"/>
            <a:ext cx="523875" cy="3048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49" name="Rectangle 19"/>
          <p:cNvSpPr/>
          <p:nvPr/>
        </p:nvSpPr>
        <p:spPr>
          <a:xfrm>
            <a:off x="3919538" y="1181100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GPU3</a:t>
            </a:r>
          </a:p>
        </p:txBody>
      </p:sp>
      <p:sp>
        <p:nvSpPr>
          <p:cNvPr id="250" name="Rectangle 20"/>
          <p:cNvSpPr/>
          <p:nvPr/>
        </p:nvSpPr>
        <p:spPr>
          <a:xfrm>
            <a:off x="3919538" y="1409700"/>
            <a:ext cx="523875" cy="3048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1" name="Rectangle 21"/>
          <p:cNvSpPr/>
          <p:nvPr/>
        </p:nvSpPr>
        <p:spPr>
          <a:xfrm>
            <a:off x="2247900" y="1752600"/>
            <a:ext cx="1081088" cy="381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CPU0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56C · DDR 512GB</a:t>
            </a:r>
          </a:p>
        </p:txBody>
      </p:sp>
      <p:sp>
        <p:nvSpPr>
          <p:cNvPr id="252" name="Rectangle 22"/>
          <p:cNvSpPr/>
          <p:nvPr/>
        </p:nvSpPr>
        <p:spPr>
          <a:xfrm>
            <a:off x="3362325" y="1752600"/>
            <a:ext cx="1081088" cy="381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CPU1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56C · DDR 512GB</a:t>
            </a:r>
          </a:p>
        </p:txBody>
      </p:sp>
      <p:sp>
        <p:nvSpPr>
          <p:cNvPr id="253" name="Rectangle 23"/>
          <p:cNvSpPr/>
          <p:nvPr/>
        </p:nvSpPr>
        <p:spPr>
          <a:xfrm>
            <a:off x="2247900" y="2181225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GPU4</a:t>
            </a:r>
          </a:p>
        </p:txBody>
      </p:sp>
      <p:sp>
        <p:nvSpPr>
          <p:cNvPr id="254" name="Rectangle 24"/>
          <p:cNvSpPr/>
          <p:nvPr/>
        </p:nvSpPr>
        <p:spPr>
          <a:xfrm>
            <a:off x="2247900" y="2409825"/>
            <a:ext cx="523875" cy="3048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5" name="Rectangle 25"/>
          <p:cNvSpPr/>
          <p:nvPr/>
        </p:nvSpPr>
        <p:spPr>
          <a:xfrm>
            <a:off x="2805112" y="2181225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GPU5</a:t>
            </a:r>
          </a:p>
        </p:txBody>
      </p:sp>
      <p:sp>
        <p:nvSpPr>
          <p:cNvPr id="256" name="Rectangle 26"/>
          <p:cNvSpPr/>
          <p:nvPr/>
        </p:nvSpPr>
        <p:spPr>
          <a:xfrm>
            <a:off x="2805112" y="2409825"/>
            <a:ext cx="523875" cy="3048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7" name="Rectangle 27"/>
          <p:cNvSpPr/>
          <p:nvPr/>
        </p:nvSpPr>
        <p:spPr>
          <a:xfrm>
            <a:off x="3362325" y="2181225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GPU6</a:t>
            </a:r>
          </a:p>
        </p:txBody>
      </p:sp>
      <p:sp>
        <p:nvSpPr>
          <p:cNvPr id="258" name="Rectangle 28"/>
          <p:cNvSpPr/>
          <p:nvPr/>
        </p:nvSpPr>
        <p:spPr>
          <a:xfrm>
            <a:off x="3362325" y="2409825"/>
            <a:ext cx="523875" cy="3048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9" name="Rectangle 29"/>
          <p:cNvSpPr/>
          <p:nvPr/>
        </p:nvSpPr>
        <p:spPr>
          <a:xfrm>
            <a:off x="3919538" y="2181225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GPU7</a:t>
            </a:r>
          </a:p>
        </p:txBody>
      </p:sp>
      <p:sp>
        <p:nvSpPr>
          <p:cNvPr id="260" name="Rectangle 30"/>
          <p:cNvSpPr/>
          <p:nvPr/>
        </p:nvSpPr>
        <p:spPr>
          <a:xfrm>
            <a:off x="3919538" y="2409825"/>
            <a:ext cx="523875" cy="3048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1" name="Rectangle 31"/>
          <p:cNvSpPr/>
          <p:nvPr/>
        </p:nvSpPr>
        <p:spPr>
          <a:xfrm>
            <a:off x="2247900" y="2762250"/>
            <a:ext cx="2195512" cy="24765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262626"/>
                </a:solidFill>
                <a:latin typeface="맑은 고딕"/>
                <a:ea typeface="맑은 고딕"/>
              </a:rPr>
              <a:t>NVMe SSD  16TB</a:t>
            </a:r>
          </a:p>
        </p:txBody>
      </p:sp>
      <p:sp>
        <p:nvSpPr>
          <p:cNvPr id="262" name="Rectangle 32"/>
          <p:cNvSpPr/>
          <p:nvPr/>
        </p:nvSpPr>
        <p:spPr>
          <a:xfrm>
            <a:off x="4629150" y="1133475"/>
            <a:ext cx="2381250" cy="1933575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263" name="Rectangle 33"/>
          <p:cNvSpPr/>
          <p:nvPr/>
        </p:nvSpPr>
        <p:spPr>
          <a:xfrm>
            <a:off x="4705350" y="1181100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GPU0</a:t>
            </a:r>
          </a:p>
        </p:txBody>
      </p:sp>
      <p:sp>
        <p:nvSpPr>
          <p:cNvPr id="264" name="Rectangle 34"/>
          <p:cNvSpPr/>
          <p:nvPr/>
        </p:nvSpPr>
        <p:spPr>
          <a:xfrm>
            <a:off x="4705350" y="1409700"/>
            <a:ext cx="523875" cy="3048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5" name="Rectangle 35"/>
          <p:cNvSpPr/>
          <p:nvPr/>
        </p:nvSpPr>
        <p:spPr>
          <a:xfrm>
            <a:off x="5262562" y="1181100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GPU1</a:t>
            </a:r>
          </a:p>
        </p:txBody>
      </p:sp>
      <p:sp>
        <p:nvSpPr>
          <p:cNvPr id="266" name="Rectangle 36"/>
          <p:cNvSpPr/>
          <p:nvPr/>
        </p:nvSpPr>
        <p:spPr>
          <a:xfrm>
            <a:off x="5262562" y="1409700"/>
            <a:ext cx="523875" cy="3048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7" name="Rectangle 37"/>
          <p:cNvSpPr/>
          <p:nvPr/>
        </p:nvSpPr>
        <p:spPr>
          <a:xfrm>
            <a:off x="5819775" y="1181100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GPU2</a:t>
            </a:r>
          </a:p>
        </p:txBody>
      </p:sp>
      <p:sp>
        <p:nvSpPr>
          <p:cNvPr id="268" name="Rectangle 38"/>
          <p:cNvSpPr/>
          <p:nvPr/>
        </p:nvSpPr>
        <p:spPr>
          <a:xfrm>
            <a:off x="5819775" y="1409700"/>
            <a:ext cx="523875" cy="3048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9" name="Rectangle 39"/>
          <p:cNvSpPr/>
          <p:nvPr/>
        </p:nvSpPr>
        <p:spPr>
          <a:xfrm>
            <a:off x="6376988" y="1181100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GPU3</a:t>
            </a:r>
          </a:p>
        </p:txBody>
      </p:sp>
      <p:sp>
        <p:nvSpPr>
          <p:cNvPr id="270" name="Rectangle 40"/>
          <p:cNvSpPr/>
          <p:nvPr/>
        </p:nvSpPr>
        <p:spPr>
          <a:xfrm>
            <a:off x="6376988" y="1409700"/>
            <a:ext cx="523875" cy="3048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71" name="Rectangle 41"/>
          <p:cNvSpPr/>
          <p:nvPr/>
        </p:nvSpPr>
        <p:spPr>
          <a:xfrm>
            <a:off x="4705350" y="1752600"/>
            <a:ext cx="1081088" cy="381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CPU0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56C · DDR 512GB</a:t>
            </a:r>
          </a:p>
        </p:txBody>
      </p:sp>
      <p:sp>
        <p:nvSpPr>
          <p:cNvPr id="272" name="Rectangle 42"/>
          <p:cNvSpPr/>
          <p:nvPr/>
        </p:nvSpPr>
        <p:spPr>
          <a:xfrm>
            <a:off x="5819775" y="1752600"/>
            <a:ext cx="1081088" cy="381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CPU1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56C · DDR 512GB</a:t>
            </a:r>
          </a:p>
        </p:txBody>
      </p:sp>
      <p:sp>
        <p:nvSpPr>
          <p:cNvPr id="273" name="Rectangle 43"/>
          <p:cNvSpPr/>
          <p:nvPr/>
        </p:nvSpPr>
        <p:spPr>
          <a:xfrm>
            <a:off x="5819775" y="2181225"/>
            <a:ext cx="523875" cy="20955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PNM0</a:t>
            </a:r>
          </a:p>
        </p:txBody>
      </p:sp>
      <p:sp>
        <p:nvSpPr>
          <p:cNvPr id="274" name="Rectangle 44"/>
          <p:cNvSpPr/>
          <p:nvPr/>
        </p:nvSpPr>
        <p:spPr>
          <a:xfrm>
            <a:off x="5819775" y="2409825"/>
            <a:ext cx="523875" cy="304800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75" name="Rectangle 45"/>
          <p:cNvSpPr/>
          <p:nvPr/>
        </p:nvSpPr>
        <p:spPr>
          <a:xfrm>
            <a:off x="6376988" y="2181225"/>
            <a:ext cx="523875" cy="20955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PNM1</a:t>
            </a:r>
          </a:p>
        </p:txBody>
      </p:sp>
      <p:sp>
        <p:nvSpPr>
          <p:cNvPr id="276" name="Rectangle 46"/>
          <p:cNvSpPr/>
          <p:nvPr/>
        </p:nvSpPr>
        <p:spPr>
          <a:xfrm>
            <a:off x="6376988" y="2409825"/>
            <a:ext cx="523875" cy="304800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81" name="Rectangle 51"/>
          <p:cNvSpPr/>
          <p:nvPr/>
        </p:nvSpPr>
        <p:spPr>
          <a:xfrm>
            <a:off x="4705350" y="2762250"/>
            <a:ext cx="1081088" cy="24765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262626"/>
                </a:solidFill>
                <a:latin typeface="맑은 고딕"/>
                <a:ea typeface="맑은 고딕"/>
              </a:rPr>
              <a:t>NVMe SSD  16TB</a:t>
            </a:r>
          </a:p>
        </p:txBody>
      </p:sp>
      <p:sp>
        <p:nvSpPr>
          <p:cNvPr id="282" name="Rectangle 52"/>
          <p:cNvSpPr/>
          <p:nvPr/>
        </p:nvSpPr>
        <p:spPr>
          <a:xfrm>
            <a:off x="5819775" y="2762250"/>
            <a:ext cx="1081088" cy="247650"/>
          </a:xfrm>
          <a:prstGeom prst="rect">
            <a:avLst/>
          </a:prstGeom>
          <a:solidFill>
            <a:srgbClr val="E2EFDA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375623"/>
                </a:solidFill>
                <a:latin typeface="맑은 고딕"/>
                <a:ea typeface="맑은 고딕"/>
              </a:rPr>
              <a:t>PIM-SSD  16TB</a:t>
            </a:r>
          </a:p>
        </p:txBody>
      </p:sp>
      <p:sp>
        <p:nvSpPr>
          <p:cNvPr id="283" name="Rectangle 53"/>
          <p:cNvSpPr/>
          <p:nvPr/>
        </p:nvSpPr>
        <p:spPr>
          <a:xfrm>
            <a:off x="7086600" y="1133475"/>
            <a:ext cx="4791075" cy="1933575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64008" rIns="82296" bIns="0" rtlCol="0" anchor="t"/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00" b="1" i="0">
                <a:solidFill>
                  <a:srgbClr val="1F4E79"/>
                </a:solidFill>
                <a:latin typeface="맑은 고딕"/>
                <a:ea typeface="맑은 고딕"/>
              </a:rPr>
              <a:t>GPU  </a:t>
            </a:r>
            <a:r>
              <a:rPr sz="800" b="0" i="0">
                <a:solidFill>
                  <a:srgbClr val="262626"/>
                </a:solidFill>
                <a:latin typeface="맑은 고딕"/>
                <a:ea typeface="맑은 고딕"/>
              </a:rPr>
              <a:t>NVIDIA H100 SXM5 80GB · HBM3 · 3.35 TB/s · 132 SM — 신품 $30K/장 (HBM 포함). Target 6대 중 4대는 HBM 80GB, 2대는 HBM 40GB + HBF 320GB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00" b="1" i="0">
                <a:solidFill>
                  <a:srgbClr val="1F4E79"/>
                </a:solidFill>
                <a:latin typeface="맑은 고딕"/>
                <a:ea typeface="맑은 고딕"/>
              </a:rPr>
              <a:t>HBF  </a:t>
            </a:r>
            <a:r>
              <a:rPr sz="800" b="0" i="0">
                <a:solidFill>
                  <a:srgbClr val="262626"/>
                </a:solidFill>
                <a:latin typeface="맑은 고딕"/>
                <a:ea typeface="맑은 고딕"/>
              </a:rPr>
              <a:t>High Bandwidth Flash (NAND 적층, SanDisk · SK hynix OCP 규격) — HBM 스택 절반 교체, 동일 스택 비용에 8× 용량 · HBM급 BW 전제 → $15.6 ÷ 8 = $1.95/GB (가정)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00" b="1" i="0">
                <a:solidFill>
                  <a:srgbClr val="1F4E79"/>
                </a:solidFill>
                <a:latin typeface="맑은 고딕"/>
                <a:ea typeface="맑은 고딕"/>
              </a:rPr>
              <a:t>CPU  </a:t>
            </a:r>
            <a:r>
              <a:rPr sz="800" b="0" i="0">
                <a:solidFill>
                  <a:srgbClr val="262626"/>
                </a:solidFill>
                <a:latin typeface="맑은 고딕"/>
                <a:ea typeface="맑은 고딕"/>
              </a:rPr>
              <a:t>Xeon Platinum 8480+급 56C × 2소켓 · DDR5-4800 8ch × 64GB RDIMM = 512GB/소켓 — 신품 $35/GB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00" b="1" i="0">
                <a:solidFill>
                  <a:srgbClr val="1F4E79"/>
                </a:solidFill>
                <a:latin typeface="맑은 고딕"/>
                <a:ea typeface="맑은 고딕"/>
              </a:rPr>
              <a:t>CXL-PNM  </a:t>
            </a:r>
            <a:r>
              <a:rPr sz="800" b="0" i="0">
                <a:solidFill>
                  <a:srgbClr val="262626"/>
                </a:solidFill>
                <a:latin typeface="맑은 고딕"/>
                <a:ea typeface="맑은 고딕"/>
              </a:rPr>
              <a:t>Marvell Structera A 2504 (CXL Type-3 · Arm Neoverse V2 16코어) · DDR5-6400 4ch × 32GB = 128GB/카드 — 카드 $1.5K (가정)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00" b="1" i="0">
                <a:solidFill>
                  <a:srgbClr val="1F4E79"/>
                </a:solidFill>
                <a:latin typeface="맑은 고딕"/>
                <a:ea typeface="맑은 고딕"/>
              </a:rPr>
              <a:t>NVMe SSD  </a:t>
            </a:r>
            <a:r>
              <a:rPr sz="800" b="0" i="0">
                <a:solidFill>
                  <a:srgbClr val="262626"/>
                </a:solidFill>
                <a:latin typeface="맑은 고딕"/>
                <a:ea typeface="맑은 고딕"/>
              </a:rPr>
              <a:t>엔터프라이즈 PCIe Gen4 U.3 TLC (Micron 7450 PRO급) 4TB × 4대, 7 GB/s × 4 = 28 GB/s — 신품 $0.45/GB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00" b="1" i="0">
                <a:solidFill>
                  <a:srgbClr val="1F4E79"/>
                </a:solidFill>
                <a:latin typeface="맑은 고딕"/>
                <a:ea typeface="맑은 고딕"/>
              </a:rPr>
              <a:t>PIM-SSD  </a:t>
            </a:r>
            <a:r>
              <a:rPr sz="800" b="0" i="0">
                <a:solidFill>
                  <a:srgbClr val="262626"/>
                </a:solidFill>
                <a:latin typeface="맑은 고딕"/>
                <a:ea typeface="맑은 고딕"/>
              </a:rPr>
              <a:t>연산 내장 SSD — NVMe와 동일 사양 · 단가 가정.  두 구성 모두 4노드</a:t>
            </a:r>
          </a:p>
        </p:txBody>
      </p:sp>
      <p:sp>
        <p:nvSpPr>
          <p:cNvPr id="308" name="Rectangle 78"/>
          <p:cNvSpPr/>
          <p:nvPr/>
        </p:nvSpPr>
        <p:spPr>
          <a:xfrm>
            <a:off x="361950" y="3124200"/>
            <a:ext cx="11515725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09" name="TextBox 308"/>
          <p:cNvSpPr txBox="1"/>
          <p:nvPr/>
        </p:nvSpPr>
        <p:spPr>
          <a:xfrm>
            <a:off x="361950" y="3171825"/>
            <a:ext cx="268605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 i="0">
                <a:solidFill>
                  <a:srgbClr val="808080"/>
                </a:solidFill>
                <a:latin typeface="맑은 고딕"/>
                <a:ea typeface="맑은 고딕"/>
              </a:rPr>
              <a:t>계층별  용량  ·  대역폭  (1노드 기준)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361950" y="3333750"/>
            <a:ext cx="17335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HBM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2171700" y="3333750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640 GB  ·  26.8 TB/s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4629150" y="3333750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400 GB  ·  16.75 TB/s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7143750" y="3333750"/>
            <a:ext cx="4733925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맑은 고딕"/>
                <a:ea typeface="맑은 고딕"/>
              </a:rPr>
              <a:t>H100 HBM3 3.35 TB/s — 8×80GB, 8×3.35 / 4×80 + 2×40 = 400GB, 4×3.35 + 2×1.675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61950" y="3533775"/>
            <a:ext cx="17335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HBF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171700" y="3533775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4629150" y="3533775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640 GB  ·  3.35 TB/s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7143750" y="3533775"/>
            <a:ext cx="4733925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맑은 고딕"/>
                <a:ea typeface="맑은 고딕"/>
              </a:rPr>
              <a:t>HBF (SanDisk·SK hynix) 2대 × 320GB = 640GB · BW 2×1.675 = 3.35 TB/s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61950" y="3733800"/>
            <a:ext cx="17335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CXL-PNM (DDR)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2171700" y="3733800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629150" y="3733800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256 GB  ·  400 GB/s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7143750" y="3733800"/>
            <a:ext cx="4733925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맑은 고딕"/>
                <a:ea typeface="맑은 고딕"/>
              </a:rPr>
              <a:t>Structera A 2504 · DDR5-6400 4ch×32GB = 128GB, ≈200 GB/s/카드 — 2카드: 2×128, 2×200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361950" y="3933825"/>
            <a:ext cx="17335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CPU DDR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2171700" y="3933825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1,024 GB  ·  350 GB/s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4629150" y="3933825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1,024 GB  ·  350 GB/s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7143750" y="3933825"/>
            <a:ext cx="4733925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맑은 고딕"/>
                <a:ea typeface="맑은 고딕"/>
              </a:rPr>
              <a:t>Xeon 8480+급 56C ×2 · DDR5-4800 8ch×64GB = 512GB, 유효 175 GB/s/소켓 — 2×512, 2×175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361950" y="4133850"/>
            <a:ext cx="17335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NVMe SSD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171700" y="4133850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4629150" y="4133850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143750" y="4133850"/>
            <a:ext cx="4733925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맑은 고딕"/>
                <a:ea typeface="맑은 고딕"/>
              </a:rPr>
              <a:t>NVMe PCIe Gen4 U.3 TLC · 4TB×4 = 16TB, 7 GB/s×4 = 28 GB/s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61950" y="4333875"/>
            <a:ext cx="17335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PIM-SSD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2171700" y="4333875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629150" y="4333875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7143750" y="4333875"/>
            <a:ext cx="4733925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맑은 고딕"/>
                <a:ea typeface="맑은 고딕"/>
              </a:rPr>
              <a:t>PIM(연산 내장) SSD · NVMe와 동일 용량·대역폭·단가 가정 — 16TB, 28 GB/s</a:t>
            </a:r>
          </a:p>
        </p:txBody>
      </p:sp>
      <p:sp>
        <p:nvSpPr>
          <p:cNvPr id="334" name="Rectangle 104"/>
          <p:cNvSpPr/>
          <p:nvPr/>
        </p:nvSpPr>
        <p:spPr>
          <a:xfrm>
            <a:off x="361950" y="4572000"/>
            <a:ext cx="11515725" cy="200025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35" name="TextBox 334"/>
          <p:cNvSpPr txBox="1"/>
          <p:nvPr/>
        </p:nvSpPr>
        <p:spPr>
          <a:xfrm>
            <a:off x="438150" y="4572000"/>
            <a:ext cx="16573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가속기측 고대역 용량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2171700" y="4572000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640 GB  (1.00×)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4629150" y="4572000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1,296 GB  (2.03×)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7143750" y="4572000"/>
            <a:ext cx="4733925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맑은 고딕"/>
                <a:ea typeface="맑은 고딕"/>
              </a:rPr>
              <a:t>HBM + HBF + PNM : 640 / 400 + 640 + 256 = 1,296 GB</a:t>
            </a:r>
          </a:p>
        </p:txBody>
      </p:sp>
      <p:sp>
        <p:nvSpPr>
          <p:cNvPr id="339" name="Rectangle 109"/>
          <p:cNvSpPr/>
          <p:nvPr/>
        </p:nvSpPr>
        <p:spPr>
          <a:xfrm>
            <a:off x="361950" y="4772025"/>
            <a:ext cx="11515725" cy="200025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40" name="TextBox 339"/>
          <p:cNvSpPr txBox="1"/>
          <p:nvPr/>
        </p:nvSpPr>
        <p:spPr>
          <a:xfrm>
            <a:off x="438150" y="4772025"/>
            <a:ext cx="16573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가속기측 고대역 대역폭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171700" y="4772025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26.8 TB/s  (1.00×)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4629150" y="4772025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20.5 TB/s  (0.76×)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7143750" y="4772025"/>
            <a:ext cx="4733925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맑은 고딕"/>
                <a:ea typeface="맑은 고딕"/>
              </a:rPr>
              <a:t>HBM + HBF + PNM : 8×3.35 = 26.8 / 16.75 + 3.35 + 0.4 = 20.5 TB/s</a:t>
            </a:r>
          </a:p>
        </p:txBody>
      </p:sp>
      <p:sp>
        <p:nvSpPr>
          <p:cNvPr id="344" name="Rectangle 114"/>
          <p:cNvSpPr/>
          <p:nvPr/>
        </p:nvSpPr>
        <p:spPr>
          <a:xfrm>
            <a:off x="361950" y="4972050"/>
            <a:ext cx="11515725" cy="200025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45" name="TextBox 344"/>
          <p:cNvSpPr txBox="1"/>
          <p:nvPr/>
        </p:nvSpPr>
        <p:spPr>
          <a:xfrm>
            <a:off x="438150" y="4972050"/>
            <a:ext cx="16573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총 메모리 용량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2171700" y="4972050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17,664 GB  (1.00×)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629150" y="4972050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34,320 GB  (1.94×)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7143750" y="4972050"/>
            <a:ext cx="4733925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맑은 고딕"/>
                <a:ea typeface="맑은 고딕"/>
              </a:rPr>
              <a:t>HBM+HBF+PNM+DDR+NVMe+PIM : 640+1,024+16,000 / 1,296+1,024+16,000+16,000</a:t>
            </a:r>
          </a:p>
        </p:txBody>
      </p:sp>
      <p:sp>
        <p:nvSpPr>
          <p:cNvPr id="349" name="Rectangle 119"/>
          <p:cNvSpPr/>
          <p:nvPr/>
        </p:nvSpPr>
        <p:spPr>
          <a:xfrm>
            <a:off x="361950" y="5572125"/>
            <a:ext cx="11515725" cy="200025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50" name="TextBox 349"/>
          <p:cNvSpPr txBox="1"/>
          <p:nvPr/>
        </p:nvSpPr>
        <p:spPr>
          <a:xfrm>
            <a:off x="438150" y="5572125"/>
            <a:ext cx="16573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총 비용 (4노드)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2171700" y="5572125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$1,132K  (1.00×)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4629150" y="5572125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$969K  (0.86×)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7143750" y="5572125"/>
            <a:ext cx="4733925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맑은 고딕"/>
                <a:ea typeface="맑은 고딕"/>
              </a:rPr>
              <a:t>메모리·SSD + 카드 : $172K + $960K / $237K + $732K  (CPU·보드·전원 제외)</a:t>
            </a:r>
          </a:p>
        </p:txBody>
      </p:sp>
      <p:sp>
        <p:nvSpPr>
          <p:cNvPr id="354" name="Rectangle 124"/>
          <p:cNvSpPr/>
          <p:nvPr/>
        </p:nvSpPr>
        <p:spPr>
          <a:xfrm>
            <a:off x="365760" y="5829300"/>
            <a:ext cx="11521440" cy="36195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F5F00"/>
                </a:solidFill>
                <a:latin typeface="맑은 고딕"/>
                <a:ea typeface="맑은 고딕"/>
              </a:rPr>
              <a:t>집계 대역폭 0.76×는 GPU 2대가 PNM으로 바뀐 몫이다 — HBF 장착 GPU는 HBM 절반 + HBF로 슬롯당 대역폭을 유지, decode attention이 묶이는 것은 슬롯당 대역폭이다</a:t>
            </a:r>
          </a:p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F5F00"/>
                </a:solidFill>
                <a:latin typeface="맑은 고딕"/>
                <a:ea typeface="맑은 고딕"/>
              </a:rPr>
              <a:t>매체 지연 : HBM ~100 ns · CXL-PNM ~300 ns · HBF ~10 μs급(NAND) · NVMe ~100 μs → HBF는 read-dominant 계층(weight · cold KV)이고, KV 상주 계층은 HBM · CXL-PNM이 맡는다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365760" y="6248400"/>
            <a:ext cx="1152144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※ GPU = H100 SXM5 (132 SM · HBM3 80GB · 3.35 TB/s) · CPU DDR 175 GB/s × 2소켓 · CXL-PNM(Structera A) 200 GB/s/카드. Target = H100 4대(HBM 80GB) + 2대(HBM 40GB + HBF 320GB) + PNM 2카드.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※ 신품 단가(2026.10) H100 $30K(HBM 포함) · HBM3 $15.6/GB · HBF $1.95/GB(HBM÷8 가정) · DDR5 $35/GB · NVMe·PIM-SSD $0.45/GB · PNM 카드 $1.5K(가정). 4노드 합계, CPU·보드·전원 제외.</a:t>
            </a:r>
          </a:p>
        </p:txBody>
      </p:sp>
      <p:sp>
        <p:nvSpPr>
          <p:cNvPr id="356" name="GPU label H4"/>
          <p:cNvSpPr/>
          <p:nvPr/>
        </p:nvSpPr>
        <p:spPr>
          <a:xfrm>
            <a:off x="4705350" y="2181225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GPU4</a:t>
            </a:r>
          </a:p>
        </p:txBody>
      </p:sp>
      <p:sp>
        <p:nvSpPr>
          <p:cNvPr id="357" name="GPU label H5"/>
          <p:cNvSpPr/>
          <p:nvPr/>
        </p:nvSpPr>
        <p:spPr>
          <a:xfrm>
            <a:off x="5262562" y="2181225"/>
            <a:ext cx="523875" cy="209550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GPU5</a:t>
            </a:r>
          </a:p>
        </p:txBody>
      </p:sp>
      <p:sp>
        <p:nvSpPr>
          <p:cNvPr id="358" name="HBM half 4"/>
          <p:cNvSpPr/>
          <p:nvPr/>
        </p:nvSpPr>
        <p:spPr>
          <a:xfrm>
            <a:off x="4705350" y="2409825"/>
            <a:ext cx="523875" cy="1524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6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359" name="HBM half 5"/>
          <p:cNvSpPr/>
          <p:nvPr/>
        </p:nvSpPr>
        <p:spPr>
          <a:xfrm>
            <a:off x="5262562" y="2409825"/>
            <a:ext cx="523875" cy="152400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6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360" name="HBF box 4"/>
          <p:cNvSpPr/>
          <p:nvPr/>
        </p:nvSpPr>
        <p:spPr>
          <a:xfrm>
            <a:off x="4705350" y="2562225"/>
            <a:ext cx="523875" cy="152400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6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361" name="HBF box 5"/>
          <p:cNvSpPr/>
          <p:nvPr/>
        </p:nvSpPr>
        <p:spPr>
          <a:xfrm>
            <a:off x="5262562" y="2562225"/>
            <a:ext cx="523875" cy="152400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6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362" name="Rectangle N1"/>
          <p:cNvSpPr/>
          <p:nvPr/>
        </p:nvSpPr>
        <p:spPr>
          <a:xfrm>
            <a:off x="361950" y="5172075"/>
            <a:ext cx="11515725" cy="200025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63" name="TextBox NL1"/>
          <p:cNvSpPr txBox="1"/>
          <p:nvPr/>
        </p:nvSpPr>
        <p:spPr>
          <a:xfrm>
            <a:off x="438150" y="5172075"/>
            <a:ext cx="16573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메모리·SSD 비용 (4노드)</a:t>
            </a:r>
          </a:p>
        </p:txBody>
      </p:sp>
      <p:sp>
        <p:nvSpPr>
          <p:cNvPr id="364" name="TextBox NB1"/>
          <p:cNvSpPr txBox="1"/>
          <p:nvPr/>
        </p:nvSpPr>
        <p:spPr>
          <a:xfrm>
            <a:off x="2171700" y="5172075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$172K  (1.00×)</a:t>
            </a:r>
          </a:p>
        </p:txBody>
      </p:sp>
      <p:sp>
        <p:nvSpPr>
          <p:cNvPr id="365" name="TextBox NT1"/>
          <p:cNvSpPr txBox="1"/>
          <p:nvPr/>
        </p:nvSpPr>
        <p:spPr>
          <a:xfrm>
            <a:off x="4629150" y="5172075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$237K  (1.38×)</a:t>
            </a:r>
          </a:p>
        </p:txBody>
      </p:sp>
      <p:sp>
        <p:nvSpPr>
          <p:cNvPr id="366" name="TextBox NF1"/>
          <p:cNvSpPr txBox="1"/>
          <p:nvPr/>
        </p:nvSpPr>
        <p:spPr>
          <a:xfrm>
            <a:off x="7143750" y="5172075"/>
            <a:ext cx="4733925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맑은 고딕"/>
                <a:ea typeface="맑은 고딕"/>
              </a:rPr>
              <a:t>4×[DDR 1,024GB×$35 + NVMe 16TB×$0.45] / 4×[DDR 1,280GB×$35 + SSD 32TB×$0.45]</a:t>
            </a:r>
          </a:p>
        </p:txBody>
      </p:sp>
      <p:sp>
        <p:nvSpPr>
          <p:cNvPr id="367" name="Rectangle N2"/>
          <p:cNvSpPr/>
          <p:nvPr/>
        </p:nvSpPr>
        <p:spPr>
          <a:xfrm>
            <a:off x="361950" y="5372100"/>
            <a:ext cx="11515725" cy="200025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68" name="TextBox NL2"/>
          <p:cNvSpPr txBox="1"/>
          <p:nvPr/>
        </p:nvSpPr>
        <p:spPr>
          <a:xfrm>
            <a:off x="438150" y="5372100"/>
            <a:ext cx="16573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카드 비용 (4노드)</a:t>
            </a:r>
          </a:p>
        </p:txBody>
      </p:sp>
      <p:sp>
        <p:nvSpPr>
          <p:cNvPr id="369" name="TextBox NB2"/>
          <p:cNvSpPr txBox="1"/>
          <p:nvPr/>
        </p:nvSpPr>
        <p:spPr>
          <a:xfrm>
            <a:off x="2171700" y="5372100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$960K  (1.00×)</a:t>
            </a:r>
          </a:p>
        </p:txBody>
      </p:sp>
      <p:sp>
        <p:nvSpPr>
          <p:cNvPr id="370" name="TextBox NT2"/>
          <p:cNvSpPr txBox="1"/>
          <p:nvPr/>
        </p:nvSpPr>
        <p:spPr>
          <a:xfrm>
            <a:off x="4629150" y="5372100"/>
            <a:ext cx="238125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$732K  (0.76×)</a:t>
            </a:r>
          </a:p>
        </p:txBody>
      </p:sp>
      <p:sp>
        <p:nvSpPr>
          <p:cNvPr id="371" name="TextBox NF2"/>
          <p:cNvSpPr txBox="1"/>
          <p:nvPr/>
        </p:nvSpPr>
        <p:spPr>
          <a:xfrm>
            <a:off x="7143750" y="5372100"/>
            <a:ext cx="4733925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맑은 고딕"/>
                <a:ea typeface="맑은 고딕"/>
              </a:rPr>
              <a:t>4×(8×$30K) / 4×(6×$30K + 2×$1.5K) · HBF GPU: HBM 40GB −$624 + HBF 320GB +$624</a:t>
            </a:r>
          </a:p>
        </p:txBody>
      </p:sp>
    </p:spTree>
    <p:extLst>
      <p:ext uri="{BB962C8B-B14F-4D97-AF65-F5344CB8AC3E}">
        <p14:creationId xmlns:p14="http://schemas.microsoft.com/office/powerpoint/2010/main" val="4223400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574</Words>
  <Application>Microsoft Office PowerPoint</Application>
  <PresentationFormat>와이드스크린</PresentationFormat>
  <Paragraphs>124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Baseline 시스템 vs Target 시스템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Baseline 시스템 vs Target 시스템</dc:title>
  <dc:creator>Myeong Woo Kim</dc:creator>
  <cp:lastModifiedBy>Myeong Woo Kim</cp:lastModifiedBy>
  <cp:revision>1</cp:revision>
  <dcterms:created xsi:type="dcterms:W3CDTF">2026-10-28T13:22:18Z</dcterms:created>
  <dcterms:modified xsi:type="dcterms:W3CDTF">2026-10-28T13:22:27Z</dcterms:modified>
</cp:coreProperties>
</file>
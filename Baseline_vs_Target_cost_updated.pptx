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03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8E92C5-ED7E-4875-B274-95F23C2CE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1C1181-5137-4A59-849E-EF429916B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A24972-B43D-4BFB-B22B-EAD3863A1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32921-8B0B-4240-B78F-BE51A423D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772B79-6A32-4330-A7F4-FC3D5E72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67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6A0DD-8E60-47F4-9843-7878E35CB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CFFE95-324D-4A9B-BB47-730AF6C5F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D69E4-CE98-474A-B4A4-DE527B875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422FE-50AB-4528-BA32-748D2BE5C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CF3FD6-A665-4323-934B-A4D8C9C6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8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4A6054-7008-4B47-AFBB-FD1265B6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9AAAB9-A6AF-4BB9-98A2-7D28B926F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0C2101-9FC7-48B4-B49B-A48DA9100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3104BD-C87F-415E-B98B-C8414AEF6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E5F6B-13C3-48F7-82EF-66F0CEDE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963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448FB-4345-4203-9C0B-4E92F0B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8ED0C-F7F0-434C-8964-1EA661FB51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9D6865-ADF3-49A0-B648-900E822CC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B1A3AA-FC14-46C9-90FC-AD15710AE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7D8DC6-9ED2-425C-ADC2-E5B687B6A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DBE30C-DBE2-4B5A-A411-2D6C59EEF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6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39F96D-D0DB-4FE8-BEA4-262662E59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C76505-FFE7-41B5-9D5F-F4D305B50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F74824-FF95-4859-B7A5-C35D512F4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1F40A1-90E3-4B3B-98C7-51DB44CCE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832B02B-3242-4673-8095-9BF70E683A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CFD10D9-086C-4D17-9235-D791D0E0B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A9C1E53-F41E-4F65-8E4E-C760B3CA2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EF15AA-38C2-4C19-A259-97FB63F1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11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705F1-F4A1-496F-B807-2EF9BB10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175092-548C-4318-B0CC-2453DE170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E8A59-3054-45C6-9459-FD1161E0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0DE3BC-28AC-47CC-827C-484564F4C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27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34A590C-E83E-4F61-AED3-F70B1F1B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39C82E-0B76-481E-A0F1-7C561AB12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17E542-9FD8-4008-BDA5-86516F1A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4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571994-CC03-4E80-B4C2-DD695E36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DB054-5802-49E2-981B-A497A7599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F6B05F-0F3C-4AA5-AB0B-C8045D3AC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107CAC-A703-4AD2-9678-330AE604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7A0BB8-291B-486F-8F41-F1975A0B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94767A-A762-4644-B746-3494E11F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17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53291-DC6B-4836-B88A-C5A95AD9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9F4547-3CEA-4C51-973C-4372F7BA34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2984F6-ECBB-4279-8D8F-72C2D30F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EEE63-CEC3-4DA3-9215-35012ADC6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0E1EE8-56ED-4B6F-BBD7-66D5835A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5F57F4-7924-490B-9306-9ABA2924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889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F96D5-8AE9-4C38-8DEF-EBAF997D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FAEA51-C168-44DE-9DE4-EBC81676A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6998F5-57A0-4E13-8C65-B6ACFDF9A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6EBBAF-4F0D-41C3-84D1-4C0C69917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B48A8B-AD22-4092-B971-7ECD6E00D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53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08D06EF-29EE-4375-A26F-AC8426666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97E908-7C85-4FD7-A4DE-1CFACACAF1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146172-F96A-4922-B82A-3FCB079F8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285D2D-7C12-41A7-97AB-B3BB86267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30C980-B384-40E1-8C20-697ABE923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4725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336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2ABE4C-3010-41F0-A5B4-75F31018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EE271-FEA3-441B-8976-599BE3FB0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1D6435-F383-4D1E-9B4B-F73E4ED22A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E0076D-A9D6-4EAF-81EE-8FAB519DD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E12E2-2E98-4625-8B2B-DC3B9CBDBD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589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Baseline </a:t>
            </a:r>
            <a:r>
              <a:rPr lang="ko-KR" altLang="en-US" dirty="0"/>
              <a:t>시스템 </a:t>
            </a:r>
            <a:r>
              <a:rPr lang="en-US" altLang="ko-KR" dirty="0"/>
              <a:t>vs Target </a:t>
            </a:r>
            <a:r>
              <a:rPr lang="ko-KR" altLang="en-US" dirty="0"/>
              <a:t>시스템</a:t>
            </a:r>
          </a:p>
        </p:txBody>
      </p:sp>
      <p:sp>
        <p:nvSpPr>
          <p:cNvPr id="119" name="Rectangle 3"/>
          <p:cNvSpPr/>
          <p:nvPr/>
        </p:nvSpPr>
        <p:spPr>
          <a:xfrm>
            <a:off x="365760" y="694944"/>
            <a:ext cx="1152144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365760" y="80467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808080"/>
                </a:solidFill>
                <a:latin typeface="맑은 고딕"/>
                <a:ea typeface="맑은 고딕"/>
              </a:rPr>
              <a:t>구성</a:t>
            </a:r>
          </a:p>
        </p:txBody>
      </p:sp>
      <p:sp>
        <p:nvSpPr>
          <p:cNvPr id="121" name="Rectangle 5"/>
          <p:cNvSpPr/>
          <p:nvPr/>
        </p:nvSpPr>
        <p:spPr>
          <a:xfrm>
            <a:off x="2468880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Baseline  —  GPU × 8</a:t>
            </a:r>
          </a:p>
        </p:txBody>
      </p:sp>
      <p:sp>
        <p:nvSpPr>
          <p:cNvPr id="236" name="Rectangle 6"/>
          <p:cNvSpPr/>
          <p:nvPr/>
        </p:nvSpPr>
        <p:spPr>
          <a:xfrm>
            <a:off x="5650992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1  —  GPU × 4  +  CXL-PNM × 4</a:t>
            </a:r>
          </a:p>
        </p:txBody>
      </p:sp>
      <p:sp>
        <p:nvSpPr>
          <p:cNvPr id="237" name="Rectangle 7"/>
          <p:cNvSpPr/>
          <p:nvPr/>
        </p:nvSpPr>
        <p:spPr>
          <a:xfrm>
            <a:off x="8833104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2  —  Target 1 + HBM 절반을 HBF로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65760" y="1207008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상단 4슬롯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연산 + 고대역 메모리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65760" y="1865376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CPU  2소켓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65760" y="2377440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하단 4슬롯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65760" y="303580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스토리지</a:t>
            </a:r>
          </a:p>
        </p:txBody>
      </p:sp>
      <p:sp>
        <p:nvSpPr>
          <p:cNvPr id="242" name="Rectangle 12"/>
          <p:cNvSpPr/>
          <p:nvPr/>
        </p:nvSpPr>
        <p:spPr>
          <a:xfrm>
            <a:off x="2468880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43" name="Rectangle 13"/>
          <p:cNvSpPr/>
          <p:nvPr/>
        </p:nvSpPr>
        <p:spPr>
          <a:xfrm>
            <a:off x="2560320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44" name="Rectangle 14"/>
          <p:cNvSpPr/>
          <p:nvPr/>
        </p:nvSpPr>
        <p:spPr>
          <a:xfrm>
            <a:off x="2560320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5" name="Rectangle 15"/>
          <p:cNvSpPr/>
          <p:nvPr/>
        </p:nvSpPr>
        <p:spPr>
          <a:xfrm>
            <a:off x="3284982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46" name="Rectangle 16"/>
          <p:cNvSpPr/>
          <p:nvPr/>
        </p:nvSpPr>
        <p:spPr>
          <a:xfrm>
            <a:off x="3284982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7" name="Rectangle 17"/>
          <p:cNvSpPr/>
          <p:nvPr/>
        </p:nvSpPr>
        <p:spPr>
          <a:xfrm>
            <a:off x="400964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48" name="Rectangle 18"/>
          <p:cNvSpPr/>
          <p:nvPr/>
        </p:nvSpPr>
        <p:spPr>
          <a:xfrm>
            <a:off x="4009644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9" name="Rectangle 19"/>
          <p:cNvSpPr/>
          <p:nvPr/>
        </p:nvSpPr>
        <p:spPr>
          <a:xfrm>
            <a:off x="4734306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50" name="Rectangle 20"/>
          <p:cNvSpPr/>
          <p:nvPr/>
        </p:nvSpPr>
        <p:spPr>
          <a:xfrm>
            <a:off x="4734306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1" name="Rectangle 21"/>
          <p:cNvSpPr/>
          <p:nvPr/>
        </p:nvSpPr>
        <p:spPr>
          <a:xfrm>
            <a:off x="2560320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52" name="Rectangle 22"/>
          <p:cNvSpPr/>
          <p:nvPr/>
        </p:nvSpPr>
        <p:spPr>
          <a:xfrm>
            <a:off x="4009644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53" name="Rectangle 23"/>
          <p:cNvSpPr/>
          <p:nvPr/>
        </p:nvSpPr>
        <p:spPr>
          <a:xfrm>
            <a:off x="2560320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GPU4</a:t>
            </a:r>
          </a:p>
        </p:txBody>
      </p:sp>
      <p:sp>
        <p:nvSpPr>
          <p:cNvPr id="254" name="Rectangle 24"/>
          <p:cNvSpPr/>
          <p:nvPr/>
        </p:nvSpPr>
        <p:spPr>
          <a:xfrm>
            <a:off x="2560320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5" name="Rectangle 25"/>
          <p:cNvSpPr/>
          <p:nvPr/>
        </p:nvSpPr>
        <p:spPr>
          <a:xfrm>
            <a:off x="3284982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GPU5</a:t>
            </a:r>
          </a:p>
        </p:txBody>
      </p:sp>
      <p:sp>
        <p:nvSpPr>
          <p:cNvPr id="256" name="Rectangle 26"/>
          <p:cNvSpPr/>
          <p:nvPr/>
        </p:nvSpPr>
        <p:spPr>
          <a:xfrm>
            <a:off x="3284982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7" name="Rectangle 27"/>
          <p:cNvSpPr/>
          <p:nvPr/>
        </p:nvSpPr>
        <p:spPr>
          <a:xfrm>
            <a:off x="4009644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GPU6</a:t>
            </a:r>
          </a:p>
        </p:txBody>
      </p:sp>
      <p:sp>
        <p:nvSpPr>
          <p:cNvPr id="258" name="Rectangle 28"/>
          <p:cNvSpPr/>
          <p:nvPr/>
        </p:nvSpPr>
        <p:spPr>
          <a:xfrm>
            <a:off x="4009644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9" name="Rectangle 29"/>
          <p:cNvSpPr/>
          <p:nvPr/>
        </p:nvSpPr>
        <p:spPr>
          <a:xfrm>
            <a:off x="4734306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GPU7</a:t>
            </a:r>
          </a:p>
        </p:txBody>
      </p:sp>
      <p:sp>
        <p:nvSpPr>
          <p:cNvPr id="260" name="Rectangle 30"/>
          <p:cNvSpPr/>
          <p:nvPr/>
        </p:nvSpPr>
        <p:spPr>
          <a:xfrm>
            <a:off x="4734306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1" name="Rectangle 31"/>
          <p:cNvSpPr/>
          <p:nvPr/>
        </p:nvSpPr>
        <p:spPr>
          <a:xfrm>
            <a:off x="2560320" y="3035808"/>
            <a:ext cx="2871215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62" name="Rectangle 32"/>
          <p:cNvSpPr/>
          <p:nvPr/>
        </p:nvSpPr>
        <p:spPr>
          <a:xfrm>
            <a:off x="5650992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63" name="Rectangle 33"/>
          <p:cNvSpPr/>
          <p:nvPr/>
        </p:nvSpPr>
        <p:spPr>
          <a:xfrm>
            <a:off x="5742431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64" name="Rectangle 34"/>
          <p:cNvSpPr/>
          <p:nvPr/>
        </p:nvSpPr>
        <p:spPr>
          <a:xfrm>
            <a:off x="5742431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5" name="Rectangle 35"/>
          <p:cNvSpPr/>
          <p:nvPr/>
        </p:nvSpPr>
        <p:spPr>
          <a:xfrm>
            <a:off x="646709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66" name="Rectangle 36"/>
          <p:cNvSpPr/>
          <p:nvPr/>
        </p:nvSpPr>
        <p:spPr>
          <a:xfrm>
            <a:off x="6467094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7" name="Rectangle 37"/>
          <p:cNvSpPr/>
          <p:nvPr/>
        </p:nvSpPr>
        <p:spPr>
          <a:xfrm>
            <a:off x="7191755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68" name="Rectangle 38"/>
          <p:cNvSpPr/>
          <p:nvPr/>
        </p:nvSpPr>
        <p:spPr>
          <a:xfrm>
            <a:off x="7191755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9" name="Rectangle 39"/>
          <p:cNvSpPr/>
          <p:nvPr/>
        </p:nvSpPr>
        <p:spPr>
          <a:xfrm>
            <a:off x="7916417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70" name="Rectangle 40"/>
          <p:cNvSpPr/>
          <p:nvPr/>
        </p:nvSpPr>
        <p:spPr>
          <a:xfrm>
            <a:off x="7916417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71" name="Rectangle 41"/>
          <p:cNvSpPr/>
          <p:nvPr/>
        </p:nvSpPr>
        <p:spPr>
          <a:xfrm>
            <a:off x="5742431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72" name="Rectangle 42"/>
          <p:cNvSpPr/>
          <p:nvPr/>
        </p:nvSpPr>
        <p:spPr>
          <a:xfrm>
            <a:off x="7191755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73" name="Rectangle 43"/>
          <p:cNvSpPr/>
          <p:nvPr/>
        </p:nvSpPr>
        <p:spPr>
          <a:xfrm>
            <a:off x="5742431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CXL-PNM0</a:t>
            </a:r>
          </a:p>
        </p:txBody>
      </p:sp>
      <p:sp>
        <p:nvSpPr>
          <p:cNvPr id="274" name="Rectangle 44"/>
          <p:cNvSpPr/>
          <p:nvPr/>
        </p:nvSpPr>
        <p:spPr>
          <a:xfrm>
            <a:off x="5742431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5" name="Rectangle 45"/>
          <p:cNvSpPr/>
          <p:nvPr/>
        </p:nvSpPr>
        <p:spPr>
          <a:xfrm>
            <a:off x="6467094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CXL-PNM1</a:t>
            </a:r>
          </a:p>
        </p:txBody>
      </p:sp>
      <p:sp>
        <p:nvSpPr>
          <p:cNvPr id="276" name="Rectangle 46"/>
          <p:cNvSpPr/>
          <p:nvPr/>
        </p:nvSpPr>
        <p:spPr>
          <a:xfrm>
            <a:off x="6467094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7" name="Rectangle 47"/>
          <p:cNvSpPr/>
          <p:nvPr/>
        </p:nvSpPr>
        <p:spPr>
          <a:xfrm>
            <a:off x="7191755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CXL-PNM2</a:t>
            </a:r>
          </a:p>
        </p:txBody>
      </p:sp>
      <p:sp>
        <p:nvSpPr>
          <p:cNvPr id="278" name="Rectangle 48"/>
          <p:cNvSpPr/>
          <p:nvPr/>
        </p:nvSpPr>
        <p:spPr>
          <a:xfrm>
            <a:off x="7191755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9" name="Rectangle 49"/>
          <p:cNvSpPr/>
          <p:nvPr/>
        </p:nvSpPr>
        <p:spPr>
          <a:xfrm>
            <a:off x="7916417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CXL-PNM3</a:t>
            </a:r>
          </a:p>
        </p:txBody>
      </p:sp>
      <p:sp>
        <p:nvSpPr>
          <p:cNvPr id="280" name="Rectangle 50"/>
          <p:cNvSpPr/>
          <p:nvPr/>
        </p:nvSpPr>
        <p:spPr>
          <a:xfrm>
            <a:off x="7916417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81" name="Rectangle 51"/>
          <p:cNvSpPr/>
          <p:nvPr/>
        </p:nvSpPr>
        <p:spPr>
          <a:xfrm>
            <a:off x="5742431" y="3035808"/>
            <a:ext cx="142189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82" name="Rectangle 52"/>
          <p:cNvSpPr/>
          <p:nvPr/>
        </p:nvSpPr>
        <p:spPr>
          <a:xfrm>
            <a:off x="7191755" y="3035808"/>
            <a:ext cx="1421892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283" name="Rectangle 53"/>
          <p:cNvSpPr/>
          <p:nvPr/>
        </p:nvSpPr>
        <p:spPr>
          <a:xfrm>
            <a:off x="8833104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84" name="Rectangle 54"/>
          <p:cNvSpPr/>
          <p:nvPr/>
        </p:nvSpPr>
        <p:spPr>
          <a:xfrm>
            <a:off x="892454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85" name="Rectangle 55"/>
          <p:cNvSpPr/>
          <p:nvPr/>
        </p:nvSpPr>
        <p:spPr>
          <a:xfrm>
            <a:off x="8924544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86" name="Rectangle 56"/>
          <p:cNvSpPr/>
          <p:nvPr/>
        </p:nvSpPr>
        <p:spPr>
          <a:xfrm>
            <a:off x="8924544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87" name="Rectangle 57"/>
          <p:cNvSpPr/>
          <p:nvPr/>
        </p:nvSpPr>
        <p:spPr>
          <a:xfrm>
            <a:off x="9649206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88" name="Rectangle 58"/>
          <p:cNvSpPr/>
          <p:nvPr/>
        </p:nvSpPr>
        <p:spPr>
          <a:xfrm>
            <a:off x="9649206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89" name="Rectangle 59"/>
          <p:cNvSpPr/>
          <p:nvPr/>
        </p:nvSpPr>
        <p:spPr>
          <a:xfrm>
            <a:off x="9649206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0" name="Rectangle 60"/>
          <p:cNvSpPr/>
          <p:nvPr/>
        </p:nvSpPr>
        <p:spPr>
          <a:xfrm>
            <a:off x="10373867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91" name="Rectangle 61"/>
          <p:cNvSpPr/>
          <p:nvPr/>
        </p:nvSpPr>
        <p:spPr>
          <a:xfrm>
            <a:off x="10373867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92" name="Rectangle 62"/>
          <p:cNvSpPr/>
          <p:nvPr/>
        </p:nvSpPr>
        <p:spPr>
          <a:xfrm>
            <a:off x="10373867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3" name="Rectangle 63"/>
          <p:cNvSpPr/>
          <p:nvPr/>
        </p:nvSpPr>
        <p:spPr>
          <a:xfrm>
            <a:off x="11098530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94" name="Rectangle 64"/>
          <p:cNvSpPr/>
          <p:nvPr/>
        </p:nvSpPr>
        <p:spPr>
          <a:xfrm>
            <a:off x="11098530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95" name="Rectangle 65"/>
          <p:cNvSpPr/>
          <p:nvPr/>
        </p:nvSpPr>
        <p:spPr>
          <a:xfrm>
            <a:off x="11098530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6" name="Rectangle 66"/>
          <p:cNvSpPr/>
          <p:nvPr/>
        </p:nvSpPr>
        <p:spPr>
          <a:xfrm>
            <a:off x="8924544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97" name="Rectangle 67"/>
          <p:cNvSpPr/>
          <p:nvPr/>
        </p:nvSpPr>
        <p:spPr>
          <a:xfrm>
            <a:off x="10373867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98" name="Rectangle 68"/>
          <p:cNvSpPr/>
          <p:nvPr/>
        </p:nvSpPr>
        <p:spPr>
          <a:xfrm>
            <a:off x="8924544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CXL-PNM0</a:t>
            </a:r>
          </a:p>
        </p:txBody>
      </p:sp>
      <p:sp>
        <p:nvSpPr>
          <p:cNvPr id="299" name="Rectangle 69"/>
          <p:cNvSpPr/>
          <p:nvPr/>
        </p:nvSpPr>
        <p:spPr>
          <a:xfrm>
            <a:off x="8924544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0" name="Rectangle 70"/>
          <p:cNvSpPr/>
          <p:nvPr/>
        </p:nvSpPr>
        <p:spPr>
          <a:xfrm>
            <a:off x="9649206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CXL-PNM1</a:t>
            </a:r>
          </a:p>
        </p:txBody>
      </p:sp>
      <p:sp>
        <p:nvSpPr>
          <p:cNvPr id="301" name="Rectangle 71"/>
          <p:cNvSpPr/>
          <p:nvPr/>
        </p:nvSpPr>
        <p:spPr>
          <a:xfrm>
            <a:off x="9649206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2" name="Rectangle 72"/>
          <p:cNvSpPr/>
          <p:nvPr/>
        </p:nvSpPr>
        <p:spPr>
          <a:xfrm>
            <a:off x="10373867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CXL-PNM2</a:t>
            </a:r>
          </a:p>
        </p:txBody>
      </p:sp>
      <p:sp>
        <p:nvSpPr>
          <p:cNvPr id="303" name="Rectangle 73"/>
          <p:cNvSpPr/>
          <p:nvPr/>
        </p:nvSpPr>
        <p:spPr>
          <a:xfrm>
            <a:off x="10373867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4" name="Rectangle 74"/>
          <p:cNvSpPr/>
          <p:nvPr/>
        </p:nvSpPr>
        <p:spPr>
          <a:xfrm>
            <a:off x="11098530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CXL-PNM3</a:t>
            </a:r>
          </a:p>
        </p:txBody>
      </p:sp>
      <p:sp>
        <p:nvSpPr>
          <p:cNvPr id="305" name="Rectangle 75"/>
          <p:cNvSpPr/>
          <p:nvPr/>
        </p:nvSpPr>
        <p:spPr>
          <a:xfrm>
            <a:off x="11098530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6" name="Rectangle 76"/>
          <p:cNvSpPr/>
          <p:nvPr/>
        </p:nvSpPr>
        <p:spPr>
          <a:xfrm>
            <a:off x="8924544" y="3035808"/>
            <a:ext cx="142189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307" name="Rectangle 77"/>
          <p:cNvSpPr/>
          <p:nvPr/>
        </p:nvSpPr>
        <p:spPr>
          <a:xfrm>
            <a:off x="10373867" y="3035808"/>
            <a:ext cx="1421892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308" name="Rectangle 78"/>
          <p:cNvSpPr/>
          <p:nvPr/>
        </p:nvSpPr>
        <p:spPr>
          <a:xfrm>
            <a:off x="365760" y="3493008"/>
            <a:ext cx="1152144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09" name="TextBox 308"/>
          <p:cNvSpPr txBox="1"/>
          <p:nvPr/>
        </p:nvSpPr>
        <p:spPr>
          <a:xfrm>
            <a:off x="365760" y="3401568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 i="0">
                <a:solidFill>
                  <a:srgbClr val="808080"/>
                </a:solidFill>
                <a:latin typeface="맑은 고딕"/>
                <a:ea typeface="맑은 고딕"/>
              </a:rPr>
              <a:t>계층별  용량  ·  대역폭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65760" y="358444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468880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640 GB  ·  16.0 TB/s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5650992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320 GB  ·  8.0 TB/s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8833104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160 GB  ·  4.0 TB/s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65760" y="379476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468880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650992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833104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1,280 GB  ·  4.0 TB/s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65760" y="4005072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CXL-PNM (DDR)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468880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5650992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512 GB  ·  800 GB/s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833104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512 GB  ·  800 GB/s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365760" y="4215384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CPU DDR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468880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650992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8833104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365760" y="4425696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NVMe SSD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468880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650992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8833104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65760" y="463600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PIM-SSD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2468880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5650992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8833104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4" name="Rectangle 104"/>
          <p:cNvSpPr/>
          <p:nvPr/>
        </p:nvSpPr>
        <p:spPr>
          <a:xfrm>
            <a:off x="365760" y="4882896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35" name="TextBox 334"/>
          <p:cNvSpPr txBox="1"/>
          <p:nvPr/>
        </p:nvSpPr>
        <p:spPr>
          <a:xfrm>
            <a:off x="438912" y="4882896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용량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2468880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640 GB  (1.00×)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50992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832 GB  (1.30×)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8833104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1,952 GB  (3.05×)</a:t>
            </a:r>
          </a:p>
        </p:txBody>
      </p:sp>
      <p:sp>
        <p:nvSpPr>
          <p:cNvPr id="339" name="Rectangle 109"/>
          <p:cNvSpPr/>
          <p:nvPr/>
        </p:nvSpPr>
        <p:spPr>
          <a:xfrm>
            <a:off x="365760" y="5093208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438912" y="509320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대역폭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468880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16.0 TB/s  (1.00×)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5650992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8.8 TB/s  (0.55×)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8833104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8.8 TB/s  (0.55×)</a:t>
            </a:r>
          </a:p>
        </p:txBody>
      </p:sp>
      <p:sp>
        <p:nvSpPr>
          <p:cNvPr id="344" name="Rectangle 114"/>
          <p:cNvSpPr/>
          <p:nvPr/>
        </p:nvSpPr>
        <p:spPr>
          <a:xfrm>
            <a:off x="365760" y="5303520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5" name="TextBox 344"/>
          <p:cNvSpPr txBox="1"/>
          <p:nvPr/>
        </p:nvSpPr>
        <p:spPr>
          <a:xfrm>
            <a:off x="438912" y="530352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총 메모리 용량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2468880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17,664 GB  (1.00×)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5650992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33,856 GB  (1.92×)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8833104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34,976 GB  (1.98×)</a:t>
            </a:r>
          </a:p>
        </p:txBody>
      </p:sp>
      <p:sp>
        <p:nvSpPr>
          <p:cNvPr id="349" name="Rectangle 119"/>
          <p:cNvSpPr/>
          <p:nvPr/>
        </p:nvSpPr>
        <p:spPr>
          <a:xfrm>
            <a:off x="365760" y="5513832"/>
            <a:ext cx="11521440" cy="2103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50" name="TextBox 349"/>
          <p:cNvSpPr txBox="1"/>
          <p:nvPr/>
        </p:nvSpPr>
        <p:spPr>
          <a:xfrm>
            <a:off x="438912" y="5513832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총 비용 (메모리 + 카드)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2468880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$145.0K  (1.00×)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5650992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$131.4K  (0.91×)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833104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$131.4K  (0.91×)</a:t>
            </a:r>
          </a:p>
        </p:txBody>
      </p:sp>
      <p:sp>
        <p:nvSpPr>
          <p:cNvPr id="354" name="Rectangle 124"/>
          <p:cNvSpPr/>
          <p:nvPr/>
        </p:nvSpPr>
        <p:spPr>
          <a:xfrm>
            <a:off x="365760" y="5797296"/>
            <a:ext cx="11521440" cy="420624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집계 대역폭 0.55×는 슬롯당 대역폭이 낮아진 게 아니라 GPU가 4대 줄어든 몫이다 — 슬롯당 HBM 2.0 TB/s는 세 구성 모두 같고, decode attention이 묶이는 것은 슬롯당 대역폭이다</a:t>
            </a:r>
          </a:p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매체 지연 : HBM ~100 ns · CXL-PNM ~300 ns · HBF ~10 μs급(NAND) · NVMe ~100 μs → HBF는 read-dominant 계층(weight · cold KV)이고, KV 상주 계층은 HBM · CXL-PNM이 맡는다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65760" y="6291072"/>
            <a:ext cx="11521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GPU = A100급(108 SM · HBM 2.0 TB/s) · CPU DDR 175 GB/s × 2소켓 · CXL-PNM(Structera-A) 200 GB/s × 4카드. Target 2는 HBM 스택 절반을 HBF로 교체 — 동일 스택 비용에 8× 용량, 스택당 HBM급 대역폭(SanDisk HBF 공개 주장) 전제.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단가(2026.10) GPU 카드 $12K(A100 80GB, HBM 포함 → 카드만 $11.4K) · PNM 카드 $1.5K(가정) · HBM2e $8 / HBF $1.00 / DDR5 $40 / NVMe·PIM-SSD $0.50 per GB. 메모리만 비교 시 $54.1K / $80.0K (1.48×).</a:t>
            </a:r>
          </a:p>
        </p:txBody>
      </p:sp>
    </p:spTree>
    <p:extLst>
      <p:ext uri="{BB962C8B-B14F-4D97-AF65-F5344CB8AC3E}">
        <p14:creationId xmlns:p14="http://schemas.microsoft.com/office/powerpoint/2010/main" val="4223400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574</Words>
  <Application>Microsoft Office PowerPoint</Application>
  <PresentationFormat>와이드스크린</PresentationFormat>
  <Paragraphs>124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Baseline 시스템 vs Target 시스템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Baseline 시스템 vs Target 시스템</dc:title>
  <dc:creator>Myeong Woo Kim</dc:creator>
  <cp:lastModifiedBy>Myeong Woo Kim</cp:lastModifiedBy>
  <cp:revision>1</cp:revision>
  <dcterms:created xsi:type="dcterms:W3CDTF">2026-10-28T13:22:18Z</dcterms:created>
  <dcterms:modified xsi:type="dcterms:W3CDTF">2026-10-28T13:22:27Z</dcterms:modified>
</cp:coreProperties>
</file>
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0"/>
  </p:notesMasterIdLst>
  <p:sldIdLst>
    <p:sldId id="48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118AFE9-5D72-4ADD-986E-7181C34260F3}">
          <p14:sldIdLst>
            <p14:sldId id="256"/>
            <p14:sldId id="257"/>
            <p14:sldId id="398"/>
            <p14:sldId id="428"/>
            <p14:sldId id="407"/>
            <p14:sldId id="427"/>
            <p14:sldId id="425"/>
            <p14:sldId id="431"/>
            <p14:sldId id="414"/>
            <p14:sldId id="439"/>
            <p14:sldId id="440"/>
            <p14:sldId id="437"/>
            <p14:sldId id="455"/>
          </p14:sldIdLst>
        </p14:section>
        <p14:section name="DP1" id="{31AE5E82-1D1F-425E-85AE-6E92077EDF4D}">
          <p14:sldIdLst>
            <p14:sldId id="489"/>
            <p14:sldId id="502"/>
            <p14:sldId id="500"/>
          </p14:sldIdLst>
        </p14:section>
        <p14:section name="DP1-stale" id="{7FBB2859-53B8-44D0-A64A-F427A157152A}">
          <p14:sldIdLst>
            <p14:sldId id="504"/>
            <p14:sldId id="503"/>
            <p14:sldId id="501"/>
            <p14:sldId id="485"/>
            <p14:sldId id="496"/>
            <p14:sldId id="490"/>
            <p14:sldId id="488"/>
            <p14:sldId id="487"/>
            <p14:sldId id="454"/>
            <p14:sldId id="481"/>
            <p14:sldId id="445"/>
          </p14:sldIdLst>
        </p14:section>
        <p14:section name="DP2" id="{78FD15F7-14D8-4B6E-AF7B-BC49579EF0CE}">
          <p14:sldIdLst>
            <p14:sldId id="493"/>
            <p14:sldId id="511"/>
            <p14:sldId id="494"/>
            <p14:sldId id="510"/>
          </p14:sldIdLst>
        </p14:section>
        <p14:section name="DP2-stale" id="{04C2DC1B-B75D-49C3-8C4B-258B35B266BF}">
          <p14:sldIdLst>
            <p14:sldId id="507"/>
            <p14:sldId id="508"/>
            <p14:sldId id="505"/>
            <p14:sldId id="509"/>
            <p14:sldId id="498"/>
            <p14:sldId id="499"/>
            <p14:sldId id="495"/>
            <p14:sldId id="497"/>
            <p14:sldId id="491"/>
            <p14:sldId id="492"/>
            <p14:sldId id="473"/>
            <p14:sldId id="469"/>
          </p14:sldIdLst>
        </p14:section>
        <p14:section name="DP3" id="{5053DDD8-1FF6-4628-88BD-15248D14C26A}">
          <p14:sldIdLst>
            <p14:sldId id="474"/>
            <p14:sldId id="475"/>
          </p14:sldIdLst>
        </p14:section>
        <p14:section name="DP3-stale" id="{3C07D0D1-354C-45BA-8E5E-CA726A33E42E}">
          <p14:sldIdLst>
            <p14:sldId id="478"/>
            <p14:sldId id="479"/>
            <p14:sldId id="480"/>
            <p14:sldId id="476"/>
            <p14:sldId id="477"/>
            <p14:sldId id="450"/>
            <p14:sldId id="451"/>
            <p14:sldId id="483"/>
            <p14:sldId id="463"/>
            <p14:sldId id="457"/>
            <p14:sldId id="465"/>
            <p14:sldId id="466"/>
            <p14:sldId id="458"/>
            <p14:sldId id="459"/>
            <p14:sldId id="456"/>
            <p14:sldId id="464"/>
            <p14:sldId id="460"/>
            <p14:sldId id="462"/>
            <p14:sldId id="467"/>
            <p14:sldId id="468"/>
            <p14:sldId id="470"/>
            <p14:sldId id="471"/>
            <p14:sldId id="472"/>
            <p14:sldId id="435"/>
            <p14:sldId id="442"/>
            <p14:sldId id="447"/>
            <p14:sldId id="448"/>
            <p14:sldId id="449"/>
            <p14:sldId id="446"/>
            <p14:sldId id="436"/>
            <p14:sldId id="438"/>
            <p14:sldId id="441"/>
            <p14:sldId id="434"/>
            <p14:sldId id="433"/>
            <p14:sldId id="429"/>
            <p14:sldId id="413"/>
            <p14:sldId id="417"/>
            <p14:sldId id="415"/>
            <p14:sldId id="419"/>
            <p14:sldId id="418"/>
            <p14:sldId id="420"/>
            <p14:sldId id="421"/>
            <p14:sldId id="424"/>
            <p14:sldId id="422"/>
            <p14:sldId id="423"/>
            <p14:sldId id="401"/>
            <p14:sldId id="402"/>
            <p14:sldId id="391"/>
            <p14:sldId id="392"/>
            <p14:sldId id="403"/>
            <p14:sldId id="393"/>
            <p14:sldId id="404"/>
            <p14:sldId id="405"/>
            <p14:sldId id="396"/>
            <p14:sldId id="389"/>
            <p14:sldId id="400"/>
            <p14:sldId id="394"/>
            <p14:sldId id="409"/>
            <p14:sldId id="259"/>
            <p14:sldId id="367"/>
            <p14:sldId id="276"/>
            <p14:sldId id="277"/>
            <p14:sldId id="261"/>
            <p14:sldId id="383"/>
            <p14:sldId id="364"/>
            <p14:sldId id="361"/>
            <p14:sldId id="362"/>
            <p14:sldId id="263"/>
            <p14:sldId id="265"/>
            <p14:sldId id="360"/>
            <p14:sldId id="363"/>
            <p14:sldId id="264"/>
            <p14:sldId id="268"/>
            <p14:sldId id="270"/>
            <p14:sldId id="271"/>
            <p14:sldId id="272"/>
            <p14:sldId id="369"/>
            <p14:sldId id="376"/>
            <p14:sldId id="377"/>
            <p14:sldId id="382"/>
            <p14:sldId id="388"/>
            <p14:sldId id="372"/>
            <p14:sldId id="384"/>
            <p14:sldId id="381"/>
            <p14:sldId id="378"/>
            <p14:sldId id="379"/>
            <p14:sldId id="380"/>
            <p14:sldId id="274"/>
            <p14:sldId id="275"/>
            <p14:sldId id="278"/>
            <p14:sldId id="368"/>
            <p14:sldId id="386"/>
            <p14:sldId id="365"/>
            <p14:sldId id="366"/>
            <p14:sldId id="387"/>
            <p14:sldId id="385"/>
            <p14:sldId id="373"/>
            <p14:sldId id="374"/>
            <p14:sldId id="375"/>
            <p14:sldId id="370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406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408"/>
            <p14:sldId id="410"/>
            <p14:sldId id="43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00FF"/>
    <a:srgbClr val="F5F9FD"/>
    <a:srgbClr val="F1E1FF"/>
    <a:srgbClr val="E6D4FE"/>
    <a:srgbClr val="FDD5FA"/>
    <a:srgbClr val="FFFFFF"/>
    <a:srgbClr val="FDF3ED"/>
    <a:srgbClr val="D9D9D9"/>
    <a:srgbClr val="E7F0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7" autoAdjust="0"/>
    <p:restoredTop sz="90806" autoAdjust="0"/>
  </p:normalViewPr>
  <p:slideViewPr>
    <p:cSldViewPr snapToGrid="0">
      <p:cViewPr varScale="1">
        <p:scale>
          <a:sx n="90" d="100"/>
          <a:sy n="90" d="100"/>
        </p:scale>
        <p:origin x="114" y="141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14.xml"/><Relationship Id="rId230" Type="http://schemas.openxmlformats.org/officeDocument/2006/relationships/notesMaster" Target="notesMasters/notesMaster1.xml"/><Relationship Id="rId231" Type="http://schemas.openxmlformats.org/officeDocument/2006/relationships/presProps" Target="presProps.xml"/><Relationship Id="rId232" Type="http://schemas.openxmlformats.org/officeDocument/2006/relationships/viewProps" Target="viewProps.xml"/><Relationship Id="rId233" Type="http://schemas.openxmlformats.org/officeDocument/2006/relationships/theme" Target="theme/theme1.xml"/><Relationship Id="rId2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E6DFF4-997A-46AB-885E-08C25B81A166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17B06-B204-4E73-B04E-053CD704EF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270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smtClean="0"/>
              <a:t>DP1</a:t>
            </a:r>
            <a:r>
              <a:rPr lang="en-US" altLang="ko-KR" b="1" baseline="0" dirty="0" smtClean="0"/>
              <a:t> </a:t>
            </a:r>
            <a:r>
              <a:rPr lang="ko-KR" altLang="en-US" b="1" baseline="0" dirty="0" err="1" smtClean="0"/>
              <a:t>한줄</a:t>
            </a:r>
            <a:r>
              <a:rPr lang="ko-KR" altLang="en-US" b="1" baseline="0" dirty="0" smtClean="0"/>
              <a:t> 정리</a:t>
            </a:r>
            <a:endParaRPr lang="en-US" altLang="ko-KR" b="1" baseline="0" dirty="0" smtClean="0"/>
          </a:p>
          <a:p>
            <a:r>
              <a:rPr lang="ko-KR" altLang="en-US" b="1" dirty="0" smtClean="0"/>
              <a:t>차세대 메모리의 용량</a:t>
            </a:r>
            <a:r>
              <a:rPr lang="en-US" altLang="ko-KR" b="1" dirty="0" smtClean="0"/>
              <a:t>·</a:t>
            </a:r>
            <a:r>
              <a:rPr lang="ko-KR" altLang="en-US" b="1" dirty="0" smtClean="0"/>
              <a:t>대역폭</a:t>
            </a:r>
            <a:r>
              <a:rPr lang="en-US" altLang="ko-KR" b="1" dirty="0" smtClean="0"/>
              <a:t>·</a:t>
            </a:r>
            <a:r>
              <a:rPr lang="ko-KR" altLang="en-US" b="1" dirty="0" smtClean="0"/>
              <a:t>접근 특성 및 연산 기능이 다변화되면서 기존의 고정적인 메모리 계층화만으로 최적 배치를 결정하기 </a:t>
            </a:r>
            <a:r>
              <a:rPr lang="ko-KR" altLang="en-US" b="1" dirty="0" err="1" smtClean="0"/>
              <a:t>어려워짐</a:t>
            </a:r>
            <a:endParaRPr lang="ko-KR" altLang="en-US" dirty="0" smtClean="0"/>
          </a:p>
          <a:p>
            <a:r>
              <a:rPr lang="ko-KR" altLang="en-US" b="1" dirty="0" smtClean="0"/>
              <a:t>→ 데이터의 접근 특성과 스케줄링 정보를 메모리 자원 특성과 매칭하여 </a:t>
            </a:r>
            <a:r>
              <a:rPr lang="en-US" altLang="ko-KR" b="1" dirty="0" smtClean="0"/>
              <a:t>Target Memory</a:t>
            </a:r>
            <a:r>
              <a:rPr lang="ko-KR" altLang="en-US" b="1" dirty="0" smtClean="0"/>
              <a:t>를 동적으로 결정하는 </a:t>
            </a:r>
            <a:r>
              <a:rPr lang="en-US" altLang="ko-KR" b="1" dirty="0" smtClean="0"/>
              <a:t>Placement </a:t>
            </a:r>
            <a:r>
              <a:rPr lang="ko-KR" altLang="en-US" b="1" dirty="0" smtClean="0"/>
              <a:t>구조 필요</a:t>
            </a:r>
            <a:endParaRPr lang="ko-KR" altLang="en-US" dirty="0" smtClean="0"/>
          </a:p>
          <a:p>
            <a:endParaRPr lang="ko-KR" altLang="en-US" dirty="0"/>
          </a:p>
          <a:p/>
          <a:p>
            <a:r>
              <a:t>[신규 KV 캐시 설명 장표 - 발표 스크립트]</a:t>
            </a:r>
          </a:p>
          <a:p>
            <a:r>
              <a:t>1) LLM은 답을 한 번에 쓰지 않고 단어(토큰)를 하나씩 이어 붙여 만듭니다. 그리고 새 단어를 하나 만들 때마다, 앞에 나온 모든 단어를 다시 참조해야 합니다(Attention).</a:t>
            </a:r>
          </a:p>
          <a:p>
            <a:r>
              <a:t>2) 그래서 캐시가 없으면 매 단계마다 앞 단어 전체를 처음부터 다시 계산하게 되어 계산량이 1+2+3+4…로 폭증합니다. 한 번 계산한 중간 결과(K·V)를 저장해 두고 재사용하면 매 단계 새로 생긴 1개만 계산하면 됩니다. 이것이 KV 캐시이며, 오늘날 모든 LLM 서비스가 사용하는 필수 기술입니다.</a:t>
            </a:r>
          </a:p>
          <a:p>
            <a:r>
              <a:t>3) 대신 저장해야 할 양이 문맥 길이에 정비례해 커집니다. 70B급 모델·FP16 기준으로 토큰 1개당 약 0.3MB, 128K 토큰(책 한 권 분량) 대화 1건이면 약 40GB입니다. GPU 1장의 HBM이 80GB이므로 대화 2건이면 한계에 도달합니다.</a:t>
            </a:r>
          </a:p>
          <a:p>
            <a:r>
              <a:t>3-1) 실제 서비스는 여기에 동시 사용자 수가 그대로 곱해집니다. 동시 사용자 10명이면 약 400GB로, GPU 5장의 HBM 전체가 KV 캐시만으로 가득 찹니다. 즉 용량 = 문맥 길이 × 동시 사용자 수이며, HBM을 아무리 늘려도 감당이 안 되는 구조입니다.</a:t>
            </a:r>
          </a:p>
          <a:p>
            <a:r>
              <a:t>4) 즉 KV 캐시는 '빠른 메모리에 다 담을 수 없는데, 성능에는 직결되는' 데이터입니다. 그래서 HBM·DRAM·CXL·SSD처럼 속도와 용량 특성이 서로 다른 메모리들에 KV 캐시를 어떻게 나누어 배치할 것인가가 DP1의 설계 문제입니다.</a:t>
            </a:r>
          </a:p>
          <a:p>
            <a:r>
              <a:t>※ 수치는 70B급 모델·FP16 기준 개략치이며, 모델/정밀도에 따라 달라집니다.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233834"/>
      </p:ext>
    </p:extLst>
  </p:cSld>
  <p:clrMapOvr>
    <a:masterClrMapping/>
  </p:clrMapOvr>
</p:note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042151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2" name="갈매기형 수장 21"/>
          <p:cNvSpPr/>
          <p:nvPr userDrawn="1"/>
        </p:nvSpPr>
        <p:spPr>
          <a:xfrm>
            <a:off x="7390047" y="137379"/>
            <a:ext cx="1031887" cy="357521"/>
          </a:xfrm>
          <a:prstGeom prst="chevron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과제 소개</a:t>
            </a:r>
          </a:p>
        </p:txBody>
      </p:sp>
      <p:sp>
        <p:nvSpPr>
          <p:cNvPr id="23" name="갈매기형 수장 22"/>
          <p:cNvSpPr/>
          <p:nvPr userDrawn="1"/>
        </p:nvSpPr>
        <p:spPr>
          <a:xfrm>
            <a:off x="8282529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요구사항</a:t>
            </a:r>
          </a:p>
        </p:txBody>
      </p:sp>
      <p:sp>
        <p:nvSpPr>
          <p:cNvPr id="25" name="갈매기형 수장 24"/>
          <p:cNvSpPr/>
          <p:nvPr userDrawn="1"/>
        </p:nvSpPr>
        <p:spPr>
          <a:xfrm>
            <a:off x="9181447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26" name="갈매기형 수장 25"/>
          <p:cNvSpPr/>
          <p:nvPr userDrawn="1"/>
        </p:nvSpPr>
        <p:spPr>
          <a:xfrm>
            <a:off x="10073928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구현</a:t>
            </a:r>
            <a:r>
              <a:rPr lang="en-US" altLang="ko-KR" sz="1000" b="1" dirty="0">
                <a:solidFill>
                  <a:schemeClr val="bg1"/>
                </a:solidFill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</a:rPr>
              <a:t>검증</a:t>
            </a:r>
          </a:p>
        </p:txBody>
      </p:sp>
      <p:sp>
        <p:nvSpPr>
          <p:cNvPr id="27" name="갈매기형 수장 26"/>
          <p:cNvSpPr/>
          <p:nvPr userDrawn="1"/>
        </p:nvSpPr>
        <p:spPr>
          <a:xfrm>
            <a:off x="10966411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결론</a:t>
            </a:r>
          </a:p>
        </p:txBody>
      </p:sp>
      <p:sp>
        <p:nvSpPr>
          <p:cNvPr id="29" name="직사각형 28"/>
          <p:cNvSpPr/>
          <p:nvPr userDrawn="1"/>
        </p:nvSpPr>
        <p:spPr>
          <a:xfrm>
            <a:off x="11789373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30" name="직사각형 29"/>
          <p:cNvSpPr/>
          <p:nvPr userDrawn="1"/>
        </p:nvSpPr>
        <p:spPr>
          <a:xfrm>
            <a:off x="7386845" y="137379"/>
            <a:ext cx="212127" cy="35752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7889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883F9-11C6-43F9-9CCF-256006557EC2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4F6AC5-D4FC-4374-A58A-50B206F92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046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/Relationships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en-US" altLang="ko-KR" dirty="0"/>
              <a:t>DP1. </a:t>
            </a:r>
            <a:r>
              <a:rPr lang="ko-KR" altLang="en-US" dirty="0" smtClean="0"/>
              <a:t>이기종 메모리 기반 </a:t>
            </a:r>
            <a:r>
              <a:rPr lang="en-US" altLang="ko-KR" dirty="0" smtClean="0"/>
              <a:t>KV </a:t>
            </a:r>
            <a:r>
              <a:rPr lang="ko-KR" altLang="en-US" dirty="0" smtClean="0"/>
              <a:t>캐시</a:t>
            </a:r>
            <a:r>
              <a:rPr lang="ko-KR" altLang="en-US" dirty="0" smtClean="0"/>
              <a:t> </a:t>
            </a:r>
            <a:r>
              <a:rPr lang="ko-KR" altLang="en-US" dirty="0" smtClean="0"/>
              <a:t>배치 구조 </a:t>
            </a:r>
            <a:r>
              <a:rPr lang="en-US" altLang="ko-KR" dirty="0" smtClean="0"/>
              <a:t>- </a:t>
            </a:r>
            <a:r>
              <a:rPr lang="ko-KR" altLang="en-US" dirty="0" smtClean="0"/>
              <a:t>배경</a:t>
            </a:r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347472" y="621792"/>
            <a:ext cx="1179576" cy="301752"/>
          </a:xfrm>
          <a:prstGeom prst="roundRect">
            <a:avLst>
              <a:gd name="adj" fmla="val 16000"/>
            </a:avLst>
          </a:prstGeom>
          <a:solidFill>
            <a:srgbClr val="A8C6E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KV 캐시란?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645920" y="621792"/>
            <a:ext cx="101955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LLM은 답을 단어 하나씩 만들며, 매번 앞의 모든 단어를 다시 읽어야 함   </a:t>
            </a:r>
            <a:r>
              <a:rPr sz="1050" b="1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→ 이 “읽은 결과(K·V)”를 저장해 재사용하는 것이 KV 캐시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47472" y="1078992"/>
            <a:ext cx="3017520" cy="418795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05" name="Oval 104"/>
          <p:cNvSpPr/>
          <p:nvPr/>
        </p:nvSpPr>
        <p:spPr>
          <a:xfrm>
            <a:off x="493776" y="1216151"/>
            <a:ext cx="274320" cy="2743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41248" y="1225295"/>
            <a:ext cx="23774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LLM은 단어를 하나씩 만든다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12064" y="1591056"/>
            <a:ext cx="2688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질문을 받으면 답 전체를 한 번에 쓰지 않고, </a:t>
            </a:r>
            <a:r>
              <a:rPr sz="9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단어를 하나씩 이어 붙여</a:t>
            </a: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생성함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593592" y="1078992"/>
            <a:ext cx="4846320" cy="418795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09" name="Oval 108"/>
          <p:cNvSpPr/>
          <p:nvPr/>
        </p:nvSpPr>
        <p:spPr>
          <a:xfrm>
            <a:off x="3739896" y="1216151"/>
            <a:ext cx="274320" cy="2743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087368" y="1225295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KV 캐시 = 읽은 결과를 저장해 둔 메모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758184" y="1591056"/>
            <a:ext cx="4517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각 단어를 읽을 때 생기는 중간 결과(K·V)를 저장했다가 재사용 → </a:t>
            </a:r>
            <a:r>
              <a:rPr sz="9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다시 계산할 필요가 없어 응답이 훨씬 빨라짐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668512" y="1078992"/>
            <a:ext cx="3172968" cy="418795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13" name="Oval 112"/>
          <p:cNvSpPr/>
          <p:nvPr/>
        </p:nvSpPr>
        <p:spPr>
          <a:xfrm>
            <a:off x="8814816" y="1216151"/>
            <a:ext cx="274320" cy="2743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162288" y="1225295"/>
            <a:ext cx="25328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그런데 용량이 매우 크다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33104" y="1591056"/>
            <a:ext cx="284378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저장할 값의 양이 </a:t>
            </a:r>
            <a:r>
              <a:rPr sz="9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대화가 길어질수록, 동시 사용자가 늘수록</a:t>
            </a: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정비례해 증가함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93776" y="2139696"/>
            <a:ext cx="292608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1단계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04672" y="2139696"/>
            <a:ext cx="1481328" cy="329184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오늘 날씨는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304288" y="2139696"/>
            <a:ext cx="201168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505456" y="2139696"/>
            <a:ext cx="694944" cy="329184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맑고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93776" y="2596896"/>
            <a:ext cx="292608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2단계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04672" y="2596896"/>
            <a:ext cx="1481328" cy="329184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오늘 날씨는 맑고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304288" y="2596896"/>
            <a:ext cx="201168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505456" y="2596896"/>
            <a:ext cx="694944" cy="329184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바람이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93776" y="3054096"/>
            <a:ext cx="292608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3단계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04672" y="3054096"/>
            <a:ext cx="1481328" cy="329184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오늘 날씨는 맑고 바람이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304288" y="3054096"/>
            <a:ext cx="201168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505456" y="3054096"/>
            <a:ext cx="694944" cy="329184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분다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93776" y="3776472"/>
            <a:ext cx="2724912" cy="960120"/>
          </a:xfrm>
          <a:prstGeom prst="roundRect">
            <a:avLst>
              <a:gd name="adj" fmla="val 6000"/>
            </a:avLst>
          </a:prstGeom>
          <a:solidFill>
            <a:srgbClr val="FCE8E6"/>
          </a:solidFill>
          <a:ln w="9525">
            <a:solidFill>
              <a:srgbClr val="E0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새 단어 1개를 만들 때마다 </a:t>
            </a:r>
            <a:r>
              <a:rPr sz="95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앞의 모든 단어를 처음부터 다시 계산</a:t>
            </a:r>
            <a:r>
              <a:rPr sz="9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해야 함 → 문장이 길어질수록 계산량이 눈덩이처럼 증가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93776" y="4846320"/>
            <a:ext cx="27249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※ 토큰 : 모델이 글을 다루는 최소 단위 (대략 단어 조각)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758184" y="2103120"/>
            <a:ext cx="2194560" cy="2304288"/>
          </a:xfrm>
          <a:prstGeom prst="roundRect">
            <a:avLst>
              <a:gd name="adj" fmla="val 5000"/>
            </a:avLst>
          </a:prstGeom>
          <a:solidFill>
            <a:srgbClr val="FFF7F6"/>
          </a:solidFill>
          <a:ln w="9525">
            <a:solidFill>
              <a:srgbClr val="E8B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867912" y="2194560"/>
            <a:ext cx="197510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KV 캐시 없음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849624" y="2487168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1단계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197096" y="2523744"/>
            <a:ext cx="274320" cy="164592"/>
          </a:xfrm>
          <a:prstGeom prst="rect">
            <a:avLst/>
          </a:prstGeom>
          <a:solidFill>
            <a:srgbClr val="E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849624" y="2779775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2단계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197096" y="2816351"/>
            <a:ext cx="274320" cy="164592"/>
          </a:xfrm>
          <a:prstGeom prst="rect">
            <a:avLst/>
          </a:prstGeom>
          <a:solidFill>
            <a:srgbClr val="E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36" name="Rectangle 135"/>
          <p:cNvSpPr/>
          <p:nvPr/>
        </p:nvSpPr>
        <p:spPr>
          <a:xfrm>
            <a:off x="4507992" y="2816351"/>
            <a:ext cx="274320" cy="164592"/>
          </a:xfrm>
          <a:prstGeom prst="rect">
            <a:avLst/>
          </a:prstGeom>
          <a:solidFill>
            <a:srgbClr val="E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849624" y="3072383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3단계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197096" y="3108959"/>
            <a:ext cx="274320" cy="164592"/>
          </a:xfrm>
          <a:prstGeom prst="rect">
            <a:avLst/>
          </a:prstGeom>
          <a:solidFill>
            <a:srgbClr val="E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39" name="Rectangle 138"/>
          <p:cNvSpPr/>
          <p:nvPr/>
        </p:nvSpPr>
        <p:spPr>
          <a:xfrm>
            <a:off x="4507992" y="3108959"/>
            <a:ext cx="274320" cy="164592"/>
          </a:xfrm>
          <a:prstGeom prst="rect">
            <a:avLst/>
          </a:prstGeom>
          <a:solidFill>
            <a:srgbClr val="E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40" name="Rectangle 139"/>
          <p:cNvSpPr/>
          <p:nvPr/>
        </p:nvSpPr>
        <p:spPr>
          <a:xfrm>
            <a:off x="4818888" y="3108959"/>
            <a:ext cx="274320" cy="164592"/>
          </a:xfrm>
          <a:prstGeom prst="rect">
            <a:avLst/>
          </a:prstGeom>
          <a:solidFill>
            <a:srgbClr val="E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849624" y="3364991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4단계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197096" y="3401567"/>
            <a:ext cx="274320" cy="164592"/>
          </a:xfrm>
          <a:prstGeom prst="rect">
            <a:avLst/>
          </a:prstGeom>
          <a:solidFill>
            <a:srgbClr val="E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4507992" y="3401567"/>
            <a:ext cx="274320" cy="164592"/>
          </a:xfrm>
          <a:prstGeom prst="rect">
            <a:avLst/>
          </a:prstGeom>
          <a:solidFill>
            <a:srgbClr val="E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44" name="Rectangle 143"/>
          <p:cNvSpPr/>
          <p:nvPr/>
        </p:nvSpPr>
        <p:spPr>
          <a:xfrm>
            <a:off x="4818888" y="3401567"/>
            <a:ext cx="274320" cy="164592"/>
          </a:xfrm>
          <a:prstGeom prst="rect">
            <a:avLst/>
          </a:prstGeom>
          <a:solidFill>
            <a:srgbClr val="E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45" name="Rectangle 144"/>
          <p:cNvSpPr/>
          <p:nvPr/>
        </p:nvSpPr>
        <p:spPr>
          <a:xfrm>
            <a:off x="5129783" y="3401567"/>
            <a:ext cx="274320" cy="164592"/>
          </a:xfrm>
          <a:prstGeom prst="rect">
            <a:avLst/>
          </a:prstGeom>
          <a:solidFill>
            <a:srgbClr val="E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867912" y="3822191"/>
            <a:ext cx="19751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단계마다 앞 단어 전체를 </a:t>
            </a:r>
            <a:r>
              <a:rPr sz="85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다시 계산</a:t>
            </a:r>
            <a:r>
              <a:rPr sz="8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
계산량 = 1+2+3+4+…  (폭증)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080760" y="2103120"/>
            <a:ext cx="2194560" cy="2304288"/>
          </a:xfrm>
          <a:prstGeom prst="roundRect">
            <a:avLst>
              <a:gd name="adj" fmla="val 5000"/>
            </a:avLst>
          </a:prstGeom>
          <a:solidFill>
            <a:srgbClr val="F4F9FD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190488" y="2194560"/>
            <a:ext cx="197510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KV 캐시 사용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172200" y="2487168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1단계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519672" y="2523744"/>
            <a:ext cx="274320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172200" y="2779775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2단계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519672" y="2816351"/>
            <a:ext cx="274320" cy="16459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53" name="Rectangle 152"/>
          <p:cNvSpPr/>
          <p:nvPr/>
        </p:nvSpPr>
        <p:spPr>
          <a:xfrm>
            <a:off x="6830568" y="2816351"/>
            <a:ext cx="274320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172200" y="3072383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3단계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519672" y="3108959"/>
            <a:ext cx="274320" cy="16459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56" name="Rectangle 155"/>
          <p:cNvSpPr/>
          <p:nvPr/>
        </p:nvSpPr>
        <p:spPr>
          <a:xfrm>
            <a:off x="6830568" y="3108959"/>
            <a:ext cx="274320" cy="16459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57" name="Rectangle 156"/>
          <p:cNvSpPr/>
          <p:nvPr/>
        </p:nvSpPr>
        <p:spPr>
          <a:xfrm>
            <a:off x="7141464" y="3108959"/>
            <a:ext cx="274320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172200" y="3364991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4단계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519672" y="3401567"/>
            <a:ext cx="274320" cy="16459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60" name="Rectangle 159"/>
          <p:cNvSpPr/>
          <p:nvPr/>
        </p:nvSpPr>
        <p:spPr>
          <a:xfrm>
            <a:off x="6830568" y="3401567"/>
            <a:ext cx="274320" cy="16459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61" name="Rectangle 160"/>
          <p:cNvSpPr/>
          <p:nvPr/>
        </p:nvSpPr>
        <p:spPr>
          <a:xfrm>
            <a:off x="7141464" y="3401567"/>
            <a:ext cx="274320" cy="16459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62" name="Rectangle 161"/>
          <p:cNvSpPr/>
          <p:nvPr/>
        </p:nvSpPr>
        <p:spPr>
          <a:xfrm>
            <a:off x="7452360" y="3401567"/>
            <a:ext cx="274320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190488" y="3822191"/>
            <a:ext cx="19751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새로 생긴 </a:t>
            </a:r>
            <a:r>
              <a:rPr sz="850" b="1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1개만 계산</a:t>
            </a:r>
            <a:r>
              <a:rPr sz="8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, 나머지는 </a:t>
            </a:r>
            <a:r>
              <a:rPr sz="850"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저장된 값 재사용</a:t>
            </a:r>
            <a:r>
              <a:rPr sz="8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
계산량 = 1+1+1+1+…  (일정)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3776472" y="4572000"/>
            <a:ext cx="146304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977639" y="4535424"/>
            <a:ext cx="118872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새로 계산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257800" y="4572000"/>
            <a:ext cx="146304" cy="14630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458968" y="4535424"/>
            <a:ext cx="118872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저장된 값 재사용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739128" y="4572000"/>
            <a:ext cx="146304" cy="146304"/>
          </a:xfrm>
          <a:prstGeom prst="rect">
            <a:avLst/>
          </a:prstGeom>
          <a:solidFill>
            <a:srgbClr val="E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940296" y="4535424"/>
            <a:ext cx="118872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다시 계산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3758184" y="4809744"/>
            <a:ext cx="4517136" cy="329184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KV 캐시는 LLM 서비스의 응답 속도를 좌우하는 필수 기술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8833104" y="2084832"/>
            <a:ext cx="2843784" cy="1188720"/>
          </a:xfrm>
          <a:prstGeom prst="roundRect">
            <a:avLst>
              <a:gd name="adj" fmla="val 5000"/>
            </a:avLst>
          </a:prstGeom>
          <a:solidFill>
            <a:srgbClr val="FFF2CC"/>
          </a:solidFill>
          <a:ln w="952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906256" y="2157984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KV 캐시 용량 (128K 토큰 = 책 1권 분량 기준)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10254996" y="2377440"/>
            <a:ext cx="0" cy="804672"/>
          </a:xfrm>
          <a:prstGeom prst="line">
            <a:avLst/>
          </a:prstGeom>
          <a:ln w="952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8887968" y="2395728"/>
            <a:ext cx="131216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대화 1건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887968" y="2596896"/>
            <a:ext cx="13121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약 </a:t>
            </a:r>
            <a:r>
              <a:rPr sz="17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40 GB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887968" y="2926080"/>
            <a:ext cx="13121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GPU 1장(80GB)이면
대화 2건에서 한계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0309860" y="2395728"/>
            <a:ext cx="131216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동시 사용자 10명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309860" y="2596896"/>
            <a:ext cx="13121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약 </a:t>
            </a:r>
            <a:r>
              <a:rPr sz="17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400 GB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0309860" y="2926080"/>
            <a:ext cx="13121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GPU 5장이 KV 캐시로만
가득 참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833104" y="3401568"/>
            <a:ext cx="284378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문맥(토큰) 길이별 KV 캐시 용량 — 대화 1건 기준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079992" y="4480559"/>
            <a:ext cx="420624" cy="7315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951976" y="4297679"/>
            <a:ext cx="67665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1.3GB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8951976" y="4590288"/>
            <a:ext cx="67665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4K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9921240" y="4352544"/>
            <a:ext cx="420624" cy="20116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793224" y="4169663"/>
            <a:ext cx="67665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10GB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9793224" y="4590288"/>
            <a:ext cx="67665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32K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762488" y="3749039"/>
            <a:ext cx="420624" cy="8046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634472" y="3566159"/>
            <a:ext cx="67665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40GB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634472" y="4590288"/>
            <a:ext cx="67665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128K 토큰</a:t>
            </a:r>
          </a:p>
        </p:txBody>
      </p:sp>
      <p:cxnSp>
        <p:nvCxnSpPr>
          <p:cNvPr id="190" name="Connector 189"/>
          <p:cNvCxnSpPr/>
          <p:nvPr/>
        </p:nvCxnSpPr>
        <p:spPr>
          <a:xfrm>
            <a:off x="8961120" y="4553712"/>
            <a:ext cx="2633472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/>
          <p:cNvSpPr txBox="1"/>
          <p:nvPr/>
        </p:nvSpPr>
        <p:spPr>
          <a:xfrm>
            <a:off x="8833104" y="4791455"/>
            <a:ext cx="28437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0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※ 70B급 모델·FP16 기준 개략치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※ 서비스 필요 용량 = </a:t>
            </a:r>
            <a:r>
              <a:rPr sz="8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문맥 길이 × 동시 사용자 수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347472" y="5394960"/>
            <a:ext cx="11494008" cy="7772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530352" y="5596128"/>
            <a:ext cx="658368" cy="36576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DP1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353312" y="5486400"/>
            <a:ext cx="103327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커지는 KV 캐시를 빠른 GPU 메모리(HBM)에만 담을 수 없음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→ HBM · DRAM · CXL · SSD 등 </a:t>
            </a:r>
            <a:r>
              <a:rPr sz="1100" b="1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특성이 서로 다른 이기종 메모리에 KV 캐시를 어떻게 나누어 배치할 것인가</a:t>
            </a:r>
            <a:r>
              <a:rPr sz="1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← DP1이 푸는 문제</a:t>
            </a:r>
          </a:p>
        </p:txBody>
      </p:sp>
    </p:spTree>
    <p:extLst>
      <p:ext uri="{BB962C8B-B14F-4D97-AF65-F5344CB8AC3E}">
        <p14:creationId xmlns:p14="http://schemas.microsoft.com/office/powerpoint/2010/main" val="570709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와이드스크린</PresentationFormat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DP1. 이기종 메모리 기반 KV 캐시 배치 구조 - 배경 (KV 캐시 개요)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KV 캐시 배치 구조 - 배경 (KV 캐시 개요)</dc:title>
  <dc:creator>김명우/MYEONG WOO KIM</dc:creator>
  <cp:lastModifiedBy>김명우/MYEONG WOO KIM</cp:lastModifiedBy>
  <cp:revision>1</cp:revision>
  <dcterms:created xsi:type="dcterms:W3CDTF">2026-06-30T10:16:17Z</dcterms:created>
  <dcterms:modified xsi:type="dcterms:W3CDTF">2026-09-14T07:37:14Z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
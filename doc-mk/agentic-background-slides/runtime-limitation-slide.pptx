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694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E30B-1C53-4800-BDBB-46956AFC5A82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82E3D-500C-4A4C-A3C6-254AD637F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937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994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C1E6C-8E46-45A2-9A9F-BE85FBB8D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6F1F7C-3E0E-4FD2-A4D1-BFFD535BA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198A8-3C84-47FD-B233-6AAC3D57B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D8E2C7-E769-4E80-8CC4-C5F6710A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A4EB7-74A7-4CB0-ACBC-E269EB12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38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3F5E9-D906-4EC7-BB30-3728200B7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38DF5-44FC-4724-95DF-9A9D9F6E9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41300F-943F-46CF-9BCC-79F90772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214E8-B233-4463-A3B4-CEF96CF4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09C2BD-CF08-4F1D-8A22-BB80BF10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15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DA97E-C7A0-44DA-8CE3-24228D4F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5A903A-1D6E-48B8-93E2-8DEA9E864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4AD09F-1EE7-42A3-840A-210476B6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3A6F85-AE1F-4676-8F7C-4E4FC86F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348998-15A3-4F2F-A1F1-CFDD044B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85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7B49C-6B5C-49D9-AF12-A13DA275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2C5E9-5403-4BDA-9FF3-CFF72098C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085226-F4CC-456D-9887-710085660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05301E-0986-4AA3-9440-4437E85C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5A6922-4A26-413E-A8DA-A491F0E18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FA484E-F4E1-4932-BC99-39EC837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6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27B2FB-38F4-4664-89A3-0D57B3D7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F7778F-7ED4-49DD-AD9A-43E837465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8DFCEB-48B8-40E0-BAB8-A4070E8E8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845F32-431C-47DC-841B-44B0C88E4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DF9D54-D243-456E-909D-2375478E8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AB1BFB-E65B-4ACF-A5DE-45EE035B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1E2EBF-601E-45D0-8BB9-43001648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167DE1-C773-45D9-8D3A-4D9D72E6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22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95EC8-BCF6-4537-BBEA-37488671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E40DFD-C053-45ED-B4DA-5DA79EF6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2748A1-B030-4107-A117-C1F97309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56CF55-C155-4E42-8528-11743B00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95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4B8753-DEF2-462A-8BE8-5A54E074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B06C73-E78B-4294-B166-1C1169D0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3257F-EA26-4139-83ED-FF424C4F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89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112F9-6E7D-475A-94EF-3076ED16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ABB2B-B181-43A2-8786-24391B236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56C0F6-1BBA-42D7-A518-3E15FE086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B35A3-8BB4-4FEE-9200-9D45F18C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BF3F53-75FA-44BF-9AB5-D9528572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F21841-C12B-4826-A0E3-B0EE6B9F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688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662BF-15A4-41C3-BB7E-2C8249D3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A3B5A6-21AF-4470-8569-A94E80C75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6BDE0F-D737-4020-9C0F-B6F0A7ADD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858F2E-D2ED-42CA-BAA2-FF2D9492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40CFC1-CCC3-4FA2-83D5-BA1C923E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81DEF7-00D5-46EF-8C12-1159BC5E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95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00A05-7BB3-4D57-BE0B-4E79143DF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816790-61A1-4AA8-A8A8-FA2BCE8C3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1C13FE-3F8A-467F-9714-2F480225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105A44-0C42-415C-B2E2-4FFCA390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74C646-0C24-4640-BAD6-A2C41608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077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6A5E07-C916-4904-B005-D9B6A5A68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80B66-A808-4920-A0BF-78C10EE1A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B0CF2-FD77-48BD-995A-687B2097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5E805-4C62-464B-A0B5-92E552E1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1EFDC-9461-4308-88DA-2A227883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835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과제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12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037ED7-EF8F-404F-9AED-CF290CF9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5C6A64-5F88-443A-AC00-0EF905DF0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B23607-AAD2-4C7D-BE62-D56CA9EAE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11087-222C-4068-9AD3-EF3831C46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1AFD7-873A-4477-85BE-B547ED0BA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7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필요성</a:t>
            </a:r>
          </a:p>
        </p:txBody>
      </p:sp>
      <p:sp>
        <p:nvSpPr>
          <p:cNvPr id="55" name="모서리가 둥근 직사각형 54"/>
          <p:cNvSpPr/>
          <p:nvPr/>
        </p:nvSpPr>
        <p:spPr>
          <a:xfrm>
            <a:off x="6172198" y="899160"/>
            <a:ext cx="5830571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모서리가 둥근 직사각형 55"/>
          <p:cNvSpPr/>
          <p:nvPr/>
        </p:nvSpPr>
        <p:spPr>
          <a:xfrm>
            <a:off x="234948" y="899160"/>
            <a:ext cx="5830571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632342" y="698834"/>
            <a:ext cx="4716897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기존 </a:t>
            </a:r>
            <a:r>
              <a:rPr lang="en-US" altLang="ko-KR" sz="1600" b="1" dirty="0"/>
              <a:t>AI SW </a:t>
            </a:r>
            <a:r>
              <a:rPr lang="ko-KR" altLang="en-US" sz="1600" b="1" dirty="0"/>
              <a:t>역할의 한계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6729034" y="698834"/>
            <a:ext cx="4716897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다양한 신규 메모리 및 </a:t>
            </a:r>
            <a:r>
              <a:rPr lang="en-US" altLang="ko-KR" sz="1600" b="1" dirty="0"/>
              <a:t>AI </a:t>
            </a:r>
            <a:r>
              <a:rPr lang="ko-KR" altLang="en-US" sz="1600" b="1" dirty="0"/>
              <a:t>응용 대응</a:t>
            </a:r>
          </a:p>
        </p:txBody>
      </p:sp>
      <p:sp>
        <p:nvSpPr>
          <p:cNvPr id="4" name="실행 단추: 앞으로 또는 다음 3">
            <a:hlinkClick r:id="" action="ppaction://hlinkshowjump?jump=nextslide" highlightClick="1"/>
          </p:cNvPr>
          <p:cNvSpPr/>
          <p:nvPr/>
        </p:nvSpPr>
        <p:spPr>
          <a:xfrm>
            <a:off x="7557747" y="205641"/>
            <a:ext cx="220978" cy="22859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TextBox 106"/>
          <p:cNvSpPr txBox="1"/>
          <p:nvPr/>
        </p:nvSpPr>
        <p:spPr>
          <a:xfrm>
            <a:off x="6382851" y="205641"/>
            <a:ext cx="11748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System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연구 필요성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64303" y="1099256"/>
            <a:ext cx="5771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ko-KR" altLang="en-US" sz="1400" dirty="0"/>
              <a:t>■ 워크로드 변동성 및 시스템 자원 다변화에 따라 실행 중 동적으로 결정</a:t>
            </a:r>
            <a:r>
              <a:rPr lang="en-US" altLang="ko-KR" sz="1400" dirty="0"/>
              <a:t>·</a:t>
            </a:r>
            <a:r>
              <a:rPr lang="ko-KR" altLang="en-US" sz="1400" dirty="0"/>
              <a:t>관리해야 할 요소 증가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64303" y="3894782"/>
            <a:ext cx="577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ko-KR" altLang="en-US" sz="1400" dirty="0"/>
              <a:t>■ 기존 런타임은 다양한 메모리 특성을 </a:t>
            </a:r>
            <a:r>
              <a:rPr lang="en-US" altLang="ko-KR" sz="1400" dirty="0"/>
              <a:t>aware</a:t>
            </a:r>
            <a:r>
              <a:rPr lang="ko-KR" altLang="en-US" sz="1400" dirty="0"/>
              <a:t>하지 못함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01552" y="1099256"/>
            <a:ext cx="577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ko-KR" altLang="en-US" sz="1400" dirty="0"/>
              <a:t>■ 다양한 특성</a:t>
            </a:r>
            <a:r>
              <a:rPr lang="en-US" altLang="ko-KR" sz="1400" dirty="0"/>
              <a:t>, </a:t>
            </a:r>
            <a:r>
              <a:rPr lang="ko-KR" altLang="en-US" sz="1400" dirty="0"/>
              <a:t>기능을 갖는 차세대 메모리의 지속적인 연구 개발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01552" y="3774460"/>
            <a:ext cx="5771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>
                <a:latin typeface="+mn-ea"/>
              </a:defRPr>
            </a:lvl1pPr>
          </a:lstStyle>
          <a:p>
            <a:pPr algn="l"/>
            <a:r>
              <a:rPr lang="ko-KR" altLang="en-US" sz="1400" dirty="0"/>
              <a:t>■ 신규 메모리의 빠른 </a:t>
            </a:r>
            <a:r>
              <a:rPr lang="en-US" altLang="ko-KR" sz="1400" dirty="0"/>
              <a:t>SW </a:t>
            </a:r>
            <a:r>
              <a:rPr lang="ko-KR" altLang="en-US" sz="1400" dirty="0"/>
              <a:t>적용을 위한 유연한 런타임 기술 선제적 확보 필요 </a:t>
            </a:r>
          </a:p>
        </p:txBody>
      </p:sp>
      <p:grpSp>
        <p:nvGrpSpPr>
          <p:cNvPr id="2" name="Fig_동적결정요소"/>
          <p:cNvGrpSpPr/>
          <p:nvPr/>
        </p:nvGrpSpPr>
        <p:grpSpPr>
          <a:xfrm>
            <a:off x="411480" y="1755648"/>
            <a:ext cx="5495544" cy="1965960"/>
            <a:chOff x="411480" y="1755648"/>
            <a:chExt cx="5495544" cy="1965960"/>
          </a:xfrm>
        </p:grpSpPr>
        <p:sp>
          <p:nvSpPr>
            <p:cNvPr id="119" name="Rounded Rectangle 118"/>
            <p:cNvSpPr/>
            <p:nvPr/>
          </p:nvSpPr>
          <p:spPr>
            <a:xfrm>
              <a:off x="411480" y="1755648"/>
              <a:ext cx="1600200" cy="914400"/>
            </a:xfrm>
            <a:prstGeom prst="roundRect">
              <a:avLst>
                <a:gd name="adj" fmla="val 12000"/>
              </a:avLst>
            </a:prstGeom>
            <a:solidFill>
              <a:srgbClr val="1F4E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r>
                <a:rPr sz="950" b="1">
                  <a:solidFill>
                    <a:srgbClr val="FFFFFF"/>
                  </a:solidFill>
                  <a:latin typeface="맑은 고딕"/>
                  <a:ea typeface="맑은 고딕"/>
                </a:rPr>
                <a:t>워크로드 변동성</a:t>
              </a:r>
            </a:p>
            <a:p>
              <a:pPr algn="ctr"/>
              <a:r>
                <a:rPr sz="800" b="0">
                  <a:solidFill>
                    <a:srgbClr val="FFFFFF"/>
                  </a:solidFill>
                  <a:latin typeface="맑은 고딕"/>
                  <a:ea typeface="맑은 고딕"/>
                </a:rPr>
                <a:t>Context 길이 · 요청 Burst</a:t>
              </a:r>
            </a:p>
            <a:p>
              <a:pPr algn="ctr"/>
              <a:r>
                <a:rPr sz="800" b="0">
                  <a:solidFill>
                    <a:srgbClr val="FFFFFF"/>
                  </a:solidFill>
                  <a:latin typeface="맑은 고딕"/>
                  <a:ea typeface="맑은 고딕"/>
                </a:rPr>
                <a:t>P/D 비율 · Agent Multi-turn</a:t>
              </a:r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411480" y="2807208"/>
              <a:ext cx="1600200" cy="914400"/>
            </a:xfrm>
            <a:prstGeom prst="roundRect">
              <a:avLst>
                <a:gd name="adj" fmla="val 12000"/>
              </a:avLst>
            </a:prstGeom>
            <a:solidFill>
              <a:srgbClr val="3A3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r>
                <a:rPr sz="950" b="1">
                  <a:solidFill>
                    <a:srgbClr val="FFFFFF"/>
                  </a:solidFill>
                  <a:latin typeface="맑은 고딕"/>
                  <a:ea typeface="맑은 고딕"/>
                </a:rPr>
                <a:t>시스템 자원 다변화</a:t>
              </a:r>
            </a:p>
            <a:p>
              <a:pPr algn="ctr"/>
              <a:r>
                <a:rPr sz="800" b="0">
                  <a:solidFill>
                    <a:srgbClr val="FFFFFF"/>
                  </a:solidFill>
                  <a:latin typeface="맑은 고딕"/>
                  <a:ea typeface="맑은 고딕"/>
                </a:rPr>
                <a:t>GPU/NPU · HBM 변종 · CXL</a:t>
              </a:r>
            </a:p>
            <a:p>
              <a:pPr algn="ctr"/>
              <a:r>
                <a:rPr sz="800" b="0">
                  <a:solidFill>
                    <a:srgbClr val="FFFFFF"/>
                  </a:solidFill>
                  <a:latin typeface="맑은 고딕"/>
                  <a:ea typeface="맑은 고딕"/>
                </a:rPr>
                <a:t>zNAND/HBF · PIM</a:t>
              </a:r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2084831" y="2596896"/>
              <a:ext cx="274320" cy="2743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350" b="1">
                  <a:solidFill>
                    <a:srgbClr val="E46C0A"/>
                  </a:solidFill>
                  <a:latin typeface="맑은 고딕"/>
                  <a:ea typeface="맑은 고딕"/>
                </a:rPr>
                <a:t>×</a:t>
              </a:r>
            </a:p>
          </p:txBody>
        </p:sp>
        <p:cxnSp>
          <p:nvCxnSpPr>
            <p:cNvPr id="122" name="Connector 121"/>
            <p:cNvCxnSpPr/>
            <p:nvPr/>
          </p:nvCxnSpPr>
          <p:spPr>
            <a:xfrm>
              <a:off x="2029968" y="2212848"/>
              <a:ext cx="457200" cy="484632"/>
            </a:xfrm>
            <a:prstGeom prst="line">
              <a:avLst/>
            </a:prstGeom>
            <a:ln w="15875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or 122"/>
            <p:cNvCxnSpPr/>
            <p:nvPr/>
          </p:nvCxnSpPr>
          <p:spPr>
            <a:xfrm flipV="1">
              <a:off x="2029968" y="2788920"/>
              <a:ext cx="457200" cy="475488"/>
            </a:xfrm>
            <a:prstGeom prst="line">
              <a:avLst/>
            </a:prstGeom>
            <a:ln w="15875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ounded Rectangle 123"/>
            <p:cNvSpPr/>
            <p:nvPr/>
          </p:nvSpPr>
          <p:spPr>
            <a:xfrm>
              <a:off x="2542032" y="1755648"/>
              <a:ext cx="3364992" cy="196596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endParaRPr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2633472" y="1792224"/>
              <a:ext cx="3200400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1">
                  <a:solidFill>
                    <a:srgbClr val="3A3A3A"/>
                  </a:solidFill>
                  <a:latin typeface="맑은 고딕"/>
                  <a:ea typeface="맑은 고딕"/>
                </a:rPr>
                <a:t>Runtime이 실행 중 결정해야 할 요소</a:t>
              </a:r>
            </a:p>
          </p:txBody>
        </p:sp>
        <p:sp>
          <p:nvSpPr>
            <p:cNvPr id="126" name="Rounded Rectangle 125"/>
            <p:cNvSpPr/>
            <p:nvPr/>
          </p:nvSpPr>
          <p:spPr>
            <a:xfrm>
              <a:off x="2651760" y="2084831"/>
              <a:ext cx="1517904" cy="292608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r>
                <a:rPr sz="850" b="0">
                  <a:solidFill>
                    <a:srgbClr val="3A3A3A"/>
                  </a:solidFill>
                  <a:latin typeface="맑은 고딕"/>
                  <a:ea typeface="맑은 고딕"/>
                </a:rPr>
                <a:t>KV Cache 배치 Tier</a:t>
              </a:r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4242816" y="2084831"/>
              <a:ext cx="1517904" cy="292608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r>
                <a:rPr sz="850" b="0">
                  <a:solidFill>
                    <a:srgbClr val="3A3A3A"/>
                  </a:solidFill>
                  <a:latin typeface="맑은 고딕"/>
                  <a:ea typeface="맑은 고딕"/>
                </a:rPr>
                <a:t>Prefill/Decode 분리·비율</a:t>
              </a:r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2651760" y="2450591"/>
              <a:ext cx="1517904" cy="292608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r>
                <a:rPr sz="850" b="0">
                  <a:solidFill>
                    <a:srgbClr val="3A3A3A"/>
                  </a:solidFill>
                  <a:latin typeface="맑은 고딕"/>
                  <a:ea typeface="맑은 고딕"/>
                </a:rPr>
                <a:t>Batch 구성·스케줄링</a:t>
              </a:r>
            </a:p>
          </p:txBody>
        </p:sp>
        <p:sp>
          <p:nvSpPr>
            <p:cNvPr id="129" name="Rounded Rectangle 128"/>
            <p:cNvSpPr/>
            <p:nvPr/>
          </p:nvSpPr>
          <p:spPr>
            <a:xfrm>
              <a:off x="4242816" y="2450591"/>
              <a:ext cx="1517904" cy="292608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r>
                <a:rPr sz="850" b="0">
                  <a:solidFill>
                    <a:srgbClr val="3A3A3A"/>
                  </a:solidFill>
                  <a:latin typeface="맑은 고딕"/>
                  <a:ea typeface="맑은 고딕"/>
                </a:rPr>
                <a:t>KV 압축·Eviction 정책</a:t>
              </a:r>
            </a:p>
          </p:txBody>
        </p:sp>
        <p:sp>
          <p:nvSpPr>
            <p:cNvPr id="130" name="Rounded Rectangle 129"/>
            <p:cNvSpPr/>
            <p:nvPr/>
          </p:nvSpPr>
          <p:spPr>
            <a:xfrm>
              <a:off x="2651760" y="2816352"/>
              <a:ext cx="1517904" cy="292608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r>
                <a:rPr sz="850" b="0">
                  <a:solidFill>
                    <a:srgbClr val="3A3A3A"/>
                  </a:solidFill>
                  <a:latin typeface="맑은 고딕"/>
                  <a:ea typeface="맑은 고딕"/>
                </a:rPr>
                <a:t>연산 Offload 대상 (PIM)</a:t>
              </a:r>
            </a:p>
          </p:txBody>
        </p:sp>
        <p:sp>
          <p:nvSpPr>
            <p:cNvPr id="131" name="Rounded Rectangle 130"/>
            <p:cNvSpPr/>
            <p:nvPr/>
          </p:nvSpPr>
          <p:spPr>
            <a:xfrm>
              <a:off x="4242816" y="2816352"/>
              <a:ext cx="1517904" cy="292608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r>
                <a:rPr sz="850" b="0">
                  <a:solidFill>
                    <a:srgbClr val="3A3A3A"/>
                  </a:solidFill>
                  <a:latin typeface="맑은 고딕"/>
                  <a:ea typeface="맑은 고딕"/>
                </a:rPr>
                <a:t>데이터 이동·Prefetch 시점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633472" y="3200400"/>
              <a:ext cx="320040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dirty="0" err="1">
                  <a:solidFill>
                    <a:srgbClr val="E46C0A"/>
                  </a:solidFill>
                  <a:latin typeface="맑은 고딕"/>
                  <a:ea typeface="맑은 고딕"/>
                </a:rPr>
                <a:t>결정</a:t>
              </a:r>
              <a:r>
                <a:rPr sz="850" b="1" dirty="0">
                  <a:solidFill>
                    <a:srgbClr val="E46C0A"/>
                  </a:solidFill>
                  <a:latin typeface="맑은 고딕"/>
                  <a:ea typeface="맑은 고딕"/>
                </a:rPr>
                <a:t> </a:t>
              </a:r>
              <a:r>
                <a:rPr sz="850" b="1" dirty="0" err="1">
                  <a:solidFill>
                    <a:srgbClr val="E46C0A"/>
                  </a:solidFill>
                  <a:latin typeface="맑은 고딕"/>
                  <a:ea typeface="맑은 고딕"/>
                </a:rPr>
                <a:t>공간</a:t>
              </a:r>
              <a:r>
                <a:rPr sz="850" b="1" dirty="0">
                  <a:solidFill>
                    <a:srgbClr val="E46C0A"/>
                  </a:solidFill>
                  <a:latin typeface="맑은 고딕"/>
                  <a:ea typeface="맑은 고딕"/>
                </a:rPr>
                <a:t> = </a:t>
              </a:r>
              <a:r>
                <a:rPr sz="850" b="1" dirty="0" err="1">
                  <a:solidFill>
                    <a:srgbClr val="E46C0A"/>
                  </a:solidFill>
                  <a:latin typeface="맑은 고딕"/>
                  <a:ea typeface="맑은 고딕"/>
                </a:rPr>
                <a:t>워크로드</a:t>
              </a:r>
              <a:r>
                <a:rPr sz="850" b="1" dirty="0">
                  <a:solidFill>
                    <a:srgbClr val="E46C0A"/>
                  </a:solidFill>
                  <a:latin typeface="맑은 고딕"/>
                  <a:ea typeface="맑은 고딕"/>
                </a:rPr>
                <a:t> </a:t>
              </a:r>
              <a:r>
                <a:rPr sz="850" b="1" dirty="0" err="1">
                  <a:solidFill>
                    <a:srgbClr val="E46C0A"/>
                  </a:solidFill>
                  <a:latin typeface="맑은 고딕"/>
                  <a:ea typeface="맑은 고딕"/>
                </a:rPr>
                <a:t>상태</a:t>
              </a:r>
              <a:r>
                <a:rPr sz="850" b="1" dirty="0">
                  <a:solidFill>
                    <a:srgbClr val="E46C0A"/>
                  </a:solidFill>
                  <a:latin typeface="맑은 고딕"/>
                  <a:ea typeface="맑은 고딕"/>
                </a:rPr>
                <a:t> × </a:t>
              </a:r>
              <a:r>
                <a:rPr sz="850" b="1" dirty="0" err="1">
                  <a:solidFill>
                    <a:srgbClr val="E46C0A"/>
                  </a:solidFill>
                  <a:latin typeface="맑은 고딕"/>
                  <a:ea typeface="맑은 고딕"/>
                </a:rPr>
                <a:t>자원</a:t>
              </a:r>
              <a:r>
                <a:rPr sz="850" b="1" dirty="0">
                  <a:solidFill>
                    <a:srgbClr val="E46C0A"/>
                  </a:solidFill>
                  <a:latin typeface="맑은 고딕"/>
                  <a:ea typeface="맑은 고딕"/>
                </a:rPr>
                <a:t> </a:t>
              </a:r>
              <a:r>
                <a:rPr sz="850" b="1" dirty="0" err="1">
                  <a:solidFill>
                    <a:srgbClr val="E46C0A"/>
                  </a:solidFill>
                  <a:latin typeface="맑은 고딕"/>
                  <a:ea typeface="맑은 고딕"/>
                </a:rPr>
                <a:t>조합</a:t>
              </a:r>
              <a:endParaRPr sz="850" b="1" dirty="0">
                <a:solidFill>
                  <a:srgbClr val="E46C0A"/>
                </a:solidFill>
                <a:latin typeface="맑은 고딕"/>
                <a:ea typeface="맑은 고딕"/>
              </a:endParaRPr>
            </a:p>
            <a:p>
              <a:pPr algn="l"/>
              <a:r>
                <a:rPr sz="850" b="0" dirty="0">
                  <a:solidFill>
                    <a:srgbClr val="E46C0A"/>
                  </a:solidFill>
                  <a:latin typeface="맑은 고딕"/>
                  <a:ea typeface="맑은 고딕"/>
                </a:rPr>
                <a:t>→ </a:t>
              </a:r>
              <a:r>
                <a:rPr sz="850" b="0" dirty="0" err="1">
                  <a:solidFill>
                    <a:srgbClr val="E46C0A"/>
                  </a:solidFill>
                  <a:latin typeface="맑은 고딕"/>
                  <a:ea typeface="맑은 고딕"/>
                </a:rPr>
                <a:t>배포</a:t>
              </a:r>
              <a:r>
                <a:rPr sz="850" b="0" dirty="0">
                  <a:solidFill>
                    <a:srgbClr val="E46C0A"/>
                  </a:solidFill>
                  <a:latin typeface="맑은 고딕"/>
                  <a:ea typeface="맑은 고딕"/>
                </a:rPr>
                <a:t> </a:t>
              </a:r>
              <a:r>
                <a:rPr sz="850" b="0" dirty="0" err="1">
                  <a:solidFill>
                    <a:srgbClr val="E46C0A"/>
                  </a:solidFill>
                  <a:latin typeface="맑은 고딕"/>
                  <a:ea typeface="맑은 고딕"/>
                </a:rPr>
                <a:t>시점</a:t>
              </a:r>
              <a:r>
                <a:rPr sz="850" b="0" dirty="0">
                  <a:solidFill>
                    <a:srgbClr val="E46C0A"/>
                  </a:solidFill>
                  <a:latin typeface="맑은 고딕"/>
                  <a:ea typeface="맑은 고딕"/>
                </a:rPr>
                <a:t> </a:t>
              </a:r>
              <a:r>
                <a:rPr sz="850" b="0" dirty="0" err="1">
                  <a:solidFill>
                    <a:srgbClr val="E46C0A"/>
                  </a:solidFill>
                  <a:latin typeface="맑은 고딕"/>
                  <a:ea typeface="맑은 고딕"/>
                </a:rPr>
                <a:t>정적</a:t>
              </a:r>
              <a:r>
                <a:rPr sz="850" b="0" dirty="0">
                  <a:solidFill>
                    <a:srgbClr val="E46C0A"/>
                  </a:solidFill>
                  <a:latin typeface="맑은 고딕"/>
                  <a:ea typeface="맑은 고딕"/>
                </a:rPr>
                <a:t> </a:t>
              </a:r>
              <a:r>
                <a:rPr sz="850" b="0" dirty="0" err="1">
                  <a:solidFill>
                    <a:srgbClr val="E46C0A"/>
                  </a:solidFill>
                  <a:latin typeface="맑은 고딕"/>
                  <a:ea typeface="맑은 고딕"/>
                </a:rPr>
                <a:t>설정으로는</a:t>
              </a:r>
              <a:r>
                <a:rPr sz="850" b="0" dirty="0">
                  <a:solidFill>
                    <a:srgbClr val="E46C0A"/>
                  </a:solidFill>
                  <a:latin typeface="맑은 고딕"/>
                  <a:ea typeface="맑은 고딕"/>
                </a:rPr>
                <a:t> </a:t>
              </a:r>
              <a:r>
                <a:rPr sz="850" b="0" dirty="0" err="1">
                  <a:solidFill>
                    <a:srgbClr val="E46C0A"/>
                  </a:solidFill>
                  <a:latin typeface="맑은 고딕"/>
                  <a:ea typeface="맑은 고딕"/>
                </a:rPr>
                <a:t>최적</a:t>
              </a:r>
              <a:r>
                <a:rPr sz="850" b="0" dirty="0">
                  <a:solidFill>
                    <a:srgbClr val="E46C0A"/>
                  </a:solidFill>
                  <a:latin typeface="맑은 고딕"/>
                  <a:ea typeface="맑은 고딕"/>
                </a:rPr>
                <a:t> </a:t>
              </a:r>
              <a:r>
                <a:rPr sz="850" b="0" dirty="0" err="1">
                  <a:solidFill>
                    <a:srgbClr val="E46C0A"/>
                  </a:solidFill>
                  <a:latin typeface="맑은 고딕"/>
                  <a:ea typeface="맑은 고딕"/>
                </a:rPr>
                <a:t>유지</a:t>
              </a:r>
              <a:r>
                <a:rPr sz="850" b="0" dirty="0">
                  <a:solidFill>
                    <a:srgbClr val="E46C0A"/>
                  </a:solidFill>
                  <a:latin typeface="맑은 고딕"/>
                  <a:ea typeface="맑은 고딕"/>
                </a:rPr>
                <a:t> </a:t>
              </a:r>
              <a:r>
                <a:rPr sz="850" b="0" dirty="0" err="1">
                  <a:solidFill>
                    <a:srgbClr val="E46C0A"/>
                  </a:solidFill>
                  <a:latin typeface="맑은 고딕"/>
                  <a:ea typeface="맑은 고딕"/>
                </a:rPr>
                <a:t>불가</a:t>
              </a:r>
              <a:endParaRPr sz="850" b="0" dirty="0">
                <a:solidFill>
                  <a:srgbClr val="E46C0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6" name="Fig_차세대메모리특성"/>
          <p:cNvGrpSpPr/>
          <p:nvPr/>
        </p:nvGrpSpPr>
        <p:grpSpPr>
          <a:xfrm>
            <a:off x="6336792" y="1600363"/>
            <a:ext cx="5458968" cy="1965960"/>
            <a:chOff x="6336792" y="1755648"/>
            <a:chExt cx="5458968" cy="1965960"/>
          </a:xfrm>
        </p:grpSpPr>
        <p:sp>
          <p:nvSpPr>
            <p:cNvPr id="143" name="Rounded Rectangle 142"/>
            <p:cNvSpPr/>
            <p:nvPr/>
          </p:nvSpPr>
          <p:spPr>
            <a:xfrm>
              <a:off x="6336792" y="1755648"/>
              <a:ext cx="411480" cy="914400"/>
            </a:xfrm>
            <a:prstGeom prst="roundRect">
              <a:avLst>
                <a:gd name="adj" fmla="val 12000"/>
              </a:avLst>
            </a:prstGeom>
            <a:solidFill>
              <a:srgbClr val="1F4E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850" b="1">
                  <a:solidFill>
                    <a:srgbClr val="FFFFFF"/>
                  </a:solidFill>
                  <a:latin typeface="맑은 고딕"/>
                  <a:ea typeface="맑은 고딕"/>
                </a:rPr>
                <a:t>DRAM</a:t>
              </a:r>
            </a:p>
          </p:txBody>
        </p:sp>
        <p:sp>
          <p:nvSpPr>
            <p:cNvPr id="144" name="Rounded Rectangle 143"/>
            <p:cNvSpPr/>
            <p:nvPr/>
          </p:nvSpPr>
          <p:spPr>
            <a:xfrm>
              <a:off x="6336792" y="2807208"/>
              <a:ext cx="411480" cy="914400"/>
            </a:xfrm>
            <a:prstGeom prst="roundRect">
              <a:avLst>
                <a:gd name="adj" fmla="val 12000"/>
              </a:avLst>
            </a:prstGeom>
            <a:solidFill>
              <a:srgbClr val="3A3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850" b="1">
                  <a:solidFill>
                    <a:srgbClr val="FFFFFF"/>
                  </a:solidFill>
                  <a:latin typeface="맑은 고딕"/>
                  <a:ea typeface="맑은 고딕"/>
                </a:rPr>
                <a:t>NAND</a:t>
              </a:r>
            </a:p>
          </p:txBody>
        </p:sp>
        <p:sp>
          <p:nvSpPr>
            <p:cNvPr id="145" name="Rounded Rectangle 144"/>
            <p:cNvSpPr/>
            <p:nvPr/>
          </p:nvSpPr>
          <p:spPr>
            <a:xfrm>
              <a:off x="6812280" y="1755648"/>
              <a:ext cx="1618488" cy="914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t"/>
            <a:lstStyle/>
            <a:p>
              <a:pPr algn="l"/>
              <a:r>
                <a:rPr sz="1100" b="1">
                  <a:solidFill>
                    <a:srgbClr val="1F4E9C"/>
                  </a:solidFill>
                  <a:latin typeface="맑은 고딕"/>
                  <a:ea typeface="맑은 고딕"/>
                </a:rPr>
                <a:t>cHBM</a:t>
              </a:r>
            </a:p>
            <a:p>
              <a:pPr algn="l"/>
              <a:r>
                <a:rPr sz="850" b="0">
                  <a:solidFill>
                    <a:srgbClr val="7F7F7F"/>
                  </a:solidFill>
                  <a:latin typeface="맑은 고딕"/>
                  <a:ea typeface="맑은 고딕"/>
                </a:rPr>
                <a:t>D2D · Base die 내 MC 통합</a:t>
              </a:r>
            </a:p>
            <a:p>
              <a:pPr algn="l"/>
              <a:r>
                <a:rPr sz="850" b="1">
                  <a:solidFill>
                    <a:srgbClr val="E46C0A"/>
                  </a:solidFill>
                  <a:latin typeface="맑은 고딕"/>
                  <a:ea typeface="맑은 고딕"/>
                </a:rPr>
                <a:t>SW ▶ 맞춤 로직 기능 활용 I/F</a:t>
              </a:r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8494776" y="1755648"/>
              <a:ext cx="1618488" cy="914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t"/>
            <a:lstStyle/>
            <a:p>
              <a:pPr algn="l"/>
              <a:r>
                <a:rPr sz="1100" b="1">
                  <a:solidFill>
                    <a:srgbClr val="1F4E9C"/>
                  </a:solidFill>
                  <a:latin typeface="맑은 고딕"/>
                  <a:ea typeface="맑은 고딕"/>
                </a:rPr>
                <a:t>ScHBM</a:t>
              </a:r>
            </a:p>
            <a:p>
              <a:pPr algn="l"/>
              <a:r>
                <a:rPr sz="850" b="0">
                  <a:solidFill>
                    <a:srgbClr val="7F7F7F"/>
                  </a:solidFill>
                  <a:latin typeface="맑은 고딕"/>
                  <a:ea typeface="맑은 고딕"/>
                </a:rPr>
                <a:t>구성 가변 (4x4/2x2/1x1), PE · IO-die</a:t>
              </a:r>
            </a:p>
            <a:p>
              <a:pPr algn="l"/>
              <a:r>
                <a:rPr sz="850" b="1">
                  <a:solidFill>
                    <a:srgbClr val="E46C0A"/>
                  </a:solidFill>
                  <a:latin typeface="맑은 고딕"/>
                  <a:ea typeface="맑은 고딕"/>
                </a:rPr>
                <a:t>SW ▶ 구성별 BW/용량 인식 배치</a:t>
              </a:r>
            </a:p>
          </p:txBody>
        </p:sp>
        <p:sp>
          <p:nvSpPr>
            <p:cNvPr id="147" name="Rounded Rectangle 146"/>
            <p:cNvSpPr/>
            <p:nvPr/>
          </p:nvSpPr>
          <p:spPr>
            <a:xfrm>
              <a:off x="10177272" y="1755648"/>
              <a:ext cx="1618488" cy="914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t"/>
            <a:lstStyle/>
            <a:p>
              <a:pPr algn="l"/>
              <a:r>
                <a:rPr sz="1100" b="1">
                  <a:solidFill>
                    <a:srgbClr val="1F4E9C"/>
                  </a:solidFill>
                  <a:latin typeface="맑은 고딕"/>
                  <a:ea typeface="맑은 고딕"/>
                </a:rPr>
                <a:t>zHBM</a:t>
              </a:r>
            </a:p>
            <a:p>
              <a:pPr algn="l"/>
              <a:r>
                <a:rPr sz="850" b="0">
                  <a:solidFill>
                    <a:srgbClr val="7F7F7F"/>
                  </a:solidFill>
                  <a:latin typeface="맑은 고딕"/>
                  <a:ea typeface="맑은 고딕"/>
                </a:rPr>
                <a:t>3D-IC · 초고대역 · 저용량</a:t>
              </a:r>
            </a:p>
            <a:p>
              <a:pPr algn="l"/>
              <a:r>
                <a:rPr sz="850" b="1">
                  <a:solidFill>
                    <a:srgbClr val="E46C0A"/>
                  </a:solidFill>
                  <a:latin typeface="맑은 고딕"/>
                  <a:ea typeface="맑은 고딕"/>
                </a:rPr>
                <a:t>SW ▶ BW-bound 데이터 선별 배치</a:t>
              </a:r>
            </a:p>
          </p:txBody>
        </p:sp>
        <p:sp>
          <p:nvSpPr>
            <p:cNvPr id="148" name="Rounded Rectangle 147"/>
            <p:cNvSpPr/>
            <p:nvPr/>
          </p:nvSpPr>
          <p:spPr>
            <a:xfrm>
              <a:off x="6812280" y="2807208"/>
              <a:ext cx="1618488" cy="914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t"/>
            <a:lstStyle/>
            <a:p>
              <a:pPr algn="l"/>
              <a:r>
                <a:rPr sz="1100" b="1">
                  <a:solidFill>
                    <a:srgbClr val="3A3A3A"/>
                  </a:solidFill>
                  <a:latin typeface="맑은 고딕"/>
                  <a:ea typeface="맑은 고딕"/>
                </a:rPr>
                <a:t>zNAND</a:t>
              </a:r>
            </a:p>
            <a:p>
              <a:pPr algn="l"/>
              <a:r>
                <a:rPr sz="850" b="0">
                  <a:solidFill>
                    <a:srgbClr val="7F7F7F"/>
                  </a:solidFill>
                  <a:latin typeface="맑은 고딕"/>
                  <a:ea typeface="맑은 고딕"/>
                </a:rPr>
                <a:t>저지연 NAND (tR ~1–10µs)</a:t>
              </a:r>
            </a:p>
            <a:p>
              <a:pPr algn="l"/>
              <a:r>
                <a:rPr sz="850" b="1">
                  <a:solidFill>
                    <a:srgbClr val="E46C0A"/>
                  </a:solidFill>
                  <a:latin typeface="맑은 고딕"/>
                  <a:ea typeface="맑은 고딕"/>
                </a:rPr>
                <a:t>SW ▶ KV Offload 신규 Tier</a:t>
              </a:r>
            </a:p>
          </p:txBody>
        </p:sp>
        <p:sp>
          <p:nvSpPr>
            <p:cNvPr id="149" name="Rounded Rectangle 148"/>
            <p:cNvSpPr/>
            <p:nvPr/>
          </p:nvSpPr>
          <p:spPr>
            <a:xfrm>
              <a:off x="8494776" y="2807208"/>
              <a:ext cx="1618488" cy="914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t"/>
            <a:lstStyle/>
            <a:p>
              <a:pPr algn="l"/>
              <a:r>
                <a:rPr sz="1100" b="1">
                  <a:solidFill>
                    <a:srgbClr val="3A3A3A"/>
                  </a:solidFill>
                  <a:latin typeface="맑은 고딕"/>
                  <a:ea typeface="맑은 고딕"/>
                </a:rPr>
                <a:t>HBF</a:t>
              </a:r>
            </a:p>
            <a:p>
              <a:pPr algn="l"/>
              <a:r>
                <a:rPr sz="850" b="0">
                  <a:solidFill>
                    <a:srgbClr val="7F7F7F"/>
                  </a:solidFill>
                  <a:latin typeface="맑은 고딕"/>
                  <a:ea typeface="맑은 고딕"/>
                </a:rPr>
                <a:t>대용량 (tR ~1–10µs)</a:t>
              </a:r>
            </a:p>
            <a:p>
              <a:pPr algn="l"/>
              <a:r>
                <a:rPr sz="850" b="1">
                  <a:solidFill>
                    <a:srgbClr val="E46C0A"/>
                  </a:solidFill>
                  <a:latin typeface="맑은 고딕"/>
                  <a:ea typeface="맑은 고딕"/>
                </a:rPr>
                <a:t>SW ▶ Weight·공유 KV 배치, 쓰기 수명 고려</a:t>
              </a:r>
            </a:p>
          </p:txBody>
        </p:sp>
        <p:sp>
          <p:nvSpPr>
            <p:cNvPr id="150" name="Rounded Rectangle 149"/>
            <p:cNvSpPr/>
            <p:nvPr/>
          </p:nvSpPr>
          <p:spPr>
            <a:xfrm>
              <a:off x="10177272" y="2807208"/>
              <a:ext cx="1618488" cy="914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64008" rIns="64008" bIns="64008" rtlCol="0" anchor="t"/>
            <a:lstStyle/>
            <a:p>
              <a:pPr algn="l"/>
              <a:r>
                <a:rPr sz="1100" b="1">
                  <a:solidFill>
                    <a:srgbClr val="3A3A3A"/>
                  </a:solidFill>
                  <a:latin typeface="맑은 고딕"/>
                  <a:ea typeface="맑은 고딕"/>
                </a:rPr>
                <a:t>SSD-PIM</a:t>
              </a:r>
            </a:p>
            <a:p>
              <a:pPr algn="l"/>
              <a:r>
                <a:rPr sz="850" b="0">
                  <a:solidFill>
                    <a:srgbClr val="7F7F7F"/>
                  </a:solidFill>
                  <a:latin typeface="맑은 고딕"/>
                  <a:ea typeface="맑은 고딕"/>
                </a:rPr>
                <a:t>Vector DB 가속 (tR ~30µs)</a:t>
              </a:r>
            </a:p>
            <a:p>
              <a:pPr algn="l"/>
              <a:r>
                <a:rPr sz="850" b="1">
                  <a:solidFill>
                    <a:srgbClr val="E46C0A"/>
                  </a:solidFill>
                  <a:latin typeface="맑은 고딕"/>
                  <a:ea typeface="맑은 고딕"/>
                </a:rPr>
                <a:t>SW ▶ RAG·장기 메모리 검색 Offload</a:t>
              </a:r>
            </a:p>
          </p:txBody>
        </p:sp>
      </p:grpSp>
      <p:grpSp>
        <p:nvGrpSpPr>
          <p:cNvPr id="7" name="Fig_유연한런타임"/>
          <p:cNvGrpSpPr/>
          <p:nvPr/>
        </p:nvGrpSpPr>
        <p:grpSpPr>
          <a:xfrm>
            <a:off x="6400800" y="4370832"/>
            <a:ext cx="5440680" cy="1837944"/>
            <a:chOff x="6400800" y="4370832"/>
            <a:chExt cx="5440680" cy="1837944"/>
          </a:xfrm>
        </p:grpSpPr>
        <p:sp>
          <p:nvSpPr>
            <p:cNvPr id="151" name="TextBox 150"/>
            <p:cNvSpPr txBox="1"/>
            <p:nvPr/>
          </p:nvSpPr>
          <p:spPr>
            <a:xfrm>
              <a:off x="6400800" y="4370832"/>
              <a:ext cx="2468880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1" dirty="0" err="1">
                  <a:solidFill>
                    <a:srgbClr val="3A3A3A"/>
                  </a:solidFill>
                  <a:latin typeface="맑은 고딕"/>
                  <a:ea typeface="맑은 고딕"/>
                </a:rPr>
                <a:t>기존</a:t>
              </a:r>
              <a:r>
                <a:rPr sz="850" b="1" dirty="0">
                  <a:solidFill>
                    <a:srgbClr val="3A3A3A"/>
                  </a:solidFill>
                  <a:latin typeface="맑은 고딕"/>
                  <a:ea typeface="맑은 고딕"/>
                </a:rPr>
                <a:t>: </a:t>
              </a:r>
              <a:r>
                <a:rPr sz="850" b="1" dirty="0" err="1">
                  <a:solidFill>
                    <a:srgbClr val="3A3A3A"/>
                  </a:solidFill>
                  <a:latin typeface="맑은 고딕"/>
                  <a:ea typeface="맑은 고딕"/>
                </a:rPr>
                <a:t>메모리마다</a:t>
              </a:r>
              <a:r>
                <a:rPr sz="850" b="1" dirty="0">
                  <a:solidFill>
                    <a:srgbClr val="3A3A3A"/>
                  </a:solidFill>
                  <a:latin typeface="맑은 고딕"/>
                  <a:ea typeface="맑은 고딕"/>
                </a:rPr>
                <a:t> SW Stack </a:t>
              </a:r>
              <a:r>
                <a:rPr sz="850" b="1" dirty="0" err="1">
                  <a:solidFill>
                    <a:srgbClr val="3A3A3A"/>
                  </a:solidFill>
                  <a:latin typeface="맑은 고딕"/>
                  <a:ea typeface="맑은 고딕"/>
                </a:rPr>
                <a:t>개별</a:t>
              </a:r>
              <a:r>
                <a:rPr sz="850" b="1" dirty="0">
                  <a:solidFill>
                    <a:srgbClr val="3A3A3A"/>
                  </a:solidFill>
                  <a:latin typeface="맑은 고딕"/>
                  <a:ea typeface="맑은 고딕"/>
                </a:rPr>
                <a:t> </a:t>
              </a:r>
              <a:r>
                <a:rPr sz="850" b="1" dirty="0" err="1">
                  <a:solidFill>
                    <a:srgbClr val="3A3A3A"/>
                  </a:solidFill>
                  <a:latin typeface="맑은 고딕"/>
                  <a:ea typeface="맑은 고딕"/>
                </a:rPr>
                <a:t>포팅</a:t>
              </a:r>
              <a:endParaRPr sz="850" b="1" dirty="0">
                <a:solidFill>
                  <a:srgbClr val="3A3A3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2" name="Rounded Rectangle 151"/>
            <p:cNvSpPr/>
            <p:nvPr/>
          </p:nvSpPr>
          <p:spPr>
            <a:xfrm>
              <a:off x="6720840" y="4663440"/>
              <a:ext cx="548640" cy="274320"/>
            </a:xfrm>
            <a:prstGeom prst="roundRect">
              <a:avLst>
                <a:gd name="adj" fmla="val 12000"/>
              </a:avLst>
            </a:prstGeom>
            <a:solidFill>
              <a:srgbClr val="DCE6F4"/>
            </a:solidFill>
            <a:ln w="9525">
              <a:solidFill>
                <a:srgbClr val="1F4E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750" b="1">
                  <a:solidFill>
                    <a:srgbClr val="3A3A3A"/>
                  </a:solidFill>
                  <a:latin typeface="맑은 고딕"/>
                  <a:ea typeface="맑은 고딕"/>
                </a:rPr>
                <a:t>vLLM</a:t>
              </a:r>
            </a:p>
          </p:txBody>
        </p:sp>
        <p:sp>
          <p:nvSpPr>
            <p:cNvPr id="153" name="Rounded Rectangle 152"/>
            <p:cNvSpPr/>
            <p:nvPr/>
          </p:nvSpPr>
          <p:spPr>
            <a:xfrm>
              <a:off x="7360919" y="4663440"/>
              <a:ext cx="548640" cy="274320"/>
            </a:xfrm>
            <a:prstGeom prst="roundRect">
              <a:avLst>
                <a:gd name="adj" fmla="val 12000"/>
              </a:avLst>
            </a:prstGeom>
            <a:solidFill>
              <a:srgbClr val="DCE6F4"/>
            </a:solidFill>
            <a:ln w="9525">
              <a:solidFill>
                <a:srgbClr val="1F4E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750" b="1">
                  <a:solidFill>
                    <a:srgbClr val="3A3A3A"/>
                  </a:solidFill>
                  <a:latin typeface="맑은 고딕"/>
                  <a:ea typeface="맑은 고딕"/>
                </a:rPr>
                <a:t>SGLang</a:t>
              </a:r>
            </a:p>
          </p:txBody>
        </p:sp>
        <p:sp>
          <p:nvSpPr>
            <p:cNvPr id="154" name="Rounded Rectangle 153"/>
            <p:cNvSpPr/>
            <p:nvPr/>
          </p:nvSpPr>
          <p:spPr>
            <a:xfrm>
              <a:off x="8001000" y="4663440"/>
              <a:ext cx="548640" cy="274320"/>
            </a:xfrm>
            <a:prstGeom prst="roundRect">
              <a:avLst>
                <a:gd name="adj" fmla="val 12000"/>
              </a:avLst>
            </a:prstGeom>
            <a:solidFill>
              <a:srgbClr val="DCE6F4"/>
            </a:solidFill>
            <a:ln w="9525">
              <a:solidFill>
                <a:srgbClr val="1F4E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750" b="1">
                  <a:solidFill>
                    <a:srgbClr val="3A3A3A"/>
                  </a:solidFill>
                  <a:latin typeface="맑은 고딕"/>
                  <a:ea typeface="맑은 고딕"/>
                </a:rPr>
                <a:t>자체 FW</a:t>
              </a:r>
            </a:p>
          </p:txBody>
        </p:sp>
        <p:sp>
          <p:nvSpPr>
            <p:cNvPr id="155" name="Rounded Rectangle 154"/>
            <p:cNvSpPr/>
            <p:nvPr/>
          </p:nvSpPr>
          <p:spPr>
            <a:xfrm>
              <a:off x="6400800" y="5669280"/>
              <a:ext cx="548640" cy="27432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750" b="1">
                  <a:solidFill>
                    <a:srgbClr val="3A3A3A"/>
                  </a:solidFill>
                  <a:latin typeface="맑은 고딕"/>
                  <a:ea typeface="맑은 고딕"/>
                </a:rPr>
                <a:t>HBM</a:t>
              </a:r>
            </a:p>
          </p:txBody>
        </p:sp>
        <p:sp>
          <p:nvSpPr>
            <p:cNvPr id="156" name="Rounded Rectangle 155"/>
            <p:cNvSpPr/>
            <p:nvPr/>
          </p:nvSpPr>
          <p:spPr>
            <a:xfrm>
              <a:off x="7040880" y="5669280"/>
              <a:ext cx="548640" cy="27432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750" b="1">
                  <a:solidFill>
                    <a:srgbClr val="3A3A3A"/>
                  </a:solidFill>
                  <a:latin typeface="맑은 고딕"/>
                  <a:ea typeface="맑은 고딕"/>
                </a:rPr>
                <a:t>HBF</a:t>
              </a:r>
            </a:p>
          </p:txBody>
        </p:sp>
        <p:sp>
          <p:nvSpPr>
            <p:cNvPr id="157" name="Rounded Rectangle 156"/>
            <p:cNvSpPr/>
            <p:nvPr/>
          </p:nvSpPr>
          <p:spPr>
            <a:xfrm>
              <a:off x="7680960" y="5669280"/>
              <a:ext cx="548640" cy="27432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750" b="1">
                  <a:solidFill>
                    <a:srgbClr val="3A3A3A"/>
                  </a:solidFill>
                  <a:latin typeface="맑은 고딕"/>
                  <a:ea typeface="맑은 고딕"/>
                </a:rPr>
                <a:t>zNAND</a:t>
              </a:r>
            </a:p>
          </p:txBody>
        </p:sp>
        <p:sp>
          <p:nvSpPr>
            <p:cNvPr id="158" name="Rounded Rectangle 157"/>
            <p:cNvSpPr/>
            <p:nvPr/>
          </p:nvSpPr>
          <p:spPr>
            <a:xfrm>
              <a:off x="8321040" y="5669280"/>
              <a:ext cx="548640" cy="27432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750" b="1">
                  <a:solidFill>
                    <a:srgbClr val="3A3A3A"/>
                  </a:solidFill>
                  <a:latin typeface="맑은 고딕"/>
                  <a:ea typeface="맑은 고딕"/>
                </a:rPr>
                <a:t>SSD-PIM</a:t>
              </a:r>
            </a:p>
          </p:txBody>
        </p:sp>
        <p:cxnSp>
          <p:nvCxnSpPr>
            <p:cNvPr id="159" name="Connector 158"/>
            <p:cNvCxnSpPr/>
            <p:nvPr/>
          </p:nvCxnSpPr>
          <p:spPr>
            <a:xfrm flipH="1">
              <a:off x="6675120" y="4937760"/>
              <a:ext cx="320039" cy="731520"/>
            </a:xfrm>
            <a:prstGeom prst="line">
              <a:avLst/>
            </a:prstGeom>
            <a:ln w="762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or 159"/>
            <p:cNvCxnSpPr/>
            <p:nvPr/>
          </p:nvCxnSpPr>
          <p:spPr>
            <a:xfrm>
              <a:off x="6995159" y="4937760"/>
              <a:ext cx="320041" cy="731520"/>
            </a:xfrm>
            <a:prstGeom prst="line">
              <a:avLst/>
            </a:prstGeom>
            <a:ln w="762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or 160"/>
            <p:cNvCxnSpPr/>
            <p:nvPr/>
          </p:nvCxnSpPr>
          <p:spPr>
            <a:xfrm>
              <a:off x="6995159" y="4937760"/>
              <a:ext cx="960121" cy="731520"/>
            </a:xfrm>
            <a:prstGeom prst="line">
              <a:avLst/>
            </a:prstGeom>
            <a:ln w="762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or 161"/>
            <p:cNvCxnSpPr/>
            <p:nvPr/>
          </p:nvCxnSpPr>
          <p:spPr>
            <a:xfrm>
              <a:off x="6995159" y="4937760"/>
              <a:ext cx="1600201" cy="731520"/>
            </a:xfrm>
            <a:prstGeom prst="line">
              <a:avLst/>
            </a:prstGeom>
            <a:ln w="762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or 162"/>
            <p:cNvCxnSpPr/>
            <p:nvPr/>
          </p:nvCxnSpPr>
          <p:spPr>
            <a:xfrm flipH="1">
              <a:off x="6675120" y="4937760"/>
              <a:ext cx="960120" cy="731520"/>
            </a:xfrm>
            <a:prstGeom prst="line">
              <a:avLst/>
            </a:prstGeom>
            <a:ln w="762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or 163"/>
            <p:cNvCxnSpPr/>
            <p:nvPr/>
          </p:nvCxnSpPr>
          <p:spPr>
            <a:xfrm flipH="1">
              <a:off x="7315200" y="4937760"/>
              <a:ext cx="320040" cy="731520"/>
            </a:xfrm>
            <a:prstGeom prst="line">
              <a:avLst/>
            </a:prstGeom>
            <a:ln w="762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or 164"/>
            <p:cNvCxnSpPr/>
            <p:nvPr/>
          </p:nvCxnSpPr>
          <p:spPr>
            <a:xfrm>
              <a:off x="7635240" y="4937760"/>
              <a:ext cx="320040" cy="731520"/>
            </a:xfrm>
            <a:prstGeom prst="line">
              <a:avLst/>
            </a:prstGeom>
            <a:ln w="762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ctor 165"/>
            <p:cNvCxnSpPr/>
            <p:nvPr/>
          </p:nvCxnSpPr>
          <p:spPr>
            <a:xfrm>
              <a:off x="7635240" y="4937760"/>
              <a:ext cx="960120" cy="731520"/>
            </a:xfrm>
            <a:prstGeom prst="line">
              <a:avLst/>
            </a:prstGeom>
            <a:ln w="762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or 166"/>
            <p:cNvCxnSpPr/>
            <p:nvPr/>
          </p:nvCxnSpPr>
          <p:spPr>
            <a:xfrm flipH="1">
              <a:off x="6675120" y="4937760"/>
              <a:ext cx="1600200" cy="731520"/>
            </a:xfrm>
            <a:prstGeom prst="line">
              <a:avLst/>
            </a:prstGeom>
            <a:ln w="762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or 167"/>
            <p:cNvCxnSpPr/>
            <p:nvPr/>
          </p:nvCxnSpPr>
          <p:spPr>
            <a:xfrm flipH="1">
              <a:off x="7315200" y="4937760"/>
              <a:ext cx="960120" cy="731520"/>
            </a:xfrm>
            <a:prstGeom prst="line">
              <a:avLst/>
            </a:prstGeom>
            <a:ln w="762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68"/>
            <p:cNvCxnSpPr/>
            <p:nvPr/>
          </p:nvCxnSpPr>
          <p:spPr>
            <a:xfrm flipH="1">
              <a:off x="7955280" y="4937760"/>
              <a:ext cx="320040" cy="731520"/>
            </a:xfrm>
            <a:prstGeom prst="line">
              <a:avLst/>
            </a:prstGeom>
            <a:ln w="762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69"/>
            <p:cNvCxnSpPr/>
            <p:nvPr/>
          </p:nvCxnSpPr>
          <p:spPr>
            <a:xfrm>
              <a:off x="8275320" y="4937760"/>
              <a:ext cx="320040" cy="731520"/>
            </a:xfrm>
            <a:prstGeom prst="line">
              <a:avLst/>
            </a:prstGeom>
            <a:ln w="762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TextBox 170"/>
            <p:cNvSpPr txBox="1"/>
            <p:nvPr/>
          </p:nvSpPr>
          <p:spPr>
            <a:xfrm>
              <a:off x="6400800" y="5989320"/>
              <a:ext cx="2468880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C00000"/>
                  </a:solidFill>
                  <a:latin typeface="맑은 고딕"/>
                  <a:ea typeface="맑은 고딕"/>
                </a:rPr>
                <a:t>통합 비용 ∝ N × M</a:t>
              </a:r>
            </a:p>
          </p:txBody>
        </p:sp>
        <p:sp>
          <p:nvSpPr>
            <p:cNvPr id="172" name="Right Arrow 171"/>
            <p:cNvSpPr/>
            <p:nvPr/>
          </p:nvSpPr>
          <p:spPr>
            <a:xfrm>
              <a:off x="8942832" y="5074920"/>
              <a:ext cx="292608" cy="365760"/>
            </a:xfrm>
            <a:prstGeom prst="rightArrow">
              <a:avLst/>
            </a:prstGeom>
            <a:solidFill>
              <a:srgbClr val="E46C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endParaRPr/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9326880" y="4370832"/>
              <a:ext cx="2514600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1">
                  <a:solidFill>
                    <a:srgbClr val="3A3A3A"/>
                  </a:solidFill>
                  <a:latin typeface="맑은 고딕"/>
                  <a:ea typeface="맑은 고딕"/>
                </a:rPr>
                <a:t>유연한 런타임: 공통 추상화 + Plug-in</a:t>
              </a:r>
            </a:p>
          </p:txBody>
        </p:sp>
        <p:sp>
          <p:nvSpPr>
            <p:cNvPr id="174" name="Rounded Rectangle 173"/>
            <p:cNvSpPr/>
            <p:nvPr/>
          </p:nvSpPr>
          <p:spPr>
            <a:xfrm>
              <a:off x="9665207" y="4663440"/>
              <a:ext cx="548640" cy="274320"/>
            </a:xfrm>
            <a:prstGeom prst="roundRect">
              <a:avLst>
                <a:gd name="adj" fmla="val 12000"/>
              </a:avLst>
            </a:prstGeom>
            <a:solidFill>
              <a:srgbClr val="DCE6F4"/>
            </a:solidFill>
            <a:ln w="9525">
              <a:solidFill>
                <a:srgbClr val="1F4E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750" b="1">
                  <a:solidFill>
                    <a:srgbClr val="3A3A3A"/>
                  </a:solidFill>
                  <a:latin typeface="맑은 고딕"/>
                  <a:ea typeface="맑은 고딕"/>
                </a:rPr>
                <a:t>vLLM</a:t>
              </a:r>
            </a:p>
          </p:txBody>
        </p:sp>
        <p:sp>
          <p:nvSpPr>
            <p:cNvPr id="175" name="Rounded Rectangle 174"/>
            <p:cNvSpPr/>
            <p:nvPr/>
          </p:nvSpPr>
          <p:spPr>
            <a:xfrm>
              <a:off x="10305287" y="4663440"/>
              <a:ext cx="548640" cy="274320"/>
            </a:xfrm>
            <a:prstGeom prst="roundRect">
              <a:avLst>
                <a:gd name="adj" fmla="val 12000"/>
              </a:avLst>
            </a:prstGeom>
            <a:solidFill>
              <a:srgbClr val="DCE6F4"/>
            </a:solidFill>
            <a:ln w="9525">
              <a:solidFill>
                <a:srgbClr val="1F4E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750" b="1">
                  <a:solidFill>
                    <a:srgbClr val="3A3A3A"/>
                  </a:solidFill>
                  <a:latin typeface="맑은 고딕"/>
                  <a:ea typeface="맑은 고딕"/>
                </a:rPr>
                <a:t>SGLang</a:t>
              </a:r>
            </a:p>
          </p:txBody>
        </p:sp>
        <p:sp>
          <p:nvSpPr>
            <p:cNvPr id="176" name="Rounded Rectangle 175"/>
            <p:cNvSpPr/>
            <p:nvPr/>
          </p:nvSpPr>
          <p:spPr>
            <a:xfrm>
              <a:off x="10945367" y="4663440"/>
              <a:ext cx="548640" cy="274320"/>
            </a:xfrm>
            <a:prstGeom prst="roundRect">
              <a:avLst>
                <a:gd name="adj" fmla="val 12000"/>
              </a:avLst>
            </a:prstGeom>
            <a:solidFill>
              <a:srgbClr val="DCE6F4"/>
            </a:solidFill>
            <a:ln w="9525">
              <a:solidFill>
                <a:srgbClr val="1F4E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750" b="1">
                  <a:solidFill>
                    <a:srgbClr val="3A3A3A"/>
                  </a:solidFill>
                  <a:latin typeface="맑은 고딕"/>
                  <a:ea typeface="맑은 고딕"/>
                </a:rPr>
                <a:t>자체 FW</a:t>
              </a:r>
            </a:p>
          </p:txBody>
        </p:sp>
        <p:sp>
          <p:nvSpPr>
            <p:cNvPr id="177" name="Rounded Rectangle 176"/>
            <p:cNvSpPr/>
            <p:nvPr/>
          </p:nvSpPr>
          <p:spPr>
            <a:xfrm>
              <a:off x="9326880" y="5120640"/>
              <a:ext cx="2514600" cy="347472"/>
            </a:xfrm>
            <a:prstGeom prst="roundRect">
              <a:avLst>
                <a:gd name="adj" fmla="val 12000"/>
              </a:avLst>
            </a:prstGeom>
            <a:solidFill>
              <a:srgbClr val="3A3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850" b="1">
                  <a:solidFill>
                    <a:srgbClr val="FFFFFF"/>
                  </a:solidFill>
                  <a:latin typeface="맑은 고딕"/>
                  <a:ea typeface="맑은 고딕"/>
                </a:rPr>
                <a:t>AI Runtime 메모리 추상화 계층</a:t>
              </a:r>
            </a:p>
            <a:p>
              <a:pPr algn="ctr"/>
              <a:r>
                <a:rPr sz="650" b="0">
                  <a:solidFill>
                    <a:srgbClr val="FFFFFF"/>
                  </a:solidFill>
                  <a:latin typeface="맑은 고딕"/>
                  <a:ea typeface="맑은 고딕"/>
                </a:rPr>
                <a:t>Tier 속성 기술 · 배치 정책 · 연산 Offload API</a:t>
              </a:r>
            </a:p>
          </p:txBody>
        </p:sp>
        <p:sp>
          <p:nvSpPr>
            <p:cNvPr id="178" name="Rounded Rectangle 177"/>
            <p:cNvSpPr/>
            <p:nvPr/>
          </p:nvSpPr>
          <p:spPr>
            <a:xfrm>
              <a:off x="9326880" y="5669280"/>
              <a:ext cx="566928" cy="27432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750" b="1">
                  <a:solidFill>
                    <a:srgbClr val="3A3A3A"/>
                  </a:solidFill>
                  <a:latin typeface="맑은 고딕"/>
                  <a:ea typeface="맑은 고딕"/>
                </a:rPr>
                <a:t>HBM</a:t>
              </a:r>
            </a:p>
          </p:txBody>
        </p:sp>
        <p:sp>
          <p:nvSpPr>
            <p:cNvPr id="179" name="Rounded Rectangle 178"/>
            <p:cNvSpPr/>
            <p:nvPr/>
          </p:nvSpPr>
          <p:spPr>
            <a:xfrm>
              <a:off x="9976104" y="5669280"/>
              <a:ext cx="566928" cy="27432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750" b="1">
                  <a:solidFill>
                    <a:srgbClr val="3A3A3A"/>
                  </a:solidFill>
                  <a:latin typeface="맑은 고딕"/>
                  <a:ea typeface="맑은 고딕"/>
                </a:rPr>
                <a:t>HBF</a:t>
              </a:r>
            </a:p>
          </p:txBody>
        </p:sp>
        <p:sp>
          <p:nvSpPr>
            <p:cNvPr id="180" name="Rounded Rectangle 179"/>
            <p:cNvSpPr/>
            <p:nvPr/>
          </p:nvSpPr>
          <p:spPr>
            <a:xfrm>
              <a:off x="10625328" y="5669280"/>
              <a:ext cx="566928" cy="27432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750" b="1">
                  <a:solidFill>
                    <a:srgbClr val="3A3A3A"/>
                  </a:solidFill>
                  <a:latin typeface="맑은 고딕"/>
                  <a:ea typeface="맑은 고딕"/>
                </a:rPr>
                <a:t>zNAND</a:t>
              </a:r>
            </a:p>
          </p:txBody>
        </p:sp>
        <p:sp>
          <p:nvSpPr>
            <p:cNvPr id="181" name="Rounded Rectangle 180"/>
            <p:cNvSpPr/>
            <p:nvPr/>
          </p:nvSpPr>
          <p:spPr>
            <a:xfrm>
              <a:off x="11274551" y="5669280"/>
              <a:ext cx="566928" cy="274320"/>
            </a:xfrm>
            <a:prstGeom prst="roundRect">
              <a:avLst>
                <a:gd name="adj" fmla="val 12000"/>
              </a:avLst>
            </a:prstGeom>
            <a:solidFill>
              <a:srgbClr val="FCE9DA"/>
            </a:solidFill>
            <a:ln w="9525">
              <a:solidFill>
                <a:srgbClr val="E46C0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9144" rIns="9144" bIns="9144" rtlCol="0" anchor="ctr"/>
            <a:lstStyle/>
            <a:p>
              <a:pPr algn="ctr"/>
              <a:r>
                <a:rPr sz="750" b="1">
                  <a:solidFill>
                    <a:srgbClr val="E46C0A"/>
                  </a:solidFill>
                  <a:latin typeface="맑은 고딕"/>
                  <a:ea typeface="맑은 고딕"/>
                </a:rPr>
                <a:t>New</a:t>
              </a:r>
            </a:p>
          </p:txBody>
        </p:sp>
        <p:cxnSp>
          <p:nvCxnSpPr>
            <p:cNvPr id="182" name="Connector 181"/>
            <p:cNvCxnSpPr/>
            <p:nvPr/>
          </p:nvCxnSpPr>
          <p:spPr>
            <a:xfrm>
              <a:off x="9939528" y="4937760"/>
              <a:ext cx="0" cy="182880"/>
            </a:xfrm>
            <a:prstGeom prst="line">
              <a:avLst/>
            </a:prstGeom>
            <a:ln w="12700">
              <a:solidFill>
                <a:srgbClr val="2E7D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ctor 182"/>
            <p:cNvCxnSpPr/>
            <p:nvPr/>
          </p:nvCxnSpPr>
          <p:spPr>
            <a:xfrm>
              <a:off x="10579607" y="4937760"/>
              <a:ext cx="0" cy="182880"/>
            </a:xfrm>
            <a:prstGeom prst="line">
              <a:avLst/>
            </a:prstGeom>
            <a:ln w="12700">
              <a:solidFill>
                <a:srgbClr val="2E7D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ctor 183"/>
            <p:cNvCxnSpPr/>
            <p:nvPr/>
          </p:nvCxnSpPr>
          <p:spPr>
            <a:xfrm>
              <a:off x="11219688" y="4937760"/>
              <a:ext cx="0" cy="182880"/>
            </a:xfrm>
            <a:prstGeom prst="line">
              <a:avLst/>
            </a:prstGeom>
            <a:ln w="12700">
              <a:solidFill>
                <a:srgbClr val="2E7D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ctor 184"/>
            <p:cNvCxnSpPr/>
            <p:nvPr/>
          </p:nvCxnSpPr>
          <p:spPr>
            <a:xfrm>
              <a:off x="9610344" y="5468112"/>
              <a:ext cx="0" cy="201168"/>
            </a:xfrm>
            <a:prstGeom prst="line">
              <a:avLst/>
            </a:prstGeom>
            <a:ln w="12700">
              <a:solidFill>
                <a:srgbClr val="2E7D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>
              <a:off x="10259568" y="5468112"/>
              <a:ext cx="0" cy="201168"/>
            </a:xfrm>
            <a:prstGeom prst="line">
              <a:avLst/>
            </a:prstGeom>
            <a:ln w="12700">
              <a:solidFill>
                <a:srgbClr val="2E7D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>
              <a:off x="10908792" y="5468112"/>
              <a:ext cx="0" cy="201168"/>
            </a:xfrm>
            <a:prstGeom prst="line">
              <a:avLst/>
            </a:prstGeom>
            <a:ln w="12700">
              <a:solidFill>
                <a:srgbClr val="2E7D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 187"/>
            <p:cNvCxnSpPr/>
            <p:nvPr/>
          </p:nvCxnSpPr>
          <p:spPr>
            <a:xfrm>
              <a:off x="11558015" y="5468112"/>
              <a:ext cx="0" cy="201168"/>
            </a:xfrm>
            <a:prstGeom prst="line">
              <a:avLst/>
            </a:prstGeom>
            <a:ln w="12700">
              <a:solidFill>
                <a:srgbClr val="2E7D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/>
            <p:cNvSpPr txBox="1"/>
            <p:nvPr/>
          </p:nvSpPr>
          <p:spPr>
            <a:xfrm>
              <a:off x="9326880" y="5989320"/>
              <a:ext cx="2514600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2E7D32"/>
                  </a:solidFill>
                  <a:latin typeface="맑은 고딕"/>
                  <a:ea typeface="맑은 고딕"/>
                </a:rPr>
                <a:t>통합 비용 ∝ N + M → 신규 메모리 신속 적용</a:t>
              </a:r>
            </a:p>
          </p:txBody>
        </p:sp>
      </p:grp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AF6FD381-696F-433D-B8DB-0580255D9696}"/>
              </a:ext>
            </a:extLst>
          </p:cNvPr>
          <p:cNvCxnSpPr/>
          <p:nvPr/>
        </p:nvCxnSpPr>
        <p:spPr>
          <a:xfrm>
            <a:off x="8021412" y="457199"/>
            <a:ext cx="14273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5B1A3632-2604-4693-9F92-E34D10F159A7}"/>
              </a:ext>
            </a:extLst>
          </p:cNvPr>
          <p:cNvCxnSpPr/>
          <p:nvPr/>
        </p:nvCxnSpPr>
        <p:spPr>
          <a:xfrm>
            <a:off x="8230299" y="457199"/>
            <a:ext cx="142735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1B29BAB8-9699-49B7-95CD-9C9F15C8901A}"/>
              </a:ext>
            </a:extLst>
          </p:cNvPr>
          <p:cNvCxnSpPr/>
          <p:nvPr/>
        </p:nvCxnSpPr>
        <p:spPr>
          <a:xfrm>
            <a:off x="8439186" y="457199"/>
            <a:ext cx="142735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FB3AAD23-6520-4087-9165-E2DDA236DB26}"/>
              </a:ext>
            </a:extLst>
          </p:cNvPr>
          <p:cNvCxnSpPr/>
          <p:nvPr/>
        </p:nvCxnSpPr>
        <p:spPr>
          <a:xfrm>
            <a:off x="8648075" y="457199"/>
            <a:ext cx="142735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27" name="기존 런타임 한계 그림"/>
          <p:cNvGrpSpPr/>
          <p:nvPr/>
        </p:nvGrpSpPr>
        <p:grpSpPr>
          <a:xfrm>
            <a:off x="420000" y="4370000"/>
            <a:ext cx="5550000" cy="1910000"/>
            <a:chOff x="420000" y="4370000"/>
            <a:chExt cx="5550000" cy="1910000"/>
          </a:xfrm>
        </p:grpSpPr>
        <p:sp>
          <p:nvSpPr>
            <p:cNvPr id="5001" name="Diagram title"/>
            <p:cNvSpPr txBox="1"/>
            <p:nvPr/>
          </p:nvSpPr>
          <p:spPr>
            <a:xfrm>
              <a:off x="420000" y="4370000"/>
              <a:ext cx="5550000" cy="19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850" b="1" dirty="0">
                  <a:solidFill>
                    <a:srgbClr val="3A3A3A"/>
                  </a:solidFill>
                  <a:latin typeface="맑은 고딕"/>
                  <a:ea typeface="맑은 고딕"/>
                </a:rPr>
                <a:t>기존 런타임: 고정된 계층 경로(HBM → DRAM → SSD)로만 데이터 이동</a:t>
              </a:r>
            </a:p>
          </p:txBody>
        </p:sp>
        <p:sp>
          <p:nvSpPr>
            <p:cNvPr id="5002" name="Runtime bar"/>
            <p:cNvSpPr/>
            <p:nvPr/>
          </p:nvSpPr>
          <p:spPr>
            <a:xfrm>
              <a:off x="420000" y="4640000"/>
              <a:ext cx="3100000" cy="370000"/>
            </a:xfrm>
            <a:prstGeom prst="roundRect">
              <a:avLst>
                <a:gd name="adj" fmla="val 12000"/>
              </a:avLst>
            </a:prstGeom>
            <a:solidFill>
              <a:srgbClr val="3A3A3A"/>
            </a:solidFill>
            <a:ln>
              <a:noFill/>
            </a:ln>
          </p:spPr>
          <p:txBody>
            <a:bodyPr wrap="square" lIns="18288" tIns="9144" rIns="18288" bIns="9144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800" b="1" dirty="0">
                  <a:solidFill>
                    <a:srgbClr val="FFFFFF"/>
                  </a:solidFill>
                  <a:latin typeface="맑은 고딕"/>
                  <a:ea typeface="맑은 고딕"/>
                </a:rPr>
                <a:t>기존 AI 런타임 (vLLM · SGLang · 자체 FW)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50" b="0" dirty="0">
                  <a:solidFill>
                    <a:srgbClr val="FFFFFF"/>
                  </a:solidFill>
                  <a:latin typeface="맑은 고딕"/>
                  <a:ea typeface="맑은 고딕"/>
                </a:rPr>
                <a:t>고정 규칙: 용량 부족 시 다음 Tier로 복사 · 오프로딩</a:t>
              </a:r>
            </a:p>
          </p:txBody>
        </p:sp>
        <p:cxnSp>
          <p:nvCxnSpPr>
            <p:cNvPr id="5003" name="Link HBM"/>
            <p:cNvCxnSpPr/>
            <p:nvPr/>
          </p:nvCxnSpPr>
          <p:spPr>
            <a:xfrm>
              <a:off x="810000" y="5010000"/>
              <a:ext cx="0" cy="260000"/>
            </a:xfrm>
            <a:prstGeom prst="line">
              <a:avLst/>
            </a:prstGeom>
            <a:ln w="9525">
              <a:solidFill>
                <a:srgbClr val="3A3A3A"/>
              </a:solidFill>
            </a:ln>
          </p:spPr>
        </p:cxnSp>
        <p:sp>
          <p:nvSpPr>
            <p:cNvPr id="5004" name="Tier HBM"/>
            <p:cNvSpPr/>
            <p:nvPr/>
          </p:nvSpPr>
          <p:spPr>
            <a:xfrm>
              <a:off x="420000" y="5270000"/>
              <a:ext cx="780000" cy="400000"/>
            </a:xfrm>
            <a:prstGeom prst="roundRect">
              <a:avLst>
                <a:gd name="adj" fmla="val 12000"/>
              </a:avLst>
            </a:prstGeom>
            <a:solidFill>
              <a:srgbClr val="DCE6F4"/>
            </a:solidFill>
            <a:ln w="9525">
              <a:solidFill>
                <a:srgbClr val="1F4E9C"/>
              </a:solidFill>
            </a:ln>
          </p:spPr>
          <p:txBody>
            <a:bodyPr wrap="square" lIns="18288" tIns="9144" rIns="18288" bIns="9144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850" b="1" dirty="0">
                  <a:solidFill>
                    <a:srgbClr val="3A3A3A"/>
                  </a:solidFill>
                  <a:latin typeface="맑은 고딕"/>
                  <a:ea typeface="맑은 고딕"/>
                </a:rPr>
                <a:t>HBM</a:t>
              </a:r>
            </a:p>
          </p:txBody>
        </p:sp>
        <p:sp>
          <p:nvSpPr>
            <p:cNvPr id="5005" name="Attr HBM"/>
            <p:cNvSpPr txBox="1"/>
            <p:nvPr/>
          </p:nvSpPr>
          <p:spPr>
            <a:xfrm>
              <a:off x="360000" y="5700000"/>
              <a:ext cx="900000" cy="14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50" b="0" dirty="0">
                  <a:solidFill>
                    <a:srgbClr val="6B7280"/>
                  </a:solidFill>
                  <a:latin typeface="맑은 고딕"/>
                  <a:ea typeface="맑은 고딕"/>
                </a:rPr>
                <a:t>고대역 · 소용량</a:t>
              </a:r>
            </a:p>
          </p:txBody>
        </p:sp>
        <p:cxnSp>
          <p:nvCxnSpPr>
            <p:cNvPr id="5006" name="Fixed path 1"/>
            <p:cNvCxnSpPr/>
            <p:nvPr/>
          </p:nvCxnSpPr>
          <p:spPr>
            <a:xfrm>
              <a:off x="1225000" y="5470000"/>
              <a:ext cx="330000" cy="0"/>
            </a:xfrm>
            <a:prstGeom prst="line">
              <a:avLst/>
            </a:prstGeom>
            <a:ln w="15875">
              <a:solidFill>
                <a:srgbClr val="C00000"/>
              </a:solidFill>
              <a:tailEnd type="triangle" w="med" len="med"/>
            </a:ln>
          </p:spPr>
        </p:cxnSp>
        <p:sp>
          <p:nvSpPr>
            <p:cNvPr id="5007" name="Path label 1"/>
            <p:cNvSpPr txBox="1"/>
            <p:nvPr/>
          </p:nvSpPr>
          <p:spPr>
            <a:xfrm>
              <a:off x="1160000" y="5300000"/>
              <a:ext cx="460000" cy="13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50" b="1" dirty="0">
                  <a:solidFill>
                    <a:srgbClr val="C00000"/>
                  </a:solidFill>
                  <a:latin typeface="맑은 고딕"/>
                  <a:ea typeface="맑은 고딕"/>
                </a:rPr>
                <a:t>Offload</a:t>
              </a:r>
            </a:p>
          </p:txBody>
        </p:sp>
        <p:cxnSp>
          <p:nvCxnSpPr>
            <p:cNvPr id="5008" name="Link DRAM"/>
            <p:cNvCxnSpPr/>
            <p:nvPr/>
          </p:nvCxnSpPr>
          <p:spPr>
            <a:xfrm>
              <a:off x="1970000" y="5010000"/>
              <a:ext cx="0" cy="260000"/>
            </a:xfrm>
            <a:prstGeom prst="line">
              <a:avLst/>
            </a:prstGeom>
            <a:ln w="9525">
              <a:solidFill>
                <a:srgbClr val="3A3A3A"/>
              </a:solidFill>
            </a:ln>
          </p:spPr>
        </p:cxnSp>
        <p:sp>
          <p:nvSpPr>
            <p:cNvPr id="5009" name="Tier DRAM"/>
            <p:cNvSpPr/>
            <p:nvPr/>
          </p:nvSpPr>
          <p:spPr>
            <a:xfrm>
              <a:off x="1580000" y="5270000"/>
              <a:ext cx="780000" cy="40000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9525">
              <a:solidFill>
                <a:srgbClr val="7F7F7F"/>
              </a:solidFill>
            </a:ln>
          </p:spPr>
          <p:txBody>
            <a:bodyPr wrap="square" lIns="18288" tIns="9144" rIns="18288" bIns="9144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850" b="1" dirty="0">
                  <a:solidFill>
                    <a:srgbClr val="3A3A3A"/>
                  </a:solidFill>
                  <a:latin typeface="맑은 고딕"/>
                  <a:ea typeface="맑은 고딕"/>
                </a:rPr>
                <a:t>DRAM</a:t>
              </a:r>
            </a:p>
          </p:txBody>
        </p:sp>
        <p:sp>
          <p:nvSpPr>
            <p:cNvPr id="5010" name="Attr DRAM"/>
            <p:cNvSpPr txBox="1"/>
            <p:nvPr/>
          </p:nvSpPr>
          <p:spPr>
            <a:xfrm>
              <a:off x="1520000" y="5700000"/>
              <a:ext cx="900000" cy="14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50" b="0" dirty="0">
                  <a:solidFill>
                    <a:srgbClr val="6B7280"/>
                  </a:solidFill>
                  <a:latin typeface="맑은 고딕"/>
                  <a:ea typeface="맑은 고딕"/>
                </a:rPr>
                <a:t>중간 대역 · 중간 용량</a:t>
              </a:r>
            </a:p>
          </p:txBody>
        </p:sp>
        <p:cxnSp>
          <p:nvCxnSpPr>
            <p:cNvPr id="5011" name="Fixed path 2"/>
            <p:cNvCxnSpPr/>
            <p:nvPr/>
          </p:nvCxnSpPr>
          <p:spPr>
            <a:xfrm>
              <a:off x="2385000" y="5470000"/>
              <a:ext cx="330000" cy="0"/>
            </a:xfrm>
            <a:prstGeom prst="line">
              <a:avLst/>
            </a:prstGeom>
            <a:ln w="15875">
              <a:solidFill>
                <a:srgbClr val="C00000"/>
              </a:solidFill>
              <a:tailEnd type="triangle" w="med" len="med"/>
            </a:ln>
          </p:spPr>
        </p:cxnSp>
        <p:sp>
          <p:nvSpPr>
            <p:cNvPr id="5012" name="Path label 2"/>
            <p:cNvSpPr txBox="1"/>
            <p:nvPr/>
          </p:nvSpPr>
          <p:spPr>
            <a:xfrm>
              <a:off x="2320000" y="5300000"/>
              <a:ext cx="460000" cy="13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50" b="1" dirty="0">
                  <a:solidFill>
                    <a:srgbClr val="C00000"/>
                  </a:solidFill>
                  <a:latin typeface="맑은 고딕"/>
                  <a:ea typeface="맑은 고딕"/>
                </a:rPr>
                <a:t>Offload</a:t>
              </a:r>
            </a:p>
          </p:txBody>
        </p:sp>
        <p:cxnSp>
          <p:nvCxnSpPr>
            <p:cNvPr id="5013" name="Link SSD"/>
            <p:cNvCxnSpPr/>
            <p:nvPr/>
          </p:nvCxnSpPr>
          <p:spPr>
            <a:xfrm>
              <a:off x="3130000" y="5010000"/>
              <a:ext cx="0" cy="260000"/>
            </a:xfrm>
            <a:prstGeom prst="line">
              <a:avLst/>
            </a:prstGeom>
            <a:ln w="9525">
              <a:solidFill>
                <a:srgbClr val="3A3A3A"/>
              </a:solidFill>
            </a:ln>
          </p:spPr>
        </p:cxnSp>
        <p:sp>
          <p:nvSpPr>
            <p:cNvPr id="5014" name="Tier SSD"/>
            <p:cNvSpPr/>
            <p:nvPr/>
          </p:nvSpPr>
          <p:spPr>
            <a:xfrm>
              <a:off x="2740000" y="5270000"/>
              <a:ext cx="780000" cy="40000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9525">
              <a:solidFill>
                <a:srgbClr val="7F7F7F"/>
              </a:solidFill>
            </a:ln>
          </p:spPr>
          <p:txBody>
            <a:bodyPr wrap="square" lIns="18288" tIns="9144" rIns="18288" bIns="9144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850" b="1" dirty="0">
                  <a:solidFill>
                    <a:srgbClr val="3A3A3A"/>
                  </a:solidFill>
                  <a:latin typeface="맑은 고딕"/>
                  <a:ea typeface="맑은 고딕"/>
                </a:rPr>
                <a:t>SSD</a:t>
              </a:r>
            </a:p>
          </p:txBody>
        </p:sp>
        <p:sp>
          <p:nvSpPr>
            <p:cNvPr id="5015" name="Attr SSD"/>
            <p:cNvSpPr txBox="1"/>
            <p:nvPr/>
          </p:nvSpPr>
          <p:spPr>
            <a:xfrm>
              <a:off x="2680000" y="5700000"/>
              <a:ext cx="900000" cy="14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50" b="0" dirty="0">
                  <a:solidFill>
                    <a:srgbClr val="6B7280"/>
                  </a:solidFill>
                  <a:latin typeface="맑은 고딕"/>
                  <a:ea typeface="맑은 고딕"/>
                </a:rPr>
                <a:t>대용량 · 저속</a:t>
              </a:r>
            </a:p>
          </p:txBody>
        </p:sp>
        <p:sp>
          <p:nvSpPr>
            <p:cNvPr id="5016" name="Left caption"/>
            <p:cNvSpPr txBox="1"/>
            <p:nvPr/>
          </p:nvSpPr>
          <p:spPr>
            <a:xfrm>
              <a:off x="420000" y="5950000"/>
              <a:ext cx="3100000" cy="33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800" b="1" dirty="0">
                  <a:solidFill>
                    <a:srgbClr val="C00000"/>
                  </a:solidFill>
                  <a:latin typeface="맑은 고딕"/>
                  <a:ea typeface="맑은 고딕"/>
                </a:rPr>
                <a:t>모든 데이터가 동일한 고정 경로로 이동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50" b="0" dirty="0">
                  <a:solidFill>
                    <a:srgbClr val="C00000"/>
                  </a:solidFill>
                  <a:latin typeface="맑은 고딕"/>
                  <a:ea typeface="맑은 고딕"/>
                </a:rPr>
                <a:t>(메모리별 BW · 용량 · 지연 · 연산 특성 미반영)</a:t>
              </a:r>
            </a:p>
          </p:txBody>
        </p:sp>
        <p:cxnSp>
          <p:nvCxnSpPr>
            <p:cNvPr id="5017" name="Blocked link"/>
            <p:cNvCxnSpPr/>
            <p:nvPr/>
          </p:nvCxnSpPr>
          <p:spPr>
            <a:xfrm>
              <a:off x="3520000" y="4825000"/>
              <a:ext cx="500000" cy="0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</a:ln>
          </p:spPr>
        </p:cxnSp>
        <p:sp>
          <p:nvSpPr>
            <p:cNvPr id="5018" name="Blocked mark"/>
            <p:cNvSpPr txBox="1"/>
            <p:nvPr/>
          </p:nvSpPr>
          <p:spPr>
            <a:xfrm>
              <a:off x="3520000" y="4700000"/>
              <a:ext cx="500000" cy="25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1300" b="1" dirty="0">
                  <a:solidFill>
                    <a:srgbClr val="C00000"/>
                  </a:solidFill>
                  <a:latin typeface="맑은 고딕"/>
                  <a:ea typeface="맑은 고딕"/>
                </a:rPr>
                <a:t>✕</a:t>
              </a:r>
            </a:p>
          </p:txBody>
        </p:sp>
        <p:sp>
          <p:nvSpPr>
            <p:cNvPr id="5019" name="Right header"/>
            <p:cNvSpPr txBox="1"/>
            <p:nvPr/>
          </p:nvSpPr>
          <p:spPr>
            <a:xfrm>
              <a:off x="4020000" y="4640000"/>
              <a:ext cx="1950000" cy="17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800" b="1" dirty="0">
                  <a:solidFill>
                    <a:srgbClr val="3A3A3A"/>
                  </a:solidFill>
                  <a:latin typeface="맑은 고딕"/>
                  <a:ea typeface="맑은 고딕"/>
                </a:rPr>
                <a:t>경로 밖 신규 메모리</a:t>
              </a:r>
            </a:p>
          </p:txBody>
        </p:sp>
        <p:sp>
          <p:nvSpPr>
            <p:cNvPr id="5020" name="New zHBM"/>
            <p:cNvSpPr/>
            <p:nvPr/>
          </p:nvSpPr>
          <p:spPr>
            <a:xfrm>
              <a:off x="4020000" y="4860000"/>
              <a:ext cx="925000" cy="28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A6A6A6"/>
              </a:solidFill>
              <a:prstDash val="dash"/>
            </a:ln>
          </p:spPr>
          <p:txBody>
            <a:bodyPr wrap="square" lIns="18288" tIns="9144" rIns="18288" bIns="9144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750" b="1" dirty="0">
                  <a:solidFill>
                    <a:srgbClr val="7F7F7F"/>
                  </a:solidFill>
                  <a:latin typeface="맑은 고딕"/>
                  <a:ea typeface="맑은 고딕"/>
                </a:rPr>
                <a:t>zHBM</a:t>
              </a:r>
            </a:p>
          </p:txBody>
        </p:sp>
        <p:sp>
          <p:nvSpPr>
            <p:cNvPr id="5021" name="New ScHBM"/>
            <p:cNvSpPr/>
            <p:nvPr/>
          </p:nvSpPr>
          <p:spPr>
            <a:xfrm>
              <a:off x="5045000" y="4860000"/>
              <a:ext cx="925000" cy="28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A6A6A6"/>
              </a:solidFill>
              <a:prstDash val="dash"/>
            </a:ln>
          </p:spPr>
          <p:txBody>
            <a:bodyPr wrap="square" lIns="18288" tIns="9144" rIns="18288" bIns="9144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750" b="1" dirty="0">
                  <a:solidFill>
                    <a:srgbClr val="7F7F7F"/>
                  </a:solidFill>
                  <a:latin typeface="맑은 고딕"/>
                  <a:ea typeface="맑은 고딕"/>
                </a:rPr>
                <a:t>ScHBM</a:t>
              </a:r>
            </a:p>
          </p:txBody>
        </p:sp>
        <p:sp>
          <p:nvSpPr>
            <p:cNvPr id="5022" name="New HBF"/>
            <p:cNvSpPr/>
            <p:nvPr/>
          </p:nvSpPr>
          <p:spPr>
            <a:xfrm>
              <a:off x="4020000" y="5200000"/>
              <a:ext cx="925000" cy="28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A6A6A6"/>
              </a:solidFill>
              <a:prstDash val="dash"/>
            </a:ln>
          </p:spPr>
          <p:txBody>
            <a:bodyPr wrap="square" lIns="18288" tIns="9144" rIns="18288" bIns="9144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750" b="1" dirty="0">
                  <a:solidFill>
                    <a:srgbClr val="7F7F7F"/>
                  </a:solidFill>
                  <a:latin typeface="맑은 고딕"/>
                  <a:ea typeface="맑은 고딕"/>
                </a:rPr>
                <a:t>HBF</a:t>
              </a:r>
            </a:p>
          </p:txBody>
        </p:sp>
        <p:sp>
          <p:nvSpPr>
            <p:cNvPr id="5023" name="New zNAND"/>
            <p:cNvSpPr/>
            <p:nvPr/>
          </p:nvSpPr>
          <p:spPr>
            <a:xfrm>
              <a:off x="5045000" y="5200000"/>
              <a:ext cx="925000" cy="28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A6A6A6"/>
              </a:solidFill>
              <a:prstDash val="dash"/>
            </a:ln>
          </p:spPr>
          <p:txBody>
            <a:bodyPr wrap="square" lIns="18288" tIns="9144" rIns="18288" bIns="9144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750" b="1" dirty="0">
                  <a:solidFill>
                    <a:srgbClr val="7F7F7F"/>
                  </a:solidFill>
                  <a:latin typeface="맑은 고딕"/>
                  <a:ea typeface="맑은 고딕"/>
                </a:rPr>
                <a:t>zNAND</a:t>
              </a:r>
            </a:p>
          </p:txBody>
        </p:sp>
        <p:sp>
          <p:nvSpPr>
            <p:cNvPr id="5024" name="New SSD-PIM"/>
            <p:cNvSpPr/>
            <p:nvPr/>
          </p:nvSpPr>
          <p:spPr>
            <a:xfrm>
              <a:off x="4020000" y="5540000"/>
              <a:ext cx="925000" cy="28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A6A6A6"/>
              </a:solidFill>
              <a:prstDash val="dash"/>
            </a:ln>
          </p:spPr>
          <p:txBody>
            <a:bodyPr wrap="square" lIns="18288" tIns="9144" rIns="18288" bIns="9144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750" b="1" dirty="0">
                  <a:solidFill>
                    <a:srgbClr val="7F7F7F"/>
                  </a:solidFill>
                  <a:latin typeface="맑은 고딕"/>
                  <a:ea typeface="맑은 고딕"/>
                </a:rPr>
                <a:t>SSD-PIM</a:t>
              </a:r>
            </a:p>
          </p:txBody>
        </p:sp>
        <p:sp>
          <p:nvSpPr>
            <p:cNvPr id="5025" name="Right note"/>
            <p:cNvSpPr txBox="1"/>
            <p:nvPr/>
          </p:nvSpPr>
          <p:spPr>
            <a:xfrm>
              <a:off x="5045000" y="5540000"/>
              <a:ext cx="925000" cy="28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50" b="0" dirty="0">
                  <a:solidFill>
                    <a:srgbClr val="6B7280"/>
                  </a:solidFill>
                  <a:latin typeface="맑은 고딕"/>
                  <a:ea typeface="맑은 고딕"/>
                </a:rPr>
                <a:t>특성 · 연산 기능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50" b="0" dirty="0">
                  <a:solidFill>
                    <a:srgbClr val="6B7280"/>
                  </a:solidFill>
                  <a:latin typeface="맑은 고딕"/>
                  <a:ea typeface="맑은 고딕"/>
                </a:rPr>
                <a:t>미인식</a:t>
              </a:r>
            </a:p>
          </p:txBody>
        </p:sp>
        <p:sp>
          <p:nvSpPr>
            <p:cNvPr id="5026" name="Right caption"/>
            <p:cNvSpPr txBox="1"/>
            <p:nvPr/>
          </p:nvSpPr>
          <p:spPr>
            <a:xfrm>
              <a:off x="4020000" y="5950000"/>
              <a:ext cx="1950000" cy="33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800" b="1" dirty="0">
                  <a:solidFill>
                    <a:srgbClr val="C00000"/>
                  </a:solidFill>
                  <a:latin typeface="맑은 고딕"/>
                  <a:ea typeface="맑은 고딕"/>
                </a:rPr>
                <a:t>특성 미인식 → 활용 불가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50" b="0" dirty="0">
                  <a:solidFill>
                    <a:srgbClr val="C00000"/>
                  </a:solidFill>
                  <a:latin typeface="맑은 고딕"/>
                  <a:ea typeface="맑은 고딕"/>
                </a:rPr>
                <a:t>(Tier 후보에서 제외)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0795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335</Words>
  <Application>Microsoft Office PowerPoint</Application>
  <PresentationFormat>와이드스크린</PresentationFormat>
  <Paragraphs>66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과제 필요성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 배경</dc:title>
  <dc:creator>Myeong Woo Kim</dc:creator>
  <cp:lastModifiedBy>Myeong Woo Kim</cp:lastModifiedBy>
  <cp:revision>3</cp:revision>
  <dcterms:created xsi:type="dcterms:W3CDTF">2026-10-10T01:59:20Z</dcterms:created>
  <dcterms:modified xsi:type="dcterms:W3CDTF">2026-10-10T05:17:18Z</dcterms:modified>
</cp:coreProperties>
</file>
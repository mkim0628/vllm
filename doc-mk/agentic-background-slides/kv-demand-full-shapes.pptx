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sion-tag"/>
          <p:cNvSpPr txBox="1"/>
          <p:nvPr/>
        </p:nvSpPr>
        <p:spPr>
          <a:xfrm>
            <a:off x="45720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A · 좌측 선형 축</a:t>
            </a:r>
            <a:endParaRPr lang="en-US" sz="1000" dirty="0"/>
          </a:p>
        </p:txBody>
      </p:sp>
      <p:sp>
        <p:nvSpPr>
          <p:cNvPr id="3" name="L-title"/>
          <p:cNvSpPr txBox="1"/>
          <p:nvPr/>
        </p:nvSpPr>
        <p:spPr>
          <a:xfrm>
            <a:off x="105156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단일 세션: 문맥이 길어질수록 KV cache 증가</a:t>
            </a:r>
            <a:endParaRPr lang="en-US" sz="1400" dirty="0"/>
          </a:p>
        </p:txBody>
      </p:sp>
      <p:sp>
        <p:nvSpPr>
          <p:cNvPr id="4" name="L-region-over-B300"/>
          <p:cNvSpPr/>
          <p:nvPr/>
        </p:nvSpPr>
        <p:spPr>
          <a:xfrm>
            <a:off x="1234440" y="1188720"/>
            <a:ext cx="4572000" cy="1049731"/>
          </a:xfrm>
          <a:prstGeom prst="rect">
            <a:avLst/>
          </a:prstGeom>
          <a:solidFill>
            <a:srgbClr val="F6D9D6">
              <a:alpha val="70000"/>
            </a:srgbClr>
          </a:solidFill>
          <a:ln/>
        </p:spPr>
      </p:sp>
      <p:sp>
        <p:nvSpPr>
          <p:cNvPr id="5" name="L-tick-y-0"/>
          <p:cNvSpPr txBox="1"/>
          <p:nvPr/>
        </p:nvSpPr>
        <p:spPr>
          <a:xfrm>
            <a:off x="731520" y="482803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L-grid-y-50"/>
          <p:cNvSpPr/>
          <p:nvPr/>
        </p:nvSpPr>
        <p:spPr>
          <a:xfrm>
            <a:off x="1234440" y="446913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7" name="L-tick-y-50"/>
          <p:cNvSpPr txBox="1"/>
          <p:nvPr/>
        </p:nvSpPr>
        <p:spPr>
          <a:xfrm>
            <a:off x="731520" y="435940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L-grid-y-100"/>
          <p:cNvSpPr/>
          <p:nvPr/>
        </p:nvSpPr>
        <p:spPr>
          <a:xfrm>
            <a:off x="1234440" y="400050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9" name="L-tick-y-100"/>
          <p:cNvSpPr txBox="1"/>
          <p:nvPr/>
        </p:nvSpPr>
        <p:spPr>
          <a:xfrm>
            <a:off x="731520" y="389077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10" name="L-grid-y-150"/>
          <p:cNvSpPr/>
          <p:nvPr/>
        </p:nvSpPr>
        <p:spPr>
          <a:xfrm>
            <a:off x="1234440" y="353187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1" name="L-tick-y-150"/>
          <p:cNvSpPr txBox="1"/>
          <p:nvPr/>
        </p:nvSpPr>
        <p:spPr>
          <a:xfrm>
            <a:off x="731520" y="342214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000" dirty="0"/>
          </a:p>
        </p:txBody>
      </p:sp>
      <p:sp>
        <p:nvSpPr>
          <p:cNvPr id="12" name="L-grid-y-200"/>
          <p:cNvSpPr/>
          <p:nvPr/>
        </p:nvSpPr>
        <p:spPr>
          <a:xfrm>
            <a:off x="1234440" y="306324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3" name="L-tick-y-200"/>
          <p:cNvSpPr txBox="1"/>
          <p:nvPr/>
        </p:nvSpPr>
        <p:spPr>
          <a:xfrm>
            <a:off x="731520" y="295351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000" dirty="0"/>
          </a:p>
        </p:txBody>
      </p:sp>
      <p:sp>
        <p:nvSpPr>
          <p:cNvPr id="14" name="L-grid-y-250"/>
          <p:cNvSpPr/>
          <p:nvPr/>
        </p:nvSpPr>
        <p:spPr>
          <a:xfrm>
            <a:off x="1234440" y="259461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5" name="L-tick-y-250"/>
          <p:cNvSpPr txBox="1"/>
          <p:nvPr/>
        </p:nvSpPr>
        <p:spPr>
          <a:xfrm>
            <a:off x="731520" y="248488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</a:t>
            </a:r>
            <a:endParaRPr lang="en-US" sz="1000" dirty="0"/>
          </a:p>
        </p:txBody>
      </p:sp>
      <p:sp>
        <p:nvSpPr>
          <p:cNvPr id="16" name="L-grid-y-300"/>
          <p:cNvSpPr/>
          <p:nvPr/>
        </p:nvSpPr>
        <p:spPr>
          <a:xfrm>
            <a:off x="1234440" y="212598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7" name="L-tick-y-300"/>
          <p:cNvSpPr txBox="1"/>
          <p:nvPr/>
        </p:nvSpPr>
        <p:spPr>
          <a:xfrm>
            <a:off x="731520" y="201625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000" dirty="0"/>
          </a:p>
        </p:txBody>
      </p:sp>
      <p:sp>
        <p:nvSpPr>
          <p:cNvPr id="18" name="L-grid-y-350"/>
          <p:cNvSpPr/>
          <p:nvPr/>
        </p:nvSpPr>
        <p:spPr>
          <a:xfrm>
            <a:off x="1234440" y="165735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9" name="L-tick-y-350"/>
          <p:cNvSpPr txBox="1"/>
          <p:nvPr/>
        </p:nvSpPr>
        <p:spPr>
          <a:xfrm>
            <a:off x="731520" y="154762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</a:t>
            </a:r>
            <a:endParaRPr lang="en-US" sz="1000" dirty="0"/>
          </a:p>
        </p:txBody>
      </p:sp>
      <p:sp>
        <p:nvSpPr>
          <p:cNvPr id="20" name="L-tick-y-400"/>
          <p:cNvSpPr txBox="1"/>
          <p:nvPr/>
        </p:nvSpPr>
        <p:spPr>
          <a:xfrm>
            <a:off x="731520" y="107899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</a:t>
            </a:r>
            <a:endParaRPr lang="en-US" sz="1000" dirty="0"/>
          </a:p>
        </p:txBody>
      </p:sp>
      <p:sp>
        <p:nvSpPr>
          <p:cNvPr id="21" name="L-tick-x-0"/>
          <p:cNvSpPr txBox="1"/>
          <p:nvPr/>
        </p:nvSpPr>
        <p:spPr>
          <a:xfrm>
            <a:off x="868680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L-grid-x-200K"/>
          <p:cNvSpPr/>
          <p:nvPr/>
        </p:nvSpPr>
        <p:spPr>
          <a:xfrm>
            <a:off x="2122207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3" name="L-tick-x-200K"/>
          <p:cNvSpPr txBox="1"/>
          <p:nvPr/>
        </p:nvSpPr>
        <p:spPr>
          <a:xfrm>
            <a:off x="1756447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200K</a:t>
            </a:r>
            <a:endParaRPr lang="en-US" sz="1000" dirty="0"/>
          </a:p>
        </p:txBody>
      </p:sp>
      <p:sp>
        <p:nvSpPr>
          <p:cNvPr id="24" name="L-grid-x-400K"/>
          <p:cNvSpPr/>
          <p:nvPr/>
        </p:nvSpPr>
        <p:spPr>
          <a:xfrm>
            <a:off x="3009974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5" name="L-tick-x-400K"/>
          <p:cNvSpPr txBox="1"/>
          <p:nvPr/>
        </p:nvSpPr>
        <p:spPr>
          <a:xfrm>
            <a:off x="2644214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400K</a:t>
            </a:r>
            <a:endParaRPr lang="en-US" sz="1000" dirty="0"/>
          </a:p>
        </p:txBody>
      </p:sp>
      <p:sp>
        <p:nvSpPr>
          <p:cNvPr id="26" name="L-grid-x-600K"/>
          <p:cNvSpPr/>
          <p:nvPr/>
        </p:nvSpPr>
        <p:spPr>
          <a:xfrm>
            <a:off x="3897741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7" name="L-tick-x-600K"/>
          <p:cNvSpPr txBox="1"/>
          <p:nvPr/>
        </p:nvSpPr>
        <p:spPr>
          <a:xfrm>
            <a:off x="3531981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600K</a:t>
            </a:r>
            <a:endParaRPr lang="en-US" sz="1000" dirty="0"/>
          </a:p>
        </p:txBody>
      </p:sp>
      <p:sp>
        <p:nvSpPr>
          <p:cNvPr id="28" name="L-grid-x-800K"/>
          <p:cNvSpPr/>
          <p:nvPr/>
        </p:nvSpPr>
        <p:spPr>
          <a:xfrm>
            <a:off x="4785508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9" name="L-tick-x-800K"/>
          <p:cNvSpPr txBox="1"/>
          <p:nvPr/>
        </p:nvSpPr>
        <p:spPr>
          <a:xfrm>
            <a:off x="4419748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800K</a:t>
            </a:r>
            <a:endParaRPr lang="en-US" sz="1000" dirty="0"/>
          </a:p>
        </p:txBody>
      </p:sp>
      <p:sp>
        <p:nvSpPr>
          <p:cNvPr id="30" name="L-grid-x-1M"/>
          <p:cNvSpPr/>
          <p:nvPr/>
        </p:nvSpPr>
        <p:spPr>
          <a:xfrm>
            <a:off x="5673275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31" name="L-tick-x-1M"/>
          <p:cNvSpPr txBox="1"/>
          <p:nvPr/>
        </p:nvSpPr>
        <p:spPr>
          <a:xfrm>
            <a:off x="5307515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</a:t>
            </a:r>
            <a:endParaRPr lang="en-US" sz="1000" dirty="0"/>
          </a:p>
        </p:txBody>
      </p:sp>
      <p:sp>
        <p:nvSpPr>
          <p:cNvPr id="32" name="L-plot-frame"/>
          <p:cNvSpPr/>
          <p:nvPr/>
        </p:nvSpPr>
        <p:spPr>
          <a:xfrm>
            <a:off x="1234440" y="1188720"/>
            <a:ext cx="4572000" cy="3749040"/>
          </a:xfrm>
          <a:prstGeom prst="rect">
            <a:avLst/>
          </a:prstGeom>
          <a:ln w="12700">
            <a:solidFill>
              <a:srgbClr val="222222"/>
            </a:solidFill>
            <a:prstDash val="solid"/>
          </a:ln>
        </p:spPr>
      </p:sp>
      <p:sp>
        <p:nvSpPr>
          <p:cNvPr id="33" name="L-axis-title-x"/>
          <p:cNvSpPr txBox="1"/>
          <p:nvPr/>
        </p:nvSpPr>
        <p:spPr>
          <a:xfrm>
            <a:off x="1234440" y="5239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문맥 길이 (tokens)</a:t>
            </a:r>
            <a:endParaRPr lang="en-US" sz="1100" dirty="0"/>
          </a:p>
        </p:txBody>
      </p:sp>
      <p:sp>
        <p:nvSpPr>
          <p:cNvPr id="34" name="L-axis-title-y"/>
          <p:cNvSpPr txBox="1"/>
          <p:nvPr/>
        </p:nvSpPr>
        <p:spPr>
          <a:xfrm rot="16200000">
            <a:off x="-50292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크기 (GB)</a:t>
            </a:r>
            <a:endParaRPr lang="en-US" sz="1100" dirty="0"/>
          </a:p>
        </p:txBody>
      </p:sp>
      <p:sp>
        <p:nvSpPr>
          <p:cNvPr id="35" name="L-hbm-line-H100"/>
          <p:cNvSpPr/>
          <p:nvPr/>
        </p:nvSpPr>
        <p:spPr>
          <a:xfrm>
            <a:off x="1234440" y="4187952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55000"/>
              </a:srgbClr>
            </a:solidFill>
            <a:prstDash val="dash"/>
          </a:ln>
        </p:spPr>
      </p:sp>
      <p:sp>
        <p:nvSpPr>
          <p:cNvPr id="36" name="L-hbm-line-B200"/>
          <p:cNvSpPr/>
          <p:nvPr/>
        </p:nvSpPr>
        <p:spPr>
          <a:xfrm>
            <a:off x="1234440" y="3138221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75000"/>
              </a:srgbClr>
            </a:solidFill>
            <a:prstDash val="dash"/>
          </a:ln>
        </p:spPr>
      </p:sp>
      <p:sp>
        <p:nvSpPr>
          <p:cNvPr id="37" name="L-hbm-line-B300"/>
          <p:cNvSpPr/>
          <p:nvPr/>
        </p:nvSpPr>
        <p:spPr>
          <a:xfrm>
            <a:off x="1234440" y="2238451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95000"/>
              </a:srgbClr>
            </a:solidFill>
            <a:prstDash val="dash"/>
          </a:ln>
        </p:spPr>
      </p:sp>
      <p:sp>
        <p:nvSpPr>
          <p:cNvPr id="38" name="L-kv-curve"/>
          <p:cNvSpPr/>
          <p:nvPr/>
        </p:nvSpPr>
        <p:spPr>
          <a:xfrm flipV="1">
            <a:off x="1234440" y="1844802"/>
            <a:ext cx="4438835" cy="3092958"/>
          </a:xfrm>
          <a:prstGeom prst="line">
            <a:avLst/>
          </a:prstGeom>
          <a:noFill/>
          <a:ln w="38100">
            <a:solidFill>
              <a:srgbClr val="1F3B73"/>
            </a:solidFill>
            <a:prstDash val="solid"/>
          </a:ln>
        </p:spPr>
      </p:sp>
      <p:sp>
        <p:nvSpPr>
          <p:cNvPr id="39" name="L-leader-chat"/>
          <p:cNvSpPr/>
          <p:nvPr/>
        </p:nvSpPr>
        <p:spPr>
          <a:xfrm flipV="1">
            <a:off x="1318778" y="4712818"/>
            <a:ext cx="2667740" cy="166176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L-label-chat"/>
          <p:cNvSpPr txBox="1"/>
          <p:nvPr/>
        </p:nvSpPr>
        <p:spPr>
          <a:xfrm>
            <a:off x="3986518" y="4429354"/>
            <a:ext cx="1783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1×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19K · ≈6.3 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(가정 [3])</a:t>
            </a:r>
            <a:endParaRPr lang="en-US" sz="900" dirty="0"/>
          </a:p>
        </p:txBody>
      </p:sp>
      <p:sp>
        <p:nvSpPr>
          <p:cNvPr id="41" name="L-leader-agent"/>
          <p:cNvSpPr/>
          <p:nvPr/>
        </p:nvSpPr>
        <p:spPr>
          <a:xfrm flipV="1">
            <a:off x="1567353" y="4112971"/>
            <a:ext cx="2419165" cy="592817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2" name="L-label-agent"/>
          <p:cNvSpPr txBox="1"/>
          <p:nvPr/>
        </p:nvSpPr>
        <p:spPr>
          <a:xfrm>
            <a:off x="3986518" y="3829507"/>
            <a:ext cx="1783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≈4×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75K · ≈25 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(SWE-bench Pro 실측 [1])</a:t>
            </a:r>
            <a:endParaRPr lang="en-US" sz="900" dirty="0"/>
          </a:p>
        </p:txBody>
      </p:sp>
      <p:sp>
        <p:nvSpPr>
          <p:cNvPr id="43" name="L-leader-multi"/>
          <p:cNvSpPr/>
          <p:nvPr/>
        </p:nvSpPr>
        <p:spPr>
          <a:xfrm flipV="1">
            <a:off x="2481753" y="3513125"/>
            <a:ext cx="1504765" cy="555514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4" name="L-label-multi"/>
          <p:cNvSpPr txBox="1"/>
          <p:nvPr/>
        </p:nvSpPr>
        <p:spPr>
          <a:xfrm>
            <a:off x="3986518" y="3229661"/>
            <a:ext cx="17830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≈15×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281K · ≈93 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(가정 [3])</a:t>
            </a:r>
            <a:endParaRPr lang="en-US" sz="900" dirty="0"/>
          </a:p>
        </p:txBody>
      </p:sp>
      <p:sp>
        <p:nvSpPr>
          <p:cNvPr id="45" name="L-pt-chat"/>
          <p:cNvSpPr/>
          <p:nvPr/>
        </p:nvSpPr>
        <p:spPr>
          <a:xfrm>
            <a:off x="1254770" y="4814986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L-pt-agent"/>
          <p:cNvSpPr/>
          <p:nvPr/>
        </p:nvSpPr>
        <p:spPr>
          <a:xfrm>
            <a:off x="1503345" y="4641780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L-pt-multi"/>
          <p:cNvSpPr/>
          <p:nvPr/>
        </p:nvSpPr>
        <p:spPr>
          <a:xfrm>
            <a:off x="2417745" y="4004631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L-hbm-label-H100"/>
          <p:cNvSpPr txBox="1"/>
          <p:nvPr/>
        </p:nvSpPr>
        <p:spPr>
          <a:xfrm>
            <a:off x="1289304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H100 80 GB</a:t>
            </a:r>
            <a:endParaRPr lang="en-US" sz="950" dirty="0"/>
          </a:p>
        </p:txBody>
      </p:sp>
      <p:sp>
        <p:nvSpPr>
          <p:cNvPr id="49" name="L-hbm-label-B200"/>
          <p:cNvSpPr txBox="1"/>
          <p:nvPr/>
        </p:nvSpPr>
        <p:spPr>
          <a:xfrm>
            <a:off x="1289304" y="290962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B200 192 GB</a:t>
            </a:r>
            <a:endParaRPr lang="en-US" sz="950" dirty="0"/>
          </a:p>
        </p:txBody>
      </p:sp>
      <p:sp>
        <p:nvSpPr>
          <p:cNvPr id="50" name="L-hbm-label-B300"/>
          <p:cNvSpPr txBox="1"/>
          <p:nvPr/>
        </p:nvSpPr>
        <p:spPr>
          <a:xfrm>
            <a:off x="1289304" y="200985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B300 288 GB</a:t>
            </a:r>
            <a:endParaRPr lang="en-US" sz="950" dirty="0"/>
          </a:p>
        </p:txBody>
      </p:sp>
      <p:sp>
        <p:nvSpPr>
          <p:cNvPr id="51" name="L-pt-1M"/>
          <p:cNvSpPr/>
          <p:nvPr/>
        </p:nvSpPr>
        <p:spPr>
          <a:xfrm>
            <a:off x="5526971" y="1698498"/>
            <a:ext cx="292608" cy="292608"/>
          </a:xfrm>
          <a:prstGeom prst="star5">
            <a:avLst/>
          </a:prstGeom>
          <a:solidFill>
            <a:srgbClr val="D35400"/>
          </a:solidFill>
          <a:ln w="6350">
            <a:solidFill>
              <a:srgbClr val="D35400"/>
            </a:solidFill>
            <a:prstDash val="solid"/>
          </a:ln>
        </p:spPr>
      </p:sp>
      <p:sp>
        <p:nvSpPr>
          <p:cNvPr id="52" name="L-label-1M"/>
          <p:cNvSpPr txBox="1"/>
          <p:nvPr/>
        </p:nvSpPr>
        <p:spPr>
          <a:xfrm>
            <a:off x="3524435" y="1231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 · ≈330 GB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세션이 B300 1개 초과</a:t>
            </a:r>
            <a:endParaRPr lang="en-US" sz="950" dirty="0"/>
          </a:p>
        </p:txBody>
      </p:sp>
      <p:sp>
        <p:nvSpPr>
          <p:cNvPr id="53" name="R-title"/>
          <p:cNvSpPr txBox="1"/>
          <p:nvPr/>
        </p:nvSpPr>
        <p:spPr>
          <a:xfrm>
            <a:off x="653796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에이전트·세션이 늘면 총 KV는 수 자릿수 증가</a:t>
            </a:r>
            <a:endParaRPr lang="en-US" sz="1400" dirty="0"/>
          </a:p>
        </p:txBody>
      </p:sp>
      <p:sp>
        <p:nvSpPr>
          <p:cNvPr id="54" name="R-region-over-B300"/>
          <p:cNvSpPr/>
          <p:nvPr/>
        </p:nvSpPr>
        <p:spPr>
          <a:xfrm>
            <a:off x="7360920" y="1188720"/>
            <a:ext cx="3566160" cy="3201952"/>
          </a:xfrm>
          <a:prstGeom prst="rect">
            <a:avLst/>
          </a:prstGeom>
          <a:solidFill>
            <a:srgbClr val="F6D9D6">
              <a:alpha val="70000"/>
            </a:srgbClr>
          </a:solidFill>
          <a:ln/>
        </p:spPr>
      </p:sp>
      <p:sp>
        <p:nvSpPr>
          <p:cNvPr id="55" name="R-grid-100 GB"/>
          <p:cNvSpPr/>
          <p:nvPr/>
        </p:nvSpPr>
        <p:spPr>
          <a:xfrm>
            <a:off x="7360920" y="4683823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6" name="R-tick-100 GB"/>
          <p:cNvSpPr txBox="1"/>
          <p:nvPr/>
        </p:nvSpPr>
        <p:spPr>
          <a:xfrm>
            <a:off x="6675120" y="4574095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GB</a:t>
            </a:r>
            <a:endParaRPr lang="en-US" sz="1000" dirty="0"/>
          </a:p>
        </p:txBody>
      </p:sp>
      <p:sp>
        <p:nvSpPr>
          <p:cNvPr id="57" name="R-grid-1 TB"/>
          <p:cNvSpPr/>
          <p:nvPr/>
        </p:nvSpPr>
        <p:spPr>
          <a:xfrm>
            <a:off x="7360920" y="4045696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8" name="R-tick-1 TB"/>
          <p:cNvSpPr txBox="1"/>
          <p:nvPr/>
        </p:nvSpPr>
        <p:spPr>
          <a:xfrm>
            <a:off x="6675120" y="39359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TB</a:t>
            </a:r>
            <a:endParaRPr lang="en-US" sz="1000" dirty="0"/>
          </a:p>
        </p:txBody>
      </p:sp>
      <p:sp>
        <p:nvSpPr>
          <p:cNvPr id="59" name="R-grid-10 TB"/>
          <p:cNvSpPr/>
          <p:nvPr/>
        </p:nvSpPr>
        <p:spPr>
          <a:xfrm>
            <a:off x="7360920" y="3407568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60" name="R-tick-10 TB"/>
          <p:cNvSpPr txBox="1"/>
          <p:nvPr/>
        </p:nvSpPr>
        <p:spPr>
          <a:xfrm>
            <a:off x="6675120" y="32978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TB</a:t>
            </a:r>
            <a:endParaRPr lang="en-US" sz="1000" dirty="0"/>
          </a:p>
        </p:txBody>
      </p:sp>
      <p:sp>
        <p:nvSpPr>
          <p:cNvPr id="61" name="R-grid-100 TB"/>
          <p:cNvSpPr/>
          <p:nvPr/>
        </p:nvSpPr>
        <p:spPr>
          <a:xfrm>
            <a:off x="7360920" y="2769440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62" name="R-tick-100 TB"/>
          <p:cNvSpPr txBox="1"/>
          <p:nvPr/>
        </p:nvSpPr>
        <p:spPr>
          <a:xfrm>
            <a:off x="6675120" y="26597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TB</a:t>
            </a:r>
            <a:endParaRPr lang="en-US" sz="1000" dirty="0"/>
          </a:p>
        </p:txBody>
      </p:sp>
      <p:sp>
        <p:nvSpPr>
          <p:cNvPr id="63" name="R-grid-1 PB"/>
          <p:cNvSpPr/>
          <p:nvPr/>
        </p:nvSpPr>
        <p:spPr>
          <a:xfrm>
            <a:off x="7360920" y="2131312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64" name="R-tick-1 PB"/>
          <p:cNvSpPr txBox="1"/>
          <p:nvPr/>
        </p:nvSpPr>
        <p:spPr>
          <a:xfrm>
            <a:off x="6675120" y="202158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PB</a:t>
            </a:r>
            <a:endParaRPr lang="en-US" sz="1000" dirty="0"/>
          </a:p>
        </p:txBody>
      </p:sp>
      <p:sp>
        <p:nvSpPr>
          <p:cNvPr id="65" name="R-grid-10 PB"/>
          <p:cNvSpPr/>
          <p:nvPr/>
        </p:nvSpPr>
        <p:spPr>
          <a:xfrm>
            <a:off x="7360920" y="1493184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66" name="R-tick-10 PB"/>
          <p:cNvSpPr txBox="1"/>
          <p:nvPr/>
        </p:nvSpPr>
        <p:spPr>
          <a:xfrm>
            <a:off x="6675120" y="138345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PB</a:t>
            </a:r>
            <a:endParaRPr lang="en-US" sz="1000" dirty="0"/>
          </a:p>
        </p:txBody>
      </p:sp>
      <p:sp>
        <p:nvSpPr>
          <p:cNvPr id="67" name="R-axis-title-y"/>
          <p:cNvSpPr txBox="1"/>
          <p:nvPr/>
        </p:nvSpPr>
        <p:spPr>
          <a:xfrm rot="16200000">
            <a:off x="548640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KV cache 크기 (log)</a:t>
            </a:r>
            <a:endParaRPr lang="en-US" sz="1100" dirty="0"/>
          </a:p>
        </p:txBody>
      </p:sp>
      <p:sp>
        <p:nvSpPr>
          <p:cNvPr id="68" name="R-bar-1"/>
          <p:cNvSpPr/>
          <p:nvPr/>
        </p:nvSpPr>
        <p:spPr>
          <a:xfrm>
            <a:off x="7530313" y="4175065"/>
            <a:ext cx="552755" cy="762695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69" name="R-bar-label-1"/>
          <p:cNvSpPr txBox="1"/>
          <p:nvPr/>
        </p:nvSpPr>
        <p:spPr>
          <a:xfrm>
            <a:off x="7303770" y="377272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630 GB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(≈2×)</a:t>
            </a:r>
            <a:endParaRPr lang="en-US" sz="950" dirty="0"/>
          </a:p>
        </p:txBody>
      </p:sp>
      <p:sp>
        <p:nvSpPr>
          <p:cNvPr id="70" name="R-xlabel-1"/>
          <p:cNvSpPr txBox="1"/>
          <p:nvPr/>
        </p:nvSpPr>
        <p:spPr>
          <a:xfrm>
            <a:off x="737920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71" name="R-bar-2"/>
          <p:cNvSpPr/>
          <p:nvPr/>
        </p:nvSpPr>
        <p:spPr>
          <a:xfrm>
            <a:off x="8421853" y="3794544"/>
            <a:ext cx="552755" cy="1143216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2" name="R-bar-label-2"/>
          <p:cNvSpPr txBox="1"/>
          <p:nvPr/>
        </p:nvSpPr>
        <p:spPr>
          <a:xfrm>
            <a:off x="8195310" y="3392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TB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(≈9×)</a:t>
            </a:r>
            <a:endParaRPr lang="en-US" sz="950" dirty="0"/>
          </a:p>
        </p:txBody>
      </p:sp>
      <p:sp>
        <p:nvSpPr>
          <p:cNvPr id="73" name="R-xlabel-2"/>
          <p:cNvSpPr txBox="1"/>
          <p:nvPr/>
        </p:nvSpPr>
        <p:spPr>
          <a:xfrm>
            <a:off x="827074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74" name="R-bar-3"/>
          <p:cNvSpPr/>
          <p:nvPr/>
        </p:nvSpPr>
        <p:spPr>
          <a:xfrm>
            <a:off x="9313393" y="3428485"/>
            <a:ext cx="552755" cy="1509275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5" name="R-bar-label-3"/>
          <p:cNvSpPr txBox="1"/>
          <p:nvPr/>
        </p:nvSpPr>
        <p:spPr>
          <a:xfrm>
            <a:off x="9086850" y="302614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 TB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(≈32×)</a:t>
            </a:r>
            <a:endParaRPr lang="en-US" sz="950" dirty="0"/>
          </a:p>
        </p:txBody>
      </p:sp>
      <p:sp>
        <p:nvSpPr>
          <p:cNvPr id="76" name="R-xlabel-3"/>
          <p:cNvSpPr txBox="1"/>
          <p:nvPr/>
        </p:nvSpPr>
        <p:spPr>
          <a:xfrm>
            <a:off x="916228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77" name="R-bar-4"/>
          <p:cNvSpPr/>
          <p:nvPr/>
        </p:nvSpPr>
        <p:spPr>
          <a:xfrm>
            <a:off x="10204933" y="1800434"/>
            <a:ext cx="552755" cy="313732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78" name="R-bar-label-4"/>
          <p:cNvSpPr txBox="1"/>
          <p:nvPr/>
        </p:nvSpPr>
        <p:spPr>
          <a:xfrm>
            <a:off x="9978390" y="139809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PB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(≈11,500×)</a:t>
            </a:r>
            <a:endParaRPr lang="en-US" sz="950" dirty="0"/>
          </a:p>
        </p:txBody>
      </p:sp>
      <p:sp>
        <p:nvSpPr>
          <p:cNvPr id="79" name="R-xlabel-4"/>
          <p:cNvSpPr txBox="1"/>
          <p:nvPr/>
        </p:nvSpPr>
        <p:spPr>
          <a:xfrm>
            <a:off x="1005382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ASTRA [4]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 × 10,000 agents</a:t>
            </a:r>
            <a:endParaRPr lang="en-US" sz="900" dirty="0"/>
          </a:p>
        </p:txBody>
      </p:sp>
      <p:sp>
        <p:nvSpPr>
          <p:cNvPr id="80" name="R-plot-frame"/>
          <p:cNvSpPr/>
          <p:nvPr/>
        </p:nvSpPr>
        <p:spPr>
          <a:xfrm>
            <a:off x="7360920" y="1188720"/>
            <a:ext cx="3566160" cy="3749040"/>
          </a:xfrm>
          <a:prstGeom prst="rect">
            <a:avLst/>
          </a:prstGeom>
          <a:ln w="12700">
            <a:solidFill>
              <a:srgbClr val="222222"/>
            </a:solidFill>
            <a:prstDash val="solid"/>
          </a:ln>
        </p:spPr>
      </p:sp>
      <p:sp>
        <p:nvSpPr>
          <p:cNvPr id="81" name="R-hbm-line-H100"/>
          <p:cNvSpPr/>
          <p:nvPr/>
        </p:nvSpPr>
        <p:spPr>
          <a:xfrm>
            <a:off x="7360920" y="4745664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55000"/>
              </a:srgbClr>
            </a:solidFill>
            <a:prstDash val="dash"/>
          </a:ln>
        </p:spPr>
      </p:sp>
      <p:sp>
        <p:nvSpPr>
          <p:cNvPr id="82" name="R-hbm-label-H100"/>
          <p:cNvSpPr txBox="1"/>
          <p:nvPr/>
        </p:nvSpPr>
        <p:spPr>
          <a:xfrm>
            <a:off x="11000232" y="463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H100 80 GB</a:t>
            </a:r>
            <a:endParaRPr lang="en-US" sz="950" dirty="0"/>
          </a:p>
        </p:txBody>
      </p:sp>
      <p:sp>
        <p:nvSpPr>
          <p:cNvPr id="83" name="R-hbm-line-B200"/>
          <p:cNvSpPr/>
          <p:nvPr/>
        </p:nvSpPr>
        <p:spPr>
          <a:xfrm>
            <a:off x="7360920" y="4503041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75000"/>
              </a:srgbClr>
            </a:solidFill>
            <a:prstDash val="dash"/>
          </a:ln>
        </p:spPr>
      </p:sp>
      <p:sp>
        <p:nvSpPr>
          <p:cNvPr id="84" name="R-hbm-line-B300"/>
          <p:cNvSpPr/>
          <p:nvPr/>
        </p:nvSpPr>
        <p:spPr>
          <a:xfrm>
            <a:off x="7360920" y="4390672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95000"/>
              </a:srgbClr>
            </a:solidFill>
            <a:prstDash val="dash"/>
          </a:ln>
        </p:spPr>
      </p:sp>
      <p:sp>
        <p:nvSpPr>
          <p:cNvPr id="85" name="R-hbm-label-B300"/>
          <p:cNvSpPr txBox="1"/>
          <p:nvPr/>
        </p:nvSpPr>
        <p:spPr>
          <a:xfrm>
            <a:off x="11000232" y="4280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B300 288 GB</a:t>
            </a:r>
            <a:endParaRPr lang="en-US" sz="950" dirty="0"/>
          </a:p>
        </p:txBody>
      </p:sp>
      <p:sp>
        <p:nvSpPr>
          <p:cNvPr id="86" name="R-subtitle"/>
          <p:cNvSpPr txBox="1"/>
          <p:nvPr/>
        </p:nvSpPr>
        <p:spPr>
          <a:xfrm>
            <a:off x="6537960" y="868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괄호: B300 1개 HBM(288 GB) 대비 배수</a:t>
            </a:r>
            <a:endParaRPr lang="en-US" sz="1000" dirty="0"/>
          </a:p>
        </p:txBody>
      </p:sp>
      <p:sp>
        <p:nvSpPr>
          <p:cNvPr id="87" name="footnote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[1] arXiv:2605.26297  [2] arXiv:2608.15127  [3] Anthropic Eng. Blog  [4] ASTRA  [10] Conceptual illustration based on Continuum (Li et al., 2025), arXiv:2511.02230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0.33MB/token (Llama-3.1-70B, BF16). 문맥 길이: 에이전트 ≈75K [1] (SWE-bench Pro 평균 누적 문맥 69–80K), 채팅·멀티에이전트는 [3]의 토큰 사용량 배수(≈4×/≈15×)를 적용한 가정.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GPU 1개 HBM 총량 H100 80 / B200 192 / B300 288 GB (가중치 미차감). 동시 세션 수·ASTRA 설정은 전부 KV 상주 가정의 상한 (prefix 공유·압축·양자화 미반영).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sion-tag"/>
          <p:cNvSpPr txBox="1"/>
          <p:nvPr/>
        </p:nvSpPr>
        <p:spPr>
          <a:xfrm>
            <a:off x="45720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B · 좌측 x축 로그</a:t>
            </a:r>
            <a:endParaRPr lang="en-US" sz="1000" dirty="0"/>
          </a:p>
        </p:txBody>
      </p:sp>
      <p:sp>
        <p:nvSpPr>
          <p:cNvPr id="3" name="L-title"/>
          <p:cNvSpPr txBox="1"/>
          <p:nvPr/>
        </p:nvSpPr>
        <p:spPr>
          <a:xfrm>
            <a:off x="105156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단일 세션: 문맥이 길어질수록 KV cache 증가</a:t>
            </a:r>
            <a:endParaRPr lang="en-US" sz="1400" dirty="0"/>
          </a:p>
        </p:txBody>
      </p:sp>
      <p:sp>
        <p:nvSpPr>
          <p:cNvPr id="4" name="L-region-over-B300"/>
          <p:cNvSpPr/>
          <p:nvPr/>
        </p:nvSpPr>
        <p:spPr>
          <a:xfrm>
            <a:off x="1234440" y="1188720"/>
            <a:ext cx="4572000" cy="1049731"/>
          </a:xfrm>
          <a:prstGeom prst="rect">
            <a:avLst/>
          </a:prstGeom>
          <a:solidFill>
            <a:srgbClr val="F6D9D6">
              <a:alpha val="70000"/>
            </a:srgbClr>
          </a:solidFill>
          <a:ln/>
        </p:spPr>
      </p:sp>
      <p:sp>
        <p:nvSpPr>
          <p:cNvPr id="5" name="L-tick-y-0"/>
          <p:cNvSpPr txBox="1"/>
          <p:nvPr/>
        </p:nvSpPr>
        <p:spPr>
          <a:xfrm>
            <a:off x="731520" y="482803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L-grid-y-50"/>
          <p:cNvSpPr/>
          <p:nvPr/>
        </p:nvSpPr>
        <p:spPr>
          <a:xfrm>
            <a:off x="1234440" y="446913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7" name="L-tick-y-50"/>
          <p:cNvSpPr txBox="1"/>
          <p:nvPr/>
        </p:nvSpPr>
        <p:spPr>
          <a:xfrm>
            <a:off x="731520" y="435940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L-grid-y-100"/>
          <p:cNvSpPr/>
          <p:nvPr/>
        </p:nvSpPr>
        <p:spPr>
          <a:xfrm>
            <a:off x="1234440" y="400050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9" name="L-tick-y-100"/>
          <p:cNvSpPr txBox="1"/>
          <p:nvPr/>
        </p:nvSpPr>
        <p:spPr>
          <a:xfrm>
            <a:off x="731520" y="389077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10" name="L-grid-y-150"/>
          <p:cNvSpPr/>
          <p:nvPr/>
        </p:nvSpPr>
        <p:spPr>
          <a:xfrm>
            <a:off x="1234440" y="353187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1" name="L-tick-y-150"/>
          <p:cNvSpPr txBox="1"/>
          <p:nvPr/>
        </p:nvSpPr>
        <p:spPr>
          <a:xfrm>
            <a:off x="731520" y="342214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000" dirty="0"/>
          </a:p>
        </p:txBody>
      </p:sp>
      <p:sp>
        <p:nvSpPr>
          <p:cNvPr id="12" name="L-grid-y-200"/>
          <p:cNvSpPr/>
          <p:nvPr/>
        </p:nvSpPr>
        <p:spPr>
          <a:xfrm>
            <a:off x="1234440" y="306324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3" name="L-tick-y-200"/>
          <p:cNvSpPr txBox="1"/>
          <p:nvPr/>
        </p:nvSpPr>
        <p:spPr>
          <a:xfrm>
            <a:off x="731520" y="295351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000" dirty="0"/>
          </a:p>
        </p:txBody>
      </p:sp>
      <p:sp>
        <p:nvSpPr>
          <p:cNvPr id="14" name="L-grid-y-250"/>
          <p:cNvSpPr/>
          <p:nvPr/>
        </p:nvSpPr>
        <p:spPr>
          <a:xfrm>
            <a:off x="1234440" y="259461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5" name="L-tick-y-250"/>
          <p:cNvSpPr txBox="1"/>
          <p:nvPr/>
        </p:nvSpPr>
        <p:spPr>
          <a:xfrm>
            <a:off x="731520" y="248488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</a:t>
            </a:r>
            <a:endParaRPr lang="en-US" sz="1000" dirty="0"/>
          </a:p>
        </p:txBody>
      </p:sp>
      <p:sp>
        <p:nvSpPr>
          <p:cNvPr id="16" name="L-grid-y-300"/>
          <p:cNvSpPr/>
          <p:nvPr/>
        </p:nvSpPr>
        <p:spPr>
          <a:xfrm>
            <a:off x="1234440" y="212598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7" name="L-tick-y-300"/>
          <p:cNvSpPr txBox="1"/>
          <p:nvPr/>
        </p:nvSpPr>
        <p:spPr>
          <a:xfrm>
            <a:off x="731520" y="201625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000" dirty="0"/>
          </a:p>
        </p:txBody>
      </p:sp>
      <p:sp>
        <p:nvSpPr>
          <p:cNvPr id="18" name="L-grid-y-350"/>
          <p:cNvSpPr/>
          <p:nvPr/>
        </p:nvSpPr>
        <p:spPr>
          <a:xfrm>
            <a:off x="1234440" y="1657350"/>
            <a:ext cx="457200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9" name="L-tick-y-350"/>
          <p:cNvSpPr txBox="1"/>
          <p:nvPr/>
        </p:nvSpPr>
        <p:spPr>
          <a:xfrm>
            <a:off x="731520" y="154762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</a:t>
            </a:r>
            <a:endParaRPr lang="en-US" sz="1000" dirty="0"/>
          </a:p>
        </p:txBody>
      </p:sp>
      <p:sp>
        <p:nvSpPr>
          <p:cNvPr id="20" name="L-tick-y-400"/>
          <p:cNvSpPr txBox="1"/>
          <p:nvPr/>
        </p:nvSpPr>
        <p:spPr>
          <a:xfrm>
            <a:off x="731520" y="107899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</a:t>
            </a:r>
            <a:endParaRPr lang="en-US" sz="1000" dirty="0"/>
          </a:p>
        </p:txBody>
      </p:sp>
      <p:sp>
        <p:nvSpPr>
          <p:cNvPr id="21" name="L-tick-x-10K"/>
          <p:cNvSpPr txBox="1"/>
          <p:nvPr/>
        </p:nvSpPr>
        <p:spPr>
          <a:xfrm>
            <a:off x="868680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10K</a:t>
            </a:r>
            <a:endParaRPr lang="en-US" sz="1000" dirty="0"/>
          </a:p>
        </p:txBody>
      </p:sp>
      <p:sp>
        <p:nvSpPr>
          <p:cNvPr id="22" name="L-grid-x-100K"/>
          <p:cNvSpPr/>
          <p:nvPr/>
        </p:nvSpPr>
        <p:spPr>
          <a:xfrm>
            <a:off x="3474087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3" name="L-tick-x-100K"/>
          <p:cNvSpPr txBox="1"/>
          <p:nvPr/>
        </p:nvSpPr>
        <p:spPr>
          <a:xfrm>
            <a:off x="3108327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100K</a:t>
            </a:r>
            <a:endParaRPr lang="en-US" sz="1000" dirty="0"/>
          </a:p>
        </p:txBody>
      </p:sp>
      <p:sp>
        <p:nvSpPr>
          <p:cNvPr id="24" name="L-grid-x-1M"/>
          <p:cNvSpPr/>
          <p:nvPr/>
        </p:nvSpPr>
        <p:spPr>
          <a:xfrm>
            <a:off x="5713735" y="1188720"/>
            <a:ext cx="0" cy="374904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5" name="L-tick-x-1M"/>
          <p:cNvSpPr txBox="1"/>
          <p:nvPr/>
        </p:nvSpPr>
        <p:spPr>
          <a:xfrm>
            <a:off x="5347975" y="4983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</a:t>
            </a:r>
            <a:endParaRPr lang="en-US" sz="1000" dirty="0"/>
          </a:p>
        </p:txBody>
      </p:sp>
      <p:sp>
        <p:nvSpPr>
          <p:cNvPr id="26" name="L-plot-frame"/>
          <p:cNvSpPr/>
          <p:nvPr/>
        </p:nvSpPr>
        <p:spPr>
          <a:xfrm>
            <a:off x="1234440" y="1188720"/>
            <a:ext cx="4572000" cy="3749040"/>
          </a:xfrm>
          <a:prstGeom prst="rect">
            <a:avLst/>
          </a:prstGeom>
          <a:ln w="12700">
            <a:solidFill>
              <a:srgbClr val="222222"/>
            </a:solidFill>
            <a:prstDash val="solid"/>
          </a:ln>
        </p:spPr>
      </p:sp>
      <p:sp>
        <p:nvSpPr>
          <p:cNvPr id="27" name="L-axis-title-x"/>
          <p:cNvSpPr txBox="1"/>
          <p:nvPr/>
        </p:nvSpPr>
        <p:spPr>
          <a:xfrm>
            <a:off x="1234440" y="5239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문맥 길이 (tokens, log)</a:t>
            </a:r>
            <a:endParaRPr lang="en-US" sz="1100" dirty="0"/>
          </a:p>
        </p:txBody>
      </p:sp>
      <p:sp>
        <p:nvSpPr>
          <p:cNvPr id="28" name="L-axis-title-y"/>
          <p:cNvSpPr txBox="1"/>
          <p:nvPr/>
        </p:nvSpPr>
        <p:spPr>
          <a:xfrm rot="16200000">
            <a:off x="-50292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크기 (GB)</a:t>
            </a:r>
            <a:endParaRPr lang="en-US" sz="1100" dirty="0"/>
          </a:p>
        </p:txBody>
      </p:sp>
      <p:sp>
        <p:nvSpPr>
          <p:cNvPr id="29" name="L-hbm-line-H100"/>
          <p:cNvSpPr/>
          <p:nvPr/>
        </p:nvSpPr>
        <p:spPr>
          <a:xfrm>
            <a:off x="1234440" y="4187952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55000"/>
              </a:srgbClr>
            </a:solidFill>
            <a:prstDash val="dash"/>
          </a:ln>
        </p:spPr>
      </p:sp>
      <p:sp>
        <p:nvSpPr>
          <p:cNvPr id="30" name="L-hbm-line-B200"/>
          <p:cNvSpPr/>
          <p:nvPr/>
        </p:nvSpPr>
        <p:spPr>
          <a:xfrm>
            <a:off x="1234440" y="3138221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75000"/>
              </a:srgbClr>
            </a:solidFill>
            <a:prstDash val="dash"/>
          </a:ln>
        </p:spPr>
      </p:sp>
      <p:sp>
        <p:nvSpPr>
          <p:cNvPr id="31" name="L-hbm-line-B300"/>
          <p:cNvSpPr/>
          <p:nvPr/>
        </p:nvSpPr>
        <p:spPr>
          <a:xfrm>
            <a:off x="1234440" y="2238451"/>
            <a:ext cx="4572000" cy="0"/>
          </a:xfrm>
          <a:prstGeom prst="line">
            <a:avLst/>
          </a:prstGeom>
          <a:noFill/>
          <a:ln w="15875">
            <a:solidFill>
              <a:srgbClr val="C0392B">
                <a:alpha val="95000"/>
              </a:srgbClr>
            </a:solidFill>
            <a:prstDash val="dash"/>
          </a:ln>
        </p:spPr>
      </p:sp>
      <p:sp>
        <p:nvSpPr>
          <p:cNvPr id="32" name="L-kv-curve"/>
          <p:cNvSpPr/>
          <p:nvPr/>
        </p:nvSpPr>
        <p:spPr>
          <a:xfrm>
            <a:off x="1234440" y="1844802"/>
            <a:ext cx="4479295" cy="3062028"/>
          </a:xfrm>
          <a:custGeom>
            <a:avLst/>
            <a:gdLst/>
            <a:ahLst/>
            <a:cxnLst/>
            <a:rect l="l" t="t" r="r" b="b"/>
            <a:pathLst>
              <a:path w="4479295" h="3062028">
                <a:moveTo>
                  <a:pt x="0" y="3062028"/>
                </a:moveTo>
                <a:lnTo>
                  <a:pt x="74655" y="3059561"/>
                </a:lnTo>
                <a:lnTo>
                  <a:pt x="149310" y="3056897"/>
                </a:lnTo>
                <a:lnTo>
                  <a:pt x="223965" y="3054020"/>
                </a:lnTo>
                <a:lnTo>
                  <a:pt x="298620" y="3050914"/>
                </a:lnTo>
                <a:lnTo>
                  <a:pt x="373275" y="3047560"/>
                </a:lnTo>
                <a:lnTo>
                  <a:pt x="447929" y="3043938"/>
                </a:lnTo>
                <a:lnTo>
                  <a:pt x="522584" y="3040027"/>
                </a:lnTo>
                <a:lnTo>
                  <a:pt x="597239" y="3035805"/>
                </a:lnTo>
                <a:lnTo>
                  <a:pt x="671894" y="3031245"/>
                </a:lnTo>
                <a:lnTo>
                  <a:pt x="746549" y="3026322"/>
                </a:lnTo>
                <a:lnTo>
                  <a:pt x="821204" y="3021006"/>
                </a:lnTo>
                <a:lnTo>
                  <a:pt x="895859" y="3015266"/>
                </a:lnTo>
                <a:lnTo>
                  <a:pt x="970514" y="3009069"/>
                </a:lnTo>
                <a:lnTo>
                  <a:pt x="1045169" y="3002376"/>
                </a:lnTo>
                <a:lnTo>
                  <a:pt x="1119824" y="2995150"/>
                </a:lnTo>
                <a:lnTo>
                  <a:pt x="1194479" y="2987347"/>
                </a:lnTo>
                <a:lnTo>
                  <a:pt x="1269134" y="2978922"/>
                </a:lnTo>
                <a:lnTo>
                  <a:pt x="1343788" y="2969825"/>
                </a:lnTo>
                <a:lnTo>
                  <a:pt x="1418443" y="2960002"/>
                </a:lnTo>
                <a:lnTo>
                  <a:pt x="1493098" y="2949396"/>
                </a:lnTo>
                <a:lnTo>
                  <a:pt x="1567753" y="2937943"/>
                </a:lnTo>
                <a:lnTo>
                  <a:pt x="1642408" y="2925577"/>
                </a:lnTo>
                <a:lnTo>
                  <a:pt x="1717063" y="2912224"/>
                </a:lnTo>
                <a:lnTo>
                  <a:pt x="1791718" y="2897806"/>
                </a:lnTo>
                <a:lnTo>
                  <a:pt x="1866373" y="2882237"/>
                </a:lnTo>
                <a:lnTo>
                  <a:pt x="1941028" y="2865427"/>
                </a:lnTo>
                <a:lnTo>
                  <a:pt x="2015683" y="2847276"/>
                </a:lnTo>
                <a:lnTo>
                  <a:pt x="2090338" y="2827676"/>
                </a:lnTo>
                <a:lnTo>
                  <a:pt x="2164993" y="2806513"/>
                </a:lnTo>
                <a:lnTo>
                  <a:pt x="2239647" y="2783662"/>
                </a:lnTo>
                <a:lnTo>
                  <a:pt x="2314302" y="2758988"/>
                </a:lnTo>
                <a:lnTo>
                  <a:pt x="2388957" y="2732346"/>
                </a:lnTo>
                <a:lnTo>
                  <a:pt x="2463612" y="2703578"/>
                </a:lnTo>
                <a:lnTo>
                  <a:pt x="2538267" y="2672515"/>
                </a:lnTo>
                <a:lnTo>
                  <a:pt x="2612922" y="2638974"/>
                </a:lnTo>
                <a:lnTo>
                  <a:pt x="2687577" y="2602757"/>
                </a:lnTo>
                <a:lnTo>
                  <a:pt x="2762232" y="2563651"/>
                </a:lnTo>
                <a:lnTo>
                  <a:pt x="2836887" y="2521426"/>
                </a:lnTo>
                <a:lnTo>
                  <a:pt x="2911542" y="2475832"/>
                </a:lnTo>
                <a:lnTo>
                  <a:pt x="2986197" y="2426600"/>
                </a:lnTo>
                <a:lnTo>
                  <a:pt x="3060852" y="2373442"/>
                </a:lnTo>
                <a:lnTo>
                  <a:pt x="3135506" y="2316042"/>
                </a:lnTo>
                <a:lnTo>
                  <a:pt x="3210161" y="2254063"/>
                </a:lnTo>
                <a:lnTo>
                  <a:pt x="3284816" y="2187141"/>
                </a:lnTo>
                <a:lnTo>
                  <a:pt x="3359471" y="2114879"/>
                </a:lnTo>
                <a:lnTo>
                  <a:pt x="3434126" y="2036852"/>
                </a:lnTo>
                <a:lnTo>
                  <a:pt x="3508781" y="1952601"/>
                </a:lnTo>
                <a:lnTo>
                  <a:pt x="3583436" y="1861629"/>
                </a:lnTo>
                <a:lnTo>
                  <a:pt x="3658091" y="1763400"/>
                </a:lnTo>
                <a:lnTo>
                  <a:pt x="3732746" y="1657334"/>
                </a:lnTo>
                <a:lnTo>
                  <a:pt x="3807401" y="1542807"/>
                </a:lnTo>
                <a:lnTo>
                  <a:pt x="3882056" y="1419143"/>
                </a:lnTo>
                <a:lnTo>
                  <a:pt x="3956711" y="1285615"/>
                </a:lnTo>
                <a:lnTo>
                  <a:pt x="4031365" y="1141433"/>
                </a:lnTo>
                <a:lnTo>
                  <a:pt x="4106020" y="985750"/>
                </a:lnTo>
                <a:lnTo>
                  <a:pt x="4180675" y="817647"/>
                </a:lnTo>
                <a:lnTo>
                  <a:pt x="4255330" y="636134"/>
                </a:lnTo>
                <a:lnTo>
                  <a:pt x="4329985" y="440141"/>
                </a:lnTo>
                <a:lnTo>
                  <a:pt x="4404640" y="228512"/>
                </a:lnTo>
                <a:lnTo>
                  <a:pt x="4479295" y="0"/>
                </a:lnTo>
              </a:path>
            </a:pathLst>
          </a:custGeom>
          <a:ln w="38100">
            <a:solidFill>
              <a:srgbClr val="1F3B73"/>
            </a:solidFill>
            <a:prstDash val="solid"/>
          </a:ln>
        </p:spPr>
      </p:sp>
      <p:sp>
        <p:nvSpPr>
          <p:cNvPr id="33" name="L-label-chat"/>
          <p:cNvSpPr txBox="1"/>
          <p:nvPr/>
        </p:nvSpPr>
        <p:spPr>
          <a:xfrm>
            <a:off x="1280160" y="446751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1× · ≈6.3 GB</a:t>
            </a:r>
            <a:endParaRPr lang="en-US" sz="900" dirty="0"/>
          </a:p>
        </p:txBody>
      </p:sp>
      <p:sp>
        <p:nvSpPr>
          <p:cNvPr id="34" name="L-label-agent"/>
          <p:cNvSpPr txBox="1"/>
          <p:nvPr/>
        </p:nvSpPr>
        <p:spPr>
          <a:xfrm>
            <a:off x="1868389" y="42028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≈4× · ≈25 GB</a:t>
            </a:r>
            <a:endParaRPr lang="en-US" sz="900" dirty="0"/>
          </a:p>
        </p:txBody>
      </p:sp>
      <p:sp>
        <p:nvSpPr>
          <p:cNvPr id="35" name="L-label-multi"/>
          <p:cNvSpPr txBox="1"/>
          <p:nvPr/>
        </p:nvSpPr>
        <p:spPr>
          <a:xfrm>
            <a:off x="2833111" y="365715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≈15× · ≈93 GB</a:t>
            </a:r>
            <a:endParaRPr lang="en-US" sz="900" dirty="0"/>
          </a:p>
        </p:txBody>
      </p:sp>
      <p:sp>
        <p:nvSpPr>
          <p:cNvPr id="36" name="L-pt-chat"/>
          <p:cNvSpPr/>
          <p:nvPr/>
        </p:nvSpPr>
        <p:spPr>
          <a:xfrm>
            <a:off x="1794742" y="4814986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L-pt-agent"/>
          <p:cNvSpPr/>
          <p:nvPr/>
        </p:nvSpPr>
        <p:spPr>
          <a:xfrm>
            <a:off x="3130261" y="4641780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L-pt-multi"/>
          <p:cNvSpPr/>
          <p:nvPr/>
        </p:nvSpPr>
        <p:spPr>
          <a:xfrm>
            <a:off x="4415023" y="4004631"/>
            <a:ext cx="128016" cy="128016"/>
          </a:xfrm>
          <a:prstGeom prst="ellipse">
            <a:avLst/>
          </a:prstGeom>
          <a:solidFill>
            <a:srgbClr val="2F6D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L-hbm-label-H100"/>
          <p:cNvSpPr txBox="1"/>
          <p:nvPr/>
        </p:nvSpPr>
        <p:spPr>
          <a:xfrm>
            <a:off x="1289304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H100 80 GB</a:t>
            </a:r>
            <a:endParaRPr lang="en-US" sz="950" dirty="0"/>
          </a:p>
        </p:txBody>
      </p:sp>
      <p:sp>
        <p:nvSpPr>
          <p:cNvPr id="40" name="L-hbm-label-B200"/>
          <p:cNvSpPr txBox="1"/>
          <p:nvPr/>
        </p:nvSpPr>
        <p:spPr>
          <a:xfrm>
            <a:off x="1289304" y="290962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B200 192 GB</a:t>
            </a:r>
            <a:endParaRPr lang="en-US" sz="950" dirty="0"/>
          </a:p>
        </p:txBody>
      </p:sp>
      <p:sp>
        <p:nvSpPr>
          <p:cNvPr id="41" name="L-hbm-label-B300"/>
          <p:cNvSpPr txBox="1"/>
          <p:nvPr/>
        </p:nvSpPr>
        <p:spPr>
          <a:xfrm>
            <a:off x="1289304" y="200985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B300 288 GB</a:t>
            </a:r>
            <a:endParaRPr lang="en-US" sz="950" dirty="0"/>
          </a:p>
        </p:txBody>
      </p:sp>
      <p:sp>
        <p:nvSpPr>
          <p:cNvPr id="42" name="L-pt-1M"/>
          <p:cNvSpPr/>
          <p:nvPr/>
        </p:nvSpPr>
        <p:spPr>
          <a:xfrm>
            <a:off x="5567431" y="1698498"/>
            <a:ext cx="292608" cy="292608"/>
          </a:xfrm>
          <a:prstGeom prst="star5">
            <a:avLst/>
          </a:prstGeom>
          <a:solidFill>
            <a:srgbClr val="D35400"/>
          </a:solidFill>
          <a:ln w="6350">
            <a:solidFill>
              <a:srgbClr val="D35400"/>
            </a:solidFill>
            <a:prstDash val="solid"/>
          </a:ln>
        </p:spPr>
      </p:sp>
      <p:sp>
        <p:nvSpPr>
          <p:cNvPr id="43" name="L-label-1M"/>
          <p:cNvSpPr txBox="1"/>
          <p:nvPr/>
        </p:nvSpPr>
        <p:spPr>
          <a:xfrm>
            <a:off x="3564895" y="1231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 · ≈330 GB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세션이 B300 1개 초과</a:t>
            </a:r>
            <a:endParaRPr lang="en-US" sz="950" dirty="0"/>
          </a:p>
        </p:txBody>
      </p:sp>
      <p:sp>
        <p:nvSpPr>
          <p:cNvPr id="44" name="R-title"/>
          <p:cNvSpPr txBox="1"/>
          <p:nvPr/>
        </p:nvSpPr>
        <p:spPr>
          <a:xfrm>
            <a:off x="653796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에이전트·세션이 늘면 총 KV는 수 자릿수 증가</a:t>
            </a:r>
            <a:endParaRPr lang="en-US" sz="1400" dirty="0"/>
          </a:p>
        </p:txBody>
      </p:sp>
      <p:sp>
        <p:nvSpPr>
          <p:cNvPr id="45" name="R-region-over-B300"/>
          <p:cNvSpPr/>
          <p:nvPr/>
        </p:nvSpPr>
        <p:spPr>
          <a:xfrm>
            <a:off x="7360920" y="1188720"/>
            <a:ext cx="3566160" cy="3201952"/>
          </a:xfrm>
          <a:prstGeom prst="rect">
            <a:avLst/>
          </a:prstGeom>
          <a:solidFill>
            <a:srgbClr val="F6D9D6">
              <a:alpha val="70000"/>
            </a:srgbClr>
          </a:solidFill>
          <a:ln/>
        </p:spPr>
      </p:sp>
      <p:sp>
        <p:nvSpPr>
          <p:cNvPr id="46" name="R-grid-100 GB"/>
          <p:cNvSpPr/>
          <p:nvPr/>
        </p:nvSpPr>
        <p:spPr>
          <a:xfrm>
            <a:off x="7360920" y="4683823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47" name="R-tick-100 GB"/>
          <p:cNvSpPr txBox="1"/>
          <p:nvPr/>
        </p:nvSpPr>
        <p:spPr>
          <a:xfrm>
            <a:off x="6675120" y="4574095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GB</a:t>
            </a:r>
            <a:endParaRPr lang="en-US" sz="1000" dirty="0"/>
          </a:p>
        </p:txBody>
      </p:sp>
      <p:sp>
        <p:nvSpPr>
          <p:cNvPr id="48" name="R-grid-1 TB"/>
          <p:cNvSpPr/>
          <p:nvPr/>
        </p:nvSpPr>
        <p:spPr>
          <a:xfrm>
            <a:off x="7360920" y="4045696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49" name="R-tick-1 TB"/>
          <p:cNvSpPr txBox="1"/>
          <p:nvPr/>
        </p:nvSpPr>
        <p:spPr>
          <a:xfrm>
            <a:off x="6675120" y="39359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TB</a:t>
            </a:r>
            <a:endParaRPr lang="en-US" sz="1000" dirty="0"/>
          </a:p>
        </p:txBody>
      </p:sp>
      <p:sp>
        <p:nvSpPr>
          <p:cNvPr id="50" name="R-grid-10 TB"/>
          <p:cNvSpPr/>
          <p:nvPr/>
        </p:nvSpPr>
        <p:spPr>
          <a:xfrm>
            <a:off x="7360920" y="3407568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1" name="R-tick-10 TB"/>
          <p:cNvSpPr txBox="1"/>
          <p:nvPr/>
        </p:nvSpPr>
        <p:spPr>
          <a:xfrm>
            <a:off x="6675120" y="32978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TB</a:t>
            </a:r>
            <a:endParaRPr lang="en-US" sz="1000" dirty="0"/>
          </a:p>
        </p:txBody>
      </p:sp>
      <p:sp>
        <p:nvSpPr>
          <p:cNvPr id="52" name="R-grid-100 TB"/>
          <p:cNvSpPr/>
          <p:nvPr/>
        </p:nvSpPr>
        <p:spPr>
          <a:xfrm>
            <a:off x="7360920" y="2769440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3" name="R-tick-100 TB"/>
          <p:cNvSpPr txBox="1"/>
          <p:nvPr/>
        </p:nvSpPr>
        <p:spPr>
          <a:xfrm>
            <a:off x="6675120" y="26597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TB</a:t>
            </a:r>
            <a:endParaRPr lang="en-US" sz="1000" dirty="0"/>
          </a:p>
        </p:txBody>
      </p:sp>
      <p:sp>
        <p:nvSpPr>
          <p:cNvPr id="54" name="R-grid-1 PB"/>
          <p:cNvSpPr/>
          <p:nvPr/>
        </p:nvSpPr>
        <p:spPr>
          <a:xfrm>
            <a:off x="7360920" y="2131312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5" name="R-tick-1 PB"/>
          <p:cNvSpPr txBox="1"/>
          <p:nvPr/>
        </p:nvSpPr>
        <p:spPr>
          <a:xfrm>
            <a:off x="6675120" y="202158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PB</a:t>
            </a:r>
            <a:endParaRPr lang="en-US" sz="1000" dirty="0"/>
          </a:p>
        </p:txBody>
      </p:sp>
      <p:sp>
        <p:nvSpPr>
          <p:cNvPr id="56" name="R-grid-10 PB"/>
          <p:cNvSpPr/>
          <p:nvPr/>
        </p:nvSpPr>
        <p:spPr>
          <a:xfrm>
            <a:off x="7360920" y="1493184"/>
            <a:ext cx="35661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57" name="R-tick-10 PB"/>
          <p:cNvSpPr txBox="1"/>
          <p:nvPr/>
        </p:nvSpPr>
        <p:spPr>
          <a:xfrm>
            <a:off x="6675120" y="138345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PB</a:t>
            </a:r>
            <a:endParaRPr lang="en-US" sz="1000" dirty="0"/>
          </a:p>
        </p:txBody>
      </p:sp>
      <p:sp>
        <p:nvSpPr>
          <p:cNvPr id="58" name="R-axis-title-y"/>
          <p:cNvSpPr txBox="1"/>
          <p:nvPr/>
        </p:nvSpPr>
        <p:spPr>
          <a:xfrm rot="16200000">
            <a:off x="548640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KV cache 크기 (log)</a:t>
            </a:r>
            <a:endParaRPr lang="en-US" sz="1100" dirty="0"/>
          </a:p>
        </p:txBody>
      </p:sp>
      <p:sp>
        <p:nvSpPr>
          <p:cNvPr id="59" name="R-bar-1"/>
          <p:cNvSpPr/>
          <p:nvPr/>
        </p:nvSpPr>
        <p:spPr>
          <a:xfrm>
            <a:off x="7530313" y="4175065"/>
            <a:ext cx="552755" cy="762695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60" name="R-bar-label-1"/>
          <p:cNvSpPr txBox="1"/>
          <p:nvPr/>
        </p:nvSpPr>
        <p:spPr>
          <a:xfrm>
            <a:off x="7303770" y="377272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630 GB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(≈2×)</a:t>
            </a:r>
            <a:endParaRPr lang="en-US" sz="950" dirty="0"/>
          </a:p>
        </p:txBody>
      </p:sp>
      <p:sp>
        <p:nvSpPr>
          <p:cNvPr id="61" name="R-xlabel-1"/>
          <p:cNvSpPr txBox="1"/>
          <p:nvPr/>
        </p:nvSpPr>
        <p:spPr>
          <a:xfrm>
            <a:off x="737920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62" name="R-bar-2"/>
          <p:cNvSpPr/>
          <p:nvPr/>
        </p:nvSpPr>
        <p:spPr>
          <a:xfrm>
            <a:off x="8421853" y="3794544"/>
            <a:ext cx="552755" cy="1143216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63" name="R-bar-label-2"/>
          <p:cNvSpPr txBox="1"/>
          <p:nvPr/>
        </p:nvSpPr>
        <p:spPr>
          <a:xfrm>
            <a:off x="8195310" y="3392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TB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(≈9×)</a:t>
            </a:r>
            <a:endParaRPr lang="en-US" sz="950" dirty="0"/>
          </a:p>
        </p:txBody>
      </p:sp>
      <p:sp>
        <p:nvSpPr>
          <p:cNvPr id="64" name="R-xlabel-2"/>
          <p:cNvSpPr txBox="1"/>
          <p:nvPr/>
        </p:nvSpPr>
        <p:spPr>
          <a:xfrm>
            <a:off x="827074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65" name="R-bar-3"/>
          <p:cNvSpPr/>
          <p:nvPr/>
        </p:nvSpPr>
        <p:spPr>
          <a:xfrm>
            <a:off x="9313393" y="3428485"/>
            <a:ext cx="552755" cy="1509275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66" name="R-bar-label-3"/>
          <p:cNvSpPr txBox="1"/>
          <p:nvPr/>
        </p:nvSpPr>
        <p:spPr>
          <a:xfrm>
            <a:off x="9086850" y="302614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 TB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(≈32×)</a:t>
            </a:r>
            <a:endParaRPr lang="en-US" sz="950" dirty="0"/>
          </a:p>
        </p:txBody>
      </p:sp>
      <p:sp>
        <p:nvSpPr>
          <p:cNvPr id="67" name="R-xlabel-3"/>
          <p:cNvSpPr txBox="1"/>
          <p:nvPr/>
        </p:nvSpPr>
        <p:spPr>
          <a:xfrm>
            <a:off x="916228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×100세션</a:t>
            </a:r>
            <a:endParaRPr lang="en-US" sz="900" dirty="0"/>
          </a:p>
        </p:txBody>
      </p:sp>
      <p:sp>
        <p:nvSpPr>
          <p:cNvPr id="68" name="R-bar-4"/>
          <p:cNvSpPr/>
          <p:nvPr/>
        </p:nvSpPr>
        <p:spPr>
          <a:xfrm>
            <a:off x="10204933" y="1800434"/>
            <a:ext cx="552755" cy="313732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9" name="R-bar-label-4"/>
          <p:cNvSpPr txBox="1"/>
          <p:nvPr/>
        </p:nvSpPr>
        <p:spPr>
          <a:xfrm>
            <a:off x="9978390" y="139809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PB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(≈11,500×)</a:t>
            </a:r>
            <a:endParaRPr lang="en-US" sz="950" dirty="0"/>
          </a:p>
        </p:txBody>
      </p:sp>
      <p:sp>
        <p:nvSpPr>
          <p:cNvPr id="70" name="R-xlabel-4"/>
          <p:cNvSpPr txBox="1"/>
          <p:nvPr/>
        </p:nvSpPr>
        <p:spPr>
          <a:xfrm>
            <a:off x="10053828" y="4983480"/>
            <a:ext cx="85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ASTRA [4]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 × 10,000 agents</a:t>
            </a:r>
            <a:endParaRPr lang="en-US" sz="900" dirty="0"/>
          </a:p>
        </p:txBody>
      </p:sp>
      <p:sp>
        <p:nvSpPr>
          <p:cNvPr id="71" name="R-plot-frame"/>
          <p:cNvSpPr/>
          <p:nvPr/>
        </p:nvSpPr>
        <p:spPr>
          <a:xfrm>
            <a:off x="7360920" y="1188720"/>
            <a:ext cx="3566160" cy="3749040"/>
          </a:xfrm>
          <a:prstGeom prst="rect">
            <a:avLst/>
          </a:prstGeom>
          <a:ln w="12700">
            <a:solidFill>
              <a:srgbClr val="222222"/>
            </a:solidFill>
            <a:prstDash val="solid"/>
          </a:ln>
        </p:spPr>
      </p:sp>
      <p:sp>
        <p:nvSpPr>
          <p:cNvPr id="72" name="R-hbm-line-H100"/>
          <p:cNvSpPr/>
          <p:nvPr/>
        </p:nvSpPr>
        <p:spPr>
          <a:xfrm>
            <a:off x="7360920" y="4745664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55000"/>
              </a:srgbClr>
            </a:solidFill>
            <a:prstDash val="dash"/>
          </a:ln>
        </p:spPr>
      </p:sp>
      <p:sp>
        <p:nvSpPr>
          <p:cNvPr id="73" name="R-hbm-label-H100"/>
          <p:cNvSpPr txBox="1"/>
          <p:nvPr/>
        </p:nvSpPr>
        <p:spPr>
          <a:xfrm>
            <a:off x="11000232" y="463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H100 80 GB</a:t>
            </a:r>
            <a:endParaRPr lang="en-US" sz="950" dirty="0"/>
          </a:p>
        </p:txBody>
      </p:sp>
      <p:sp>
        <p:nvSpPr>
          <p:cNvPr id="74" name="R-hbm-line-B200"/>
          <p:cNvSpPr/>
          <p:nvPr/>
        </p:nvSpPr>
        <p:spPr>
          <a:xfrm>
            <a:off x="7360920" y="4503041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75000"/>
              </a:srgbClr>
            </a:solidFill>
            <a:prstDash val="dash"/>
          </a:ln>
        </p:spPr>
      </p:sp>
      <p:sp>
        <p:nvSpPr>
          <p:cNvPr id="75" name="R-hbm-line-B300"/>
          <p:cNvSpPr/>
          <p:nvPr/>
        </p:nvSpPr>
        <p:spPr>
          <a:xfrm>
            <a:off x="7360920" y="4390672"/>
            <a:ext cx="3566160" cy="0"/>
          </a:xfrm>
          <a:prstGeom prst="line">
            <a:avLst/>
          </a:prstGeom>
          <a:noFill/>
          <a:ln w="15875">
            <a:solidFill>
              <a:srgbClr val="C0392B">
                <a:alpha val="95000"/>
              </a:srgbClr>
            </a:solidFill>
            <a:prstDash val="dash"/>
          </a:ln>
        </p:spPr>
      </p:sp>
      <p:sp>
        <p:nvSpPr>
          <p:cNvPr id="76" name="R-hbm-label-B300"/>
          <p:cNvSpPr txBox="1"/>
          <p:nvPr/>
        </p:nvSpPr>
        <p:spPr>
          <a:xfrm>
            <a:off x="11000232" y="4280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B300 288 GB</a:t>
            </a:r>
            <a:endParaRPr lang="en-US" sz="950" dirty="0"/>
          </a:p>
        </p:txBody>
      </p:sp>
      <p:sp>
        <p:nvSpPr>
          <p:cNvPr id="77" name="R-subtitle"/>
          <p:cNvSpPr txBox="1"/>
          <p:nvPr/>
        </p:nvSpPr>
        <p:spPr>
          <a:xfrm>
            <a:off x="6537960" y="868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괄호: B300 1개 HBM(288 GB) 대비 배수</a:t>
            </a:r>
            <a:endParaRPr lang="en-US" sz="1000" dirty="0"/>
          </a:p>
        </p:txBody>
      </p:sp>
      <p:sp>
        <p:nvSpPr>
          <p:cNvPr id="78" name="footnote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[1] arXiv:2605.26297  [2] arXiv:2608.15127  [3] Anthropic Eng. Blog  [4] ASTRA  [10] Conceptual illustration based on Continuum (Li et al., 2025), arXiv:2511.02230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0.33MB/token (Llama-3.1-70B, BF16). 문맥 길이: 에이전트 ≈75K [1] (SWE-bench Pro 평균 누적 문맥 69–80K), 채팅·멀티에이전트는 [3]의 토큰 사용량 배수(≈4×/≈15×)를 적용한 가정.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GPU 1개 HBM 총량 H100 80 / B200 192 / B300 288 GB (가중치 미차감). 동시 세션 수·ASTRA 설정은 전부 KV 상주 가정의 상한 (prefix 공유·압축·양자화 미반영).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수요 (단일 세션 / 에이전트·세션 증가) - 도형 편집형</dc:title>
  <dc:subject>PptxGenJS Presentation</dc:subject>
  <dc:creator>PptxGenJS</dc:creator>
  <cp:lastModifiedBy>PptxGenJS</cp:lastModifiedBy>
  <cp:revision>1</cp:revision>
  <dcterms:created xsi:type="dcterms:W3CDTF">2026-10-28T04:26:52Z</dcterms:created>
  <dcterms:modified xsi:type="dcterms:W3CDTF">2026-10-28T04:26:52Z</dcterms:modified>
</cp:coreProperties>
</file>
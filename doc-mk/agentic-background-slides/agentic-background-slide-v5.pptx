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grpSp>
        <p:nvGrpSpPr>
          <p:cNvPr id="3013" name="Figure A (graph image + editable text)"/>
          <p:cNvGrpSpPr/>
          <p:nvPr/>
        </p:nvGrpSpPr>
        <p:grpSpPr>
          <a:xfrm>
            <a:off x="709672" y="1100000"/>
            <a:ext cx="4850000" cy="1861974"/>
            <a:chOff x="709672" y="1100000"/>
            <a:chExt cx="4850000" cy="1861974"/>
          </a:xfrm>
        </p:grpSpPr>
        <p:pic>
          <p:nvPicPr>
            <p:cNvPr id="3001" name="Graph A" descr="누적 문맥에 따른 Llama-3.1-70B KV cache 증가와 HBM 용량 비교 그래프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9672" y="1100000"/>
              <a:ext cx="4850000" cy="1861974"/>
            </a:xfrm>
            <a:prstGeom prst="rect">
              <a:avLst/>
            </a:prstGeom>
          </p:spPr>
        </p:pic>
        <p:sp>
          <p:nvSpPr>
            <p:cNvPr id="3002" name="Text A"/>
            <p:cNvSpPr txBox="1"/>
            <p:nvPr/>
          </p:nvSpPr>
          <p:spPr>
            <a:xfrm>
              <a:off x="754004" y="1126599"/>
              <a:ext cx="3191956" cy="1238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27" dirty="0">
                  <a:solidFill>
                    <a:srgbClr val="1F2933"/>
                  </a:solidFill>
                </a:rPr>
                <a:t>① 문맥 누적 → KV cache 증가 → HBM 초과   (Llama-3.1-70B, BF16, 시퀀스 1개)</a:t>
              </a:r>
            </a:p>
          </p:txBody>
        </p:sp>
        <p:sp>
          <p:nvSpPr>
            <p:cNvPr id="3003" name="Text A"/>
            <p:cNvSpPr txBox="1"/>
            <p:nvPr/>
          </p:nvSpPr>
          <p:spPr>
            <a:xfrm>
              <a:off x="1294863" y="1267700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[1] 실측 앵커 (SWE-bench Pro 평균 누적 문맥 69–80K)</a:t>
              </a:r>
            </a:p>
          </p:txBody>
        </p:sp>
        <p:sp>
          <p:nvSpPr>
            <p:cNvPr id="3004" name="Text A"/>
            <p:cNvSpPr txBox="1"/>
            <p:nvPr/>
          </p:nvSpPr>
          <p:spPr>
            <a:xfrm>
              <a:off x="3839562" y="1267700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가정: [3] 토큰 사용량 배수 적용</a:t>
              </a:r>
            </a:p>
          </p:txBody>
        </p:sp>
        <p:sp>
          <p:nvSpPr>
            <p:cNvPr id="3005" name="Text A"/>
            <p:cNvSpPr txBox="1"/>
            <p:nvPr/>
          </p:nvSpPr>
          <p:spPr>
            <a:xfrm>
              <a:off x="1232798" y="1434268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B200 · MI300X HBM 192 GB</a:t>
              </a:r>
            </a:p>
          </p:txBody>
        </p:sp>
        <p:sp>
          <p:nvSpPr>
            <p:cNvPr id="3006" name="Text A"/>
            <p:cNvSpPr txBox="1"/>
            <p:nvPr/>
          </p:nvSpPr>
          <p:spPr>
            <a:xfrm>
              <a:off x="2247130" y="198485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H100 HBM 80 GB</a:t>
              </a:r>
            </a:p>
          </p:txBody>
        </p:sp>
        <p:sp>
          <p:nvSpPr>
            <p:cNvPr id="3007" name="Text A"/>
            <p:cNvSpPr txBox="1"/>
            <p:nvPr/>
          </p:nvSpPr>
          <p:spPr>
            <a:xfrm>
              <a:off x="3000011" y="2197678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244K 토큰에서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H100 80 GB 초과</a:t>
              </a:r>
            </a:p>
          </p:txBody>
        </p:sp>
        <p:sp>
          <p:nvSpPr>
            <p:cNvPr id="3008" name="Text A"/>
            <p:cNvSpPr txBox="1"/>
            <p:nvPr/>
          </p:nvSpPr>
          <p:spPr>
            <a:xfrm>
              <a:off x="1225704" y="214441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채팅  1×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≈19K · ≈6 GB</a:t>
              </a:r>
            </a:p>
          </p:txBody>
        </p:sp>
        <p:sp>
          <p:nvSpPr>
            <p:cNvPr id="3009" name="Text A"/>
            <p:cNvSpPr txBox="1"/>
            <p:nvPr/>
          </p:nvSpPr>
          <p:spPr>
            <a:xfrm>
              <a:off x="1991774" y="236164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에이전트  ≈4×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69–80K · ≈25 GB</a:t>
              </a:r>
            </a:p>
          </p:txBody>
        </p:sp>
        <p:sp>
          <p:nvSpPr>
            <p:cNvPr id="3010" name="Text A"/>
            <p:cNvSpPr txBox="1"/>
            <p:nvPr/>
          </p:nvSpPr>
          <p:spPr>
            <a:xfrm>
              <a:off x="3325302" y="238026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멀티에이전트  ≈15×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≈281K · ≈92 GB</a:t>
              </a:r>
            </a:p>
          </p:txBody>
        </p:sp>
        <p:sp>
          <p:nvSpPr>
            <p:cNvPr id="3011" name="Text A"/>
            <p:cNvSpPr txBox="1"/>
            <p:nvPr/>
          </p:nvSpPr>
          <p:spPr>
            <a:xfrm>
              <a:off x="1729324" y="2757585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누적 문맥 길이 (tokens)</a:t>
              </a:r>
            </a:p>
          </p:txBody>
        </p:sp>
        <p:sp>
          <p:nvSpPr>
            <p:cNvPr id="3012" name="Text A"/>
            <p:cNvSpPr txBox="1"/>
            <p:nvPr/>
          </p:nvSpPr>
          <p:spPr>
            <a:xfrm rot="16200000">
              <a:off x="239745" y="1915722"/>
              <a:ext cx="1241316" cy="141864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KV cache (GB)</a:t>
              </a:r>
            </a:p>
          </p:txBody>
        </p:sp>
      </p:grpSp>
      <p:grpSp>
        <p:nvGrpSpPr>
          <p:cNvPr id="3039" name="Figure B (graph image + editable text)"/>
          <p:cNvGrpSpPr/>
          <p:nvPr/>
        </p:nvGrpSpPr>
        <p:grpSpPr>
          <a:xfrm>
            <a:off x="709672" y="2981974"/>
            <a:ext cx="4850000" cy="1799908"/>
            <a:chOff x="709672" y="2981974"/>
            <a:chExt cx="4850000" cy="1799908"/>
          </a:xfrm>
        </p:grpSpPr>
        <p:pic>
          <p:nvPicPr>
            <p:cNvPr id="3014" name="Graph B" descr="세션 수명 중 실행 시간 비율과 실행 구간 내 단계별 처리 시간 격차 그래프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9672" y="2981974"/>
              <a:ext cx="4850000" cy="1799908"/>
            </a:xfrm>
            <a:prstGeom prst="rect">
              <a:avLst/>
            </a:prstGeom>
          </p:spPr>
        </p:pic>
        <p:sp>
          <p:nvSpPr>
            <p:cNvPr id="3015" name="Text B"/>
            <p:cNvSpPr txBox="1"/>
            <p:nvPr/>
          </p:nvSpPr>
          <p:spPr>
            <a:xfrm>
              <a:off x="-540510" y="408242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5.6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1×</a:t>
              </a:r>
            </a:p>
          </p:txBody>
        </p:sp>
        <p:sp>
          <p:nvSpPr>
            <p:cNvPr id="3016" name="Text B"/>
            <p:cNvSpPr txBox="1"/>
            <p:nvPr/>
          </p:nvSpPr>
          <p:spPr>
            <a:xfrm>
              <a:off x="-540510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부하 없음</a:t>
              </a:r>
            </a:p>
          </p:txBody>
        </p:sp>
        <p:sp>
          <p:nvSpPr>
            <p:cNvPr id="3017" name="Text B"/>
            <p:cNvSpPr txBox="1"/>
            <p:nvPr/>
          </p:nvSpPr>
          <p:spPr>
            <a:xfrm>
              <a:off x="-61717" y="3990927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40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7.1×</a:t>
              </a:r>
            </a:p>
          </p:txBody>
        </p:sp>
        <p:sp>
          <p:nvSpPr>
            <p:cNvPr id="3018" name="Text B"/>
            <p:cNvSpPr txBox="1"/>
            <p:nvPr/>
          </p:nvSpPr>
          <p:spPr>
            <a:xfrm>
              <a:off x="-61717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106K tok/s</a:t>
              </a:r>
            </a:p>
          </p:txBody>
        </p:sp>
        <p:sp>
          <p:nvSpPr>
            <p:cNvPr id="3019" name="Text B"/>
            <p:cNvSpPr txBox="1"/>
            <p:nvPr/>
          </p:nvSpPr>
          <p:spPr>
            <a:xfrm>
              <a:off x="417076" y="3565333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200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35.7×</a:t>
              </a:r>
            </a:p>
          </p:txBody>
        </p:sp>
        <p:sp>
          <p:nvSpPr>
            <p:cNvPr id="3020" name="Text B"/>
            <p:cNvSpPr txBox="1"/>
            <p:nvPr/>
          </p:nvSpPr>
          <p:spPr>
            <a:xfrm>
              <a:off x="417076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128K tok/s</a:t>
              </a:r>
            </a:p>
          </p:txBody>
        </p:sp>
        <p:sp>
          <p:nvSpPr>
            <p:cNvPr id="3021" name="Text B"/>
            <p:cNvSpPr txBox="1"/>
            <p:nvPr/>
          </p:nvSpPr>
          <p:spPr>
            <a:xfrm>
              <a:off x="798337" y="3247970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검색  ·  임베딩 서비스 (같은 큐)</a:t>
              </a:r>
            </a:p>
          </p:txBody>
        </p:sp>
        <p:sp>
          <p:nvSpPr>
            <p:cNvPr id="3022" name="Text B"/>
            <p:cNvSpPr txBox="1"/>
            <p:nvPr/>
          </p:nvSpPr>
          <p:spPr>
            <a:xfrm>
              <a:off x="798337" y="3389835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질의 평균 지연 vs 문서 임베딩 배경 부하</a:t>
              </a:r>
            </a:p>
          </p:txBody>
        </p:sp>
        <p:sp>
          <p:nvSpPr>
            <p:cNvPr id="3023" name="Text B"/>
            <p:cNvSpPr txBox="1"/>
            <p:nvPr/>
          </p:nvSpPr>
          <p:spPr>
            <a:xfrm>
              <a:off x="1073200" y="380119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8.01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1×</a:t>
              </a:r>
            </a:p>
          </p:txBody>
        </p:sp>
        <p:sp>
          <p:nvSpPr>
            <p:cNvPr id="3024" name="Text B"/>
            <p:cNvSpPr txBox="1"/>
            <p:nvPr/>
          </p:nvSpPr>
          <p:spPr>
            <a:xfrm>
              <a:off x="1073200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단독</a:t>
              </a:r>
            </a:p>
          </p:txBody>
        </p:sp>
        <p:sp>
          <p:nvSpPr>
            <p:cNvPr id="3025" name="Text B"/>
            <p:cNvSpPr txBox="1"/>
            <p:nvPr/>
          </p:nvSpPr>
          <p:spPr>
            <a:xfrm>
              <a:off x="1551993" y="3687702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11.08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+38%</a:t>
              </a:r>
            </a:p>
          </p:txBody>
        </p:sp>
        <p:sp>
          <p:nvSpPr>
            <p:cNvPr id="3026" name="Text B"/>
            <p:cNvSpPr txBox="1"/>
            <p:nvPr/>
          </p:nvSpPr>
          <p:spPr>
            <a:xfrm>
              <a:off x="1551993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+1개</a:t>
              </a:r>
            </a:p>
          </p:txBody>
        </p:sp>
        <p:sp>
          <p:nvSpPr>
            <p:cNvPr id="3027" name="Text B"/>
            <p:cNvSpPr txBox="1"/>
            <p:nvPr/>
          </p:nvSpPr>
          <p:spPr>
            <a:xfrm>
              <a:off x="2030787" y="3565333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14.39 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+80%</a:t>
              </a:r>
            </a:p>
          </p:txBody>
        </p:sp>
        <p:sp>
          <p:nvSpPr>
            <p:cNvPr id="3028" name="Text B"/>
            <p:cNvSpPr txBox="1"/>
            <p:nvPr/>
          </p:nvSpPr>
          <p:spPr>
            <a:xfrm>
              <a:off x="2030787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+2개</a:t>
              </a:r>
            </a:p>
          </p:txBody>
        </p:sp>
        <p:sp>
          <p:nvSpPr>
            <p:cNvPr id="3029" name="Text B"/>
            <p:cNvSpPr txBox="1"/>
            <p:nvPr/>
          </p:nvSpPr>
          <p:spPr>
            <a:xfrm>
              <a:off x="2412048" y="3247970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추론  ·  LLM 디코딩 (같은 배치)</a:t>
              </a:r>
            </a:p>
          </p:txBody>
        </p:sp>
        <p:sp>
          <p:nvSpPr>
            <p:cNvPr id="3030" name="Text B"/>
            <p:cNvSpPr txBox="1"/>
            <p:nvPr/>
          </p:nvSpPr>
          <p:spPr>
            <a:xfrm>
              <a:off x="2412048" y="3389835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짧은 요청 TPOT vs 128K 배경 요청 수</a:t>
              </a:r>
            </a:p>
          </p:txBody>
        </p:sp>
        <p:sp>
          <p:nvSpPr>
            <p:cNvPr id="3031" name="Text B"/>
            <p:cNvSpPr txBox="1"/>
            <p:nvPr/>
          </p:nvSpPr>
          <p:spPr>
            <a:xfrm>
              <a:off x="2806609" y="3662058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54 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1×</a:t>
              </a:r>
            </a:p>
          </p:txBody>
        </p:sp>
        <p:sp>
          <p:nvSpPr>
            <p:cNvPr id="3032" name="Text B"/>
            <p:cNvSpPr txBox="1"/>
            <p:nvPr/>
          </p:nvSpPr>
          <p:spPr>
            <a:xfrm>
              <a:off x="2806609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CPU 분리</a:t>
              </a:r>
            </a:p>
          </p:txBody>
        </p:sp>
        <p:sp>
          <p:nvSpPr>
            <p:cNvPr id="3033" name="Text B"/>
            <p:cNvSpPr txBox="1"/>
            <p:nvPr/>
          </p:nvSpPr>
          <p:spPr>
            <a:xfrm>
              <a:off x="3524799" y="3565333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66 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1.22×</a:t>
              </a:r>
            </a:p>
          </p:txBody>
        </p:sp>
        <p:sp>
          <p:nvSpPr>
            <p:cNvPr id="3034" name="Text B"/>
            <p:cNvSpPr txBox="1"/>
            <p:nvPr/>
          </p:nvSpPr>
          <p:spPr>
            <a:xfrm>
              <a:off x="3524799" y="4365154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CPU 공유</a:t>
              </a:r>
            </a:p>
          </p:txBody>
        </p:sp>
        <p:sp>
          <p:nvSpPr>
            <p:cNvPr id="3035" name="Text B"/>
            <p:cNvSpPr txBox="1"/>
            <p:nvPr/>
          </p:nvSpPr>
          <p:spPr>
            <a:xfrm>
              <a:off x="4025759" y="3247970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도구 실행  ·  샌드박스 8개 동시</a:t>
              </a:r>
            </a:p>
          </p:txBody>
        </p:sp>
        <p:sp>
          <p:nvSpPr>
            <p:cNvPr id="3036" name="Text B"/>
            <p:cNvSpPr txBox="1"/>
            <p:nvPr/>
          </p:nvSpPr>
          <p:spPr>
            <a:xfrm>
              <a:off x="4025759" y="3389835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평균 실행 시간 vs CPU 분리·공유</a:t>
              </a:r>
            </a:p>
          </p:txBody>
        </p:sp>
        <p:sp>
          <p:nvSpPr>
            <p:cNvPr id="3037" name="Text B"/>
            <p:cNvSpPr txBox="1"/>
            <p:nvPr/>
          </p:nvSpPr>
          <p:spPr>
            <a:xfrm>
              <a:off x="754004" y="3008573"/>
              <a:ext cx="3191956" cy="1238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27" dirty="0">
                  <a:solidFill>
                    <a:srgbClr val="1F2933"/>
                  </a:solidFill>
                </a:rPr>
                <a:t>② 동시 요청 증가 → 단계 교차·경합 → 대기 지연 → 응답 시간 증가   [2]</a:t>
              </a:r>
            </a:p>
          </p:txBody>
        </p:sp>
        <p:sp>
          <p:nvSpPr>
            <p:cNvPr id="3038" name="Text B"/>
            <p:cNvSpPr txBox="1"/>
            <p:nvPr/>
          </p:nvSpPr>
          <p:spPr>
            <a:xfrm>
              <a:off x="869269" y="4523836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원인: 비용이 다른 작업이 같은 큐·배치·CPU를 공유 → 대기 지연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작업별 분리 서빙(task disaggregation) 시 평균 지연 29–40% 감소  (Dynamic RAG, 부하 0.5×–0.9×)</a:t>
              </a:r>
            </a:p>
          </p:txBody>
        </p:sp>
      </p:grpSp>
      <p:sp>
        <p:nvSpPr>
          <p:cNvPr id="3040" name="Figure sources"/>
          <p:cNvSpPr txBox="1"/>
          <p:nvPr/>
        </p:nvSpPr>
        <p:spPr>
          <a:xfrm>
            <a:off x="709672" y="4796882"/>
            <a:ext cx="4850000" cy="3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550" dirty="0">
                <a:solidFill>
                  <a:srgbClr val="6B7280"/>
                </a:solidFill>
              </a:rPr>
              <a:t>출처: [1] Agentic AI Workload Characteristics, arXiv:2605.26297 · [2] From LLM Inference to Agentic Workloads, arXiv:2608.15127 · [3] Anthropic Engineering Blog, How we built our multi-agent research system · [4] arXiv:2609.30854 (HBM 용량)</a:t>
            </a:r>
          </a:p>
          <a:p>
            <a:r>
              <a:rPr lang="ko-KR" altLang="en-US" sz="550" dirty="0">
                <a:solidFill>
                  <a:srgbClr val="6B7280"/>
                </a:solidFill>
              </a:rPr>
              <a:t>※ KV cache = 2×80층×8 KV head×128 dim×2 B ≈ 0.33 MB/token (가중치 제외, 시퀀스 1개 기준). 채팅·멀티에이전트 점은 [3]의 ≈4×/≈15× 배수를 [1]의 에이전트 문맥(≈75K)에 적용한 가정치. ②: [2] §5 Fig.13 · §8.1 실험값.</a:t>
            </a:r>
          </a:p>
        </p:txBody>
      </p:sp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
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9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angue.jung\Downloads\InferenceX_DeepSeek-V4-Pro_interactivity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4329701858776812E-2"/>
          <c:y val="3.4668274206940478E-2"/>
          <c:w val="0.92567029814122315"/>
          <c:h val="0.852833175991537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Sheet1!$J$11</c:f>
              <c:strCache>
                <c:ptCount val="1"/>
                <c:pt idx="0">
                  <c:v>Throughput/GPU (tok/s)</c:v>
                </c:pt>
              </c:strCache>
            </c:strRef>
          </c:tx>
          <c:spPr>
            <a:ln w="19050" cap="rnd">
              <a:solidFill>
                <a:srgbClr val="B3FF0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3FF05"/>
              </a:solidFill>
              <a:ln w="9525">
                <a:solidFill>
                  <a:srgbClr val="B3FF05"/>
                </a:solidFill>
              </a:ln>
              <a:effectLst/>
            </c:spPr>
          </c:marker>
          <c:xVal>
            <c:numRef>
              <c:f>Sheet1!$I$12:$I$24</c:f>
              <c:numCache>
                <c:formatCode>General</c:formatCode>
                <c:ptCount val="13"/>
                <c:pt idx="0">
                  <c:v>17.789933651059702</c:v>
                </c:pt>
                <c:pt idx="1">
                  <c:v>23.481972430984602</c:v>
                </c:pt>
                <c:pt idx="2">
                  <c:v>32.785478368222897</c:v>
                </c:pt>
                <c:pt idx="3">
                  <c:v>37.050425765914497</c:v>
                </c:pt>
                <c:pt idx="4">
                  <c:v>45.580501025016297</c:v>
                </c:pt>
                <c:pt idx="5">
                  <c:v>48.310249241754299</c:v>
                </c:pt>
                <c:pt idx="6">
                  <c:v>52.569031665924697</c:v>
                </c:pt>
                <c:pt idx="7">
                  <c:v>57.531361287135098</c:v>
                </c:pt>
                <c:pt idx="8">
                  <c:v>68.237037011943102</c:v>
                </c:pt>
                <c:pt idx="9">
                  <c:v>80.020018936107903</c:v>
                </c:pt>
                <c:pt idx="10">
                  <c:v>88.158892948599799</c:v>
                </c:pt>
                <c:pt idx="11">
                  <c:v>94.502718275177699</c:v>
                </c:pt>
                <c:pt idx="12">
                  <c:v>98.969865781454203</c:v>
                </c:pt>
              </c:numCache>
            </c:numRef>
          </c:xVal>
          <c:yVal>
            <c:numRef>
              <c:f>Sheet1!$J$12:$J$24</c:f>
              <c:numCache>
                <c:formatCode>General</c:formatCode>
                <c:ptCount val="13"/>
                <c:pt idx="0">
                  <c:v>12219.722149417999</c:v>
                </c:pt>
                <c:pt idx="1">
                  <c:v>11190.5223860183</c:v>
                </c:pt>
                <c:pt idx="2">
                  <c:v>9935.8432585013197</c:v>
                </c:pt>
                <c:pt idx="3">
                  <c:v>8043.2119207608303</c:v>
                </c:pt>
                <c:pt idx="4">
                  <c:v>5955.3115607071404</c:v>
                </c:pt>
                <c:pt idx="5">
                  <c:v>4237.3635300606702</c:v>
                </c:pt>
                <c:pt idx="6">
                  <c:v>2732.46266265042</c:v>
                </c:pt>
                <c:pt idx="7">
                  <c:v>1527.08568175548</c:v>
                </c:pt>
                <c:pt idx="8">
                  <c:v>963.24451063232095</c:v>
                </c:pt>
                <c:pt idx="9">
                  <c:v>558.81674483120003</c:v>
                </c:pt>
                <c:pt idx="10">
                  <c:v>316.435581326896</c:v>
                </c:pt>
                <c:pt idx="11">
                  <c:v>160.50695205575801</c:v>
                </c:pt>
                <c:pt idx="12">
                  <c:v>89.825166704638505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22-4252-B4B7-59F0DA0EF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084864"/>
        <c:axId val="200189632"/>
      </c:scatterChart>
      <c:valAx>
        <c:axId val="200084864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189632"/>
        <c:crosses val="autoZero"/>
        <c:crossBetween val="midCat"/>
      </c:valAx>
      <c:valAx>
        <c:axId val="2001896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08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1E6C-8E46-45A2-9A9F-BE85FBB8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1F7C-3E0E-4FD2-A4D1-BFFD535B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98A8-3C84-47FD-B233-6AAC3D57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8E2C7-E769-4E80-8CC4-C5F6710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7-74A7-4CB0-ACBC-E269EB1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3F5E9-D906-4EC7-BB30-3728200B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38DF5-44FC-4724-95DF-9A9D9F6E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1300F-943F-46CF-9BCC-79F90772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14E8-B233-4463-A3B4-CEF96CF4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9C2BD-CF08-4F1D-8A22-BB80BF1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5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A97E-C7A0-44DA-8CE3-24228D4F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A903A-1D6E-48B8-93E2-8DEA9E86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AD09F-1EE7-42A3-840A-210476B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A6F85-AE1F-4676-8F7C-4E4FC86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48998-15A3-4F2F-A1F1-CFDD044B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7B49C-6B5C-49D9-AF12-A13DA275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C5E9-5403-4BDA-9FF3-CFF72098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85226-F4CC-456D-9887-710085660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301E-0986-4AA3-9440-4437E85C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A6922-4A26-413E-A8DA-A491F0E1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A484E-F4E1-4932-BC99-39EC837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7B2FB-38F4-4664-89A3-0D57B3D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F7778F-7ED4-49DD-AD9A-43E83746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DFCEB-48B8-40E0-BAB8-A4070E8E8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845F32-431C-47DC-841B-44B0C88E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DF9D54-D243-456E-909D-2375478E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AB1BFB-E65B-4ACF-A5DE-45EE035B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1E2EBF-601E-45D0-8BB9-43001648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167DE1-C773-45D9-8D3A-4D9D72E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5EC8-BCF6-4537-BBEA-3748867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40DFD-C053-45ED-B4DA-5DA79EF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2748A1-B030-4107-A117-C1F9730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6CF55-C155-4E42-8528-11743B00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5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B8753-DEF2-462A-8BE8-5A54E07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B06C73-E78B-4294-B166-1C1169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3257F-EA26-4139-83ED-FF424C4F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9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12F9-6E7D-475A-94EF-3076ED16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ABB2B-B181-43A2-8786-24391B23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6C0F6-1BBA-42D7-A518-3E15FE086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B35A3-8BB4-4FEE-9200-9D45F18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BF3F53-75FA-44BF-9AB5-D9528572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21841-C12B-4826-A0E3-B0EE6B9F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62BF-15A4-41C3-BB7E-2C8249D3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A3B5A6-21AF-4470-8569-A94E80C75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BDE0F-D737-4020-9C0F-B6F0A7AD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8F2E-D2ED-42CA-BAA2-FF2D9492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0CFC1-CCC3-4FA2-83D5-BA1C923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1DEF7-00D5-46EF-8C12-1159BC5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00A05-7BB3-4D57-BE0B-4E79143D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816790-61A1-4AA8-A8A8-FA2BCE8C3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C13FE-3F8A-467F-9714-2F480225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05A44-0C42-415C-B2E2-4FFCA390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4C646-0C24-4640-BAD6-A2C41608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7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6A5E07-C916-4904-B005-D9B6A5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80B66-A808-4920-A0BF-78C10EE1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B0CF2-FD77-48BD-995A-687B2097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5E805-4C62-464B-A0B5-92E552E1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EFDC-9461-4308-88DA-2A2278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37ED7-EF8F-404F-9AED-CF290CF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C6A64-5F88-443A-AC00-0EF905DF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3607-AAD2-4C7D-BE62-D56CA9EAE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1087-222C-4068-9AD3-EF3831C4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1AFD7-873A-4477-85BE-B547ED0BA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배경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326672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6318250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7826590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당사 차세대 메모리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1089957" y="698834"/>
            <a:ext cx="4302132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Agentic AI</a:t>
            </a:r>
            <a:r>
              <a:rPr lang="ko-KR" altLang="en-US" sz="1600" b="1" dirty="0"/>
              <a:t>의 문맥 누적과 자원 수요 변화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2065" y="5374175"/>
            <a:ext cx="5302251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/>
              <a:t>Bandwidth, Capacity, Latency, </a:t>
            </a:r>
            <a:r>
              <a:rPr lang="ko-KR" altLang="en-US" sz="1400" dirty="0"/>
              <a:t>연산 지원 기능 등 특성이 다른 메모리 기술 확대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서비스의 처리량</a:t>
            </a:r>
            <a:r>
              <a:rPr lang="en-US" altLang="ko-KR" sz="1400" dirty="0"/>
              <a:t>·</a:t>
            </a:r>
            <a:r>
              <a:rPr lang="ko-KR" altLang="en-US" sz="1400" dirty="0"/>
              <a:t>응답 지연 목표에 따라 적합한 메모리 구성 변화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395" y="5206809"/>
            <a:ext cx="5497737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대화 이력과 도구 실행 결과가 쌓이며 관리해야 할 데이터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여러 턴에 걸쳐 문맥이 누적되어 데이터 유지 요구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추론</a:t>
            </a:r>
            <a:r>
              <a:rPr lang="en-US" altLang="ko-KR" sz="1400" dirty="0"/>
              <a:t>·</a:t>
            </a:r>
            <a:r>
              <a:rPr lang="ko-KR" altLang="en-US" sz="1400" dirty="0"/>
              <a:t>검색</a:t>
            </a:r>
            <a:r>
              <a:rPr lang="en-US" altLang="ko-KR" sz="1400" dirty="0"/>
              <a:t>·</a:t>
            </a:r>
            <a:r>
              <a:rPr lang="ko-KR" altLang="en-US" sz="1400" dirty="0"/>
              <a:t>도구 실행이 교차하며 단계별 연산</a:t>
            </a:r>
            <a:r>
              <a:rPr lang="en-US" altLang="ko-KR" sz="1400" dirty="0"/>
              <a:t>·</a:t>
            </a:r>
            <a:r>
              <a:rPr lang="ko-KR" altLang="en-US" sz="1400" dirty="0"/>
              <a:t>메모리 요구 변화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6911728" y="3429000"/>
            <a:ext cx="4233506" cy="1843582"/>
            <a:chOff x="12330559" y="3517900"/>
            <a:chExt cx="6564574" cy="4821797"/>
          </a:xfrm>
        </p:grpSpPr>
        <p:sp>
          <p:nvSpPr>
            <p:cNvPr id="20" name="직사각형 19"/>
            <p:cNvSpPr/>
            <p:nvPr/>
          </p:nvSpPr>
          <p:spPr>
            <a:xfrm>
              <a:off x="12453620" y="3517900"/>
              <a:ext cx="6432864" cy="476674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12330559" y="3611660"/>
              <a:ext cx="6564574" cy="4728037"/>
              <a:chOff x="8926959" y="1099600"/>
              <a:chExt cx="6564574" cy="4728037"/>
            </a:xfrm>
          </p:grpSpPr>
          <p:graphicFrame>
            <p:nvGraphicFramePr>
              <p:cNvPr id="1706" name="차트 1705"/>
              <p:cNvGraphicFramePr>
                <a:graphicFrameLocks/>
              </p:cNvGraphicFramePr>
              <p:nvPr/>
            </p:nvGraphicFramePr>
            <p:xfrm>
              <a:off x="8926959" y="2704649"/>
              <a:ext cx="5866390" cy="273193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708" name="TextBox 1707"/>
              <p:cNvSpPr txBox="1"/>
              <p:nvPr/>
            </p:nvSpPr>
            <p:spPr>
              <a:xfrm>
                <a:off x="9881154" y="2914245"/>
                <a:ext cx="640992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512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9" name="TextBox 1708"/>
              <p:cNvSpPr txBox="1"/>
              <p:nvPr/>
            </p:nvSpPr>
            <p:spPr>
              <a:xfrm>
                <a:off x="11199629" y="4374416"/>
                <a:ext cx="564560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32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0" name="TextBox 1709"/>
              <p:cNvSpPr txBox="1"/>
              <p:nvPr/>
            </p:nvSpPr>
            <p:spPr>
              <a:xfrm>
                <a:off x="11642452" y="4799192"/>
                <a:ext cx="488124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4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1" name="자유형 1710"/>
              <p:cNvSpPr/>
              <p:nvPr/>
            </p:nvSpPr>
            <p:spPr>
              <a:xfrm rot="448241">
                <a:off x="9782790" y="3148367"/>
                <a:ext cx="4121021" cy="1914184"/>
              </a:xfrm>
              <a:custGeom>
                <a:avLst/>
                <a:gdLst>
                  <a:gd name="connsiteX0" fmla="*/ 73380 w 4121021"/>
                  <a:gd name="connsiteY0" fmla="*/ 1854 h 1914184"/>
                  <a:gd name="connsiteX1" fmla="*/ 1377199 w 4121021"/>
                  <a:gd name="connsiteY1" fmla="*/ 672874 h 1914184"/>
                  <a:gd name="connsiteX2" fmla="*/ 2326832 w 4121021"/>
                  <a:gd name="connsiteY2" fmla="*/ 1572323 h 1914184"/>
                  <a:gd name="connsiteX3" fmla="*/ 2327972 w 4121021"/>
                  <a:gd name="connsiteY3" fmla="*/ 1574246 h 1914184"/>
                  <a:gd name="connsiteX4" fmla="*/ 2366320 w 4121021"/>
                  <a:gd name="connsiteY4" fmla="*/ 1564997 h 1914184"/>
                  <a:gd name="connsiteX5" fmla="*/ 3093141 w 4121021"/>
                  <a:gd name="connsiteY5" fmla="*/ 1505086 h 1914184"/>
                  <a:gd name="connsiteX6" fmla="*/ 4121021 w 4121021"/>
                  <a:gd name="connsiteY6" fmla="*/ 1709635 h 1914184"/>
                  <a:gd name="connsiteX7" fmla="*/ 3093141 w 4121021"/>
                  <a:gd name="connsiteY7" fmla="*/ 1914184 h 1914184"/>
                  <a:gd name="connsiteX8" fmla="*/ 2240807 w 4121021"/>
                  <a:gd name="connsiteY8" fmla="*/ 1824000 h 1914184"/>
                  <a:gd name="connsiteX9" fmla="*/ 2218961 w 4121021"/>
                  <a:gd name="connsiteY9" fmla="*/ 1815991 h 1914184"/>
                  <a:gd name="connsiteX10" fmla="*/ 2157234 w 4121021"/>
                  <a:gd name="connsiteY10" fmla="*/ 1800799 h 1914184"/>
                  <a:gd name="connsiteX11" fmla="*/ 1021395 w 4121021"/>
                  <a:gd name="connsiteY11" fmla="*/ 1152201 h 1914184"/>
                  <a:gd name="connsiteX12" fmla="*/ 13433 w 4121021"/>
                  <a:gd name="connsiteY12" fmla="*/ 32271 h 1914184"/>
                  <a:gd name="connsiteX13" fmla="*/ 73380 w 4121021"/>
                  <a:gd name="connsiteY13" fmla="*/ 1854 h 19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21021" h="1914184">
                    <a:moveTo>
                      <a:pt x="73380" y="1854"/>
                    </a:moveTo>
                    <a:cubicBezTo>
                      <a:pt x="265024" y="-25275"/>
                      <a:pt x="804132" y="247485"/>
                      <a:pt x="1377199" y="672874"/>
                    </a:cubicBezTo>
                    <a:cubicBezTo>
                      <a:pt x="1827466" y="1007107"/>
                      <a:pt x="2181475" y="1348550"/>
                      <a:pt x="2326832" y="1572323"/>
                    </a:cubicBezTo>
                    <a:lnTo>
                      <a:pt x="2327972" y="1574246"/>
                    </a:lnTo>
                    <a:lnTo>
                      <a:pt x="2366320" y="1564997"/>
                    </a:lnTo>
                    <a:cubicBezTo>
                      <a:pt x="2552330" y="1527981"/>
                      <a:pt x="2809300" y="1505086"/>
                      <a:pt x="3093141" y="1505086"/>
                    </a:cubicBezTo>
                    <a:cubicBezTo>
                      <a:pt x="3660823" y="1505086"/>
                      <a:pt x="4121021" y="1596666"/>
                      <a:pt x="4121021" y="1709635"/>
                    </a:cubicBezTo>
                    <a:cubicBezTo>
                      <a:pt x="4121021" y="1822604"/>
                      <a:pt x="3660823" y="1914184"/>
                      <a:pt x="3093141" y="1914184"/>
                    </a:cubicBezTo>
                    <a:cubicBezTo>
                      <a:pt x="2738340" y="1914184"/>
                      <a:pt x="2425524" y="1878411"/>
                      <a:pt x="2240807" y="1824000"/>
                    </a:cubicBezTo>
                    <a:lnTo>
                      <a:pt x="2218961" y="1815991"/>
                    </a:lnTo>
                    <a:lnTo>
                      <a:pt x="2157234" y="1800799"/>
                    </a:lnTo>
                    <a:cubicBezTo>
                      <a:pt x="1900964" y="1726444"/>
                      <a:pt x="1471662" y="1486435"/>
                      <a:pt x="1021395" y="1152201"/>
                    </a:cubicBezTo>
                    <a:cubicBezTo>
                      <a:pt x="366461" y="666043"/>
                      <a:pt x="-84819" y="164633"/>
                      <a:pt x="13433" y="32271"/>
                    </a:cubicBezTo>
                    <a:cubicBezTo>
                      <a:pt x="25715" y="15725"/>
                      <a:pt x="46002" y="5729"/>
                      <a:pt x="73380" y="1854"/>
                    </a:cubicBezTo>
                    <a:close/>
                  </a:path>
                </a:pathLst>
              </a:custGeom>
              <a:solidFill>
                <a:srgbClr val="FFFFFF">
                  <a:lumMod val="65000"/>
                  <a:alpha val="6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12" name="직선 연결선 1711"/>
              <p:cNvCxnSpPr/>
              <p:nvPr/>
            </p:nvCxnSpPr>
            <p:spPr>
              <a:xfrm>
                <a:off x="9359300" y="1337699"/>
                <a:ext cx="0" cy="385571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713" name="직선 연결선 1712"/>
              <p:cNvCxnSpPr/>
              <p:nvPr/>
            </p:nvCxnSpPr>
            <p:spPr>
              <a:xfrm>
                <a:off x="9359300" y="5187101"/>
                <a:ext cx="5807114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grpSp>
            <p:nvGrpSpPr>
              <p:cNvPr id="1714" name="그룹 1713"/>
              <p:cNvGrpSpPr/>
              <p:nvPr/>
            </p:nvGrpSpPr>
            <p:grpSpPr>
              <a:xfrm>
                <a:off x="9541770" y="1585820"/>
                <a:ext cx="4930291" cy="3586874"/>
                <a:chOff x="2541481" y="616253"/>
                <a:chExt cx="7314788" cy="5771622"/>
              </a:xfrm>
            </p:grpSpPr>
            <p:sp>
              <p:nvSpPr>
                <p:cNvPr id="1715" name="타원 1714"/>
                <p:cNvSpPr/>
                <p:nvPr/>
              </p:nvSpPr>
              <p:spPr>
                <a:xfrm rot="2066697">
                  <a:off x="2541481" y="616253"/>
                  <a:ext cx="4576984" cy="33425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C77FF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72000">
                      <a:srgbClr val="3C77FF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amsung Sharp Sans Medium" pitchFamily="2" charset="0"/>
                      <a:ea typeface="+mn-ea"/>
                      <a:cs typeface="Samsung Sharp Sans Medium" pitchFamily="2" charset="0"/>
                    </a:rPr>
                    <a:t>  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6" name="타원 1715"/>
                <p:cNvSpPr/>
                <p:nvPr/>
              </p:nvSpPr>
              <p:spPr>
                <a:xfrm rot="1851955">
                  <a:off x="4906560" y="2432455"/>
                  <a:ext cx="2873739" cy="31832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8000">
                        <a:alpha val="11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33CC3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7" name="타원 1716"/>
                <p:cNvSpPr/>
                <p:nvPr/>
              </p:nvSpPr>
              <p:spPr>
                <a:xfrm rot="555799">
                  <a:off x="6390392" y="5444530"/>
                  <a:ext cx="3465877" cy="943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4150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FF4150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16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endParaRPr>
                </a:p>
              </p:txBody>
            </p:sp>
          </p:grpSp>
          <p:sp>
            <p:nvSpPr>
              <p:cNvPr id="1718" name="TextBox 1717"/>
              <p:cNvSpPr txBox="1"/>
              <p:nvPr/>
            </p:nvSpPr>
            <p:spPr>
              <a:xfrm rot="16200000">
                <a:off x="8033541" y="2079082"/>
                <a:ext cx="2300704" cy="427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Throughput/MW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9" name="TextBox 1718"/>
              <p:cNvSpPr txBox="1"/>
              <p:nvPr/>
            </p:nvSpPr>
            <p:spPr>
              <a:xfrm>
                <a:off x="14344623" y="5243538"/>
                <a:ext cx="1131682" cy="584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TPS/User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0" name="직선 화살표 연결선 1719"/>
              <p:cNvCxnSpPr/>
              <p:nvPr/>
            </p:nvCxnSpPr>
            <p:spPr>
              <a:xfrm>
                <a:off x="9675840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1" name="TextBox 1720"/>
              <p:cNvSpPr txBox="1"/>
              <p:nvPr/>
            </p:nvSpPr>
            <p:spPr>
              <a:xfrm rot="2231652">
                <a:off x="10480631" y="3735328"/>
                <a:ext cx="783318" cy="456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HBM</a:t>
                </a:r>
                <a:endParaRPr lang="ko-KR" altLang="en-US" sz="12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2" name="TextBox 1721"/>
              <p:cNvSpPr txBox="1"/>
              <p:nvPr/>
            </p:nvSpPr>
            <p:spPr>
              <a:xfrm>
                <a:off x="9775980" y="5275085"/>
                <a:ext cx="1305179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Free/Medium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3" name="직선 화살표 연결선 1722"/>
              <p:cNvCxnSpPr/>
              <p:nvPr/>
            </p:nvCxnSpPr>
            <p:spPr>
              <a:xfrm>
                <a:off x="11256218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4" name="TextBox 1723"/>
              <p:cNvSpPr txBox="1"/>
              <p:nvPr/>
            </p:nvSpPr>
            <p:spPr>
              <a:xfrm>
                <a:off x="11544570" y="5275082"/>
                <a:ext cx="635721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High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5" name="직선 화살표 연결선 1724"/>
              <p:cNvCxnSpPr/>
              <p:nvPr/>
            </p:nvCxnSpPr>
            <p:spPr>
              <a:xfrm>
                <a:off x="12885663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6" name="TextBox 1725"/>
              <p:cNvSpPr txBox="1"/>
              <p:nvPr/>
            </p:nvSpPr>
            <p:spPr>
              <a:xfrm>
                <a:off x="13132146" y="5275082"/>
                <a:ext cx="944094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Premium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7" name="TextBox 1726"/>
              <p:cNvSpPr txBox="1"/>
              <p:nvPr/>
            </p:nvSpPr>
            <p:spPr>
              <a:xfrm>
                <a:off x="10454554" y="1898584"/>
                <a:ext cx="1052156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ko-KR" sz="2000" kern="0" dirty="0"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HBF</a:t>
                </a:r>
              </a:p>
            </p:txBody>
          </p:sp>
          <p:sp>
            <p:nvSpPr>
              <p:cNvPr id="1728" name="TextBox 1727"/>
              <p:cNvSpPr txBox="1"/>
              <p:nvPr/>
            </p:nvSpPr>
            <p:spPr>
              <a:xfrm>
                <a:off x="11319212" y="3266443"/>
                <a:ext cx="1645179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20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ScHBM</a:t>
                </a:r>
                <a:endParaRPr kumimoji="1" lang="en-US" altLang="ko-KR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29" name="TextBox 1728"/>
              <p:cNvSpPr txBox="1"/>
              <p:nvPr/>
            </p:nvSpPr>
            <p:spPr>
              <a:xfrm>
                <a:off x="12620623" y="4403279"/>
                <a:ext cx="1036342" cy="45663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zHBM</a:t>
                </a: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 </a:t>
                </a:r>
                <a:endParaRPr kumimoji="1" lang="ko-KR" altLang="en-US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05" name="TextBox 1704"/>
              <p:cNvSpPr txBox="1"/>
              <p:nvPr/>
            </p:nvSpPr>
            <p:spPr>
              <a:xfrm>
                <a:off x="9448640" y="1099600"/>
                <a:ext cx="2637859" cy="532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7" name="TextBox 1706"/>
              <p:cNvSpPr txBox="1"/>
              <p:nvPr/>
            </p:nvSpPr>
            <p:spPr>
              <a:xfrm>
                <a:off x="12964205" y="4110034"/>
                <a:ext cx="2527328" cy="65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Latency-Optimized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F3D391-72E5-4CD5-9121-62CB8D4ECD94}"/>
              </a:ext>
            </a:extLst>
          </p:cNvPr>
          <p:cNvGrpSpPr/>
          <p:nvPr/>
        </p:nvGrpSpPr>
        <p:grpSpPr>
          <a:xfrm>
            <a:off x="7053596" y="1137103"/>
            <a:ext cx="4039187" cy="2234845"/>
            <a:chOff x="7079452" y="959119"/>
            <a:chExt cx="4039187" cy="223484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rcRect b="55067"/>
            <a:stretch/>
          </p:blipFill>
          <p:spPr>
            <a:xfrm>
              <a:off x="7079452" y="959119"/>
              <a:ext cx="4035580" cy="117643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2EFED9DD-23EB-40CC-A951-BB7B7F621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395" b="55067"/>
            <a:stretch/>
          </p:blipFill>
          <p:spPr>
            <a:xfrm>
              <a:off x="7083059" y="2106398"/>
              <a:ext cx="4035580" cy="1087566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</p:grpSp>
      <p:pic>
        <p:nvPicPr>
          <p:cNvPr id="2001" name="Agentic workload figure" descr="Agentic AI 문맥 누적과 자원 수요 변화: 누적 문맥 69-80K tokens, 캐시 적중률 84.6-99.5%, 세션 실행 비율 중앙값 20%, 단계별 지연 격차 6.43x/32x, 토큰 사용량 4x/15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672" y="1100000"/>
            <a:ext cx="5000000" cy="379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0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1C1C1C"/>
    </a:dk2>
    <a:lt2>
      <a:srgbClr val="0DD5FF"/>
    </a:lt2>
    <a:accent1>
      <a:srgbClr val="3C77FF"/>
    </a:accent1>
    <a:accent2>
      <a:srgbClr val="FF6616"/>
    </a:accent2>
    <a:accent3>
      <a:srgbClr val="EFB949"/>
    </a:accent3>
    <a:accent4>
      <a:srgbClr val="FF4150"/>
    </a:accent4>
    <a:accent5>
      <a:srgbClr val="FF8050"/>
    </a:accent5>
    <a:accent6>
      <a:srgbClr val="7049FF"/>
    </a:accent6>
    <a:hlink>
      <a:srgbClr val="8080FF"/>
    </a:hlink>
    <a:folHlink>
      <a:srgbClr val="40A780"/>
    </a:folHlink>
  </a:clrScheme>
  <a:fontScheme name="Custom 1">
    <a:majorFont>
      <a:latin typeface="Samsung Sharp Sans Bold"/>
      <a:ea typeface=""/>
      <a:cs typeface=""/>
    </a:majorFont>
    <a:minorFont>
      <a:latin typeface="Samsung Sharp San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Samsung Sharp Sans Bold</vt:lpstr>
      <vt:lpstr>Samsung Sharp Sans Medium</vt:lpstr>
      <vt:lpstr>SamsungOneKorean 600C</vt:lpstr>
      <vt:lpstr>맑은 고딕</vt:lpstr>
      <vt:lpstr>Arial</vt:lpstr>
      <vt:lpstr>Wingdings</vt:lpstr>
      <vt:lpstr>Office 테마</vt:lpstr>
      <vt:lpstr>과제 배경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</dc:title>
  <dc:creator>Myeong Woo Kim</dc:creator>
  <cp:lastModifiedBy>Myeong Woo Kim</cp:lastModifiedBy>
  <cp:revision>1</cp:revision>
  <dcterms:created xsi:type="dcterms:W3CDTF">2026-10-10T01:59:20Z</dcterms:created>
  <dcterms:modified xsi:type="dcterms:W3CDTF">2026-10-10T02:00:22Z</dcterms:modified>
</cp:coreProperties>
</file>
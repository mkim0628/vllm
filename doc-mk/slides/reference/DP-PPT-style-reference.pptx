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621" r:id="rId2"/>
    <p:sldId id="649" r:id="rId3"/>
    <p:sldId id="658" r:id="rId4"/>
    <p:sldId id="741" r:id="rId5"/>
    <p:sldId id="640" r:id="rId6"/>
    <p:sldId id="638" r:id="rId7"/>
    <p:sldId id="826" r:id="rId8"/>
    <p:sldId id="813" r:id="rId9"/>
    <p:sldId id="814" r:id="rId10"/>
    <p:sldId id="815" r:id="rId1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DB59D-6851-4087-A360-1717CD539FDC}" type="datetimeFigureOut">
              <a:rPr lang="ko-KR" altLang="en-US" smtClean="0"/>
              <a:t>2026-10-10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42F9D-A517-472D-B53C-0A9BC49CDB65}" type="slidenum">
              <a:rPr lang="ko-KR" altLang="en-US" smtClean="0"/>
              <a:t>‹#›</a:t>
            </a:fld>
            <a:endParaRPr lang="ko-KR" altLang="en-US"/>
          </a:p>
        </p:txBody>
      </p:sp>
    </p:spTree>
    <p:extLst>
      <p:ext uri="{BB962C8B-B14F-4D97-AF65-F5344CB8AC3E}">
        <p14:creationId xmlns:p14="http://schemas.microsoft.com/office/powerpoint/2010/main" val="4360016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DP1</a:t>
            </a:r>
            <a:r>
              <a:rPr lang="en-US" altLang="ko-KR" b="1" baseline="0" dirty="0"/>
              <a:t> </a:t>
            </a:r>
            <a:r>
              <a:rPr lang="ko-KR" altLang="en-US" b="1" baseline="0" dirty="0" err="1"/>
              <a:t>한줄</a:t>
            </a:r>
            <a:r>
              <a:rPr lang="ko-KR" altLang="en-US" b="1" baseline="0" dirty="0"/>
              <a:t> 정리</a:t>
            </a:r>
            <a:endParaRPr lang="en-US" altLang="ko-KR" b="1" baseline="0" dirty="0"/>
          </a:p>
          <a:p>
            <a:r>
              <a:rPr lang="ko-KR" altLang="en-US" b="1" dirty="0"/>
              <a:t>차세대 메모리의 용량</a:t>
            </a:r>
            <a:r>
              <a:rPr lang="en-US" altLang="ko-KR" b="1" dirty="0"/>
              <a:t>·</a:t>
            </a:r>
            <a:r>
              <a:rPr lang="ko-KR" altLang="en-US" b="1" dirty="0"/>
              <a:t>대역폭</a:t>
            </a:r>
            <a:r>
              <a:rPr lang="en-US" altLang="ko-KR" b="1" dirty="0"/>
              <a:t>·</a:t>
            </a:r>
            <a:r>
              <a:rPr lang="ko-KR" altLang="en-US" b="1" dirty="0"/>
              <a:t>접근 특성 및 연산 기능이 다변화되면서 기존의 고정적인 메모리 계층화만으로 최적 배치를 결정하기 </a:t>
            </a:r>
            <a:r>
              <a:rPr lang="ko-KR" altLang="en-US" b="1" dirty="0" err="1"/>
              <a:t>어려워짐</a:t>
            </a:r>
            <a:endParaRPr lang="ko-KR" altLang="en-US" dirty="0"/>
          </a:p>
          <a:p>
            <a:r>
              <a:rPr lang="ko-KR" altLang="en-US" b="1" dirty="0"/>
              <a:t>→ 데이터의 접근 특성과 스케줄링 정보를 메모리 자원 특성과 매칭하여 </a:t>
            </a:r>
            <a:r>
              <a:rPr lang="en-US" altLang="ko-KR" b="1" dirty="0"/>
              <a:t>Target Memory</a:t>
            </a:r>
            <a:r>
              <a:rPr lang="ko-KR" altLang="en-US" b="1" dirty="0"/>
              <a:t>를 동적으로 결정하는 </a:t>
            </a:r>
            <a:r>
              <a:rPr lang="en-US" altLang="ko-KR" b="1" dirty="0"/>
              <a:t>Placement </a:t>
            </a:r>
            <a:r>
              <a:rPr lang="ko-KR" altLang="en-US" b="1" dirty="0"/>
              <a:t>구조 필요</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a:t>
            </a:fld>
            <a:endParaRPr lang="ko-KR" altLang="en-US"/>
          </a:p>
        </p:txBody>
      </p:sp>
    </p:spTree>
    <p:extLst>
      <p:ext uri="{BB962C8B-B14F-4D97-AF65-F5344CB8AC3E}">
        <p14:creationId xmlns:p14="http://schemas.microsoft.com/office/powerpoint/2010/main" val="2880586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DP1</a:t>
            </a:r>
            <a:r>
              <a:rPr lang="en-US" altLang="ko-KR" b="1" baseline="0" dirty="0"/>
              <a:t> </a:t>
            </a:r>
            <a:r>
              <a:rPr lang="ko-KR" altLang="en-US" b="1" baseline="0" dirty="0" err="1"/>
              <a:t>한줄</a:t>
            </a:r>
            <a:r>
              <a:rPr lang="ko-KR" altLang="en-US" b="1" baseline="0" dirty="0"/>
              <a:t> 정리</a:t>
            </a:r>
            <a:endParaRPr lang="en-US" altLang="ko-KR" b="1" baseline="0" dirty="0"/>
          </a:p>
          <a:p>
            <a:r>
              <a:rPr lang="ko-KR" altLang="en-US" b="1" dirty="0"/>
              <a:t>차세대 메모리의 용량</a:t>
            </a:r>
            <a:r>
              <a:rPr lang="en-US" altLang="ko-KR" b="1" dirty="0"/>
              <a:t>·</a:t>
            </a:r>
            <a:r>
              <a:rPr lang="ko-KR" altLang="en-US" b="1" dirty="0"/>
              <a:t>대역폭</a:t>
            </a:r>
            <a:r>
              <a:rPr lang="en-US" altLang="ko-KR" b="1" dirty="0"/>
              <a:t>·</a:t>
            </a:r>
            <a:r>
              <a:rPr lang="ko-KR" altLang="en-US" b="1" dirty="0"/>
              <a:t>접근 특성 및 연산 기능이 다변화되면서 기존의 고정적인 메모리 계층화만으로 최적 배치를 결정하기 </a:t>
            </a:r>
            <a:r>
              <a:rPr lang="ko-KR" altLang="en-US" b="1" dirty="0" err="1"/>
              <a:t>어려워짐</a:t>
            </a:r>
            <a:endParaRPr lang="ko-KR" altLang="en-US" dirty="0"/>
          </a:p>
          <a:p>
            <a:r>
              <a:rPr lang="ko-KR" altLang="en-US" b="1" dirty="0"/>
              <a:t>→ 데이터의 접근 특성과 스케줄링 정보를 메모리 자원 특성과 매칭하여 </a:t>
            </a:r>
            <a:r>
              <a:rPr lang="en-US" altLang="ko-KR" b="1" dirty="0"/>
              <a:t>Target Memory</a:t>
            </a:r>
            <a:r>
              <a:rPr lang="ko-KR" altLang="en-US" b="1" dirty="0"/>
              <a:t>를 동적으로 결정하는 </a:t>
            </a:r>
            <a:r>
              <a:rPr lang="en-US" altLang="ko-KR" b="1" dirty="0"/>
              <a:t>Placement </a:t>
            </a:r>
            <a:r>
              <a:rPr lang="ko-KR" altLang="en-US" b="1" dirty="0"/>
              <a:t>구조 필요</a:t>
            </a:r>
          </a:p>
          <a:p>
            <a:r>
              <a:rPr lang="en-US" altLang="ko-KR" dirty="0" err="1"/>
              <a:t>Asdf</a:t>
            </a:r>
            <a:r>
              <a:rPr lang="ko-KR" altLang="en-US" dirty="0" err="1"/>
              <a:t>ㄱㅏㄴㅏ</a:t>
            </a:r>
            <a:r>
              <a:rPr lang="ko-KR" altLang="en-US" dirty="0"/>
              <a:t> </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2</a:t>
            </a:fld>
            <a:endParaRPr lang="ko-KR" altLang="en-US"/>
          </a:p>
        </p:txBody>
      </p:sp>
    </p:spTree>
    <p:extLst>
      <p:ext uri="{BB962C8B-B14F-4D97-AF65-F5344CB8AC3E}">
        <p14:creationId xmlns:p14="http://schemas.microsoft.com/office/powerpoint/2010/main" val="1850531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Resource</a:t>
            </a:r>
            <a:r>
              <a:rPr lang="en-US" altLang="ko-KR" baseline="0" dirty="0"/>
              <a:t> Plane: </a:t>
            </a:r>
            <a:r>
              <a:rPr lang="ko-KR" altLang="en-US" dirty="0"/>
              <a:t>물리</a:t>
            </a:r>
            <a:r>
              <a:rPr lang="en-US" altLang="ko-KR" dirty="0"/>
              <a:t>/</a:t>
            </a:r>
            <a:r>
              <a:rPr lang="ko-KR" altLang="en-US" dirty="0"/>
              <a:t>논리 디바이스</a:t>
            </a:r>
            <a:r>
              <a:rPr lang="en-US" altLang="ko-KR" dirty="0"/>
              <a:t>(HBM, CXL, DDR </a:t>
            </a:r>
            <a:r>
              <a:rPr lang="ko-KR" altLang="en-US" dirty="0"/>
              <a:t>등</a:t>
            </a:r>
            <a:r>
              <a:rPr lang="en-US" altLang="ko-KR" dirty="0"/>
              <a:t>) </a:t>
            </a:r>
            <a:r>
              <a:rPr lang="ko-KR" altLang="en-US" dirty="0"/>
              <a:t>등록 및 메타 관리</a:t>
            </a:r>
            <a:r>
              <a:rPr lang="en-US" altLang="ko-KR" dirty="0"/>
              <a:t>, </a:t>
            </a:r>
            <a:r>
              <a:rPr lang="ko-KR" altLang="en-US" dirty="0"/>
              <a:t>순수 하드웨어 </a:t>
            </a:r>
            <a:r>
              <a:rPr lang="ko-KR" altLang="en-US" dirty="0" err="1"/>
              <a:t>메트릭</a:t>
            </a:r>
            <a:r>
              <a:rPr lang="en-US" altLang="ko-KR" dirty="0"/>
              <a:t>(</a:t>
            </a:r>
            <a:r>
              <a:rPr lang="ko-KR" altLang="en-US" dirty="0"/>
              <a:t>대역폭</a:t>
            </a:r>
            <a:r>
              <a:rPr lang="en-US" altLang="ko-KR" dirty="0"/>
              <a:t>, </a:t>
            </a:r>
            <a:r>
              <a:rPr lang="ko-KR" altLang="en-US" dirty="0"/>
              <a:t>남은 용량</a:t>
            </a:r>
            <a:r>
              <a:rPr lang="en-US" altLang="ko-KR" dirty="0"/>
              <a:t>, </a:t>
            </a:r>
            <a:r>
              <a:rPr lang="ko-KR" altLang="en-US" dirty="0"/>
              <a:t>지연시간</a:t>
            </a:r>
            <a:r>
              <a:rPr lang="en-US" altLang="ko-KR" dirty="0"/>
              <a:t>) </a:t>
            </a:r>
            <a:r>
              <a:rPr lang="ko-KR" altLang="en-US" dirty="0"/>
              <a:t>수집 및 현재 상태 노출</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Control Plane: </a:t>
            </a:r>
            <a:r>
              <a:rPr lang="ko-KR" altLang="en-US" dirty="0"/>
              <a:t>수집된 </a:t>
            </a:r>
            <a:r>
              <a:rPr lang="ko-KR" altLang="en-US" dirty="0" err="1"/>
              <a:t>메트릭</a:t>
            </a:r>
            <a:r>
              <a:rPr lang="ko-KR" altLang="en-US" dirty="0"/>
              <a:t> 트렌드 분석</a:t>
            </a:r>
            <a:r>
              <a:rPr lang="en-US" altLang="ko-KR" dirty="0"/>
              <a:t>, </a:t>
            </a:r>
            <a:r>
              <a:rPr lang="ko-KR" altLang="en-US" dirty="0"/>
              <a:t>어느 계층</a:t>
            </a:r>
            <a:r>
              <a:rPr lang="en-US" altLang="ko-KR" dirty="0"/>
              <a:t>(Tier)</a:t>
            </a:r>
            <a:r>
              <a:rPr lang="ko-KR" altLang="en-US" dirty="0"/>
              <a:t>으로 보낼지 정책 결정</a:t>
            </a:r>
            <a:r>
              <a:rPr lang="en-US" altLang="ko-KR" dirty="0"/>
              <a:t>, </a:t>
            </a:r>
            <a:r>
              <a:rPr lang="ko-KR" altLang="en-US" dirty="0"/>
              <a:t>어떤 데이터 블록을 마이그레이션</a:t>
            </a:r>
            <a:r>
              <a:rPr lang="en-US" altLang="ko-KR" dirty="0"/>
              <a:t>/</a:t>
            </a:r>
            <a:r>
              <a:rPr lang="ko-KR" altLang="en-US" dirty="0"/>
              <a:t>축출</a:t>
            </a:r>
            <a:r>
              <a:rPr lang="en-US" altLang="ko-KR" dirty="0"/>
              <a:t>(Eviction)</a:t>
            </a:r>
            <a:r>
              <a:rPr lang="ko-KR" altLang="en-US" dirty="0"/>
              <a:t>할지 대상 선정</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Plane: </a:t>
            </a:r>
            <a:r>
              <a:rPr lang="ko-KR" altLang="en-US" sz="1200" kern="1200" dirty="0">
                <a:solidFill>
                  <a:schemeClr val="tx1"/>
                </a:solidFill>
                <a:effectLst/>
                <a:latin typeface="+mn-lt"/>
                <a:ea typeface="+mn-ea"/>
                <a:cs typeface="+mn-cs"/>
              </a:rPr>
              <a:t>결정된 지침에 따라 실제 메모리 블록을 날리거나</a:t>
            </a:r>
            <a:r>
              <a:rPr lang="en-US" altLang="ko-KR" sz="1200" kern="1200" dirty="0">
                <a:solidFill>
                  <a:schemeClr val="tx1"/>
                </a:solidFill>
                <a:effectLst/>
                <a:latin typeface="+mn-lt"/>
                <a:ea typeface="+mn-ea"/>
                <a:cs typeface="+mn-cs"/>
              </a:rPr>
              <a:t>(Free), DMA/P2P </a:t>
            </a:r>
            <a:r>
              <a:rPr lang="ko-KR" altLang="en-US" sz="1200" kern="1200" dirty="0">
                <a:solidFill>
                  <a:schemeClr val="tx1"/>
                </a:solidFill>
                <a:effectLst/>
                <a:latin typeface="+mn-lt"/>
                <a:ea typeface="+mn-ea"/>
                <a:cs typeface="+mn-cs"/>
              </a:rPr>
              <a:t>전송을 수행하는 </a:t>
            </a:r>
            <a:r>
              <a:rPr lang="en-US" altLang="ko-KR" sz="1200" kern="1200" dirty="0">
                <a:solidFill>
                  <a:schemeClr val="tx1"/>
                </a:solidFill>
                <a:effectLst/>
                <a:latin typeface="+mn-lt"/>
                <a:ea typeface="+mn-ea"/>
                <a:cs typeface="+mn-cs"/>
              </a:rPr>
              <a:t>Fast-path </a:t>
            </a:r>
            <a:r>
              <a:rPr lang="ko-KR" altLang="en-US" sz="1200" kern="1200" dirty="0" err="1">
                <a:solidFill>
                  <a:schemeClr val="tx1"/>
                </a:solidFill>
                <a:effectLst/>
                <a:latin typeface="+mn-lt"/>
                <a:ea typeface="+mn-ea"/>
                <a:cs typeface="+mn-cs"/>
              </a:rPr>
              <a:t>실행부</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r>
              <a:rPr lang="en-US" altLang="ko-KR" sz="1200" b="1" kern="1200" dirty="0">
                <a:solidFill>
                  <a:schemeClr val="tx1"/>
                </a:solidFill>
                <a:effectLst/>
                <a:latin typeface="+mn-lt"/>
                <a:ea typeface="+mn-ea"/>
                <a:cs typeface="+mn-cs"/>
              </a:rPr>
              <a:t>Control Plane</a:t>
            </a:r>
            <a:r>
              <a:rPr lang="en-US" altLang="ko-KR" sz="1200" kern="1200" dirty="0">
                <a:solidFill>
                  <a:schemeClr val="tx1"/>
                </a:solidFill>
                <a:effectLst/>
                <a:latin typeface="+mn-lt"/>
                <a:ea typeface="+mn-ea"/>
                <a:cs typeface="+mn-cs"/>
              </a:rPr>
              <a:t>: </a:t>
            </a:r>
            <a:r>
              <a:rPr lang="ko-KR" altLang="en-US" sz="1200" kern="1200" dirty="0">
                <a:solidFill>
                  <a:schemeClr val="tx1"/>
                </a:solidFill>
                <a:effectLst/>
                <a:latin typeface="+mn-lt"/>
                <a:ea typeface="+mn-ea"/>
                <a:cs typeface="+mn-cs"/>
              </a:rPr>
              <a:t>상태</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행위를 분석하고 마이그레이션 정책</a:t>
            </a:r>
            <a:r>
              <a:rPr lang="en-US" altLang="ko-KR" sz="1200" kern="1200" dirty="0">
                <a:solidFill>
                  <a:schemeClr val="tx1"/>
                </a:solidFill>
                <a:effectLst/>
                <a:latin typeface="+mn-lt"/>
                <a:ea typeface="+mn-ea"/>
                <a:cs typeface="+mn-cs"/>
              </a:rPr>
              <a:t>(Migration Policy Engine, Scheduler)</a:t>
            </a:r>
            <a:r>
              <a:rPr lang="ko-KR" altLang="en-US" sz="1200" kern="1200" dirty="0">
                <a:solidFill>
                  <a:schemeClr val="tx1"/>
                </a:solidFill>
                <a:effectLst/>
                <a:latin typeface="+mn-lt"/>
                <a:ea typeface="+mn-ea"/>
                <a:cs typeface="+mn-cs"/>
              </a:rPr>
              <a:t>을 결정하는 두뇌 역할 </a:t>
            </a:r>
          </a:p>
          <a:p>
            <a:r>
              <a:rPr lang="en-US" altLang="ko-KR" sz="1200" b="1" kern="1200" dirty="0">
                <a:solidFill>
                  <a:schemeClr val="tx1"/>
                </a:solidFill>
                <a:effectLst/>
                <a:latin typeface="+mn-lt"/>
                <a:ea typeface="+mn-ea"/>
                <a:cs typeface="+mn-cs"/>
              </a:rPr>
              <a:t>Resource Plane</a:t>
            </a:r>
            <a:r>
              <a:rPr lang="en-US" altLang="ko-KR" sz="1200" kern="1200" dirty="0">
                <a:solidFill>
                  <a:schemeClr val="tx1"/>
                </a:solidFill>
                <a:effectLst/>
                <a:latin typeface="+mn-lt"/>
                <a:ea typeface="+mn-ea"/>
                <a:cs typeface="+mn-cs"/>
              </a:rPr>
              <a:t>: </a:t>
            </a:r>
            <a:r>
              <a:rPr lang="ko-KR" altLang="en-US" sz="1200" kern="1200" dirty="0">
                <a:solidFill>
                  <a:schemeClr val="tx1"/>
                </a:solidFill>
                <a:effectLst/>
                <a:latin typeface="+mn-lt"/>
                <a:ea typeface="+mn-ea"/>
                <a:cs typeface="+mn-cs"/>
              </a:rPr>
              <a:t>물리 장치의 제원과 텔레메트리를 추상화</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제공하는 메타데이터</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지식 저장소 역할 </a:t>
            </a:r>
          </a:p>
          <a:p>
            <a:r>
              <a:rPr lang="en-US" altLang="ko-KR" sz="1200" b="1" kern="1200" dirty="0">
                <a:solidFill>
                  <a:schemeClr val="tx1"/>
                </a:solidFill>
                <a:effectLst/>
                <a:latin typeface="+mn-lt"/>
                <a:ea typeface="+mn-ea"/>
                <a:cs typeface="+mn-cs"/>
              </a:rPr>
              <a:t>Data Plane</a:t>
            </a:r>
            <a:r>
              <a:rPr lang="en-US" altLang="ko-KR" sz="1200" kern="1200" dirty="0">
                <a:solidFill>
                  <a:schemeClr val="tx1"/>
                </a:solidFill>
                <a:effectLst/>
                <a:latin typeface="+mn-lt"/>
                <a:ea typeface="+mn-ea"/>
                <a:cs typeface="+mn-cs"/>
              </a:rPr>
              <a:t>: </a:t>
            </a:r>
            <a:r>
              <a:rPr lang="ko-KR" altLang="en-US" sz="1200" kern="1200" dirty="0">
                <a:solidFill>
                  <a:schemeClr val="tx1"/>
                </a:solidFill>
                <a:effectLst/>
                <a:latin typeface="+mn-lt"/>
                <a:ea typeface="+mn-ea"/>
                <a:cs typeface="+mn-cs"/>
              </a:rPr>
              <a:t>실제 복사 및 전송을 전담하는 실행 계층</a:t>
            </a:r>
            <a:r>
              <a:rPr lang="en-US" altLang="ko-KR" sz="1200" kern="1200" dirty="0">
                <a:solidFill>
                  <a:schemeClr val="tx1"/>
                </a:solidFill>
                <a:effectLst/>
                <a:latin typeface="+mn-lt"/>
                <a:ea typeface="+mn-ea"/>
                <a:cs typeface="+mn-cs"/>
              </a:rPr>
              <a:t>(Executor, Transfer Handler)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3</a:t>
            </a:fld>
            <a:endParaRPr lang="ko-KR" altLang="en-US"/>
          </a:p>
        </p:txBody>
      </p:sp>
    </p:spTree>
    <p:extLst>
      <p:ext uri="{BB962C8B-B14F-4D97-AF65-F5344CB8AC3E}">
        <p14:creationId xmlns:p14="http://schemas.microsoft.com/office/powerpoint/2010/main" val="3100115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대상이 되는 </a:t>
            </a:r>
            <a:r>
              <a:rPr lang="en-US" altLang="ko-KR" dirty="0"/>
              <a:t>KV</a:t>
            </a:r>
          </a:p>
          <a:p>
            <a:pPr rtl="0">
              <a:buFont typeface="Arial" panose="020B0604020202020204" pitchFamily="34" charset="0"/>
              <a:buChar char="•"/>
            </a:pPr>
            <a:r>
              <a:rPr lang="en-US" altLang="ko-KR" dirty="0"/>
              <a:t>preempt</a:t>
            </a:r>
            <a:r>
              <a:rPr lang="ko-KR" altLang="en-US" dirty="0"/>
              <a:t>된 </a:t>
            </a:r>
            <a:r>
              <a:rPr lang="en-US" altLang="ko-KR" dirty="0"/>
              <a:t>request</a:t>
            </a:r>
            <a:r>
              <a:rPr lang="ko-KR" altLang="en-US" dirty="0"/>
              <a:t>의 </a:t>
            </a:r>
            <a:r>
              <a:rPr lang="en-US" altLang="ko-KR" dirty="0"/>
              <a:t>KV</a:t>
            </a:r>
          </a:p>
          <a:p>
            <a:pPr rtl="0">
              <a:buFont typeface="Arial" panose="020B0604020202020204" pitchFamily="34" charset="0"/>
              <a:buChar char="•"/>
            </a:pPr>
            <a:r>
              <a:rPr lang="en-US" altLang="ko-KR" dirty="0"/>
              <a:t>tool-call </a:t>
            </a:r>
            <a:r>
              <a:rPr lang="ko-KR" altLang="en-US" dirty="0"/>
              <a:t>대기 중인 </a:t>
            </a:r>
            <a:r>
              <a:rPr lang="en-US" altLang="ko-KR" dirty="0"/>
              <a:t>Agent session</a:t>
            </a:r>
            <a:r>
              <a:rPr lang="ko-KR" altLang="en-US" dirty="0"/>
              <a:t>의 </a:t>
            </a:r>
            <a:r>
              <a:rPr lang="en-US" altLang="ko-KR" dirty="0"/>
              <a:t>KV</a:t>
            </a:r>
          </a:p>
          <a:p>
            <a:pPr rtl="0">
              <a:buFont typeface="Arial" panose="020B0604020202020204" pitchFamily="34" charset="0"/>
              <a:buChar char="•"/>
            </a:pPr>
            <a:r>
              <a:rPr lang="en-US" altLang="ko-KR" dirty="0" err="1"/>
              <a:t>ref_cnt</a:t>
            </a:r>
            <a:r>
              <a:rPr lang="en-US" altLang="ko-KR" dirty="0"/>
              <a:t>=0</a:t>
            </a:r>
            <a:r>
              <a:rPr lang="ko-KR" altLang="en-US" dirty="0"/>
              <a:t>인 </a:t>
            </a:r>
            <a:r>
              <a:rPr lang="en-US" altLang="ko-KR" dirty="0"/>
              <a:t>prefix cache block</a:t>
            </a:r>
          </a:p>
          <a:p>
            <a:pPr rtl="0">
              <a:buFont typeface="Arial" panose="020B0604020202020204" pitchFamily="34" charset="0"/>
              <a:buChar char="•"/>
            </a:pPr>
            <a:r>
              <a:rPr lang="ko-KR" altLang="en-US" dirty="0"/>
              <a:t>종료됐지만 재사용 가능성이 있는 </a:t>
            </a:r>
            <a:r>
              <a:rPr lang="en-US" altLang="ko-KR" dirty="0"/>
              <a:t>session KV</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4</a:t>
            </a:fld>
            <a:endParaRPr lang="ko-KR" altLang="en-US"/>
          </a:p>
        </p:txBody>
      </p:sp>
    </p:spTree>
    <p:extLst>
      <p:ext uri="{BB962C8B-B14F-4D97-AF65-F5344CB8AC3E}">
        <p14:creationId xmlns:p14="http://schemas.microsoft.com/office/powerpoint/2010/main" val="2460613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[사전 지식 - Prefill / Decode와 P/D 분리]</a:t>
            </a:r>
          </a:p>
          <a:p>
            <a:r>
              <a:t>LLM 추론은 두 단계로 나뉩니다. Prefill은 프롬프트 n개 토큰을 한 번에 병렬로 처리해 각 토큰의 Key/Value, 즉 KV 캐시를 만들고 첫 출력 토큰을 냅니다. 여러 토큰을 행렬×행렬(GEMM)로 처리하므로 연산량이 병목인 Compute-bound 단계이고, 첫 응답 시간(TTFT)을 결정합니다.</a:t>
            </a:r>
          </a:p>
          <a:p>
            <a:r>
              <a:t>Decode는 KV 캐시를 참조하며 토큰을 하나씩 생성합니다. step마다 토큰 하나(GEMV)만 처리하지만 매번 가중치와 누적된 KV 캐시 전체를 메모리에서 읽어야 하므로 메모리 대역폭이 병목인 Memory-bound 단계이고, 토큰당 생성 시간(TPOT)을 결정합니다. 왼쪽 그림처럼 GPU 실행 시간의 대부분을 GEMV가 차지하고, 오른쪽 그림처럼 Prefill은 연산이, Decode는 메모리 load/store가 시간을 지배합니다.</a:t>
            </a:r>
          </a:p>
          <a:p>
            <a:r>
              <a:t>두 단계를 한 GPU에서 섞으면 긴 Prefill이 들어올 때 진행 중이던 Decode가 멈춰 TPOT이 튀고, 반대로 Decode batch 때문에 Prefill이 대기해 TTFT가 늘어납니다. 그래서 Prefill 인스턴스와 Decoding 인스턴스를 분리하고, Prefill이 만든 KV 캐시를 Decode 쪽으로 전송하는 것이 P/D 분리 구조입니다. 간섭이 사라지고 두 단계를 독립적으로 scaling·최적화할 수 있습니다.</a:t>
            </a:r>
          </a:p>
          <a:p>
            <a:r>
              <a:t>대신 KV 캐시 이동 비용이 새로 생깁니다. Multi-turn이나 Agent처럼 다음 Turn이 이어지면 History KV는 D 쪽에 쌓여 있으므로, 다음 Prefill을 P에서 할지(KV 전송) D에서 할지(Decode와 간섭) 매번 판단이 필요하고, KV가 여러 Memory Tier에 놓이면 이 판단은 더 복잡해집니다. 이것이 다음 장의 배경입니다.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88801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[Turn 예시 - 왜 Prefill 실행 위치가 매번 문제가 되는가]</a:t>
            </a:r>
          </a:p>
          <a:p>
            <a:r>
              <a:t>먼저 P 노드와 D 노드는 물리적으로 분리된 서버이고, 그 사이를 넘는 KV 캐시에는 전송 비용이 붙습니다. 그림의 점선이 그 경계입니다.</a:t>
            </a:r>
          </a:p>
          <a:p>
            <a:r>
              <a:t>Turn 1에서는 P 노드가 사용자 질문 2,000 토큰을 Prefill 하고, 만들어진 KV 캐시가 D 노드로 넘어가 Decode가 돕니다. 이 시점부터 History KV는 D 노드에 있습니다.</a:t>
            </a:r>
          </a:p>
          <a:p>
            <a:r>
              <a:t>Turn 2에서 Tool 결과가 도착하면 선택지가 두 개 생깁니다. ① D에서 그대로 Prefill 하면 KV를 옮길 필요가 없어 전송 비용이 0이지만, D가 돌리고 있던 Decode와 GPU 자원을 다투게 되어 진행 중인 응답이 느려집니다. ② History KV를 P로 보내 P에서 Prefill 하면 D의 Decode는 그대로 두고 P의 연산 자원을 쓸 수 있지만, History KV 크기만큼 전송 비용을 새로 냅니다.</a:t>
            </a:r>
          </a:p>
          <a:p>
            <a:r>
              <a:t>핵심은 어느 쪽이 싼지가 고정되어 있지 않다는 점입니다. Tool 결과가 작으면 옮겨봐야 전송비가 연산 이득보다 크므로 ①이 낫고, Tool 결과가 크거나 D가 혼잡하면 전송비를 내더라도 ②가 낫습니다. History KV가 커질수록 ②의 전송 비용도 함께 커지므로 Turn이 진행될수록 판단이 또 달라집니다.</a:t>
            </a:r>
          </a:p>
          <a:p>
            <a:r>
              <a:t>즉 Tool 결과 크기, History KV 크기, P/D 노드 부하가 매 Turn 바뀌기 때문에 고정된 규칙 하나로는 대응할 수 없고, 이것이 아래 설계 쟁점에서 말하는 동적 결정 구조가 필요한 이유입니다.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8124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C2</a:t>
            </a:r>
            <a:r>
              <a:rPr lang="ko-KR" altLang="en-US" dirty="0"/>
              <a:t>의 </a:t>
            </a:r>
            <a:r>
              <a:rPr lang="en-US" altLang="ko-KR" dirty="0"/>
              <a:t>runtime state monitor</a:t>
            </a:r>
            <a:r>
              <a:rPr lang="ko-KR" altLang="en-US" dirty="0"/>
              <a:t>에 대한 설명</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“Data type label</a:t>
            </a:r>
            <a:r>
              <a:rPr lang="ko-KR" altLang="en-US" dirty="0"/>
              <a:t>만 가지고 배치한 것이 아니라</a:t>
            </a:r>
            <a:r>
              <a:rPr lang="en-US" altLang="ko-KR" dirty="0"/>
              <a:t>, object</a:t>
            </a:r>
            <a:r>
              <a:rPr lang="ko-KR" altLang="en-US" dirty="0"/>
              <a:t>별 </a:t>
            </a:r>
            <a:r>
              <a:rPr lang="en-US" altLang="ko-KR" dirty="0"/>
              <a:t>access event</a:t>
            </a:r>
            <a:r>
              <a:rPr lang="ko-KR" altLang="en-US" dirty="0"/>
              <a:t>를 </a:t>
            </a:r>
            <a:r>
              <a:rPr lang="en-US" altLang="ko-KR" dirty="0"/>
              <a:t>online</a:t>
            </a:r>
            <a:r>
              <a:rPr lang="ko-KR" altLang="en-US" dirty="0"/>
              <a:t>으로 수집하고 </a:t>
            </a:r>
            <a:r>
              <a:rPr lang="en-US" altLang="ko-KR" dirty="0"/>
              <a:t>access-rate EWMA, inter-access interval, idle duration, object age</a:t>
            </a:r>
            <a:r>
              <a:rPr lang="ko-KR" altLang="en-US" dirty="0"/>
              <a:t>를 관리했습니다</a:t>
            </a:r>
            <a:r>
              <a:rPr lang="en-US" altLang="ko-KR" dirty="0"/>
              <a:t>. Cold start</a:t>
            </a:r>
            <a:r>
              <a:rPr lang="ko-KR" altLang="en-US" dirty="0"/>
              <a:t>에서는 </a:t>
            </a:r>
            <a:r>
              <a:rPr lang="en-US" altLang="ko-KR" dirty="0"/>
              <a:t>data-class prior</a:t>
            </a:r>
            <a:r>
              <a:rPr lang="ko-KR" altLang="en-US" dirty="0"/>
              <a:t>를 사용하고 </a:t>
            </a:r>
            <a:r>
              <a:rPr lang="en-US" altLang="ko-KR" dirty="0"/>
              <a:t>observation</a:t>
            </a:r>
            <a:r>
              <a:rPr lang="ko-KR" altLang="en-US" dirty="0"/>
              <a:t>이 축적되면 </a:t>
            </a:r>
            <a:r>
              <a:rPr lang="en-US" altLang="ko-KR" dirty="0"/>
              <a:t>prior weight</a:t>
            </a:r>
            <a:r>
              <a:rPr lang="ko-KR" altLang="en-US" dirty="0"/>
              <a:t>를 </a:t>
            </a:r>
            <a:r>
              <a:rPr lang="en-US" altLang="ko-KR" dirty="0"/>
              <a:t>exponential decay</a:t>
            </a:r>
            <a:r>
              <a:rPr lang="ko-KR" altLang="en-US" dirty="0"/>
              <a:t>시켜 실제 </a:t>
            </a:r>
            <a:r>
              <a:rPr lang="en-US" altLang="ko-KR" dirty="0"/>
              <a:t>runtime behavior</a:t>
            </a:r>
            <a:r>
              <a:rPr lang="ko-KR" altLang="en-US" dirty="0"/>
              <a:t>가 </a:t>
            </a:r>
            <a:r>
              <a:rPr lang="en-US" altLang="ko-KR" dirty="0"/>
              <a:t>prediction</a:t>
            </a:r>
            <a:r>
              <a:rPr lang="ko-KR" altLang="en-US" dirty="0"/>
              <a:t>을 지배하도록 했습니다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MISMATCH</a:t>
            </a:r>
            <a:r>
              <a:rPr lang="en-US" altLang="ko-KR" dirty="0"/>
              <a:t> | +-- </a:t>
            </a:r>
            <a:r>
              <a:rPr lang="en-US" altLang="ko-KR" sz="1200" kern="1200" dirty="0">
                <a:solidFill>
                  <a:schemeClr val="tx1"/>
                </a:solidFill>
                <a:effectLst/>
                <a:latin typeface="+mn-lt"/>
                <a:ea typeface="+mn-ea"/>
                <a:cs typeface="+mn-cs"/>
              </a:rPr>
              <a:t>1</a:t>
            </a:r>
            <a:r>
              <a:rPr lang="en-US" altLang="ko-KR" dirty="0"/>
              <a:t>. ranked alt </a:t>
            </a:r>
            <a:r>
              <a:rPr lang="ko-KR" altLang="en-US" dirty="0"/>
              <a:t>중 </a:t>
            </a:r>
            <a:r>
              <a:rPr lang="en-US" altLang="ko-KR" dirty="0"/>
              <a:t>guard </a:t>
            </a:r>
            <a:r>
              <a:rPr lang="ko-KR" altLang="en-US" dirty="0"/>
              <a:t>통과하는 것 </a:t>
            </a:r>
            <a:r>
              <a:rPr lang="en-US" altLang="ko-KR" dirty="0"/>
              <a:t>--&gt; </a:t>
            </a:r>
            <a:r>
              <a:rPr lang="en-US" altLang="ko-KR" sz="1200" kern="1200" dirty="0">
                <a:solidFill>
                  <a:schemeClr val="tx1"/>
                </a:solidFill>
                <a:effectLst/>
                <a:latin typeface="+mn-lt"/>
                <a:ea typeface="+mn-ea"/>
                <a:cs typeface="+mn-cs"/>
              </a:rPr>
              <a:t>Router</a:t>
            </a:r>
            <a:r>
              <a:rPr lang="en-US" altLang="ko-KR" dirty="0"/>
              <a:t> | +-- </a:t>
            </a:r>
            <a:r>
              <a:rPr lang="en-US" altLang="ko-KR" sz="1200" kern="1200" dirty="0">
                <a:solidFill>
                  <a:schemeClr val="tx1"/>
                </a:solidFill>
                <a:effectLst/>
                <a:latin typeface="+mn-lt"/>
                <a:ea typeface="+mn-ea"/>
                <a:cs typeface="+mn-cs"/>
              </a:rPr>
              <a:t>2</a:t>
            </a:r>
            <a:r>
              <a:rPr lang="en-US" altLang="ko-KR" dirty="0"/>
              <a:t>. fallback </a:t>
            </a:r>
            <a:r>
              <a:rPr lang="ko-KR" altLang="en-US" dirty="0"/>
              <a:t>규칙 </a:t>
            </a:r>
            <a:r>
              <a:rPr lang="en-US" altLang="ko-KR" dirty="0"/>
              <a:t>--&gt; </a:t>
            </a:r>
            <a:r>
              <a:rPr lang="en-US" altLang="ko-KR" sz="1200" kern="1200" dirty="0">
                <a:solidFill>
                  <a:schemeClr val="tx1"/>
                </a:solidFill>
                <a:effectLst/>
                <a:latin typeface="+mn-lt"/>
                <a:ea typeface="+mn-ea"/>
                <a:cs typeface="+mn-cs"/>
              </a:rPr>
              <a:t>Router</a:t>
            </a:r>
            <a:r>
              <a:rPr lang="en-US" altLang="ko-KR" dirty="0"/>
              <a:t> | +-- </a:t>
            </a:r>
            <a:r>
              <a:rPr lang="en-US" altLang="ko-KR" sz="1200" kern="1200" dirty="0">
                <a:solidFill>
                  <a:schemeClr val="tx1"/>
                </a:solidFill>
                <a:effectLst/>
                <a:latin typeface="+mn-lt"/>
                <a:ea typeface="+mn-ea"/>
                <a:cs typeface="+mn-cs"/>
              </a:rPr>
              <a:t>3</a:t>
            </a:r>
            <a:r>
              <a:rPr lang="en-US" altLang="ko-KR" dirty="0"/>
              <a:t>. </a:t>
            </a:r>
            <a:r>
              <a:rPr lang="ko-KR" altLang="en-US" dirty="0"/>
              <a:t>동기 </a:t>
            </a:r>
            <a:r>
              <a:rPr lang="en-US" altLang="ko-KR" dirty="0"/>
              <a:t>re-plan --&gt; </a:t>
            </a:r>
            <a:r>
              <a:rPr lang="ko-KR" altLang="en-US" dirty="0"/>
              <a:t>결과 직접 반환 </a:t>
            </a:r>
            <a:r>
              <a:rPr lang="en-US" altLang="ko-KR" dirty="0"/>
              <a:t>--&gt; </a:t>
            </a:r>
            <a:r>
              <a:rPr lang="en-US" altLang="ko-KR" sz="1200" kern="1200" dirty="0">
                <a:solidFill>
                  <a:schemeClr val="tx1"/>
                </a:solidFill>
                <a:effectLst/>
                <a:latin typeface="+mn-lt"/>
                <a:ea typeface="+mn-ea"/>
                <a:cs typeface="+mn-cs"/>
              </a:rPr>
              <a:t>Router</a:t>
            </a:r>
            <a:r>
              <a:rPr lang="en-US" altLang="ko-KR" dirty="0"/>
              <a:t> | +-- (</a:t>
            </a:r>
            <a:r>
              <a:rPr lang="ko-KR" altLang="en-US" dirty="0"/>
              <a:t>비동기</a:t>
            </a:r>
            <a:r>
              <a:rPr lang="en-US" altLang="ko-KR" dirty="0"/>
              <a:t>) </a:t>
            </a:r>
            <a:r>
              <a:rPr lang="en-US" altLang="ko-KR" sz="1200" kern="1200" dirty="0">
                <a:solidFill>
                  <a:schemeClr val="tx1"/>
                </a:solidFill>
                <a:effectLst/>
                <a:latin typeface="+mn-lt"/>
                <a:ea typeface="+mn-ea"/>
                <a:cs typeface="+mn-cs"/>
              </a:rPr>
              <a:t>Plan</a:t>
            </a:r>
            <a:r>
              <a:rPr lang="en-US" altLang="ko-KR" dirty="0"/>
              <a:t> </a:t>
            </a:r>
            <a:r>
              <a:rPr lang="en-US" altLang="ko-KR" sz="1200" kern="1200" dirty="0">
                <a:solidFill>
                  <a:schemeClr val="tx1"/>
                </a:solidFill>
                <a:effectLst/>
                <a:latin typeface="+mn-lt"/>
                <a:ea typeface="+mn-ea"/>
                <a:cs typeface="+mn-cs"/>
              </a:rPr>
              <a:t>Cache</a:t>
            </a:r>
            <a:r>
              <a:rPr lang="en-US" altLang="ko-KR" dirty="0"/>
              <a:t> </a:t>
            </a:r>
            <a:r>
              <a:rPr lang="ko-KR" altLang="en-US" dirty="0"/>
              <a:t>갱신 </a:t>
            </a:r>
            <a:r>
              <a:rPr lang="en-US" altLang="ko-KR" dirty="0"/>
              <a:t>= </a:t>
            </a:r>
            <a:r>
              <a:rPr lang="ko-KR" altLang="en-US" dirty="0"/>
              <a:t>다음 </a:t>
            </a:r>
            <a:r>
              <a:rPr lang="ko-KR" altLang="en-US" dirty="0" err="1"/>
              <a:t>요청용</a:t>
            </a:r>
            <a:endParaRPr lang="ko-KR" altLang="en-US" dirty="0"/>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7</a:t>
            </a:fld>
            <a:endParaRPr lang="ko-KR" altLang="en-US"/>
          </a:p>
        </p:txBody>
      </p:sp>
    </p:spTree>
    <p:extLst>
      <p:ext uri="{BB962C8B-B14F-4D97-AF65-F5344CB8AC3E}">
        <p14:creationId xmlns:p14="http://schemas.microsoft.com/office/powerpoint/2010/main" val="2765931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배경 - 서버 1대 안에서 서버 여러 대로]</a:t>
            </a:r>
          </a:p>
          <a:p>
            <a:r>
              <a:t>먼저 왼쪽입니다. LLM을 돌리는 추론 서버(vLLM 인스턴스) 1대 안에는 GPU의 HBM, 호스트의 DRAM, 그리고 최근 등장한 CXL-PNM, HBF, SSD-PIM 같은 신규 메모리가 섞여 있습니다. 일반 SW로 비유하면 L1/L2 캐시, 메모리, SSD처럼 속도는 빠르고 용량은 작은 것부터 느리고 큰 것까지 계층이 있는 것과 같습니다. LLM이 이전 입력을 다시 계산하지 않으려고 저장해 두는 중간 결과를 KV 캐시라고 부르는데, 이것을 어느 메모리에 두느냐가 성능을 좌우합니다. 이 서버 1대 안의 결정이 지금까지 진행한 DP1~DP4의 범위입니다.</a:t>
            </a:r>
          </a:p>
          <a:p>
            <a:r>
              <a:t>오른쪽은 이 서버를 여러 대, 즉 Rack 규모로 늘렸을 때입니다. 서버마다 메모리 사용 상태와 KV 캐시를 가진 상태가 다르기 때문에, 같은 요청도 어느 서버로 보내느냐에 따라 성능이 크게 달라집니다. 입력 처리(Prefill)와 응답 생성(Decode)을 서로 다른 서버에서 나눠 실행하거나 서버끼리 KV 캐시를 주고받는 일도 생깁니다.</a:t>
            </a:r>
          </a:p>
          <a:p>
            <a:r>
              <a:t>이런 서버 간 결정, 즉 요청 라우팅, Prefill/Decode 분리, KV 공유, 서버 확장을 맡는 것이 요청 조율 계층(Orchestration)입니다. 웹 서비스의 로드밸런서와 스케줄러를 합친 역할입니다. vLLM은 서버 1대 안까지만 다루고, llm-d와 Dynamo 같은 오픈소스가 서버들을 묶는 계층을 제공하므로 두 쪽의 축이 다릅니다. 이 계층을 이기종 메모리 상태까지 반영하도록 어떻게 구성할지가 DP0이고, 다음 장에서 현재 구조와 목표 구조로 정리합니다.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8</a:t>
            </a:fld>
            <a:endParaRPr lang="ko-KR" altLang="en-US"/>
          </a:p>
        </p:txBody>
      </p:sp>
    </p:spTree>
    <p:extLst>
      <p:ext uri="{BB962C8B-B14F-4D97-AF65-F5344CB8AC3E}">
        <p14:creationId xmlns:p14="http://schemas.microsoft.com/office/powerpoint/2010/main" val="521318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[DP0 배경 - As-Is와 To-Be]</a:t>
            </a:r>
          </a:p>
          <a:p>
            <a:r>
              <a:t>먼저 용어 하나만 짚겠습니다. 저희 시스템은 LLM을 실제로 돌리는 서버(vLLM 인스턴스)가 여러 대 있고, 그 앞에서 요청을 나눠 주는 '요청 조율 계층'이 있습니다. 웹 서비스의 로드밸런서와 스케줄러를 합친 역할입니다. 각 서버는 이전 대화의 중간 결과(KV 캐시)를 HBM, DRAM, CXL 같은 서로 다른 속도의 메모리에 나눠 보관합니다.</a:t>
            </a:r>
          </a:p>
          <a:p>
            <a:r>
              <a:t>왼쪽 As-Is가 지금의 오픈소스(llm-d, Dynamo) 방식입니다. 조율기가 후보 서버에 점수를 매겨 하나를 고르는데, 메모리 종류별 점수가 'GPU 1.0, CPU 0.8'처럼 고정 값입니다. Prefill/Decode(입력 처리와 응답 생성)를 다른 서버에서 나눠 실행할지도 고정 기준으로 정합니다. 정작 서버 안의 메모리 사용량이나 전송 대기 같은 실시간 상태는 판단에 들어가지 않고, 새 메모리(CXL, HBF)는 구분조차 못 합니다. 즉 서버 안에서 애써 얻은 성능 이득이 요청 배분 단계에서 사라질 수 있습니다.</a:t>
            </a:r>
          </a:p>
          <a:p>
            <a:r>
              <a:t>오른쪽 To-Be는 같은 여섯 가지 기능 블록(요청 수신·중계, 서버 선택 로직, 상태 수집, 흐름 제어, Prefill/Decode 조율, 서버 발견·확장)을 유지합니다. 다만 상태 수집에 메모리 종류별 캐시 보유 위치와 사용량·전송 대기 수치를 추가하고, 서버 선택 로직이 이를 비용으로 환산해 판단하게 합니다. 모니터링 메트릭을 읽어 라우팅에 반영하는 구조라고 보시면 됩니다. 이것이 설계 쟁점 1이고, 처리량과 첫 응답 시간(TTFT)을 높이기 위한 설계입니다.</a:t>
            </a:r>
          </a:p>
          <a:p>
            <a:r>
              <a:t>새 메모리나 정책이 생기거나 서버가 늘어도 기존 구조를 바꾸지 않아야 하므로 확장 지점이 필요합니다. 이것이 설계 쟁점 2이고, 변경 용이성과 서버를 늘릴 때의 확장성을 위한 것입니다. 이 확장 지점을 오픈소스를 확장해서 만들지 직접 구현할지가 다음 장들의 1안과 2안입니다.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0979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[DP0 </a:t>
            </a:r>
            <a:r>
              <a:rPr lang="ko-KR" altLang="en-US" dirty="0"/>
              <a:t>설계 </a:t>
            </a:r>
            <a:r>
              <a:rPr lang="en-US" altLang="ko-KR" dirty="0"/>
              <a:t>- </a:t>
            </a:r>
            <a:r>
              <a:rPr lang="ko-KR" altLang="en-US" dirty="0"/>
              <a:t>구조</a:t>
            </a:r>
            <a:r>
              <a:rPr lang="en-US" altLang="ko-KR" dirty="0"/>
              <a:t>(</a:t>
            </a:r>
            <a:r>
              <a:rPr lang="ko-KR" altLang="en-US" dirty="0"/>
              <a:t>컴포넌트 뷰</a:t>
            </a:r>
            <a:r>
              <a:rPr lang="en-US" altLang="ko-KR" dirty="0"/>
              <a:t>)]</a:t>
            </a:r>
          </a:p>
          <a:p>
            <a:r>
              <a:rPr lang="ko-KR" altLang="en-US" dirty="0"/>
              <a:t>두 후보를 같은 기능 블록</a:t>
            </a:r>
            <a:r>
              <a:rPr lang="en-US" altLang="ko-KR" dirty="0"/>
              <a:t>(A~F)</a:t>
            </a:r>
            <a:r>
              <a:rPr lang="ko-KR" altLang="en-US" dirty="0"/>
              <a:t>과 같은 표기로 그렸습니다</a:t>
            </a:r>
            <a:r>
              <a:rPr lang="en-US" altLang="ko-KR" dirty="0"/>
              <a:t>. </a:t>
            </a:r>
            <a:r>
              <a:rPr lang="ko-KR" altLang="en-US" dirty="0"/>
              <a:t>회색은 우리가 못 바꾸는 </a:t>
            </a:r>
            <a:r>
              <a:rPr lang="en-US" altLang="ko-KR" dirty="0" err="1"/>
              <a:t>vLLM</a:t>
            </a:r>
            <a:r>
              <a:rPr lang="ko-KR" altLang="en-US" dirty="0"/>
              <a:t>입니다</a:t>
            </a:r>
            <a:r>
              <a:rPr lang="en-US" altLang="ko-KR" dirty="0"/>
              <a:t>.</a:t>
            </a:r>
          </a:p>
          <a:p>
            <a:r>
              <a:rPr lang="en-US" altLang="ko-KR" dirty="0"/>
              <a:t>1</a:t>
            </a:r>
            <a:r>
              <a:rPr lang="ko-KR" altLang="en-US" dirty="0"/>
              <a:t>안</a:t>
            </a:r>
            <a:r>
              <a:rPr lang="en-US" altLang="ko-KR" dirty="0"/>
              <a:t>(</a:t>
            </a:r>
            <a:r>
              <a:rPr lang="ko-KR" altLang="en-US" dirty="0"/>
              <a:t>왼쪽</a:t>
            </a:r>
            <a:r>
              <a:rPr lang="en-US" altLang="ko-KR" dirty="0"/>
              <a:t>)</a:t>
            </a:r>
            <a:r>
              <a:rPr lang="ko-KR" altLang="en-US" dirty="0"/>
              <a:t>은 오픈소스</a:t>
            </a:r>
            <a:r>
              <a:rPr lang="en-US" altLang="ko-KR" dirty="0"/>
              <a:t>(</a:t>
            </a:r>
            <a:r>
              <a:rPr lang="en-US" altLang="ko-KR" dirty="0" err="1"/>
              <a:t>llm</a:t>
            </a:r>
            <a:r>
              <a:rPr lang="en-US" altLang="ko-KR" dirty="0"/>
              <a:t>-d)</a:t>
            </a:r>
            <a:r>
              <a:rPr lang="ko-KR" altLang="en-US" dirty="0"/>
              <a:t>를 그대로 쓰고 우리 </a:t>
            </a:r>
            <a:r>
              <a:rPr lang="ko-KR" altLang="en-US" dirty="0" err="1"/>
              <a:t>로직만</a:t>
            </a:r>
            <a:r>
              <a:rPr lang="ko-KR" altLang="en-US" dirty="0"/>
              <a:t> 얹습니다</a:t>
            </a:r>
            <a:r>
              <a:rPr lang="en-US" altLang="ko-KR" dirty="0"/>
              <a:t>. </a:t>
            </a:r>
            <a:r>
              <a:rPr lang="ko-KR" altLang="en-US" dirty="0"/>
              <a:t>프록시가 요청을 받아 </a:t>
            </a:r>
            <a:r>
              <a:rPr lang="en-US" altLang="ko-KR" dirty="0"/>
              <a:t>Router(</a:t>
            </a:r>
            <a:r>
              <a:rPr lang="ko-KR" altLang="en-US" dirty="0"/>
              <a:t>결정 프로세스</a:t>
            </a:r>
            <a:r>
              <a:rPr lang="en-US" altLang="ko-KR" dirty="0"/>
              <a:t>)</a:t>
            </a:r>
            <a:r>
              <a:rPr lang="ko-KR" altLang="en-US" dirty="0"/>
              <a:t>에 원격으로 물어보고</a:t>
            </a:r>
            <a:r>
              <a:rPr lang="en-US" altLang="ko-KR" dirty="0"/>
              <a:t>(②, </a:t>
            </a:r>
            <a:r>
              <a:rPr lang="ko-KR" altLang="en-US" dirty="0"/>
              <a:t>원격 호출 </a:t>
            </a:r>
            <a:r>
              <a:rPr lang="en-US" altLang="ko-KR" dirty="0"/>
              <a:t>1</a:t>
            </a:r>
            <a:r>
              <a:rPr lang="ko-KR" altLang="en-US" dirty="0"/>
              <a:t>회</a:t>
            </a:r>
            <a:r>
              <a:rPr lang="en-US" altLang="ko-KR" dirty="0"/>
              <a:t>), </a:t>
            </a:r>
            <a:r>
              <a:rPr lang="ko-KR" altLang="en-US" dirty="0"/>
              <a:t>선택된 서버 옆의 </a:t>
            </a:r>
            <a:r>
              <a:rPr lang="en-US" altLang="ko-KR" dirty="0"/>
              <a:t>P/D </a:t>
            </a:r>
            <a:r>
              <a:rPr lang="ko-KR" altLang="en-US" dirty="0"/>
              <a:t>보조 프로세스가 </a:t>
            </a:r>
            <a:r>
              <a:rPr lang="en-US" altLang="ko-KR" dirty="0"/>
              <a:t>Prefill </a:t>
            </a:r>
            <a:r>
              <a:rPr lang="ko-KR" altLang="en-US" dirty="0"/>
              <a:t>서버를 호출해 </a:t>
            </a:r>
            <a:r>
              <a:rPr lang="en-US" altLang="ko-KR" dirty="0"/>
              <a:t>P/D</a:t>
            </a:r>
            <a:r>
              <a:rPr lang="ko-KR" altLang="en-US" dirty="0"/>
              <a:t>를 조율합니다</a:t>
            </a:r>
            <a:r>
              <a:rPr lang="en-US" altLang="ko-KR" dirty="0"/>
              <a:t>. </a:t>
            </a:r>
            <a:r>
              <a:rPr lang="ko-KR" altLang="en-US" dirty="0"/>
              <a:t>노란색이 우리가 추가하는 부분</a:t>
            </a:r>
            <a:r>
              <a:rPr lang="en-US" altLang="ko-KR" dirty="0"/>
              <a:t>(P1·P2</a:t>
            </a:r>
            <a:r>
              <a:rPr lang="ko-KR" altLang="en-US" dirty="0"/>
              <a:t>는 설정</a:t>
            </a:r>
            <a:r>
              <a:rPr lang="en-US" altLang="ko-KR" dirty="0"/>
              <a:t>, P3·P4</a:t>
            </a:r>
            <a:r>
              <a:rPr lang="ko-KR" altLang="en-US" dirty="0"/>
              <a:t>는 확장 모듈</a:t>
            </a:r>
            <a:r>
              <a:rPr lang="en-US" altLang="ko-KR" dirty="0"/>
              <a:t>)</a:t>
            </a:r>
            <a:r>
              <a:rPr lang="ko-KR" altLang="en-US" dirty="0"/>
              <a:t>이고</a:t>
            </a:r>
            <a:r>
              <a:rPr lang="en-US" altLang="ko-KR" dirty="0"/>
              <a:t>, </a:t>
            </a:r>
            <a:r>
              <a:rPr lang="ko-KR" altLang="en-US" dirty="0"/>
              <a:t>빨간 테두리는 </a:t>
            </a:r>
          </a:p>
          <a:p>
            <a:r>
              <a:rPr lang="ko-KR" altLang="en-US" dirty="0"/>
              <a:t>기존 모듈을 고쳐야 하는 유일한 곳</a:t>
            </a:r>
            <a:r>
              <a:rPr lang="en-US" altLang="ko-KR" dirty="0"/>
              <a:t>(P/D </a:t>
            </a:r>
            <a:r>
              <a:rPr lang="ko-KR" altLang="en-US" dirty="0"/>
              <a:t>경로의 노드 지시</a:t>
            </a:r>
            <a:r>
              <a:rPr lang="en-US" altLang="ko-KR" dirty="0"/>
              <a:t>, P5)</a:t>
            </a:r>
            <a:r>
              <a:rPr lang="ko-KR" altLang="en-US" dirty="0"/>
              <a:t>입니다</a:t>
            </a:r>
            <a:r>
              <a:rPr lang="en-US" altLang="ko-KR" dirty="0"/>
              <a:t>.</a:t>
            </a:r>
            <a:endParaRPr lang="ko-KR" altLang="en-US" dirty="0"/>
          </a:p>
          <a:p>
            <a:endParaRPr lang="ko-KR" altLang="en-US" dirty="0"/>
          </a:p>
          <a:p>
            <a:r>
              <a:rPr lang="en-US" altLang="ko-KR" dirty="0"/>
              <a:t>2</a:t>
            </a:r>
            <a:r>
              <a:rPr lang="ko-KR" altLang="en-US" dirty="0"/>
              <a:t>안</a:t>
            </a:r>
            <a:r>
              <a:rPr lang="en-US" altLang="ko-KR" dirty="0"/>
              <a:t>(</a:t>
            </a:r>
            <a:r>
              <a:rPr lang="ko-KR" altLang="en-US" dirty="0"/>
              <a:t>오른쪽</a:t>
            </a:r>
            <a:r>
              <a:rPr lang="en-US" altLang="ko-KR" dirty="0"/>
              <a:t>)</a:t>
            </a:r>
            <a:r>
              <a:rPr lang="ko-KR" altLang="en-US" dirty="0"/>
              <a:t>은 전부 우리가 소유하는 </a:t>
            </a:r>
            <a:r>
              <a:rPr lang="ko-KR" altLang="en-US" dirty="0" err="1"/>
              <a:t>계층형</a:t>
            </a:r>
            <a:r>
              <a:rPr lang="ko-KR" altLang="en-US" dirty="0"/>
              <a:t> 구조입니다</a:t>
            </a:r>
            <a:r>
              <a:rPr lang="en-US" altLang="ko-KR" dirty="0"/>
              <a:t>. </a:t>
            </a:r>
            <a:r>
              <a:rPr lang="ko-KR" altLang="en-US" dirty="0"/>
              <a:t>한 프로세스 안에 </a:t>
            </a:r>
            <a:r>
              <a:rPr lang="en-US" altLang="ko-KR" dirty="0"/>
              <a:t>Ingress, Pipeline(Admission → </a:t>
            </a:r>
            <a:r>
              <a:rPr lang="en-US" altLang="ko-KR" dirty="0" err="1"/>
              <a:t>PolicyEngine</a:t>
            </a:r>
            <a:r>
              <a:rPr lang="ko-KR" altLang="en-US" dirty="0"/>
              <a:t> → </a:t>
            </a:r>
            <a:r>
              <a:rPr lang="en-US" altLang="ko-KR" dirty="0"/>
              <a:t>P/D </a:t>
            </a:r>
            <a:r>
              <a:rPr lang="ko-KR" altLang="en-US" dirty="0"/>
              <a:t>조율</a:t>
            </a:r>
            <a:r>
              <a:rPr lang="en-US" altLang="ko-KR" dirty="0"/>
              <a:t>), State Plane(</a:t>
            </a:r>
            <a:r>
              <a:rPr lang="ko-KR" altLang="en-US" dirty="0"/>
              <a:t>상태 저장소</a:t>
            </a:r>
            <a:r>
              <a:rPr lang="en-US" altLang="ko-KR" dirty="0"/>
              <a:t>, </a:t>
            </a:r>
            <a:r>
              <a:rPr lang="ko-KR" altLang="en-US" dirty="0"/>
              <a:t>이벤트 구독</a:t>
            </a:r>
            <a:r>
              <a:rPr lang="en-US" altLang="ko-KR" dirty="0"/>
              <a:t>, </a:t>
            </a:r>
            <a:r>
              <a:rPr lang="ko-KR" altLang="en-US" dirty="0" err="1"/>
              <a:t>메트릭</a:t>
            </a:r>
            <a:r>
              <a:rPr lang="ko-KR" altLang="en-US" dirty="0"/>
              <a:t> 수집</a:t>
            </a:r>
            <a:r>
              <a:rPr lang="en-US" altLang="ko-KR" dirty="0"/>
              <a:t>, </a:t>
            </a:r>
            <a:r>
              <a:rPr lang="ko-KR" altLang="en-US" dirty="0"/>
              <a:t>서버 등록</a:t>
            </a:r>
            <a:r>
              <a:rPr lang="en-US" altLang="ko-KR" dirty="0"/>
              <a:t>)</a:t>
            </a:r>
            <a:r>
              <a:rPr lang="ko-KR" altLang="en-US" dirty="0"/>
              <a:t>을 나눴고</a:t>
            </a:r>
            <a:r>
              <a:rPr lang="en-US" altLang="ko-KR" dirty="0"/>
              <a:t>, </a:t>
            </a:r>
            <a:r>
              <a:rPr lang="ko-KR" altLang="en-US" dirty="0"/>
              <a:t>정책은 </a:t>
            </a:r>
            <a:r>
              <a:rPr lang="en-US" altLang="ko-KR" dirty="0" err="1"/>
              <a:t>PolicyEngine</a:t>
            </a:r>
            <a:r>
              <a:rPr lang="ko-KR" altLang="en-US" dirty="0"/>
              <a:t>의 </a:t>
            </a:r>
            <a:r>
              <a:rPr lang="en-US" altLang="ko-KR" dirty="0"/>
              <a:t>SPI(P1~P3 Scorer, P4 Planner)</a:t>
            </a:r>
            <a:r>
              <a:rPr lang="ko-KR" altLang="en-US" dirty="0"/>
              <a:t>로 꽂고</a:t>
            </a:r>
            <a:r>
              <a:rPr lang="en-US" altLang="ko-KR" dirty="0"/>
              <a:t>, </a:t>
            </a:r>
            <a:r>
              <a:rPr lang="ko-KR" altLang="en-US" dirty="0"/>
              <a:t>상태는 읽기 전용 </a:t>
            </a:r>
            <a:r>
              <a:rPr lang="en-US" altLang="ko-KR" dirty="0" err="1"/>
              <a:t>StateView</a:t>
            </a:r>
            <a:r>
              <a:rPr lang="ko-KR" altLang="en-US" dirty="0"/>
              <a:t> 인터페이스로만 읽습니다</a:t>
            </a:r>
            <a:r>
              <a:rPr lang="en-US" altLang="ko-KR" dirty="0"/>
              <a:t>. </a:t>
            </a:r>
            <a:r>
              <a:rPr lang="ko-KR" altLang="en-US" dirty="0"/>
              <a:t>이전 안은 단일 프로세스</a:t>
            </a:r>
            <a:r>
              <a:rPr lang="en-US" altLang="ko-KR" dirty="0"/>
              <a:t>·</a:t>
            </a:r>
            <a:r>
              <a:rPr lang="ko-KR" altLang="en-US" dirty="0"/>
              <a:t>정적 설정의 최소 구성이어서 확장성이 일방적으로 약했는데</a:t>
            </a:r>
            <a:r>
              <a:rPr lang="en-US" altLang="ko-KR" dirty="0"/>
              <a:t>, </a:t>
            </a:r>
            <a:r>
              <a:rPr lang="ko-KR" altLang="en-US" dirty="0"/>
              <a:t>이번에는 상태를 공유하지 않는 </a:t>
            </a:r>
            <a:r>
              <a:rPr lang="ko-KR" altLang="en-US" dirty="0" err="1"/>
              <a:t>레플리카</a:t>
            </a:r>
            <a:r>
              <a:rPr lang="ko-KR" altLang="en-US" dirty="0"/>
              <a:t> 여러 개를 </a:t>
            </a:r>
            <a:r>
              <a:rPr lang="en-US" altLang="ko-KR" dirty="0"/>
              <a:t>L4 </a:t>
            </a:r>
            <a:r>
              <a:rPr lang="ko-KR" altLang="en-US" dirty="0" err="1"/>
              <a:t>로드밸런서</a:t>
            </a:r>
            <a:r>
              <a:rPr lang="ko-KR" altLang="en-US" dirty="0"/>
              <a:t> 뒤에 두고 </a:t>
            </a:r>
            <a:r>
              <a:rPr lang="en-US" altLang="ko-KR" dirty="0" err="1"/>
              <a:t>etcd</a:t>
            </a:r>
            <a:r>
              <a:rPr lang="ko-KR" altLang="en-US" dirty="0"/>
              <a:t>로 서버를 등록하는 구성으로 같은 노력 수준에서 비교합니다</a:t>
            </a:r>
            <a:r>
              <a:rPr lang="en-US" altLang="ko-KR" dirty="0"/>
              <a:t>. </a:t>
            </a:r>
            <a:r>
              <a:rPr lang="ko-KR" altLang="en-US" dirty="0"/>
              <a:t>구현은 되어 있지 않은 </a:t>
            </a:r>
            <a:r>
              <a:rPr lang="ko-KR" altLang="en-US" dirty="0" err="1"/>
              <a:t>설계안입니다</a:t>
            </a:r>
            <a:r>
              <a:rPr lang="en-US" altLang="ko-KR" dirty="0"/>
              <a:t>.</a:t>
            </a:r>
            <a:endParaRPr lang="ko-KR" altLang="en-US" dirty="0"/>
          </a:p>
          <a:p>
            <a:endParaRPr lang="ko-KR" altLang="en-US" dirty="0"/>
          </a:p>
          <a:p>
            <a:r>
              <a:rPr lang="en-US" altLang="ko-KR" dirty="0"/>
              <a:t>P5 </a:t>
            </a:r>
            <a:r>
              <a:rPr lang="ko-KR" altLang="en-US" dirty="0"/>
              <a:t>범위</a:t>
            </a:r>
            <a:r>
              <a:rPr lang="en-US" altLang="ko-KR" dirty="0"/>
              <a:t>: </a:t>
            </a:r>
            <a:r>
              <a:rPr lang="ko-KR" altLang="en-US" dirty="0"/>
              <a:t>도식의 </a:t>
            </a:r>
            <a:r>
              <a:rPr lang="en-US" altLang="ko-KR" dirty="0"/>
              <a:t>P5</a:t>
            </a:r>
            <a:r>
              <a:rPr lang="ko-KR" altLang="en-US" dirty="0"/>
              <a:t>는 지시의 송신</a:t>
            </a:r>
            <a:r>
              <a:rPr lang="en-US" altLang="ko-KR" dirty="0"/>
              <a:t>(</a:t>
            </a:r>
            <a:r>
              <a:rPr lang="ko-KR" altLang="en-US" dirty="0"/>
              <a:t>오케스트레이션</a:t>
            </a:r>
            <a:r>
              <a:rPr lang="en-US" altLang="ko-KR" dirty="0"/>
              <a:t>)</a:t>
            </a:r>
            <a:r>
              <a:rPr lang="ko-KR" altLang="en-US" dirty="0"/>
              <a:t>입니다</a:t>
            </a:r>
            <a:r>
              <a:rPr lang="en-US" altLang="ko-KR" dirty="0"/>
              <a:t>. </a:t>
            </a:r>
            <a:r>
              <a:rPr lang="ko-KR" altLang="en-US" dirty="0"/>
              <a:t>지시를 받아 실행하는 쪽은 </a:t>
            </a:r>
            <a:r>
              <a:rPr lang="en-US" altLang="ko-KR" dirty="0" err="1"/>
              <a:t>vLLM</a:t>
            </a:r>
            <a:r>
              <a:rPr lang="en-US" altLang="ko-KR" dirty="0"/>
              <a:t>(</a:t>
            </a:r>
            <a:r>
              <a:rPr lang="ko-KR" altLang="en-US" dirty="0"/>
              <a:t>엔진</a:t>
            </a:r>
            <a:r>
              <a:rPr lang="en-US" altLang="ko-KR" dirty="0"/>
              <a:t>)</a:t>
            </a:r>
            <a:r>
              <a:rPr lang="ko-KR" altLang="en-US" dirty="0"/>
              <a:t>이고 두 안 공통 선결이며</a:t>
            </a:r>
            <a:r>
              <a:rPr lang="en-US" altLang="ko-KR" dirty="0"/>
              <a:t>, P/D </a:t>
            </a:r>
            <a:r>
              <a:rPr lang="ko-KR" altLang="en-US" dirty="0"/>
              <a:t>보조 프로세스는 엔진이 아니라 오케스트레이션 소프트웨어입니다</a:t>
            </a:r>
            <a:r>
              <a:rPr lang="en-US" altLang="ko-KR" dirty="0"/>
              <a:t>.</a:t>
            </a:r>
          </a:p>
          <a:p>
            <a:r>
              <a:rPr lang="ko-KR" altLang="en-US" dirty="0"/>
              <a:t>후보 </a:t>
            </a:r>
            <a:r>
              <a:rPr lang="en-US" altLang="ko-KR" dirty="0"/>
              <a:t>2</a:t>
            </a:r>
            <a:r>
              <a:rPr lang="ko-KR" altLang="en-US" dirty="0"/>
              <a:t>가 한 프로세스인 이유</a:t>
            </a:r>
            <a:r>
              <a:rPr lang="en-US" altLang="ko-KR" dirty="0"/>
              <a:t>: </a:t>
            </a:r>
            <a:r>
              <a:rPr lang="ko-KR" altLang="en-US" dirty="0"/>
              <a:t>우리에게 필요한 것은 요청 </a:t>
            </a:r>
            <a:r>
              <a:rPr lang="ko-KR" altLang="en-US" dirty="0" err="1"/>
              <a:t>파싱</a:t>
            </a:r>
            <a:r>
              <a:rPr lang="en-US" altLang="ko-KR" dirty="0"/>
              <a:t>, </a:t>
            </a:r>
            <a:r>
              <a:rPr lang="ko-KR" altLang="en-US" dirty="0"/>
              <a:t>서버 선택</a:t>
            </a:r>
            <a:r>
              <a:rPr lang="en-US" altLang="ko-KR" dirty="0"/>
              <a:t>, P/D </a:t>
            </a:r>
            <a:r>
              <a:rPr lang="ko-KR" altLang="en-US" dirty="0"/>
              <a:t>조율</a:t>
            </a:r>
            <a:r>
              <a:rPr lang="en-US" altLang="ko-KR" dirty="0"/>
              <a:t>, </a:t>
            </a:r>
            <a:r>
              <a:rPr lang="ko-KR" altLang="en-US" dirty="0"/>
              <a:t>토큰 스트림 중계 같은 </a:t>
            </a:r>
            <a:r>
              <a:rPr lang="en-US" altLang="ko-KR" dirty="0"/>
              <a:t>LLM </a:t>
            </a:r>
            <a:r>
              <a:rPr lang="ko-KR" altLang="en-US" dirty="0"/>
              <a:t>전용 </a:t>
            </a:r>
            <a:r>
              <a:rPr lang="ko-KR" altLang="en-US" dirty="0" err="1"/>
              <a:t>기능뿐이고</a:t>
            </a:r>
            <a:r>
              <a:rPr lang="ko-KR" altLang="en-US" dirty="0"/>
              <a:t> 인증</a:t>
            </a:r>
            <a:r>
              <a:rPr lang="en-US" altLang="ko-KR" dirty="0"/>
              <a:t>·</a:t>
            </a:r>
            <a:r>
              <a:rPr lang="ko-KR" altLang="en-US" dirty="0"/>
              <a:t>다중 프로토콜 같은 범용 프록시 기능은 필요하지 않습니다</a:t>
            </a:r>
            <a:r>
              <a:rPr lang="en-US" altLang="ko-KR" dirty="0"/>
              <a:t>. </a:t>
            </a:r>
            <a:r>
              <a:rPr lang="ko-KR" altLang="en-US" dirty="0"/>
              <a:t>그래서 프록시와 결정 </a:t>
            </a:r>
            <a:r>
              <a:rPr lang="ko-KR" altLang="en-US" dirty="0" err="1"/>
              <a:t>로직을</a:t>
            </a:r>
            <a:r>
              <a:rPr lang="ko-KR" altLang="en-US" dirty="0"/>
              <a:t> 나눌 이유가 없고</a:t>
            </a:r>
            <a:r>
              <a:rPr lang="en-US" altLang="ko-KR" dirty="0"/>
              <a:t>, </a:t>
            </a:r>
            <a:r>
              <a:rPr lang="ko-KR" altLang="en-US" dirty="0"/>
              <a:t>합쳐서 원격 호출 </a:t>
            </a:r>
            <a:r>
              <a:rPr lang="en-US" altLang="ko-KR" dirty="0"/>
              <a:t>1</a:t>
            </a:r>
            <a:r>
              <a:rPr lang="ko-KR" altLang="en-US" dirty="0"/>
              <a:t>회를 없앱니다</a:t>
            </a:r>
            <a:r>
              <a:rPr lang="en-US" altLang="ko-KR" dirty="0"/>
              <a:t>(</a:t>
            </a:r>
            <a:r>
              <a:rPr lang="ko-KR" altLang="en-US" dirty="0"/>
              <a:t>범용 기능이 나중에 필요하면 </a:t>
            </a:r>
            <a:r>
              <a:rPr lang="ko-KR" altLang="en-US" dirty="0" err="1"/>
              <a:t>앞단</a:t>
            </a:r>
            <a:r>
              <a:rPr lang="ko-KR" altLang="en-US" dirty="0"/>
              <a:t> </a:t>
            </a:r>
            <a:r>
              <a:rPr lang="ko-KR" altLang="en-US" dirty="0" err="1"/>
              <a:t>로드밸런서에</a:t>
            </a:r>
            <a:r>
              <a:rPr lang="ko-KR" altLang="en-US" dirty="0"/>
              <a:t> 맡깁니다</a:t>
            </a:r>
            <a:r>
              <a:rPr lang="en-US" altLang="ko-KR" dirty="0"/>
              <a:t>).</a:t>
            </a:r>
          </a:p>
          <a:p>
            <a:r>
              <a:rPr lang="ko-KR" altLang="en-US" dirty="0"/>
              <a:t>아래 표의 </a:t>
            </a:r>
            <a:r>
              <a:rPr lang="en-US" altLang="ko-KR" dirty="0"/>
              <a:t>D1~D3</a:t>
            </a:r>
            <a:r>
              <a:rPr lang="ko-KR" altLang="en-US" dirty="0"/>
              <a:t>이 두 안을 가르는 세 가지 설계 결정입니다</a:t>
            </a:r>
            <a:r>
              <a:rPr lang="en-US" altLang="ko-KR" dirty="0"/>
              <a:t>: </a:t>
            </a:r>
            <a:r>
              <a:rPr lang="ko-KR" altLang="en-US" dirty="0"/>
              <a:t>결정을 어디서 하는가</a:t>
            </a:r>
            <a:r>
              <a:rPr lang="en-US" altLang="ko-KR" dirty="0"/>
              <a:t>, P/D </a:t>
            </a:r>
            <a:r>
              <a:rPr lang="ko-KR" altLang="en-US" dirty="0"/>
              <a:t>조율을 어디서 하는가</a:t>
            </a:r>
            <a:r>
              <a:rPr lang="en-US" altLang="ko-KR" dirty="0"/>
              <a:t>, </a:t>
            </a:r>
            <a:r>
              <a:rPr lang="ko-KR" altLang="en-US" dirty="0"/>
              <a:t>기능을 누가 소유하는가</a:t>
            </a:r>
            <a:r>
              <a:rPr lang="en-US" altLang="ko-KR" dirty="0"/>
              <a:t>. </a:t>
            </a:r>
            <a:r>
              <a:rPr lang="ko-KR" altLang="en-US" dirty="0"/>
              <a:t>다음 장에서 이 결정들이 품질 속성을 어떻게 맞바꾸는지 봅니다</a:t>
            </a:r>
            <a:r>
              <a:rPr lang="en-US" altLang="ko-KR" dirty="0"/>
              <a:t>.</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10</a:t>
            </a:fld>
            <a:endParaRPr lang="ko-KR" altLang="en-US"/>
          </a:p>
        </p:txBody>
      </p:sp>
    </p:spTree>
    <p:extLst>
      <p:ext uri="{BB962C8B-B14F-4D97-AF65-F5344CB8AC3E}">
        <p14:creationId xmlns:p14="http://schemas.microsoft.com/office/powerpoint/2010/main" val="1175413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766F1F-6FFF-438E-978E-7F50C6A9E63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DAFAFD0-1F82-4A9B-B3F6-99224804E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2A504BB-6AAA-4233-A0A1-1975C91FEA4C}"/>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AE792343-8259-4E59-9F61-74C15CCDDC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1CB83A2-9524-4B3A-B3C6-D4F79B0E8BB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6403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669E3-A266-4BEB-8BBA-CE42A5B6659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CE1CA8F-9445-4D8B-A0A0-34714CBAC16D}"/>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2E6160-1C4D-4559-89D9-A35150A3582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5B2329A2-229C-4CBB-AC58-12A0F0ACAC1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241D84D-6A9B-449E-843F-67D8BA66FBB1}"/>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87259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76C279-BE8E-4A58-8F27-8C25650DED1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4392A46-7FFF-4D6F-AA6E-D59A61223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46685FA-9578-48E3-9E09-D095C1DFA2E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2AA1F830-4CCD-4D6C-BCCB-003C05CFE7D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80742D8-AAC9-4467-8546-CC9D64B5949C}"/>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43359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4B4E56-0A82-416C-92D9-654BF5C9D2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FB22FE0-D66C-416D-A771-4B8A78E1DB6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0BDFEE8-FEDA-40B6-AD92-F654C3C947F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7C12402-8087-4755-8681-5AB4A554CB7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FB6EB7B6-16FD-43F7-AD81-6AE05331273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7884AA5-2DBF-4023-90B7-AAC1D13205A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8826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92D15B-0C0F-4390-875E-1590EE8F0FD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B713CE4-54D4-472C-AF86-5304C461B5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EF3848C-49A2-46AD-B69D-6770C2A4431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0F7C98F-4810-4F56-8535-9FA72E9AD6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D491211-BEE3-4FEF-980E-6C26F74438D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E8F1097-25B6-4C35-9EDA-0A1B99A7AF6E}"/>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8" name="바닥글 개체 틀 7">
            <a:extLst>
              <a:ext uri="{FF2B5EF4-FFF2-40B4-BE49-F238E27FC236}">
                <a16:creationId xmlns:a16="http://schemas.microsoft.com/office/drawing/2014/main" id="{11967B94-09AA-40C9-A6E7-C49079CAA9A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E44706B7-77D3-4F97-B3C3-87F6F63E48FB}"/>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97510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E3900A-A75F-4F93-AE6D-F58DCEBA40E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9FA1503-70FC-402A-9BEA-A7A4CBD5F324}"/>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4" name="바닥글 개체 틀 3">
            <a:extLst>
              <a:ext uri="{FF2B5EF4-FFF2-40B4-BE49-F238E27FC236}">
                <a16:creationId xmlns:a16="http://schemas.microsoft.com/office/drawing/2014/main" id="{AD8CE03B-7743-434D-93C2-5D3CF40D6E0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3E11778-A95C-403D-A5C5-03429AA1E58E}"/>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15820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79B79F9-D3BF-4383-9A2B-6720ED16C1D7}"/>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3" name="바닥글 개체 틀 2">
            <a:extLst>
              <a:ext uri="{FF2B5EF4-FFF2-40B4-BE49-F238E27FC236}">
                <a16:creationId xmlns:a16="http://schemas.microsoft.com/office/drawing/2014/main" id="{9791CDC1-1BD2-4CEC-AF70-F1035E05EE8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66BE70D-7B66-4208-B021-AB8D7CB4D757}"/>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2369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71A4DB-6070-458A-B403-89620438738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CEFAD1F-018C-4CD8-A320-CCA387166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290798B4-57C3-44B4-A8C2-A1110A143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6382C16-FF45-4304-A19A-EF629B4740F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9BB56C59-F03D-40C5-A062-6C1D08EA6F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B5D1989-7D2D-483E-8B76-675B71A799C6}"/>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69468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80EA15-1B37-4FC8-A267-BD814C73A41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A6C1A13-FB13-43ED-9A16-DE43BD615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C750587-5197-4793-84A9-1FCE8E0F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A05951-2B75-4A9C-9D31-DA984C7D0BA0}"/>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893DFFFB-CB82-44B7-ADD5-6C06FFCA99B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FC3ACB5-7C5F-4763-A545-1E091D9CF56F}"/>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31381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8F7E99-E266-4394-AC3C-C81C0AA01FE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B903C54-E094-4214-B922-CFC0A756130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C66B284-4B0D-4115-B089-AA26C33B443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08850256-F467-447D-9263-C7183DD65B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83367B8-E91F-4EFF-904D-A125138D360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4718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E4CC87E-C30F-4874-9B17-340763F05AF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B237634-FD61-4D11-A5FB-707E825ADF3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D80697-7563-4134-9650-BD8DE52FAD6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B7795852-3BEA-4032-BF3B-1DBB06E399D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EE3DC6E-6854-4E11-B4EC-45C9A22F9932}"/>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090528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242764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0AD665B-95C3-4399-9C37-9DABDB1E5A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A6DC265-2495-45CB-94D5-2A0095D35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1E49F97-8660-4B82-B92F-E28176287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D78CD36A-B7E4-4EBB-BD2C-7A89014F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A89CF50-AAA0-498B-83B2-83B855385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1589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DP1. </a:t>
            </a:r>
            <a:r>
              <a:rPr lang="ko-KR" altLang="en-US" dirty="0"/>
              <a:t>이기종 메모리 기반 </a:t>
            </a:r>
            <a:r>
              <a:rPr lang="en-US" altLang="ko-KR" dirty="0"/>
              <a:t>Data Migration</a:t>
            </a:r>
            <a:r>
              <a:rPr lang="ko-KR" altLang="en-US" dirty="0"/>
              <a:t> 결정 구조 </a:t>
            </a:r>
            <a:r>
              <a:rPr lang="en-US" altLang="ko-KR" dirty="0"/>
              <a:t>- </a:t>
            </a:r>
            <a:r>
              <a:rPr lang="ko-KR" altLang="en-US" dirty="0"/>
              <a:t>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250329" y="882132"/>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다양한 메모리 솔루션 등장</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Agent</a:t>
              </a:r>
              <a:r>
                <a:rPr lang="ko-KR" altLang="en-US" sz="1200" b="1" dirty="0"/>
                <a:t>의 </a:t>
              </a:r>
              <a:r>
                <a:rPr lang="en-US" altLang="ko-KR" sz="1200" b="1" dirty="0"/>
                <a:t>HBM Pressure </a:t>
              </a:r>
              <a:r>
                <a:rPr lang="ko-KR" altLang="en-US" sz="1200" b="1" dirty="0"/>
                <a:t>가속화</a:t>
              </a:r>
            </a:p>
          </p:txBody>
        </p:sp>
      </p:grpSp>
      <p:sp>
        <p:nvSpPr>
          <p:cNvPr id="198" name="Text 22"/>
          <p:cNvSpPr/>
          <p:nvPr/>
        </p:nvSpPr>
        <p:spPr>
          <a:xfrm>
            <a:off x="347472" y="1094766"/>
            <a:ext cx="4444447" cy="318067"/>
          </a:xfrm>
          <a:prstGeom prst="rect">
            <a:avLst/>
          </a:prstGeom>
          <a:noFill/>
          <a:ln/>
        </p:spPr>
        <p:txBody>
          <a:bodyPr wrap="square" lIns="0" tIns="0" rIns="0" bIns="0" rtlCol="0" anchor="t"/>
          <a:lstStyle/>
          <a:p>
            <a:pPr marL="171450" indent="-171450">
              <a:lnSpc>
                <a:spcPct val="150000"/>
              </a:lnSpc>
              <a:buFont typeface="Wingdings" panose="05000000000000000000" pitchFamily="2" charset="2"/>
              <a:buChar char="ü"/>
            </a:pPr>
            <a:r>
              <a:rPr lang="en-US" altLang="ko-KR" sz="1200" dirty="0">
                <a:sym typeface="Wingdings" panose="05000000000000000000" pitchFamily="2" charset="2"/>
              </a:rPr>
              <a:t>Agent</a:t>
            </a:r>
            <a:r>
              <a:rPr lang="ko-KR" altLang="en-US" sz="1200" dirty="0">
                <a:sym typeface="Wingdings" panose="05000000000000000000" pitchFamily="2" charset="2"/>
              </a:rPr>
              <a:t>의 </a:t>
            </a:r>
            <a:r>
              <a:rPr lang="en-US" altLang="ko-KR" sz="1200" dirty="0">
                <a:sym typeface="Wingdings" panose="05000000000000000000" pitchFamily="2" charset="2"/>
              </a:rPr>
              <a:t>Multi-turn</a:t>
            </a:r>
            <a:r>
              <a:rPr lang="ko-KR" altLang="en-US" sz="1200" dirty="0">
                <a:sym typeface="Wingdings" panose="05000000000000000000" pitchFamily="2" charset="2"/>
              </a:rPr>
              <a:t>으로 인한 </a:t>
            </a:r>
            <a:r>
              <a:rPr lang="en-US" altLang="ko-KR" sz="1200" dirty="0">
                <a:sym typeface="Wingdings" panose="05000000000000000000" pitchFamily="2" charset="2"/>
              </a:rPr>
              <a:t>Context</a:t>
            </a:r>
            <a:r>
              <a:rPr lang="ko-KR" altLang="en-US" sz="1200" dirty="0">
                <a:sym typeface="Wingdings" panose="05000000000000000000" pitchFamily="2" charset="2"/>
              </a:rPr>
              <a:t> 누적 </a:t>
            </a:r>
            <a:r>
              <a:rPr lang="en-US" altLang="ko-KR" sz="1200" dirty="0">
                <a:sym typeface="Wingdings" panose="05000000000000000000" pitchFamily="2" charset="2"/>
              </a:rPr>
              <a:t> KV </a:t>
            </a:r>
            <a:r>
              <a:rPr lang="ko-KR" altLang="en-US" sz="1200" dirty="0">
                <a:sym typeface="Wingdings" panose="05000000000000000000" pitchFamily="2" charset="2"/>
              </a:rPr>
              <a:t>캐시 증가 </a:t>
            </a:r>
            <a:endParaRPr lang="en-US" altLang="ko-KR" sz="1200" dirty="0">
              <a:sym typeface="Wingdings" panose="05000000000000000000" pitchFamily="2" charset="2"/>
            </a:endParaRPr>
          </a:p>
        </p:txBody>
      </p:sp>
      <p:sp>
        <p:nvSpPr>
          <p:cNvPr id="199" name="Text 22"/>
          <p:cNvSpPr/>
          <p:nvPr/>
        </p:nvSpPr>
        <p:spPr>
          <a:xfrm>
            <a:off x="347472" y="3801996"/>
            <a:ext cx="5509863" cy="340314"/>
          </a:xfrm>
          <a:prstGeom prst="rect">
            <a:avLst/>
          </a:prstGeom>
          <a:noFill/>
          <a:ln/>
        </p:spPr>
        <p:txBody>
          <a:bodyPr wrap="square" lIns="0" tIns="0" rIns="0" bIns="0" rtlCol="0" anchor="t"/>
          <a:lstStyle/>
          <a:p>
            <a:pPr marL="171450" indent="-171450">
              <a:lnSpc>
                <a:spcPct val="150000"/>
              </a:lnSpc>
              <a:buFont typeface="Wingdings" panose="05000000000000000000" pitchFamily="2" charset="2"/>
              <a:buChar char="ü"/>
            </a:pPr>
            <a:r>
              <a:rPr lang="en-US" altLang="ko-KR" sz="1200" dirty="0">
                <a:sym typeface="Wingdings" panose="05000000000000000000" pitchFamily="2" charset="2"/>
              </a:rPr>
              <a:t>Agent</a:t>
            </a:r>
            <a:r>
              <a:rPr lang="ko-KR" altLang="en-US" sz="1200" dirty="0">
                <a:sym typeface="Wingdings" panose="05000000000000000000" pitchFamily="2" charset="2"/>
              </a:rPr>
              <a:t>는 하나의 요청을 여러 개의 동시 작업으로 증폭시킬 수 있음 </a:t>
            </a:r>
            <a:endParaRPr lang="en-US" altLang="ko-KR" sz="1200" b="1" dirty="0">
              <a:solidFill>
                <a:schemeClr val="accent2">
                  <a:lumMod val="75000"/>
                </a:schemeClr>
              </a:solidFill>
              <a:sym typeface="Wingdings" panose="05000000000000000000" pitchFamily="2" charset="2"/>
            </a:endParaRPr>
          </a:p>
        </p:txBody>
      </p:sp>
      <p:pic>
        <p:nvPicPr>
          <p:cNvPr id="204" name="그림 203"/>
          <p:cNvPicPr>
            <a:picLocks noChangeAspect="1"/>
          </p:cNvPicPr>
          <p:nvPr/>
        </p:nvPicPr>
        <p:blipFill rotWithShape="1">
          <a:blip r:embed="rId3"/>
          <a:srcRect l="2641" t="1749" r="2321" b="11984"/>
          <a:stretch/>
        </p:blipFill>
        <p:spPr>
          <a:xfrm>
            <a:off x="7154211" y="1184229"/>
            <a:ext cx="3823538" cy="2480669"/>
          </a:xfrm>
          <a:prstGeom prst="rect">
            <a:avLst/>
          </a:prstGeom>
        </p:spPr>
      </p:pic>
      <p:sp>
        <p:nvSpPr>
          <p:cNvPr id="299" name="실행 단추: 앞으로 또는 다음 298">
            <a:hlinkClick r:id="" action="ppaction://noaction" highlightClick="1"/>
          </p:cNvPr>
          <p:cNvSpPr/>
          <p:nvPr/>
        </p:nvSpPr>
        <p:spPr>
          <a:xfrm>
            <a:off x="10625465" y="779436"/>
            <a:ext cx="217381" cy="226009"/>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4" name="직선 연결선 213">
            <a:extLst>
              <a:ext uri="{FF2B5EF4-FFF2-40B4-BE49-F238E27FC236}">
                <a16:creationId xmlns:a16="http://schemas.microsoft.com/office/drawing/2014/main" id="{D58FEC0B-5568-4E2A-AF34-EF05147FA88B}"/>
              </a:ext>
            </a:extLst>
          </p:cNvPr>
          <p:cNvCxnSpPr>
            <a:stCxn id="138" idx="3"/>
            <a:endCxn id="166" idx="1"/>
          </p:cNvCxnSpPr>
          <p:nvPr/>
        </p:nvCxnSpPr>
        <p:spPr>
          <a:xfrm flipV="1">
            <a:off x="9517632" y="5199961"/>
            <a:ext cx="509288" cy="393619"/>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7" name="그룹 36"/>
          <p:cNvGrpSpPr/>
          <p:nvPr/>
        </p:nvGrpSpPr>
        <p:grpSpPr>
          <a:xfrm>
            <a:off x="6452396" y="4219751"/>
            <a:ext cx="4494180" cy="1993182"/>
            <a:chOff x="6344173" y="3347234"/>
            <a:chExt cx="4494180" cy="1993182"/>
          </a:xfrm>
        </p:grpSpPr>
        <p:grpSp>
          <p:nvGrpSpPr>
            <p:cNvPr id="5" name="그룹 4"/>
            <p:cNvGrpSpPr/>
            <p:nvPr/>
          </p:nvGrpSpPr>
          <p:grpSpPr>
            <a:xfrm>
              <a:off x="6344173" y="3347234"/>
              <a:ext cx="4494180" cy="1896944"/>
              <a:chOff x="6299288" y="3053619"/>
              <a:chExt cx="4428503" cy="2122718"/>
            </a:xfrm>
          </p:grpSpPr>
          <p:grpSp>
            <p:nvGrpSpPr>
              <p:cNvPr id="137" name="그룹 136">
                <a:extLst>
                  <a:ext uri="{FF2B5EF4-FFF2-40B4-BE49-F238E27FC236}">
                    <a16:creationId xmlns:a16="http://schemas.microsoft.com/office/drawing/2014/main" id="{58C3D28F-23EC-4DCC-95AC-37D92DBC27F5}"/>
                  </a:ext>
                </a:extLst>
              </p:cNvPr>
              <p:cNvGrpSpPr/>
              <p:nvPr/>
            </p:nvGrpSpPr>
            <p:grpSpPr>
              <a:xfrm>
                <a:off x="7524431" y="3143351"/>
                <a:ext cx="3101145" cy="2032986"/>
                <a:chOff x="1384719" y="2126980"/>
                <a:chExt cx="3072915" cy="2081864"/>
              </a:xfrm>
            </p:grpSpPr>
            <p:sp>
              <p:nvSpPr>
                <p:cNvPr id="138" name="직사각형 137">
                  <a:extLst>
                    <a:ext uri="{FF2B5EF4-FFF2-40B4-BE49-F238E27FC236}">
                      <a16:creationId xmlns:a16="http://schemas.microsoft.com/office/drawing/2014/main" id="{6F69B73E-FFFC-45E8-BB7B-9B8AB23AB720}"/>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CPU</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39" name="모서리가 둥근 직사각형 191">
                  <a:extLst>
                    <a:ext uri="{FF2B5EF4-FFF2-40B4-BE49-F238E27FC236}">
                      <a16:creationId xmlns:a16="http://schemas.microsoft.com/office/drawing/2014/main" id="{2F7BF330-794C-4E29-BF45-B1F8AFFE3312}"/>
                    </a:ext>
                  </a:extLst>
                </p:cNvPr>
                <p:cNvSpPr/>
                <p:nvPr/>
              </p:nvSpPr>
              <p:spPr>
                <a:xfrm>
                  <a:off x="2397566" y="3953185"/>
                  <a:ext cx="804331"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SSD-PIM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40" name="모서리가 둥근 직사각형 192">
                  <a:extLst>
                    <a:ext uri="{FF2B5EF4-FFF2-40B4-BE49-F238E27FC236}">
                      <a16:creationId xmlns:a16="http://schemas.microsoft.com/office/drawing/2014/main" id="{F514312F-4F37-4C23-84C5-02AC423D2309}"/>
                    </a:ext>
                  </a:extLst>
                </p:cNvPr>
                <p:cNvSpPr/>
                <p:nvPr/>
              </p:nvSpPr>
              <p:spPr>
                <a:xfrm>
                  <a:off x="3664432" y="3659517"/>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DRAM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cxnSp>
              <p:nvCxnSpPr>
                <p:cNvPr id="142" name="직선 연결선 9">
                  <a:extLst>
                    <a:ext uri="{FF2B5EF4-FFF2-40B4-BE49-F238E27FC236}">
                      <a16:creationId xmlns:a16="http://schemas.microsoft.com/office/drawing/2014/main" id="{FED03D99-C83C-46A5-B2BC-AED0C3F4FE2A}"/>
                    </a:ext>
                  </a:extLst>
                </p:cNvPr>
                <p:cNvCxnSpPr>
                  <a:stCxn id="151" idx="2"/>
                  <a:endCxn id="138"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3" name="직선 연결선 142">
                  <a:extLst>
                    <a:ext uri="{FF2B5EF4-FFF2-40B4-BE49-F238E27FC236}">
                      <a16:creationId xmlns:a16="http://schemas.microsoft.com/office/drawing/2014/main" id="{E8BD091E-84A4-4AF0-9C69-9D493ED1BE5B}"/>
                    </a:ext>
                  </a:extLst>
                </p:cNvPr>
                <p:cNvCxnSpPr>
                  <a:stCxn id="138" idx="2"/>
                  <a:endCxn id="139" idx="0"/>
                </p:cNvCxnSpPr>
                <p:nvPr/>
              </p:nvCxnSpPr>
              <p:spPr>
                <a:xfrm flipH="1">
                  <a:off x="2799732"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4" name="그룹 143">
                  <a:extLst>
                    <a:ext uri="{FF2B5EF4-FFF2-40B4-BE49-F238E27FC236}">
                      <a16:creationId xmlns:a16="http://schemas.microsoft.com/office/drawing/2014/main" id="{9AB2F484-FCAE-43BA-9424-00EADB4082E4}"/>
                    </a:ext>
                  </a:extLst>
                </p:cNvPr>
                <p:cNvGrpSpPr/>
                <p:nvPr/>
              </p:nvGrpSpPr>
              <p:grpSpPr>
                <a:xfrm>
                  <a:off x="2323241" y="2126980"/>
                  <a:ext cx="959778" cy="1212050"/>
                  <a:chOff x="2993906" y="2126755"/>
                  <a:chExt cx="959778" cy="1212050"/>
                </a:xfrm>
              </p:grpSpPr>
              <p:sp>
                <p:nvSpPr>
                  <p:cNvPr id="151" name="직사각형 150">
                    <a:extLst>
                      <a:ext uri="{FF2B5EF4-FFF2-40B4-BE49-F238E27FC236}">
                        <a16:creationId xmlns:a16="http://schemas.microsoft.com/office/drawing/2014/main" id="{7CF69065-B71D-45B8-A775-D343993857B2}"/>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GPU</a:t>
                    </a:r>
                    <a:endParaRPr lang="ko-KR" altLang="en-US" sz="1100" b="1" dirty="0">
                      <a:solidFill>
                        <a:srgbClr val="1F3864"/>
                      </a:solidFill>
                      <a:latin typeface="Malgun Gothic" pitchFamily="34" charset="0"/>
                      <a:ea typeface="Malgun Gothic" pitchFamily="34" charset="-122"/>
                      <a:cs typeface="Malgun Gothic" pitchFamily="34" charset="-120"/>
                    </a:endParaRPr>
                  </a:p>
                </p:txBody>
              </p:sp>
              <p:sp>
                <p:nvSpPr>
                  <p:cNvPr id="152" name="모서리가 둥근 직사각형 203">
                    <a:extLst>
                      <a:ext uri="{FF2B5EF4-FFF2-40B4-BE49-F238E27FC236}">
                        <a16:creationId xmlns:a16="http://schemas.microsoft.com/office/drawing/2014/main" id="{640F55E1-7C97-4A3F-B1BA-027109FA6D45}"/>
                      </a:ext>
                    </a:extLst>
                  </p:cNvPr>
                  <p:cNvSpPr/>
                  <p:nvPr/>
                </p:nvSpPr>
                <p:spPr>
                  <a:xfrm>
                    <a:off x="2993908" y="2540807"/>
                    <a:ext cx="959776" cy="281224"/>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HBM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cxnSp>
                <p:nvCxnSpPr>
                  <p:cNvPr id="153" name="직선 연결선 152">
                    <a:extLst>
                      <a:ext uri="{FF2B5EF4-FFF2-40B4-BE49-F238E27FC236}">
                        <a16:creationId xmlns:a16="http://schemas.microsoft.com/office/drawing/2014/main" id="{DF99FE4A-16D5-45BD-8568-257EA845EE4C}"/>
                      </a:ext>
                    </a:extLst>
                  </p:cNvPr>
                  <p:cNvCxnSpPr>
                    <a:stCxn id="152" idx="2"/>
                    <a:endCxn id="151"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8" name="모서리가 둥근 직사각형 241">
                    <a:extLst>
                      <a:ext uri="{FF2B5EF4-FFF2-40B4-BE49-F238E27FC236}">
                        <a16:creationId xmlns:a16="http://schemas.microsoft.com/office/drawing/2014/main" id="{AC135A3A-CAAB-4A76-A2D5-53B55EB1D318}"/>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HBF</a:t>
                    </a:r>
                    <a:endParaRPr lang="ko-KR" altLang="en-US" sz="1100" b="1" dirty="0">
                      <a:solidFill>
                        <a:srgbClr val="1F3864"/>
                      </a:solidFill>
                      <a:latin typeface="Malgun Gothic" pitchFamily="34" charset="0"/>
                      <a:ea typeface="Malgun Gothic" pitchFamily="34" charset="-122"/>
                      <a:cs typeface="Malgun Gothic" pitchFamily="34" charset="-120"/>
                    </a:endParaRPr>
                  </a:p>
                </p:txBody>
              </p:sp>
            </p:grpSp>
            <p:sp>
              <p:nvSpPr>
                <p:cNvPr id="147" name="모서리가 둥근 직사각형 240">
                  <a:extLst>
                    <a:ext uri="{FF2B5EF4-FFF2-40B4-BE49-F238E27FC236}">
                      <a16:creationId xmlns:a16="http://schemas.microsoft.com/office/drawing/2014/main" id="{A8DF8FE3-2660-4ED5-B889-6041AD06E54C}"/>
                    </a:ext>
                  </a:extLst>
                </p:cNvPr>
                <p:cNvSpPr/>
                <p:nvPr/>
              </p:nvSpPr>
              <p:spPr>
                <a:xfrm>
                  <a:off x="1384719" y="3481563"/>
                  <a:ext cx="842359"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100" b="1" dirty="0">
                      <a:solidFill>
                        <a:srgbClr val="1F3864"/>
                      </a:solidFill>
                      <a:latin typeface="Malgun Gothic" pitchFamily="34" charset="0"/>
                      <a:ea typeface="Malgun Gothic" pitchFamily="34" charset="-122"/>
                      <a:cs typeface="Malgun Gothic" pitchFamily="34" charset="-120"/>
                    </a:rPr>
                    <a:t>CXL-PNM</a:t>
                  </a:r>
                  <a:endParaRPr lang="ko-KR" altLang="en-US" sz="1100" b="1" dirty="0">
                    <a:solidFill>
                      <a:srgbClr val="1F3864"/>
                    </a:solidFill>
                    <a:latin typeface="Malgun Gothic" pitchFamily="34" charset="0"/>
                    <a:ea typeface="Malgun Gothic" pitchFamily="34" charset="-122"/>
                    <a:cs typeface="Malgun Gothic" pitchFamily="34" charset="-120"/>
                  </a:endParaRPr>
                </a:p>
              </p:txBody>
            </p:sp>
          </p:grpSp>
          <p:cxnSp>
            <p:nvCxnSpPr>
              <p:cNvPr id="162" name="직선 연결선 161">
                <a:extLst>
                  <a:ext uri="{FF2B5EF4-FFF2-40B4-BE49-F238E27FC236}">
                    <a16:creationId xmlns:a16="http://schemas.microsoft.com/office/drawing/2014/main" id="{D58FEC0B-5568-4E2A-AF34-EF05147FA88B}"/>
                  </a:ext>
                </a:extLst>
              </p:cNvPr>
              <p:cNvCxnSpPr>
                <a:stCxn id="147" idx="3"/>
                <a:endCxn id="138" idx="1"/>
              </p:cNvCxnSpPr>
              <p:nvPr/>
            </p:nvCxnSpPr>
            <p:spPr>
              <a:xfrm>
                <a:off x="8374528" y="4590961"/>
                <a:ext cx="217485"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3" name="직선 연결선 162">
                <a:extLst>
                  <a:ext uri="{FF2B5EF4-FFF2-40B4-BE49-F238E27FC236}">
                    <a16:creationId xmlns:a16="http://schemas.microsoft.com/office/drawing/2014/main" id="{4BFFC828-99F7-4529-B145-A0106CEEDECA}"/>
                  </a:ext>
                </a:extLst>
              </p:cNvPr>
              <p:cNvCxnSpPr>
                <a:stCxn id="158" idx="2"/>
                <a:endCxn id="152" idx="0"/>
              </p:cNvCxnSpPr>
              <p:nvPr/>
            </p:nvCxnSpPr>
            <p:spPr>
              <a:xfrm>
                <a:off x="8955871" y="3370311"/>
                <a:ext cx="3" cy="17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8" name="순서도: 자기 디스크 167">
                <a:extLst>
                  <a:ext uri="{FF2B5EF4-FFF2-40B4-BE49-F238E27FC236}">
                    <a16:creationId xmlns:a16="http://schemas.microsoft.com/office/drawing/2014/main" id="{B93D3D46-2EAF-4F46-8D70-4B0856C6C363}"/>
                  </a:ext>
                </a:extLst>
              </p:cNvPr>
              <p:cNvSpPr/>
              <p:nvPr/>
            </p:nvSpPr>
            <p:spPr>
              <a:xfrm>
                <a:off x="8165993" y="3132004"/>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KV1</a:t>
                </a:r>
                <a:endParaRPr lang="ko-KR" altLang="en-US" sz="800" b="1" dirty="0"/>
              </a:p>
            </p:txBody>
          </p:sp>
          <p:sp>
            <p:nvSpPr>
              <p:cNvPr id="181" name="대각선 방향의 모서리가 잘린 사각형 180">
                <a:extLst>
                  <a:ext uri="{FF2B5EF4-FFF2-40B4-BE49-F238E27FC236}">
                    <a16:creationId xmlns:a16="http://schemas.microsoft.com/office/drawing/2014/main" id="{66C77D57-A693-44F6-BED9-8013A3D12FE6}"/>
                  </a:ext>
                </a:extLst>
              </p:cNvPr>
              <p:cNvSpPr/>
              <p:nvPr/>
            </p:nvSpPr>
            <p:spPr>
              <a:xfrm>
                <a:off x="8012705" y="3687252"/>
                <a:ext cx="574622" cy="197237"/>
              </a:xfrm>
              <a:prstGeom prst="snip2Diag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1200" dirty="0" err="1"/>
                  <a:t>LoRA</a:t>
                </a:r>
                <a:endParaRPr lang="ko-KR" altLang="en-US" sz="1200" dirty="0"/>
              </a:p>
            </p:txBody>
          </p:sp>
          <p:grpSp>
            <p:nvGrpSpPr>
              <p:cNvPr id="259" name="그룹 258">
                <a:extLst>
                  <a:ext uri="{FF2B5EF4-FFF2-40B4-BE49-F238E27FC236}">
                    <a16:creationId xmlns:a16="http://schemas.microsoft.com/office/drawing/2014/main" id="{C2090F15-14C4-48A1-8E7A-3BD6B2016FAF}"/>
                  </a:ext>
                </a:extLst>
              </p:cNvPr>
              <p:cNvGrpSpPr/>
              <p:nvPr/>
            </p:nvGrpSpPr>
            <p:grpSpPr>
              <a:xfrm>
                <a:off x="6299288" y="3057166"/>
                <a:ext cx="1384623" cy="1817828"/>
                <a:chOff x="429779" y="2706833"/>
                <a:chExt cx="1384623" cy="1817828"/>
              </a:xfrm>
            </p:grpSpPr>
            <p:grpSp>
              <p:nvGrpSpPr>
                <p:cNvPr id="260" name="그룹 259">
                  <a:extLst>
                    <a:ext uri="{FF2B5EF4-FFF2-40B4-BE49-F238E27FC236}">
                      <a16:creationId xmlns:a16="http://schemas.microsoft.com/office/drawing/2014/main" id="{4838AC75-63E2-4DB0-866F-B7D40E013EF8}"/>
                    </a:ext>
                  </a:extLst>
                </p:cNvPr>
                <p:cNvGrpSpPr/>
                <p:nvPr/>
              </p:nvGrpSpPr>
              <p:grpSpPr>
                <a:xfrm>
                  <a:off x="489941" y="3237748"/>
                  <a:ext cx="797013" cy="253916"/>
                  <a:chOff x="647355" y="4269583"/>
                  <a:chExt cx="797013" cy="253916"/>
                </a:xfrm>
              </p:grpSpPr>
              <p:sp>
                <p:nvSpPr>
                  <p:cNvPr id="297" name="모서리가 둥근 직사각형 235">
                    <a:extLst>
                      <a:ext uri="{FF2B5EF4-FFF2-40B4-BE49-F238E27FC236}">
                        <a16:creationId xmlns:a16="http://schemas.microsoft.com/office/drawing/2014/main" id="{653D2F71-606D-4B28-9E0A-62FED89E9900}"/>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8" name="TextBox 297">
                    <a:extLst>
                      <a:ext uri="{FF2B5EF4-FFF2-40B4-BE49-F238E27FC236}">
                        <a16:creationId xmlns:a16="http://schemas.microsoft.com/office/drawing/2014/main" id="{44F47381-B54A-4D02-8BDD-28A19F136EAF}"/>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2</a:t>
                    </a:r>
                    <a:endParaRPr lang="ko-KR" altLang="en-US" sz="1050" dirty="0"/>
                  </a:p>
                </p:txBody>
              </p:sp>
            </p:grpSp>
            <p:sp>
              <p:nvSpPr>
                <p:cNvPr id="261" name="직사각형 260">
                  <a:extLst>
                    <a:ext uri="{FF2B5EF4-FFF2-40B4-BE49-F238E27FC236}">
                      <a16:creationId xmlns:a16="http://schemas.microsoft.com/office/drawing/2014/main" id="{FF91CC32-A2B0-4536-B334-334F143262B8}"/>
                    </a:ext>
                  </a:extLst>
                </p:cNvPr>
                <p:cNvSpPr/>
                <p:nvPr/>
              </p:nvSpPr>
              <p:spPr>
                <a:xfrm>
                  <a:off x="528344" y="2985727"/>
                  <a:ext cx="702893" cy="1538934"/>
                </a:xfrm>
                <a:prstGeom prst="rect">
                  <a:avLst/>
                </a:prstGeom>
                <a:noFill/>
                <a:ln w="9525"/>
              </p:spPr>
              <p:style>
                <a:lnRef idx="2">
                  <a:schemeClr val="dk1"/>
                </a:lnRef>
                <a:fillRef idx="1">
                  <a:schemeClr val="lt1"/>
                </a:fillRef>
                <a:effectRef idx="0">
                  <a:schemeClr val="dk1"/>
                </a:effectRef>
                <a:fontRef idx="minor">
                  <a:schemeClr val="dk1"/>
                </a:fontRef>
              </p:style>
              <p:txBody>
                <a:bodyPr anchor="ctr"/>
                <a:lstStyle/>
                <a:p>
                  <a:pPr algn="ctr"/>
                  <a:endParaRPr lang="ko-KR" altLang="en-US" sz="1400" b="1">
                    <a:solidFill>
                      <a:srgbClr val="1F3864"/>
                    </a:solidFill>
                    <a:latin typeface="Malgun Gothic" pitchFamily="34" charset="0"/>
                    <a:ea typeface="Malgun Gothic" pitchFamily="34" charset="-122"/>
                    <a:cs typeface="Malgun Gothic" pitchFamily="34" charset="-120"/>
                  </a:endParaRPr>
                </a:p>
              </p:txBody>
            </p:sp>
            <p:sp>
              <p:nvSpPr>
                <p:cNvPr id="262" name="TextBox 261">
                  <a:extLst>
                    <a:ext uri="{FF2B5EF4-FFF2-40B4-BE49-F238E27FC236}">
                      <a16:creationId xmlns:a16="http://schemas.microsoft.com/office/drawing/2014/main" id="{7B45D556-134F-47A0-8B00-6CAE2426BFA9}"/>
                    </a:ext>
                  </a:extLst>
                </p:cNvPr>
                <p:cNvSpPr txBox="1"/>
                <p:nvPr/>
              </p:nvSpPr>
              <p:spPr>
                <a:xfrm>
                  <a:off x="429779" y="2706833"/>
                  <a:ext cx="910827" cy="253916"/>
                </a:xfrm>
                <a:prstGeom prst="rect">
                  <a:avLst/>
                </a:prstGeom>
                <a:noFill/>
              </p:spPr>
              <p:txBody>
                <a:bodyPr wrap="none" rtlCol="0">
                  <a:spAutoFit/>
                </a:bodyPr>
                <a:lstStyle/>
                <a:p>
                  <a:r>
                    <a:rPr lang="en-US" altLang="ko-KR" sz="1050" dirty="0"/>
                    <a:t>work queue</a:t>
                  </a:r>
                  <a:endParaRPr lang="ko-KR" altLang="en-US" sz="1050" dirty="0"/>
                </a:p>
              </p:txBody>
            </p:sp>
            <p:grpSp>
              <p:nvGrpSpPr>
                <p:cNvPr id="264" name="그룹 263">
                  <a:extLst>
                    <a:ext uri="{FF2B5EF4-FFF2-40B4-BE49-F238E27FC236}">
                      <a16:creationId xmlns:a16="http://schemas.microsoft.com/office/drawing/2014/main" id="{7A918029-53A7-4C85-BC4D-3DF0F8C76427}"/>
                    </a:ext>
                  </a:extLst>
                </p:cNvPr>
                <p:cNvGrpSpPr/>
                <p:nvPr/>
              </p:nvGrpSpPr>
              <p:grpSpPr>
                <a:xfrm>
                  <a:off x="489941" y="2997325"/>
                  <a:ext cx="797013" cy="253916"/>
                  <a:chOff x="647355" y="4269583"/>
                  <a:chExt cx="797013" cy="253916"/>
                </a:xfrm>
              </p:grpSpPr>
              <p:sp>
                <p:nvSpPr>
                  <p:cNvPr id="295" name="모서리가 둥근 직사각형 233">
                    <a:extLst>
                      <a:ext uri="{FF2B5EF4-FFF2-40B4-BE49-F238E27FC236}">
                        <a16:creationId xmlns:a16="http://schemas.microsoft.com/office/drawing/2014/main" id="{2A169C89-2300-4622-A185-B9908471B292}"/>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6" name="TextBox 295">
                    <a:extLst>
                      <a:ext uri="{FF2B5EF4-FFF2-40B4-BE49-F238E27FC236}">
                        <a16:creationId xmlns:a16="http://schemas.microsoft.com/office/drawing/2014/main" id="{AC000B18-6351-4F08-9C62-6CB8A658C5D3}"/>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1</a:t>
                    </a:r>
                    <a:endParaRPr lang="ko-KR" altLang="en-US" sz="1050" dirty="0"/>
                  </a:p>
                </p:txBody>
              </p:sp>
            </p:grpSp>
            <p:grpSp>
              <p:nvGrpSpPr>
                <p:cNvPr id="265" name="그룹 264">
                  <a:extLst>
                    <a:ext uri="{FF2B5EF4-FFF2-40B4-BE49-F238E27FC236}">
                      <a16:creationId xmlns:a16="http://schemas.microsoft.com/office/drawing/2014/main" id="{2518B80D-8282-4EEB-956B-679D5958ACE9}"/>
                    </a:ext>
                  </a:extLst>
                </p:cNvPr>
                <p:cNvGrpSpPr/>
                <p:nvPr/>
              </p:nvGrpSpPr>
              <p:grpSpPr>
                <a:xfrm>
                  <a:off x="489941" y="3479840"/>
                  <a:ext cx="797013" cy="253916"/>
                  <a:chOff x="647355" y="4269583"/>
                  <a:chExt cx="797013" cy="253916"/>
                </a:xfrm>
              </p:grpSpPr>
              <p:sp>
                <p:nvSpPr>
                  <p:cNvPr id="293" name="모서리가 둥근 직사각형 231">
                    <a:extLst>
                      <a:ext uri="{FF2B5EF4-FFF2-40B4-BE49-F238E27FC236}">
                        <a16:creationId xmlns:a16="http://schemas.microsoft.com/office/drawing/2014/main" id="{FDE96DDE-B589-4061-8954-023C70252CD9}"/>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4" name="TextBox 293">
                    <a:extLst>
                      <a:ext uri="{FF2B5EF4-FFF2-40B4-BE49-F238E27FC236}">
                        <a16:creationId xmlns:a16="http://schemas.microsoft.com/office/drawing/2014/main" id="{6CE78D1D-B9D4-43B2-AA0D-D95B99927019}"/>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3</a:t>
                    </a:r>
                    <a:endParaRPr lang="ko-KR" altLang="en-US" sz="1050" dirty="0"/>
                  </a:p>
                </p:txBody>
              </p:sp>
            </p:grpSp>
            <p:grpSp>
              <p:nvGrpSpPr>
                <p:cNvPr id="281" name="그룹 280">
                  <a:extLst>
                    <a:ext uri="{FF2B5EF4-FFF2-40B4-BE49-F238E27FC236}">
                      <a16:creationId xmlns:a16="http://schemas.microsoft.com/office/drawing/2014/main" id="{1EEF3E81-2B98-4128-BABA-54443C16F66B}"/>
                    </a:ext>
                  </a:extLst>
                </p:cNvPr>
                <p:cNvGrpSpPr/>
                <p:nvPr/>
              </p:nvGrpSpPr>
              <p:grpSpPr>
                <a:xfrm>
                  <a:off x="489941" y="3734968"/>
                  <a:ext cx="797013" cy="253916"/>
                  <a:chOff x="647355" y="4269583"/>
                  <a:chExt cx="797013" cy="253916"/>
                </a:xfrm>
              </p:grpSpPr>
              <p:sp>
                <p:nvSpPr>
                  <p:cNvPr id="291" name="모서리가 둥근 직사각형 229">
                    <a:extLst>
                      <a:ext uri="{FF2B5EF4-FFF2-40B4-BE49-F238E27FC236}">
                        <a16:creationId xmlns:a16="http://schemas.microsoft.com/office/drawing/2014/main" id="{2438B9E8-A073-4BBB-8948-554830921296}"/>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92" name="TextBox 291">
                    <a:extLst>
                      <a:ext uri="{FF2B5EF4-FFF2-40B4-BE49-F238E27FC236}">
                        <a16:creationId xmlns:a16="http://schemas.microsoft.com/office/drawing/2014/main" id="{8DAB9D6A-E929-4921-B896-2084E5ABD724}"/>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4</a:t>
                    </a:r>
                    <a:endParaRPr lang="ko-KR" altLang="en-US" sz="1050" dirty="0"/>
                  </a:p>
                </p:txBody>
              </p:sp>
            </p:grpSp>
            <p:grpSp>
              <p:nvGrpSpPr>
                <p:cNvPr id="282" name="그룹 281">
                  <a:extLst>
                    <a:ext uri="{FF2B5EF4-FFF2-40B4-BE49-F238E27FC236}">
                      <a16:creationId xmlns:a16="http://schemas.microsoft.com/office/drawing/2014/main" id="{076F11A9-9364-4E6A-A826-5DBCAD01E9A8}"/>
                    </a:ext>
                  </a:extLst>
                </p:cNvPr>
                <p:cNvGrpSpPr/>
                <p:nvPr/>
              </p:nvGrpSpPr>
              <p:grpSpPr>
                <a:xfrm>
                  <a:off x="489941" y="3980247"/>
                  <a:ext cx="797013" cy="253916"/>
                  <a:chOff x="647355" y="4269583"/>
                  <a:chExt cx="797013" cy="253916"/>
                </a:xfrm>
              </p:grpSpPr>
              <p:sp>
                <p:nvSpPr>
                  <p:cNvPr id="287" name="모서리가 둥근 직사각형 227">
                    <a:extLst>
                      <a:ext uri="{FF2B5EF4-FFF2-40B4-BE49-F238E27FC236}">
                        <a16:creationId xmlns:a16="http://schemas.microsoft.com/office/drawing/2014/main" id="{1F09691A-0DBD-4D01-A7EF-05C7A560F54C}"/>
                      </a:ext>
                    </a:extLst>
                  </p:cNvPr>
                  <p:cNvSpPr/>
                  <p:nvPr/>
                </p:nvSpPr>
                <p:spPr>
                  <a:xfrm>
                    <a:off x="702830" y="4290610"/>
                    <a:ext cx="668748" cy="211863"/>
                  </a:xfrm>
                  <a:prstGeom prst="roundRect">
                    <a:avLst/>
                  </a:prstGeom>
                  <a:solidFill>
                    <a:schemeClr val="bg1"/>
                  </a:solidFill>
                  <a:ln/>
                </p:spPr>
                <p:style>
                  <a:lnRef idx="2">
                    <a:schemeClr val="accent1"/>
                  </a:lnRef>
                  <a:fillRef idx="1">
                    <a:schemeClr val="lt1"/>
                  </a:fillRef>
                  <a:effectRef idx="0">
                    <a:schemeClr val="accent1"/>
                  </a:effectRef>
                  <a:fontRef idx="minor">
                    <a:schemeClr val="dk1"/>
                  </a:fontRef>
                </p:style>
                <p:txBody>
                  <a:bodyPr anchor="ctr"/>
                  <a:lstStyle/>
                  <a:p>
                    <a:pPr algn="ctr"/>
                    <a:endParaRPr lang="ko-KR" altLang="en-US" sz="800" b="1" dirty="0">
                      <a:solidFill>
                        <a:srgbClr val="1F3864"/>
                      </a:solidFill>
                      <a:latin typeface="Malgun Gothic" pitchFamily="34" charset="0"/>
                      <a:ea typeface="Malgun Gothic" pitchFamily="34" charset="-122"/>
                      <a:cs typeface="Malgun Gothic" pitchFamily="34" charset="-120"/>
                    </a:endParaRPr>
                  </a:p>
                </p:txBody>
              </p:sp>
              <p:sp>
                <p:nvSpPr>
                  <p:cNvPr id="288" name="TextBox 287">
                    <a:extLst>
                      <a:ext uri="{FF2B5EF4-FFF2-40B4-BE49-F238E27FC236}">
                        <a16:creationId xmlns:a16="http://schemas.microsoft.com/office/drawing/2014/main" id="{FA47DEA8-F78E-42DA-9913-02A674D57B3D}"/>
                      </a:ext>
                    </a:extLst>
                  </p:cNvPr>
                  <p:cNvSpPr txBox="1"/>
                  <p:nvPr/>
                </p:nvSpPr>
                <p:spPr>
                  <a:xfrm>
                    <a:off x="647355" y="4269583"/>
                    <a:ext cx="797013" cy="253916"/>
                  </a:xfrm>
                  <a:prstGeom prst="rect">
                    <a:avLst/>
                  </a:prstGeom>
                  <a:noFill/>
                </p:spPr>
                <p:txBody>
                  <a:bodyPr wrap="none" rtlCol="0">
                    <a:spAutoFit/>
                  </a:bodyPr>
                  <a:lstStyle/>
                  <a:p>
                    <a:r>
                      <a:rPr lang="en-US" altLang="ko-KR" sz="1050" dirty="0"/>
                      <a:t>Request 5</a:t>
                    </a:r>
                    <a:endParaRPr lang="ko-KR" altLang="en-US" sz="1050" dirty="0"/>
                  </a:p>
                </p:txBody>
              </p:sp>
            </p:grpSp>
            <p:cxnSp>
              <p:nvCxnSpPr>
                <p:cNvPr id="283" name="직선 화살표 연결선 282">
                  <a:extLst>
                    <a:ext uri="{FF2B5EF4-FFF2-40B4-BE49-F238E27FC236}">
                      <a16:creationId xmlns:a16="http://schemas.microsoft.com/office/drawing/2014/main" id="{3E7D45FE-F6B6-4FF0-A744-100ACFD206A2}"/>
                    </a:ext>
                  </a:extLst>
                </p:cNvPr>
                <p:cNvCxnSpPr/>
                <p:nvPr/>
              </p:nvCxnSpPr>
              <p:spPr>
                <a:xfrm>
                  <a:off x="1286954" y="3602837"/>
                  <a:ext cx="1298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AD738F9F-DA01-4BBA-B2D6-9B908D779557}"/>
                    </a:ext>
                  </a:extLst>
                </p:cNvPr>
                <p:cNvSpPr txBox="1"/>
                <p:nvPr/>
              </p:nvSpPr>
              <p:spPr>
                <a:xfrm>
                  <a:off x="1359966" y="3472535"/>
                  <a:ext cx="450764" cy="253916"/>
                </a:xfrm>
                <a:prstGeom prst="rect">
                  <a:avLst/>
                </a:prstGeom>
                <a:noFill/>
              </p:spPr>
              <p:txBody>
                <a:bodyPr wrap="none" rtlCol="0">
                  <a:spAutoFit/>
                </a:bodyPr>
                <a:lstStyle/>
                <a:p>
                  <a:r>
                    <a:rPr lang="en-US" altLang="ko-KR" sz="1050" dirty="0"/>
                    <a:t>Tool</a:t>
                  </a:r>
                  <a:endParaRPr lang="ko-KR" altLang="en-US" sz="1050" dirty="0"/>
                </a:p>
              </p:txBody>
            </p:sp>
            <p:cxnSp>
              <p:nvCxnSpPr>
                <p:cNvPr id="285" name="직선 화살표 연결선 284">
                  <a:extLst>
                    <a:ext uri="{FF2B5EF4-FFF2-40B4-BE49-F238E27FC236}">
                      <a16:creationId xmlns:a16="http://schemas.microsoft.com/office/drawing/2014/main" id="{6BC863F9-3FB1-4A5A-B154-AB5BF8F8559A}"/>
                    </a:ext>
                  </a:extLst>
                </p:cNvPr>
                <p:cNvCxnSpPr>
                  <a:stCxn id="292" idx="3"/>
                </p:cNvCxnSpPr>
                <p:nvPr/>
              </p:nvCxnSpPr>
              <p:spPr>
                <a:xfrm>
                  <a:off x="1286954" y="3861926"/>
                  <a:ext cx="1560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7AF2F04B-E68C-4547-A81F-FAE77D1DB23D}"/>
                    </a:ext>
                  </a:extLst>
                </p:cNvPr>
                <p:cNvSpPr txBox="1"/>
                <p:nvPr/>
              </p:nvSpPr>
              <p:spPr>
                <a:xfrm>
                  <a:off x="1363638" y="3736285"/>
                  <a:ext cx="450764" cy="253916"/>
                </a:xfrm>
                <a:prstGeom prst="rect">
                  <a:avLst/>
                </a:prstGeom>
                <a:noFill/>
              </p:spPr>
              <p:txBody>
                <a:bodyPr wrap="none" rtlCol="0">
                  <a:spAutoFit/>
                </a:bodyPr>
                <a:lstStyle/>
                <a:p>
                  <a:r>
                    <a:rPr lang="en-US" altLang="ko-KR" sz="1050" dirty="0"/>
                    <a:t>Tool</a:t>
                  </a:r>
                  <a:endParaRPr lang="ko-KR" altLang="en-US" sz="1050" dirty="0"/>
                </a:p>
              </p:txBody>
            </p:sp>
          </p:grpSp>
          <p:sp>
            <p:nvSpPr>
              <p:cNvPr id="166" name="모서리가 둥근 직사각형 262">
                <a:extLst>
                  <a:ext uri="{FF2B5EF4-FFF2-40B4-BE49-F238E27FC236}">
                    <a16:creationId xmlns:a16="http://schemas.microsoft.com/office/drawing/2014/main" id="{9A6C1B79-B67A-4936-907B-4FE927F86E5B}"/>
                  </a:ext>
                </a:extLst>
              </p:cNvPr>
              <p:cNvSpPr/>
              <p:nvPr/>
            </p:nvSpPr>
            <p:spPr>
              <a:xfrm>
                <a:off x="9821575" y="3981487"/>
                <a:ext cx="906216" cy="338012"/>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1200" b="1" dirty="0" err="1">
                    <a:solidFill>
                      <a:srgbClr val="1F3864"/>
                    </a:solidFill>
                    <a:latin typeface="Malgun Gothic" pitchFamily="34" charset="0"/>
                    <a:ea typeface="Malgun Gothic" pitchFamily="34" charset="-122"/>
                    <a:cs typeface="Malgun Gothic" pitchFamily="34" charset="-120"/>
                  </a:rPr>
                  <a:t>ScHBM</a:t>
                </a:r>
                <a:endParaRPr lang="ko-KR" altLang="en-US" sz="1200" b="1" dirty="0">
                  <a:solidFill>
                    <a:srgbClr val="1F3864"/>
                  </a:solidFill>
                  <a:latin typeface="Malgun Gothic" pitchFamily="34" charset="0"/>
                  <a:ea typeface="Malgun Gothic" pitchFamily="34" charset="-122"/>
                  <a:cs typeface="Malgun Gothic" pitchFamily="34" charset="-120"/>
                </a:endParaRPr>
              </a:p>
            </p:txBody>
          </p:sp>
          <p:sp>
            <p:nvSpPr>
              <p:cNvPr id="226" name="순서도: 자기 디스크 225">
                <a:extLst>
                  <a:ext uri="{FF2B5EF4-FFF2-40B4-BE49-F238E27FC236}">
                    <a16:creationId xmlns:a16="http://schemas.microsoft.com/office/drawing/2014/main" id="{B93D3D46-2EAF-4F46-8D70-4B0856C6C363}"/>
                  </a:ext>
                </a:extLst>
              </p:cNvPr>
              <p:cNvSpPr/>
              <p:nvPr/>
            </p:nvSpPr>
            <p:spPr>
              <a:xfrm>
                <a:off x="9312166" y="3053619"/>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KV2</a:t>
                </a:r>
                <a:endParaRPr lang="ko-KR" altLang="en-US" sz="800" b="1" dirty="0"/>
              </a:p>
            </p:txBody>
          </p:sp>
          <p:sp>
            <p:nvSpPr>
              <p:cNvPr id="228" name="순서도: 자기 디스크 227">
                <a:extLst>
                  <a:ext uri="{FF2B5EF4-FFF2-40B4-BE49-F238E27FC236}">
                    <a16:creationId xmlns:a16="http://schemas.microsoft.com/office/drawing/2014/main" id="{B93D3D46-2EAF-4F46-8D70-4B0856C6C363}"/>
                  </a:ext>
                </a:extLst>
              </p:cNvPr>
              <p:cNvSpPr/>
              <p:nvPr/>
            </p:nvSpPr>
            <p:spPr>
              <a:xfrm>
                <a:off x="9251802" y="3681533"/>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KV5</a:t>
                </a:r>
                <a:endParaRPr lang="ko-KR" altLang="en-US" sz="800" b="1" dirty="0"/>
              </a:p>
            </p:txBody>
          </p:sp>
          <p:sp>
            <p:nvSpPr>
              <p:cNvPr id="229" name="순서도: 자기 디스크 228">
                <a:extLst>
                  <a:ext uri="{FF2B5EF4-FFF2-40B4-BE49-F238E27FC236}">
                    <a16:creationId xmlns:a16="http://schemas.microsoft.com/office/drawing/2014/main" id="{B93D3D46-2EAF-4F46-8D70-4B0856C6C363}"/>
                  </a:ext>
                </a:extLst>
              </p:cNvPr>
              <p:cNvSpPr/>
              <p:nvPr/>
            </p:nvSpPr>
            <p:spPr>
              <a:xfrm>
                <a:off x="7990790" y="4677849"/>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KV3</a:t>
                </a:r>
                <a:endParaRPr lang="ko-KR" altLang="en-US" sz="800" b="1" dirty="0"/>
              </a:p>
            </p:txBody>
          </p:sp>
          <p:sp>
            <p:nvSpPr>
              <p:cNvPr id="230" name="순서도: 자기 디스크 229">
                <a:extLst>
                  <a:ext uri="{FF2B5EF4-FFF2-40B4-BE49-F238E27FC236}">
                    <a16:creationId xmlns:a16="http://schemas.microsoft.com/office/drawing/2014/main" id="{B93D3D46-2EAF-4F46-8D70-4B0856C6C363}"/>
                  </a:ext>
                </a:extLst>
              </p:cNvPr>
              <p:cNvSpPr/>
              <p:nvPr/>
            </p:nvSpPr>
            <p:spPr>
              <a:xfrm>
                <a:off x="9752193" y="4261538"/>
                <a:ext cx="380590" cy="225820"/>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b="1" dirty="0"/>
                  <a:t>KV4</a:t>
                </a:r>
                <a:endParaRPr lang="ko-KR" altLang="en-US" sz="800" b="1" dirty="0"/>
              </a:p>
            </p:txBody>
          </p:sp>
          <p:sp>
            <p:nvSpPr>
              <p:cNvPr id="231" name="대각선 방향의 모서리가 잘린 사각형 230">
                <a:extLst>
                  <a:ext uri="{FF2B5EF4-FFF2-40B4-BE49-F238E27FC236}">
                    <a16:creationId xmlns:a16="http://schemas.microsoft.com/office/drawing/2014/main" id="{66C77D57-A693-44F6-BED9-8013A3D12FE6}"/>
                  </a:ext>
                </a:extLst>
              </p:cNvPr>
              <p:cNvSpPr/>
              <p:nvPr/>
            </p:nvSpPr>
            <p:spPr>
              <a:xfrm>
                <a:off x="9312166" y="3290786"/>
                <a:ext cx="574622" cy="197237"/>
              </a:xfrm>
              <a:prstGeom prst="snip2Diag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900" dirty="0"/>
                  <a:t>Expert</a:t>
                </a:r>
                <a:endParaRPr lang="ko-KR" altLang="en-US" sz="900" dirty="0"/>
              </a:p>
            </p:txBody>
          </p:sp>
        </p:grpSp>
        <p:sp>
          <p:nvSpPr>
            <p:cNvPr id="220" name="순서도: 자기 디스크 219">
              <a:extLst>
                <a:ext uri="{FF2B5EF4-FFF2-40B4-BE49-F238E27FC236}">
                  <a16:creationId xmlns:a16="http://schemas.microsoft.com/office/drawing/2014/main" id="{B93D3D46-2EAF-4F46-8D70-4B0856C6C363}"/>
                </a:ext>
              </a:extLst>
            </p:cNvPr>
            <p:cNvSpPr/>
            <p:nvPr/>
          </p:nvSpPr>
          <p:spPr>
            <a:xfrm>
              <a:off x="9349442" y="5048468"/>
              <a:ext cx="754531" cy="291948"/>
            </a:xfrm>
            <a:prstGeom prst="flowChartMagneticDisk">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800" dirty="0"/>
                <a:t>Vector </a:t>
              </a:r>
              <a:r>
                <a:rPr lang="en-US" altLang="ko-KR" sz="800" dirty="0" err="1"/>
                <a:t>Idx</a:t>
              </a:r>
              <a:r>
                <a:rPr lang="en-US" altLang="ko-KR" sz="800" dirty="0"/>
                <a:t> Cache</a:t>
              </a:r>
              <a:endParaRPr lang="ko-KR" altLang="en-US" sz="800" dirty="0"/>
            </a:p>
          </p:txBody>
        </p:sp>
      </p:grpSp>
      <p:cxnSp>
        <p:nvCxnSpPr>
          <p:cNvPr id="222" name="직선 연결선 221">
            <a:extLst>
              <a:ext uri="{FF2B5EF4-FFF2-40B4-BE49-F238E27FC236}">
                <a16:creationId xmlns:a16="http://schemas.microsoft.com/office/drawing/2014/main" id="{E8BD091E-84A4-4AF0-9C69-9D493ED1BE5B}"/>
              </a:ext>
            </a:extLst>
          </p:cNvPr>
          <p:cNvCxnSpPr>
            <a:stCxn id="138" idx="3"/>
            <a:endCxn id="140" idx="1"/>
          </p:cNvCxnSpPr>
          <p:nvPr/>
        </p:nvCxnSpPr>
        <p:spPr>
          <a:xfrm>
            <a:off x="9517632" y="5593580"/>
            <a:ext cx="512853" cy="155292"/>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2" name="모서리가 둥근 직사각형 192">
            <a:extLst>
              <a:ext uri="{FF2B5EF4-FFF2-40B4-BE49-F238E27FC236}">
                <a16:creationId xmlns:a16="http://schemas.microsoft.com/office/drawing/2014/main" id="{F514312F-4F37-4C23-84C5-02AC423D2309}"/>
              </a:ext>
            </a:extLst>
          </p:cNvPr>
          <p:cNvSpPr/>
          <p:nvPr/>
        </p:nvSpPr>
        <p:spPr>
          <a:xfrm>
            <a:off x="10997939" y="6025681"/>
            <a:ext cx="817052" cy="223103"/>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ko-KR" altLang="en-US" sz="900" b="1" dirty="0">
                <a:solidFill>
                  <a:srgbClr val="1F3864"/>
                </a:solidFill>
                <a:latin typeface="Malgun Gothic" pitchFamily="34" charset="0"/>
                <a:ea typeface="Malgun Gothic" pitchFamily="34" charset="-122"/>
                <a:cs typeface="Malgun Gothic" pitchFamily="34" charset="-120"/>
              </a:rPr>
              <a:t>기존 메모리</a:t>
            </a:r>
          </a:p>
        </p:txBody>
      </p:sp>
      <p:sp>
        <p:nvSpPr>
          <p:cNvPr id="233" name="모서리가 둥근 직사각형 192">
            <a:extLst>
              <a:ext uri="{FF2B5EF4-FFF2-40B4-BE49-F238E27FC236}">
                <a16:creationId xmlns:a16="http://schemas.microsoft.com/office/drawing/2014/main" id="{F514312F-4F37-4C23-84C5-02AC423D2309}"/>
              </a:ext>
            </a:extLst>
          </p:cNvPr>
          <p:cNvSpPr/>
          <p:nvPr/>
        </p:nvSpPr>
        <p:spPr>
          <a:xfrm>
            <a:off x="10997939" y="5765354"/>
            <a:ext cx="817052" cy="223103"/>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ko-KR" altLang="en-US" sz="900" b="1" dirty="0">
                <a:solidFill>
                  <a:srgbClr val="1F3864"/>
                </a:solidFill>
                <a:latin typeface="Malgun Gothic" pitchFamily="34" charset="0"/>
                <a:ea typeface="Malgun Gothic" pitchFamily="34" charset="-122"/>
                <a:cs typeface="Malgun Gothic" pitchFamily="34" charset="-120"/>
              </a:rPr>
              <a:t>신규 메모리</a:t>
            </a:r>
          </a:p>
        </p:txBody>
      </p:sp>
      <p:sp>
        <p:nvSpPr>
          <p:cNvPr id="234" name="실행 단추: 앞으로 또는 다음 233">
            <a:hlinkClick r:id="" action="ppaction://noaction" highlightClick="1"/>
          </p:cNvPr>
          <p:cNvSpPr/>
          <p:nvPr/>
        </p:nvSpPr>
        <p:spPr>
          <a:xfrm>
            <a:off x="5639954" y="1126338"/>
            <a:ext cx="217381" cy="226009"/>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6357908" y="4019550"/>
            <a:ext cx="5535079" cy="2255795"/>
          </a:xfrm>
          <a:prstGeom prst="rect">
            <a:avLst/>
          </a:prstGeom>
          <a:noFill/>
          <a:ln>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9" name="TextBox 38"/>
          <p:cNvSpPr txBox="1"/>
          <p:nvPr/>
        </p:nvSpPr>
        <p:spPr>
          <a:xfrm>
            <a:off x="7715788" y="3876574"/>
            <a:ext cx="2903360" cy="253916"/>
          </a:xfrm>
          <a:prstGeom prst="rect">
            <a:avLst/>
          </a:prstGeom>
          <a:solidFill>
            <a:schemeClr val="bg1"/>
          </a:solidFill>
        </p:spPr>
        <p:txBody>
          <a:bodyPr wrap="none" rtlCol="0">
            <a:spAutoFit/>
          </a:bodyPr>
          <a:lstStyle/>
          <a:p>
            <a:pPr algn="ctr"/>
            <a:r>
              <a:rPr lang="en-US" altLang="ko-KR" sz="1050" dirty="0"/>
              <a:t>&lt;</a:t>
            </a:r>
            <a:r>
              <a:rPr lang="ko-KR" altLang="en-US" sz="1050" dirty="0"/>
              <a:t>이기종 메모리 기반 데이터 배치 시나리오</a:t>
            </a:r>
            <a:r>
              <a:rPr lang="en-US" altLang="ko-KR" sz="1050" dirty="0"/>
              <a:t>&gt;</a:t>
            </a:r>
            <a:endParaRPr lang="ko-KR" altLang="en-US" sz="1050" dirty="0"/>
          </a:p>
        </p:txBody>
      </p:sp>
      <p:sp>
        <p:nvSpPr>
          <p:cNvPr id="237" name="Text 22"/>
          <p:cNvSpPr/>
          <p:nvPr/>
        </p:nvSpPr>
        <p:spPr>
          <a:xfrm>
            <a:off x="5181906" y="1154838"/>
            <a:ext cx="458048" cy="158203"/>
          </a:xfrm>
          <a:prstGeom prst="rect">
            <a:avLst/>
          </a:prstGeom>
          <a:noFill/>
          <a:ln/>
        </p:spPr>
        <p:txBody>
          <a:bodyPr wrap="square" lIns="0" tIns="0" rIns="0" bIns="0" rtlCol="0" anchor="t"/>
          <a:lstStyle/>
          <a:p>
            <a:pPr>
              <a:lnSpc>
                <a:spcPct val="150000"/>
              </a:lnSpc>
            </a:pPr>
            <a:r>
              <a:rPr lang="en-US" altLang="ko-KR" sz="800" b="1" dirty="0">
                <a:solidFill>
                  <a:schemeClr val="bg1">
                    <a:lumMod val="50000"/>
                  </a:schemeClr>
                </a:solidFill>
                <a:sym typeface="Wingdings" panose="05000000000000000000" pitchFamily="2" charset="2"/>
              </a:rPr>
              <a:t>*KV </a:t>
            </a:r>
            <a:r>
              <a:rPr lang="ko-KR" altLang="en-US" sz="800" b="1" dirty="0">
                <a:solidFill>
                  <a:schemeClr val="bg1">
                    <a:lumMod val="50000"/>
                  </a:schemeClr>
                </a:solidFill>
                <a:sym typeface="Wingdings" panose="05000000000000000000" pitchFamily="2" charset="2"/>
              </a:rPr>
              <a:t>캐시 </a:t>
            </a:r>
            <a:endParaRPr lang="en-US" altLang="ko-KR" sz="800" b="1" dirty="0">
              <a:solidFill>
                <a:schemeClr val="bg1">
                  <a:lumMod val="50000"/>
                </a:schemeClr>
              </a:solidFill>
              <a:sym typeface="Wingdings" panose="05000000000000000000" pitchFamily="2" charset="2"/>
            </a:endParaRPr>
          </a:p>
        </p:txBody>
      </p:sp>
      <p:pic>
        <p:nvPicPr>
          <p:cNvPr id="9" name="그림 8">
            <a:extLst>
              <a:ext uri="{FF2B5EF4-FFF2-40B4-BE49-F238E27FC236}">
                <a16:creationId xmlns:a16="http://schemas.microsoft.com/office/drawing/2014/main" id="{BB1BC9BB-87A4-44D8-8E2B-13F5A972EDDE}"/>
              </a:ext>
            </a:extLst>
          </p:cNvPr>
          <p:cNvPicPr>
            <a:picLocks noChangeAspect="1"/>
          </p:cNvPicPr>
          <p:nvPr/>
        </p:nvPicPr>
        <p:blipFill>
          <a:blip r:embed="rId4"/>
          <a:stretch>
            <a:fillRect/>
          </a:stretch>
        </p:blipFill>
        <p:spPr>
          <a:xfrm>
            <a:off x="627616" y="1382834"/>
            <a:ext cx="4874080" cy="2249575"/>
          </a:xfrm>
          <a:prstGeom prst="rect">
            <a:avLst/>
          </a:prstGeom>
        </p:spPr>
      </p:pic>
      <p:pic>
        <p:nvPicPr>
          <p:cNvPr id="11" name="그림 10">
            <a:extLst>
              <a:ext uri="{FF2B5EF4-FFF2-40B4-BE49-F238E27FC236}">
                <a16:creationId xmlns:a16="http://schemas.microsoft.com/office/drawing/2014/main" id="{7A943532-133E-4E8D-B3A2-82832428E82C}"/>
              </a:ext>
            </a:extLst>
          </p:cNvPr>
          <p:cNvPicPr>
            <a:picLocks noChangeAspect="1"/>
          </p:cNvPicPr>
          <p:nvPr/>
        </p:nvPicPr>
        <p:blipFill rotWithShape="1">
          <a:blip r:embed="rId5"/>
          <a:srcRect t="8370" b="12374"/>
          <a:stretch/>
        </p:blipFill>
        <p:spPr>
          <a:xfrm>
            <a:off x="481913" y="4087685"/>
            <a:ext cx="5091943" cy="2242071"/>
          </a:xfrm>
          <a:prstGeom prst="rect">
            <a:avLst/>
          </a:prstGeom>
        </p:spPr>
      </p:pic>
      <p:sp>
        <p:nvSpPr>
          <p:cNvPr id="79" name="직사각형 78"/>
          <p:cNvSpPr/>
          <p:nvPr/>
        </p:nvSpPr>
        <p:spPr>
          <a:xfrm>
            <a:off x="6521412" y="46469"/>
            <a:ext cx="1487330" cy="461665"/>
          </a:xfrm>
          <a:prstGeom prst="rect">
            <a:avLst/>
          </a:prstGeom>
        </p:spPr>
        <p:txBody>
          <a:bodyPr wrap="none">
            <a:spAutoFit/>
          </a:bodyPr>
          <a:lstStyle/>
          <a:p>
            <a:r>
              <a:rPr lang="en-US" altLang="ko-KR" sz="1200" b="1" dirty="0"/>
              <a:t>(When, What, </a:t>
            </a:r>
          </a:p>
          <a:p>
            <a:r>
              <a:rPr lang="en-US" altLang="ko-KR" sz="1200" b="1" dirty="0"/>
              <a:t>Where to locate?)</a:t>
            </a:r>
            <a:endParaRPr lang="ko-KR" altLang="en-US" sz="1200" dirty="0"/>
          </a:p>
        </p:txBody>
      </p:sp>
    </p:spTree>
    <p:extLst>
      <p:ext uri="{BB962C8B-B14F-4D97-AF65-F5344CB8AC3E}">
        <p14:creationId xmlns:p14="http://schemas.microsoft.com/office/powerpoint/2010/main" val="2950105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DP1. </a:t>
            </a:r>
            <a:r>
              <a:rPr lang="ko-KR" altLang="en-US" dirty="0"/>
              <a:t>이기종 메모리 기반 </a:t>
            </a:r>
            <a:r>
              <a:rPr lang="en-US" altLang="ko-KR" dirty="0"/>
              <a:t>Data Migration</a:t>
            </a:r>
            <a:r>
              <a:rPr lang="ko-KR" altLang="en-US" dirty="0"/>
              <a:t> 결정 구조 </a:t>
            </a:r>
            <a:r>
              <a:rPr lang="en-US" altLang="ko-KR" dirty="0"/>
              <a:t>- </a:t>
            </a:r>
            <a:r>
              <a:rPr lang="ko-KR" altLang="en-US" dirty="0"/>
              <a:t>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250329" y="821728"/>
            <a:ext cx="5694021" cy="4807545"/>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022638" y="675855"/>
            <a:ext cx="4124507"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a:t>
            </a:r>
            <a:r>
              <a:rPr lang="ko-KR" altLang="en-US" sz="1100" b="1" dirty="0"/>
              <a:t>메모리 자원 및 데이터 특성 기반 데이터 </a:t>
            </a:r>
            <a:r>
              <a:rPr lang="ko-KR" altLang="en-US" sz="1100" b="1" dirty="0" err="1"/>
              <a:t>이동</a:t>
            </a:r>
            <a:r>
              <a:rPr lang="ko-KR" altLang="en-US" sz="1100" b="1" dirty="0" err="1">
                <a:latin typeface="맑은 고딕" panose="020B0503020000020004" pitchFamily="50" charset="-127"/>
                <a:ea typeface="맑은 고딕" panose="020B0503020000020004" pitchFamily="50" charset="-127"/>
              </a:rPr>
              <a:t>〮배치</a:t>
            </a:r>
            <a:endParaRPr lang="ko-KR" altLang="en-US" sz="1100" b="1" dirty="0"/>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692846"/>
            <a:ext cx="5674740" cy="4936429"/>
            <a:chOff x="211958" y="3004152"/>
            <a:chExt cx="6173883" cy="5537073"/>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148717"/>
              <a:ext cx="6173883" cy="5392508"/>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850622" y="3004152"/>
              <a:ext cx="4896555" cy="334864"/>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As-Is: </a:t>
              </a:r>
              <a:r>
                <a:rPr lang="ko-KR" altLang="en-US" sz="1200" b="1" dirty="0"/>
                <a:t>이기종 메모리 </a:t>
              </a:r>
              <a:r>
                <a:rPr lang="en-US" altLang="ko-KR" sz="1200" b="1" dirty="0"/>
                <a:t>aware Data Migration Layer </a:t>
              </a:r>
              <a:r>
                <a:rPr lang="ko-KR" altLang="en-US" sz="1200" b="1" dirty="0"/>
                <a:t>부재</a:t>
              </a:r>
            </a:p>
          </p:txBody>
        </p:sp>
      </p:grpSp>
      <p:sp>
        <p:nvSpPr>
          <p:cNvPr id="173" name="Text 22"/>
          <p:cNvSpPr/>
          <p:nvPr/>
        </p:nvSpPr>
        <p:spPr>
          <a:xfrm>
            <a:off x="1487368" y="5875261"/>
            <a:ext cx="9361683" cy="325343"/>
          </a:xfrm>
          <a:prstGeom prst="rect">
            <a:avLst/>
          </a:prstGeom>
          <a:noFill/>
          <a:ln>
            <a:noFill/>
          </a:ln>
        </p:spPr>
        <p:txBody>
          <a:bodyPr wrap="square" lIns="9144" tIns="7315" rIns="9144" bIns="7315" anchor="ctr">
            <a:noAutofit/>
          </a:bodyPr>
          <a:lstStyle/>
          <a:p>
            <a:pPr algn="ctr">
              <a:lnSpc>
                <a:spcPct val="125000"/>
              </a:lnSpc>
            </a:pPr>
            <a:r>
              <a:rPr lang="ko-KR" altLang="en-US"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이기종 메모리가 혼재하는 시스템에서 언제</a:t>
            </a:r>
            <a:r>
              <a:rPr lang="en-US" altLang="ko-KR"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어떤 </a:t>
            </a:r>
            <a:r>
              <a:rPr lang="en-US" altLang="ko-KR"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Data</a:t>
            </a:r>
            <a:r>
              <a:rPr lang="ko-KR" altLang="en-US"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를</a:t>
            </a:r>
            <a:r>
              <a:rPr lang="en-US" altLang="ko-KR"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어느 </a:t>
            </a:r>
            <a:r>
              <a:rPr lang="en-US" altLang="ko-KR"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Memory Tier</a:t>
            </a:r>
            <a:r>
              <a:rPr lang="ko-KR" altLang="en-US"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로 이동할지 결정하는 구조 설계 필요 </a:t>
            </a:r>
            <a:endParaRPr lang="en-US" altLang="ko-KR" sz="14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endParaRPr>
          </a:p>
        </p:txBody>
      </p:sp>
      <p:sp>
        <p:nvSpPr>
          <p:cNvPr id="501" name="AsIs Engine 501"/>
          <p:cNvSpPr/>
          <p:nvPr/>
        </p:nvSpPr>
        <p:spPr>
          <a:xfrm>
            <a:off x="457200" y="1106043"/>
            <a:ext cx="5349240" cy="560000"/>
          </a:xfrm>
          <a:prstGeom prst="rect">
            <a:avLst/>
          </a:prstGeom>
          <a:solidFill>
            <a:srgbClr val="F7F9FC"/>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endParaRPr sz="800"/>
          </a:p>
        </p:txBody>
      </p:sp>
      <p:sp>
        <p:nvSpPr>
          <p:cNvPr id="502" name="AsIs TextBox 502"/>
          <p:cNvSpPr txBox="1"/>
          <p:nvPr/>
        </p:nvSpPr>
        <p:spPr>
          <a:xfrm>
            <a:off x="512064" y="1150475"/>
            <a:ext cx="5239512" cy="150000"/>
          </a:xfrm>
          <a:prstGeom prst="rect">
            <a:avLst/>
          </a:prstGeom>
          <a:noFill/>
        </p:spPr>
        <p:txBody>
          <a:bodyPr wrap="square" lIns="0" tIns="0" rIns="0" bIns="0" anchor="ctr"/>
          <a:lstStyle/>
          <a:p>
            <a:pPr algn="l"/>
            <a:r>
              <a:rPr lang="en-US" altLang="ko-KR" sz="900" b="1" dirty="0">
                <a:solidFill>
                  <a:srgbClr val="1A1A1A"/>
                </a:solidFill>
                <a:latin typeface="맑은 고딕"/>
                <a:ea typeface="맑은 고딕"/>
              </a:rPr>
              <a:t>Inference Engine (</a:t>
            </a:r>
            <a:r>
              <a:rPr lang="en-US" altLang="ko-KR" sz="900" b="1" dirty="0" err="1">
                <a:solidFill>
                  <a:srgbClr val="1A1A1A"/>
                </a:solidFill>
                <a:latin typeface="맑은 고딕"/>
                <a:ea typeface="맑은 고딕"/>
              </a:rPr>
              <a:t>vLLM</a:t>
            </a:r>
            <a:r>
              <a:rPr lang="en-US" altLang="ko-KR" sz="900" b="1" dirty="0">
                <a:solidFill>
                  <a:srgbClr val="1A1A1A"/>
                </a:solidFill>
                <a:latin typeface="맑은 고딕"/>
                <a:ea typeface="맑은 고딕"/>
              </a:rPr>
              <a:t>)</a:t>
            </a:r>
          </a:p>
        </p:txBody>
      </p:sp>
      <p:grpSp>
        <p:nvGrpSpPr>
          <p:cNvPr id="7" name="그룹 6"/>
          <p:cNvGrpSpPr/>
          <p:nvPr/>
        </p:nvGrpSpPr>
        <p:grpSpPr>
          <a:xfrm>
            <a:off x="457200" y="3321336"/>
            <a:ext cx="5349240" cy="1156385"/>
            <a:chOff x="457200" y="1799525"/>
            <a:chExt cx="5349240" cy="1156385"/>
          </a:xfrm>
        </p:grpSpPr>
        <p:sp>
          <p:nvSpPr>
            <p:cNvPr id="506" name="AsIs MissingLayer 506"/>
            <p:cNvSpPr/>
            <p:nvPr/>
          </p:nvSpPr>
          <p:spPr>
            <a:xfrm>
              <a:off x="457200" y="1799525"/>
              <a:ext cx="5349240" cy="1156385"/>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endParaRPr sz="800"/>
            </a:p>
          </p:txBody>
        </p:sp>
        <p:sp>
          <p:nvSpPr>
            <p:cNvPr id="507" name="AsIs TextBox 507"/>
            <p:cNvSpPr txBox="1"/>
            <p:nvPr/>
          </p:nvSpPr>
          <p:spPr>
            <a:xfrm>
              <a:off x="512064" y="1820475"/>
              <a:ext cx="5239512" cy="170000"/>
            </a:xfrm>
            <a:prstGeom prst="rect">
              <a:avLst/>
            </a:prstGeom>
            <a:noFill/>
          </p:spPr>
          <p:txBody>
            <a:bodyPr wrap="square" lIns="0" tIns="0" rIns="0" bIns="0" anchor="ctr"/>
            <a:lstStyle/>
            <a:p>
              <a:pPr algn="l"/>
              <a:r>
                <a:rPr lang="ko-KR" sz="900" b="1" dirty="0">
                  <a:solidFill>
                    <a:srgbClr val="C00000"/>
                  </a:solidFill>
                  <a:latin typeface="맑은 고딕"/>
                  <a:ea typeface="맑은 고딕"/>
                </a:rPr>
                <a:t>이기종 메모리 aware Migration </a:t>
              </a:r>
              <a:r>
                <a:rPr lang="ko-KR" sz="900" b="1" dirty="0" err="1">
                  <a:solidFill>
                    <a:srgbClr val="C00000"/>
                  </a:solidFill>
                  <a:latin typeface="맑은 고딕"/>
                  <a:ea typeface="맑은 고딕"/>
                </a:rPr>
                <a:t>Layer</a:t>
              </a:r>
              <a:r>
                <a:rPr lang="ko-KR" sz="900" b="1" dirty="0">
                  <a:solidFill>
                    <a:srgbClr val="C00000"/>
                  </a:solidFill>
                  <a:latin typeface="맑은 고딕"/>
                  <a:ea typeface="맑은 고딕"/>
                </a:rPr>
                <a:t> 부재</a:t>
              </a:r>
            </a:p>
          </p:txBody>
        </p:sp>
        <p:sp>
          <p:nvSpPr>
            <p:cNvPr id="508" name="AsIs Missing 508"/>
            <p:cNvSpPr/>
            <p:nvPr/>
          </p:nvSpPr>
          <p:spPr>
            <a:xfrm>
              <a:off x="512064" y="2070475"/>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Data Object Registry</a:t>
              </a:r>
            </a:p>
          </p:txBody>
        </p:sp>
        <p:sp>
          <p:nvSpPr>
            <p:cNvPr id="509" name="AsIs Missing 509"/>
            <p:cNvSpPr/>
            <p:nvPr/>
          </p:nvSpPr>
          <p:spPr>
            <a:xfrm>
              <a:off x="2278568" y="2070475"/>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Migration Scheduler</a:t>
              </a:r>
            </a:p>
            <a:p>
              <a:pPr algn="ctr"/>
              <a:r>
                <a:rPr lang="ko-KR" sz="800" b="0" dirty="0">
                  <a:solidFill>
                    <a:srgbClr val="7F7F7F"/>
                  </a:solidFill>
                  <a:latin typeface="맑은 고딕"/>
                  <a:ea typeface="맑은 고딕"/>
                </a:rPr>
                <a:t>(Monitor·Predict)</a:t>
              </a:r>
            </a:p>
          </p:txBody>
        </p:sp>
        <p:sp>
          <p:nvSpPr>
            <p:cNvPr id="510" name="AsIs Missing 510"/>
            <p:cNvSpPr/>
            <p:nvPr/>
          </p:nvSpPr>
          <p:spPr>
            <a:xfrm>
              <a:off x="4045072" y="2070475"/>
              <a:ext cx="1706504" cy="400000"/>
            </a:xfrm>
            <a:prstGeom prst="rect">
              <a:avLst/>
            </a:prstGeom>
            <a:solidFill>
              <a:srgbClr val="F2F2F2"/>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ko-KR" sz="800" b="0" dirty="0">
                  <a:solidFill>
                    <a:srgbClr val="7F7F7F"/>
                  </a:solidFill>
                  <a:latin typeface="맑은 고딕"/>
                  <a:ea typeface="맑은 고딕"/>
                </a:rPr>
                <a:t>Migration Executor</a:t>
              </a:r>
            </a:p>
          </p:txBody>
        </p:sp>
        <p:sp>
          <p:nvSpPr>
            <p:cNvPr id="511" name="AsIs TextBox 511"/>
            <p:cNvSpPr txBox="1"/>
            <p:nvPr/>
          </p:nvSpPr>
          <p:spPr>
            <a:xfrm>
              <a:off x="512064" y="2530475"/>
              <a:ext cx="5239512" cy="309554"/>
            </a:xfrm>
            <a:prstGeom prst="rect">
              <a:avLst/>
            </a:prstGeom>
            <a:noFill/>
          </p:spPr>
          <p:txBody>
            <a:bodyPr wrap="square" lIns="0" tIns="0" rIns="0" bIns="0" anchor="t"/>
            <a:lstStyle/>
            <a:p>
              <a:pPr algn="l"/>
              <a:r>
                <a:rPr lang="ko-KR" sz="800" b="0" dirty="0">
                  <a:solidFill>
                    <a:srgbClr val="C00000"/>
                  </a:solidFill>
                  <a:latin typeface="맑은 고딕"/>
                  <a:ea typeface="맑은 고딕"/>
                </a:rPr>
                <a:t>✕ 데이터 타입(KV·Weight·LoRA·Expert) 인지 없음</a:t>
              </a:r>
              <a:endParaRPr lang="en-US" altLang="ko-KR" sz="800" b="0" dirty="0">
                <a:solidFill>
                  <a:srgbClr val="C00000"/>
                </a:solidFill>
                <a:latin typeface="맑은 고딕"/>
                <a:ea typeface="맑은 고딕"/>
              </a:endParaRPr>
            </a:p>
            <a:p>
              <a:pPr algn="l"/>
              <a:r>
                <a:rPr lang="ko-KR" sz="800" b="0" dirty="0">
                  <a:solidFill>
                    <a:srgbClr val="C00000"/>
                  </a:solidFill>
                  <a:latin typeface="맑은 고딕"/>
                  <a:ea typeface="맑은 고딕"/>
                </a:rPr>
                <a:t>✕ 메모리 특성(BW·Latency·용량) 기반 배치·사전 이동 없음</a:t>
              </a:r>
              <a:endParaRPr lang="en-US" altLang="ko-KR" sz="800" b="0" dirty="0">
                <a:solidFill>
                  <a:srgbClr val="C00000"/>
                </a:solidFill>
                <a:latin typeface="맑은 고딕"/>
                <a:ea typeface="맑은 고딕"/>
              </a:endParaRPr>
            </a:p>
          </p:txBody>
        </p:sp>
      </p:grpSp>
      <p:sp>
        <p:nvSpPr>
          <p:cNvPr id="524" name="AsIs Note 524"/>
          <p:cNvSpPr/>
          <p:nvPr/>
        </p:nvSpPr>
        <p:spPr>
          <a:xfrm>
            <a:off x="454914" y="4543190"/>
            <a:ext cx="5349240" cy="1058622"/>
          </a:xfrm>
          <a:prstGeom prst="rect">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l">
              <a:lnSpc>
                <a:spcPct val="120000"/>
              </a:lnSpc>
            </a:pPr>
            <a:r>
              <a:rPr lang="ko-KR" sz="1050" b="0" dirty="0">
                <a:solidFill>
                  <a:srgbClr val="3A3A3A"/>
                </a:solidFill>
                <a:latin typeface="맑은 고딕"/>
                <a:ea typeface="맑은 고딕"/>
              </a:rPr>
              <a:t>① </a:t>
            </a:r>
            <a:r>
              <a:rPr lang="en-US" altLang="ko-KR" sz="1050" b="0" dirty="0">
                <a:solidFill>
                  <a:srgbClr val="3A3A3A"/>
                </a:solidFill>
                <a:latin typeface="맑은 고딕"/>
                <a:ea typeface="맑은 고딕"/>
              </a:rPr>
              <a:t>Data</a:t>
            </a:r>
            <a:r>
              <a:rPr lang="ko-KR" sz="1050" b="0" dirty="0">
                <a:solidFill>
                  <a:srgbClr val="3A3A3A"/>
                </a:solidFill>
                <a:latin typeface="맑은 고딕"/>
                <a:ea typeface="맑은 고딕"/>
              </a:rPr>
              <a:t> Migration Layer 부재 </a:t>
            </a:r>
            <a:endParaRPr lang="en-US" altLang="ko-KR" sz="1050" b="0" dirty="0">
              <a:solidFill>
                <a:srgbClr val="3A3A3A"/>
              </a:solidFill>
              <a:latin typeface="맑은 고딕"/>
              <a:ea typeface="맑은 고딕"/>
            </a:endParaRPr>
          </a:p>
          <a:p>
            <a:pPr algn="l">
              <a:lnSpc>
                <a:spcPct val="120000"/>
              </a:lnSpc>
            </a:pPr>
            <a:r>
              <a:rPr lang="ko-KR" sz="1050" b="0" dirty="0">
                <a:solidFill>
                  <a:srgbClr val="3A3A3A"/>
                </a:solidFill>
                <a:latin typeface="맑은 고딕"/>
                <a:ea typeface="맑은 고딕"/>
              </a:rPr>
              <a:t>→ </a:t>
            </a:r>
            <a:r>
              <a:rPr lang="en-US" altLang="ko-KR" sz="1050" dirty="0">
                <a:solidFill>
                  <a:srgbClr val="3A3A3A"/>
                </a:solidFill>
                <a:latin typeface="맑은 고딕"/>
                <a:ea typeface="맑은 고딕"/>
              </a:rPr>
              <a:t>HBM</a:t>
            </a:r>
            <a:r>
              <a:rPr lang="ko-KR" altLang="en-US" sz="1050" dirty="0">
                <a:solidFill>
                  <a:srgbClr val="3A3A3A"/>
                </a:solidFill>
                <a:latin typeface="맑은 고딕"/>
                <a:ea typeface="맑은 고딕"/>
              </a:rPr>
              <a:t>단일 계층만을 전제</a:t>
            </a:r>
            <a:r>
              <a:rPr lang="en-US" altLang="ko-KR" sz="1050" dirty="0">
                <a:solidFill>
                  <a:srgbClr val="3A3A3A"/>
                </a:solidFill>
                <a:latin typeface="맑은 고딕"/>
                <a:ea typeface="맑은 고딕"/>
              </a:rPr>
              <a:t>, </a:t>
            </a:r>
            <a:r>
              <a:rPr lang="ko-KR" sz="1050" b="0" dirty="0">
                <a:solidFill>
                  <a:srgbClr val="3A3A3A"/>
                </a:solidFill>
                <a:latin typeface="맑은 고딕"/>
                <a:ea typeface="맑은 고딕"/>
              </a:rPr>
              <a:t>데이터 특성 무관, 타입별 </a:t>
            </a:r>
            <a:r>
              <a:rPr lang="ko-KR" sz="1050" b="0" dirty="0" err="1">
                <a:solidFill>
                  <a:srgbClr val="3A3A3A"/>
                </a:solidFill>
                <a:latin typeface="맑은 고딕"/>
                <a:ea typeface="맑은 고딕"/>
              </a:rPr>
              <a:t>LRU·고정</a:t>
            </a:r>
            <a:r>
              <a:rPr lang="ko-KR" sz="1050" b="0" dirty="0">
                <a:solidFill>
                  <a:srgbClr val="3A3A3A"/>
                </a:solidFill>
                <a:latin typeface="맑은 고딕"/>
                <a:ea typeface="맑은 고딕"/>
              </a:rPr>
              <a:t> 정책</a:t>
            </a:r>
            <a:endParaRPr lang="en-US" altLang="ko-KR" sz="1050" b="0" dirty="0">
              <a:solidFill>
                <a:srgbClr val="3A3A3A"/>
              </a:solidFill>
              <a:latin typeface="맑은 고딕"/>
              <a:ea typeface="맑은 고딕"/>
            </a:endParaRPr>
          </a:p>
          <a:p>
            <a:pPr>
              <a:lnSpc>
                <a:spcPct val="120000"/>
              </a:lnSpc>
            </a:pPr>
            <a:endParaRPr lang="en-US" altLang="ko-KR" sz="1050" dirty="0">
              <a:solidFill>
                <a:srgbClr val="3A3A3A"/>
              </a:solidFill>
              <a:ea typeface="맑은 고딕"/>
            </a:endParaRPr>
          </a:p>
          <a:p>
            <a:pPr>
              <a:lnSpc>
                <a:spcPct val="120000"/>
              </a:lnSpc>
            </a:pPr>
            <a:r>
              <a:rPr lang="ko-KR" altLang="ko-KR" sz="1050" dirty="0">
                <a:solidFill>
                  <a:srgbClr val="3A3A3A"/>
                </a:solidFill>
                <a:ea typeface="맑은 고딕"/>
              </a:rPr>
              <a:t>② </a:t>
            </a:r>
            <a:r>
              <a:rPr lang="ko-KR" sz="1050" b="0" dirty="0">
                <a:solidFill>
                  <a:srgbClr val="3A3A3A"/>
                </a:solidFill>
                <a:latin typeface="맑은 고딕"/>
                <a:ea typeface="맑은 고딕"/>
              </a:rPr>
              <a:t>이동</a:t>
            </a:r>
            <a:r>
              <a:rPr lang="en-US" altLang="ko-KR" sz="1050" b="0" dirty="0">
                <a:solidFill>
                  <a:srgbClr val="3A3A3A"/>
                </a:solidFill>
                <a:latin typeface="맑은 고딕"/>
                <a:ea typeface="맑은 고딕"/>
              </a:rPr>
              <a:t>(KV offloading)</a:t>
            </a:r>
            <a:r>
              <a:rPr lang="ko-KR" sz="1050" b="0" dirty="0">
                <a:solidFill>
                  <a:srgbClr val="3A3A3A"/>
                </a:solidFill>
                <a:latin typeface="맑은 고딕"/>
                <a:ea typeface="맑은 고딕"/>
              </a:rPr>
              <a:t>은 반응형(부족 시 Evict·Preempt·Miss 조회), 사전 예측 없음</a:t>
            </a:r>
          </a:p>
        </p:txBody>
      </p:sp>
      <p:sp>
        <p:nvSpPr>
          <p:cNvPr id="261" name="Rectangle 260"/>
          <p:cNvSpPr/>
          <p:nvPr/>
        </p:nvSpPr>
        <p:spPr>
          <a:xfrm>
            <a:off x="6382512" y="1115568"/>
            <a:ext cx="5458968" cy="640080"/>
          </a:xfrm>
          <a:prstGeom prst="rect">
            <a:avLst/>
          </a:prstGeom>
          <a:solidFill>
            <a:srgbClr val="F7F9FC"/>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62" name="TextBox 261"/>
          <p:cNvSpPr txBox="1"/>
          <p:nvPr/>
        </p:nvSpPr>
        <p:spPr>
          <a:xfrm>
            <a:off x="6437376" y="1174334"/>
            <a:ext cx="5349240" cy="138499"/>
          </a:xfrm>
          <a:prstGeom prst="rect">
            <a:avLst/>
          </a:prstGeom>
          <a:noFill/>
        </p:spPr>
        <p:txBody>
          <a:bodyPr wrap="square" lIns="0" tIns="0" rIns="0" bIns="0" anchor="ctr">
            <a:spAutoFit/>
          </a:bodyPr>
          <a:lstStyle/>
          <a:p>
            <a:pPr algn="l"/>
            <a:r>
              <a:rPr sz="900" b="1" dirty="0">
                <a:solidFill>
                  <a:srgbClr val="1A1A1A"/>
                </a:solidFill>
                <a:latin typeface="맑은 고딕"/>
                <a:ea typeface="맑은 고딕"/>
              </a:rPr>
              <a:t>Inference Engine (</a:t>
            </a:r>
            <a:r>
              <a:rPr sz="900" b="1" dirty="0" err="1">
                <a:solidFill>
                  <a:srgbClr val="1A1A1A"/>
                </a:solidFill>
                <a:latin typeface="맑은 고딕"/>
                <a:ea typeface="맑은 고딕"/>
              </a:rPr>
              <a:t>기존</a:t>
            </a:r>
            <a:r>
              <a:rPr sz="900" b="1" dirty="0">
                <a:solidFill>
                  <a:srgbClr val="1A1A1A"/>
                </a:solidFill>
                <a:latin typeface="맑은 고딕"/>
                <a:ea typeface="맑은 고딕"/>
              </a:rPr>
              <a:t> I/F </a:t>
            </a:r>
            <a:r>
              <a:rPr sz="900" b="1" dirty="0" err="1">
                <a:solidFill>
                  <a:srgbClr val="1A1A1A"/>
                </a:solidFill>
                <a:latin typeface="맑은 고딕"/>
                <a:ea typeface="맑은 고딕"/>
              </a:rPr>
              <a:t>유지</a:t>
            </a:r>
            <a:r>
              <a:rPr sz="900" b="1" dirty="0">
                <a:solidFill>
                  <a:srgbClr val="1A1A1A"/>
                </a:solidFill>
                <a:latin typeface="맑은 고딕"/>
                <a:ea typeface="맑은 고딕"/>
              </a:rPr>
              <a:t>)</a:t>
            </a:r>
          </a:p>
        </p:txBody>
      </p:sp>
      <p:sp>
        <p:nvSpPr>
          <p:cNvPr id="263" name="Rectangle 262"/>
          <p:cNvSpPr/>
          <p:nvPr/>
        </p:nvSpPr>
        <p:spPr>
          <a:xfrm>
            <a:off x="6473952"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Scheduler</a:t>
            </a:r>
          </a:p>
        </p:txBody>
      </p:sp>
      <p:sp>
        <p:nvSpPr>
          <p:cNvPr id="264" name="Rectangle 263"/>
          <p:cNvSpPr/>
          <p:nvPr/>
        </p:nvSpPr>
        <p:spPr>
          <a:xfrm>
            <a:off x="7872984"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Cache </a:t>
            </a:r>
            <a:r>
              <a:rPr sz="900" b="1" dirty="0" err="1">
                <a:solidFill>
                  <a:srgbClr val="1A1A1A"/>
                </a:solidFill>
                <a:latin typeface="맑은 고딕"/>
                <a:ea typeface="맑은 고딕"/>
              </a:rPr>
              <a:t>M</a:t>
            </a:r>
            <a:r>
              <a:rPr lang="en-US" sz="900" b="1" dirty="0" err="1">
                <a:solidFill>
                  <a:srgbClr val="1A1A1A"/>
                </a:solidFill>
                <a:latin typeface="맑은 고딕"/>
                <a:ea typeface="맑은 고딕"/>
              </a:rPr>
              <a:t>gr</a:t>
            </a:r>
            <a:endParaRPr sz="900" b="1" dirty="0">
              <a:solidFill>
                <a:srgbClr val="1A1A1A"/>
              </a:solidFill>
              <a:latin typeface="맑은 고딕"/>
              <a:ea typeface="맑은 고딕"/>
            </a:endParaRPr>
          </a:p>
        </p:txBody>
      </p:sp>
      <p:sp>
        <p:nvSpPr>
          <p:cNvPr id="265" name="Rectangle 264"/>
          <p:cNvSpPr/>
          <p:nvPr/>
        </p:nvSpPr>
        <p:spPr>
          <a:xfrm>
            <a:off x="9272016" y="1371600"/>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a:solidFill>
                  <a:srgbClr val="1A1A1A"/>
                </a:solidFill>
                <a:latin typeface="맑은 고딕"/>
                <a:ea typeface="맑은 고딕"/>
              </a:rPr>
              <a:t>KV Connector</a:t>
            </a:r>
          </a:p>
        </p:txBody>
      </p:sp>
      <p:sp>
        <p:nvSpPr>
          <p:cNvPr id="267" name="Rectangle 266"/>
          <p:cNvSpPr/>
          <p:nvPr/>
        </p:nvSpPr>
        <p:spPr>
          <a:xfrm>
            <a:off x="10671048" y="1371600"/>
            <a:ext cx="1051560"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900" b="1" dirty="0">
                <a:solidFill>
                  <a:srgbClr val="1A1A1A"/>
                </a:solidFill>
                <a:latin typeface="맑은 고딕"/>
                <a:ea typeface="맑은 고딕"/>
              </a:rPr>
              <a:t>Model Runner</a:t>
            </a:r>
            <a:endParaRPr sz="900" b="1" dirty="0">
              <a:solidFill>
                <a:srgbClr val="1A1A1A"/>
              </a:solidFill>
              <a:latin typeface="맑은 고딕"/>
              <a:ea typeface="맑은 고딕"/>
            </a:endParaRPr>
          </a:p>
        </p:txBody>
      </p:sp>
      <p:cxnSp>
        <p:nvCxnSpPr>
          <p:cNvPr id="268" name="Connector 267"/>
          <p:cNvCxnSpPr/>
          <p:nvPr/>
        </p:nvCxnSpPr>
        <p:spPr>
          <a:xfrm>
            <a:off x="8057798" y="1755648"/>
            <a:ext cx="0" cy="256032"/>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9" name="TextBox 268"/>
          <p:cNvSpPr txBox="1"/>
          <p:nvPr/>
        </p:nvSpPr>
        <p:spPr>
          <a:xfrm>
            <a:off x="8121806" y="1811515"/>
            <a:ext cx="2011680" cy="107722"/>
          </a:xfrm>
          <a:prstGeom prst="rect">
            <a:avLst/>
          </a:prstGeom>
          <a:noFill/>
        </p:spPr>
        <p:txBody>
          <a:bodyPr wrap="square" lIns="0" tIns="0" rIns="0" bIns="0" anchor="ctr">
            <a:spAutoFit/>
          </a:bodyPr>
          <a:lstStyle/>
          <a:p>
            <a:pPr algn="l"/>
            <a:r>
              <a:rPr sz="700" b="0">
                <a:solidFill>
                  <a:srgbClr val="C55A11"/>
                </a:solidFill>
                <a:latin typeface="맑은 고딕"/>
                <a:ea typeface="맑은 고딕"/>
              </a:rPr>
              <a:t>Event push(비동기): 요청·Tool 호출·Access</a:t>
            </a:r>
          </a:p>
        </p:txBody>
      </p:sp>
      <p:cxnSp>
        <p:nvCxnSpPr>
          <p:cNvPr id="270" name="Connector 269"/>
          <p:cNvCxnSpPr/>
          <p:nvPr/>
        </p:nvCxnSpPr>
        <p:spPr>
          <a:xfrm flipV="1">
            <a:off x="11338560" y="1755648"/>
            <a:ext cx="0" cy="256032"/>
          </a:xfrm>
          <a:prstGeom prst="line">
            <a:avLst/>
          </a:prstGeom>
          <a:ln w="15875">
            <a:solidFill>
              <a:srgbClr val="4472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469880" y="1811515"/>
            <a:ext cx="822960" cy="107722"/>
          </a:xfrm>
          <a:prstGeom prst="rect">
            <a:avLst/>
          </a:prstGeom>
          <a:noFill/>
        </p:spPr>
        <p:txBody>
          <a:bodyPr wrap="square" lIns="0" tIns="0" rIns="0" bIns="0" anchor="ctr">
            <a:spAutoFit/>
          </a:bodyPr>
          <a:lstStyle/>
          <a:p>
            <a:pPr algn="r"/>
            <a:r>
              <a:rPr lang="ko-KR" altLang="en-US" sz="700" dirty="0">
                <a:solidFill>
                  <a:srgbClr val="4472C4"/>
                </a:solidFill>
                <a:latin typeface="맑은 고딕"/>
                <a:ea typeface="맑은 고딕"/>
              </a:rPr>
              <a:t>위치 이동 </a:t>
            </a:r>
            <a:r>
              <a:rPr lang="ko-KR" altLang="en-US" sz="700" b="0" dirty="0">
                <a:solidFill>
                  <a:srgbClr val="4472C4"/>
                </a:solidFill>
                <a:latin typeface="맑은 고딕"/>
                <a:ea typeface="맑은 고딕"/>
              </a:rPr>
              <a:t>정보</a:t>
            </a:r>
            <a:endParaRPr sz="700" b="0" dirty="0">
              <a:solidFill>
                <a:srgbClr val="4472C4"/>
              </a:solidFill>
              <a:latin typeface="맑은 고딕"/>
              <a:ea typeface="맑은 고딕"/>
            </a:endParaRPr>
          </a:p>
        </p:txBody>
      </p:sp>
      <p:sp>
        <p:nvSpPr>
          <p:cNvPr id="272" name="Rectangle 271"/>
          <p:cNvSpPr/>
          <p:nvPr/>
        </p:nvSpPr>
        <p:spPr>
          <a:xfrm>
            <a:off x="6422136" y="2012341"/>
            <a:ext cx="5458968" cy="2395728"/>
          </a:xfrm>
          <a:prstGeom prst="rect">
            <a:avLst/>
          </a:prstGeom>
          <a:solidFill>
            <a:srgbClr val="FFFBF8"/>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73" name="TextBox 272"/>
          <p:cNvSpPr txBox="1"/>
          <p:nvPr/>
        </p:nvSpPr>
        <p:spPr>
          <a:xfrm>
            <a:off x="6437376" y="2070446"/>
            <a:ext cx="5349240" cy="138499"/>
          </a:xfrm>
          <a:prstGeom prst="rect">
            <a:avLst/>
          </a:prstGeom>
          <a:noFill/>
        </p:spPr>
        <p:txBody>
          <a:bodyPr wrap="square" lIns="0" tIns="0" rIns="0" bIns="0" anchor="ctr">
            <a:spAutoFit/>
          </a:bodyPr>
          <a:lstStyle/>
          <a:p>
            <a:pPr algn="l"/>
            <a:r>
              <a:rPr sz="900" b="1">
                <a:solidFill>
                  <a:srgbClr val="C55A11"/>
                </a:solidFill>
                <a:latin typeface="맑은 고딕"/>
                <a:ea typeface="맑은 고딕"/>
              </a:rPr>
              <a:t>이기종 메모리 aware Migration Layer (신규)</a:t>
            </a:r>
          </a:p>
        </p:txBody>
      </p:sp>
      <p:sp>
        <p:nvSpPr>
          <p:cNvPr id="274" name="Rectangle 273"/>
          <p:cNvSpPr/>
          <p:nvPr/>
        </p:nvSpPr>
        <p:spPr>
          <a:xfrm>
            <a:off x="6473952" y="2286000"/>
            <a:ext cx="1234440" cy="201168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75" name="TextBox 274"/>
          <p:cNvSpPr txBox="1"/>
          <p:nvPr/>
        </p:nvSpPr>
        <p:spPr>
          <a:xfrm>
            <a:off x="6492240" y="2325028"/>
            <a:ext cx="1197864" cy="123111"/>
          </a:xfrm>
          <a:prstGeom prst="rect">
            <a:avLst/>
          </a:prstGeom>
          <a:noFill/>
        </p:spPr>
        <p:txBody>
          <a:bodyPr wrap="square" lIns="0" tIns="0" rIns="0" bIns="0" anchor="ctr">
            <a:spAutoFit/>
          </a:bodyPr>
          <a:lstStyle/>
          <a:p>
            <a:pPr algn="ctr"/>
            <a:r>
              <a:rPr sz="800" b="1">
                <a:solidFill>
                  <a:srgbClr val="1A1A1A"/>
                </a:solidFill>
                <a:latin typeface="맑은 고딕"/>
                <a:ea typeface="맑은 고딕"/>
              </a:rPr>
              <a:t>Data Object Registry</a:t>
            </a:r>
          </a:p>
        </p:txBody>
      </p:sp>
      <p:sp>
        <p:nvSpPr>
          <p:cNvPr id="276" name="Rectangle 275"/>
          <p:cNvSpPr/>
          <p:nvPr/>
        </p:nvSpPr>
        <p:spPr>
          <a:xfrm>
            <a:off x="6537960" y="259458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KV (System Prompt)</a:t>
            </a:r>
          </a:p>
        </p:txBody>
      </p:sp>
      <p:sp>
        <p:nvSpPr>
          <p:cNvPr id="277" name="Rectangle 276"/>
          <p:cNvSpPr/>
          <p:nvPr/>
        </p:nvSpPr>
        <p:spPr>
          <a:xfrm>
            <a:off x="6537960" y="291925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KV (Agent Memory)</a:t>
            </a:r>
          </a:p>
        </p:txBody>
      </p:sp>
      <p:sp>
        <p:nvSpPr>
          <p:cNvPr id="278" name="Rectangle 277"/>
          <p:cNvSpPr/>
          <p:nvPr/>
        </p:nvSpPr>
        <p:spPr>
          <a:xfrm>
            <a:off x="6537960" y="324392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LoRA Adapter</a:t>
            </a:r>
          </a:p>
        </p:txBody>
      </p:sp>
      <p:sp>
        <p:nvSpPr>
          <p:cNvPr id="279" name="Rectangle 278"/>
          <p:cNvSpPr/>
          <p:nvPr/>
        </p:nvSpPr>
        <p:spPr>
          <a:xfrm>
            <a:off x="6537960" y="3568594"/>
            <a:ext cx="1106424" cy="251460"/>
          </a:xfrm>
          <a:prstGeom prst="rect">
            <a:avLst/>
          </a:prstGeom>
          <a:solidFill>
            <a:srgbClr val="FFFFFF"/>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err="1">
                <a:solidFill>
                  <a:srgbClr val="1A1A1A"/>
                </a:solidFill>
                <a:latin typeface="맑은 고딕"/>
                <a:ea typeface="맑은 고딕"/>
              </a:rPr>
              <a:t>MoE</a:t>
            </a:r>
            <a:r>
              <a:rPr sz="800" b="1" dirty="0">
                <a:solidFill>
                  <a:srgbClr val="1A1A1A"/>
                </a:solidFill>
                <a:latin typeface="맑은 고딕"/>
                <a:ea typeface="맑은 고딕"/>
              </a:rPr>
              <a:t> Expert</a:t>
            </a:r>
          </a:p>
        </p:txBody>
      </p:sp>
      <p:sp>
        <p:nvSpPr>
          <p:cNvPr id="281" name="TextBox 280"/>
          <p:cNvSpPr txBox="1"/>
          <p:nvPr/>
        </p:nvSpPr>
        <p:spPr>
          <a:xfrm>
            <a:off x="6492240" y="3942067"/>
            <a:ext cx="1197864" cy="107722"/>
          </a:xfrm>
          <a:prstGeom prst="rect">
            <a:avLst/>
          </a:prstGeom>
          <a:noFill/>
        </p:spPr>
        <p:txBody>
          <a:bodyPr wrap="square" lIns="0" tIns="0" rIns="0" bIns="0" anchor="ctr">
            <a:spAutoFit/>
          </a:bodyPr>
          <a:lstStyle/>
          <a:p>
            <a:pPr algn="ctr"/>
            <a:r>
              <a:rPr sz="700" b="0">
                <a:solidFill>
                  <a:srgbClr val="595959"/>
                </a:solidFill>
                <a:latin typeface="맑은 고딕"/>
                <a:ea typeface="맑은 고딕"/>
              </a:rPr>
              <a:t>Class별 Metadata</a:t>
            </a:r>
          </a:p>
        </p:txBody>
      </p:sp>
      <p:sp>
        <p:nvSpPr>
          <p:cNvPr id="282" name="TextBox 281"/>
          <p:cNvSpPr txBox="1"/>
          <p:nvPr/>
        </p:nvSpPr>
        <p:spPr>
          <a:xfrm>
            <a:off x="6492240" y="4097515"/>
            <a:ext cx="1197864" cy="107722"/>
          </a:xfrm>
          <a:prstGeom prst="rect">
            <a:avLst/>
          </a:prstGeom>
          <a:noFill/>
        </p:spPr>
        <p:txBody>
          <a:bodyPr wrap="square" lIns="0" tIns="0" rIns="0" bIns="0" anchor="ctr">
            <a:spAutoFit/>
          </a:bodyPr>
          <a:lstStyle/>
          <a:p>
            <a:pPr algn="ctr"/>
            <a:r>
              <a:rPr sz="700" b="0">
                <a:solidFill>
                  <a:srgbClr val="595959"/>
                </a:solidFill>
                <a:latin typeface="맑은 고딕"/>
                <a:ea typeface="맑은 고딕"/>
              </a:rPr>
              <a:t>(Reuse · Lifetime · Tool)</a:t>
            </a:r>
          </a:p>
        </p:txBody>
      </p:sp>
      <p:sp>
        <p:nvSpPr>
          <p:cNvPr id="283" name="Rectangle 282"/>
          <p:cNvSpPr/>
          <p:nvPr/>
        </p:nvSpPr>
        <p:spPr>
          <a:xfrm>
            <a:off x="10515600" y="2286000"/>
            <a:ext cx="1234440" cy="201168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284" name="TextBox 283"/>
          <p:cNvSpPr txBox="1"/>
          <p:nvPr/>
        </p:nvSpPr>
        <p:spPr>
          <a:xfrm>
            <a:off x="10533888" y="2325028"/>
            <a:ext cx="1197864" cy="123111"/>
          </a:xfrm>
          <a:prstGeom prst="rect">
            <a:avLst/>
          </a:prstGeom>
          <a:noFill/>
        </p:spPr>
        <p:txBody>
          <a:bodyPr wrap="square" lIns="0" tIns="0" rIns="0" bIns="0" anchor="ctr">
            <a:spAutoFit/>
          </a:bodyPr>
          <a:lstStyle/>
          <a:p>
            <a:pPr algn="ctr"/>
            <a:r>
              <a:rPr sz="800" b="1">
                <a:solidFill>
                  <a:srgbClr val="1A1A1A"/>
                </a:solidFill>
                <a:latin typeface="맑은 고딕"/>
                <a:ea typeface="맑은 고딕"/>
              </a:rPr>
              <a:t>Resource Manager</a:t>
            </a:r>
          </a:p>
        </p:txBody>
      </p:sp>
      <p:sp>
        <p:nvSpPr>
          <p:cNvPr id="285" name="Rectangle 284"/>
          <p:cNvSpPr/>
          <p:nvPr/>
        </p:nvSpPr>
        <p:spPr>
          <a:xfrm>
            <a:off x="10579608" y="2542032"/>
            <a:ext cx="1106424" cy="676656"/>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Telemetry </a:t>
            </a:r>
            <a:endParaRPr lang="en-US" sz="1000" b="1" dirty="0">
              <a:solidFill>
                <a:srgbClr val="1A1A1A"/>
              </a:solidFill>
              <a:latin typeface="맑은 고딕"/>
              <a:ea typeface="맑은 고딕"/>
            </a:endParaRPr>
          </a:p>
          <a:p>
            <a:pPr algn="ctr"/>
            <a:r>
              <a:rPr sz="1000" b="1" dirty="0">
                <a:solidFill>
                  <a:srgbClr val="1A1A1A"/>
                </a:solidFill>
                <a:latin typeface="맑은 고딕"/>
                <a:ea typeface="맑은 고딕"/>
              </a:rPr>
              <a:t>Collector</a:t>
            </a:r>
            <a:endParaRPr lang="en-US" sz="1000" b="1" dirty="0">
              <a:solidFill>
                <a:srgbClr val="1A1A1A"/>
              </a:solidFill>
              <a:latin typeface="맑은 고딕"/>
              <a:ea typeface="맑은 고딕"/>
            </a:endParaRPr>
          </a:p>
        </p:txBody>
      </p:sp>
      <p:sp>
        <p:nvSpPr>
          <p:cNvPr id="286" name="Rectangle 285"/>
          <p:cNvSpPr/>
          <p:nvPr/>
        </p:nvSpPr>
        <p:spPr>
          <a:xfrm>
            <a:off x="10579608" y="3353892"/>
            <a:ext cx="1106424" cy="68580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Memory </a:t>
            </a:r>
            <a:endParaRPr lang="en-US" sz="1000" b="1" dirty="0">
              <a:solidFill>
                <a:srgbClr val="1A1A1A"/>
              </a:solidFill>
              <a:latin typeface="맑은 고딕"/>
              <a:ea typeface="맑은 고딕"/>
            </a:endParaRPr>
          </a:p>
          <a:p>
            <a:pPr algn="ctr"/>
            <a:r>
              <a:rPr sz="1000" b="1" dirty="0">
                <a:solidFill>
                  <a:srgbClr val="1A1A1A"/>
                </a:solidFill>
                <a:latin typeface="맑은 고딕"/>
                <a:ea typeface="맑은 고딕"/>
              </a:rPr>
              <a:t>Registry</a:t>
            </a:r>
            <a:endParaRPr lang="en-US" sz="1000" b="1" dirty="0">
              <a:solidFill>
                <a:srgbClr val="1A1A1A"/>
              </a:solidFill>
              <a:latin typeface="맑은 고딕"/>
              <a:ea typeface="맑은 고딕"/>
            </a:endParaRPr>
          </a:p>
        </p:txBody>
      </p:sp>
      <p:sp>
        <p:nvSpPr>
          <p:cNvPr id="287" name="Rectangle 286"/>
          <p:cNvSpPr/>
          <p:nvPr/>
        </p:nvSpPr>
        <p:spPr>
          <a:xfrm>
            <a:off x="7882127" y="2286000"/>
            <a:ext cx="2468880" cy="27432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a:solidFill>
                  <a:srgbClr val="1A1A1A"/>
                </a:solidFill>
                <a:latin typeface="맑은 고딕"/>
                <a:ea typeface="맑은 고딕"/>
              </a:rPr>
              <a:t>Migration Scheduler</a:t>
            </a:r>
          </a:p>
        </p:txBody>
      </p:sp>
      <p:sp>
        <p:nvSpPr>
          <p:cNvPr id="288" name="Rectangle 287"/>
          <p:cNvSpPr/>
          <p:nvPr/>
        </p:nvSpPr>
        <p:spPr>
          <a:xfrm>
            <a:off x="7882127" y="2695887"/>
            <a:ext cx="2468880" cy="349135"/>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1000" b="1" dirty="0">
                <a:solidFill>
                  <a:srgbClr val="1A1A1A"/>
                </a:solidFill>
                <a:latin typeface="맑은 고딕"/>
                <a:ea typeface="맑은 고딕"/>
              </a:rPr>
              <a:t>State/Behavior </a:t>
            </a:r>
            <a:r>
              <a:rPr sz="1000" b="1" dirty="0">
                <a:solidFill>
                  <a:srgbClr val="1A1A1A"/>
                </a:solidFill>
                <a:latin typeface="맑은 고딕"/>
                <a:ea typeface="맑은 고딕"/>
              </a:rPr>
              <a:t>Monitor</a:t>
            </a:r>
          </a:p>
        </p:txBody>
      </p:sp>
      <p:sp>
        <p:nvSpPr>
          <p:cNvPr id="289" name="Rectangle 288"/>
          <p:cNvSpPr/>
          <p:nvPr/>
        </p:nvSpPr>
        <p:spPr>
          <a:xfrm>
            <a:off x="7882127" y="3207570"/>
            <a:ext cx="2468880" cy="349135"/>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000" b="1" dirty="0">
                <a:solidFill>
                  <a:srgbClr val="1A1A1A"/>
                </a:solidFill>
                <a:latin typeface="맑은 고딕"/>
                <a:ea typeface="맑은 고딕"/>
              </a:rPr>
              <a:t>Analyze / Predict</a:t>
            </a:r>
          </a:p>
        </p:txBody>
      </p:sp>
      <p:sp>
        <p:nvSpPr>
          <p:cNvPr id="290" name="Rectangle 289"/>
          <p:cNvSpPr/>
          <p:nvPr/>
        </p:nvSpPr>
        <p:spPr>
          <a:xfrm>
            <a:off x="7882127" y="3682518"/>
            <a:ext cx="2468880" cy="331927"/>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1000" b="1" dirty="0">
                <a:solidFill>
                  <a:srgbClr val="FFFFFF"/>
                </a:solidFill>
                <a:ea typeface="맑은 고딕"/>
              </a:rPr>
              <a:t>Migration Policy Engine</a:t>
            </a:r>
          </a:p>
        </p:txBody>
      </p:sp>
      <p:cxnSp>
        <p:nvCxnSpPr>
          <p:cNvPr id="291" name="Connector 290"/>
          <p:cNvCxnSpPr/>
          <p:nvPr/>
        </p:nvCxnSpPr>
        <p:spPr>
          <a:xfrm>
            <a:off x="9116567" y="2560320"/>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9116567" y="3062478"/>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9116567" y="3564636"/>
            <a:ext cx="0" cy="13716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4" name="Rectangle 293"/>
          <p:cNvSpPr/>
          <p:nvPr/>
        </p:nvSpPr>
        <p:spPr>
          <a:xfrm>
            <a:off x="7882127" y="4096512"/>
            <a:ext cx="2468880" cy="237744"/>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Migration Executor</a:t>
            </a:r>
          </a:p>
        </p:txBody>
      </p:sp>
      <p:cxnSp>
        <p:nvCxnSpPr>
          <p:cNvPr id="295" name="Connector 294"/>
          <p:cNvCxnSpPr/>
          <p:nvPr/>
        </p:nvCxnSpPr>
        <p:spPr>
          <a:xfrm>
            <a:off x="9116567" y="4014215"/>
            <a:ext cx="0" cy="82297"/>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7708392" y="2889504"/>
            <a:ext cx="173735" cy="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7708392" y="3877056"/>
            <a:ext cx="173735" cy="0"/>
          </a:xfrm>
          <a:prstGeom prst="line">
            <a:avLst/>
          </a:prstGeom>
          <a:ln w="12700">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flipH="1">
            <a:off x="10351008" y="2889504"/>
            <a:ext cx="164592" cy="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H="1">
            <a:off x="10351008" y="3877056"/>
            <a:ext cx="164592" cy="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1" name="Connector 300"/>
          <p:cNvCxnSpPr>
            <a:stCxn id="283" idx="2"/>
          </p:cNvCxnSpPr>
          <p:nvPr/>
        </p:nvCxnSpPr>
        <p:spPr>
          <a:xfrm>
            <a:off x="11132820" y="4297680"/>
            <a:ext cx="0" cy="216654"/>
          </a:xfrm>
          <a:prstGeom prst="line">
            <a:avLst/>
          </a:prstGeom>
          <a:ln w="15875">
            <a:solidFill>
              <a:srgbClr val="C55A1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02" name="Rectangle 301"/>
          <p:cNvSpPr/>
          <p:nvPr/>
        </p:nvSpPr>
        <p:spPr>
          <a:xfrm>
            <a:off x="7947661" y="4526280"/>
            <a:ext cx="3933444" cy="27432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err="1">
                <a:solidFill>
                  <a:srgbClr val="FFFFFF"/>
                </a:solidFill>
                <a:latin typeface="맑은 고딕"/>
                <a:ea typeface="맑은 고딕"/>
              </a:rPr>
              <a:t>공통</a:t>
            </a:r>
            <a:r>
              <a:rPr sz="800" b="1" dirty="0">
                <a:solidFill>
                  <a:srgbClr val="FFFFFF"/>
                </a:solidFill>
                <a:latin typeface="맑은 고딕"/>
                <a:ea typeface="맑은 고딕"/>
              </a:rPr>
              <a:t> Memory Backend I/F (Plug-in)</a:t>
            </a:r>
          </a:p>
        </p:txBody>
      </p:sp>
      <p:sp>
        <p:nvSpPr>
          <p:cNvPr id="304" name="Rectangle 303"/>
          <p:cNvSpPr/>
          <p:nvPr/>
        </p:nvSpPr>
        <p:spPr>
          <a:xfrm>
            <a:off x="7960374" y="4881511"/>
            <a:ext cx="4246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HBM</a:t>
            </a:r>
          </a:p>
        </p:txBody>
      </p:sp>
      <p:cxnSp>
        <p:nvCxnSpPr>
          <p:cNvPr id="305" name="Connector 304"/>
          <p:cNvCxnSpPr/>
          <p:nvPr/>
        </p:nvCxnSpPr>
        <p:spPr>
          <a:xfrm>
            <a:off x="8172720" y="4790071"/>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06" name="Rectangle 305"/>
          <p:cNvSpPr/>
          <p:nvPr/>
        </p:nvSpPr>
        <p:spPr>
          <a:xfrm>
            <a:off x="8458098" y="4881511"/>
            <a:ext cx="4246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ScHBM</a:t>
            </a:r>
          </a:p>
        </p:txBody>
      </p:sp>
      <p:cxnSp>
        <p:nvCxnSpPr>
          <p:cNvPr id="307" name="Connector 306"/>
          <p:cNvCxnSpPr/>
          <p:nvPr/>
        </p:nvCxnSpPr>
        <p:spPr>
          <a:xfrm>
            <a:off x="8670444" y="4790071"/>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08" name="Rectangle 307"/>
          <p:cNvSpPr/>
          <p:nvPr/>
        </p:nvSpPr>
        <p:spPr>
          <a:xfrm>
            <a:off x="8955822" y="4892040"/>
            <a:ext cx="4246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DRAM</a:t>
            </a:r>
          </a:p>
        </p:txBody>
      </p:sp>
      <p:cxnSp>
        <p:nvCxnSpPr>
          <p:cNvPr id="309" name="Connector 308"/>
          <p:cNvCxnSpPr/>
          <p:nvPr/>
        </p:nvCxnSpPr>
        <p:spPr>
          <a:xfrm>
            <a:off x="9168168"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0" name="Rectangle 309"/>
          <p:cNvSpPr/>
          <p:nvPr/>
        </p:nvSpPr>
        <p:spPr>
          <a:xfrm>
            <a:off x="9453546" y="4892040"/>
            <a:ext cx="4246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CXL-</a:t>
            </a:r>
            <a:endParaRPr lang="en-US" sz="800" b="1" dirty="0">
              <a:solidFill>
                <a:srgbClr val="1A1A1A"/>
              </a:solidFill>
              <a:latin typeface="맑은 고딕"/>
              <a:ea typeface="맑은 고딕"/>
            </a:endParaRPr>
          </a:p>
          <a:p>
            <a:pPr algn="ctr"/>
            <a:r>
              <a:rPr sz="800" b="1" dirty="0">
                <a:solidFill>
                  <a:srgbClr val="1A1A1A"/>
                </a:solidFill>
                <a:latin typeface="맑은 고딕"/>
                <a:ea typeface="맑은 고딕"/>
              </a:rPr>
              <a:t>PNM</a:t>
            </a:r>
          </a:p>
        </p:txBody>
      </p:sp>
      <p:cxnSp>
        <p:nvCxnSpPr>
          <p:cNvPr id="311" name="Connector 310"/>
          <p:cNvCxnSpPr/>
          <p:nvPr/>
        </p:nvCxnSpPr>
        <p:spPr>
          <a:xfrm>
            <a:off x="9665892"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2" name="Rectangle 311"/>
          <p:cNvSpPr/>
          <p:nvPr/>
        </p:nvSpPr>
        <p:spPr>
          <a:xfrm>
            <a:off x="9951270" y="4892040"/>
            <a:ext cx="4246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HBF</a:t>
            </a:r>
          </a:p>
        </p:txBody>
      </p:sp>
      <p:cxnSp>
        <p:nvCxnSpPr>
          <p:cNvPr id="313" name="Connector 312"/>
          <p:cNvCxnSpPr/>
          <p:nvPr/>
        </p:nvCxnSpPr>
        <p:spPr>
          <a:xfrm>
            <a:off x="10163616"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4" name="Rectangle 313"/>
          <p:cNvSpPr/>
          <p:nvPr/>
        </p:nvSpPr>
        <p:spPr>
          <a:xfrm>
            <a:off x="10448994" y="4892040"/>
            <a:ext cx="424692" cy="274320"/>
          </a:xfrm>
          <a:prstGeom prst="rect">
            <a:avLst/>
          </a:prstGeom>
          <a:solidFill>
            <a:srgbClr val="E7E6E6"/>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1A1A1A"/>
                </a:solidFill>
                <a:latin typeface="맑은 고딕"/>
                <a:ea typeface="맑은 고딕"/>
              </a:rPr>
              <a:t>SSD</a:t>
            </a:r>
          </a:p>
        </p:txBody>
      </p:sp>
      <p:cxnSp>
        <p:nvCxnSpPr>
          <p:cNvPr id="315" name="Connector 314"/>
          <p:cNvCxnSpPr/>
          <p:nvPr/>
        </p:nvCxnSpPr>
        <p:spPr>
          <a:xfrm>
            <a:off x="10661340"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6" name="Rectangle 315"/>
          <p:cNvSpPr/>
          <p:nvPr/>
        </p:nvSpPr>
        <p:spPr>
          <a:xfrm>
            <a:off x="10946718" y="4892040"/>
            <a:ext cx="424692" cy="274320"/>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dirty="0">
                <a:solidFill>
                  <a:srgbClr val="1A1A1A"/>
                </a:solidFill>
                <a:latin typeface="맑은 고딕"/>
                <a:ea typeface="맑은 고딕"/>
              </a:rPr>
              <a:t>SSD-</a:t>
            </a:r>
            <a:endParaRPr lang="en-US" sz="800" b="1" dirty="0">
              <a:solidFill>
                <a:srgbClr val="1A1A1A"/>
              </a:solidFill>
              <a:latin typeface="맑은 고딕"/>
              <a:ea typeface="맑은 고딕"/>
            </a:endParaRPr>
          </a:p>
          <a:p>
            <a:pPr algn="ctr"/>
            <a:r>
              <a:rPr sz="800" b="1" dirty="0">
                <a:solidFill>
                  <a:srgbClr val="1A1A1A"/>
                </a:solidFill>
                <a:latin typeface="맑은 고딕"/>
                <a:ea typeface="맑은 고딕"/>
              </a:rPr>
              <a:t>PIM</a:t>
            </a:r>
          </a:p>
        </p:txBody>
      </p:sp>
      <p:cxnSp>
        <p:nvCxnSpPr>
          <p:cNvPr id="317" name="Connector 316"/>
          <p:cNvCxnSpPr/>
          <p:nvPr/>
        </p:nvCxnSpPr>
        <p:spPr>
          <a:xfrm>
            <a:off x="11159064"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18" name="Rectangle 317"/>
          <p:cNvSpPr/>
          <p:nvPr/>
        </p:nvSpPr>
        <p:spPr>
          <a:xfrm>
            <a:off x="11444444" y="4892040"/>
            <a:ext cx="424692" cy="274320"/>
          </a:xfrm>
          <a:prstGeom prst="rect">
            <a:avLst/>
          </a:prstGeom>
          <a:solidFill>
            <a:srgbClr val="FFFFFF"/>
          </a:solidFill>
          <a:ln w="952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800" b="1">
                <a:solidFill>
                  <a:srgbClr val="C55A11"/>
                </a:solidFill>
                <a:latin typeface="맑은 고딕"/>
                <a:ea typeface="맑은 고딕"/>
              </a:rPr>
              <a:t>+ New</a:t>
            </a:r>
          </a:p>
        </p:txBody>
      </p:sp>
      <p:cxnSp>
        <p:nvCxnSpPr>
          <p:cNvPr id="319" name="Connector 318"/>
          <p:cNvCxnSpPr/>
          <p:nvPr/>
        </p:nvCxnSpPr>
        <p:spPr>
          <a:xfrm>
            <a:off x="11656790" y="4800600"/>
            <a:ext cx="0" cy="9144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320" name="Rectangle 319"/>
          <p:cNvSpPr/>
          <p:nvPr/>
        </p:nvSpPr>
        <p:spPr>
          <a:xfrm>
            <a:off x="9948672" y="5257800"/>
            <a:ext cx="146304" cy="109728"/>
          </a:xfrm>
          <a:prstGeom prst="rect">
            <a:avLst/>
          </a:prstGeom>
          <a:solidFill>
            <a:srgbClr val="FBE5D6"/>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321" name="TextBox 320"/>
          <p:cNvSpPr txBox="1"/>
          <p:nvPr/>
        </p:nvSpPr>
        <p:spPr>
          <a:xfrm>
            <a:off x="10131552" y="5258803"/>
            <a:ext cx="731520" cy="107722"/>
          </a:xfrm>
          <a:prstGeom prst="rect">
            <a:avLst/>
          </a:prstGeom>
          <a:noFill/>
        </p:spPr>
        <p:txBody>
          <a:bodyPr wrap="square" lIns="0" tIns="0" rIns="0" bIns="0" anchor="ctr">
            <a:spAutoFit/>
          </a:bodyPr>
          <a:lstStyle/>
          <a:p>
            <a:pPr algn="l"/>
            <a:r>
              <a:rPr sz="700" b="0">
                <a:solidFill>
                  <a:srgbClr val="595959"/>
                </a:solidFill>
                <a:latin typeface="맑은 고딕"/>
                <a:ea typeface="맑은 고딕"/>
              </a:rPr>
              <a:t>신규 메모리</a:t>
            </a:r>
          </a:p>
        </p:txBody>
      </p:sp>
      <p:sp>
        <p:nvSpPr>
          <p:cNvPr id="322" name="Rectangle 321"/>
          <p:cNvSpPr/>
          <p:nvPr/>
        </p:nvSpPr>
        <p:spPr>
          <a:xfrm>
            <a:off x="10908792" y="5257800"/>
            <a:ext cx="146304" cy="109728"/>
          </a:xfrm>
          <a:prstGeom prst="rect">
            <a:avLst/>
          </a:prstGeom>
          <a:solidFill>
            <a:srgbClr val="E7E6E6"/>
          </a:solidFill>
          <a:ln w="635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endParaRPr sz="2000"/>
          </a:p>
        </p:txBody>
      </p:sp>
      <p:sp>
        <p:nvSpPr>
          <p:cNvPr id="323" name="TextBox 322"/>
          <p:cNvSpPr txBox="1"/>
          <p:nvPr/>
        </p:nvSpPr>
        <p:spPr>
          <a:xfrm>
            <a:off x="11091672" y="5258803"/>
            <a:ext cx="731520" cy="107722"/>
          </a:xfrm>
          <a:prstGeom prst="rect">
            <a:avLst/>
          </a:prstGeom>
          <a:noFill/>
        </p:spPr>
        <p:txBody>
          <a:bodyPr wrap="square" lIns="0" tIns="0" rIns="0" bIns="0" anchor="ctr">
            <a:spAutoFit/>
          </a:bodyPr>
          <a:lstStyle/>
          <a:p>
            <a:pPr algn="l"/>
            <a:r>
              <a:rPr sz="700" b="0">
                <a:solidFill>
                  <a:srgbClr val="595959"/>
                </a:solidFill>
                <a:latin typeface="맑은 고딕"/>
                <a:ea typeface="맑은 고딕"/>
              </a:rPr>
              <a:t>기존 메모리</a:t>
            </a:r>
          </a:p>
        </p:txBody>
      </p:sp>
      <p:sp>
        <p:nvSpPr>
          <p:cNvPr id="116" name="Rectangle 262">
            <a:extLst>
              <a:ext uri="{FF2B5EF4-FFF2-40B4-BE49-F238E27FC236}">
                <a16:creationId xmlns:a16="http://schemas.microsoft.com/office/drawing/2014/main" id="{5E5E24D5-DD07-4B93-AB37-DDD32A3A2D27}"/>
              </a:ext>
            </a:extLst>
          </p:cNvPr>
          <p:cNvSpPr/>
          <p:nvPr/>
        </p:nvSpPr>
        <p:spPr>
          <a:xfrm>
            <a:off x="502920"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Scheduler</a:t>
            </a:r>
          </a:p>
        </p:txBody>
      </p:sp>
      <p:sp>
        <p:nvSpPr>
          <p:cNvPr id="117" name="Rectangle 263">
            <a:extLst>
              <a:ext uri="{FF2B5EF4-FFF2-40B4-BE49-F238E27FC236}">
                <a16:creationId xmlns:a16="http://schemas.microsoft.com/office/drawing/2014/main" id="{74394127-A72E-4631-A782-D747A9EDD11B}"/>
              </a:ext>
            </a:extLst>
          </p:cNvPr>
          <p:cNvSpPr/>
          <p:nvPr/>
        </p:nvSpPr>
        <p:spPr>
          <a:xfrm>
            <a:off x="1901952"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Cache </a:t>
            </a:r>
            <a:r>
              <a:rPr sz="900" b="1" dirty="0" err="1">
                <a:solidFill>
                  <a:srgbClr val="1A1A1A"/>
                </a:solidFill>
                <a:latin typeface="맑은 고딕"/>
                <a:ea typeface="맑은 고딕"/>
              </a:rPr>
              <a:t>M</a:t>
            </a:r>
            <a:r>
              <a:rPr lang="en-US" sz="900" b="1" dirty="0" err="1">
                <a:solidFill>
                  <a:srgbClr val="1A1A1A"/>
                </a:solidFill>
                <a:latin typeface="맑은 고딕"/>
                <a:ea typeface="맑은 고딕"/>
              </a:rPr>
              <a:t>gr</a:t>
            </a:r>
            <a:endParaRPr sz="900" b="1" dirty="0">
              <a:solidFill>
                <a:srgbClr val="1A1A1A"/>
              </a:solidFill>
              <a:latin typeface="맑은 고딕"/>
              <a:ea typeface="맑은 고딕"/>
            </a:endParaRPr>
          </a:p>
        </p:txBody>
      </p:sp>
      <p:sp>
        <p:nvSpPr>
          <p:cNvPr id="118" name="Rectangle 264">
            <a:extLst>
              <a:ext uri="{FF2B5EF4-FFF2-40B4-BE49-F238E27FC236}">
                <a16:creationId xmlns:a16="http://schemas.microsoft.com/office/drawing/2014/main" id="{0EE1B332-E102-4A40-9243-E6E92E237C41}"/>
              </a:ext>
            </a:extLst>
          </p:cNvPr>
          <p:cNvSpPr/>
          <p:nvPr/>
        </p:nvSpPr>
        <p:spPr>
          <a:xfrm>
            <a:off x="3300984" y="1345886"/>
            <a:ext cx="987552"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00" b="1" dirty="0">
                <a:solidFill>
                  <a:srgbClr val="1A1A1A"/>
                </a:solidFill>
                <a:latin typeface="맑은 고딕"/>
                <a:ea typeface="맑은 고딕"/>
              </a:rPr>
              <a:t>KV Connector</a:t>
            </a:r>
          </a:p>
        </p:txBody>
      </p:sp>
      <p:sp>
        <p:nvSpPr>
          <p:cNvPr id="119" name="Rectangle 266">
            <a:extLst>
              <a:ext uri="{FF2B5EF4-FFF2-40B4-BE49-F238E27FC236}">
                <a16:creationId xmlns:a16="http://schemas.microsoft.com/office/drawing/2014/main" id="{A3BC80FB-7FE1-4783-895D-524998D7C601}"/>
              </a:ext>
            </a:extLst>
          </p:cNvPr>
          <p:cNvSpPr/>
          <p:nvPr/>
        </p:nvSpPr>
        <p:spPr>
          <a:xfrm>
            <a:off x="4700016" y="1345886"/>
            <a:ext cx="1051560" cy="274320"/>
          </a:xfrm>
          <a:prstGeom prst="rect">
            <a:avLst/>
          </a:prstGeom>
          <a:solidFill>
            <a:srgbClr val="DAE3F3"/>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900" b="1" dirty="0">
                <a:solidFill>
                  <a:srgbClr val="1A1A1A"/>
                </a:solidFill>
                <a:latin typeface="맑은 고딕"/>
                <a:ea typeface="맑은 고딕"/>
              </a:rPr>
              <a:t>Model Runner</a:t>
            </a:r>
            <a:endParaRPr sz="900" b="1" dirty="0">
              <a:solidFill>
                <a:srgbClr val="1A1A1A"/>
              </a:solidFill>
              <a:latin typeface="맑은 고딕"/>
              <a:ea typeface="맑은 고딕"/>
            </a:endParaRPr>
          </a:p>
        </p:txBody>
      </p:sp>
      <p:sp>
        <p:nvSpPr>
          <p:cNvPr id="109" name="직사각형 108"/>
          <p:cNvSpPr/>
          <p:nvPr/>
        </p:nvSpPr>
        <p:spPr>
          <a:xfrm>
            <a:off x="6521412" y="46469"/>
            <a:ext cx="1487330" cy="461665"/>
          </a:xfrm>
          <a:prstGeom prst="rect">
            <a:avLst/>
          </a:prstGeom>
        </p:spPr>
        <p:txBody>
          <a:bodyPr wrap="none">
            <a:spAutoFit/>
          </a:bodyPr>
          <a:lstStyle/>
          <a:p>
            <a:r>
              <a:rPr lang="en-US" altLang="ko-KR" sz="1200" b="1" dirty="0"/>
              <a:t>(When, What, </a:t>
            </a:r>
          </a:p>
          <a:p>
            <a:r>
              <a:rPr lang="en-US" altLang="ko-KR" sz="1200" b="1" dirty="0"/>
              <a:t>Where to locate?)</a:t>
            </a:r>
            <a:endParaRPr lang="ko-KR" altLang="en-US" sz="1200" dirty="0"/>
          </a:p>
        </p:txBody>
      </p:sp>
      <p:grpSp>
        <p:nvGrpSpPr>
          <p:cNvPr id="6" name="그룹 5"/>
          <p:cNvGrpSpPr/>
          <p:nvPr/>
        </p:nvGrpSpPr>
        <p:grpSpPr>
          <a:xfrm>
            <a:off x="457200" y="1877338"/>
            <a:ext cx="5347717" cy="1283431"/>
            <a:chOff x="450606" y="5726265"/>
            <a:chExt cx="5347717" cy="1411774"/>
          </a:xfrm>
        </p:grpSpPr>
        <p:grpSp>
          <p:nvGrpSpPr>
            <p:cNvPr id="2" name="그룹 1"/>
            <p:cNvGrpSpPr/>
            <p:nvPr/>
          </p:nvGrpSpPr>
          <p:grpSpPr>
            <a:xfrm>
              <a:off x="450606" y="5726265"/>
              <a:ext cx="5347717" cy="1411774"/>
              <a:chOff x="429768" y="1188720"/>
              <a:chExt cx="5347717" cy="1411774"/>
            </a:xfrm>
          </p:grpSpPr>
          <p:sp>
            <p:nvSpPr>
              <p:cNvPr id="123" name="asis frame"/>
              <p:cNvSpPr/>
              <p:nvPr/>
            </p:nvSpPr>
            <p:spPr>
              <a:xfrm>
                <a:off x="429768" y="1188720"/>
                <a:ext cx="5347717" cy="1411774"/>
              </a:xfrm>
              <a:prstGeom prst="rect">
                <a:avLst/>
              </a:prstGeom>
              <a:noFill/>
              <a:ln w="12700">
                <a:solidFill>
                  <a:srgbClr val="7F7F7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125" name="Scheduler + KVCacheManager"/>
              <p:cNvSpPr/>
              <p:nvPr/>
            </p:nvSpPr>
            <p:spPr>
              <a:xfrm>
                <a:off x="627357" y="1753911"/>
                <a:ext cx="903271" cy="4572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850" b="1" dirty="0">
                    <a:solidFill>
                      <a:schemeClr val="tx1"/>
                    </a:solidFill>
                  </a:rPr>
                  <a:t>Scheduler</a:t>
                </a:r>
                <a:endParaRPr lang="ko-KR" altLang="en-US" sz="750" dirty="0">
                  <a:solidFill>
                    <a:schemeClr val="tx1"/>
                  </a:solidFill>
                </a:endParaRPr>
              </a:p>
            </p:txBody>
          </p:sp>
          <p:cxnSp>
            <p:nvCxnSpPr>
              <p:cNvPr id="130" name="a1"/>
              <p:cNvCxnSpPr/>
              <p:nvPr/>
            </p:nvCxnSpPr>
            <p:spPr>
              <a:xfrm>
                <a:off x="1666908" y="1982512"/>
                <a:ext cx="320040" cy="0"/>
              </a:xfrm>
              <a:prstGeom prst="line">
                <a:avLst/>
              </a:prstGeom>
              <a:ln w="12700">
                <a:solidFill>
                  <a:schemeClr val="tx1"/>
                </a:solidFill>
                <a:prstDash val="dash"/>
                <a:tailEnd type="arrow"/>
              </a:ln>
            </p:spPr>
          </p:cxnSp>
          <p:sp>
            <p:nvSpPr>
              <p:cNvPr id="136" name="Scheduler + KVCacheManager"/>
              <p:cNvSpPr/>
              <p:nvPr/>
            </p:nvSpPr>
            <p:spPr>
              <a:xfrm>
                <a:off x="2148991" y="1492427"/>
                <a:ext cx="1732828" cy="100464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t">
                <a:noAutofit/>
              </a:bodyPr>
              <a:lstStyle/>
              <a:p>
                <a:pPr algn="ctr"/>
                <a:r>
                  <a:rPr lang="en-US" altLang="ko-KR" sz="850" b="1" dirty="0">
                    <a:solidFill>
                      <a:schemeClr val="tx1"/>
                    </a:solidFill>
                  </a:rPr>
                  <a:t>Block Manager</a:t>
                </a:r>
                <a:endParaRPr lang="ko-KR" altLang="en-US" sz="750" dirty="0">
                  <a:solidFill>
                    <a:schemeClr val="tx1"/>
                  </a:solidFill>
                </a:endParaRPr>
              </a:p>
            </p:txBody>
          </p:sp>
          <p:sp>
            <p:nvSpPr>
              <p:cNvPr id="137" name="Scheduler + KVCacheManager"/>
              <p:cNvSpPr/>
              <p:nvPr/>
            </p:nvSpPr>
            <p:spPr>
              <a:xfrm>
                <a:off x="2340695" y="1762863"/>
                <a:ext cx="1331251" cy="62058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t">
                <a:noAutofit/>
              </a:bodyPr>
              <a:lstStyle/>
              <a:p>
                <a:pPr algn="ctr">
                  <a:lnSpc>
                    <a:spcPct val="150000"/>
                  </a:lnSpc>
                </a:pPr>
                <a:r>
                  <a:rPr lang="en-US" altLang="ko-KR" sz="850" b="1" dirty="0">
                    <a:solidFill>
                      <a:schemeClr val="tx1"/>
                    </a:solidFill>
                  </a:rPr>
                  <a:t>Block Table</a:t>
                </a:r>
              </a:p>
              <a:p>
                <a:pPr algn="ctr"/>
                <a:r>
                  <a:rPr lang="en-US" altLang="ko-KR" sz="850" b="1" dirty="0">
                    <a:solidFill>
                      <a:schemeClr val="tx1"/>
                    </a:solidFill>
                  </a:rPr>
                  <a:t>Logical Block ID </a:t>
                </a:r>
                <a:r>
                  <a:rPr lang="en-US" altLang="ko-KR" sz="850" b="1" dirty="0">
                    <a:solidFill>
                      <a:schemeClr val="tx1"/>
                    </a:solidFill>
                    <a:latin typeface="맑은 고딕" panose="020B0503020000020004" pitchFamily="50" charset="-127"/>
                    <a:ea typeface="맑은 고딕" panose="020B0503020000020004" pitchFamily="50" charset="-127"/>
                  </a:rPr>
                  <a:t>→</a:t>
                </a:r>
                <a:endParaRPr lang="en-US" altLang="ko-KR" sz="850" b="1" dirty="0">
                  <a:solidFill>
                    <a:schemeClr val="tx1"/>
                  </a:solidFill>
                </a:endParaRPr>
              </a:p>
              <a:p>
                <a:pPr algn="ctr"/>
                <a:r>
                  <a:rPr lang="en-US" altLang="ko-KR" sz="850" b="1" dirty="0">
                    <a:solidFill>
                      <a:schemeClr val="tx1"/>
                    </a:solidFill>
                  </a:rPr>
                  <a:t>Physical Block ID</a:t>
                </a:r>
                <a:endParaRPr lang="ko-KR" altLang="en-US" sz="750" dirty="0">
                  <a:solidFill>
                    <a:schemeClr val="tx1"/>
                  </a:solidFill>
                </a:endParaRPr>
              </a:p>
            </p:txBody>
          </p:sp>
          <p:cxnSp>
            <p:nvCxnSpPr>
              <p:cNvPr id="138" name="a1"/>
              <p:cNvCxnSpPr/>
              <p:nvPr/>
            </p:nvCxnSpPr>
            <p:spPr>
              <a:xfrm>
                <a:off x="4017640" y="2014460"/>
                <a:ext cx="320040" cy="0"/>
              </a:xfrm>
              <a:prstGeom prst="line">
                <a:avLst/>
              </a:prstGeom>
              <a:ln w="12700">
                <a:solidFill>
                  <a:schemeClr val="tx1"/>
                </a:solidFill>
                <a:prstDash val="dash"/>
                <a:tailEnd type="arrow"/>
              </a:ln>
            </p:spPr>
          </p:cxnSp>
          <p:sp>
            <p:nvSpPr>
              <p:cNvPr id="139" name="Scheduler + KVCacheManager"/>
              <p:cNvSpPr/>
              <p:nvPr/>
            </p:nvSpPr>
            <p:spPr>
              <a:xfrm>
                <a:off x="4414496" y="1785859"/>
                <a:ext cx="1202254" cy="4572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850" b="1" dirty="0">
                    <a:solidFill>
                      <a:schemeClr val="tx1"/>
                    </a:solidFill>
                  </a:rPr>
                  <a:t>GPU Physical </a:t>
                </a:r>
              </a:p>
              <a:p>
                <a:pPr algn="ctr"/>
                <a:r>
                  <a:rPr lang="en-US" altLang="ko-KR" sz="850" b="1" dirty="0">
                    <a:solidFill>
                      <a:schemeClr val="tx1"/>
                    </a:solidFill>
                  </a:rPr>
                  <a:t>Block Allocator</a:t>
                </a:r>
                <a:endParaRPr lang="ko-KR" altLang="en-US" sz="750" dirty="0">
                  <a:solidFill>
                    <a:schemeClr val="tx1"/>
                  </a:solidFill>
                </a:endParaRPr>
              </a:p>
            </p:txBody>
          </p:sp>
        </p:grpSp>
        <p:sp>
          <p:nvSpPr>
            <p:cNvPr id="135" name="AsIs TextBox 507"/>
            <p:cNvSpPr txBox="1"/>
            <p:nvPr/>
          </p:nvSpPr>
          <p:spPr>
            <a:xfrm>
              <a:off x="523758" y="5742747"/>
              <a:ext cx="2144458" cy="287076"/>
            </a:xfrm>
            <a:prstGeom prst="rect">
              <a:avLst/>
            </a:prstGeom>
            <a:noFill/>
          </p:spPr>
          <p:txBody>
            <a:bodyPr wrap="square" lIns="0" tIns="0" rIns="0" bIns="0" anchor="ctr"/>
            <a:lstStyle/>
            <a:p>
              <a:pPr algn="l"/>
              <a:r>
                <a:rPr lang="en-US" altLang="ko-KR" sz="900" b="1" dirty="0" err="1">
                  <a:latin typeface="맑은 고딕"/>
                  <a:ea typeface="맑은 고딕"/>
                </a:rPr>
                <a:t>vLLM</a:t>
              </a:r>
              <a:r>
                <a:rPr lang="ko-KR" altLang="en-US" sz="900" b="1" dirty="0">
                  <a:latin typeface="맑은 고딕"/>
                  <a:ea typeface="맑은 고딕"/>
                </a:rPr>
                <a:t>은 </a:t>
              </a:r>
              <a:r>
                <a:rPr lang="en-US" altLang="ko-KR" sz="900" b="1" dirty="0">
                  <a:latin typeface="맑은 고딕"/>
                  <a:ea typeface="맑은 고딕"/>
                </a:rPr>
                <a:t>HBM </a:t>
              </a:r>
              <a:r>
                <a:rPr lang="ko-KR" altLang="en-US" sz="900" b="1" dirty="0">
                  <a:latin typeface="맑은 고딕"/>
                  <a:ea typeface="맑은 고딕"/>
                </a:rPr>
                <a:t>단일 계층 전체 </a:t>
              </a:r>
              <a:endParaRPr lang="ko-KR" sz="900" b="1" dirty="0">
                <a:latin typeface="맑은 고딕"/>
                <a:ea typeface="맑은 고딕"/>
              </a:endParaRPr>
            </a:p>
          </p:txBody>
        </p:sp>
        <p:sp>
          <p:nvSpPr>
            <p:cNvPr id="140" name="AsIs TextBox 507"/>
            <p:cNvSpPr txBox="1"/>
            <p:nvPr/>
          </p:nvSpPr>
          <p:spPr>
            <a:xfrm>
              <a:off x="1671193" y="6528705"/>
              <a:ext cx="430726" cy="287076"/>
            </a:xfrm>
            <a:prstGeom prst="rect">
              <a:avLst/>
            </a:prstGeom>
            <a:noFill/>
          </p:spPr>
          <p:txBody>
            <a:bodyPr wrap="square" lIns="0" tIns="0" rIns="0" bIns="0" anchor="ctr"/>
            <a:lstStyle/>
            <a:p>
              <a:pPr algn="l"/>
              <a:r>
                <a:rPr lang="en-US" altLang="ko-KR" sz="700" dirty="0" err="1">
                  <a:solidFill>
                    <a:schemeClr val="bg1">
                      <a:lumMod val="50000"/>
                    </a:schemeClr>
                  </a:solidFill>
                  <a:latin typeface="맑은 고딕"/>
                  <a:ea typeface="맑은 고딕"/>
                </a:rPr>
                <a:t>Alloc</a:t>
              </a:r>
              <a:r>
                <a:rPr lang="en-US" altLang="ko-KR" sz="700" dirty="0">
                  <a:solidFill>
                    <a:schemeClr val="bg1">
                      <a:lumMod val="50000"/>
                    </a:schemeClr>
                  </a:solidFill>
                  <a:latin typeface="맑은 고딕"/>
                  <a:ea typeface="맑은 고딕"/>
                </a:rPr>
                <a:t>/free</a:t>
              </a:r>
              <a:endParaRPr lang="ko-KR" sz="700" dirty="0">
                <a:solidFill>
                  <a:schemeClr val="bg1">
                    <a:lumMod val="50000"/>
                  </a:schemeClr>
                </a:solidFill>
                <a:latin typeface="맑은 고딕"/>
                <a:ea typeface="맑은 고딕"/>
              </a:endParaRPr>
            </a:p>
          </p:txBody>
        </p:sp>
      </p:grpSp>
      <p:sp>
        <p:nvSpPr>
          <p:cNvPr id="142" name="Rectangle 301"/>
          <p:cNvSpPr/>
          <p:nvPr/>
        </p:nvSpPr>
        <p:spPr>
          <a:xfrm>
            <a:off x="6422136" y="4526280"/>
            <a:ext cx="1450848" cy="274320"/>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lang="en-US" sz="900" b="1" dirty="0">
                <a:solidFill>
                  <a:srgbClr val="1A1A1A"/>
                </a:solidFill>
                <a:latin typeface="맑은 고딕"/>
                <a:ea typeface="맑은 고딕"/>
              </a:rPr>
              <a:t>Transfer Handler</a:t>
            </a:r>
            <a:endParaRPr sz="900" b="1" dirty="0">
              <a:solidFill>
                <a:srgbClr val="1A1A1A"/>
              </a:solidFill>
              <a:latin typeface="맑은 고딕"/>
              <a:ea typeface="맑은 고딕"/>
            </a:endParaRPr>
          </a:p>
        </p:txBody>
      </p:sp>
      <p:cxnSp>
        <p:nvCxnSpPr>
          <p:cNvPr id="150" name="Connector 294"/>
          <p:cNvCxnSpPr>
            <a:stCxn id="294" idx="2"/>
            <a:endCxn id="142" idx="0"/>
          </p:cNvCxnSpPr>
          <p:nvPr/>
        </p:nvCxnSpPr>
        <p:spPr>
          <a:xfrm rot="5400000">
            <a:off x="8036052" y="3445765"/>
            <a:ext cx="192024" cy="1969007"/>
          </a:xfrm>
          <a:prstGeom prst="bentConnector3">
            <a:avLst>
              <a:gd name="adj1" fmla="val 50000"/>
            </a:avLst>
          </a:prstGeom>
          <a:ln w="12700">
            <a:solidFill>
              <a:schemeClr val="bg1">
                <a:lumMod val="50000"/>
              </a:schemeClr>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 name="AsIs TextBox 507"/>
          <p:cNvSpPr txBox="1"/>
          <p:nvPr/>
        </p:nvSpPr>
        <p:spPr>
          <a:xfrm>
            <a:off x="6453342" y="4731680"/>
            <a:ext cx="1470153" cy="389430"/>
          </a:xfrm>
          <a:prstGeom prst="rect">
            <a:avLst/>
          </a:prstGeom>
          <a:noFill/>
        </p:spPr>
        <p:txBody>
          <a:bodyPr wrap="square" lIns="0" tIns="0" rIns="0" bIns="0" anchor="ctr"/>
          <a:lstStyle/>
          <a:p>
            <a:r>
              <a:rPr lang="en-US" altLang="ko-KR" sz="700" dirty="0">
                <a:solidFill>
                  <a:schemeClr val="bg1">
                    <a:lumMod val="50000"/>
                  </a:schemeClr>
                </a:solidFill>
                <a:ea typeface="맑은 고딕"/>
              </a:rPr>
              <a:t>logical block id → </a:t>
            </a:r>
            <a:r>
              <a:rPr lang="ko-KR" altLang="en-US" sz="700" dirty="0">
                <a:solidFill>
                  <a:schemeClr val="bg1">
                    <a:lumMod val="50000"/>
                  </a:schemeClr>
                </a:solidFill>
                <a:ea typeface="맑은 고딕"/>
              </a:rPr>
              <a:t>물리 위치 이동 </a:t>
            </a:r>
            <a:endParaRPr lang="en-US" altLang="ko-KR" sz="700" dirty="0">
              <a:solidFill>
                <a:schemeClr val="bg1">
                  <a:lumMod val="50000"/>
                </a:schemeClr>
              </a:solidFill>
              <a:ea typeface="맑은 고딕"/>
            </a:endParaRPr>
          </a:p>
        </p:txBody>
      </p:sp>
    </p:spTree>
    <p:extLst>
      <p:ext uri="{BB962C8B-B14F-4D97-AF65-F5344CB8AC3E}">
        <p14:creationId xmlns:p14="http://schemas.microsoft.com/office/powerpoint/2010/main" val="1597622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33151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206272">
                  <a:extLst>
                    <a:ext uri="{9D8B030D-6E8A-4147-A177-3AD203B41FA5}">
                      <a16:colId xmlns:a16="http://schemas.microsoft.com/office/drawing/2014/main" val="5654497"/>
                    </a:ext>
                  </a:extLst>
                </a:gridCol>
                <a:gridCol w="2229782">
                  <a:extLst>
                    <a:ext uri="{9D8B030D-6E8A-4147-A177-3AD203B41FA5}">
                      <a16:colId xmlns:a16="http://schemas.microsoft.com/office/drawing/2014/main" val="2953438935"/>
                    </a:ext>
                  </a:extLst>
                </a:gridCol>
                <a:gridCol w="3389968">
                  <a:extLst>
                    <a:ext uri="{9D8B030D-6E8A-4147-A177-3AD203B41FA5}">
                      <a16:colId xmlns:a16="http://schemas.microsoft.com/office/drawing/2014/main" val="3070054508"/>
                    </a:ext>
                  </a:extLst>
                </a:gridCol>
                <a:gridCol w="204608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메모리</a:t>
                      </a:r>
                      <a:r>
                        <a:rPr lang="en-US" altLang="ko-KR" sz="1200" b="1" strike="noStrike" baseline="0" dirty="0"/>
                        <a:t> </a:t>
                      </a:r>
                      <a:r>
                        <a:rPr lang="ko-KR" altLang="en-US" sz="1200" b="1" strike="noStrike" baseline="0" dirty="0"/>
                        <a:t>자원 상태 기반 이동 </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AI Data </a:t>
                      </a:r>
                      <a:r>
                        <a:rPr lang="ko-KR" altLang="en-US" sz="1200" b="1" strike="noStrike" baseline="0" dirty="0"/>
                        <a:t>특성 기반 이동 </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낮은 </a:t>
                      </a:r>
                      <a:r>
                        <a:rPr lang="en-US" altLang="ko-KR" sz="1200" strike="noStrike" kern="1200" baseline="0" dirty="0">
                          <a:solidFill>
                            <a:schemeClr val="tx1"/>
                          </a:solidFill>
                          <a:effectLst/>
                          <a:latin typeface="+mn-lt"/>
                          <a:ea typeface="+mn-ea"/>
                          <a:cs typeface="+mn-cs"/>
                        </a:rPr>
                        <a:t>Decision overhead </a:t>
                      </a:r>
                      <a:r>
                        <a:rPr lang="ko-KR" altLang="en-US" sz="1200" strike="noStrike" kern="1200" baseline="0" dirty="0">
                          <a:solidFill>
                            <a:schemeClr val="tx1"/>
                          </a:solidFill>
                          <a:effectLst/>
                          <a:latin typeface="+mn-lt"/>
                          <a:ea typeface="+mn-ea"/>
                          <a:cs typeface="+mn-cs"/>
                        </a:rPr>
                        <a:t>및 </a:t>
                      </a:r>
                      <a:r>
                        <a:rPr lang="en-US" altLang="ko-KR" sz="1200" strike="noStrike" kern="1200" baseline="0" dirty="0">
                          <a:solidFill>
                            <a:schemeClr val="tx1"/>
                          </a:solidFill>
                          <a:effectLst/>
                          <a:latin typeface="+mn-lt"/>
                          <a:ea typeface="+mn-ea"/>
                          <a:cs typeface="+mn-cs"/>
                        </a:rPr>
                        <a:t>Resource state</a:t>
                      </a:r>
                      <a:r>
                        <a:rPr lang="ko-KR" altLang="en-US" sz="1200" strike="noStrike" kern="1200" baseline="0" dirty="0">
                          <a:solidFill>
                            <a:schemeClr val="tx1"/>
                          </a:solidFill>
                          <a:effectLst/>
                          <a:latin typeface="+mn-lt"/>
                          <a:ea typeface="+mn-ea"/>
                          <a:cs typeface="+mn-cs"/>
                        </a:rPr>
                        <a:t> 변화에 즉시 반응</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전체 메모리</a:t>
                      </a:r>
                      <a:r>
                        <a:rPr lang="en-US" altLang="ko-KR" sz="1200" strike="noStrike" kern="1200" baseline="0" dirty="0">
                          <a:solidFill>
                            <a:schemeClr val="tx1"/>
                          </a:solidFill>
                          <a:effectLst/>
                          <a:latin typeface="+mn-lt"/>
                          <a:ea typeface="+mn-ea"/>
                          <a:cs typeface="+mn-cs"/>
                        </a:rPr>
                        <a:t> Pool</a:t>
                      </a:r>
                      <a:r>
                        <a:rPr lang="ko-KR" altLang="en-US" sz="1200" strike="noStrike" kern="1200" baseline="0" dirty="0">
                          <a:solidFill>
                            <a:schemeClr val="tx1"/>
                          </a:solidFill>
                          <a:effectLst/>
                          <a:latin typeface="+mn-lt"/>
                          <a:ea typeface="+mn-ea"/>
                          <a:cs typeface="+mn-cs"/>
                        </a:rPr>
                        <a:t>의 </a:t>
                      </a:r>
                      <a:r>
                        <a:rPr lang="en-US" altLang="ko-KR" sz="1200" strike="noStrike" kern="1200" baseline="0" dirty="0">
                          <a:solidFill>
                            <a:schemeClr val="tx1"/>
                          </a:solidFill>
                          <a:effectLst/>
                          <a:latin typeface="+mn-lt"/>
                          <a:ea typeface="+mn-ea"/>
                          <a:cs typeface="+mn-cs"/>
                        </a:rPr>
                        <a:t>Utilization </a:t>
                      </a:r>
                      <a:r>
                        <a:rPr lang="ko-KR" altLang="en-US" sz="1200" strike="noStrike" kern="1200" baseline="0" dirty="0">
                          <a:solidFill>
                            <a:schemeClr val="tx1"/>
                          </a:solidFill>
                          <a:effectLst/>
                          <a:latin typeface="+mn-lt"/>
                          <a:ea typeface="+mn-ea"/>
                          <a:cs typeface="+mn-cs"/>
                        </a:rPr>
                        <a:t>관리에 유리 </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Data </a:t>
                      </a:r>
                      <a:r>
                        <a:rPr lang="ko-KR" altLang="en-US" sz="1200" strike="noStrike" dirty="0">
                          <a:solidFill>
                            <a:schemeClr val="tx1"/>
                          </a:solidFill>
                          <a:effectLst/>
                        </a:rPr>
                        <a:t>종류 별 </a:t>
                      </a:r>
                      <a:r>
                        <a:rPr lang="en-US" altLang="ko-KR" sz="1200" strike="noStrike" dirty="0">
                          <a:solidFill>
                            <a:schemeClr val="tx1"/>
                          </a:solidFill>
                          <a:effectLst/>
                        </a:rPr>
                        <a:t>Access </a:t>
                      </a:r>
                      <a:r>
                        <a:rPr lang="ko-KR" altLang="en-US" sz="1200" strike="noStrike" dirty="0">
                          <a:solidFill>
                            <a:schemeClr val="tx1"/>
                          </a:solidFill>
                          <a:effectLst/>
                        </a:rPr>
                        <a:t>특성에 맞는 </a:t>
                      </a:r>
                      <a:r>
                        <a:rPr lang="en-US" altLang="ko-KR" sz="1200" strike="noStrike" dirty="0">
                          <a:solidFill>
                            <a:schemeClr val="tx1"/>
                          </a:solidFill>
                          <a:effectLst/>
                        </a:rPr>
                        <a:t>Fine-grained </a:t>
                      </a:r>
                      <a:r>
                        <a:rPr lang="ko-KR" altLang="en-US" sz="1200" strike="noStrike" dirty="0">
                          <a:solidFill>
                            <a:schemeClr val="tx1"/>
                          </a:solidFill>
                          <a:effectLst/>
                        </a:rPr>
                        <a:t>배치 가능</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고속</a:t>
                      </a:r>
                      <a:r>
                        <a:rPr lang="en-US" altLang="ko-KR" sz="1200" strike="noStrike" dirty="0">
                          <a:solidFill>
                            <a:schemeClr val="tx1"/>
                          </a:solidFill>
                          <a:effectLst/>
                        </a:rPr>
                        <a:t>(High</a:t>
                      </a:r>
                      <a:r>
                        <a:rPr lang="en-US" altLang="ko-KR" sz="1200" strike="noStrike" baseline="0" dirty="0">
                          <a:solidFill>
                            <a:schemeClr val="tx1"/>
                          </a:solidFill>
                          <a:effectLst/>
                        </a:rPr>
                        <a:t> tier)</a:t>
                      </a:r>
                      <a:r>
                        <a:rPr lang="ko-KR" altLang="en-US" sz="1200" strike="noStrike" dirty="0">
                          <a:solidFill>
                            <a:schemeClr val="tx1"/>
                          </a:solidFill>
                          <a:effectLst/>
                        </a:rPr>
                        <a:t> 메모리의 불필요한 점유 감소 가능</a:t>
                      </a:r>
                      <a:endParaRPr lang="en-US" altLang="ko-KR" sz="1200" strike="noStrike"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Data</a:t>
                      </a:r>
                      <a:r>
                        <a:rPr lang="ko-KR" altLang="en-US" sz="1200" strike="noStrike" baseline="0" dirty="0">
                          <a:solidFill>
                            <a:schemeClr val="tx1"/>
                          </a:solidFill>
                          <a:effectLst/>
                        </a:rPr>
                        <a:t>별 접근 특성 반영 한계 </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solidFill>
                            <a:schemeClr val="tx1"/>
                          </a:solidFill>
                          <a:effectLst/>
                        </a:rPr>
                        <a:t>동일한 </a:t>
                      </a:r>
                      <a:r>
                        <a:rPr lang="en-US" altLang="ko-KR" sz="1200" strike="noStrike" baseline="0" dirty="0">
                          <a:solidFill>
                            <a:schemeClr val="tx1"/>
                          </a:solidFill>
                          <a:effectLst/>
                        </a:rPr>
                        <a:t>Resource state</a:t>
                      </a:r>
                      <a:r>
                        <a:rPr lang="ko-KR" altLang="en-US" sz="1200" strike="noStrike" baseline="0" dirty="0">
                          <a:solidFill>
                            <a:schemeClr val="tx1"/>
                          </a:solidFill>
                          <a:effectLst/>
                        </a:rPr>
                        <a:t>에서 서로 다른 </a:t>
                      </a:r>
                      <a:r>
                        <a:rPr lang="en-US" altLang="ko-KR" sz="1200" strike="noStrike" baseline="0" dirty="0">
                          <a:solidFill>
                            <a:schemeClr val="tx1"/>
                          </a:solidFill>
                          <a:effectLst/>
                        </a:rPr>
                        <a:t>Data</a:t>
                      </a:r>
                      <a:r>
                        <a:rPr lang="ko-KR" altLang="en-US" sz="1200" strike="noStrike" baseline="0" dirty="0">
                          <a:solidFill>
                            <a:schemeClr val="tx1"/>
                          </a:solidFill>
                          <a:effectLst/>
                        </a:rPr>
                        <a:t>의 </a:t>
                      </a:r>
                      <a:r>
                        <a:rPr lang="en-US" altLang="ko-KR" sz="1200" strike="noStrike" baseline="0" dirty="0">
                          <a:solidFill>
                            <a:schemeClr val="tx1"/>
                          </a:solidFill>
                          <a:effectLst/>
                        </a:rPr>
                        <a:t>Access pattern </a:t>
                      </a:r>
                      <a:r>
                        <a:rPr lang="ko-KR" altLang="en-US" sz="1200" strike="noStrike" baseline="0" dirty="0">
                          <a:solidFill>
                            <a:schemeClr val="tx1"/>
                          </a:solidFill>
                          <a:effectLst/>
                        </a:rPr>
                        <a:t>구분 한계 </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en-US" altLang="ko-KR" sz="1200" strike="noStrike" baseline="0" dirty="0">
                          <a:solidFill>
                            <a:schemeClr val="tx1"/>
                          </a:solidFill>
                          <a:effectLst/>
                        </a:rPr>
                        <a:t>Data </a:t>
                      </a:r>
                      <a:r>
                        <a:rPr lang="ko-KR" altLang="en-US" sz="1200" strike="noStrike" baseline="0" dirty="0">
                          <a:solidFill>
                            <a:schemeClr val="tx1"/>
                          </a:solidFill>
                          <a:effectLst/>
                        </a:rPr>
                        <a:t>종류 별 </a:t>
                      </a:r>
                      <a:r>
                        <a:rPr lang="en-US" altLang="ko-KR" sz="1200" strike="noStrike" baseline="0" dirty="0">
                          <a:solidFill>
                            <a:schemeClr val="tx1"/>
                          </a:solidFill>
                          <a:effectLst/>
                        </a:rPr>
                        <a:t>Characterization </a:t>
                      </a:r>
                      <a:r>
                        <a:rPr lang="ko-KR" altLang="en-US" sz="1200" strike="noStrike" baseline="0" dirty="0">
                          <a:solidFill>
                            <a:schemeClr val="tx1"/>
                          </a:solidFill>
                          <a:effectLst/>
                        </a:rPr>
                        <a:t>및 </a:t>
                      </a:r>
                      <a:r>
                        <a:rPr lang="en-US" altLang="ko-KR" sz="1200" strike="noStrike" baseline="0" dirty="0">
                          <a:solidFill>
                            <a:schemeClr val="tx1"/>
                          </a:solidFill>
                          <a:effectLst/>
                        </a:rPr>
                        <a:t>Pattern </a:t>
                      </a:r>
                      <a:r>
                        <a:rPr lang="ko-KR" altLang="en-US" sz="1200" strike="noStrike" baseline="0" dirty="0">
                          <a:solidFill>
                            <a:schemeClr val="tx1"/>
                          </a:solidFill>
                          <a:effectLst/>
                        </a:rPr>
                        <a:t>예측을 위한 </a:t>
                      </a:r>
                      <a:r>
                        <a:rPr lang="en-US" altLang="ko-KR" sz="1200" strike="noStrike" baseline="0" dirty="0">
                          <a:solidFill>
                            <a:schemeClr val="tx1"/>
                          </a:solidFill>
                          <a:effectLst/>
                        </a:rPr>
                        <a:t>Overhead </a:t>
                      </a:r>
                      <a:r>
                        <a:rPr lang="ko-KR" altLang="en-US" sz="1200" strike="noStrike" baseline="0" dirty="0">
                          <a:solidFill>
                            <a:schemeClr val="tx1"/>
                          </a:solidFill>
                          <a:effectLst/>
                        </a:rPr>
                        <a:t>증가</a:t>
                      </a: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예측 오류 시 </a:t>
                      </a:r>
                      <a:r>
                        <a:rPr lang="en-US" altLang="ko-KR" sz="1200" strike="noStrike" baseline="0" dirty="0" err="1">
                          <a:solidFill>
                            <a:schemeClr val="tx1"/>
                          </a:solidFill>
                          <a:effectLst/>
                        </a:rPr>
                        <a:t>Mis</a:t>
                      </a:r>
                      <a:r>
                        <a:rPr lang="en-US" altLang="ko-KR" sz="1200" strike="noStrike" baseline="0" dirty="0">
                          <a:solidFill>
                            <a:schemeClr val="tx1"/>
                          </a:solidFill>
                          <a:effectLst/>
                        </a:rPr>
                        <a:t>-placement </a:t>
                      </a:r>
                      <a:r>
                        <a:rPr lang="ko-KR" altLang="en-US" sz="1200" strike="noStrike" baseline="0" dirty="0">
                          <a:solidFill>
                            <a:schemeClr val="tx1"/>
                          </a:solidFill>
                          <a:effectLst/>
                        </a:rPr>
                        <a:t>가능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541238">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 </a:t>
                      </a:r>
                      <a:r>
                        <a:rPr lang="en-US" altLang="ko-KR" sz="12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 </a:t>
                      </a:r>
                      <a:r>
                        <a:rPr lang="en-US" altLang="ko-KR" sz="1200" b="0" strike="noStrike" dirty="0">
                          <a:solidFill>
                            <a:schemeClr val="tx1"/>
                          </a:solidFill>
                        </a:rPr>
                        <a:t>(</a:t>
                      </a:r>
                      <a:r>
                        <a:rPr lang="en-US" altLang="ko-KR" sz="1200" b="0" strike="noStrike" dirty="0" err="1">
                          <a:solidFill>
                            <a:schemeClr val="tx1"/>
                          </a:solidFill>
                        </a:rPr>
                        <a:t>ms</a:t>
                      </a:r>
                      <a:r>
                        <a:rPr lang="en-US" altLang="ko-KR" sz="12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 (HBM </a:t>
                      </a:r>
                      <a:r>
                        <a:rPr lang="ko-KR" altLang="en-US" sz="1200" b="0" strike="noStrike" dirty="0">
                          <a:solidFill>
                            <a:schemeClr val="tx1"/>
                          </a:solidFill>
                        </a:rPr>
                        <a:t>사용량 </a:t>
                      </a:r>
                      <a:r>
                        <a:rPr lang="en-US" altLang="ko-KR" sz="1200" b="0" strike="noStrike" dirty="0">
                          <a:solidFill>
                            <a:schemeClr val="tx1"/>
                          </a:solidFill>
                        </a:rPr>
                        <a:t>GiB)</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 (module, M/M, </a:t>
                      </a:r>
                      <a:r>
                        <a:rPr lang="ko-KR" altLang="en-US" sz="1200" b="0" strike="noStrike" dirty="0">
                          <a:solidFill>
                            <a:schemeClr val="tx1"/>
                          </a:solidFill>
                        </a:rPr>
                        <a:t>토큰 비용</a:t>
                      </a:r>
                      <a:r>
                        <a:rPr lang="en-US" altLang="ko-KR" sz="1200" b="0" strike="noStrike" dirty="0">
                          <a:solidFill>
                            <a:schemeClr val="tx1"/>
                          </a:solidFill>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b="0" strike="noStrike" baseline="0" dirty="0">
                          <a:solidFill>
                            <a:schemeClr val="tx1"/>
                          </a:solidFill>
                          <a:latin typeface="맑은 고딕" panose="020B0503020000020004" pitchFamily="50" charset="-127"/>
                          <a:ea typeface="+mn-ea"/>
                        </a:rPr>
                        <a:t> </a:t>
                      </a:r>
                      <a:r>
                        <a:rPr lang="en-US" altLang="ko-KR" sz="1200" b="0" strike="noStrike" baseline="0" dirty="0">
                          <a:solidFill>
                            <a:schemeClr val="tx1"/>
                          </a:solidFill>
                          <a:latin typeface="맑은 고딕" panose="020B0503020000020004" pitchFamily="50" charset="-127"/>
                          <a:ea typeface="+mn-ea"/>
                        </a:rPr>
                        <a:t>354</a:t>
                      </a:r>
                      <a:r>
                        <a:rPr lang="en-US" altLang="ko-KR" sz="1000" strike="noStrike" baseline="0" dirty="0">
                          <a:solidFill>
                            <a:schemeClr val="tx1"/>
                          </a:solidFill>
                          <a:latin typeface="맑은 고딕" panose="020B0503020000020004" pitchFamily="50" charset="-127"/>
                          <a:ea typeface="+mn-ea"/>
                        </a:rPr>
                        <a:t>(x1.05)</a:t>
                      </a:r>
                      <a:endParaRPr lang="en-US" altLang="ko-KR" sz="105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1,372</a:t>
                      </a:r>
                      <a:r>
                        <a:rPr lang="en-US" altLang="ko-KR" sz="1000" strike="noStrike" baseline="0" dirty="0">
                          <a:solidFill>
                            <a:schemeClr val="tx1"/>
                          </a:solidFill>
                          <a:latin typeface="맑은 고딕" panose="020B0503020000020004" pitchFamily="50" charset="-127"/>
                          <a:ea typeface="+mn-ea"/>
                        </a:rPr>
                        <a:t>(x1.27),</a:t>
                      </a:r>
                      <a:r>
                        <a:rPr lang="en-US" altLang="ko-KR" sz="1200" strike="noStrike" baseline="0" dirty="0">
                          <a:solidFill>
                            <a:schemeClr val="tx1"/>
                          </a:solidFill>
                          <a:latin typeface="맑은 고딕" panose="020B0503020000020004" pitchFamily="50" charset="-127"/>
                          <a:ea typeface="+mn-ea"/>
                        </a:rPr>
                        <a:t>18.2</a:t>
                      </a:r>
                      <a:r>
                        <a:rPr lang="en-US" altLang="ko-KR" sz="1000" strike="noStrike" baseline="0" dirty="0">
                          <a:solidFill>
                            <a:schemeClr val="tx1"/>
                          </a:solidFill>
                          <a:latin typeface="맑은 고딕" panose="020B0503020000020004" pitchFamily="50" charset="-127"/>
                          <a:ea typeface="+mn-ea"/>
                        </a:rPr>
                        <a:t>(x1.06)</a:t>
                      </a:r>
                      <a:endParaRPr lang="en-US" altLang="ko-KR" sz="10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144.6</a:t>
                      </a:r>
                      <a:r>
                        <a:rPr lang="en-US" altLang="ko-KR" sz="1000" strike="noStrike" dirty="0">
                          <a:solidFill>
                            <a:schemeClr val="tx1"/>
                          </a:solidFill>
                          <a:latin typeface="맑은 고딕" panose="020B0503020000020004" pitchFamily="50" charset="-127"/>
                          <a:ea typeface="+mn-ea"/>
                        </a:rPr>
                        <a:t>(x0.99)</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1.75, 0.38, $1.16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 </a:t>
                      </a:r>
                      <a:r>
                        <a:rPr lang="en-US" altLang="ko-KR" sz="12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 </a:t>
                      </a:r>
                      <a:r>
                        <a:rPr lang="en-US" altLang="ko-KR" sz="1200" b="0" strike="noStrike" dirty="0">
                          <a:solidFill>
                            <a:schemeClr val="tx1"/>
                          </a:solidFill>
                        </a:rPr>
                        <a:t>(</a:t>
                      </a:r>
                      <a:r>
                        <a:rPr lang="en-US" altLang="ko-KR" sz="1200" b="0" strike="noStrike" dirty="0" err="1">
                          <a:solidFill>
                            <a:schemeClr val="tx1"/>
                          </a:solidFill>
                        </a:rPr>
                        <a:t>ms</a:t>
                      </a:r>
                      <a:r>
                        <a:rPr lang="en-US" altLang="ko-KR" sz="12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 (HBM </a:t>
                      </a:r>
                      <a:r>
                        <a:rPr lang="ko-KR" altLang="en-US" sz="1200" b="0" strike="noStrike" dirty="0">
                          <a:solidFill>
                            <a:schemeClr val="tx1"/>
                          </a:solidFill>
                        </a:rPr>
                        <a:t>사용량 </a:t>
                      </a:r>
                      <a:r>
                        <a:rPr lang="en-US" altLang="ko-KR" sz="1200" b="0" strike="noStrike" dirty="0">
                          <a:solidFill>
                            <a:schemeClr val="tx1"/>
                          </a:solidFill>
                        </a:rPr>
                        <a:t>GiB)</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 (module, M/M, </a:t>
                      </a:r>
                      <a:r>
                        <a:rPr lang="ko-KR" altLang="en-US" sz="1200" b="0" strike="noStrike" dirty="0">
                          <a:solidFill>
                            <a:schemeClr val="tx1"/>
                          </a:solidFill>
                        </a:rPr>
                        <a:t>토큰 비용</a:t>
                      </a:r>
                      <a:r>
                        <a:rPr lang="en-US" altLang="ko-KR" sz="1200" b="0" strike="noStrike" dirty="0">
                          <a:solidFill>
                            <a:schemeClr val="tx1"/>
                          </a:solidFill>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478</a:t>
                      </a:r>
                      <a:r>
                        <a:rPr lang="en-US" altLang="ko-KR" sz="1000" strike="noStrike" baseline="0" dirty="0">
                          <a:solidFill>
                            <a:schemeClr val="tx1"/>
                          </a:solidFill>
                          <a:latin typeface="맑은 고딕" panose="020B0503020000020004" pitchFamily="50" charset="-127"/>
                          <a:ea typeface="+mn-ea"/>
                        </a:rPr>
                        <a:t>(x1.42)</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785</a:t>
                      </a:r>
                      <a:r>
                        <a:rPr lang="en-US" altLang="ko-KR" sz="1000" strike="noStrike" dirty="0">
                          <a:solidFill>
                            <a:schemeClr val="tx1"/>
                          </a:solidFill>
                          <a:latin typeface="맑은 고딕" panose="020B0503020000020004" pitchFamily="50" charset="-127"/>
                          <a:ea typeface="+mn-ea"/>
                        </a:rPr>
                        <a:t>(x0.72)</a:t>
                      </a:r>
                      <a:r>
                        <a:rPr lang="en-US" altLang="ko-KR" sz="1200" strike="noStrike" dirty="0">
                          <a:solidFill>
                            <a:schemeClr val="tx1"/>
                          </a:solidFill>
                          <a:latin typeface="맑은 고딕" panose="020B0503020000020004" pitchFamily="50" charset="-127"/>
                          <a:ea typeface="+mn-ea"/>
                        </a:rPr>
                        <a:t>,16.0</a:t>
                      </a:r>
                      <a:r>
                        <a:rPr lang="en-US" altLang="ko-KR" sz="1000" strike="noStrike" dirty="0">
                          <a:solidFill>
                            <a:schemeClr val="tx1"/>
                          </a:solidFill>
                          <a:latin typeface="맑은 고딕" panose="020B0503020000020004" pitchFamily="50" charset="-127"/>
                          <a:ea typeface="+mn-ea"/>
                        </a:rPr>
                        <a:t>(x0.94)</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178</a:t>
                      </a:r>
                      <a:r>
                        <a:rPr lang="en-US" altLang="ko-KR" sz="1000" strike="noStrike" dirty="0">
                          <a:solidFill>
                            <a:schemeClr val="tx1"/>
                          </a:solidFill>
                          <a:latin typeface="맑은 고딕" panose="020B0503020000020004" pitchFamily="50" charset="-127"/>
                          <a:ea typeface="+mn-ea"/>
                        </a:rPr>
                        <a:t>(x1.21)</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 </a:t>
                      </a:r>
                      <a:r>
                        <a:rPr lang="en-US" altLang="ko-KR" sz="1200" b="0" dirty="0">
                          <a:solidFill>
                            <a:srgbClr val="1A1A1A"/>
                          </a:solidFill>
                          <a:latin typeface="+mn-lt"/>
                          <a:ea typeface="맑은 고딕"/>
                        </a:rPr>
                        <a:t>2.50, 0.51, $1.49</a:t>
                      </a:r>
                      <a:endParaRPr lang="en-US" altLang="ko-KR" sz="1200" strike="noStrike" dirty="0">
                        <a:solidFill>
                          <a:prstClr val="black"/>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DP1. </a:t>
            </a:r>
            <a:r>
              <a:rPr lang="ko-KR" altLang="en-US" dirty="0"/>
              <a:t>이기종 메모리 기반 </a:t>
            </a:r>
            <a:r>
              <a:rPr lang="en-US" altLang="ko-KR" dirty="0"/>
              <a:t>Data Migration</a:t>
            </a:r>
            <a:r>
              <a:rPr lang="ko-KR" altLang="en-US" dirty="0"/>
              <a:t> 결정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a:solidFill>
                  <a:schemeClr val="bg1"/>
                </a:solidFill>
              </a:rPr>
              <a:t>이기종 메모리 환경에서 언제</a:t>
            </a:r>
            <a:r>
              <a:rPr lang="en-US" altLang="ko-KR" sz="1400" b="1" dirty="0">
                <a:solidFill>
                  <a:schemeClr val="bg1"/>
                </a:solidFill>
              </a:rPr>
              <a:t>, </a:t>
            </a:r>
            <a:r>
              <a:rPr lang="ko-KR" altLang="en-US" sz="1400" b="1" dirty="0">
                <a:solidFill>
                  <a:schemeClr val="bg1"/>
                </a:solidFill>
              </a:rPr>
              <a:t>무엇을</a:t>
            </a:r>
            <a:r>
              <a:rPr lang="en-US" altLang="ko-KR" sz="1400" b="1" dirty="0">
                <a:solidFill>
                  <a:schemeClr val="bg1"/>
                </a:solidFill>
              </a:rPr>
              <a:t>, </a:t>
            </a:r>
            <a:r>
              <a:rPr lang="ko-KR" altLang="en-US" sz="1400" b="1" dirty="0">
                <a:solidFill>
                  <a:schemeClr val="bg1"/>
                </a:solidFill>
              </a:rPr>
              <a:t>어느 </a:t>
            </a:r>
            <a:r>
              <a:rPr lang="en-US" altLang="ko-KR" sz="1400" b="1" dirty="0">
                <a:solidFill>
                  <a:schemeClr val="bg1"/>
                </a:solidFill>
              </a:rPr>
              <a:t>memory tier</a:t>
            </a:r>
            <a:r>
              <a:rPr lang="ko-KR" altLang="en-US" sz="1400" b="1" dirty="0">
                <a:solidFill>
                  <a:schemeClr val="bg1"/>
                </a:solidFill>
              </a:rPr>
              <a:t>로 이동할지 결정 </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3</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“Data</a:t>
            </a:r>
            <a:r>
              <a:rPr lang="ko-KR" altLang="en-US" sz="1100" dirty="0"/>
              <a:t> 종류 관계없이 </a:t>
            </a:r>
            <a:r>
              <a:rPr lang="ko-KR" altLang="en-US" sz="1100" dirty="0">
                <a:solidFill>
                  <a:srgbClr val="0066FF"/>
                </a:solidFill>
              </a:rPr>
              <a:t>메모리</a:t>
            </a:r>
            <a:r>
              <a:rPr lang="en-US" altLang="ko-KR" sz="1100" dirty="0">
                <a:solidFill>
                  <a:srgbClr val="0066FF"/>
                </a:solidFill>
              </a:rPr>
              <a:t> </a:t>
            </a:r>
            <a:r>
              <a:rPr lang="ko-KR" altLang="en-US" sz="1100" dirty="0">
                <a:solidFill>
                  <a:srgbClr val="0066FF"/>
                </a:solidFill>
              </a:rPr>
              <a:t>자원 상태</a:t>
            </a:r>
            <a:r>
              <a:rPr lang="en-US" altLang="ko-KR" sz="1100" dirty="0">
                <a:solidFill>
                  <a:srgbClr val="0066FF"/>
                </a:solidFill>
              </a:rPr>
              <a:t>(Capacity/BW/Load)</a:t>
            </a:r>
            <a:r>
              <a:rPr lang="ko-KR" altLang="en-US" sz="1100" dirty="0"/>
              <a:t>에 우선한 </a:t>
            </a:r>
            <a:r>
              <a:rPr lang="en-US" altLang="ko-KR" sz="1100" dirty="0"/>
              <a:t>Migration“</a:t>
            </a:r>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a:t>
            </a:r>
            <a:r>
              <a:rPr lang="en-US" altLang="ko-KR" sz="1100" dirty="0">
                <a:solidFill>
                  <a:srgbClr val="0066FF"/>
                </a:solidFill>
              </a:rPr>
              <a:t>AI Data</a:t>
            </a:r>
            <a:r>
              <a:rPr lang="ko-KR" altLang="en-US" sz="1100" dirty="0">
                <a:solidFill>
                  <a:srgbClr val="0066FF"/>
                </a:solidFill>
              </a:rPr>
              <a:t> 특성</a:t>
            </a:r>
            <a:r>
              <a:rPr lang="en-US" altLang="ko-KR" sz="1100" dirty="0">
                <a:solidFill>
                  <a:srgbClr val="0066FF"/>
                </a:solidFill>
              </a:rPr>
              <a:t>(Type/Hotness/Lifetime/Agent Tool Info </a:t>
            </a:r>
            <a:r>
              <a:rPr lang="ko-KR" altLang="en-US" sz="1100" dirty="0">
                <a:solidFill>
                  <a:srgbClr val="0066FF"/>
                </a:solidFill>
              </a:rPr>
              <a:t>등</a:t>
            </a:r>
            <a:r>
              <a:rPr lang="en-US" altLang="ko-KR" sz="1100" dirty="0">
                <a:solidFill>
                  <a:srgbClr val="0066FF"/>
                </a:solidFill>
              </a:rPr>
              <a:t>)</a:t>
            </a:r>
            <a:r>
              <a:rPr lang="ko-KR" altLang="en-US" sz="1100" dirty="0"/>
              <a:t>에 우선한 </a:t>
            </a:r>
            <a:r>
              <a:rPr lang="en-US" altLang="ko-KR" sz="1100" dirty="0"/>
              <a:t>Migration“</a:t>
            </a:r>
            <a:endParaRPr lang="ko-KR" altLang="en-US" sz="1100" dirty="0"/>
          </a:p>
        </p:txBody>
      </p:sp>
      <p:sp>
        <p:nvSpPr>
          <p:cNvPr id="140" name="직사각형 139"/>
          <p:cNvSpPr/>
          <p:nvPr/>
        </p:nvSpPr>
        <p:spPr>
          <a:xfrm>
            <a:off x="6521412" y="46469"/>
            <a:ext cx="1487330" cy="461665"/>
          </a:xfrm>
          <a:prstGeom prst="rect">
            <a:avLst/>
          </a:prstGeom>
        </p:spPr>
        <p:txBody>
          <a:bodyPr wrap="none">
            <a:spAutoFit/>
          </a:bodyPr>
          <a:lstStyle/>
          <a:p>
            <a:r>
              <a:rPr lang="en-US" altLang="ko-KR" sz="1200" b="1" dirty="0"/>
              <a:t>(When, What, </a:t>
            </a:r>
          </a:p>
          <a:p>
            <a:r>
              <a:rPr lang="en-US" altLang="ko-KR" sz="1200" b="1" dirty="0"/>
              <a:t>Where to locate?)</a:t>
            </a:r>
            <a:endParaRPr lang="ko-KR" altLang="en-US" sz="1200" dirty="0"/>
          </a:p>
        </p:txBody>
      </p:sp>
      <p:sp>
        <p:nvSpPr>
          <p:cNvPr id="118" name="DecisionPlane"/>
          <p:cNvSpPr/>
          <p:nvPr/>
        </p:nvSpPr>
        <p:spPr>
          <a:xfrm>
            <a:off x="1335759" y="1959311"/>
            <a:ext cx="4919889" cy="584687"/>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Control Plane</a:t>
            </a:r>
            <a:endParaRPr lang="ko-KR" altLang="en-US" sz="1000" b="1" dirty="0">
              <a:solidFill>
                <a:schemeClr val="tx1"/>
              </a:solidFill>
            </a:endParaRPr>
          </a:p>
        </p:txBody>
      </p:sp>
      <p:sp>
        <p:nvSpPr>
          <p:cNvPr id="119" name="DecisionPlane tab"/>
          <p:cNvSpPr/>
          <p:nvPr/>
        </p:nvSpPr>
        <p:spPr>
          <a:xfrm>
            <a:off x="1335759" y="1853363"/>
            <a:ext cx="251696" cy="109458"/>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grpSp>
        <p:nvGrpSpPr>
          <p:cNvPr id="6" name="그룹 5"/>
          <p:cNvGrpSpPr/>
          <p:nvPr/>
        </p:nvGrpSpPr>
        <p:grpSpPr>
          <a:xfrm>
            <a:off x="1368902" y="2642127"/>
            <a:ext cx="2323127" cy="1571272"/>
            <a:chOff x="997398" y="2494119"/>
            <a:chExt cx="2436693" cy="2061682"/>
          </a:xfrm>
        </p:grpSpPr>
        <p:sp>
          <p:nvSpPr>
            <p:cNvPr id="114" name="DecisionPlane"/>
            <p:cNvSpPr/>
            <p:nvPr/>
          </p:nvSpPr>
          <p:spPr>
            <a:xfrm>
              <a:off x="997399" y="2621986"/>
              <a:ext cx="2436692" cy="1933815"/>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Resource Plane</a:t>
              </a:r>
              <a:endParaRPr lang="ko-KR" altLang="en-US" sz="1000" b="1" dirty="0">
                <a:solidFill>
                  <a:schemeClr val="tx1"/>
                </a:solidFill>
              </a:endParaRPr>
            </a:p>
          </p:txBody>
        </p:sp>
        <p:sp>
          <p:nvSpPr>
            <p:cNvPr id="115" name="DecisionPlane tab"/>
            <p:cNvSpPr/>
            <p:nvPr/>
          </p:nvSpPr>
          <p:spPr>
            <a:xfrm>
              <a:off x="997398" y="2494119"/>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122" name="KV Cache Manager"/>
            <p:cNvSpPr/>
            <p:nvPr/>
          </p:nvSpPr>
          <p:spPr>
            <a:xfrm>
              <a:off x="1439913" y="2950432"/>
              <a:ext cx="1550000" cy="30909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Resource State Monitor</a:t>
              </a:r>
              <a:endParaRPr lang="ko-KR" altLang="en-US" sz="900" b="1" dirty="0">
                <a:solidFill>
                  <a:schemeClr val="tx1"/>
                </a:solidFill>
              </a:endParaRPr>
            </a:p>
          </p:txBody>
        </p:sp>
        <p:sp>
          <p:nvSpPr>
            <p:cNvPr id="123" name="KV Cache Manager"/>
            <p:cNvSpPr/>
            <p:nvPr/>
          </p:nvSpPr>
          <p:spPr>
            <a:xfrm>
              <a:off x="1508045" y="3811725"/>
              <a:ext cx="1409091" cy="28099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Telemetry Collector</a:t>
              </a:r>
              <a:endParaRPr lang="ko-KR" altLang="en-US" sz="900" b="1" dirty="0">
                <a:solidFill>
                  <a:schemeClr val="tx1"/>
                </a:solidFill>
              </a:endParaRPr>
            </a:p>
          </p:txBody>
        </p:sp>
        <p:sp>
          <p:nvSpPr>
            <p:cNvPr id="124" name="KV Cache Manager"/>
            <p:cNvSpPr/>
            <p:nvPr/>
          </p:nvSpPr>
          <p:spPr>
            <a:xfrm>
              <a:off x="1508043" y="4201270"/>
              <a:ext cx="1409091" cy="28099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Memory Registry</a:t>
              </a:r>
              <a:endParaRPr lang="ko-KR" altLang="en-US" sz="900" b="1" dirty="0">
                <a:solidFill>
                  <a:schemeClr val="tx1"/>
                </a:solidFill>
              </a:endParaRPr>
            </a:p>
          </p:txBody>
        </p:sp>
        <p:sp>
          <p:nvSpPr>
            <p:cNvPr id="359" name="KV Cache Manager"/>
            <p:cNvSpPr/>
            <p:nvPr/>
          </p:nvSpPr>
          <p:spPr>
            <a:xfrm>
              <a:off x="1183388" y="3420196"/>
              <a:ext cx="2063051" cy="30909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Resource-based Trend Analyzer</a:t>
              </a:r>
              <a:endParaRPr lang="ko-KR" altLang="en-US" sz="900" b="1" dirty="0">
                <a:solidFill>
                  <a:schemeClr val="tx1"/>
                </a:solidFill>
              </a:endParaRPr>
            </a:p>
          </p:txBody>
        </p:sp>
      </p:grpSp>
      <p:sp>
        <p:nvSpPr>
          <p:cNvPr id="128" name="KV Cache Manager"/>
          <p:cNvSpPr/>
          <p:nvPr/>
        </p:nvSpPr>
        <p:spPr>
          <a:xfrm>
            <a:off x="4617258" y="2201857"/>
            <a:ext cx="1475872" cy="25826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Policy Engine</a:t>
            </a:r>
            <a:endParaRPr lang="ko-KR" altLang="en-US" sz="900" b="1" dirty="0">
              <a:solidFill>
                <a:schemeClr val="tx1"/>
              </a:solidFill>
            </a:endParaRPr>
          </a:p>
        </p:txBody>
      </p:sp>
      <p:sp>
        <p:nvSpPr>
          <p:cNvPr id="129" name="KV Cache Manager"/>
          <p:cNvSpPr/>
          <p:nvPr/>
        </p:nvSpPr>
        <p:spPr>
          <a:xfrm>
            <a:off x="1495682" y="2183542"/>
            <a:ext cx="1528573" cy="25826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Scheduler</a:t>
            </a:r>
            <a:endParaRPr lang="ko-KR" altLang="en-US" sz="900" b="1" dirty="0">
              <a:solidFill>
                <a:schemeClr val="tx1"/>
              </a:solidFill>
            </a:endParaRPr>
          </a:p>
        </p:txBody>
      </p:sp>
      <p:grpSp>
        <p:nvGrpSpPr>
          <p:cNvPr id="9" name="그룹 8"/>
          <p:cNvGrpSpPr/>
          <p:nvPr/>
        </p:nvGrpSpPr>
        <p:grpSpPr>
          <a:xfrm>
            <a:off x="4314807" y="3220929"/>
            <a:ext cx="1858865" cy="1214998"/>
            <a:chOff x="4168897" y="2550266"/>
            <a:chExt cx="1879320" cy="1837097"/>
          </a:xfrm>
        </p:grpSpPr>
        <p:sp>
          <p:nvSpPr>
            <p:cNvPr id="116" name="DecisionPlane"/>
            <p:cNvSpPr/>
            <p:nvPr/>
          </p:nvSpPr>
          <p:spPr>
            <a:xfrm>
              <a:off x="4168899" y="2678899"/>
              <a:ext cx="1879318" cy="1708464"/>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Data </a:t>
              </a:r>
              <a:r>
                <a:rPr lang="ko-KR" altLang="en-US" sz="1000" b="1" dirty="0" err="1">
                  <a:solidFill>
                    <a:schemeClr val="tx1"/>
                  </a:solidFill>
                </a:rPr>
                <a:t>Plane</a:t>
              </a:r>
              <a:endParaRPr lang="ko-KR" altLang="en-US" sz="1000" b="1" dirty="0">
                <a:solidFill>
                  <a:schemeClr val="tx1"/>
                </a:solidFill>
              </a:endParaRPr>
            </a:p>
          </p:txBody>
        </p:sp>
        <p:sp>
          <p:nvSpPr>
            <p:cNvPr id="117" name="DecisionPlane tab"/>
            <p:cNvSpPr/>
            <p:nvPr/>
          </p:nvSpPr>
          <p:spPr>
            <a:xfrm>
              <a:off x="4168897" y="2550266"/>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127" name="KV Cache Manager"/>
            <p:cNvSpPr/>
            <p:nvPr/>
          </p:nvSpPr>
          <p:spPr>
            <a:xfrm>
              <a:off x="4447534" y="3152142"/>
              <a:ext cx="1409091" cy="34000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Executor</a:t>
              </a:r>
              <a:endParaRPr lang="ko-KR" altLang="en-US" sz="900" b="1" dirty="0">
                <a:solidFill>
                  <a:schemeClr val="tx1"/>
                </a:solidFill>
              </a:endParaRPr>
            </a:p>
          </p:txBody>
        </p:sp>
        <p:sp>
          <p:nvSpPr>
            <p:cNvPr id="130" name="KV Cache Manager"/>
            <p:cNvSpPr/>
            <p:nvPr/>
          </p:nvSpPr>
          <p:spPr>
            <a:xfrm>
              <a:off x="4447534" y="3793018"/>
              <a:ext cx="1409091" cy="3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Transfer Handler</a:t>
              </a:r>
              <a:endParaRPr lang="ko-KR" altLang="en-US" sz="900" b="1" dirty="0">
                <a:solidFill>
                  <a:schemeClr val="tx1"/>
                </a:solidFill>
              </a:endParaRPr>
            </a:p>
          </p:txBody>
        </p:sp>
      </p:grpSp>
      <p:cxnSp>
        <p:nvCxnSpPr>
          <p:cNvPr id="137" name="① Event"/>
          <p:cNvCxnSpPr/>
          <p:nvPr/>
        </p:nvCxnSpPr>
        <p:spPr>
          <a:xfrm flipH="1">
            <a:off x="1955800" y="2440976"/>
            <a:ext cx="909" cy="534021"/>
          </a:xfrm>
          <a:prstGeom prst="line">
            <a:avLst/>
          </a:prstGeom>
          <a:ln w="9525">
            <a:solidFill>
              <a:schemeClr val="tx1"/>
            </a:solidFill>
            <a:prstDash val="dash"/>
            <a:tailEnd type="arrow"/>
          </a:ln>
        </p:spPr>
      </p:cxnSp>
      <p:cxnSp>
        <p:nvCxnSpPr>
          <p:cNvPr id="168" name="① Event"/>
          <p:cNvCxnSpPr/>
          <p:nvPr/>
        </p:nvCxnSpPr>
        <p:spPr>
          <a:xfrm>
            <a:off x="5668955" y="2449507"/>
            <a:ext cx="6208" cy="1187453"/>
          </a:xfrm>
          <a:prstGeom prst="line">
            <a:avLst/>
          </a:prstGeom>
          <a:ln w="9525">
            <a:solidFill>
              <a:schemeClr val="tx1"/>
            </a:solidFill>
            <a:prstDash val="dash"/>
            <a:tailEnd type="arrow"/>
          </a:ln>
        </p:spPr>
      </p:cxnSp>
      <p:cxnSp>
        <p:nvCxnSpPr>
          <p:cNvPr id="169" name="① Event"/>
          <p:cNvCxnSpPr>
            <a:stCxn id="359" idx="3"/>
            <a:endCxn id="128" idx="1"/>
          </p:cNvCxnSpPr>
          <p:nvPr/>
        </p:nvCxnSpPr>
        <p:spPr>
          <a:xfrm flipV="1">
            <a:off x="3513123" y="2330988"/>
            <a:ext cx="1104135" cy="1134716"/>
          </a:xfrm>
          <a:prstGeom prst="bentConnector3">
            <a:avLst>
              <a:gd name="adj1" fmla="val 50000"/>
            </a:avLst>
          </a:prstGeom>
          <a:ln w="9525">
            <a:solidFill>
              <a:schemeClr val="tx1"/>
            </a:solidFill>
            <a:prstDash val="dash"/>
            <a:tailEnd type="arrow"/>
          </a:ln>
        </p:spPr>
      </p:cxnSp>
      <p:cxnSp>
        <p:nvCxnSpPr>
          <p:cNvPr id="178" name="① Event"/>
          <p:cNvCxnSpPr>
            <a:stCxn id="127" idx="2"/>
            <a:endCxn id="130" idx="0"/>
          </p:cNvCxnSpPr>
          <p:nvPr/>
        </p:nvCxnSpPr>
        <p:spPr>
          <a:xfrm>
            <a:off x="5287288" y="3843859"/>
            <a:ext cx="0" cy="198990"/>
          </a:xfrm>
          <a:prstGeom prst="line">
            <a:avLst/>
          </a:prstGeom>
          <a:ln w="9525">
            <a:solidFill>
              <a:schemeClr val="tx1"/>
            </a:solidFill>
            <a:prstDash val="dash"/>
            <a:tailEnd type="arrow"/>
          </a:ln>
        </p:spPr>
      </p:cxnSp>
      <p:sp>
        <p:nvSpPr>
          <p:cNvPr id="188" name="KV Cache Manager"/>
          <p:cNvSpPr/>
          <p:nvPr/>
        </p:nvSpPr>
        <p:spPr>
          <a:xfrm>
            <a:off x="1337482" y="4360245"/>
            <a:ext cx="2379948" cy="21344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Common Memory Backend Interface</a:t>
            </a:r>
            <a:endParaRPr lang="ko-KR" altLang="en-US" sz="900" b="1" dirty="0">
              <a:solidFill>
                <a:schemeClr val="tx1"/>
              </a:solidFill>
            </a:endParaRPr>
          </a:p>
        </p:txBody>
      </p:sp>
      <p:cxnSp>
        <p:nvCxnSpPr>
          <p:cNvPr id="197" name="① Event"/>
          <p:cNvCxnSpPr>
            <a:stCxn id="188" idx="0"/>
            <a:endCxn id="114" idx="2"/>
          </p:cNvCxnSpPr>
          <p:nvPr/>
        </p:nvCxnSpPr>
        <p:spPr>
          <a:xfrm flipV="1">
            <a:off x="2527456" y="4213399"/>
            <a:ext cx="3010" cy="146846"/>
          </a:xfrm>
          <a:prstGeom prst="line">
            <a:avLst/>
          </a:prstGeom>
          <a:ln w="9525">
            <a:solidFill>
              <a:schemeClr val="tx1"/>
            </a:solidFill>
            <a:prstDash val="dash"/>
            <a:tailEnd type="arrow"/>
          </a:ln>
        </p:spPr>
      </p:cxnSp>
      <p:grpSp>
        <p:nvGrpSpPr>
          <p:cNvPr id="234" name="그룹 233"/>
          <p:cNvGrpSpPr/>
          <p:nvPr/>
        </p:nvGrpSpPr>
        <p:grpSpPr>
          <a:xfrm>
            <a:off x="7146041" y="3067164"/>
            <a:ext cx="1919939" cy="1090190"/>
            <a:chOff x="1208848" y="2542921"/>
            <a:chExt cx="2013795" cy="1376305"/>
          </a:xfrm>
        </p:grpSpPr>
        <p:sp>
          <p:nvSpPr>
            <p:cNvPr id="238" name="DecisionPlane"/>
            <p:cNvSpPr/>
            <p:nvPr/>
          </p:nvSpPr>
          <p:spPr>
            <a:xfrm>
              <a:off x="1208848" y="2678899"/>
              <a:ext cx="2013795" cy="1240327"/>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Resource Plane</a:t>
              </a:r>
              <a:endParaRPr lang="ko-KR" altLang="en-US" sz="1000" b="1" dirty="0">
                <a:solidFill>
                  <a:schemeClr val="tx1"/>
                </a:solidFill>
              </a:endParaRPr>
            </a:p>
          </p:txBody>
        </p:sp>
        <p:sp>
          <p:nvSpPr>
            <p:cNvPr id="239" name="DecisionPlane tab"/>
            <p:cNvSpPr/>
            <p:nvPr/>
          </p:nvSpPr>
          <p:spPr>
            <a:xfrm>
              <a:off x="1208848" y="2542921"/>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42" name="KV Cache Manager"/>
            <p:cNvSpPr/>
            <p:nvPr/>
          </p:nvSpPr>
          <p:spPr>
            <a:xfrm>
              <a:off x="1508045" y="3262257"/>
              <a:ext cx="1409091" cy="25544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Telemetry Collector</a:t>
              </a:r>
              <a:endParaRPr lang="ko-KR" altLang="en-US" sz="900" b="1" dirty="0">
                <a:solidFill>
                  <a:schemeClr val="tx1"/>
                </a:solidFill>
              </a:endParaRPr>
            </a:p>
          </p:txBody>
        </p:sp>
        <p:sp>
          <p:nvSpPr>
            <p:cNvPr id="243" name="KV Cache Manager"/>
            <p:cNvSpPr/>
            <p:nvPr/>
          </p:nvSpPr>
          <p:spPr>
            <a:xfrm>
              <a:off x="1508043" y="3597267"/>
              <a:ext cx="1409091" cy="25544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Memory Registry</a:t>
              </a:r>
              <a:endParaRPr lang="ko-KR" altLang="en-US" sz="900" b="1" dirty="0">
                <a:solidFill>
                  <a:schemeClr val="tx1"/>
                </a:solidFill>
              </a:endParaRPr>
            </a:p>
          </p:txBody>
        </p:sp>
        <p:sp>
          <p:nvSpPr>
            <p:cNvPr id="400" name="KV Cache Manager"/>
            <p:cNvSpPr/>
            <p:nvPr/>
          </p:nvSpPr>
          <p:spPr>
            <a:xfrm>
              <a:off x="1508045" y="2930973"/>
              <a:ext cx="1409091" cy="25544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Data Object Registry</a:t>
              </a:r>
              <a:endParaRPr lang="ko-KR" altLang="en-US" sz="900" b="1" dirty="0">
                <a:solidFill>
                  <a:schemeClr val="tx1"/>
                </a:solidFill>
              </a:endParaRPr>
            </a:p>
          </p:txBody>
        </p:sp>
      </p:grpSp>
      <p:grpSp>
        <p:nvGrpSpPr>
          <p:cNvPr id="249" name="그룹 248"/>
          <p:cNvGrpSpPr/>
          <p:nvPr/>
        </p:nvGrpSpPr>
        <p:grpSpPr>
          <a:xfrm>
            <a:off x="9626708" y="3178189"/>
            <a:ext cx="1891050" cy="1160450"/>
            <a:chOff x="4173997" y="2581540"/>
            <a:chExt cx="1983494" cy="1477340"/>
          </a:xfrm>
        </p:grpSpPr>
        <p:sp>
          <p:nvSpPr>
            <p:cNvPr id="250" name="DecisionPlane"/>
            <p:cNvSpPr/>
            <p:nvPr/>
          </p:nvSpPr>
          <p:spPr>
            <a:xfrm>
              <a:off x="4173997" y="2708259"/>
              <a:ext cx="1983494" cy="1350621"/>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Data </a:t>
              </a:r>
              <a:r>
                <a:rPr lang="ko-KR" altLang="en-US" sz="1000" b="1" dirty="0" err="1">
                  <a:solidFill>
                    <a:schemeClr val="tx1"/>
                  </a:solidFill>
                </a:rPr>
                <a:t>Plane</a:t>
              </a:r>
              <a:endParaRPr lang="ko-KR" altLang="en-US" sz="1000" b="1" dirty="0">
                <a:solidFill>
                  <a:schemeClr val="tx1"/>
                </a:solidFill>
              </a:endParaRPr>
            </a:p>
          </p:txBody>
        </p:sp>
        <p:sp>
          <p:nvSpPr>
            <p:cNvPr id="251" name="DecisionPlane tab"/>
            <p:cNvSpPr/>
            <p:nvPr/>
          </p:nvSpPr>
          <p:spPr>
            <a:xfrm>
              <a:off x="4176509" y="2581540"/>
              <a:ext cx="264000" cy="130999"/>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52" name="KV Cache Manager"/>
            <p:cNvSpPr/>
            <p:nvPr/>
          </p:nvSpPr>
          <p:spPr>
            <a:xfrm>
              <a:off x="4493949" y="3060767"/>
              <a:ext cx="1409091" cy="28099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Executor</a:t>
              </a:r>
              <a:endParaRPr lang="ko-KR" altLang="en-US" sz="900" b="1" dirty="0">
                <a:solidFill>
                  <a:schemeClr val="tx1"/>
                </a:solidFill>
              </a:endParaRPr>
            </a:p>
          </p:txBody>
        </p:sp>
        <p:sp>
          <p:nvSpPr>
            <p:cNvPr id="253" name="KV Cache Manager"/>
            <p:cNvSpPr/>
            <p:nvPr/>
          </p:nvSpPr>
          <p:spPr>
            <a:xfrm>
              <a:off x="4493807" y="3584303"/>
              <a:ext cx="1409091" cy="28099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Transfer Handler</a:t>
              </a:r>
              <a:endParaRPr lang="ko-KR" altLang="en-US" sz="900" b="1" dirty="0">
                <a:solidFill>
                  <a:schemeClr val="tx1"/>
                </a:solidFill>
              </a:endParaRPr>
            </a:p>
          </p:txBody>
        </p:sp>
      </p:grpSp>
      <p:cxnSp>
        <p:nvCxnSpPr>
          <p:cNvPr id="258" name="① Event"/>
          <p:cNvCxnSpPr>
            <a:stCxn id="252" idx="2"/>
            <a:endCxn id="253" idx="0"/>
          </p:cNvCxnSpPr>
          <p:nvPr/>
        </p:nvCxnSpPr>
        <p:spPr>
          <a:xfrm flipH="1">
            <a:off x="10603321" y="3775340"/>
            <a:ext cx="135" cy="190518"/>
          </a:xfrm>
          <a:prstGeom prst="line">
            <a:avLst/>
          </a:prstGeom>
          <a:ln w="9525">
            <a:solidFill>
              <a:schemeClr val="tx1"/>
            </a:solidFill>
            <a:prstDash val="dash"/>
            <a:tailEnd type="arrow"/>
          </a:ln>
        </p:spPr>
      </p:cxnSp>
      <p:sp>
        <p:nvSpPr>
          <p:cNvPr id="262" name="KV Cache Manager"/>
          <p:cNvSpPr/>
          <p:nvPr/>
        </p:nvSpPr>
        <p:spPr>
          <a:xfrm>
            <a:off x="6913701" y="4305333"/>
            <a:ext cx="2379948" cy="21344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Common Memory Backend Interface</a:t>
            </a:r>
            <a:endParaRPr lang="ko-KR" altLang="en-US" sz="900" b="1" dirty="0">
              <a:solidFill>
                <a:schemeClr val="tx1"/>
              </a:solidFill>
            </a:endParaRPr>
          </a:p>
        </p:txBody>
      </p:sp>
      <p:cxnSp>
        <p:nvCxnSpPr>
          <p:cNvPr id="264" name="① Event"/>
          <p:cNvCxnSpPr>
            <a:stCxn id="262" idx="0"/>
            <a:endCxn id="238" idx="2"/>
          </p:cNvCxnSpPr>
          <p:nvPr/>
        </p:nvCxnSpPr>
        <p:spPr>
          <a:xfrm flipV="1">
            <a:off x="8103675" y="4157354"/>
            <a:ext cx="2336" cy="147979"/>
          </a:xfrm>
          <a:prstGeom prst="line">
            <a:avLst/>
          </a:prstGeom>
          <a:ln w="9525">
            <a:solidFill>
              <a:schemeClr val="tx1"/>
            </a:solidFill>
            <a:prstDash val="dash"/>
            <a:tailEnd type="arrow"/>
          </a:ln>
        </p:spPr>
      </p:cxnSp>
      <p:cxnSp>
        <p:nvCxnSpPr>
          <p:cNvPr id="276" name="① Event"/>
          <p:cNvCxnSpPr>
            <a:stCxn id="127" idx="1"/>
            <a:endCxn id="123" idx="3"/>
          </p:cNvCxnSpPr>
          <p:nvPr/>
        </p:nvCxnSpPr>
        <p:spPr>
          <a:xfrm rot="10800000" flipV="1">
            <a:off x="3199167" y="3731425"/>
            <a:ext cx="1391244" cy="21967"/>
          </a:xfrm>
          <a:prstGeom prst="bentConnector3">
            <a:avLst>
              <a:gd name="adj1" fmla="val 50000"/>
            </a:avLst>
          </a:prstGeom>
          <a:ln w="9525">
            <a:solidFill>
              <a:schemeClr val="tx1"/>
            </a:solidFill>
            <a:prstDash val="dash"/>
            <a:tailEnd type="arrow"/>
          </a:ln>
        </p:spPr>
      </p:cxnSp>
      <p:cxnSp>
        <p:nvCxnSpPr>
          <p:cNvPr id="279" name="① Event"/>
          <p:cNvCxnSpPr>
            <a:stCxn id="127" idx="1"/>
            <a:endCxn id="124" idx="3"/>
          </p:cNvCxnSpPr>
          <p:nvPr/>
        </p:nvCxnSpPr>
        <p:spPr>
          <a:xfrm rot="10800000" flipV="1">
            <a:off x="3199167" y="3731425"/>
            <a:ext cx="1391245" cy="318851"/>
          </a:xfrm>
          <a:prstGeom prst="bentConnector3">
            <a:avLst>
              <a:gd name="adj1" fmla="val 50000"/>
            </a:avLst>
          </a:prstGeom>
          <a:ln w="9525">
            <a:solidFill>
              <a:schemeClr val="tx1"/>
            </a:solidFill>
            <a:prstDash val="dash"/>
            <a:tailEnd type="arrow"/>
          </a:ln>
        </p:spPr>
      </p:cxnSp>
      <p:cxnSp>
        <p:nvCxnSpPr>
          <p:cNvPr id="290" name="① Event"/>
          <p:cNvCxnSpPr>
            <a:stCxn id="252" idx="1"/>
            <a:endCxn id="242" idx="3"/>
          </p:cNvCxnSpPr>
          <p:nvPr/>
        </p:nvCxnSpPr>
        <p:spPr>
          <a:xfrm rot="10800000" flipV="1">
            <a:off x="8774711" y="3664980"/>
            <a:ext cx="1157036" cy="73151"/>
          </a:xfrm>
          <a:prstGeom prst="bentConnector3">
            <a:avLst>
              <a:gd name="adj1" fmla="val 50000"/>
            </a:avLst>
          </a:prstGeom>
          <a:ln w="9525">
            <a:solidFill>
              <a:schemeClr val="tx1"/>
            </a:solidFill>
            <a:prstDash val="dash"/>
            <a:tailEnd type="arrow"/>
          </a:ln>
        </p:spPr>
      </p:cxnSp>
      <p:cxnSp>
        <p:nvCxnSpPr>
          <p:cNvPr id="293" name="① Event"/>
          <p:cNvCxnSpPr>
            <a:stCxn id="252" idx="1"/>
            <a:endCxn id="243" idx="3"/>
          </p:cNvCxnSpPr>
          <p:nvPr/>
        </p:nvCxnSpPr>
        <p:spPr>
          <a:xfrm rot="10800000" flipV="1">
            <a:off x="8774711" y="3664980"/>
            <a:ext cx="1157037" cy="338517"/>
          </a:xfrm>
          <a:prstGeom prst="bentConnector3">
            <a:avLst>
              <a:gd name="adj1" fmla="val 50000"/>
            </a:avLst>
          </a:prstGeom>
          <a:ln w="9525">
            <a:solidFill>
              <a:schemeClr val="tx1"/>
            </a:solidFill>
            <a:prstDash val="dash"/>
            <a:tailEnd type="arrow"/>
          </a:ln>
        </p:spPr>
      </p:cxnSp>
      <p:grpSp>
        <p:nvGrpSpPr>
          <p:cNvPr id="547" name="그룹 546"/>
          <p:cNvGrpSpPr/>
          <p:nvPr/>
        </p:nvGrpSpPr>
        <p:grpSpPr>
          <a:xfrm>
            <a:off x="6819037" y="1736827"/>
            <a:ext cx="4919889" cy="1623134"/>
            <a:chOff x="6819037" y="1867402"/>
            <a:chExt cx="4919889" cy="1623134"/>
          </a:xfrm>
        </p:grpSpPr>
        <p:sp>
          <p:nvSpPr>
            <p:cNvPr id="230" name="DecisionPlane"/>
            <p:cNvSpPr/>
            <p:nvPr/>
          </p:nvSpPr>
          <p:spPr>
            <a:xfrm>
              <a:off x="6819037" y="1973349"/>
              <a:ext cx="4919889" cy="1132223"/>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Control Plane</a:t>
              </a:r>
              <a:endParaRPr lang="ko-KR" altLang="en-US" sz="1000" b="1" dirty="0">
                <a:solidFill>
                  <a:schemeClr val="tx1"/>
                </a:solidFill>
              </a:endParaRPr>
            </a:p>
          </p:txBody>
        </p:sp>
        <p:sp>
          <p:nvSpPr>
            <p:cNvPr id="232" name="DecisionPlane tab"/>
            <p:cNvSpPr/>
            <p:nvPr/>
          </p:nvSpPr>
          <p:spPr>
            <a:xfrm>
              <a:off x="6819037" y="1867402"/>
              <a:ext cx="251696" cy="109458"/>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33" name="KV Cache Manager"/>
            <p:cNvSpPr/>
            <p:nvPr/>
          </p:nvSpPr>
          <p:spPr>
            <a:xfrm>
              <a:off x="8552755" y="2242205"/>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Data behavior Monitor</a:t>
              </a:r>
              <a:endParaRPr lang="ko-KR" altLang="en-US" sz="900" b="1" dirty="0">
                <a:solidFill>
                  <a:schemeClr val="tx1"/>
                </a:solidFill>
              </a:endParaRPr>
            </a:p>
          </p:txBody>
        </p:sp>
        <p:sp>
          <p:nvSpPr>
            <p:cNvPr id="244" name="KV Cache Manager"/>
            <p:cNvSpPr/>
            <p:nvPr/>
          </p:nvSpPr>
          <p:spPr>
            <a:xfrm>
              <a:off x="10288514" y="2693105"/>
              <a:ext cx="1341702" cy="31249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Policy Engine</a:t>
              </a:r>
              <a:endParaRPr lang="ko-KR" altLang="en-US" sz="900" b="1" dirty="0">
                <a:solidFill>
                  <a:schemeClr val="tx1"/>
                </a:solidFill>
              </a:endParaRPr>
            </a:p>
          </p:txBody>
        </p:sp>
        <p:sp>
          <p:nvSpPr>
            <p:cNvPr id="248" name="KV Cache Manager"/>
            <p:cNvSpPr/>
            <p:nvPr/>
          </p:nvSpPr>
          <p:spPr>
            <a:xfrm>
              <a:off x="6940505" y="2246618"/>
              <a:ext cx="1148440" cy="31249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Scheduler</a:t>
              </a:r>
              <a:endParaRPr lang="ko-KR" altLang="en-US" sz="900" b="1" dirty="0">
                <a:solidFill>
                  <a:schemeClr val="tx1"/>
                </a:solidFill>
              </a:endParaRPr>
            </a:p>
          </p:txBody>
        </p:sp>
        <p:cxnSp>
          <p:nvCxnSpPr>
            <p:cNvPr id="254" name="① Event"/>
            <p:cNvCxnSpPr>
              <a:endCxn id="233" idx="1"/>
            </p:cNvCxnSpPr>
            <p:nvPr/>
          </p:nvCxnSpPr>
          <p:spPr>
            <a:xfrm>
              <a:off x="8088946" y="2398454"/>
              <a:ext cx="463809" cy="0"/>
            </a:xfrm>
            <a:prstGeom prst="line">
              <a:avLst/>
            </a:prstGeom>
            <a:ln w="9525">
              <a:solidFill>
                <a:schemeClr val="tx1"/>
              </a:solidFill>
              <a:prstDash val="dash"/>
              <a:tailEnd type="arrow"/>
            </a:ln>
          </p:spPr>
        </p:cxnSp>
        <p:cxnSp>
          <p:nvCxnSpPr>
            <p:cNvPr id="256" name="① Event"/>
            <p:cNvCxnSpPr>
              <a:stCxn id="267" idx="2"/>
              <a:endCxn id="244" idx="0"/>
            </p:cNvCxnSpPr>
            <p:nvPr/>
          </p:nvCxnSpPr>
          <p:spPr>
            <a:xfrm>
              <a:off x="10951301" y="2554703"/>
              <a:ext cx="8064" cy="138402"/>
            </a:xfrm>
            <a:prstGeom prst="line">
              <a:avLst/>
            </a:prstGeom>
            <a:ln w="9525">
              <a:solidFill>
                <a:schemeClr val="tx1"/>
              </a:solidFill>
              <a:prstDash val="dash"/>
              <a:tailEnd type="arrow"/>
            </a:ln>
          </p:spPr>
        </p:cxnSp>
        <p:sp>
          <p:nvSpPr>
            <p:cNvPr id="266" name="KV Cache Manager"/>
            <p:cNvSpPr/>
            <p:nvPr/>
          </p:nvSpPr>
          <p:spPr>
            <a:xfrm>
              <a:off x="8552755" y="2706796"/>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Behavior-based Trend Analyzer</a:t>
              </a:r>
              <a:endParaRPr lang="ko-KR" altLang="en-US" sz="900" b="1" dirty="0">
                <a:solidFill>
                  <a:schemeClr val="tx1"/>
                </a:solidFill>
              </a:endParaRPr>
            </a:p>
          </p:txBody>
        </p:sp>
        <p:sp>
          <p:nvSpPr>
            <p:cNvPr id="267" name="KV Cache Manager"/>
            <p:cNvSpPr/>
            <p:nvPr/>
          </p:nvSpPr>
          <p:spPr>
            <a:xfrm>
              <a:off x="10279429" y="2242205"/>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Behavior Predictor</a:t>
              </a:r>
              <a:endParaRPr lang="ko-KR" altLang="en-US" sz="900" b="1" dirty="0">
                <a:solidFill>
                  <a:schemeClr val="tx1"/>
                </a:solidFill>
              </a:endParaRPr>
            </a:p>
          </p:txBody>
        </p:sp>
        <p:cxnSp>
          <p:nvCxnSpPr>
            <p:cNvPr id="268" name="① Event"/>
            <p:cNvCxnSpPr>
              <a:stCxn id="233" idx="2"/>
              <a:endCxn id="266" idx="0"/>
            </p:cNvCxnSpPr>
            <p:nvPr/>
          </p:nvCxnSpPr>
          <p:spPr>
            <a:xfrm>
              <a:off x="9224627" y="2554703"/>
              <a:ext cx="0" cy="152093"/>
            </a:xfrm>
            <a:prstGeom prst="line">
              <a:avLst/>
            </a:prstGeom>
            <a:ln w="9525">
              <a:solidFill>
                <a:schemeClr val="tx1"/>
              </a:solidFill>
              <a:prstDash val="dash"/>
              <a:tailEnd type="arrow"/>
            </a:ln>
          </p:spPr>
        </p:cxnSp>
        <p:cxnSp>
          <p:nvCxnSpPr>
            <p:cNvPr id="269" name="① Event"/>
            <p:cNvCxnSpPr>
              <a:stCxn id="266" idx="3"/>
              <a:endCxn id="267" idx="1"/>
            </p:cNvCxnSpPr>
            <p:nvPr/>
          </p:nvCxnSpPr>
          <p:spPr>
            <a:xfrm flipV="1">
              <a:off x="9896498" y="2398454"/>
              <a:ext cx="382931" cy="464591"/>
            </a:xfrm>
            <a:prstGeom prst="bentConnector3">
              <a:avLst>
                <a:gd name="adj1" fmla="val 50000"/>
              </a:avLst>
            </a:prstGeom>
            <a:ln w="9525">
              <a:solidFill>
                <a:schemeClr val="tx1"/>
              </a:solidFill>
              <a:prstDash val="dash"/>
              <a:tailEnd type="arrow"/>
            </a:ln>
          </p:spPr>
        </p:cxnSp>
        <p:cxnSp>
          <p:nvCxnSpPr>
            <p:cNvPr id="304" name="① Event"/>
            <p:cNvCxnSpPr>
              <a:stCxn id="233" idx="1"/>
            </p:cNvCxnSpPr>
            <p:nvPr/>
          </p:nvCxnSpPr>
          <p:spPr>
            <a:xfrm rot="10800000" flipV="1">
              <a:off x="8273739" y="2398454"/>
              <a:ext cx="279016" cy="1092082"/>
            </a:xfrm>
            <a:prstGeom prst="bentConnector2">
              <a:avLst/>
            </a:prstGeom>
            <a:ln w="9525">
              <a:solidFill>
                <a:schemeClr val="tx1"/>
              </a:solidFill>
              <a:prstDash val="dash"/>
              <a:tailEnd type="arrow"/>
            </a:ln>
          </p:spPr>
        </p:cxnSp>
      </p:grpSp>
      <p:cxnSp>
        <p:nvCxnSpPr>
          <p:cNvPr id="348" name="① Event"/>
          <p:cNvCxnSpPr>
            <a:stCxn id="244" idx="2"/>
          </p:cNvCxnSpPr>
          <p:nvPr/>
        </p:nvCxnSpPr>
        <p:spPr>
          <a:xfrm>
            <a:off x="10959365" y="2875027"/>
            <a:ext cx="0" cy="679594"/>
          </a:xfrm>
          <a:prstGeom prst="line">
            <a:avLst/>
          </a:prstGeom>
          <a:ln w="9525">
            <a:solidFill>
              <a:schemeClr val="tx1"/>
            </a:solidFill>
            <a:prstDash val="dash"/>
            <a:tailEnd type="arrow"/>
          </a:ln>
        </p:spPr>
      </p:cxnSp>
      <p:cxnSp>
        <p:nvCxnSpPr>
          <p:cNvPr id="366" name="① Event"/>
          <p:cNvCxnSpPr>
            <a:stCxn id="122" idx="2"/>
            <a:endCxn id="359" idx="0"/>
          </p:cNvCxnSpPr>
          <p:nvPr/>
        </p:nvCxnSpPr>
        <p:spPr>
          <a:xfrm>
            <a:off x="2529673" y="3225466"/>
            <a:ext cx="1" cy="122453"/>
          </a:xfrm>
          <a:prstGeom prst="line">
            <a:avLst/>
          </a:prstGeom>
          <a:ln w="9525">
            <a:solidFill>
              <a:schemeClr val="tx1"/>
            </a:solidFill>
            <a:prstDash val="dash"/>
            <a:tailEnd type="arrow"/>
          </a:ln>
        </p:spPr>
      </p:cxnSp>
      <p:sp>
        <p:nvSpPr>
          <p:cNvPr id="546" name="실행 단추: 앞으로 또는 다음 545">
            <a:hlinkClick r:id="" action="ppaction://noaction" highlightClick="1"/>
          </p:cNvPr>
          <p:cNvSpPr/>
          <p:nvPr/>
        </p:nvSpPr>
        <p:spPr>
          <a:xfrm>
            <a:off x="7582881" y="670767"/>
            <a:ext cx="311150" cy="27210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8" name="직사각형 407"/>
          <p:cNvSpPr/>
          <p:nvPr/>
        </p:nvSpPr>
        <p:spPr>
          <a:xfrm>
            <a:off x="1428751" y="1987962"/>
            <a:ext cx="1660102" cy="200055"/>
          </a:xfrm>
          <a:prstGeom prst="rect">
            <a:avLst/>
          </a:prstGeom>
          <a:noFill/>
          <a:ln w="9525">
            <a:noFill/>
            <a:prstDash val="dash"/>
          </a:ln>
        </p:spPr>
        <p:txBody>
          <a:bodyPr rtlCol="0" anchor="ctr"/>
          <a:lstStyle/>
          <a:p>
            <a:r>
              <a:rPr lang="en-US" altLang="ko-KR" sz="700" dirty="0">
                <a:solidFill>
                  <a:schemeClr val="bg1">
                    <a:lumMod val="50000"/>
                  </a:schemeClr>
                </a:solidFill>
              </a:rPr>
              <a:t>Control/Decision: Event push(</a:t>
            </a:r>
            <a:r>
              <a:rPr lang="en-US" altLang="ko-KR" sz="700" dirty="0" err="1">
                <a:solidFill>
                  <a:schemeClr val="bg1">
                    <a:lumMod val="50000"/>
                  </a:schemeClr>
                </a:solidFill>
              </a:rPr>
              <a:t>async</a:t>
            </a:r>
            <a:r>
              <a:rPr lang="en-US" altLang="ko-KR" sz="700" dirty="0">
                <a:solidFill>
                  <a:schemeClr val="bg1">
                    <a:lumMod val="50000"/>
                  </a:schemeClr>
                </a:solidFill>
              </a:rPr>
              <a:t>)</a:t>
            </a:r>
            <a:endParaRPr lang="ko-KR" altLang="en-US" sz="700" dirty="0">
              <a:solidFill>
                <a:schemeClr val="bg1">
                  <a:lumMod val="50000"/>
                </a:schemeClr>
              </a:solidFill>
            </a:endParaRPr>
          </a:p>
        </p:txBody>
      </p:sp>
      <p:sp>
        <p:nvSpPr>
          <p:cNvPr id="409" name="직사각형 408"/>
          <p:cNvSpPr/>
          <p:nvPr/>
        </p:nvSpPr>
        <p:spPr>
          <a:xfrm>
            <a:off x="6855862" y="1919400"/>
            <a:ext cx="1605388" cy="200055"/>
          </a:xfrm>
          <a:prstGeom prst="rect">
            <a:avLst/>
          </a:prstGeom>
          <a:noFill/>
          <a:ln w="9525">
            <a:noFill/>
            <a:prstDash val="dash"/>
          </a:ln>
        </p:spPr>
        <p:txBody>
          <a:bodyPr rtlCol="0" anchor="ctr"/>
          <a:lstStyle/>
          <a:p>
            <a:r>
              <a:rPr lang="en-US" altLang="ko-KR" sz="700" dirty="0">
                <a:solidFill>
                  <a:schemeClr val="bg1">
                    <a:lumMod val="50000"/>
                  </a:schemeClr>
                </a:solidFill>
              </a:rPr>
              <a:t>Control/Decision: Event push(</a:t>
            </a:r>
            <a:r>
              <a:rPr lang="en-US" altLang="ko-KR" sz="700" dirty="0" err="1">
                <a:solidFill>
                  <a:schemeClr val="bg1">
                    <a:lumMod val="50000"/>
                  </a:schemeClr>
                </a:solidFill>
              </a:rPr>
              <a:t>async</a:t>
            </a:r>
            <a:r>
              <a:rPr lang="en-US" altLang="ko-KR" sz="700" dirty="0">
                <a:solidFill>
                  <a:schemeClr val="bg1">
                    <a:lumMod val="50000"/>
                  </a:schemeClr>
                </a:solidFill>
              </a:rPr>
              <a:t>)</a:t>
            </a:r>
            <a:endParaRPr lang="ko-KR" altLang="en-US" sz="700" dirty="0">
              <a:solidFill>
                <a:schemeClr val="bg1">
                  <a:lumMod val="50000"/>
                </a:schemeClr>
              </a:solidFill>
            </a:endParaRPr>
          </a:p>
        </p:txBody>
      </p:sp>
      <p:sp>
        <p:nvSpPr>
          <p:cNvPr id="410" name="직사각형 409"/>
          <p:cNvSpPr/>
          <p:nvPr/>
        </p:nvSpPr>
        <p:spPr>
          <a:xfrm>
            <a:off x="4522771" y="4235870"/>
            <a:ext cx="1529033" cy="200055"/>
          </a:xfrm>
          <a:prstGeom prst="rect">
            <a:avLst/>
          </a:prstGeom>
          <a:noFill/>
          <a:ln w="9525">
            <a:noFill/>
            <a:prstDash val="dash"/>
          </a:ln>
        </p:spPr>
        <p:txBody>
          <a:bodyPr rtlCol="0" anchor="ctr"/>
          <a:lstStyle/>
          <a:p>
            <a:r>
              <a:rPr lang="en-US" altLang="ko-KR" sz="700" dirty="0">
                <a:solidFill>
                  <a:schemeClr val="bg1">
                    <a:lumMod val="50000"/>
                  </a:schemeClr>
                </a:solidFill>
              </a:rPr>
              <a:t>Data Transfer: Background DMA</a:t>
            </a:r>
            <a:endParaRPr lang="ko-KR" altLang="en-US" sz="700" dirty="0">
              <a:solidFill>
                <a:schemeClr val="bg1">
                  <a:lumMod val="50000"/>
                </a:schemeClr>
              </a:solidFill>
            </a:endParaRPr>
          </a:p>
        </p:txBody>
      </p:sp>
      <p:sp>
        <p:nvSpPr>
          <p:cNvPr id="411" name="직사각형 410"/>
          <p:cNvSpPr/>
          <p:nvPr/>
        </p:nvSpPr>
        <p:spPr>
          <a:xfrm>
            <a:off x="9854376" y="4148915"/>
            <a:ext cx="1529033" cy="200055"/>
          </a:xfrm>
          <a:prstGeom prst="rect">
            <a:avLst/>
          </a:prstGeom>
          <a:noFill/>
          <a:ln w="9525">
            <a:noFill/>
            <a:prstDash val="dash"/>
          </a:ln>
        </p:spPr>
        <p:txBody>
          <a:bodyPr rtlCol="0" anchor="ctr"/>
          <a:lstStyle/>
          <a:p>
            <a:r>
              <a:rPr lang="en-US" altLang="ko-KR" sz="700" dirty="0">
                <a:solidFill>
                  <a:schemeClr val="bg1">
                    <a:lumMod val="50000"/>
                  </a:schemeClr>
                </a:solidFill>
              </a:rPr>
              <a:t>Data Transfer: Background DMA</a:t>
            </a:r>
            <a:endParaRPr lang="ko-KR" altLang="en-US" sz="700" dirty="0">
              <a:solidFill>
                <a:schemeClr val="bg1">
                  <a:lumMod val="50000"/>
                </a:schemeClr>
              </a:solidFill>
            </a:endParaRPr>
          </a:p>
        </p:txBody>
      </p:sp>
    </p:spTree>
    <p:extLst>
      <p:ext uri="{BB962C8B-B14F-4D97-AF65-F5344CB8AC3E}">
        <p14:creationId xmlns:p14="http://schemas.microsoft.com/office/powerpoint/2010/main" val="4083416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69727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206272">
                  <a:extLst>
                    <a:ext uri="{9D8B030D-6E8A-4147-A177-3AD203B41FA5}">
                      <a16:colId xmlns:a16="http://schemas.microsoft.com/office/drawing/2014/main" val="5654497"/>
                    </a:ext>
                  </a:extLst>
                </a:gridCol>
                <a:gridCol w="2229782">
                  <a:extLst>
                    <a:ext uri="{9D8B030D-6E8A-4147-A177-3AD203B41FA5}">
                      <a16:colId xmlns:a16="http://schemas.microsoft.com/office/drawing/2014/main" val="2953438935"/>
                    </a:ext>
                  </a:extLst>
                </a:gridCol>
                <a:gridCol w="3389968">
                  <a:extLst>
                    <a:ext uri="{9D8B030D-6E8A-4147-A177-3AD203B41FA5}">
                      <a16:colId xmlns:a16="http://schemas.microsoft.com/office/drawing/2014/main" val="3070054508"/>
                    </a:ext>
                  </a:extLst>
                </a:gridCol>
                <a:gridCol w="204608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메모리</a:t>
                      </a:r>
                      <a:r>
                        <a:rPr lang="en-US" altLang="ko-KR" sz="1200" b="1" strike="noStrike" baseline="0" dirty="0"/>
                        <a:t> </a:t>
                      </a:r>
                      <a:r>
                        <a:rPr lang="ko-KR" altLang="en-US" sz="1200" b="1" strike="noStrike" baseline="0" dirty="0"/>
                        <a:t>자원 상태 기반 이동 </a:t>
                      </a:r>
                      <a:r>
                        <a:rPr lang="en-US" altLang="ko-KR" sz="1200" b="1" strike="noStrike" baseline="0" dirty="0">
                          <a:solidFill>
                            <a:srgbClr val="FF0000"/>
                          </a:solidFill>
                        </a:rPr>
                        <a:t>+ Data-Memory Affinity</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AI Data </a:t>
                      </a:r>
                      <a:r>
                        <a:rPr lang="ko-KR" altLang="en-US" sz="1200" b="1" strike="noStrike" baseline="0" dirty="0"/>
                        <a:t>특성 기반 이동 </a:t>
                      </a:r>
                      <a:endParaRPr lang="ko-KR" altLang="en-US" sz="1200" b="1" strike="noStrike"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낮은 </a:t>
                      </a:r>
                      <a:r>
                        <a:rPr lang="en-US" altLang="ko-KR" sz="1200" strike="noStrike" kern="1200" baseline="0" dirty="0">
                          <a:solidFill>
                            <a:schemeClr val="tx1"/>
                          </a:solidFill>
                          <a:effectLst/>
                          <a:latin typeface="+mn-lt"/>
                          <a:ea typeface="+mn-ea"/>
                          <a:cs typeface="+mn-cs"/>
                        </a:rPr>
                        <a:t>Decision overhead </a:t>
                      </a:r>
                      <a:r>
                        <a:rPr lang="ko-KR" altLang="en-US" sz="1200" strike="noStrike" kern="1200" baseline="0" dirty="0">
                          <a:solidFill>
                            <a:schemeClr val="tx1"/>
                          </a:solidFill>
                          <a:effectLst/>
                          <a:latin typeface="+mn-lt"/>
                          <a:ea typeface="+mn-ea"/>
                          <a:cs typeface="+mn-cs"/>
                        </a:rPr>
                        <a:t>및 </a:t>
                      </a:r>
                      <a:r>
                        <a:rPr lang="en-US" altLang="ko-KR" sz="1200" strike="noStrike" kern="1200" baseline="0" dirty="0">
                          <a:solidFill>
                            <a:schemeClr val="tx1"/>
                          </a:solidFill>
                          <a:effectLst/>
                          <a:latin typeface="+mn-lt"/>
                          <a:ea typeface="+mn-ea"/>
                          <a:cs typeface="+mn-cs"/>
                        </a:rPr>
                        <a:t>Resource state</a:t>
                      </a:r>
                      <a:r>
                        <a:rPr lang="ko-KR" altLang="en-US" sz="1200" strike="noStrike" kern="1200" baseline="0" dirty="0">
                          <a:solidFill>
                            <a:schemeClr val="tx1"/>
                          </a:solidFill>
                          <a:effectLst/>
                          <a:latin typeface="+mn-lt"/>
                          <a:ea typeface="+mn-ea"/>
                          <a:cs typeface="+mn-cs"/>
                        </a:rPr>
                        <a:t> 변화에 즉시 반응</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전체 메모리</a:t>
                      </a:r>
                      <a:r>
                        <a:rPr lang="en-US" altLang="ko-KR" sz="1200" strike="noStrike" kern="1200" baseline="0" dirty="0">
                          <a:solidFill>
                            <a:schemeClr val="tx1"/>
                          </a:solidFill>
                          <a:effectLst/>
                          <a:latin typeface="+mn-lt"/>
                          <a:ea typeface="+mn-ea"/>
                          <a:cs typeface="+mn-cs"/>
                        </a:rPr>
                        <a:t> Pool</a:t>
                      </a:r>
                      <a:r>
                        <a:rPr lang="ko-KR" altLang="en-US" sz="1200" strike="noStrike" kern="1200" baseline="0" dirty="0">
                          <a:solidFill>
                            <a:schemeClr val="tx1"/>
                          </a:solidFill>
                          <a:effectLst/>
                          <a:latin typeface="+mn-lt"/>
                          <a:ea typeface="+mn-ea"/>
                          <a:cs typeface="+mn-cs"/>
                        </a:rPr>
                        <a:t>의 </a:t>
                      </a:r>
                      <a:r>
                        <a:rPr lang="en-US" altLang="ko-KR" sz="1200" strike="noStrike" kern="1200" baseline="0" dirty="0">
                          <a:solidFill>
                            <a:schemeClr val="tx1"/>
                          </a:solidFill>
                          <a:effectLst/>
                          <a:latin typeface="+mn-lt"/>
                          <a:ea typeface="+mn-ea"/>
                          <a:cs typeface="+mn-cs"/>
                        </a:rPr>
                        <a:t>Utilization </a:t>
                      </a:r>
                      <a:r>
                        <a:rPr lang="ko-KR" altLang="en-US" sz="1200" strike="noStrike" kern="1200" baseline="0" dirty="0">
                          <a:solidFill>
                            <a:schemeClr val="tx1"/>
                          </a:solidFill>
                          <a:effectLst/>
                          <a:latin typeface="+mn-lt"/>
                          <a:ea typeface="+mn-ea"/>
                          <a:cs typeface="+mn-cs"/>
                        </a:rPr>
                        <a:t>관리에 유리 </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Data </a:t>
                      </a:r>
                      <a:r>
                        <a:rPr lang="ko-KR" altLang="en-US" sz="1200" strike="noStrike" dirty="0">
                          <a:solidFill>
                            <a:schemeClr val="tx1"/>
                          </a:solidFill>
                          <a:effectLst/>
                        </a:rPr>
                        <a:t>종류 별 </a:t>
                      </a:r>
                      <a:r>
                        <a:rPr lang="en-US" altLang="ko-KR" sz="1200" strike="noStrike" dirty="0">
                          <a:solidFill>
                            <a:schemeClr val="tx1"/>
                          </a:solidFill>
                          <a:effectLst/>
                        </a:rPr>
                        <a:t>Access </a:t>
                      </a:r>
                      <a:r>
                        <a:rPr lang="ko-KR" altLang="en-US" sz="1200" strike="noStrike" dirty="0">
                          <a:solidFill>
                            <a:schemeClr val="tx1"/>
                          </a:solidFill>
                          <a:effectLst/>
                        </a:rPr>
                        <a:t>특성에 맞는 </a:t>
                      </a:r>
                      <a:r>
                        <a:rPr lang="en-US" altLang="ko-KR" sz="1200" strike="noStrike" dirty="0">
                          <a:solidFill>
                            <a:schemeClr val="tx1"/>
                          </a:solidFill>
                          <a:effectLst/>
                        </a:rPr>
                        <a:t>Fine-grained </a:t>
                      </a:r>
                      <a:r>
                        <a:rPr lang="ko-KR" altLang="en-US" sz="1200" strike="noStrike" dirty="0">
                          <a:solidFill>
                            <a:schemeClr val="tx1"/>
                          </a:solidFill>
                          <a:effectLst/>
                        </a:rPr>
                        <a:t>배치 가능</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고속</a:t>
                      </a:r>
                      <a:r>
                        <a:rPr lang="en-US" altLang="ko-KR" sz="1200" strike="noStrike" dirty="0">
                          <a:solidFill>
                            <a:schemeClr val="tx1"/>
                          </a:solidFill>
                          <a:effectLst/>
                        </a:rPr>
                        <a:t>(High</a:t>
                      </a:r>
                      <a:r>
                        <a:rPr lang="en-US" altLang="ko-KR" sz="1200" strike="noStrike" baseline="0" dirty="0">
                          <a:solidFill>
                            <a:schemeClr val="tx1"/>
                          </a:solidFill>
                          <a:effectLst/>
                        </a:rPr>
                        <a:t> tier)</a:t>
                      </a:r>
                      <a:r>
                        <a:rPr lang="ko-KR" altLang="en-US" sz="1200" strike="noStrike" dirty="0">
                          <a:solidFill>
                            <a:schemeClr val="tx1"/>
                          </a:solidFill>
                          <a:effectLst/>
                        </a:rPr>
                        <a:t> 메모리의 불필요한 점유 감소 가능</a:t>
                      </a:r>
                      <a:endParaRPr lang="en-US" altLang="ko-KR" sz="1200" strike="noStrike"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Data</a:t>
                      </a:r>
                      <a:r>
                        <a:rPr lang="ko-KR" altLang="en-US" sz="1200" strike="noStrike" baseline="0" dirty="0">
                          <a:solidFill>
                            <a:schemeClr val="tx1"/>
                          </a:solidFill>
                          <a:effectLst/>
                        </a:rPr>
                        <a:t>별 접근 특성 반영 한계 </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solidFill>
                            <a:schemeClr val="tx1"/>
                          </a:solidFill>
                          <a:effectLst/>
                        </a:rPr>
                        <a:t>동일한 </a:t>
                      </a:r>
                      <a:r>
                        <a:rPr lang="en-US" altLang="ko-KR" sz="1200" strike="noStrike" baseline="0" dirty="0">
                          <a:solidFill>
                            <a:schemeClr val="tx1"/>
                          </a:solidFill>
                          <a:effectLst/>
                        </a:rPr>
                        <a:t>Resource state</a:t>
                      </a:r>
                      <a:r>
                        <a:rPr lang="ko-KR" altLang="en-US" sz="1200" strike="noStrike" baseline="0" dirty="0">
                          <a:solidFill>
                            <a:schemeClr val="tx1"/>
                          </a:solidFill>
                          <a:effectLst/>
                        </a:rPr>
                        <a:t>에서 서로 다른 </a:t>
                      </a:r>
                      <a:r>
                        <a:rPr lang="en-US" altLang="ko-KR" sz="1200" strike="noStrike" baseline="0" dirty="0">
                          <a:solidFill>
                            <a:schemeClr val="tx1"/>
                          </a:solidFill>
                          <a:effectLst/>
                        </a:rPr>
                        <a:t>Data</a:t>
                      </a:r>
                      <a:r>
                        <a:rPr lang="ko-KR" altLang="en-US" sz="1200" strike="noStrike" baseline="0" dirty="0">
                          <a:solidFill>
                            <a:schemeClr val="tx1"/>
                          </a:solidFill>
                          <a:effectLst/>
                        </a:rPr>
                        <a:t>의 </a:t>
                      </a:r>
                      <a:r>
                        <a:rPr lang="en-US" altLang="ko-KR" sz="1200" strike="noStrike" baseline="0" dirty="0">
                          <a:solidFill>
                            <a:schemeClr val="tx1"/>
                          </a:solidFill>
                          <a:effectLst/>
                        </a:rPr>
                        <a:t>Access pattern </a:t>
                      </a:r>
                      <a:r>
                        <a:rPr lang="ko-KR" altLang="en-US" sz="1200" strike="noStrike" baseline="0" dirty="0">
                          <a:solidFill>
                            <a:schemeClr val="tx1"/>
                          </a:solidFill>
                          <a:effectLst/>
                        </a:rPr>
                        <a:t>구분 한계</a:t>
                      </a:r>
                      <a:endParaRPr lang="en-US" altLang="ko-KR" sz="1200" strike="noStrike" baseline="0" dirty="0">
                        <a:solidFill>
                          <a:schemeClr val="tx1"/>
                        </a:solidFill>
                        <a:effectLst/>
                      </a:endParaRP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à"/>
                        <a:tabLst/>
                        <a:defRPr/>
                      </a:pPr>
                      <a:r>
                        <a:rPr lang="ko-KR" altLang="en-US" sz="1200" strike="noStrike" baseline="0" dirty="0">
                          <a:solidFill>
                            <a:srgbClr val="FF0000"/>
                          </a:solidFill>
                          <a:effectLst/>
                          <a:sym typeface="Wingdings" panose="05000000000000000000" pitchFamily="2" charset="2"/>
                        </a:rPr>
                        <a:t>사전에 알 수 있는 </a:t>
                      </a:r>
                      <a:r>
                        <a:rPr lang="en-US" altLang="ko-KR" sz="1200" strike="noStrike" baseline="0" dirty="0">
                          <a:solidFill>
                            <a:srgbClr val="FF0000"/>
                          </a:solidFill>
                          <a:effectLst/>
                          <a:sym typeface="Wingdings" panose="05000000000000000000" pitchFamily="2" charset="2"/>
                        </a:rPr>
                        <a:t>AI Data/operation</a:t>
                      </a:r>
                      <a:r>
                        <a:rPr lang="ko-KR" altLang="en-US" sz="1200" strike="noStrike" baseline="0" dirty="0">
                          <a:solidFill>
                            <a:srgbClr val="FF0000"/>
                          </a:solidFill>
                          <a:effectLst/>
                          <a:sym typeface="Wingdings" panose="05000000000000000000" pitchFamily="2" charset="2"/>
                        </a:rPr>
                        <a:t>의 특성은 </a:t>
                      </a:r>
                      <a:r>
                        <a:rPr lang="en-US" altLang="ko-KR" sz="1200" strike="noStrike" baseline="0" dirty="0">
                          <a:solidFill>
                            <a:srgbClr val="FF0000"/>
                          </a:solidFill>
                          <a:effectLst/>
                          <a:sym typeface="Wingdings" panose="05000000000000000000" pitchFamily="2" charset="2"/>
                        </a:rPr>
                        <a:t>static hint</a:t>
                      </a:r>
                      <a:r>
                        <a:rPr lang="ko-KR" altLang="en-US" sz="1200" strike="noStrike" baseline="0" dirty="0">
                          <a:solidFill>
                            <a:srgbClr val="FF0000"/>
                          </a:solidFill>
                          <a:effectLst/>
                          <a:sym typeface="Wingdings" panose="05000000000000000000" pitchFamily="2" charset="2"/>
                        </a:rPr>
                        <a:t>로 반영</a:t>
                      </a:r>
                      <a:endParaRPr lang="en-US" altLang="ko-KR" sz="1200" strike="noStrike" baseline="0" dirty="0">
                        <a:solidFill>
                          <a:srgbClr val="FF0000"/>
                        </a:solidFill>
                        <a:effectLst/>
                        <a:sym typeface="Wingdings" panose="05000000000000000000" pitchFamily="2" charset="2"/>
                      </a:endParaRP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à"/>
                        <a:tabLst/>
                        <a:defRPr/>
                      </a:pPr>
                      <a:r>
                        <a:rPr lang="en-US" altLang="ko-KR" sz="1200" strike="noStrike" baseline="0" dirty="0">
                          <a:solidFill>
                            <a:srgbClr val="FF0000"/>
                          </a:solidFill>
                          <a:effectLst/>
                          <a:sym typeface="Wingdings" panose="05000000000000000000" pitchFamily="2" charset="2"/>
                        </a:rPr>
                        <a:t>KV </a:t>
                      </a:r>
                      <a:r>
                        <a:rPr lang="ko-KR" altLang="en-US" sz="1200" strike="noStrike" baseline="0" dirty="0">
                          <a:solidFill>
                            <a:srgbClr val="FF0000"/>
                          </a:solidFill>
                          <a:effectLst/>
                          <a:sym typeface="Wingdings" panose="05000000000000000000" pitchFamily="2" charset="2"/>
                        </a:rPr>
                        <a:t>캐시에 대한 </a:t>
                      </a:r>
                      <a:r>
                        <a:rPr lang="en-US" altLang="ko-KR" sz="1200" strike="noStrike" baseline="0" dirty="0">
                          <a:solidFill>
                            <a:srgbClr val="FF0000"/>
                          </a:solidFill>
                          <a:effectLst/>
                          <a:sym typeface="Wingdings" panose="05000000000000000000" pitchFamily="2" charset="2"/>
                        </a:rPr>
                        <a:t>behavior</a:t>
                      </a:r>
                      <a:r>
                        <a:rPr lang="ko-KR" altLang="en-US" sz="1200" strike="noStrike" baseline="0" dirty="0">
                          <a:solidFill>
                            <a:srgbClr val="FF0000"/>
                          </a:solidFill>
                          <a:effectLst/>
                          <a:sym typeface="Wingdings" panose="05000000000000000000" pitchFamily="2" charset="2"/>
                        </a:rPr>
                        <a:t>는 </a:t>
                      </a:r>
                      <a:r>
                        <a:rPr lang="en-US" altLang="ko-KR" sz="1200" strike="noStrike" baseline="0" dirty="0">
                          <a:solidFill>
                            <a:srgbClr val="FF0000"/>
                          </a:solidFill>
                          <a:effectLst/>
                          <a:sym typeface="Wingdings" panose="05000000000000000000" pitchFamily="2" charset="2"/>
                        </a:rPr>
                        <a:t>prefill/decode </a:t>
                      </a:r>
                      <a:r>
                        <a:rPr lang="ko-KR" altLang="en-US" sz="1200" strike="noStrike" baseline="0" dirty="0">
                          <a:solidFill>
                            <a:srgbClr val="FF0000"/>
                          </a:solidFill>
                          <a:effectLst/>
                          <a:sym typeface="Wingdings" panose="05000000000000000000" pitchFamily="2" charset="2"/>
                        </a:rPr>
                        <a:t>연산 위치 결정</a:t>
                      </a:r>
                      <a:r>
                        <a:rPr lang="en-US" altLang="ko-KR" sz="1200" strike="noStrike" baseline="0" dirty="0">
                          <a:solidFill>
                            <a:srgbClr val="FF0000"/>
                          </a:solidFill>
                          <a:effectLst/>
                          <a:sym typeface="Wingdings" panose="05000000000000000000" pitchFamily="2" charset="2"/>
                        </a:rPr>
                        <a:t>(DP2)</a:t>
                      </a:r>
                      <a:r>
                        <a:rPr lang="ko-KR" altLang="en-US" sz="1200" strike="noStrike" baseline="0" dirty="0">
                          <a:solidFill>
                            <a:srgbClr val="FF0000"/>
                          </a:solidFill>
                          <a:effectLst/>
                          <a:sym typeface="Wingdings" panose="05000000000000000000" pitchFamily="2" charset="2"/>
                        </a:rPr>
                        <a:t>으로 보완</a:t>
                      </a:r>
                      <a:r>
                        <a:rPr lang="ko-KR" altLang="en-US" sz="1200" strike="noStrike" baseline="0" dirty="0">
                          <a:solidFill>
                            <a:schemeClr val="tx1"/>
                          </a:solidFill>
                          <a:effectLst/>
                        </a:rPr>
                        <a:t> </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en-US" altLang="ko-KR" sz="1200" strike="noStrike" baseline="0" dirty="0">
                          <a:solidFill>
                            <a:schemeClr val="tx1"/>
                          </a:solidFill>
                          <a:effectLst/>
                        </a:rPr>
                        <a:t>Data </a:t>
                      </a:r>
                      <a:r>
                        <a:rPr lang="ko-KR" altLang="en-US" sz="1200" strike="noStrike" baseline="0" dirty="0">
                          <a:solidFill>
                            <a:schemeClr val="tx1"/>
                          </a:solidFill>
                          <a:effectLst/>
                        </a:rPr>
                        <a:t>종류 별 </a:t>
                      </a:r>
                      <a:r>
                        <a:rPr lang="en-US" altLang="ko-KR" sz="1200" strike="noStrike" baseline="0" dirty="0">
                          <a:solidFill>
                            <a:schemeClr val="tx1"/>
                          </a:solidFill>
                          <a:effectLst/>
                        </a:rPr>
                        <a:t>Characterization </a:t>
                      </a:r>
                      <a:r>
                        <a:rPr lang="ko-KR" altLang="en-US" sz="1200" strike="noStrike" baseline="0" dirty="0">
                          <a:solidFill>
                            <a:schemeClr val="tx1"/>
                          </a:solidFill>
                          <a:effectLst/>
                        </a:rPr>
                        <a:t>및 </a:t>
                      </a:r>
                      <a:r>
                        <a:rPr lang="en-US" altLang="ko-KR" sz="1200" strike="noStrike" baseline="0" dirty="0">
                          <a:solidFill>
                            <a:schemeClr val="tx1"/>
                          </a:solidFill>
                          <a:effectLst/>
                        </a:rPr>
                        <a:t>Pattern </a:t>
                      </a:r>
                      <a:r>
                        <a:rPr lang="ko-KR" altLang="en-US" sz="1200" strike="noStrike" baseline="0" dirty="0">
                          <a:solidFill>
                            <a:schemeClr val="tx1"/>
                          </a:solidFill>
                          <a:effectLst/>
                        </a:rPr>
                        <a:t>예측을 위한 </a:t>
                      </a:r>
                      <a:r>
                        <a:rPr lang="en-US" altLang="ko-KR" sz="1200" strike="noStrike" baseline="0" dirty="0">
                          <a:solidFill>
                            <a:schemeClr val="tx1"/>
                          </a:solidFill>
                          <a:effectLst/>
                        </a:rPr>
                        <a:t>Overhead </a:t>
                      </a:r>
                      <a:r>
                        <a:rPr lang="ko-KR" altLang="en-US" sz="1200" strike="noStrike" baseline="0" dirty="0">
                          <a:solidFill>
                            <a:schemeClr val="tx1"/>
                          </a:solidFill>
                          <a:effectLst/>
                        </a:rPr>
                        <a:t>증가</a:t>
                      </a: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예측 오류 시 </a:t>
                      </a:r>
                      <a:r>
                        <a:rPr lang="en-US" altLang="ko-KR" sz="1200" strike="noStrike" baseline="0" dirty="0" err="1">
                          <a:solidFill>
                            <a:schemeClr val="tx1"/>
                          </a:solidFill>
                          <a:effectLst/>
                        </a:rPr>
                        <a:t>Mis</a:t>
                      </a:r>
                      <a:r>
                        <a:rPr lang="en-US" altLang="ko-KR" sz="1200" strike="noStrike" baseline="0" dirty="0">
                          <a:solidFill>
                            <a:schemeClr val="tx1"/>
                          </a:solidFill>
                          <a:effectLst/>
                        </a:rPr>
                        <a:t>-placement </a:t>
                      </a:r>
                      <a:r>
                        <a:rPr lang="ko-KR" altLang="en-US" sz="1200" strike="noStrike" baseline="0" dirty="0">
                          <a:solidFill>
                            <a:schemeClr val="tx1"/>
                          </a:solidFill>
                          <a:effectLst/>
                        </a:rPr>
                        <a:t>가능</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541238">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 </a:t>
                      </a:r>
                      <a:r>
                        <a:rPr lang="en-US" altLang="ko-KR" sz="12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 </a:t>
                      </a:r>
                      <a:r>
                        <a:rPr lang="en-US" altLang="ko-KR" sz="1200" b="0" strike="noStrike" dirty="0">
                          <a:solidFill>
                            <a:schemeClr val="tx1"/>
                          </a:solidFill>
                        </a:rPr>
                        <a:t>(</a:t>
                      </a:r>
                      <a:r>
                        <a:rPr lang="en-US" altLang="ko-KR" sz="1200" b="0" strike="noStrike" dirty="0" err="1">
                          <a:solidFill>
                            <a:schemeClr val="tx1"/>
                          </a:solidFill>
                        </a:rPr>
                        <a:t>ms</a:t>
                      </a:r>
                      <a:r>
                        <a:rPr lang="en-US" altLang="ko-KR" sz="12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 (HBM </a:t>
                      </a:r>
                      <a:r>
                        <a:rPr lang="ko-KR" altLang="en-US" sz="1200" b="0" strike="noStrike" dirty="0">
                          <a:solidFill>
                            <a:schemeClr val="tx1"/>
                          </a:solidFill>
                        </a:rPr>
                        <a:t>사용량 </a:t>
                      </a:r>
                      <a:r>
                        <a:rPr lang="en-US" altLang="ko-KR" sz="1200" b="0" strike="noStrike" dirty="0">
                          <a:solidFill>
                            <a:schemeClr val="tx1"/>
                          </a:solidFill>
                        </a:rPr>
                        <a:t>GiB)</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 (module, M/M, </a:t>
                      </a:r>
                      <a:r>
                        <a:rPr lang="ko-KR" altLang="en-US" sz="1200" b="0" strike="noStrike" dirty="0">
                          <a:solidFill>
                            <a:schemeClr val="tx1"/>
                          </a:solidFill>
                        </a:rPr>
                        <a:t>토큰 비용</a:t>
                      </a:r>
                      <a:r>
                        <a:rPr lang="en-US" altLang="ko-KR" sz="1200" b="0" strike="noStrike" dirty="0">
                          <a:solidFill>
                            <a:schemeClr val="tx1"/>
                          </a:solidFill>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baseline="0"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436(x1.3)</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b="0" dirty="0">
                          <a:solidFill>
                            <a:srgbClr val="FF0000"/>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000" strike="noStrike" baseline="0" dirty="0">
                          <a:solidFill>
                            <a:srgbClr val="FF0000"/>
                          </a:solidFill>
                          <a:latin typeface="맑은 고딕" panose="020B0503020000020004" pitchFamily="50" charset="-127"/>
                          <a:ea typeface="+mn-ea"/>
                        </a:rPr>
                        <a:t>1128(x1.04), 18.3(x1.07)</a:t>
                      </a:r>
                      <a:endParaRPr lang="en-US" altLang="ko-KR" sz="1000" strike="noStrike" dirty="0">
                        <a:solidFill>
                          <a:srgbClr val="FF0000"/>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142.7(x0.97)</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1.75, 0.38, $1.16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 </a:t>
                      </a:r>
                      <a:r>
                        <a:rPr lang="en-US" altLang="ko-KR" sz="12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 </a:t>
                      </a:r>
                      <a:r>
                        <a:rPr lang="en-US" altLang="ko-KR" sz="1200" b="0" strike="noStrike" dirty="0">
                          <a:solidFill>
                            <a:schemeClr val="tx1"/>
                          </a:solidFill>
                        </a:rPr>
                        <a:t>(</a:t>
                      </a:r>
                      <a:r>
                        <a:rPr lang="en-US" altLang="ko-KR" sz="1200" b="0" strike="noStrike" dirty="0" err="1">
                          <a:solidFill>
                            <a:schemeClr val="tx1"/>
                          </a:solidFill>
                        </a:rPr>
                        <a:t>ms</a:t>
                      </a:r>
                      <a:r>
                        <a:rPr lang="en-US" altLang="ko-KR" sz="12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Resource Utilization (HBM </a:t>
                      </a:r>
                      <a:r>
                        <a:rPr lang="ko-KR" altLang="en-US" sz="1200" b="0" strike="noStrike" dirty="0">
                          <a:solidFill>
                            <a:schemeClr val="tx1"/>
                          </a:solidFill>
                        </a:rPr>
                        <a:t>사용량 </a:t>
                      </a:r>
                      <a:r>
                        <a:rPr lang="en-US" altLang="ko-KR" sz="1200" b="0" strike="noStrike" dirty="0">
                          <a:solidFill>
                            <a:schemeClr val="tx1"/>
                          </a:solidFill>
                        </a:rPr>
                        <a:t>GiB)</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 (module, M/M, </a:t>
                      </a:r>
                      <a:r>
                        <a:rPr lang="ko-KR" altLang="en-US" sz="1200" b="0" strike="noStrike" dirty="0">
                          <a:solidFill>
                            <a:schemeClr val="tx1"/>
                          </a:solidFill>
                        </a:rPr>
                        <a:t>토큰 비용</a:t>
                      </a:r>
                      <a:r>
                        <a:rPr lang="en-US" altLang="ko-KR" sz="1200" b="0" strike="noStrike" dirty="0">
                          <a:solidFill>
                            <a:schemeClr val="tx1"/>
                          </a:solidFill>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baseline="0" dirty="0">
                          <a:solidFill>
                            <a:schemeClr val="tx1"/>
                          </a:solidFill>
                          <a:latin typeface="맑은 고딕" panose="020B0503020000020004" pitchFamily="50" charset="-127"/>
                          <a:ea typeface="+mn-ea"/>
                        </a:rPr>
                        <a:t>478</a:t>
                      </a:r>
                      <a:r>
                        <a:rPr lang="en-US" altLang="ko-KR" sz="1000" strike="noStrike" baseline="0" dirty="0">
                          <a:solidFill>
                            <a:schemeClr val="tx1"/>
                          </a:solidFill>
                          <a:latin typeface="맑은 고딕" panose="020B0503020000020004" pitchFamily="50" charset="-127"/>
                          <a:ea typeface="+mn-ea"/>
                        </a:rPr>
                        <a:t>(x1.42)</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785</a:t>
                      </a:r>
                      <a:r>
                        <a:rPr lang="en-US" altLang="ko-KR" sz="1000" strike="noStrike" dirty="0">
                          <a:solidFill>
                            <a:schemeClr val="tx1"/>
                          </a:solidFill>
                          <a:latin typeface="맑은 고딕" panose="020B0503020000020004" pitchFamily="50" charset="-127"/>
                          <a:ea typeface="+mn-ea"/>
                        </a:rPr>
                        <a:t>(x0.72)</a:t>
                      </a:r>
                      <a:r>
                        <a:rPr lang="en-US" altLang="ko-KR" sz="1200" strike="noStrike" dirty="0">
                          <a:solidFill>
                            <a:schemeClr val="tx1"/>
                          </a:solidFill>
                          <a:latin typeface="맑은 고딕" panose="020B0503020000020004" pitchFamily="50" charset="-127"/>
                          <a:ea typeface="+mn-ea"/>
                        </a:rPr>
                        <a:t>,16.0</a:t>
                      </a:r>
                      <a:r>
                        <a:rPr lang="en-US" altLang="ko-KR" sz="1000" strike="noStrike" dirty="0">
                          <a:solidFill>
                            <a:schemeClr val="tx1"/>
                          </a:solidFill>
                          <a:latin typeface="맑은 고딕" panose="020B0503020000020004" pitchFamily="50" charset="-127"/>
                          <a:ea typeface="+mn-ea"/>
                        </a:rPr>
                        <a:t>(x0.94)</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200" strike="noStrike" dirty="0">
                          <a:solidFill>
                            <a:schemeClr val="tx1"/>
                          </a:solidFill>
                          <a:latin typeface="맑은 고딕" panose="020B0503020000020004" pitchFamily="50" charset="-127"/>
                          <a:ea typeface="+mn-ea"/>
                        </a:rPr>
                        <a:t>178</a:t>
                      </a:r>
                      <a:r>
                        <a:rPr lang="en-US" altLang="ko-KR" sz="1000" strike="noStrike" dirty="0">
                          <a:solidFill>
                            <a:schemeClr val="tx1"/>
                          </a:solidFill>
                          <a:latin typeface="맑은 고딕" panose="020B0503020000020004" pitchFamily="50" charset="-127"/>
                          <a:ea typeface="+mn-ea"/>
                        </a:rPr>
                        <a:t>(x1.21)</a:t>
                      </a:r>
                      <a:endParaRPr lang="en-US" altLang="ko-KR" sz="12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 </a:t>
                      </a:r>
                      <a:r>
                        <a:rPr lang="en-US" altLang="ko-KR" sz="1200" b="0" dirty="0">
                          <a:solidFill>
                            <a:srgbClr val="1A1A1A"/>
                          </a:solidFill>
                          <a:latin typeface="+mn-lt"/>
                          <a:ea typeface="맑은 고딕"/>
                        </a:rPr>
                        <a:t>2.50, 0.51, $1.49</a:t>
                      </a:r>
                      <a:endParaRPr lang="en-US" altLang="ko-KR" sz="1200" strike="noStrike" dirty="0">
                        <a:solidFill>
                          <a:prstClr val="black"/>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DP1. </a:t>
            </a:r>
            <a:r>
              <a:rPr lang="ko-KR" altLang="en-US" dirty="0"/>
              <a:t>이기종 메모리 기반 </a:t>
            </a:r>
            <a:r>
              <a:rPr lang="en-US" altLang="ko-KR" dirty="0"/>
              <a:t>Data Migration</a:t>
            </a:r>
            <a:r>
              <a:rPr lang="ko-KR" altLang="en-US" dirty="0"/>
              <a:t> 결정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a:solidFill>
                  <a:schemeClr val="bg1"/>
                </a:solidFill>
              </a:rPr>
              <a:t>이기종 메모리 환경에서 언제</a:t>
            </a:r>
            <a:r>
              <a:rPr lang="en-US" altLang="ko-KR" sz="1400" b="1" dirty="0">
                <a:solidFill>
                  <a:schemeClr val="bg1"/>
                </a:solidFill>
              </a:rPr>
              <a:t>, </a:t>
            </a:r>
            <a:r>
              <a:rPr lang="ko-KR" altLang="en-US" sz="1400" b="1" dirty="0">
                <a:solidFill>
                  <a:schemeClr val="bg1"/>
                </a:solidFill>
              </a:rPr>
              <a:t>무엇을</a:t>
            </a:r>
            <a:r>
              <a:rPr lang="en-US" altLang="ko-KR" sz="1400" b="1" dirty="0">
                <a:solidFill>
                  <a:schemeClr val="bg1"/>
                </a:solidFill>
              </a:rPr>
              <a:t>, </a:t>
            </a:r>
            <a:r>
              <a:rPr lang="ko-KR" altLang="en-US" sz="1400" b="1" dirty="0">
                <a:solidFill>
                  <a:schemeClr val="bg1"/>
                </a:solidFill>
              </a:rPr>
              <a:t>어느 </a:t>
            </a:r>
            <a:r>
              <a:rPr lang="en-US" altLang="ko-KR" sz="1400" b="1" dirty="0">
                <a:solidFill>
                  <a:schemeClr val="bg1"/>
                </a:solidFill>
              </a:rPr>
              <a:t>memory tier</a:t>
            </a:r>
            <a:r>
              <a:rPr lang="ko-KR" altLang="en-US" sz="1400" b="1" dirty="0">
                <a:solidFill>
                  <a:schemeClr val="bg1"/>
                </a:solidFill>
              </a:rPr>
              <a:t>로 이동할지 결정 </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“Data</a:t>
            </a:r>
            <a:r>
              <a:rPr lang="ko-KR" altLang="en-US" sz="1100" dirty="0"/>
              <a:t> 종류 관계없이 </a:t>
            </a:r>
            <a:r>
              <a:rPr lang="ko-KR" altLang="en-US" sz="1100" dirty="0">
                <a:solidFill>
                  <a:srgbClr val="0066FF"/>
                </a:solidFill>
              </a:rPr>
              <a:t>메모리</a:t>
            </a:r>
            <a:r>
              <a:rPr lang="en-US" altLang="ko-KR" sz="1100" dirty="0">
                <a:solidFill>
                  <a:srgbClr val="0066FF"/>
                </a:solidFill>
              </a:rPr>
              <a:t> </a:t>
            </a:r>
            <a:r>
              <a:rPr lang="ko-KR" altLang="en-US" sz="1100" dirty="0">
                <a:solidFill>
                  <a:srgbClr val="0066FF"/>
                </a:solidFill>
              </a:rPr>
              <a:t>자원 상태</a:t>
            </a:r>
            <a:r>
              <a:rPr lang="en-US" altLang="ko-KR" sz="1100" dirty="0">
                <a:solidFill>
                  <a:srgbClr val="0066FF"/>
                </a:solidFill>
              </a:rPr>
              <a:t>(Capacity/BW/Load)</a:t>
            </a:r>
            <a:r>
              <a:rPr lang="ko-KR" altLang="en-US" sz="1100" dirty="0"/>
              <a:t>에 우선한 </a:t>
            </a:r>
            <a:r>
              <a:rPr lang="en-US" altLang="ko-KR" sz="1100" dirty="0"/>
              <a:t>Migration“</a:t>
            </a:r>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a:t>
            </a:r>
            <a:r>
              <a:rPr lang="en-US" altLang="ko-KR" sz="1100" dirty="0">
                <a:solidFill>
                  <a:srgbClr val="0066FF"/>
                </a:solidFill>
              </a:rPr>
              <a:t>AI Data</a:t>
            </a:r>
            <a:r>
              <a:rPr lang="ko-KR" altLang="en-US" sz="1100" dirty="0">
                <a:solidFill>
                  <a:srgbClr val="0066FF"/>
                </a:solidFill>
              </a:rPr>
              <a:t> 특성</a:t>
            </a:r>
            <a:r>
              <a:rPr lang="en-US" altLang="ko-KR" sz="1100" dirty="0">
                <a:solidFill>
                  <a:srgbClr val="0066FF"/>
                </a:solidFill>
              </a:rPr>
              <a:t>(Type/Hotness/Lifetime/Agent Tool Info </a:t>
            </a:r>
            <a:r>
              <a:rPr lang="ko-KR" altLang="en-US" sz="1100" dirty="0">
                <a:solidFill>
                  <a:srgbClr val="0066FF"/>
                </a:solidFill>
              </a:rPr>
              <a:t>등</a:t>
            </a:r>
            <a:r>
              <a:rPr lang="en-US" altLang="ko-KR" sz="1100" dirty="0">
                <a:solidFill>
                  <a:srgbClr val="0066FF"/>
                </a:solidFill>
              </a:rPr>
              <a:t>)</a:t>
            </a:r>
            <a:r>
              <a:rPr lang="ko-KR" altLang="en-US" sz="1100" dirty="0"/>
              <a:t>에 우선한 </a:t>
            </a:r>
            <a:r>
              <a:rPr lang="en-US" altLang="ko-KR" sz="1100" dirty="0"/>
              <a:t>Migration“</a:t>
            </a:r>
            <a:endParaRPr lang="ko-KR" altLang="en-US" sz="1100" dirty="0"/>
          </a:p>
        </p:txBody>
      </p:sp>
      <p:sp>
        <p:nvSpPr>
          <p:cNvPr id="140" name="직사각형 139"/>
          <p:cNvSpPr/>
          <p:nvPr/>
        </p:nvSpPr>
        <p:spPr>
          <a:xfrm>
            <a:off x="6521412" y="46469"/>
            <a:ext cx="1487330" cy="461665"/>
          </a:xfrm>
          <a:prstGeom prst="rect">
            <a:avLst/>
          </a:prstGeom>
        </p:spPr>
        <p:txBody>
          <a:bodyPr wrap="none">
            <a:spAutoFit/>
          </a:bodyPr>
          <a:lstStyle/>
          <a:p>
            <a:r>
              <a:rPr lang="en-US" altLang="ko-KR" sz="1200" b="1" dirty="0"/>
              <a:t>(When, What, </a:t>
            </a:r>
          </a:p>
          <a:p>
            <a:r>
              <a:rPr lang="en-US" altLang="ko-KR" sz="1200" b="1" dirty="0"/>
              <a:t>Where to locate?)</a:t>
            </a:r>
            <a:endParaRPr lang="ko-KR" altLang="en-US" sz="1200" dirty="0"/>
          </a:p>
        </p:txBody>
      </p:sp>
      <p:sp>
        <p:nvSpPr>
          <p:cNvPr id="182" name="DecisionPlane"/>
          <p:cNvSpPr/>
          <p:nvPr/>
        </p:nvSpPr>
        <p:spPr>
          <a:xfrm>
            <a:off x="1335759" y="1959311"/>
            <a:ext cx="4919889" cy="1240052"/>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Control Plane</a:t>
            </a:r>
            <a:endParaRPr lang="ko-KR" altLang="en-US" sz="1000" b="1" dirty="0">
              <a:solidFill>
                <a:schemeClr val="tx1"/>
              </a:solidFill>
            </a:endParaRPr>
          </a:p>
        </p:txBody>
      </p:sp>
      <p:sp>
        <p:nvSpPr>
          <p:cNvPr id="183" name="DecisionPlane tab"/>
          <p:cNvSpPr/>
          <p:nvPr/>
        </p:nvSpPr>
        <p:spPr>
          <a:xfrm>
            <a:off x="1335759" y="1853363"/>
            <a:ext cx="251696" cy="109458"/>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184" name="KV Cache Manager"/>
          <p:cNvSpPr/>
          <p:nvPr/>
        </p:nvSpPr>
        <p:spPr>
          <a:xfrm>
            <a:off x="3164079" y="2193913"/>
            <a:ext cx="1475872" cy="78936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t">
            <a:noAutofit/>
          </a:bodyPr>
          <a:lstStyle/>
          <a:p>
            <a:pPr algn="ctr"/>
            <a:r>
              <a:rPr lang="en-US" altLang="ko-KR" sz="900" b="1" dirty="0">
                <a:solidFill>
                  <a:schemeClr val="tx1"/>
                </a:solidFill>
              </a:rPr>
              <a:t>Migration Policy Engine</a:t>
            </a:r>
            <a:endParaRPr lang="ko-KR" altLang="en-US" sz="900" b="1" dirty="0">
              <a:solidFill>
                <a:schemeClr val="tx1"/>
              </a:solidFill>
            </a:endParaRPr>
          </a:p>
        </p:txBody>
      </p:sp>
      <p:sp>
        <p:nvSpPr>
          <p:cNvPr id="185" name="KV Cache Manager"/>
          <p:cNvSpPr/>
          <p:nvPr/>
        </p:nvSpPr>
        <p:spPr>
          <a:xfrm>
            <a:off x="1495682" y="2183542"/>
            <a:ext cx="1528573" cy="25826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Scheduler</a:t>
            </a:r>
            <a:endParaRPr lang="ko-KR" altLang="en-US" sz="900" b="1" dirty="0">
              <a:solidFill>
                <a:schemeClr val="tx1"/>
              </a:solidFill>
            </a:endParaRPr>
          </a:p>
        </p:txBody>
      </p:sp>
      <p:cxnSp>
        <p:nvCxnSpPr>
          <p:cNvPr id="187" name="① Event"/>
          <p:cNvCxnSpPr>
            <a:stCxn id="238" idx="1"/>
            <a:endCxn id="184" idx="3"/>
          </p:cNvCxnSpPr>
          <p:nvPr/>
        </p:nvCxnSpPr>
        <p:spPr>
          <a:xfrm rot="10800000" flipV="1">
            <a:off x="4639951" y="2357098"/>
            <a:ext cx="282218" cy="231496"/>
          </a:xfrm>
          <a:prstGeom prst="bentConnector3">
            <a:avLst>
              <a:gd name="adj1" fmla="val 50000"/>
            </a:avLst>
          </a:prstGeom>
          <a:ln w="9525">
            <a:solidFill>
              <a:schemeClr val="tx1"/>
            </a:solidFill>
            <a:prstDash val="dash"/>
            <a:tailEnd type="arrow"/>
          </a:ln>
        </p:spPr>
      </p:cxnSp>
      <p:grpSp>
        <p:nvGrpSpPr>
          <p:cNvPr id="226" name="그룹 225"/>
          <p:cNvGrpSpPr/>
          <p:nvPr/>
        </p:nvGrpSpPr>
        <p:grpSpPr>
          <a:xfrm>
            <a:off x="1338169" y="3397737"/>
            <a:ext cx="2307208" cy="1111995"/>
            <a:chOff x="1368902" y="2641933"/>
            <a:chExt cx="2323127" cy="1082212"/>
          </a:xfrm>
        </p:grpSpPr>
        <p:grpSp>
          <p:nvGrpSpPr>
            <p:cNvPr id="227" name="그룹 226"/>
            <p:cNvGrpSpPr/>
            <p:nvPr/>
          </p:nvGrpSpPr>
          <p:grpSpPr>
            <a:xfrm>
              <a:off x="1368902" y="2641933"/>
              <a:ext cx="2323127" cy="1082212"/>
              <a:chOff x="997398" y="2493864"/>
              <a:chExt cx="2436692" cy="1419981"/>
            </a:xfrm>
          </p:grpSpPr>
          <p:sp>
            <p:nvSpPr>
              <p:cNvPr id="229" name="DecisionPlane"/>
              <p:cNvSpPr/>
              <p:nvPr/>
            </p:nvSpPr>
            <p:spPr>
              <a:xfrm>
                <a:off x="997399" y="2621986"/>
                <a:ext cx="2436691" cy="1291859"/>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Resource Plane</a:t>
                </a:r>
                <a:endParaRPr lang="ko-KR" altLang="en-US" sz="1000" b="1" dirty="0">
                  <a:solidFill>
                    <a:schemeClr val="tx1"/>
                  </a:solidFill>
                </a:endParaRPr>
              </a:p>
            </p:txBody>
          </p:sp>
          <p:sp>
            <p:nvSpPr>
              <p:cNvPr id="230" name="DecisionPlane tab"/>
              <p:cNvSpPr/>
              <p:nvPr/>
            </p:nvSpPr>
            <p:spPr>
              <a:xfrm>
                <a:off x="997398" y="2493864"/>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32" name="KV Cache Manager"/>
              <p:cNvSpPr/>
              <p:nvPr/>
            </p:nvSpPr>
            <p:spPr>
              <a:xfrm>
                <a:off x="1439913" y="2950432"/>
                <a:ext cx="1550000" cy="309092"/>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Resource State Monitor</a:t>
                </a:r>
                <a:endParaRPr lang="ko-KR" altLang="en-US" sz="900" b="1" dirty="0">
                  <a:solidFill>
                    <a:schemeClr val="tx1"/>
                  </a:solidFill>
                </a:endParaRPr>
              </a:p>
            </p:txBody>
          </p:sp>
          <p:sp>
            <p:nvSpPr>
              <p:cNvPr id="233" name="KV Cache Manager"/>
              <p:cNvSpPr/>
              <p:nvPr/>
            </p:nvSpPr>
            <p:spPr>
              <a:xfrm>
                <a:off x="1183388" y="3469661"/>
                <a:ext cx="2063051" cy="309091"/>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Resource-based Trend Analyzer</a:t>
                </a:r>
                <a:endParaRPr lang="ko-KR" altLang="en-US" sz="900" b="1" dirty="0">
                  <a:solidFill>
                    <a:schemeClr val="tx1"/>
                  </a:solidFill>
                </a:endParaRPr>
              </a:p>
            </p:txBody>
          </p:sp>
        </p:grpSp>
        <p:cxnSp>
          <p:nvCxnSpPr>
            <p:cNvPr id="228" name="① Event"/>
            <p:cNvCxnSpPr>
              <a:stCxn id="232" idx="2"/>
              <a:endCxn id="233" idx="0"/>
            </p:cNvCxnSpPr>
            <p:nvPr/>
          </p:nvCxnSpPr>
          <p:spPr>
            <a:xfrm>
              <a:off x="2529673" y="3225468"/>
              <a:ext cx="1" cy="160152"/>
            </a:xfrm>
            <a:prstGeom prst="line">
              <a:avLst/>
            </a:prstGeom>
            <a:ln w="9525">
              <a:solidFill>
                <a:schemeClr val="tx1"/>
              </a:solidFill>
              <a:prstDash val="dash"/>
              <a:tailEnd type="arrow"/>
            </a:ln>
          </p:spPr>
        </p:cxnSp>
      </p:grpSp>
      <p:cxnSp>
        <p:nvCxnSpPr>
          <p:cNvPr id="234" name="① Event"/>
          <p:cNvCxnSpPr/>
          <p:nvPr/>
        </p:nvCxnSpPr>
        <p:spPr>
          <a:xfrm flipH="1">
            <a:off x="1956709" y="2440976"/>
            <a:ext cx="1" cy="1288392"/>
          </a:xfrm>
          <a:prstGeom prst="line">
            <a:avLst/>
          </a:prstGeom>
          <a:ln w="9525">
            <a:solidFill>
              <a:schemeClr val="tx1"/>
            </a:solidFill>
            <a:prstDash val="dash"/>
            <a:tailEnd type="arrow"/>
          </a:ln>
        </p:spPr>
      </p:cxnSp>
      <p:sp>
        <p:nvSpPr>
          <p:cNvPr id="238" name="KV Cache Manager"/>
          <p:cNvSpPr/>
          <p:nvPr/>
        </p:nvSpPr>
        <p:spPr>
          <a:xfrm>
            <a:off x="4922169" y="2200849"/>
            <a:ext cx="1219729" cy="312497"/>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Data-Memory</a:t>
            </a:r>
          </a:p>
          <a:p>
            <a:pPr algn="ctr"/>
            <a:r>
              <a:rPr lang="en-US" altLang="ko-KR" sz="900" b="1" dirty="0">
                <a:solidFill>
                  <a:schemeClr val="tx1"/>
                </a:solidFill>
              </a:rPr>
              <a:t>Affinity Mapper</a:t>
            </a:r>
            <a:endParaRPr lang="ko-KR" altLang="en-US" sz="900" b="1" dirty="0">
              <a:solidFill>
                <a:schemeClr val="tx1"/>
              </a:solidFill>
            </a:endParaRPr>
          </a:p>
        </p:txBody>
      </p:sp>
      <p:sp>
        <p:nvSpPr>
          <p:cNvPr id="239" name="KV Cache Manager"/>
          <p:cNvSpPr/>
          <p:nvPr/>
        </p:nvSpPr>
        <p:spPr>
          <a:xfrm>
            <a:off x="4939051" y="2670778"/>
            <a:ext cx="1219729" cy="312497"/>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Access Cost Estimator</a:t>
            </a:r>
            <a:endParaRPr lang="ko-KR" altLang="en-US" sz="900" b="1" dirty="0">
              <a:solidFill>
                <a:schemeClr val="tx1"/>
              </a:solidFill>
            </a:endParaRPr>
          </a:p>
        </p:txBody>
      </p:sp>
      <p:cxnSp>
        <p:nvCxnSpPr>
          <p:cNvPr id="240" name="① Event"/>
          <p:cNvCxnSpPr>
            <a:stCxn id="233" idx="3"/>
            <a:endCxn id="184" idx="2"/>
          </p:cNvCxnSpPr>
          <p:nvPr/>
        </p:nvCxnSpPr>
        <p:spPr>
          <a:xfrm flipV="1">
            <a:off x="3467698" y="2983274"/>
            <a:ext cx="434317" cy="1299641"/>
          </a:xfrm>
          <a:prstGeom prst="bentConnector2">
            <a:avLst/>
          </a:prstGeom>
          <a:ln w="9525">
            <a:solidFill>
              <a:schemeClr val="tx1"/>
            </a:solidFill>
            <a:prstDash val="dash"/>
            <a:tailEnd type="arrow"/>
          </a:ln>
        </p:spPr>
      </p:cxnSp>
      <p:sp>
        <p:nvSpPr>
          <p:cNvPr id="242" name="KV Cache Manager"/>
          <p:cNvSpPr/>
          <p:nvPr/>
        </p:nvSpPr>
        <p:spPr>
          <a:xfrm>
            <a:off x="3304005" y="2572776"/>
            <a:ext cx="1219729" cy="258262"/>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Budget</a:t>
            </a:r>
            <a:endParaRPr lang="ko-KR" altLang="en-US" sz="900" b="1" dirty="0">
              <a:solidFill>
                <a:schemeClr val="tx1"/>
              </a:solidFill>
            </a:endParaRPr>
          </a:p>
        </p:txBody>
      </p:sp>
      <p:cxnSp>
        <p:nvCxnSpPr>
          <p:cNvPr id="243" name="① Event"/>
          <p:cNvCxnSpPr>
            <a:stCxn id="239" idx="1"/>
            <a:endCxn id="184" idx="3"/>
          </p:cNvCxnSpPr>
          <p:nvPr/>
        </p:nvCxnSpPr>
        <p:spPr>
          <a:xfrm rot="10800000">
            <a:off x="4639951" y="2588595"/>
            <a:ext cx="299100" cy="238433"/>
          </a:xfrm>
          <a:prstGeom prst="bentConnector3">
            <a:avLst>
              <a:gd name="adj1" fmla="val 50000"/>
            </a:avLst>
          </a:prstGeom>
          <a:ln w="9525">
            <a:solidFill>
              <a:schemeClr val="tx1"/>
            </a:solidFill>
            <a:prstDash val="dash"/>
            <a:tailEnd type="arrow"/>
          </a:ln>
        </p:spPr>
      </p:cxnSp>
      <p:grpSp>
        <p:nvGrpSpPr>
          <p:cNvPr id="248" name="그룹 247"/>
          <p:cNvGrpSpPr/>
          <p:nvPr/>
        </p:nvGrpSpPr>
        <p:grpSpPr>
          <a:xfrm>
            <a:off x="4308029" y="3331134"/>
            <a:ext cx="1858865" cy="1187640"/>
            <a:chOff x="4314807" y="3220931"/>
            <a:chExt cx="1858865" cy="1187640"/>
          </a:xfrm>
        </p:grpSpPr>
        <p:grpSp>
          <p:nvGrpSpPr>
            <p:cNvPr id="249" name="그룹 248"/>
            <p:cNvGrpSpPr/>
            <p:nvPr/>
          </p:nvGrpSpPr>
          <p:grpSpPr>
            <a:xfrm>
              <a:off x="4314807" y="3220931"/>
              <a:ext cx="1858865" cy="1187640"/>
              <a:chOff x="4168897" y="2550266"/>
              <a:chExt cx="1879320" cy="1795730"/>
            </a:xfrm>
          </p:grpSpPr>
          <p:sp>
            <p:nvSpPr>
              <p:cNvPr id="251" name="DecisionPlane"/>
              <p:cNvSpPr/>
              <p:nvPr/>
            </p:nvSpPr>
            <p:spPr>
              <a:xfrm>
                <a:off x="4168899" y="2678898"/>
                <a:ext cx="1879318" cy="1667098"/>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Data </a:t>
                </a:r>
                <a:r>
                  <a:rPr lang="ko-KR" altLang="en-US" sz="1000" b="1" dirty="0" err="1">
                    <a:solidFill>
                      <a:schemeClr val="tx1"/>
                    </a:solidFill>
                  </a:rPr>
                  <a:t>Plane</a:t>
                </a:r>
                <a:endParaRPr lang="ko-KR" altLang="en-US" sz="1000" b="1" dirty="0">
                  <a:solidFill>
                    <a:schemeClr val="tx1"/>
                  </a:solidFill>
                </a:endParaRPr>
              </a:p>
            </p:txBody>
          </p:sp>
          <p:sp>
            <p:nvSpPr>
              <p:cNvPr id="252" name="DecisionPlane tab"/>
              <p:cNvSpPr/>
              <p:nvPr/>
            </p:nvSpPr>
            <p:spPr>
              <a:xfrm>
                <a:off x="4168897" y="2550266"/>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53" name="KV Cache Manager"/>
              <p:cNvSpPr/>
              <p:nvPr/>
            </p:nvSpPr>
            <p:spPr>
              <a:xfrm>
                <a:off x="4447534" y="3152142"/>
                <a:ext cx="1409091" cy="34000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Executor</a:t>
                </a:r>
                <a:endParaRPr lang="ko-KR" altLang="en-US" sz="900" b="1" dirty="0">
                  <a:solidFill>
                    <a:schemeClr val="tx1"/>
                  </a:solidFill>
                </a:endParaRPr>
              </a:p>
            </p:txBody>
          </p:sp>
          <p:sp>
            <p:nvSpPr>
              <p:cNvPr id="254" name="KV Cache Manager"/>
              <p:cNvSpPr/>
              <p:nvPr/>
            </p:nvSpPr>
            <p:spPr>
              <a:xfrm>
                <a:off x="4447534" y="3793018"/>
                <a:ext cx="1409091" cy="3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Transfer Handler</a:t>
                </a:r>
                <a:endParaRPr lang="ko-KR" altLang="en-US" sz="900" b="1" dirty="0">
                  <a:solidFill>
                    <a:schemeClr val="tx1"/>
                  </a:solidFill>
                </a:endParaRPr>
              </a:p>
            </p:txBody>
          </p:sp>
        </p:grpSp>
        <p:cxnSp>
          <p:nvCxnSpPr>
            <p:cNvPr id="250" name="① Event"/>
            <p:cNvCxnSpPr/>
            <p:nvPr/>
          </p:nvCxnSpPr>
          <p:spPr>
            <a:xfrm>
              <a:off x="5287288" y="3843859"/>
              <a:ext cx="0" cy="198990"/>
            </a:xfrm>
            <a:prstGeom prst="line">
              <a:avLst/>
            </a:prstGeom>
            <a:ln w="9525">
              <a:solidFill>
                <a:schemeClr val="tx1"/>
              </a:solidFill>
              <a:prstDash val="dash"/>
              <a:tailEnd type="arrow"/>
            </a:ln>
          </p:spPr>
        </p:cxnSp>
      </p:grpSp>
      <p:sp>
        <p:nvSpPr>
          <p:cNvPr id="256" name="직사각형 255"/>
          <p:cNvSpPr/>
          <p:nvPr/>
        </p:nvSpPr>
        <p:spPr>
          <a:xfrm>
            <a:off x="1428751" y="1987962"/>
            <a:ext cx="1660102" cy="200055"/>
          </a:xfrm>
          <a:prstGeom prst="rect">
            <a:avLst/>
          </a:prstGeom>
          <a:noFill/>
          <a:ln w="12700">
            <a:noFill/>
            <a:prstDash val="dash"/>
          </a:ln>
        </p:spPr>
        <p:txBody>
          <a:bodyPr rtlCol="0" anchor="ctr"/>
          <a:lstStyle/>
          <a:p>
            <a:r>
              <a:rPr lang="en-US" altLang="ko-KR" sz="700" dirty="0">
                <a:solidFill>
                  <a:schemeClr val="bg1">
                    <a:lumMod val="50000"/>
                  </a:schemeClr>
                </a:solidFill>
              </a:rPr>
              <a:t>Control/Decision: Event push(</a:t>
            </a:r>
            <a:r>
              <a:rPr lang="en-US" altLang="ko-KR" sz="700" dirty="0" err="1">
                <a:solidFill>
                  <a:schemeClr val="bg1">
                    <a:lumMod val="50000"/>
                  </a:schemeClr>
                </a:solidFill>
              </a:rPr>
              <a:t>async</a:t>
            </a:r>
            <a:r>
              <a:rPr lang="en-US" altLang="ko-KR" sz="700" dirty="0">
                <a:solidFill>
                  <a:schemeClr val="bg1">
                    <a:lumMod val="50000"/>
                  </a:schemeClr>
                </a:solidFill>
              </a:rPr>
              <a:t>)</a:t>
            </a:r>
            <a:endParaRPr lang="ko-KR" altLang="en-US" sz="700" dirty="0">
              <a:solidFill>
                <a:schemeClr val="bg1">
                  <a:lumMod val="50000"/>
                </a:schemeClr>
              </a:solidFill>
            </a:endParaRPr>
          </a:p>
        </p:txBody>
      </p:sp>
      <p:sp>
        <p:nvSpPr>
          <p:cNvPr id="257" name="직사각형 256"/>
          <p:cNvSpPr/>
          <p:nvPr/>
        </p:nvSpPr>
        <p:spPr>
          <a:xfrm>
            <a:off x="4522771" y="4340716"/>
            <a:ext cx="1529033" cy="200055"/>
          </a:xfrm>
          <a:prstGeom prst="rect">
            <a:avLst/>
          </a:prstGeom>
          <a:noFill/>
          <a:ln w="12700">
            <a:noFill/>
            <a:prstDash val="dash"/>
          </a:ln>
        </p:spPr>
        <p:txBody>
          <a:bodyPr rtlCol="0" anchor="ctr"/>
          <a:lstStyle/>
          <a:p>
            <a:r>
              <a:rPr lang="en-US" altLang="ko-KR" sz="700" dirty="0">
                <a:solidFill>
                  <a:schemeClr val="bg1">
                    <a:lumMod val="50000"/>
                  </a:schemeClr>
                </a:solidFill>
              </a:rPr>
              <a:t>Data Transfer: Background DMA</a:t>
            </a:r>
            <a:endParaRPr lang="ko-KR" altLang="en-US" sz="700" dirty="0">
              <a:solidFill>
                <a:schemeClr val="bg1">
                  <a:lumMod val="50000"/>
                </a:schemeClr>
              </a:solidFill>
            </a:endParaRPr>
          </a:p>
        </p:txBody>
      </p:sp>
      <p:grpSp>
        <p:nvGrpSpPr>
          <p:cNvPr id="258" name="그룹 257"/>
          <p:cNvGrpSpPr/>
          <p:nvPr/>
        </p:nvGrpSpPr>
        <p:grpSpPr>
          <a:xfrm>
            <a:off x="7146041" y="3067164"/>
            <a:ext cx="1919939" cy="1090190"/>
            <a:chOff x="1208848" y="2542921"/>
            <a:chExt cx="2013795" cy="1376305"/>
          </a:xfrm>
        </p:grpSpPr>
        <p:sp>
          <p:nvSpPr>
            <p:cNvPr id="260" name="DecisionPlane"/>
            <p:cNvSpPr/>
            <p:nvPr/>
          </p:nvSpPr>
          <p:spPr>
            <a:xfrm>
              <a:off x="1208848" y="2678899"/>
              <a:ext cx="2013795" cy="1240327"/>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Resource Plane</a:t>
              </a:r>
              <a:endParaRPr lang="ko-KR" altLang="en-US" sz="1000" b="1" dirty="0">
                <a:solidFill>
                  <a:schemeClr val="tx1"/>
                </a:solidFill>
              </a:endParaRPr>
            </a:p>
          </p:txBody>
        </p:sp>
        <p:sp>
          <p:nvSpPr>
            <p:cNvPr id="261" name="DecisionPlane tab"/>
            <p:cNvSpPr/>
            <p:nvPr/>
          </p:nvSpPr>
          <p:spPr>
            <a:xfrm>
              <a:off x="1208848" y="2542921"/>
              <a:ext cx="264000" cy="13100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62" name="KV Cache Manager"/>
            <p:cNvSpPr/>
            <p:nvPr/>
          </p:nvSpPr>
          <p:spPr>
            <a:xfrm>
              <a:off x="1508045" y="3262257"/>
              <a:ext cx="1409091" cy="25544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Telemetry Collector</a:t>
              </a:r>
              <a:endParaRPr lang="ko-KR" altLang="en-US" sz="900" b="1" dirty="0">
                <a:solidFill>
                  <a:schemeClr val="tx1"/>
                </a:solidFill>
              </a:endParaRPr>
            </a:p>
          </p:txBody>
        </p:sp>
        <p:sp>
          <p:nvSpPr>
            <p:cNvPr id="263" name="KV Cache Manager"/>
            <p:cNvSpPr/>
            <p:nvPr/>
          </p:nvSpPr>
          <p:spPr>
            <a:xfrm>
              <a:off x="1508043" y="3597267"/>
              <a:ext cx="1409091" cy="25544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Memory Registry</a:t>
              </a:r>
              <a:endParaRPr lang="ko-KR" altLang="en-US" sz="900" b="1" dirty="0">
                <a:solidFill>
                  <a:schemeClr val="tx1"/>
                </a:solidFill>
              </a:endParaRPr>
            </a:p>
          </p:txBody>
        </p:sp>
        <p:sp>
          <p:nvSpPr>
            <p:cNvPr id="264" name="KV Cache Manager"/>
            <p:cNvSpPr/>
            <p:nvPr/>
          </p:nvSpPr>
          <p:spPr>
            <a:xfrm>
              <a:off x="1508045" y="2930973"/>
              <a:ext cx="1409091" cy="25544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Data Object Registry</a:t>
              </a:r>
              <a:endParaRPr lang="ko-KR" altLang="en-US" sz="900" b="1" dirty="0">
                <a:solidFill>
                  <a:schemeClr val="tx1"/>
                </a:solidFill>
              </a:endParaRPr>
            </a:p>
          </p:txBody>
        </p:sp>
      </p:grpSp>
      <p:grpSp>
        <p:nvGrpSpPr>
          <p:cNvPr id="265" name="그룹 264"/>
          <p:cNvGrpSpPr/>
          <p:nvPr/>
        </p:nvGrpSpPr>
        <p:grpSpPr>
          <a:xfrm>
            <a:off x="9626708" y="3178189"/>
            <a:ext cx="1891050" cy="1160450"/>
            <a:chOff x="4173997" y="2581540"/>
            <a:chExt cx="1983494" cy="1477340"/>
          </a:xfrm>
        </p:grpSpPr>
        <p:sp>
          <p:nvSpPr>
            <p:cNvPr id="266" name="DecisionPlane"/>
            <p:cNvSpPr/>
            <p:nvPr/>
          </p:nvSpPr>
          <p:spPr>
            <a:xfrm>
              <a:off x="4173997" y="2708259"/>
              <a:ext cx="1983494" cy="1350621"/>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Data </a:t>
              </a:r>
              <a:r>
                <a:rPr lang="ko-KR" altLang="en-US" sz="1000" b="1" dirty="0" err="1">
                  <a:solidFill>
                    <a:schemeClr val="tx1"/>
                  </a:solidFill>
                </a:rPr>
                <a:t>Plane</a:t>
              </a:r>
              <a:endParaRPr lang="ko-KR" altLang="en-US" sz="1000" b="1" dirty="0">
                <a:solidFill>
                  <a:schemeClr val="tx1"/>
                </a:solidFill>
              </a:endParaRPr>
            </a:p>
          </p:txBody>
        </p:sp>
        <p:sp>
          <p:nvSpPr>
            <p:cNvPr id="267" name="DecisionPlane tab"/>
            <p:cNvSpPr/>
            <p:nvPr/>
          </p:nvSpPr>
          <p:spPr>
            <a:xfrm>
              <a:off x="4176509" y="2581540"/>
              <a:ext cx="264000" cy="130999"/>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68" name="KV Cache Manager"/>
            <p:cNvSpPr/>
            <p:nvPr/>
          </p:nvSpPr>
          <p:spPr>
            <a:xfrm>
              <a:off x="4493949" y="3060767"/>
              <a:ext cx="1409091" cy="28099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Executor</a:t>
              </a:r>
              <a:endParaRPr lang="ko-KR" altLang="en-US" sz="900" b="1" dirty="0">
                <a:solidFill>
                  <a:schemeClr val="tx1"/>
                </a:solidFill>
              </a:endParaRPr>
            </a:p>
          </p:txBody>
        </p:sp>
        <p:sp>
          <p:nvSpPr>
            <p:cNvPr id="269" name="KV Cache Manager"/>
            <p:cNvSpPr/>
            <p:nvPr/>
          </p:nvSpPr>
          <p:spPr>
            <a:xfrm>
              <a:off x="4493807" y="3584303"/>
              <a:ext cx="1409091" cy="28099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Transfer Handler</a:t>
              </a:r>
              <a:endParaRPr lang="ko-KR" altLang="en-US" sz="900" b="1" dirty="0">
                <a:solidFill>
                  <a:schemeClr val="tx1"/>
                </a:solidFill>
              </a:endParaRPr>
            </a:p>
          </p:txBody>
        </p:sp>
      </p:grpSp>
      <p:cxnSp>
        <p:nvCxnSpPr>
          <p:cNvPr id="274" name="① Event"/>
          <p:cNvCxnSpPr>
            <a:stCxn id="268" idx="2"/>
            <a:endCxn id="269" idx="0"/>
          </p:cNvCxnSpPr>
          <p:nvPr/>
        </p:nvCxnSpPr>
        <p:spPr>
          <a:xfrm flipH="1">
            <a:off x="10603321" y="3775340"/>
            <a:ext cx="135" cy="190518"/>
          </a:xfrm>
          <a:prstGeom prst="line">
            <a:avLst/>
          </a:prstGeom>
          <a:ln w="12700">
            <a:solidFill>
              <a:schemeClr val="tx1"/>
            </a:solidFill>
            <a:prstDash val="dash"/>
            <a:tailEnd type="arrow"/>
          </a:ln>
        </p:spPr>
      </p:cxnSp>
      <p:sp>
        <p:nvSpPr>
          <p:cNvPr id="275" name="KV Cache Manager"/>
          <p:cNvSpPr/>
          <p:nvPr/>
        </p:nvSpPr>
        <p:spPr>
          <a:xfrm>
            <a:off x="6913701" y="4298076"/>
            <a:ext cx="2379948" cy="21344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Common Memory Backend Interface</a:t>
            </a:r>
            <a:endParaRPr lang="ko-KR" altLang="en-US" sz="900" b="1" dirty="0">
              <a:solidFill>
                <a:schemeClr val="tx1"/>
              </a:solidFill>
            </a:endParaRPr>
          </a:p>
        </p:txBody>
      </p:sp>
      <p:cxnSp>
        <p:nvCxnSpPr>
          <p:cNvPr id="276" name="① Event"/>
          <p:cNvCxnSpPr>
            <a:stCxn id="275" idx="0"/>
            <a:endCxn id="260" idx="2"/>
          </p:cNvCxnSpPr>
          <p:nvPr/>
        </p:nvCxnSpPr>
        <p:spPr>
          <a:xfrm flipV="1">
            <a:off x="8103675" y="4157354"/>
            <a:ext cx="2336" cy="140722"/>
          </a:xfrm>
          <a:prstGeom prst="line">
            <a:avLst/>
          </a:prstGeom>
          <a:ln w="12700">
            <a:solidFill>
              <a:schemeClr val="tx1"/>
            </a:solidFill>
            <a:prstDash val="dash"/>
            <a:tailEnd type="arrow"/>
          </a:ln>
        </p:spPr>
      </p:cxnSp>
      <p:cxnSp>
        <p:nvCxnSpPr>
          <p:cNvPr id="277" name="① Event"/>
          <p:cNvCxnSpPr>
            <a:stCxn id="268" idx="1"/>
            <a:endCxn id="262" idx="3"/>
          </p:cNvCxnSpPr>
          <p:nvPr/>
        </p:nvCxnSpPr>
        <p:spPr>
          <a:xfrm rot="10800000" flipV="1">
            <a:off x="8774711" y="3664980"/>
            <a:ext cx="1157036" cy="73151"/>
          </a:xfrm>
          <a:prstGeom prst="bentConnector3">
            <a:avLst>
              <a:gd name="adj1" fmla="val 50000"/>
            </a:avLst>
          </a:prstGeom>
          <a:ln w="9525">
            <a:solidFill>
              <a:schemeClr val="tx1"/>
            </a:solidFill>
            <a:prstDash val="dash"/>
            <a:tailEnd type="arrow"/>
          </a:ln>
        </p:spPr>
      </p:cxnSp>
      <p:cxnSp>
        <p:nvCxnSpPr>
          <p:cNvPr id="278" name="① Event"/>
          <p:cNvCxnSpPr>
            <a:stCxn id="268" idx="1"/>
            <a:endCxn id="263" idx="3"/>
          </p:cNvCxnSpPr>
          <p:nvPr/>
        </p:nvCxnSpPr>
        <p:spPr>
          <a:xfrm rot="10800000" flipV="1">
            <a:off x="8774711" y="3664980"/>
            <a:ext cx="1157037" cy="338517"/>
          </a:xfrm>
          <a:prstGeom prst="bentConnector3">
            <a:avLst>
              <a:gd name="adj1" fmla="val 50000"/>
            </a:avLst>
          </a:prstGeom>
          <a:ln w="9525">
            <a:solidFill>
              <a:schemeClr val="tx1"/>
            </a:solidFill>
            <a:prstDash val="dash"/>
            <a:tailEnd type="arrow"/>
          </a:ln>
        </p:spPr>
      </p:cxnSp>
      <p:grpSp>
        <p:nvGrpSpPr>
          <p:cNvPr id="279" name="그룹 278"/>
          <p:cNvGrpSpPr/>
          <p:nvPr/>
        </p:nvGrpSpPr>
        <p:grpSpPr>
          <a:xfrm>
            <a:off x="6819037" y="1736827"/>
            <a:ext cx="4919889" cy="1623134"/>
            <a:chOff x="6819037" y="1867402"/>
            <a:chExt cx="4919889" cy="1623134"/>
          </a:xfrm>
        </p:grpSpPr>
        <p:sp>
          <p:nvSpPr>
            <p:cNvPr id="280" name="DecisionPlane"/>
            <p:cNvSpPr/>
            <p:nvPr/>
          </p:nvSpPr>
          <p:spPr>
            <a:xfrm>
              <a:off x="6819037" y="1973349"/>
              <a:ext cx="4919889" cy="1132223"/>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0" rtlCol="0" anchor="t">
              <a:noAutofit/>
            </a:bodyPr>
            <a:lstStyle/>
            <a:p>
              <a:pPr algn="ctr"/>
              <a:r>
                <a:rPr lang="en-US" altLang="ko-KR" sz="1000" b="1" dirty="0">
                  <a:solidFill>
                    <a:schemeClr val="tx1"/>
                  </a:solidFill>
                </a:rPr>
                <a:t>Control Plane</a:t>
              </a:r>
              <a:endParaRPr lang="ko-KR" altLang="en-US" sz="1000" b="1" dirty="0">
                <a:solidFill>
                  <a:schemeClr val="tx1"/>
                </a:solidFill>
              </a:endParaRPr>
            </a:p>
          </p:txBody>
        </p:sp>
        <p:sp>
          <p:nvSpPr>
            <p:cNvPr id="281" name="DecisionPlane tab"/>
            <p:cNvSpPr/>
            <p:nvPr/>
          </p:nvSpPr>
          <p:spPr>
            <a:xfrm>
              <a:off x="6819037" y="1867402"/>
              <a:ext cx="251696" cy="109458"/>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endParaRPr lang="ko-KR"/>
            </a:p>
          </p:txBody>
        </p:sp>
        <p:sp>
          <p:nvSpPr>
            <p:cNvPr id="282" name="KV Cache Manager"/>
            <p:cNvSpPr/>
            <p:nvPr/>
          </p:nvSpPr>
          <p:spPr>
            <a:xfrm>
              <a:off x="8552755" y="2242205"/>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Data behavior Monitor</a:t>
              </a:r>
              <a:endParaRPr lang="ko-KR" altLang="en-US" sz="900" b="1" dirty="0">
                <a:solidFill>
                  <a:schemeClr val="tx1"/>
                </a:solidFill>
              </a:endParaRPr>
            </a:p>
          </p:txBody>
        </p:sp>
        <p:sp>
          <p:nvSpPr>
            <p:cNvPr id="283" name="KV Cache Manager"/>
            <p:cNvSpPr/>
            <p:nvPr/>
          </p:nvSpPr>
          <p:spPr>
            <a:xfrm>
              <a:off x="10288514" y="2693105"/>
              <a:ext cx="1341702" cy="31249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Policy Engine</a:t>
              </a:r>
              <a:endParaRPr lang="ko-KR" altLang="en-US" sz="900" b="1" dirty="0">
                <a:solidFill>
                  <a:schemeClr val="tx1"/>
                </a:solidFill>
              </a:endParaRPr>
            </a:p>
          </p:txBody>
        </p:sp>
        <p:sp>
          <p:nvSpPr>
            <p:cNvPr id="284" name="KV Cache Manager"/>
            <p:cNvSpPr/>
            <p:nvPr/>
          </p:nvSpPr>
          <p:spPr>
            <a:xfrm>
              <a:off x="6940505" y="2246618"/>
              <a:ext cx="1148440" cy="31249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Migration Scheduler</a:t>
              </a:r>
              <a:endParaRPr lang="ko-KR" altLang="en-US" sz="900" b="1" dirty="0">
                <a:solidFill>
                  <a:schemeClr val="tx1"/>
                </a:solidFill>
              </a:endParaRPr>
            </a:p>
          </p:txBody>
        </p:sp>
        <p:cxnSp>
          <p:nvCxnSpPr>
            <p:cNvPr id="285" name="① Event"/>
            <p:cNvCxnSpPr>
              <a:endCxn id="282" idx="1"/>
            </p:cNvCxnSpPr>
            <p:nvPr/>
          </p:nvCxnSpPr>
          <p:spPr>
            <a:xfrm>
              <a:off x="8088946" y="2398454"/>
              <a:ext cx="463809" cy="0"/>
            </a:xfrm>
            <a:prstGeom prst="line">
              <a:avLst/>
            </a:prstGeom>
            <a:ln w="9525">
              <a:solidFill>
                <a:schemeClr val="tx1"/>
              </a:solidFill>
              <a:prstDash val="dash"/>
              <a:tailEnd type="arrow"/>
            </a:ln>
          </p:spPr>
        </p:cxnSp>
        <p:cxnSp>
          <p:nvCxnSpPr>
            <p:cNvPr id="286" name="① Event"/>
            <p:cNvCxnSpPr>
              <a:stCxn id="288" idx="2"/>
              <a:endCxn id="283" idx="0"/>
            </p:cNvCxnSpPr>
            <p:nvPr/>
          </p:nvCxnSpPr>
          <p:spPr>
            <a:xfrm>
              <a:off x="10951301" y="2554703"/>
              <a:ext cx="8064" cy="138402"/>
            </a:xfrm>
            <a:prstGeom prst="line">
              <a:avLst/>
            </a:prstGeom>
            <a:ln w="9525">
              <a:solidFill>
                <a:schemeClr val="tx1"/>
              </a:solidFill>
              <a:prstDash val="dash"/>
              <a:tailEnd type="arrow"/>
            </a:ln>
          </p:spPr>
        </p:cxnSp>
        <p:sp>
          <p:nvSpPr>
            <p:cNvPr id="287" name="KV Cache Manager"/>
            <p:cNvSpPr/>
            <p:nvPr/>
          </p:nvSpPr>
          <p:spPr>
            <a:xfrm>
              <a:off x="8552755" y="2706796"/>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Behavior-based Trend Analyzer</a:t>
              </a:r>
              <a:endParaRPr lang="ko-KR" altLang="en-US" sz="900" b="1" dirty="0">
                <a:solidFill>
                  <a:schemeClr val="tx1"/>
                </a:solidFill>
              </a:endParaRPr>
            </a:p>
          </p:txBody>
        </p:sp>
        <p:sp>
          <p:nvSpPr>
            <p:cNvPr id="288" name="KV Cache Manager"/>
            <p:cNvSpPr/>
            <p:nvPr/>
          </p:nvSpPr>
          <p:spPr>
            <a:xfrm>
              <a:off x="10279429" y="2242205"/>
              <a:ext cx="1343743" cy="312498"/>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noAutofit/>
            </a:bodyPr>
            <a:lstStyle/>
            <a:p>
              <a:pPr algn="ctr"/>
              <a:r>
                <a:rPr lang="en-US" altLang="ko-KR" sz="900" b="1" dirty="0">
                  <a:solidFill>
                    <a:schemeClr val="tx1"/>
                  </a:solidFill>
                </a:rPr>
                <a:t>Behavior Predictor</a:t>
              </a:r>
              <a:endParaRPr lang="ko-KR" altLang="en-US" sz="900" b="1" dirty="0">
                <a:solidFill>
                  <a:schemeClr val="tx1"/>
                </a:solidFill>
              </a:endParaRPr>
            </a:p>
          </p:txBody>
        </p:sp>
        <p:cxnSp>
          <p:nvCxnSpPr>
            <p:cNvPr id="289" name="① Event"/>
            <p:cNvCxnSpPr>
              <a:stCxn id="282" idx="2"/>
              <a:endCxn id="287" idx="0"/>
            </p:cNvCxnSpPr>
            <p:nvPr/>
          </p:nvCxnSpPr>
          <p:spPr>
            <a:xfrm>
              <a:off x="9224627" y="2554703"/>
              <a:ext cx="0" cy="152093"/>
            </a:xfrm>
            <a:prstGeom prst="line">
              <a:avLst/>
            </a:prstGeom>
            <a:ln w="9525">
              <a:solidFill>
                <a:schemeClr val="tx1"/>
              </a:solidFill>
              <a:prstDash val="dash"/>
              <a:tailEnd type="arrow"/>
            </a:ln>
          </p:spPr>
        </p:cxnSp>
        <p:cxnSp>
          <p:nvCxnSpPr>
            <p:cNvPr id="290" name="① Event"/>
            <p:cNvCxnSpPr>
              <a:stCxn id="287" idx="3"/>
              <a:endCxn id="288" idx="1"/>
            </p:cNvCxnSpPr>
            <p:nvPr/>
          </p:nvCxnSpPr>
          <p:spPr>
            <a:xfrm flipV="1">
              <a:off x="9896498" y="2398454"/>
              <a:ext cx="382931" cy="464591"/>
            </a:xfrm>
            <a:prstGeom prst="bentConnector3">
              <a:avLst>
                <a:gd name="adj1" fmla="val 50000"/>
              </a:avLst>
            </a:prstGeom>
            <a:ln w="9525">
              <a:solidFill>
                <a:schemeClr val="tx1"/>
              </a:solidFill>
              <a:prstDash val="dash"/>
              <a:tailEnd type="arrow"/>
            </a:ln>
          </p:spPr>
        </p:cxnSp>
        <p:cxnSp>
          <p:nvCxnSpPr>
            <p:cNvPr id="291" name="① Event"/>
            <p:cNvCxnSpPr>
              <a:stCxn id="282" idx="1"/>
            </p:cNvCxnSpPr>
            <p:nvPr/>
          </p:nvCxnSpPr>
          <p:spPr>
            <a:xfrm rot="10800000" flipV="1">
              <a:off x="8273739" y="2398454"/>
              <a:ext cx="279016" cy="1092082"/>
            </a:xfrm>
            <a:prstGeom prst="bentConnector2">
              <a:avLst/>
            </a:prstGeom>
            <a:ln w="9525">
              <a:solidFill>
                <a:schemeClr val="tx1"/>
              </a:solidFill>
              <a:prstDash val="dash"/>
              <a:tailEnd type="arrow"/>
            </a:ln>
          </p:spPr>
        </p:cxnSp>
      </p:grpSp>
      <p:cxnSp>
        <p:nvCxnSpPr>
          <p:cNvPr id="292" name="① Event"/>
          <p:cNvCxnSpPr>
            <a:stCxn id="283" idx="2"/>
          </p:cNvCxnSpPr>
          <p:nvPr/>
        </p:nvCxnSpPr>
        <p:spPr>
          <a:xfrm>
            <a:off x="10959365" y="2875027"/>
            <a:ext cx="0" cy="679594"/>
          </a:xfrm>
          <a:prstGeom prst="line">
            <a:avLst/>
          </a:prstGeom>
          <a:ln w="9525">
            <a:solidFill>
              <a:schemeClr val="tx1"/>
            </a:solidFill>
            <a:prstDash val="dash"/>
            <a:tailEnd type="arrow"/>
          </a:ln>
        </p:spPr>
      </p:cxnSp>
      <p:sp>
        <p:nvSpPr>
          <p:cNvPr id="293" name="직사각형 292"/>
          <p:cNvSpPr/>
          <p:nvPr/>
        </p:nvSpPr>
        <p:spPr>
          <a:xfrm>
            <a:off x="6855862" y="1919400"/>
            <a:ext cx="1605388" cy="200055"/>
          </a:xfrm>
          <a:prstGeom prst="rect">
            <a:avLst/>
          </a:prstGeom>
          <a:noFill/>
          <a:ln w="12700">
            <a:noFill/>
            <a:prstDash val="dash"/>
          </a:ln>
        </p:spPr>
        <p:txBody>
          <a:bodyPr rtlCol="0" anchor="ctr"/>
          <a:lstStyle/>
          <a:p>
            <a:r>
              <a:rPr lang="en-US" altLang="ko-KR" sz="700" dirty="0">
                <a:solidFill>
                  <a:schemeClr val="bg1">
                    <a:lumMod val="50000"/>
                  </a:schemeClr>
                </a:solidFill>
              </a:rPr>
              <a:t>Control/Decision: Event push(</a:t>
            </a:r>
            <a:r>
              <a:rPr lang="en-US" altLang="ko-KR" sz="700" dirty="0" err="1">
                <a:solidFill>
                  <a:schemeClr val="bg1">
                    <a:lumMod val="50000"/>
                  </a:schemeClr>
                </a:solidFill>
              </a:rPr>
              <a:t>async</a:t>
            </a:r>
            <a:r>
              <a:rPr lang="en-US" altLang="ko-KR" sz="700" dirty="0">
                <a:solidFill>
                  <a:schemeClr val="bg1">
                    <a:lumMod val="50000"/>
                  </a:schemeClr>
                </a:solidFill>
              </a:rPr>
              <a:t>)</a:t>
            </a:r>
            <a:endParaRPr lang="ko-KR" altLang="en-US" sz="700" dirty="0">
              <a:solidFill>
                <a:schemeClr val="bg1">
                  <a:lumMod val="50000"/>
                </a:schemeClr>
              </a:solidFill>
            </a:endParaRPr>
          </a:p>
        </p:txBody>
      </p:sp>
      <p:sp>
        <p:nvSpPr>
          <p:cNvPr id="294" name="직사각형 293"/>
          <p:cNvSpPr/>
          <p:nvPr/>
        </p:nvSpPr>
        <p:spPr>
          <a:xfrm>
            <a:off x="9854376" y="4148915"/>
            <a:ext cx="1529033" cy="200055"/>
          </a:xfrm>
          <a:prstGeom prst="rect">
            <a:avLst/>
          </a:prstGeom>
          <a:noFill/>
          <a:ln w="12700">
            <a:noFill/>
            <a:prstDash val="dash"/>
          </a:ln>
        </p:spPr>
        <p:txBody>
          <a:bodyPr rtlCol="0" anchor="ctr"/>
          <a:lstStyle/>
          <a:p>
            <a:r>
              <a:rPr lang="en-US" altLang="ko-KR" sz="700" dirty="0">
                <a:solidFill>
                  <a:schemeClr val="bg1">
                    <a:lumMod val="50000"/>
                  </a:schemeClr>
                </a:solidFill>
              </a:rPr>
              <a:t>Data Transfer: Background DMA</a:t>
            </a:r>
            <a:endParaRPr lang="ko-KR" altLang="en-US" sz="700" dirty="0">
              <a:solidFill>
                <a:schemeClr val="bg1">
                  <a:lumMod val="50000"/>
                </a:schemeClr>
              </a:solidFill>
            </a:endParaRPr>
          </a:p>
        </p:txBody>
      </p:sp>
      <p:sp>
        <p:nvSpPr>
          <p:cNvPr id="4" name="직사각형 3"/>
          <p:cNvSpPr/>
          <p:nvPr/>
        </p:nvSpPr>
        <p:spPr>
          <a:xfrm>
            <a:off x="6605858" y="1090462"/>
            <a:ext cx="5376592" cy="5623728"/>
          </a:xfrm>
          <a:prstGeom prst="rect">
            <a:avLst/>
          </a:prstGeom>
          <a:solidFill>
            <a:srgbClr val="FFFFFF">
              <a:alpha val="7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48735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146"/>
          <p:cNvSpPr/>
          <p:nvPr/>
        </p:nvSpPr>
        <p:spPr>
          <a:xfrm>
            <a:off x="347472" y="758043"/>
            <a:ext cx="11494008" cy="5642760"/>
          </a:xfrm>
          <a:prstGeom prst="rect">
            <a:avLst/>
          </a:prstGeom>
          <a:no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6148" name="Rounded Rectangle 6147"/>
          <p:cNvSpPr/>
          <p:nvPr/>
        </p:nvSpPr>
        <p:spPr>
          <a:xfrm>
            <a:off x="4448556" y="630392"/>
            <a:ext cx="3291840" cy="283464"/>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ko-KR" altLang="en-US" sz="1100" b="1" dirty="0">
                <a:solidFill>
                  <a:srgbClr val="000000"/>
                </a:solidFill>
                <a:latin typeface="맑은 고딕"/>
                <a:ea typeface="맑은 고딕"/>
              </a:rPr>
              <a:t>① </a:t>
            </a:r>
            <a:r>
              <a:rPr sz="1100" b="1" dirty="0">
                <a:solidFill>
                  <a:srgbClr val="000000"/>
                </a:solidFill>
                <a:latin typeface="맑은 고딕"/>
                <a:ea typeface="맑은 고딕"/>
              </a:rPr>
              <a:t>Prefill / </a:t>
            </a:r>
            <a:r>
              <a:rPr sz="1100" b="1" dirty="0" err="1">
                <a:solidFill>
                  <a:srgbClr val="000000"/>
                </a:solidFill>
                <a:latin typeface="맑은 고딕"/>
                <a:ea typeface="맑은 고딕"/>
              </a:rPr>
              <a:t>Decode란</a:t>
            </a:r>
            <a:r>
              <a:rPr sz="1100" b="1" dirty="0">
                <a:solidFill>
                  <a:srgbClr val="000000"/>
                </a:solidFill>
                <a:latin typeface="맑은 고딕"/>
                <a:ea typeface="맑은 고딕"/>
              </a:rPr>
              <a:t>?</a:t>
            </a:r>
          </a:p>
        </p:txBody>
      </p:sp>
      <p:sp>
        <p:nvSpPr>
          <p:cNvPr id="3" name="제목 2"/>
          <p:cNvSpPr>
            <a:spLocks noGrp="1"/>
          </p:cNvSpPr>
          <p:nvPr>
            <p:ph type="title"/>
          </p:nvPr>
        </p:nvSpPr>
        <p:spPr>
          <a:xfrm>
            <a:off x="234949" y="137379"/>
            <a:ext cx="8128859" cy="365125"/>
          </a:xfrm>
        </p:spPr>
        <p:txBody>
          <a:bodyPr/>
          <a:lstStyle/>
          <a:p>
            <a:r>
              <a:rPr lang="en-US" altLang="ko-KR" dirty="0"/>
              <a:t>DP2. </a:t>
            </a:r>
            <a:r>
              <a:rPr lang="ko-KR" altLang="en-US" dirty="0"/>
              <a:t>이기종 메모리 환경의 </a:t>
            </a:r>
            <a:r>
              <a:rPr lang="en-US" altLang="ko-KR" dirty="0"/>
              <a:t>Prefill/Decode </a:t>
            </a:r>
            <a:r>
              <a:rPr lang="ko-KR" altLang="en-US" dirty="0"/>
              <a:t>실행 위치 결정 구조 </a:t>
            </a:r>
            <a:r>
              <a:rPr lang="en-US" altLang="ko-KR" dirty="0"/>
              <a:t>- 사전 지식</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7051525" y="1112782"/>
            <a:ext cx="3690089" cy="2737895"/>
            <a:chOff x="7198162" y="2496690"/>
            <a:chExt cx="3881674" cy="3595882"/>
          </a:xfrm>
        </p:grpSpPr>
        <p:sp>
          <p:nvSpPr>
            <p:cNvPr id="165" name="직사각형 164"/>
            <p:cNvSpPr/>
            <p:nvPr/>
          </p:nvSpPr>
          <p:spPr>
            <a:xfrm>
              <a:off x="8392326" y="3596490"/>
              <a:ext cx="2170873" cy="396099"/>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&lt;Prefill&gt;</a:t>
              </a:r>
              <a:endParaRPr kumimoji="0" lang="ko-KR" altLang="en-US" sz="1400" b="1" i="0" u="none" strike="noStrike" kern="1200" cap="none" spc="0" normalizeH="0" baseline="0" noProof="0" dirty="0">
                <a:ln>
                  <a:noFill/>
                </a:ln>
                <a:effectLst/>
                <a:uLnTx/>
                <a:uFillTx/>
                <a:latin typeface="Arial"/>
                <a:ea typeface="맑은 고딕"/>
                <a:cs typeface="Samsung Sharp Sans Bold" pitchFamily="2" charset="0"/>
              </a:endParaRPr>
            </a:p>
          </p:txBody>
        </p:sp>
        <p:sp>
          <p:nvSpPr>
            <p:cNvPr id="166" name="직사각형 165"/>
            <p:cNvSpPr/>
            <p:nvPr/>
          </p:nvSpPr>
          <p:spPr>
            <a:xfrm>
              <a:off x="7359095" y="2557171"/>
              <a:ext cx="1180417" cy="29707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4F81BD">
                      <a:lumMod val="75000"/>
                    </a:srgbClr>
                  </a:solidFill>
                  <a:effectLst/>
                  <a:uLnTx/>
                  <a:uFillTx/>
                  <a:latin typeface="Arial"/>
                  <a:ea typeface="Samsung Sharp Sans Bold" pitchFamily="2" charset="0"/>
                  <a:cs typeface="Samsung Sharp Sans Bold" pitchFamily="2" charset="0"/>
                </a:rPr>
                <a:t>Computation</a:t>
              </a:r>
            </a:p>
          </p:txBody>
        </p:sp>
        <p:sp>
          <p:nvSpPr>
            <p:cNvPr id="167" name="직사각형 166"/>
            <p:cNvSpPr/>
            <p:nvPr/>
          </p:nvSpPr>
          <p:spPr>
            <a:xfrm>
              <a:off x="7311797" y="3139320"/>
              <a:ext cx="1180417" cy="49512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C000"/>
                  </a:solidFill>
                  <a:effectLst/>
                  <a:uLnTx/>
                  <a:uFillTx/>
                  <a:latin typeface="Arial"/>
                  <a:ea typeface="Samsung Sharp Sans Bold" pitchFamily="2" charset="0"/>
                  <a:cs typeface="Samsung Sharp Sans Bold" pitchFamily="2" charset="0"/>
                </a:rPr>
                <a:t>Memory Load &amp; Store</a:t>
              </a:r>
            </a:p>
          </p:txBody>
        </p:sp>
        <p:sp>
          <p:nvSpPr>
            <p:cNvPr id="168" name="직사각형 167"/>
            <p:cNvSpPr/>
            <p:nvPr/>
          </p:nvSpPr>
          <p:spPr>
            <a:xfrm flipH="1">
              <a:off x="10238115" y="3129752"/>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69" name="직사각형 168"/>
            <p:cNvSpPr/>
            <p:nvPr/>
          </p:nvSpPr>
          <p:spPr>
            <a:xfrm flipH="1">
              <a:off x="8814939" y="3134318"/>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0" name="직사각형 169"/>
            <p:cNvSpPr/>
            <p:nvPr/>
          </p:nvSpPr>
          <p:spPr>
            <a:xfrm flipH="1">
              <a:off x="9291636" y="3132770"/>
              <a:ext cx="144257" cy="462036"/>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1" name="직사각형 170"/>
            <p:cNvSpPr/>
            <p:nvPr/>
          </p:nvSpPr>
          <p:spPr>
            <a:xfrm flipH="1">
              <a:off x="9721156" y="3152479"/>
              <a:ext cx="191954" cy="444790"/>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cxnSp>
          <p:nvCxnSpPr>
            <p:cNvPr id="172" name="직선 화살표 연결선 171"/>
            <p:cNvCxnSpPr/>
            <p:nvPr/>
          </p:nvCxnSpPr>
          <p:spPr>
            <a:xfrm>
              <a:off x="8482264" y="3020391"/>
              <a:ext cx="2052000" cy="0"/>
            </a:xfrm>
            <a:prstGeom prst="straightConnector1">
              <a:avLst/>
            </a:prstGeom>
            <a:noFill/>
            <a:ln w="38100" cap="flat" cmpd="sng" algn="ctr">
              <a:solidFill>
                <a:schemeClr val="tx2"/>
              </a:solidFill>
              <a:prstDash val="solid"/>
              <a:miter lim="800000"/>
              <a:tailEnd type="triangle"/>
            </a:ln>
            <a:effectLst/>
          </p:spPr>
        </p:cxnSp>
        <p:sp>
          <p:nvSpPr>
            <p:cNvPr id="173" name="직사각형 172"/>
            <p:cNvSpPr/>
            <p:nvPr/>
          </p:nvSpPr>
          <p:spPr>
            <a:xfrm>
              <a:off x="848026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4" name="직사각형 173"/>
            <p:cNvSpPr/>
            <p:nvPr/>
          </p:nvSpPr>
          <p:spPr>
            <a:xfrm>
              <a:off x="896217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5" name="직사각형 174"/>
            <p:cNvSpPr/>
            <p:nvPr/>
          </p:nvSpPr>
          <p:spPr>
            <a:xfrm>
              <a:off x="944408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6" name="직사각형 175"/>
            <p:cNvSpPr/>
            <p:nvPr/>
          </p:nvSpPr>
          <p:spPr>
            <a:xfrm>
              <a:off x="9925540" y="2496690"/>
              <a:ext cx="469513" cy="374284"/>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Samsung Sharp Sans Bold" pitchFamily="50" charset="0"/>
              </a:endParaRPr>
            </a:p>
          </p:txBody>
        </p:sp>
        <p:sp>
          <p:nvSpPr>
            <p:cNvPr id="177" name="직사각형 176"/>
            <p:cNvSpPr/>
            <p:nvPr/>
          </p:nvSpPr>
          <p:spPr>
            <a:xfrm flipH="1">
              <a:off x="8814939"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8" name="직사각형 177"/>
            <p:cNvSpPr/>
            <p:nvPr/>
          </p:nvSpPr>
          <p:spPr>
            <a:xfrm flipH="1">
              <a:off x="9288377"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79" name="직사각형 178"/>
            <p:cNvSpPr/>
            <p:nvPr/>
          </p:nvSpPr>
          <p:spPr>
            <a:xfrm flipH="1">
              <a:off x="9768853"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80" name="직사각형 179"/>
            <p:cNvSpPr/>
            <p:nvPr/>
          </p:nvSpPr>
          <p:spPr>
            <a:xfrm flipH="1">
              <a:off x="10231672" y="2934416"/>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81" name="직사각형 180"/>
            <p:cNvSpPr/>
            <p:nvPr/>
          </p:nvSpPr>
          <p:spPr>
            <a:xfrm flipH="1">
              <a:off x="8762251" y="4381310"/>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2" name="직사각형 181"/>
            <p:cNvSpPr/>
            <p:nvPr/>
          </p:nvSpPr>
          <p:spPr>
            <a:xfrm flipH="1">
              <a:off x="9235576" y="4386251"/>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3" name="직사각형 182"/>
            <p:cNvSpPr/>
            <p:nvPr/>
          </p:nvSpPr>
          <p:spPr>
            <a:xfrm flipH="1">
              <a:off x="9722281" y="4376683"/>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4" name="직사각형 183"/>
            <p:cNvSpPr/>
            <p:nvPr/>
          </p:nvSpPr>
          <p:spPr>
            <a:xfrm flipH="1">
              <a:off x="10187017" y="4376683"/>
              <a:ext cx="144257" cy="462036"/>
            </a:xfrm>
            <a:prstGeom prst="rect">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prstClr val="white"/>
                </a:solidFill>
                <a:effectLst/>
                <a:uLnTx/>
                <a:uFillTx/>
                <a:latin typeface="Arial"/>
                <a:ea typeface="맑은 고딕"/>
                <a:cs typeface="+mn-cs"/>
              </a:endParaRPr>
            </a:p>
          </p:txBody>
        </p:sp>
        <p:sp>
          <p:nvSpPr>
            <p:cNvPr id="185" name="직사각형 184"/>
            <p:cNvSpPr/>
            <p:nvPr/>
          </p:nvSpPr>
          <p:spPr>
            <a:xfrm>
              <a:off x="7359746" y="4458147"/>
              <a:ext cx="1180417" cy="297074"/>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4F81BD">
                      <a:lumMod val="75000"/>
                    </a:srgbClr>
                  </a:solidFill>
                  <a:effectLst/>
                  <a:uLnTx/>
                  <a:uFillTx/>
                  <a:latin typeface="Arial"/>
                  <a:ea typeface="Samsung Sharp Sans Bold" pitchFamily="2" charset="0"/>
                  <a:cs typeface="Samsung Sharp Sans Bold" pitchFamily="2" charset="0"/>
                </a:rPr>
                <a:t>Computation</a:t>
              </a:r>
            </a:p>
          </p:txBody>
        </p:sp>
        <p:sp>
          <p:nvSpPr>
            <p:cNvPr id="186" name="직사각형 185"/>
            <p:cNvSpPr/>
            <p:nvPr/>
          </p:nvSpPr>
          <p:spPr>
            <a:xfrm>
              <a:off x="7312448" y="5110146"/>
              <a:ext cx="1180417" cy="49512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C000"/>
                  </a:solidFill>
                  <a:effectLst/>
                  <a:uLnTx/>
                  <a:uFillTx/>
                  <a:latin typeface="Arial"/>
                  <a:ea typeface="Samsung Sharp Sans Bold" pitchFamily="2" charset="0"/>
                  <a:cs typeface="Samsung Sharp Sans Bold" pitchFamily="2" charset="0"/>
                </a:rPr>
                <a:t>Memory Load &amp; Store</a:t>
              </a:r>
            </a:p>
          </p:txBody>
        </p:sp>
        <p:sp>
          <p:nvSpPr>
            <p:cNvPr id="187" name="직사각형 186">
              <a:extLst>
                <a:ext uri="{FF2B5EF4-FFF2-40B4-BE49-F238E27FC236}">
                  <a16:creationId xmlns:a16="http://schemas.microsoft.com/office/drawing/2014/main" id="{5186C55D-E743-AA2E-D8EB-20E11C073C37}"/>
                </a:ext>
              </a:extLst>
            </p:cNvPr>
            <p:cNvSpPr/>
            <p:nvPr/>
          </p:nvSpPr>
          <p:spPr>
            <a:xfrm>
              <a:off x="8279443" y="5512149"/>
              <a:ext cx="2283756" cy="297074"/>
            </a:xfrm>
            <a:prstGeom prst="rect">
              <a:avLst/>
            </a:prstGeom>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 &lt; D</a:t>
              </a:r>
              <a:r>
                <a:rPr kumimoji="0" lang="en-US" altLang="ko-KR" sz="1250" b="1" i="0" u="none" strike="noStrike" kern="1200" cap="none" spc="0" normalizeH="0" baseline="0" noProof="0" dirty="0" err="1">
                  <a:ln>
                    <a:noFill/>
                  </a:ln>
                  <a:effectLst/>
                  <a:uLnTx/>
                  <a:uFillTx/>
                  <a:latin typeface="Arial"/>
                  <a:ea typeface="Samsung Sharp Sans Bold" pitchFamily="2" charset="0"/>
                  <a:cs typeface="Samsung Sharp Sans Bold" pitchFamily="2" charset="0"/>
                </a:rPr>
                <a:t>ecode</a:t>
              </a:r>
              <a:r>
                <a:rPr kumimoji="0" lang="en-US" altLang="ko-KR" sz="1250" b="1" i="0" u="none" strike="noStrike" kern="1200" cap="none" spc="0" normalizeH="0" baseline="0" noProof="0" dirty="0">
                  <a:ln>
                    <a:noFill/>
                  </a:ln>
                  <a:effectLst/>
                  <a:uLnTx/>
                  <a:uFillTx/>
                  <a:latin typeface="Arial"/>
                  <a:ea typeface="Samsung Sharp Sans Bold" pitchFamily="2" charset="0"/>
                  <a:cs typeface="Samsung Sharp Sans Bold" pitchFamily="2" charset="0"/>
                </a:rPr>
                <a:t> &gt;</a:t>
              </a:r>
              <a:endParaRPr kumimoji="0" lang="ko-KR" altLang="en-US" b="1" i="0" u="none" strike="noStrike" kern="120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cxnSp>
          <p:nvCxnSpPr>
            <p:cNvPr id="188" name="직선 화살표 연결선 187"/>
            <p:cNvCxnSpPr/>
            <p:nvPr/>
          </p:nvCxnSpPr>
          <p:spPr>
            <a:xfrm>
              <a:off x="8434567" y="4948035"/>
              <a:ext cx="2052000" cy="0"/>
            </a:xfrm>
            <a:prstGeom prst="straightConnector1">
              <a:avLst/>
            </a:prstGeom>
            <a:noFill/>
            <a:ln w="38100" cap="flat" cmpd="sng" algn="ctr">
              <a:solidFill>
                <a:schemeClr val="tx2"/>
              </a:solidFill>
              <a:prstDash val="solid"/>
              <a:miter lim="800000"/>
              <a:tailEnd type="triangle"/>
            </a:ln>
            <a:effectLst/>
          </p:spPr>
        </p:cxnSp>
        <p:sp>
          <p:nvSpPr>
            <p:cNvPr id="189" name="직사각형 188"/>
            <p:cNvSpPr/>
            <p:nvPr/>
          </p:nvSpPr>
          <p:spPr>
            <a:xfrm>
              <a:off x="8425325"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0" name="직사각형 189"/>
            <p:cNvSpPr/>
            <p:nvPr/>
          </p:nvSpPr>
          <p:spPr>
            <a:xfrm>
              <a:off x="891447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1" name="직사각형 190"/>
            <p:cNvSpPr/>
            <p:nvPr/>
          </p:nvSpPr>
          <p:spPr>
            <a:xfrm>
              <a:off x="939638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2" name="직사각형 191"/>
            <p:cNvSpPr/>
            <p:nvPr/>
          </p:nvSpPr>
          <p:spPr>
            <a:xfrm>
              <a:off x="9877843" y="5095223"/>
              <a:ext cx="469513" cy="374284"/>
            </a:xfrm>
            <a:prstGeom prst="rect">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mn-cs"/>
              </a:endParaRPr>
            </a:p>
          </p:txBody>
        </p:sp>
        <p:sp>
          <p:nvSpPr>
            <p:cNvPr id="193" name="직사각형 192"/>
            <p:cNvSpPr/>
            <p:nvPr/>
          </p:nvSpPr>
          <p:spPr>
            <a:xfrm flipH="1">
              <a:off x="8767242"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4" name="직사각형 193"/>
            <p:cNvSpPr/>
            <p:nvPr/>
          </p:nvSpPr>
          <p:spPr>
            <a:xfrm flipH="1">
              <a:off x="9240680"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5" name="직사각형 194"/>
            <p:cNvSpPr/>
            <p:nvPr/>
          </p:nvSpPr>
          <p:spPr>
            <a:xfrm flipH="1">
              <a:off x="9721156" y="4890762"/>
              <a:ext cx="144257" cy="144000"/>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6" name="직사각형 195"/>
            <p:cNvSpPr/>
            <p:nvPr/>
          </p:nvSpPr>
          <p:spPr>
            <a:xfrm flipH="1">
              <a:off x="10183974" y="4890762"/>
              <a:ext cx="144257" cy="143999"/>
            </a:xfrm>
            <a:prstGeom prst="rect">
              <a:avLst/>
            </a:prstGeom>
            <a:solidFill>
              <a:srgbClr val="FF0000"/>
            </a:soli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1" hangingPunct="1">
                <a:lnSpc>
                  <a:spcPct val="100000"/>
                </a:lnSpc>
                <a:spcBef>
                  <a:spcPts val="0"/>
                </a:spcBef>
                <a:spcAft>
                  <a:spcPts val="0"/>
                </a:spcAft>
                <a:buClrTx/>
                <a:buSzTx/>
                <a:buFontTx/>
                <a:buNone/>
                <a:tabLst/>
                <a:defRPr/>
              </a:pPr>
              <a:endParaRPr kumimoji="0" lang="ko-KR" altLang="en-US" sz="3100" b="1" i="0" u="none" strike="noStrike" kern="0" cap="none" spc="0" normalizeH="0" baseline="0" noProof="0" dirty="0">
                <a:ln>
                  <a:noFill/>
                </a:ln>
                <a:solidFill>
                  <a:prstClr val="black"/>
                </a:solidFill>
                <a:effectLst/>
                <a:uLnTx/>
                <a:uFillTx/>
                <a:latin typeface="Samsung Sharp Sans Bold" pitchFamily="2" charset="0"/>
                <a:ea typeface="SAMSUNGONE-600C" panose="020B0503030303020204" pitchFamily="34" charset="-127"/>
                <a:cs typeface="Samsung Sharp Sans Bold" pitchFamily="2" charset="0"/>
              </a:endParaRPr>
            </a:p>
          </p:txBody>
        </p:sp>
        <p:sp>
          <p:nvSpPr>
            <p:cNvPr id="197" name="직사각형 196"/>
            <p:cNvSpPr/>
            <p:nvPr/>
          </p:nvSpPr>
          <p:spPr>
            <a:xfrm>
              <a:off x="7262871" y="4826847"/>
              <a:ext cx="1282098" cy="29707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0000"/>
                  </a:solidFill>
                  <a:effectLst/>
                  <a:uLnTx/>
                  <a:uFillTx/>
                  <a:latin typeface="Arial"/>
                  <a:ea typeface="Samsung Sharp Sans Bold" pitchFamily="2" charset="0"/>
                  <a:cs typeface="Samsung Sharp Sans Bold" pitchFamily="2" charset="0"/>
                </a:rPr>
                <a:t>Memory BW</a:t>
              </a:r>
            </a:p>
          </p:txBody>
        </p:sp>
        <p:sp>
          <p:nvSpPr>
            <p:cNvPr id="200" name="직사각형 199"/>
            <p:cNvSpPr/>
            <p:nvPr/>
          </p:nvSpPr>
          <p:spPr>
            <a:xfrm>
              <a:off x="7198162" y="2890868"/>
              <a:ext cx="1282098" cy="297074"/>
            </a:xfrm>
            <a:prstGeom prst="rect">
              <a:avLst/>
            </a:prstGeom>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50" b="1" i="0" u="none" strike="noStrike" kern="1200" cap="none" spc="0" normalizeH="0" baseline="0" noProof="0" dirty="0">
                  <a:ln>
                    <a:noFill/>
                  </a:ln>
                  <a:solidFill>
                    <a:srgbClr val="FF0000"/>
                  </a:solidFill>
                  <a:effectLst/>
                  <a:uLnTx/>
                  <a:uFillTx/>
                  <a:latin typeface="Arial"/>
                  <a:ea typeface="Samsung Sharp Sans Bold" pitchFamily="2" charset="0"/>
                  <a:cs typeface="Samsung Sharp Sans Bold" pitchFamily="2" charset="0"/>
                </a:rPr>
                <a:t>Memory BW</a:t>
              </a:r>
            </a:p>
          </p:txBody>
        </p:sp>
        <p:sp>
          <p:nvSpPr>
            <p:cNvPr id="201" name="TextBox 200"/>
            <p:cNvSpPr txBox="1"/>
            <p:nvPr/>
          </p:nvSpPr>
          <p:spPr>
            <a:xfrm>
              <a:off x="9865413" y="5809613"/>
              <a:ext cx="1214423" cy="282959"/>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E7E6E6">
                      <a:lumMod val="50000"/>
                    </a:srgbClr>
                  </a:solidFill>
                  <a:effectLst/>
                  <a:uLnTx/>
                  <a:uFillTx/>
                  <a:latin typeface="맑은 고딕" panose="020F0502020204030204"/>
                  <a:ea typeface="맑은 고딕" panose="020B0503020000020004" pitchFamily="50" charset="-127"/>
                  <a:cs typeface="+mn-cs"/>
                </a:rPr>
                <a:t>[source] Naver Clova</a:t>
              </a:r>
              <a:endParaRPr kumimoji="0" lang="ko-KR" altLang="en-US" sz="800" b="0" i="0" u="none" strike="noStrike" kern="1200" cap="none" spc="0" normalizeH="0" baseline="0" noProof="0" dirty="0">
                <a:ln>
                  <a:noFill/>
                </a:ln>
                <a:solidFill>
                  <a:srgbClr val="E7E6E6">
                    <a:lumMod val="50000"/>
                  </a:srgbClr>
                </a:solidFill>
                <a:effectLst/>
                <a:uLnTx/>
                <a:uFillTx/>
                <a:latin typeface="맑은 고딕" panose="020F0502020204030204"/>
                <a:ea typeface="맑은 고딕" panose="020B0503020000020004" pitchFamily="50" charset="-127"/>
                <a:cs typeface="+mn-cs"/>
              </a:endParaRPr>
            </a:p>
          </p:txBody>
        </p:sp>
        <p:sp>
          <p:nvSpPr>
            <p:cNvPr id="202" name="TextBox 201"/>
            <p:cNvSpPr txBox="1"/>
            <p:nvPr/>
          </p:nvSpPr>
          <p:spPr>
            <a:xfrm>
              <a:off x="10351217" y="2717104"/>
              <a:ext cx="686548" cy="272318"/>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Time</a:t>
              </a:r>
              <a:endParaRPr kumimoji="0" lang="ko-KR" altLang="en-US"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203" name="TextBox 202"/>
            <p:cNvSpPr txBox="1"/>
            <p:nvPr/>
          </p:nvSpPr>
          <p:spPr>
            <a:xfrm>
              <a:off x="10351217" y="4679278"/>
              <a:ext cx="686548" cy="272318"/>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Time</a:t>
              </a:r>
              <a:endParaRPr kumimoji="0" lang="ko-KR" altLang="en-US" sz="750" b="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grpSp>
        <p:nvGrpSpPr>
          <p:cNvPr id="6" name="그룹 5"/>
          <p:cNvGrpSpPr/>
          <p:nvPr/>
        </p:nvGrpSpPr>
        <p:grpSpPr>
          <a:xfrm>
            <a:off x="101061" y="1913843"/>
            <a:ext cx="6077295" cy="2843725"/>
            <a:chOff x="-45158" y="1369255"/>
            <a:chExt cx="6683881" cy="3491277"/>
          </a:xfrm>
        </p:grpSpPr>
        <p:grpSp>
          <p:nvGrpSpPr>
            <p:cNvPr id="206" name="그룹 205"/>
            <p:cNvGrpSpPr/>
            <p:nvPr/>
          </p:nvGrpSpPr>
          <p:grpSpPr>
            <a:xfrm>
              <a:off x="-45158" y="1369255"/>
              <a:ext cx="6434557" cy="2004104"/>
              <a:chOff x="947012" y="3108733"/>
              <a:chExt cx="5337782" cy="1696886"/>
            </a:xfrm>
          </p:grpSpPr>
          <p:sp>
            <p:nvSpPr>
              <p:cNvPr id="207" name="직사각형 206">
                <a:extLst>
                  <a:ext uri="{FF2B5EF4-FFF2-40B4-BE49-F238E27FC236}">
                    <a16:creationId xmlns:a16="http://schemas.microsoft.com/office/drawing/2014/main" id="{5186C55D-E743-AA2E-D8EB-20E11C073C37}"/>
                  </a:ext>
                </a:extLst>
              </p:cNvPr>
              <p:cNvSpPr/>
              <p:nvPr/>
            </p:nvSpPr>
            <p:spPr>
              <a:xfrm>
                <a:off x="947012" y="3112930"/>
                <a:ext cx="1975277" cy="2879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b="0" i="0" u="none" strike="noStrike" kern="0" cap="none" spc="0" normalizeH="0" baseline="0" noProof="0" dirty="0">
                    <a:ln>
                      <a:noFill/>
                    </a:ln>
                    <a:effectLst/>
                    <a:uLnTx/>
                    <a:uFillTx/>
                    <a:latin typeface="Arial"/>
                    <a:ea typeface="Samsung Sharp Sans Bold" pitchFamily="2" charset="0"/>
                    <a:cs typeface="Samsung Sharp Sans Bold" pitchFamily="2" charset="0"/>
                  </a:rPr>
                  <a:t>Prefill</a:t>
                </a:r>
                <a:endParaRPr kumimoji="0" lang="ko-KR" altLang="en-US" b="0" i="0" u="none" strike="noStrike" kern="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cxnSp>
            <p:nvCxnSpPr>
              <p:cNvPr id="208" name="직선 연결선 207">
                <a:extLst>
                  <a:ext uri="{FF2B5EF4-FFF2-40B4-BE49-F238E27FC236}">
                    <a16:creationId xmlns:a16="http://schemas.microsoft.com/office/drawing/2014/main" id="{25BB8C04-C31F-470C-9A50-6C4BD57CD03C}"/>
                  </a:ext>
                </a:extLst>
              </p:cNvPr>
              <p:cNvCxnSpPr>
                <a:cxnSpLocks/>
              </p:cNvCxnSpPr>
              <p:nvPr/>
            </p:nvCxnSpPr>
            <p:spPr>
              <a:xfrm flipH="1">
                <a:off x="2509126" y="3531927"/>
                <a:ext cx="150" cy="1191494"/>
              </a:xfrm>
              <a:prstGeom prst="line">
                <a:avLst/>
              </a:prstGeom>
              <a:noFill/>
              <a:ln w="19050" cap="rnd" cmpd="sng" algn="ctr">
                <a:solidFill>
                  <a:srgbClr val="A6A6A6"/>
                </a:solidFill>
                <a:prstDash val="dash"/>
                <a:round/>
                <a:headEnd type="none" w="med" len="med"/>
                <a:tailEnd type="none" w="med" len="med"/>
              </a:ln>
              <a:effectLst/>
            </p:spPr>
          </p:cxnSp>
          <p:grpSp>
            <p:nvGrpSpPr>
              <p:cNvPr id="209" name="그룹 208"/>
              <p:cNvGrpSpPr/>
              <p:nvPr/>
            </p:nvGrpSpPr>
            <p:grpSpPr>
              <a:xfrm>
                <a:off x="5581891" y="3661568"/>
                <a:ext cx="604062" cy="867545"/>
                <a:chOff x="953656" y="2867715"/>
                <a:chExt cx="540000" cy="775540"/>
              </a:xfrm>
            </p:grpSpPr>
            <p:sp>
              <p:nvSpPr>
                <p:cNvPr id="238"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39"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nvGrpSpPr>
              <p:cNvPr id="210" name="그룹 209"/>
              <p:cNvGrpSpPr/>
              <p:nvPr/>
            </p:nvGrpSpPr>
            <p:grpSpPr>
              <a:xfrm>
                <a:off x="5244491" y="3946924"/>
                <a:ext cx="209139" cy="45719"/>
                <a:chOff x="4132147" y="2579292"/>
                <a:chExt cx="312424" cy="68298"/>
              </a:xfrm>
            </p:grpSpPr>
            <p:sp>
              <p:nvSpPr>
                <p:cNvPr id="235" name="타원 234"/>
                <p:cNvSpPr/>
                <p:nvPr/>
              </p:nvSpPr>
              <p:spPr>
                <a:xfrm>
                  <a:off x="4255016" y="2579292"/>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480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sp>
              <p:nvSpPr>
                <p:cNvPr id="236" name="타원 235"/>
                <p:cNvSpPr/>
                <p:nvPr/>
              </p:nvSpPr>
              <p:spPr>
                <a:xfrm>
                  <a:off x="4377884" y="2580903"/>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480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sp>
              <p:nvSpPr>
                <p:cNvPr id="237" name="타원 236"/>
                <p:cNvSpPr/>
                <p:nvPr/>
              </p:nvSpPr>
              <p:spPr>
                <a:xfrm>
                  <a:off x="4132147" y="2579292"/>
                  <a:ext cx="66687" cy="66687"/>
                </a:xfrm>
                <a:prstGeom prst="ellipse">
                  <a:avLst/>
                </a:prstGeom>
                <a:solidFill>
                  <a:srgbClr val="8093DC"/>
                </a:soli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4800" b="1" i="0" u="none" strike="noStrike" kern="0" cap="none" spc="0" normalizeH="0" baseline="0" noProof="0" dirty="0">
                    <a:ln>
                      <a:noFill/>
                    </a:ln>
                    <a:effectLst/>
                    <a:uLnTx/>
                    <a:uFillTx/>
                    <a:latin typeface="Arial"/>
                    <a:ea typeface="SAMSUNGONE-600C" panose="020B0503030303020204" pitchFamily="34" charset="-127"/>
                    <a:cs typeface="Samsung Sharp Sans Bold" pitchFamily="2" charset="0"/>
                  </a:endParaRPr>
                </a:p>
              </p:txBody>
            </p:sp>
          </p:grpSp>
          <p:sp>
            <p:nvSpPr>
              <p:cNvPr id="211" name="직사각형 210">
                <a:extLst>
                  <a:ext uri="{FF2B5EF4-FFF2-40B4-BE49-F238E27FC236}">
                    <a16:creationId xmlns:a16="http://schemas.microsoft.com/office/drawing/2014/main" id="{5186C55D-E743-AA2E-D8EB-20E11C073C37}"/>
                  </a:ext>
                </a:extLst>
              </p:cNvPr>
              <p:cNvSpPr/>
              <p:nvPr/>
            </p:nvSpPr>
            <p:spPr>
              <a:xfrm>
                <a:off x="2504748" y="3108733"/>
                <a:ext cx="3701376" cy="2879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b="0" i="0" u="none" strike="noStrike" kern="0" cap="none" spc="0" normalizeH="0" baseline="0" noProof="0" dirty="0">
                    <a:ln>
                      <a:noFill/>
                    </a:ln>
                    <a:effectLst/>
                    <a:uLnTx/>
                    <a:uFillTx/>
                    <a:latin typeface="Arial"/>
                    <a:ea typeface="Samsung Sharp Sans Bold" pitchFamily="2" charset="0"/>
                    <a:cs typeface="Samsung Sharp Sans Bold" pitchFamily="2" charset="0"/>
                  </a:rPr>
                  <a:t>Decode</a:t>
                </a:r>
                <a:endParaRPr kumimoji="0" lang="ko-KR" altLang="en-US" b="0" i="0" u="none" strike="noStrike" kern="0" cap="none" spc="0" normalizeH="0" baseline="0" noProof="0" dirty="0">
                  <a:ln>
                    <a:noFill/>
                  </a:ln>
                  <a:effectLst/>
                  <a:uLnTx/>
                  <a:uFillTx/>
                  <a:latin typeface="Arial"/>
                  <a:ea typeface="SamsungOneKorean 700" panose="020B0803030303020204" pitchFamily="50" charset="-127"/>
                  <a:cs typeface="Samsung Sharp Sans Bold" pitchFamily="2" charset="0"/>
                </a:endParaRPr>
              </a:p>
            </p:txBody>
          </p:sp>
          <p:sp>
            <p:nvSpPr>
              <p:cNvPr id="212" name="직사각형 211">
                <a:extLst>
                  <a:ext uri="{FF2B5EF4-FFF2-40B4-BE49-F238E27FC236}">
                    <a16:creationId xmlns:a16="http://schemas.microsoft.com/office/drawing/2014/main" id="{AF7D9B76-4995-265E-AA04-71E12230B659}"/>
                  </a:ext>
                </a:extLst>
              </p:cNvPr>
              <p:cNvSpPr/>
              <p:nvPr/>
            </p:nvSpPr>
            <p:spPr>
              <a:xfrm>
                <a:off x="1304575" y="3427110"/>
                <a:ext cx="1267849" cy="27194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“Hello, my name”</a:t>
                </a:r>
              </a:p>
            </p:txBody>
          </p:sp>
          <p:sp>
            <p:nvSpPr>
              <p:cNvPr id="213" name="직사각형 212">
                <a:extLst>
                  <a:ext uri="{FF2B5EF4-FFF2-40B4-BE49-F238E27FC236}">
                    <a16:creationId xmlns:a16="http://schemas.microsoft.com/office/drawing/2014/main" id="{BD25430C-0D03-4265-0B88-8E9DB257E2A1}"/>
                  </a:ext>
                </a:extLst>
              </p:cNvPr>
              <p:cNvSpPr/>
              <p:nvPr/>
            </p:nvSpPr>
            <p:spPr>
              <a:xfrm rot="10800000">
                <a:off x="1536432" y="4552915"/>
                <a:ext cx="4748362" cy="193717"/>
              </a:xfrm>
              <a:prstGeom prst="rect">
                <a:avLst/>
              </a:prstGeom>
              <a:gradFill>
                <a:gsLst>
                  <a:gs pos="13000">
                    <a:sysClr val="window" lastClr="FFFFFF">
                      <a:alpha val="0"/>
                    </a:sysClr>
                  </a:gs>
                  <a:gs pos="100000">
                    <a:sysClr val="window" lastClr="FFFFFF">
                      <a:alpha val="5000"/>
                    </a:sys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3200" b="0" i="0" u="none" strike="noStrike" kern="0" cap="none" spc="0" normalizeH="0" baseline="0" noProof="0" dirty="0">
                  <a:ln>
                    <a:noFill/>
                  </a:ln>
                  <a:effectLst/>
                  <a:uLnTx/>
                  <a:uFillTx/>
                  <a:latin typeface="Arial"/>
                  <a:ea typeface="맑은 고딕"/>
                  <a:cs typeface="+mn-cs"/>
                </a:endParaRPr>
              </a:p>
            </p:txBody>
          </p:sp>
          <p:sp>
            <p:nvSpPr>
              <p:cNvPr id="214" name="직사각형 213"/>
              <p:cNvSpPr/>
              <p:nvPr/>
            </p:nvSpPr>
            <p:spPr>
              <a:xfrm>
                <a:off x="1826309" y="4517306"/>
                <a:ext cx="346904"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“is”</a:t>
                </a:r>
                <a:endParaRPr kumimoji="0" lang="ko-KR" altLang="en-US" sz="1050" b="0" i="0" u="none" strike="noStrike" kern="0" cap="none" spc="0" normalizeH="0" baseline="0" noProof="0" dirty="0">
                  <a:ln>
                    <a:noFill/>
                  </a:ln>
                  <a:effectLst/>
                  <a:uLnTx/>
                  <a:uFillTx/>
                  <a:latin typeface="Arial"/>
                  <a:ea typeface="맑은 고딕"/>
                </a:endParaRPr>
              </a:p>
            </p:txBody>
          </p:sp>
          <p:sp>
            <p:nvSpPr>
              <p:cNvPr id="215" name="직사각형 214"/>
              <p:cNvSpPr/>
              <p:nvPr/>
            </p:nvSpPr>
            <p:spPr>
              <a:xfrm>
                <a:off x="2655382" y="4533672"/>
                <a:ext cx="632091"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“James”</a:t>
                </a:r>
                <a:endParaRPr kumimoji="0" lang="ko-KR" altLang="en-US" sz="1050" b="0" i="0" u="none" strike="noStrike" kern="0" cap="none" spc="0" normalizeH="0" baseline="0" noProof="0" dirty="0">
                  <a:ln>
                    <a:noFill/>
                  </a:ln>
                  <a:effectLst/>
                  <a:uLnTx/>
                  <a:uFillTx/>
                  <a:latin typeface="Arial"/>
                  <a:ea typeface="맑은 고딕"/>
                </a:endParaRPr>
              </a:p>
            </p:txBody>
          </p:sp>
          <p:sp>
            <p:nvSpPr>
              <p:cNvPr id="216" name="직사각형 215"/>
              <p:cNvSpPr/>
              <p:nvPr/>
            </p:nvSpPr>
            <p:spPr>
              <a:xfrm>
                <a:off x="3505046" y="4524486"/>
                <a:ext cx="582366"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“Smith”</a:t>
                </a:r>
                <a:endParaRPr kumimoji="0" lang="ko-KR" altLang="en-US" sz="1050" b="0" i="0" u="none" strike="noStrike" kern="0" cap="none" spc="0" normalizeH="0" baseline="0" noProof="0" dirty="0">
                  <a:ln>
                    <a:noFill/>
                  </a:ln>
                  <a:effectLst/>
                  <a:uLnTx/>
                  <a:uFillTx/>
                  <a:latin typeface="Arial"/>
                  <a:ea typeface="맑은 고딕"/>
                </a:endParaRPr>
              </a:p>
            </p:txBody>
          </p:sp>
          <p:sp>
            <p:nvSpPr>
              <p:cNvPr id="217" name="직사각형 216"/>
              <p:cNvSpPr/>
              <p:nvPr/>
            </p:nvSpPr>
            <p:spPr>
              <a:xfrm>
                <a:off x="4398118" y="4515440"/>
                <a:ext cx="468292"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“and”</a:t>
                </a:r>
                <a:endParaRPr kumimoji="0" lang="ko-KR" altLang="en-US" sz="1050" b="0" i="0" u="none" strike="noStrike" kern="0" cap="none" spc="0" normalizeH="0" baseline="0" noProof="0" dirty="0">
                  <a:ln>
                    <a:noFill/>
                  </a:ln>
                  <a:effectLst/>
                  <a:uLnTx/>
                  <a:uFillTx/>
                  <a:latin typeface="Arial"/>
                  <a:ea typeface="맑은 고딕"/>
                </a:endParaRPr>
              </a:p>
            </p:txBody>
          </p:sp>
          <p:sp>
            <p:nvSpPr>
              <p:cNvPr id="218" name="직사각형 217"/>
              <p:cNvSpPr/>
              <p:nvPr/>
            </p:nvSpPr>
            <p:spPr>
              <a:xfrm>
                <a:off x="5622815" y="4515440"/>
                <a:ext cx="500683" cy="27194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Arial"/>
                    <a:ea typeface="Samsung Sharp Sans Bold" pitchFamily="2" charset="0"/>
                    <a:cs typeface="Samsung Sharp Sans Bold" pitchFamily="2" charset="0"/>
                  </a:rPr>
                  <a:t>“.”</a:t>
                </a:r>
                <a:endParaRPr kumimoji="0" lang="ko-KR" altLang="en-US" sz="1050" b="0" i="0" u="none" strike="noStrike" kern="0" cap="none" spc="0" normalizeH="0" baseline="0" noProof="0" dirty="0">
                  <a:ln>
                    <a:noFill/>
                  </a:ln>
                  <a:effectLst/>
                  <a:uLnTx/>
                  <a:uFillTx/>
                  <a:latin typeface="Arial"/>
                  <a:ea typeface="맑은 고딕"/>
                </a:endParaRPr>
              </a:p>
            </p:txBody>
          </p:sp>
          <p:sp>
            <p:nvSpPr>
              <p:cNvPr id="219" name="줄무늬가 있는 오른쪽 화살표 85">
                <a:extLst>
                  <a:ext uri="{FF2B5EF4-FFF2-40B4-BE49-F238E27FC236}">
                    <a16:creationId xmlns:a16="http://schemas.microsoft.com/office/drawing/2014/main" id="{4FC2A20A-96F0-40E8-FF0B-07159864B259}"/>
                  </a:ext>
                </a:extLst>
              </p:cNvPr>
              <p:cNvSpPr/>
              <p:nvPr/>
            </p:nvSpPr>
            <p:spPr>
              <a:xfrm>
                <a:off x="2282349" y="3928541"/>
                <a:ext cx="392707" cy="115409"/>
              </a:xfrm>
              <a:prstGeom prst="rightArrow">
                <a:avLst>
                  <a:gd name="adj1" fmla="val 50000"/>
                  <a:gd name="adj2" fmla="val 91203"/>
                </a:avLst>
              </a:prstGeom>
              <a:gradFill flip="none" rotWithShape="1">
                <a:gsLst>
                  <a:gs pos="4425">
                    <a:srgbClr val="44546A">
                      <a:lumMod val="75000"/>
                    </a:srgbClr>
                  </a:gs>
                  <a:gs pos="65000">
                    <a:srgbClr val="5B9BD5"/>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grpSp>
            <p:nvGrpSpPr>
              <p:cNvPr id="220" name="그룹 219"/>
              <p:cNvGrpSpPr/>
              <p:nvPr/>
            </p:nvGrpSpPr>
            <p:grpSpPr>
              <a:xfrm>
                <a:off x="1712026" y="3669221"/>
                <a:ext cx="604062" cy="867545"/>
                <a:chOff x="222043" y="2867715"/>
                <a:chExt cx="540000" cy="775540"/>
              </a:xfrm>
            </p:grpSpPr>
            <p:sp>
              <p:nvSpPr>
                <p:cNvPr id="233" name="줄무늬가 있는 오른쪽 화살표 85">
                  <a:extLst>
                    <a:ext uri="{FF2B5EF4-FFF2-40B4-BE49-F238E27FC236}">
                      <a16:creationId xmlns:a16="http://schemas.microsoft.com/office/drawing/2014/main" id="{4FC2A20A-96F0-40E8-FF0B-07159864B259}"/>
                    </a:ext>
                  </a:extLst>
                </p:cNvPr>
                <p:cNvSpPr/>
                <p:nvPr/>
              </p:nvSpPr>
              <p:spPr>
                <a:xfrm rot="5400000">
                  <a:off x="330490" y="3423064"/>
                  <a:ext cx="337212" cy="103170"/>
                </a:xfrm>
                <a:prstGeom prst="rightArrow">
                  <a:avLst>
                    <a:gd name="adj1" fmla="val 50000"/>
                    <a:gd name="adj2" fmla="val 91203"/>
                  </a:avLst>
                </a:prstGeom>
                <a:gradFill flip="none" rotWithShape="1">
                  <a:gsLst>
                    <a:gs pos="4425">
                      <a:srgbClr val="44546A">
                        <a:lumMod val="75000"/>
                      </a:srgbClr>
                    </a:gs>
                    <a:gs pos="65000">
                      <a:srgbClr val="5B9BD5"/>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34" name="모서리가 둥근 직사각형 116">
                  <a:extLst>
                    <a:ext uri="{FF2B5EF4-FFF2-40B4-BE49-F238E27FC236}">
                      <a16:creationId xmlns:a16="http://schemas.microsoft.com/office/drawing/2014/main" id="{B592C16F-9D7E-9F3F-966B-99B420A8A137}"/>
                    </a:ext>
                  </a:extLst>
                </p:cNvPr>
                <p:cNvSpPr/>
                <p:nvPr/>
              </p:nvSpPr>
              <p:spPr>
                <a:xfrm>
                  <a:off x="222043" y="2867715"/>
                  <a:ext cx="540000" cy="540000"/>
                </a:xfrm>
                <a:prstGeom prst="roundRect">
                  <a:avLst>
                    <a:gd name="adj" fmla="val 7835"/>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0" scaled="1"/>
                  <a:tileRect/>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b="0" i="0" u="none" strike="noStrike" kern="0" cap="none" spc="0" normalizeH="0" baseline="0" noProof="0" dirty="0">
                      <a:ln>
                        <a:noFill/>
                      </a:ln>
                      <a:effectLst/>
                      <a:uLnTx/>
                      <a:uFillTx/>
                      <a:latin typeface="Arial"/>
                      <a:ea typeface="맑은 고딕"/>
                      <a:cs typeface="+mn-cs"/>
                    </a:rPr>
                    <a:t>LM</a:t>
                  </a:r>
                </a:p>
              </p:txBody>
            </p:sp>
          </p:grpSp>
          <p:sp>
            <p:nvSpPr>
              <p:cNvPr id="221" name="줄무늬가 있는 오른쪽 화살표 85">
                <a:extLst>
                  <a:ext uri="{FF2B5EF4-FFF2-40B4-BE49-F238E27FC236}">
                    <a16:creationId xmlns:a16="http://schemas.microsoft.com/office/drawing/2014/main" id="{4FC2A20A-96F0-40E8-FF0B-07159864B259}"/>
                  </a:ext>
                </a:extLst>
              </p:cNvPr>
              <p:cNvSpPr/>
              <p:nvPr/>
            </p:nvSpPr>
            <p:spPr>
              <a:xfrm>
                <a:off x="3137945" y="3922208"/>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grpSp>
            <p:nvGrpSpPr>
              <p:cNvPr id="222" name="그룹 221"/>
              <p:cNvGrpSpPr/>
              <p:nvPr/>
            </p:nvGrpSpPr>
            <p:grpSpPr>
              <a:xfrm>
                <a:off x="2690062" y="3663149"/>
                <a:ext cx="604062" cy="867545"/>
                <a:chOff x="953656" y="2867715"/>
                <a:chExt cx="540000" cy="775540"/>
              </a:xfrm>
            </p:grpSpPr>
            <p:sp>
              <p:nvSpPr>
                <p:cNvPr id="231"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32"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sp>
            <p:nvSpPr>
              <p:cNvPr id="223" name="줄무늬가 있는 오른쪽 화살표 85">
                <a:extLst>
                  <a:ext uri="{FF2B5EF4-FFF2-40B4-BE49-F238E27FC236}">
                    <a16:creationId xmlns:a16="http://schemas.microsoft.com/office/drawing/2014/main" id="{4FC2A20A-96F0-40E8-FF0B-07159864B259}"/>
                  </a:ext>
                </a:extLst>
              </p:cNvPr>
              <p:cNvSpPr/>
              <p:nvPr/>
            </p:nvSpPr>
            <p:spPr>
              <a:xfrm>
                <a:off x="3978219" y="3922207"/>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24" name="줄무늬가 있는 오른쪽 화살표 85">
                <a:extLst>
                  <a:ext uri="{FF2B5EF4-FFF2-40B4-BE49-F238E27FC236}">
                    <a16:creationId xmlns:a16="http://schemas.microsoft.com/office/drawing/2014/main" id="{4FC2A20A-96F0-40E8-FF0B-07159864B259}"/>
                  </a:ext>
                </a:extLst>
              </p:cNvPr>
              <p:cNvSpPr/>
              <p:nvPr/>
            </p:nvSpPr>
            <p:spPr>
              <a:xfrm>
                <a:off x="4815447" y="3917782"/>
                <a:ext cx="377217" cy="115409"/>
              </a:xfrm>
              <a:prstGeom prst="rightArrow">
                <a:avLst>
                  <a:gd name="adj1" fmla="val 50000"/>
                  <a:gd name="adj2" fmla="val 91203"/>
                </a:avLst>
              </a:prstGeom>
              <a:gradFill flip="none" rotWithShape="1">
                <a:gsLst>
                  <a:gs pos="0">
                    <a:srgbClr val="FFC000"/>
                  </a:gs>
                  <a:gs pos="65000">
                    <a:srgbClr val="FFC000"/>
                  </a:gs>
                  <a:gs pos="100000">
                    <a:srgbClr val="FFC000"/>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grpSp>
            <p:nvGrpSpPr>
              <p:cNvPr id="225" name="그룹 224"/>
              <p:cNvGrpSpPr/>
              <p:nvPr/>
            </p:nvGrpSpPr>
            <p:grpSpPr>
              <a:xfrm>
                <a:off x="3530561" y="3663149"/>
                <a:ext cx="604062" cy="867545"/>
                <a:chOff x="953656" y="2867715"/>
                <a:chExt cx="540000" cy="775540"/>
              </a:xfrm>
            </p:grpSpPr>
            <p:sp>
              <p:nvSpPr>
                <p:cNvPr id="229"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30"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nvGrpSpPr>
              <p:cNvPr id="226" name="그룹 225"/>
              <p:cNvGrpSpPr/>
              <p:nvPr/>
            </p:nvGrpSpPr>
            <p:grpSpPr>
              <a:xfrm>
                <a:off x="4372882" y="3663149"/>
                <a:ext cx="604062" cy="867545"/>
                <a:chOff x="953656" y="2867715"/>
                <a:chExt cx="540000" cy="775540"/>
              </a:xfrm>
            </p:grpSpPr>
            <p:sp>
              <p:nvSpPr>
                <p:cNvPr id="227" name="줄무늬가 있는 오른쪽 화살표 85">
                  <a:extLst>
                    <a:ext uri="{FF2B5EF4-FFF2-40B4-BE49-F238E27FC236}">
                      <a16:creationId xmlns:a16="http://schemas.microsoft.com/office/drawing/2014/main" id="{4FC2A20A-96F0-40E8-FF0B-07159864B259}"/>
                    </a:ext>
                  </a:extLst>
                </p:cNvPr>
                <p:cNvSpPr/>
                <p:nvPr/>
              </p:nvSpPr>
              <p:spPr>
                <a:xfrm rot="5400000">
                  <a:off x="1054632" y="3423064"/>
                  <a:ext cx="337212" cy="103170"/>
                </a:xfrm>
                <a:prstGeom prst="rightArrow">
                  <a:avLst>
                    <a:gd name="adj1" fmla="val 50000"/>
                    <a:gd name="adj2" fmla="val 91203"/>
                  </a:avLst>
                </a:prstGeom>
                <a:gradFill flip="none" rotWithShape="1">
                  <a:gsLst>
                    <a:gs pos="0">
                      <a:srgbClr val="8631DB"/>
                    </a:gs>
                    <a:gs pos="65000">
                      <a:srgbClr val="9E75E7"/>
                    </a:gs>
                    <a:gs pos="100000">
                      <a:srgbClr val="8093DC"/>
                    </a:gs>
                  </a:gsLst>
                  <a:lin ang="0" scaled="0"/>
                  <a:tileRect/>
                </a:gradFill>
                <a:ln w="12700" cap="flat" cmpd="sng" algn="ctr">
                  <a:noFill/>
                  <a:prstDash val="solid"/>
                  <a:miter lim="800000"/>
                </a:ln>
                <a:effectLst/>
              </p:spPr>
              <p:txBody>
                <a:bodyPr rtlCol="0" anchor="ctr"/>
                <a:lstStyle/>
                <a:p>
                  <a:pPr marL="0" marR="0" lvl="0" indent="0" algn="ctr" defTabSz="2285977" rtl="0" eaLnBrk="1" fontAlgn="auto" latinLnBrk="0" hangingPunct="1">
                    <a:lnSpc>
                      <a:spcPct val="100000"/>
                    </a:lnSpc>
                    <a:spcBef>
                      <a:spcPts val="0"/>
                    </a:spcBef>
                    <a:spcAft>
                      <a:spcPts val="0"/>
                    </a:spcAft>
                    <a:buClrTx/>
                    <a:buSzTx/>
                    <a:buFontTx/>
                    <a:buNone/>
                    <a:tabLst/>
                    <a:defRPr/>
                  </a:pPr>
                  <a:endParaRPr kumimoji="0" lang="ko-KR" altLang="en-US" sz="5400" b="0" i="0" u="none" strike="noStrike" kern="0" cap="none" spc="0" normalizeH="0" baseline="0" noProof="0" dirty="0">
                    <a:ln>
                      <a:noFill/>
                    </a:ln>
                    <a:effectLst/>
                    <a:uLnTx/>
                    <a:uFillTx/>
                    <a:latin typeface="Arial"/>
                    <a:ea typeface="맑은 고딕"/>
                    <a:cs typeface="+mn-cs"/>
                  </a:endParaRPr>
                </a:p>
              </p:txBody>
            </p:sp>
            <p:sp>
              <p:nvSpPr>
                <p:cNvPr id="228" name="모서리가 둥근 직사각형 117">
                  <a:extLst>
                    <a:ext uri="{FF2B5EF4-FFF2-40B4-BE49-F238E27FC236}">
                      <a16:creationId xmlns:a16="http://schemas.microsoft.com/office/drawing/2014/main" id="{5544D22D-B6A3-54CB-7E2C-1B269DF5655E}"/>
                    </a:ext>
                  </a:extLst>
                </p:cNvPr>
                <p:cNvSpPr/>
                <p:nvPr/>
              </p:nvSpPr>
              <p:spPr>
                <a:xfrm>
                  <a:off x="953656" y="2867715"/>
                  <a:ext cx="540000" cy="540000"/>
                </a:xfrm>
                <a:prstGeom prst="roundRect">
                  <a:avLst>
                    <a:gd name="adj" fmla="val 7835"/>
                  </a:avLst>
                </a:prstGeom>
                <a:gradFill flip="none" rotWithShape="1">
                  <a:gsLst>
                    <a:gs pos="0">
                      <a:srgbClr val="FFC000">
                        <a:lumMod val="67000"/>
                      </a:srgbClr>
                    </a:gs>
                    <a:gs pos="48000">
                      <a:srgbClr val="FFC000">
                        <a:lumMod val="97000"/>
                        <a:lumOff val="3000"/>
                      </a:srgbClr>
                    </a:gs>
                    <a:gs pos="100000">
                      <a:srgbClr val="FFC000">
                        <a:lumMod val="60000"/>
                        <a:lumOff val="40000"/>
                      </a:srgbClr>
                    </a:gs>
                  </a:gsLst>
                  <a:lin ang="10800000" scaled="1"/>
                  <a:tileRect/>
                </a:gradFill>
                <a:ln w="12700" cap="flat" cmpd="sng" algn="ctr">
                  <a:noFill/>
                  <a:prstDash val="solid"/>
                  <a:miter lim="800000"/>
                </a:ln>
                <a:effectLst>
                  <a:outerShdw blurRad="50800" dist="38100" dir="2700000" algn="tl" rotWithShape="0">
                    <a:prstClr val="black">
                      <a:alpha val="40000"/>
                    </a:prstClr>
                  </a:outerShdw>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r>
                    <a:rPr kumimoji="0" lang="en-US" altLang="ko-KR"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rPr>
                    <a:t>LM</a:t>
                  </a:r>
                  <a:endParaRPr kumimoji="0" lang="ko-KR" altLang="en-US" sz="2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grpSp>
        </p:grpSp>
        <p:sp>
          <p:nvSpPr>
            <p:cNvPr id="243" name="자유형 242"/>
            <p:cNvSpPr/>
            <p:nvPr/>
          </p:nvSpPr>
          <p:spPr>
            <a:xfrm>
              <a:off x="1083323" y="2743285"/>
              <a:ext cx="5192408" cy="1285205"/>
            </a:xfrm>
            <a:custGeom>
              <a:avLst/>
              <a:gdLst>
                <a:gd name="connsiteX0" fmla="*/ 838200 w 4320540"/>
                <a:gd name="connsiteY0" fmla="*/ 0 h 1104900"/>
                <a:gd name="connsiteX1" fmla="*/ 0 w 4320540"/>
                <a:gd name="connsiteY1" fmla="*/ 1097280 h 1104900"/>
                <a:gd name="connsiteX2" fmla="*/ 3756660 w 4320540"/>
                <a:gd name="connsiteY2" fmla="*/ 1104900 h 1104900"/>
                <a:gd name="connsiteX3" fmla="*/ 4320540 w 4320540"/>
                <a:gd name="connsiteY3" fmla="*/ 7620 h 1104900"/>
                <a:gd name="connsiteX4" fmla="*/ 838200 w 4320540"/>
                <a:gd name="connsiteY4" fmla="*/ 0 h 1104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540" h="1104900">
                  <a:moveTo>
                    <a:pt x="838200" y="0"/>
                  </a:moveTo>
                  <a:lnTo>
                    <a:pt x="0" y="1097280"/>
                  </a:lnTo>
                  <a:lnTo>
                    <a:pt x="3756660" y="1104900"/>
                  </a:lnTo>
                  <a:lnTo>
                    <a:pt x="4320540" y="7620"/>
                  </a:lnTo>
                  <a:lnTo>
                    <a:pt x="838200" y="0"/>
                  </a:lnTo>
                  <a:close/>
                </a:path>
              </a:pathLst>
            </a:custGeom>
            <a:gradFill flip="none" rotWithShape="1">
              <a:gsLst>
                <a:gs pos="4425">
                  <a:srgbClr val="1F497D">
                    <a:alpha val="50000"/>
                  </a:srgbClr>
                </a:gs>
                <a:gs pos="65000">
                  <a:srgbClr val="5B9BD5">
                    <a:alpha val="10000"/>
                  </a:srgbClr>
                </a:gs>
                <a:gs pos="100000">
                  <a:srgbClr val="44546A">
                    <a:alpha val="20000"/>
                  </a:srgbClr>
                </a:gs>
              </a:gsLst>
              <a:lin ang="16200000" scaled="1"/>
              <a:tileRect/>
            </a:gradFill>
            <a:ln w="12700" cap="flat" cmpd="sng" algn="ctr">
              <a:noFill/>
              <a:prstDash val="solid"/>
              <a:miter lim="800000"/>
            </a:ln>
            <a:effectLst/>
          </p:spPr>
          <p:txBody>
            <a:bodyPr lIns="0" rIns="0" rtlCol="0" anchor="ctr"/>
            <a:lstStyle/>
            <a:p>
              <a:pPr marL="0" marR="0" lvl="0" indent="0" algn="ctr" defTabSz="1157722" rtl="0" eaLnBrk="1" fontAlgn="auto" latinLnBrk="0" hangingPunct="1">
                <a:lnSpc>
                  <a:spcPct val="100000"/>
                </a:lnSpc>
                <a:spcBef>
                  <a:spcPts val="0"/>
                </a:spcBef>
                <a:spcAft>
                  <a:spcPts val="0"/>
                </a:spcAft>
                <a:buClrTx/>
                <a:buSzTx/>
                <a:buFontTx/>
                <a:buNone/>
                <a:tabLst/>
                <a:defRPr/>
              </a:pPr>
              <a:endParaRPr kumimoji="0" lang="ko-KR" altLang="en-US" sz="48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Samsung Sharp Sans Bold" pitchFamily="2" charset="0"/>
              </a:endParaRPr>
            </a:p>
          </p:txBody>
        </p:sp>
        <p:sp>
          <p:nvSpPr>
            <p:cNvPr id="241" name="모서리가 둥근 직사각형 117">
              <a:extLst>
                <a:ext uri="{FF2B5EF4-FFF2-40B4-BE49-F238E27FC236}">
                  <a16:creationId xmlns:a16="http://schemas.microsoft.com/office/drawing/2014/main" id="{FA0ECA91-1A8B-EF88-9873-53E434D66C39}"/>
                </a:ext>
              </a:extLst>
            </p:cNvPr>
            <p:cNvSpPr/>
            <p:nvPr/>
          </p:nvSpPr>
          <p:spPr>
            <a:xfrm>
              <a:off x="2020149" y="1842103"/>
              <a:ext cx="4536306" cy="1040798"/>
            </a:xfrm>
            <a:prstGeom prst="roundRect">
              <a:avLst>
                <a:gd name="adj" fmla="val 7835"/>
              </a:avLst>
            </a:prstGeom>
            <a:noFill/>
            <a:ln w="25400" cap="flat" cmpd="sng" algn="ctr">
              <a:solidFill>
                <a:srgbClr val="1F497D"/>
              </a:solidFill>
              <a:prstDash val="sysDash"/>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dirty="0">
                <a:ln>
                  <a:noFill/>
                </a:ln>
                <a:effectLst/>
                <a:uLnTx/>
                <a:uFillTx/>
                <a:latin typeface="Samsung Sharp Sans Bold" pitchFamily="50" charset="0"/>
                <a:ea typeface="맑은 고딕"/>
                <a:cs typeface="Samsung Sharp Sans Bold" pitchFamily="50" charset="0"/>
              </a:endParaRPr>
            </a:p>
          </p:txBody>
        </p:sp>
        <p:sp>
          <p:nvSpPr>
            <p:cNvPr id="242" name="직사각형 241"/>
            <p:cNvSpPr/>
            <p:nvPr/>
          </p:nvSpPr>
          <p:spPr>
            <a:xfrm>
              <a:off x="4547449" y="1471586"/>
              <a:ext cx="2091274" cy="3117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GEMV Computation dominated</a:t>
              </a:r>
            </a:p>
          </p:txBody>
        </p:sp>
        <p:grpSp>
          <p:nvGrpSpPr>
            <p:cNvPr id="244" name="그룹 243"/>
            <p:cNvGrpSpPr/>
            <p:nvPr/>
          </p:nvGrpSpPr>
          <p:grpSpPr>
            <a:xfrm>
              <a:off x="62279" y="3679712"/>
              <a:ext cx="6553935" cy="1180820"/>
              <a:chOff x="418623" y="5661519"/>
              <a:chExt cx="5436812" cy="999806"/>
            </a:xfrm>
          </p:grpSpPr>
          <p:cxnSp>
            <p:nvCxnSpPr>
              <p:cNvPr id="245" name="직선 연결선 244">
                <a:extLst>
                  <a:ext uri="{FF2B5EF4-FFF2-40B4-BE49-F238E27FC236}">
                    <a16:creationId xmlns:a16="http://schemas.microsoft.com/office/drawing/2014/main" id="{25BB8C04-C31F-470C-9A50-6C4BD57CD03C}"/>
                  </a:ext>
                </a:extLst>
              </p:cNvPr>
              <p:cNvCxnSpPr>
                <a:cxnSpLocks/>
              </p:cNvCxnSpPr>
              <p:nvPr/>
            </p:nvCxnSpPr>
            <p:spPr>
              <a:xfrm flipV="1">
                <a:off x="2051876" y="5842334"/>
                <a:ext cx="3177" cy="468000"/>
              </a:xfrm>
              <a:prstGeom prst="line">
                <a:avLst/>
              </a:prstGeom>
              <a:noFill/>
              <a:ln w="12700" cap="rnd" cmpd="sng" algn="ctr">
                <a:solidFill>
                  <a:srgbClr val="A6A6A6"/>
                </a:solidFill>
                <a:prstDash val="sysDash"/>
                <a:round/>
                <a:headEnd type="none" w="med" len="med"/>
                <a:tailEnd type="none" w="med" len="med"/>
              </a:ln>
              <a:effectLst/>
            </p:spPr>
          </p:cxnSp>
          <p:cxnSp>
            <p:nvCxnSpPr>
              <p:cNvPr id="246" name="직선 연결선 245">
                <a:extLst>
                  <a:ext uri="{FF2B5EF4-FFF2-40B4-BE49-F238E27FC236}">
                    <a16:creationId xmlns:a16="http://schemas.microsoft.com/office/drawing/2014/main" id="{25BB8C04-C31F-470C-9A50-6C4BD57CD03C}"/>
                  </a:ext>
                </a:extLst>
              </p:cNvPr>
              <p:cNvCxnSpPr>
                <a:cxnSpLocks/>
              </p:cNvCxnSpPr>
              <p:nvPr/>
            </p:nvCxnSpPr>
            <p:spPr>
              <a:xfrm flipV="1">
                <a:off x="3211790" y="5849352"/>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47" name="직사각형 246"/>
              <p:cNvSpPr/>
              <p:nvPr/>
            </p:nvSpPr>
            <p:spPr>
              <a:xfrm>
                <a:off x="884174" y="5948122"/>
                <a:ext cx="354409" cy="252535"/>
              </a:xfrm>
              <a:prstGeom prst="rect">
                <a:avLst/>
              </a:prstGeom>
              <a:solidFill>
                <a:srgbClr val="0077C8"/>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8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48" name="직사각형 247"/>
              <p:cNvSpPr/>
              <p:nvPr/>
            </p:nvSpPr>
            <p:spPr>
              <a:xfrm>
                <a:off x="872023" y="5957754"/>
                <a:ext cx="412717" cy="263948"/>
              </a:xfrm>
              <a:prstGeom prst="rect">
                <a:avLst/>
              </a:prstGeom>
              <a:gradFill>
                <a:gsLst>
                  <a:gs pos="0">
                    <a:srgbClr val="4472C4">
                      <a:lumMod val="67000"/>
                    </a:srgbClr>
                  </a:gs>
                  <a:gs pos="48000">
                    <a:srgbClr val="4472C4">
                      <a:lumMod val="97000"/>
                      <a:lumOff val="3000"/>
                    </a:srgbClr>
                  </a:gs>
                  <a:gs pos="100000">
                    <a:srgbClr val="4472C4">
                      <a:lumMod val="60000"/>
                      <a:lumOff val="40000"/>
                    </a:srgbClr>
                  </a:gs>
                </a:gsLst>
                <a:lin ang="0" scaled="1"/>
              </a:grad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2.1%</a:t>
                </a:r>
                <a:endParaRPr kumimoji="0" lang="ko-KR" altLang="en-US"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49" name="직사각형 248"/>
              <p:cNvSpPr/>
              <p:nvPr/>
            </p:nvSpPr>
            <p:spPr>
              <a:xfrm>
                <a:off x="687379" y="5661519"/>
                <a:ext cx="326429" cy="271946"/>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0%</a:t>
                </a:r>
                <a:endParaRPr kumimoji="0" lang="ko-KR" altLang="en-US" sz="1050" b="0" i="0" u="none" strike="noStrike" kern="0" cap="none" spc="0" normalizeH="0" baseline="0" noProof="0" dirty="0">
                  <a:ln>
                    <a:noFill/>
                  </a:ln>
                  <a:effectLst/>
                  <a:uLnTx/>
                  <a:uFillTx/>
                  <a:latin typeface="Arial"/>
                  <a:ea typeface="맑은 고딕"/>
                </a:endParaRPr>
              </a:p>
            </p:txBody>
          </p:sp>
          <p:sp>
            <p:nvSpPr>
              <p:cNvPr id="250" name="직사각형 249"/>
              <p:cNvSpPr/>
              <p:nvPr/>
            </p:nvSpPr>
            <p:spPr>
              <a:xfrm>
                <a:off x="1820922" y="5661520"/>
                <a:ext cx="392242" cy="271946"/>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25%</a:t>
                </a:r>
                <a:endParaRPr kumimoji="0" lang="ko-KR" altLang="en-US" sz="1050" b="0" i="0" u="none" strike="noStrike" kern="0" cap="none" spc="0" normalizeH="0" baseline="0" noProof="0" dirty="0">
                  <a:ln>
                    <a:noFill/>
                  </a:ln>
                  <a:effectLst/>
                  <a:uLnTx/>
                  <a:uFillTx/>
                  <a:latin typeface="Arial"/>
                  <a:ea typeface="맑은 고딕"/>
                </a:endParaRPr>
              </a:p>
            </p:txBody>
          </p:sp>
          <p:sp>
            <p:nvSpPr>
              <p:cNvPr id="251" name="직사각형 250"/>
              <p:cNvSpPr/>
              <p:nvPr/>
            </p:nvSpPr>
            <p:spPr>
              <a:xfrm>
                <a:off x="2966029" y="5664154"/>
                <a:ext cx="392242" cy="271946"/>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50%</a:t>
                </a:r>
                <a:endParaRPr kumimoji="0" lang="ko-KR" altLang="en-US" sz="1050" b="0" i="0" u="none" strike="noStrike" kern="0" cap="none" spc="0" normalizeH="0" baseline="0" noProof="0" dirty="0">
                  <a:ln>
                    <a:noFill/>
                  </a:ln>
                  <a:effectLst/>
                  <a:uLnTx/>
                  <a:uFillTx/>
                  <a:latin typeface="Arial"/>
                  <a:ea typeface="맑은 고딕"/>
                </a:endParaRPr>
              </a:p>
            </p:txBody>
          </p:sp>
          <p:sp>
            <p:nvSpPr>
              <p:cNvPr id="252" name="직사각형 251"/>
              <p:cNvSpPr/>
              <p:nvPr/>
            </p:nvSpPr>
            <p:spPr>
              <a:xfrm>
                <a:off x="4160137" y="5661519"/>
                <a:ext cx="392242" cy="271946"/>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75%</a:t>
                </a:r>
                <a:endParaRPr kumimoji="0" lang="ko-KR" altLang="en-US" sz="1050" b="0" i="0" u="none" strike="noStrike" kern="0" cap="none" spc="0" normalizeH="0" baseline="0" noProof="0" dirty="0">
                  <a:ln>
                    <a:noFill/>
                  </a:ln>
                  <a:effectLst/>
                  <a:uLnTx/>
                  <a:uFillTx/>
                  <a:latin typeface="Arial"/>
                  <a:ea typeface="맑은 고딕"/>
                </a:endParaRPr>
              </a:p>
            </p:txBody>
          </p:sp>
          <p:cxnSp>
            <p:nvCxnSpPr>
              <p:cNvPr id="253" name="직선 연결선 252">
                <a:extLst>
                  <a:ext uri="{FF2B5EF4-FFF2-40B4-BE49-F238E27FC236}">
                    <a16:creationId xmlns:a16="http://schemas.microsoft.com/office/drawing/2014/main" id="{25BB8C04-C31F-470C-9A50-6C4BD57CD03C}"/>
                  </a:ext>
                </a:extLst>
              </p:cNvPr>
              <p:cNvCxnSpPr>
                <a:cxnSpLocks/>
              </p:cNvCxnSpPr>
              <p:nvPr/>
            </p:nvCxnSpPr>
            <p:spPr>
              <a:xfrm flipV="1">
                <a:off x="882246" y="5846970"/>
                <a:ext cx="3177" cy="468000"/>
              </a:xfrm>
              <a:prstGeom prst="line">
                <a:avLst/>
              </a:prstGeom>
              <a:noFill/>
              <a:ln w="12700" cap="rnd" cmpd="sng" algn="ctr">
                <a:solidFill>
                  <a:srgbClr val="A6A6A6"/>
                </a:solidFill>
                <a:prstDash val="sysDash"/>
                <a:round/>
                <a:headEnd type="none" w="med" len="med"/>
                <a:tailEnd type="none" w="med" len="med"/>
              </a:ln>
              <a:effectLst/>
            </p:spPr>
          </p:cxnSp>
          <p:cxnSp>
            <p:nvCxnSpPr>
              <p:cNvPr id="254" name="직선 연결선 253">
                <a:extLst>
                  <a:ext uri="{FF2B5EF4-FFF2-40B4-BE49-F238E27FC236}">
                    <a16:creationId xmlns:a16="http://schemas.microsoft.com/office/drawing/2014/main" id="{25BB8C04-C31F-470C-9A50-6C4BD57CD03C}"/>
                  </a:ext>
                </a:extLst>
              </p:cNvPr>
              <p:cNvCxnSpPr>
                <a:cxnSpLocks/>
              </p:cNvCxnSpPr>
              <p:nvPr/>
            </p:nvCxnSpPr>
            <p:spPr>
              <a:xfrm flipV="1">
                <a:off x="4392963" y="5851266"/>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55" name="직사각형 254"/>
              <p:cNvSpPr/>
              <p:nvPr/>
            </p:nvSpPr>
            <p:spPr>
              <a:xfrm>
                <a:off x="1238583" y="5948122"/>
                <a:ext cx="3764389" cy="250248"/>
              </a:xfrm>
              <a:prstGeom prst="rect">
                <a:avLst/>
              </a:prstGeom>
              <a:gradFill>
                <a:gsLst>
                  <a:gs pos="0">
                    <a:srgbClr val="FFC000">
                      <a:lumMod val="67000"/>
                    </a:srgbClr>
                  </a:gs>
                  <a:gs pos="48000">
                    <a:srgbClr val="FFC000">
                      <a:lumMod val="97000"/>
                      <a:lumOff val="3000"/>
                    </a:srgbClr>
                  </a:gs>
                  <a:gs pos="100000">
                    <a:srgbClr val="FFC000">
                      <a:lumMod val="60000"/>
                      <a:lumOff val="40000"/>
                    </a:srgbClr>
                  </a:gs>
                </a:gsLst>
                <a:lin ang="10800000" scaled="1"/>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4000" b="1" i="0" u="none" strike="noStrike" kern="0" cap="none" spc="0" normalizeH="0" baseline="0" noProof="0" dirty="0">
                  <a:ln>
                    <a:noFill/>
                  </a:ln>
                  <a:effectLst/>
                  <a:uLnTx/>
                  <a:uFillTx/>
                  <a:latin typeface="Samsung Sharp Sans Bold" pitchFamily="2" charset="0"/>
                  <a:ea typeface="SAMSUNGONE-600C" panose="020B0503030303020204" pitchFamily="34" charset="-127"/>
                  <a:cs typeface="+mn-cs"/>
                </a:endParaRPr>
              </a:p>
            </p:txBody>
          </p:sp>
          <p:sp>
            <p:nvSpPr>
              <p:cNvPr id="256" name="직사각형 255"/>
              <p:cNvSpPr/>
              <p:nvPr/>
            </p:nvSpPr>
            <p:spPr>
              <a:xfrm>
                <a:off x="1602837" y="5957755"/>
                <a:ext cx="2954535" cy="25594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0" normalizeH="0" baseline="0" noProof="0" dirty="0">
                    <a:ln>
                      <a:noFill/>
                    </a:ln>
                    <a:effectLst/>
                    <a:uLnTx/>
                    <a:uFillTx/>
                    <a:latin typeface="Samsung Sharp Sans Bold"/>
                    <a:ea typeface="맑은 고딕"/>
                    <a:cs typeface="Arial" panose="020B0604020202020204" pitchFamily="34" charset="0"/>
                  </a:rPr>
                  <a:t>GEMV accounts for 82.3% of total computation time (GPU)</a:t>
                </a:r>
                <a:endParaRPr kumimoji="0" lang="ko-KR" altLang="en-US" sz="10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7" name="직사각형 256"/>
              <p:cNvSpPr/>
              <p:nvPr/>
            </p:nvSpPr>
            <p:spPr>
              <a:xfrm>
                <a:off x="4998150" y="5948122"/>
                <a:ext cx="334116" cy="250248"/>
              </a:xfrm>
              <a:prstGeom prst="rect">
                <a:avLst/>
              </a:prstGeom>
              <a:solidFill>
                <a:srgbClr val="17375E"/>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8" name="직사각형 257"/>
              <p:cNvSpPr/>
              <p:nvPr/>
            </p:nvSpPr>
            <p:spPr>
              <a:xfrm>
                <a:off x="5332265" y="5948268"/>
                <a:ext cx="347290" cy="250248"/>
              </a:xfrm>
              <a:prstGeom prst="rect">
                <a:avLst/>
              </a:prstGeom>
              <a:solidFill>
                <a:srgbClr val="7030A0"/>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dirty="0">
                  <a:ln>
                    <a:noFill/>
                  </a:ln>
                  <a:effectLst/>
                  <a:uLnTx/>
                  <a:uFillTx/>
                  <a:latin typeface="Samsung Sharp Sans Bold"/>
                  <a:ea typeface="맑은 고딕"/>
                  <a:cs typeface="Arial" panose="020B0604020202020204" pitchFamily="34" charset="0"/>
                </a:endParaRPr>
              </a:p>
            </p:txBody>
          </p:sp>
          <p:sp>
            <p:nvSpPr>
              <p:cNvPr id="259" name="직사각형 258"/>
              <p:cNvSpPr/>
              <p:nvPr/>
            </p:nvSpPr>
            <p:spPr>
              <a:xfrm>
                <a:off x="4960363" y="5956486"/>
                <a:ext cx="412717" cy="26394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7.8%</a:t>
                </a:r>
                <a:endParaRPr kumimoji="0" lang="ko-KR" altLang="en-US"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60" name="직사각형 259"/>
              <p:cNvSpPr/>
              <p:nvPr/>
            </p:nvSpPr>
            <p:spPr>
              <a:xfrm>
                <a:off x="5311104" y="5956486"/>
                <a:ext cx="412717" cy="26394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rPr>
                  <a:t>7.9%</a:t>
                </a:r>
                <a:endParaRPr kumimoji="0" lang="ko-KR" altLang="en-US" sz="1000" b="0" i="0" u="none" strike="noStrike" kern="0" cap="none" spc="0" normalizeH="0" baseline="0" noProof="0" dirty="0">
                  <a:ln>
                    <a:noFill/>
                  </a:ln>
                  <a:solidFill>
                    <a:schemeClr val="bg1"/>
                  </a:solidFill>
                  <a:effectLst/>
                  <a:uLnTx/>
                  <a:uFillTx/>
                  <a:latin typeface="Samsung Sharp Sans Bold"/>
                  <a:ea typeface="맑은 고딕"/>
                  <a:cs typeface="Arial" panose="020B0604020202020204" pitchFamily="34" charset="0"/>
                </a:endParaRPr>
              </a:p>
            </p:txBody>
          </p:sp>
          <p:sp>
            <p:nvSpPr>
              <p:cNvPr id="261" name="직사각형 260"/>
              <p:cNvSpPr/>
              <p:nvPr/>
            </p:nvSpPr>
            <p:spPr>
              <a:xfrm>
                <a:off x="5397381" y="5661519"/>
                <a:ext cx="458054" cy="271946"/>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pitchFamily="2" charset="0"/>
                    <a:ea typeface="Samsung Sharp Sans Bold" pitchFamily="2" charset="0"/>
                    <a:cs typeface="Samsung Sharp Sans Bold" pitchFamily="2" charset="0"/>
                  </a:rPr>
                  <a:t>100%</a:t>
                </a:r>
                <a:endParaRPr kumimoji="0" lang="ko-KR" altLang="en-US" sz="1050" b="0" i="0" u="none" strike="noStrike" kern="0" cap="none" spc="0" normalizeH="0" baseline="0" noProof="0" dirty="0">
                  <a:ln>
                    <a:noFill/>
                  </a:ln>
                  <a:effectLst/>
                  <a:uLnTx/>
                  <a:uFillTx/>
                  <a:latin typeface="Arial"/>
                  <a:ea typeface="맑은 고딕"/>
                </a:endParaRPr>
              </a:p>
            </p:txBody>
          </p:sp>
          <p:grpSp>
            <p:nvGrpSpPr>
              <p:cNvPr id="262" name="그룹 261"/>
              <p:cNvGrpSpPr/>
              <p:nvPr/>
            </p:nvGrpSpPr>
            <p:grpSpPr>
              <a:xfrm>
                <a:off x="3305707" y="6382429"/>
                <a:ext cx="2450108" cy="278896"/>
                <a:chOff x="3311103" y="6381595"/>
                <a:chExt cx="2450108" cy="278896"/>
              </a:xfrm>
            </p:grpSpPr>
            <p:sp>
              <p:nvSpPr>
                <p:cNvPr id="265" name="직사각형 264"/>
                <p:cNvSpPr/>
                <p:nvPr/>
              </p:nvSpPr>
              <p:spPr>
                <a:xfrm>
                  <a:off x="3974527" y="6381596"/>
                  <a:ext cx="496079"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a:ea typeface="맑은 고딕"/>
                      <a:cs typeface="Arial" panose="020B0604020202020204" pitchFamily="34" charset="0"/>
                    </a:rPr>
                    <a:t>GEMV</a:t>
                  </a:r>
                  <a:endParaRPr kumimoji="0" lang="ko-KR" altLang="en-US" sz="105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66" name="직사각형 265"/>
                <p:cNvSpPr/>
                <p:nvPr/>
              </p:nvSpPr>
              <p:spPr>
                <a:xfrm>
                  <a:off x="3311103" y="6475549"/>
                  <a:ext cx="78516" cy="66384"/>
                </a:xfrm>
                <a:prstGeom prst="rect">
                  <a:avLst/>
                </a:prstGeom>
                <a:solidFill>
                  <a:srgbClr val="0077C8"/>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0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67" name="직사각형 266"/>
                <p:cNvSpPr/>
                <p:nvPr/>
              </p:nvSpPr>
              <p:spPr>
                <a:xfrm>
                  <a:off x="3345122" y="6388544"/>
                  <a:ext cx="532642"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a:ea typeface="맑은 고딕"/>
                      <a:cs typeface="Arial" panose="020B0604020202020204" pitchFamily="34" charset="0"/>
                    </a:rPr>
                    <a:t>GEMM</a:t>
                  </a:r>
                  <a:endParaRPr kumimoji="0" lang="ko-KR" altLang="en-US" sz="105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68" name="직사각형 267"/>
                <p:cNvSpPr/>
                <p:nvPr/>
              </p:nvSpPr>
              <p:spPr>
                <a:xfrm>
                  <a:off x="3927227" y="6475549"/>
                  <a:ext cx="78516" cy="66384"/>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0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69" name="직사각형 268"/>
                <p:cNvSpPr/>
                <p:nvPr/>
              </p:nvSpPr>
              <p:spPr>
                <a:xfrm>
                  <a:off x="4539939" y="6382051"/>
                  <a:ext cx="747628" cy="27194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a:ea typeface="맑은 고딕"/>
                      <a:cs typeface="Arial" panose="020B0604020202020204" pitchFamily="34" charset="0"/>
                    </a:rPr>
                    <a:t>Non-Linear</a:t>
                  </a:r>
                  <a:endParaRPr kumimoji="0" lang="ko-KR" altLang="en-US" sz="105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70" name="직사각형 269"/>
                <p:cNvSpPr/>
                <p:nvPr/>
              </p:nvSpPr>
              <p:spPr>
                <a:xfrm>
                  <a:off x="4503027" y="6476005"/>
                  <a:ext cx="78516" cy="66384"/>
                </a:xfrm>
                <a:prstGeom prst="rect">
                  <a:avLst/>
                </a:prstGeom>
                <a:solidFill>
                  <a:srgbClr val="17375E"/>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0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sp>
              <p:nvSpPr>
                <p:cNvPr id="271" name="직사각형 270"/>
                <p:cNvSpPr/>
                <p:nvPr/>
              </p:nvSpPr>
              <p:spPr>
                <a:xfrm>
                  <a:off x="5401144" y="6381595"/>
                  <a:ext cx="360067" cy="27194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a:ea typeface="맑은 고딕"/>
                      <a:cs typeface="Arial" panose="020B0604020202020204" pitchFamily="34" charset="0"/>
                    </a:rPr>
                    <a:t>Etc.</a:t>
                  </a:r>
                  <a:endParaRPr kumimoji="0" lang="ko-KR" altLang="en-US" sz="105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sp>
              <p:nvSpPr>
                <p:cNvPr id="272" name="직사각형 271"/>
                <p:cNvSpPr/>
                <p:nvPr/>
              </p:nvSpPr>
              <p:spPr>
                <a:xfrm>
                  <a:off x="5364233" y="6475549"/>
                  <a:ext cx="78516" cy="66384"/>
                </a:xfrm>
                <a:prstGeom prst="rect">
                  <a:avLst/>
                </a:prstGeom>
                <a:solidFill>
                  <a:srgbClr val="604A7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000" b="0" i="0" u="none" strike="noStrike" kern="0" cap="none" spc="0" normalizeH="0" baseline="0" noProof="0" dirty="0">
                    <a:ln>
                      <a:noFill/>
                    </a:ln>
                    <a:effectLst/>
                    <a:uLnTx/>
                    <a:uFillTx/>
                    <a:latin typeface="Arial" panose="020B0604020202020204" pitchFamily="34" charset="0"/>
                    <a:ea typeface="맑은 고딕"/>
                    <a:cs typeface="Arial" panose="020B0604020202020204" pitchFamily="34" charset="0"/>
                  </a:endParaRPr>
                </a:p>
              </p:txBody>
            </p:sp>
          </p:grpSp>
          <p:cxnSp>
            <p:nvCxnSpPr>
              <p:cNvPr id="263" name="직선 연결선 262">
                <a:extLst>
                  <a:ext uri="{FF2B5EF4-FFF2-40B4-BE49-F238E27FC236}">
                    <a16:creationId xmlns:a16="http://schemas.microsoft.com/office/drawing/2014/main" id="{25BB8C04-C31F-470C-9A50-6C4BD57CD03C}"/>
                  </a:ext>
                </a:extLst>
              </p:cNvPr>
              <p:cNvCxnSpPr>
                <a:cxnSpLocks/>
              </p:cNvCxnSpPr>
              <p:nvPr/>
            </p:nvCxnSpPr>
            <p:spPr>
              <a:xfrm flipV="1">
                <a:off x="5674791" y="5853456"/>
                <a:ext cx="3177" cy="468000"/>
              </a:xfrm>
              <a:prstGeom prst="line">
                <a:avLst/>
              </a:prstGeom>
              <a:noFill/>
              <a:ln w="12700" cap="rnd" cmpd="sng" algn="ctr">
                <a:solidFill>
                  <a:srgbClr val="A6A6A6"/>
                </a:solidFill>
                <a:prstDash val="sysDash"/>
                <a:round/>
                <a:headEnd type="none" w="med" len="med"/>
                <a:tailEnd type="none" w="med" len="med"/>
              </a:ln>
              <a:effectLst/>
            </p:spPr>
          </p:cxnSp>
          <p:sp>
            <p:nvSpPr>
              <p:cNvPr id="264" name="직사각형 263"/>
              <p:cNvSpPr/>
              <p:nvPr/>
            </p:nvSpPr>
            <p:spPr>
              <a:xfrm>
                <a:off x="418623" y="6393624"/>
                <a:ext cx="2337363" cy="26394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0" cap="none" spc="0" normalizeH="0" baseline="0" noProof="0" dirty="0">
                    <a:ln>
                      <a:noFill/>
                    </a:ln>
                    <a:effectLst/>
                    <a:uLnTx/>
                    <a:uFillTx/>
                    <a:latin typeface="Samsung Sharp Sans Bold"/>
                    <a:ea typeface="맑은 고딕"/>
                    <a:cs typeface="Arial" panose="020B0604020202020204" pitchFamily="34" charset="0"/>
                  </a:rPr>
                  <a:t>*GPT-J 6B latency breakdown on A100 GPU</a:t>
                </a:r>
                <a:endParaRPr kumimoji="0" lang="ko-KR" altLang="en-US" sz="1050" b="0" i="0" u="none" strike="noStrike" kern="0" cap="none" spc="0" normalizeH="0" baseline="-25000" noProof="0" dirty="0">
                  <a:ln>
                    <a:noFill/>
                  </a:ln>
                  <a:effectLst/>
                  <a:uLnTx/>
                  <a:uFillTx/>
                  <a:latin typeface="Samsung Sharp Sans Bold"/>
                  <a:ea typeface="맑은 고딕"/>
                  <a:cs typeface="Arial" panose="020B0604020202020204" pitchFamily="34" charset="0"/>
                </a:endParaRPr>
              </a:p>
            </p:txBody>
          </p:sp>
        </p:grpSp>
      </p:gr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5</a:t>
            </a:fld>
            <a:endParaRPr lang="ko-KR" altLang="en-US" dirty="0"/>
          </a:p>
        </p:txBody>
      </p:sp>
      <p:graphicFrame>
        <p:nvGraphicFramePr>
          <p:cNvPr id="6151" name="Table 6150"/>
          <p:cNvGraphicFramePr>
            <a:graphicFrameLocks noGrp="1"/>
          </p:cNvGraphicFramePr>
          <p:nvPr/>
        </p:nvGraphicFramePr>
        <p:xfrm>
          <a:off x="6648293" y="4106216"/>
          <a:ext cx="4536831" cy="2085137"/>
        </p:xfrm>
        <a:graphic>
          <a:graphicData uri="http://schemas.openxmlformats.org/drawingml/2006/table">
            <a:tbl>
              <a:tblPr>
                <a:tableStyleId>{5940675A-B579-460E-94D1-54222C63F5DA}</a:tableStyleId>
              </a:tblPr>
              <a:tblGrid>
                <a:gridCol w="738107">
                  <a:extLst>
                    <a:ext uri="{9D8B030D-6E8A-4147-A177-3AD203B41FA5}">
                      <a16:colId xmlns:a16="http://schemas.microsoft.com/office/drawing/2014/main" val="20000"/>
                    </a:ext>
                  </a:extLst>
                </a:gridCol>
                <a:gridCol w="1899362">
                  <a:extLst>
                    <a:ext uri="{9D8B030D-6E8A-4147-A177-3AD203B41FA5}">
                      <a16:colId xmlns:a16="http://schemas.microsoft.com/office/drawing/2014/main" val="20001"/>
                    </a:ext>
                  </a:extLst>
                </a:gridCol>
                <a:gridCol w="1899362">
                  <a:extLst>
                    <a:ext uri="{9D8B030D-6E8A-4147-A177-3AD203B41FA5}">
                      <a16:colId xmlns:a16="http://schemas.microsoft.com/office/drawing/2014/main" val="20002"/>
                    </a:ext>
                  </a:extLst>
                </a:gridCol>
              </a:tblGrid>
              <a:tr h="271577">
                <a:tc>
                  <a:txBody>
                    <a:bodyPr/>
                    <a:lstStyle/>
                    <a:p>
                      <a:pPr algn="ctr"/>
                      <a:r>
                        <a:rPr sz="1100" b="1" dirty="0" err="1">
                          <a:solidFill>
                            <a:schemeClr val="tx1"/>
                          </a:solidFill>
                          <a:latin typeface="맑은 고딕"/>
                          <a:ea typeface="맑은 고딕"/>
                        </a:rPr>
                        <a:t>구분</a:t>
                      </a:r>
                      <a:endParaRPr sz="1100" b="1" dirty="0">
                        <a:solidFill>
                          <a:schemeClr val="tx1"/>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sz="1100" b="1" dirty="0">
                          <a:solidFill>
                            <a:schemeClr val="tx1"/>
                          </a:solidFill>
                          <a:latin typeface="맑은 고딕"/>
                          <a:ea typeface="맑은 고딕"/>
                        </a:rPr>
                        <a:t>Prefill</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sz="1100" b="1" dirty="0">
                          <a:solidFill>
                            <a:schemeClr val="tx1"/>
                          </a:solidFill>
                          <a:latin typeface="맑은 고딕"/>
                          <a:ea typeface="맑은 고딕"/>
                        </a:rPr>
                        <a:t>Decode</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0"/>
                  </a:ext>
                </a:extLst>
              </a:tr>
              <a:tr h="442570">
                <a:tc>
                  <a:txBody>
                    <a:bodyPr/>
                    <a:lstStyle/>
                    <a:p>
                      <a:pPr algn="ctr"/>
                      <a:r>
                        <a:rPr lang="ko-KR" altLang="en-US" sz="1000" b="1" dirty="0">
                          <a:solidFill>
                            <a:srgbClr val="404040"/>
                          </a:solidFill>
                          <a:latin typeface="맑은 고딕"/>
                          <a:ea typeface="맑은 고딕"/>
                        </a:rPr>
                        <a:t>역할</a:t>
                      </a:r>
                      <a:endParaRPr sz="1000" b="1" dirty="0">
                        <a:solidFill>
                          <a:srgbClr val="404040"/>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lang="ko-KR" altLang="en-US" sz="1000" b="0" dirty="0">
                          <a:solidFill>
                            <a:srgbClr val="262626"/>
                          </a:solidFill>
                          <a:latin typeface="맑은 고딕"/>
                          <a:ea typeface="맑은 고딕"/>
                        </a:rPr>
                        <a:t>입력 </a:t>
                      </a:r>
                      <a:r>
                        <a:rPr sz="1000" b="0" dirty="0" err="1">
                          <a:solidFill>
                            <a:srgbClr val="262626"/>
                          </a:solidFill>
                          <a:latin typeface="맑은 고딕"/>
                          <a:ea typeface="맑은 고딕"/>
                        </a:rPr>
                        <a:t>프롬프트</a:t>
                      </a:r>
                      <a:r>
                        <a:rPr sz="1000" b="0" dirty="0">
                          <a:solidFill>
                            <a:srgbClr val="262626"/>
                          </a:solidFill>
                          <a:latin typeface="맑은 고딕"/>
                          <a:ea typeface="맑은 고딕"/>
                        </a:rPr>
                        <a:t> </a:t>
                      </a:r>
                      <a:r>
                        <a:rPr sz="1000" b="0" dirty="0" err="1">
                          <a:solidFill>
                            <a:srgbClr val="262626"/>
                          </a:solidFill>
                          <a:latin typeface="맑은 고딕"/>
                          <a:ea typeface="맑은 고딕"/>
                        </a:rPr>
                        <a:t>처리</a:t>
                      </a:r>
                      <a:endParaRPr sz="1000" b="0" dirty="0">
                        <a:solidFill>
                          <a:srgbClr val="262626"/>
                        </a:solidFill>
                        <a:latin typeface="맑은 고딕"/>
                        <a:ea typeface="맑은 고딕"/>
                      </a:endParaRPr>
                    </a:p>
                    <a:p>
                      <a:pPr algn="ctr"/>
                      <a:r>
                        <a:rPr sz="1000" b="0" dirty="0">
                          <a:solidFill>
                            <a:srgbClr val="262626"/>
                          </a:solidFill>
                          <a:latin typeface="맑은 고딕"/>
                          <a:ea typeface="맑은 고딕"/>
                        </a:rPr>
                        <a:t>→ 첫 </a:t>
                      </a:r>
                      <a:r>
                        <a:rPr sz="1000" b="0" dirty="0" err="1">
                          <a:solidFill>
                            <a:srgbClr val="262626"/>
                          </a:solidFill>
                          <a:latin typeface="맑은 고딕"/>
                          <a:ea typeface="맑은 고딕"/>
                        </a:rPr>
                        <a:t>토큰</a:t>
                      </a:r>
                      <a:r>
                        <a:rPr lang="en-US" sz="1000" b="0" dirty="0">
                          <a:solidFill>
                            <a:srgbClr val="262626"/>
                          </a:solidFill>
                          <a:latin typeface="맑은 고딕"/>
                          <a:ea typeface="맑은 고딕"/>
                        </a:rPr>
                        <a:t> </a:t>
                      </a:r>
                      <a:r>
                        <a:rPr lang="en-US" altLang="ko-KR" sz="1000" b="0" dirty="0">
                          <a:solidFill>
                            <a:srgbClr val="262626"/>
                          </a:solidFill>
                          <a:latin typeface="맑은 고딕"/>
                          <a:ea typeface="맑은 고딕"/>
                        </a:rPr>
                        <a:t>+</a:t>
                      </a:r>
                      <a:r>
                        <a:rPr lang="ko-KR" altLang="en-US" sz="1000" b="0" dirty="0">
                          <a:solidFill>
                            <a:srgbClr val="262626"/>
                          </a:solidFill>
                          <a:latin typeface="맑은 고딕"/>
                          <a:ea typeface="맑은 고딕"/>
                        </a:rPr>
                        <a:t> </a:t>
                      </a:r>
                      <a:r>
                        <a:rPr lang="en-US" altLang="ko-KR" sz="1000" b="0" dirty="0">
                          <a:solidFill>
                            <a:srgbClr val="262626"/>
                          </a:solidFill>
                          <a:latin typeface="맑은 고딕"/>
                          <a:ea typeface="맑은 고딕"/>
                        </a:rPr>
                        <a:t>KV</a:t>
                      </a:r>
                      <a:r>
                        <a:rPr lang="ko-KR" altLang="en-US" sz="1000" b="0" dirty="0">
                          <a:solidFill>
                            <a:srgbClr val="262626"/>
                          </a:solidFill>
                          <a:latin typeface="맑은 고딕"/>
                          <a:ea typeface="맑은 고딕"/>
                        </a:rPr>
                        <a:t> 캐시</a:t>
                      </a:r>
                      <a:endParaRPr sz="1000" b="0" dirty="0">
                        <a:solidFill>
                          <a:srgbClr val="262626"/>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dirty="0" err="1">
                          <a:solidFill>
                            <a:srgbClr val="262626"/>
                          </a:solidFill>
                          <a:latin typeface="맑은 고딕"/>
                          <a:ea typeface="맑은 고딕"/>
                        </a:rPr>
                        <a:t>KV를</a:t>
                      </a:r>
                      <a:r>
                        <a:rPr sz="1000" b="0" dirty="0">
                          <a:solidFill>
                            <a:srgbClr val="262626"/>
                          </a:solidFill>
                          <a:latin typeface="맑은 고딕"/>
                          <a:ea typeface="맑은 고딕"/>
                        </a:rPr>
                        <a:t> </a:t>
                      </a:r>
                      <a:r>
                        <a:rPr sz="1000" b="0" dirty="0" err="1">
                          <a:solidFill>
                            <a:srgbClr val="262626"/>
                          </a:solidFill>
                          <a:latin typeface="맑은 고딕"/>
                          <a:ea typeface="맑은 고딕"/>
                        </a:rPr>
                        <a:t>참조해</a:t>
                      </a:r>
                      <a:r>
                        <a:rPr sz="1000" b="0" dirty="0">
                          <a:solidFill>
                            <a:srgbClr val="262626"/>
                          </a:solidFill>
                          <a:latin typeface="맑은 고딕"/>
                          <a:ea typeface="맑은 고딕"/>
                        </a:rPr>
                        <a:t> </a:t>
                      </a:r>
                      <a:r>
                        <a:rPr sz="1000" b="0" dirty="0" err="1">
                          <a:solidFill>
                            <a:srgbClr val="262626"/>
                          </a:solidFill>
                          <a:latin typeface="맑은 고딕"/>
                          <a:ea typeface="맑은 고딕"/>
                        </a:rPr>
                        <a:t>토큰을</a:t>
                      </a:r>
                      <a:endParaRPr sz="1000" b="0" dirty="0">
                        <a:solidFill>
                          <a:srgbClr val="262626"/>
                        </a:solidFill>
                        <a:latin typeface="맑은 고딕"/>
                        <a:ea typeface="맑은 고딕"/>
                      </a:endParaRPr>
                    </a:p>
                    <a:p>
                      <a:pPr algn="ctr"/>
                      <a:r>
                        <a:rPr sz="1000" b="0" dirty="0">
                          <a:solidFill>
                            <a:srgbClr val="262626"/>
                          </a:solidFill>
                          <a:latin typeface="맑은 고딕"/>
                          <a:ea typeface="맑은 고딕"/>
                        </a:rPr>
                        <a:t>1개씩 </a:t>
                      </a:r>
                      <a:r>
                        <a:rPr sz="1000" b="0" dirty="0" err="1">
                          <a:solidFill>
                            <a:srgbClr val="262626"/>
                          </a:solidFill>
                          <a:latin typeface="맑은 고딕"/>
                          <a:ea typeface="맑은 고딕"/>
                        </a:rPr>
                        <a:t>반복</a:t>
                      </a:r>
                      <a:r>
                        <a:rPr sz="1000" b="0" dirty="0">
                          <a:solidFill>
                            <a:srgbClr val="262626"/>
                          </a:solidFill>
                          <a:latin typeface="맑은 고딕"/>
                          <a:ea typeface="맑은 고딕"/>
                        </a:rPr>
                        <a:t> </a:t>
                      </a:r>
                      <a:r>
                        <a:rPr sz="1000" b="0" dirty="0" err="1">
                          <a:solidFill>
                            <a:srgbClr val="262626"/>
                          </a:solidFill>
                          <a:latin typeface="맑은 고딕"/>
                          <a:ea typeface="맑은 고딕"/>
                        </a:rPr>
                        <a:t>생성</a:t>
                      </a:r>
                      <a:endParaRPr sz="1000" b="0" dirty="0">
                        <a:solidFill>
                          <a:srgbClr val="262626"/>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01752">
                <a:tc>
                  <a:txBody>
                    <a:bodyPr/>
                    <a:lstStyle/>
                    <a:p>
                      <a:pPr algn="ctr"/>
                      <a:r>
                        <a:rPr sz="1000" b="1">
                          <a:solidFill>
                            <a:srgbClr val="404040"/>
                          </a:solidFill>
                          <a:latin typeface="맑은 고딕"/>
                          <a:ea typeface="맑은 고딕"/>
                        </a:rPr>
                        <a:t>연산 형태</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1000" b="0" dirty="0">
                          <a:solidFill>
                            <a:srgbClr val="262626"/>
                          </a:solidFill>
                          <a:latin typeface="맑은 고딕"/>
                          <a:ea typeface="맑은 고딕"/>
                        </a:rPr>
                        <a:t>n </a:t>
                      </a:r>
                      <a:r>
                        <a:rPr sz="1000" b="0" dirty="0" err="1">
                          <a:solidFill>
                            <a:srgbClr val="262626"/>
                          </a:solidFill>
                          <a:latin typeface="맑은 고딕"/>
                          <a:ea typeface="맑은 고딕"/>
                        </a:rPr>
                        <a:t>토큰</a:t>
                      </a:r>
                      <a:r>
                        <a:rPr sz="1000" b="0" dirty="0">
                          <a:solidFill>
                            <a:srgbClr val="262626"/>
                          </a:solidFill>
                          <a:latin typeface="맑은 고딕"/>
                          <a:ea typeface="맑은 고딕"/>
                        </a:rPr>
                        <a:t> </a:t>
                      </a:r>
                      <a:r>
                        <a:rPr sz="1000" b="0" dirty="0" err="1">
                          <a:solidFill>
                            <a:srgbClr val="262626"/>
                          </a:solidFill>
                          <a:latin typeface="맑은 고딕"/>
                          <a:ea typeface="맑은 고딕"/>
                        </a:rPr>
                        <a:t>병렬</a:t>
                      </a:r>
                      <a:r>
                        <a:rPr sz="1000" b="0" dirty="0">
                          <a:solidFill>
                            <a:srgbClr val="262626"/>
                          </a:solidFill>
                          <a:latin typeface="맑은 고딕"/>
                          <a:ea typeface="맑은 고딕"/>
                        </a:rPr>
                        <a:t> (GEMM)</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dirty="0" err="1">
                          <a:solidFill>
                            <a:srgbClr val="262626"/>
                          </a:solidFill>
                          <a:latin typeface="맑은 고딕"/>
                          <a:ea typeface="맑은 고딕"/>
                        </a:rPr>
                        <a:t>step당</a:t>
                      </a:r>
                      <a:r>
                        <a:rPr sz="1000" b="0" dirty="0">
                          <a:solidFill>
                            <a:srgbClr val="262626"/>
                          </a:solidFill>
                          <a:latin typeface="맑은 고딕"/>
                          <a:ea typeface="맑은 고딕"/>
                        </a:rPr>
                        <a:t> 1 </a:t>
                      </a:r>
                      <a:r>
                        <a:rPr sz="1000" b="0" dirty="0" err="1">
                          <a:solidFill>
                            <a:srgbClr val="262626"/>
                          </a:solidFill>
                          <a:latin typeface="맑은 고딕"/>
                          <a:ea typeface="맑은 고딕"/>
                        </a:rPr>
                        <a:t>토큰</a:t>
                      </a:r>
                      <a:r>
                        <a:rPr sz="1000" b="0" dirty="0">
                          <a:solidFill>
                            <a:srgbClr val="262626"/>
                          </a:solidFill>
                          <a:latin typeface="맑은 고딕"/>
                          <a:ea typeface="맑은 고딕"/>
                        </a:rPr>
                        <a:t> (GEMV)</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442570">
                <a:tc>
                  <a:txBody>
                    <a:bodyPr/>
                    <a:lstStyle/>
                    <a:p>
                      <a:pPr algn="ctr"/>
                      <a:r>
                        <a:rPr sz="1000" b="1">
                          <a:solidFill>
                            <a:srgbClr val="404040"/>
                          </a:solidFill>
                          <a:latin typeface="맑은 고딕"/>
                          <a:ea typeface="맑은 고딕"/>
                        </a:rPr>
                        <a:t>병목</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1000" b="1" dirty="0">
                          <a:solidFill>
                            <a:srgbClr val="2E75B6"/>
                          </a:solidFill>
                          <a:latin typeface="맑은 고딕"/>
                          <a:ea typeface="맑은 고딕"/>
                        </a:rPr>
                        <a:t>Compute-bound</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1" dirty="0">
                          <a:solidFill>
                            <a:srgbClr val="C55A11"/>
                          </a:solidFill>
                          <a:latin typeface="맑은 고딕"/>
                          <a:ea typeface="맑은 고딕"/>
                        </a:rPr>
                        <a:t>Memory-bound</a:t>
                      </a:r>
                    </a:p>
                    <a:p>
                      <a:pPr algn="ctr"/>
                      <a:r>
                        <a:rPr sz="1000" b="0" dirty="0">
                          <a:solidFill>
                            <a:srgbClr val="262626"/>
                          </a:solidFill>
                          <a:latin typeface="맑은 고딕"/>
                          <a:ea typeface="맑은 고딕"/>
                        </a:rPr>
                        <a:t>(</a:t>
                      </a:r>
                      <a:r>
                        <a:rPr lang="en-US" sz="1000" b="0" dirty="0" err="1">
                          <a:solidFill>
                            <a:srgbClr val="262626"/>
                          </a:solidFill>
                          <a:latin typeface="맑은 고딕"/>
                          <a:ea typeface="맑은 고딕"/>
                        </a:rPr>
                        <a:t>Weight</a:t>
                      </a:r>
                      <a:r>
                        <a:rPr sz="1000" b="0" dirty="0" err="1">
                          <a:solidFill>
                            <a:srgbClr val="262626"/>
                          </a:solidFill>
                          <a:latin typeface="맑은 고딕"/>
                          <a:ea typeface="맑은 고딕"/>
                        </a:rPr>
                        <a:t>·KV</a:t>
                      </a:r>
                      <a:r>
                        <a:rPr sz="1000" b="0" dirty="0">
                          <a:solidFill>
                            <a:srgbClr val="262626"/>
                          </a:solidFill>
                          <a:latin typeface="맑은 고딕"/>
                          <a:ea typeface="맑은 고딕"/>
                        </a:rPr>
                        <a:t> </a:t>
                      </a:r>
                      <a:r>
                        <a:rPr sz="1000" b="0" dirty="0" err="1">
                          <a:solidFill>
                            <a:srgbClr val="262626"/>
                          </a:solidFill>
                          <a:latin typeface="맑은 고딕"/>
                          <a:ea typeface="맑은 고딕"/>
                        </a:rPr>
                        <a:t>반복</a:t>
                      </a:r>
                      <a:r>
                        <a:rPr sz="1000" b="0" dirty="0">
                          <a:solidFill>
                            <a:srgbClr val="262626"/>
                          </a:solidFill>
                          <a:latin typeface="맑은 고딕"/>
                          <a:ea typeface="맑은 고딕"/>
                        </a:rPr>
                        <a:t> </a:t>
                      </a:r>
                      <a:r>
                        <a:rPr sz="1000" b="0" dirty="0" err="1">
                          <a:solidFill>
                            <a:srgbClr val="262626"/>
                          </a:solidFill>
                          <a:latin typeface="맑은 고딕"/>
                          <a:ea typeface="맑은 고딕"/>
                        </a:rPr>
                        <a:t>읽기</a:t>
                      </a:r>
                      <a:r>
                        <a:rPr sz="1000" b="0" dirty="0">
                          <a:solidFill>
                            <a:srgbClr val="262626"/>
                          </a:solidFill>
                          <a:latin typeface="맑은 고딕"/>
                          <a:ea typeface="맑은 고딕"/>
                        </a:rPr>
                        <a:t>)</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01752">
                <a:tc>
                  <a:txBody>
                    <a:bodyPr/>
                    <a:lstStyle/>
                    <a:p>
                      <a:pPr algn="ctr"/>
                      <a:r>
                        <a:rPr sz="1000" b="1">
                          <a:solidFill>
                            <a:srgbClr val="404040"/>
                          </a:solidFill>
                          <a:latin typeface="맑은 고딕"/>
                          <a:ea typeface="맑은 고딕"/>
                        </a:rPr>
                        <a:t>KV 캐시</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1000" b="0" dirty="0" err="1">
                          <a:solidFill>
                            <a:srgbClr val="262626"/>
                          </a:solidFill>
                          <a:latin typeface="맑은 고딕"/>
                          <a:ea typeface="맑은 고딕"/>
                        </a:rPr>
                        <a:t>생성</a:t>
                      </a:r>
                      <a:r>
                        <a:rPr sz="1000" b="0" dirty="0">
                          <a:solidFill>
                            <a:srgbClr val="262626"/>
                          </a:solidFill>
                          <a:latin typeface="맑은 고딕"/>
                          <a:ea typeface="맑은 고딕"/>
                        </a:rPr>
                        <a:t>(Write)</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0" dirty="0" err="1">
                          <a:solidFill>
                            <a:srgbClr val="262626"/>
                          </a:solidFill>
                          <a:latin typeface="맑은 고딕"/>
                          <a:ea typeface="맑은 고딕"/>
                        </a:rPr>
                        <a:t>읽기</a:t>
                      </a:r>
                      <a:r>
                        <a:rPr sz="1000" b="0" dirty="0">
                          <a:solidFill>
                            <a:srgbClr val="262626"/>
                          </a:solidFill>
                          <a:latin typeface="맑은 고딕"/>
                          <a:ea typeface="맑은 고딕"/>
                        </a:rPr>
                        <a:t> + </a:t>
                      </a:r>
                      <a:r>
                        <a:rPr lang="en-US" sz="1000" b="0" dirty="0">
                          <a:solidFill>
                            <a:srgbClr val="262626"/>
                          </a:solidFill>
                          <a:latin typeface="맑은 고딕"/>
                          <a:ea typeface="맑은 고딕"/>
                        </a:rPr>
                        <a:t>Append Write</a:t>
                      </a:r>
                      <a:endParaRPr sz="1000" b="0" dirty="0">
                        <a:solidFill>
                          <a:srgbClr val="262626"/>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21869">
                <a:tc>
                  <a:txBody>
                    <a:bodyPr/>
                    <a:lstStyle/>
                    <a:p>
                      <a:pPr algn="ctr"/>
                      <a:r>
                        <a:rPr sz="1000" b="1">
                          <a:solidFill>
                            <a:srgbClr val="404040"/>
                          </a:solidFill>
                          <a:latin typeface="맑은 고딕"/>
                          <a:ea typeface="맑은 고딕"/>
                        </a:rPr>
                        <a:t>지표</a:t>
                      </a: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0F1F3"/>
                    </a:solidFill>
                  </a:tcPr>
                </a:tc>
                <a:tc>
                  <a:txBody>
                    <a:bodyPr/>
                    <a:lstStyle/>
                    <a:p>
                      <a:pPr algn="ctr"/>
                      <a:r>
                        <a:rPr sz="1000" b="1" dirty="0">
                          <a:solidFill>
                            <a:srgbClr val="2E75B6"/>
                          </a:solidFill>
                          <a:latin typeface="맑은 고딕"/>
                          <a:ea typeface="맑은 고딕"/>
                        </a:rPr>
                        <a:t>TTFT</a:t>
                      </a:r>
                      <a:endParaRPr lang="en-US" sz="1000" b="1" dirty="0">
                        <a:solidFill>
                          <a:srgbClr val="2E75B6"/>
                        </a:solidFill>
                        <a:latin typeface="맑은 고딕"/>
                        <a:ea typeface="맑은 고딕"/>
                      </a:endParaRPr>
                    </a:p>
                    <a:p>
                      <a:pPr algn="ctr"/>
                      <a:r>
                        <a:rPr lang="en-US" sz="1000" b="1" dirty="0">
                          <a:solidFill>
                            <a:srgbClr val="2E75B6"/>
                          </a:solidFill>
                          <a:latin typeface="맑은 고딕"/>
                          <a:ea typeface="맑은 고딕"/>
                        </a:rPr>
                        <a:t>(Time To First Token)</a:t>
                      </a:r>
                      <a:endParaRPr sz="1000" b="1" dirty="0">
                        <a:solidFill>
                          <a:srgbClr val="2E75B6"/>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000" b="1" dirty="0">
                          <a:solidFill>
                            <a:srgbClr val="C55A11"/>
                          </a:solidFill>
                          <a:latin typeface="맑은 고딕"/>
                          <a:ea typeface="맑은 고딕"/>
                        </a:rPr>
                        <a:t>TPOT</a:t>
                      </a:r>
                      <a:r>
                        <a:rPr lang="en-US" sz="1000" b="1" dirty="0">
                          <a:solidFill>
                            <a:srgbClr val="C55A11"/>
                          </a:solidFill>
                          <a:latin typeface="맑은 고딕"/>
                          <a:ea typeface="맑은 고딕"/>
                        </a:rPr>
                        <a:t> </a:t>
                      </a:r>
                    </a:p>
                    <a:p>
                      <a:pPr algn="ctr"/>
                      <a:r>
                        <a:rPr lang="en-US" sz="1000" b="1" dirty="0">
                          <a:solidFill>
                            <a:srgbClr val="C55A11"/>
                          </a:solidFill>
                          <a:latin typeface="맑은 고딕"/>
                          <a:ea typeface="맑은 고딕"/>
                        </a:rPr>
                        <a:t>(Time Per Output Token)</a:t>
                      </a:r>
                      <a:endParaRPr sz="1000" b="1" dirty="0">
                        <a:solidFill>
                          <a:srgbClr val="C55A11"/>
                        </a:solidFill>
                        <a:latin typeface="맑은 고딕"/>
                        <a:ea typeface="맑은 고딕"/>
                      </a:endParaRPr>
                    </a:p>
                  </a:txBody>
                  <a:tcPr marL="33193" marR="33193" marT="10058" marB="1005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2145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DP2. </a:t>
            </a:r>
            <a:r>
              <a:rPr lang="ko-KR" altLang="en-US" dirty="0"/>
              <a:t>이기종 메모리 환경의 </a:t>
            </a:r>
            <a:r>
              <a:rPr lang="en-US" altLang="ko-KR" dirty="0"/>
              <a:t>Prefill/Decode </a:t>
            </a:r>
            <a:r>
              <a:rPr lang="ko-KR" altLang="en-US" dirty="0"/>
              <a:t>실행 위치 결정 구조 </a:t>
            </a:r>
            <a:r>
              <a:rPr lang="en-US" altLang="ko-KR" dirty="0"/>
              <a:t>- </a:t>
            </a:r>
            <a:r>
              <a:rPr lang="ko-KR" altLang="en-US" dirty="0"/>
              <a:t>배경</a:t>
            </a:r>
            <a:endParaRPr lang="en-US" altLang="ko-KR" dirty="0"/>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6</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97781"/>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이기종 메모리 환경에서는 노드마다 다양한 </a:t>
            </a:r>
            <a:r>
              <a:rPr lang="ko-KR" altLang="en-US" sz="1200" dirty="0" err="1">
                <a:solidFill>
                  <a:srgbClr val="404040"/>
                </a:solidFill>
                <a:latin typeface="맑은 고딕" panose="020B0503020000020004" pitchFamily="50" charset="-127"/>
              </a:rPr>
              <a:t>Memory</a:t>
            </a:r>
            <a:r>
              <a:rPr lang="ko-KR" altLang="en-US" sz="1200" dirty="0">
                <a:solidFill>
                  <a:srgbClr val="404040"/>
                </a:solidFill>
                <a:latin typeface="맑은 고딕" panose="020B0503020000020004" pitchFamily="50" charset="-127"/>
              </a:rPr>
              <a:t> </a:t>
            </a:r>
            <a:r>
              <a:rPr lang="ko-KR" altLang="en-US" sz="1200" dirty="0" err="1">
                <a:solidFill>
                  <a:srgbClr val="404040"/>
                </a:solidFill>
                <a:latin typeface="맑은 고딕" panose="020B0503020000020004" pitchFamily="50" charset="-127"/>
              </a:rPr>
              <a:t>Tier</a:t>
            </a:r>
            <a:r>
              <a:rPr lang="ko-KR" altLang="en-US" sz="1200" dirty="0">
                <a:solidFill>
                  <a:srgbClr val="404040"/>
                </a:solidFill>
                <a:latin typeface="맑은 고딕" panose="020B0503020000020004" pitchFamily="50" charset="-127"/>
              </a:rPr>
              <a:t>(HBM·DRAM·CXL·SSD 등)에 KV 캐시가 분산 배치됨</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기존 </a:t>
            </a:r>
            <a:r>
              <a:rPr lang="ko-KR" altLang="en-US" sz="1200" dirty="0" err="1">
                <a:solidFill>
                  <a:srgbClr val="404040"/>
                </a:solidFill>
                <a:latin typeface="맑은 고딕" panose="020B0503020000020004" pitchFamily="50" charset="-127"/>
              </a:rPr>
              <a:t>Prefill-Decode</a:t>
            </a:r>
            <a:r>
              <a:rPr lang="ko-KR" altLang="en-US" sz="1200" dirty="0">
                <a:solidFill>
                  <a:srgbClr val="404040"/>
                </a:solidFill>
                <a:latin typeface="맑은 고딕" panose="020B0503020000020004" pitchFamily="50" charset="-127"/>
              </a:rPr>
              <a:t> 분리 실행 구조는 </a:t>
            </a:r>
            <a:r>
              <a:rPr lang="ko-KR" altLang="en-US" sz="1200" dirty="0" err="1">
                <a:solidFill>
                  <a:srgbClr val="404040"/>
                </a:solidFill>
                <a:latin typeface="맑은 고딕" panose="020B0503020000020004" pitchFamily="50" charset="-127"/>
              </a:rPr>
              <a:t>Turn마다</a:t>
            </a:r>
            <a:r>
              <a:rPr lang="ko-KR" altLang="en-US" sz="1200" dirty="0">
                <a:solidFill>
                  <a:srgbClr val="404040"/>
                </a:solidFill>
                <a:latin typeface="맑은 고딕" panose="020B0503020000020004" pitchFamily="50" charset="-127"/>
              </a:rPr>
              <a:t> 노드 간 KV 캐시 이동이 발생하나, </a:t>
            </a:r>
            <a:r>
              <a:rPr lang="ko-KR" altLang="en-US" sz="1200" dirty="0" err="1">
                <a:solidFill>
                  <a:srgbClr val="404040"/>
                </a:solidFill>
                <a:latin typeface="맑은 고딕" panose="020B0503020000020004" pitchFamily="50" charset="-127"/>
              </a:rPr>
              <a:t>Memory</a:t>
            </a:r>
            <a:r>
              <a:rPr lang="ko-KR" altLang="en-US" sz="1200" dirty="0">
                <a:solidFill>
                  <a:srgbClr val="404040"/>
                </a:solidFill>
                <a:latin typeface="맑은 고딕" panose="020B0503020000020004" pitchFamily="50" charset="-127"/>
              </a:rPr>
              <a:t> </a:t>
            </a:r>
            <a:r>
              <a:rPr lang="ko-KR" altLang="en-US" sz="1200" dirty="0" err="1">
                <a:solidFill>
                  <a:srgbClr val="404040"/>
                </a:solidFill>
                <a:latin typeface="맑은 고딕" panose="020B0503020000020004" pitchFamily="50" charset="-127"/>
              </a:rPr>
              <a:t>Tier별</a:t>
            </a:r>
            <a:r>
              <a:rPr lang="ko-KR" altLang="en-US" sz="1200" dirty="0">
                <a:solidFill>
                  <a:srgbClr val="404040"/>
                </a:solidFill>
                <a:latin typeface="맑은 고딕" panose="020B0503020000020004" pitchFamily="50" charset="-127"/>
              </a:rPr>
              <a:t> KV 위치와 이동 비용을 고려하지 않음</a:t>
            </a:r>
            <a:endParaRPr lang="en-US" altLang="ko-KR" sz="1200" dirty="0">
              <a:solidFill>
                <a:srgbClr val="404040"/>
              </a:solidFill>
              <a:latin typeface="맑은 고딕" panose="020B0503020000020004" pitchFamily="50" charset="-127"/>
            </a:endParaRPr>
          </a:p>
          <a:p>
            <a:pPr marL="285750" indent="-285750">
              <a:lnSpc>
                <a:spcPct val="150000"/>
              </a:lnSpc>
              <a:buFontTx/>
              <a:buChar char="-"/>
            </a:pPr>
            <a:r>
              <a:rPr lang="ko-KR" altLang="en-US" sz="1200" dirty="0">
                <a:solidFill>
                  <a:srgbClr val="404040"/>
                </a:solidFill>
                <a:latin typeface="맑은 고딕" panose="020B0503020000020004" pitchFamily="50" charset="-127"/>
              </a:rPr>
              <a:t>워크로드, KV 배치 및 </a:t>
            </a:r>
            <a:r>
              <a:rPr lang="ko-KR" altLang="en-US" sz="1200" dirty="0" err="1">
                <a:solidFill>
                  <a:srgbClr val="404040"/>
                </a:solidFill>
                <a:latin typeface="맑은 고딕" panose="020B0503020000020004" pitchFamily="50" charset="-127"/>
              </a:rPr>
              <a:t>Runtime</a:t>
            </a:r>
            <a:r>
              <a:rPr lang="ko-KR" altLang="en-US" sz="1200" dirty="0">
                <a:solidFill>
                  <a:srgbClr val="404040"/>
                </a:solidFill>
                <a:latin typeface="맑은 고딕" panose="020B0503020000020004" pitchFamily="50" charset="-127"/>
              </a:rPr>
              <a:t> 상태 등을 고려하여 다음 </a:t>
            </a:r>
            <a:r>
              <a:rPr lang="ko-KR" altLang="en-US" sz="1200" dirty="0" err="1">
                <a:solidFill>
                  <a:srgbClr val="404040"/>
                </a:solidFill>
                <a:latin typeface="맑은 고딕" panose="020B0503020000020004" pitchFamily="50" charset="-127"/>
              </a:rPr>
              <a:t>Prefill을</a:t>
            </a:r>
            <a:r>
              <a:rPr lang="ko-KR" altLang="en-US" sz="1200" dirty="0">
                <a:solidFill>
                  <a:srgbClr val="404040"/>
                </a:solidFill>
                <a:latin typeface="맑은 고딕" panose="020B0503020000020004" pitchFamily="50" charset="-127"/>
              </a:rPr>
              <a:t> 어디에서 실행하고 </a:t>
            </a:r>
            <a:r>
              <a:rPr lang="ko-KR" altLang="en-US" sz="1200" dirty="0" err="1">
                <a:solidFill>
                  <a:srgbClr val="404040"/>
                </a:solidFill>
                <a:latin typeface="맑은 고딕" panose="020B0503020000020004" pitchFamily="50" charset="-127"/>
              </a:rPr>
              <a:t>Decode를</a:t>
            </a:r>
            <a:r>
              <a:rPr lang="ko-KR" altLang="en-US" sz="1200" dirty="0">
                <a:solidFill>
                  <a:srgbClr val="404040"/>
                </a:solidFill>
                <a:latin typeface="맑은 고딕" panose="020B0503020000020004" pitchFamily="50" charset="-127"/>
              </a:rPr>
              <a:t> 어디에서 시작하는가에 따라 성능(처리량</a:t>
            </a:r>
            <a:r>
              <a:rPr lang="en-US" altLang="ko-KR" sz="1200" dirty="0">
                <a:solidFill>
                  <a:srgbClr val="404040"/>
                </a:solidFill>
                <a:latin typeface="맑은 고딕" panose="020B0503020000020004" pitchFamily="50" charset="-127"/>
              </a:rPr>
              <a:t>, </a:t>
            </a:r>
            <a:r>
              <a:rPr lang="ko-KR" altLang="en-US" sz="1200" dirty="0">
                <a:solidFill>
                  <a:srgbClr val="404040"/>
                </a:solidFill>
                <a:latin typeface="맑은 고딕" panose="020B0503020000020004" pitchFamily="50" charset="-127"/>
              </a:rPr>
              <a:t>지연시간)이 달라질 수 있음</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lang="ko-KR" altLang="en-US" sz="1200" b="1" dirty="0">
                <a:latin typeface="맑은 고딕" panose="020B0503020000020004" pitchFamily="50" charset="-127"/>
              </a:rPr>
              <a:t>설계 쟁점 </a:t>
            </a:r>
            <a:r>
              <a:rPr lang="en-US" altLang="ko-KR" sz="1200" b="1" dirty="0">
                <a:latin typeface="맑은 고딕" panose="020B0503020000020004" pitchFamily="50" charset="-127"/>
              </a:rPr>
              <a:t>1. </a:t>
            </a:r>
            <a:r>
              <a:rPr lang="ko-KR" altLang="en-US" sz="1200" dirty="0">
                <a:latin typeface="맑은 고딕" panose="020B0503020000020004" pitchFamily="50" charset="-127"/>
              </a:rPr>
              <a:t>KV 위치, 메모리 이동 및 연산 비용을 고려한 </a:t>
            </a:r>
            <a:r>
              <a:rPr lang="ko-KR" altLang="en-US" sz="1200" dirty="0" err="1">
                <a:latin typeface="맑은 고딕" panose="020B0503020000020004" pitchFamily="50" charset="-127"/>
              </a:rPr>
              <a:t>Turn별</a:t>
            </a:r>
            <a:r>
              <a:rPr lang="ko-KR" altLang="en-US" sz="1200" dirty="0">
                <a:latin typeface="맑은 고딕" panose="020B0503020000020004" pitchFamily="50" charset="-127"/>
              </a:rPr>
              <a:t> </a:t>
            </a:r>
            <a:r>
              <a:rPr lang="ko-KR" altLang="en-US" sz="1200" dirty="0" err="1">
                <a:latin typeface="맑은 고딕" panose="020B0503020000020004" pitchFamily="50" charset="-127"/>
              </a:rPr>
              <a:t>Prefill</a:t>
            </a:r>
            <a:r>
              <a:rPr lang="ko-KR" altLang="en-US" sz="1200" dirty="0">
                <a:latin typeface="맑은 고딕" panose="020B0503020000020004" pitchFamily="50" charset="-127"/>
              </a:rPr>
              <a:t>/</a:t>
            </a:r>
            <a:r>
              <a:rPr lang="ko-KR" altLang="en-US" sz="1200" dirty="0" err="1">
                <a:latin typeface="맑은 고딕" panose="020B0503020000020004" pitchFamily="50" charset="-127"/>
              </a:rPr>
              <a:t>Decode</a:t>
            </a:r>
            <a:r>
              <a:rPr lang="ko-KR" altLang="en-US" sz="1200" dirty="0">
                <a:latin typeface="맑은 고딕" panose="020B0503020000020004" pitchFamily="50" charset="-127"/>
              </a:rPr>
              <a:t> 시작 실행 위치 결정을 통해 </a:t>
            </a:r>
            <a:r>
              <a:rPr lang="ko-KR" altLang="en-US" sz="1200" b="1" dirty="0">
                <a:solidFill>
                  <a:srgbClr val="0000FF"/>
                </a:solidFill>
                <a:latin typeface="맑은 고딕" panose="020B0503020000020004" pitchFamily="50" charset="-127"/>
              </a:rPr>
              <a:t>추론 성능(처리량</a:t>
            </a:r>
            <a:r>
              <a:rPr lang="en-US" altLang="ko-KR" sz="1200" b="1" dirty="0">
                <a:solidFill>
                  <a:srgbClr val="0000FF"/>
                </a:solidFill>
                <a:latin typeface="맑은 고딕" panose="020B0503020000020004" pitchFamily="50" charset="-127"/>
              </a:rPr>
              <a:t>, </a:t>
            </a:r>
            <a:r>
              <a:rPr lang="ko-KR" altLang="en-US" sz="1200" b="1" dirty="0">
                <a:solidFill>
                  <a:srgbClr val="0000FF"/>
                </a:solidFill>
                <a:latin typeface="맑은 고딕" panose="020B0503020000020004" pitchFamily="50" charset="-127"/>
              </a:rPr>
              <a:t>지연시간) 최적화</a:t>
            </a:r>
            <a:endParaRPr lang="en-US" altLang="ko-KR" sz="1200" dirty="0">
              <a:latin typeface="맑은 고딕" panose="020B0503020000020004" pitchFamily="50" charset="-127"/>
            </a:endParaRPr>
          </a:p>
          <a:p>
            <a:pPr>
              <a:lnSpc>
                <a:spcPct val="125000"/>
              </a:lnSpc>
            </a:pPr>
            <a:r>
              <a:rPr lang="ko-KR" altLang="en-US" sz="1200" b="1" dirty="0">
                <a:latin typeface="맑은 고딕" panose="020B0503020000020004" pitchFamily="50" charset="-127"/>
              </a:rPr>
              <a:t>설계 쟁점 </a:t>
            </a:r>
            <a:r>
              <a:rPr lang="en-US" altLang="ko-KR" sz="1200" b="1" dirty="0">
                <a:latin typeface="맑은 고딕" panose="020B0503020000020004" pitchFamily="50" charset="-127"/>
              </a:rPr>
              <a:t>2. </a:t>
            </a:r>
            <a:r>
              <a:rPr lang="ko-KR" altLang="en-US" sz="1200" dirty="0">
                <a:latin typeface="맑은 고딕" panose="020B0503020000020004" pitchFamily="50" charset="-127"/>
              </a:rPr>
              <a:t>신규 메모리 및 </a:t>
            </a:r>
            <a:r>
              <a:rPr lang="en-US" altLang="ko-KR" sz="1200" dirty="0">
                <a:latin typeface="맑은 고딕" panose="020B0503020000020004" pitchFamily="50" charset="-127"/>
              </a:rPr>
              <a:t>Cost </a:t>
            </a:r>
            <a:r>
              <a:rPr lang="ko-KR" altLang="en-US" sz="1200" dirty="0">
                <a:latin typeface="맑은 고딕" panose="020B0503020000020004" pitchFamily="50" charset="-127"/>
              </a:rPr>
              <a:t>모델 확장 시 </a:t>
            </a:r>
            <a:r>
              <a:rPr lang="ko-KR" altLang="en-US" sz="1200" b="1" dirty="0">
                <a:solidFill>
                  <a:srgbClr val="0000FF"/>
                </a:solidFill>
                <a:latin typeface="맑은 고딕" panose="020B0503020000020004" pitchFamily="50" charset="-127"/>
              </a:rPr>
              <a:t>기존 구조 변경 최소화</a:t>
            </a:r>
            <a:endParaRPr lang="en-US" altLang="ko-KR" sz="1200" dirty="0">
              <a:latin typeface="맑은 고딕" panose="020B0503020000020004" pitchFamily="50" charset="-127"/>
            </a:endParaRPr>
          </a:p>
          <a:p>
            <a:pPr marL="228600" indent="-228600">
              <a:lnSpc>
                <a:spcPct val="125000"/>
              </a:lnSpc>
              <a:buAutoNum type="arabicPeriod"/>
            </a:pPr>
            <a:endParaRPr lang="en-US" altLang="ko-KR" sz="1200" dirty="0"/>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KV</a:t>
              </a:r>
              <a:r>
                <a:rPr lang="ko-KR" altLang="en-US" sz="1100" b="1" dirty="0"/>
                <a:t> 위치</a:t>
              </a:r>
              <a:r>
                <a:rPr lang="en-US" altLang="ko-KR" sz="1100" b="1" dirty="0"/>
                <a:t>, </a:t>
              </a:r>
              <a:r>
                <a:rPr lang="ko-KR" altLang="en-US" sz="1100" b="1" dirty="0"/>
                <a:t>워크로드</a:t>
              </a:r>
              <a:r>
                <a:rPr lang="en-US" altLang="ko-KR" sz="1100" b="1" dirty="0"/>
                <a:t>, </a:t>
              </a:r>
              <a:r>
                <a:rPr lang="ko-KR" altLang="en-US" sz="1100" b="1" dirty="0"/>
                <a:t>자원 상태 등을 고려한 </a:t>
              </a:r>
              <a:r>
                <a:rPr lang="en-US" altLang="ko-KR" sz="1100" b="1" dirty="0"/>
                <a:t>Prefill-Decode</a:t>
              </a:r>
              <a:r>
                <a:rPr lang="ko-KR" altLang="en-US" sz="1100" b="1" dirty="0"/>
                <a:t> 실행 위치 결정</a:t>
              </a:r>
            </a:p>
          </p:txBody>
        </p:sp>
      </p:gr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533854" cy="3787568"/>
            <a:chOff x="99695" y="3138920"/>
            <a:chExt cx="5744956"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744956"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100" b="1" dirty="0"/>
                <a:t>이기종 메모리 환경의 </a:t>
              </a:r>
              <a:r>
                <a:rPr lang="en-US" altLang="ko-KR" sz="1100" b="1" dirty="0"/>
                <a:t>P/D </a:t>
              </a:r>
              <a:r>
                <a:rPr lang="ko-KR" altLang="en-US" sz="1100" b="1" dirty="0"/>
                <a:t>분리 </a:t>
              </a:r>
              <a:r>
                <a:rPr lang="en-US" altLang="ko-KR" sz="1100" b="1" dirty="0"/>
                <a:t>(</a:t>
              </a:r>
              <a:r>
                <a:rPr lang="ko-KR" altLang="en-US" sz="1100" b="1" dirty="0"/>
                <a:t>예</a:t>
              </a:r>
              <a:r>
                <a:rPr lang="en-US" altLang="ko-KR" sz="1100" b="1" dirty="0"/>
                <a:t>)</a:t>
              </a:r>
              <a:endParaRPr lang="ko-KR" altLang="en-US" sz="1100" b="1" dirty="0"/>
            </a:p>
          </p:txBody>
        </p:sp>
      </p:grpSp>
      <p:sp>
        <p:nvSpPr>
          <p:cNvPr id="87" name="DP2 9014">
            <a:extLst>
              <a:ext uri="{FF2B5EF4-FFF2-40B4-BE49-F238E27FC236}">
                <a16:creationId xmlns:a16="http://schemas.microsoft.com/office/drawing/2014/main" id="{BAB6A9C5-DE6C-4B40-9E12-B57562177C2D}"/>
              </a:ext>
            </a:extLst>
          </p:cNvPr>
          <p:cNvSpPr/>
          <p:nvPr/>
        </p:nvSpPr>
        <p:spPr>
          <a:xfrm>
            <a:off x="665581" y="5665175"/>
            <a:ext cx="9603535"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워크로드</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KV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배치 및 </a:t>
            </a:r>
            <a:r>
              <a:rPr lang="en-US" altLang="ko-KR"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Runtime </a:t>
            </a:r>
            <a:r>
              <a:rPr lang="ko-KR" altLang="en-US" sz="1200" b="1" i="0"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상태 등을 </a:t>
            </a:r>
            <a:r>
              <a:rPr lang="ko-KR" altLang="en-US"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고려한 </a:t>
            </a:r>
            <a:r>
              <a:rPr lang="en-US" altLang="ko-KR" sz="1200" b="1" dirty="0">
                <a:solidFill>
                  <a:srgbClr val="0066FF"/>
                </a:solidFill>
                <a:latin typeface="맑은 고딕" panose="020B0503020000020004" pitchFamily="50" charset="-127"/>
                <a:sym typeface="Wingdings" panose="05000000000000000000" pitchFamily="2" charset="2"/>
              </a:rPr>
              <a:t>Cost </a:t>
            </a:r>
            <a:r>
              <a:rPr lang="ko-KR" altLang="en-US" sz="1200" b="1" dirty="0">
                <a:solidFill>
                  <a:srgbClr val="0066FF"/>
                </a:solidFill>
                <a:latin typeface="맑은 고딕" panose="020B0503020000020004" pitchFamily="50" charset="-127"/>
                <a:sym typeface="Wingdings" panose="05000000000000000000" pitchFamily="2" charset="2"/>
              </a:rPr>
              <a:t>기반의 </a:t>
            </a:r>
            <a:r>
              <a:rPr lang="en-US" altLang="ko-KR" sz="1200" b="1" dirty="0">
                <a:solidFill>
                  <a:srgbClr val="0066FF"/>
                </a:solidFill>
                <a:latin typeface="맑은 고딕" panose="020B0503020000020004" pitchFamily="50" charset="-127"/>
                <a:sym typeface="Wingdings" panose="05000000000000000000" pitchFamily="2" charset="2"/>
              </a:rPr>
              <a:t>Prefill </a:t>
            </a:r>
            <a:r>
              <a:rPr lang="en-US" altLang="ko-KR" sz="1200" b="1" dirty="0" err="1">
                <a:solidFill>
                  <a:srgbClr val="0066FF"/>
                </a:solidFill>
                <a:latin typeface="맑은 고딕" panose="020B0503020000020004" pitchFamily="50" charset="-127"/>
                <a:sym typeface="Wingdings" panose="05000000000000000000" pitchFamily="2" charset="2"/>
              </a:rPr>
              <a:t>실행</a:t>
            </a:r>
            <a:r>
              <a:rPr lang="ko-KR" altLang="en-US" sz="1200" b="1" dirty="0">
                <a:solidFill>
                  <a:srgbClr val="0066FF"/>
                </a:solidFill>
                <a:latin typeface="맑은 고딕" panose="020B0503020000020004" pitchFamily="50" charset="-127"/>
                <a:sym typeface="Wingdings" panose="05000000000000000000" pitchFamily="2" charset="2"/>
              </a:rPr>
              <a:t> 위치와 </a:t>
            </a:r>
            <a:r>
              <a:rPr lang="ko-KR" altLang="en-US" sz="1200" b="1" dirty="0" err="1">
                <a:solidFill>
                  <a:srgbClr val="0066FF"/>
                </a:solidFill>
                <a:latin typeface="맑은 고딕" panose="020B0503020000020004" pitchFamily="50" charset="-127"/>
                <a:sym typeface="Wingdings" panose="05000000000000000000" pitchFamily="2" charset="2"/>
              </a:rPr>
              <a:t>Decode</a:t>
            </a:r>
            <a:r>
              <a:rPr lang="ko-KR" altLang="en-US" sz="1200" b="1" dirty="0">
                <a:solidFill>
                  <a:srgbClr val="0066FF"/>
                </a:solidFill>
                <a:latin typeface="맑은 고딕" panose="020B0503020000020004" pitchFamily="50" charset="-127"/>
                <a:sym typeface="Wingdings" panose="05000000000000000000" pitchFamily="2" charset="2"/>
              </a:rPr>
              <a:t> 시작 위치를 동적으로 결정하는 구조 설계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55" name="Rounded Rectangle 9054"/>
          <p:cNvSpPr/>
          <p:nvPr/>
        </p:nvSpPr>
        <p:spPr>
          <a:xfrm>
            <a:off x="7635240" y="2075688"/>
            <a:ext cx="2606040" cy="228600"/>
          </a:xfrm>
          <a:prstGeom prst="roundRect">
            <a:avLst>
              <a:gd name="adj" fmla="val 50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0">
                <a:solidFill>
                  <a:srgbClr val="000000"/>
                </a:solidFill>
                <a:latin typeface="맑은 고딕"/>
                <a:ea typeface="맑은 고딕"/>
              </a:rPr>
              <a:t>Request (Turn N: 신규 입력 / Tool 결과)</a:t>
            </a:r>
          </a:p>
        </p:txBody>
      </p:sp>
      <p:cxnSp>
        <p:nvCxnSpPr>
          <p:cNvPr id="9056" name="Connector 9055"/>
          <p:cNvCxnSpPr/>
          <p:nvPr/>
        </p:nvCxnSpPr>
        <p:spPr>
          <a:xfrm>
            <a:off x="8942832" y="2304288"/>
            <a:ext cx="0" cy="73152"/>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7" name="Rectangle 9056"/>
          <p:cNvSpPr/>
          <p:nvPr/>
        </p:nvSpPr>
        <p:spPr>
          <a:xfrm>
            <a:off x="8028431" y="2377440"/>
            <a:ext cx="1828800" cy="237744"/>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000000"/>
                </a:solidFill>
                <a:latin typeface="맑은 고딕"/>
                <a:ea typeface="맑은 고딕"/>
              </a:rPr>
              <a:t>Request Scheduler</a:t>
            </a:r>
          </a:p>
        </p:txBody>
      </p:sp>
      <p:cxnSp>
        <p:nvCxnSpPr>
          <p:cNvPr id="9058" name="Connector 9057"/>
          <p:cNvCxnSpPr/>
          <p:nvPr/>
        </p:nvCxnSpPr>
        <p:spPr>
          <a:xfrm>
            <a:off x="8942832" y="2615184"/>
            <a:ext cx="0" cy="100584"/>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9" name="Rectangle 9058"/>
          <p:cNvSpPr/>
          <p:nvPr/>
        </p:nvSpPr>
        <p:spPr>
          <a:xfrm>
            <a:off x="6537960" y="2715768"/>
            <a:ext cx="5029200" cy="137160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60" name="Rectangle 9059"/>
          <p:cNvSpPr/>
          <p:nvPr/>
        </p:nvSpPr>
        <p:spPr>
          <a:xfrm>
            <a:off x="6537960" y="2715768"/>
            <a:ext cx="5029200" cy="219456"/>
          </a:xfrm>
          <a:prstGeom prst="rect">
            <a:avLst/>
          </a:prstGeom>
          <a:solidFill>
            <a:srgbClr val="2E75B6"/>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FFFFFF"/>
                </a:solidFill>
                <a:latin typeface="맑은 고딕"/>
                <a:ea typeface="맑은 고딕"/>
              </a:rPr>
              <a:t>Execution Planner  —  Cost </a:t>
            </a:r>
            <a:r>
              <a:rPr sz="900" b="1" dirty="0" err="1">
                <a:solidFill>
                  <a:srgbClr val="FFFFFF"/>
                </a:solidFill>
                <a:latin typeface="맑은 고딕"/>
                <a:ea typeface="맑은 고딕"/>
              </a:rPr>
              <a:t>기반</a:t>
            </a:r>
            <a:r>
              <a:rPr sz="900" b="1" dirty="0">
                <a:solidFill>
                  <a:srgbClr val="FFFFFF"/>
                </a:solidFill>
                <a:latin typeface="맑은 고딕"/>
                <a:ea typeface="맑은 고딕"/>
              </a:rPr>
              <a:t> Prefill</a:t>
            </a:r>
            <a:r>
              <a:rPr lang="en-US" sz="900" b="1" dirty="0">
                <a:solidFill>
                  <a:srgbClr val="FFFFFF"/>
                </a:solidFill>
                <a:latin typeface="맑은 고딕"/>
                <a:ea typeface="맑은 고딕"/>
              </a:rPr>
              <a:t>/</a:t>
            </a:r>
            <a:r>
              <a:rPr lang="en-US" sz="900" b="1" dirty="0" err="1">
                <a:solidFill>
                  <a:srgbClr val="FFFFFF"/>
                </a:solidFill>
                <a:latin typeface="맑은 고딕"/>
                <a:ea typeface="맑은 고딕"/>
              </a:rPr>
              <a:t>Decode</a:t>
            </a:r>
            <a:r>
              <a:rPr sz="900" b="1" dirty="0" err="1">
                <a:solidFill>
                  <a:srgbClr val="FFFFFF"/>
                </a:solidFill>
                <a:latin typeface="맑은 고딕"/>
                <a:ea typeface="맑은 고딕"/>
              </a:rPr>
              <a:t>실행</a:t>
            </a:r>
            <a:r>
              <a:rPr lang="en-US" sz="900" b="1" dirty="0">
                <a:solidFill>
                  <a:srgbClr val="FFFFFF"/>
                </a:solidFill>
                <a:latin typeface="맑은 고딕"/>
                <a:ea typeface="맑은 고딕"/>
              </a:rPr>
              <a:t> </a:t>
            </a:r>
            <a:r>
              <a:rPr sz="900" b="1" dirty="0" err="1">
                <a:solidFill>
                  <a:srgbClr val="FFFFFF"/>
                </a:solidFill>
                <a:latin typeface="맑은 고딕"/>
                <a:ea typeface="맑은 고딕"/>
              </a:rPr>
              <a:t>위치</a:t>
            </a:r>
            <a:r>
              <a:rPr sz="900" b="1" dirty="0">
                <a:solidFill>
                  <a:srgbClr val="FFFFFF"/>
                </a:solidFill>
                <a:latin typeface="맑은 고딕"/>
                <a:ea typeface="맑은 고딕"/>
              </a:rPr>
              <a:t> </a:t>
            </a:r>
            <a:r>
              <a:rPr sz="900" b="1" dirty="0" err="1">
                <a:solidFill>
                  <a:srgbClr val="FFFFFF"/>
                </a:solidFill>
                <a:latin typeface="맑은 고딕"/>
                <a:ea typeface="맑은 고딕"/>
              </a:rPr>
              <a:t>결정</a:t>
            </a:r>
            <a:endParaRPr sz="900" b="1" dirty="0">
              <a:solidFill>
                <a:srgbClr val="FFFFFF"/>
              </a:solidFill>
              <a:latin typeface="맑은 고딕"/>
              <a:ea typeface="맑은 고딕"/>
            </a:endParaRPr>
          </a:p>
        </p:txBody>
      </p:sp>
      <p:sp>
        <p:nvSpPr>
          <p:cNvPr id="9061" name="Rectangle 9060"/>
          <p:cNvSpPr/>
          <p:nvPr/>
        </p:nvSpPr>
        <p:spPr>
          <a:xfrm>
            <a:off x="6647688" y="3017520"/>
            <a:ext cx="1371600" cy="45720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000000"/>
                </a:solidFill>
                <a:latin typeface="맑은 고딕"/>
                <a:ea typeface="맑은 고딕"/>
              </a:rPr>
              <a:t>KV State Monitor</a:t>
            </a:r>
          </a:p>
          <a:p>
            <a:pPr algn="ctr"/>
            <a:r>
              <a:rPr sz="650" b="0" dirty="0">
                <a:solidFill>
                  <a:srgbClr val="404040"/>
                </a:solidFill>
                <a:latin typeface="맑은 고딕"/>
                <a:ea typeface="맑은 고딕"/>
              </a:rPr>
              <a:t>KV </a:t>
            </a:r>
            <a:r>
              <a:rPr sz="650" b="0" dirty="0" err="1">
                <a:solidFill>
                  <a:srgbClr val="404040"/>
                </a:solidFill>
                <a:latin typeface="맑은 고딕"/>
                <a:ea typeface="맑은 고딕"/>
              </a:rPr>
              <a:t>위치</a:t>
            </a:r>
            <a:r>
              <a:rPr sz="650" b="0" dirty="0">
                <a:solidFill>
                  <a:srgbClr val="404040"/>
                </a:solidFill>
                <a:latin typeface="맑은 고딕"/>
                <a:ea typeface="맑은 고딕"/>
              </a:rPr>
              <a:t> · Tier · </a:t>
            </a:r>
            <a:r>
              <a:rPr sz="650" b="0" dirty="0" err="1">
                <a:solidFill>
                  <a:srgbClr val="404040"/>
                </a:solidFill>
                <a:latin typeface="맑은 고딕"/>
                <a:ea typeface="맑은 고딕"/>
              </a:rPr>
              <a:t>크기</a:t>
            </a:r>
            <a:endParaRPr sz="650" b="0" dirty="0">
              <a:solidFill>
                <a:srgbClr val="404040"/>
              </a:solidFill>
              <a:latin typeface="맑은 고딕"/>
              <a:ea typeface="맑은 고딕"/>
            </a:endParaRPr>
          </a:p>
        </p:txBody>
      </p:sp>
      <p:sp>
        <p:nvSpPr>
          <p:cNvPr id="9062" name="Rectangle 9061"/>
          <p:cNvSpPr/>
          <p:nvPr/>
        </p:nvSpPr>
        <p:spPr>
          <a:xfrm>
            <a:off x="6647688" y="3547872"/>
            <a:ext cx="1371600" cy="45720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000000"/>
                </a:solidFill>
                <a:latin typeface="맑은 고딕"/>
                <a:ea typeface="맑은 고딕"/>
              </a:rPr>
              <a:t>Resource State Monitor</a:t>
            </a:r>
          </a:p>
          <a:p>
            <a:pPr algn="ctr"/>
            <a:r>
              <a:rPr sz="650" b="0" dirty="0" err="1">
                <a:solidFill>
                  <a:srgbClr val="404040"/>
                </a:solidFill>
                <a:latin typeface="맑은 고딕"/>
                <a:ea typeface="맑은 고딕"/>
              </a:rPr>
              <a:t>노드</a:t>
            </a:r>
            <a:r>
              <a:rPr sz="650" b="0" dirty="0">
                <a:solidFill>
                  <a:srgbClr val="404040"/>
                </a:solidFill>
                <a:latin typeface="맑은 고딕"/>
                <a:ea typeface="맑은 고딕"/>
              </a:rPr>
              <a:t> </a:t>
            </a:r>
            <a:r>
              <a:rPr sz="650" b="0" dirty="0" err="1">
                <a:solidFill>
                  <a:srgbClr val="404040"/>
                </a:solidFill>
                <a:latin typeface="맑은 고딕"/>
                <a:ea typeface="맑은 고딕"/>
              </a:rPr>
              <a:t>부하</a:t>
            </a:r>
            <a:r>
              <a:rPr sz="650" b="0" dirty="0">
                <a:solidFill>
                  <a:srgbClr val="404040"/>
                </a:solidFill>
                <a:latin typeface="맑은 고딕"/>
                <a:ea typeface="맑은 고딕"/>
              </a:rPr>
              <a:t> · Queue · </a:t>
            </a:r>
            <a:r>
              <a:rPr sz="650" b="0" dirty="0" err="1">
                <a:solidFill>
                  <a:srgbClr val="404040"/>
                </a:solidFill>
                <a:latin typeface="맑은 고딕"/>
                <a:ea typeface="맑은 고딕"/>
              </a:rPr>
              <a:t>간섭</a:t>
            </a:r>
            <a:endParaRPr sz="650" b="0" dirty="0">
              <a:solidFill>
                <a:srgbClr val="404040"/>
              </a:solidFill>
              <a:latin typeface="맑은 고딕"/>
              <a:ea typeface="맑은 고딕"/>
            </a:endParaRPr>
          </a:p>
        </p:txBody>
      </p:sp>
      <p:cxnSp>
        <p:nvCxnSpPr>
          <p:cNvPr id="9063" name="Connector 9062"/>
          <p:cNvCxnSpPr/>
          <p:nvPr/>
        </p:nvCxnSpPr>
        <p:spPr>
          <a:xfrm>
            <a:off x="8019288" y="3246120"/>
            <a:ext cx="164591" cy="155448"/>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4" name="Connector 9063"/>
          <p:cNvCxnSpPr/>
          <p:nvPr/>
        </p:nvCxnSpPr>
        <p:spPr>
          <a:xfrm flipV="1">
            <a:off x="8019288" y="3639312"/>
            <a:ext cx="164591" cy="137160"/>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5" name="Rectangle 9064"/>
          <p:cNvSpPr/>
          <p:nvPr/>
        </p:nvSpPr>
        <p:spPr>
          <a:xfrm>
            <a:off x="8183879" y="3017520"/>
            <a:ext cx="1965960" cy="987552"/>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000000"/>
                </a:solidFill>
                <a:effectLst/>
                <a:uLnTx/>
                <a:uFillTx/>
                <a:latin typeface="맑은 고딕"/>
                <a:ea typeface="맑은 고딕"/>
                <a:cs typeface="+mn-cs"/>
              </a:rPr>
              <a:t>Cost Evaluator</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650" b="0" i="0" u="none" strike="noStrike" kern="1200" cap="none" spc="0" normalizeH="0" baseline="0" noProof="0" dirty="0">
                <a:ln>
                  <a:noFill/>
                </a:ln>
                <a:solidFill>
                  <a:srgbClr val="000000"/>
                </a:solidFill>
                <a:effectLst/>
                <a:uLnTx/>
                <a:uFillTx/>
                <a:latin typeface="맑은 고딕"/>
                <a:ea typeface="맑은 고딕"/>
                <a:cs typeface="+mn-cs"/>
              </a:rPr>
              <a:t>후보 </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n_p</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n_d</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a:t>
            </a:r>
            <a:r>
              <a:rPr kumimoji="0" lang="ko-KR" altLang="en-US" sz="650" b="0" i="0" u="none" strike="noStrike" kern="1200" cap="none" spc="0" normalizeH="0" baseline="0" noProof="0" dirty="0">
                <a:ln>
                  <a:noFill/>
                </a:ln>
                <a:solidFill>
                  <a:srgbClr val="000000"/>
                </a:solidFill>
                <a:effectLst/>
                <a:uLnTx/>
                <a:uFillTx/>
                <a:latin typeface="맑은 고딕"/>
                <a:ea typeface="맑은 고딕"/>
                <a:cs typeface="+mn-cs"/>
              </a:rPr>
              <a:t>조합별</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Cost(</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n_p</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n_d</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T</a:t>
            </a:r>
            <a:r>
              <a:rPr kumimoji="0" lang="en-US" altLang="ko-KR" sz="550" b="0" i="0" u="none" strike="noStrike" kern="1200" cap="none" spc="0" normalizeH="0" baseline="0" noProof="0" dirty="0" err="1">
                <a:ln>
                  <a:noFill/>
                </a:ln>
                <a:solidFill>
                  <a:srgbClr val="000000"/>
                </a:solidFill>
                <a:effectLst/>
                <a:uLnTx/>
                <a:uFillTx/>
                <a:latin typeface="맑은 고딕"/>
                <a:ea typeface="맑은 고딕"/>
                <a:cs typeface="+mn-cs"/>
              </a:rPr>
              <a:t>move</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(KV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Tier→n_p</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T</a:t>
            </a:r>
            <a:r>
              <a:rPr kumimoji="0" lang="en-US" altLang="ko-KR" sz="550" b="0" i="0" u="none" strike="noStrike" kern="1200" cap="none" spc="0" normalizeH="0" baseline="0" noProof="0" dirty="0" err="1">
                <a:ln>
                  <a:noFill/>
                </a:ln>
                <a:solidFill>
                  <a:srgbClr val="000000"/>
                </a:solidFill>
                <a:effectLst/>
                <a:uLnTx/>
                <a:uFillTx/>
                <a:latin typeface="맑은 고딕"/>
                <a:ea typeface="맑은 고딕"/>
                <a:cs typeface="+mn-cs"/>
              </a:rPr>
              <a:t>prefill</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n_p</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T</a:t>
            </a:r>
            <a:r>
              <a:rPr kumimoji="0" lang="en-US" altLang="ko-KR" sz="550" b="0" i="0" u="none" strike="noStrike" kern="1200" cap="none" spc="0" normalizeH="0" baseline="0" noProof="0" dirty="0" err="1">
                <a:ln>
                  <a:noFill/>
                </a:ln>
                <a:solidFill>
                  <a:srgbClr val="000000"/>
                </a:solidFill>
                <a:effectLst/>
                <a:uLnTx/>
                <a:uFillTx/>
                <a:latin typeface="맑은 고딕"/>
                <a:ea typeface="맑은 고딕"/>
                <a:cs typeface="+mn-cs"/>
              </a:rPr>
              <a:t>queue</a:t>
            </a:r>
            <a:r>
              <a:rPr kumimoji="0" lang="en-US" altLang="ko-KR" sz="550" b="0" i="0" u="none" strike="noStrike" kern="1200" cap="none" spc="0" normalizeH="0" baseline="0" noProof="0" dirty="0">
                <a:ln>
                  <a:noFill/>
                </a:ln>
                <a:solidFill>
                  <a:srgbClr val="000000"/>
                </a:solidFill>
                <a:effectLst/>
                <a:uLnTx/>
                <a:uFillTx/>
                <a:latin typeface="맑은 고딕"/>
                <a:ea typeface="맑은 고딕"/>
                <a:cs typeface="+mn-cs"/>
              </a:rPr>
              <a:t>/</a:t>
            </a:r>
            <a:r>
              <a:rPr kumimoji="0" lang="ko-KR" altLang="en-US" sz="550" b="0" i="0" u="none" strike="noStrike" kern="1200" cap="none" spc="0" normalizeH="0" baseline="0" noProof="0" dirty="0">
                <a:ln>
                  <a:noFill/>
                </a:ln>
                <a:solidFill>
                  <a:srgbClr val="000000"/>
                </a:solidFill>
                <a:effectLst/>
                <a:uLnTx/>
                <a:uFillTx/>
                <a:latin typeface="맑은 고딕"/>
                <a:ea typeface="맑은 고딕"/>
                <a:cs typeface="+mn-cs"/>
              </a:rPr>
              <a:t>간섭</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n_p</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T</a:t>
            </a:r>
            <a:r>
              <a:rPr kumimoji="0" lang="en-US" altLang="ko-KR" sz="550" b="0" i="0" u="none" strike="noStrike" kern="1200" cap="none" spc="0" normalizeH="0" baseline="0" noProof="0" dirty="0" err="1">
                <a:ln>
                  <a:noFill/>
                </a:ln>
                <a:solidFill>
                  <a:srgbClr val="000000"/>
                </a:solidFill>
                <a:effectLst/>
                <a:uLnTx/>
                <a:uFillTx/>
                <a:latin typeface="맑은 고딕"/>
                <a:ea typeface="맑은 고딕"/>
                <a:cs typeface="+mn-cs"/>
              </a:rPr>
              <a:t>move</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(KV </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n_p→n_d</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 + </a:t>
            </a:r>
            <a:r>
              <a:rPr kumimoji="0" lang="el-GR" altLang="ko-KR" sz="650" b="0" i="0" u="none" strike="noStrike" kern="1200" cap="none" spc="0" normalizeH="0" baseline="0" noProof="0" dirty="0">
                <a:ln>
                  <a:noFill/>
                </a:ln>
                <a:solidFill>
                  <a:srgbClr val="000000"/>
                </a:solidFill>
                <a:effectLst/>
                <a:uLnTx/>
                <a:uFillTx/>
                <a:latin typeface="맑은 고딕"/>
                <a:ea typeface="맑은 고딕"/>
                <a:cs typeface="+mn-cs"/>
              </a:rPr>
              <a:t>Δ</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TPOT(</a:t>
            </a:r>
            <a:r>
              <a:rPr kumimoji="0" lang="en-US" altLang="ko-KR" sz="650" b="0" i="0" u="none" strike="noStrike" kern="1200" cap="none" spc="0" normalizeH="0" baseline="0" noProof="0" dirty="0" err="1">
                <a:ln>
                  <a:noFill/>
                </a:ln>
                <a:solidFill>
                  <a:srgbClr val="000000"/>
                </a:solidFill>
                <a:effectLst/>
                <a:uLnTx/>
                <a:uFillTx/>
                <a:latin typeface="맑은 고딕"/>
                <a:ea typeface="맑은 고딕"/>
                <a:cs typeface="+mn-cs"/>
              </a:rPr>
              <a:t>n_d</a:t>
            </a:r>
            <a:r>
              <a:rPr kumimoji="0" lang="en-US" altLang="ko-KR" sz="650" b="0" i="0" u="none" strike="noStrike" kern="1200" cap="none" spc="0" normalizeH="0" baseline="0" noProof="0" dirty="0">
                <a:ln>
                  <a:noFill/>
                </a:ln>
                <a:solidFill>
                  <a:srgbClr val="000000"/>
                </a:solidFill>
                <a:effectLst/>
                <a:uLnTx/>
                <a:uFillTx/>
                <a:latin typeface="맑은 고딕"/>
                <a:ea typeface="맑은 고딕"/>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1" i="0" u="none" strike="noStrike" kern="1200" cap="none" spc="0" normalizeH="0" baseline="0" noProof="0" dirty="0">
                <a:ln>
                  <a:noFill/>
                </a:ln>
                <a:solidFill>
                  <a:srgbClr val="2E75B6"/>
                </a:solidFill>
                <a:effectLst/>
                <a:uLnTx/>
                <a:uFillTx/>
                <a:latin typeface="맑은 고딕"/>
                <a:ea typeface="맑은 고딕"/>
                <a:cs typeface="+mn-cs"/>
              </a:rPr>
              <a:t>→ </a:t>
            </a:r>
            <a:r>
              <a:rPr kumimoji="0" lang="en-US" altLang="ko-KR" sz="650" b="1" i="0" u="none" strike="noStrike" kern="1200" cap="none" spc="0" normalizeH="0" baseline="0" noProof="0" dirty="0" err="1">
                <a:ln>
                  <a:noFill/>
                </a:ln>
                <a:solidFill>
                  <a:srgbClr val="2E75B6"/>
                </a:solidFill>
                <a:effectLst/>
                <a:uLnTx/>
                <a:uFillTx/>
                <a:latin typeface="맑은 고딕"/>
                <a:ea typeface="맑은 고딕"/>
                <a:cs typeface="+mn-cs"/>
              </a:rPr>
              <a:t>argmin</a:t>
            </a:r>
            <a:r>
              <a:rPr kumimoji="0" lang="en-US" altLang="ko-KR" sz="650" b="1" i="0" u="none" strike="noStrike" kern="1200" cap="none" spc="0" normalizeH="0" baseline="0" noProof="0" dirty="0">
                <a:ln>
                  <a:noFill/>
                </a:ln>
                <a:solidFill>
                  <a:srgbClr val="2E75B6"/>
                </a:solidFill>
                <a:effectLst/>
                <a:uLnTx/>
                <a:uFillTx/>
                <a:latin typeface="맑은 고딕"/>
                <a:ea typeface="맑은 고딕"/>
                <a:cs typeface="+mn-cs"/>
              </a:rPr>
              <a:t> Cost </a:t>
            </a:r>
            <a:r>
              <a:rPr kumimoji="0" lang="ko-KR" altLang="en-US" sz="650" b="1" i="0" u="none" strike="noStrike" kern="1200" cap="none" spc="0" normalizeH="0" baseline="0" noProof="0" dirty="0">
                <a:ln>
                  <a:noFill/>
                </a:ln>
                <a:solidFill>
                  <a:srgbClr val="2E75B6"/>
                </a:solidFill>
                <a:effectLst/>
                <a:uLnTx/>
                <a:uFillTx/>
                <a:latin typeface="맑은 고딕"/>
                <a:ea typeface="맑은 고딕"/>
                <a:cs typeface="+mn-cs"/>
              </a:rPr>
              <a:t>인 </a:t>
            </a:r>
            <a:r>
              <a:rPr kumimoji="0" lang="en-US" altLang="ko-KR" sz="650" b="1" i="0" u="none" strike="noStrike" kern="1200" cap="none" spc="0" normalizeH="0" baseline="0" noProof="0" dirty="0">
                <a:ln>
                  <a:noFill/>
                </a:ln>
                <a:solidFill>
                  <a:srgbClr val="2E75B6"/>
                </a:solidFill>
                <a:effectLst/>
                <a:uLnTx/>
                <a:uFillTx/>
                <a:latin typeface="맑은 고딕"/>
                <a:ea typeface="맑은 고딕"/>
                <a:cs typeface="+mn-cs"/>
              </a:rPr>
              <a:t>(</a:t>
            </a:r>
            <a:r>
              <a:rPr kumimoji="0" lang="en-US" altLang="ko-KR" sz="650" b="1" i="0" u="none" strike="noStrike" kern="1200" cap="none" spc="0" normalizeH="0" baseline="0" noProof="0" dirty="0" err="1">
                <a:ln>
                  <a:noFill/>
                </a:ln>
                <a:solidFill>
                  <a:srgbClr val="2E75B6"/>
                </a:solidFill>
                <a:effectLst/>
                <a:uLnTx/>
                <a:uFillTx/>
                <a:latin typeface="맑은 고딕"/>
                <a:ea typeface="맑은 고딕"/>
                <a:cs typeface="+mn-cs"/>
              </a:rPr>
              <a:t>n_p</a:t>
            </a:r>
            <a:r>
              <a:rPr kumimoji="0" lang="en-US" altLang="ko-KR" sz="650" b="1" i="0" u="none" strike="noStrike" kern="1200" cap="none" spc="0" normalizeH="0" baseline="0" noProof="0" dirty="0">
                <a:ln>
                  <a:noFill/>
                </a:ln>
                <a:solidFill>
                  <a:srgbClr val="2E75B6"/>
                </a:solidFill>
                <a:effectLst/>
                <a:uLnTx/>
                <a:uFillTx/>
                <a:latin typeface="맑은 고딕"/>
                <a:ea typeface="맑은 고딕"/>
                <a:cs typeface="+mn-cs"/>
              </a:rPr>
              <a:t>, </a:t>
            </a:r>
            <a:r>
              <a:rPr kumimoji="0" lang="en-US" altLang="ko-KR" sz="650" b="1" i="0" u="none" strike="noStrike" kern="1200" cap="none" spc="0" normalizeH="0" baseline="0" noProof="0" dirty="0" err="1">
                <a:ln>
                  <a:noFill/>
                </a:ln>
                <a:solidFill>
                  <a:srgbClr val="2E75B6"/>
                </a:solidFill>
                <a:effectLst/>
                <a:uLnTx/>
                <a:uFillTx/>
                <a:latin typeface="맑은 고딕"/>
                <a:ea typeface="맑은 고딕"/>
                <a:cs typeface="+mn-cs"/>
              </a:rPr>
              <a:t>n_d</a:t>
            </a:r>
            <a:r>
              <a:rPr kumimoji="0" lang="en-US" altLang="ko-KR" sz="650" b="1" i="0" u="none" strike="noStrike" kern="1200" cap="none" spc="0" normalizeH="0" baseline="0" noProof="0" dirty="0">
                <a:ln>
                  <a:noFill/>
                </a:ln>
                <a:solidFill>
                  <a:srgbClr val="2E75B6"/>
                </a:solidFill>
                <a:effectLst/>
                <a:uLnTx/>
                <a:uFillTx/>
                <a:latin typeface="맑은 고딕"/>
                <a:ea typeface="맑은 고딕"/>
                <a:cs typeface="+mn-cs"/>
              </a:rPr>
              <a:t>) </a:t>
            </a:r>
            <a:r>
              <a:rPr kumimoji="0" lang="ko-KR" altLang="en-US" sz="650" b="1" i="0" u="none" strike="noStrike" kern="1200" cap="none" spc="0" normalizeH="0" baseline="0" noProof="0" dirty="0">
                <a:ln>
                  <a:noFill/>
                </a:ln>
                <a:solidFill>
                  <a:srgbClr val="2E75B6"/>
                </a:solidFill>
                <a:effectLst/>
                <a:uLnTx/>
                <a:uFillTx/>
                <a:latin typeface="맑은 고딕"/>
                <a:ea typeface="맑은 고딕"/>
                <a:cs typeface="+mn-cs"/>
              </a:rPr>
              <a:t>선택</a:t>
            </a:r>
          </a:p>
        </p:txBody>
      </p:sp>
      <p:sp>
        <p:nvSpPr>
          <p:cNvPr id="9066" name="Rectangle 9065"/>
          <p:cNvSpPr/>
          <p:nvPr/>
        </p:nvSpPr>
        <p:spPr>
          <a:xfrm>
            <a:off x="10287000" y="3017520"/>
            <a:ext cx="1188720" cy="987552"/>
          </a:xfrm>
          <a:prstGeom prst="rect">
            <a:avLst/>
          </a:prstGeom>
          <a:solidFill>
            <a:srgbClr val="FFFFFF"/>
          </a:solidFill>
          <a:ln w="9525">
            <a:solidFill>
              <a:srgbClr val="548235"/>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900" b="1" dirty="0">
                <a:solidFill>
                  <a:srgbClr val="548235"/>
                </a:solidFill>
                <a:latin typeface="맑은 고딕"/>
                <a:ea typeface="맑은 고딕"/>
              </a:rPr>
              <a:t>Pluggable</a:t>
            </a:r>
          </a:p>
          <a:p>
            <a:pPr algn="ctr"/>
            <a:r>
              <a:rPr sz="900" b="1" dirty="0">
                <a:solidFill>
                  <a:srgbClr val="548235"/>
                </a:solidFill>
                <a:latin typeface="맑은 고딕"/>
                <a:ea typeface="맑은 고딕"/>
              </a:rPr>
              <a:t>Cost Model /</a:t>
            </a:r>
          </a:p>
          <a:p>
            <a:pPr algn="ctr"/>
            <a:r>
              <a:rPr sz="900" b="1" dirty="0">
                <a:solidFill>
                  <a:srgbClr val="548235"/>
                </a:solidFill>
                <a:latin typeface="맑은 고딕"/>
                <a:ea typeface="맑은 고딕"/>
              </a:rPr>
              <a:t>Memory Tier I/F</a:t>
            </a:r>
          </a:p>
          <a:p>
            <a:pPr algn="ctr"/>
            <a:r>
              <a:rPr lang="ko-KR" altLang="en-US" sz="620" b="0" dirty="0">
                <a:solidFill>
                  <a:srgbClr val="548235"/>
                </a:solidFill>
                <a:latin typeface="맑은 고딕"/>
                <a:ea typeface="맑은 고딕"/>
              </a:rPr>
              <a:t>신규 메모리</a:t>
            </a:r>
            <a:r>
              <a:rPr lang="en-US" altLang="ko-KR" sz="620" b="0" dirty="0">
                <a:solidFill>
                  <a:srgbClr val="548235"/>
                </a:solidFill>
                <a:latin typeface="맑은 고딕"/>
                <a:ea typeface="맑은 고딕"/>
              </a:rPr>
              <a:t>·Cost</a:t>
            </a:r>
            <a:r>
              <a:rPr lang="ko-KR" altLang="en-US" sz="620" b="0" dirty="0">
                <a:solidFill>
                  <a:srgbClr val="548235"/>
                </a:solidFill>
                <a:latin typeface="맑은 고딕"/>
                <a:ea typeface="맑은 고딕"/>
              </a:rPr>
              <a:t> 모델</a:t>
            </a:r>
          </a:p>
          <a:p>
            <a:pPr algn="ctr"/>
            <a:r>
              <a:rPr lang="ko-KR" altLang="en-US" sz="620" b="0" dirty="0">
                <a:solidFill>
                  <a:srgbClr val="548235"/>
                </a:solidFill>
                <a:latin typeface="맑은 고딕"/>
                <a:ea typeface="맑은 고딕"/>
              </a:rPr>
              <a:t>확장 시 구조 변경 최소화</a:t>
            </a:r>
          </a:p>
        </p:txBody>
      </p:sp>
      <p:cxnSp>
        <p:nvCxnSpPr>
          <p:cNvPr id="9067" name="Connector 9066"/>
          <p:cNvCxnSpPr/>
          <p:nvPr/>
        </p:nvCxnSpPr>
        <p:spPr>
          <a:xfrm flipH="1">
            <a:off x="10149840" y="3511296"/>
            <a:ext cx="137160" cy="0"/>
          </a:xfrm>
          <a:prstGeom prst="line">
            <a:avLst/>
          </a:prstGeom>
          <a:ln w="12700">
            <a:solidFill>
              <a:srgbClr val="54823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68" name="Rectangle 9067"/>
          <p:cNvSpPr/>
          <p:nvPr/>
        </p:nvSpPr>
        <p:spPr>
          <a:xfrm>
            <a:off x="6812280" y="2377440"/>
            <a:ext cx="9144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595959"/>
                </a:solidFill>
                <a:latin typeface="맑은 고딕"/>
                <a:ea typeface="맑은 고딕"/>
              </a:rPr>
              <a:t>워크로드 정보</a:t>
            </a:r>
          </a:p>
        </p:txBody>
      </p:sp>
      <p:cxnSp>
        <p:nvCxnSpPr>
          <p:cNvPr id="9069" name="Connector 9068"/>
          <p:cNvCxnSpPr/>
          <p:nvPr/>
        </p:nvCxnSpPr>
        <p:spPr>
          <a:xfrm flipH="1">
            <a:off x="7790688" y="2496312"/>
            <a:ext cx="237743"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9070" name="Connector 9069"/>
          <p:cNvCxnSpPr/>
          <p:nvPr/>
        </p:nvCxnSpPr>
        <p:spPr>
          <a:xfrm>
            <a:off x="7790688" y="2496312"/>
            <a:ext cx="0" cy="24688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9071" name="Connector 9070"/>
          <p:cNvCxnSpPr/>
          <p:nvPr/>
        </p:nvCxnSpPr>
        <p:spPr>
          <a:xfrm>
            <a:off x="8942832" y="4087368"/>
            <a:ext cx="0" cy="73152"/>
          </a:xfrm>
          <a:prstGeom prst="line">
            <a:avLst/>
          </a:prstGeom>
          <a:ln w="127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2" name="Rectangle 9071"/>
          <p:cNvSpPr/>
          <p:nvPr/>
        </p:nvSpPr>
        <p:spPr>
          <a:xfrm>
            <a:off x="8028431" y="4160520"/>
            <a:ext cx="1828800" cy="237744"/>
          </a:xfrm>
          <a:prstGeom prst="rect">
            <a:avLst/>
          </a:prstGeom>
          <a:solidFill>
            <a:srgbClr val="F0F1F3"/>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00" b="0">
                <a:solidFill>
                  <a:srgbClr val="000000"/>
                </a:solidFill>
                <a:latin typeface="맑은 고딕"/>
                <a:ea typeface="맑은 고딕"/>
              </a:rPr>
              <a:t>Execution Router</a:t>
            </a:r>
          </a:p>
        </p:txBody>
      </p:sp>
      <p:sp>
        <p:nvSpPr>
          <p:cNvPr id="9073" name="Rectangle 9072"/>
          <p:cNvSpPr/>
          <p:nvPr/>
        </p:nvSpPr>
        <p:spPr>
          <a:xfrm>
            <a:off x="6675120" y="4572000"/>
            <a:ext cx="1508760" cy="475488"/>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74" name="Rectangle 9073"/>
          <p:cNvSpPr/>
          <p:nvPr/>
        </p:nvSpPr>
        <p:spPr>
          <a:xfrm>
            <a:off x="6675120" y="4590288"/>
            <a:ext cx="15087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dirty="0">
                <a:solidFill>
                  <a:srgbClr val="2E75B6"/>
                </a:solidFill>
                <a:latin typeface="맑은 고딕"/>
                <a:ea typeface="맑은 고딕"/>
              </a:rPr>
              <a:t>Prefill</a:t>
            </a:r>
            <a:r>
              <a:rPr lang="en-US" sz="750" b="1" dirty="0">
                <a:solidFill>
                  <a:srgbClr val="2E75B6"/>
                </a:solidFill>
                <a:latin typeface="맑은 고딕"/>
                <a:ea typeface="맑은 고딕"/>
              </a:rPr>
              <a:t>-centric </a:t>
            </a:r>
            <a:r>
              <a:rPr sz="750" b="1" dirty="0">
                <a:solidFill>
                  <a:srgbClr val="2E75B6"/>
                </a:solidFill>
                <a:latin typeface="맑은 고딕"/>
                <a:ea typeface="맑은 고딕"/>
              </a:rPr>
              <a:t>Node</a:t>
            </a:r>
          </a:p>
        </p:txBody>
      </p:sp>
      <p:sp>
        <p:nvSpPr>
          <p:cNvPr id="9075" name="Rectangle 9074"/>
          <p:cNvSpPr/>
          <p:nvPr/>
        </p:nvSpPr>
        <p:spPr>
          <a:xfrm>
            <a:off x="6766559" y="4791456"/>
            <a:ext cx="1325880" cy="201168"/>
          </a:xfrm>
          <a:prstGeom prst="rect">
            <a:avLst/>
          </a:prstGeom>
          <a:solidFill>
            <a:srgbClr val="FFFFFF"/>
          </a:solidFill>
          <a:ln w="635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HBM / DRAM</a:t>
            </a:r>
          </a:p>
        </p:txBody>
      </p:sp>
      <p:sp>
        <p:nvSpPr>
          <p:cNvPr id="9076" name="Rectangle 9075"/>
          <p:cNvSpPr/>
          <p:nvPr/>
        </p:nvSpPr>
        <p:spPr>
          <a:xfrm>
            <a:off x="8458200" y="4572000"/>
            <a:ext cx="1508760" cy="475488"/>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77" name="Rectangle 9076"/>
          <p:cNvSpPr/>
          <p:nvPr/>
        </p:nvSpPr>
        <p:spPr>
          <a:xfrm>
            <a:off x="8458200" y="4590288"/>
            <a:ext cx="15087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dirty="0">
                <a:solidFill>
                  <a:srgbClr val="C55A11"/>
                </a:solidFill>
                <a:latin typeface="맑은 고딕"/>
                <a:ea typeface="맑은 고딕"/>
              </a:rPr>
              <a:t>Decode</a:t>
            </a:r>
            <a:r>
              <a:rPr lang="en-US" sz="750" b="1" dirty="0">
                <a:solidFill>
                  <a:srgbClr val="C55A11"/>
                </a:solidFill>
                <a:latin typeface="맑은 고딕"/>
                <a:ea typeface="맑은 고딕"/>
              </a:rPr>
              <a:t>-centric</a:t>
            </a:r>
            <a:r>
              <a:rPr sz="750" b="1" dirty="0">
                <a:solidFill>
                  <a:srgbClr val="C55A11"/>
                </a:solidFill>
                <a:latin typeface="맑은 고딕"/>
                <a:ea typeface="맑은 고딕"/>
              </a:rPr>
              <a:t> Node</a:t>
            </a:r>
          </a:p>
        </p:txBody>
      </p:sp>
      <p:sp>
        <p:nvSpPr>
          <p:cNvPr id="9078" name="Rectangle 9077"/>
          <p:cNvSpPr/>
          <p:nvPr/>
        </p:nvSpPr>
        <p:spPr>
          <a:xfrm>
            <a:off x="8549640" y="4791456"/>
            <a:ext cx="1325880" cy="201168"/>
          </a:xfrm>
          <a:prstGeom prst="rect">
            <a:avLst/>
          </a:prstGeom>
          <a:solidFill>
            <a:srgbClr val="FFFFFF"/>
          </a:solidFill>
          <a:ln w="635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HBM / DRAM</a:t>
            </a:r>
          </a:p>
        </p:txBody>
      </p:sp>
      <p:sp>
        <p:nvSpPr>
          <p:cNvPr id="9079" name="Rectangle 9078"/>
          <p:cNvSpPr/>
          <p:nvPr/>
        </p:nvSpPr>
        <p:spPr>
          <a:xfrm>
            <a:off x="10241280" y="4572000"/>
            <a:ext cx="1280160" cy="475488"/>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80" name="Rectangle 9079"/>
          <p:cNvSpPr/>
          <p:nvPr/>
        </p:nvSpPr>
        <p:spPr>
          <a:xfrm>
            <a:off x="10241280" y="4590288"/>
            <a:ext cx="1280160"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750" b="1">
                <a:solidFill>
                  <a:srgbClr val="548235"/>
                </a:solidFill>
                <a:latin typeface="맑은 고딕"/>
                <a:ea typeface="맑은 고딕"/>
              </a:rPr>
              <a:t>Memory Pool</a:t>
            </a:r>
          </a:p>
        </p:txBody>
      </p:sp>
      <p:sp>
        <p:nvSpPr>
          <p:cNvPr id="9081" name="Rectangle 9080"/>
          <p:cNvSpPr/>
          <p:nvPr/>
        </p:nvSpPr>
        <p:spPr>
          <a:xfrm>
            <a:off x="10332719" y="4791456"/>
            <a:ext cx="1097280" cy="201168"/>
          </a:xfrm>
          <a:prstGeom prst="rect">
            <a:avLst/>
          </a:prstGeom>
          <a:solidFill>
            <a:srgbClr val="FFFFFF"/>
          </a:solidFill>
          <a:ln w="6350">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650" b="0">
                <a:solidFill>
                  <a:srgbClr val="000000"/>
                </a:solidFill>
                <a:latin typeface="맑은 고딕"/>
                <a:ea typeface="맑은 고딕"/>
              </a:rPr>
              <a:t>CXL · SSD</a:t>
            </a:r>
          </a:p>
        </p:txBody>
      </p:sp>
      <p:cxnSp>
        <p:nvCxnSpPr>
          <p:cNvPr id="9082" name="Connector 9081"/>
          <p:cNvCxnSpPr>
            <a:cxnSpLocks/>
            <a:stCxn id="9072" idx="2"/>
          </p:cNvCxnSpPr>
          <p:nvPr/>
        </p:nvCxnSpPr>
        <p:spPr>
          <a:xfrm flipH="1">
            <a:off x="7424927" y="4398264"/>
            <a:ext cx="1517904" cy="173736"/>
          </a:xfrm>
          <a:prstGeom prst="line">
            <a:avLst/>
          </a:prstGeom>
          <a:ln w="15875">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83" name="Connector 9082"/>
          <p:cNvCxnSpPr>
            <a:cxnSpLocks/>
            <a:stCxn id="9072" idx="2"/>
          </p:cNvCxnSpPr>
          <p:nvPr/>
        </p:nvCxnSpPr>
        <p:spPr>
          <a:xfrm>
            <a:off x="8942831" y="4398264"/>
            <a:ext cx="274321" cy="173736"/>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86" name="Connector 9085"/>
          <p:cNvCxnSpPr/>
          <p:nvPr/>
        </p:nvCxnSpPr>
        <p:spPr>
          <a:xfrm>
            <a:off x="8183879" y="4809744"/>
            <a:ext cx="274321" cy="0"/>
          </a:xfrm>
          <a:prstGeom prst="line">
            <a:avLst/>
          </a:prstGeom>
          <a:ln w="12700">
            <a:solidFill>
              <a:srgbClr val="7F7F7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87" name="Connector 9086"/>
          <p:cNvCxnSpPr/>
          <p:nvPr/>
        </p:nvCxnSpPr>
        <p:spPr>
          <a:xfrm>
            <a:off x="9966960" y="4809744"/>
            <a:ext cx="274320" cy="0"/>
          </a:xfrm>
          <a:prstGeom prst="line">
            <a:avLst/>
          </a:prstGeom>
          <a:ln w="12700">
            <a:solidFill>
              <a:srgbClr val="7F7F7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088" name="Connector 9087"/>
          <p:cNvCxnSpPr/>
          <p:nvPr/>
        </p:nvCxnSpPr>
        <p:spPr>
          <a:xfrm flipH="1">
            <a:off x="6400800" y="4937760"/>
            <a:ext cx="274320" cy="0"/>
          </a:xfrm>
          <a:prstGeom prst="line">
            <a:avLst/>
          </a:prstGeom>
          <a:ln w="12700">
            <a:solidFill>
              <a:srgbClr val="7F7F7F"/>
            </a:solidFill>
            <a:prstDash val="dash"/>
          </a:ln>
        </p:spPr>
        <p:style>
          <a:lnRef idx="2">
            <a:schemeClr val="accent1"/>
          </a:lnRef>
          <a:fillRef idx="0">
            <a:schemeClr val="accent1"/>
          </a:fillRef>
          <a:effectRef idx="1">
            <a:schemeClr val="accent1"/>
          </a:effectRef>
          <a:fontRef idx="minor">
            <a:schemeClr val="tx1"/>
          </a:fontRef>
        </p:style>
      </p:cxnSp>
      <p:cxnSp>
        <p:nvCxnSpPr>
          <p:cNvPr id="9089" name="Connector 9088"/>
          <p:cNvCxnSpPr/>
          <p:nvPr/>
        </p:nvCxnSpPr>
        <p:spPr>
          <a:xfrm flipV="1">
            <a:off x="6400800" y="3246120"/>
            <a:ext cx="0" cy="1691640"/>
          </a:xfrm>
          <a:prstGeom prst="line">
            <a:avLst/>
          </a:prstGeom>
          <a:ln w="12700">
            <a:solidFill>
              <a:srgbClr val="7F7F7F"/>
            </a:solidFill>
            <a:prstDash val="dash"/>
          </a:ln>
        </p:spPr>
        <p:style>
          <a:lnRef idx="2">
            <a:schemeClr val="accent1"/>
          </a:lnRef>
          <a:fillRef idx="0">
            <a:schemeClr val="accent1"/>
          </a:fillRef>
          <a:effectRef idx="1">
            <a:schemeClr val="accent1"/>
          </a:effectRef>
          <a:fontRef idx="minor">
            <a:schemeClr val="tx1"/>
          </a:fontRef>
        </p:style>
      </p:cxnSp>
      <p:cxnSp>
        <p:nvCxnSpPr>
          <p:cNvPr id="9090" name="Connector 9089"/>
          <p:cNvCxnSpPr/>
          <p:nvPr/>
        </p:nvCxnSpPr>
        <p:spPr>
          <a:xfrm>
            <a:off x="6400800" y="3246120"/>
            <a:ext cx="246888" cy="0"/>
          </a:xfrm>
          <a:prstGeom prst="line">
            <a:avLst/>
          </a:prstGeom>
          <a:ln w="12700">
            <a:solidFill>
              <a:srgbClr val="7F7F7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91" name="Connector 9090"/>
          <p:cNvCxnSpPr/>
          <p:nvPr/>
        </p:nvCxnSpPr>
        <p:spPr>
          <a:xfrm>
            <a:off x="6400800" y="3776472"/>
            <a:ext cx="246888" cy="0"/>
          </a:xfrm>
          <a:prstGeom prst="line">
            <a:avLst/>
          </a:prstGeom>
          <a:ln w="12700">
            <a:solidFill>
              <a:srgbClr val="7F7F7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92" name="Rectangle 9091"/>
          <p:cNvSpPr/>
          <p:nvPr/>
        </p:nvSpPr>
        <p:spPr>
          <a:xfrm>
            <a:off x="6400800" y="5102352"/>
            <a:ext cx="5120640" cy="237744"/>
          </a:xfrm>
          <a:prstGeom prst="rect">
            <a:avLst/>
          </a:prstGeom>
          <a:solidFill>
            <a:srgbClr val="FFFFFF"/>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endParaRPr/>
          </a:p>
        </p:txBody>
      </p:sp>
      <p:sp>
        <p:nvSpPr>
          <p:cNvPr id="9093" name="Rectangle 9092"/>
          <p:cNvSpPr/>
          <p:nvPr/>
        </p:nvSpPr>
        <p:spPr>
          <a:xfrm>
            <a:off x="6446520" y="5102352"/>
            <a:ext cx="50292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ko-KR" altLang="en-US" sz="630" b="0" dirty="0">
                <a:solidFill>
                  <a:srgbClr val="595959"/>
                </a:solidFill>
                <a:latin typeface="맑은 고딕"/>
                <a:ea typeface="맑은 고딕"/>
              </a:rPr>
              <a:t>점선</a:t>
            </a:r>
            <a:r>
              <a:rPr lang="en-US" altLang="ko-KR" sz="630" b="0" dirty="0">
                <a:solidFill>
                  <a:srgbClr val="595959"/>
                </a:solidFill>
                <a:latin typeface="맑은 고딕"/>
                <a:ea typeface="맑은 고딕"/>
              </a:rPr>
              <a:t>: KV </a:t>
            </a:r>
            <a:r>
              <a:rPr lang="ko-KR" altLang="en-US" sz="630" b="0" dirty="0">
                <a:solidFill>
                  <a:srgbClr val="595959"/>
                </a:solidFill>
                <a:latin typeface="맑은 고딕"/>
                <a:ea typeface="맑은 고딕"/>
              </a:rPr>
              <a:t>위치</a:t>
            </a:r>
            <a:r>
              <a:rPr lang="en-US" altLang="ko-KR" sz="630" b="0" dirty="0">
                <a:solidFill>
                  <a:srgbClr val="595959"/>
                </a:solidFill>
                <a:latin typeface="맑은 고딕"/>
                <a:ea typeface="맑은 고딕"/>
              </a:rPr>
              <a:t>·</a:t>
            </a:r>
            <a:r>
              <a:rPr lang="ko-KR" altLang="en-US" sz="630" b="0" dirty="0">
                <a:solidFill>
                  <a:srgbClr val="595959"/>
                </a:solidFill>
                <a:latin typeface="맑은 고딕"/>
                <a:ea typeface="맑은 고딕"/>
              </a:rPr>
              <a:t>노드 상태 수집 </a:t>
            </a:r>
            <a:r>
              <a:rPr lang="en-US" altLang="ko-KR" sz="630" b="0" dirty="0">
                <a:solidFill>
                  <a:srgbClr val="595959"/>
                </a:solidFill>
                <a:latin typeface="맑은 고딕"/>
                <a:ea typeface="맑은 고딕"/>
              </a:rPr>
              <a:t>(Monitor)   </a:t>
            </a:r>
            <a:r>
              <a:rPr lang="ko-KR" altLang="en-US" sz="630" b="1" dirty="0">
                <a:solidFill>
                  <a:srgbClr val="2E75B6"/>
                </a:solidFill>
                <a:latin typeface="맑은 고딕"/>
                <a:ea typeface="맑은 고딕"/>
              </a:rPr>
              <a:t>매 </a:t>
            </a:r>
            <a:r>
              <a:rPr lang="en-US" altLang="ko-KR" sz="630" b="1" dirty="0">
                <a:solidFill>
                  <a:srgbClr val="2E75B6"/>
                </a:solidFill>
                <a:latin typeface="맑은 고딕"/>
                <a:ea typeface="맑은 고딕"/>
              </a:rPr>
              <a:t>Turn </a:t>
            </a:r>
            <a:r>
              <a:rPr lang="ko-KR" altLang="en-US" sz="630" b="1" dirty="0">
                <a:solidFill>
                  <a:srgbClr val="2E75B6"/>
                </a:solidFill>
                <a:latin typeface="맑은 고딕"/>
                <a:ea typeface="맑은 고딕"/>
              </a:rPr>
              <a:t>이동 비용 </a:t>
            </a:r>
            <a:r>
              <a:rPr lang="en-US" altLang="ko-KR" sz="630" b="1" dirty="0">
                <a:solidFill>
                  <a:srgbClr val="2E75B6"/>
                </a:solidFill>
                <a:latin typeface="맑은 고딕"/>
                <a:ea typeface="맑은 고딕"/>
              </a:rPr>
              <a:t>vs </a:t>
            </a:r>
            <a:r>
              <a:rPr lang="ko-KR" altLang="en-US" sz="630" b="1" dirty="0">
                <a:solidFill>
                  <a:srgbClr val="2E75B6"/>
                </a:solidFill>
                <a:latin typeface="맑은 고딕"/>
                <a:ea typeface="맑은 고딕"/>
              </a:rPr>
              <a:t>연산</a:t>
            </a:r>
            <a:r>
              <a:rPr lang="en-US" altLang="ko-KR" sz="630" b="1" dirty="0">
                <a:solidFill>
                  <a:srgbClr val="2E75B6"/>
                </a:solidFill>
                <a:latin typeface="맑은 고딕"/>
                <a:ea typeface="맑은 고딕"/>
              </a:rPr>
              <a:t>/</a:t>
            </a:r>
            <a:r>
              <a:rPr lang="ko-KR" altLang="en-US" sz="630" b="1" dirty="0">
                <a:solidFill>
                  <a:srgbClr val="2E75B6"/>
                </a:solidFill>
                <a:latin typeface="맑은 고딕"/>
                <a:ea typeface="맑은 고딕"/>
              </a:rPr>
              <a:t>간섭 비용을 비교해 </a:t>
            </a:r>
            <a:r>
              <a:rPr lang="en-US" altLang="ko-KR" sz="630" b="1" dirty="0">
                <a:solidFill>
                  <a:srgbClr val="2E75B6"/>
                </a:solidFill>
                <a:latin typeface="맑은 고딕"/>
                <a:ea typeface="맑은 고딕"/>
              </a:rPr>
              <a:t>Prefill/Decode </a:t>
            </a:r>
            <a:r>
              <a:rPr lang="ko-KR" altLang="en-US" sz="630" b="1" dirty="0">
                <a:solidFill>
                  <a:srgbClr val="2E75B6"/>
                </a:solidFill>
                <a:latin typeface="맑은 고딕"/>
                <a:ea typeface="맑은 고딕"/>
              </a:rPr>
              <a:t>실행 위치 동적 결정</a:t>
            </a:r>
          </a:p>
        </p:txBody>
      </p:sp>
      <p:sp>
        <p:nvSpPr>
          <p:cNvPr id="108" name="Rectangle 9049">
            <a:extLst>
              <a:ext uri="{FF2B5EF4-FFF2-40B4-BE49-F238E27FC236}">
                <a16:creationId xmlns:a16="http://schemas.microsoft.com/office/drawing/2014/main" id="{984AD03E-E3D5-4FFA-9E24-34730A8C0327}"/>
              </a:ext>
            </a:extLst>
          </p:cNvPr>
          <p:cNvSpPr/>
          <p:nvPr/>
        </p:nvSpPr>
        <p:spPr>
          <a:xfrm>
            <a:off x="7260337" y="4379976"/>
            <a:ext cx="649222"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Prefill/Decode</a:t>
            </a:r>
            <a:endParaRPr sz="650" b="0" dirty="0">
              <a:solidFill>
                <a:srgbClr val="FF0000"/>
              </a:solidFill>
              <a:latin typeface="맑은 고딕"/>
              <a:ea typeface="맑은 고딕"/>
            </a:endParaRPr>
          </a:p>
        </p:txBody>
      </p:sp>
      <p:sp>
        <p:nvSpPr>
          <p:cNvPr id="109" name="Rectangle 9049">
            <a:extLst>
              <a:ext uri="{FF2B5EF4-FFF2-40B4-BE49-F238E27FC236}">
                <a16:creationId xmlns:a16="http://schemas.microsoft.com/office/drawing/2014/main" id="{D91ECC5E-AED1-4F3E-BE6D-203AAF4EF601}"/>
              </a:ext>
            </a:extLst>
          </p:cNvPr>
          <p:cNvSpPr/>
          <p:nvPr/>
        </p:nvSpPr>
        <p:spPr>
          <a:xfrm>
            <a:off x="9303913" y="4379976"/>
            <a:ext cx="649222"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lang="en-US" sz="650" dirty="0">
                <a:solidFill>
                  <a:srgbClr val="FF0000"/>
                </a:solidFill>
                <a:latin typeface="맑은 고딕"/>
                <a:ea typeface="맑은 고딕"/>
              </a:rPr>
              <a:t>Prefill/Decode</a:t>
            </a:r>
            <a:endParaRPr sz="650" b="0" dirty="0">
              <a:solidFill>
                <a:srgbClr val="FF0000"/>
              </a:solidFill>
              <a:latin typeface="맑은 고딕"/>
              <a:ea typeface="맑은 고딕"/>
            </a:endParaRPr>
          </a:p>
        </p:txBody>
      </p:sp>
      <p:sp>
        <p:nvSpPr>
          <p:cNvPr id="130" name="직사각형 129">
            <a:extLst>
              <a:ext uri="{FF2B5EF4-FFF2-40B4-BE49-F238E27FC236}">
                <a16:creationId xmlns:a16="http://schemas.microsoft.com/office/drawing/2014/main" id="{9E196327-28D4-414F-A92E-FD586E4EC1B0}"/>
              </a:ext>
            </a:extLst>
          </p:cNvPr>
          <p:cNvSpPr/>
          <p:nvPr/>
        </p:nvSpPr>
        <p:spPr>
          <a:xfrm>
            <a:off x="501990" y="2141984"/>
            <a:ext cx="2344545" cy="1464115"/>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lstStyle/>
          <a:p>
            <a:pPr algn="ctr"/>
            <a:r>
              <a:rPr lang="en-US" altLang="ko-KR" sz="1200" b="1" dirty="0">
                <a:solidFill>
                  <a:schemeClr val="tx1"/>
                </a:solidFill>
              </a:rPr>
              <a:t>Prefill</a:t>
            </a:r>
            <a:r>
              <a:rPr lang="ko-KR" altLang="en-US" sz="1200" b="1" dirty="0">
                <a:solidFill>
                  <a:schemeClr val="tx1"/>
                </a:solidFill>
              </a:rPr>
              <a:t> </a:t>
            </a:r>
            <a:r>
              <a:rPr lang="en-US" altLang="ko-KR" sz="1200" b="1" dirty="0">
                <a:solidFill>
                  <a:schemeClr val="tx1"/>
                </a:solidFill>
              </a:rPr>
              <a:t>Node</a:t>
            </a:r>
            <a:endParaRPr lang="ko-KR" altLang="en-US" sz="1200" b="1" dirty="0">
              <a:solidFill>
                <a:schemeClr val="tx1"/>
              </a:solidFill>
            </a:endParaRPr>
          </a:p>
        </p:txBody>
      </p:sp>
      <p:grpSp>
        <p:nvGrpSpPr>
          <p:cNvPr id="131" name="그룹 130">
            <a:extLst>
              <a:ext uri="{FF2B5EF4-FFF2-40B4-BE49-F238E27FC236}">
                <a16:creationId xmlns:a16="http://schemas.microsoft.com/office/drawing/2014/main" id="{E4BA4D40-B057-4AF5-B276-2B3F410B830E}"/>
              </a:ext>
            </a:extLst>
          </p:cNvPr>
          <p:cNvGrpSpPr/>
          <p:nvPr/>
        </p:nvGrpSpPr>
        <p:grpSpPr>
          <a:xfrm>
            <a:off x="596006" y="2457222"/>
            <a:ext cx="2100310" cy="1111003"/>
            <a:chOff x="467184" y="3565394"/>
            <a:chExt cx="2310341" cy="1425561"/>
          </a:xfrm>
        </p:grpSpPr>
        <p:grpSp>
          <p:nvGrpSpPr>
            <p:cNvPr id="154" name="그룹 153">
              <a:extLst>
                <a:ext uri="{FF2B5EF4-FFF2-40B4-BE49-F238E27FC236}">
                  <a16:creationId xmlns:a16="http://schemas.microsoft.com/office/drawing/2014/main" id="{6CFB0567-A41E-401A-AE68-A63B7AD6B817}"/>
                </a:ext>
              </a:extLst>
            </p:cNvPr>
            <p:cNvGrpSpPr/>
            <p:nvPr/>
          </p:nvGrpSpPr>
          <p:grpSpPr>
            <a:xfrm>
              <a:off x="467184" y="3565394"/>
              <a:ext cx="2310341" cy="1425561"/>
              <a:chOff x="2074073" y="2512597"/>
              <a:chExt cx="2730066" cy="1816756"/>
            </a:xfrm>
          </p:grpSpPr>
          <p:grpSp>
            <p:nvGrpSpPr>
              <p:cNvPr id="156" name="그룹 155">
                <a:extLst>
                  <a:ext uri="{FF2B5EF4-FFF2-40B4-BE49-F238E27FC236}">
                    <a16:creationId xmlns:a16="http://schemas.microsoft.com/office/drawing/2014/main" id="{41311AE0-98BF-42B9-BE13-55CE3CF808C4}"/>
                  </a:ext>
                </a:extLst>
              </p:cNvPr>
              <p:cNvGrpSpPr/>
              <p:nvPr/>
            </p:nvGrpSpPr>
            <p:grpSpPr>
              <a:xfrm>
                <a:off x="2074073" y="2512597"/>
                <a:ext cx="2730066" cy="1816756"/>
                <a:chOff x="1384719" y="2126980"/>
                <a:chExt cx="2665680" cy="2081864"/>
              </a:xfrm>
            </p:grpSpPr>
            <p:sp>
              <p:nvSpPr>
                <p:cNvPr id="163" name="직사각형 162">
                  <a:extLst>
                    <a:ext uri="{FF2B5EF4-FFF2-40B4-BE49-F238E27FC236}">
                      <a16:creationId xmlns:a16="http://schemas.microsoft.com/office/drawing/2014/main" id="{8D13C344-39A6-4338-A6A0-5BA77EBCD3C8}"/>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64" name="모서리가 둥근 직사각형 191">
                  <a:extLst>
                    <a:ext uri="{FF2B5EF4-FFF2-40B4-BE49-F238E27FC236}">
                      <a16:creationId xmlns:a16="http://schemas.microsoft.com/office/drawing/2014/main" id="{929EAC29-489F-4008-94EB-C0DA51F9310F}"/>
                    </a:ext>
                  </a:extLst>
                </p:cNvPr>
                <p:cNvSpPr/>
                <p:nvPr/>
              </p:nvSpPr>
              <p:spPr>
                <a:xfrm>
                  <a:off x="2357349" y="3953185"/>
                  <a:ext cx="884764"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SSD-PIM</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65" name="모서리가 둥근 직사각형 192">
                  <a:extLst>
                    <a:ext uri="{FF2B5EF4-FFF2-40B4-BE49-F238E27FC236}">
                      <a16:creationId xmlns:a16="http://schemas.microsoft.com/office/drawing/2014/main" id="{38FDDE83-5A95-41C7-A36A-D9B22A71678B}"/>
                    </a:ext>
                  </a:extLst>
                </p:cNvPr>
                <p:cNvSpPr/>
                <p:nvPr/>
              </p:nvSpPr>
              <p:spPr>
                <a:xfrm>
                  <a:off x="3257197" y="3478256"/>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DRAM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167" name="직선 연결선 9">
                  <a:extLst>
                    <a:ext uri="{FF2B5EF4-FFF2-40B4-BE49-F238E27FC236}">
                      <a16:creationId xmlns:a16="http://schemas.microsoft.com/office/drawing/2014/main" id="{B58A559A-ED90-48BD-918B-5AABACC97DF7}"/>
                    </a:ext>
                  </a:extLst>
                </p:cNvPr>
                <p:cNvCxnSpPr>
                  <a:stCxn id="171" idx="2"/>
                  <a:endCxn id="163"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8" name="직선 연결선 167">
                  <a:extLst>
                    <a:ext uri="{FF2B5EF4-FFF2-40B4-BE49-F238E27FC236}">
                      <a16:creationId xmlns:a16="http://schemas.microsoft.com/office/drawing/2014/main" id="{3292CAAE-E8FB-4B24-935A-8AD9605778B3}"/>
                    </a:ext>
                  </a:extLst>
                </p:cNvPr>
                <p:cNvCxnSpPr>
                  <a:cxnSpLocks/>
                  <a:stCxn id="163" idx="2"/>
                  <a:endCxn id="164" idx="0"/>
                </p:cNvCxnSpPr>
                <p:nvPr/>
              </p:nvCxnSpPr>
              <p:spPr>
                <a:xfrm flipH="1">
                  <a:off x="2799731"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69" name="그룹 168">
                  <a:extLst>
                    <a:ext uri="{FF2B5EF4-FFF2-40B4-BE49-F238E27FC236}">
                      <a16:creationId xmlns:a16="http://schemas.microsoft.com/office/drawing/2014/main" id="{60DD9432-5E16-4825-9362-847A03FF3DE0}"/>
                    </a:ext>
                  </a:extLst>
                </p:cNvPr>
                <p:cNvGrpSpPr/>
                <p:nvPr/>
              </p:nvGrpSpPr>
              <p:grpSpPr>
                <a:xfrm>
                  <a:off x="2323241" y="2126980"/>
                  <a:ext cx="959778" cy="1212050"/>
                  <a:chOff x="2993906" y="2126755"/>
                  <a:chExt cx="959778" cy="1212050"/>
                </a:xfrm>
              </p:grpSpPr>
              <p:sp>
                <p:nvSpPr>
                  <p:cNvPr id="171" name="직사각형 170">
                    <a:extLst>
                      <a:ext uri="{FF2B5EF4-FFF2-40B4-BE49-F238E27FC236}">
                        <a16:creationId xmlns:a16="http://schemas.microsoft.com/office/drawing/2014/main" id="{04CED275-D08B-451A-9584-526161D76AD3}"/>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GPU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72" name="모서리가 둥근 직사각형 203">
                    <a:extLst>
                      <a:ext uri="{FF2B5EF4-FFF2-40B4-BE49-F238E27FC236}">
                        <a16:creationId xmlns:a16="http://schemas.microsoft.com/office/drawing/2014/main" id="{352AFD67-3D2B-4CEF-898D-9981543F5AFD}"/>
                      </a:ext>
                    </a:extLst>
                  </p:cNvPr>
                  <p:cNvSpPr/>
                  <p:nvPr/>
                </p:nvSpPr>
                <p:spPr>
                  <a:xfrm>
                    <a:off x="2993909" y="2540806"/>
                    <a:ext cx="959775" cy="281224"/>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173" name="직선 연결선 172">
                    <a:extLst>
                      <a:ext uri="{FF2B5EF4-FFF2-40B4-BE49-F238E27FC236}">
                        <a16:creationId xmlns:a16="http://schemas.microsoft.com/office/drawing/2014/main" id="{31005929-C621-4CE2-B4C6-F9BBD6F7C333}"/>
                      </a:ext>
                    </a:extLst>
                  </p:cNvPr>
                  <p:cNvCxnSpPr>
                    <a:stCxn id="172" idx="2"/>
                    <a:endCxn id="171"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모서리가 둥근 직사각형 241">
                    <a:extLst>
                      <a:ext uri="{FF2B5EF4-FFF2-40B4-BE49-F238E27FC236}">
                        <a16:creationId xmlns:a16="http://schemas.microsoft.com/office/drawing/2014/main" id="{C6259237-5956-4C0D-B78F-9516C721588E}"/>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HBF</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sp>
              <p:nvSpPr>
                <p:cNvPr id="170" name="모서리가 둥근 직사각형 240">
                  <a:extLst>
                    <a:ext uri="{FF2B5EF4-FFF2-40B4-BE49-F238E27FC236}">
                      <a16:creationId xmlns:a16="http://schemas.microsoft.com/office/drawing/2014/main" id="{09D7243A-B149-4AA5-82BD-E6511ABE7337}"/>
                    </a:ext>
                  </a:extLst>
                </p:cNvPr>
                <p:cNvSpPr/>
                <p:nvPr/>
              </p:nvSpPr>
              <p:spPr>
                <a:xfrm>
                  <a:off x="1384719" y="3481563"/>
                  <a:ext cx="985752"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CXL-PNM</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cxnSp>
            <p:nvCxnSpPr>
              <p:cNvPr id="157" name="직선 연결선 156">
                <a:extLst>
                  <a:ext uri="{FF2B5EF4-FFF2-40B4-BE49-F238E27FC236}">
                    <a16:creationId xmlns:a16="http://schemas.microsoft.com/office/drawing/2014/main" id="{3F44B026-37EB-4496-8A9E-42117F0219D3}"/>
                  </a:ext>
                </a:extLst>
              </p:cNvPr>
              <p:cNvCxnSpPr>
                <a:cxnSpLocks/>
                <a:stCxn id="170" idx="3"/>
                <a:endCxn id="163" idx="1"/>
              </p:cNvCxnSpPr>
              <p:nvPr/>
            </p:nvCxnSpPr>
            <p:spPr>
              <a:xfrm>
                <a:off x="3083635" y="3806237"/>
                <a:ext cx="7385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8" name="직선 연결선 157">
                <a:extLst>
                  <a:ext uri="{FF2B5EF4-FFF2-40B4-BE49-F238E27FC236}">
                    <a16:creationId xmlns:a16="http://schemas.microsoft.com/office/drawing/2014/main" id="{96E6404F-116E-4D68-9D6E-BC38F0EBAD9E}"/>
                  </a:ext>
                </a:extLst>
              </p:cNvPr>
              <p:cNvCxnSpPr>
                <a:stCxn id="174" idx="2"/>
                <a:endCxn id="172" idx="0"/>
              </p:cNvCxnSpPr>
              <p:nvPr/>
            </p:nvCxnSpPr>
            <p:spPr>
              <a:xfrm>
                <a:off x="3526742" y="2715417"/>
                <a:ext cx="3" cy="1585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2" name="순서도: 자기 디스크 161">
                <a:extLst>
                  <a:ext uri="{FF2B5EF4-FFF2-40B4-BE49-F238E27FC236}">
                    <a16:creationId xmlns:a16="http://schemas.microsoft.com/office/drawing/2014/main" id="{B64EC30C-84C6-4289-B304-DA49D250327F}"/>
                  </a:ext>
                </a:extLst>
              </p:cNvPr>
              <p:cNvSpPr/>
              <p:nvPr/>
            </p:nvSpPr>
            <p:spPr>
              <a:xfrm>
                <a:off x="2701171" y="2746134"/>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grpSp>
        <p:cxnSp>
          <p:nvCxnSpPr>
            <p:cNvPr id="155" name="직선 연결선 154">
              <a:extLst>
                <a:ext uri="{FF2B5EF4-FFF2-40B4-BE49-F238E27FC236}">
                  <a16:creationId xmlns:a16="http://schemas.microsoft.com/office/drawing/2014/main" id="{F75730E8-B3A0-455C-A04A-68E076C056E4}"/>
                </a:ext>
              </a:extLst>
            </p:cNvPr>
            <p:cNvCxnSpPr>
              <a:cxnSpLocks/>
              <a:stCxn id="165" idx="1"/>
              <a:endCxn id="163" idx="3"/>
            </p:cNvCxnSpPr>
            <p:nvPr/>
          </p:nvCxnSpPr>
          <p:spPr>
            <a:xfrm flipH="1">
              <a:off x="2009001" y="4578214"/>
              <a:ext cx="81057" cy="22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75" name="직사각형 174">
            <a:extLst>
              <a:ext uri="{FF2B5EF4-FFF2-40B4-BE49-F238E27FC236}">
                <a16:creationId xmlns:a16="http://schemas.microsoft.com/office/drawing/2014/main" id="{5DBACF68-5E5A-45F8-B7F8-D3CF5AB6DB37}"/>
              </a:ext>
            </a:extLst>
          </p:cNvPr>
          <p:cNvSpPr/>
          <p:nvPr/>
        </p:nvSpPr>
        <p:spPr>
          <a:xfrm>
            <a:off x="3208682" y="2141984"/>
            <a:ext cx="2511713" cy="1464115"/>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lstStyle/>
          <a:p>
            <a:pPr algn="ctr"/>
            <a:r>
              <a:rPr lang="en-US" altLang="ko-KR" sz="1200" b="1" dirty="0">
                <a:solidFill>
                  <a:schemeClr val="tx1"/>
                </a:solidFill>
              </a:rPr>
              <a:t>Decode Node</a:t>
            </a:r>
            <a:endParaRPr lang="ko-KR" altLang="en-US" sz="1200" b="1" dirty="0">
              <a:solidFill>
                <a:schemeClr val="tx1"/>
              </a:solidFill>
            </a:endParaRPr>
          </a:p>
        </p:txBody>
      </p:sp>
      <p:grpSp>
        <p:nvGrpSpPr>
          <p:cNvPr id="176" name="그룹 175">
            <a:extLst>
              <a:ext uri="{FF2B5EF4-FFF2-40B4-BE49-F238E27FC236}">
                <a16:creationId xmlns:a16="http://schemas.microsoft.com/office/drawing/2014/main" id="{AB4FA01A-8BEC-454F-A3B9-A9E0FB8D9248}"/>
              </a:ext>
            </a:extLst>
          </p:cNvPr>
          <p:cNvGrpSpPr/>
          <p:nvPr/>
        </p:nvGrpSpPr>
        <p:grpSpPr>
          <a:xfrm>
            <a:off x="3406092" y="2432552"/>
            <a:ext cx="2100310" cy="1111003"/>
            <a:chOff x="467184" y="3565394"/>
            <a:chExt cx="2310341" cy="1425561"/>
          </a:xfrm>
        </p:grpSpPr>
        <p:grpSp>
          <p:nvGrpSpPr>
            <p:cNvPr id="177" name="그룹 176">
              <a:extLst>
                <a:ext uri="{FF2B5EF4-FFF2-40B4-BE49-F238E27FC236}">
                  <a16:creationId xmlns:a16="http://schemas.microsoft.com/office/drawing/2014/main" id="{53D3D889-B4B7-46C4-B63E-BCA95E11BAE7}"/>
                </a:ext>
              </a:extLst>
            </p:cNvPr>
            <p:cNvGrpSpPr/>
            <p:nvPr/>
          </p:nvGrpSpPr>
          <p:grpSpPr>
            <a:xfrm>
              <a:off x="467184" y="3565394"/>
              <a:ext cx="2310341" cy="1425561"/>
              <a:chOff x="2074073" y="2512597"/>
              <a:chExt cx="2730066" cy="1816756"/>
            </a:xfrm>
          </p:grpSpPr>
          <p:grpSp>
            <p:nvGrpSpPr>
              <p:cNvPr id="179" name="그룹 178">
                <a:extLst>
                  <a:ext uri="{FF2B5EF4-FFF2-40B4-BE49-F238E27FC236}">
                    <a16:creationId xmlns:a16="http://schemas.microsoft.com/office/drawing/2014/main" id="{A501096F-E189-410E-93FC-107091368B94}"/>
                  </a:ext>
                </a:extLst>
              </p:cNvPr>
              <p:cNvGrpSpPr/>
              <p:nvPr/>
            </p:nvGrpSpPr>
            <p:grpSpPr>
              <a:xfrm>
                <a:off x="2074073" y="2512597"/>
                <a:ext cx="2730066" cy="1816756"/>
                <a:chOff x="1384719" y="2126980"/>
                <a:chExt cx="2665680" cy="2081864"/>
              </a:xfrm>
            </p:grpSpPr>
            <p:sp>
              <p:nvSpPr>
                <p:cNvPr id="185" name="직사각형 184">
                  <a:extLst>
                    <a:ext uri="{FF2B5EF4-FFF2-40B4-BE49-F238E27FC236}">
                      <a16:creationId xmlns:a16="http://schemas.microsoft.com/office/drawing/2014/main" id="{C0DE4E35-5487-4EEA-BEF6-2F9A1989FD23}"/>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86" name="모서리가 둥근 직사각형 191">
                  <a:extLst>
                    <a:ext uri="{FF2B5EF4-FFF2-40B4-BE49-F238E27FC236}">
                      <a16:creationId xmlns:a16="http://schemas.microsoft.com/office/drawing/2014/main" id="{5F744B0C-CD63-41F6-946C-CDD69F04A82E}"/>
                    </a:ext>
                  </a:extLst>
                </p:cNvPr>
                <p:cNvSpPr/>
                <p:nvPr/>
              </p:nvSpPr>
              <p:spPr>
                <a:xfrm>
                  <a:off x="2357349" y="3953185"/>
                  <a:ext cx="884764"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SSD-PIM</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87" name="모서리가 둥근 직사각형 192">
                  <a:extLst>
                    <a:ext uri="{FF2B5EF4-FFF2-40B4-BE49-F238E27FC236}">
                      <a16:creationId xmlns:a16="http://schemas.microsoft.com/office/drawing/2014/main" id="{ADC9AC14-1FA7-4DE7-8BAF-0859DD0CEAFC}"/>
                    </a:ext>
                  </a:extLst>
                </p:cNvPr>
                <p:cNvSpPr/>
                <p:nvPr/>
              </p:nvSpPr>
              <p:spPr>
                <a:xfrm>
                  <a:off x="3257197" y="3478256"/>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DRAM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188" name="직선 연결선 9">
                  <a:extLst>
                    <a:ext uri="{FF2B5EF4-FFF2-40B4-BE49-F238E27FC236}">
                      <a16:creationId xmlns:a16="http://schemas.microsoft.com/office/drawing/2014/main" id="{D0E69563-6FBC-4F47-84EE-8FA43013064A}"/>
                    </a:ext>
                  </a:extLst>
                </p:cNvPr>
                <p:cNvCxnSpPr>
                  <a:stCxn id="192" idx="2"/>
                  <a:endCxn id="185"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9" name="직선 연결선 188">
                  <a:extLst>
                    <a:ext uri="{FF2B5EF4-FFF2-40B4-BE49-F238E27FC236}">
                      <a16:creationId xmlns:a16="http://schemas.microsoft.com/office/drawing/2014/main" id="{44336303-34EF-41D4-978E-D68D91FE2BFB}"/>
                    </a:ext>
                  </a:extLst>
                </p:cNvPr>
                <p:cNvCxnSpPr>
                  <a:stCxn id="185" idx="2"/>
                  <a:endCxn id="186" idx="0"/>
                </p:cNvCxnSpPr>
                <p:nvPr/>
              </p:nvCxnSpPr>
              <p:spPr>
                <a:xfrm flipH="1">
                  <a:off x="2799731"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90" name="그룹 189">
                  <a:extLst>
                    <a:ext uri="{FF2B5EF4-FFF2-40B4-BE49-F238E27FC236}">
                      <a16:creationId xmlns:a16="http://schemas.microsoft.com/office/drawing/2014/main" id="{AA4D918D-12FE-44DF-A674-3427AC414C4C}"/>
                    </a:ext>
                  </a:extLst>
                </p:cNvPr>
                <p:cNvGrpSpPr/>
                <p:nvPr/>
              </p:nvGrpSpPr>
              <p:grpSpPr>
                <a:xfrm>
                  <a:off x="2323241" y="2126980"/>
                  <a:ext cx="959778" cy="1212050"/>
                  <a:chOff x="2993906" y="2126755"/>
                  <a:chExt cx="959778" cy="1212050"/>
                </a:xfrm>
              </p:grpSpPr>
              <p:sp>
                <p:nvSpPr>
                  <p:cNvPr id="192" name="직사각형 191">
                    <a:extLst>
                      <a:ext uri="{FF2B5EF4-FFF2-40B4-BE49-F238E27FC236}">
                        <a16:creationId xmlns:a16="http://schemas.microsoft.com/office/drawing/2014/main" id="{14826685-84CA-4558-845C-9BBBE64BFBDD}"/>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GPU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193" name="모서리가 둥근 직사각형 203">
                    <a:extLst>
                      <a:ext uri="{FF2B5EF4-FFF2-40B4-BE49-F238E27FC236}">
                        <a16:creationId xmlns:a16="http://schemas.microsoft.com/office/drawing/2014/main" id="{A26861C9-3424-4303-8BF5-678FFC4F98BE}"/>
                      </a:ext>
                    </a:extLst>
                  </p:cNvPr>
                  <p:cNvSpPr/>
                  <p:nvPr/>
                </p:nvSpPr>
                <p:spPr>
                  <a:xfrm>
                    <a:off x="2993909" y="2540806"/>
                    <a:ext cx="959775" cy="281224"/>
                  </a:xfrm>
                  <a:prstGeom prst="round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194" name="직선 연결선 193">
                    <a:extLst>
                      <a:ext uri="{FF2B5EF4-FFF2-40B4-BE49-F238E27FC236}">
                        <a16:creationId xmlns:a16="http://schemas.microsoft.com/office/drawing/2014/main" id="{F998E87D-028B-48A4-86FE-2C6BE3DE71C4}"/>
                      </a:ext>
                    </a:extLst>
                  </p:cNvPr>
                  <p:cNvCxnSpPr>
                    <a:stCxn id="193" idx="2"/>
                    <a:endCxn id="192"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5" name="모서리가 둥근 직사각형 241">
                    <a:extLst>
                      <a:ext uri="{FF2B5EF4-FFF2-40B4-BE49-F238E27FC236}">
                        <a16:creationId xmlns:a16="http://schemas.microsoft.com/office/drawing/2014/main" id="{798DBA2B-93D1-440A-BD57-A4A80D36AE11}"/>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HBF</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sp>
              <p:nvSpPr>
                <p:cNvPr id="191" name="모서리가 둥근 직사각형 240">
                  <a:extLst>
                    <a:ext uri="{FF2B5EF4-FFF2-40B4-BE49-F238E27FC236}">
                      <a16:creationId xmlns:a16="http://schemas.microsoft.com/office/drawing/2014/main" id="{C1DBC121-5B5B-40AA-856E-F1DCFAB9BB7E}"/>
                    </a:ext>
                  </a:extLst>
                </p:cNvPr>
                <p:cNvSpPr/>
                <p:nvPr/>
              </p:nvSpPr>
              <p:spPr>
                <a:xfrm>
                  <a:off x="1384719" y="3481563"/>
                  <a:ext cx="985754" cy="255658"/>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CXL-PNM</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cxnSp>
            <p:nvCxnSpPr>
              <p:cNvPr id="180" name="직선 연결선 179">
                <a:extLst>
                  <a:ext uri="{FF2B5EF4-FFF2-40B4-BE49-F238E27FC236}">
                    <a16:creationId xmlns:a16="http://schemas.microsoft.com/office/drawing/2014/main" id="{C9933D27-D02A-4792-94D9-9B86261D30FE}"/>
                  </a:ext>
                </a:extLst>
              </p:cNvPr>
              <p:cNvCxnSpPr>
                <a:cxnSpLocks/>
                <a:stCxn id="191" idx="3"/>
                <a:endCxn id="185" idx="1"/>
              </p:cNvCxnSpPr>
              <p:nvPr/>
            </p:nvCxnSpPr>
            <p:spPr>
              <a:xfrm>
                <a:off x="3083636" y="3806237"/>
                <a:ext cx="7385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1" name="직선 연결선 180">
                <a:extLst>
                  <a:ext uri="{FF2B5EF4-FFF2-40B4-BE49-F238E27FC236}">
                    <a16:creationId xmlns:a16="http://schemas.microsoft.com/office/drawing/2014/main" id="{DB8AFD76-BE8F-4329-9A65-03BD5047446F}"/>
                  </a:ext>
                </a:extLst>
              </p:cNvPr>
              <p:cNvCxnSpPr>
                <a:stCxn id="195" idx="2"/>
                <a:endCxn id="193" idx="0"/>
              </p:cNvCxnSpPr>
              <p:nvPr/>
            </p:nvCxnSpPr>
            <p:spPr>
              <a:xfrm>
                <a:off x="3526742" y="2715417"/>
                <a:ext cx="3" cy="1585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2" name="순서도: 자기 디스크 181">
                <a:extLst>
                  <a:ext uri="{FF2B5EF4-FFF2-40B4-BE49-F238E27FC236}">
                    <a16:creationId xmlns:a16="http://schemas.microsoft.com/office/drawing/2014/main" id="{EDAC249D-CADC-473E-9CDC-55F88B27B951}"/>
                  </a:ext>
                </a:extLst>
              </p:cNvPr>
              <p:cNvSpPr/>
              <p:nvPr/>
            </p:nvSpPr>
            <p:spPr>
              <a:xfrm>
                <a:off x="2578701" y="3886880"/>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183" name="순서도: 자기 디스크 182">
                <a:extLst>
                  <a:ext uri="{FF2B5EF4-FFF2-40B4-BE49-F238E27FC236}">
                    <a16:creationId xmlns:a16="http://schemas.microsoft.com/office/drawing/2014/main" id="{FAD34200-0B97-4184-964C-0FDF52495DDC}"/>
                  </a:ext>
                </a:extLst>
              </p:cNvPr>
              <p:cNvSpPr/>
              <p:nvPr/>
            </p:nvSpPr>
            <p:spPr>
              <a:xfrm>
                <a:off x="2718761" y="2984807"/>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184" name="순서도: 자기 디스크 183">
                <a:extLst>
                  <a:ext uri="{FF2B5EF4-FFF2-40B4-BE49-F238E27FC236}">
                    <a16:creationId xmlns:a16="http://schemas.microsoft.com/office/drawing/2014/main" id="{E38459AC-4B01-4971-9E88-700C271C886B}"/>
                  </a:ext>
                </a:extLst>
              </p:cNvPr>
              <p:cNvSpPr/>
              <p:nvPr/>
            </p:nvSpPr>
            <p:spPr>
              <a:xfrm>
                <a:off x="3875839" y="2936313"/>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313" name="순서도: 자기 디스크 312">
                <a:extLst>
                  <a:ext uri="{FF2B5EF4-FFF2-40B4-BE49-F238E27FC236}">
                    <a16:creationId xmlns:a16="http://schemas.microsoft.com/office/drawing/2014/main" id="{A3BACF6E-F315-4A84-9F85-D2C96D23491C}"/>
                  </a:ext>
                </a:extLst>
              </p:cNvPr>
              <p:cNvSpPr/>
              <p:nvPr/>
            </p:nvSpPr>
            <p:spPr>
              <a:xfrm>
                <a:off x="2633965" y="3524812"/>
                <a:ext cx="467343" cy="201802"/>
              </a:xfrm>
              <a:prstGeom prst="flowChartMagneticDisk">
                <a:avLst/>
              </a:prstGeom>
              <a:solidFill>
                <a:schemeClr val="accent1">
                  <a:lumMod val="40000"/>
                  <a:lumOff val="6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grpSp>
        <p:cxnSp>
          <p:nvCxnSpPr>
            <p:cNvPr id="178" name="직선 연결선 177">
              <a:extLst>
                <a:ext uri="{FF2B5EF4-FFF2-40B4-BE49-F238E27FC236}">
                  <a16:creationId xmlns:a16="http://schemas.microsoft.com/office/drawing/2014/main" id="{DE292585-9B7A-4D2D-B39A-2D7B736B9EA6}"/>
                </a:ext>
              </a:extLst>
            </p:cNvPr>
            <p:cNvCxnSpPr>
              <a:cxnSpLocks/>
              <a:stCxn id="187" idx="1"/>
              <a:endCxn id="185" idx="3"/>
            </p:cNvCxnSpPr>
            <p:nvPr/>
          </p:nvCxnSpPr>
          <p:spPr>
            <a:xfrm flipH="1">
              <a:off x="2009001" y="4578214"/>
              <a:ext cx="81057" cy="22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96" name="Connector 300">
            <a:extLst>
              <a:ext uri="{FF2B5EF4-FFF2-40B4-BE49-F238E27FC236}">
                <a16:creationId xmlns:a16="http://schemas.microsoft.com/office/drawing/2014/main" id="{1BBA2554-4BE3-4FEA-8E4B-8870CFF1F674}"/>
              </a:ext>
            </a:extLst>
          </p:cNvPr>
          <p:cNvCxnSpPr>
            <a:cxnSpLocks/>
          </p:cNvCxnSpPr>
          <p:nvPr/>
        </p:nvCxnSpPr>
        <p:spPr>
          <a:xfrm rot="16200000">
            <a:off x="3030325" y="2779032"/>
            <a:ext cx="0" cy="297731"/>
          </a:xfrm>
          <a:prstGeom prst="line">
            <a:avLst/>
          </a:prstGeom>
          <a:ln w="28575">
            <a:solidFill>
              <a:srgbClr val="C55A1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99" name="Rectangle 9049">
            <a:extLst>
              <a:ext uri="{FF2B5EF4-FFF2-40B4-BE49-F238E27FC236}">
                <a16:creationId xmlns:a16="http://schemas.microsoft.com/office/drawing/2014/main" id="{94085934-7827-42CE-BB47-1F24DB45AC6D}"/>
              </a:ext>
            </a:extLst>
          </p:cNvPr>
          <p:cNvSpPr/>
          <p:nvPr/>
        </p:nvSpPr>
        <p:spPr>
          <a:xfrm>
            <a:off x="435934" y="3683166"/>
            <a:ext cx="2990707"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r>
              <a:rPr lang="ko-KR" altLang="en-US" sz="650" b="0" dirty="0">
                <a:solidFill>
                  <a:srgbClr val="FF0000"/>
                </a:solidFill>
                <a:latin typeface="맑은 고딕"/>
                <a:ea typeface="맑은 고딕"/>
              </a:rPr>
              <a:t>경우</a:t>
            </a:r>
            <a:r>
              <a:rPr lang="en-US" altLang="ko-KR" sz="650" dirty="0">
                <a:solidFill>
                  <a:srgbClr val="FF0000"/>
                </a:solidFill>
                <a:latin typeface="맑은 고딕"/>
                <a:ea typeface="맑은 고딕"/>
              </a:rPr>
              <a:t> 2) Decode </a:t>
            </a:r>
            <a:r>
              <a:rPr lang="ko-KR" altLang="en-US" sz="650" dirty="0">
                <a:solidFill>
                  <a:srgbClr val="FF0000"/>
                </a:solidFill>
                <a:latin typeface="맑은 고딕"/>
                <a:ea typeface="맑은 고딕"/>
              </a:rPr>
              <a:t>실행 시점 결정 </a:t>
            </a:r>
            <a:r>
              <a:rPr lang="en-US" altLang="ko-KR" sz="650" dirty="0">
                <a:solidFill>
                  <a:srgbClr val="FF0000"/>
                </a:solidFill>
                <a:latin typeface="맑은 고딕"/>
                <a:ea typeface="맑은 고딕"/>
              </a:rPr>
              <a:t>(Prefill</a:t>
            </a:r>
            <a:r>
              <a:rPr lang="ko-KR" altLang="en-US" sz="650" dirty="0">
                <a:solidFill>
                  <a:srgbClr val="FF0000"/>
                </a:solidFill>
                <a:latin typeface="맑은 고딕"/>
                <a:ea typeface="맑은 고딕"/>
              </a:rPr>
              <a:t> 완료 후</a:t>
            </a:r>
            <a:r>
              <a:rPr lang="en-US" altLang="ko-KR" sz="650" dirty="0">
                <a:solidFill>
                  <a:srgbClr val="FF0000"/>
                </a:solidFill>
                <a:latin typeface="맑은 고딕"/>
                <a:ea typeface="맑은 고딕"/>
              </a:rPr>
              <a:t>)</a:t>
            </a:r>
            <a:endParaRPr sz="650" b="0" dirty="0">
              <a:solidFill>
                <a:srgbClr val="FF0000"/>
              </a:solidFill>
              <a:latin typeface="맑은 고딕"/>
              <a:ea typeface="맑은 고딕"/>
            </a:endParaRPr>
          </a:p>
        </p:txBody>
      </p:sp>
      <p:sp>
        <p:nvSpPr>
          <p:cNvPr id="240" name="Rectangle 9049">
            <a:extLst>
              <a:ext uri="{FF2B5EF4-FFF2-40B4-BE49-F238E27FC236}">
                <a16:creationId xmlns:a16="http://schemas.microsoft.com/office/drawing/2014/main" id="{EAE8C8F4-0A42-41C7-932D-74DB97C971F8}"/>
              </a:ext>
            </a:extLst>
          </p:cNvPr>
          <p:cNvSpPr/>
          <p:nvPr/>
        </p:nvSpPr>
        <p:spPr>
          <a:xfrm>
            <a:off x="435934" y="1945597"/>
            <a:ext cx="2990707" cy="182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r>
              <a:rPr lang="ko-KR" altLang="en-US" sz="650" b="0" dirty="0">
                <a:solidFill>
                  <a:srgbClr val="FF0000"/>
                </a:solidFill>
                <a:latin typeface="맑은 고딕"/>
                <a:ea typeface="맑은 고딕"/>
              </a:rPr>
              <a:t>경우</a:t>
            </a:r>
            <a:r>
              <a:rPr lang="en-US" altLang="ko-KR" sz="650" dirty="0">
                <a:solidFill>
                  <a:srgbClr val="FF0000"/>
                </a:solidFill>
                <a:latin typeface="맑은 고딕"/>
                <a:ea typeface="맑은 고딕"/>
              </a:rPr>
              <a:t> 1) Prefill </a:t>
            </a:r>
            <a:r>
              <a:rPr lang="ko-KR" altLang="en-US" sz="650" dirty="0">
                <a:solidFill>
                  <a:srgbClr val="FF0000"/>
                </a:solidFill>
                <a:latin typeface="맑은 고딕"/>
                <a:ea typeface="맑은 고딕"/>
              </a:rPr>
              <a:t>실행 시점 결정 </a:t>
            </a:r>
            <a:r>
              <a:rPr lang="en-US" altLang="ko-KR" sz="650" dirty="0">
                <a:solidFill>
                  <a:srgbClr val="FF0000"/>
                </a:solidFill>
                <a:latin typeface="맑은 고딕"/>
                <a:ea typeface="맑은 고딕"/>
              </a:rPr>
              <a:t>(Decode </a:t>
            </a:r>
            <a:r>
              <a:rPr lang="ko-KR" altLang="en-US" sz="650" dirty="0">
                <a:solidFill>
                  <a:srgbClr val="FF0000"/>
                </a:solidFill>
                <a:latin typeface="맑은 고딕"/>
                <a:ea typeface="맑은 고딕"/>
              </a:rPr>
              <a:t>완료 후</a:t>
            </a:r>
            <a:r>
              <a:rPr lang="en-US" altLang="ko-KR" sz="650" dirty="0">
                <a:solidFill>
                  <a:srgbClr val="FF0000"/>
                </a:solidFill>
                <a:latin typeface="맑은 고딕"/>
                <a:ea typeface="맑은 고딕"/>
              </a:rPr>
              <a:t>)</a:t>
            </a:r>
            <a:endParaRPr sz="650" b="0" dirty="0">
              <a:solidFill>
                <a:srgbClr val="FF0000"/>
              </a:solidFill>
              <a:latin typeface="맑은 고딕"/>
              <a:ea typeface="맑은 고딕"/>
            </a:endParaRPr>
          </a:p>
        </p:txBody>
      </p:sp>
      <p:sp>
        <p:nvSpPr>
          <p:cNvPr id="244" name="직사각형 243">
            <a:extLst>
              <a:ext uri="{FF2B5EF4-FFF2-40B4-BE49-F238E27FC236}">
                <a16:creationId xmlns:a16="http://schemas.microsoft.com/office/drawing/2014/main" id="{7F8BF892-FDE2-4EFE-A215-3E96438B936F}"/>
              </a:ext>
            </a:extLst>
          </p:cNvPr>
          <p:cNvSpPr/>
          <p:nvPr/>
        </p:nvSpPr>
        <p:spPr>
          <a:xfrm>
            <a:off x="501990" y="3894737"/>
            <a:ext cx="2344545" cy="1464115"/>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lstStyle/>
          <a:p>
            <a:pPr algn="ctr"/>
            <a:r>
              <a:rPr lang="en-US" altLang="ko-KR" sz="1200" b="1" dirty="0">
                <a:solidFill>
                  <a:schemeClr val="tx1"/>
                </a:solidFill>
              </a:rPr>
              <a:t>Prefill</a:t>
            </a:r>
            <a:r>
              <a:rPr lang="ko-KR" altLang="en-US" sz="1200" b="1" dirty="0">
                <a:solidFill>
                  <a:schemeClr val="tx1"/>
                </a:solidFill>
              </a:rPr>
              <a:t> </a:t>
            </a:r>
            <a:r>
              <a:rPr lang="en-US" altLang="ko-KR" sz="1200" b="1" dirty="0">
                <a:solidFill>
                  <a:schemeClr val="tx1"/>
                </a:solidFill>
              </a:rPr>
              <a:t>Node</a:t>
            </a:r>
            <a:endParaRPr lang="ko-KR" altLang="en-US" sz="1200" b="1" dirty="0">
              <a:solidFill>
                <a:schemeClr val="tx1"/>
              </a:solidFill>
            </a:endParaRPr>
          </a:p>
        </p:txBody>
      </p:sp>
      <p:grpSp>
        <p:nvGrpSpPr>
          <p:cNvPr id="245" name="그룹 244">
            <a:extLst>
              <a:ext uri="{FF2B5EF4-FFF2-40B4-BE49-F238E27FC236}">
                <a16:creationId xmlns:a16="http://schemas.microsoft.com/office/drawing/2014/main" id="{329038B6-26BA-485C-9079-23095B6EA325}"/>
              </a:ext>
            </a:extLst>
          </p:cNvPr>
          <p:cNvGrpSpPr/>
          <p:nvPr/>
        </p:nvGrpSpPr>
        <p:grpSpPr>
          <a:xfrm>
            <a:off x="596006" y="4209975"/>
            <a:ext cx="2100310" cy="1111003"/>
            <a:chOff x="467184" y="3565394"/>
            <a:chExt cx="2310341" cy="1425561"/>
          </a:xfrm>
        </p:grpSpPr>
        <p:grpSp>
          <p:nvGrpSpPr>
            <p:cNvPr id="246" name="그룹 245">
              <a:extLst>
                <a:ext uri="{FF2B5EF4-FFF2-40B4-BE49-F238E27FC236}">
                  <a16:creationId xmlns:a16="http://schemas.microsoft.com/office/drawing/2014/main" id="{D93581E7-17EA-4C60-8DA0-5535DAC039EF}"/>
                </a:ext>
              </a:extLst>
            </p:cNvPr>
            <p:cNvGrpSpPr/>
            <p:nvPr/>
          </p:nvGrpSpPr>
          <p:grpSpPr>
            <a:xfrm>
              <a:off x="467184" y="3565394"/>
              <a:ext cx="2310341" cy="1425561"/>
              <a:chOff x="2074073" y="2512597"/>
              <a:chExt cx="2730066" cy="1816756"/>
            </a:xfrm>
          </p:grpSpPr>
          <p:grpSp>
            <p:nvGrpSpPr>
              <p:cNvPr id="248" name="그룹 247">
                <a:extLst>
                  <a:ext uri="{FF2B5EF4-FFF2-40B4-BE49-F238E27FC236}">
                    <a16:creationId xmlns:a16="http://schemas.microsoft.com/office/drawing/2014/main" id="{CE6AC5C0-3712-42FC-ABBD-C6A4D603BFE4}"/>
                  </a:ext>
                </a:extLst>
              </p:cNvPr>
              <p:cNvGrpSpPr/>
              <p:nvPr/>
            </p:nvGrpSpPr>
            <p:grpSpPr>
              <a:xfrm>
                <a:off x="2074073" y="2512597"/>
                <a:ext cx="2730066" cy="1816756"/>
                <a:chOff x="1384719" y="2126980"/>
                <a:chExt cx="2665680" cy="2081864"/>
              </a:xfrm>
            </p:grpSpPr>
            <p:sp>
              <p:nvSpPr>
                <p:cNvPr id="255" name="직사각형 254">
                  <a:extLst>
                    <a:ext uri="{FF2B5EF4-FFF2-40B4-BE49-F238E27FC236}">
                      <a16:creationId xmlns:a16="http://schemas.microsoft.com/office/drawing/2014/main" id="{CCDCD0A9-8705-401B-92F2-70FD9881A6F0}"/>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56" name="모서리가 둥근 직사각형 191">
                  <a:extLst>
                    <a:ext uri="{FF2B5EF4-FFF2-40B4-BE49-F238E27FC236}">
                      <a16:creationId xmlns:a16="http://schemas.microsoft.com/office/drawing/2014/main" id="{99213B48-6C15-4219-A66E-A1B3100E20DC}"/>
                    </a:ext>
                  </a:extLst>
                </p:cNvPr>
                <p:cNvSpPr/>
                <p:nvPr/>
              </p:nvSpPr>
              <p:spPr>
                <a:xfrm>
                  <a:off x="2357349" y="3953185"/>
                  <a:ext cx="884764"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SSD-PIM</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57" name="모서리가 둥근 직사각형 192">
                  <a:extLst>
                    <a:ext uri="{FF2B5EF4-FFF2-40B4-BE49-F238E27FC236}">
                      <a16:creationId xmlns:a16="http://schemas.microsoft.com/office/drawing/2014/main" id="{D6554F5C-B4EF-4C40-8375-FF8E07C01998}"/>
                    </a:ext>
                  </a:extLst>
                </p:cNvPr>
                <p:cNvSpPr/>
                <p:nvPr/>
              </p:nvSpPr>
              <p:spPr>
                <a:xfrm>
                  <a:off x="3257197" y="3478256"/>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DRAM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258" name="직선 연결선 9">
                  <a:extLst>
                    <a:ext uri="{FF2B5EF4-FFF2-40B4-BE49-F238E27FC236}">
                      <a16:creationId xmlns:a16="http://schemas.microsoft.com/office/drawing/2014/main" id="{6CE768CD-2707-4226-82F5-738852BFB813}"/>
                    </a:ext>
                  </a:extLst>
                </p:cNvPr>
                <p:cNvCxnSpPr>
                  <a:stCxn id="262" idx="2"/>
                  <a:endCxn id="255"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9" name="직선 연결선 258">
                  <a:extLst>
                    <a:ext uri="{FF2B5EF4-FFF2-40B4-BE49-F238E27FC236}">
                      <a16:creationId xmlns:a16="http://schemas.microsoft.com/office/drawing/2014/main" id="{353101F3-D2B2-4FF5-8F03-228673C98AC6}"/>
                    </a:ext>
                  </a:extLst>
                </p:cNvPr>
                <p:cNvCxnSpPr>
                  <a:cxnSpLocks/>
                  <a:stCxn id="255" idx="2"/>
                  <a:endCxn id="256" idx="0"/>
                </p:cNvCxnSpPr>
                <p:nvPr/>
              </p:nvCxnSpPr>
              <p:spPr>
                <a:xfrm flipH="1">
                  <a:off x="2799731"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60" name="그룹 259">
                  <a:extLst>
                    <a:ext uri="{FF2B5EF4-FFF2-40B4-BE49-F238E27FC236}">
                      <a16:creationId xmlns:a16="http://schemas.microsoft.com/office/drawing/2014/main" id="{1F26C998-90F7-4B3B-A728-DE46DE18E165}"/>
                    </a:ext>
                  </a:extLst>
                </p:cNvPr>
                <p:cNvGrpSpPr/>
                <p:nvPr/>
              </p:nvGrpSpPr>
              <p:grpSpPr>
                <a:xfrm>
                  <a:off x="2323241" y="2126980"/>
                  <a:ext cx="959778" cy="1212050"/>
                  <a:chOff x="2993906" y="2126755"/>
                  <a:chExt cx="959778" cy="1212050"/>
                </a:xfrm>
              </p:grpSpPr>
              <p:sp>
                <p:nvSpPr>
                  <p:cNvPr id="262" name="직사각형 261">
                    <a:extLst>
                      <a:ext uri="{FF2B5EF4-FFF2-40B4-BE49-F238E27FC236}">
                        <a16:creationId xmlns:a16="http://schemas.microsoft.com/office/drawing/2014/main" id="{BD293675-4E95-4A7B-AC45-C3A4B090C026}"/>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GPU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63" name="모서리가 둥근 직사각형 203">
                    <a:extLst>
                      <a:ext uri="{FF2B5EF4-FFF2-40B4-BE49-F238E27FC236}">
                        <a16:creationId xmlns:a16="http://schemas.microsoft.com/office/drawing/2014/main" id="{B6E0480B-F5DD-464A-98F0-F50C0A1F5A5F}"/>
                      </a:ext>
                    </a:extLst>
                  </p:cNvPr>
                  <p:cNvSpPr/>
                  <p:nvPr/>
                </p:nvSpPr>
                <p:spPr>
                  <a:xfrm>
                    <a:off x="2993909" y="2540806"/>
                    <a:ext cx="959775" cy="281224"/>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264" name="직선 연결선 263">
                    <a:extLst>
                      <a:ext uri="{FF2B5EF4-FFF2-40B4-BE49-F238E27FC236}">
                        <a16:creationId xmlns:a16="http://schemas.microsoft.com/office/drawing/2014/main" id="{6A5BAEA6-3AAB-4B61-9E21-E71C9E53CFA3}"/>
                      </a:ext>
                    </a:extLst>
                  </p:cNvPr>
                  <p:cNvCxnSpPr>
                    <a:stCxn id="263" idx="2"/>
                    <a:endCxn id="262"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5" name="모서리가 둥근 직사각형 241">
                    <a:extLst>
                      <a:ext uri="{FF2B5EF4-FFF2-40B4-BE49-F238E27FC236}">
                        <a16:creationId xmlns:a16="http://schemas.microsoft.com/office/drawing/2014/main" id="{90A4D314-DB24-40A4-8636-3C0C316E2682}"/>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HBF</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sp>
              <p:nvSpPr>
                <p:cNvPr id="261" name="모서리가 둥근 직사각형 240">
                  <a:extLst>
                    <a:ext uri="{FF2B5EF4-FFF2-40B4-BE49-F238E27FC236}">
                      <a16:creationId xmlns:a16="http://schemas.microsoft.com/office/drawing/2014/main" id="{43C8B279-4462-4B3F-BAE1-CDAC7C4C53EB}"/>
                    </a:ext>
                  </a:extLst>
                </p:cNvPr>
                <p:cNvSpPr/>
                <p:nvPr/>
              </p:nvSpPr>
              <p:spPr>
                <a:xfrm>
                  <a:off x="1384719" y="3481563"/>
                  <a:ext cx="985752" cy="255659"/>
                </a:xfrm>
                <a:prstGeom prst="roundRect">
                  <a:avLst/>
                </a:prstGeom>
                <a:solidFill>
                  <a:schemeClr val="accent1">
                    <a:lumMod val="40000"/>
                    <a:lumOff val="6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CXL-PNM</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cxnSp>
            <p:nvCxnSpPr>
              <p:cNvPr id="249" name="직선 연결선 248">
                <a:extLst>
                  <a:ext uri="{FF2B5EF4-FFF2-40B4-BE49-F238E27FC236}">
                    <a16:creationId xmlns:a16="http://schemas.microsoft.com/office/drawing/2014/main" id="{8B20B183-E84D-45BD-BBCA-0E7DE2AD4A61}"/>
                  </a:ext>
                </a:extLst>
              </p:cNvPr>
              <p:cNvCxnSpPr>
                <a:cxnSpLocks/>
                <a:stCxn id="261" idx="3"/>
                <a:endCxn id="255" idx="1"/>
              </p:cNvCxnSpPr>
              <p:nvPr/>
            </p:nvCxnSpPr>
            <p:spPr>
              <a:xfrm>
                <a:off x="3083635" y="3806237"/>
                <a:ext cx="7385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0" name="직선 연결선 249">
                <a:extLst>
                  <a:ext uri="{FF2B5EF4-FFF2-40B4-BE49-F238E27FC236}">
                    <a16:creationId xmlns:a16="http://schemas.microsoft.com/office/drawing/2014/main" id="{AC45FEDD-AEAD-4F0C-901B-9F1F11F473FB}"/>
                  </a:ext>
                </a:extLst>
              </p:cNvPr>
              <p:cNvCxnSpPr>
                <a:stCxn id="265" idx="2"/>
                <a:endCxn id="263" idx="0"/>
              </p:cNvCxnSpPr>
              <p:nvPr/>
            </p:nvCxnSpPr>
            <p:spPr>
              <a:xfrm>
                <a:off x="3526742" y="2715417"/>
                <a:ext cx="3" cy="1585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1" name="순서도: 자기 디스크 250">
                <a:extLst>
                  <a:ext uri="{FF2B5EF4-FFF2-40B4-BE49-F238E27FC236}">
                    <a16:creationId xmlns:a16="http://schemas.microsoft.com/office/drawing/2014/main" id="{9EBAC8B2-4F7A-4B4F-810B-6283839038CC}"/>
                  </a:ext>
                </a:extLst>
              </p:cNvPr>
              <p:cNvSpPr/>
              <p:nvPr/>
            </p:nvSpPr>
            <p:spPr>
              <a:xfrm>
                <a:off x="2688819" y="2973080"/>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252" name="순서도: 자기 디스크 251">
                <a:extLst>
                  <a:ext uri="{FF2B5EF4-FFF2-40B4-BE49-F238E27FC236}">
                    <a16:creationId xmlns:a16="http://schemas.microsoft.com/office/drawing/2014/main" id="{057532A8-89DE-4643-B756-885335E1B9D8}"/>
                  </a:ext>
                </a:extLst>
              </p:cNvPr>
              <p:cNvSpPr/>
              <p:nvPr/>
            </p:nvSpPr>
            <p:spPr>
              <a:xfrm>
                <a:off x="3786508" y="2993538"/>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253" name="순서도: 자기 디스크 252">
                <a:extLst>
                  <a:ext uri="{FF2B5EF4-FFF2-40B4-BE49-F238E27FC236}">
                    <a16:creationId xmlns:a16="http://schemas.microsoft.com/office/drawing/2014/main" id="{009115DB-36E8-44E3-892C-DEE895091FE0}"/>
                  </a:ext>
                </a:extLst>
              </p:cNvPr>
              <p:cNvSpPr/>
              <p:nvPr/>
            </p:nvSpPr>
            <p:spPr>
              <a:xfrm>
                <a:off x="3805078" y="2746134"/>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254" name="순서도: 자기 디스크 253">
                <a:extLst>
                  <a:ext uri="{FF2B5EF4-FFF2-40B4-BE49-F238E27FC236}">
                    <a16:creationId xmlns:a16="http://schemas.microsoft.com/office/drawing/2014/main" id="{D1889589-A469-447E-BA34-74B52DC60FC4}"/>
                  </a:ext>
                </a:extLst>
              </p:cNvPr>
              <p:cNvSpPr/>
              <p:nvPr/>
            </p:nvSpPr>
            <p:spPr>
              <a:xfrm>
                <a:off x="2701171" y="2746134"/>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311" name="순서도: 자기 디스크 310">
                <a:extLst>
                  <a:ext uri="{FF2B5EF4-FFF2-40B4-BE49-F238E27FC236}">
                    <a16:creationId xmlns:a16="http://schemas.microsoft.com/office/drawing/2014/main" id="{6C52625A-7AC9-48E1-B765-E9FE6DABBCD9}"/>
                  </a:ext>
                </a:extLst>
              </p:cNvPr>
              <p:cNvSpPr/>
              <p:nvPr/>
            </p:nvSpPr>
            <p:spPr>
              <a:xfrm>
                <a:off x="2646850" y="3500898"/>
                <a:ext cx="467343" cy="201802"/>
              </a:xfrm>
              <a:prstGeom prst="flowChartMagneticDisk">
                <a:avLst/>
              </a:prstGeom>
              <a:solidFill>
                <a:schemeClr val="accent1">
                  <a:lumMod val="40000"/>
                  <a:lumOff val="6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sp>
            <p:nvSpPr>
              <p:cNvPr id="312" name="순서도: 자기 디스크 311">
                <a:extLst>
                  <a:ext uri="{FF2B5EF4-FFF2-40B4-BE49-F238E27FC236}">
                    <a16:creationId xmlns:a16="http://schemas.microsoft.com/office/drawing/2014/main" id="{D47511F8-B66D-41CF-915D-62E88C73F325}"/>
                  </a:ext>
                </a:extLst>
              </p:cNvPr>
              <p:cNvSpPr/>
              <p:nvPr/>
            </p:nvSpPr>
            <p:spPr>
              <a:xfrm>
                <a:off x="2650422" y="3897717"/>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grpSp>
        <p:cxnSp>
          <p:nvCxnSpPr>
            <p:cNvPr id="247" name="직선 연결선 246">
              <a:extLst>
                <a:ext uri="{FF2B5EF4-FFF2-40B4-BE49-F238E27FC236}">
                  <a16:creationId xmlns:a16="http://schemas.microsoft.com/office/drawing/2014/main" id="{BB1686FD-B0B7-4221-AE77-F5C3A857D3DD}"/>
                </a:ext>
              </a:extLst>
            </p:cNvPr>
            <p:cNvCxnSpPr>
              <a:cxnSpLocks/>
              <a:stCxn id="257" idx="1"/>
              <a:endCxn id="255" idx="3"/>
            </p:cNvCxnSpPr>
            <p:nvPr/>
          </p:nvCxnSpPr>
          <p:spPr>
            <a:xfrm flipH="1">
              <a:off x="2009001" y="4578214"/>
              <a:ext cx="81057" cy="22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66" name="직사각형 265">
            <a:extLst>
              <a:ext uri="{FF2B5EF4-FFF2-40B4-BE49-F238E27FC236}">
                <a16:creationId xmlns:a16="http://schemas.microsoft.com/office/drawing/2014/main" id="{17FCEAF3-3943-4305-BD86-F343A55AD243}"/>
              </a:ext>
            </a:extLst>
          </p:cNvPr>
          <p:cNvSpPr/>
          <p:nvPr/>
        </p:nvSpPr>
        <p:spPr>
          <a:xfrm>
            <a:off x="3208682" y="3894737"/>
            <a:ext cx="2511713" cy="1464115"/>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lstStyle/>
          <a:p>
            <a:pPr algn="ctr"/>
            <a:r>
              <a:rPr lang="en-US" altLang="ko-KR" sz="1200" b="1" dirty="0">
                <a:solidFill>
                  <a:schemeClr val="tx1"/>
                </a:solidFill>
              </a:rPr>
              <a:t>Decode Node</a:t>
            </a:r>
            <a:endParaRPr lang="ko-KR" altLang="en-US" sz="1200" b="1" dirty="0">
              <a:solidFill>
                <a:schemeClr val="tx1"/>
              </a:solidFill>
            </a:endParaRPr>
          </a:p>
        </p:txBody>
      </p:sp>
      <p:grpSp>
        <p:nvGrpSpPr>
          <p:cNvPr id="267" name="그룹 266">
            <a:extLst>
              <a:ext uri="{FF2B5EF4-FFF2-40B4-BE49-F238E27FC236}">
                <a16:creationId xmlns:a16="http://schemas.microsoft.com/office/drawing/2014/main" id="{1BB21E45-9AF6-4A39-A85D-083FAB786C6F}"/>
              </a:ext>
            </a:extLst>
          </p:cNvPr>
          <p:cNvGrpSpPr/>
          <p:nvPr/>
        </p:nvGrpSpPr>
        <p:grpSpPr>
          <a:xfrm>
            <a:off x="3406092" y="4185305"/>
            <a:ext cx="2100310" cy="1111003"/>
            <a:chOff x="467184" y="3565394"/>
            <a:chExt cx="2310341" cy="1425561"/>
          </a:xfrm>
        </p:grpSpPr>
        <p:grpSp>
          <p:nvGrpSpPr>
            <p:cNvPr id="268" name="그룹 267">
              <a:extLst>
                <a:ext uri="{FF2B5EF4-FFF2-40B4-BE49-F238E27FC236}">
                  <a16:creationId xmlns:a16="http://schemas.microsoft.com/office/drawing/2014/main" id="{AE0299BC-8FA5-4CF3-BF6F-97A9937C4FAF}"/>
                </a:ext>
              </a:extLst>
            </p:cNvPr>
            <p:cNvGrpSpPr/>
            <p:nvPr/>
          </p:nvGrpSpPr>
          <p:grpSpPr>
            <a:xfrm>
              <a:off x="467184" y="3565394"/>
              <a:ext cx="2310341" cy="1425561"/>
              <a:chOff x="2074073" y="2512597"/>
              <a:chExt cx="2730066" cy="1816756"/>
            </a:xfrm>
          </p:grpSpPr>
          <p:grpSp>
            <p:nvGrpSpPr>
              <p:cNvPr id="270" name="그룹 269">
                <a:extLst>
                  <a:ext uri="{FF2B5EF4-FFF2-40B4-BE49-F238E27FC236}">
                    <a16:creationId xmlns:a16="http://schemas.microsoft.com/office/drawing/2014/main" id="{DB9822C9-9297-43FF-ACB4-A3B9DA26BEC4}"/>
                  </a:ext>
                </a:extLst>
              </p:cNvPr>
              <p:cNvGrpSpPr/>
              <p:nvPr/>
            </p:nvGrpSpPr>
            <p:grpSpPr>
              <a:xfrm>
                <a:off x="2074073" y="2512597"/>
                <a:ext cx="2730066" cy="1816756"/>
                <a:chOff x="1384719" y="2126980"/>
                <a:chExt cx="2665680" cy="2081864"/>
              </a:xfrm>
            </p:grpSpPr>
            <p:sp>
              <p:nvSpPr>
                <p:cNvPr id="277" name="직사각형 276">
                  <a:extLst>
                    <a:ext uri="{FF2B5EF4-FFF2-40B4-BE49-F238E27FC236}">
                      <a16:creationId xmlns:a16="http://schemas.microsoft.com/office/drawing/2014/main" id="{FDD79CDD-C9D1-4C2D-9C66-9BDD7B4A30C8}"/>
                    </a:ext>
                  </a:extLst>
                </p:cNvPr>
                <p:cNvSpPr/>
                <p:nvPr/>
              </p:nvSpPr>
              <p:spPr>
                <a:xfrm>
                  <a:off x="2442582" y="3481564"/>
                  <a:ext cx="721092" cy="255659"/>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78" name="모서리가 둥근 직사각형 191">
                  <a:extLst>
                    <a:ext uri="{FF2B5EF4-FFF2-40B4-BE49-F238E27FC236}">
                      <a16:creationId xmlns:a16="http://schemas.microsoft.com/office/drawing/2014/main" id="{FD41859D-2CCA-4D27-80A5-157631A5D7B0}"/>
                    </a:ext>
                  </a:extLst>
                </p:cNvPr>
                <p:cNvSpPr/>
                <p:nvPr/>
              </p:nvSpPr>
              <p:spPr>
                <a:xfrm>
                  <a:off x="2357349" y="3953185"/>
                  <a:ext cx="884764" cy="255659"/>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SSD-PIM</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79" name="모서리가 둥근 직사각형 192">
                  <a:extLst>
                    <a:ext uri="{FF2B5EF4-FFF2-40B4-BE49-F238E27FC236}">
                      <a16:creationId xmlns:a16="http://schemas.microsoft.com/office/drawing/2014/main" id="{D1BF30D7-AFD5-4C7C-8865-322BD86304F4}"/>
                    </a:ext>
                  </a:extLst>
                </p:cNvPr>
                <p:cNvSpPr/>
                <p:nvPr/>
              </p:nvSpPr>
              <p:spPr>
                <a:xfrm>
                  <a:off x="3257197" y="3478256"/>
                  <a:ext cx="793202" cy="255659"/>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DRAM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280" name="직선 연결선 9">
                  <a:extLst>
                    <a:ext uri="{FF2B5EF4-FFF2-40B4-BE49-F238E27FC236}">
                      <a16:creationId xmlns:a16="http://schemas.microsoft.com/office/drawing/2014/main" id="{24169249-D1F7-4804-87B2-5793E09F3946}"/>
                    </a:ext>
                  </a:extLst>
                </p:cNvPr>
                <p:cNvCxnSpPr>
                  <a:stCxn id="284" idx="2"/>
                  <a:endCxn id="277" idx="0"/>
                </p:cNvCxnSpPr>
                <p:nvPr/>
              </p:nvCxnSpPr>
              <p:spPr>
                <a:xfrm>
                  <a:off x="2803128" y="3251008"/>
                  <a:ext cx="0" cy="230556"/>
                </a:xfrm>
                <a:prstGeom prst="straightConnector1">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1" name="직선 연결선 280">
                  <a:extLst>
                    <a:ext uri="{FF2B5EF4-FFF2-40B4-BE49-F238E27FC236}">
                      <a16:creationId xmlns:a16="http://schemas.microsoft.com/office/drawing/2014/main" id="{CA05E73B-E9A4-4009-A44A-A0A137B9A532}"/>
                    </a:ext>
                  </a:extLst>
                </p:cNvPr>
                <p:cNvCxnSpPr>
                  <a:stCxn id="277" idx="2"/>
                  <a:endCxn id="278" idx="0"/>
                </p:cNvCxnSpPr>
                <p:nvPr/>
              </p:nvCxnSpPr>
              <p:spPr>
                <a:xfrm flipH="1">
                  <a:off x="2799731" y="3737223"/>
                  <a:ext cx="3397" cy="21596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82" name="그룹 281">
                  <a:extLst>
                    <a:ext uri="{FF2B5EF4-FFF2-40B4-BE49-F238E27FC236}">
                      <a16:creationId xmlns:a16="http://schemas.microsoft.com/office/drawing/2014/main" id="{63A32171-E64D-4B83-94D1-E4C14E0D2130}"/>
                    </a:ext>
                  </a:extLst>
                </p:cNvPr>
                <p:cNvGrpSpPr/>
                <p:nvPr/>
              </p:nvGrpSpPr>
              <p:grpSpPr>
                <a:xfrm>
                  <a:off x="2323241" y="2126980"/>
                  <a:ext cx="959778" cy="1212050"/>
                  <a:chOff x="2993906" y="2126755"/>
                  <a:chExt cx="959778" cy="1212050"/>
                </a:xfrm>
              </p:grpSpPr>
              <p:sp>
                <p:nvSpPr>
                  <p:cNvPr id="284" name="직사각형 283">
                    <a:extLst>
                      <a:ext uri="{FF2B5EF4-FFF2-40B4-BE49-F238E27FC236}">
                        <a16:creationId xmlns:a16="http://schemas.microsoft.com/office/drawing/2014/main" id="{5421D277-B74B-4E9F-8379-4D616EC479E7}"/>
                      </a:ext>
                    </a:extLst>
                  </p:cNvPr>
                  <p:cNvSpPr/>
                  <p:nvPr/>
                </p:nvSpPr>
                <p:spPr>
                  <a:xfrm>
                    <a:off x="3113248" y="3057580"/>
                    <a:ext cx="721092" cy="281225"/>
                  </a:xfrm>
                  <a:prstGeom prst="rect">
                    <a:avLst/>
                  </a:prstGeom>
                  <a:ln w="9525"/>
                </p:spPr>
                <p:style>
                  <a:lnRef idx="2">
                    <a:schemeClr val="dk1"/>
                  </a:lnRef>
                  <a:fillRef idx="1">
                    <a:schemeClr val="lt1"/>
                  </a:fillRef>
                  <a:effectRef idx="0">
                    <a:schemeClr val="dk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GPU</a:t>
                    </a:r>
                    <a:endParaRPr lang="ko-KR" altLang="en-US" sz="900" b="1" dirty="0">
                      <a:solidFill>
                        <a:srgbClr val="1F3864"/>
                      </a:solidFill>
                      <a:latin typeface="Malgun Gothic" pitchFamily="34" charset="0"/>
                      <a:ea typeface="Malgun Gothic" pitchFamily="34" charset="-122"/>
                      <a:cs typeface="Malgun Gothic" pitchFamily="34" charset="-120"/>
                    </a:endParaRPr>
                  </a:p>
                </p:txBody>
              </p:sp>
              <p:sp>
                <p:nvSpPr>
                  <p:cNvPr id="285" name="모서리가 둥근 직사각형 203">
                    <a:extLst>
                      <a:ext uri="{FF2B5EF4-FFF2-40B4-BE49-F238E27FC236}">
                        <a16:creationId xmlns:a16="http://schemas.microsoft.com/office/drawing/2014/main" id="{68E1686E-231B-4AE4-9D43-C6E8C03724F9}"/>
                      </a:ext>
                    </a:extLst>
                  </p:cNvPr>
                  <p:cNvSpPr/>
                  <p:nvPr/>
                </p:nvSpPr>
                <p:spPr>
                  <a:xfrm>
                    <a:off x="2993909" y="2540806"/>
                    <a:ext cx="959775" cy="281224"/>
                  </a:xfrm>
                  <a:prstGeom prst="roundRect">
                    <a:avLst/>
                  </a:prstGeom>
                  <a:solidFill>
                    <a:schemeClr val="bg2">
                      <a:lumMod val="9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HBM</a:t>
                    </a:r>
                    <a:endParaRPr lang="ko-KR" altLang="en-US" sz="900" b="1" dirty="0">
                      <a:solidFill>
                        <a:srgbClr val="1F3864"/>
                      </a:solidFill>
                      <a:latin typeface="Malgun Gothic" pitchFamily="34" charset="0"/>
                      <a:ea typeface="Malgun Gothic" pitchFamily="34" charset="-122"/>
                      <a:cs typeface="Malgun Gothic" pitchFamily="34" charset="-120"/>
                    </a:endParaRPr>
                  </a:p>
                </p:txBody>
              </p:sp>
              <p:cxnSp>
                <p:nvCxnSpPr>
                  <p:cNvPr id="286" name="직선 연결선 285">
                    <a:extLst>
                      <a:ext uri="{FF2B5EF4-FFF2-40B4-BE49-F238E27FC236}">
                        <a16:creationId xmlns:a16="http://schemas.microsoft.com/office/drawing/2014/main" id="{3F0063B0-EC8E-4C21-8C2F-8E4F17A6EADE}"/>
                      </a:ext>
                    </a:extLst>
                  </p:cNvPr>
                  <p:cNvCxnSpPr>
                    <a:stCxn id="285" idx="2"/>
                    <a:endCxn id="284" idx="0"/>
                  </p:cNvCxnSpPr>
                  <p:nvPr/>
                </p:nvCxnSpPr>
                <p:spPr>
                  <a:xfrm flipH="1">
                    <a:off x="3473795" y="2822031"/>
                    <a:ext cx="1" cy="2355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7" name="모서리가 둥근 직사각형 241">
                    <a:extLst>
                      <a:ext uri="{FF2B5EF4-FFF2-40B4-BE49-F238E27FC236}">
                        <a16:creationId xmlns:a16="http://schemas.microsoft.com/office/drawing/2014/main" id="{3440893C-0F4F-4F42-9B76-C28EC6FF2B98}"/>
                      </a:ext>
                    </a:extLst>
                  </p:cNvPr>
                  <p:cNvSpPr/>
                  <p:nvPr/>
                </p:nvSpPr>
                <p:spPr>
                  <a:xfrm>
                    <a:off x="2993906" y="2126755"/>
                    <a:ext cx="959774" cy="232416"/>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HBF</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sp>
              <p:nvSpPr>
                <p:cNvPr id="283" name="모서리가 둥근 직사각형 240">
                  <a:extLst>
                    <a:ext uri="{FF2B5EF4-FFF2-40B4-BE49-F238E27FC236}">
                      <a16:creationId xmlns:a16="http://schemas.microsoft.com/office/drawing/2014/main" id="{76D898AF-62EC-46CE-88C9-79DE98AF4D11}"/>
                    </a:ext>
                  </a:extLst>
                </p:cNvPr>
                <p:cNvSpPr/>
                <p:nvPr/>
              </p:nvSpPr>
              <p:spPr>
                <a:xfrm>
                  <a:off x="1384719" y="3481563"/>
                  <a:ext cx="985754" cy="255658"/>
                </a:xfrm>
                <a:prstGeom prst="roundRect">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a:r>
                    <a:rPr lang="en-US" altLang="ko-KR" sz="900" b="1" dirty="0">
                      <a:solidFill>
                        <a:srgbClr val="1F3864"/>
                      </a:solidFill>
                      <a:latin typeface="Malgun Gothic" pitchFamily="34" charset="0"/>
                      <a:ea typeface="Malgun Gothic" pitchFamily="34" charset="-122"/>
                      <a:cs typeface="Malgun Gothic" pitchFamily="34" charset="-120"/>
                    </a:rPr>
                    <a:t>CXL-PNM</a:t>
                  </a:r>
                  <a:endParaRPr lang="ko-KR" altLang="en-US" sz="900" b="1" dirty="0">
                    <a:solidFill>
                      <a:srgbClr val="1F3864"/>
                    </a:solidFill>
                    <a:latin typeface="Malgun Gothic" pitchFamily="34" charset="0"/>
                    <a:ea typeface="Malgun Gothic" pitchFamily="34" charset="-122"/>
                    <a:cs typeface="Malgun Gothic" pitchFamily="34" charset="-120"/>
                  </a:endParaRPr>
                </a:p>
              </p:txBody>
            </p:sp>
          </p:grpSp>
          <p:cxnSp>
            <p:nvCxnSpPr>
              <p:cNvPr id="271" name="직선 연결선 270">
                <a:extLst>
                  <a:ext uri="{FF2B5EF4-FFF2-40B4-BE49-F238E27FC236}">
                    <a16:creationId xmlns:a16="http://schemas.microsoft.com/office/drawing/2014/main" id="{2EFAD05E-1F6B-476C-AD32-88ECB7AB27B0}"/>
                  </a:ext>
                </a:extLst>
              </p:cNvPr>
              <p:cNvCxnSpPr>
                <a:cxnSpLocks/>
                <a:stCxn id="283" idx="3"/>
                <a:endCxn id="277" idx="1"/>
              </p:cNvCxnSpPr>
              <p:nvPr/>
            </p:nvCxnSpPr>
            <p:spPr>
              <a:xfrm>
                <a:off x="3083636" y="3806237"/>
                <a:ext cx="7385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2" name="직선 연결선 271">
                <a:extLst>
                  <a:ext uri="{FF2B5EF4-FFF2-40B4-BE49-F238E27FC236}">
                    <a16:creationId xmlns:a16="http://schemas.microsoft.com/office/drawing/2014/main" id="{988E6087-1861-426E-A929-17080B1CAC30}"/>
                  </a:ext>
                </a:extLst>
              </p:cNvPr>
              <p:cNvCxnSpPr>
                <a:stCxn id="287" idx="2"/>
                <a:endCxn id="285" idx="0"/>
              </p:cNvCxnSpPr>
              <p:nvPr/>
            </p:nvCxnSpPr>
            <p:spPr>
              <a:xfrm>
                <a:off x="3526742" y="2715417"/>
                <a:ext cx="3" cy="1585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5" name="순서도: 자기 디스크 274">
                <a:extLst>
                  <a:ext uri="{FF2B5EF4-FFF2-40B4-BE49-F238E27FC236}">
                    <a16:creationId xmlns:a16="http://schemas.microsoft.com/office/drawing/2014/main" id="{95C43197-F7E7-4B5B-91B3-F8035594D9D6}"/>
                  </a:ext>
                </a:extLst>
              </p:cNvPr>
              <p:cNvSpPr/>
              <p:nvPr/>
            </p:nvSpPr>
            <p:spPr>
              <a:xfrm>
                <a:off x="3875839" y="2936313"/>
                <a:ext cx="467343" cy="201802"/>
              </a:xfrm>
              <a:prstGeom prst="flowChartMagneticDisk">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ko-KR" sz="500" b="1" dirty="0"/>
                  <a:t>KV</a:t>
                </a:r>
                <a:endParaRPr lang="ko-KR" altLang="en-US" sz="500" b="1" dirty="0"/>
              </a:p>
            </p:txBody>
          </p:sp>
        </p:grpSp>
        <p:cxnSp>
          <p:nvCxnSpPr>
            <p:cNvPr id="269" name="직선 연결선 268">
              <a:extLst>
                <a:ext uri="{FF2B5EF4-FFF2-40B4-BE49-F238E27FC236}">
                  <a16:creationId xmlns:a16="http://schemas.microsoft.com/office/drawing/2014/main" id="{CE279E00-26AB-4CF1-AAF6-1BF616918117}"/>
                </a:ext>
              </a:extLst>
            </p:cNvPr>
            <p:cNvCxnSpPr>
              <a:cxnSpLocks/>
              <a:stCxn id="279" idx="1"/>
              <a:endCxn id="277" idx="3"/>
            </p:cNvCxnSpPr>
            <p:nvPr/>
          </p:nvCxnSpPr>
          <p:spPr>
            <a:xfrm flipH="1">
              <a:off x="2009001" y="4578214"/>
              <a:ext cx="81057" cy="22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288" name="Connector 300">
            <a:extLst>
              <a:ext uri="{FF2B5EF4-FFF2-40B4-BE49-F238E27FC236}">
                <a16:creationId xmlns:a16="http://schemas.microsoft.com/office/drawing/2014/main" id="{734A2057-BD33-46EE-879A-C73FC06E65F4}"/>
              </a:ext>
            </a:extLst>
          </p:cNvPr>
          <p:cNvCxnSpPr>
            <a:cxnSpLocks/>
            <a:stCxn id="244" idx="3"/>
            <a:endCxn id="266" idx="1"/>
          </p:cNvCxnSpPr>
          <p:nvPr/>
        </p:nvCxnSpPr>
        <p:spPr>
          <a:xfrm>
            <a:off x="2846535" y="4626795"/>
            <a:ext cx="362147" cy="0"/>
          </a:xfrm>
          <a:prstGeom prst="line">
            <a:avLst/>
          </a:prstGeom>
          <a:ln w="28575">
            <a:solidFill>
              <a:srgbClr val="C55A1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121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605834"/>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4201716">
                  <a:extLst>
                    <a:ext uri="{9D8B030D-6E8A-4147-A177-3AD203B41FA5}">
                      <a16:colId xmlns:a16="http://schemas.microsoft.com/office/drawing/2014/main" val="5654497"/>
                    </a:ext>
                  </a:extLst>
                </a:gridCol>
                <a:gridCol w="1234338">
                  <a:extLst>
                    <a:ext uri="{9D8B030D-6E8A-4147-A177-3AD203B41FA5}">
                      <a16:colId xmlns:a16="http://schemas.microsoft.com/office/drawing/2014/main" val="2953438935"/>
                    </a:ext>
                  </a:extLst>
                </a:gridCol>
                <a:gridCol w="4325508">
                  <a:extLst>
                    <a:ext uri="{9D8B030D-6E8A-4147-A177-3AD203B41FA5}">
                      <a16:colId xmlns:a16="http://schemas.microsoft.com/office/drawing/2014/main" val="3070054508"/>
                    </a:ext>
                  </a:extLst>
                </a:gridCol>
                <a:gridCol w="111054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dirty="0"/>
                        <a:t>(1</a:t>
                      </a:r>
                      <a:r>
                        <a:rPr lang="ko-KR" altLang="en-US" sz="1200" b="1" strike="noStrike" dirty="0"/>
                        <a:t>안</a:t>
                      </a:r>
                      <a:r>
                        <a:rPr lang="en-US" altLang="ko-KR" sz="1200" b="1" strike="noStrike" dirty="0"/>
                        <a:t>) </a:t>
                      </a:r>
                      <a:r>
                        <a:rPr lang="ko-KR" altLang="en-US" sz="1200" b="1" strike="noStrike" dirty="0"/>
                        <a:t>스케줄링 시점 결정 </a:t>
                      </a:r>
                      <a:r>
                        <a:rPr lang="en-US" altLang="ko-KR" sz="1050" b="1" strike="noStrike" dirty="0">
                          <a:solidFill>
                            <a:schemeClr val="bg1">
                              <a:lumMod val="50000"/>
                            </a:schemeClr>
                          </a:solidFill>
                        </a:rPr>
                        <a:t>(Client-Dispatcher</a:t>
                      </a:r>
                      <a:r>
                        <a:rPr lang="en-US" altLang="ko-KR" sz="1050" b="1" strike="noStrike" baseline="0" dirty="0">
                          <a:solidFill>
                            <a:schemeClr val="bg1">
                              <a:lumMod val="50000"/>
                            </a:schemeClr>
                          </a:solidFill>
                        </a:rPr>
                        <a:t> </a:t>
                      </a:r>
                      <a:r>
                        <a:rPr lang="ko-KR" altLang="en-US" sz="1050" b="1" strike="noStrike" baseline="0" dirty="0">
                          <a:solidFill>
                            <a:schemeClr val="bg1">
                              <a:lumMod val="50000"/>
                            </a:schemeClr>
                          </a:solidFill>
                        </a:rPr>
                        <a:t>구조</a:t>
                      </a:r>
                      <a:r>
                        <a:rPr lang="en-US" altLang="ko-KR" sz="1050" b="1" strike="noStrike" baseline="0" dirty="0">
                          <a:solidFill>
                            <a:schemeClr val="bg1">
                              <a:lumMod val="50000"/>
                            </a:schemeClr>
                          </a:solidFill>
                        </a:rPr>
                        <a:t>)</a:t>
                      </a:r>
                      <a:r>
                        <a:rPr lang="ko-KR" altLang="en-US" sz="1050" b="1" strike="noStrike" dirty="0">
                          <a:solidFill>
                            <a:schemeClr val="bg1">
                              <a:lumMod val="50000"/>
                            </a:schemeClr>
                          </a:solidFill>
                        </a:rPr>
                        <a:t>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a:t>
                      </a:r>
                      <a:r>
                        <a:rPr lang="en-US" altLang="ko-KR" sz="1200" b="1" strike="noStrike" baseline="0" dirty="0"/>
                        <a:t> </a:t>
                      </a:r>
                      <a:r>
                        <a:rPr lang="ko-KR" altLang="en-US" sz="1200" b="1" strike="noStrike" baseline="0" dirty="0"/>
                        <a:t>사전 계획 결정 </a:t>
                      </a:r>
                      <a:r>
                        <a:rPr lang="en-US" altLang="ko-KR" sz="1050" b="1" kern="1200" baseline="0" dirty="0">
                          <a:solidFill>
                            <a:schemeClr val="bg1">
                              <a:lumMod val="50000"/>
                            </a:schemeClr>
                          </a:solidFill>
                          <a:latin typeface="+mn-lt"/>
                          <a:ea typeface="+mn-ea"/>
                          <a:cs typeface="+mn-cs"/>
                        </a:rPr>
                        <a:t>(Shared Repository + Dispatcher </a:t>
                      </a:r>
                      <a:r>
                        <a:rPr lang="ko-KR" altLang="en-US" sz="1050" b="1" kern="1200" baseline="0" dirty="0">
                          <a:solidFill>
                            <a:schemeClr val="bg1">
                              <a:lumMod val="50000"/>
                            </a:schemeClr>
                          </a:solidFill>
                          <a:latin typeface="+mn-lt"/>
                          <a:ea typeface="+mn-ea"/>
                          <a:cs typeface="+mn-cs"/>
                        </a:rPr>
                        <a:t>구조</a:t>
                      </a:r>
                      <a:r>
                        <a:rPr lang="en-US" altLang="ko-KR" sz="1050" b="1" kern="1200" baseline="0" dirty="0">
                          <a:solidFill>
                            <a:schemeClr val="bg1">
                              <a:lumMod val="50000"/>
                            </a:schemeClr>
                          </a:solidFill>
                          <a:latin typeface="+mn-lt"/>
                          <a:ea typeface="+mn-ea"/>
                          <a:cs typeface="+mn-cs"/>
                        </a:rPr>
                        <a:t>)</a:t>
                      </a:r>
                      <a:endParaRPr lang="ko-KR" altLang="en-US" sz="1050" b="1" kern="1200" baseline="0" dirty="0">
                        <a:solidFill>
                          <a:schemeClr val="bg1">
                            <a:lumMod val="50000"/>
                          </a:schemeClr>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272395">
                <a:tc>
                  <a:txBody>
                    <a:bodyPr/>
                    <a:lstStyle/>
                    <a:p>
                      <a:pPr algn="ctr" latinLnBrk="1"/>
                      <a:r>
                        <a:rPr lang="ko-KR" altLang="en-US" sz="1200" dirty="0">
                          <a:solidFill>
                            <a:schemeClr val="tx1">
                              <a:lumMod val="50000"/>
                              <a:lumOff val="50000"/>
                            </a:schemeClr>
                          </a:solidFill>
                        </a:rPr>
                        <a:t>구조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최신 </a:t>
                      </a:r>
                      <a:r>
                        <a:rPr lang="en-US" altLang="ko-KR" sz="1200" strike="noStrike" kern="1200" baseline="0" dirty="0">
                          <a:solidFill>
                            <a:schemeClr val="tx1"/>
                          </a:solidFill>
                          <a:effectLst/>
                          <a:latin typeface="+mn-lt"/>
                          <a:ea typeface="+mn-ea"/>
                          <a:cs typeface="+mn-cs"/>
                        </a:rPr>
                        <a:t>Resource </a:t>
                      </a:r>
                      <a:r>
                        <a:rPr lang="ko-KR" altLang="en-US" sz="1200" strike="noStrike" kern="1200" baseline="0" dirty="0">
                          <a:solidFill>
                            <a:schemeClr val="tx1"/>
                          </a:solidFill>
                          <a:effectLst/>
                          <a:latin typeface="+mn-lt"/>
                          <a:ea typeface="+mn-ea"/>
                          <a:cs typeface="+mn-cs"/>
                        </a:rPr>
                        <a:t>상태와 실제 </a:t>
                      </a:r>
                      <a:r>
                        <a:rPr lang="en-US" altLang="ko-KR" sz="1200" strike="noStrike" kern="1200" baseline="0" dirty="0">
                          <a:solidFill>
                            <a:schemeClr val="tx1"/>
                          </a:solidFill>
                          <a:effectLst/>
                          <a:latin typeface="+mn-lt"/>
                          <a:ea typeface="+mn-ea"/>
                          <a:cs typeface="+mn-cs"/>
                        </a:rPr>
                        <a:t>batch </a:t>
                      </a:r>
                      <a:r>
                        <a:rPr lang="ko-KR" altLang="en-US" sz="1200" strike="noStrike" kern="1200" baseline="0" dirty="0">
                          <a:solidFill>
                            <a:schemeClr val="tx1"/>
                          </a:solidFill>
                          <a:effectLst/>
                          <a:latin typeface="+mn-lt"/>
                          <a:ea typeface="+mn-ea"/>
                          <a:cs typeface="+mn-cs"/>
                        </a:rPr>
                        <a:t>반영</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en-US" altLang="ko-KR" sz="1200" strike="noStrike" kern="1200" baseline="0" dirty="0">
                          <a:solidFill>
                            <a:schemeClr val="tx1"/>
                          </a:solidFill>
                          <a:effectLst/>
                          <a:latin typeface="+mn-lt"/>
                          <a:ea typeface="+mn-ea"/>
                          <a:cs typeface="+mn-cs"/>
                        </a:rPr>
                        <a:t>Queue </a:t>
                      </a:r>
                      <a:r>
                        <a:rPr lang="ko-KR" altLang="en-US" sz="1200" strike="noStrike" kern="1200" baseline="0" dirty="0">
                          <a:solidFill>
                            <a:schemeClr val="tx1"/>
                          </a:solidFill>
                          <a:effectLst/>
                          <a:latin typeface="+mn-lt"/>
                          <a:ea typeface="+mn-ea"/>
                          <a:cs typeface="+mn-cs"/>
                        </a:rPr>
                        <a:t>시간</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데이터 이동 시간 </a:t>
                      </a:r>
                      <a:r>
                        <a:rPr lang="en-US" altLang="ko-KR" sz="1200" strike="noStrike" kern="1200" baseline="0" dirty="0">
                          <a:solidFill>
                            <a:schemeClr val="tx1"/>
                          </a:solidFill>
                          <a:effectLst/>
                          <a:latin typeface="+mn-lt"/>
                          <a:ea typeface="+mn-ea"/>
                          <a:cs typeface="+mn-cs"/>
                        </a:rPr>
                        <a:t>(TTFT </a:t>
                      </a:r>
                      <a:r>
                        <a:rPr lang="ko-KR" altLang="en-US" sz="1200" strike="noStrike" kern="1200" baseline="0" dirty="0">
                          <a:solidFill>
                            <a:schemeClr val="tx1"/>
                          </a:solidFill>
                          <a:effectLst/>
                          <a:latin typeface="+mn-lt"/>
                          <a:ea typeface="+mn-ea"/>
                          <a:cs typeface="+mn-cs"/>
                        </a:rPr>
                        <a:t>포함</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절감 가능</a:t>
                      </a:r>
                      <a:endParaRPr lang="en-US" altLang="ko-KR" sz="1200" strike="noStrike" kern="1200" baseline="0" dirty="0">
                        <a:solidFill>
                          <a:schemeClr val="tx1"/>
                        </a:solidFill>
                        <a:effectLst/>
                        <a:latin typeface="+mn-lt"/>
                        <a:ea typeface="+mn-ea"/>
                        <a:cs typeface="+mn-cs"/>
                      </a:endParaRPr>
                    </a:p>
                    <a:p>
                      <a:pPr marL="228600" indent="-228600" algn="l" defTabSz="914400" rtl="0" eaLnBrk="1" latinLnBrk="1" hangingPunct="1">
                        <a:lnSpc>
                          <a:spcPct val="100000"/>
                        </a:lnSpc>
                        <a:spcAft>
                          <a:spcPts val="0"/>
                        </a:spcAft>
                        <a:buFont typeface="Wingdings" panose="05000000000000000000" pitchFamily="2" charset="2"/>
                        <a:buChar char="§"/>
                      </a:pPr>
                      <a:r>
                        <a:rPr lang="en-US" altLang="ko-KR" sz="1200" strike="noStrike" kern="1200" baseline="0" dirty="0">
                          <a:solidFill>
                            <a:schemeClr val="tx1"/>
                          </a:solidFill>
                          <a:effectLst/>
                          <a:latin typeface="+mn-lt"/>
                          <a:ea typeface="+mn-ea"/>
                          <a:cs typeface="+mn-cs"/>
                        </a:rPr>
                        <a:t>Latest load</a:t>
                      </a:r>
                      <a:r>
                        <a:rPr lang="ko-KR" altLang="en-US" sz="1200" strike="noStrike" kern="1200" baseline="0" dirty="0">
                          <a:solidFill>
                            <a:schemeClr val="tx1"/>
                          </a:solidFill>
                          <a:effectLst/>
                          <a:latin typeface="+mn-lt"/>
                          <a:ea typeface="+mn-ea"/>
                          <a:cs typeface="+mn-cs"/>
                        </a:rPr>
                        <a:t>를 반영하여 </a:t>
                      </a:r>
                      <a:r>
                        <a:rPr lang="en-US" altLang="ko-KR" sz="1200" strike="noStrike" kern="1200" baseline="0" dirty="0">
                          <a:solidFill>
                            <a:schemeClr val="tx1"/>
                          </a:solidFill>
                          <a:effectLst/>
                          <a:latin typeface="+mn-lt"/>
                          <a:ea typeface="+mn-ea"/>
                          <a:cs typeface="+mn-cs"/>
                        </a:rPr>
                        <a:t>Resource utilization </a:t>
                      </a:r>
                      <a:r>
                        <a:rPr lang="ko-KR" altLang="en-US" sz="1200" strike="noStrike" kern="1200" baseline="0" dirty="0">
                          <a:solidFill>
                            <a:schemeClr val="tx1"/>
                          </a:solidFill>
                          <a:effectLst/>
                          <a:latin typeface="+mn-lt"/>
                          <a:ea typeface="+mn-ea"/>
                          <a:cs typeface="+mn-cs"/>
                        </a:rPr>
                        <a:t>유리</a:t>
                      </a:r>
                      <a:endParaRPr lang="en-US" altLang="ko-KR" sz="1200" strike="noStrike" kern="1200" baseline="0" dirty="0">
                        <a:solidFill>
                          <a:schemeClr val="tx1"/>
                        </a:solidFill>
                        <a:effectLst/>
                        <a:latin typeface="+mn-lt"/>
                        <a:ea typeface="+mn-ea"/>
                        <a:cs typeface="+mn-cs"/>
                      </a:endParaRP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Prefill/Decode </a:t>
                      </a:r>
                      <a:r>
                        <a:rPr lang="ko-KR" altLang="en-US" sz="1200" strike="noStrike" dirty="0">
                          <a:solidFill>
                            <a:schemeClr val="tx1"/>
                          </a:solidFill>
                          <a:effectLst/>
                        </a:rPr>
                        <a:t>실행 위치 계산을 </a:t>
                      </a:r>
                      <a:r>
                        <a:rPr lang="en-US" altLang="ko-KR" sz="1200" strike="noStrike" dirty="0">
                          <a:solidFill>
                            <a:schemeClr val="tx1"/>
                          </a:solidFill>
                          <a:effectLst/>
                        </a:rPr>
                        <a:t>critical path </a:t>
                      </a:r>
                      <a:r>
                        <a:rPr lang="ko-KR" altLang="en-US" sz="1200" strike="noStrike" dirty="0">
                          <a:solidFill>
                            <a:schemeClr val="tx1"/>
                          </a:solidFill>
                          <a:effectLst/>
                        </a:rPr>
                        <a:t>밖으로 분리</a:t>
                      </a:r>
                      <a:endParaRPr lang="en-US" altLang="ko-KR" sz="1200" strike="noStrike"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dirty="0">
                          <a:solidFill>
                            <a:schemeClr val="tx1"/>
                          </a:solidFill>
                          <a:effectLst/>
                        </a:rPr>
                        <a:t>Prefill</a:t>
                      </a:r>
                      <a:r>
                        <a:rPr lang="en-US" altLang="ko-KR" sz="1200" strike="noStrike" baseline="0" dirty="0">
                          <a:solidFill>
                            <a:schemeClr val="tx1"/>
                          </a:solidFill>
                          <a:effectLst/>
                        </a:rPr>
                        <a:t> </a:t>
                      </a:r>
                      <a:r>
                        <a:rPr lang="ko-KR" altLang="en-US" sz="1200" strike="noStrike" baseline="0" dirty="0">
                          <a:solidFill>
                            <a:schemeClr val="tx1"/>
                          </a:solidFill>
                          <a:effectLst/>
                        </a:rPr>
                        <a:t>연산 가능 자원 증가 및 </a:t>
                      </a:r>
                      <a:r>
                        <a:rPr lang="en-US" altLang="ko-KR" sz="1200" strike="noStrike" baseline="0" dirty="0">
                          <a:solidFill>
                            <a:schemeClr val="tx1"/>
                          </a:solidFill>
                          <a:effectLst/>
                        </a:rPr>
                        <a:t>Cost </a:t>
                      </a:r>
                      <a:r>
                        <a:rPr lang="ko-KR" altLang="en-US" sz="1200" strike="noStrike" baseline="0" dirty="0">
                          <a:solidFill>
                            <a:schemeClr val="tx1"/>
                          </a:solidFill>
                          <a:effectLst/>
                        </a:rPr>
                        <a:t>계산 복잡도 증가 시 유리</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dirty="0">
                          <a:solidFill>
                            <a:schemeClr val="tx1">
                              <a:lumMod val="50000"/>
                              <a:lumOff val="50000"/>
                            </a:schemeClr>
                          </a:solidFill>
                        </a:rPr>
                        <a:t>단점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Scheduler critical path</a:t>
                      </a:r>
                      <a:r>
                        <a:rPr lang="ko-KR" altLang="en-US" sz="1200" strike="noStrike" baseline="0" dirty="0">
                          <a:solidFill>
                            <a:schemeClr val="tx1"/>
                          </a:solidFill>
                          <a:effectLst/>
                        </a:rPr>
                        <a:t>에 </a:t>
                      </a:r>
                      <a:r>
                        <a:rPr lang="en-US" altLang="ko-KR" sz="1200" strike="noStrike" baseline="0" dirty="0">
                          <a:solidFill>
                            <a:schemeClr val="tx1"/>
                          </a:solidFill>
                          <a:effectLst/>
                        </a:rPr>
                        <a:t>Cost </a:t>
                      </a:r>
                      <a:r>
                        <a:rPr lang="ko-KR" altLang="en-US" sz="1200" strike="noStrike" baseline="0" dirty="0">
                          <a:solidFill>
                            <a:schemeClr val="tx1"/>
                          </a:solidFill>
                          <a:effectLst/>
                        </a:rPr>
                        <a:t>계산 포함</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Prefill </a:t>
                      </a:r>
                      <a:r>
                        <a:rPr lang="ko-KR" altLang="en-US" sz="1200" strike="noStrike" baseline="0" dirty="0">
                          <a:solidFill>
                            <a:schemeClr val="tx1"/>
                          </a:solidFill>
                          <a:effectLst/>
                        </a:rPr>
                        <a:t>연산 가능 자원 증가 및 </a:t>
                      </a:r>
                      <a:r>
                        <a:rPr lang="en-US" altLang="ko-KR" sz="1200" strike="noStrike" baseline="0" dirty="0">
                          <a:solidFill>
                            <a:schemeClr val="tx1"/>
                          </a:solidFill>
                          <a:effectLst/>
                        </a:rPr>
                        <a:t>Cost </a:t>
                      </a:r>
                      <a:r>
                        <a:rPr lang="ko-KR" altLang="en-US" sz="1200" strike="noStrike" baseline="0" dirty="0">
                          <a:solidFill>
                            <a:schemeClr val="tx1"/>
                          </a:solidFill>
                          <a:effectLst/>
                        </a:rPr>
                        <a:t>계산 복잡도 증가 시 처리량 저하</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계획 시점과 실행 시점 상태 차이로</a:t>
                      </a:r>
                      <a:r>
                        <a:rPr lang="en-US" altLang="ko-KR" sz="1200" strike="noStrike" baseline="0" dirty="0">
                          <a:solidFill>
                            <a:schemeClr val="tx1"/>
                          </a:solidFill>
                          <a:effectLst/>
                        </a:rPr>
                        <a:t> validation/re-planning overhead </a:t>
                      </a:r>
                      <a:r>
                        <a:rPr lang="ko-KR" altLang="en-US" sz="1200" strike="noStrike" baseline="0" dirty="0">
                          <a:solidFill>
                            <a:schemeClr val="tx1"/>
                          </a:solidFill>
                          <a:effectLst/>
                        </a:rPr>
                        <a:t>및 </a:t>
                      </a:r>
                      <a:r>
                        <a:rPr lang="en-US" altLang="ko-KR" sz="1200" strike="noStrike" baseline="0" dirty="0" err="1">
                          <a:solidFill>
                            <a:schemeClr val="tx1"/>
                          </a:solidFill>
                          <a:effectLst/>
                        </a:rPr>
                        <a:t>mis</a:t>
                      </a:r>
                      <a:r>
                        <a:rPr lang="en-US" altLang="ko-KR" sz="1200" strike="noStrike" baseline="0" dirty="0">
                          <a:solidFill>
                            <a:schemeClr val="tx1"/>
                          </a:solidFill>
                          <a:effectLst/>
                        </a:rPr>
                        <a:t>-selection (Decode 노드 용량·부하 변화 포함) </a:t>
                      </a:r>
                      <a:r>
                        <a:rPr lang="ko-KR" altLang="en-US" sz="1200" strike="noStrike" baseline="0" dirty="0">
                          <a:solidFill>
                            <a:schemeClr val="tx1"/>
                          </a:solidFill>
                          <a:effectLst/>
                        </a:rPr>
                        <a:t>가능</a:t>
                      </a:r>
                      <a:endParaRPr lang="en-US" altLang="ko-KR" sz="1200" strike="noStrike" baseline="0" dirty="0">
                        <a:solidFill>
                          <a:schemeClr val="tx1"/>
                        </a:solidFill>
                        <a:effectLst/>
                      </a:endParaRP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데이터 이동 시간</a:t>
                      </a:r>
                      <a:r>
                        <a:rPr lang="en-US" altLang="ko-KR" sz="1200" strike="noStrike" baseline="0" dirty="0">
                          <a:solidFill>
                            <a:schemeClr val="tx1"/>
                          </a:solidFill>
                          <a:effectLst/>
                        </a:rPr>
                        <a:t> </a:t>
                      </a:r>
                      <a:r>
                        <a:rPr lang="ko-KR" altLang="en-US" sz="1200" strike="noStrike" baseline="0" dirty="0">
                          <a:solidFill>
                            <a:schemeClr val="tx1"/>
                          </a:solidFill>
                          <a:effectLst/>
                        </a:rPr>
                        <a:t>증가 가능</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630306">
                <a:tc>
                  <a:txBody>
                    <a:bodyPr/>
                    <a:lstStyle/>
                    <a:p>
                      <a:pPr algn="ctr" latinLnBrk="1"/>
                      <a:r>
                        <a:rPr lang="en-US" altLang="ko-KR" sz="1200" dirty="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Performance </a:t>
                      </a:r>
                      <a:r>
                        <a:rPr kumimoji="0" lang="ko-KR" altLang="en-US" sz="1200" b="0" i="0" u="none" strike="noStrike" kern="1200" cap="none" spc="0" normalizeH="0" baseline="0" noProof="0" dirty="0">
                          <a:ln>
                            <a:noFill/>
                          </a:ln>
                          <a:solidFill>
                            <a:prstClr val="black"/>
                          </a:solidFill>
                          <a:effectLst/>
                          <a:uLnTx/>
                          <a:uFillTx/>
                          <a:latin typeface="+mn-lt"/>
                          <a:ea typeface="+mn-ea"/>
                          <a:cs typeface="+mn-cs"/>
                        </a:rPr>
                        <a:t>처리량</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(tokens/second)</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Performance </a:t>
                      </a:r>
                      <a:r>
                        <a:rPr kumimoji="0" lang="ko-KR" altLang="en-US" sz="1200" b="0" i="0" u="none" strike="noStrike" kern="1200" cap="none" spc="0" normalizeH="0" baseline="0" noProof="0" dirty="0">
                          <a:ln>
                            <a:noFill/>
                          </a:ln>
                          <a:solidFill>
                            <a:prstClr val="black"/>
                          </a:solidFill>
                          <a:effectLst/>
                          <a:uLnTx/>
                          <a:uFillTx/>
                          <a:latin typeface="+mn-lt"/>
                          <a:ea typeface="+mn-ea"/>
                          <a:cs typeface="+mn-cs"/>
                        </a:rPr>
                        <a:t>시간</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r>
                        <a:rPr kumimoji="0" lang="en-US" altLang="ko-KR" sz="1000" b="0" i="0" u="none" strike="noStrike" kern="1200" cap="none" spc="0" normalizeH="0" baseline="0" noProof="0" dirty="0" err="1">
                          <a:ln>
                            <a:noFill/>
                          </a:ln>
                          <a:solidFill>
                            <a:prstClr val="black"/>
                          </a:solidFill>
                          <a:effectLst/>
                          <a:uLnTx/>
                          <a:uFillTx/>
                          <a:latin typeface="+mn-lt"/>
                          <a:ea typeface="+mn-ea"/>
                          <a:cs typeface="+mn-cs"/>
                        </a:rPr>
                        <a:t>ms</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-TTFT,TPOT)</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Modifiability</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r>
                        <a:rPr kumimoji="0" lang="ko-KR" altLang="en-US" sz="1000" b="0" i="0" u="none" strike="noStrike" kern="1200" cap="none" spc="0" normalizeH="0" baseline="0" noProof="0" dirty="0">
                          <a:ln>
                            <a:noFill/>
                          </a:ln>
                          <a:solidFill>
                            <a:prstClr val="black"/>
                          </a:solidFill>
                          <a:effectLst/>
                          <a:uLnTx/>
                          <a:uFillTx/>
                          <a:latin typeface="+mn-lt"/>
                          <a:ea typeface="+mn-ea"/>
                          <a:cs typeface="+mn-cs"/>
                        </a:rPr>
                        <a:t>토큰 비용</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 M/M, </a:t>
                      </a:r>
                      <a:r>
                        <a:rPr kumimoji="0" lang="ko-KR" altLang="en-US" sz="1000" b="0" i="0" u="none" strike="noStrike" kern="1200" cap="none" spc="0" normalizeH="0" baseline="0" noProof="0" dirty="0">
                          <a:ln>
                            <a:noFill/>
                          </a:ln>
                          <a:solidFill>
                            <a:prstClr val="black"/>
                          </a:solidFill>
                          <a:effectLst/>
                          <a:uLnTx/>
                          <a:uFillTx/>
                          <a:latin typeface="+mn-lt"/>
                          <a:ea typeface="+mn-ea"/>
                          <a:cs typeface="+mn-cs"/>
                        </a:rPr>
                        <a:t>모듈 수</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Scalability</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(Scaling Efficiency)</a:t>
                      </a:r>
                      <a:endParaRPr lang="en-US" altLang="ko-KR" sz="1200" b="0" strike="noStrike"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Performance </a:t>
                      </a:r>
                      <a:r>
                        <a:rPr kumimoji="0" lang="ko-KR" altLang="en-US" sz="1200" b="0" i="0" u="none" strike="noStrike" kern="1200" cap="none" spc="0" normalizeH="0" baseline="0" noProof="0" dirty="0">
                          <a:ln>
                            <a:noFill/>
                          </a:ln>
                          <a:solidFill>
                            <a:prstClr val="black"/>
                          </a:solidFill>
                          <a:effectLst/>
                          <a:uLnTx/>
                          <a:uFillTx/>
                          <a:latin typeface="+mn-lt"/>
                          <a:ea typeface="+mn-ea"/>
                          <a:cs typeface="+mn-cs"/>
                        </a:rPr>
                        <a:t>처리량</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(tokens/second)</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Performance </a:t>
                      </a:r>
                      <a:r>
                        <a:rPr kumimoji="0" lang="ko-KR" altLang="en-US" sz="1200" b="0" i="0" u="none" strike="noStrike" kern="1200" cap="none" spc="0" normalizeH="0" baseline="0" noProof="0" dirty="0">
                          <a:ln>
                            <a:noFill/>
                          </a:ln>
                          <a:solidFill>
                            <a:prstClr val="black"/>
                          </a:solidFill>
                          <a:effectLst/>
                          <a:uLnTx/>
                          <a:uFillTx/>
                          <a:latin typeface="+mn-lt"/>
                          <a:ea typeface="+mn-ea"/>
                          <a:cs typeface="+mn-cs"/>
                        </a:rPr>
                        <a:t>시간</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r>
                        <a:rPr kumimoji="0" lang="en-US" altLang="ko-KR" sz="1000" b="0" i="0" u="none" strike="noStrike" kern="1200" cap="none" spc="0" normalizeH="0" baseline="0" noProof="0" dirty="0" err="1">
                          <a:ln>
                            <a:noFill/>
                          </a:ln>
                          <a:solidFill>
                            <a:prstClr val="black"/>
                          </a:solidFill>
                          <a:effectLst/>
                          <a:uLnTx/>
                          <a:uFillTx/>
                          <a:latin typeface="+mn-lt"/>
                          <a:ea typeface="+mn-ea"/>
                          <a:cs typeface="+mn-cs"/>
                        </a:rPr>
                        <a:t>ms</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-TTFT,TPOT)</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Modifiability</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r>
                        <a:rPr kumimoji="0" lang="ko-KR" altLang="en-US" sz="1000" b="0" i="0" u="none" strike="noStrike" kern="1200" cap="none" spc="0" normalizeH="0" baseline="0" noProof="0" dirty="0">
                          <a:ln>
                            <a:noFill/>
                          </a:ln>
                          <a:solidFill>
                            <a:prstClr val="black"/>
                          </a:solidFill>
                          <a:effectLst/>
                          <a:uLnTx/>
                          <a:uFillTx/>
                          <a:latin typeface="+mn-lt"/>
                          <a:ea typeface="+mn-ea"/>
                          <a:cs typeface="+mn-cs"/>
                        </a:rPr>
                        <a:t>토큰 비용</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 M/M, </a:t>
                      </a:r>
                      <a:r>
                        <a:rPr kumimoji="0" lang="ko-KR" altLang="en-US" sz="1000" b="0" i="0" u="none" strike="noStrike" kern="1200" cap="none" spc="0" normalizeH="0" baseline="0" noProof="0" dirty="0">
                          <a:ln>
                            <a:noFill/>
                          </a:ln>
                          <a:solidFill>
                            <a:prstClr val="black"/>
                          </a:solidFill>
                          <a:effectLst/>
                          <a:uLnTx/>
                          <a:uFillTx/>
                          <a:latin typeface="+mn-lt"/>
                          <a:ea typeface="+mn-ea"/>
                          <a:cs typeface="+mn-cs"/>
                        </a:rPr>
                        <a:t>모듈 수</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a:t>
                      </a: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200" b="0" i="0" u="none" strike="noStrike" kern="1200" cap="none" spc="0" normalizeH="0" baseline="0" noProof="0" dirty="0">
                          <a:ln>
                            <a:noFill/>
                          </a:ln>
                          <a:solidFill>
                            <a:prstClr val="black"/>
                          </a:solidFill>
                          <a:effectLst/>
                          <a:uLnTx/>
                          <a:uFillTx/>
                          <a:latin typeface="+mn-lt"/>
                          <a:ea typeface="+mn-ea"/>
                          <a:cs typeface="+mn-cs"/>
                        </a:rPr>
                        <a:t>Scalability</a:t>
                      </a:r>
                      <a:r>
                        <a:rPr kumimoji="0" lang="en-US" altLang="ko-KR" sz="1000" b="0" i="0" u="none" strike="noStrike" kern="1200" cap="none" spc="0" normalizeH="0" baseline="0" noProof="0" dirty="0">
                          <a:ln>
                            <a:noFill/>
                          </a:ln>
                          <a:solidFill>
                            <a:prstClr val="black"/>
                          </a:solidFill>
                          <a:effectLst/>
                          <a:uLnTx/>
                          <a:uFillTx/>
                          <a:latin typeface="+mn-lt"/>
                          <a:ea typeface="+mn-ea"/>
                          <a:cs typeface="+mn-cs"/>
                        </a:rPr>
                        <a:t>(Scaling Efficiency)</a:t>
                      </a:r>
                      <a:endParaRPr kumimoji="0" lang="en-US" altLang="ko-KR" sz="1200" b="0" i="0" u="none" strike="noStrike" kern="1200" cap="none" spc="0" normalizeH="0" baseline="0" noProof="0" dirty="0">
                        <a:ln>
                          <a:noFill/>
                        </a:ln>
                        <a:solidFill>
                          <a:prstClr val="black"/>
                        </a:solidFill>
                        <a:effectLst/>
                        <a:uLnTx/>
                        <a:uFillTx/>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DP2. </a:t>
            </a:r>
            <a:r>
              <a:rPr lang="ko-KR" altLang="en-US" dirty="0"/>
              <a:t>이기종 메모리 환경의 </a:t>
            </a:r>
            <a:r>
              <a:rPr lang="en-US" altLang="ko-KR" dirty="0"/>
              <a:t>Prefill/Decode </a:t>
            </a:r>
            <a:r>
              <a:rPr lang="ko-KR" altLang="en-US" dirty="0"/>
              <a:t>실행 위치 결정 구조 </a:t>
            </a:r>
            <a:r>
              <a:rPr lang="en-US" altLang="ko-KR" dirty="0"/>
              <a:t>- </a:t>
            </a:r>
            <a:r>
              <a:rPr lang="ko-KR" altLang="en-US" dirty="0"/>
              <a:t>설계</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r>
              <a:rPr lang="ko-KR" altLang="en-US" sz="1400" b="1" dirty="0">
                <a:solidFill>
                  <a:schemeClr val="bg1"/>
                </a:solidFill>
              </a:rPr>
              <a:t>연산 가능 후보</a:t>
            </a:r>
            <a:r>
              <a:rPr lang="en-US" altLang="ko-KR" sz="1400" b="1" dirty="0">
                <a:solidFill>
                  <a:schemeClr val="bg1"/>
                </a:solidFill>
              </a:rPr>
              <a:t> </a:t>
            </a:r>
            <a:r>
              <a:rPr lang="ko-KR" altLang="en-US" sz="1400" b="1" dirty="0">
                <a:solidFill>
                  <a:schemeClr val="bg1"/>
                </a:solidFill>
              </a:rPr>
              <a:t>조합에 대해 Cost를 계산하고 Turn별 실행 위치를 결정하는 구조</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7</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en-US" altLang="ko-KR" sz="1100" dirty="0"/>
              <a:t>“</a:t>
            </a:r>
            <a:r>
              <a:rPr lang="ko-KR" altLang="en-US" sz="1100" dirty="0"/>
              <a:t>스케줄링하는 시점에 </a:t>
            </a:r>
            <a:r>
              <a:rPr lang="en-US" altLang="ko-KR" sz="1100" dirty="0"/>
              <a:t>Cost</a:t>
            </a:r>
            <a:r>
              <a:rPr lang="ko-KR" altLang="en-US" sz="1100" dirty="0"/>
              <a:t>를 계산하여 </a:t>
            </a:r>
            <a:r>
              <a:rPr lang="en-US" altLang="ko-KR" sz="1100" dirty="0"/>
              <a:t>Prefill/Decode </a:t>
            </a:r>
            <a:r>
              <a:rPr lang="ko-KR" altLang="en-US" sz="1100" dirty="0"/>
              <a:t>실행 위치 결정 </a:t>
            </a:r>
            <a:r>
              <a:rPr lang="en-US" altLang="ko-KR" sz="1100" dirty="0"/>
              <a:t>”</a:t>
            </a:r>
            <a:endParaRPr lang="ko-KR" altLang="en-US" sz="1100" dirty="0"/>
          </a:p>
        </p:txBody>
      </p:sp>
      <p:sp>
        <p:nvSpPr>
          <p:cNvPr id="106" name="TextBox 105"/>
          <p:cNvSpPr txBox="1"/>
          <p:nvPr/>
        </p:nvSpPr>
        <p:spPr>
          <a:xfrm>
            <a:off x="6534149" y="1383052"/>
            <a:ext cx="5448301" cy="261610"/>
          </a:xfrm>
          <a:prstGeom prst="rect">
            <a:avLst/>
          </a:prstGeom>
          <a:noFill/>
        </p:spPr>
        <p:txBody>
          <a:bodyPr wrap="square" rtlCol="0">
            <a:spAutoFit/>
          </a:bodyPr>
          <a:lstStyle/>
          <a:p>
            <a:r>
              <a:rPr lang="en-US" altLang="ko-KR" sz="1100" dirty="0"/>
              <a:t>“Request</a:t>
            </a:r>
            <a:r>
              <a:rPr lang="ko-KR" altLang="en-US" sz="1100" dirty="0"/>
              <a:t>가 </a:t>
            </a:r>
            <a:r>
              <a:rPr lang="en-US" altLang="ko-KR" sz="1100" dirty="0"/>
              <a:t>waiting </a:t>
            </a:r>
            <a:r>
              <a:rPr lang="ko-KR" altLang="en-US" sz="1100" dirty="0"/>
              <a:t>상태에 있을 때 </a:t>
            </a:r>
            <a:r>
              <a:rPr lang="en-US" altLang="ko-KR" sz="1100" dirty="0"/>
              <a:t>Cost</a:t>
            </a:r>
            <a:r>
              <a:rPr lang="ko-KR" altLang="en-US" sz="1100" dirty="0"/>
              <a:t>를 미리 계산하여 </a:t>
            </a:r>
            <a:r>
              <a:rPr lang="en-US" altLang="ko-KR" sz="1100" dirty="0"/>
              <a:t>Prefill/Decode </a:t>
            </a:r>
            <a:r>
              <a:rPr lang="ko-KR" altLang="en-US" sz="1100" dirty="0"/>
              <a:t>실행 위치 결정</a:t>
            </a:r>
            <a:r>
              <a:rPr lang="en-US" altLang="ko-KR" sz="1100" dirty="0"/>
              <a:t>”</a:t>
            </a:r>
            <a:endParaRPr lang="ko-KR" altLang="en-US" sz="1100" dirty="0"/>
          </a:p>
        </p:txBody>
      </p:sp>
      <p:sp>
        <p:nvSpPr>
          <p:cNvPr id="103" name="Shape 56">
            <a:extLst>
              <a:ext uri="{FF2B5EF4-FFF2-40B4-BE49-F238E27FC236}">
                <a16:creationId xmlns:a16="http://schemas.microsoft.com/office/drawing/2014/main" id="{33C7046D-072B-4A63-B8E3-E6FE269F4E83}"/>
              </a:ext>
            </a:extLst>
          </p:cNvPr>
          <p:cNvSpPr/>
          <p:nvPr/>
        </p:nvSpPr>
        <p:spPr>
          <a:xfrm>
            <a:off x="3872267" y="5221476"/>
            <a:ext cx="0" cy="0"/>
          </a:xfrm>
          <a:prstGeom prst="line">
            <a:avLst/>
          </a:prstGeom>
          <a:noFill/>
          <a:ln w="16510">
            <a:solidFill>
              <a:srgbClr val="4D7EA8"/>
            </a:solidFill>
            <a:prstDash val="solid"/>
            <a:headEnd type="none"/>
            <a:tailEnd type="none"/>
          </a:ln>
        </p:spPr>
      </p:sp>
      <p:sp>
        <p:nvSpPr>
          <p:cNvPr id="120" name="Shape 31">
            <a:extLst>
              <a:ext uri="{FF2B5EF4-FFF2-40B4-BE49-F238E27FC236}">
                <a16:creationId xmlns:a16="http://schemas.microsoft.com/office/drawing/2014/main" id="{823D7D32-6771-4AA4-9581-77C6BEA03C53}"/>
              </a:ext>
            </a:extLst>
          </p:cNvPr>
          <p:cNvSpPr/>
          <p:nvPr/>
        </p:nvSpPr>
        <p:spPr>
          <a:xfrm>
            <a:off x="2900937" y="3573025"/>
            <a:ext cx="1508969" cy="292295"/>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Execution Router</a:t>
            </a:r>
          </a:p>
          <a:p>
            <a:pPr algn="ctr" latinLnBrk="0">
              <a:defRPr/>
            </a:pPr>
            <a:r>
              <a:rPr lang="en-US" altLang="ko-KR" sz="1000" dirty="0">
                <a:solidFill>
                  <a:srgbClr val="1A1A1A"/>
                </a:solidFill>
                <a:latin typeface="Malgun Gothic" pitchFamily="34" charset="0"/>
                <a:ea typeface="Malgun Gothic" pitchFamily="34" charset="-122"/>
              </a:rPr>
              <a:t>(Dispatcher)</a:t>
            </a:r>
            <a:endParaRPr lang="ko-KR" altLang="en-US" sz="1000" dirty="0">
              <a:solidFill>
                <a:srgbClr val="1A1A1A"/>
              </a:solidFill>
              <a:latin typeface="Malgun Gothic" pitchFamily="34" charset="0"/>
              <a:ea typeface="Malgun Gothic" pitchFamily="34" charset="-122"/>
            </a:endParaRPr>
          </a:p>
        </p:txBody>
      </p:sp>
      <p:cxnSp>
        <p:nvCxnSpPr>
          <p:cNvPr id="197" name="직선 화살표 연결선 185">
            <a:extLst>
              <a:ext uri="{FF2B5EF4-FFF2-40B4-BE49-F238E27FC236}">
                <a16:creationId xmlns:a16="http://schemas.microsoft.com/office/drawing/2014/main" id="{D76D373A-AD73-4958-8644-743AF962871F}"/>
              </a:ext>
            </a:extLst>
          </p:cNvPr>
          <p:cNvCxnSpPr>
            <a:cxnSpLocks/>
            <a:stCxn id="111" idx="2"/>
            <a:endCxn id="120" idx="0"/>
          </p:cNvCxnSpPr>
          <p:nvPr/>
        </p:nvCxnSpPr>
        <p:spPr>
          <a:xfrm>
            <a:off x="3652106" y="3342004"/>
            <a:ext cx="3316" cy="231021"/>
          </a:xfrm>
          <a:prstGeom prst="straightConnector1">
            <a:avLst/>
          </a:prstGeom>
          <a:noFill/>
          <a:ln w="11430">
            <a:solidFill>
              <a:srgbClr val="888C91"/>
            </a:solidFill>
            <a:prstDash val="solid"/>
            <a:headEnd type="none"/>
            <a:tailEnd type="triangle"/>
          </a:ln>
        </p:spPr>
      </p:cxnSp>
      <p:cxnSp>
        <p:nvCxnSpPr>
          <p:cNvPr id="123" name="직선 화살표 연결선 185">
            <a:extLst>
              <a:ext uri="{FF2B5EF4-FFF2-40B4-BE49-F238E27FC236}">
                <a16:creationId xmlns:a16="http://schemas.microsoft.com/office/drawing/2014/main" id="{D76D373A-AD73-4958-8644-743AF962871F}"/>
              </a:ext>
            </a:extLst>
          </p:cNvPr>
          <p:cNvCxnSpPr>
            <a:cxnSpLocks/>
            <a:stCxn id="120" idx="2"/>
            <a:endCxn id="124" idx="0"/>
          </p:cNvCxnSpPr>
          <p:nvPr/>
        </p:nvCxnSpPr>
        <p:spPr>
          <a:xfrm flipH="1">
            <a:off x="3655417" y="3865320"/>
            <a:ext cx="5" cy="292365"/>
          </a:xfrm>
          <a:prstGeom prst="straightConnector1">
            <a:avLst/>
          </a:prstGeom>
          <a:noFill/>
          <a:ln w="11430">
            <a:solidFill>
              <a:srgbClr val="888C91"/>
            </a:solidFill>
            <a:prstDash val="solid"/>
            <a:headEnd type="none"/>
            <a:tailEnd type="triangle"/>
          </a:ln>
        </p:spPr>
      </p:cxnSp>
      <p:sp>
        <p:nvSpPr>
          <p:cNvPr id="124" name="Shape 31">
            <a:extLst>
              <a:ext uri="{FF2B5EF4-FFF2-40B4-BE49-F238E27FC236}">
                <a16:creationId xmlns:a16="http://schemas.microsoft.com/office/drawing/2014/main" id="{823D7D32-6771-4AA4-9581-77C6BEA03C53}"/>
              </a:ext>
            </a:extLst>
          </p:cNvPr>
          <p:cNvSpPr/>
          <p:nvPr/>
        </p:nvSpPr>
        <p:spPr>
          <a:xfrm>
            <a:off x="3072804" y="4157685"/>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25" name="Shape 31">
            <a:extLst>
              <a:ext uri="{FF2B5EF4-FFF2-40B4-BE49-F238E27FC236}">
                <a16:creationId xmlns:a16="http://schemas.microsoft.com/office/drawing/2014/main" id="{823D7D32-6771-4AA4-9581-77C6BEA03C53}"/>
              </a:ext>
            </a:extLst>
          </p:cNvPr>
          <p:cNvSpPr/>
          <p:nvPr/>
        </p:nvSpPr>
        <p:spPr>
          <a:xfrm>
            <a:off x="1769157" y="4157685"/>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26" name="Shape 31">
            <a:extLst>
              <a:ext uri="{FF2B5EF4-FFF2-40B4-BE49-F238E27FC236}">
                <a16:creationId xmlns:a16="http://schemas.microsoft.com/office/drawing/2014/main" id="{823D7D32-6771-4AA4-9581-77C6BEA03C53}"/>
              </a:ext>
            </a:extLst>
          </p:cNvPr>
          <p:cNvSpPr/>
          <p:nvPr/>
        </p:nvSpPr>
        <p:spPr>
          <a:xfrm>
            <a:off x="4454855" y="4157685"/>
            <a:ext cx="1165225" cy="24156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Decode Node</a:t>
            </a:r>
            <a:endParaRPr lang="ko-KR" altLang="en-US" sz="1000" dirty="0">
              <a:solidFill>
                <a:srgbClr val="1A1A1A"/>
              </a:solidFill>
              <a:latin typeface="Malgun Gothic" pitchFamily="34" charset="0"/>
              <a:ea typeface="Malgun Gothic" pitchFamily="34" charset="-122"/>
            </a:endParaRPr>
          </a:p>
        </p:txBody>
      </p:sp>
      <p:cxnSp>
        <p:nvCxnSpPr>
          <p:cNvPr id="128" name="직선 화살표 연결선 185">
            <a:extLst>
              <a:ext uri="{FF2B5EF4-FFF2-40B4-BE49-F238E27FC236}">
                <a16:creationId xmlns:a16="http://schemas.microsoft.com/office/drawing/2014/main" id="{D76D373A-AD73-4958-8644-743AF962871F}"/>
              </a:ext>
            </a:extLst>
          </p:cNvPr>
          <p:cNvCxnSpPr>
            <a:cxnSpLocks/>
            <a:stCxn id="120" idx="2"/>
            <a:endCxn id="125" idx="0"/>
          </p:cNvCxnSpPr>
          <p:nvPr/>
        </p:nvCxnSpPr>
        <p:spPr>
          <a:xfrm rot="5400000">
            <a:off x="2857414" y="3359676"/>
            <a:ext cx="292365" cy="1303652"/>
          </a:xfrm>
          <a:prstGeom prst="bentConnector3">
            <a:avLst>
              <a:gd name="adj1" fmla="val 50000"/>
            </a:avLst>
          </a:prstGeom>
          <a:noFill/>
          <a:ln w="11430">
            <a:solidFill>
              <a:srgbClr val="888C91"/>
            </a:solidFill>
            <a:prstDash val="solid"/>
            <a:headEnd type="none"/>
            <a:tailEnd type="triangle"/>
          </a:ln>
        </p:spPr>
      </p:cxnSp>
      <p:cxnSp>
        <p:nvCxnSpPr>
          <p:cNvPr id="133" name="직선 화살표 연결선 185">
            <a:extLst>
              <a:ext uri="{FF2B5EF4-FFF2-40B4-BE49-F238E27FC236}">
                <a16:creationId xmlns:a16="http://schemas.microsoft.com/office/drawing/2014/main" id="{D76D373A-AD73-4958-8644-743AF962871F}"/>
              </a:ext>
            </a:extLst>
          </p:cNvPr>
          <p:cNvCxnSpPr>
            <a:cxnSpLocks/>
            <a:stCxn id="120" idx="2"/>
            <a:endCxn id="126" idx="0"/>
          </p:cNvCxnSpPr>
          <p:nvPr/>
        </p:nvCxnSpPr>
        <p:spPr>
          <a:xfrm rot="16200000" flipH="1">
            <a:off x="4200263" y="3320479"/>
            <a:ext cx="292365" cy="1382046"/>
          </a:xfrm>
          <a:prstGeom prst="bentConnector3">
            <a:avLst>
              <a:gd name="adj1" fmla="val 50000"/>
            </a:avLst>
          </a:prstGeom>
          <a:noFill/>
          <a:ln w="11430">
            <a:solidFill>
              <a:srgbClr val="888C91"/>
            </a:solidFill>
            <a:prstDash val="solid"/>
            <a:headEnd type="none"/>
            <a:tailEnd type="triangle"/>
          </a:ln>
        </p:spPr>
      </p:cxnSp>
      <p:sp>
        <p:nvSpPr>
          <p:cNvPr id="77" name="TextBox 76"/>
          <p:cNvSpPr txBox="1"/>
          <p:nvPr/>
        </p:nvSpPr>
        <p:spPr>
          <a:xfrm>
            <a:off x="5429488" y="2732481"/>
            <a:ext cx="914400" cy="585216"/>
          </a:xfrm>
          <a:prstGeom prst="rect">
            <a:avLst/>
          </a:prstGeom>
          <a:noFill/>
        </p:spPr>
        <p:txBody>
          <a:bodyPr wrap="square" lIns="0" tIns="0" rIns="0" bIns="0" anchor="ctr">
            <a:spAutoFit/>
          </a:bodyPr>
          <a:lstStyle/>
          <a:p>
            <a:pPr algn="l">
              <a:lnSpc>
                <a:spcPct val="100000"/>
              </a:lnSpc>
            </a:pPr>
            <a:r>
              <a:rPr sz="800" b="0" i="0">
                <a:solidFill>
                  <a:srgbClr val="808080"/>
                </a:solidFill>
                <a:latin typeface="맑은 고딕"/>
                <a:ea typeface="맑은 고딕"/>
              </a:rPr>
              <a:t>Cost 계산이</a:t>
            </a:r>
          </a:p>
          <a:p>
            <a:pPr algn="l">
              <a:lnSpc>
                <a:spcPct val="100000"/>
              </a:lnSpc>
            </a:pPr>
            <a:r>
              <a:rPr sz="800" b="0" i="0">
                <a:solidFill>
                  <a:srgbClr val="808080"/>
                </a:solidFill>
                <a:latin typeface="맑은 고딕"/>
                <a:ea typeface="맑은 고딕"/>
              </a:rPr>
              <a:t>critical path</a:t>
            </a:r>
          </a:p>
          <a:p>
            <a:pPr algn="l">
              <a:lnSpc>
                <a:spcPct val="100000"/>
              </a:lnSpc>
            </a:pPr>
            <a:r>
              <a:rPr sz="800" b="0" i="0">
                <a:solidFill>
                  <a:srgbClr val="808080"/>
                </a:solidFill>
                <a:latin typeface="맑은 고딕"/>
                <a:ea typeface="맑은 고딕"/>
              </a:rPr>
              <a:t>내부에서 수행</a:t>
            </a:r>
          </a:p>
        </p:txBody>
      </p:sp>
      <p:grpSp>
        <p:nvGrpSpPr>
          <p:cNvPr id="4" name="그룹 3">
            <a:extLst>
              <a:ext uri="{FF2B5EF4-FFF2-40B4-BE49-F238E27FC236}">
                <a16:creationId xmlns:a16="http://schemas.microsoft.com/office/drawing/2014/main" id="{36C2E9CA-E4A2-4A85-AFF2-3212E5B046EB}"/>
              </a:ext>
            </a:extLst>
          </p:cNvPr>
          <p:cNvGrpSpPr/>
          <p:nvPr/>
        </p:nvGrpSpPr>
        <p:grpSpPr>
          <a:xfrm>
            <a:off x="1808042" y="1842973"/>
            <a:ext cx="3889001" cy="1499031"/>
            <a:chOff x="1660272" y="1799615"/>
            <a:chExt cx="4277901" cy="1499031"/>
          </a:xfrm>
        </p:grpSpPr>
        <p:cxnSp>
          <p:nvCxnSpPr>
            <p:cNvPr id="104" name="직선 화살표 연결선 185">
              <a:extLst>
                <a:ext uri="{FF2B5EF4-FFF2-40B4-BE49-F238E27FC236}">
                  <a16:creationId xmlns:a16="http://schemas.microsoft.com/office/drawing/2014/main" id="{227EC8D4-AF12-474F-8501-DD7E0871B0DD}"/>
                </a:ext>
              </a:extLst>
            </p:cNvPr>
            <p:cNvCxnSpPr>
              <a:cxnSpLocks/>
              <a:stCxn id="111" idx="0"/>
              <a:endCxn id="107" idx="2"/>
            </p:cNvCxnSpPr>
            <p:nvPr/>
          </p:nvCxnSpPr>
          <p:spPr>
            <a:xfrm rot="5400000" flipH="1" flipV="1">
              <a:off x="4253095" y="1992539"/>
              <a:ext cx="414829" cy="1543534"/>
            </a:xfrm>
            <a:prstGeom prst="bentConnector3">
              <a:avLst>
                <a:gd name="adj1" fmla="val 50000"/>
              </a:avLst>
            </a:prstGeom>
            <a:noFill/>
            <a:ln w="11430">
              <a:solidFill>
                <a:schemeClr val="accent1"/>
              </a:solidFill>
              <a:prstDash val="solid"/>
              <a:headEnd type="triangle" w="med" len="med"/>
              <a:tailEnd type="none" w="med" len="med"/>
            </a:ln>
          </p:spPr>
        </p:cxnSp>
        <p:sp>
          <p:nvSpPr>
            <p:cNvPr id="105" name="Shape 31">
              <a:extLst>
                <a:ext uri="{FF2B5EF4-FFF2-40B4-BE49-F238E27FC236}">
                  <a16:creationId xmlns:a16="http://schemas.microsoft.com/office/drawing/2014/main" id="{0572FBC0-D081-4EDD-8ABF-EDCFD86536E7}"/>
                </a:ext>
              </a:extLst>
            </p:cNvPr>
            <p:cNvSpPr/>
            <p:nvPr/>
          </p:nvSpPr>
          <p:spPr>
            <a:xfrm>
              <a:off x="4566018" y="1799615"/>
              <a:ext cx="1332516" cy="292607"/>
            </a:xfrm>
            <a:prstGeom prst="roundRect">
              <a:avLst>
                <a:gd name="adj" fmla="val 37674"/>
              </a:avLst>
            </a:prstGeom>
            <a:solidFill>
              <a:srgbClr val="F0F1F3"/>
            </a:solidFill>
            <a:ln w="12700">
              <a:solidFill>
                <a:srgbClr val="888C91"/>
              </a:solidFill>
              <a:prstDash val="solid"/>
            </a:ln>
          </p:spPr>
          <p:txBody>
            <a:bodyPr anchor="ctr"/>
            <a:lstStyle/>
            <a:p>
              <a:pPr algn="ctr" latinLnBrk="0"/>
              <a:r>
                <a:rPr lang="en-US" altLang="ko-KR" sz="1000" dirty="0">
                  <a:solidFill>
                    <a:srgbClr val="1A1A1A"/>
                  </a:solidFill>
                  <a:latin typeface="Malgun Gothic" pitchFamily="34" charset="0"/>
                  <a:ea typeface="Malgun Gothic" pitchFamily="34" charset="-122"/>
                </a:rPr>
                <a:t>Waiting Request</a:t>
              </a:r>
              <a:endParaRPr lang="ko-KR" altLang="en-US" sz="1000" dirty="0">
                <a:solidFill>
                  <a:srgbClr val="1A1A1A"/>
                </a:solidFill>
                <a:latin typeface="Malgun Gothic" pitchFamily="34" charset="0"/>
                <a:ea typeface="Malgun Gothic" pitchFamily="34" charset="-122"/>
              </a:endParaRPr>
            </a:p>
          </p:txBody>
        </p:sp>
        <p:sp>
          <p:nvSpPr>
            <p:cNvPr id="107" name="Shape 31">
              <a:extLst>
                <a:ext uri="{FF2B5EF4-FFF2-40B4-BE49-F238E27FC236}">
                  <a16:creationId xmlns:a16="http://schemas.microsoft.com/office/drawing/2014/main" id="{6F4F7B81-2707-4A4B-8C72-D3D12FA41988}"/>
                </a:ext>
              </a:extLst>
            </p:cNvPr>
            <p:cNvSpPr/>
            <p:nvPr/>
          </p:nvSpPr>
          <p:spPr>
            <a:xfrm>
              <a:off x="4526378" y="2264284"/>
              <a:ext cx="1411795" cy="292607"/>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Request Scheduler</a:t>
              </a:r>
              <a:endParaRPr lang="ko-KR" altLang="en-US" sz="1000" dirty="0">
                <a:solidFill>
                  <a:srgbClr val="1A1A1A"/>
                </a:solidFill>
                <a:latin typeface="Malgun Gothic" pitchFamily="34" charset="0"/>
                <a:ea typeface="Malgun Gothic" pitchFamily="34" charset="-122"/>
              </a:endParaRPr>
            </a:p>
          </p:txBody>
        </p:sp>
        <p:cxnSp>
          <p:nvCxnSpPr>
            <p:cNvPr id="108" name="직선 화살표 연결선 185">
              <a:extLst>
                <a:ext uri="{FF2B5EF4-FFF2-40B4-BE49-F238E27FC236}">
                  <a16:creationId xmlns:a16="http://schemas.microsoft.com/office/drawing/2014/main" id="{B45E3C92-F3CC-4747-83BB-111E8F82B469}"/>
                </a:ext>
              </a:extLst>
            </p:cNvPr>
            <p:cNvCxnSpPr>
              <a:cxnSpLocks/>
              <a:stCxn id="105" idx="2"/>
              <a:endCxn id="107" idx="0"/>
            </p:cNvCxnSpPr>
            <p:nvPr/>
          </p:nvCxnSpPr>
          <p:spPr>
            <a:xfrm>
              <a:off x="5232276" y="2092222"/>
              <a:ext cx="0" cy="172062"/>
            </a:xfrm>
            <a:prstGeom prst="straightConnector1">
              <a:avLst/>
            </a:prstGeom>
            <a:noFill/>
            <a:ln w="11430">
              <a:solidFill>
                <a:srgbClr val="888C91"/>
              </a:solidFill>
              <a:prstDash val="solid"/>
              <a:headEnd type="none"/>
              <a:tailEnd type="triangle"/>
            </a:ln>
          </p:spPr>
        </p:cxnSp>
        <p:sp>
          <p:nvSpPr>
            <p:cNvPr id="109" name="Shape 37">
              <a:extLst>
                <a:ext uri="{FF2B5EF4-FFF2-40B4-BE49-F238E27FC236}">
                  <a16:creationId xmlns:a16="http://schemas.microsoft.com/office/drawing/2014/main" id="{A8E5F85B-8EEF-4D35-8DCD-43E0A7A67687}"/>
                </a:ext>
              </a:extLst>
            </p:cNvPr>
            <p:cNvSpPr/>
            <p:nvPr/>
          </p:nvSpPr>
          <p:spPr>
            <a:xfrm>
              <a:off x="1660272" y="2224844"/>
              <a:ext cx="1262736" cy="326926"/>
            </a:xfrm>
            <a:prstGeom prst="rect">
              <a:avLst/>
            </a:prstGeom>
            <a:solidFill>
              <a:srgbClr val="FFFFFF"/>
            </a:solidFill>
            <a:ln w="12700">
              <a:solidFill>
                <a:srgbClr val="4D7EA8"/>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rPr>
                <a:t>Resource State</a:t>
              </a:r>
            </a:p>
            <a:p>
              <a:pPr algn="ctr"/>
              <a:r>
                <a:rPr lang="en-US" altLang="ko-KR" sz="1000" b="1" dirty="0">
                  <a:solidFill>
                    <a:srgbClr val="1A1A1A"/>
                  </a:solidFill>
                  <a:latin typeface="Malgun Gothic" pitchFamily="34" charset="0"/>
                  <a:ea typeface="Malgun Gothic" pitchFamily="34" charset="-122"/>
                </a:rPr>
                <a:t>Monitor</a:t>
              </a:r>
              <a:endParaRPr kumimoji="0" lang="en-US" altLang="ko-KR" sz="10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sp>
          <p:nvSpPr>
            <p:cNvPr id="110" name="Shape 39">
              <a:extLst>
                <a:ext uri="{FF2B5EF4-FFF2-40B4-BE49-F238E27FC236}">
                  <a16:creationId xmlns:a16="http://schemas.microsoft.com/office/drawing/2014/main" id="{03A9DE8D-7A30-4404-B09B-24143FC5AC34}"/>
                </a:ext>
              </a:extLst>
            </p:cNvPr>
            <p:cNvSpPr/>
            <p:nvPr/>
          </p:nvSpPr>
          <p:spPr>
            <a:xfrm>
              <a:off x="3067600" y="2250355"/>
              <a:ext cx="1253937" cy="326927"/>
            </a:xfrm>
            <a:prstGeom prst="rect">
              <a:avLst/>
            </a:prstGeom>
            <a:solidFill>
              <a:srgbClr val="FFFFFF"/>
            </a:solidFill>
            <a:ln w="12700">
              <a:solidFill>
                <a:srgbClr val="4D7EA8"/>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Execution Cost Model</a:t>
              </a:r>
            </a:p>
          </p:txBody>
        </p:sp>
        <p:sp>
          <p:nvSpPr>
            <p:cNvPr id="111" name="Shape 37">
              <a:extLst>
                <a:ext uri="{FF2B5EF4-FFF2-40B4-BE49-F238E27FC236}">
                  <a16:creationId xmlns:a16="http://schemas.microsoft.com/office/drawing/2014/main" id="{13276CE5-8BE8-406C-B0E8-6EAA162A0FA8}"/>
                </a:ext>
              </a:extLst>
            </p:cNvPr>
            <p:cNvSpPr/>
            <p:nvPr/>
          </p:nvSpPr>
          <p:spPr>
            <a:xfrm>
              <a:off x="2914646" y="2971720"/>
              <a:ext cx="1548192" cy="326926"/>
            </a:xfrm>
            <a:prstGeom prst="rect">
              <a:avLst/>
            </a:prstGeom>
            <a:solidFill>
              <a:srgbClr val="FFFFFF"/>
            </a:solidFill>
            <a:ln w="12700">
              <a:solidFill>
                <a:srgbClr val="4D7EA8"/>
              </a:solidFill>
              <a:prstDash val="solid"/>
            </a:ln>
          </p:spPr>
          <p:txBody>
            <a:bodyPr anchor="ctr"/>
            <a:lstStyle/>
            <a:p>
              <a:pPr algn="ctr"/>
              <a:r>
                <a:rPr lang="en-US" altLang="ko-KR" sz="1000" b="1" dirty="0" err="1">
                  <a:solidFill>
                    <a:srgbClr val="1A1A1A"/>
                  </a:solidFill>
                  <a:latin typeface="Malgun Gothic" pitchFamily="34" charset="0"/>
                  <a:ea typeface="Malgun Gothic" pitchFamily="34" charset="-122"/>
                </a:rPr>
                <a:t>Execuction</a:t>
              </a:r>
              <a:r>
                <a:rPr lang="en-US" altLang="ko-KR" sz="1000" b="1" dirty="0">
                  <a:solidFill>
                    <a:srgbClr val="1A1A1A"/>
                  </a:solidFill>
                  <a:latin typeface="Malgun Gothic" pitchFamily="34" charset="0"/>
                  <a:ea typeface="Malgun Gothic" pitchFamily="34" charset="-122"/>
                </a:rPr>
                <a:t> Planner</a:t>
              </a:r>
              <a:endParaRPr kumimoji="0" lang="en-US" altLang="ko-KR" sz="1000" b="1" i="0" u="none" strike="noStrike" kern="1200" cap="none" spc="0" normalizeH="0" baseline="0" noProof="0" dirty="0">
                <a:ln>
                  <a:noFill/>
                </a:ln>
                <a:solidFill>
                  <a:srgbClr val="1A1A1A"/>
                </a:solidFill>
                <a:effectLst/>
                <a:uLnTx/>
                <a:uFillTx/>
                <a:latin typeface="Malgun Gothic" pitchFamily="34" charset="0"/>
                <a:ea typeface="Malgun Gothic" pitchFamily="34" charset="-122"/>
                <a:cs typeface="Malgun Gothic" pitchFamily="34" charset="-120"/>
              </a:endParaRPr>
            </a:p>
          </p:txBody>
        </p:sp>
        <p:cxnSp>
          <p:nvCxnSpPr>
            <p:cNvPr id="113" name="직선 화살표 연결선 185">
              <a:extLst>
                <a:ext uri="{FF2B5EF4-FFF2-40B4-BE49-F238E27FC236}">
                  <a16:creationId xmlns:a16="http://schemas.microsoft.com/office/drawing/2014/main" id="{BB8E7414-9996-497E-88C4-DE625FBB80E6}"/>
                </a:ext>
              </a:extLst>
            </p:cNvPr>
            <p:cNvCxnSpPr>
              <a:cxnSpLocks/>
              <a:stCxn id="111" idx="0"/>
              <a:endCxn id="109" idx="2"/>
            </p:cNvCxnSpPr>
            <p:nvPr/>
          </p:nvCxnSpPr>
          <p:spPr>
            <a:xfrm rot="16200000" flipV="1">
              <a:off x="2780217" y="2063193"/>
              <a:ext cx="419950" cy="1397102"/>
            </a:xfrm>
            <a:prstGeom prst="bentConnector3">
              <a:avLst>
                <a:gd name="adj1" fmla="val 50000"/>
              </a:avLst>
            </a:prstGeom>
            <a:noFill/>
            <a:ln w="11430">
              <a:solidFill>
                <a:schemeClr val="accent1"/>
              </a:solidFill>
              <a:prstDash val="solid"/>
              <a:headEnd type="triangle" w="med" len="med"/>
              <a:tailEnd type="none" w="med" len="med"/>
            </a:ln>
          </p:spPr>
        </p:cxnSp>
        <p:cxnSp>
          <p:nvCxnSpPr>
            <p:cNvPr id="121" name="직선 화살표 연결선 185">
              <a:extLst>
                <a:ext uri="{FF2B5EF4-FFF2-40B4-BE49-F238E27FC236}">
                  <a16:creationId xmlns:a16="http://schemas.microsoft.com/office/drawing/2014/main" id="{4DFC5CE5-0CF9-4801-B1C1-591252131FA8}"/>
                </a:ext>
              </a:extLst>
            </p:cNvPr>
            <p:cNvCxnSpPr>
              <a:cxnSpLocks/>
              <a:stCxn id="111" idx="0"/>
              <a:endCxn id="110" idx="2"/>
            </p:cNvCxnSpPr>
            <p:nvPr/>
          </p:nvCxnSpPr>
          <p:spPr>
            <a:xfrm rot="5400000" flipH="1" flipV="1">
              <a:off x="3494436" y="2771588"/>
              <a:ext cx="394438" cy="5827"/>
            </a:xfrm>
            <a:prstGeom prst="bentConnector3">
              <a:avLst>
                <a:gd name="adj1" fmla="val 50000"/>
              </a:avLst>
            </a:prstGeom>
            <a:noFill/>
            <a:ln w="11430">
              <a:solidFill>
                <a:schemeClr val="accent1"/>
              </a:solidFill>
              <a:prstDash val="solid"/>
              <a:headEnd type="triangle" w="med" len="med"/>
              <a:tailEnd type="none" w="med" len="med"/>
            </a:ln>
          </p:spPr>
        </p:cxnSp>
      </p:grpSp>
      <p:sp>
        <p:nvSpPr>
          <p:cNvPr id="135" name="원통 5">
            <a:extLst>
              <a:ext uri="{FF2B5EF4-FFF2-40B4-BE49-F238E27FC236}">
                <a16:creationId xmlns:a16="http://schemas.microsoft.com/office/drawing/2014/main" id="{B5FF15DF-717F-4747-843D-059A22E3202D}"/>
              </a:ext>
            </a:extLst>
          </p:cNvPr>
          <p:cNvSpPr/>
          <p:nvPr/>
        </p:nvSpPr>
        <p:spPr>
          <a:xfrm>
            <a:off x="7173913" y="4134824"/>
            <a:ext cx="1620005" cy="400772"/>
          </a:xfrm>
          <a:prstGeom prst="can">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Plan Cache</a:t>
            </a:r>
          </a:p>
          <a:p>
            <a:pPr algn="ctr"/>
            <a:r>
              <a:rPr lang="en-US" altLang="ko-KR" sz="1000" b="1" dirty="0">
                <a:solidFill>
                  <a:srgbClr val="1A1A1A"/>
                </a:solidFill>
                <a:latin typeface="Malgun Gothic" pitchFamily="34" charset="0"/>
                <a:ea typeface="Malgun Gothic" pitchFamily="34" charset="-122"/>
                <a:cs typeface="Malgun Gothic" pitchFamily="34" charset="-120"/>
              </a:rPr>
              <a:t>(Shared Repository)</a:t>
            </a:r>
            <a:endParaRPr lang="ko-KR" altLang="en-US" sz="1000" b="1" dirty="0">
              <a:solidFill>
                <a:srgbClr val="1A1A1A"/>
              </a:solidFill>
              <a:latin typeface="Malgun Gothic" pitchFamily="34" charset="0"/>
              <a:ea typeface="Malgun Gothic" pitchFamily="34" charset="-122"/>
              <a:cs typeface="Malgun Gothic" pitchFamily="34" charset="-120"/>
            </a:endParaRPr>
          </a:p>
        </p:txBody>
      </p:sp>
      <p:cxnSp>
        <p:nvCxnSpPr>
          <p:cNvPr id="136" name="직선 화살표 연결선 185">
            <a:extLst>
              <a:ext uri="{FF2B5EF4-FFF2-40B4-BE49-F238E27FC236}">
                <a16:creationId xmlns:a16="http://schemas.microsoft.com/office/drawing/2014/main" id="{1D20BCEA-6F58-4857-9158-61760E9BA290}"/>
              </a:ext>
            </a:extLst>
          </p:cNvPr>
          <p:cNvCxnSpPr>
            <a:cxnSpLocks/>
            <a:stCxn id="170" idx="2"/>
            <a:endCxn id="135" idx="1"/>
          </p:cNvCxnSpPr>
          <p:nvPr/>
        </p:nvCxnSpPr>
        <p:spPr>
          <a:xfrm>
            <a:off x="7983915" y="3837794"/>
            <a:ext cx="1" cy="297030"/>
          </a:xfrm>
          <a:prstGeom prst="straightConnector1">
            <a:avLst/>
          </a:prstGeom>
          <a:noFill/>
          <a:ln w="12700">
            <a:solidFill>
              <a:srgbClr val="C76E31"/>
            </a:solidFill>
            <a:prstDash val="solid"/>
            <a:headEnd type="none" w="med" len="med"/>
            <a:tailEnd type="triangle" w="med" len="med"/>
          </a:ln>
        </p:spPr>
      </p:cxnSp>
      <p:sp>
        <p:nvSpPr>
          <p:cNvPr id="142" name="직사각형 141">
            <a:extLst>
              <a:ext uri="{FF2B5EF4-FFF2-40B4-BE49-F238E27FC236}">
                <a16:creationId xmlns:a16="http://schemas.microsoft.com/office/drawing/2014/main" id="{E9BE4B33-2509-418E-8351-E03403780C85}"/>
              </a:ext>
            </a:extLst>
          </p:cNvPr>
          <p:cNvSpPr/>
          <p:nvPr/>
        </p:nvSpPr>
        <p:spPr>
          <a:xfrm>
            <a:off x="7061808" y="3856518"/>
            <a:ext cx="991013" cy="266005"/>
          </a:xfrm>
          <a:prstGeom prst="rect">
            <a:avLst/>
          </a:prstGeom>
          <a:noFill/>
          <a:ln w="12700">
            <a:noFill/>
            <a:prstDash val="dash"/>
          </a:ln>
        </p:spPr>
        <p:txBody>
          <a:bodyPr rtlCol="0" anchor="ctr"/>
          <a:lstStyle/>
          <a:p>
            <a:pPr algn="ctr"/>
            <a:r>
              <a:rPr lang="en-US" altLang="ko-KR" sz="900" dirty="0">
                <a:solidFill>
                  <a:schemeClr val="bg1">
                    <a:lumMod val="50000"/>
                  </a:schemeClr>
                </a:solidFill>
              </a:rPr>
              <a:t>Execution Plan</a:t>
            </a:r>
          </a:p>
        </p:txBody>
      </p:sp>
      <p:cxnSp>
        <p:nvCxnSpPr>
          <p:cNvPr id="143" name="직선 화살표 연결선 185">
            <a:extLst>
              <a:ext uri="{FF2B5EF4-FFF2-40B4-BE49-F238E27FC236}">
                <a16:creationId xmlns:a16="http://schemas.microsoft.com/office/drawing/2014/main" id="{F887DFD5-E323-48D9-832F-B677E432EB6A}"/>
              </a:ext>
            </a:extLst>
          </p:cNvPr>
          <p:cNvCxnSpPr>
            <a:cxnSpLocks/>
            <a:stCxn id="135" idx="4"/>
            <a:endCxn id="150" idx="1"/>
          </p:cNvCxnSpPr>
          <p:nvPr/>
        </p:nvCxnSpPr>
        <p:spPr>
          <a:xfrm flipV="1">
            <a:off x="8793918" y="3035077"/>
            <a:ext cx="1649643" cy="1300133"/>
          </a:xfrm>
          <a:prstGeom prst="bentConnector3">
            <a:avLst>
              <a:gd name="adj1" fmla="val 50000"/>
            </a:avLst>
          </a:prstGeom>
          <a:noFill/>
          <a:ln w="12700">
            <a:solidFill>
              <a:srgbClr val="C76E31"/>
            </a:solidFill>
            <a:prstDash val="dash"/>
            <a:headEnd type="none" w="med" len="med"/>
            <a:tailEnd type="triangle" w="med" len="med"/>
          </a:ln>
        </p:spPr>
      </p:cxnSp>
      <p:cxnSp>
        <p:nvCxnSpPr>
          <p:cNvPr id="145" name="직선 화살표 연결선 185">
            <a:extLst>
              <a:ext uri="{FF2B5EF4-FFF2-40B4-BE49-F238E27FC236}">
                <a16:creationId xmlns:a16="http://schemas.microsoft.com/office/drawing/2014/main" id="{3A207EB9-33DB-471E-B540-FD35E10ACE6F}"/>
              </a:ext>
            </a:extLst>
          </p:cNvPr>
          <p:cNvCxnSpPr>
            <a:cxnSpLocks/>
            <a:stCxn id="149" idx="2"/>
            <a:endCxn id="150" idx="0"/>
          </p:cNvCxnSpPr>
          <p:nvPr/>
        </p:nvCxnSpPr>
        <p:spPr>
          <a:xfrm>
            <a:off x="10925699" y="2748079"/>
            <a:ext cx="0" cy="140694"/>
          </a:xfrm>
          <a:prstGeom prst="straightConnector1">
            <a:avLst/>
          </a:prstGeom>
          <a:noFill/>
          <a:ln w="11430">
            <a:solidFill>
              <a:srgbClr val="888C91"/>
            </a:solidFill>
            <a:prstDash val="solid"/>
            <a:headEnd type="none"/>
            <a:tailEnd type="triangle"/>
          </a:ln>
        </p:spPr>
      </p:cxnSp>
      <p:grpSp>
        <p:nvGrpSpPr>
          <p:cNvPr id="147" name="그룹 146">
            <a:extLst>
              <a:ext uri="{FF2B5EF4-FFF2-40B4-BE49-F238E27FC236}">
                <a16:creationId xmlns:a16="http://schemas.microsoft.com/office/drawing/2014/main" id="{C2E7B065-5C04-4D1E-8AE2-8887DFAFDF34}"/>
              </a:ext>
            </a:extLst>
          </p:cNvPr>
          <p:cNvGrpSpPr/>
          <p:nvPr/>
        </p:nvGrpSpPr>
        <p:grpSpPr>
          <a:xfrm>
            <a:off x="10219801" y="2482073"/>
            <a:ext cx="1411795" cy="1529371"/>
            <a:chOff x="13094537" y="2520238"/>
            <a:chExt cx="1411795" cy="1529371"/>
          </a:xfrm>
        </p:grpSpPr>
        <p:sp>
          <p:nvSpPr>
            <p:cNvPr id="149" name="Shape 31">
              <a:extLst>
                <a:ext uri="{FF2B5EF4-FFF2-40B4-BE49-F238E27FC236}">
                  <a16:creationId xmlns:a16="http://schemas.microsoft.com/office/drawing/2014/main" id="{4C378B86-5197-41AA-8ED7-5D8F3B6ED06B}"/>
                </a:ext>
              </a:extLst>
            </p:cNvPr>
            <p:cNvSpPr/>
            <p:nvPr/>
          </p:nvSpPr>
          <p:spPr>
            <a:xfrm>
              <a:off x="13094537" y="2520238"/>
              <a:ext cx="1411795" cy="26600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Request Scheduler</a:t>
              </a:r>
              <a:endParaRPr lang="ko-KR" altLang="en-US" sz="1000" dirty="0">
                <a:solidFill>
                  <a:srgbClr val="1A1A1A"/>
                </a:solidFill>
                <a:latin typeface="Malgun Gothic" pitchFamily="34" charset="0"/>
                <a:ea typeface="Malgun Gothic" pitchFamily="34" charset="-122"/>
              </a:endParaRPr>
            </a:p>
          </p:txBody>
        </p:sp>
        <p:sp>
          <p:nvSpPr>
            <p:cNvPr id="150" name="Shape 31">
              <a:extLst>
                <a:ext uri="{FF2B5EF4-FFF2-40B4-BE49-F238E27FC236}">
                  <a16:creationId xmlns:a16="http://schemas.microsoft.com/office/drawing/2014/main" id="{60CE48B7-0F16-456B-8A38-381FF45673CB}"/>
                </a:ext>
              </a:extLst>
            </p:cNvPr>
            <p:cNvSpPr/>
            <p:nvPr/>
          </p:nvSpPr>
          <p:spPr>
            <a:xfrm>
              <a:off x="13318297" y="2926938"/>
              <a:ext cx="964275" cy="292607"/>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cs typeface="Malgun Gothic" pitchFamily="34" charset="-120"/>
                </a:rPr>
                <a:t>Plan Lookup</a:t>
              </a:r>
              <a:endParaRPr lang="ko-KR" altLang="en-US" sz="1000" b="1" dirty="0">
                <a:solidFill>
                  <a:srgbClr val="1A1A1A"/>
                </a:solidFill>
                <a:latin typeface="Malgun Gothic" pitchFamily="34" charset="0"/>
                <a:ea typeface="Malgun Gothic" pitchFamily="34" charset="-122"/>
                <a:cs typeface="Malgun Gothic" pitchFamily="34" charset="-120"/>
              </a:endParaRPr>
            </a:p>
          </p:txBody>
        </p:sp>
        <p:sp>
          <p:nvSpPr>
            <p:cNvPr id="151" name="Shape 31">
              <a:extLst>
                <a:ext uri="{FF2B5EF4-FFF2-40B4-BE49-F238E27FC236}">
                  <a16:creationId xmlns:a16="http://schemas.microsoft.com/office/drawing/2014/main" id="{9B850771-519E-4A85-A939-7AE8ADE18752}"/>
                </a:ext>
              </a:extLst>
            </p:cNvPr>
            <p:cNvSpPr/>
            <p:nvPr/>
          </p:nvSpPr>
          <p:spPr>
            <a:xfrm>
              <a:off x="13158709" y="3783603"/>
              <a:ext cx="1283450" cy="266006"/>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Execution Router</a:t>
              </a:r>
              <a:endParaRPr lang="ko-KR" altLang="en-US" sz="1000" dirty="0">
                <a:solidFill>
                  <a:srgbClr val="1A1A1A"/>
                </a:solidFill>
                <a:latin typeface="Malgun Gothic" pitchFamily="34" charset="0"/>
                <a:ea typeface="Malgun Gothic" pitchFamily="34" charset="-122"/>
              </a:endParaRPr>
            </a:p>
          </p:txBody>
        </p:sp>
        <p:sp>
          <p:nvSpPr>
            <p:cNvPr id="152" name="Shape 31">
              <a:extLst>
                <a:ext uri="{FF2B5EF4-FFF2-40B4-BE49-F238E27FC236}">
                  <a16:creationId xmlns:a16="http://schemas.microsoft.com/office/drawing/2014/main" id="{3C28B802-AD75-4FB2-A25A-1BD9BFA32DB8}"/>
                </a:ext>
              </a:extLst>
            </p:cNvPr>
            <p:cNvSpPr/>
            <p:nvPr/>
          </p:nvSpPr>
          <p:spPr>
            <a:xfrm>
              <a:off x="13270083" y="3387407"/>
              <a:ext cx="1060703" cy="266006"/>
            </a:xfrm>
            <a:prstGeom prst="rect">
              <a:avLst/>
            </a:prstGeom>
            <a:solidFill>
              <a:srgbClr val="FFFFFF"/>
            </a:solidFill>
            <a:ln w="12700">
              <a:solidFill>
                <a:srgbClr val="C76E31"/>
              </a:solidFill>
              <a:prstDash val="solid"/>
            </a:ln>
          </p:spPr>
          <p:txBody>
            <a:bodyPr anchor="ctr"/>
            <a:lstStyle/>
            <a:p>
              <a:pPr algn="ctr"/>
              <a:r>
                <a:rPr lang="en-US" altLang="ko-KR" sz="1000" b="1">
                  <a:solidFill>
                    <a:srgbClr val="1A1A1A"/>
                  </a:solidFill>
                  <a:latin typeface="Malgun Gothic" pitchFamily="34" charset="0"/>
                  <a:ea typeface="Malgun Gothic" pitchFamily="34" charset="-122"/>
                </a:rPr>
                <a:t>Late </a:t>
              </a:r>
              <a:r>
                <a:rPr lang="en-US" altLang="ko-KR" sz="1000" b="1" dirty="0">
                  <a:solidFill>
                    <a:srgbClr val="1A1A1A"/>
                  </a:solidFill>
                  <a:latin typeface="Malgun Gothic" pitchFamily="34" charset="0"/>
                  <a:ea typeface="Malgun Gothic" pitchFamily="34" charset="-122"/>
                </a:rPr>
                <a:t>Validator</a:t>
              </a:r>
              <a:endParaRPr lang="ko-KR" altLang="en-US" sz="1000" b="1" dirty="0">
                <a:solidFill>
                  <a:srgbClr val="1A1A1A"/>
                </a:solidFill>
                <a:latin typeface="Malgun Gothic" pitchFamily="34" charset="0"/>
                <a:ea typeface="Malgun Gothic" pitchFamily="34" charset="-122"/>
              </a:endParaRPr>
            </a:p>
          </p:txBody>
        </p:sp>
      </p:grpSp>
      <p:cxnSp>
        <p:nvCxnSpPr>
          <p:cNvPr id="153" name="직선 화살표 연결선 185">
            <a:extLst>
              <a:ext uri="{FF2B5EF4-FFF2-40B4-BE49-F238E27FC236}">
                <a16:creationId xmlns:a16="http://schemas.microsoft.com/office/drawing/2014/main" id="{5BB01F15-8948-4B03-B12C-EF49F478216C}"/>
              </a:ext>
            </a:extLst>
          </p:cNvPr>
          <p:cNvCxnSpPr>
            <a:cxnSpLocks/>
            <a:stCxn id="152" idx="2"/>
            <a:endCxn id="151" idx="0"/>
          </p:cNvCxnSpPr>
          <p:nvPr/>
        </p:nvCxnSpPr>
        <p:spPr>
          <a:xfrm flipH="1">
            <a:off x="10925698" y="3615248"/>
            <a:ext cx="1" cy="130190"/>
          </a:xfrm>
          <a:prstGeom prst="straightConnector1">
            <a:avLst/>
          </a:prstGeom>
          <a:noFill/>
          <a:ln w="11430">
            <a:solidFill>
              <a:srgbClr val="888C91"/>
            </a:solidFill>
            <a:prstDash val="solid"/>
            <a:headEnd type="none"/>
            <a:tailEnd type="triangle"/>
          </a:ln>
        </p:spPr>
      </p:cxnSp>
      <p:cxnSp>
        <p:nvCxnSpPr>
          <p:cNvPr id="154" name="직선 화살표 연결선 185">
            <a:extLst>
              <a:ext uri="{FF2B5EF4-FFF2-40B4-BE49-F238E27FC236}">
                <a16:creationId xmlns:a16="http://schemas.microsoft.com/office/drawing/2014/main" id="{67E998B8-999E-4180-84B7-98794B877950}"/>
              </a:ext>
            </a:extLst>
          </p:cNvPr>
          <p:cNvCxnSpPr>
            <a:cxnSpLocks/>
            <a:stCxn id="150" idx="2"/>
            <a:endCxn id="152" idx="0"/>
          </p:cNvCxnSpPr>
          <p:nvPr/>
        </p:nvCxnSpPr>
        <p:spPr>
          <a:xfrm>
            <a:off x="10925699" y="3181380"/>
            <a:ext cx="0" cy="167862"/>
          </a:xfrm>
          <a:prstGeom prst="straightConnector1">
            <a:avLst/>
          </a:prstGeom>
          <a:noFill/>
          <a:ln w="11430">
            <a:solidFill>
              <a:srgbClr val="888C91"/>
            </a:solidFill>
            <a:prstDash val="solid"/>
            <a:headEnd type="none"/>
            <a:tailEnd type="triangle"/>
          </a:ln>
        </p:spPr>
      </p:cxnSp>
      <p:cxnSp>
        <p:nvCxnSpPr>
          <p:cNvPr id="155" name="직선 화살표 연결선 185">
            <a:extLst>
              <a:ext uri="{FF2B5EF4-FFF2-40B4-BE49-F238E27FC236}">
                <a16:creationId xmlns:a16="http://schemas.microsoft.com/office/drawing/2014/main" id="{B0FE8C9D-E002-4440-98F4-1ACDC0086F81}"/>
              </a:ext>
            </a:extLst>
          </p:cNvPr>
          <p:cNvCxnSpPr>
            <a:cxnSpLocks/>
            <a:stCxn id="152" idx="1"/>
            <a:endCxn id="170" idx="3"/>
          </p:cNvCxnSpPr>
          <p:nvPr/>
        </p:nvCxnSpPr>
        <p:spPr>
          <a:xfrm rot="10800000" flipV="1">
            <a:off x="8758011" y="3482245"/>
            <a:ext cx="1637336" cy="192086"/>
          </a:xfrm>
          <a:prstGeom prst="bentConnector3">
            <a:avLst>
              <a:gd name="adj1" fmla="val 70361"/>
            </a:avLst>
          </a:prstGeom>
          <a:noFill/>
          <a:ln w="12700">
            <a:solidFill>
              <a:srgbClr val="C76E31"/>
            </a:solidFill>
            <a:prstDash val="dash"/>
            <a:headEnd type="none" w="med" len="med"/>
            <a:tailEnd type="triangle" w="med" len="med"/>
          </a:ln>
        </p:spPr>
      </p:cxnSp>
      <p:sp>
        <p:nvSpPr>
          <p:cNvPr id="157" name="Shape 31">
            <a:extLst>
              <a:ext uri="{FF2B5EF4-FFF2-40B4-BE49-F238E27FC236}">
                <a16:creationId xmlns:a16="http://schemas.microsoft.com/office/drawing/2014/main" id="{195014B9-48C5-4816-B988-FC8A1958ABC6}"/>
              </a:ext>
            </a:extLst>
          </p:cNvPr>
          <p:cNvSpPr/>
          <p:nvPr/>
        </p:nvSpPr>
        <p:spPr>
          <a:xfrm>
            <a:off x="10527769" y="4257127"/>
            <a:ext cx="657739" cy="321525"/>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58" name="Shape 31">
            <a:extLst>
              <a:ext uri="{FF2B5EF4-FFF2-40B4-BE49-F238E27FC236}">
                <a16:creationId xmlns:a16="http://schemas.microsoft.com/office/drawing/2014/main" id="{62D83C76-AE29-44BB-B3B1-7EFE24702FFF}"/>
              </a:ext>
            </a:extLst>
          </p:cNvPr>
          <p:cNvSpPr/>
          <p:nvPr/>
        </p:nvSpPr>
        <p:spPr>
          <a:xfrm>
            <a:off x="9785787" y="4257127"/>
            <a:ext cx="657739" cy="321525"/>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Prefill Node</a:t>
            </a:r>
            <a:endParaRPr lang="ko-KR" altLang="en-US" sz="1000" dirty="0">
              <a:solidFill>
                <a:srgbClr val="1A1A1A"/>
              </a:solidFill>
              <a:latin typeface="Malgun Gothic" pitchFamily="34" charset="0"/>
              <a:ea typeface="Malgun Gothic" pitchFamily="34" charset="-122"/>
            </a:endParaRPr>
          </a:p>
        </p:txBody>
      </p:sp>
      <p:sp>
        <p:nvSpPr>
          <p:cNvPr id="159" name="Shape 31">
            <a:extLst>
              <a:ext uri="{FF2B5EF4-FFF2-40B4-BE49-F238E27FC236}">
                <a16:creationId xmlns:a16="http://schemas.microsoft.com/office/drawing/2014/main" id="{C84FFCD5-45F2-420E-A5F6-EB6478288B6E}"/>
              </a:ext>
            </a:extLst>
          </p:cNvPr>
          <p:cNvSpPr/>
          <p:nvPr/>
        </p:nvSpPr>
        <p:spPr>
          <a:xfrm>
            <a:off x="11327944" y="4257127"/>
            <a:ext cx="657739" cy="321525"/>
          </a:xfrm>
          <a:prstGeom prst="rect">
            <a:avLst/>
          </a:prstGeom>
          <a:solidFill>
            <a:srgbClr val="F0F1F3"/>
          </a:solidFill>
          <a:ln w="12700">
            <a:solidFill>
              <a:srgbClr val="888C91"/>
            </a:solidFill>
            <a:prstDash val="solid"/>
          </a:ln>
        </p:spPr>
        <p:txBody>
          <a:bodyPr anchor="ctr"/>
          <a:lstStyle/>
          <a:p>
            <a:pPr algn="ctr" latinLnBrk="0">
              <a:defRPr/>
            </a:pPr>
            <a:r>
              <a:rPr lang="en-US" altLang="ko-KR" sz="1000" dirty="0">
                <a:solidFill>
                  <a:srgbClr val="1A1A1A"/>
                </a:solidFill>
                <a:latin typeface="Malgun Gothic" pitchFamily="34" charset="0"/>
                <a:ea typeface="Malgun Gothic" pitchFamily="34" charset="-122"/>
              </a:rPr>
              <a:t>Decode Node</a:t>
            </a:r>
            <a:endParaRPr lang="ko-KR" altLang="en-US" sz="1000" dirty="0">
              <a:solidFill>
                <a:srgbClr val="1A1A1A"/>
              </a:solidFill>
              <a:latin typeface="Malgun Gothic" pitchFamily="34" charset="0"/>
              <a:ea typeface="Malgun Gothic" pitchFamily="34" charset="-122"/>
            </a:endParaRPr>
          </a:p>
        </p:txBody>
      </p:sp>
      <p:cxnSp>
        <p:nvCxnSpPr>
          <p:cNvPr id="160" name="직선 화살표 연결선 185">
            <a:extLst>
              <a:ext uri="{FF2B5EF4-FFF2-40B4-BE49-F238E27FC236}">
                <a16:creationId xmlns:a16="http://schemas.microsoft.com/office/drawing/2014/main" id="{6138BE89-249C-4731-B3A3-DAFE3C388F55}"/>
              </a:ext>
            </a:extLst>
          </p:cNvPr>
          <p:cNvCxnSpPr>
            <a:cxnSpLocks/>
            <a:stCxn id="151" idx="2"/>
            <a:endCxn id="158" idx="0"/>
          </p:cNvCxnSpPr>
          <p:nvPr/>
        </p:nvCxnSpPr>
        <p:spPr>
          <a:xfrm rot="5400000">
            <a:off x="10397337" y="3728765"/>
            <a:ext cx="245683" cy="811041"/>
          </a:xfrm>
          <a:prstGeom prst="bentConnector3">
            <a:avLst>
              <a:gd name="adj1" fmla="val 50000"/>
            </a:avLst>
          </a:prstGeom>
          <a:noFill/>
          <a:ln w="11430">
            <a:solidFill>
              <a:srgbClr val="888C91"/>
            </a:solidFill>
            <a:prstDash val="solid"/>
            <a:headEnd type="none"/>
            <a:tailEnd type="triangle"/>
          </a:ln>
        </p:spPr>
      </p:cxnSp>
      <p:cxnSp>
        <p:nvCxnSpPr>
          <p:cNvPr id="161" name="직선 화살표 연결선 185">
            <a:extLst>
              <a:ext uri="{FF2B5EF4-FFF2-40B4-BE49-F238E27FC236}">
                <a16:creationId xmlns:a16="http://schemas.microsoft.com/office/drawing/2014/main" id="{49C7EAB2-CF5D-4900-B264-F15FABC2AB00}"/>
              </a:ext>
            </a:extLst>
          </p:cNvPr>
          <p:cNvCxnSpPr>
            <a:cxnSpLocks/>
            <a:stCxn id="151" idx="2"/>
            <a:endCxn id="159" idx="0"/>
          </p:cNvCxnSpPr>
          <p:nvPr/>
        </p:nvCxnSpPr>
        <p:spPr>
          <a:xfrm rot="16200000" flipH="1">
            <a:off x="11168415" y="3768727"/>
            <a:ext cx="245683" cy="731116"/>
          </a:xfrm>
          <a:prstGeom prst="bentConnector3">
            <a:avLst>
              <a:gd name="adj1" fmla="val 50000"/>
            </a:avLst>
          </a:prstGeom>
          <a:noFill/>
          <a:ln w="11430">
            <a:solidFill>
              <a:srgbClr val="888C91"/>
            </a:solidFill>
            <a:prstDash val="solid"/>
            <a:headEnd type="none"/>
            <a:tailEnd type="triangle"/>
          </a:ln>
        </p:spPr>
      </p:cxnSp>
      <p:cxnSp>
        <p:nvCxnSpPr>
          <p:cNvPr id="165" name="직선 화살표 연결선 185">
            <a:extLst>
              <a:ext uri="{FF2B5EF4-FFF2-40B4-BE49-F238E27FC236}">
                <a16:creationId xmlns:a16="http://schemas.microsoft.com/office/drawing/2014/main" id="{B2BB1305-265D-4504-A3CB-D24DBAC31E05}"/>
              </a:ext>
            </a:extLst>
          </p:cNvPr>
          <p:cNvCxnSpPr>
            <a:cxnSpLocks/>
            <a:stCxn id="151" idx="2"/>
            <a:endCxn id="157" idx="0"/>
          </p:cNvCxnSpPr>
          <p:nvPr/>
        </p:nvCxnSpPr>
        <p:spPr>
          <a:xfrm rot="5400000">
            <a:off x="10768328" y="4099756"/>
            <a:ext cx="245683" cy="69059"/>
          </a:xfrm>
          <a:prstGeom prst="bentConnector3">
            <a:avLst>
              <a:gd name="adj1" fmla="val 50000"/>
            </a:avLst>
          </a:prstGeom>
          <a:noFill/>
          <a:ln w="11430">
            <a:solidFill>
              <a:srgbClr val="888C91"/>
            </a:solidFill>
            <a:prstDash val="solid"/>
            <a:headEnd type="none"/>
            <a:tailEnd type="triangle"/>
          </a:ln>
        </p:spPr>
      </p:cxnSp>
      <p:cxnSp>
        <p:nvCxnSpPr>
          <p:cNvPr id="167" name="직선 화살표 연결선 185">
            <a:extLst>
              <a:ext uri="{FF2B5EF4-FFF2-40B4-BE49-F238E27FC236}">
                <a16:creationId xmlns:a16="http://schemas.microsoft.com/office/drawing/2014/main" id="{F503EB59-7A62-4F30-AAE1-701F8876226F}"/>
              </a:ext>
            </a:extLst>
          </p:cNvPr>
          <p:cNvCxnSpPr>
            <a:cxnSpLocks/>
            <a:stCxn id="194" idx="2"/>
            <a:endCxn id="170" idx="0"/>
          </p:cNvCxnSpPr>
          <p:nvPr/>
        </p:nvCxnSpPr>
        <p:spPr>
          <a:xfrm rot="5400000">
            <a:off x="8240363" y="2654829"/>
            <a:ext cx="599592" cy="1112487"/>
          </a:xfrm>
          <a:prstGeom prst="bentConnector3">
            <a:avLst>
              <a:gd name="adj1" fmla="val 50000"/>
            </a:avLst>
          </a:prstGeom>
          <a:noFill/>
          <a:ln w="11430">
            <a:solidFill>
              <a:srgbClr val="888C91"/>
            </a:solidFill>
            <a:prstDash val="solid"/>
            <a:headEnd type="none"/>
            <a:tailEnd type="triangle"/>
          </a:ln>
        </p:spPr>
      </p:cxnSp>
      <p:sp>
        <p:nvSpPr>
          <p:cNvPr id="168" name="Shape 37">
            <a:extLst>
              <a:ext uri="{FF2B5EF4-FFF2-40B4-BE49-F238E27FC236}">
                <a16:creationId xmlns:a16="http://schemas.microsoft.com/office/drawing/2014/main" id="{CDADBD5B-DA4A-40B1-801E-1304EF786CBF}"/>
              </a:ext>
            </a:extLst>
          </p:cNvPr>
          <p:cNvSpPr/>
          <p:nvPr/>
        </p:nvSpPr>
        <p:spPr>
          <a:xfrm>
            <a:off x="6665624" y="2384758"/>
            <a:ext cx="862466" cy="526518"/>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rPr>
              <a:t>Resource State</a:t>
            </a:r>
          </a:p>
          <a:p>
            <a:pPr algn="ctr"/>
            <a:r>
              <a:rPr lang="en-US" altLang="ko-KR" sz="1000" b="1" dirty="0">
                <a:solidFill>
                  <a:srgbClr val="1A1A1A"/>
                </a:solidFill>
                <a:latin typeface="Malgun Gothic" pitchFamily="34" charset="0"/>
                <a:ea typeface="Malgun Gothic" pitchFamily="34" charset="-122"/>
              </a:rPr>
              <a:t>Monitor</a:t>
            </a:r>
          </a:p>
        </p:txBody>
      </p:sp>
      <p:sp>
        <p:nvSpPr>
          <p:cNvPr id="169" name="Shape 39">
            <a:extLst>
              <a:ext uri="{FF2B5EF4-FFF2-40B4-BE49-F238E27FC236}">
                <a16:creationId xmlns:a16="http://schemas.microsoft.com/office/drawing/2014/main" id="{3200ED7A-C4D3-48D4-B07F-0888BE6274B3}"/>
              </a:ext>
            </a:extLst>
          </p:cNvPr>
          <p:cNvSpPr/>
          <p:nvPr/>
        </p:nvSpPr>
        <p:spPr>
          <a:xfrm>
            <a:off x="7682813" y="2384757"/>
            <a:ext cx="856456" cy="526519"/>
          </a:xfrm>
          <a:prstGeom prst="rect">
            <a:avLst/>
          </a:prstGeom>
          <a:solidFill>
            <a:srgbClr val="FFFFFF"/>
          </a:solidFill>
          <a:ln w="12700">
            <a:solidFill>
              <a:srgbClr val="C76E31"/>
            </a:solidFill>
            <a:prstDash val="solid"/>
          </a:ln>
        </p:spPr>
        <p:txBody>
          <a:bodyPr anchor="ctr"/>
          <a:lstStyle/>
          <a:p>
            <a:pPr algn="ctr"/>
            <a:r>
              <a:rPr lang="en-US" altLang="ko-KR" sz="1000" b="1" dirty="0">
                <a:solidFill>
                  <a:srgbClr val="1A1A1A"/>
                </a:solidFill>
                <a:latin typeface="Malgun Gothic" pitchFamily="34" charset="0"/>
                <a:ea typeface="Malgun Gothic" pitchFamily="34" charset="-122"/>
              </a:rPr>
              <a:t>Execution Cost Model</a:t>
            </a:r>
          </a:p>
        </p:txBody>
      </p:sp>
      <p:sp>
        <p:nvSpPr>
          <p:cNvPr id="170" name="Shape 37">
            <a:extLst>
              <a:ext uri="{FF2B5EF4-FFF2-40B4-BE49-F238E27FC236}">
                <a16:creationId xmlns:a16="http://schemas.microsoft.com/office/drawing/2014/main" id="{6DFEFCCD-D932-4B23-8FAA-AA1B40299F0D}"/>
              </a:ext>
            </a:extLst>
          </p:cNvPr>
          <p:cNvSpPr/>
          <p:nvPr/>
        </p:nvSpPr>
        <p:spPr>
          <a:xfrm>
            <a:off x="7209819" y="3510868"/>
            <a:ext cx="1548192" cy="326926"/>
          </a:xfrm>
          <a:prstGeom prst="rect">
            <a:avLst/>
          </a:prstGeom>
          <a:solidFill>
            <a:srgbClr val="FFFFFF"/>
          </a:solidFill>
          <a:ln w="12700">
            <a:solidFill>
              <a:srgbClr val="C76E31"/>
            </a:solidFill>
            <a:prstDash val="solid"/>
          </a:ln>
        </p:spPr>
        <p:txBody>
          <a:bodyPr anchor="ctr"/>
          <a:lstStyle/>
          <a:p>
            <a:pPr algn="ctr"/>
            <a:r>
              <a:rPr lang="en-US" altLang="ko-KR" sz="1000" b="1" dirty="0" err="1">
                <a:solidFill>
                  <a:srgbClr val="1A1A1A"/>
                </a:solidFill>
                <a:latin typeface="Malgun Gothic" pitchFamily="34" charset="0"/>
                <a:ea typeface="Malgun Gothic" pitchFamily="34" charset="-122"/>
              </a:rPr>
              <a:t>Execuction</a:t>
            </a:r>
            <a:r>
              <a:rPr lang="en-US" altLang="ko-KR" sz="1000" b="1" dirty="0">
                <a:solidFill>
                  <a:srgbClr val="1A1A1A"/>
                </a:solidFill>
                <a:latin typeface="Malgun Gothic" pitchFamily="34" charset="0"/>
                <a:ea typeface="Malgun Gothic" pitchFamily="34" charset="-122"/>
              </a:rPr>
              <a:t> Planner</a:t>
            </a:r>
          </a:p>
        </p:txBody>
      </p:sp>
      <p:cxnSp>
        <p:nvCxnSpPr>
          <p:cNvPr id="171" name="직선 화살표 연결선 185">
            <a:extLst>
              <a:ext uri="{FF2B5EF4-FFF2-40B4-BE49-F238E27FC236}">
                <a16:creationId xmlns:a16="http://schemas.microsoft.com/office/drawing/2014/main" id="{7416361F-BACC-455E-BB50-93AB3B046776}"/>
              </a:ext>
            </a:extLst>
          </p:cNvPr>
          <p:cNvCxnSpPr>
            <a:cxnSpLocks/>
            <a:stCxn id="170" idx="0"/>
            <a:endCxn id="169" idx="2"/>
          </p:cNvCxnSpPr>
          <p:nvPr/>
        </p:nvCxnSpPr>
        <p:spPr>
          <a:xfrm rot="5400000" flipH="1" flipV="1">
            <a:off x="7747682" y="3147509"/>
            <a:ext cx="599592" cy="127126"/>
          </a:xfrm>
          <a:prstGeom prst="bentConnector3">
            <a:avLst>
              <a:gd name="adj1" fmla="val 50000"/>
            </a:avLst>
          </a:prstGeom>
          <a:noFill/>
          <a:ln w="11430">
            <a:solidFill>
              <a:schemeClr val="accent2"/>
            </a:solidFill>
            <a:prstDash val="solid"/>
            <a:headEnd type="triangle" w="med" len="med"/>
            <a:tailEnd type="none" w="med" len="med"/>
          </a:ln>
        </p:spPr>
      </p:cxnSp>
      <p:cxnSp>
        <p:nvCxnSpPr>
          <p:cNvPr id="172" name="직선 화살표 연결선 185">
            <a:extLst>
              <a:ext uri="{FF2B5EF4-FFF2-40B4-BE49-F238E27FC236}">
                <a16:creationId xmlns:a16="http://schemas.microsoft.com/office/drawing/2014/main" id="{F95EA2E2-67A0-4776-BBEF-2B3A950F7693}"/>
              </a:ext>
            </a:extLst>
          </p:cNvPr>
          <p:cNvCxnSpPr>
            <a:cxnSpLocks/>
            <a:stCxn id="170" idx="0"/>
            <a:endCxn id="168" idx="2"/>
          </p:cNvCxnSpPr>
          <p:nvPr/>
        </p:nvCxnSpPr>
        <p:spPr>
          <a:xfrm rot="16200000" flipV="1">
            <a:off x="7240590" y="2767543"/>
            <a:ext cx="599592" cy="887058"/>
          </a:xfrm>
          <a:prstGeom prst="bentConnector3">
            <a:avLst>
              <a:gd name="adj1" fmla="val 50000"/>
            </a:avLst>
          </a:prstGeom>
          <a:noFill/>
          <a:ln w="11430">
            <a:solidFill>
              <a:schemeClr val="accent2"/>
            </a:solidFill>
            <a:prstDash val="solid"/>
            <a:headEnd type="triangle" w="med" len="med"/>
            <a:tailEnd type="none" w="med" len="med"/>
          </a:ln>
        </p:spPr>
      </p:cxnSp>
      <p:sp>
        <p:nvSpPr>
          <p:cNvPr id="173" name="직사각형 172">
            <a:extLst>
              <a:ext uri="{FF2B5EF4-FFF2-40B4-BE49-F238E27FC236}">
                <a16:creationId xmlns:a16="http://schemas.microsoft.com/office/drawing/2014/main" id="{3AB95F11-47D0-41E8-828C-8C6D7E1221CD}"/>
              </a:ext>
            </a:extLst>
          </p:cNvPr>
          <p:cNvSpPr/>
          <p:nvPr/>
        </p:nvSpPr>
        <p:spPr>
          <a:xfrm>
            <a:off x="6971299" y="1983022"/>
            <a:ext cx="2152357" cy="271459"/>
          </a:xfrm>
          <a:prstGeom prst="rect">
            <a:avLst/>
          </a:prstGeom>
          <a:noFill/>
          <a:ln w="12700">
            <a:noFill/>
            <a:prstDash val="dash"/>
          </a:ln>
        </p:spPr>
        <p:txBody>
          <a:bodyPr rtlCol="0" anchor="ctr"/>
          <a:lstStyle/>
          <a:p>
            <a:pPr algn="ctr"/>
            <a:r>
              <a:rPr lang="en-US" altLang="ko-KR" sz="900" dirty="0">
                <a:solidFill>
                  <a:schemeClr val="bg1">
                    <a:lumMod val="50000"/>
                  </a:schemeClr>
                </a:solidFill>
              </a:rPr>
              <a:t>Planning</a:t>
            </a:r>
            <a:r>
              <a:rPr lang="ko-KR" altLang="en-US" sz="900" dirty="0">
                <a:solidFill>
                  <a:schemeClr val="bg1">
                    <a:lumMod val="50000"/>
                  </a:schemeClr>
                </a:solidFill>
              </a:rPr>
              <a:t> </a:t>
            </a:r>
            <a:r>
              <a:rPr lang="en-US" altLang="ko-KR" sz="900" dirty="0">
                <a:solidFill>
                  <a:schemeClr val="bg1">
                    <a:lumMod val="50000"/>
                  </a:schemeClr>
                </a:solidFill>
              </a:rPr>
              <a:t>- </a:t>
            </a:r>
            <a:r>
              <a:rPr lang="ko-KR" altLang="en-US" sz="900" dirty="0">
                <a:solidFill>
                  <a:schemeClr val="bg1">
                    <a:lumMod val="50000"/>
                  </a:schemeClr>
                </a:solidFill>
              </a:rPr>
              <a:t> </a:t>
            </a:r>
            <a:r>
              <a:rPr lang="en-US" altLang="ko-KR" sz="900" dirty="0">
                <a:solidFill>
                  <a:schemeClr val="bg1">
                    <a:lumMod val="50000"/>
                  </a:schemeClr>
                </a:solidFill>
              </a:rPr>
              <a:t>Critical path </a:t>
            </a:r>
            <a:r>
              <a:rPr lang="ko-KR" altLang="en-US" sz="900" dirty="0">
                <a:solidFill>
                  <a:schemeClr val="bg1">
                    <a:lumMod val="50000"/>
                  </a:schemeClr>
                </a:solidFill>
              </a:rPr>
              <a:t>밖</a:t>
            </a:r>
            <a:endParaRPr lang="en-US" altLang="ko-KR" sz="900" dirty="0">
              <a:solidFill>
                <a:schemeClr val="bg1">
                  <a:lumMod val="50000"/>
                </a:schemeClr>
              </a:solidFill>
            </a:endParaRPr>
          </a:p>
        </p:txBody>
      </p:sp>
      <p:sp>
        <p:nvSpPr>
          <p:cNvPr id="174" name="직사각형 173">
            <a:extLst>
              <a:ext uri="{FF2B5EF4-FFF2-40B4-BE49-F238E27FC236}">
                <a16:creationId xmlns:a16="http://schemas.microsoft.com/office/drawing/2014/main" id="{6AAFD171-3C78-4AA2-8BCC-3429FB116D82}"/>
              </a:ext>
            </a:extLst>
          </p:cNvPr>
          <p:cNvSpPr/>
          <p:nvPr/>
        </p:nvSpPr>
        <p:spPr>
          <a:xfrm>
            <a:off x="9806016" y="1999850"/>
            <a:ext cx="2152357" cy="271459"/>
          </a:xfrm>
          <a:prstGeom prst="rect">
            <a:avLst/>
          </a:prstGeom>
          <a:noFill/>
          <a:ln w="12700">
            <a:noFill/>
            <a:prstDash val="dash"/>
          </a:ln>
        </p:spPr>
        <p:txBody>
          <a:bodyPr rtlCol="0" anchor="ctr"/>
          <a:lstStyle/>
          <a:p>
            <a:pPr algn="ctr"/>
            <a:r>
              <a:rPr lang="en-US" altLang="ko-KR" sz="900" dirty="0">
                <a:solidFill>
                  <a:schemeClr val="bg1">
                    <a:lumMod val="50000"/>
                  </a:schemeClr>
                </a:solidFill>
              </a:rPr>
              <a:t>Serving - Critical path </a:t>
            </a:r>
            <a:r>
              <a:rPr lang="ko-KR" altLang="en-US" sz="900" dirty="0">
                <a:solidFill>
                  <a:schemeClr val="bg1">
                    <a:lumMod val="50000"/>
                  </a:schemeClr>
                </a:solidFill>
              </a:rPr>
              <a:t>내</a:t>
            </a:r>
            <a:endParaRPr lang="en-US" altLang="ko-KR" sz="900" dirty="0">
              <a:solidFill>
                <a:schemeClr val="bg1">
                  <a:lumMod val="50000"/>
                </a:schemeClr>
              </a:solidFill>
            </a:endParaRPr>
          </a:p>
        </p:txBody>
      </p:sp>
      <p:sp>
        <p:nvSpPr>
          <p:cNvPr id="178" name="TextBox 177">
            <a:extLst>
              <a:ext uri="{FF2B5EF4-FFF2-40B4-BE49-F238E27FC236}">
                <a16:creationId xmlns:a16="http://schemas.microsoft.com/office/drawing/2014/main" id="{28FDA5D8-7945-4C78-BDCF-BC0C3D29BBCE}"/>
              </a:ext>
            </a:extLst>
          </p:cNvPr>
          <p:cNvSpPr txBox="1"/>
          <p:nvPr/>
        </p:nvSpPr>
        <p:spPr>
          <a:xfrm>
            <a:off x="9979828" y="3241519"/>
            <a:ext cx="640080" cy="215444"/>
          </a:xfrm>
          <a:prstGeom prst="rect">
            <a:avLst/>
          </a:prstGeom>
          <a:noFill/>
        </p:spPr>
        <p:txBody>
          <a:bodyPr wrap="square" lIns="0" tIns="0" rIns="0" bIns="0" anchor="ctr">
            <a:spAutoFit/>
          </a:bodyPr>
          <a:lstStyle/>
          <a:p>
            <a:pPr algn="l">
              <a:lnSpc>
                <a:spcPct val="100000"/>
              </a:lnSpc>
            </a:pPr>
            <a:r>
              <a:rPr lang="en-US" sz="700" b="0" i="0" dirty="0">
                <a:solidFill>
                  <a:srgbClr val="C55A11"/>
                </a:solidFill>
                <a:latin typeface="맑은 고딕"/>
                <a:ea typeface="맑은 고딕"/>
              </a:rPr>
              <a:t>Async</a:t>
            </a:r>
          </a:p>
          <a:p>
            <a:pPr algn="l">
              <a:lnSpc>
                <a:spcPct val="100000"/>
              </a:lnSpc>
            </a:pPr>
            <a:r>
              <a:rPr sz="700" b="0" i="0" dirty="0">
                <a:solidFill>
                  <a:srgbClr val="C55A11"/>
                </a:solidFill>
                <a:latin typeface="맑은 고딕"/>
                <a:ea typeface="맑은 고딕"/>
              </a:rPr>
              <a:t>re-plan</a:t>
            </a:r>
            <a:endParaRPr lang="en-US" sz="700" b="0" i="0" dirty="0">
              <a:solidFill>
                <a:srgbClr val="C55A11"/>
              </a:solidFill>
              <a:latin typeface="맑은 고딕"/>
              <a:ea typeface="맑은 고딕"/>
            </a:endParaRPr>
          </a:p>
        </p:txBody>
      </p:sp>
      <p:sp>
        <p:nvSpPr>
          <p:cNvPr id="179" name="TextBox 178">
            <a:extLst>
              <a:ext uri="{FF2B5EF4-FFF2-40B4-BE49-F238E27FC236}">
                <a16:creationId xmlns:a16="http://schemas.microsoft.com/office/drawing/2014/main" id="{C2859624-58A4-426B-8D5A-878FCF49A83D}"/>
              </a:ext>
            </a:extLst>
          </p:cNvPr>
          <p:cNvSpPr txBox="1"/>
          <p:nvPr/>
        </p:nvSpPr>
        <p:spPr>
          <a:xfrm>
            <a:off x="10095306" y="2884525"/>
            <a:ext cx="640080" cy="107722"/>
          </a:xfrm>
          <a:prstGeom prst="rect">
            <a:avLst/>
          </a:prstGeom>
          <a:noFill/>
        </p:spPr>
        <p:txBody>
          <a:bodyPr wrap="square" lIns="0" tIns="0" rIns="0" bIns="0" anchor="ctr">
            <a:spAutoFit/>
          </a:bodyPr>
          <a:lstStyle/>
          <a:p>
            <a:pPr algn="l">
              <a:lnSpc>
                <a:spcPct val="100000"/>
              </a:lnSpc>
            </a:pPr>
            <a:r>
              <a:rPr lang="en-US" sz="700" b="0" i="0" dirty="0">
                <a:solidFill>
                  <a:schemeClr val="accent1"/>
                </a:solidFill>
                <a:latin typeface="맑은 고딕"/>
                <a:ea typeface="맑은 고딕"/>
              </a:rPr>
              <a:t>read</a:t>
            </a:r>
            <a:endParaRPr sz="700" b="0" i="0" dirty="0">
              <a:solidFill>
                <a:schemeClr val="accent1"/>
              </a:solidFill>
              <a:latin typeface="맑은 고딕"/>
              <a:ea typeface="맑은 고딕"/>
            </a:endParaRPr>
          </a:p>
        </p:txBody>
      </p:sp>
      <p:sp>
        <p:nvSpPr>
          <p:cNvPr id="180" name="TextBox 179">
            <a:extLst>
              <a:ext uri="{FF2B5EF4-FFF2-40B4-BE49-F238E27FC236}">
                <a16:creationId xmlns:a16="http://schemas.microsoft.com/office/drawing/2014/main" id="{D9375BAE-617C-4889-B1CD-E1C273B50509}"/>
              </a:ext>
            </a:extLst>
          </p:cNvPr>
          <p:cNvSpPr txBox="1"/>
          <p:nvPr/>
        </p:nvSpPr>
        <p:spPr>
          <a:xfrm>
            <a:off x="11520488" y="3232330"/>
            <a:ext cx="553104" cy="430887"/>
          </a:xfrm>
          <a:prstGeom prst="rect">
            <a:avLst/>
          </a:prstGeom>
          <a:noFill/>
        </p:spPr>
        <p:txBody>
          <a:bodyPr wrap="square" lIns="0" tIns="0" rIns="0" bIns="0" anchor="ctr">
            <a:spAutoFit/>
          </a:bodyPr>
          <a:lstStyle/>
          <a:p>
            <a:pPr algn="l">
              <a:lnSpc>
                <a:spcPct val="100000"/>
              </a:lnSpc>
            </a:pPr>
            <a:r>
              <a:rPr lang="en-US" altLang="ko-KR" sz="700" b="0" i="0" dirty="0">
                <a:solidFill>
                  <a:srgbClr val="C55A11"/>
                </a:solidFill>
                <a:latin typeface="맑은 고딕"/>
                <a:ea typeface="맑은 고딕"/>
              </a:rPr>
              <a:t>If mismatch</a:t>
            </a:r>
          </a:p>
          <a:p>
            <a:pPr algn="l">
              <a:lnSpc>
                <a:spcPct val="100000"/>
              </a:lnSpc>
            </a:pPr>
            <a:r>
              <a:rPr lang="en-US" altLang="ko-KR" sz="700" b="0" i="0" dirty="0">
                <a:solidFill>
                  <a:srgbClr val="C55A11"/>
                </a:solidFill>
                <a:latin typeface="맑은 고딕"/>
                <a:ea typeface="맑은 고딕"/>
              </a:rPr>
              <a:t>1) </a:t>
            </a:r>
            <a:r>
              <a:rPr lang="ko-KR" altLang="en-US" sz="700" b="0" i="0" dirty="0" err="1">
                <a:solidFill>
                  <a:srgbClr val="C55A11"/>
                </a:solidFill>
                <a:latin typeface="맑은 고딕"/>
                <a:ea typeface="맑은 고딕"/>
              </a:rPr>
              <a:t>차순위</a:t>
            </a:r>
            <a:endParaRPr lang="en-US" altLang="ko-KR" sz="700" b="0" i="0" dirty="0">
              <a:solidFill>
                <a:srgbClr val="C55A11"/>
              </a:solidFill>
              <a:latin typeface="맑은 고딕"/>
              <a:ea typeface="맑은 고딕"/>
            </a:endParaRPr>
          </a:p>
          <a:p>
            <a:pPr algn="l">
              <a:lnSpc>
                <a:spcPct val="100000"/>
              </a:lnSpc>
            </a:pPr>
            <a:r>
              <a:rPr lang="en-US" sz="700" dirty="0">
                <a:solidFill>
                  <a:srgbClr val="C55A11"/>
                </a:solidFill>
                <a:latin typeface="맑은 고딕"/>
                <a:ea typeface="맑은 고딕"/>
              </a:rPr>
              <a:t>2) Fallback</a:t>
            </a:r>
          </a:p>
          <a:p>
            <a:pPr algn="l">
              <a:lnSpc>
                <a:spcPct val="100000"/>
              </a:lnSpc>
            </a:pPr>
            <a:r>
              <a:rPr lang="en-US" sz="700" b="0" i="0" dirty="0">
                <a:solidFill>
                  <a:srgbClr val="C55A11"/>
                </a:solidFill>
                <a:latin typeface="맑은 고딕"/>
                <a:ea typeface="맑은 고딕"/>
              </a:rPr>
              <a:t>3) Re-plan</a:t>
            </a:r>
            <a:endParaRPr sz="700" b="0" i="0" dirty="0">
              <a:solidFill>
                <a:srgbClr val="C55A11"/>
              </a:solidFill>
              <a:latin typeface="맑은 고딕"/>
              <a:ea typeface="맑은 고딕"/>
            </a:endParaRPr>
          </a:p>
        </p:txBody>
      </p:sp>
      <p:sp>
        <p:nvSpPr>
          <p:cNvPr id="194" name="Shape 31">
            <a:extLst>
              <a:ext uri="{FF2B5EF4-FFF2-40B4-BE49-F238E27FC236}">
                <a16:creationId xmlns:a16="http://schemas.microsoft.com/office/drawing/2014/main" id="{0AB0A56F-FB6F-4D42-9EA0-82A3CC019450}"/>
              </a:ext>
            </a:extLst>
          </p:cNvPr>
          <p:cNvSpPr/>
          <p:nvPr/>
        </p:nvSpPr>
        <p:spPr>
          <a:xfrm>
            <a:off x="8595832" y="2521815"/>
            <a:ext cx="1001139" cy="389461"/>
          </a:xfrm>
          <a:prstGeom prst="roundRect">
            <a:avLst>
              <a:gd name="adj" fmla="val 37674"/>
            </a:avLst>
          </a:prstGeom>
          <a:solidFill>
            <a:srgbClr val="F0F1F3"/>
          </a:solidFill>
          <a:ln w="12700">
            <a:solidFill>
              <a:srgbClr val="888C91"/>
            </a:solidFill>
            <a:prstDash val="solid"/>
          </a:ln>
        </p:spPr>
        <p:txBody>
          <a:bodyPr anchor="ctr"/>
          <a:lstStyle/>
          <a:p>
            <a:pPr algn="ctr" latinLnBrk="0"/>
            <a:r>
              <a:rPr lang="en-US" altLang="ko-KR" sz="1000" dirty="0">
                <a:solidFill>
                  <a:srgbClr val="1A1A1A"/>
                </a:solidFill>
                <a:latin typeface="Malgun Gothic" pitchFamily="34" charset="0"/>
                <a:ea typeface="Malgun Gothic" pitchFamily="34" charset="-122"/>
              </a:rPr>
              <a:t>Waiting Queue</a:t>
            </a:r>
            <a:endParaRPr lang="ko-KR" altLang="en-US" sz="1000" dirty="0">
              <a:solidFill>
                <a:srgbClr val="1A1A1A"/>
              </a:solidFill>
              <a:latin typeface="Malgun Gothic" pitchFamily="34" charset="0"/>
              <a:ea typeface="Malgun Gothic" pitchFamily="34" charset="-122"/>
            </a:endParaRPr>
          </a:p>
        </p:txBody>
      </p:sp>
    </p:spTree>
    <p:extLst>
      <p:ext uri="{BB962C8B-B14F-4D97-AF65-F5344CB8AC3E}">
        <p14:creationId xmlns:p14="http://schemas.microsoft.com/office/powerpoint/2010/main" val="4267403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DP4. 요청 조율 구조 (Orchestration) - 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160372" y="849834"/>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② 서버 여러 대로 확장 (Rack Scale)</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① 서버 1대 안: 이기종 메모리 환경</a:t>
              </a:r>
            </a:p>
          </p:txBody>
        </p:sp>
      </p:grpSp>
      <p:sp>
        <p:nvSpPr>
          <p:cNvPr id="102" name="TextBox 101"/>
          <p:cNvSpPr txBox="1"/>
          <p:nvPr/>
        </p:nvSpPr>
        <p:spPr>
          <a:xfrm>
            <a:off x="457200" y="1152144"/>
            <a:ext cx="5349240" cy="640080"/>
          </a:xfrm>
          <a:prstGeom prst="rect">
            <a:avLst/>
          </a:prstGeom>
          <a:noFill/>
        </p:spPr>
        <p:txBody>
          <a:bodyPr wrap="square" lIns="0" tIns="0" rIns="0" bIns="0" anchor="t">
            <a:spAutoFit/>
          </a:bodyPr>
          <a:lstStyle/>
          <a:p>
            <a:pPr algn="l">
              <a:lnSpc>
                <a:spcPct val="112000"/>
              </a:lnSpc>
            </a:pPr>
            <a:r>
              <a:rPr sz="1050" b="1" i="0" dirty="0">
                <a:solidFill>
                  <a:srgbClr val="2E75B6"/>
                </a:solidFill>
                <a:latin typeface="맑은 고딕"/>
                <a:ea typeface="맑은 고딕"/>
              </a:rPr>
              <a:t>✓ </a:t>
            </a:r>
            <a:r>
              <a:rPr sz="1050" b="0" i="0" dirty="0" err="1">
                <a:solidFill>
                  <a:srgbClr val="404040"/>
                </a:solidFill>
                <a:latin typeface="맑은 고딕"/>
                <a:ea typeface="맑은 고딕"/>
              </a:rPr>
              <a:t>신규</a:t>
            </a:r>
            <a:r>
              <a:rPr sz="1050" b="0" i="0" dirty="0">
                <a:solidFill>
                  <a:srgbClr val="404040"/>
                </a:solidFill>
                <a:latin typeface="맑은 고딕"/>
                <a:ea typeface="맑은 고딕"/>
              </a:rPr>
              <a:t> </a:t>
            </a:r>
            <a:r>
              <a:rPr sz="1050" b="0" i="0" dirty="0" err="1">
                <a:solidFill>
                  <a:srgbClr val="404040"/>
                </a:solidFill>
                <a:latin typeface="맑은 고딕"/>
                <a:ea typeface="맑은 고딕"/>
              </a:rPr>
              <a:t>메모리</a:t>
            </a:r>
            <a:r>
              <a:rPr sz="1050" b="0" i="0" dirty="0">
                <a:solidFill>
                  <a:srgbClr val="404040"/>
                </a:solidFill>
                <a:latin typeface="맑은 고딕"/>
                <a:ea typeface="맑은 고딕"/>
              </a:rPr>
              <a:t>(HBF, CXL-PNM, SSD-PIM 등)가 </a:t>
            </a:r>
            <a:r>
              <a:rPr sz="1050" b="0" i="0" dirty="0" err="1">
                <a:solidFill>
                  <a:srgbClr val="404040"/>
                </a:solidFill>
                <a:latin typeface="맑은 고딕"/>
                <a:ea typeface="맑은 고딕"/>
              </a:rPr>
              <a:t>등장해</a:t>
            </a:r>
            <a:r>
              <a:rPr sz="1050" b="0" i="0" dirty="0">
                <a:solidFill>
                  <a:srgbClr val="404040"/>
                </a:solidFill>
                <a:latin typeface="맑은 고딕"/>
                <a:ea typeface="맑은 고딕"/>
              </a:rPr>
              <a:t> </a:t>
            </a:r>
            <a:r>
              <a:rPr sz="1050" b="0" i="0" dirty="0" err="1">
                <a:solidFill>
                  <a:srgbClr val="404040"/>
                </a:solidFill>
                <a:latin typeface="맑은 고딕"/>
                <a:ea typeface="맑은 고딕"/>
              </a:rPr>
              <a:t>서버</a:t>
            </a:r>
            <a:r>
              <a:rPr sz="1050" b="0" i="0" dirty="0">
                <a:solidFill>
                  <a:srgbClr val="404040"/>
                </a:solidFill>
                <a:latin typeface="맑은 고딕"/>
                <a:ea typeface="맑은 고딕"/>
              </a:rPr>
              <a:t> 1대 </a:t>
            </a:r>
            <a:r>
              <a:rPr sz="1050" b="0" i="0" dirty="0" err="1">
                <a:solidFill>
                  <a:srgbClr val="404040"/>
                </a:solidFill>
                <a:latin typeface="맑은 고딕"/>
                <a:ea typeface="맑은 고딕"/>
              </a:rPr>
              <a:t>안에</a:t>
            </a:r>
            <a:r>
              <a:rPr sz="1050" b="0" i="0" dirty="0">
                <a:solidFill>
                  <a:srgbClr val="404040"/>
                </a:solidFill>
                <a:latin typeface="맑은 고딕"/>
                <a:ea typeface="맑은 고딕"/>
              </a:rPr>
              <a:t> </a:t>
            </a:r>
            <a:r>
              <a:rPr sz="1050" b="1" i="0" dirty="0" err="1">
                <a:solidFill>
                  <a:srgbClr val="2E75B6"/>
                </a:solidFill>
                <a:latin typeface="맑은 고딕"/>
                <a:ea typeface="맑은 고딕"/>
              </a:rPr>
              <a:t>속도·용량·기능이</a:t>
            </a:r>
            <a:r>
              <a:rPr sz="1050" b="1" i="0" dirty="0">
                <a:solidFill>
                  <a:srgbClr val="2E75B6"/>
                </a:solidFill>
                <a:latin typeface="맑은 고딕"/>
                <a:ea typeface="맑은 고딕"/>
              </a:rPr>
              <a:t> </a:t>
            </a:r>
            <a:r>
              <a:rPr sz="1050" b="1" i="0" dirty="0" err="1">
                <a:solidFill>
                  <a:srgbClr val="2E75B6"/>
                </a:solidFill>
                <a:latin typeface="맑은 고딕"/>
                <a:ea typeface="맑은 고딕"/>
              </a:rPr>
              <a:t>다른</a:t>
            </a:r>
            <a:r>
              <a:rPr sz="1050" b="1" i="0" dirty="0">
                <a:solidFill>
                  <a:srgbClr val="2E75B6"/>
                </a:solidFill>
                <a:latin typeface="맑은 고딕"/>
                <a:ea typeface="맑은 고딕"/>
              </a:rPr>
              <a:t> </a:t>
            </a:r>
            <a:r>
              <a:rPr sz="1050" b="1" i="0" dirty="0" err="1">
                <a:solidFill>
                  <a:srgbClr val="2E75B6"/>
                </a:solidFill>
                <a:latin typeface="맑은 고딕"/>
                <a:ea typeface="맑은 고딕"/>
              </a:rPr>
              <a:t>메모리가</a:t>
            </a:r>
            <a:r>
              <a:rPr sz="1050" b="1" i="0" dirty="0">
                <a:solidFill>
                  <a:srgbClr val="2E75B6"/>
                </a:solidFill>
                <a:latin typeface="맑은 고딕"/>
                <a:ea typeface="맑은 고딕"/>
              </a:rPr>
              <a:t> </a:t>
            </a:r>
            <a:r>
              <a:rPr sz="1050" b="1" i="0" dirty="0" err="1">
                <a:solidFill>
                  <a:srgbClr val="2E75B6"/>
                </a:solidFill>
                <a:latin typeface="맑은 고딕"/>
                <a:ea typeface="맑은 고딕"/>
              </a:rPr>
              <a:t>혼재</a:t>
            </a:r>
            <a:endParaRPr sz="1050" b="1" i="0" dirty="0">
              <a:solidFill>
                <a:srgbClr val="2E75B6"/>
              </a:solidFill>
              <a:latin typeface="맑은 고딕"/>
              <a:ea typeface="맑은 고딕"/>
            </a:endParaRPr>
          </a:p>
          <a:p>
            <a:pPr algn="l">
              <a:lnSpc>
                <a:spcPct val="112000"/>
              </a:lnSpc>
            </a:pPr>
            <a:r>
              <a:rPr sz="1050" b="1" i="0" dirty="0">
                <a:solidFill>
                  <a:srgbClr val="2E75B6"/>
                </a:solidFill>
                <a:latin typeface="맑은 고딕"/>
                <a:ea typeface="맑은 고딕"/>
              </a:rPr>
              <a:t>✓ </a:t>
            </a:r>
            <a:r>
              <a:rPr sz="1050" b="0" i="0" dirty="0">
                <a:solidFill>
                  <a:srgbClr val="404040"/>
                </a:solidFill>
                <a:latin typeface="맑은 고딕"/>
                <a:ea typeface="맑은 고딕"/>
              </a:rPr>
              <a:t>KV </a:t>
            </a:r>
            <a:r>
              <a:rPr sz="1050" b="0" i="0" dirty="0" err="1">
                <a:solidFill>
                  <a:srgbClr val="404040"/>
                </a:solidFill>
                <a:latin typeface="맑은 고딕"/>
                <a:ea typeface="맑은 고딕"/>
              </a:rPr>
              <a:t>캐시</a:t>
            </a:r>
            <a:r>
              <a:rPr sz="1050" b="0" i="0" dirty="0">
                <a:solidFill>
                  <a:srgbClr val="404040"/>
                </a:solidFill>
                <a:latin typeface="맑은 고딕"/>
                <a:ea typeface="맑은 고딕"/>
              </a:rPr>
              <a:t> 등 AI </a:t>
            </a:r>
            <a:r>
              <a:rPr sz="1050" b="0" i="0" dirty="0" err="1">
                <a:solidFill>
                  <a:srgbClr val="404040"/>
                </a:solidFill>
                <a:latin typeface="맑은 고딕"/>
                <a:ea typeface="맑은 고딕"/>
              </a:rPr>
              <a:t>데이터를</a:t>
            </a:r>
            <a:r>
              <a:rPr sz="1050" b="0" i="0" dirty="0">
                <a:solidFill>
                  <a:srgbClr val="404040"/>
                </a:solidFill>
                <a:latin typeface="맑은 고딕"/>
                <a:ea typeface="맑은 고딕"/>
              </a:rPr>
              <a:t> </a:t>
            </a:r>
            <a:r>
              <a:rPr sz="1050" b="1" i="0" dirty="0" err="1">
                <a:solidFill>
                  <a:srgbClr val="2E75B6"/>
                </a:solidFill>
                <a:latin typeface="맑은 고딕"/>
                <a:ea typeface="맑은 고딕"/>
              </a:rPr>
              <a:t>어느</a:t>
            </a:r>
            <a:r>
              <a:rPr sz="1050" b="1" i="0" dirty="0">
                <a:solidFill>
                  <a:srgbClr val="2E75B6"/>
                </a:solidFill>
                <a:latin typeface="맑은 고딕"/>
                <a:ea typeface="맑은 고딕"/>
              </a:rPr>
              <a:t> </a:t>
            </a:r>
            <a:r>
              <a:rPr sz="1050" b="1" i="0" dirty="0" err="1">
                <a:solidFill>
                  <a:srgbClr val="2E75B6"/>
                </a:solidFill>
                <a:latin typeface="맑은 고딕"/>
                <a:ea typeface="맑은 고딕"/>
              </a:rPr>
              <a:t>메모리에</a:t>
            </a:r>
            <a:r>
              <a:rPr sz="1050" b="1" i="0" dirty="0">
                <a:solidFill>
                  <a:srgbClr val="2E75B6"/>
                </a:solidFill>
                <a:latin typeface="맑은 고딕"/>
                <a:ea typeface="맑은 고딕"/>
              </a:rPr>
              <a:t> </a:t>
            </a:r>
            <a:r>
              <a:rPr sz="1050" b="1" i="0" dirty="0" err="1">
                <a:solidFill>
                  <a:srgbClr val="2E75B6"/>
                </a:solidFill>
                <a:latin typeface="맑은 고딕"/>
                <a:ea typeface="맑은 고딕"/>
              </a:rPr>
              <a:t>두느냐</a:t>
            </a:r>
            <a:r>
              <a:rPr sz="1050" b="0" i="0" dirty="0" err="1">
                <a:solidFill>
                  <a:srgbClr val="404040"/>
                </a:solidFill>
                <a:latin typeface="맑은 고딕"/>
                <a:ea typeface="맑은 고딕"/>
              </a:rPr>
              <a:t>가</a:t>
            </a:r>
            <a:r>
              <a:rPr sz="1050" b="0" i="0" dirty="0">
                <a:solidFill>
                  <a:srgbClr val="404040"/>
                </a:solidFill>
                <a:latin typeface="맑은 고딕"/>
                <a:ea typeface="맑은 고딕"/>
              </a:rPr>
              <a:t> </a:t>
            </a:r>
            <a:r>
              <a:rPr sz="1050" b="0" i="0" dirty="0" err="1">
                <a:solidFill>
                  <a:srgbClr val="404040"/>
                </a:solidFill>
                <a:latin typeface="맑은 고딕"/>
                <a:ea typeface="맑은 고딕"/>
              </a:rPr>
              <a:t>성능을</a:t>
            </a:r>
            <a:r>
              <a:rPr sz="1050" b="0" i="0" dirty="0">
                <a:solidFill>
                  <a:srgbClr val="404040"/>
                </a:solidFill>
                <a:latin typeface="맑은 고딕"/>
                <a:ea typeface="맑은 고딕"/>
              </a:rPr>
              <a:t> </a:t>
            </a:r>
            <a:r>
              <a:rPr sz="1050" b="0" i="0" dirty="0" err="1">
                <a:solidFill>
                  <a:srgbClr val="404040"/>
                </a:solidFill>
                <a:latin typeface="맑은 고딕"/>
                <a:ea typeface="맑은 고딕"/>
              </a:rPr>
              <a:t>좌우</a:t>
            </a:r>
            <a:endParaRPr sz="1050" b="0" i="0" dirty="0">
              <a:solidFill>
                <a:srgbClr val="404040"/>
              </a:solidFill>
              <a:latin typeface="맑은 고딕"/>
              <a:ea typeface="맑은 고딕"/>
            </a:endParaRPr>
          </a:p>
        </p:txBody>
      </p:sp>
      <p:sp>
        <p:nvSpPr>
          <p:cNvPr id="103" name="Rectangle 102"/>
          <p:cNvSpPr/>
          <p:nvPr/>
        </p:nvSpPr>
        <p:spPr>
          <a:xfrm>
            <a:off x="502920" y="1847088"/>
            <a:ext cx="525780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4" name="Rectangle 103"/>
          <p:cNvSpPr/>
          <p:nvPr/>
        </p:nvSpPr>
        <p:spPr>
          <a:xfrm>
            <a:off x="594360" y="1920240"/>
            <a:ext cx="5074920" cy="2377440"/>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5" name="Rectangle 104"/>
          <p:cNvSpPr/>
          <p:nvPr/>
        </p:nvSpPr>
        <p:spPr>
          <a:xfrm>
            <a:off x="594360" y="1920240"/>
            <a:ext cx="3017520"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«server» 추론 서버 1대 (vLLM 인스턴스)</a:t>
            </a:r>
          </a:p>
        </p:txBody>
      </p:sp>
      <p:sp>
        <p:nvSpPr>
          <p:cNvPr id="106" name="Rounded Rectangle 105"/>
          <p:cNvSpPr/>
          <p:nvPr/>
        </p:nvSpPr>
        <p:spPr>
          <a:xfrm>
            <a:off x="4343400" y="1938528"/>
            <a:ext cx="1261872" cy="164592"/>
          </a:xfrm>
          <a:prstGeom prst="roundRect">
            <a:avLst>
              <a:gd name="adj" fmla="val 30000"/>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C55A11"/>
                </a:solidFill>
                <a:latin typeface="맑은 고딕"/>
                <a:ea typeface="맑은 고딕"/>
              </a:rPr>
              <a:t>주황 = 신규 메모리</a:t>
            </a:r>
          </a:p>
        </p:txBody>
      </p:sp>
      <p:sp>
        <p:nvSpPr>
          <p:cNvPr id="107" name="Rectangle 106"/>
          <p:cNvSpPr/>
          <p:nvPr/>
        </p:nvSpPr>
        <p:spPr>
          <a:xfrm>
            <a:off x="822960" y="2194560"/>
            <a:ext cx="4572000" cy="38404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vLLM 실행 엔진</a:t>
            </a:r>
          </a:p>
          <a:p>
            <a:pPr algn="ctr"/>
            <a:r>
              <a:rPr sz="700" b="0" i="0">
                <a:solidFill>
                  <a:srgbClr val="000000"/>
                </a:solidFill>
                <a:latin typeface="맑은 고딕"/>
                <a:ea typeface="맑은 고딕"/>
              </a:rPr>
              <a:t>KV 캐시를 만들고 메모리 계층에 배치·이동</a:t>
            </a:r>
          </a:p>
        </p:txBody>
      </p:sp>
      <p:sp>
        <p:nvSpPr>
          <p:cNvPr id="108" name="Rectangle 107"/>
          <p:cNvSpPr/>
          <p:nvPr/>
        </p:nvSpPr>
        <p:spPr>
          <a:xfrm>
            <a:off x="777240"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9" name="Rectangle 108"/>
          <p:cNvSpPr/>
          <p:nvPr/>
        </p:nvSpPr>
        <p:spPr>
          <a:xfrm>
            <a:off x="777240"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0" name="Rectangle 109"/>
          <p:cNvSpPr/>
          <p:nvPr/>
        </p:nvSpPr>
        <p:spPr>
          <a:xfrm>
            <a:off x="731520" y="2834640"/>
            <a:ext cx="141732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1" name="Rectangle 110"/>
          <p:cNvSpPr/>
          <p:nvPr/>
        </p:nvSpPr>
        <p:spPr>
          <a:xfrm>
            <a:off x="731520" y="2834640"/>
            <a:ext cx="281635"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GPU</a:t>
            </a:r>
          </a:p>
        </p:txBody>
      </p:sp>
      <p:sp>
        <p:nvSpPr>
          <p:cNvPr id="112" name="Rectangle 111"/>
          <p:cNvSpPr/>
          <p:nvPr/>
        </p:nvSpPr>
        <p:spPr>
          <a:xfrm>
            <a:off x="868680" y="3154680"/>
            <a:ext cx="1170432"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HBM</a:t>
            </a:r>
          </a:p>
          <a:p>
            <a:pPr algn="ctr"/>
            <a:r>
              <a:rPr sz="700" b="0" i="0">
                <a:solidFill>
                  <a:srgbClr val="000000"/>
                </a:solidFill>
                <a:latin typeface="맑은 고딕"/>
                <a:ea typeface="맑은 고딕"/>
              </a:rPr>
              <a:t>BW 최고 · 용량 소</a:t>
            </a:r>
          </a:p>
          <a:p>
            <a:pPr algn="ctr"/>
            <a:r>
              <a:rPr sz="700" b="0" i="0">
                <a:solidFill>
                  <a:srgbClr val="000000"/>
                </a:solidFill>
                <a:latin typeface="맑은 고딕"/>
                <a:ea typeface="맑은 고딕"/>
              </a:rPr>
              <a:t>(KV 캐시 1순위)</a:t>
            </a:r>
          </a:p>
        </p:txBody>
      </p:sp>
      <p:sp>
        <p:nvSpPr>
          <p:cNvPr id="113" name="Rectangle 112"/>
          <p:cNvSpPr/>
          <p:nvPr/>
        </p:nvSpPr>
        <p:spPr>
          <a:xfrm>
            <a:off x="822959"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4" name="Rectangle 113"/>
          <p:cNvSpPr/>
          <p:nvPr/>
        </p:nvSpPr>
        <p:spPr>
          <a:xfrm>
            <a:off x="822959"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5" name="Rectangle 114"/>
          <p:cNvSpPr/>
          <p:nvPr/>
        </p:nvSpPr>
        <p:spPr>
          <a:xfrm>
            <a:off x="2487168" y="2834640"/>
            <a:ext cx="132588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6" name="Rectangle 115"/>
          <p:cNvSpPr/>
          <p:nvPr/>
        </p:nvSpPr>
        <p:spPr>
          <a:xfrm>
            <a:off x="2487168" y="2834640"/>
            <a:ext cx="687628"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CPU / 호스트</a:t>
            </a:r>
          </a:p>
        </p:txBody>
      </p:sp>
      <p:sp>
        <p:nvSpPr>
          <p:cNvPr id="117" name="Rectangle 116"/>
          <p:cNvSpPr/>
          <p:nvPr/>
        </p:nvSpPr>
        <p:spPr>
          <a:xfrm>
            <a:off x="2624328" y="3154680"/>
            <a:ext cx="1097280"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DRAM</a:t>
            </a:r>
          </a:p>
          <a:p>
            <a:pPr algn="ctr"/>
            <a:r>
              <a:rPr sz="700" b="0" i="0">
                <a:solidFill>
                  <a:srgbClr val="000000"/>
                </a:solidFill>
                <a:latin typeface="맑은 고딕"/>
                <a:ea typeface="맑은 고딕"/>
              </a:rPr>
              <a:t>범용 · 중간 BW</a:t>
            </a:r>
          </a:p>
          <a:p>
            <a:pPr algn="ctr"/>
            <a:r>
              <a:rPr sz="700" b="0" i="0">
                <a:solidFill>
                  <a:srgbClr val="000000"/>
                </a:solidFill>
                <a:latin typeface="맑은 고딕"/>
                <a:ea typeface="맑은 고딕"/>
              </a:rPr>
              <a:t>(KV 캐시 2순위)</a:t>
            </a:r>
          </a:p>
        </p:txBody>
      </p:sp>
      <p:sp>
        <p:nvSpPr>
          <p:cNvPr id="118" name="Rectangle 117"/>
          <p:cNvSpPr/>
          <p:nvPr/>
        </p:nvSpPr>
        <p:spPr>
          <a:xfrm>
            <a:off x="2578608"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9" name="Rectangle 118"/>
          <p:cNvSpPr/>
          <p:nvPr/>
        </p:nvSpPr>
        <p:spPr>
          <a:xfrm>
            <a:off x="2578608"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0" name="Rectangle 119"/>
          <p:cNvSpPr/>
          <p:nvPr/>
        </p:nvSpPr>
        <p:spPr>
          <a:xfrm>
            <a:off x="4114800" y="2834640"/>
            <a:ext cx="1417320" cy="1389888"/>
          </a:xfrm>
          <a:prstGeom prst="rect">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1" name="Rectangle 120"/>
          <p:cNvSpPr/>
          <p:nvPr/>
        </p:nvSpPr>
        <p:spPr>
          <a:xfrm>
            <a:off x="4114800" y="2834640"/>
            <a:ext cx="921715"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확장 메모리 (신규)</a:t>
            </a:r>
          </a:p>
        </p:txBody>
      </p:sp>
      <p:sp>
        <p:nvSpPr>
          <p:cNvPr id="122" name="Rectangle 121"/>
          <p:cNvSpPr/>
          <p:nvPr/>
        </p:nvSpPr>
        <p:spPr>
          <a:xfrm>
            <a:off x="4251960" y="3044952"/>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CXL-PNM</a:t>
            </a:r>
          </a:p>
          <a:p>
            <a:pPr algn="ctr"/>
            <a:r>
              <a:rPr sz="650" b="0" i="0">
                <a:solidFill>
                  <a:srgbClr val="000000"/>
                </a:solidFill>
                <a:latin typeface="맑은 고딕"/>
                <a:ea typeface="맑은 고딕"/>
              </a:rPr>
              <a:t>연산 가능 · 확장 용량</a:t>
            </a:r>
          </a:p>
        </p:txBody>
      </p:sp>
      <p:sp>
        <p:nvSpPr>
          <p:cNvPr id="123" name="Rectangle 122"/>
          <p:cNvSpPr/>
          <p:nvPr/>
        </p:nvSpPr>
        <p:spPr>
          <a:xfrm>
            <a:off x="4206240" y="309981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4" name="Rectangle 123"/>
          <p:cNvSpPr/>
          <p:nvPr/>
        </p:nvSpPr>
        <p:spPr>
          <a:xfrm>
            <a:off x="4206240" y="319125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5" name="Rectangle 124"/>
          <p:cNvSpPr/>
          <p:nvPr/>
        </p:nvSpPr>
        <p:spPr>
          <a:xfrm>
            <a:off x="4251960" y="3438144"/>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HBF</a:t>
            </a:r>
          </a:p>
          <a:p>
            <a:pPr algn="ctr"/>
            <a:r>
              <a:rPr sz="650" b="0" i="0">
                <a:solidFill>
                  <a:srgbClr val="000000"/>
                </a:solidFill>
                <a:latin typeface="맑은 고딕"/>
                <a:ea typeface="맑은 고딕"/>
              </a:rPr>
              <a:t>대용량 · Read 위주</a:t>
            </a:r>
          </a:p>
        </p:txBody>
      </p:sp>
      <p:sp>
        <p:nvSpPr>
          <p:cNvPr id="126" name="Rectangle 125"/>
          <p:cNvSpPr/>
          <p:nvPr/>
        </p:nvSpPr>
        <p:spPr>
          <a:xfrm>
            <a:off x="4206240" y="349300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7" name="Rectangle 126"/>
          <p:cNvSpPr/>
          <p:nvPr/>
        </p:nvSpPr>
        <p:spPr>
          <a:xfrm>
            <a:off x="4206240" y="358444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8" name="Rectangle 127"/>
          <p:cNvSpPr/>
          <p:nvPr/>
        </p:nvSpPr>
        <p:spPr>
          <a:xfrm>
            <a:off x="4251960" y="3831336"/>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SSD-PIM</a:t>
            </a:r>
          </a:p>
          <a:p>
            <a:pPr algn="ctr"/>
            <a:r>
              <a:rPr sz="650" b="0" i="0">
                <a:solidFill>
                  <a:srgbClr val="000000"/>
                </a:solidFill>
                <a:latin typeface="맑은 고딕"/>
                <a:ea typeface="맑은 고딕"/>
              </a:rPr>
              <a:t>초대용량 · 낮은 BW</a:t>
            </a:r>
          </a:p>
        </p:txBody>
      </p:sp>
      <p:sp>
        <p:nvSpPr>
          <p:cNvPr id="129" name="Rectangle 128"/>
          <p:cNvSpPr/>
          <p:nvPr/>
        </p:nvSpPr>
        <p:spPr>
          <a:xfrm>
            <a:off x="4206240" y="3886200"/>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0" name="Rectangle 129"/>
          <p:cNvSpPr/>
          <p:nvPr/>
        </p:nvSpPr>
        <p:spPr>
          <a:xfrm>
            <a:off x="4206240" y="3977639"/>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131" name="Connector 130"/>
          <p:cNvCxnSpPr/>
          <p:nvPr/>
        </p:nvCxnSpPr>
        <p:spPr>
          <a:xfrm>
            <a:off x="17373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16596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33" name="TextBox 132"/>
          <p:cNvSpPr txBox="1"/>
          <p:nvPr/>
        </p:nvSpPr>
        <p:spPr>
          <a:xfrm>
            <a:off x="1828800" y="2610611"/>
            <a:ext cx="82296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계산 중 접근</a:t>
            </a:r>
          </a:p>
        </p:txBody>
      </p:sp>
      <p:cxnSp>
        <p:nvCxnSpPr>
          <p:cNvPr id="134" name="Connector 133"/>
          <p:cNvCxnSpPr/>
          <p:nvPr/>
        </p:nvCxnSpPr>
        <p:spPr>
          <a:xfrm>
            <a:off x="35661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34884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sp>
        <p:nvSpPr>
          <p:cNvPr id="136" name="TextBox 135"/>
          <p:cNvSpPr txBox="1"/>
          <p:nvPr/>
        </p:nvSpPr>
        <p:spPr>
          <a:xfrm>
            <a:off x="3657600" y="2610611"/>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37" name="Connector 136"/>
          <p:cNvCxnSpPr/>
          <p:nvPr/>
        </p:nvCxnSpPr>
        <p:spPr>
          <a:xfrm>
            <a:off x="4718304" y="2578608"/>
            <a:ext cx="0" cy="25603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4640580" y="262890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39" name="TextBox 138"/>
          <p:cNvSpPr txBox="1"/>
          <p:nvPr/>
        </p:nvSpPr>
        <p:spPr>
          <a:xfrm>
            <a:off x="4809744" y="2615184"/>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40" name="Connector 139"/>
          <p:cNvCxnSpPr/>
          <p:nvPr/>
        </p:nvCxnSpPr>
        <p:spPr>
          <a:xfrm>
            <a:off x="2039112" y="3611880"/>
            <a:ext cx="585216" cy="0"/>
          </a:xfrm>
          <a:prstGeom prst="line">
            <a:avLst/>
          </a:prstGeom>
          <a:ln w="15875">
            <a:solidFill>
              <a:srgbClr val="2E75B6"/>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2253996" y="3534156"/>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sp>
        <p:nvSpPr>
          <p:cNvPr id="142" name="TextBox 141"/>
          <p:cNvSpPr txBox="1"/>
          <p:nvPr/>
        </p:nvSpPr>
        <p:spPr>
          <a:xfrm>
            <a:off x="2103120" y="3703320"/>
            <a:ext cx="548640" cy="164592"/>
          </a:xfrm>
          <a:prstGeom prst="rect">
            <a:avLst/>
          </a:prstGeom>
          <a:noFill/>
        </p:spPr>
        <p:txBody>
          <a:bodyPr wrap="square" lIns="0" tIns="0" rIns="0" bIns="0" anchor="t">
            <a:spAutoFit/>
          </a:bodyPr>
          <a:lstStyle/>
          <a:p>
            <a:pPr algn="ctr"/>
            <a:r>
              <a:rPr sz="700" b="1" i="0">
                <a:solidFill>
                  <a:srgbClr val="2E75B6"/>
                </a:solidFill>
                <a:latin typeface="맑은 고딕"/>
                <a:ea typeface="맑은 고딕"/>
              </a:rPr>
              <a:t>PCIe</a:t>
            </a:r>
          </a:p>
        </p:txBody>
      </p:sp>
      <p:cxnSp>
        <p:nvCxnSpPr>
          <p:cNvPr id="143" name="Connector 142"/>
          <p:cNvCxnSpPr/>
          <p:nvPr/>
        </p:nvCxnSpPr>
        <p:spPr>
          <a:xfrm>
            <a:off x="3721608" y="3611880"/>
            <a:ext cx="530352"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3909060" y="3534156"/>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5</a:t>
            </a:r>
          </a:p>
        </p:txBody>
      </p:sp>
      <p:sp>
        <p:nvSpPr>
          <p:cNvPr id="145" name="TextBox 144"/>
          <p:cNvSpPr txBox="1"/>
          <p:nvPr/>
        </p:nvSpPr>
        <p:spPr>
          <a:xfrm>
            <a:off x="3721608" y="3703320"/>
            <a:ext cx="548640" cy="164592"/>
          </a:xfrm>
          <a:prstGeom prst="rect">
            <a:avLst/>
          </a:prstGeom>
          <a:noFill/>
        </p:spPr>
        <p:txBody>
          <a:bodyPr wrap="square" lIns="0" tIns="0" rIns="0" bIns="0" anchor="t">
            <a:spAutoFit/>
          </a:bodyPr>
          <a:lstStyle/>
          <a:p>
            <a:pPr algn="ctr"/>
            <a:r>
              <a:rPr sz="700" b="1" i="0">
                <a:solidFill>
                  <a:srgbClr val="C55A11"/>
                </a:solidFill>
                <a:latin typeface="맑은 고딕"/>
                <a:ea typeface="맑은 고딕"/>
              </a:rPr>
              <a:t>확장</a:t>
            </a:r>
          </a:p>
        </p:txBody>
      </p:sp>
      <p:sp>
        <p:nvSpPr>
          <p:cNvPr id="146" name="TextBox 145"/>
          <p:cNvSpPr txBox="1"/>
          <p:nvPr/>
        </p:nvSpPr>
        <p:spPr>
          <a:xfrm>
            <a:off x="731520" y="4288536"/>
            <a:ext cx="4937760" cy="155448"/>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④⑤ KV 캐시가 메모리 계층 사이를 이동 (자주 쓰는 것은 위로, 오래된 것은 아래로)</a:t>
            </a:r>
          </a:p>
        </p:txBody>
      </p:sp>
      <p:sp>
        <p:nvSpPr>
          <p:cNvPr id="147" name="TextBox 146"/>
          <p:cNvSpPr txBox="1"/>
          <p:nvPr/>
        </p:nvSpPr>
        <p:spPr>
          <a:xfrm>
            <a:off x="566928" y="4453128"/>
            <a:ext cx="86868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빠름 · 작음</a:t>
            </a:r>
          </a:p>
        </p:txBody>
      </p:sp>
      <p:cxnSp>
        <p:nvCxnSpPr>
          <p:cNvPr id="148" name="Connector 147"/>
          <p:cNvCxnSpPr/>
          <p:nvPr/>
        </p:nvCxnSpPr>
        <p:spPr>
          <a:xfrm>
            <a:off x="1371600" y="4544568"/>
            <a:ext cx="3383280" cy="0"/>
          </a:xfrm>
          <a:prstGeom prst="line">
            <a:avLst/>
          </a:prstGeom>
          <a:ln w="15875">
            <a:solidFill>
              <a:srgbClr val="40404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800600" y="4453128"/>
            <a:ext cx="9144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느림 · 큼</a:t>
            </a:r>
          </a:p>
        </p:txBody>
      </p:sp>
      <p:sp>
        <p:nvSpPr>
          <p:cNvPr id="150" name="Rectangle 149"/>
          <p:cNvSpPr/>
          <p:nvPr/>
        </p:nvSpPr>
        <p:spPr>
          <a:xfrm>
            <a:off x="502920" y="4754880"/>
            <a:ext cx="525780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1" name="TextBox 150"/>
          <p:cNvSpPr txBox="1"/>
          <p:nvPr/>
        </p:nvSpPr>
        <p:spPr>
          <a:xfrm>
            <a:off x="621792" y="4782312"/>
            <a:ext cx="5074920" cy="987552"/>
          </a:xfrm>
          <a:prstGeom prst="rect">
            <a:avLst/>
          </a:prstGeom>
          <a:noFill/>
        </p:spPr>
        <p:txBody>
          <a:bodyPr wrap="square" lIns="0" tIns="0" rIns="0" bIns="0" anchor="t">
            <a:spAutoFit/>
          </a:bodyPr>
          <a:lstStyle/>
          <a:p>
            <a:pPr algn="l">
              <a:lnSpc>
                <a:spcPct val="110000"/>
              </a:lnSpc>
            </a:pPr>
            <a:r>
              <a:rPr sz="950" b="1" i="0" dirty="0">
                <a:solidFill>
                  <a:srgbClr val="2E75B6"/>
                </a:solidFill>
                <a:latin typeface="맑은 고딕"/>
                <a:ea typeface="맑은 고딕"/>
              </a:rPr>
              <a:t>DP1~DP4 = </a:t>
            </a:r>
            <a:r>
              <a:rPr sz="950" b="1" i="0" dirty="0" err="1">
                <a:solidFill>
                  <a:srgbClr val="2E75B6"/>
                </a:solidFill>
                <a:latin typeface="맑은 고딕"/>
                <a:ea typeface="맑은 고딕"/>
              </a:rPr>
              <a:t>서버</a:t>
            </a:r>
            <a:r>
              <a:rPr sz="950" b="1" i="0" dirty="0">
                <a:solidFill>
                  <a:srgbClr val="2E75B6"/>
                </a:solidFill>
                <a:latin typeface="맑은 고딕"/>
                <a:ea typeface="맑은 고딕"/>
              </a:rPr>
              <a:t> 1대 </a:t>
            </a:r>
            <a:r>
              <a:rPr sz="950" b="1" i="0" dirty="0" err="1">
                <a:solidFill>
                  <a:srgbClr val="2E75B6"/>
                </a:solidFill>
                <a:latin typeface="맑은 고딕"/>
                <a:ea typeface="맑은 고딕"/>
              </a:rPr>
              <a:t>안에서</a:t>
            </a:r>
            <a:r>
              <a:rPr sz="950" b="1" i="0" dirty="0">
                <a:solidFill>
                  <a:srgbClr val="2E75B6"/>
                </a:solidFill>
                <a:latin typeface="맑은 고딕"/>
                <a:ea typeface="맑은 고딕"/>
              </a:rPr>
              <a:t> </a:t>
            </a:r>
            <a:r>
              <a:rPr sz="950" b="1" i="0" dirty="0" err="1">
                <a:solidFill>
                  <a:srgbClr val="2E75B6"/>
                </a:solidFill>
                <a:latin typeface="맑은 고딕"/>
                <a:ea typeface="맑은 고딕"/>
              </a:rPr>
              <a:t>내리는</a:t>
            </a:r>
            <a:r>
              <a:rPr sz="950" b="1" i="0" dirty="0">
                <a:solidFill>
                  <a:srgbClr val="2E75B6"/>
                </a:solidFill>
                <a:latin typeface="맑은 고딕"/>
                <a:ea typeface="맑은 고딕"/>
              </a:rPr>
              <a:t> </a:t>
            </a:r>
            <a:r>
              <a:rPr sz="950" b="1" i="0" dirty="0" err="1">
                <a:solidFill>
                  <a:srgbClr val="2E75B6"/>
                </a:solidFill>
                <a:latin typeface="맑은 고딕"/>
                <a:ea typeface="맑은 고딕"/>
              </a:rPr>
              <a:t>결정</a:t>
            </a:r>
            <a:r>
              <a:rPr sz="950" b="1" i="0" dirty="0">
                <a:solidFill>
                  <a:srgbClr val="2E75B6"/>
                </a:solidFill>
                <a:latin typeface="맑은 고딕"/>
                <a:ea typeface="맑은 고딕"/>
              </a:rPr>
              <a:t> (</a:t>
            </a:r>
            <a:r>
              <a:rPr sz="950" b="1" i="0" dirty="0" err="1">
                <a:solidFill>
                  <a:srgbClr val="2E75B6"/>
                </a:solidFill>
                <a:latin typeface="맑은 고딕"/>
                <a:ea typeface="맑은 고딕"/>
              </a:rPr>
              <a:t>서버</a:t>
            </a:r>
            <a:r>
              <a:rPr sz="950" b="1" i="0" dirty="0">
                <a:solidFill>
                  <a:srgbClr val="2E75B6"/>
                </a:solidFill>
                <a:latin typeface="맑은 고딕"/>
                <a:ea typeface="맑은 고딕"/>
              </a:rPr>
              <a:t> </a:t>
            </a:r>
            <a:r>
              <a:rPr sz="950" b="1" i="0" dirty="0" err="1">
                <a:solidFill>
                  <a:srgbClr val="2E75B6"/>
                </a:solidFill>
                <a:latin typeface="맑은 고딕"/>
                <a:ea typeface="맑은 고딕"/>
              </a:rPr>
              <a:t>내부</a:t>
            </a:r>
            <a:r>
              <a:rPr sz="950" b="1" i="0" dirty="0">
                <a:solidFill>
                  <a:srgbClr val="2E75B6"/>
                </a:solidFill>
                <a:latin typeface="맑은 고딕"/>
                <a:ea typeface="맑은 고딕"/>
              </a:rPr>
              <a:t> </a:t>
            </a:r>
            <a:r>
              <a:rPr sz="950" b="1" i="0" dirty="0" err="1">
                <a:solidFill>
                  <a:srgbClr val="2E75B6"/>
                </a:solidFill>
                <a:latin typeface="맑은 고딕"/>
                <a:ea typeface="맑은 고딕"/>
              </a:rPr>
              <a:t>결정</a:t>
            </a:r>
            <a:r>
              <a:rPr sz="950" b="1" i="0" dirty="0">
                <a:solidFill>
                  <a:srgbClr val="2E75B6"/>
                </a:solidFill>
                <a:latin typeface="맑은 고딕"/>
                <a:ea typeface="맑은 고딕"/>
              </a:rPr>
              <a:t>)</a:t>
            </a:r>
          </a:p>
          <a:p>
            <a:pPr algn="l">
              <a:lnSpc>
                <a:spcPct val="110000"/>
              </a:lnSpc>
            </a:pPr>
            <a:r>
              <a:rPr sz="850" b="0" i="0" dirty="0">
                <a:solidFill>
                  <a:srgbClr val="404040"/>
                </a:solidFill>
                <a:latin typeface="맑은 고딕"/>
                <a:ea typeface="맑은 고딕"/>
              </a:rPr>
              <a:t>· DP1  </a:t>
            </a:r>
            <a:r>
              <a:rPr sz="850" b="0" i="0" dirty="0" err="1">
                <a:solidFill>
                  <a:srgbClr val="404040"/>
                </a:solidFill>
                <a:latin typeface="맑은 고딕"/>
                <a:ea typeface="맑은 고딕"/>
              </a:rPr>
              <a:t>이기종</a:t>
            </a:r>
            <a:r>
              <a:rPr sz="850" b="0" i="0" dirty="0">
                <a:solidFill>
                  <a:srgbClr val="404040"/>
                </a:solidFill>
                <a:latin typeface="맑은 고딕"/>
                <a:ea typeface="맑은 고딕"/>
              </a:rPr>
              <a:t> </a:t>
            </a:r>
            <a:r>
              <a:rPr sz="850" b="0" i="0" dirty="0" err="1">
                <a:solidFill>
                  <a:srgbClr val="404040"/>
                </a:solidFill>
                <a:latin typeface="맑은 고딕"/>
                <a:ea typeface="맑은 고딕"/>
              </a:rPr>
              <a:t>메모리</a:t>
            </a:r>
            <a:r>
              <a:rPr sz="850" b="0" i="0" dirty="0">
                <a:solidFill>
                  <a:srgbClr val="404040"/>
                </a:solidFill>
                <a:latin typeface="맑은 고딕"/>
                <a:ea typeface="맑은 고딕"/>
              </a:rPr>
              <a:t> </a:t>
            </a:r>
            <a:r>
              <a:rPr sz="850" b="0" i="0" dirty="0" err="1">
                <a:solidFill>
                  <a:srgbClr val="404040"/>
                </a:solidFill>
                <a:latin typeface="맑은 고딕"/>
                <a:ea typeface="맑은 고딕"/>
              </a:rPr>
              <a:t>기반</a:t>
            </a:r>
            <a:r>
              <a:rPr sz="850" b="0" i="0" dirty="0">
                <a:solidFill>
                  <a:srgbClr val="404040"/>
                </a:solidFill>
                <a:latin typeface="맑은 고딕"/>
                <a:ea typeface="맑은 고딕"/>
              </a:rPr>
              <a:t> AI </a:t>
            </a:r>
            <a:r>
              <a:rPr sz="850" b="0" i="0" dirty="0" err="1">
                <a:solidFill>
                  <a:srgbClr val="404040"/>
                </a:solidFill>
                <a:latin typeface="맑은 고딕"/>
                <a:ea typeface="맑은 고딕"/>
              </a:rPr>
              <a:t>데이터</a:t>
            </a:r>
            <a:r>
              <a:rPr sz="850" b="0" i="0" dirty="0">
                <a:solidFill>
                  <a:srgbClr val="404040"/>
                </a:solidFill>
                <a:latin typeface="맑은 고딕"/>
                <a:ea typeface="맑은 고딕"/>
              </a:rPr>
              <a:t> </a:t>
            </a:r>
            <a:r>
              <a:rPr sz="850" b="0" i="0" dirty="0" err="1">
                <a:solidFill>
                  <a:srgbClr val="404040"/>
                </a:solidFill>
                <a:latin typeface="맑은 고딕"/>
                <a:ea typeface="맑은 고딕"/>
              </a:rPr>
              <a:t>배치</a:t>
            </a:r>
            <a:r>
              <a:rPr sz="850" b="0" i="0" dirty="0">
                <a:solidFill>
                  <a:srgbClr val="404040"/>
                </a:solidFill>
                <a:latin typeface="맑은 고딕"/>
                <a:ea typeface="맑은 고딕"/>
              </a:rPr>
              <a:t>: </a:t>
            </a:r>
            <a:r>
              <a:rPr sz="850" b="0" i="0" dirty="0" err="1">
                <a:solidFill>
                  <a:srgbClr val="404040"/>
                </a:solidFill>
                <a:latin typeface="맑은 고딕"/>
                <a:ea typeface="맑은 고딕"/>
              </a:rPr>
              <a:t>어떤</a:t>
            </a:r>
            <a:r>
              <a:rPr sz="850" b="0" i="0" dirty="0">
                <a:solidFill>
                  <a:srgbClr val="404040"/>
                </a:solidFill>
                <a:latin typeface="맑은 고딕"/>
                <a:ea typeface="맑은 고딕"/>
              </a:rPr>
              <a:t> </a:t>
            </a:r>
            <a:r>
              <a:rPr sz="850" b="0" i="0" dirty="0" err="1">
                <a:solidFill>
                  <a:srgbClr val="404040"/>
                </a:solidFill>
                <a:latin typeface="맑은 고딕"/>
                <a:ea typeface="맑은 고딕"/>
              </a:rPr>
              <a:t>데이터를</a:t>
            </a:r>
            <a:r>
              <a:rPr sz="850" b="0" i="0" dirty="0">
                <a:solidFill>
                  <a:srgbClr val="404040"/>
                </a:solidFill>
                <a:latin typeface="맑은 고딕"/>
                <a:ea typeface="맑은 고딕"/>
              </a:rPr>
              <a:t> </a:t>
            </a:r>
            <a:r>
              <a:rPr sz="850" b="0" i="0" dirty="0" err="1">
                <a:solidFill>
                  <a:srgbClr val="404040"/>
                </a:solidFill>
                <a:latin typeface="맑은 고딕"/>
                <a:ea typeface="맑은 고딕"/>
              </a:rPr>
              <a:t>어느</a:t>
            </a:r>
            <a:r>
              <a:rPr sz="850" b="0" i="0" dirty="0">
                <a:solidFill>
                  <a:srgbClr val="404040"/>
                </a:solidFill>
                <a:latin typeface="맑은 고딕"/>
                <a:ea typeface="맑은 고딕"/>
              </a:rPr>
              <a:t> </a:t>
            </a:r>
            <a:r>
              <a:rPr sz="850" b="0" i="0" dirty="0" err="1">
                <a:solidFill>
                  <a:srgbClr val="404040"/>
                </a:solidFill>
                <a:latin typeface="맑은 고딕"/>
                <a:ea typeface="맑은 고딕"/>
              </a:rPr>
              <a:t>메모리에</a:t>
            </a:r>
            <a:r>
              <a:rPr sz="850" b="0" i="0" dirty="0">
                <a:solidFill>
                  <a:srgbClr val="404040"/>
                </a:solidFill>
                <a:latin typeface="맑은 고딕"/>
                <a:ea typeface="맑은 고딕"/>
              </a:rPr>
              <a:t>?</a:t>
            </a:r>
          </a:p>
          <a:p>
            <a:pPr algn="l">
              <a:lnSpc>
                <a:spcPct val="110000"/>
              </a:lnSpc>
            </a:pPr>
            <a:r>
              <a:rPr sz="850" b="0" i="0" dirty="0">
                <a:solidFill>
                  <a:srgbClr val="404040"/>
                </a:solidFill>
                <a:latin typeface="맑은 고딕"/>
                <a:ea typeface="맑은 고딕"/>
              </a:rPr>
              <a:t>· DP2  Prefill(</a:t>
            </a:r>
            <a:r>
              <a:rPr sz="850" b="0" i="0" dirty="0" err="1">
                <a:solidFill>
                  <a:srgbClr val="404040"/>
                </a:solidFill>
                <a:latin typeface="맑은 고딕"/>
                <a:ea typeface="맑은 고딕"/>
              </a:rPr>
              <a:t>입력</a:t>
            </a:r>
            <a:r>
              <a:rPr sz="850" b="0" i="0" dirty="0">
                <a:solidFill>
                  <a:srgbClr val="404040"/>
                </a:solidFill>
                <a:latin typeface="맑은 고딕"/>
                <a:ea typeface="맑은 고딕"/>
              </a:rPr>
              <a:t> </a:t>
            </a:r>
            <a:r>
              <a:rPr sz="850" b="0" i="0" dirty="0" err="1">
                <a:solidFill>
                  <a:srgbClr val="404040"/>
                </a:solidFill>
                <a:latin typeface="맑은 고딕"/>
                <a:ea typeface="맑은 고딕"/>
              </a:rPr>
              <a:t>처리</a:t>
            </a:r>
            <a:r>
              <a:rPr sz="850" b="0" i="0" dirty="0">
                <a:solidFill>
                  <a:srgbClr val="404040"/>
                </a:solidFill>
                <a:latin typeface="맑은 고딕"/>
                <a:ea typeface="맑은 고딕"/>
              </a:rPr>
              <a:t>) </a:t>
            </a:r>
            <a:r>
              <a:rPr sz="850" b="0" i="0" dirty="0" err="1">
                <a:solidFill>
                  <a:srgbClr val="404040"/>
                </a:solidFill>
                <a:latin typeface="맑은 고딕"/>
                <a:ea typeface="맑은 고딕"/>
              </a:rPr>
              <a:t>실행</a:t>
            </a:r>
            <a:r>
              <a:rPr sz="850" b="0" i="0" dirty="0">
                <a:solidFill>
                  <a:srgbClr val="404040"/>
                </a:solidFill>
                <a:latin typeface="맑은 고딕"/>
                <a:ea typeface="맑은 고딕"/>
              </a:rPr>
              <a:t>: </a:t>
            </a:r>
            <a:r>
              <a:rPr sz="850" b="0" i="0" dirty="0" err="1">
                <a:solidFill>
                  <a:srgbClr val="404040"/>
                </a:solidFill>
                <a:latin typeface="맑은 고딕"/>
                <a:ea typeface="맑은 고딕"/>
              </a:rPr>
              <a:t>어느</a:t>
            </a:r>
            <a:r>
              <a:rPr sz="850" b="0" i="0" dirty="0">
                <a:solidFill>
                  <a:srgbClr val="404040"/>
                </a:solidFill>
                <a:latin typeface="맑은 고딕"/>
                <a:ea typeface="맑은 고딕"/>
              </a:rPr>
              <a:t> </a:t>
            </a:r>
            <a:r>
              <a:rPr sz="850" b="0" i="0" dirty="0" err="1">
                <a:solidFill>
                  <a:srgbClr val="404040"/>
                </a:solidFill>
                <a:latin typeface="맑은 고딕"/>
                <a:ea typeface="맑은 고딕"/>
              </a:rPr>
              <a:t>연산</a:t>
            </a:r>
            <a:r>
              <a:rPr sz="850" b="0" i="0" dirty="0">
                <a:solidFill>
                  <a:srgbClr val="404040"/>
                </a:solidFill>
                <a:latin typeface="맑은 고딕"/>
                <a:ea typeface="맑은 고딕"/>
              </a:rPr>
              <a:t> </a:t>
            </a:r>
            <a:r>
              <a:rPr sz="850" b="0" i="0" dirty="0" err="1">
                <a:solidFill>
                  <a:srgbClr val="404040"/>
                </a:solidFill>
                <a:latin typeface="맑은 고딕"/>
                <a:ea typeface="맑은 고딕"/>
              </a:rPr>
              <a:t>자원에서</a:t>
            </a:r>
            <a:r>
              <a:rPr sz="850" b="0" i="0" dirty="0">
                <a:solidFill>
                  <a:srgbClr val="404040"/>
                </a:solidFill>
                <a:latin typeface="맑은 고딕"/>
                <a:ea typeface="맑은 고딕"/>
              </a:rPr>
              <a:t>?</a:t>
            </a:r>
          </a:p>
          <a:p>
            <a:pPr algn="l">
              <a:lnSpc>
                <a:spcPct val="110000"/>
              </a:lnSpc>
            </a:pPr>
            <a:r>
              <a:rPr sz="850" b="0" i="0" dirty="0">
                <a:solidFill>
                  <a:srgbClr val="404040"/>
                </a:solidFill>
                <a:latin typeface="맑은 고딕"/>
                <a:ea typeface="맑은 고딕"/>
              </a:rPr>
              <a:t>· DP3  Long Context KV Eviction &amp; Reuse  · DP4  Agent Tool-wait KV residency</a:t>
            </a:r>
          </a:p>
          <a:p>
            <a:pPr algn="l">
              <a:lnSpc>
                <a:spcPct val="110000"/>
              </a:lnSpc>
            </a:pPr>
            <a:r>
              <a:rPr sz="750" b="0" i="0" dirty="0" err="1">
                <a:solidFill>
                  <a:srgbClr val="404040"/>
                </a:solidFill>
                <a:latin typeface="맑은 고딕"/>
                <a:ea typeface="맑은 고딕"/>
              </a:rPr>
              <a:t>vLLM은</a:t>
            </a:r>
            <a:r>
              <a:rPr sz="750" b="0" i="0" dirty="0">
                <a:solidFill>
                  <a:srgbClr val="404040"/>
                </a:solidFill>
                <a:latin typeface="맑은 고딕"/>
                <a:ea typeface="맑은 고딕"/>
              </a:rPr>
              <a:t> GPU </a:t>
            </a:r>
            <a:r>
              <a:rPr sz="750" b="0" i="0" dirty="0" err="1">
                <a:solidFill>
                  <a:srgbClr val="404040"/>
                </a:solidFill>
                <a:latin typeface="맑은 고딕"/>
                <a:ea typeface="맑은 고딕"/>
              </a:rPr>
              <a:t>여러</a:t>
            </a:r>
            <a:r>
              <a:rPr sz="750" b="0" i="0" dirty="0">
                <a:solidFill>
                  <a:srgbClr val="404040"/>
                </a:solidFill>
                <a:latin typeface="맑은 고딕"/>
                <a:ea typeface="맑은 고딕"/>
              </a:rPr>
              <a:t> </a:t>
            </a:r>
            <a:r>
              <a:rPr sz="750" b="0" i="0" dirty="0" err="1">
                <a:solidFill>
                  <a:srgbClr val="404040"/>
                </a:solidFill>
                <a:latin typeface="맑은 고딕"/>
                <a:ea typeface="맑은 고딕"/>
              </a:rPr>
              <a:t>장을</a:t>
            </a:r>
            <a:r>
              <a:rPr sz="750" b="0" i="0" dirty="0">
                <a:solidFill>
                  <a:srgbClr val="404040"/>
                </a:solidFill>
                <a:latin typeface="맑은 고딕"/>
                <a:ea typeface="맑은 고딕"/>
              </a:rPr>
              <a:t> </a:t>
            </a:r>
            <a:r>
              <a:rPr sz="750" b="0" i="0" dirty="0" err="1">
                <a:solidFill>
                  <a:srgbClr val="404040"/>
                </a:solidFill>
                <a:latin typeface="맑은 고딕"/>
                <a:ea typeface="맑은 고딕"/>
              </a:rPr>
              <a:t>써도</a:t>
            </a:r>
            <a:r>
              <a:rPr sz="750" b="0" i="0" dirty="0">
                <a:solidFill>
                  <a:srgbClr val="404040"/>
                </a:solidFill>
                <a:latin typeface="맑은 고딕"/>
                <a:ea typeface="맑은 고딕"/>
              </a:rPr>
              <a:t> '</a:t>
            </a:r>
            <a:r>
              <a:rPr sz="750" b="0" i="0" dirty="0" err="1">
                <a:solidFill>
                  <a:srgbClr val="404040"/>
                </a:solidFill>
                <a:latin typeface="맑은 고딕"/>
                <a:ea typeface="맑은 고딕"/>
              </a:rPr>
              <a:t>서버</a:t>
            </a:r>
            <a:r>
              <a:rPr sz="750" b="0" i="0" dirty="0">
                <a:solidFill>
                  <a:srgbClr val="404040"/>
                </a:solidFill>
                <a:latin typeface="맑은 고딕"/>
                <a:ea typeface="맑은 고딕"/>
              </a:rPr>
              <a:t> </a:t>
            </a:r>
            <a:r>
              <a:rPr sz="750" b="0" i="0" dirty="0" err="1">
                <a:solidFill>
                  <a:srgbClr val="404040"/>
                </a:solidFill>
                <a:latin typeface="맑은 고딕"/>
                <a:ea typeface="맑은 고딕"/>
              </a:rPr>
              <a:t>내부</a:t>
            </a:r>
            <a:r>
              <a:rPr sz="750" b="0" i="0" dirty="0">
                <a:solidFill>
                  <a:srgbClr val="404040"/>
                </a:solidFill>
                <a:latin typeface="맑은 고딕"/>
                <a:ea typeface="맑은 고딕"/>
              </a:rPr>
              <a:t> </a:t>
            </a:r>
            <a:r>
              <a:rPr sz="750" b="0" i="0" dirty="0" err="1">
                <a:solidFill>
                  <a:srgbClr val="404040"/>
                </a:solidFill>
                <a:latin typeface="맑은 고딕"/>
                <a:ea typeface="맑은 고딕"/>
              </a:rPr>
              <a:t>병렬화'까지만</a:t>
            </a:r>
            <a:r>
              <a:rPr sz="750" b="0" i="0" dirty="0">
                <a:solidFill>
                  <a:srgbClr val="404040"/>
                </a:solidFill>
                <a:latin typeface="맑은 고딕"/>
                <a:ea typeface="맑은 고딕"/>
              </a:rPr>
              <a:t> </a:t>
            </a:r>
            <a:r>
              <a:rPr sz="750" b="0" i="0" dirty="0" err="1">
                <a:solidFill>
                  <a:srgbClr val="404040"/>
                </a:solidFill>
                <a:latin typeface="맑은 고딕"/>
                <a:ea typeface="맑은 고딕"/>
              </a:rPr>
              <a:t>담당</a:t>
            </a:r>
            <a:endParaRPr sz="750" b="0" i="0" dirty="0">
              <a:solidFill>
                <a:srgbClr val="404040"/>
              </a:solidFill>
              <a:latin typeface="맑은 고딕"/>
              <a:ea typeface="맑은 고딕"/>
            </a:endParaRPr>
          </a:p>
        </p:txBody>
      </p:sp>
      <p:sp>
        <p:nvSpPr>
          <p:cNvPr id="152" name="TextBox 151"/>
          <p:cNvSpPr txBox="1"/>
          <p:nvPr/>
        </p:nvSpPr>
        <p:spPr>
          <a:xfrm>
            <a:off x="6327648" y="1152144"/>
            <a:ext cx="5394960" cy="640080"/>
          </a:xfrm>
          <a:prstGeom prst="rect">
            <a:avLst/>
          </a:prstGeom>
          <a:noFill/>
        </p:spPr>
        <p:txBody>
          <a:bodyPr wrap="square" lIns="0" tIns="0" rIns="0" bIns="0" anchor="t">
            <a:spAutoFit/>
          </a:bodyPr>
          <a:lstStyle/>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서버·GPU가 여러 대 → </a:t>
            </a:r>
            <a:r>
              <a:rPr sz="1050" b="1" i="0">
                <a:solidFill>
                  <a:srgbClr val="C55A11"/>
                </a:solidFill>
                <a:latin typeface="맑은 고딕"/>
                <a:ea typeface="맑은 고딕"/>
              </a:rPr>
              <a:t>서버마다 메모리 사용 상태·KV 캐시 보유 상태가 다름</a:t>
            </a:r>
          </a:p>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같은 요청도 </a:t>
            </a:r>
            <a:r>
              <a:rPr sz="1050" b="1" i="0">
                <a:solidFill>
                  <a:srgbClr val="C55A11"/>
                </a:solidFill>
                <a:latin typeface="맑은 고딕"/>
                <a:ea typeface="맑은 고딕"/>
              </a:rPr>
              <a:t>어느 서버로 보내느냐</a:t>
            </a:r>
            <a:r>
              <a:rPr sz="1050" b="0" i="0">
                <a:solidFill>
                  <a:srgbClr val="404040"/>
                </a:solidFill>
                <a:latin typeface="맑은 고딕"/>
                <a:ea typeface="맑은 고딕"/>
              </a:rPr>
              <a:t>에 따라 성능이 달라짐</a:t>
            </a:r>
          </a:p>
        </p:txBody>
      </p:sp>
      <p:sp>
        <p:nvSpPr>
          <p:cNvPr id="153" name="Rectangle 152"/>
          <p:cNvSpPr/>
          <p:nvPr/>
        </p:nvSpPr>
        <p:spPr>
          <a:xfrm>
            <a:off x="6355080" y="1847088"/>
            <a:ext cx="539496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4" name="Rounded Rectangle 153"/>
          <p:cNvSpPr/>
          <p:nvPr/>
        </p:nvSpPr>
        <p:spPr>
          <a:xfrm>
            <a:off x="6446520" y="2240280"/>
            <a:ext cx="713232"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800" b="1" i="0">
                <a:solidFill>
                  <a:srgbClr val="000000"/>
                </a:solidFill>
                <a:latin typeface="맑은 고딕"/>
                <a:ea typeface="맑은 고딕"/>
              </a:rPr>
              <a:t>Request</a:t>
            </a:r>
          </a:p>
        </p:txBody>
      </p:sp>
      <p:cxnSp>
        <p:nvCxnSpPr>
          <p:cNvPr id="155" name="Connector 154"/>
          <p:cNvCxnSpPr/>
          <p:nvPr/>
        </p:nvCxnSpPr>
        <p:spPr>
          <a:xfrm>
            <a:off x="7159752" y="2395728"/>
            <a:ext cx="24688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7205472" y="23180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57" name="Rectangle 156"/>
          <p:cNvSpPr/>
          <p:nvPr/>
        </p:nvSpPr>
        <p:spPr>
          <a:xfrm>
            <a:off x="7406640" y="1920240"/>
            <a:ext cx="4251960" cy="914400"/>
          </a:xfrm>
          <a:prstGeom prst="rect">
            <a:avLst/>
          </a:prstGeom>
          <a:solidFill>
            <a:srgbClr val="FFFFFF"/>
          </a:solidFill>
          <a:ln w="1587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8" name="Rectangle 157"/>
          <p:cNvSpPr/>
          <p:nvPr/>
        </p:nvSpPr>
        <p:spPr>
          <a:xfrm>
            <a:off x="7406640" y="1920240"/>
            <a:ext cx="3657600"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«layer» 요청 조율 계층 (Orchestration) - 현재 공백</a:t>
            </a:r>
          </a:p>
        </p:txBody>
      </p:sp>
      <p:sp>
        <p:nvSpPr>
          <p:cNvPr id="159" name="Rectangle 158"/>
          <p:cNvSpPr/>
          <p:nvPr/>
        </p:nvSpPr>
        <p:spPr>
          <a:xfrm>
            <a:off x="7543800"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요청 라우팅</a:t>
            </a:r>
          </a:p>
        </p:txBody>
      </p:sp>
      <p:sp>
        <p:nvSpPr>
          <p:cNvPr id="160" name="Rectangle 159"/>
          <p:cNvSpPr/>
          <p:nvPr/>
        </p:nvSpPr>
        <p:spPr>
          <a:xfrm>
            <a:off x="7498079"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1" name="Rectangle 160"/>
          <p:cNvSpPr/>
          <p:nvPr/>
        </p:nvSpPr>
        <p:spPr>
          <a:xfrm>
            <a:off x="7498079"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2" name="Rectangle 161"/>
          <p:cNvSpPr/>
          <p:nvPr/>
        </p:nvSpPr>
        <p:spPr>
          <a:xfrm>
            <a:off x="8567928"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P/D 분리 배치</a:t>
            </a:r>
          </a:p>
        </p:txBody>
      </p:sp>
      <p:sp>
        <p:nvSpPr>
          <p:cNvPr id="163" name="Rectangle 162"/>
          <p:cNvSpPr/>
          <p:nvPr/>
        </p:nvSpPr>
        <p:spPr>
          <a:xfrm>
            <a:off x="8522208"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4" name="Rectangle 163"/>
          <p:cNvSpPr/>
          <p:nvPr/>
        </p:nvSpPr>
        <p:spPr>
          <a:xfrm>
            <a:off x="8522208"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5" name="Rectangle 164"/>
          <p:cNvSpPr/>
          <p:nvPr/>
        </p:nvSpPr>
        <p:spPr>
          <a:xfrm>
            <a:off x="9592056"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KV 공유</a:t>
            </a:r>
          </a:p>
        </p:txBody>
      </p:sp>
      <p:sp>
        <p:nvSpPr>
          <p:cNvPr id="166" name="Rectangle 165"/>
          <p:cNvSpPr/>
          <p:nvPr/>
        </p:nvSpPr>
        <p:spPr>
          <a:xfrm>
            <a:off x="9546336"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7" name="Rectangle 166"/>
          <p:cNvSpPr/>
          <p:nvPr/>
        </p:nvSpPr>
        <p:spPr>
          <a:xfrm>
            <a:off x="9546336"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8" name="Rectangle 167"/>
          <p:cNvSpPr/>
          <p:nvPr/>
        </p:nvSpPr>
        <p:spPr>
          <a:xfrm>
            <a:off x="10616184"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서버 발견·확장</a:t>
            </a:r>
          </a:p>
        </p:txBody>
      </p:sp>
      <p:sp>
        <p:nvSpPr>
          <p:cNvPr id="169" name="Rectangle 168"/>
          <p:cNvSpPr/>
          <p:nvPr/>
        </p:nvSpPr>
        <p:spPr>
          <a:xfrm>
            <a:off x="10570463"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0" name="Rectangle 169"/>
          <p:cNvSpPr/>
          <p:nvPr/>
        </p:nvSpPr>
        <p:spPr>
          <a:xfrm>
            <a:off x="10570463"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1" name="Rectangle 170"/>
          <p:cNvSpPr/>
          <p:nvPr/>
        </p:nvSpPr>
        <p:spPr>
          <a:xfrm>
            <a:off x="6446520" y="3090672"/>
            <a:ext cx="5212080" cy="1499616"/>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2" name="Rectangle 171"/>
          <p:cNvSpPr/>
          <p:nvPr/>
        </p:nvSpPr>
        <p:spPr>
          <a:xfrm>
            <a:off x="6446520" y="3090672"/>
            <a:ext cx="75712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«rack» Rack</a:t>
            </a:r>
          </a:p>
        </p:txBody>
      </p:sp>
      <p:sp>
        <p:nvSpPr>
          <p:cNvPr id="173" name="Rectangle 172"/>
          <p:cNvSpPr/>
          <p:nvPr/>
        </p:nvSpPr>
        <p:spPr>
          <a:xfrm>
            <a:off x="6528816"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4" name="Rectangle 173"/>
          <p:cNvSpPr/>
          <p:nvPr/>
        </p:nvSpPr>
        <p:spPr>
          <a:xfrm>
            <a:off x="6528816"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1 (vLLM)</a:t>
            </a:r>
          </a:p>
        </p:txBody>
      </p:sp>
      <p:sp>
        <p:nvSpPr>
          <p:cNvPr id="175" name="Rectangle 174"/>
          <p:cNvSpPr/>
          <p:nvPr/>
        </p:nvSpPr>
        <p:spPr>
          <a:xfrm>
            <a:off x="7498079"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176" name="TextBox 175"/>
          <p:cNvSpPr txBox="1"/>
          <p:nvPr/>
        </p:nvSpPr>
        <p:spPr>
          <a:xfrm>
            <a:off x="6565392"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77" name="Rectangle 176"/>
          <p:cNvSpPr/>
          <p:nvPr/>
        </p:nvSpPr>
        <p:spPr>
          <a:xfrm>
            <a:off x="6976872"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8" name="Rectangle 177"/>
          <p:cNvSpPr/>
          <p:nvPr/>
        </p:nvSpPr>
        <p:spPr>
          <a:xfrm>
            <a:off x="6976872" y="3721608"/>
            <a:ext cx="94640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9" name="TextBox 178"/>
          <p:cNvSpPr txBox="1"/>
          <p:nvPr/>
        </p:nvSpPr>
        <p:spPr>
          <a:xfrm>
            <a:off x="6565392"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80" name="Rectangle 179"/>
          <p:cNvSpPr/>
          <p:nvPr/>
        </p:nvSpPr>
        <p:spPr>
          <a:xfrm>
            <a:off x="6976872"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1" name="Rectangle 180"/>
          <p:cNvSpPr/>
          <p:nvPr/>
        </p:nvSpPr>
        <p:spPr>
          <a:xfrm>
            <a:off x="6976872" y="390448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2" name="TextBox 181"/>
          <p:cNvSpPr txBox="1"/>
          <p:nvPr/>
        </p:nvSpPr>
        <p:spPr>
          <a:xfrm>
            <a:off x="6565392"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183" name="Rectangle 182"/>
          <p:cNvSpPr/>
          <p:nvPr/>
        </p:nvSpPr>
        <p:spPr>
          <a:xfrm>
            <a:off x="6976872"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4" name="Rectangle 183"/>
          <p:cNvSpPr/>
          <p:nvPr/>
        </p:nvSpPr>
        <p:spPr>
          <a:xfrm>
            <a:off x="6976872" y="4087368"/>
            <a:ext cx="105156"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5" name="TextBox 184"/>
          <p:cNvSpPr txBox="1"/>
          <p:nvPr/>
        </p:nvSpPr>
        <p:spPr>
          <a:xfrm>
            <a:off x="6601968"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186" name="Connector 185"/>
          <p:cNvCxnSpPr/>
          <p:nvPr/>
        </p:nvCxnSpPr>
        <p:spPr>
          <a:xfrm>
            <a:off x="7351775"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7274051"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188" name="Connector 187"/>
          <p:cNvCxnSpPr/>
          <p:nvPr/>
        </p:nvCxnSpPr>
        <p:spPr>
          <a:xfrm flipV="1">
            <a:off x="7808975"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9" name="Oval 188"/>
          <p:cNvSpPr/>
          <p:nvPr/>
        </p:nvSpPr>
        <p:spPr>
          <a:xfrm>
            <a:off x="7731251"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90" name="Rectangle 189"/>
          <p:cNvSpPr/>
          <p:nvPr/>
        </p:nvSpPr>
        <p:spPr>
          <a:xfrm>
            <a:off x="8284463"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1" name="Rectangle 190"/>
          <p:cNvSpPr/>
          <p:nvPr/>
        </p:nvSpPr>
        <p:spPr>
          <a:xfrm>
            <a:off x="8284463"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2 (vLLM)</a:t>
            </a:r>
          </a:p>
        </p:txBody>
      </p:sp>
      <p:sp>
        <p:nvSpPr>
          <p:cNvPr id="192" name="Rectangle 191"/>
          <p:cNvSpPr/>
          <p:nvPr/>
        </p:nvSpPr>
        <p:spPr>
          <a:xfrm>
            <a:off x="9253728"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KV-B</a:t>
            </a:r>
          </a:p>
        </p:txBody>
      </p:sp>
      <p:sp>
        <p:nvSpPr>
          <p:cNvPr id="193" name="TextBox 192"/>
          <p:cNvSpPr txBox="1"/>
          <p:nvPr/>
        </p:nvSpPr>
        <p:spPr>
          <a:xfrm>
            <a:off x="8321039"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94" name="Rectangle 193"/>
          <p:cNvSpPr/>
          <p:nvPr/>
        </p:nvSpPr>
        <p:spPr>
          <a:xfrm>
            <a:off x="8732519"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5" name="Rectangle 194"/>
          <p:cNvSpPr/>
          <p:nvPr/>
        </p:nvSpPr>
        <p:spPr>
          <a:xfrm>
            <a:off x="8732519" y="372160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6" name="TextBox 195"/>
          <p:cNvSpPr txBox="1"/>
          <p:nvPr/>
        </p:nvSpPr>
        <p:spPr>
          <a:xfrm>
            <a:off x="8321039"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97" name="Rectangle 196"/>
          <p:cNvSpPr/>
          <p:nvPr/>
        </p:nvSpPr>
        <p:spPr>
          <a:xfrm>
            <a:off x="8732519"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8" name="Rectangle 197"/>
          <p:cNvSpPr/>
          <p:nvPr/>
        </p:nvSpPr>
        <p:spPr>
          <a:xfrm>
            <a:off x="8732519" y="3904488"/>
            <a:ext cx="893826"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9" name="TextBox 198"/>
          <p:cNvSpPr txBox="1"/>
          <p:nvPr/>
        </p:nvSpPr>
        <p:spPr>
          <a:xfrm>
            <a:off x="8321039"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00" name="Rectangle 199"/>
          <p:cNvSpPr/>
          <p:nvPr/>
        </p:nvSpPr>
        <p:spPr>
          <a:xfrm>
            <a:off x="8732519"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1" name="Rectangle 200"/>
          <p:cNvSpPr/>
          <p:nvPr/>
        </p:nvSpPr>
        <p:spPr>
          <a:xfrm>
            <a:off x="8732519" y="4087368"/>
            <a:ext cx="525780"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2" name="TextBox 201"/>
          <p:cNvSpPr txBox="1"/>
          <p:nvPr/>
        </p:nvSpPr>
        <p:spPr>
          <a:xfrm>
            <a:off x="8357615"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03" name="Connector 202"/>
          <p:cNvCxnSpPr/>
          <p:nvPr/>
        </p:nvCxnSpPr>
        <p:spPr>
          <a:xfrm>
            <a:off x="9107424"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04" name="Oval 203"/>
          <p:cNvSpPr/>
          <p:nvPr/>
        </p:nvSpPr>
        <p:spPr>
          <a:xfrm>
            <a:off x="9029699"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05" name="Connector 204"/>
          <p:cNvCxnSpPr/>
          <p:nvPr/>
        </p:nvCxnSpPr>
        <p:spPr>
          <a:xfrm flipV="1">
            <a:off x="9564624"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6" name="Oval 205"/>
          <p:cNvSpPr/>
          <p:nvPr/>
        </p:nvSpPr>
        <p:spPr>
          <a:xfrm>
            <a:off x="9486899"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207" name="Rectangle 206"/>
          <p:cNvSpPr/>
          <p:nvPr/>
        </p:nvSpPr>
        <p:spPr>
          <a:xfrm>
            <a:off x="10040112"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8" name="Rectangle 207"/>
          <p:cNvSpPr/>
          <p:nvPr/>
        </p:nvSpPr>
        <p:spPr>
          <a:xfrm>
            <a:off x="10040112"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3 (vLLM)</a:t>
            </a:r>
          </a:p>
        </p:txBody>
      </p:sp>
      <p:sp>
        <p:nvSpPr>
          <p:cNvPr id="209" name="Rectangle 208"/>
          <p:cNvSpPr/>
          <p:nvPr/>
        </p:nvSpPr>
        <p:spPr>
          <a:xfrm>
            <a:off x="11009376"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210" name="TextBox 209"/>
          <p:cNvSpPr txBox="1"/>
          <p:nvPr/>
        </p:nvSpPr>
        <p:spPr>
          <a:xfrm>
            <a:off x="10076688"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211" name="Rectangle 210"/>
          <p:cNvSpPr/>
          <p:nvPr/>
        </p:nvSpPr>
        <p:spPr>
          <a:xfrm>
            <a:off x="10488168"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2" name="Rectangle 211"/>
          <p:cNvSpPr/>
          <p:nvPr/>
        </p:nvSpPr>
        <p:spPr>
          <a:xfrm>
            <a:off x="10488168" y="3721608"/>
            <a:ext cx="210312"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3" name="TextBox 212"/>
          <p:cNvSpPr txBox="1"/>
          <p:nvPr/>
        </p:nvSpPr>
        <p:spPr>
          <a:xfrm>
            <a:off x="10076688"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214" name="Rectangle 213"/>
          <p:cNvSpPr/>
          <p:nvPr/>
        </p:nvSpPr>
        <p:spPr>
          <a:xfrm>
            <a:off x="10488168"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5" name="Rectangle 214"/>
          <p:cNvSpPr/>
          <p:nvPr/>
        </p:nvSpPr>
        <p:spPr>
          <a:xfrm>
            <a:off x="10488168" y="3904488"/>
            <a:ext cx="262890"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6" name="TextBox 215"/>
          <p:cNvSpPr txBox="1"/>
          <p:nvPr/>
        </p:nvSpPr>
        <p:spPr>
          <a:xfrm>
            <a:off x="10076688"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17" name="Rectangle 216"/>
          <p:cNvSpPr/>
          <p:nvPr/>
        </p:nvSpPr>
        <p:spPr>
          <a:xfrm>
            <a:off x="10488168"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8" name="Rectangle 217"/>
          <p:cNvSpPr/>
          <p:nvPr/>
        </p:nvSpPr>
        <p:spPr>
          <a:xfrm>
            <a:off x="10488168" y="4087368"/>
            <a:ext cx="946404"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9" name="TextBox 218"/>
          <p:cNvSpPr txBox="1"/>
          <p:nvPr/>
        </p:nvSpPr>
        <p:spPr>
          <a:xfrm>
            <a:off x="10113264"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20" name="Connector 219"/>
          <p:cNvCxnSpPr/>
          <p:nvPr/>
        </p:nvCxnSpPr>
        <p:spPr>
          <a:xfrm>
            <a:off x="10863072"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10785348"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22" name="Connector 221"/>
          <p:cNvCxnSpPr/>
          <p:nvPr/>
        </p:nvCxnSpPr>
        <p:spPr>
          <a:xfrm flipV="1">
            <a:off x="11320272"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3" name="Oval 222"/>
          <p:cNvSpPr/>
          <p:nvPr/>
        </p:nvSpPr>
        <p:spPr>
          <a:xfrm>
            <a:off x="11242548"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cxnSp>
        <p:nvCxnSpPr>
          <p:cNvPr id="224" name="Connector 223"/>
          <p:cNvCxnSpPr/>
          <p:nvPr/>
        </p:nvCxnSpPr>
        <p:spPr>
          <a:xfrm>
            <a:off x="8074152"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829799"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6492240" y="4370832"/>
            <a:ext cx="5120640" cy="18288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서버 간 KV 캐시 전송 (NIXL, 점선)  ·  서버마다 메모리 점유율·보유 KV가 다름</a:t>
            </a:r>
          </a:p>
        </p:txBody>
      </p:sp>
      <p:sp>
        <p:nvSpPr>
          <p:cNvPr id="227" name="Rectangle 226"/>
          <p:cNvSpPr/>
          <p:nvPr/>
        </p:nvSpPr>
        <p:spPr>
          <a:xfrm>
            <a:off x="6355080" y="4754880"/>
            <a:ext cx="539496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8" name="TextBox 227"/>
          <p:cNvSpPr txBox="1"/>
          <p:nvPr/>
        </p:nvSpPr>
        <p:spPr>
          <a:xfrm>
            <a:off x="6473952" y="4782312"/>
            <a:ext cx="5212080" cy="987552"/>
          </a:xfrm>
          <a:prstGeom prst="rect">
            <a:avLst/>
          </a:prstGeom>
          <a:noFill/>
        </p:spPr>
        <p:txBody>
          <a:bodyPr wrap="square" lIns="0" tIns="0" rIns="0" bIns="0" anchor="t">
            <a:spAutoFit/>
          </a:bodyPr>
          <a:lstStyle/>
          <a:p>
            <a:pPr algn="l">
              <a:lnSpc>
                <a:spcPct val="110000"/>
              </a:lnSpc>
            </a:pPr>
            <a:r>
              <a:rPr sz="950" b="1" i="0" dirty="0" err="1">
                <a:solidFill>
                  <a:srgbClr val="C55A11"/>
                </a:solidFill>
                <a:latin typeface="맑은 고딕"/>
                <a:ea typeface="맑은 고딕"/>
              </a:rPr>
              <a:t>서버</a:t>
            </a:r>
            <a:r>
              <a:rPr sz="950" b="1" i="0" dirty="0">
                <a:solidFill>
                  <a:srgbClr val="C55A11"/>
                </a:solidFill>
                <a:latin typeface="맑은 고딕"/>
                <a:ea typeface="맑은 고딕"/>
              </a:rPr>
              <a:t> </a:t>
            </a:r>
            <a:r>
              <a:rPr sz="950" b="1" i="0" dirty="0" err="1">
                <a:solidFill>
                  <a:srgbClr val="C55A11"/>
                </a:solidFill>
                <a:latin typeface="맑은 고딕"/>
                <a:ea typeface="맑은 고딕"/>
              </a:rPr>
              <a:t>간에</a:t>
            </a:r>
            <a:r>
              <a:rPr sz="950" b="1" i="0" dirty="0">
                <a:solidFill>
                  <a:srgbClr val="C55A11"/>
                </a:solidFill>
                <a:latin typeface="맑은 고딕"/>
                <a:ea typeface="맑은 고딕"/>
              </a:rPr>
              <a:t> </a:t>
            </a:r>
            <a:r>
              <a:rPr sz="950" b="1" i="0" dirty="0" err="1">
                <a:solidFill>
                  <a:srgbClr val="C55A11"/>
                </a:solidFill>
                <a:latin typeface="맑은 고딕"/>
                <a:ea typeface="맑은 고딕"/>
              </a:rPr>
              <a:t>새로</a:t>
            </a:r>
            <a:r>
              <a:rPr sz="950" b="1" i="0" dirty="0">
                <a:solidFill>
                  <a:srgbClr val="C55A11"/>
                </a:solidFill>
                <a:latin typeface="맑은 고딕"/>
                <a:ea typeface="맑은 고딕"/>
              </a:rPr>
              <a:t> </a:t>
            </a:r>
            <a:r>
              <a:rPr sz="950" b="1" i="0" dirty="0" err="1">
                <a:solidFill>
                  <a:srgbClr val="C55A11"/>
                </a:solidFill>
                <a:latin typeface="맑은 고딕"/>
                <a:ea typeface="맑은 고딕"/>
              </a:rPr>
              <a:t>필요한</a:t>
            </a:r>
            <a:r>
              <a:rPr sz="950" b="1" i="0" dirty="0">
                <a:solidFill>
                  <a:srgbClr val="C55A11"/>
                </a:solidFill>
                <a:latin typeface="맑은 고딕"/>
                <a:ea typeface="맑은 고딕"/>
              </a:rPr>
              <a:t> </a:t>
            </a:r>
            <a:r>
              <a:rPr sz="950" b="1" i="0" dirty="0" err="1">
                <a:solidFill>
                  <a:srgbClr val="C55A11"/>
                </a:solidFill>
                <a:latin typeface="맑은 고딕"/>
                <a:ea typeface="맑은 고딕"/>
              </a:rPr>
              <a:t>결정</a:t>
            </a:r>
            <a:r>
              <a:rPr sz="950" b="1" i="0" dirty="0">
                <a:solidFill>
                  <a:srgbClr val="C55A11"/>
                </a:solidFill>
                <a:latin typeface="맑은 고딕"/>
                <a:ea typeface="맑은 고딕"/>
              </a:rPr>
              <a:t> (</a:t>
            </a:r>
            <a:r>
              <a:rPr sz="950" b="1" i="0" dirty="0" err="1">
                <a:solidFill>
                  <a:srgbClr val="C55A11"/>
                </a:solidFill>
                <a:latin typeface="맑은 고딕"/>
                <a:ea typeface="맑은 고딕"/>
              </a:rPr>
              <a:t>서버</a:t>
            </a:r>
            <a:r>
              <a:rPr sz="950" b="1" i="0" dirty="0">
                <a:solidFill>
                  <a:srgbClr val="C55A11"/>
                </a:solidFill>
                <a:latin typeface="맑은 고딕"/>
                <a:ea typeface="맑은 고딕"/>
              </a:rPr>
              <a:t> 간 </a:t>
            </a:r>
            <a:r>
              <a:rPr sz="950" b="1" i="0" dirty="0" err="1">
                <a:solidFill>
                  <a:srgbClr val="C55A11"/>
                </a:solidFill>
                <a:latin typeface="맑은 고딕"/>
                <a:ea typeface="맑은 고딕"/>
              </a:rPr>
              <a:t>결정</a:t>
            </a:r>
            <a:r>
              <a:rPr sz="950" b="1" i="0" dirty="0">
                <a:solidFill>
                  <a:srgbClr val="C55A11"/>
                </a:solidFill>
                <a:latin typeface="맑은 고딕"/>
                <a:ea typeface="맑은 고딕"/>
              </a:rPr>
              <a:t>)</a:t>
            </a:r>
          </a:p>
          <a:p>
            <a:pPr algn="l">
              <a:lnSpc>
                <a:spcPct val="110000"/>
              </a:lnSpc>
            </a:pPr>
            <a:r>
              <a:rPr sz="850" b="0" i="0" dirty="0">
                <a:solidFill>
                  <a:srgbClr val="404040"/>
                </a:solidFill>
                <a:latin typeface="맑은 고딕"/>
                <a:ea typeface="맑은 고딕"/>
              </a:rPr>
              <a:t>① 이 </a:t>
            </a:r>
            <a:r>
              <a:rPr sz="850" b="0" i="0" dirty="0" err="1">
                <a:solidFill>
                  <a:srgbClr val="404040"/>
                </a:solidFill>
                <a:latin typeface="맑은 고딕"/>
                <a:ea typeface="맑은 고딕"/>
              </a:rPr>
              <a:t>요청을</a:t>
            </a:r>
            <a:r>
              <a:rPr sz="850" b="0" i="0" dirty="0">
                <a:solidFill>
                  <a:srgbClr val="404040"/>
                </a:solidFill>
                <a:latin typeface="맑은 고딕"/>
                <a:ea typeface="맑은 고딕"/>
              </a:rPr>
              <a:t> </a:t>
            </a:r>
            <a:r>
              <a:rPr sz="850" b="0" i="0" dirty="0" err="1">
                <a:solidFill>
                  <a:srgbClr val="404040"/>
                </a:solidFill>
                <a:latin typeface="맑은 고딕"/>
                <a:ea typeface="맑은 고딕"/>
              </a:rPr>
              <a:t>어느</a:t>
            </a:r>
            <a:r>
              <a:rPr sz="850" b="0" i="0" dirty="0">
                <a:solidFill>
                  <a:srgbClr val="404040"/>
                </a:solidFill>
                <a:latin typeface="맑은 고딕"/>
                <a:ea typeface="맑은 고딕"/>
              </a:rPr>
              <a:t> </a:t>
            </a:r>
            <a:r>
              <a:rPr sz="850" b="0" i="0" dirty="0" err="1">
                <a:solidFill>
                  <a:srgbClr val="404040"/>
                </a:solidFill>
                <a:latin typeface="맑은 고딕"/>
                <a:ea typeface="맑은 고딕"/>
              </a:rPr>
              <a:t>서버로</a:t>
            </a:r>
            <a:r>
              <a:rPr sz="850" b="0" i="0" dirty="0">
                <a:solidFill>
                  <a:srgbClr val="404040"/>
                </a:solidFill>
                <a:latin typeface="맑은 고딕"/>
                <a:ea typeface="맑은 고딕"/>
              </a:rPr>
              <a:t>?  (</a:t>
            </a:r>
            <a:r>
              <a:rPr sz="850" b="0" i="0" dirty="0" err="1">
                <a:solidFill>
                  <a:srgbClr val="404040"/>
                </a:solidFill>
                <a:latin typeface="맑은 고딕"/>
                <a:ea typeface="맑은 고딕"/>
              </a:rPr>
              <a:t>서버별</a:t>
            </a:r>
            <a:r>
              <a:rPr sz="850" b="0" i="0" dirty="0">
                <a:solidFill>
                  <a:srgbClr val="404040"/>
                </a:solidFill>
                <a:latin typeface="맑은 고딕"/>
                <a:ea typeface="맑은 고딕"/>
              </a:rPr>
              <a:t> KV </a:t>
            </a:r>
            <a:r>
              <a:rPr sz="850" b="0" i="0" dirty="0" err="1">
                <a:solidFill>
                  <a:srgbClr val="404040"/>
                </a:solidFill>
                <a:latin typeface="맑은 고딕"/>
                <a:ea typeface="맑은 고딕"/>
              </a:rPr>
              <a:t>캐시</a:t>
            </a:r>
            <a:r>
              <a:rPr sz="850" b="0" i="0" dirty="0">
                <a:solidFill>
                  <a:srgbClr val="404040"/>
                </a:solidFill>
                <a:latin typeface="맑은 고딕"/>
                <a:ea typeface="맑은 고딕"/>
              </a:rPr>
              <a:t> </a:t>
            </a:r>
            <a:r>
              <a:rPr sz="850" b="0" i="0" dirty="0" err="1">
                <a:solidFill>
                  <a:srgbClr val="404040"/>
                </a:solidFill>
                <a:latin typeface="맑은 고딕"/>
                <a:ea typeface="맑은 고딕"/>
              </a:rPr>
              <a:t>위치·메모리</a:t>
            </a:r>
            <a:r>
              <a:rPr sz="850" b="0" i="0" dirty="0">
                <a:solidFill>
                  <a:srgbClr val="404040"/>
                </a:solidFill>
                <a:latin typeface="맑은 고딕"/>
                <a:ea typeface="맑은 고딕"/>
              </a:rPr>
              <a:t> </a:t>
            </a:r>
            <a:r>
              <a:rPr sz="850" b="0" i="0" dirty="0" err="1">
                <a:solidFill>
                  <a:srgbClr val="404040"/>
                </a:solidFill>
                <a:latin typeface="맑은 고딕"/>
                <a:ea typeface="맑은 고딕"/>
              </a:rPr>
              <a:t>점유가</a:t>
            </a:r>
            <a:r>
              <a:rPr sz="850" b="0" i="0" dirty="0">
                <a:solidFill>
                  <a:srgbClr val="404040"/>
                </a:solidFill>
                <a:latin typeface="맑은 고딕"/>
                <a:ea typeface="맑은 고딕"/>
              </a:rPr>
              <a:t> </a:t>
            </a:r>
            <a:r>
              <a:rPr sz="850" b="0" i="0" dirty="0" err="1">
                <a:solidFill>
                  <a:srgbClr val="404040"/>
                </a:solidFill>
                <a:latin typeface="맑은 고딕"/>
                <a:ea typeface="맑은 고딕"/>
              </a:rPr>
              <a:t>상이</a:t>
            </a:r>
            <a:r>
              <a:rPr sz="850" b="0" i="0" dirty="0">
                <a:solidFill>
                  <a:srgbClr val="404040"/>
                </a:solidFill>
                <a:latin typeface="맑은 고딕"/>
                <a:ea typeface="맑은 고딕"/>
              </a:rPr>
              <a:t>)</a:t>
            </a:r>
          </a:p>
          <a:p>
            <a:pPr algn="l">
              <a:lnSpc>
                <a:spcPct val="110000"/>
              </a:lnSpc>
            </a:pPr>
            <a:r>
              <a:rPr sz="850" b="0" i="0" dirty="0">
                <a:solidFill>
                  <a:srgbClr val="404040"/>
                </a:solidFill>
                <a:latin typeface="맑은 고딕"/>
                <a:ea typeface="맑은 고딕"/>
              </a:rPr>
              <a:t>② Prefill/</a:t>
            </a:r>
            <a:r>
              <a:rPr sz="850" b="0" i="0" dirty="0" err="1">
                <a:solidFill>
                  <a:srgbClr val="404040"/>
                </a:solidFill>
                <a:latin typeface="맑은 고딕"/>
                <a:ea typeface="맑은 고딕"/>
              </a:rPr>
              <a:t>Decode를</a:t>
            </a:r>
            <a:r>
              <a:rPr sz="850" b="0" i="0" dirty="0">
                <a:solidFill>
                  <a:srgbClr val="404040"/>
                </a:solidFill>
                <a:latin typeface="맑은 고딕"/>
                <a:ea typeface="맑은 고딕"/>
              </a:rPr>
              <a:t> </a:t>
            </a:r>
            <a:r>
              <a:rPr sz="850" b="0" i="0" dirty="0" err="1">
                <a:solidFill>
                  <a:srgbClr val="404040"/>
                </a:solidFill>
                <a:latin typeface="맑은 고딕"/>
                <a:ea typeface="맑은 고딕"/>
              </a:rPr>
              <a:t>서버</a:t>
            </a:r>
            <a:r>
              <a:rPr sz="850" b="0" i="0" dirty="0">
                <a:solidFill>
                  <a:srgbClr val="404040"/>
                </a:solidFill>
                <a:latin typeface="맑은 고딕"/>
                <a:ea typeface="맑은 고딕"/>
              </a:rPr>
              <a:t> </a:t>
            </a:r>
            <a:r>
              <a:rPr sz="850" b="0" i="0" dirty="0" err="1">
                <a:solidFill>
                  <a:srgbClr val="404040"/>
                </a:solidFill>
                <a:latin typeface="맑은 고딕"/>
                <a:ea typeface="맑은 고딕"/>
              </a:rPr>
              <a:t>나눠</a:t>
            </a:r>
            <a:r>
              <a:rPr sz="850" b="0" i="0" dirty="0">
                <a:solidFill>
                  <a:srgbClr val="404040"/>
                </a:solidFill>
                <a:latin typeface="맑은 고딕"/>
                <a:ea typeface="맑은 고딕"/>
              </a:rPr>
              <a:t> </a:t>
            </a:r>
            <a:r>
              <a:rPr sz="850" b="0" i="0" dirty="0" err="1">
                <a:solidFill>
                  <a:srgbClr val="404040"/>
                </a:solidFill>
                <a:latin typeface="맑은 고딕"/>
                <a:ea typeface="맑은 고딕"/>
              </a:rPr>
              <a:t>실행할지</a:t>
            </a:r>
            <a:r>
              <a:rPr sz="850" b="0" i="0" dirty="0">
                <a:solidFill>
                  <a:srgbClr val="404040"/>
                </a:solidFill>
                <a:latin typeface="맑은 고딕"/>
                <a:ea typeface="맑은 고딕"/>
              </a:rPr>
              <a:t>, </a:t>
            </a:r>
            <a:r>
              <a:rPr sz="850" b="0" i="0" dirty="0" err="1">
                <a:solidFill>
                  <a:srgbClr val="404040"/>
                </a:solidFill>
                <a:latin typeface="맑은 고딕"/>
                <a:ea typeface="맑은 고딕"/>
              </a:rPr>
              <a:t>Prefill은</a:t>
            </a:r>
            <a:r>
              <a:rPr sz="850" b="0" i="0" dirty="0">
                <a:solidFill>
                  <a:srgbClr val="404040"/>
                </a:solidFill>
                <a:latin typeface="맑은 고딕"/>
                <a:ea typeface="맑은 고딕"/>
              </a:rPr>
              <a:t> </a:t>
            </a:r>
            <a:r>
              <a:rPr sz="850" b="0" i="0" dirty="0" err="1">
                <a:solidFill>
                  <a:srgbClr val="404040"/>
                </a:solidFill>
                <a:latin typeface="맑은 고딕"/>
                <a:ea typeface="맑은 고딕"/>
              </a:rPr>
              <a:t>어디서</a:t>
            </a:r>
            <a:r>
              <a:rPr sz="850" b="0" i="0" dirty="0">
                <a:solidFill>
                  <a:srgbClr val="404040"/>
                </a:solidFill>
                <a:latin typeface="맑은 고딕"/>
                <a:ea typeface="맑은 고딕"/>
              </a:rPr>
              <a:t>?  (KV </a:t>
            </a:r>
            <a:r>
              <a:rPr sz="850" b="0" i="0" dirty="0" err="1">
                <a:solidFill>
                  <a:srgbClr val="404040"/>
                </a:solidFill>
                <a:latin typeface="맑은 고딕"/>
                <a:ea typeface="맑은 고딕"/>
              </a:rPr>
              <a:t>전송</a:t>
            </a:r>
            <a:r>
              <a:rPr sz="850" b="0" i="0" dirty="0">
                <a:solidFill>
                  <a:srgbClr val="404040"/>
                </a:solidFill>
                <a:latin typeface="맑은 고딕"/>
                <a:ea typeface="맑은 고딕"/>
              </a:rPr>
              <a:t> </a:t>
            </a:r>
            <a:r>
              <a:rPr sz="850" b="0" i="0" dirty="0" err="1">
                <a:solidFill>
                  <a:srgbClr val="404040"/>
                </a:solidFill>
                <a:latin typeface="맑은 고딕"/>
                <a:ea typeface="맑은 고딕"/>
              </a:rPr>
              <a:t>비용</a:t>
            </a:r>
            <a:r>
              <a:rPr sz="850" b="0" i="0" dirty="0">
                <a:solidFill>
                  <a:srgbClr val="404040"/>
                </a:solidFill>
                <a:latin typeface="맑은 고딕"/>
                <a:ea typeface="맑은 고딕"/>
              </a:rPr>
              <a:t>)</a:t>
            </a:r>
          </a:p>
          <a:p>
            <a:pPr algn="l">
              <a:lnSpc>
                <a:spcPct val="110000"/>
              </a:lnSpc>
            </a:pPr>
            <a:r>
              <a:rPr sz="850" b="0" i="0" dirty="0">
                <a:solidFill>
                  <a:srgbClr val="404040"/>
                </a:solidFill>
                <a:latin typeface="맑은 고딕"/>
                <a:ea typeface="맑은 고딕"/>
              </a:rPr>
              <a:t>③ </a:t>
            </a:r>
            <a:r>
              <a:rPr sz="850" b="0" i="0" dirty="0" err="1">
                <a:solidFill>
                  <a:srgbClr val="404040"/>
                </a:solidFill>
                <a:latin typeface="맑은 고딕"/>
                <a:ea typeface="맑은 고딕"/>
              </a:rPr>
              <a:t>서버</a:t>
            </a:r>
            <a:r>
              <a:rPr sz="850" b="0" i="0" dirty="0">
                <a:solidFill>
                  <a:srgbClr val="404040"/>
                </a:solidFill>
                <a:latin typeface="맑은 고딕"/>
                <a:ea typeface="맑은 고딕"/>
              </a:rPr>
              <a:t> 간 KV </a:t>
            </a:r>
            <a:r>
              <a:rPr sz="850" b="0" i="0" dirty="0" err="1">
                <a:solidFill>
                  <a:srgbClr val="404040"/>
                </a:solidFill>
                <a:latin typeface="맑은 고딕"/>
                <a:ea typeface="맑은 고딕"/>
              </a:rPr>
              <a:t>공유·서버</a:t>
            </a:r>
            <a:r>
              <a:rPr sz="850" b="0" i="0" dirty="0">
                <a:solidFill>
                  <a:srgbClr val="404040"/>
                </a:solidFill>
                <a:latin typeface="맑은 고딕"/>
                <a:ea typeface="맑은 고딕"/>
              </a:rPr>
              <a:t> </a:t>
            </a:r>
            <a:r>
              <a:rPr sz="850" b="0" i="0" dirty="0" err="1">
                <a:solidFill>
                  <a:srgbClr val="404040"/>
                </a:solidFill>
                <a:latin typeface="맑은 고딕"/>
                <a:ea typeface="맑은 고딕"/>
              </a:rPr>
              <a:t>확장은</a:t>
            </a:r>
            <a:r>
              <a:rPr sz="850" b="0" i="0" dirty="0">
                <a:solidFill>
                  <a:srgbClr val="404040"/>
                </a:solidFill>
                <a:latin typeface="맑은 고딕"/>
                <a:ea typeface="맑은 고딕"/>
              </a:rPr>
              <a:t>?</a:t>
            </a:r>
          </a:p>
          <a:p>
            <a:pPr algn="l">
              <a:lnSpc>
                <a:spcPct val="110000"/>
              </a:lnSpc>
            </a:pPr>
            <a:r>
              <a:rPr sz="750" b="0" i="0" dirty="0" err="1">
                <a:solidFill>
                  <a:srgbClr val="404040"/>
                </a:solidFill>
                <a:latin typeface="맑은 고딕"/>
                <a:ea typeface="맑은 고딕"/>
              </a:rPr>
              <a:t>vLLM</a:t>
            </a:r>
            <a:r>
              <a:rPr sz="750" b="0" i="0" dirty="0">
                <a:solidFill>
                  <a:srgbClr val="404040"/>
                </a:solidFill>
                <a:latin typeface="맑은 고딕"/>
                <a:ea typeface="맑은 고딕"/>
              </a:rPr>
              <a:t> = </a:t>
            </a:r>
            <a:r>
              <a:rPr sz="750" b="0" i="0" dirty="0" err="1">
                <a:solidFill>
                  <a:srgbClr val="404040"/>
                </a:solidFill>
                <a:latin typeface="맑은 고딕"/>
                <a:ea typeface="맑은 고딕"/>
              </a:rPr>
              <a:t>서버</a:t>
            </a:r>
            <a:r>
              <a:rPr sz="750" b="0" i="0" dirty="0">
                <a:solidFill>
                  <a:srgbClr val="404040"/>
                </a:solidFill>
                <a:latin typeface="맑은 고딕"/>
                <a:ea typeface="맑은 고딕"/>
              </a:rPr>
              <a:t> </a:t>
            </a:r>
            <a:r>
              <a:rPr sz="750" b="0" i="0" dirty="0" err="1">
                <a:solidFill>
                  <a:srgbClr val="404040"/>
                </a:solidFill>
                <a:latin typeface="맑은 고딕"/>
                <a:ea typeface="맑은 고딕"/>
              </a:rPr>
              <a:t>내부</a:t>
            </a:r>
            <a:r>
              <a:rPr sz="750" b="0" i="0" dirty="0">
                <a:solidFill>
                  <a:srgbClr val="404040"/>
                </a:solidFill>
                <a:latin typeface="맑은 고딕"/>
                <a:ea typeface="맑은 고딕"/>
              </a:rPr>
              <a:t> </a:t>
            </a:r>
            <a:r>
              <a:rPr sz="750" b="0" i="0" dirty="0" err="1">
                <a:solidFill>
                  <a:srgbClr val="404040"/>
                </a:solidFill>
                <a:latin typeface="맑은 고딕"/>
                <a:ea typeface="맑은 고딕"/>
              </a:rPr>
              <a:t>병렬화</a:t>
            </a:r>
            <a:r>
              <a:rPr sz="750" b="0" i="0" dirty="0">
                <a:solidFill>
                  <a:srgbClr val="404040"/>
                </a:solidFill>
                <a:latin typeface="맑은 고딕"/>
                <a:ea typeface="맑은 고딕"/>
              </a:rPr>
              <a:t> / </a:t>
            </a:r>
            <a:r>
              <a:rPr sz="750" b="0" i="0" dirty="0" err="1">
                <a:solidFill>
                  <a:srgbClr val="404040"/>
                </a:solidFill>
                <a:latin typeface="맑은 고딕"/>
                <a:ea typeface="맑은 고딕"/>
              </a:rPr>
              <a:t>llm-d·Dynamo</a:t>
            </a:r>
            <a:r>
              <a:rPr sz="750" b="0" i="0" dirty="0">
                <a:solidFill>
                  <a:srgbClr val="404040"/>
                </a:solidFill>
                <a:latin typeface="맑은 고딕"/>
                <a:ea typeface="맑은 고딕"/>
              </a:rPr>
              <a:t> = </a:t>
            </a:r>
            <a:r>
              <a:rPr sz="750" b="0" i="0" dirty="0" err="1">
                <a:solidFill>
                  <a:srgbClr val="404040"/>
                </a:solidFill>
                <a:latin typeface="맑은 고딕"/>
                <a:ea typeface="맑은 고딕"/>
              </a:rPr>
              <a:t>서버들을</a:t>
            </a:r>
            <a:r>
              <a:rPr sz="750" b="0" i="0" dirty="0">
                <a:solidFill>
                  <a:srgbClr val="404040"/>
                </a:solidFill>
                <a:latin typeface="맑은 고딕"/>
                <a:ea typeface="맑은 고딕"/>
              </a:rPr>
              <a:t> </a:t>
            </a:r>
            <a:r>
              <a:rPr sz="750" b="0" i="0" dirty="0" err="1">
                <a:solidFill>
                  <a:srgbClr val="404040"/>
                </a:solidFill>
                <a:latin typeface="맑은 고딕"/>
                <a:ea typeface="맑은 고딕"/>
              </a:rPr>
              <a:t>묶는</a:t>
            </a:r>
            <a:r>
              <a:rPr sz="750" b="0" i="0" dirty="0">
                <a:solidFill>
                  <a:srgbClr val="404040"/>
                </a:solidFill>
                <a:latin typeface="맑은 고딕"/>
                <a:ea typeface="맑은 고딕"/>
              </a:rPr>
              <a:t> </a:t>
            </a:r>
            <a:r>
              <a:rPr sz="750" b="0" i="0" dirty="0" err="1">
                <a:solidFill>
                  <a:srgbClr val="404040"/>
                </a:solidFill>
                <a:latin typeface="맑은 고딕"/>
                <a:ea typeface="맑은 고딕"/>
              </a:rPr>
              <a:t>계층</a:t>
            </a:r>
            <a:r>
              <a:rPr sz="750" b="0" i="0" dirty="0">
                <a:solidFill>
                  <a:srgbClr val="404040"/>
                </a:solidFill>
                <a:latin typeface="맑은 고딕"/>
                <a:ea typeface="맑은 고딕"/>
              </a:rPr>
              <a:t> → </a:t>
            </a:r>
            <a:r>
              <a:rPr sz="750" b="0" i="0" dirty="0" err="1">
                <a:solidFill>
                  <a:srgbClr val="404040"/>
                </a:solidFill>
                <a:latin typeface="맑은 고딕"/>
                <a:ea typeface="맑은 고딕"/>
              </a:rPr>
              <a:t>다루는</a:t>
            </a:r>
            <a:r>
              <a:rPr sz="750" b="0" i="0" dirty="0">
                <a:solidFill>
                  <a:srgbClr val="404040"/>
                </a:solidFill>
                <a:latin typeface="맑은 고딕"/>
                <a:ea typeface="맑은 고딕"/>
              </a:rPr>
              <a:t> </a:t>
            </a:r>
            <a:r>
              <a:rPr sz="750" b="0" i="0" dirty="0" err="1">
                <a:solidFill>
                  <a:srgbClr val="404040"/>
                </a:solidFill>
                <a:latin typeface="맑은 고딕"/>
                <a:ea typeface="맑은 고딕"/>
              </a:rPr>
              <a:t>축이</a:t>
            </a:r>
            <a:r>
              <a:rPr sz="750" b="0" i="0" dirty="0">
                <a:solidFill>
                  <a:srgbClr val="404040"/>
                </a:solidFill>
                <a:latin typeface="맑은 고딕"/>
                <a:ea typeface="맑은 고딕"/>
              </a:rPr>
              <a:t> </a:t>
            </a:r>
            <a:r>
              <a:rPr sz="750" b="0" i="0" dirty="0" err="1">
                <a:solidFill>
                  <a:srgbClr val="404040"/>
                </a:solidFill>
                <a:latin typeface="맑은 고딕"/>
                <a:ea typeface="맑은 고딕"/>
              </a:rPr>
              <a:t>다름</a:t>
            </a:r>
            <a:endParaRPr sz="750" b="0" i="0" dirty="0">
              <a:solidFill>
                <a:srgbClr val="404040"/>
              </a:solidFill>
              <a:latin typeface="맑은 고딕"/>
              <a:ea typeface="맑은 고딕"/>
            </a:endParaRPr>
          </a:p>
        </p:txBody>
      </p:sp>
      <p:sp>
        <p:nvSpPr>
          <p:cNvPr id="229" name="Rectangle 228"/>
          <p:cNvSpPr/>
          <p:nvPr/>
        </p:nvSpPr>
        <p:spPr>
          <a:xfrm>
            <a:off x="502920" y="5852160"/>
            <a:ext cx="525780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0" name="TextBox 229"/>
          <p:cNvSpPr txBox="1"/>
          <p:nvPr/>
        </p:nvSpPr>
        <p:spPr>
          <a:xfrm>
            <a:off x="566928" y="5861304"/>
            <a:ext cx="5138928" cy="457200"/>
          </a:xfrm>
          <a:prstGeom prst="rect">
            <a:avLst/>
          </a:prstGeom>
          <a:noFill/>
        </p:spPr>
        <p:txBody>
          <a:bodyPr wrap="square" lIns="0" tIns="0" rIns="0" bIns="0" anchor="t">
            <a:spAutoFit/>
          </a:bodyPr>
          <a:lstStyle/>
          <a:p>
            <a:pPr algn="l">
              <a:lnSpc>
                <a:spcPct val="100000"/>
              </a:lnSpc>
            </a:pPr>
            <a:r>
              <a:rPr sz="700" b="1" i="0">
                <a:solidFill>
                  <a:srgbClr val="2E75B6"/>
                </a:solidFill>
                <a:latin typeface="맑은 고딕"/>
                <a:ea typeface="맑은 고딕"/>
              </a:rPr>
              <a:t>용어 </a:t>
            </a:r>
            <a:r>
              <a:rPr sz="700" b="1" i="0">
                <a:solidFill>
                  <a:srgbClr val="404040"/>
                </a:solidFill>
                <a:latin typeface="맑은 고딕"/>
                <a:ea typeface="맑은 고딕"/>
              </a:rPr>
              <a:t>KV 캐시</a:t>
            </a:r>
            <a:r>
              <a:rPr sz="700" b="0" i="0">
                <a:solidFill>
                  <a:srgbClr val="404040"/>
                </a:solidFill>
                <a:latin typeface="맑은 고딕"/>
                <a:ea typeface="맑은 고딕"/>
              </a:rPr>
              <a:t> = LLM이 이전 입력을 다시 계산하지 않도록 저장한 중간 결과</a:t>
            </a:r>
          </a:p>
          <a:p>
            <a:pPr algn="l">
              <a:lnSpc>
                <a:spcPct val="100000"/>
              </a:lnSpc>
            </a:pPr>
            <a:r>
              <a:rPr sz="700" b="1" i="0">
                <a:solidFill>
                  <a:srgbClr val="404040"/>
                </a:solidFill>
                <a:latin typeface="맑은 고딕"/>
                <a:ea typeface="맑은 고딕"/>
              </a:rPr>
              <a:t>HBM·DRAM·CXL·HBF·SSD</a:t>
            </a:r>
            <a:r>
              <a:rPr sz="700" b="0" i="0">
                <a:solidFill>
                  <a:srgbClr val="404040"/>
                </a:solidFill>
                <a:latin typeface="맑은 고딕"/>
                <a:ea typeface="맑은 고딕"/>
              </a:rPr>
              <a:t> = 빠르고 작은 메모리 → 느리고 큰 메모리</a:t>
            </a:r>
          </a:p>
          <a:p>
            <a:pPr algn="l">
              <a:lnSpc>
                <a:spcPct val="100000"/>
              </a:lnSpc>
            </a:pPr>
            <a:r>
              <a:rPr sz="700" b="1" i="0">
                <a:solidFill>
                  <a:srgbClr val="404040"/>
                </a:solidFill>
                <a:latin typeface="맑은 고딕"/>
                <a:ea typeface="맑은 고딕"/>
              </a:rPr>
              <a:t>vLLM</a:t>
            </a:r>
            <a:r>
              <a:rPr sz="700" b="0" i="0">
                <a:solidFill>
                  <a:srgbClr val="404040"/>
                </a:solidFill>
                <a:latin typeface="맑은 고딕"/>
                <a:ea typeface="맑은 고딕"/>
              </a:rPr>
              <a:t> = LLM 추론 서버 소프트웨어  ·  </a:t>
            </a:r>
            <a:r>
              <a:rPr sz="700" b="1" i="0">
                <a:solidFill>
                  <a:srgbClr val="404040"/>
                </a:solidFill>
                <a:latin typeface="맑은 고딕"/>
                <a:ea typeface="맑은 고딕"/>
              </a:rPr>
              <a:t>Prefill</a:t>
            </a:r>
            <a:r>
              <a:rPr sz="700" b="0" i="0">
                <a:solidFill>
                  <a:srgbClr val="404040"/>
                </a:solidFill>
                <a:latin typeface="맑은 고딕"/>
                <a:ea typeface="맑은 고딕"/>
              </a:rPr>
              <a:t> = 입력 처리(계산 집약)</a:t>
            </a:r>
          </a:p>
        </p:txBody>
      </p:sp>
      <p:sp>
        <p:nvSpPr>
          <p:cNvPr id="231" name="Rectangle 230"/>
          <p:cNvSpPr/>
          <p:nvPr/>
        </p:nvSpPr>
        <p:spPr>
          <a:xfrm>
            <a:off x="6355080" y="5852160"/>
            <a:ext cx="539496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2" name="TextBox 231"/>
          <p:cNvSpPr txBox="1"/>
          <p:nvPr/>
        </p:nvSpPr>
        <p:spPr>
          <a:xfrm>
            <a:off x="6419088" y="5861304"/>
            <a:ext cx="5266944" cy="457200"/>
          </a:xfrm>
          <a:prstGeom prst="rect">
            <a:avLst/>
          </a:prstGeom>
          <a:noFill/>
        </p:spPr>
        <p:txBody>
          <a:bodyPr wrap="square" lIns="0" tIns="0" rIns="0" bIns="0" anchor="t">
            <a:spAutoFit/>
          </a:bodyPr>
          <a:lstStyle/>
          <a:p>
            <a:pPr algn="l">
              <a:lnSpc>
                <a:spcPct val="100000"/>
              </a:lnSpc>
            </a:pPr>
            <a:r>
              <a:rPr sz="700" b="1" i="0">
                <a:solidFill>
                  <a:srgbClr val="C55A11"/>
                </a:solidFill>
                <a:latin typeface="맑은 고딕"/>
                <a:ea typeface="맑은 고딕"/>
              </a:rPr>
              <a:t>용어 </a:t>
            </a:r>
            <a:r>
              <a:rPr sz="700" b="1" i="0">
                <a:solidFill>
                  <a:srgbClr val="404040"/>
                </a:solidFill>
                <a:latin typeface="맑은 고딕"/>
                <a:ea typeface="맑은 고딕"/>
              </a:rPr>
              <a:t>Decode</a:t>
            </a:r>
            <a:r>
              <a:rPr sz="700" b="0" i="0">
                <a:solidFill>
                  <a:srgbClr val="404040"/>
                </a:solidFill>
                <a:latin typeface="맑은 고딕"/>
                <a:ea typeface="맑은 고딕"/>
              </a:rPr>
              <a:t> = 응답 생성(메모리 집약)  ·  </a:t>
            </a:r>
            <a:r>
              <a:rPr sz="700" b="1" i="0">
                <a:solidFill>
                  <a:srgbClr val="404040"/>
                </a:solidFill>
                <a:latin typeface="맑은 고딕"/>
                <a:ea typeface="맑은 고딕"/>
              </a:rPr>
              <a:t>P/D 분리</a:t>
            </a:r>
            <a:r>
              <a:rPr sz="700" b="0" i="0">
                <a:solidFill>
                  <a:srgbClr val="404040"/>
                </a:solidFill>
                <a:latin typeface="맑은 고딕"/>
                <a:ea typeface="맑은 고딕"/>
              </a:rPr>
              <a:t> = Prefill/Decode를 서로 다른 서버에서 실행</a:t>
            </a:r>
          </a:p>
          <a:p>
            <a:pPr algn="l">
              <a:lnSpc>
                <a:spcPct val="100000"/>
              </a:lnSpc>
            </a:pPr>
            <a:r>
              <a:rPr sz="700" b="1" i="0">
                <a:solidFill>
                  <a:srgbClr val="404040"/>
                </a:solidFill>
                <a:latin typeface="맑은 고딕"/>
                <a:ea typeface="맑은 고딕"/>
              </a:rPr>
              <a:t>NIXL</a:t>
            </a:r>
            <a:r>
              <a:rPr sz="700" b="0" i="0">
                <a:solidFill>
                  <a:srgbClr val="404040"/>
                </a:solidFill>
                <a:latin typeface="맑은 고딕"/>
                <a:ea typeface="맑은 고딕"/>
              </a:rPr>
              <a:t> = 서버 간 KV 캐시 전송  ·  </a:t>
            </a:r>
            <a:r>
              <a:rPr sz="700" b="1" i="0">
                <a:solidFill>
                  <a:srgbClr val="404040"/>
                </a:solidFill>
                <a:latin typeface="맑은 고딕"/>
                <a:ea typeface="맑은 고딕"/>
              </a:rPr>
              <a:t>Rack</a:t>
            </a:r>
            <a:r>
              <a:rPr sz="700" b="0" i="0">
                <a:solidFill>
                  <a:srgbClr val="404040"/>
                </a:solidFill>
                <a:latin typeface="맑은 고딕"/>
                <a:ea typeface="맑은 고딕"/>
              </a:rPr>
              <a:t> = 서버를 모아 둔 랙 단위</a:t>
            </a:r>
          </a:p>
          <a:p>
            <a:pPr algn="l">
              <a:lnSpc>
                <a:spcPct val="100000"/>
              </a:lnSpc>
            </a:pPr>
            <a:r>
              <a:rPr sz="700" b="1" i="0">
                <a:solidFill>
                  <a:srgbClr val="C55A11"/>
                </a:solidFill>
                <a:latin typeface="맑은 고딕"/>
                <a:ea typeface="맑은 고딕"/>
              </a:rPr>
              <a:t>번호 </a:t>
            </a:r>
            <a:r>
              <a:rPr sz="700" b="0" i="0">
                <a:solidFill>
                  <a:srgbClr val="404040"/>
                </a:solidFill>
                <a:latin typeface="맑은 고딕"/>
                <a:ea typeface="맑은 고딕"/>
              </a:rPr>
              <a:t>① 요청 수신  ② 요청 전달  ③ 상태 보고(KV 보유 이벤트·사용량 수치)</a:t>
            </a:r>
          </a:p>
        </p:txBody>
      </p:sp>
    </p:spTree>
    <p:extLst>
      <p:ext uri="{BB962C8B-B14F-4D97-AF65-F5344CB8AC3E}">
        <p14:creationId xmlns:p14="http://schemas.microsoft.com/office/powerpoint/2010/main" val="3105943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DP4. 여러 서버를 묶는 요청 조율 구조 - 배경</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9</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68680"/>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추론 서버 안의 이기종 메모리(HBM·DRAM·CXL 등) 이득이, 서버 간 요청 배분 단계에서 사라질 수 있음</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기존 OSS 요청 조율 계층(llm-d, Dynamo)은 메모리 종류별 점수와 P/D 분리 기준을 고정 값으로만 판단함</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서버 내부 상태(메모리 사용·전송 대기)를 반영해 요청을 배분하는 서버 간(클러스터) 조율 구조가 필요함</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sz="1200" b="1" i="0">
                <a:solidFill>
                  <a:srgbClr val="000000"/>
                </a:solidFill>
                <a:latin typeface="맑은 고딕"/>
                <a:ea typeface="맑은 고딕"/>
              </a:rPr>
              <a:t>설계 쟁점 1. </a:t>
            </a:r>
            <a:r>
              <a:rPr sz="1200" b="0" i="0">
                <a:solidFill>
                  <a:srgbClr val="000000"/>
                </a:solidFill>
                <a:latin typeface="맑은 고딕"/>
                <a:ea typeface="맑은 고딕"/>
              </a:rPr>
              <a:t>서버 내부 메모리 상태·비용을 반영한 요청 배분으로 </a:t>
            </a:r>
            <a:r>
              <a:rPr sz="1200" b="1" i="0">
                <a:solidFill>
                  <a:srgbClr val="0066FF"/>
                </a:solidFill>
                <a:latin typeface="맑은 고딕"/>
                <a:ea typeface="맑은 고딕"/>
              </a:rPr>
              <a:t>처리량(Throughput)·첫 응답 시간(TTFT) 최적화</a:t>
            </a:r>
          </a:p>
          <a:p>
            <a:pPr>
              <a:lnSpc>
                <a:spcPct val="125000"/>
              </a:lnSpc>
            </a:pPr>
            <a:r>
              <a:rPr sz="1200" b="1" i="0">
                <a:solidFill>
                  <a:srgbClr val="000000"/>
                </a:solidFill>
                <a:latin typeface="맑은 고딕"/>
                <a:ea typeface="맑은 고딕"/>
              </a:rPr>
              <a:t>설계 쟁점 2. </a:t>
            </a:r>
            <a:r>
              <a:rPr sz="1200" b="0" i="0">
                <a:solidFill>
                  <a:srgbClr val="000000"/>
                </a:solidFill>
                <a:latin typeface="맑은 고딕"/>
                <a:ea typeface="맑은 고딕"/>
              </a:rPr>
              <a:t>신규 메모리·정책 추가, 서버 증가 시 </a:t>
            </a:r>
            <a:r>
              <a:rPr sz="1200" b="1" i="0">
                <a:solidFill>
                  <a:srgbClr val="0066FF"/>
                </a:solidFill>
                <a:latin typeface="맑은 고딕"/>
                <a:ea typeface="맑은 고딕"/>
              </a:rPr>
              <a:t>기존 구조 변경 최소화(Modifiability)·확장성(Scalability)</a:t>
            </a:r>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서버 내부 메모리 상태를 반영하는 조율</a:t>
              </a:r>
              <a:endParaRPr lang="ko-KR" altLang="en-US" sz="1100" b="1" dirty="0"/>
            </a:p>
          </p:txBody>
        </p:sp>
      </p:grpSp>
      <p:sp>
        <p:nvSpPr>
          <p:cNvPr id="244" name="DP2 9060">
            <a:extLst>
              <a:ext uri="{FF2B5EF4-FFF2-40B4-BE49-F238E27FC236}">
                <a16:creationId xmlns:a16="http://schemas.microsoft.com/office/drawing/2014/main" id="{EECDFEB7-7302-4965-B64A-4FA0853A126C}"/>
              </a:ext>
            </a:extLst>
          </p:cNvPr>
          <p:cNvSpPr/>
          <p:nvPr/>
        </p:nvSpPr>
        <p:spPr>
          <a:xfrm>
            <a:off x="5632858" y="3663076"/>
            <a:ext cx="438912" cy="457200"/>
          </a:xfrm>
          <a:prstGeom prst="rightArrow">
            <a:avLst/>
          </a:prstGeom>
          <a:solidFill>
            <a:srgbClr val="FFD966"/>
          </a:solidFill>
          <a:ln>
            <a:noFill/>
          </a:ln>
        </p:spPr>
        <p:txBody>
          <a:bodyPr wrap="square" lIns="27432" tIns="7315" rIns="27432" bIns="7315" anchor="ctr">
            <a:normAutofit fontScale="92500" lnSpcReduction="20000"/>
          </a:bodyPr>
          <a:lstStyle/>
          <a:p>
            <a:endParaRPr lang="ko-KR" altLang="en-US"/>
          </a:p>
        </p:txBody>
      </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119877" cy="3787568"/>
            <a:chOff x="99695" y="3138920"/>
            <a:chExt cx="5315187"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315187"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As-Is: 기존 OSS 요청 조율 구조 (고정 값 판단)</a:t>
              </a:r>
              <a:endParaRPr lang="ko-KR" altLang="en-US" sz="1100" b="1" dirty="0"/>
            </a:p>
          </p:txBody>
        </p:sp>
      </p:grpSp>
      <p:sp>
        <p:nvSpPr>
          <p:cNvPr id="87" name="DP2 9014">
            <a:extLst>
              <a:ext uri="{FF2B5EF4-FFF2-40B4-BE49-F238E27FC236}">
                <a16:creationId xmlns:a16="http://schemas.microsoft.com/office/drawing/2014/main" id="{BAB6A9C5-DE6C-4B40-9E12-B57562177C2D}"/>
              </a:ext>
            </a:extLst>
          </p:cNvPr>
          <p:cNvSpPr/>
          <p:nvPr/>
        </p:nvSpPr>
        <p:spPr>
          <a:xfrm>
            <a:off x="697262" y="5665175"/>
            <a:ext cx="10972800"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이기종 메모리 환경에서 서버 내부 메모리 상태·비용을 반영한 서버 간 요청 조율 구조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14" name="Rounded Rectangle 9013"/>
          <p:cNvSpPr/>
          <p:nvPr/>
        </p:nvSpPr>
        <p:spPr>
          <a:xfrm>
            <a:off x="475488" y="2286000"/>
            <a:ext cx="676656"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cxnSp>
        <p:nvCxnSpPr>
          <p:cNvPr id="9015" name="Connector 9014"/>
          <p:cNvCxnSpPr/>
          <p:nvPr/>
        </p:nvCxnSpPr>
        <p:spPr>
          <a:xfrm>
            <a:off x="1152144" y="2441448"/>
            <a:ext cx="173736"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16" name="Oval 9015"/>
          <p:cNvSpPr/>
          <p:nvPr/>
        </p:nvSpPr>
        <p:spPr>
          <a:xfrm>
            <a:off x="1161288"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17" name="Rectangle 9016"/>
          <p:cNvSpPr/>
          <p:nvPr/>
        </p:nvSpPr>
        <p:spPr>
          <a:xfrm>
            <a:off x="1325880" y="1956816"/>
            <a:ext cx="3977639" cy="166420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18" name="Rectangle 9017"/>
          <p:cNvSpPr/>
          <p:nvPr/>
        </p:nvSpPr>
        <p:spPr>
          <a:xfrm>
            <a:off x="1325880" y="1956816"/>
            <a:ext cx="3361334"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«process» 요청 조율기 (Router)  llm-d Router · Dynamo KV Router</a:t>
            </a:r>
          </a:p>
        </p:txBody>
      </p:sp>
      <p:sp>
        <p:nvSpPr>
          <p:cNvPr id="9019" name="Rectangle 9018"/>
          <p:cNvSpPr/>
          <p:nvPr/>
        </p:nvSpPr>
        <p:spPr>
          <a:xfrm>
            <a:off x="1435608" y="2286000"/>
            <a:ext cx="914400" cy="56692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요청 수신</a:t>
            </a:r>
          </a:p>
          <a:p>
            <a:pPr algn="ctr"/>
            <a:endParaRPr sz="750" b="1" i="0">
              <a:solidFill>
                <a:srgbClr val="000000"/>
              </a:solidFill>
              <a:latin typeface="맑은 고딕"/>
              <a:ea typeface="맑은 고딕"/>
            </a:endParaRPr>
          </a:p>
        </p:txBody>
      </p:sp>
      <p:sp>
        <p:nvSpPr>
          <p:cNvPr id="9020" name="Rectangle 9019"/>
          <p:cNvSpPr/>
          <p:nvPr/>
        </p:nvSpPr>
        <p:spPr>
          <a:xfrm>
            <a:off x="1389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1" name="Rectangle 9020"/>
          <p:cNvSpPr/>
          <p:nvPr/>
        </p:nvSpPr>
        <p:spPr>
          <a:xfrm>
            <a:off x="1389888" y="243230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2" name="Rectangle 9021"/>
          <p:cNvSpPr/>
          <p:nvPr/>
        </p:nvSpPr>
        <p:spPr>
          <a:xfrm>
            <a:off x="2578608" y="2194560"/>
            <a:ext cx="137160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서버 선택 (Scheduler)</a:t>
            </a:r>
          </a:p>
          <a:p>
            <a:pPr algn="ctr"/>
            <a:r>
              <a:rPr sz="680" b="0" i="0">
                <a:solidFill>
                  <a:srgbClr val="000000"/>
                </a:solidFill>
                <a:latin typeface="맑은 고딕"/>
                <a:ea typeface="맑은 고딕"/>
              </a:rPr>
              <a:t>후보 서버에 점수를</a:t>
            </a:r>
          </a:p>
          <a:p>
            <a:pPr algn="ctr"/>
            <a:r>
              <a:rPr sz="680" b="0" i="0">
                <a:solidFill>
                  <a:srgbClr val="000000"/>
                </a:solidFill>
                <a:latin typeface="맑은 고딕"/>
                <a:ea typeface="맑은 고딕"/>
              </a:rPr>
              <a:t>매겨 선택</a:t>
            </a:r>
          </a:p>
          <a:p>
            <a:pPr algn="ctr"/>
            <a:r>
              <a:rPr sz="680" b="0" i="0">
                <a:solidFill>
                  <a:srgbClr val="000000"/>
                </a:solidFill>
                <a:latin typeface="맑은 고딕"/>
                <a:ea typeface="맑은 고딕"/>
              </a:rPr>
              <a:t>· 메모리 종류별 점수:</a:t>
            </a:r>
          </a:p>
          <a:p>
            <a:pPr algn="ctr"/>
            <a:r>
              <a:rPr sz="680" b="0" i="0">
                <a:solidFill>
                  <a:srgbClr val="000000"/>
                </a:solidFill>
                <a:latin typeface="맑은 고딕"/>
                <a:ea typeface="맑은 고딕"/>
              </a:rPr>
              <a:t>  고정 값 (GPU 1.0 /</a:t>
            </a:r>
          </a:p>
          <a:p>
            <a:pPr algn="ctr"/>
            <a:r>
              <a:rPr sz="680" b="0" i="0">
                <a:solidFill>
                  <a:srgbClr val="000000"/>
                </a:solidFill>
                <a:latin typeface="맑은 고딕"/>
                <a:ea typeface="맑은 고딕"/>
              </a:rPr>
              <a:t>  CPU 0.8 …)</a:t>
            </a:r>
          </a:p>
          <a:p>
            <a:pPr algn="ctr"/>
            <a:r>
              <a:rPr sz="680" b="0" i="0">
                <a:solidFill>
                  <a:srgbClr val="000000"/>
                </a:solidFill>
                <a:latin typeface="맑은 고딕"/>
                <a:ea typeface="맑은 고딕"/>
              </a:rPr>
              <a:t>· Prefill/Decode 분리:</a:t>
            </a:r>
          </a:p>
          <a:p>
            <a:pPr algn="ctr"/>
            <a:r>
              <a:rPr sz="680" b="0" i="0">
                <a:solidFill>
                  <a:srgbClr val="000000"/>
                </a:solidFill>
                <a:latin typeface="맑은 고딕"/>
                <a:ea typeface="맑은 고딕"/>
              </a:rPr>
              <a:t>  고정 기준</a:t>
            </a:r>
          </a:p>
        </p:txBody>
      </p:sp>
      <p:sp>
        <p:nvSpPr>
          <p:cNvPr id="9023" name="Rectangle 9022"/>
          <p:cNvSpPr/>
          <p:nvPr/>
        </p:nvSpPr>
        <p:spPr>
          <a:xfrm>
            <a:off x="253288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4" name="Rectangle 9023"/>
          <p:cNvSpPr/>
          <p:nvPr/>
        </p:nvSpPr>
        <p:spPr>
          <a:xfrm>
            <a:off x="2532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5" name="Rectangle 9024"/>
          <p:cNvSpPr/>
          <p:nvPr/>
        </p:nvSpPr>
        <p:spPr>
          <a:xfrm>
            <a:off x="4133087" y="2194560"/>
            <a:ext cx="109728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상태 저장소</a:t>
            </a:r>
          </a:p>
          <a:p>
            <a:pPr algn="ctr"/>
            <a:endParaRPr sz="730" b="1" i="0">
              <a:solidFill>
                <a:srgbClr val="000000"/>
              </a:solidFill>
              <a:latin typeface="맑은 고딕"/>
              <a:ea typeface="맑은 고딕"/>
            </a:endParaRPr>
          </a:p>
          <a:p>
            <a:pPr algn="ctr"/>
            <a:r>
              <a:rPr sz="680" b="0" i="0">
                <a:solidFill>
                  <a:srgbClr val="000000"/>
                </a:solidFill>
                <a:latin typeface="맑은 고딕"/>
                <a:ea typeface="맑은 고딕"/>
              </a:rPr>
              <a:t>· KV 캐시 보유</a:t>
            </a:r>
          </a:p>
          <a:p>
            <a:pPr algn="ctr"/>
            <a:r>
              <a:rPr sz="680" b="0" i="0">
                <a:solidFill>
                  <a:srgbClr val="000000"/>
                </a:solidFill>
                <a:latin typeface="맑은 고딕"/>
                <a:ea typeface="맑은 고딕"/>
              </a:rPr>
              <a:t>  위치</a:t>
            </a:r>
          </a:p>
          <a:p>
            <a:pPr algn="ctr"/>
            <a:r>
              <a:rPr sz="680" b="0" i="0">
                <a:solidFill>
                  <a:srgbClr val="000000"/>
                </a:solidFill>
                <a:latin typeface="맑은 고딕"/>
                <a:ea typeface="맑은 고딕"/>
              </a:rPr>
              <a:t>· 부하 수치</a:t>
            </a:r>
          </a:p>
          <a:p>
            <a:pPr algn="ctr"/>
            <a:r>
              <a:rPr sz="680" b="0" i="0">
                <a:solidFill>
                  <a:srgbClr val="000000"/>
                </a:solidFill>
                <a:latin typeface="맑은 고딕"/>
                <a:ea typeface="맑은 고딕"/>
              </a:rPr>
              <a:t>  (대기열·사용률)</a:t>
            </a:r>
          </a:p>
        </p:txBody>
      </p:sp>
      <p:sp>
        <p:nvSpPr>
          <p:cNvPr id="9026" name="Rectangle 9025"/>
          <p:cNvSpPr/>
          <p:nvPr/>
        </p:nvSpPr>
        <p:spPr>
          <a:xfrm>
            <a:off x="408736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7" name="Rectangle 9026"/>
          <p:cNvSpPr/>
          <p:nvPr/>
        </p:nvSpPr>
        <p:spPr>
          <a:xfrm>
            <a:off x="408736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28" name="Connector 9027"/>
          <p:cNvCxnSpPr/>
          <p:nvPr/>
        </p:nvCxnSpPr>
        <p:spPr>
          <a:xfrm>
            <a:off x="2350008" y="2569464"/>
            <a:ext cx="22860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29" name="Oval 9028"/>
          <p:cNvSpPr/>
          <p:nvPr/>
        </p:nvSpPr>
        <p:spPr>
          <a:xfrm>
            <a:off x="2386584" y="249174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30" name="Connector 9029"/>
          <p:cNvCxnSpPr/>
          <p:nvPr/>
        </p:nvCxnSpPr>
        <p:spPr>
          <a:xfrm flipH="1">
            <a:off x="3950208" y="2834640"/>
            <a:ext cx="182879"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1" name="Oval 9030"/>
          <p:cNvSpPr/>
          <p:nvPr/>
        </p:nvSpPr>
        <p:spPr>
          <a:xfrm>
            <a:off x="3963924" y="275691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sp>
        <p:nvSpPr>
          <p:cNvPr id="9032" name="Rectangle 9031"/>
          <p:cNvSpPr/>
          <p:nvPr/>
        </p:nvSpPr>
        <p:spPr>
          <a:xfrm>
            <a:off x="1325880" y="3840480"/>
            <a:ext cx="3977639" cy="603504"/>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3" name="Rectangle 9032"/>
          <p:cNvSpPr/>
          <p:nvPr/>
        </p:nvSpPr>
        <p:spPr>
          <a:xfrm>
            <a:off x="1325880" y="38404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34" name="Rectangle 9033"/>
          <p:cNvSpPr/>
          <p:nvPr/>
        </p:nvSpPr>
        <p:spPr>
          <a:xfrm>
            <a:off x="1435608" y="4087368"/>
            <a:ext cx="2057400" cy="29260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 관리 · 메모리 계층</a:t>
            </a:r>
          </a:p>
        </p:txBody>
      </p:sp>
      <p:sp>
        <p:nvSpPr>
          <p:cNvPr id="9035" name="Rectangle 9034"/>
          <p:cNvSpPr/>
          <p:nvPr/>
        </p:nvSpPr>
        <p:spPr>
          <a:xfrm>
            <a:off x="1389888" y="414223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6" name="Rectangle 9035"/>
          <p:cNvSpPr/>
          <p:nvPr/>
        </p:nvSpPr>
        <p:spPr>
          <a:xfrm>
            <a:off x="1389888" y="423367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7" name="Rectangle 9036"/>
          <p:cNvSpPr/>
          <p:nvPr/>
        </p:nvSpPr>
        <p:spPr>
          <a:xfrm>
            <a:off x="3675887" y="4087368"/>
            <a:ext cx="1554480" cy="292608"/>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00" b="1" i="0">
                <a:solidFill>
                  <a:srgbClr val="C00000"/>
                </a:solidFill>
                <a:latin typeface="맑은 고딕"/>
                <a:ea typeface="맑은 고딕"/>
              </a:rPr>
              <a:t>메모리 사용·전송 대기 (미노출)</a:t>
            </a:r>
          </a:p>
        </p:txBody>
      </p:sp>
      <p:cxnSp>
        <p:nvCxnSpPr>
          <p:cNvPr id="9038" name="Connector 9037"/>
          <p:cNvCxnSpPr/>
          <p:nvPr/>
        </p:nvCxnSpPr>
        <p:spPr>
          <a:xfrm>
            <a:off x="326440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9" name="Oval 9038"/>
          <p:cNvSpPr/>
          <p:nvPr/>
        </p:nvSpPr>
        <p:spPr>
          <a:xfrm>
            <a:off x="318668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40" name="TextBox 9039"/>
          <p:cNvSpPr txBox="1"/>
          <p:nvPr/>
        </p:nvSpPr>
        <p:spPr>
          <a:xfrm>
            <a:off x="3392424" y="3639312"/>
            <a:ext cx="731520" cy="182880"/>
          </a:xfrm>
          <a:prstGeom prst="rect">
            <a:avLst/>
          </a:prstGeom>
          <a:noFill/>
        </p:spPr>
        <p:txBody>
          <a:bodyPr wrap="square" lIns="0" tIns="0" rIns="0" bIns="0" anchor="t">
            <a:spAutoFit/>
          </a:bodyPr>
          <a:lstStyle/>
          <a:p>
            <a:pPr algn="l"/>
            <a:r>
              <a:rPr sz="650" b="1" i="0">
                <a:solidFill>
                  <a:srgbClr val="404040"/>
                </a:solidFill>
                <a:latin typeface="맑은 고딕"/>
                <a:ea typeface="맑은 고딕"/>
              </a:rPr>
              <a:t>요청 전달</a:t>
            </a:r>
          </a:p>
        </p:txBody>
      </p:sp>
      <p:cxnSp>
        <p:nvCxnSpPr>
          <p:cNvPr id="9041" name="Connector 9040"/>
          <p:cNvCxnSpPr/>
          <p:nvPr/>
        </p:nvCxnSpPr>
        <p:spPr>
          <a:xfrm flipV="1">
            <a:off x="477316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42" name="Oval 9041"/>
          <p:cNvSpPr/>
          <p:nvPr/>
        </p:nvSpPr>
        <p:spPr>
          <a:xfrm>
            <a:off x="469544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sp>
        <p:nvSpPr>
          <p:cNvPr id="9043" name="TextBox 9042"/>
          <p:cNvSpPr txBox="1"/>
          <p:nvPr/>
        </p:nvSpPr>
        <p:spPr>
          <a:xfrm>
            <a:off x="3767328" y="3639312"/>
            <a:ext cx="914400" cy="182880"/>
          </a:xfrm>
          <a:prstGeom prst="rect">
            <a:avLst/>
          </a:prstGeom>
          <a:noFill/>
        </p:spPr>
        <p:txBody>
          <a:bodyPr wrap="square" lIns="0" tIns="0" rIns="0" bIns="0" anchor="t">
            <a:spAutoFit/>
          </a:bodyPr>
          <a:lstStyle/>
          <a:p>
            <a:pPr algn="r"/>
            <a:r>
              <a:rPr sz="650" b="1" i="0">
                <a:solidFill>
                  <a:srgbClr val="404040"/>
                </a:solidFill>
                <a:latin typeface="맑은 고딕"/>
                <a:ea typeface="맑은 고딕"/>
              </a:rPr>
              <a:t>상태 이벤트</a:t>
            </a:r>
          </a:p>
        </p:txBody>
      </p:sp>
      <p:sp>
        <p:nvSpPr>
          <p:cNvPr id="9044" name="Rectangle 9043"/>
          <p:cNvSpPr/>
          <p:nvPr/>
        </p:nvSpPr>
        <p:spPr>
          <a:xfrm>
            <a:off x="475488" y="4572000"/>
            <a:ext cx="4846320" cy="530352"/>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5" name="TextBox 9044"/>
          <p:cNvSpPr txBox="1"/>
          <p:nvPr/>
        </p:nvSpPr>
        <p:spPr>
          <a:xfrm>
            <a:off x="566928" y="4599432"/>
            <a:ext cx="4663440" cy="493776"/>
          </a:xfrm>
          <a:prstGeom prst="rect">
            <a:avLst/>
          </a:prstGeom>
          <a:noFill/>
        </p:spPr>
        <p:txBody>
          <a:bodyPr wrap="square" lIns="0" tIns="0" rIns="0" bIns="0" anchor="t">
            <a:spAutoFit/>
          </a:bodyPr>
          <a:lstStyle/>
          <a:p>
            <a:pPr algn="l">
              <a:lnSpc>
                <a:spcPct val="100000"/>
              </a:lnSpc>
            </a:pPr>
            <a:r>
              <a:rPr sz="750" b="1" i="0">
                <a:solidFill>
                  <a:srgbClr val="C00000"/>
                </a:solidFill>
                <a:latin typeface="맑은 고딕"/>
                <a:ea typeface="맑은 고딕"/>
              </a:rPr>
              <a:t>① </a:t>
            </a:r>
            <a:r>
              <a:rPr sz="750" b="0" i="0">
                <a:solidFill>
                  <a:srgbClr val="404040"/>
                </a:solidFill>
                <a:latin typeface="맑은 고딕"/>
                <a:ea typeface="맑은 고딕"/>
              </a:rPr>
              <a:t>메모리 점수가 고정 값 → 사용량·전송 대기·신규 메모리(CXL/HBF) 미반영</a:t>
            </a:r>
          </a:p>
          <a:p>
            <a:pPr algn="l">
              <a:lnSpc>
                <a:spcPct val="100000"/>
              </a:lnSpc>
            </a:pPr>
            <a:r>
              <a:rPr sz="750" b="1" i="0">
                <a:solidFill>
                  <a:srgbClr val="C00000"/>
                </a:solidFill>
                <a:latin typeface="맑은 고딕"/>
                <a:ea typeface="맑은 고딕"/>
              </a:rPr>
              <a:t>② </a:t>
            </a:r>
            <a:r>
              <a:rPr sz="750" b="0" i="0">
                <a:solidFill>
                  <a:srgbClr val="404040"/>
                </a:solidFill>
                <a:latin typeface="맑은 고딕"/>
                <a:ea typeface="맑은 고딕"/>
              </a:rPr>
              <a:t>Prefill/Decode 분리가 고정 기준 → KV 캐시 이동 비용 미고려</a:t>
            </a:r>
          </a:p>
          <a:p>
            <a:pPr algn="l">
              <a:lnSpc>
                <a:spcPct val="100000"/>
              </a:lnSpc>
            </a:pPr>
            <a:r>
              <a:rPr sz="750" b="1" i="0">
                <a:solidFill>
                  <a:srgbClr val="C00000"/>
                </a:solidFill>
                <a:latin typeface="맑은 고딕"/>
                <a:ea typeface="맑은 고딕"/>
              </a:rPr>
              <a:t>③ </a:t>
            </a:r>
            <a:r>
              <a:rPr sz="750" b="0" i="0">
                <a:solidFill>
                  <a:srgbClr val="404040"/>
                </a:solidFill>
                <a:latin typeface="맑은 고딕"/>
                <a:ea typeface="맑은 고딕"/>
              </a:rPr>
              <a:t>서버별 지시(kv_load_tiers 등)가 P/D 경로에서 덮어써지거나 전달 경로 없음</a:t>
            </a:r>
          </a:p>
        </p:txBody>
      </p:sp>
      <p:sp>
        <p:nvSpPr>
          <p:cNvPr id="9046" name="TextBox 9045"/>
          <p:cNvSpPr txBox="1"/>
          <p:nvPr/>
        </p:nvSpPr>
        <p:spPr>
          <a:xfrm>
            <a:off x="475488" y="5138928"/>
            <a:ext cx="4846320" cy="246888"/>
          </a:xfrm>
          <a:prstGeom prst="rect">
            <a:avLst/>
          </a:prstGeom>
          <a:noFill/>
        </p:spPr>
        <p:txBody>
          <a:bodyPr wrap="square" lIns="0" tIns="0" rIns="0" bIns="0" anchor="t">
            <a:spAutoFit/>
          </a:bodyPr>
          <a:lstStyle/>
          <a:p>
            <a:pPr algn="l"/>
            <a:r>
              <a:rPr sz="700" b="1" i="0">
                <a:solidFill>
                  <a:srgbClr val="2E75B6"/>
                </a:solidFill>
                <a:latin typeface="맑은 고딕"/>
                <a:ea typeface="맑은 고딕"/>
              </a:rPr>
              <a:t>용어  </a:t>
            </a:r>
            <a:r>
              <a:rPr sz="700" b="0" i="0">
                <a:solidFill>
                  <a:srgbClr val="404040"/>
                </a:solidFill>
                <a:latin typeface="맑은 고딕"/>
                <a:ea typeface="맑은 고딕"/>
              </a:rPr>
              <a:t>KV 캐시: LLM이 이전 입력을 다시 계산하지 않도록 저장한 중간 결과 · Prefill: 입력 처리(계산 집약) / Decode: 응답 생성(메모리 집약) · TTFT: 첫 응답까지 걸리는 시간</a:t>
            </a:r>
          </a:p>
        </p:txBody>
      </p:sp>
      <p:sp>
        <p:nvSpPr>
          <p:cNvPr id="9047" name="Rounded Rectangle 9046"/>
          <p:cNvSpPr/>
          <p:nvPr/>
        </p:nvSpPr>
        <p:spPr>
          <a:xfrm>
            <a:off x="6309360" y="1883664"/>
            <a:ext cx="676656" cy="256032"/>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sp>
        <p:nvSpPr>
          <p:cNvPr id="9048" name="Rectangle 9047"/>
          <p:cNvSpPr/>
          <p:nvPr/>
        </p:nvSpPr>
        <p:spPr>
          <a:xfrm>
            <a:off x="6309360" y="2304288"/>
            <a:ext cx="5285232" cy="2011680"/>
          </a:xfrm>
          <a:prstGeom prst="rect">
            <a:avLst/>
          </a:prstGeom>
          <a:solidFill>
            <a:srgbClr val="DAE3F3"/>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9" name="Rectangle 9048"/>
          <p:cNvSpPr/>
          <p:nvPr/>
        </p:nvSpPr>
        <p:spPr>
          <a:xfrm>
            <a:off x="6309360" y="2304288"/>
            <a:ext cx="3010204" cy="173736"/>
          </a:xfrm>
          <a:prstGeom prst="rect">
            <a:avLst/>
          </a:prstGeom>
          <a:solidFill>
            <a:srgbClr val="2E75B6"/>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«system» 요청 조율 계층 (Orchestration) - 이기종 메모리 반영</a:t>
            </a:r>
          </a:p>
        </p:txBody>
      </p:sp>
      <p:cxnSp>
        <p:nvCxnSpPr>
          <p:cNvPr id="9050" name="Connector 9049"/>
          <p:cNvCxnSpPr/>
          <p:nvPr/>
        </p:nvCxnSpPr>
        <p:spPr>
          <a:xfrm>
            <a:off x="6647688" y="2139696"/>
            <a:ext cx="0" cy="16459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51" name="Oval 9050"/>
          <p:cNvSpPr/>
          <p:nvPr/>
        </p:nvSpPr>
        <p:spPr>
          <a:xfrm>
            <a:off x="6569964" y="214426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52" name="Rectangle 9051"/>
          <p:cNvSpPr/>
          <p:nvPr/>
        </p:nvSpPr>
        <p:spPr>
          <a:xfrm>
            <a:off x="6382512"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3" name="Rectangle 9052"/>
          <p:cNvSpPr/>
          <p:nvPr/>
        </p:nvSpPr>
        <p:spPr>
          <a:xfrm>
            <a:off x="6382512" y="2542032"/>
            <a:ext cx="1572768"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실행 기반 (Substrate)</a:t>
            </a:r>
          </a:p>
        </p:txBody>
      </p:sp>
      <p:sp>
        <p:nvSpPr>
          <p:cNvPr id="9054" name="Rectangle 9053"/>
          <p:cNvSpPr/>
          <p:nvPr/>
        </p:nvSpPr>
        <p:spPr>
          <a:xfrm>
            <a:off x="8138160"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5" name="Rectangle 9054"/>
          <p:cNvSpPr/>
          <p:nvPr/>
        </p:nvSpPr>
        <p:spPr>
          <a:xfrm>
            <a:off x="8138160" y="2542032"/>
            <a:ext cx="133502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판단 (Decision)</a:t>
            </a:r>
          </a:p>
        </p:txBody>
      </p:sp>
      <p:sp>
        <p:nvSpPr>
          <p:cNvPr id="9056" name="Rectangle 9055"/>
          <p:cNvSpPr/>
          <p:nvPr/>
        </p:nvSpPr>
        <p:spPr>
          <a:xfrm>
            <a:off x="9893808" y="2542032"/>
            <a:ext cx="1627632"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7" name="Rectangle 9056"/>
          <p:cNvSpPr/>
          <p:nvPr/>
        </p:nvSpPr>
        <p:spPr>
          <a:xfrm>
            <a:off x="9893808" y="2542032"/>
            <a:ext cx="118140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상태 (State)</a:t>
            </a:r>
          </a:p>
        </p:txBody>
      </p:sp>
      <p:sp>
        <p:nvSpPr>
          <p:cNvPr id="9058" name="Rectangle 9057"/>
          <p:cNvSpPr/>
          <p:nvPr/>
        </p:nvSpPr>
        <p:spPr>
          <a:xfrm>
            <a:off x="6492240"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A 요청 수신·중계</a:t>
            </a:r>
          </a:p>
        </p:txBody>
      </p:sp>
      <p:sp>
        <p:nvSpPr>
          <p:cNvPr id="9059" name="Rectangle 9058"/>
          <p:cNvSpPr/>
          <p:nvPr/>
        </p:nvSpPr>
        <p:spPr>
          <a:xfrm>
            <a:off x="6446520"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0" name="Rectangle 9059"/>
          <p:cNvSpPr/>
          <p:nvPr/>
        </p:nvSpPr>
        <p:spPr>
          <a:xfrm>
            <a:off x="6446520"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1" name="Rectangle 9060"/>
          <p:cNvSpPr/>
          <p:nvPr/>
        </p:nvSpPr>
        <p:spPr>
          <a:xfrm>
            <a:off x="6492240" y="3310128"/>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E Prefill/Decode 조율</a:t>
            </a:r>
          </a:p>
          <a:p>
            <a:pPr algn="ctr"/>
            <a:r>
              <a:rPr sz="700" b="0" i="0">
                <a:solidFill>
                  <a:srgbClr val="000000"/>
                </a:solidFill>
                <a:latin typeface="맑은 고딕"/>
                <a:ea typeface="맑은 고딕"/>
              </a:rPr>
              <a:t>서버별 지시 전달</a:t>
            </a:r>
          </a:p>
        </p:txBody>
      </p:sp>
      <p:sp>
        <p:nvSpPr>
          <p:cNvPr id="9062" name="Rectangle 9061"/>
          <p:cNvSpPr/>
          <p:nvPr/>
        </p:nvSpPr>
        <p:spPr>
          <a:xfrm>
            <a:off x="6446520"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3" name="Rectangle 9062"/>
          <p:cNvSpPr/>
          <p:nvPr/>
        </p:nvSpPr>
        <p:spPr>
          <a:xfrm>
            <a:off x="6446520"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4" name="Rectangle 9063"/>
          <p:cNvSpPr/>
          <p:nvPr/>
        </p:nvSpPr>
        <p:spPr>
          <a:xfrm>
            <a:off x="6492240" y="3840480"/>
            <a:ext cx="1325880" cy="310896"/>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F 서버 발견·확장</a:t>
            </a:r>
          </a:p>
        </p:txBody>
      </p:sp>
      <p:sp>
        <p:nvSpPr>
          <p:cNvPr id="9065" name="Rectangle 9064"/>
          <p:cNvSpPr/>
          <p:nvPr/>
        </p:nvSpPr>
        <p:spPr>
          <a:xfrm>
            <a:off x="6446520" y="38953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6" name="Rectangle 9065"/>
          <p:cNvSpPr/>
          <p:nvPr/>
        </p:nvSpPr>
        <p:spPr>
          <a:xfrm>
            <a:off x="6446520" y="3986783"/>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7" name="Rectangle 9066"/>
          <p:cNvSpPr/>
          <p:nvPr/>
        </p:nvSpPr>
        <p:spPr>
          <a:xfrm>
            <a:off x="8247888"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 흐름 제어</a:t>
            </a:r>
          </a:p>
        </p:txBody>
      </p:sp>
      <p:sp>
        <p:nvSpPr>
          <p:cNvPr id="9068" name="Rectangle 9067"/>
          <p:cNvSpPr/>
          <p:nvPr/>
        </p:nvSpPr>
        <p:spPr>
          <a:xfrm>
            <a:off x="8202167"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9" name="Rectangle 9068"/>
          <p:cNvSpPr/>
          <p:nvPr/>
        </p:nvSpPr>
        <p:spPr>
          <a:xfrm>
            <a:off x="8202167"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0" name="Rectangle 9069"/>
          <p:cNvSpPr/>
          <p:nvPr/>
        </p:nvSpPr>
        <p:spPr>
          <a:xfrm>
            <a:off x="8247888" y="3310128"/>
            <a:ext cx="1325880" cy="841248"/>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B 서버 선택 로직</a:t>
            </a:r>
          </a:p>
          <a:p>
            <a:pPr algn="ctr"/>
            <a:r>
              <a:rPr sz="700" b="0" i="0">
                <a:solidFill>
                  <a:srgbClr val="000000"/>
                </a:solidFill>
                <a:latin typeface="맑은 고딕"/>
                <a:ea typeface="맑은 고딕"/>
              </a:rPr>
              <a:t>메모리 비용 기반 점수</a:t>
            </a:r>
          </a:p>
          <a:p>
            <a:pPr algn="ctr"/>
            <a:r>
              <a:rPr sz="700" b="0" i="0">
                <a:solidFill>
                  <a:srgbClr val="000000"/>
                </a:solidFill>
                <a:latin typeface="맑은 고딕"/>
                <a:ea typeface="맑은 고딕"/>
              </a:rPr>
              <a:t>비용 기반 P/D 분리 판단</a:t>
            </a:r>
          </a:p>
        </p:txBody>
      </p:sp>
      <p:sp>
        <p:nvSpPr>
          <p:cNvPr id="9071" name="Rectangle 9070"/>
          <p:cNvSpPr/>
          <p:nvPr/>
        </p:nvSpPr>
        <p:spPr>
          <a:xfrm>
            <a:off x="8202167"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2" name="Rectangle 9071"/>
          <p:cNvSpPr/>
          <p:nvPr/>
        </p:nvSpPr>
        <p:spPr>
          <a:xfrm>
            <a:off x="8202167"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3" name="Rectangle 9072"/>
          <p:cNvSpPr/>
          <p:nvPr/>
        </p:nvSpPr>
        <p:spPr>
          <a:xfrm>
            <a:off x="10003536" y="2779776"/>
            <a:ext cx="1417320" cy="640080"/>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C 상태 수집</a:t>
            </a:r>
          </a:p>
          <a:p>
            <a:pPr algn="ctr"/>
            <a:r>
              <a:rPr sz="700" b="0" i="0">
                <a:solidFill>
                  <a:srgbClr val="000000"/>
                </a:solidFill>
                <a:latin typeface="맑은 고딕"/>
                <a:ea typeface="맑은 고딕"/>
              </a:rPr>
              <a:t>KV 캐시 보유 위치</a:t>
            </a:r>
          </a:p>
          <a:p>
            <a:pPr algn="ctr"/>
            <a:r>
              <a:rPr sz="700" b="0" i="0">
                <a:solidFill>
                  <a:srgbClr val="000000"/>
                </a:solidFill>
                <a:latin typeface="맑은 고딕"/>
                <a:ea typeface="맑은 고딕"/>
              </a:rPr>
              <a:t>(메모리 종류별)</a:t>
            </a:r>
          </a:p>
        </p:txBody>
      </p:sp>
      <p:sp>
        <p:nvSpPr>
          <p:cNvPr id="9074" name="Rectangle 9073"/>
          <p:cNvSpPr/>
          <p:nvPr/>
        </p:nvSpPr>
        <p:spPr>
          <a:xfrm>
            <a:off x="9957816"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5" name="Rectangle 9074"/>
          <p:cNvSpPr/>
          <p:nvPr/>
        </p:nvSpPr>
        <p:spPr>
          <a:xfrm>
            <a:off x="9957816"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6" name="Rectangle 9075"/>
          <p:cNvSpPr/>
          <p:nvPr/>
        </p:nvSpPr>
        <p:spPr>
          <a:xfrm>
            <a:off x="10003536" y="3529584"/>
            <a:ext cx="1417320" cy="621792"/>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메모리 상태 수치</a:t>
            </a:r>
          </a:p>
          <a:p>
            <a:pPr algn="ctr"/>
            <a:r>
              <a:rPr sz="700" b="0" i="0">
                <a:solidFill>
                  <a:srgbClr val="000000"/>
                </a:solidFill>
                <a:latin typeface="맑은 고딕"/>
                <a:ea typeface="맑은 고딕"/>
              </a:rPr>
              <a:t>사용량·전송 대기</a:t>
            </a:r>
          </a:p>
        </p:txBody>
      </p:sp>
      <p:sp>
        <p:nvSpPr>
          <p:cNvPr id="9077" name="Rectangle 9076"/>
          <p:cNvSpPr/>
          <p:nvPr/>
        </p:nvSpPr>
        <p:spPr>
          <a:xfrm>
            <a:off x="9957816" y="3584448"/>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8" name="Rectangle 9077"/>
          <p:cNvSpPr/>
          <p:nvPr/>
        </p:nvSpPr>
        <p:spPr>
          <a:xfrm>
            <a:off x="9957816" y="3675887"/>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79" name="Connector 9078"/>
          <p:cNvCxnSpPr/>
          <p:nvPr/>
        </p:nvCxnSpPr>
        <p:spPr>
          <a:xfrm>
            <a:off x="7818120" y="2990088"/>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0" name="Oval 9079"/>
          <p:cNvSpPr/>
          <p:nvPr/>
        </p:nvSpPr>
        <p:spPr>
          <a:xfrm>
            <a:off x="7955279" y="291236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81" name="Connector 9080"/>
          <p:cNvCxnSpPr/>
          <p:nvPr/>
        </p:nvCxnSpPr>
        <p:spPr>
          <a:xfrm>
            <a:off x="8906256" y="3200400"/>
            <a:ext cx="0" cy="109728"/>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9082" name="Connector 9081"/>
          <p:cNvCxnSpPr/>
          <p:nvPr/>
        </p:nvCxnSpPr>
        <p:spPr>
          <a:xfrm flipH="1">
            <a:off x="9573768" y="3749039"/>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3" name="Oval 9082"/>
          <p:cNvSpPr/>
          <p:nvPr/>
        </p:nvSpPr>
        <p:spPr>
          <a:xfrm>
            <a:off x="9710928" y="3671315"/>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cxnSp>
        <p:nvCxnSpPr>
          <p:cNvPr id="9084" name="Connector 9083"/>
          <p:cNvCxnSpPr/>
          <p:nvPr/>
        </p:nvCxnSpPr>
        <p:spPr>
          <a:xfrm flipH="1">
            <a:off x="7818120" y="3611880"/>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5" name="Oval 9084"/>
          <p:cNvSpPr/>
          <p:nvPr/>
        </p:nvSpPr>
        <p:spPr>
          <a:xfrm>
            <a:off x="7955279" y="35341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86" name="Rounded Rectangle 9085"/>
          <p:cNvSpPr/>
          <p:nvPr/>
        </p:nvSpPr>
        <p:spPr>
          <a:xfrm>
            <a:off x="10991088" y="2340864"/>
            <a:ext cx="566928" cy="173736"/>
          </a:xfrm>
          <a:prstGeom prst="roundRect">
            <a:avLst>
              <a:gd name="adj" fmla="val 30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2E75B6"/>
                </a:solidFill>
                <a:latin typeface="맑은 고딕"/>
                <a:ea typeface="맑은 고딕"/>
              </a:rPr>
              <a:t>쟁점 1</a:t>
            </a:r>
          </a:p>
        </p:txBody>
      </p:sp>
      <p:sp>
        <p:nvSpPr>
          <p:cNvPr id="9087" name="Rectangle 9086"/>
          <p:cNvSpPr/>
          <p:nvPr/>
        </p:nvSpPr>
        <p:spPr>
          <a:xfrm>
            <a:off x="6309360" y="4526280"/>
            <a:ext cx="5285232" cy="457200"/>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88" name="Rectangle 9087"/>
          <p:cNvSpPr/>
          <p:nvPr/>
        </p:nvSpPr>
        <p:spPr>
          <a:xfrm>
            <a:off x="6309360" y="45262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89" name="Rectangle 9088"/>
          <p:cNvSpPr/>
          <p:nvPr/>
        </p:nvSpPr>
        <p:spPr>
          <a:xfrm>
            <a:off x="6419088" y="4736592"/>
            <a:ext cx="228600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캐시·메모리 계층 (HBM·DRAM·CXL)</a:t>
            </a:r>
          </a:p>
        </p:txBody>
      </p:sp>
      <p:sp>
        <p:nvSpPr>
          <p:cNvPr id="9090" name="Rectangle 9089"/>
          <p:cNvSpPr/>
          <p:nvPr/>
        </p:nvSpPr>
        <p:spPr>
          <a:xfrm>
            <a:off x="6373368"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1" name="Rectangle 9090"/>
          <p:cNvSpPr/>
          <p:nvPr/>
        </p:nvSpPr>
        <p:spPr>
          <a:xfrm>
            <a:off x="6373368"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2" name="Rectangle 9091"/>
          <p:cNvSpPr/>
          <p:nvPr/>
        </p:nvSpPr>
        <p:spPr>
          <a:xfrm>
            <a:off x="8915400" y="4736592"/>
            <a:ext cx="256032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이벤트 · 메트릭 · 전송 정보 · NIXL</a:t>
            </a:r>
          </a:p>
        </p:txBody>
      </p:sp>
      <p:sp>
        <p:nvSpPr>
          <p:cNvPr id="9093" name="Rectangle 9092"/>
          <p:cNvSpPr/>
          <p:nvPr/>
        </p:nvSpPr>
        <p:spPr>
          <a:xfrm>
            <a:off x="8869680"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4" name="Rectangle 9093"/>
          <p:cNvSpPr/>
          <p:nvPr/>
        </p:nvSpPr>
        <p:spPr>
          <a:xfrm>
            <a:off x="8869680"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95" name="Connector 9094"/>
          <p:cNvCxnSpPr/>
          <p:nvPr/>
        </p:nvCxnSpPr>
        <p:spPr>
          <a:xfrm>
            <a:off x="7150608"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6" name="Oval 9095"/>
          <p:cNvSpPr/>
          <p:nvPr/>
        </p:nvSpPr>
        <p:spPr>
          <a:xfrm>
            <a:off x="7072884"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cxnSp>
        <p:nvCxnSpPr>
          <p:cNvPr id="9097" name="Connector 9096"/>
          <p:cNvCxnSpPr/>
          <p:nvPr/>
        </p:nvCxnSpPr>
        <p:spPr>
          <a:xfrm flipV="1">
            <a:off x="10698480"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8" name="Oval 9097"/>
          <p:cNvSpPr/>
          <p:nvPr/>
        </p:nvSpPr>
        <p:spPr>
          <a:xfrm>
            <a:off x="10620755"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cxnSp>
        <p:nvCxnSpPr>
          <p:cNvPr id="9099" name="Connector 9098"/>
          <p:cNvCxnSpPr/>
          <p:nvPr/>
        </p:nvCxnSpPr>
        <p:spPr>
          <a:xfrm>
            <a:off x="7772400" y="4023360"/>
            <a:ext cx="0" cy="50292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100" name="Oval 9099"/>
          <p:cNvSpPr/>
          <p:nvPr/>
        </p:nvSpPr>
        <p:spPr>
          <a:xfrm>
            <a:off x="7694675" y="41970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7</a:t>
            </a:r>
          </a:p>
        </p:txBody>
      </p:sp>
      <p:sp>
        <p:nvSpPr>
          <p:cNvPr id="9101" name="TextBox 9100"/>
          <p:cNvSpPr txBox="1"/>
          <p:nvPr/>
        </p:nvSpPr>
        <p:spPr>
          <a:xfrm>
            <a:off x="6309360" y="5029200"/>
            <a:ext cx="5303520" cy="128016"/>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① 요청  ② 결정 요청  ③ 선택 결과  ④ 요청+서버별 지시  ⑥ 상태 이벤트·수치  ⑦ 서버 발견  ⑧ 상태 조회</a:t>
            </a:r>
          </a:p>
        </p:txBody>
      </p:sp>
      <p:sp>
        <p:nvSpPr>
          <p:cNvPr id="9102" name="Rounded Rectangle 9101"/>
          <p:cNvSpPr/>
          <p:nvPr/>
        </p:nvSpPr>
        <p:spPr>
          <a:xfrm>
            <a:off x="6309360" y="5175504"/>
            <a:ext cx="5285232" cy="219456"/>
          </a:xfrm>
          <a:prstGeom prst="roundRect">
            <a:avLst>
              <a:gd name="adj" fmla="val 20000"/>
            </a:avLst>
          </a:prstGeom>
          <a:solidFill>
            <a:srgbClr val="FFFFFF"/>
          </a:solidFill>
          <a:ln w="15875">
            <a:solidFill>
              <a:srgbClr val="2E75B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sz="700" b="1" i="0">
                <a:solidFill>
                  <a:srgbClr val="2E75B6"/>
                </a:solidFill>
                <a:latin typeface="맑은 고딕"/>
                <a:ea typeface="맑은 고딕"/>
              </a:rPr>
              <a:t>쟁점 2  </a:t>
            </a:r>
            <a:r>
              <a:rPr sz="700" b="0" i="0">
                <a:solidFill>
                  <a:srgbClr val="000000"/>
                </a:solidFill>
                <a:latin typeface="맑은 고딕"/>
                <a:ea typeface="맑은 고딕"/>
              </a:rPr>
              <a:t>확장 지점: 신규 메모리·정책을 확장 모듈(plug-in)로 추가 (OSS 확장 vs 자체 구현)</a:t>
            </a:r>
          </a:p>
        </p:txBody>
      </p:sp>
    </p:spTree>
    <p:extLst>
      <p:ext uri="{BB962C8B-B14F-4D97-AF65-F5344CB8AC3E}">
        <p14:creationId xmlns:p14="http://schemas.microsoft.com/office/powerpoint/2010/main" val="3482503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표 80"/>
          <p:cNvGraphicFramePr>
            <a:graphicFrameLocks noGrp="1"/>
          </p:cNvGraphicFramePr>
          <p:nvPr/>
        </p:nvGraphicFramePr>
        <p:xfrm>
          <a:off x="249035" y="1044054"/>
          <a:ext cx="11747501" cy="5625986"/>
        </p:xfrm>
        <a:graphic>
          <a:graphicData uri="http://schemas.openxmlformats.org/drawingml/2006/table">
            <a:tbl>
              <a:tblPr firstRow="1" bandRow="1">
                <a:tableStyleId>{5940675A-B579-460E-94D1-54222C63F5DA}</a:tableStyleId>
              </a:tblPr>
              <a:tblGrid>
                <a:gridCol w="875393">
                  <a:extLst>
                    <a:ext uri="{9D8B030D-6E8A-4147-A177-3AD203B41FA5}">
                      <a16:colId xmlns:a16="http://schemas.microsoft.com/office/drawing/2014/main" val="44684717"/>
                    </a:ext>
                  </a:extLst>
                </a:gridCol>
                <a:gridCol w="3206272">
                  <a:extLst>
                    <a:ext uri="{9D8B030D-6E8A-4147-A177-3AD203B41FA5}">
                      <a16:colId xmlns:a16="http://schemas.microsoft.com/office/drawing/2014/main" val="5654497"/>
                    </a:ext>
                  </a:extLst>
                </a:gridCol>
                <a:gridCol w="2229782">
                  <a:extLst>
                    <a:ext uri="{9D8B030D-6E8A-4147-A177-3AD203B41FA5}">
                      <a16:colId xmlns:a16="http://schemas.microsoft.com/office/drawing/2014/main" val="2953438935"/>
                    </a:ext>
                  </a:extLst>
                </a:gridCol>
                <a:gridCol w="3254078">
                  <a:extLst>
                    <a:ext uri="{9D8B030D-6E8A-4147-A177-3AD203B41FA5}">
                      <a16:colId xmlns:a16="http://schemas.microsoft.com/office/drawing/2014/main" val="3070054508"/>
                    </a:ext>
                  </a:extLst>
                </a:gridCol>
                <a:gridCol w="2181976">
                  <a:extLst>
                    <a:ext uri="{9D8B030D-6E8A-4147-A177-3AD203B41FA5}">
                      <a16:colId xmlns:a16="http://schemas.microsoft.com/office/drawing/2014/main" val="3101495520"/>
                    </a:ext>
                  </a:extLst>
                </a:gridCol>
              </a:tblGrid>
              <a:tr h="321759">
                <a:tc>
                  <a:txBody>
                    <a:bodyPr/>
                    <a:lstStyle/>
                    <a:p>
                      <a:pPr algn="ctr" latinLnBrk="1"/>
                      <a:r>
                        <a:rPr lang="ko-KR" altLang="en-US" sz="1200" dirty="0">
                          <a:solidFill>
                            <a:schemeClr val="tx1">
                              <a:lumMod val="50000"/>
                              <a:lumOff val="50000"/>
                            </a:schemeClr>
                          </a:solidFill>
                        </a:rPr>
                        <a:t>설계 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strike="noStrike" baseline="0" dirty="0"/>
                        <a:t>(1</a:t>
                      </a:r>
                      <a:r>
                        <a:rPr lang="ko-KR" altLang="en-US" sz="1200" b="1" strike="noStrike" baseline="0" dirty="0"/>
                        <a:t>안</a:t>
                      </a:r>
                      <a:r>
                        <a:rPr lang="en-US" altLang="ko-KR" sz="1200" b="1" strike="noStrike" baseline="0" dirty="0"/>
                        <a:t>) OSS </a:t>
                      </a:r>
                      <a:r>
                        <a:rPr lang="ko-KR" altLang="en-US" sz="1200" b="1" strike="noStrike" baseline="0" dirty="0"/>
                        <a:t>확장 구조 </a:t>
                      </a:r>
                      <a:r>
                        <a:rPr lang="en-US" altLang="ko-KR" sz="850" b="0" kern="1200" dirty="0">
                          <a:solidFill>
                            <a:srgbClr val="404040"/>
                          </a:solidFill>
                          <a:latin typeface="맑은 고딕"/>
                          <a:ea typeface="맑은 고딕"/>
                          <a:cs typeface="+mn-cs"/>
                        </a:rPr>
                        <a:t>(</a:t>
                      </a:r>
                      <a:r>
                        <a:rPr lang="en-US" altLang="ko-KR" sz="850" b="0" kern="1200" dirty="0" err="1">
                          <a:solidFill>
                            <a:srgbClr val="404040"/>
                          </a:solidFill>
                          <a:latin typeface="맑은 고딕"/>
                          <a:ea typeface="맑은 고딕"/>
                          <a:cs typeface="+mn-cs"/>
                        </a:rPr>
                        <a:t>llm</a:t>
                      </a:r>
                      <a:r>
                        <a:rPr lang="en-US" altLang="ko-KR" sz="850" b="0" kern="1200" dirty="0">
                          <a:solidFill>
                            <a:srgbClr val="404040"/>
                          </a:solidFill>
                          <a:latin typeface="맑은 고딕"/>
                          <a:ea typeface="맑은 고딕"/>
                          <a:cs typeface="+mn-cs"/>
                        </a:rPr>
                        <a:t>-d </a:t>
                      </a:r>
                      <a:r>
                        <a:rPr lang="ko-KR" altLang="en-US" sz="850" b="0" kern="1200" dirty="0">
                          <a:solidFill>
                            <a:srgbClr val="404040"/>
                          </a:solidFill>
                          <a:latin typeface="맑은 고딕"/>
                          <a:ea typeface="맑은 고딕"/>
                          <a:cs typeface="+mn-cs"/>
                        </a:rPr>
                        <a:t>기준</a:t>
                      </a:r>
                      <a:r>
                        <a:rPr lang="en-US" altLang="ko-KR" sz="850" b="0" kern="1200" dirty="0">
                          <a:solidFill>
                            <a:srgbClr val="404040"/>
                          </a:solidFill>
                          <a:latin typeface="맑은 고딕"/>
                          <a:ea typeface="맑은 고딕"/>
                          <a:cs typeface="+mn-cs"/>
                        </a:rPr>
                        <a:t>: </a:t>
                      </a:r>
                      <a:r>
                        <a:rPr lang="ko-KR" altLang="en-US" sz="850" b="0" kern="1200" dirty="0">
                          <a:solidFill>
                            <a:srgbClr val="404040"/>
                          </a:solidFill>
                          <a:latin typeface="맑은 고딕"/>
                          <a:ea typeface="맑은 고딕"/>
                          <a:cs typeface="+mn-cs"/>
                        </a:rPr>
                        <a:t>기존 모듈 </a:t>
                      </a:r>
                      <a:r>
                        <a:rPr lang="en-US" altLang="ko-KR" sz="850" b="0" kern="1200" dirty="0">
                          <a:solidFill>
                            <a:srgbClr val="404040"/>
                          </a:solidFill>
                          <a:latin typeface="맑은 고딕"/>
                          <a:ea typeface="맑은 고딕"/>
                          <a:cs typeface="+mn-cs"/>
                        </a:rPr>
                        <a:t>+ </a:t>
                      </a:r>
                      <a:r>
                        <a:rPr lang="ko-KR" altLang="en-US" sz="850" b="0" kern="1200" dirty="0">
                          <a:solidFill>
                            <a:srgbClr val="404040"/>
                          </a:solidFill>
                          <a:latin typeface="맑은 고딕"/>
                          <a:ea typeface="맑은 고딕"/>
                          <a:cs typeface="+mn-cs"/>
                        </a:rPr>
                        <a:t>우리 확장</a:t>
                      </a:r>
                      <a:r>
                        <a:rPr lang="en-US" altLang="ko-KR" sz="850" b="0" kern="1200" dirty="0">
                          <a:solidFill>
                            <a:srgbClr val="404040"/>
                          </a:solidFill>
                          <a:latin typeface="맑은 고딕"/>
                          <a:ea typeface="맑은 고딕"/>
                          <a:cs typeface="+mn-cs"/>
                        </a:rPr>
                        <a:t>)</a:t>
                      </a:r>
                      <a:r>
                        <a:rPr lang="ko-KR" altLang="en-US" sz="850" b="0" kern="1200" dirty="0">
                          <a:solidFill>
                            <a:srgbClr val="404040"/>
                          </a:solidFill>
                          <a:latin typeface="맑은 고딕"/>
                          <a:ea typeface="맑은 고딕"/>
                          <a:cs typeface="+mn-cs"/>
                        </a:rPr>
                        <a:t>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algn="l" latinLnBrk="1"/>
                      <a:r>
                        <a:rPr lang="en-US" altLang="ko-KR" sz="1200" b="1" strike="noStrike" dirty="0"/>
                        <a:t>(2</a:t>
                      </a:r>
                      <a:r>
                        <a:rPr lang="ko-KR" altLang="en-US" sz="1200" b="1" strike="noStrike" dirty="0"/>
                        <a:t>안</a:t>
                      </a:r>
                      <a:r>
                        <a:rPr lang="en-US" altLang="ko-KR" sz="1200" b="1" strike="noStrike" dirty="0"/>
                        <a:t>) </a:t>
                      </a:r>
                      <a:r>
                        <a:rPr lang="ko-KR" altLang="en-US" sz="1200" b="1" strike="noStrike" dirty="0"/>
                        <a:t>자체 구현 구조 </a:t>
                      </a:r>
                      <a:r>
                        <a:rPr lang="en-US" altLang="ko-KR" sz="850" b="0" kern="1200" dirty="0">
                          <a:solidFill>
                            <a:srgbClr val="404040"/>
                          </a:solidFill>
                          <a:latin typeface="맑은 고딕"/>
                          <a:ea typeface="맑은 고딕"/>
                          <a:cs typeface="+mn-cs"/>
                        </a:rPr>
                        <a:t>(Own Router: </a:t>
                      </a:r>
                      <a:r>
                        <a:rPr lang="ko-KR" altLang="en-US" sz="850" b="0" kern="1200" dirty="0" err="1">
                          <a:solidFill>
                            <a:srgbClr val="404040"/>
                          </a:solidFill>
                          <a:latin typeface="맑은 고딕"/>
                          <a:ea typeface="맑은 고딕"/>
                          <a:cs typeface="+mn-cs"/>
                        </a:rPr>
                        <a:t>계층형</a:t>
                      </a:r>
                      <a:r>
                        <a:rPr lang="ko-KR" altLang="en-US" sz="850" b="0" kern="1200" dirty="0">
                          <a:solidFill>
                            <a:srgbClr val="404040"/>
                          </a:solidFill>
                          <a:latin typeface="맑은 고딕"/>
                          <a:ea typeface="맑은 고딕"/>
                          <a:cs typeface="+mn-cs"/>
                        </a:rPr>
                        <a:t> </a:t>
                      </a:r>
                      <a:r>
                        <a:rPr lang="en-US" altLang="ko-KR" sz="850" b="0" kern="1200" dirty="0">
                          <a:solidFill>
                            <a:srgbClr val="404040"/>
                          </a:solidFill>
                          <a:latin typeface="맑은 고딕"/>
                          <a:ea typeface="맑은 고딕"/>
                          <a:cs typeface="+mn-cs"/>
                        </a:rPr>
                        <a:t>· </a:t>
                      </a:r>
                      <a:r>
                        <a:rPr lang="ko-KR" altLang="en-US" sz="850" b="0" kern="1200" dirty="0" err="1">
                          <a:solidFill>
                            <a:srgbClr val="404040"/>
                          </a:solidFill>
                          <a:latin typeface="맑은 고딕"/>
                          <a:ea typeface="맑은 고딕"/>
                          <a:cs typeface="+mn-cs"/>
                        </a:rPr>
                        <a:t>레플리카</a:t>
                      </a:r>
                      <a:r>
                        <a:rPr lang="ko-KR" altLang="en-US" sz="850" b="0" kern="1200" dirty="0">
                          <a:solidFill>
                            <a:srgbClr val="404040"/>
                          </a:solidFill>
                          <a:latin typeface="맑은 고딕"/>
                          <a:ea typeface="맑은 고딕"/>
                          <a:cs typeface="+mn-cs"/>
                        </a:rPr>
                        <a:t> 확장</a:t>
                      </a:r>
                      <a:r>
                        <a:rPr lang="en-US" altLang="ko-KR" sz="850" b="0" kern="1200" dirty="0">
                          <a:solidFill>
                            <a:srgbClr val="404040"/>
                          </a:solidFill>
                          <a:latin typeface="맑은 고딕"/>
                          <a:ea typeface="맑은 고딕"/>
                          <a:cs typeface="+mn-cs"/>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833014303"/>
                  </a:ext>
                </a:extLst>
              </a:tr>
              <a:tr h="3383987">
                <a:tc>
                  <a:txBody>
                    <a:bodyPr/>
                    <a:lstStyle/>
                    <a:p>
                      <a:pPr algn="ctr" latinLnBrk="1"/>
                      <a:r>
                        <a:rPr lang="ko-KR" altLang="en-US" sz="1200">
                          <a:solidFill>
                            <a:schemeClr val="tx1">
                              <a:lumMod val="50000"/>
                              <a:lumOff val="50000"/>
                            </a:schemeClr>
                          </a:solidFill>
                        </a:rPr>
                        <a:t>구조</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en-US" altLang="ko-KR" sz="1050" dirty="0">
                        <a:effectLst/>
                      </a:endParaRPr>
                    </a:p>
                    <a:p>
                      <a:pPr latinLnBrk="1"/>
                      <a:endParaRPr lang="ko-KR" altLang="en-US" sz="1050" dirty="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latinLnBrk="1">
                        <a:lnSpc>
                          <a:spcPct val="150000"/>
                        </a:lnSpc>
                      </a:pPr>
                      <a:endParaRPr lang="ko-KR" altLang="en-US" sz="1200" b="1" dirty="0">
                        <a:solidFill>
                          <a:srgbClr val="0033CC"/>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90915045"/>
                  </a:ext>
                </a:extLst>
              </a:tr>
              <a:tr h="374073">
                <a:tc>
                  <a:txBody>
                    <a:bodyPr/>
                    <a:lstStyle/>
                    <a:p>
                      <a:pPr algn="ctr" latinLnBrk="1"/>
                      <a:r>
                        <a:rPr lang="ko-KR" altLang="en-US" sz="1200" dirty="0">
                          <a:solidFill>
                            <a:schemeClr val="tx1">
                              <a:lumMod val="50000"/>
                              <a:lumOff val="50000"/>
                            </a:schemeClr>
                          </a:solidFill>
                        </a:rPr>
                        <a:t>장점</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검증된 </a:t>
                      </a:r>
                      <a:r>
                        <a:rPr lang="en-US" altLang="ko-KR" sz="1200" strike="noStrike" kern="1200" baseline="0" dirty="0">
                          <a:solidFill>
                            <a:schemeClr val="tx1"/>
                          </a:solidFill>
                          <a:effectLst/>
                          <a:latin typeface="+mn-lt"/>
                          <a:ea typeface="+mn-ea"/>
                          <a:cs typeface="+mn-cs"/>
                        </a:rPr>
                        <a:t>OSS </a:t>
                      </a:r>
                      <a:r>
                        <a:rPr lang="ko-KR" altLang="en-US" sz="1200" strike="noStrike" kern="1200" baseline="0" dirty="0">
                          <a:solidFill>
                            <a:schemeClr val="tx1"/>
                          </a:solidFill>
                          <a:effectLst/>
                          <a:latin typeface="+mn-lt"/>
                          <a:ea typeface="+mn-ea"/>
                          <a:cs typeface="+mn-cs"/>
                        </a:rPr>
                        <a:t>재사용</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요청 경로</a:t>
                      </a:r>
                      <a:r>
                        <a:rPr lang="en-US" altLang="ko-KR" sz="1200" strike="noStrike" kern="1200" baseline="0" dirty="0">
                          <a:solidFill>
                            <a:schemeClr val="tx1"/>
                          </a:solidFill>
                          <a:effectLst/>
                          <a:latin typeface="+mn-lt"/>
                          <a:ea typeface="+mn-ea"/>
                          <a:cs typeface="+mn-cs"/>
                        </a:rPr>
                        <a:t>·KV </a:t>
                      </a:r>
                      <a:r>
                        <a:rPr lang="ko-KR" altLang="en-US" sz="1200" strike="noStrike" kern="1200" baseline="0" dirty="0">
                          <a:solidFill>
                            <a:schemeClr val="tx1"/>
                          </a:solidFill>
                          <a:effectLst/>
                          <a:latin typeface="+mn-lt"/>
                          <a:ea typeface="+mn-ea"/>
                          <a:cs typeface="+mn-cs"/>
                        </a:rPr>
                        <a:t>인덱스</a:t>
                      </a:r>
                      <a:r>
                        <a:rPr lang="en-US" altLang="ko-KR" sz="1200" strike="noStrike" kern="1200" baseline="0" dirty="0">
                          <a:solidFill>
                            <a:schemeClr val="tx1"/>
                          </a:solidFill>
                          <a:effectLst/>
                          <a:latin typeface="+mn-lt"/>
                          <a:ea typeface="+mn-ea"/>
                          <a:cs typeface="+mn-cs"/>
                        </a:rPr>
                        <a:t>·</a:t>
                      </a:r>
                      <a:r>
                        <a:rPr lang="ko-KR" altLang="en-US" sz="1200" strike="noStrike" kern="1200" baseline="0" dirty="0">
                          <a:solidFill>
                            <a:schemeClr val="tx1"/>
                          </a:solidFill>
                          <a:effectLst/>
                          <a:latin typeface="+mn-lt"/>
                          <a:ea typeface="+mn-ea"/>
                          <a:cs typeface="+mn-cs"/>
                        </a:rPr>
                        <a:t>흐름 제어</a:t>
                      </a:r>
                      <a:r>
                        <a:rPr lang="en-US" altLang="ko-KR" sz="1200" strike="noStrike" kern="1200" baseline="0" dirty="0">
                          <a:solidFill>
                            <a:schemeClr val="tx1"/>
                          </a:solidFill>
                          <a:effectLst/>
                          <a:latin typeface="+mn-lt"/>
                          <a:ea typeface="+mn-ea"/>
                          <a:cs typeface="+mn-cs"/>
                        </a:rPr>
                        <a:t>)</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구현</a:t>
                      </a:r>
                      <a:r>
                        <a:rPr lang="en-US" altLang="ko-KR" sz="1200" strike="noStrike" kern="1200" baseline="0" dirty="0">
                          <a:solidFill>
                            <a:schemeClr val="tx1"/>
                          </a:solidFill>
                          <a:effectLst/>
                          <a:latin typeface="+mn-lt"/>
                          <a:ea typeface="+mn-ea"/>
                          <a:cs typeface="+mn-cs"/>
                        </a:rPr>
                        <a:t>·</a:t>
                      </a:r>
                      <a:r>
                        <a:rPr lang="ko-KR" altLang="en-US" sz="1200" strike="noStrike" kern="1200" baseline="0" dirty="0">
                          <a:solidFill>
                            <a:schemeClr val="tx1"/>
                          </a:solidFill>
                          <a:effectLst/>
                          <a:latin typeface="+mn-lt"/>
                          <a:ea typeface="+mn-ea"/>
                          <a:cs typeface="+mn-cs"/>
                        </a:rPr>
                        <a:t>유지 부담 적음</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신규 기능 재활용</a:t>
                      </a:r>
                      <a:r>
                        <a:rPr lang="en-US" altLang="ko-KR" sz="1200" strike="noStrike" kern="1200" baseline="0" dirty="0">
                          <a:solidFill>
                            <a:schemeClr val="tx1"/>
                          </a:solidFill>
                          <a:effectLst/>
                          <a:latin typeface="+mn-lt"/>
                          <a:ea typeface="+mn-ea"/>
                          <a:cs typeface="+mn-cs"/>
                        </a:rPr>
                        <a:t>)</a:t>
                      </a:r>
                    </a:p>
                    <a:p>
                      <a:pPr marL="228600" indent="-228600" algn="l" defTabSz="914400" rtl="0" eaLnBrk="1" latinLnBrk="1" hangingPunct="1">
                        <a:lnSpc>
                          <a:spcPct val="100000"/>
                        </a:lnSpc>
                        <a:spcAft>
                          <a:spcPts val="0"/>
                        </a:spcAft>
                        <a:buFont typeface="Wingdings" panose="05000000000000000000" pitchFamily="2" charset="2"/>
                        <a:buChar char="§"/>
                      </a:pPr>
                      <a:r>
                        <a:rPr lang="ko-KR" altLang="en-US" sz="1200" strike="noStrike" kern="1200" baseline="0" dirty="0">
                          <a:solidFill>
                            <a:schemeClr val="tx1"/>
                          </a:solidFill>
                          <a:effectLst/>
                          <a:latin typeface="+mn-lt"/>
                          <a:ea typeface="+mn-ea"/>
                          <a:cs typeface="+mn-cs"/>
                        </a:rPr>
                        <a:t>실제 서비스 관점 유리 </a:t>
                      </a:r>
                      <a:r>
                        <a:rPr lang="en-US" altLang="ko-KR" sz="1200" strike="noStrike" kern="1200" baseline="0" dirty="0">
                          <a:solidFill>
                            <a:schemeClr val="tx1"/>
                          </a:solidFill>
                          <a:effectLst/>
                          <a:latin typeface="+mn-lt"/>
                          <a:ea typeface="+mn-ea"/>
                          <a:cs typeface="+mn-cs"/>
                        </a:rPr>
                        <a:t>(Heavy </a:t>
                      </a:r>
                      <a:r>
                        <a:rPr lang="ko-KR" altLang="en-US" sz="1200" strike="noStrike" kern="1200" baseline="0" dirty="0">
                          <a:solidFill>
                            <a:schemeClr val="tx1"/>
                          </a:solidFill>
                          <a:effectLst/>
                          <a:latin typeface="+mn-lt"/>
                          <a:ea typeface="+mn-ea"/>
                          <a:cs typeface="+mn-cs"/>
                        </a:rPr>
                        <a:t>요청</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요청 인증</a:t>
                      </a:r>
                      <a:r>
                        <a:rPr lang="en-US" altLang="ko-KR" sz="1200" strike="noStrike" kern="1200" baseline="0" dirty="0">
                          <a:solidFill>
                            <a:schemeClr val="tx1"/>
                          </a:solidFill>
                          <a:effectLst/>
                          <a:latin typeface="+mn-lt"/>
                          <a:ea typeface="+mn-ea"/>
                          <a:cs typeface="+mn-cs"/>
                        </a:rPr>
                        <a:t>∙</a:t>
                      </a:r>
                      <a:r>
                        <a:rPr lang="ko-KR" altLang="en-US" sz="1200" strike="noStrike" kern="1200" baseline="0" dirty="0">
                          <a:solidFill>
                            <a:schemeClr val="tx1"/>
                          </a:solidFill>
                          <a:effectLst/>
                          <a:latin typeface="+mn-lt"/>
                          <a:ea typeface="+mn-ea"/>
                          <a:cs typeface="+mn-cs"/>
                        </a:rPr>
                        <a:t>재시도 처리</a:t>
                      </a:r>
                      <a:r>
                        <a:rPr lang="en-US" altLang="ko-KR" sz="1200" strike="noStrike" kern="1200" baseline="0" dirty="0">
                          <a:solidFill>
                            <a:schemeClr val="tx1"/>
                          </a:solidFill>
                          <a:effectLst/>
                          <a:latin typeface="+mn-lt"/>
                          <a:ea typeface="+mn-ea"/>
                          <a:cs typeface="+mn-cs"/>
                        </a:rPr>
                        <a:t>, </a:t>
                      </a:r>
                      <a:r>
                        <a:rPr lang="ko-KR" altLang="en-US" sz="1200" strike="noStrike" kern="1200" baseline="0" dirty="0">
                          <a:solidFill>
                            <a:schemeClr val="tx1"/>
                          </a:solidFill>
                          <a:effectLst/>
                          <a:latin typeface="+mn-lt"/>
                          <a:ea typeface="+mn-ea"/>
                          <a:cs typeface="+mn-cs"/>
                        </a:rPr>
                        <a:t>서버 증설 등 </a:t>
                      </a:r>
                      <a:r>
                        <a:rPr lang="en-US" altLang="ko-KR" sz="1200" strike="noStrike" kern="1200" baseline="0" dirty="0">
                          <a:solidFill>
                            <a:schemeClr val="tx1"/>
                          </a:solidFill>
                          <a:effectLst/>
                          <a:latin typeface="+mn-lt"/>
                          <a:ea typeface="+mn-ea"/>
                          <a:cs typeface="+mn-cs"/>
                        </a:rPr>
                        <a:t>)</a:t>
                      </a:r>
                    </a:p>
                  </a:txBody>
                  <a:tcPr marL="68580" marR="6858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한 프로세스 내부 호출</a:t>
                      </a:r>
                      <a:r>
                        <a:rPr lang="en-US" altLang="ko-KR" sz="1200" strike="noStrike" baseline="0" dirty="0">
                          <a:solidFill>
                            <a:schemeClr val="tx1"/>
                          </a:solidFill>
                          <a:effectLst/>
                        </a:rPr>
                        <a:t> - </a:t>
                      </a:r>
                      <a:r>
                        <a:rPr lang="ko-KR" altLang="en-US" sz="1200" strike="noStrike" dirty="0">
                          <a:solidFill>
                            <a:schemeClr val="tx1"/>
                          </a:solidFill>
                          <a:effectLst/>
                        </a:rPr>
                        <a:t>원격 호출</a:t>
                      </a:r>
                      <a:r>
                        <a:rPr lang="en-US" altLang="ko-KR" sz="1200" strike="noStrike" dirty="0">
                          <a:solidFill>
                            <a:schemeClr val="tx1"/>
                          </a:solidFill>
                          <a:effectLst/>
                        </a:rPr>
                        <a:t>·</a:t>
                      </a:r>
                      <a:r>
                        <a:rPr lang="ko-KR" altLang="en-US" sz="1200" strike="noStrike" dirty="0">
                          <a:solidFill>
                            <a:schemeClr val="tx1"/>
                          </a:solidFill>
                          <a:effectLst/>
                        </a:rPr>
                        <a:t>보조 프로세스 경유 없음 </a:t>
                      </a:r>
                      <a:endParaRPr lang="en-US" altLang="ko-KR" sz="1200" strike="noStrike"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비용 함수</a:t>
                      </a:r>
                      <a:r>
                        <a:rPr lang="en-US" altLang="ko-KR" sz="1200" strike="noStrike" dirty="0">
                          <a:solidFill>
                            <a:schemeClr val="tx1"/>
                          </a:solidFill>
                          <a:effectLst/>
                        </a:rPr>
                        <a:t>, P/D </a:t>
                      </a:r>
                      <a:r>
                        <a:rPr lang="ko-KR" altLang="en-US" sz="1200" strike="noStrike" dirty="0">
                          <a:solidFill>
                            <a:schemeClr val="tx1"/>
                          </a:solidFill>
                          <a:effectLst/>
                        </a:rPr>
                        <a:t>결정 정책 변경 용이</a:t>
                      </a:r>
                      <a:endParaRPr lang="en-US" altLang="ko-KR" sz="1200" strike="noStrike"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dirty="0">
                          <a:solidFill>
                            <a:schemeClr val="tx1"/>
                          </a:solidFill>
                          <a:effectLst/>
                        </a:rPr>
                        <a:t>시스템 </a:t>
                      </a:r>
                      <a:r>
                        <a:rPr lang="en-US" altLang="ko-KR" sz="1200" strike="noStrike" dirty="0">
                          <a:solidFill>
                            <a:schemeClr val="tx1"/>
                          </a:solidFill>
                          <a:effectLst/>
                        </a:rPr>
                        <a:t>POC </a:t>
                      </a:r>
                      <a:r>
                        <a:rPr lang="ko-KR" altLang="en-US" sz="1200" strike="noStrike" dirty="0">
                          <a:solidFill>
                            <a:schemeClr val="tx1"/>
                          </a:solidFill>
                          <a:effectLst/>
                        </a:rPr>
                        <a:t>관점 유리 </a:t>
                      </a:r>
                      <a:r>
                        <a:rPr lang="en-US" altLang="ko-KR" sz="1200" strike="noStrike" dirty="0">
                          <a:solidFill>
                            <a:schemeClr val="tx1"/>
                          </a:solidFill>
                          <a:effectLst/>
                        </a:rPr>
                        <a:t>(K8s·</a:t>
                      </a:r>
                      <a:r>
                        <a:rPr lang="ko-KR" altLang="en-US" sz="1200" strike="noStrike" dirty="0">
                          <a:solidFill>
                            <a:schemeClr val="tx1"/>
                          </a:solidFill>
                          <a:effectLst/>
                        </a:rPr>
                        <a:t>프록시 불필요</a:t>
                      </a:r>
                      <a:r>
                        <a:rPr lang="en-US" altLang="ko-KR" sz="1200" strike="noStrike" dirty="0">
                          <a:solidFill>
                            <a:schemeClr val="tx1"/>
                          </a:solidFill>
                          <a:effectLst/>
                        </a:rPr>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372501578"/>
                  </a:ext>
                </a:extLst>
              </a:tr>
              <a:tr h="450218">
                <a:tc>
                  <a:txBody>
                    <a:bodyPr/>
                    <a:lstStyle/>
                    <a:p>
                      <a:pPr algn="ctr" latinLnBrk="1"/>
                      <a:r>
                        <a:rPr lang="ko-KR" altLang="en-US" sz="1200">
                          <a:solidFill>
                            <a:schemeClr val="tx1">
                              <a:lumMod val="50000"/>
                              <a:lumOff val="50000"/>
                            </a:schemeClr>
                          </a:solidFill>
                        </a:rPr>
                        <a:t>단점</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ko-KR" altLang="en-US" sz="1200" strike="noStrike" baseline="0" dirty="0">
                          <a:solidFill>
                            <a:schemeClr val="tx1"/>
                          </a:solidFill>
                          <a:effectLst/>
                        </a:rPr>
                        <a:t>프로세스간 호출 및 경유를 통해 시간 증가 </a:t>
                      </a:r>
                      <a:endParaRPr lang="en-US" altLang="ko-KR" sz="1200" strike="noStrike" baseline="0" dirty="0">
                        <a:solidFill>
                          <a:schemeClr val="tx1"/>
                        </a:solidFill>
                        <a:effectLst/>
                      </a:endParaRPr>
                    </a:p>
                    <a:p>
                      <a:pPr marL="228600" marR="0" lvl="0" indent="-22860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200" strike="noStrike" baseline="0" dirty="0">
                          <a:solidFill>
                            <a:schemeClr val="tx1"/>
                          </a:solidFill>
                          <a:effectLst/>
                        </a:rPr>
                        <a:t>K8s, </a:t>
                      </a:r>
                      <a:r>
                        <a:rPr lang="ko-KR" altLang="en-US" sz="1200" strike="noStrike" baseline="0" dirty="0">
                          <a:solidFill>
                            <a:schemeClr val="tx1"/>
                          </a:solidFill>
                          <a:effectLst/>
                        </a:rPr>
                        <a:t>프록시로 인한 운영 부담</a:t>
                      </a:r>
                      <a:r>
                        <a:rPr lang="en-US" altLang="ko-KR" sz="1200" strike="noStrike" baseline="0" dirty="0">
                          <a:solidFill>
                            <a:schemeClr val="tx1"/>
                          </a:solidFill>
                          <a:effectLst/>
                        </a:rPr>
                        <a:t> </a:t>
                      </a:r>
                      <a:r>
                        <a:rPr lang="ko-KR" altLang="en-US" sz="1200" strike="noStrike" baseline="0" dirty="0">
                          <a:solidFill>
                            <a:schemeClr val="tx1"/>
                          </a:solidFill>
                          <a:effectLst/>
                        </a:rPr>
                        <a:t>및 </a:t>
                      </a:r>
                      <a:r>
                        <a:rPr lang="en-US" altLang="ko-KR" sz="1200" strike="noStrike" baseline="0" dirty="0">
                          <a:solidFill>
                            <a:schemeClr val="tx1"/>
                          </a:solidFill>
                          <a:effectLst/>
                        </a:rPr>
                        <a:t>OSS </a:t>
                      </a:r>
                      <a:r>
                        <a:rPr lang="ko-KR" altLang="en-US" sz="1200" strike="noStrike" baseline="0" dirty="0">
                          <a:solidFill>
                            <a:schemeClr val="tx1"/>
                          </a:solidFill>
                          <a:effectLst/>
                        </a:rPr>
                        <a:t>버전업 시 유지보수 부담</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tc gridSpan="2">
                  <a:txBody>
                    <a:bodyPr/>
                    <a:lstStyle/>
                    <a:p>
                      <a:pPr marL="228600" indent="-228600" latinLnBrk="1">
                        <a:lnSpc>
                          <a:spcPct val="100000"/>
                        </a:lnSpc>
                        <a:buFont typeface="Wingdings" panose="05000000000000000000" pitchFamily="2" charset="2"/>
                        <a:buChar char="§"/>
                      </a:pPr>
                      <a:r>
                        <a:rPr lang="en-US" altLang="ko-KR" sz="1200" strike="noStrike" baseline="0" dirty="0">
                          <a:solidFill>
                            <a:schemeClr val="tx1"/>
                          </a:solidFill>
                          <a:effectLst/>
                        </a:rPr>
                        <a:t>Routing, Dispatching</a:t>
                      </a:r>
                      <a:r>
                        <a:rPr lang="ko-KR" altLang="en-US" sz="1200" strike="noStrike" baseline="0" dirty="0">
                          <a:solidFill>
                            <a:schemeClr val="tx1"/>
                          </a:solidFill>
                          <a:effectLst/>
                        </a:rPr>
                        <a:t>이 단일 프로세스 내 처리 </a:t>
                      </a:r>
                      <a:r>
                        <a:rPr lang="en-US" altLang="ko-KR" sz="1200" strike="noStrike" baseline="0" dirty="0">
                          <a:solidFill>
                            <a:schemeClr val="tx1"/>
                          </a:solidFill>
                          <a:effectLst/>
                        </a:rPr>
                        <a:t>-&gt; </a:t>
                      </a:r>
                      <a:r>
                        <a:rPr lang="ko-KR" altLang="en-US" sz="1200" strike="noStrike" baseline="0" dirty="0">
                          <a:solidFill>
                            <a:schemeClr val="tx1"/>
                          </a:solidFill>
                          <a:effectLst/>
                        </a:rPr>
                        <a:t>병목</a:t>
                      </a:r>
                      <a:r>
                        <a:rPr lang="en-US" altLang="ko-KR" sz="1200" strike="noStrike" baseline="0" dirty="0">
                          <a:solidFill>
                            <a:schemeClr val="tx1"/>
                          </a:solidFill>
                          <a:effectLst/>
                        </a:rPr>
                        <a:t>, </a:t>
                      </a:r>
                      <a:r>
                        <a:rPr lang="ko-KR" altLang="en-US" sz="1200" strike="noStrike" baseline="0" dirty="0">
                          <a:solidFill>
                            <a:schemeClr val="tx1"/>
                          </a:solidFill>
                          <a:effectLst/>
                        </a:rPr>
                        <a:t>장애</a:t>
                      </a:r>
                      <a:r>
                        <a:rPr lang="en-US" altLang="ko-KR" sz="1200" strike="noStrike" baseline="0" dirty="0">
                          <a:solidFill>
                            <a:schemeClr val="tx1"/>
                          </a:solidFill>
                          <a:effectLst/>
                        </a:rPr>
                        <a:t>(SPOF) </a:t>
                      </a:r>
                      <a:r>
                        <a:rPr lang="ko-KR" altLang="en-US" sz="1200" strike="noStrike" baseline="0" dirty="0">
                          <a:solidFill>
                            <a:schemeClr val="tx1"/>
                          </a:solidFill>
                          <a:effectLst/>
                        </a:rPr>
                        <a:t>위험</a:t>
                      </a:r>
                      <a:endParaRPr lang="en-US" altLang="ko-KR" sz="1200" strike="noStrike" baseline="0" dirty="0">
                        <a:solidFill>
                          <a:schemeClr val="tx1"/>
                        </a:solidFill>
                        <a:effectLst/>
                      </a:endParaRPr>
                    </a:p>
                    <a:p>
                      <a:pPr marL="228600" indent="-228600" latinLnBrk="1">
                        <a:lnSpc>
                          <a:spcPct val="100000"/>
                        </a:lnSpc>
                        <a:buFont typeface="Wingdings" panose="05000000000000000000" pitchFamily="2" charset="2"/>
                        <a:buChar char="§"/>
                      </a:pPr>
                      <a:r>
                        <a:rPr lang="ko-KR" altLang="en-US" sz="1200" strike="noStrike" baseline="0" dirty="0">
                          <a:solidFill>
                            <a:schemeClr val="tx1"/>
                          </a:solidFill>
                          <a:effectLst/>
                        </a:rPr>
                        <a:t>각 </a:t>
                      </a:r>
                      <a:r>
                        <a:rPr lang="ko-KR" altLang="en-US" sz="1200" strike="noStrike" baseline="0" dirty="0" err="1">
                          <a:solidFill>
                            <a:schemeClr val="tx1"/>
                          </a:solidFill>
                          <a:effectLst/>
                        </a:rPr>
                        <a:t>레플리카가</a:t>
                      </a:r>
                      <a:r>
                        <a:rPr lang="ko-KR" altLang="en-US" sz="1200" strike="noStrike" baseline="0" dirty="0">
                          <a:solidFill>
                            <a:schemeClr val="tx1"/>
                          </a:solidFill>
                          <a:effectLst/>
                        </a:rPr>
                        <a:t> 전체 서버의 </a:t>
                      </a:r>
                      <a:r>
                        <a:rPr lang="en-US" altLang="ko-KR" sz="1200" strike="noStrike" baseline="0" dirty="0">
                          <a:solidFill>
                            <a:schemeClr val="tx1"/>
                          </a:solidFill>
                          <a:effectLst/>
                        </a:rPr>
                        <a:t>State</a:t>
                      </a:r>
                      <a:r>
                        <a:rPr lang="ko-KR" altLang="en-US" sz="1200" strike="noStrike" baseline="0" dirty="0">
                          <a:solidFill>
                            <a:schemeClr val="tx1"/>
                          </a:solidFill>
                          <a:effectLst/>
                        </a:rPr>
                        <a:t>를 처리하므로 서버 </a:t>
                      </a:r>
                      <a:r>
                        <a:rPr lang="ko-KR" altLang="en-US" sz="1200" strike="noStrike" baseline="0" dirty="0" err="1">
                          <a:solidFill>
                            <a:schemeClr val="tx1"/>
                          </a:solidFill>
                          <a:effectLst/>
                        </a:rPr>
                        <a:t>확장시</a:t>
                      </a:r>
                      <a:r>
                        <a:rPr lang="ko-KR" altLang="en-US" sz="1200" strike="noStrike" baseline="0" dirty="0">
                          <a:solidFill>
                            <a:schemeClr val="tx1"/>
                          </a:solidFill>
                          <a:effectLst/>
                        </a:rPr>
                        <a:t> 갱신 부하 </a:t>
                      </a:r>
                      <a:endParaRPr lang="en-US" altLang="ko-KR" sz="1200" strike="noStrike" baseline="0" dirty="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tc>
                <a:extLst>
                  <a:ext uri="{0D108BD9-81ED-4DB2-BD59-A6C34878D82A}">
                    <a16:rowId xmlns:a16="http://schemas.microsoft.com/office/drawing/2014/main" val="3982029663"/>
                  </a:ext>
                </a:extLst>
              </a:tr>
              <a:tr h="541238">
                <a:tc>
                  <a:txBody>
                    <a:bodyPr/>
                    <a:lstStyle/>
                    <a:p>
                      <a:pPr algn="ctr" latinLnBrk="1"/>
                      <a:r>
                        <a:rPr lang="en-US" altLang="ko-KR" sz="1200">
                          <a:solidFill>
                            <a:schemeClr val="tx1">
                              <a:lumMod val="50000"/>
                              <a:lumOff val="50000"/>
                            </a:schemeClr>
                          </a:solidFill>
                        </a:rPr>
                        <a:t>Tradeoff</a:t>
                      </a:r>
                      <a:endParaRPr lang="ko-KR" altLang="en-US" sz="1200" dirty="0">
                        <a:solidFill>
                          <a:schemeClr val="tx1">
                            <a:lumMod val="50000"/>
                            <a:lumOff val="50000"/>
                          </a:schemeClr>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a:t>
                      </a:r>
                      <a:r>
                        <a:rPr lang="en-US" altLang="ko-KR" sz="10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a:t>
                      </a:r>
                      <a:r>
                        <a:rPr lang="en-US" altLang="ko-KR" sz="1000" b="0" strike="noStrike" dirty="0">
                          <a:solidFill>
                            <a:schemeClr val="tx1"/>
                          </a:solidFill>
                        </a:rPr>
                        <a:t>(</a:t>
                      </a:r>
                      <a:r>
                        <a:rPr lang="en-US" altLang="ko-KR" sz="1000" b="0" strike="noStrike" dirty="0" err="1">
                          <a:solidFill>
                            <a:schemeClr val="tx1"/>
                          </a:solidFill>
                        </a:rPr>
                        <a:t>ms</a:t>
                      </a:r>
                      <a:r>
                        <a:rPr lang="en-US" altLang="ko-KR" sz="10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r>
                        <a:rPr lang="en-US" altLang="ko-KR" sz="1000" b="0" strike="noStrike" dirty="0">
                          <a:solidFill>
                            <a:schemeClr val="tx1"/>
                          </a:solidFill>
                        </a:rPr>
                        <a:t>(</a:t>
                      </a:r>
                      <a:r>
                        <a:rPr lang="ko-KR" altLang="en-US" sz="1000" b="0" strike="noStrike" dirty="0">
                          <a:solidFill>
                            <a:schemeClr val="tx1"/>
                          </a:solidFill>
                        </a:rPr>
                        <a:t>토큰 비용</a:t>
                      </a:r>
                      <a:r>
                        <a:rPr lang="en-US" altLang="ko-KR" sz="1000" b="0" strike="noStrike" dirty="0">
                          <a:solidFill>
                            <a:schemeClr val="tx1"/>
                          </a:solidFill>
                        </a:rPr>
                        <a:t>, M/M</a:t>
                      </a:r>
                      <a:r>
                        <a:rPr lang="en-US" altLang="ko-KR" sz="1000" b="0" strike="noStrike" baseline="0" dirty="0">
                          <a:solidFill>
                            <a:schemeClr val="tx1"/>
                          </a:solidFill>
                        </a:rPr>
                        <a:t>, </a:t>
                      </a:r>
                      <a:r>
                        <a:rPr lang="ko-KR" altLang="en-US" sz="1000" b="0" strike="noStrike" baseline="0" dirty="0">
                          <a:solidFill>
                            <a:schemeClr val="tx1"/>
                          </a:solidFill>
                        </a:rPr>
                        <a:t>모듈 수</a:t>
                      </a:r>
                      <a:r>
                        <a:rPr lang="en-US" altLang="ko-KR" sz="1000" b="0" strike="noStrike" dirty="0">
                          <a:solidFill>
                            <a:schemeClr val="tx1"/>
                          </a:solidFill>
                        </a:rPr>
                        <a:t>)</a:t>
                      </a:r>
                    </a:p>
                    <a:p>
                      <a:pPr marL="228600" indent="-228600" latinLnBrk="1">
                        <a:lnSpc>
                          <a:spcPct val="100000"/>
                        </a:lnSpc>
                        <a:buFont typeface="Wingdings" panose="05000000000000000000" pitchFamily="2" charset="2"/>
                        <a:buChar char="§"/>
                      </a:pPr>
                      <a:r>
                        <a:rPr lang="en-US" altLang="ko-KR" sz="1200" b="0" strike="noStrike" baseline="0" dirty="0">
                          <a:solidFill>
                            <a:schemeClr val="tx1"/>
                          </a:solidFill>
                        </a:rPr>
                        <a:t>Scalability</a:t>
                      </a:r>
                      <a:r>
                        <a:rPr lang="en-US" altLang="ko-KR" sz="1000" b="0" strike="noStrike" baseline="0" dirty="0">
                          <a:solidFill>
                            <a:schemeClr val="tx1"/>
                          </a:solidFill>
                        </a:rPr>
                        <a:t>(Scaling Efficiency)</a:t>
                      </a:r>
                      <a:endParaRPr lang="en-US" altLang="ko-KR" sz="1000" b="0" strike="noStrike"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b="0" dirty="0">
                          <a:solidFill>
                            <a:srgbClr val="1A1A1A"/>
                          </a:solidFill>
                          <a:latin typeface="+mn-lt"/>
                          <a:ea typeface="맑은 고딕"/>
                        </a:rPr>
                        <a:t>★★☆</a:t>
                      </a:r>
                      <a:r>
                        <a:rPr lang="ko-KR" altLang="en-US" sz="1050" b="0" strike="noStrike" baseline="0" dirty="0">
                          <a:solidFill>
                            <a:schemeClr val="tx1"/>
                          </a:solidFill>
                          <a:latin typeface="맑은 고딕" panose="020B0503020000020004" pitchFamily="50" charset="-127"/>
                          <a:ea typeface="+mn-ea"/>
                        </a:rPr>
                        <a:t> </a:t>
                      </a:r>
                      <a:r>
                        <a:rPr lang="en-US" altLang="ko-KR" sz="1050" b="0" strike="noStrike" baseline="0" dirty="0">
                          <a:solidFill>
                            <a:schemeClr val="tx1"/>
                          </a:solidFill>
                          <a:latin typeface="맑은 고딕" panose="020B0503020000020004" pitchFamily="50" charset="-127"/>
                          <a:ea typeface="+mn-ea"/>
                        </a:rPr>
                        <a:t>3,360</a:t>
                      </a:r>
                      <a:r>
                        <a:rPr lang="en-US" altLang="ko-KR" sz="800" strike="noStrike" baseline="0" dirty="0">
                          <a:solidFill>
                            <a:schemeClr val="tx1"/>
                          </a:solidFill>
                          <a:latin typeface="맑은 고딕" panose="020B0503020000020004" pitchFamily="50" charset="-127"/>
                          <a:ea typeface="+mn-ea"/>
                        </a:rPr>
                        <a:t>(x1.05)</a:t>
                      </a:r>
                      <a:endParaRPr lang="en-US" altLang="ko-KR" sz="9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b="0" dirty="0">
                          <a:solidFill>
                            <a:srgbClr val="1A1A1A"/>
                          </a:solidFill>
                          <a:latin typeface="+mn-lt"/>
                          <a:ea typeface="맑은 고딕"/>
                        </a:rPr>
                        <a:t>★★☆</a:t>
                      </a:r>
                      <a:r>
                        <a:rPr lang="ko-KR" altLang="en-US" sz="1050" strike="noStrike" dirty="0">
                          <a:solidFill>
                            <a:schemeClr val="tx1"/>
                          </a:solidFill>
                          <a:latin typeface="맑은 고딕" panose="020B0503020000020004" pitchFamily="50" charset="-127"/>
                          <a:ea typeface="+mn-ea"/>
                        </a:rPr>
                        <a:t> </a:t>
                      </a:r>
                      <a:r>
                        <a:rPr lang="en-US" altLang="ko-KR" sz="1050" b="0" dirty="0">
                          <a:solidFill>
                            <a:srgbClr val="000000"/>
                          </a:solidFill>
                          <a:latin typeface="+mn-lt"/>
                          <a:ea typeface="맑은 고딕"/>
                        </a:rPr>
                        <a:t>2,060</a:t>
                      </a:r>
                      <a:r>
                        <a:rPr lang="en-US" altLang="ko-KR" sz="800" b="0" dirty="0">
                          <a:solidFill>
                            <a:srgbClr val="000000"/>
                          </a:solidFill>
                          <a:latin typeface="+mn-lt"/>
                          <a:ea typeface="맑은 고딕"/>
                        </a:rPr>
                        <a:t>(×0.90)</a:t>
                      </a:r>
                      <a:r>
                        <a:rPr lang="en-US" altLang="ko-KR" sz="1050" b="0" dirty="0">
                          <a:solidFill>
                            <a:srgbClr val="000000"/>
                          </a:solidFill>
                          <a:latin typeface="+mn-lt"/>
                          <a:ea typeface="맑은 고딕"/>
                        </a:rPr>
                        <a:t>,</a:t>
                      </a:r>
                      <a:r>
                        <a:rPr lang="en-US" altLang="ko-KR" sz="1050" b="0" baseline="0" dirty="0">
                          <a:solidFill>
                            <a:srgbClr val="000000"/>
                          </a:solidFill>
                          <a:latin typeface="+mn-lt"/>
                          <a:ea typeface="맑은 고딕"/>
                        </a:rPr>
                        <a:t> </a:t>
                      </a:r>
                      <a:r>
                        <a:rPr lang="en-US" altLang="ko-KR" sz="1050" b="0" dirty="0">
                          <a:solidFill>
                            <a:srgbClr val="000000"/>
                          </a:solidFill>
                          <a:latin typeface="+mn-lt"/>
                          <a:ea typeface="맑은 고딕"/>
                        </a:rPr>
                        <a:t>48</a:t>
                      </a:r>
                      <a:r>
                        <a:rPr lang="en-US" altLang="ko-KR" sz="800" b="0" dirty="0">
                          <a:solidFill>
                            <a:srgbClr val="000000"/>
                          </a:solidFill>
                          <a:latin typeface="+mn-lt"/>
                          <a:ea typeface="맑은 고딕"/>
                        </a:rPr>
                        <a:t>(×0.91)</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b="0" dirty="0">
                          <a:solidFill>
                            <a:srgbClr val="1A1A1A"/>
                          </a:solidFill>
                          <a:latin typeface="+mn-lt"/>
                          <a:ea typeface="맑은 고딕"/>
                        </a:rPr>
                        <a:t>★★☆</a:t>
                      </a:r>
                      <a:r>
                        <a:rPr lang="ko-KR" altLang="en-US" sz="1050" strike="noStrike" dirty="0">
                          <a:solidFill>
                            <a:schemeClr val="tx1"/>
                          </a:solidFill>
                          <a:latin typeface="맑은 고딕" panose="020B0503020000020004" pitchFamily="50" charset="-127"/>
                          <a:ea typeface="+mn-ea"/>
                        </a:rPr>
                        <a:t> </a:t>
                      </a:r>
                      <a:r>
                        <a:rPr lang="en-US" altLang="ko-KR" sz="1050" b="0" dirty="0">
                          <a:solidFill>
                            <a:srgbClr val="000000"/>
                          </a:solidFill>
                          <a:latin typeface="+mn-lt"/>
                          <a:ea typeface="맑은 고딕"/>
                        </a:rPr>
                        <a:t>$1.28,</a:t>
                      </a:r>
                      <a:r>
                        <a:rPr lang="en-US" altLang="ko-KR" sz="1050" b="0" baseline="0" dirty="0">
                          <a:solidFill>
                            <a:srgbClr val="000000"/>
                          </a:solidFill>
                          <a:latin typeface="+mn-lt"/>
                          <a:ea typeface="맑은 고딕"/>
                        </a:rPr>
                        <a:t> 3.9, 3.1</a:t>
                      </a:r>
                      <a:endParaRPr lang="en-US" altLang="ko-KR" sz="105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b="0" dirty="0">
                          <a:solidFill>
                            <a:srgbClr val="1A1A1A"/>
                          </a:solidFill>
                          <a:latin typeface="+mn-lt"/>
                          <a:ea typeface="맑은 고딕"/>
                        </a:rPr>
                        <a:t>★</a:t>
                      </a:r>
                      <a:r>
                        <a:rPr lang="ko-KR" altLang="en-US" sz="1050" b="0" dirty="0">
                          <a:solidFill>
                            <a:schemeClr val="accent1"/>
                          </a:solidFill>
                          <a:latin typeface="+mn-lt"/>
                          <a:ea typeface="맑은 고딕"/>
                        </a:rPr>
                        <a:t>★★</a:t>
                      </a:r>
                      <a:r>
                        <a:rPr lang="ko-KR" altLang="en-US" sz="1050" strike="noStrike" dirty="0">
                          <a:solidFill>
                            <a:schemeClr val="tx1"/>
                          </a:solidFill>
                          <a:latin typeface="맑은 고딕" panose="020B0503020000020004" pitchFamily="50" charset="-127"/>
                          <a:ea typeface="+mn-ea"/>
                        </a:rPr>
                        <a:t> </a:t>
                      </a:r>
                      <a:r>
                        <a:rPr lang="en-US" altLang="ko-KR" sz="1050" strike="noStrike" dirty="0">
                          <a:solidFill>
                            <a:schemeClr val="tx1"/>
                          </a:solidFill>
                          <a:latin typeface="맑은 고딕" panose="020B0503020000020004" pitchFamily="50" charset="-127"/>
                          <a:ea typeface="+mn-ea"/>
                        </a:rPr>
                        <a:t>93%</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처리량</a:t>
                      </a:r>
                      <a:r>
                        <a:rPr lang="en-US" altLang="ko-KR" sz="1000" b="0" strike="noStrike" dirty="0">
                          <a:solidFill>
                            <a:schemeClr val="tx1"/>
                          </a:solidFill>
                        </a:rPr>
                        <a:t>(tokens/second)</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Performance </a:t>
                      </a:r>
                      <a:r>
                        <a:rPr lang="ko-KR" altLang="en-US" sz="1200" b="0" strike="noStrike" dirty="0">
                          <a:solidFill>
                            <a:schemeClr val="tx1"/>
                          </a:solidFill>
                        </a:rPr>
                        <a:t>시간</a:t>
                      </a:r>
                      <a:r>
                        <a:rPr lang="en-US" altLang="ko-KR" sz="1000" b="0" strike="noStrike" dirty="0">
                          <a:solidFill>
                            <a:schemeClr val="tx1"/>
                          </a:solidFill>
                        </a:rPr>
                        <a:t>(</a:t>
                      </a:r>
                      <a:r>
                        <a:rPr lang="en-US" altLang="ko-KR" sz="1000" b="0" strike="noStrike" dirty="0" err="1">
                          <a:solidFill>
                            <a:schemeClr val="tx1"/>
                          </a:solidFill>
                        </a:rPr>
                        <a:t>ms</a:t>
                      </a:r>
                      <a:r>
                        <a:rPr lang="en-US" altLang="ko-KR" sz="1000" b="0" strike="noStrike" dirty="0">
                          <a:solidFill>
                            <a:schemeClr val="tx1"/>
                          </a:solidFill>
                        </a:rPr>
                        <a:t>-TTFT,TPOT)</a:t>
                      </a:r>
                    </a:p>
                    <a:p>
                      <a:pPr marL="228600" indent="-228600" latinLnBrk="1">
                        <a:lnSpc>
                          <a:spcPct val="100000"/>
                        </a:lnSpc>
                        <a:buFont typeface="Wingdings" panose="05000000000000000000" pitchFamily="2" charset="2"/>
                        <a:buChar char="§"/>
                      </a:pPr>
                      <a:r>
                        <a:rPr lang="en-US" altLang="ko-KR" sz="1200" b="0" strike="noStrike" dirty="0">
                          <a:solidFill>
                            <a:schemeClr val="tx1"/>
                          </a:solidFill>
                        </a:rPr>
                        <a:t>Modifiability</a:t>
                      </a:r>
                      <a:r>
                        <a:rPr lang="en-US" altLang="ko-KR" sz="1000" b="0" strike="noStrike" dirty="0">
                          <a:solidFill>
                            <a:schemeClr val="tx1"/>
                          </a:solidFill>
                        </a:rPr>
                        <a:t>(</a:t>
                      </a:r>
                      <a:r>
                        <a:rPr lang="ko-KR" altLang="en-US" sz="1000" b="0" strike="noStrike" dirty="0">
                          <a:solidFill>
                            <a:schemeClr val="tx1"/>
                          </a:solidFill>
                        </a:rPr>
                        <a:t>토큰 비용</a:t>
                      </a:r>
                      <a:r>
                        <a:rPr lang="en-US" altLang="ko-KR" sz="1000" b="0" strike="noStrike" dirty="0">
                          <a:solidFill>
                            <a:schemeClr val="tx1"/>
                          </a:solidFill>
                        </a:rPr>
                        <a:t>, M/M</a:t>
                      </a:r>
                      <a:r>
                        <a:rPr lang="en-US" altLang="ko-KR" sz="1000" b="0" strike="noStrike" baseline="0" dirty="0">
                          <a:solidFill>
                            <a:schemeClr val="tx1"/>
                          </a:solidFill>
                        </a:rPr>
                        <a:t>, </a:t>
                      </a:r>
                      <a:r>
                        <a:rPr lang="ko-KR" altLang="en-US" sz="1000" b="0" strike="noStrike" baseline="0" dirty="0">
                          <a:solidFill>
                            <a:schemeClr val="tx1"/>
                          </a:solidFill>
                        </a:rPr>
                        <a:t>모듈 수</a:t>
                      </a:r>
                      <a:r>
                        <a:rPr lang="en-US" altLang="ko-KR" sz="1000" b="0" strike="noStrike" baseline="0" dirty="0">
                          <a:solidFill>
                            <a:schemeClr val="tx1"/>
                          </a:solidFill>
                        </a:rPr>
                        <a:t>)</a:t>
                      </a:r>
                    </a:p>
                    <a:p>
                      <a:pPr marL="228600" indent="-228600" latinLnBrk="1">
                        <a:lnSpc>
                          <a:spcPct val="100000"/>
                        </a:lnSpc>
                        <a:buFont typeface="Wingdings" panose="05000000000000000000" pitchFamily="2" charset="2"/>
                        <a:buChar char="§"/>
                      </a:pPr>
                      <a:r>
                        <a:rPr lang="en-US" altLang="ko-KR" sz="1200" b="0" strike="noStrike" baseline="0" dirty="0">
                          <a:solidFill>
                            <a:schemeClr val="tx1"/>
                          </a:solidFill>
                        </a:rPr>
                        <a:t>Scalability</a:t>
                      </a:r>
                      <a:r>
                        <a:rPr lang="en-US" altLang="ko-KR" sz="1000" b="0" strike="noStrike" baseline="0" dirty="0">
                          <a:solidFill>
                            <a:schemeClr val="tx1"/>
                          </a:solidFill>
                        </a:rPr>
                        <a:t>(Scaling Efficiency)</a:t>
                      </a:r>
                      <a:endParaRPr lang="en-US" altLang="ko-KR" sz="1000" b="0" strike="noStrike"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b="0" strike="noStrike" baseline="0" dirty="0">
                          <a:solidFill>
                            <a:schemeClr val="tx1"/>
                          </a:solidFill>
                          <a:latin typeface="맑은 고딕" panose="020B0503020000020004" pitchFamily="50" charset="-127"/>
                          <a:ea typeface="+mn-ea"/>
                        </a:rPr>
                        <a:t> </a:t>
                      </a:r>
                      <a:r>
                        <a:rPr kumimoji="0" lang="en-US" altLang="ko-KR" sz="1050" b="0" i="0" u="none" strike="noStrike" kern="1200" cap="none" spc="0" normalizeH="0" baseline="0" noProof="0" dirty="0">
                          <a:ln>
                            <a:noFill/>
                          </a:ln>
                          <a:solidFill>
                            <a:srgbClr val="000000"/>
                          </a:solidFill>
                          <a:effectLst/>
                          <a:uLnTx/>
                          <a:uFillTx/>
                          <a:latin typeface="+mn-lt"/>
                          <a:ea typeface="맑은 고딕"/>
                          <a:cs typeface="+mn-cs"/>
                        </a:rPr>
                        <a:t>3,340</a:t>
                      </a:r>
                      <a:r>
                        <a:rPr kumimoji="0" lang="en-US" altLang="ko-KR" sz="800" b="0" i="0" u="none" strike="noStrike" kern="1200" cap="none" spc="0" normalizeH="0" baseline="0" noProof="0" dirty="0">
                          <a:ln>
                            <a:noFill/>
                          </a:ln>
                          <a:solidFill>
                            <a:srgbClr val="000000"/>
                          </a:solidFill>
                          <a:effectLst/>
                          <a:uLnTx/>
                          <a:uFillTx/>
                          <a:latin typeface="+mn-lt"/>
                          <a:ea typeface="맑은 고딕"/>
                          <a:cs typeface="+mn-cs"/>
                        </a:rPr>
                        <a:t>(×1.04)</a:t>
                      </a:r>
                      <a:endParaRPr lang="en-US" altLang="ko-KR" sz="800" strike="noStrike" dirty="0">
                        <a:solidFill>
                          <a:schemeClr val="tx1"/>
                        </a:solidFill>
                        <a:latin typeface="맑은 고딕" panose="020B0503020000020004" pitchFamily="50" charset="-127"/>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b="0" dirty="0">
                          <a:solidFill>
                            <a:srgbClr val="0000FF"/>
                          </a:solidFill>
                          <a:latin typeface="+mn-lt"/>
                          <a:ea typeface="맑은 고딕"/>
                        </a:rPr>
                        <a:t>★</a:t>
                      </a:r>
                      <a:r>
                        <a:rPr lang="ko-KR" altLang="en-US" sz="1200" b="0" dirty="0">
                          <a:solidFill>
                            <a:srgbClr val="1A1A1A"/>
                          </a:solidFill>
                          <a:latin typeface="+mn-lt"/>
                          <a:ea typeface="맑은 고딕"/>
                        </a:rPr>
                        <a:t> </a:t>
                      </a:r>
                      <a:r>
                        <a:rPr lang="en-US" altLang="ko-KR" sz="1050" b="0" dirty="0">
                          <a:solidFill>
                            <a:srgbClr val="1A1A1A"/>
                          </a:solidFill>
                          <a:latin typeface="+mn-lt"/>
                          <a:ea typeface="맑은 고딕"/>
                        </a:rPr>
                        <a:t>1,940</a:t>
                      </a:r>
                      <a:r>
                        <a:rPr lang="en-US" altLang="ko-KR" sz="800" b="0" dirty="0">
                          <a:solidFill>
                            <a:srgbClr val="1A1A1A"/>
                          </a:solidFill>
                          <a:latin typeface="+mn-lt"/>
                          <a:ea typeface="맑은 고딕"/>
                        </a:rPr>
                        <a:t>(×0.84)</a:t>
                      </a:r>
                      <a:r>
                        <a:rPr lang="en-US" altLang="ko-KR" sz="1050" b="0" dirty="0">
                          <a:solidFill>
                            <a:srgbClr val="1A1A1A"/>
                          </a:solidFill>
                          <a:latin typeface="+mn-lt"/>
                          <a:ea typeface="맑은 고딕"/>
                        </a:rPr>
                        <a:t>, 48</a:t>
                      </a:r>
                      <a:r>
                        <a:rPr lang="en-US" altLang="ko-KR" sz="800" b="0" dirty="0">
                          <a:solidFill>
                            <a:srgbClr val="1A1A1A"/>
                          </a:solidFill>
                          <a:latin typeface="+mn-lt"/>
                          <a:ea typeface="맑은 고딕"/>
                        </a:rPr>
                        <a:t>(×0.91)</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b="0" dirty="0">
                          <a:solidFill>
                            <a:srgbClr val="0000FF"/>
                          </a:solidFill>
                          <a:latin typeface="+mn-lt"/>
                          <a:ea typeface="맑은 고딕"/>
                        </a:rPr>
                        <a:t>★</a:t>
                      </a:r>
                      <a:r>
                        <a:rPr lang="ko-KR" altLang="en-US" sz="1200" b="0" dirty="0">
                          <a:solidFill>
                            <a:srgbClr val="1A1A1A"/>
                          </a:solidFill>
                          <a:latin typeface="+mn-lt"/>
                          <a:ea typeface="맑은 고딕"/>
                        </a:rPr>
                        <a:t> </a:t>
                      </a:r>
                      <a:r>
                        <a:rPr lang="en-US" altLang="ko-KR" sz="1050" b="0" dirty="0">
                          <a:solidFill>
                            <a:srgbClr val="1A1A1A"/>
                          </a:solidFill>
                          <a:latin typeface="+mn-lt"/>
                          <a:ea typeface="맑은 고딕"/>
                        </a:rPr>
                        <a:t>$0.38, 2.6, 1.9</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dirty="0">
                          <a:solidFill>
                            <a:srgbClr val="1A1A1A"/>
                          </a:solidFill>
                          <a:latin typeface="+mn-lt"/>
                          <a:ea typeface="맑은 고딕"/>
                        </a:rPr>
                        <a:t>★☆☆</a:t>
                      </a:r>
                      <a:r>
                        <a:rPr lang="ko-KR" altLang="en-US" sz="1200" strike="noStrike" dirty="0">
                          <a:solidFill>
                            <a:schemeClr val="tx1"/>
                          </a:solidFill>
                          <a:latin typeface="맑은 고딕" panose="020B0503020000020004" pitchFamily="50" charset="-127"/>
                          <a:ea typeface="+mn-ea"/>
                        </a:rPr>
                        <a:t> </a:t>
                      </a:r>
                      <a:r>
                        <a:rPr lang="en-US" altLang="ko-KR" sz="1050" strike="noStrike" dirty="0">
                          <a:solidFill>
                            <a:schemeClr val="tx1"/>
                          </a:solidFill>
                          <a:latin typeface="맑은 고딕" panose="020B0503020000020004" pitchFamily="50" charset="-127"/>
                          <a:ea typeface="+mn-ea"/>
                        </a:rPr>
                        <a:t>64%</a:t>
                      </a:r>
                      <a:endParaRPr lang="en-US" altLang="ko-KR" sz="1200" strike="noStrike" dirty="0">
                        <a:solidFill>
                          <a:schemeClr val="tx1"/>
                        </a:solidFill>
                        <a:latin typeface="맑은 고딕" panose="020B0503020000020004" pitchFamily="50" charset="-127"/>
                        <a:ea typeface="+mn-ea"/>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06895241"/>
                  </a:ext>
                </a:extLst>
              </a:tr>
            </a:tbl>
          </a:graphicData>
        </a:graphic>
      </p:graphicFrame>
      <p:sp>
        <p:nvSpPr>
          <p:cNvPr id="3" name="제목 2"/>
          <p:cNvSpPr>
            <a:spLocks noGrp="1"/>
          </p:cNvSpPr>
          <p:nvPr>
            <p:ph type="title"/>
          </p:nvPr>
        </p:nvSpPr>
        <p:spPr>
          <a:xfrm>
            <a:off x="234949" y="137379"/>
            <a:ext cx="7631530" cy="365125"/>
          </a:xfrm>
        </p:spPr>
        <p:txBody>
          <a:bodyPr/>
          <a:lstStyle/>
          <a:p>
            <a:r>
              <a:rPr lang="en-US" altLang="ko-KR" dirty="0"/>
              <a:t>DP4. </a:t>
            </a:r>
            <a:r>
              <a:rPr lang="en-US" altLang="ko-KR" dirty="0" err="1"/>
              <a:t>요청</a:t>
            </a:r>
            <a:r>
              <a:rPr lang="en-US" altLang="ko-KR" dirty="0"/>
              <a:t> </a:t>
            </a:r>
            <a:r>
              <a:rPr lang="en-US" altLang="ko-KR" dirty="0" err="1"/>
              <a:t>조율</a:t>
            </a:r>
            <a:r>
              <a:rPr lang="en-US" altLang="ko-KR" dirty="0"/>
              <a:t> </a:t>
            </a:r>
            <a:r>
              <a:rPr lang="en-US" altLang="ko-KR" dirty="0" err="1"/>
              <a:t>계층</a:t>
            </a:r>
            <a:r>
              <a:rPr lang="en-US" altLang="ko-KR" dirty="0"/>
              <a:t> (Orchestration) </a:t>
            </a:r>
            <a:r>
              <a:rPr lang="en-US" altLang="ko-KR" dirty="0" err="1"/>
              <a:t>설계</a:t>
            </a:r>
            <a:r>
              <a:rPr lang="en-US" altLang="ko-KR" dirty="0"/>
              <a:t> - </a:t>
            </a:r>
            <a:r>
              <a:rPr lang="en-US" altLang="ko-KR" dirty="0" err="1"/>
              <a:t>구조</a:t>
            </a:r>
            <a:endParaRPr lang="ko-KR" altLang="en-US" dirty="0"/>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a:solidFill>
                  <a:schemeClr val="bg1"/>
                </a:solidFill>
              </a:rPr>
              <a:t>요청을 어떤 서버로 전달할 것인가</a:t>
            </a:r>
            <a:r>
              <a:rPr lang="en-US" altLang="ko-KR" sz="1400" b="1" dirty="0">
                <a:solidFill>
                  <a:schemeClr val="bg1"/>
                </a:solidFill>
              </a:rPr>
              <a:t>(</a:t>
            </a:r>
            <a:r>
              <a:rPr lang="ko-KR" altLang="en-US" sz="1400" b="1" dirty="0">
                <a:solidFill>
                  <a:schemeClr val="bg1"/>
                </a:solidFill>
              </a:rPr>
              <a:t>요청 조율</a:t>
            </a:r>
            <a:r>
              <a:rPr lang="en-US" altLang="ko-KR" sz="1400" b="1" dirty="0">
                <a:solidFill>
                  <a:schemeClr val="bg1"/>
                </a:solidFill>
              </a:rPr>
              <a:t>)</a:t>
            </a:r>
            <a:r>
              <a:rPr lang="ko-KR" altLang="en-US" sz="1400" b="1" dirty="0">
                <a:solidFill>
                  <a:schemeClr val="bg1"/>
                </a:solidFill>
              </a:rPr>
              <a:t>를 담당하는 계층 설계</a:t>
            </a: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8865760" y="629703"/>
            <a:ext cx="743834"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a:t>
            </a:r>
            <a:endParaRPr lang="ko-KR" altLang="en-US" sz="900" b="1" dirty="0">
              <a:latin typeface="맑은 고딕" panose="020B0503020000020004" pitchFamily="50" charset="-127"/>
              <a:ea typeface="맑은 고딕" panose="020B0503020000020004" pitchFamily="50" charset="-127"/>
            </a:endParaRPr>
          </a:p>
        </p:txBody>
      </p:sp>
      <p:sp>
        <p:nvSpPr>
          <p:cNvPr id="31" name="모서리가 둥근 직사각형 30"/>
          <p:cNvSpPr/>
          <p:nvPr/>
        </p:nvSpPr>
        <p:spPr>
          <a:xfrm>
            <a:off x="9673910" y="629703"/>
            <a:ext cx="735941"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Q2</a:t>
            </a:r>
            <a:endParaRPr lang="ko-KR" altLang="en-US" sz="900" b="1" dirty="0">
              <a:latin typeface="맑은 고딕" panose="020B0503020000020004" pitchFamily="50" charset="-127"/>
              <a:ea typeface="맑은 고딕" panose="020B0503020000020004" pitchFamily="50" charset="-127"/>
            </a:endParaRPr>
          </a:p>
        </p:txBody>
      </p:sp>
      <p:sp>
        <p:nvSpPr>
          <p:cNvPr id="32" name="모서리가 둥근 직사각형 31"/>
          <p:cNvSpPr/>
          <p:nvPr/>
        </p:nvSpPr>
        <p:spPr>
          <a:xfrm>
            <a:off x="11187937"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rPr>
              <a:t>C2</a:t>
            </a:r>
            <a:endParaRPr lang="ko-KR" altLang="en-US" sz="900" b="1" dirty="0">
              <a:latin typeface="맑은 고딕" panose="020B0503020000020004" pitchFamily="50" charset="-127"/>
            </a:endParaRPr>
          </a:p>
        </p:txBody>
      </p:sp>
      <p:sp>
        <p:nvSpPr>
          <p:cNvPr id="38" name="모서리가 둥근 직사각형 37"/>
          <p:cNvSpPr/>
          <p:nvPr/>
        </p:nvSpPr>
        <p:spPr>
          <a:xfrm>
            <a:off x="8062711" y="627572"/>
            <a:ext cx="75847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0453490" y="627572"/>
            <a:ext cx="702289"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10</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1111250" y="1397380"/>
            <a:ext cx="5422899" cy="261610"/>
          </a:xfrm>
          <a:prstGeom prst="rect">
            <a:avLst/>
          </a:prstGeom>
          <a:noFill/>
        </p:spPr>
        <p:txBody>
          <a:bodyPr wrap="square" rtlCol="0">
            <a:spAutoFit/>
          </a:bodyPr>
          <a:lstStyle/>
          <a:p>
            <a:r>
              <a:rPr lang="ko-KR" altLang="en-US" sz="1100" dirty="0">
                <a:solidFill>
                  <a:srgbClr val="404040"/>
                </a:solidFill>
                <a:ea typeface="맑은 고딕"/>
              </a:rPr>
              <a:t>“검증된 </a:t>
            </a:r>
            <a:r>
              <a:rPr lang="en-US" altLang="ko-KR" sz="1100" dirty="0">
                <a:solidFill>
                  <a:srgbClr val="404040"/>
                </a:solidFill>
                <a:ea typeface="맑은 고딕"/>
              </a:rPr>
              <a:t>OSS </a:t>
            </a:r>
            <a:r>
              <a:rPr lang="ko-KR" altLang="en-US" sz="1100" dirty="0">
                <a:solidFill>
                  <a:srgbClr val="404040"/>
                </a:solidFill>
                <a:ea typeface="맑은 고딕"/>
              </a:rPr>
              <a:t>위에 설정</a:t>
            </a:r>
            <a:r>
              <a:rPr lang="en-US" altLang="ko-KR" sz="1100" dirty="0">
                <a:solidFill>
                  <a:srgbClr val="404040"/>
                </a:solidFill>
                <a:ea typeface="맑은 고딕"/>
              </a:rPr>
              <a:t>·</a:t>
            </a:r>
            <a:r>
              <a:rPr lang="ko-KR" altLang="en-US" sz="1100" dirty="0">
                <a:solidFill>
                  <a:srgbClr val="404040"/>
                </a:solidFill>
                <a:ea typeface="맑은 고딕"/>
              </a:rPr>
              <a:t>확장 모듈</a:t>
            </a:r>
            <a:r>
              <a:rPr lang="en-US" altLang="ko-KR" sz="1100" dirty="0">
                <a:solidFill>
                  <a:srgbClr val="404040"/>
                </a:solidFill>
                <a:ea typeface="맑은 고딕"/>
              </a:rPr>
              <a:t>(plugin)</a:t>
            </a:r>
            <a:r>
              <a:rPr lang="ko-KR" altLang="en-US" sz="1100" dirty="0">
                <a:solidFill>
                  <a:srgbClr val="404040"/>
                </a:solidFill>
                <a:ea typeface="맑은 고딕"/>
              </a:rPr>
              <a:t>로 이기종 메모리 인지 정책을 얹는 구조”</a:t>
            </a:r>
          </a:p>
        </p:txBody>
      </p:sp>
      <p:sp>
        <p:nvSpPr>
          <p:cNvPr id="106" name="TextBox 105"/>
          <p:cNvSpPr txBox="1"/>
          <p:nvPr/>
        </p:nvSpPr>
        <p:spPr>
          <a:xfrm>
            <a:off x="6534149" y="1383052"/>
            <a:ext cx="5448301" cy="430887"/>
          </a:xfrm>
          <a:prstGeom prst="rect">
            <a:avLst/>
          </a:prstGeom>
          <a:noFill/>
        </p:spPr>
        <p:txBody>
          <a:bodyPr wrap="square" rtlCol="0">
            <a:spAutoFit/>
          </a:bodyPr>
          <a:lstStyle/>
          <a:p>
            <a:r>
              <a:rPr lang="ko-KR" altLang="en-US" sz="1100" dirty="0">
                <a:solidFill>
                  <a:srgbClr val="404040"/>
                </a:solidFill>
                <a:ea typeface="맑은 고딕"/>
              </a:rPr>
              <a:t>“</a:t>
            </a:r>
            <a:r>
              <a:rPr lang="en-US" altLang="ko-KR" sz="1100" dirty="0">
                <a:solidFill>
                  <a:srgbClr val="404040"/>
                </a:solidFill>
                <a:ea typeface="맑은 고딕"/>
              </a:rPr>
              <a:t>Routing, Dispatching</a:t>
            </a:r>
            <a:r>
              <a:rPr lang="ko-KR" altLang="en-US" sz="1100" dirty="0">
                <a:solidFill>
                  <a:srgbClr val="404040"/>
                </a:solidFill>
                <a:ea typeface="맑은 고딕"/>
              </a:rPr>
              <a:t>을 한 프로세스에 모아 호출 경로를 줄이고</a:t>
            </a:r>
            <a:r>
              <a:rPr lang="en-US" altLang="ko-KR" sz="1100" dirty="0">
                <a:solidFill>
                  <a:srgbClr val="404040"/>
                </a:solidFill>
                <a:ea typeface="맑은 고딕"/>
              </a:rPr>
              <a:t>, </a:t>
            </a:r>
            <a:r>
              <a:rPr lang="ko-KR" altLang="en-US" sz="1100" dirty="0" err="1">
                <a:solidFill>
                  <a:srgbClr val="404040"/>
                </a:solidFill>
                <a:ea typeface="맑은 고딕"/>
              </a:rPr>
              <a:t>레플리카로</a:t>
            </a:r>
            <a:r>
              <a:rPr lang="ko-KR" altLang="en-US" sz="1100" dirty="0">
                <a:solidFill>
                  <a:srgbClr val="404040"/>
                </a:solidFill>
                <a:ea typeface="맑은 고딕"/>
              </a:rPr>
              <a:t> 늘리는 구조”</a:t>
            </a:r>
          </a:p>
        </p:txBody>
      </p:sp>
      <p:sp>
        <p:nvSpPr>
          <p:cNvPr id="546" name="실행 단추: 앞으로 또는 다음 545">
            <a:hlinkClick r:id="rId3" action="ppaction://hlinksldjump" highlightClick="1"/>
          </p:cNvPr>
          <p:cNvSpPr/>
          <p:nvPr/>
        </p:nvSpPr>
        <p:spPr>
          <a:xfrm>
            <a:off x="508836" y="3269217"/>
            <a:ext cx="311150" cy="27210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Rectangle 172"/>
          <p:cNvSpPr/>
          <p:nvPr/>
        </p:nvSpPr>
        <p:spPr>
          <a:xfrm>
            <a:off x="7337372" y="1782134"/>
            <a:ext cx="3566160" cy="2570877"/>
          </a:xfrm>
          <a:prstGeom prst="rect">
            <a:avLst/>
          </a:prstGeom>
          <a:solidFill>
            <a:srgbClr val="FFFFFF"/>
          </a:solidFill>
          <a:ln w="19050">
            <a:solidFill>
              <a:srgbClr val="C55A11"/>
            </a:solidFill>
          </a:ln>
          <a:effectLst/>
        </p:spPr>
        <p:txBody>
          <a:bodyPr rtlCol="0" anchor="ctr"/>
          <a:lstStyle/>
          <a:p>
            <a:pPr algn="ctr"/>
            <a:endParaRPr/>
          </a:p>
        </p:txBody>
      </p:sp>
      <p:sp>
        <p:nvSpPr>
          <p:cNvPr id="87" name="Rectangle 172"/>
          <p:cNvSpPr/>
          <p:nvPr/>
        </p:nvSpPr>
        <p:spPr>
          <a:xfrm>
            <a:off x="7293028" y="1814280"/>
            <a:ext cx="3566160" cy="2598429"/>
          </a:xfrm>
          <a:prstGeom prst="rect">
            <a:avLst/>
          </a:prstGeom>
          <a:solidFill>
            <a:srgbClr val="FFFFFF"/>
          </a:solidFill>
          <a:ln w="19050">
            <a:solidFill>
              <a:srgbClr val="C55A11"/>
            </a:solidFill>
          </a:ln>
          <a:effectLst/>
        </p:spPr>
        <p:txBody>
          <a:bodyPr rtlCol="0" anchor="ctr"/>
          <a:lstStyle/>
          <a:p>
            <a:pPr algn="ctr"/>
            <a:endParaRPr/>
          </a:p>
        </p:txBody>
      </p:sp>
      <p:cxnSp>
        <p:nvCxnSpPr>
          <p:cNvPr id="88" name="Connector 111"/>
          <p:cNvCxnSpPr/>
          <p:nvPr/>
        </p:nvCxnSpPr>
        <p:spPr>
          <a:xfrm>
            <a:off x="2103120" y="2861199"/>
            <a:ext cx="2971800" cy="0"/>
          </a:xfrm>
          <a:prstGeom prst="line">
            <a:avLst/>
          </a:prstGeom>
          <a:ln w="12700">
            <a:solidFill>
              <a:srgbClr val="404040"/>
            </a:solidFill>
            <a:tailEnd type="triangle"/>
          </a:ln>
        </p:spPr>
      </p:cxnSp>
      <p:sp>
        <p:nvSpPr>
          <p:cNvPr id="89" name="Rectangle 112"/>
          <p:cNvSpPr/>
          <p:nvPr/>
        </p:nvSpPr>
        <p:spPr>
          <a:xfrm>
            <a:off x="1234440" y="1827927"/>
            <a:ext cx="566928" cy="256032"/>
          </a:xfrm>
          <a:prstGeom prst="rect">
            <a:avLst/>
          </a:prstGeom>
          <a:solidFill>
            <a:srgbClr val="FFFFFF"/>
          </a:solidFill>
          <a:ln w="12700">
            <a:solidFill>
              <a:srgbClr val="7F7F7F"/>
            </a:solidFill>
          </a:ln>
          <a:effectLst/>
        </p:spPr>
        <p:txBody>
          <a:bodyPr wrap="square" lIns="36576" tIns="18288" rIns="36576" bIns="18288" rtlCol="0" anchor="ctr"/>
          <a:lstStyle/>
          <a:p>
            <a:pPr algn="ctr"/>
            <a:r>
              <a:rPr sz="800" b="1">
                <a:solidFill>
                  <a:srgbClr val="000000"/>
                </a:solidFill>
                <a:latin typeface="맑은 고딕"/>
                <a:ea typeface="맑은 고딕"/>
              </a:rPr>
              <a:t>Client</a:t>
            </a:r>
          </a:p>
        </p:txBody>
      </p:sp>
      <p:sp>
        <p:nvSpPr>
          <p:cNvPr id="90" name="Rectangle 113"/>
          <p:cNvSpPr/>
          <p:nvPr/>
        </p:nvSpPr>
        <p:spPr>
          <a:xfrm>
            <a:off x="1188719" y="2312559"/>
            <a:ext cx="973835" cy="640080"/>
          </a:xfrm>
          <a:prstGeom prst="rect">
            <a:avLst/>
          </a:prstGeom>
          <a:solidFill>
            <a:srgbClr val="FFFFFF"/>
          </a:solidFill>
          <a:ln w="15875">
            <a:solidFill>
              <a:srgbClr val="2E75B6"/>
            </a:solidFill>
          </a:ln>
          <a:effectLst/>
        </p:spPr>
        <p:txBody>
          <a:bodyPr rtlCol="0" anchor="ctr"/>
          <a:lstStyle/>
          <a:p>
            <a:pPr algn="ctr"/>
            <a:endParaRPr/>
          </a:p>
        </p:txBody>
      </p:sp>
      <p:sp>
        <p:nvSpPr>
          <p:cNvPr id="91" name="Rectangle 114"/>
          <p:cNvSpPr/>
          <p:nvPr/>
        </p:nvSpPr>
        <p:spPr>
          <a:xfrm>
            <a:off x="1188720" y="2312559"/>
            <a:ext cx="960120" cy="173736"/>
          </a:xfrm>
          <a:prstGeom prst="rect">
            <a:avLst/>
          </a:prstGeom>
          <a:solidFill>
            <a:srgbClr val="2E75B6"/>
          </a:solidFill>
          <a:ln w="12700">
            <a:solidFill>
              <a:srgbClr val="2E75B6"/>
            </a:solidFill>
          </a:ln>
          <a:effectLst/>
        </p:spPr>
        <p:txBody>
          <a:bodyPr wrap="square" lIns="45720" tIns="0" rIns="18288" bIns="0" rtlCol="0" anchor="ctr"/>
          <a:lstStyle/>
          <a:p>
            <a:pPr algn="l"/>
            <a:r>
              <a:rPr sz="800" b="1" dirty="0">
                <a:solidFill>
                  <a:srgbClr val="FFFFFF"/>
                </a:solidFill>
                <a:latin typeface="맑은 고딕"/>
                <a:ea typeface="맑은 고딕"/>
              </a:rPr>
              <a:t>«</a:t>
            </a:r>
            <a:r>
              <a:rPr lang="en-US" sz="800" b="1" dirty="0">
                <a:solidFill>
                  <a:srgbClr val="FFFFFF"/>
                </a:solidFill>
                <a:latin typeface="맑은 고딕"/>
                <a:ea typeface="맑은 고딕"/>
              </a:rPr>
              <a:t>process</a:t>
            </a:r>
            <a:r>
              <a:rPr sz="800" b="1" dirty="0">
                <a:solidFill>
                  <a:srgbClr val="FFFFFF"/>
                </a:solidFill>
                <a:latin typeface="맑은 고딕"/>
                <a:ea typeface="맑은 고딕"/>
              </a:rPr>
              <a:t>» </a:t>
            </a:r>
            <a:r>
              <a:rPr sz="800" b="1" dirty="0" err="1">
                <a:solidFill>
                  <a:srgbClr val="FFFFFF"/>
                </a:solidFill>
                <a:latin typeface="맑은 고딕"/>
                <a:ea typeface="맑은 고딕"/>
              </a:rPr>
              <a:t>프록시</a:t>
            </a:r>
            <a:endParaRPr sz="800" b="1" dirty="0">
              <a:solidFill>
                <a:srgbClr val="FFFFFF"/>
              </a:solidFill>
              <a:latin typeface="맑은 고딕"/>
              <a:ea typeface="맑은 고딕"/>
            </a:endParaRPr>
          </a:p>
        </p:txBody>
      </p:sp>
      <p:sp>
        <p:nvSpPr>
          <p:cNvPr id="92" name="Rectangle 123"/>
          <p:cNvSpPr/>
          <p:nvPr/>
        </p:nvSpPr>
        <p:spPr>
          <a:xfrm>
            <a:off x="2395728" y="1855359"/>
            <a:ext cx="2395728" cy="2583351"/>
          </a:xfrm>
          <a:prstGeom prst="rect">
            <a:avLst/>
          </a:prstGeom>
          <a:solidFill>
            <a:srgbClr val="FFFFFF"/>
          </a:solidFill>
          <a:ln w="15875">
            <a:solidFill>
              <a:srgbClr val="2F5597"/>
            </a:solidFill>
          </a:ln>
          <a:effectLst/>
        </p:spPr>
        <p:txBody>
          <a:bodyPr rtlCol="0" anchor="ctr"/>
          <a:lstStyle/>
          <a:p>
            <a:pPr algn="ctr"/>
            <a:endParaRPr/>
          </a:p>
        </p:txBody>
      </p:sp>
      <p:sp>
        <p:nvSpPr>
          <p:cNvPr id="93" name="Rectangle 124"/>
          <p:cNvSpPr/>
          <p:nvPr/>
        </p:nvSpPr>
        <p:spPr>
          <a:xfrm>
            <a:off x="2395728" y="1855359"/>
            <a:ext cx="2395728" cy="173736"/>
          </a:xfrm>
          <a:prstGeom prst="rect">
            <a:avLst/>
          </a:prstGeom>
          <a:solidFill>
            <a:srgbClr val="2F5597"/>
          </a:solidFill>
          <a:ln w="12700">
            <a:solidFill>
              <a:srgbClr val="2F5597"/>
            </a:solidFill>
          </a:ln>
          <a:effectLst/>
        </p:spPr>
        <p:txBody>
          <a:bodyPr wrap="square" lIns="45720" tIns="0" rIns="18288" bIns="0" rtlCol="0" anchor="ctr"/>
          <a:lstStyle/>
          <a:p>
            <a:pPr algn="l"/>
            <a:r>
              <a:rPr sz="800" b="1" dirty="0">
                <a:solidFill>
                  <a:srgbClr val="FFFFFF"/>
                </a:solidFill>
                <a:latin typeface="맑은 고딕"/>
                <a:ea typeface="맑은 고딕"/>
              </a:rPr>
              <a:t>«process» Router  (</a:t>
            </a:r>
            <a:r>
              <a:rPr sz="800" b="1" dirty="0" err="1">
                <a:solidFill>
                  <a:srgbClr val="FFFFFF"/>
                </a:solidFill>
                <a:latin typeface="맑은 고딕"/>
                <a:ea typeface="맑은 고딕"/>
              </a:rPr>
              <a:t>llm</a:t>
            </a:r>
            <a:r>
              <a:rPr sz="800" b="1" dirty="0">
                <a:solidFill>
                  <a:srgbClr val="FFFFFF"/>
                </a:solidFill>
                <a:latin typeface="맑은 고딕"/>
                <a:ea typeface="맑은 고딕"/>
              </a:rPr>
              <a:t>-d </a:t>
            </a:r>
            <a:r>
              <a:rPr sz="800" b="1" dirty="0" err="1">
                <a:solidFill>
                  <a:srgbClr val="FFFFFF"/>
                </a:solidFill>
                <a:latin typeface="맑은 고딕"/>
                <a:ea typeface="맑은 고딕"/>
              </a:rPr>
              <a:t>기준</a:t>
            </a:r>
            <a:r>
              <a:rPr sz="800" b="1" dirty="0">
                <a:solidFill>
                  <a:srgbClr val="FFFFFF"/>
                </a:solidFill>
                <a:latin typeface="맑은 고딕"/>
                <a:ea typeface="맑은 고딕"/>
              </a:rPr>
              <a:t>)</a:t>
            </a:r>
          </a:p>
        </p:txBody>
      </p:sp>
      <p:sp>
        <p:nvSpPr>
          <p:cNvPr id="94" name="Rectangle 125"/>
          <p:cNvSpPr/>
          <p:nvPr/>
        </p:nvSpPr>
        <p:spPr>
          <a:xfrm>
            <a:off x="2619756" y="2102247"/>
            <a:ext cx="777240" cy="384048"/>
          </a:xfrm>
          <a:prstGeom prst="rect">
            <a:avLst/>
          </a:prstGeom>
          <a:solidFill>
            <a:srgbClr val="DAE3F3"/>
          </a:solidFill>
          <a:ln w="12700">
            <a:solidFill>
              <a:srgbClr val="2F5597"/>
            </a:solidFill>
          </a:ln>
          <a:effectLst/>
        </p:spPr>
        <p:txBody>
          <a:bodyPr wrap="square" lIns="36576" tIns="18288" rIns="36576" bIns="18288" rtlCol="0" anchor="ctr"/>
          <a:lstStyle/>
          <a:p>
            <a:pPr algn="ctr"/>
            <a:r>
              <a:rPr sz="750" b="1" dirty="0" err="1">
                <a:solidFill>
                  <a:srgbClr val="000000"/>
                </a:solidFill>
                <a:latin typeface="맑은 고딕"/>
                <a:ea typeface="맑은 고딕"/>
              </a:rPr>
              <a:t>요청</a:t>
            </a:r>
            <a:r>
              <a:rPr sz="750" b="1" dirty="0">
                <a:solidFill>
                  <a:srgbClr val="000000"/>
                </a:solidFill>
                <a:latin typeface="맑은 고딕"/>
                <a:ea typeface="맑은 고딕"/>
              </a:rPr>
              <a:t> </a:t>
            </a:r>
            <a:r>
              <a:rPr sz="750" b="1" dirty="0" err="1">
                <a:solidFill>
                  <a:srgbClr val="000000"/>
                </a:solidFill>
                <a:latin typeface="맑은 고딕"/>
                <a:ea typeface="맑은 고딕"/>
              </a:rPr>
              <a:t>핸들러</a:t>
            </a:r>
            <a:endParaRPr sz="750" b="1" dirty="0">
              <a:solidFill>
                <a:srgbClr val="000000"/>
              </a:solidFill>
              <a:latin typeface="맑은 고딕"/>
              <a:ea typeface="맑은 고딕"/>
            </a:endParaRPr>
          </a:p>
        </p:txBody>
      </p:sp>
      <p:sp>
        <p:nvSpPr>
          <p:cNvPr id="95" name="Rectangle 126"/>
          <p:cNvSpPr/>
          <p:nvPr/>
        </p:nvSpPr>
        <p:spPr>
          <a:xfrm>
            <a:off x="2574036" y="2179056"/>
            <a:ext cx="91440" cy="54864"/>
          </a:xfrm>
          <a:prstGeom prst="rect">
            <a:avLst/>
          </a:prstGeom>
          <a:solidFill>
            <a:srgbClr val="DAE3F3"/>
          </a:solidFill>
          <a:ln w="9525">
            <a:solidFill>
              <a:srgbClr val="2F5597"/>
            </a:solidFill>
          </a:ln>
          <a:effectLst/>
        </p:spPr>
        <p:txBody>
          <a:bodyPr rtlCol="0" anchor="ctr"/>
          <a:lstStyle/>
          <a:p>
            <a:pPr algn="ctr"/>
            <a:endParaRPr/>
          </a:p>
        </p:txBody>
      </p:sp>
      <p:sp>
        <p:nvSpPr>
          <p:cNvPr id="96" name="Rectangle 127"/>
          <p:cNvSpPr/>
          <p:nvPr/>
        </p:nvSpPr>
        <p:spPr>
          <a:xfrm>
            <a:off x="2574036" y="2294271"/>
            <a:ext cx="91440" cy="54864"/>
          </a:xfrm>
          <a:prstGeom prst="rect">
            <a:avLst/>
          </a:prstGeom>
          <a:solidFill>
            <a:srgbClr val="DAE3F3"/>
          </a:solidFill>
          <a:ln w="9525">
            <a:solidFill>
              <a:srgbClr val="2F5597"/>
            </a:solidFill>
          </a:ln>
          <a:effectLst/>
        </p:spPr>
        <p:txBody>
          <a:bodyPr rtlCol="0" anchor="ctr"/>
          <a:lstStyle/>
          <a:p>
            <a:pPr algn="ctr"/>
            <a:endParaRPr/>
          </a:p>
        </p:txBody>
      </p:sp>
      <p:sp>
        <p:nvSpPr>
          <p:cNvPr id="99" name="Rectangle 132"/>
          <p:cNvSpPr/>
          <p:nvPr/>
        </p:nvSpPr>
        <p:spPr>
          <a:xfrm>
            <a:off x="2468880" y="2632599"/>
            <a:ext cx="1426464" cy="1677957"/>
          </a:xfrm>
          <a:prstGeom prst="rect">
            <a:avLst/>
          </a:prstGeom>
          <a:solidFill>
            <a:srgbClr val="FFFFFF"/>
          </a:solidFill>
          <a:ln w="12700">
            <a:solidFill>
              <a:srgbClr val="2F5597"/>
            </a:solidFill>
          </a:ln>
          <a:effectLst/>
        </p:spPr>
        <p:txBody>
          <a:bodyPr rtlCol="0" anchor="ctr"/>
          <a:lstStyle/>
          <a:p>
            <a:pPr algn="ctr"/>
            <a:endParaRPr/>
          </a:p>
        </p:txBody>
      </p:sp>
      <p:sp>
        <p:nvSpPr>
          <p:cNvPr id="100" name="Rectangle 133"/>
          <p:cNvSpPr/>
          <p:nvPr/>
        </p:nvSpPr>
        <p:spPr>
          <a:xfrm>
            <a:off x="2468880" y="2632599"/>
            <a:ext cx="1426464" cy="173736"/>
          </a:xfrm>
          <a:prstGeom prst="rect">
            <a:avLst/>
          </a:prstGeom>
          <a:solidFill>
            <a:srgbClr val="2F5597"/>
          </a:solidFill>
          <a:ln w="12700">
            <a:solidFill>
              <a:srgbClr val="2F5597"/>
            </a:solidFill>
          </a:ln>
          <a:effectLst/>
        </p:spPr>
        <p:txBody>
          <a:bodyPr wrap="square" lIns="36576" tIns="0" rIns="0" bIns="0" rtlCol="0" anchor="ctr"/>
          <a:lstStyle/>
          <a:p>
            <a:pPr algn="l"/>
            <a:r>
              <a:rPr sz="750" b="1" dirty="0">
                <a:solidFill>
                  <a:srgbClr val="FFFFFF"/>
                </a:solidFill>
                <a:latin typeface="맑은 고딕"/>
                <a:ea typeface="맑은 고딕"/>
              </a:rPr>
              <a:t>Scheduler</a:t>
            </a:r>
          </a:p>
        </p:txBody>
      </p:sp>
      <p:sp>
        <p:nvSpPr>
          <p:cNvPr id="102" name="Rectangle 135"/>
          <p:cNvSpPr/>
          <p:nvPr/>
        </p:nvSpPr>
        <p:spPr>
          <a:xfrm>
            <a:off x="2542032" y="2898744"/>
            <a:ext cx="1280160" cy="381258"/>
          </a:xfrm>
          <a:prstGeom prst="rect">
            <a:avLst/>
          </a:prstGeom>
          <a:solidFill>
            <a:srgbClr val="FFF2CC"/>
          </a:solidFill>
          <a:ln w="19050">
            <a:solidFill>
              <a:srgbClr val="BF9000"/>
            </a:solidFill>
          </a:ln>
          <a:effectLst/>
        </p:spPr>
        <p:txBody>
          <a:bodyPr wrap="square" lIns="36576" tIns="18288" rIns="36576" bIns="18288" rtlCol="0" anchor="ctr"/>
          <a:lstStyle/>
          <a:p>
            <a:pPr algn="ctr"/>
            <a:r>
              <a:rPr sz="750" b="1" dirty="0">
                <a:solidFill>
                  <a:srgbClr val="000000"/>
                </a:solidFill>
                <a:latin typeface="맑은 고딕"/>
                <a:ea typeface="맑은 고딕"/>
              </a:rPr>
              <a:t>Score</a:t>
            </a:r>
            <a:r>
              <a:rPr lang="en-US" sz="750" b="1" dirty="0">
                <a:solidFill>
                  <a:srgbClr val="000000"/>
                </a:solidFill>
                <a:latin typeface="맑은 고딕"/>
                <a:ea typeface="맑은 고딕"/>
              </a:rPr>
              <a:t>r</a:t>
            </a:r>
          </a:p>
          <a:p>
            <a:pPr algn="ctr"/>
            <a:r>
              <a:rPr lang="ko-KR" altLang="en-US" sz="750" dirty="0">
                <a:solidFill>
                  <a:srgbClr val="000000"/>
                </a:solidFill>
                <a:ea typeface="맑은 고딕"/>
              </a:rPr>
              <a:t>비용 기반 점수</a:t>
            </a:r>
          </a:p>
        </p:txBody>
      </p:sp>
      <p:sp>
        <p:nvSpPr>
          <p:cNvPr id="103" name="Rectangle 136"/>
          <p:cNvSpPr/>
          <p:nvPr/>
        </p:nvSpPr>
        <p:spPr>
          <a:xfrm>
            <a:off x="2542032" y="3348646"/>
            <a:ext cx="1280160" cy="392965"/>
          </a:xfrm>
          <a:prstGeom prst="rect">
            <a:avLst/>
          </a:prstGeom>
          <a:solidFill>
            <a:srgbClr val="FFF2CC"/>
          </a:solidFill>
          <a:ln w="19050">
            <a:solidFill>
              <a:srgbClr val="BF9000"/>
            </a:solidFill>
          </a:ln>
          <a:effectLst/>
        </p:spPr>
        <p:txBody>
          <a:bodyPr wrap="square" lIns="36576" tIns="18288" rIns="36576" bIns="18288" rtlCol="0" anchor="ctr"/>
          <a:lstStyle/>
          <a:p>
            <a:pPr algn="ctr"/>
            <a:r>
              <a:rPr lang="en-US" altLang="ko-KR" sz="750" b="1" dirty="0">
                <a:solidFill>
                  <a:srgbClr val="000000"/>
                </a:solidFill>
                <a:ea typeface="맑은 고딕"/>
              </a:rPr>
              <a:t>P/D </a:t>
            </a:r>
            <a:r>
              <a:rPr lang="ko-KR" altLang="en-US" sz="750" b="1" dirty="0">
                <a:solidFill>
                  <a:srgbClr val="000000"/>
                </a:solidFill>
                <a:ea typeface="맑은 고딕"/>
              </a:rPr>
              <a:t>결정 모듈</a:t>
            </a:r>
            <a:endParaRPr lang="en-US" altLang="ko-KR" sz="750" b="1" dirty="0">
              <a:solidFill>
                <a:srgbClr val="000000"/>
              </a:solidFill>
              <a:ea typeface="맑은 고딕"/>
            </a:endParaRPr>
          </a:p>
          <a:p>
            <a:pPr algn="ctr"/>
            <a:r>
              <a:rPr lang="ko-KR" altLang="en-US" sz="750" dirty="0">
                <a:solidFill>
                  <a:srgbClr val="000000"/>
                </a:solidFill>
                <a:ea typeface="맑은 고딕"/>
              </a:rPr>
              <a:t>점수 기반 </a:t>
            </a:r>
            <a:r>
              <a:rPr lang="en-US" altLang="ko-KR" sz="750" dirty="0">
                <a:solidFill>
                  <a:srgbClr val="000000"/>
                </a:solidFill>
                <a:ea typeface="맑은 고딕"/>
              </a:rPr>
              <a:t>P/D </a:t>
            </a:r>
            <a:r>
              <a:rPr lang="ko-KR" altLang="en-US" sz="750" dirty="0">
                <a:solidFill>
                  <a:srgbClr val="000000"/>
                </a:solidFill>
                <a:ea typeface="맑은 고딕"/>
              </a:rPr>
              <a:t>결정</a:t>
            </a:r>
          </a:p>
        </p:txBody>
      </p:sp>
      <p:cxnSp>
        <p:nvCxnSpPr>
          <p:cNvPr id="104" name="Connector 138"/>
          <p:cNvCxnSpPr/>
          <p:nvPr/>
        </p:nvCxnSpPr>
        <p:spPr>
          <a:xfrm>
            <a:off x="3840480" y="2486295"/>
            <a:ext cx="0" cy="146304"/>
          </a:xfrm>
          <a:prstGeom prst="line">
            <a:avLst/>
          </a:prstGeom>
          <a:ln w="15875">
            <a:solidFill>
              <a:srgbClr val="404040"/>
            </a:solidFill>
            <a:tailEnd type="triangle"/>
          </a:ln>
        </p:spPr>
      </p:cxnSp>
      <p:sp>
        <p:nvSpPr>
          <p:cNvPr id="105" name="Rectangle 139"/>
          <p:cNvSpPr/>
          <p:nvPr/>
        </p:nvSpPr>
        <p:spPr>
          <a:xfrm>
            <a:off x="4023360" y="2632599"/>
            <a:ext cx="713232" cy="1677957"/>
          </a:xfrm>
          <a:prstGeom prst="rect">
            <a:avLst/>
          </a:prstGeom>
          <a:solidFill>
            <a:srgbClr val="FFFFFF"/>
          </a:solidFill>
          <a:ln w="12700">
            <a:solidFill>
              <a:srgbClr val="2F5597"/>
            </a:solidFill>
          </a:ln>
          <a:effectLst/>
        </p:spPr>
        <p:txBody>
          <a:bodyPr rtlCol="0" anchor="ctr"/>
          <a:lstStyle/>
          <a:p>
            <a:pPr algn="ctr"/>
            <a:endParaRPr/>
          </a:p>
        </p:txBody>
      </p:sp>
      <p:sp>
        <p:nvSpPr>
          <p:cNvPr id="107" name="Rectangle 140"/>
          <p:cNvSpPr/>
          <p:nvPr/>
        </p:nvSpPr>
        <p:spPr>
          <a:xfrm>
            <a:off x="4023360" y="2632599"/>
            <a:ext cx="713232" cy="173736"/>
          </a:xfrm>
          <a:prstGeom prst="rect">
            <a:avLst/>
          </a:prstGeom>
          <a:solidFill>
            <a:srgbClr val="2F5597"/>
          </a:solidFill>
          <a:ln w="12700">
            <a:solidFill>
              <a:srgbClr val="2F5597"/>
            </a:solidFill>
          </a:ln>
          <a:effectLst/>
        </p:spPr>
        <p:txBody>
          <a:bodyPr wrap="square" lIns="27432" tIns="0" rIns="0" bIns="0" rtlCol="0" anchor="ctr"/>
          <a:lstStyle/>
          <a:p>
            <a:pPr algn="l"/>
            <a:r>
              <a:rPr sz="700" b="1" dirty="0" err="1">
                <a:solidFill>
                  <a:srgbClr val="FFFFFF"/>
                </a:solidFill>
                <a:latin typeface="맑은 고딕"/>
                <a:ea typeface="맑은 고딕"/>
              </a:rPr>
              <a:t>상태</a:t>
            </a:r>
            <a:r>
              <a:rPr sz="700" b="1" dirty="0">
                <a:solidFill>
                  <a:srgbClr val="FFFFFF"/>
                </a:solidFill>
                <a:latin typeface="맑은 고딕"/>
                <a:ea typeface="맑은 고딕"/>
              </a:rPr>
              <a:t> </a:t>
            </a:r>
            <a:r>
              <a:rPr sz="700" b="1" dirty="0" err="1">
                <a:solidFill>
                  <a:srgbClr val="FFFFFF"/>
                </a:solidFill>
                <a:latin typeface="맑은 고딕"/>
                <a:ea typeface="맑은 고딕"/>
              </a:rPr>
              <a:t>계층</a:t>
            </a:r>
            <a:endParaRPr sz="700" b="1" dirty="0">
              <a:solidFill>
                <a:srgbClr val="FFFFFF"/>
              </a:solidFill>
              <a:latin typeface="맑은 고딕"/>
              <a:ea typeface="맑은 고딕"/>
            </a:endParaRPr>
          </a:p>
        </p:txBody>
      </p:sp>
      <p:sp>
        <p:nvSpPr>
          <p:cNvPr id="108" name="Rectangle 141"/>
          <p:cNvSpPr/>
          <p:nvPr/>
        </p:nvSpPr>
        <p:spPr>
          <a:xfrm>
            <a:off x="4069080" y="2900536"/>
            <a:ext cx="621792" cy="343501"/>
          </a:xfrm>
          <a:prstGeom prst="rect">
            <a:avLst/>
          </a:prstGeom>
          <a:solidFill>
            <a:srgbClr val="DAE3F3"/>
          </a:solidFill>
          <a:ln w="12700">
            <a:solidFill>
              <a:srgbClr val="2F5597"/>
            </a:solidFill>
          </a:ln>
          <a:effectLst/>
        </p:spPr>
        <p:txBody>
          <a:bodyPr wrap="square" lIns="36576" tIns="18288" rIns="36576" bIns="18288" rtlCol="0" anchor="ctr"/>
          <a:lstStyle/>
          <a:p>
            <a:pPr algn="ctr"/>
            <a:r>
              <a:rPr sz="750" b="1" dirty="0">
                <a:solidFill>
                  <a:srgbClr val="000000"/>
                </a:solidFill>
                <a:latin typeface="맑은 고딕"/>
                <a:ea typeface="맑은 고딕"/>
              </a:rPr>
              <a:t>KV Indexer</a:t>
            </a:r>
          </a:p>
        </p:txBody>
      </p:sp>
      <p:sp>
        <p:nvSpPr>
          <p:cNvPr id="109" name="Rectangle 142"/>
          <p:cNvSpPr/>
          <p:nvPr/>
        </p:nvSpPr>
        <p:spPr>
          <a:xfrm>
            <a:off x="4069080" y="3333293"/>
            <a:ext cx="621792" cy="343501"/>
          </a:xfrm>
          <a:prstGeom prst="rect">
            <a:avLst/>
          </a:prstGeom>
          <a:solidFill>
            <a:srgbClr val="FFFFFF"/>
          </a:solidFill>
          <a:ln w="19050">
            <a:solidFill>
              <a:srgbClr val="BF9000"/>
            </a:solidFill>
            <a:prstDash val="dash"/>
          </a:ln>
          <a:effectLst/>
        </p:spPr>
        <p:txBody>
          <a:bodyPr wrap="square" lIns="36576" tIns="18288" rIns="36576" bIns="18288" rtlCol="0" anchor="ctr"/>
          <a:lstStyle/>
          <a:p>
            <a:pPr algn="ctr"/>
            <a:r>
              <a:rPr sz="650" b="0" dirty="0" err="1">
                <a:solidFill>
                  <a:srgbClr val="000000"/>
                </a:solidFill>
                <a:latin typeface="맑은 고딕"/>
                <a:ea typeface="맑은 고딕"/>
              </a:rPr>
              <a:t>메모리</a:t>
            </a:r>
            <a:r>
              <a:rPr sz="650" b="0" dirty="0">
                <a:solidFill>
                  <a:srgbClr val="000000"/>
                </a:solidFill>
                <a:latin typeface="맑은 고딕"/>
                <a:ea typeface="맑은 고딕"/>
              </a:rPr>
              <a:t> </a:t>
            </a:r>
            <a:r>
              <a:rPr sz="650" b="0" dirty="0" err="1">
                <a:solidFill>
                  <a:srgbClr val="000000"/>
                </a:solidFill>
                <a:latin typeface="맑은 고딕"/>
                <a:ea typeface="맑은 고딕"/>
              </a:rPr>
              <a:t>종류</a:t>
            </a:r>
            <a:r>
              <a:rPr sz="650" b="0" dirty="0">
                <a:solidFill>
                  <a:srgbClr val="000000"/>
                </a:solidFill>
                <a:latin typeface="맑은 고딕"/>
                <a:ea typeface="맑은 고딕"/>
              </a:rPr>
              <a:t> </a:t>
            </a:r>
            <a:r>
              <a:rPr sz="650" b="0" dirty="0" err="1">
                <a:solidFill>
                  <a:srgbClr val="000000"/>
                </a:solidFill>
                <a:latin typeface="맑은 고딕"/>
                <a:ea typeface="맑은 고딕"/>
              </a:rPr>
              <a:t>가중치</a:t>
            </a:r>
            <a:endParaRPr sz="650" b="0" dirty="0">
              <a:solidFill>
                <a:srgbClr val="000000"/>
              </a:solidFill>
              <a:latin typeface="맑은 고딕"/>
              <a:ea typeface="맑은 고딕"/>
            </a:endParaRPr>
          </a:p>
        </p:txBody>
      </p:sp>
      <p:sp>
        <p:nvSpPr>
          <p:cNvPr id="110" name="Rectangle 143"/>
          <p:cNvSpPr/>
          <p:nvPr/>
        </p:nvSpPr>
        <p:spPr>
          <a:xfrm>
            <a:off x="4069080" y="3824283"/>
            <a:ext cx="621792" cy="343501"/>
          </a:xfrm>
          <a:prstGeom prst="rect">
            <a:avLst/>
          </a:prstGeom>
          <a:solidFill>
            <a:srgbClr val="FFFFFF"/>
          </a:solidFill>
          <a:ln w="19050">
            <a:solidFill>
              <a:srgbClr val="BF9000"/>
            </a:solidFill>
            <a:prstDash val="dash"/>
          </a:ln>
          <a:effectLst/>
        </p:spPr>
        <p:txBody>
          <a:bodyPr wrap="square" lIns="36576" tIns="18288" rIns="36576" bIns="18288" rtlCol="0" anchor="ctr"/>
          <a:lstStyle/>
          <a:p>
            <a:pPr algn="ctr"/>
            <a:r>
              <a:rPr sz="650" b="0" dirty="0" err="1">
                <a:solidFill>
                  <a:srgbClr val="000000"/>
                </a:solidFill>
                <a:latin typeface="맑은 고딕"/>
                <a:ea typeface="맑은 고딕"/>
              </a:rPr>
              <a:t>실시간</a:t>
            </a:r>
            <a:r>
              <a:rPr sz="650" b="0" dirty="0">
                <a:solidFill>
                  <a:srgbClr val="000000"/>
                </a:solidFill>
                <a:latin typeface="맑은 고딕"/>
                <a:ea typeface="맑은 고딕"/>
              </a:rPr>
              <a:t> </a:t>
            </a:r>
            <a:r>
              <a:rPr sz="650" b="0" dirty="0" err="1">
                <a:solidFill>
                  <a:srgbClr val="000000"/>
                </a:solidFill>
                <a:latin typeface="맑은 고딕"/>
                <a:ea typeface="맑은 고딕"/>
              </a:rPr>
              <a:t>상태</a:t>
            </a:r>
            <a:r>
              <a:rPr sz="650" b="0" dirty="0">
                <a:solidFill>
                  <a:srgbClr val="000000"/>
                </a:solidFill>
                <a:latin typeface="맑은 고딕"/>
                <a:ea typeface="맑은 고딕"/>
              </a:rPr>
              <a:t> </a:t>
            </a:r>
            <a:r>
              <a:rPr sz="650" b="0" dirty="0" err="1">
                <a:solidFill>
                  <a:srgbClr val="000000"/>
                </a:solidFill>
                <a:latin typeface="맑은 고딕"/>
                <a:ea typeface="맑은 고딕"/>
              </a:rPr>
              <a:t>수치</a:t>
            </a:r>
            <a:endParaRPr sz="650" b="0" dirty="0">
              <a:solidFill>
                <a:srgbClr val="000000"/>
              </a:solidFill>
              <a:latin typeface="맑은 고딕"/>
              <a:ea typeface="맑은 고딕"/>
            </a:endParaRPr>
          </a:p>
        </p:txBody>
      </p:sp>
      <p:cxnSp>
        <p:nvCxnSpPr>
          <p:cNvPr id="111" name="Connector 144"/>
          <p:cNvCxnSpPr/>
          <p:nvPr/>
        </p:nvCxnSpPr>
        <p:spPr>
          <a:xfrm flipH="1">
            <a:off x="3895344" y="3272679"/>
            <a:ext cx="128016" cy="0"/>
          </a:xfrm>
          <a:prstGeom prst="line">
            <a:avLst/>
          </a:prstGeom>
          <a:ln w="15875">
            <a:solidFill>
              <a:srgbClr val="404040"/>
            </a:solidFill>
            <a:tailEnd type="triangle"/>
          </a:ln>
        </p:spPr>
      </p:cxnSp>
      <p:cxnSp>
        <p:nvCxnSpPr>
          <p:cNvPr id="112" name="Connector 155"/>
          <p:cNvCxnSpPr/>
          <p:nvPr/>
        </p:nvCxnSpPr>
        <p:spPr>
          <a:xfrm>
            <a:off x="1517904" y="2083959"/>
            <a:ext cx="0" cy="228600"/>
          </a:xfrm>
          <a:prstGeom prst="line">
            <a:avLst/>
          </a:prstGeom>
          <a:ln w="15875">
            <a:solidFill>
              <a:srgbClr val="404040"/>
            </a:solidFill>
            <a:tailEnd type="triangle"/>
          </a:ln>
        </p:spPr>
      </p:cxnSp>
      <p:sp>
        <p:nvSpPr>
          <p:cNvPr id="113" name="Oval 156"/>
          <p:cNvSpPr/>
          <p:nvPr/>
        </p:nvSpPr>
        <p:spPr>
          <a:xfrm>
            <a:off x="1275588" y="2125107"/>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1</a:t>
            </a:r>
          </a:p>
        </p:txBody>
      </p:sp>
      <p:cxnSp>
        <p:nvCxnSpPr>
          <p:cNvPr id="120" name="Connector 157"/>
          <p:cNvCxnSpPr/>
          <p:nvPr/>
        </p:nvCxnSpPr>
        <p:spPr>
          <a:xfrm flipV="1">
            <a:off x="2103120" y="2294271"/>
            <a:ext cx="438912" cy="384048"/>
          </a:xfrm>
          <a:prstGeom prst="line">
            <a:avLst/>
          </a:prstGeom>
          <a:ln w="15875">
            <a:solidFill>
              <a:srgbClr val="404040"/>
            </a:solidFill>
            <a:headEnd type="triangle"/>
            <a:tailEnd type="triangle"/>
          </a:ln>
        </p:spPr>
      </p:cxnSp>
      <p:sp>
        <p:nvSpPr>
          <p:cNvPr id="121" name="Oval 158"/>
          <p:cNvSpPr/>
          <p:nvPr/>
        </p:nvSpPr>
        <p:spPr>
          <a:xfrm>
            <a:off x="2208276" y="2335419"/>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2</a:t>
            </a:r>
          </a:p>
        </p:txBody>
      </p:sp>
      <p:sp>
        <p:nvSpPr>
          <p:cNvPr id="125" name="Oval 159"/>
          <p:cNvSpPr/>
          <p:nvPr/>
        </p:nvSpPr>
        <p:spPr>
          <a:xfrm>
            <a:off x="4807959" y="2617141"/>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3</a:t>
            </a:r>
          </a:p>
        </p:txBody>
      </p:sp>
      <p:cxnSp>
        <p:nvCxnSpPr>
          <p:cNvPr id="126" name="Connector 163"/>
          <p:cNvCxnSpPr/>
          <p:nvPr/>
        </p:nvCxnSpPr>
        <p:spPr>
          <a:xfrm flipH="1">
            <a:off x="4736592" y="4278519"/>
            <a:ext cx="338328" cy="0"/>
          </a:xfrm>
          <a:prstGeom prst="line">
            <a:avLst/>
          </a:prstGeom>
          <a:ln w="15875">
            <a:solidFill>
              <a:srgbClr val="404040"/>
            </a:solidFill>
            <a:tailEnd type="triangle"/>
          </a:ln>
        </p:spPr>
      </p:cxnSp>
      <p:sp>
        <p:nvSpPr>
          <p:cNvPr id="131" name="Oval 164"/>
          <p:cNvSpPr/>
          <p:nvPr/>
        </p:nvSpPr>
        <p:spPr>
          <a:xfrm>
            <a:off x="4805172" y="4086495"/>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6</a:t>
            </a:r>
          </a:p>
        </p:txBody>
      </p:sp>
      <p:sp>
        <p:nvSpPr>
          <p:cNvPr id="132" name="Rectangle 167"/>
          <p:cNvSpPr/>
          <p:nvPr/>
        </p:nvSpPr>
        <p:spPr>
          <a:xfrm>
            <a:off x="1188720" y="4518732"/>
            <a:ext cx="1261872" cy="155448"/>
          </a:xfrm>
          <a:prstGeom prst="rect">
            <a:avLst/>
          </a:prstGeom>
          <a:solidFill>
            <a:srgbClr val="DAE3F3"/>
          </a:solidFill>
          <a:ln w="12700">
            <a:solidFill>
              <a:srgbClr val="2F5597"/>
            </a:solidFill>
          </a:ln>
          <a:effectLst/>
        </p:spPr>
        <p:txBody>
          <a:bodyPr wrap="square" lIns="36576" tIns="18288" rIns="36576" bIns="18288" rtlCol="0" anchor="ctr"/>
          <a:lstStyle/>
          <a:p>
            <a:pPr algn="ctr"/>
            <a:r>
              <a:rPr sz="700" b="1" dirty="0" err="1">
                <a:solidFill>
                  <a:srgbClr val="000000"/>
                </a:solidFill>
                <a:latin typeface="맑은 고딕"/>
                <a:ea typeface="맑은 고딕"/>
              </a:rPr>
              <a:t>기존</a:t>
            </a:r>
            <a:r>
              <a:rPr sz="700" b="1" dirty="0">
                <a:solidFill>
                  <a:srgbClr val="000000"/>
                </a:solidFill>
                <a:latin typeface="맑은 고딕"/>
                <a:ea typeface="맑은 고딕"/>
              </a:rPr>
              <a:t> OSS </a:t>
            </a:r>
            <a:r>
              <a:rPr sz="700" b="1" dirty="0" err="1">
                <a:solidFill>
                  <a:srgbClr val="000000"/>
                </a:solidFill>
                <a:latin typeface="맑은 고딕"/>
                <a:ea typeface="맑은 고딕"/>
              </a:rPr>
              <a:t>그대로</a:t>
            </a:r>
            <a:endParaRPr sz="700" b="1" dirty="0">
              <a:solidFill>
                <a:srgbClr val="000000"/>
              </a:solidFill>
              <a:latin typeface="맑은 고딕"/>
              <a:ea typeface="맑은 고딕"/>
            </a:endParaRPr>
          </a:p>
        </p:txBody>
      </p:sp>
      <p:sp>
        <p:nvSpPr>
          <p:cNvPr id="133" name="Rectangle 168"/>
          <p:cNvSpPr/>
          <p:nvPr/>
        </p:nvSpPr>
        <p:spPr>
          <a:xfrm>
            <a:off x="2505456" y="4518732"/>
            <a:ext cx="1261872" cy="155448"/>
          </a:xfrm>
          <a:prstGeom prst="rect">
            <a:avLst/>
          </a:prstGeom>
          <a:solidFill>
            <a:srgbClr val="FFF2CC"/>
          </a:solidFill>
          <a:ln w="19050">
            <a:solidFill>
              <a:srgbClr val="BF9000"/>
            </a:solidFill>
          </a:ln>
          <a:effectLst/>
        </p:spPr>
        <p:txBody>
          <a:bodyPr wrap="square" lIns="36576" tIns="18288" rIns="36576" bIns="18288" rtlCol="0" anchor="ctr"/>
          <a:lstStyle/>
          <a:p>
            <a:pPr algn="ctr"/>
            <a:r>
              <a:rPr sz="700" b="1" dirty="0">
                <a:solidFill>
                  <a:srgbClr val="000000"/>
                </a:solidFill>
                <a:latin typeface="맑은 고딕"/>
                <a:ea typeface="맑은 고딕"/>
              </a:rPr>
              <a:t>★ </a:t>
            </a:r>
            <a:r>
              <a:rPr sz="700" b="1" dirty="0" err="1">
                <a:solidFill>
                  <a:srgbClr val="000000"/>
                </a:solidFill>
                <a:latin typeface="맑은 고딕"/>
                <a:ea typeface="맑은 고딕"/>
              </a:rPr>
              <a:t>확장</a:t>
            </a:r>
            <a:r>
              <a:rPr sz="700" b="1" dirty="0">
                <a:solidFill>
                  <a:srgbClr val="000000"/>
                </a:solidFill>
                <a:latin typeface="맑은 고딕"/>
                <a:ea typeface="맑은 고딕"/>
              </a:rPr>
              <a:t> </a:t>
            </a:r>
            <a:r>
              <a:rPr sz="700" b="1" dirty="0" err="1">
                <a:solidFill>
                  <a:srgbClr val="000000"/>
                </a:solidFill>
                <a:latin typeface="맑은 고딕"/>
                <a:ea typeface="맑은 고딕"/>
              </a:rPr>
              <a:t>모듈</a:t>
            </a:r>
            <a:r>
              <a:rPr sz="700" b="1" dirty="0">
                <a:solidFill>
                  <a:srgbClr val="000000"/>
                </a:solidFill>
                <a:latin typeface="맑은 고딕"/>
                <a:ea typeface="맑은 고딕"/>
              </a:rPr>
              <a:t>(plugin)</a:t>
            </a:r>
          </a:p>
        </p:txBody>
      </p:sp>
      <p:sp>
        <p:nvSpPr>
          <p:cNvPr id="134" name="Rectangle 169"/>
          <p:cNvSpPr/>
          <p:nvPr/>
        </p:nvSpPr>
        <p:spPr>
          <a:xfrm>
            <a:off x="3822191" y="4518732"/>
            <a:ext cx="1261872" cy="155448"/>
          </a:xfrm>
          <a:prstGeom prst="rect">
            <a:avLst/>
          </a:prstGeom>
          <a:solidFill>
            <a:srgbClr val="FFFFFF"/>
          </a:solidFill>
          <a:ln w="19050">
            <a:solidFill>
              <a:srgbClr val="BF9000"/>
            </a:solidFill>
            <a:prstDash val="dash"/>
          </a:ln>
          <a:effectLst/>
        </p:spPr>
        <p:txBody>
          <a:bodyPr wrap="square" lIns="36576" tIns="18288" rIns="36576" bIns="18288" rtlCol="0" anchor="ctr"/>
          <a:lstStyle/>
          <a:p>
            <a:pPr algn="ctr"/>
            <a:r>
              <a:rPr sz="700" b="1">
                <a:solidFill>
                  <a:srgbClr val="000000"/>
                </a:solidFill>
                <a:latin typeface="맑은 고딕"/>
                <a:ea typeface="맑은 고딕"/>
              </a:rPr>
              <a:t>★ 설정만 변경</a:t>
            </a:r>
          </a:p>
        </p:txBody>
      </p:sp>
      <p:sp>
        <p:nvSpPr>
          <p:cNvPr id="135" name="Rectangle 125"/>
          <p:cNvSpPr/>
          <p:nvPr/>
        </p:nvSpPr>
        <p:spPr>
          <a:xfrm>
            <a:off x="3636263" y="2095897"/>
            <a:ext cx="777240" cy="384048"/>
          </a:xfrm>
          <a:prstGeom prst="rect">
            <a:avLst/>
          </a:prstGeom>
          <a:solidFill>
            <a:srgbClr val="DAE3F3"/>
          </a:solidFill>
          <a:ln w="12700">
            <a:solidFill>
              <a:srgbClr val="2F5597"/>
            </a:solidFill>
          </a:ln>
          <a:effectLst/>
        </p:spPr>
        <p:txBody>
          <a:bodyPr wrap="square" lIns="36576" tIns="18288" rIns="36576" bIns="18288" rtlCol="0" anchor="ctr"/>
          <a:lstStyle/>
          <a:p>
            <a:pPr algn="ctr"/>
            <a:r>
              <a:rPr lang="ko-KR" altLang="en-US" sz="750" b="1" dirty="0">
                <a:solidFill>
                  <a:srgbClr val="000000"/>
                </a:solidFill>
                <a:latin typeface="맑은 고딕"/>
                <a:ea typeface="맑은 고딕"/>
              </a:rPr>
              <a:t>큐</a:t>
            </a:r>
            <a:r>
              <a:rPr lang="en-US" altLang="ko-KR" sz="750" b="1" dirty="0">
                <a:solidFill>
                  <a:srgbClr val="000000"/>
                </a:solidFill>
                <a:latin typeface="맑은 고딕"/>
                <a:ea typeface="맑은 고딕"/>
              </a:rPr>
              <a:t>/Load</a:t>
            </a:r>
            <a:r>
              <a:rPr lang="ko-KR" altLang="en-US" sz="750" b="1" dirty="0">
                <a:solidFill>
                  <a:srgbClr val="000000"/>
                </a:solidFill>
                <a:latin typeface="맑은 고딕"/>
                <a:ea typeface="맑은 고딕"/>
              </a:rPr>
              <a:t> 제어</a:t>
            </a:r>
            <a:endParaRPr sz="750" b="1" dirty="0">
              <a:solidFill>
                <a:srgbClr val="000000"/>
              </a:solidFill>
              <a:latin typeface="맑은 고딕"/>
              <a:ea typeface="맑은 고딕"/>
            </a:endParaRPr>
          </a:p>
        </p:txBody>
      </p:sp>
      <p:sp>
        <p:nvSpPr>
          <p:cNvPr id="136" name="Rectangle 126"/>
          <p:cNvSpPr/>
          <p:nvPr/>
        </p:nvSpPr>
        <p:spPr>
          <a:xfrm>
            <a:off x="3590543" y="2172706"/>
            <a:ext cx="91440" cy="54864"/>
          </a:xfrm>
          <a:prstGeom prst="rect">
            <a:avLst/>
          </a:prstGeom>
          <a:solidFill>
            <a:srgbClr val="DAE3F3"/>
          </a:solidFill>
          <a:ln w="9525">
            <a:solidFill>
              <a:srgbClr val="2F5597"/>
            </a:solidFill>
          </a:ln>
          <a:effectLst/>
        </p:spPr>
        <p:txBody>
          <a:bodyPr rtlCol="0" anchor="ctr"/>
          <a:lstStyle/>
          <a:p>
            <a:pPr algn="ctr"/>
            <a:endParaRPr/>
          </a:p>
        </p:txBody>
      </p:sp>
      <p:sp>
        <p:nvSpPr>
          <p:cNvPr id="138" name="Rectangle 127"/>
          <p:cNvSpPr/>
          <p:nvPr/>
        </p:nvSpPr>
        <p:spPr>
          <a:xfrm>
            <a:off x="3590543" y="2287921"/>
            <a:ext cx="91440" cy="54864"/>
          </a:xfrm>
          <a:prstGeom prst="rect">
            <a:avLst/>
          </a:prstGeom>
          <a:solidFill>
            <a:srgbClr val="DAE3F3"/>
          </a:solidFill>
          <a:ln w="9525">
            <a:solidFill>
              <a:srgbClr val="2F5597"/>
            </a:solidFill>
          </a:ln>
          <a:effectLst/>
        </p:spPr>
        <p:txBody>
          <a:bodyPr rtlCol="0" anchor="ctr"/>
          <a:lstStyle/>
          <a:p>
            <a:pPr algn="ctr"/>
            <a:endParaRPr/>
          </a:p>
        </p:txBody>
      </p:sp>
      <p:sp>
        <p:nvSpPr>
          <p:cNvPr id="139" name="Rectangle 137"/>
          <p:cNvSpPr/>
          <p:nvPr/>
        </p:nvSpPr>
        <p:spPr>
          <a:xfrm>
            <a:off x="2542032" y="3812756"/>
            <a:ext cx="1280160" cy="389245"/>
          </a:xfrm>
          <a:prstGeom prst="rect">
            <a:avLst/>
          </a:prstGeom>
          <a:solidFill>
            <a:srgbClr val="FFF2CC"/>
          </a:solidFill>
          <a:ln w="19050">
            <a:solidFill>
              <a:srgbClr val="BF9000"/>
            </a:solidFill>
          </a:ln>
          <a:effectLst/>
        </p:spPr>
        <p:txBody>
          <a:bodyPr wrap="square" lIns="36576" tIns="18288" rIns="36576" bIns="18288" rtlCol="0" anchor="ctr"/>
          <a:lstStyle/>
          <a:p>
            <a:pPr algn="ctr"/>
            <a:r>
              <a:rPr lang="en-US" altLang="ko-KR" sz="750" b="1" dirty="0">
                <a:solidFill>
                  <a:srgbClr val="000000"/>
                </a:solidFill>
                <a:latin typeface="맑은 고딕"/>
                <a:ea typeface="맑은 고딕"/>
              </a:rPr>
              <a:t>P/D </a:t>
            </a:r>
            <a:r>
              <a:rPr lang="ko-KR" altLang="en-US" sz="750" b="1" dirty="0">
                <a:solidFill>
                  <a:srgbClr val="000000"/>
                </a:solidFill>
                <a:latin typeface="맑은 고딕"/>
                <a:ea typeface="맑은 고딕"/>
              </a:rPr>
              <a:t>보조 </a:t>
            </a:r>
            <a:endParaRPr lang="en-US" altLang="ko-KR" sz="750" b="1" dirty="0">
              <a:solidFill>
                <a:srgbClr val="000000"/>
              </a:solidFill>
              <a:latin typeface="맑은 고딕"/>
              <a:ea typeface="맑은 고딕"/>
            </a:endParaRPr>
          </a:p>
          <a:p>
            <a:pPr algn="ctr"/>
            <a:r>
              <a:rPr lang="ko-KR" altLang="en-US" sz="750" b="1" dirty="0">
                <a:solidFill>
                  <a:srgbClr val="000000"/>
                </a:solidFill>
                <a:latin typeface="맑은 고딕"/>
                <a:ea typeface="맑은 고딕"/>
              </a:rPr>
              <a:t>프로세스 통신</a:t>
            </a:r>
            <a:endParaRPr sz="750" b="1" dirty="0">
              <a:solidFill>
                <a:srgbClr val="000000"/>
              </a:solidFill>
              <a:latin typeface="맑은 고딕"/>
              <a:ea typeface="맑은 고딕"/>
            </a:endParaRPr>
          </a:p>
        </p:txBody>
      </p:sp>
      <p:sp>
        <p:nvSpPr>
          <p:cNvPr id="141" name="Rectangle 120"/>
          <p:cNvSpPr/>
          <p:nvPr/>
        </p:nvSpPr>
        <p:spPr>
          <a:xfrm>
            <a:off x="1275588" y="2542683"/>
            <a:ext cx="804672" cy="327660"/>
          </a:xfrm>
          <a:prstGeom prst="rect">
            <a:avLst/>
          </a:prstGeom>
          <a:solidFill>
            <a:srgbClr val="DAE3F3"/>
          </a:solidFill>
          <a:ln w="12700">
            <a:solidFill>
              <a:srgbClr val="2F5597"/>
            </a:solidFill>
          </a:ln>
          <a:effectLst/>
        </p:spPr>
        <p:txBody>
          <a:bodyPr wrap="square" lIns="36576" tIns="18288" rIns="36576" bIns="18288" rtlCol="0" anchor="ctr"/>
          <a:lstStyle/>
          <a:p>
            <a:pPr algn="ctr"/>
            <a:r>
              <a:rPr lang="ko-KR" altLang="en-US" sz="850" b="1" dirty="0">
                <a:solidFill>
                  <a:srgbClr val="000000"/>
                </a:solidFill>
                <a:latin typeface="맑은 고딕"/>
                <a:ea typeface="맑은 고딕"/>
              </a:rPr>
              <a:t>요청 </a:t>
            </a:r>
            <a:endParaRPr lang="en-US" altLang="ko-KR" sz="850" b="1" dirty="0">
              <a:solidFill>
                <a:srgbClr val="000000"/>
              </a:solidFill>
              <a:latin typeface="맑은 고딕"/>
              <a:ea typeface="맑은 고딕"/>
            </a:endParaRPr>
          </a:p>
          <a:p>
            <a:pPr algn="ctr"/>
            <a:r>
              <a:rPr lang="ko-KR" altLang="en-US" sz="850" b="1" dirty="0">
                <a:solidFill>
                  <a:srgbClr val="000000"/>
                </a:solidFill>
                <a:latin typeface="맑은 고딕"/>
                <a:ea typeface="맑은 고딕"/>
              </a:rPr>
              <a:t>전달</a:t>
            </a:r>
            <a:r>
              <a:rPr lang="en-US" altLang="ko-KR" sz="850" b="1" dirty="0">
                <a:solidFill>
                  <a:srgbClr val="000000"/>
                </a:solidFill>
                <a:latin typeface="맑은 고딕"/>
                <a:ea typeface="맑은 고딕"/>
              </a:rPr>
              <a:t>/</a:t>
            </a:r>
            <a:r>
              <a:rPr lang="ko-KR" altLang="en-US" sz="850" b="1" dirty="0">
                <a:solidFill>
                  <a:srgbClr val="000000"/>
                </a:solidFill>
                <a:latin typeface="맑은 고딕"/>
                <a:ea typeface="맑은 고딕"/>
              </a:rPr>
              <a:t>응답</a:t>
            </a:r>
            <a:endParaRPr sz="750" b="0" dirty="0">
              <a:solidFill>
                <a:srgbClr val="000000"/>
              </a:solidFill>
              <a:latin typeface="맑은 고딕"/>
              <a:ea typeface="맑은 고딕"/>
            </a:endParaRPr>
          </a:p>
        </p:txBody>
      </p:sp>
      <p:sp>
        <p:nvSpPr>
          <p:cNvPr id="142" name="Rectangle 146"/>
          <p:cNvSpPr/>
          <p:nvPr/>
        </p:nvSpPr>
        <p:spPr>
          <a:xfrm>
            <a:off x="5010912" y="1855359"/>
            <a:ext cx="1371600" cy="1554480"/>
          </a:xfrm>
          <a:prstGeom prst="rect">
            <a:avLst/>
          </a:prstGeom>
          <a:solidFill>
            <a:srgbClr val="FFFFFF"/>
          </a:solidFill>
          <a:ln w="15875">
            <a:solidFill>
              <a:srgbClr val="2E75B6"/>
            </a:solidFill>
          </a:ln>
          <a:effectLst/>
        </p:spPr>
        <p:txBody>
          <a:bodyPr rtlCol="0" anchor="ctr"/>
          <a:lstStyle/>
          <a:p>
            <a:pPr algn="ctr"/>
            <a:endParaRPr/>
          </a:p>
        </p:txBody>
      </p:sp>
      <p:sp>
        <p:nvSpPr>
          <p:cNvPr id="143" name="Rectangle 147"/>
          <p:cNvSpPr/>
          <p:nvPr/>
        </p:nvSpPr>
        <p:spPr>
          <a:xfrm>
            <a:off x="5010912" y="1855359"/>
            <a:ext cx="1371600" cy="173736"/>
          </a:xfrm>
          <a:prstGeom prst="rect">
            <a:avLst/>
          </a:prstGeom>
          <a:solidFill>
            <a:srgbClr val="2E75B6"/>
          </a:solidFill>
          <a:ln w="12700">
            <a:solidFill>
              <a:srgbClr val="2E75B6"/>
            </a:solidFill>
          </a:ln>
          <a:effectLst/>
        </p:spPr>
        <p:txBody>
          <a:bodyPr wrap="square" lIns="45720" tIns="0" rIns="18288" bIns="0" rtlCol="0" anchor="ctr"/>
          <a:lstStyle/>
          <a:p>
            <a:pPr algn="l"/>
            <a:r>
              <a:rPr sz="800" b="1">
                <a:solidFill>
                  <a:srgbClr val="FFFFFF"/>
                </a:solidFill>
                <a:latin typeface="맑은 고딕"/>
                <a:ea typeface="맑은 고딕"/>
              </a:rPr>
              <a:t>«pod» Decode 서버</a:t>
            </a:r>
          </a:p>
        </p:txBody>
      </p:sp>
      <p:sp>
        <p:nvSpPr>
          <p:cNvPr id="144" name="Rectangle 148"/>
          <p:cNvSpPr/>
          <p:nvPr/>
        </p:nvSpPr>
        <p:spPr>
          <a:xfrm>
            <a:off x="5084063" y="2074815"/>
            <a:ext cx="1243584" cy="822960"/>
          </a:xfrm>
          <a:prstGeom prst="rect">
            <a:avLst/>
          </a:prstGeom>
          <a:solidFill>
            <a:srgbClr val="FFFFFF"/>
          </a:solidFill>
          <a:ln w="12700">
            <a:solidFill>
              <a:srgbClr val="2F5597"/>
            </a:solidFill>
          </a:ln>
          <a:effectLst/>
        </p:spPr>
        <p:txBody>
          <a:bodyPr rtlCol="0" anchor="ctr"/>
          <a:lstStyle/>
          <a:p>
            <a:pPr algn="ctr"/>
            <a:endParaRPr/>
          </a:p>
        </p:txBody>
      </p:sp>
      <p:sp>
        <p:nvSpPr>
          <p:cNvPr id="145" name="Rectangle 149"/>
          <p:cNvSpPr/>
          <p:nvPr/>
        </p:nvSpPr>
        <p:spPr>
          <a:xfrm>
            <a:off x="5074920" y="2083959"/>
            <a:ext cx="1243584" cy="173736"/>
          </a:xfrm>
          <a:prstGeom prst="rect">
            <a:avLst/>
          </a:prstGeom>
          <a:solidFill>
            <a:srgbClr val="2F5597"/>
          </a:solidFill>
          <a:ln w="12700">
            <a:solidFill>
              <a:srgbClr val="2F5597"/>
            </a:solidFill>
          </a:ln>
          <a:effectLst/>
        </p:spPr>
        <p:txBody>
          <a:bodyPr wrap="square" lIns="36576" tIns="0" rIns="0" bIns="0" rtlCol="0" anchor="ctr"/>
          <a:lstStyle/>
          <a:p>
            <a:pPr algn="l"/>
            <a:r>
              <a:rPr sz="750" b="1" dirty="0">
                <a:solidFill>
                  <a:srgbClr val="FFFFFF"/>
                </a:solidFill>
                <a:latin typeface="맑은 고딕"/>
                <a:ea typeface="맑은 고딕"/>
              </a:rPr>
              <a:t>P/D </a:t>
            </a:r>
            <a:r>
              <a:rPr sz="750" b="1" dirty="0" err="1">
                <a:solidFill>
                  <a:srgbClr val="FFFFFF"/>
                </a:solidFill>
                <a:latin typeface="맑은 고딕"/>
                <a:ea typeface="맑은 고딕"/>
              </a:rPr>
              <a:t>보조</a:t>
            </a:r>
            <a:r>
              <a:rPr sz="750" b="1" dirty="0">
                <a:solidFill>
                  <a:srgbClr val="FFFFFF"/>
                </a:solidFill>
                <a:latin typeface="맑은 고딕"/>
                <a:ea typeface="맑은 고딕"/>
              </a:rPr>
              <a:t> </a:t>
            </a:r>
            <a:r>
              <a:rPr sz="750" b="1" dirty="0" err="1">
                <a:solidFill>
                  <a:srgbClr val="FFFFFF"/>
                </a:solidFill>
                <a:latin typeface="맑은 고딕"/>
                <a:ea typeface="맑은 고딕"/>
              </a:rPr>
              <a:t>프로세스</a:t>
            </a:r>
            <a:endParaRPr sz="750" b="1" dirty="0">
              <a:solidFill>
                <a:srgbClr val="FFFFFF"/>
              </a:solidFill>
              <a:latin typeface="맑은 고딕"/>
              <a:ea typeface="맑은 고딕"/>
            </a:endParaRPr>
          </a:p>
        </p:txBody>
      </p:sp>
      <p:sp>
        <p:nvSpPr>
          <p:cNvPr id="146" name="Rectangle 150"/>
          <p:cNvSpPr/>
          <p:nvPr/>
        </p:nvSpPr>
        <p:spPr>
          <a:xfrm>
            <a:off x="5120640" y="2303415"/>
            <a:ext cx="1152144" cy="548640"/>
          </a:xfrm>
          <a:prstGeom prst="rect">
            <a:avLst/>
          </a:prstGeom>
          <a:solidFill>
            <a:srgbClr val="FFFFFF"/>
          </a:solidFill>
          <a:ln w="22225">
            <a:solidFill>
              <a:srgbClr val="C00000"/>
            </a:solidFill>
          </a:ln>
          <a:effectLst/>
        </p:spPr>
        <p:txBody>
          <a:bodyPr wrap="square" lIns="36576" tIns="18288" rIns="36576" bIns="18288" rtlCol="0" anchor="ctr"/>
          <a:lstStyle/>
          <a:p>
            <a:pPr algn="ctr"/>
            <a:r>
              <a:rPr lang="en-US" altLang="ko-KR" sz="750" b="1" dirty="0">
                <a:solidFill>
                  <a:srgbClr val="000000"/>
                </a:solidFill>
                <a:latin typeface="맑은 고딕"/>
                <a:ea typeface="맑은 고딕"/>
              </a:rPr>
              <a:t>KV </a:t>
            </a:r>
            <a:r>
              <a:rPr lang="ko-KR" altLang="en-US" sz="750" b="1" dirty="0">
                <a:solidFill>
                  <a:srgbClr val="000000"/>
                </a:solidFill>
                <a:latin typeface="맑은 고딕"/>
                <a:ea typeface="맑은 고딕"/>
              </a:rPr>
              <a:t>정보 수정</a:t>
            </a:r>
            <a:endParaRPr lang="en-US" altLang="ko-KR" sz="750" b="1" dirty="0">
              <a:solidFill>
                <a:srgbClr val="000000"/>
              </a:solidFill>
              <a:latin typeface="맑은 고딕"/>
              <a:ea typeface="맑은 고딕"/>
            </a:endParaRPr>
          </a:p>
          <a:p>
            <a:pPr algn="ctr"/>
            <a:r>
              <a:rPr lang="en-US" altLang="ko-KR" sz="700" dirty="0">
                <a:solidFill>
                  <a:srgbClr val="000000"/>
                </a:solidFill>
                <a:latin typeface="맑은 고딕"/>
                <a:ea typeface="맑은 고딕"/>
              </a:rPr>
              <a:t>(</a:t>
            </a:r>
            <a:r>
              <a:rPr lang="ko-KR" altLang="en-US" sz="700" dirty="0">
                <a:solidFill>
                  <a:srgbClr val="000000"/>
                </a:solidFill>
                <a:latin typeface="맑은 고딕"/>
                <a:ea typeface="맑은 고딕"/>
              </a:rPr>
              <a:t>메모리 </a:t>
            </a:r>
            <a:r>
              <a:rPr lang="en-US" altLang="ko-KR" sz="700" dirty="0">
                <a:solidFill>
                  <a:srgbClr val="000000"/>
                </a:solidFill>
                <a:latin typeface="맑은 고딕"/>
                <a:ea typeface="맑은 고딕"/>
              </a:rPr>
              <a:t>tier</a:t>
            </a:r>
            <a:r>
              <a:rPr lang="ko-KR" altLang="en-US" sz="700" dirty="0">
                <a:solidFill>
                  <a:srgbClr val="000000"/>
                </a:solidFill>
                <a:latin typeface="맑은 고딕"/>
                <a:ea typeface="맑은 고딕"/>
              </a:rPr>
              <a:t> 위치</a:t>
            </a:r>
            <a:r>
              <a:rPr lang="en-US" altLang="ko-KR" sz="700" dirty="0">
                <a:solidFill>
                  <a:srgbClr val="000000"/>
                </a:solidFill>
                <a:latin typeface="맑은 고딕"/>
                <a:ea typeface="맑은 고딕"/>
              </a:rPr>
              <a:t>)</a:t>
            </a:r>
            <a:endParaRPr sz="700" b="0" dirty="0">
              <a:solidFill>
                <a:srgbClr val="000000"/>
              </a:solidFill>
              <a:latin typeface="맑은 고딕"/>
              <a:ea typeface="맑은 고딕"/>
            </a:endParaRPr>
          </a:p>
        </p:txBody>
      </p:sp>
      <p:sp>
        <p:nvSpPr>
          <p:cNvPr id="147" name="Rectangle 151"/>
          <p:cNvSpPr/>
          <p:nvPr/>
        </p:nvSpPr>
        <p:spPr>
          <a:xfrm>
            <a:off x="5074920" y="2998359"/>
            <a:ext cx="1243584" cy="347472"/>
          </a:xfrm>
          <a:prstGeom prst="rect">
            <a:avLst/>
          </a:prstGeom>
          <a:solidFill>
            <a:srgbClr val="F2F2F2"/>
          </a:solidFill>
          <a:ln w="12700">
            <a:solidFill>
              <a:srgbClr val="7F7F7F"/>
            </a:solidFill>
          </a:ln>
          <a:effectLst/>
        </p:spPr>
        <p:txBody>
          <a:bodyPr wrap="square" lIns="36576" tIns="18288" rIns="36576" bIns="18288" rtlCol="0" anchor="ctr"/>
          <a:lstStyle/>
          <a:p>
            <a:pPr algn="ctr"/>
            <a:r>
              <a:rPr sz="800" b="1" dirty="0" err="1">
                <a:solidFill>
                  <a:srgbClr val="000000"/>
                </a:solidFill>
                <a:latin typeface="맑은 고딕"/>
                <a:ea typeface="맑은 고딕"/>
              </a:rPr>
              <a:t>vLLM</a:t>
            </a:r>
            <a:r>
              <a:rPr sz="800" b="1" dirty="0">
                <a:solidFill>
                  <a:srgbClr val="000000"/>
                </a:solidFill>
                <a:latin typeface="맑은 고딕"/>
                <a:ea typeface="맑은 고딕"/>
              </a:rPr>
              <a:t> (decode)</a:t>
            </a:r>
          </a:p>
        </p:txBody>
      </p:sp>
      <p:sp>
        <p:nvSpPr>
          <p:cNvPr id="148" name="Rectangle 152"/>
          <p:cNvSpPr/>
          <p:nvPr/>
        </p:nvSpPr>
        <p:spPr>
          <a:xfrm>
            <a:off x="5010912" y="3631216"/>
            <a:ext cx="1371600" cy="813816"/>
          </a:xfrm>
          <a:prstGeom prst="rect">
            <a:avLst/>
          </a:prstGeom>
          <a:solidFill>
            <a:srgbClr val="FFFFFF"/>
          </a:solidFill>
          <a:ln w="15875">
            <a:solidFill>
              <a:srgbClr val="2E75B6"/>
            </a:solidFill>
          </a:ln>
          <a:effectLst/>
        </p:spPr>
        <p:txBody>
          <a:bodyPr rtlCol="0" anchor="ctr"/>
          <a:lstStyle/>
          <a:p>
            <a:pPr algn="ctr"/>
            <a:endParaRPr/>
          </a:p>
        </p:txBody>
      </p:sp>
      <p:sp>
        <p:nvSpPr>
          <p:cNvPr id="149" name="Rectangle 153"/>
          <p:cNvSpPr/>
          <p:nvPr/>
        </p:nvSpPr>
        <p:spPr>
          <a:xfrm>
            <a:off x="5010912" y="3631216"/>
            <a:ext cx="1371600" cy="173736"/>
          </a:xfrm>
          <a:prstGeom prst="rect">
            <a:avLst/>
          </a:prstGeom>
          <a:solidFill>
            <a:srgbClr val="2E75B6"/>
          </a:solidFill>
          <a:ln w="12700">
            <a:solidFill>
              <a:srgbClr val="2E75B6"/>
            </a:solidFill>
          </a:ln>
          <a:effectLst/>
        </p:spPr>
        <p:txBody>
          <a:bodyPr wrap="square" lIns="45720" tIns="0" rIns="18288" bIns="0" rtlCol="0" anchor="ctr"/>
          <a:lstStyle/>
          <a:p>
            <a:pPr algn="l"/>
            <a:r>
              <a:rPr sz="800" b="1" dirty="0">
                <a:solidFill>
                  <a:srgbClr val="FFFFFF"/>
                </a:solidFill>
                <a:latin typeface="맑은 고딕"/>
                <a:ea typeface="맑은 고딕"/>
              </a:rPr>
              <a:t>«pod» Prefill </a:t>
            </a:r>
            <a:r>
              <a:rPr sz="800" b="1" dirty="0" err="1">
                <a:solidFill>
                  <a:srgbClr val="FFFFFF"/>
                </a:solidFill>
                <a:latin typeface="맑은 고딕"/>
                <a:ea typeface="맑은 고딕"/>
              </a:rPr>
              <a:t>서버</a:t>
            </a:r>
            <a:endParaRPr sz="800" b="1" dirty="0">
              <a:solidFill>
                <a:srgbClr val="FFFFFF"/>
              </a:solidFill>
              <a:latin typeface="맑은 고딕"/>
              <a:ea typeface="맑은 고딕"/>
            </a:endParaRPr>
          </a:p>
        </p:txBody>
      </p:sp>
      <p:sp>
        <p:nvSpPr>
          <p:cNvPr id="150" name="Rectangle 154"/>
          <p:cNvSpPr/>
          <p:nvPr/>
        </p:nvSpPr>
        <p:spPr>
          <a:xfrm>
            <a:off x="5074920" y="3889845"/>
            <a:ext cx="1243584" cy="442861"/>
          </a:xfrm>
          <a:prstGeom prst="rect">
            <a:avLst/>
          </a:prstGeom>
          <a:solidFill>
            <a:srgbClr val="F2F2F2"/>
          </a:solidFill>
          <a:ln w="12700">
            <a:solidFill>
              <a:srgbClr val="7F7F7F"/>
            </a:solidFill>
          </a:ln>
          <a:effectLst/>
        </p:spPr>
        <p:txBody>
          <a:bodyPr wrap="square" lIns="36576" tIns="18288" rIns="36576" bIns="18288" rtlCol="0" anchor="ctr"/>
          <a:lstStyle/>
          <a:p>
            <a:pPr algn="ctr"/>
            <a:r>
              <a:rPr sz="800" b="1" dirty="0" err="1">
                <a:solidFill>
                  <a:srgbClr val="000000"/>
                </a:solidFill>
                <a:latin typeface="맑은 고딕"/>
                <a:ea typeface="맑은 고딕"/>
              </a:rPr>
              <a:t>vLLM</a:t>
            </a:r>
            <a:r>
              <a:rPr sz="800" b="1" dirty="0">
                <a:solidFill>
                  <a:srgbClr val="000000"/>
                </a:solidFill>
                <a:latin typeface="맑은 고딕"/>
                <a:ea typeface="맑은 고딕"/>
              </a:rPr>
              <a:t> (prefill)</a:t>
            </a:r>
          </a:p>
        </p:txBody>
      </p:sp>
      <p:cxnSp>
        <p:nvCxnSpPr>
          <p:cNvPr id="151" name="Connector 160"/>
          <p:cNvCxnSpPr/>
          <p:nvPr/>
        </p:nvCxnSpPr>
        <p:spPr>
          <a:xfrm>
            <a:off x="6053328" y="3345831"/>
            <a:ext cx="0" cy="566928"/>
          </a:xfrm>
          <a:prstGeom prst="line">
            <a:avLst/>
          </a:prstGeom>
          <a:ln w="15875">
            <a:solidFill>
              <a:srgbClr val="404040"/>
            </a:solidFill>
            <a:headEnd type="triangle"/>
            <a:tailEnd type="triangle"/>
          </a:ln>
        </p:spPr>
      </p:cxnSp>
      <p:sp>
        <p:nvSpPr>
          <p:cNvPr id="152" name="Oval 161"/>
          <p:cNvSpPr/>
          <p:nvPr/>
        </p:nvSpPr>
        <p:spPr>
          <a:xfrm>
            <a:off x="5826150" y="3464703"/>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dirty="0">
                <a:solidFill>
                  <a:srgbClr val="FFFFFF"/>
                </a:solidFill>
                <a:latin typeface="맑은 고딕"/>
                <a:ea typeface="맑은 고딕"/>
              </a:rPr>
              <a:t>4</a:t>
            </a:r>
          </a:p>
        </p:txBody>
      </p:sp>
      <p:sp>
        <p:nvSpPr>
          <p:cNvPr id="153" name="Oval 162"/>
          <p:cNvSpPr/>
          <p:nvPr/>
        </p:nvSpPr>
        <p:spPr>
          <a:xfrm>
            <a:off x="6140196" y="3455202"/>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5</a:t>
            </a:r>
          </a:p>
        </p:txBody>
      </p:sp>
      <p:sp>
        <p:nvSpPr>
          <p:cNvPr id="154" name="Rectangle 170"/>
          <p:cNvSpPr/>
          <p:nvPr/>
        </p:nvSpPr>
        <p:spPr>
          <a:xfrm>
            <a:off x="5138928" y="4518732"/>
            <a:ext cx="1261872" cy="155448"/>
          </a:xfrm>
          <a:prstGeom prst="rect">
            <a:avLst/>
          </a:prstGeom>
          <a:solidFill>
            <a:srgbClr val="FFFFFF"/>
          </a:solidFill>
          <a:ln w="22225">
            <a:solidFill>
              <a:srgbClr val="C00000"/>
            </a:solidFill>
          </a:ln>
          <a:effectLst/>
        </p:spPr>
        <p:txBody>
          <a:bodyPr wrap="square" lIns="36576" tIns="18288" rIns="36576" bIns="18288" rtlCol="0" anchor="ctr"/>
          <a:lstStyle/>
          <a:p>
            <a:pPr algn="ctr"/>
            <a:r>
              <a:rPr sz="700" b="1" dirty="0">
                <a:solidFill>
                  <a:srgbClr val="000000"/>
                </a:solidFill>
                <a:latin typeface="맑은 고딕"/>
                <a:ea typeface="맑은 고딕"/>
              </a:rPr>
              <a:t>★ </a:t>
            </a:r>
            <a:r>
              <a:rPr sz="700" b="1" dirty="0" err="1">
                <a:solidFill>
                  <a:srgbClr val="000000"/>
                </a:solidFill>
                <a:latin typeface="맑은 고딕"/>
                <a:ea typeface="맑은 고딕"/>
              </a:rPr>
              <a:t>기존</a:t>
            </a:r>
            <a:r>
              <a:rPr sz="700" b="1" dirty="0">
                <a:solidFill>
                  <a:srgbClr val="000000"/>
                </a:solidFill>
                <a:latin typeface="맑은 고딕"/>
                <a:ea typeface="맑은 고딕"/>
              </a:rPr>
              <a:t> </a:t>
            </a:r>
            <a:r>
              <a:rPr sz="700" b="1" dirty="0" err="1">
                <a:solidFill>
                  <a:srgbClr val="000000"/>
                </a:solidFill>
                <a:latin typeface="맑은 고딕"/>
                <a:ea typeface="맑은 고딕"/>
              </a:rPr>
              <a:t>모듈</a:t>
            </a:r>
            <a:r>
              <a:rPr sz="700" b="1" dirty="0">
                <a:solidFill>
                  <a:srgbClr val="000000"/>
                </a:solidFill>
                <a:latin typeface="맑은 고딕"/>
                <a:ea typeface="맑은 고딕"/>
              </a:rPr>
              <a:t> </a:t>
            </a:r>
            <a:r>
              <a:rPr sz="700" b="1" dirty="0" err="1">
                <a:solidFill>
                  <a:srgbClr val="000000"/>
                </a:solidFill>
                <a:latin typeface="맑은 고딕"/>
                <a:ea typeface="맑은 고딕"/>
              </a:rPr>
              <a:t>수정</a:t>
            </a:r>
            <a:r>
              <a:rPr sz="700" b="1" dirty="0">
                <a:solidFill>
                  <a:srgbClr val="000000"/>
                </a:solidFill>
                <a:latin typeface="맑은 고딕"/>
                <a:ea typeface="맑은 고딕"/>
              </a:rPr>
              <a:t>(patch)</a:t>
            </a:r>
          </a:p>
        </p:txBody>
      </p:sp>
      <p:sp>
        <p:nvSpPr>
          <p:cNvPr id="155" name="Rectangle 167"/>
          <p:cNvSpPr/>
          <p:nvPr/>
        </p:nvSpPr>
        <p:spPr>
          <a:xfrm>
            <a:off x="6583680" y="1873647"/>
            <a:ext cx="566928" cy="256032"/>
          </a:xfrm>
          <a:prstGeom prst="rect">
            <a:avLst/>
          </a:prstGeom>
          <a:solidFill>
            <a:srgbClr val="FFFFFF"/>
          </a:solidFill>
          <a:ln w="12700">
            <a:solidFill>
              <a:srgbClr val="7F7F7F"/>
            </a:solidFill>
          </a:ln>
          <a:effectLst/>
        </p:spPr>
        <p:txBody>
          <a:bodyPr wrap="square" lIns="36576" tIns="18288" rIns="36576" bIns="18288" rtlCol="0" anchor="ctr"/>
          <a:lstStyle/>
          <a:p>
            <a:pPr algn="ctr"/>
            <a:r>
              <a:rPr sz="800" b="1">
                <a:solidFill>
                  <a:srgbClr val="000000"/>
                </a:solidFill>
                <a:latin typeface="맑은 고딕"/>
                <a:ea typeface="맑은 고딕"/>
              </a:rPr>
              <a:t>Client</a:t>
            </a:r>
          </a:p>
        </p:txBody>
      </p:sp>
      <p:sp>
        <p:nvSpPr>
          <p:cNvPr id="156" name="Rectangle 168"/>
          <p:cNvSpPr/>
          <p:nvPr/>
        </p:nvSpPr>
        <p:spPr>
          <a:xfrm>
            <a:off x="6583680" y="2358279"/>
            <a:ext cx="566928" cy="384048"/>
          </a:xfrm>
          <a:prstGeom prst="rect">
            <a:avLst/>
          </a:prstGeom>
          <a:solidFill>
            <a:srgbClr val="FBE5D6"/>
          </a:solidFill>
          <a:ln w="12700">
            <a:solidFill>
              <a:srgbClr val="C55A11"/>
            </a:solidFill>
          </a:ln>
          <a:effectLst/>
        </p:spPr>
        <p:txBody>
          <a:bodyPr wrap="square" lIns="36576" tIns="18288" rIns="36576" bIns="18288" rtlCol="0" anchor="ctr"/>
          <a:lstStyle/>
          <a:p>
            <a:pPr algn="ctr"/>
            <a:r>
              <a:rPr lang="en-US" sz="800" b="1" dirty="0">
                <a:solidFill>
                  <a:srgbClr val="000000"/>
                </a:solidFill>
                <a:latin typeface="맑은 고딕"/>
                <a:ea typeface="맑은 고딕"/>
              </a:rPr>
              <a:t>Load </a:t>
            </a:r>
          </a:p>
          <a:p>
            <a:pPr algn="ctr"/>
            <a:r>
              <a:rPr lang="en-US" sz="800" b="1" dirty="0">
                <a:solidFill>
                  <a:srgbClr val="000000"/>
                </a:solidFill>
                <a:latin typeface="맑은 고딕"/>
                <a:ea typeface="맑은 고딕"/>
              </a:rPr>
              <a:t>Balancer</a:t>
            </a:r>
            <a:endParaRPr sz="800" b="1" dirty="0">
              <a:solidFill>
                <a:srgbClr val="000000"/>
              </a:solidFill>
              <a:latin typeface="맑은 고딕"/>
              <a:ea typeface="맑은 고딕"/>
            </a:endParaRPr>
          </a:p>
        </p:txBody>
      </p:sp>
      <p:cxnSp>
        <p:nvCxnSpPr>
          <p:cNvPr id="157" name="Connector 169"/>
          <p:cNvCxnSpPr/>
          <p:nvPr/>
        </p:nvCxnSpPr>
        <p:spPr>
          <a:xfrm>
            <a:off x="6867144" y="2129679"/>
            <a:ext cx="0" cy="228600"/>
          </a:xfrm>
          <a:prstGeom prst="line">
            <a:avLst/>
          </a:prstGeom>
          <a:ln w="15875">
            <a:solidFill>
              <a:srgbClr val="404040"/>
            </a:solidFill>
            <a:tailEnd type="triangle"/>
          </a:ln>
        </p:spPr>
      </p:cxnSp>
      <p:sp>
        <p:nvSpPr>
          <p:cNvPr id="158" name="Oval 170"/>
          <p:cNvSpPr/>
          <p:nvPr/>
        </p:nvSpPr>
        <p:spPr>
          <a:xfrm>
            <a:off x="6643116" y="2161683"/>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1</a:t>
            </a:r>
          </a:p>
        </p:txBody>
      </p:sp>
      <p:sp>
        <p:nvSpPr>
          <p:cNvPr id="159" name="Rectangle 172"/>
          <p:cNvSpPr/>
          <p:nvPr/>
        </p:nvSpPr>
        <p:spPr>
          <a:xfrm>
            <a:off x="7242048" y="1855359"/>
            <a:ext cx="3566160" cy="2583351"/>
          </a:xfrm>
          <a:prstGeom prst="rect">
            <a:avLst/>
          </a:prstGeom>
          <a:solidFill>
            <a:srgbClr val="FFFFFF"/>
          </a:solidFill>
          <a:ln w="19050">
            <a:solidFill>
              <a:srgbClr val="C55A11"/>
            </a:solidFill>
          </a:ln>
          <a:effectLst/>
        </p:spPr>
        <p:txBody>
          <a:bodyPr rtlCol="0" anchor="ctr"/>
          <a:lstStyle/>
          <a:p>
            <a:pPr algn="ctr"/>
            <a:endParaRPr/>
          </a:p>
        </p:txBody>
      </p:sp>
      <p:sp>
        <p:nvSpPr>
          <p:cNvPr id="160" name="Rectangle 173"/>
          <p:cNvSpPr/>
          <p:nvPr/>
        </p:nvSpPr>
        <p:spPr>
          <a:xfrm>
            <a:off x="7242048" y="1855359"/>
            <a:ext cx="3566160" cy="164592"/>
          </a:xfrm>
          <a:prstGeom prst="rect">
            <a:avLst/>
          </a:prstGeom>
          <a:solidFill>
            <a:srgbClr val="C55A11"/>
          </a:solidFill>
          <a:ln w="12700">
            <a:solidFill>
              <a:srgbClr val="C55A11"/>
            </a:solidFill>
          </a:ln>
          <a:effectLst/>
        </p:spPr>
        <p:txBody>
          <a:bodyPr wrap="square" lIns="45720" tIns="0" rIns="0" bIns="0" rtlCol="0" anchor="ctr"/>
          <a:lstStyle/>
          <a:p>
            <a:pPr algn="l"/>
            <a:r>
              <a:rPr sz="700" b="1">
                <a:solidFill>
                  <a:srgbClr val="FFFFFF"/>
                </a:solidFill>
                <a:latin typeface="맑은 고딕"/>
                <a:ea typeface="맑은 고딕"/>
              </a:rPr>
              <a:t>«process» Own Router 레플리카 1개 (한 프로세스)</a:t>
            </a:r>
          </a:p>
        </p:txBody>
      </p:sp>
      <p:cxnSp>
        <p:nvCxnSpPr>
          <p:cNvPr id="161" name="Connector 174"/>
          <p:cNvCxnSpPr/>
          <p:nvPr/>
        </p:nvCxnSpPr>
        <p:spPr>
          <a:xfrm flipV="1">
            <a:off x="7150608" y="2312559"/>
            <a:ext cx="164592" cy="237744"/>
          </a:xfrm>
          <a:prstGeom prst="line">
            <a:avLst/>
          </a:prstGeom>
          <a:ln w="12700">
            <a:solidFill>
              <a:srgbClr val="404040"/>
            </a:solidFill>
            <a:tailEnd type="triangle"/>
          </a:ln>
        </p:spPr>
      </p:cxnSp>
      <p:sp>
        <p:nvSpPr>
          <p:cNvPr id="162" name="Rectangle 175"/>
          <p:cNvSpPr/>
          <p:nvPr/>
        </p:nvSpPr>
        <p:spPr>
          <a:xfrm>
            <a:off x="7333488" y="2156202"/>
            <a:ext cx="3383280" cy="187365"/>
          </a:xfrm>
          <a:prstGeom prst="rect">
            <a:avLst/>
          </a:prstGeom>
          <a:solidFill>
            <a:srgbClr val="FBE5D6"/>
          </a:solidFill>
          <a:ln w="12700">
            <a:solidFill>
              <a:srgbClr val="C55A11"/>
            </a:solidFill>
          </a:ln>
          <a:effectLst/>
        </p:spPr>
        <p:txBody>
          <a:bodyPr wrap="square" lIns="36576" tIns="18288" rIns="36576" bIns="18288" rtlCol="0" anchor="ctr"/>
          <a:lstStyle/>
          <a:p>
            <a:pPr algn="ctr"/>
            <a:r>
              <a:rPr sz="750" b="1" dirty="0">
                <a:solidFill>
                  <a:srgbClr val="000000"/>
                </a:solidFill>
                <a:latin typeface="맑은 고딕"/>
                <a:ea typeface="맑은 고딕"/>
              </a:rPr>
              <a:t>Ingress / API   </a:t>
            </a:r>
            <a:r>
              <a:rPr sz="750" b="1" dirty="0" err="1">
                <a:solidFill>
                  <a:srgbClr val="000000"/>
                </a:solidFill>
                <a:latin typeface="맑은 고딕"/>
                <a:ea typeface="맑은 고딕"/>
              </a:rPr>
              <a:t>요청</a:t>
            </a:r>
            <a:r>
              <a:rPr sz="750" b="1" dirty="0">
                <a:solidFill>
                  <a:srgbClr val="000000"/>
                </a:solidFill>
                <a:latin typeface="맑은 고딕"/>
                <a:ea typeface="맑은 고딕"/>
              </a:rPr>
              <a:t> </a:t>
            </a:r>
            <a:r>
              <a:rPr sz="750" b="1" dirty="0" err="1">
                <a:solidFill>
                  <a:srgbClr val="000000"/>
                </a:solidFill>
                <a:latin typeface="맑은 고딕"/>
                <a:ea typeface="맑은 고딕"/>
              </a:rPr>
              <a:t>파싱</a:t>
            </a:r>
            <a:r>
              <a:rPr sz="750" b="1" dirty="0">
                <a:solidFill>
                  <a:srgbClr val="000000"/>
                </a:solidFill>
                <a:latin typeface="맑은 고딕"/>
                <a:ea typeface="맑은 고딕"/>
              </a:rPr>
              <a:t> · </a:t>
            </a:r>
            <a:r>
              <a:rPr sz="750" b="1" dirty="0" err="1">
                <a:solidFill>
                  <a:srgbClr val="000000"/>
                </a:solidFill>
                <a:latin typeface="맑은 고딕"/>
                <a:ea typeface="맑은 고딕"/>
              </a:rPr>
              <a:t>스트리밍</a:t>
            </a:r>
            <a:endParaRPr sz="750" b="1" dirty="0">
              <a:solidFill>
                <a:srgbClr val="000000"/>
              </a:solidFill>
              <a:latin typeface="맑은 고딕"/>
              <a:ea typeface="맑은 고딕"/>
            </a:endParaRPr>
          </a:p>
        </p:txBody>
      </p:sp>
      <p:sp>
        <p:nvSpPr>
          <p:cNvPr id="163" name="Rectangle 176"/>
          <p:cNvSpPr/>
          <p:nvPr/>
        </p:nvSpPr>
        <p:spPr>
          <a:xfrm>
            <a:off x="7333488" y="2626885"/>
            <a:ext cx="868680" cy="237744"/>
          </a:xfrm>
          <a:prstGeom prst="rect">
            <a:avLst/>
          </a:prstGeom>
          <a:solidFill>
            <a:srgbClr val="FBE5D6"/>
          </a:solidFill>
          <a:ln w="19050">
            <a:solidFill>
              <a:srgbClr val="C55A11"/>
            </a:solidFill>
          </a:ln>
          <a:effectLst/>
        </p:spPr>
        <p:txBody>
          <a:bodyPr wrap="square" lIns="36576" tIns="18288" rIns="36576" bIns="18288" rtlCol="0" anchor="ctr"/>
          <a:lstStyle/>
          <a:p>
            <a:pPr algn="ctr"/>
            <a:r>
              <a:rPr sz="750" b="1" dirty="0">
                <a:solidFill>
                  <a:srgbClr val="000000"/>
                </a:solidFill>
                <a:latin typeface="맑은 고딕"/>
                <a:ea typeface="맑은 고딕"/>
              </a:rPr>
              <a:t>Admission</a:t>
            </a:r>
          </a:p>
        </p:txBody>
      </p:sp>
      <p:sp>
        <p:nvSpPr>
          <p:cNvPr id="164" name="Rectangle 177"/>
          <p:cNvSpPr/>
          <p:nvPr/>
        </p:nvSpPr>
        <p:spPr>
          <a:xfrm>
            <a:off x="8321040" y="2626885"/>
            <a:ext cx="1051560" cy="237744"/>
          </a:xfrm>
          <a:prstGeom prst="rect">
            <a:avLst/>
          </a:prstGeom>
          <a:solidFill>
            <a:srgbClr val="FBE5D6"/>
          </a:solidFill>
          <a:ln w="19050">
            <a:solidFill>
              <a:srgbClr val="C55A11"/>
            </a:solidFill>
          </a:ln>
          <a:effectLst/>
        </p:spPr>
        <p:txBody>
          <a:bodyPr wrap="square" lIns="36576" tIns="18288" rIns="36576" bIns="18288" rtlCol="0" anchor="ctr"/>
          <a:lstStyle/>
          <a:p>
            <a:pPr algn="ctr"/>
            <a:r>
              <a:rPr lang="en-US" sz="750" b="1" dirty="0">
                <a:solidFill>
                  <a:srgbClr val="000000"/>
                </a:solidFill>
                <a:latin typeface="맑은 고딕"/>
                <a:ea typeface="맑은 고딕"/>
              </a:rPr>
              <a:t>P/D</a:t>
            </a:r>
            <a:r>
              <a:rPr sz="750" b="1" dirty="0">
                <a:solidFill>
                  <a:srgbClr val="000000"/>
                </a:solidFill>
                <a:latin typeface="맑은 고딕"/>
                <a:ea typeface="맑은 고딕"/>
              </a:rPr>
              <a:t> Selector</a:t>
            </a:r>
          </a:p>
        </p:txBody>
      </p:sp>
      <p:sp>
        <p:nvSpPr>
          <p:cNvPr id="165" name="Rectangle 178"/>
          <p:cNvSpPr/>
          <p:nvPr/>
        </p:nvSpPr>
        <p:spPr>
          <a:xfrm>
            <a:off x="9491472" y="2626885"/>
            <a:ext cx="1225296" cy="237744"/>
          </a:xfrm>
          <a:prstGeom prst="rect">
            <a:avLst/>
          </a:prstGeom>
          <a:solidFill>
            <a:srgbClr val="FBE5D6"/>
          </a:solidFill>
          <a:ln w="19050">
            <a:solidFill>
              <a:srgbClr val="C55A11"/>
            </a:solidFill>
          </a:ln>
          <a:effectLst/>
        </p:spPr>
        <p:txBody>
          <a:bodyPr wrap="square" lIns="36576" tIns="18288" rIns="36576" bIns="18288" rtlCol="0" anchor="ctr"/>
          <a:lstStyle/>
          <a:p>
            <a:pPr algn="ctr"/>
            <a:r>
              <a:rPr sz="750" b="1" dirty="0">
                <a:solidFill>
                  <a:srgbClr val="000000"/>
                </a:solidFill>
                <a:latin typeface="맑은 고딕"/>
                <a:ea typeface="맑은 고딕"/>
              </a:rPr>
              <a:t>Dispatcher</a:t>
            </a:r>
          </a:p>
        </p:txBody>
      </p:sp>
      <p:cxnSp>
        <p:nvCxnSpPr>
          <p:cNvPr id="166" name="Connector 179"/>
          <p:cNvCxnSpPr>
            <a:stCxn id="163" idx="3"/>
            <a:endCxn id="164" idx="1"/>
          </p:cNvCxnSpPr>
          <p:nvPr/>
        </p:nvCxnSpPr>
        <p:spPr>
          <a:xfrm>
            <a:off x="8202168" y="2745757"/>
            <a:ext cx="118872" cy="0"/>
          </a:xfrm>
          <a:prstGeom prst="line">
            <a:avLst/>
          </a:prstGeom>
          <a:ln w="15875">
            <a:solidFill>
              <a:srgbClr val="C55A11"/>
            </a:solidFill>
            <a:tailEnd type="triangle"/>
          </a:ln>
        </p:spPr>
      </p:cxnSp>
      <p:cxnSp>
        <p:nvCxnSpPr>
          <p:cNvPr id="167" name="Connector 180"/>
          <p:cNvCxnSpPr>
            <a:stCxn id="164" idx="3"/>
            <a:endCxn id="165" idx="1"/>
          </p:cNvCxnSpPr>
          <p:nvPr/>
        </p:nvCxnSpPr>
        <p:spPr>
          <a:xfrm>
            <a:off x="9372600" y="2745757"/>
            <a:ext cx="118872" cy="0"/>
          </a:xfrm>
          <a:prstGeom prst="line">
            <a:avLst/>
          </a:prstGeom>
          <a:ln w="15875">
            <a:solidFill>
              <a:srgbClr val="C55A11"/>
            </a:solidFill>
            <a:tailEnd type="triangle"/>
          </a:ln>
        </p:spPr>
      </p:cxnSp>
      <p:cxnSp>
        <p:nvCxnSpPr>
          <p:cNvPr id="170" name="Connector 181"/>
          <p:cNvCxnSpPr/>
          <p:nvPr/>
        </p:nvCxnSpPr>
        <p:spPr>
          <a:xfrm>
            <a:off x="7884414" y="2351422"/>
            <a:ext cx="0" cy="210312"/>
          </a:xfrm>
          <a:prstGeom prst="line">
            <a:avLst/>
          </a:prstGeom>
          <a:ln w="15875">
            <a:solidFill>
              <a:srgbClr val="C55A11"/>
            </a:solidFill>
            <a:tailEnd type="triangle"/>
          </a:ln>
        </p:spPr>
      </p:cxnSp>
      <p:sp>
        <p:nvSpPr>
          <p:cNvPr id="171" name="Rectangle 183"/>
          <p:cNvSpPr/>
          <p:nvPr/>
        </p:nvSpPr>
        <p:spPr>
          <a:xfrm>
            <a:off x="7333488" y="3084427"/>
            <a:ext cx="1600200" cy="137160"/>
          </a:xfrm>
          <a:prstGeom prst="rect">
            <a:avLst/>
          </a:prstGeom>
          <a:solidFill>
            <a:srgbClr val="EDE7F6"/>
          </a:solidFill>
          <a:ln w="9525">
            <a:solidFill>
              <a:srgbClr val="5E35B1"/>
            </a:solidFill>
          </a:ln>
          <a:effectLst/>
        </p:spPr>
        <p:txBody>
          <a:bodyPr wrap="square" lIns="18288" tIns="0" rIns="18288" bIns="0" rtlCol="0" anchor="ctr"/>
          <a:lstStyle/>
          <a:p>
            <a:pPr algn="ctr"/>
            <a:r>
              <a:rPr sz="600" b="1" dirty="0">
                <a:solidFill>
                  <a:srgbClr val="5E35B1"/>
                </a:solidFill>
                <a:latin typeface="맑은 고딕"/>
                <a:ea typeface="맑은 고딕"/>
              </a:rPr>
              <a:t>«Strategy» </a:t>
            </a:r>
            <a:r>
              <a:rPr sz="600" b="1" dirty="0" err="1">
                <a:solidFill>
                  <a:srgbClr val="5E35B1"/>
                </a:solidFill>
                <a:latin typeface="맑은 고딕"/>
                <a:ea typeface="맑은 고딕"/>
              </a:rPr>
              <a:t>점수</a:t>
            </a:r>
            <a:r>
              <a:rPr sz="600" b="1" dirty="0">
                <a:solidFill>
                  <a:srgbClr val="5E35B1"/>
                </a:solidFill>
                <a:latin typeface="맑은 고딕"/>
                <a:ea typeface="맑은 고딕"/>
              </a:rPr>
              <a:t> </a:t>
            </a:r>
            <a:r>
              <a:rPr sz="600" b="1" dirty="0" err="1">
                <a:solidFill>
                  <a:srgbClr val="5E35B1"/>
                </a:solidFill>
                <a:latin typeface="맑은 고딕"/>
                <a:ea typeface="맑은 고딕"/>
              </a:rPr>
              <a:t>정책</a:t>
            </a:r>
            <a:r>
              <a:rPr sz="600" b="1" dirty="0">
                <a:solidFill>
                  <a:srgbClr val="5E35B1"/>
                </a:solidFill>
                <a:latin typeface="맑은 고딕"/>
                <a:ea typeface="맑은 고딕"/>
              </a:rPr>
              <a:t> ↔ 1안 plugin </a:t>
            </a:r>
            <a:r>
              <a:rPr sz="600" b="1" dirty="0" err="1">
                <a:solidFill>
                  <a:srgbClr val="5E35B1"/>
                </a:solidFill>
                <a:latin typeface="맑은 고딕"/>
                <a:ea typeface="맑은 고딕"/>
              </a:rPr>
              <a:t>대응</a:t>
            </a:r>
            <a:endParaRPr sz="600" b="1" dirty="0">
              <a:solidFill>
                <a:srgbClr val="5E35B1"/>
              </a:solidFill>
              <a:latin typeface="맑은 고딕"/>
              <a:ea typeface="맑은 고딕"/>
            </a:endParaRPr>
          </a:p>
        </p:txBody>
      </p:sp>
      <p:sp>
        <p:nvSpPr>
          <p:cNvPr id="172" name="Rectangle 184"/>
          <p:cNvSpPr/>
          <p:nvPr/>
        </p:nvSpPr>
        <p:spPr>
          <a:xfrm>
            <a:off x="7333488" y="3239874"/>
            <a:ext cx="1783080" cy="281487"/>
          </a:xfrm>
          <a:prstGeom prst="rect">
            <a:avLst/>
          </a:prstGeom>
          <a:solidFill>
            <a:srgbClr val="FFFFFF"/>
          </a:solidFill>
          <a:ln w="15875">
            <a:solidFill>
              <a:srgbClr val="5E35B1"/>
            </a:solidFill>
          </a:ln>
          <a:effectLst/>
        </p:spPr>
        <p:txBody>
          <a:bodyPr rtlCol="0" anchor="ctr"/>
          <a:lstStyle/>
          <a:p>
            <a:pPr algn="ctr"/>
            <a:endParaRPr/>
          </a:p>
        </p:txBody>
      </p:sp>
      <p:sp>
        <p:nvSpPr>
          <p:cNvPr id="173" name="TextBox 172"/>
          <p:cNvSpPr txBox="1"/>
          <p:nvPr/>
        </p:nvSpPr>
        <p:spPr>
          <a:xfrm>
            <a:off x="7665475" y="3308835"/>
            <a:ext cx="1186641" cy="118872"/>
          </a:xfrm>
          <a:prstGeom prst="rect">
            <a:avLst/>
          </a:prstGeom>
          <a:noFill/>
        </p:spPr>
        <p:txBody>
          <a:bodyPr wrap="square" lIns="0" tIns="0" rIns="0" bIns="0" anchor="t">
            <a:spAutoFit/>
          </a:bodyPr>
          <a:lstStyle/>
          <a:p>
            <a:pPr algn="l"/>
            <a:r>
              <a:rPr sz="650" b="1" dirty="0">
                <a:solidFill>
                  <a:srgbClr val="5E35B1"/>
                </a:solidFill>
                <a:latin typeface="맑은 고딕"/>
                <a:ea typeface="맑은 고딕"/>
              </a:rPr>
              <a:t>«interface» </a:t>
            </a:r>
            <a:r>
              <a:rPr sz="650" b="1" dirty="0" err="1">
                <a:solidFill>
                  <a:srgbClr val="5E35B1"/>
                </a:solidFill>
                <a:latin typeface="맑은 고딕"/>
                <a:ea typeface="맑은 고딕"/>
              </a:rPr>
              <a:t>ScoreStrategy</a:t>
            </a:r>
            <a:endParaRPr sz="650" b="1" dirty="0">
              <a:solidFill>
                <a:srgbClr val="5E35B1"/>
              </a:solidFill>
              <a:latin typeface="맑은 고딕"/>
              <a:ea typeface="맑은 고딕"/>
            </a:endParaRPr>
          </a:p>
        </p:txBody>
      </p:sp>
      <p:cxnSp>
        <p:nvCxnSpPr>
          <p:cNvPr id="174" name="Connector 194"/>
          <p:cNvCxnSpPr/>
          <p:nvPr/>
        </p:nvCxnSpPr>
        <p:spPr>
          <a:xfrm>
            <a:off x="10408920" y="2888631"/>
            <a:ext cx="0" cy="201168"/>
          </a:xfrm>
          <a:prstGeom prst="line">
            <a:avLst/>
          </a:prstGeom>
          <a:ln w="15875">
            <a:solidFill>
              <a:srgbClr val="5E35B1"/>
            </a:solidFill>
            <a:tailEnd type="triangle"/>
          </a:ln>
        </p:spPr>
      </p:cxnSp>
      <p:sp>
        <p:nvSpPr>
          <p:cNvPr id="175" name="Rectangle 195"/>
          <p:cNvSpPr/>
          <p:nvPr/>
        </p:nvSpPr>
        <p:spPr>
          <a:xfrm>
            <a:off x="9217152" y="3391860"/>
            <a:ext cx="1536192" cy="137160"/>
          </a:xfrm>
          <a:prstGeom prst="rect">
            <a:avLst/>
          </a:prstGeom>
          <a:solidFill>
            <a:srgbClr val="EDE7F6"/>
          </a:solidFill>
          <a:ln w="9525">
            <a:solidFill>
              <a:srgbClr val="5E35B1"/>
            </a:solidFill>
          </a:ln>
          <a:effectLst/>
        </p:spPr>
        <p:txBody>
          <a:bodyPr wrap="square" lIns="18288" tIns="0" rIns="18288" bIns="0" rtlCol="0" anchor="ctr"/>
          <a:lstStyle/>
          <a:p>
            <a:pPr algn="ctr"/>
            <a:r>
              <a:rPr sz="600" b="1" dirty="0">
                <a:solidFill>
                  <a:srgbClr val="5E35B1"/>
                </a:solidFill>
                <a:latin typeface="맑은 고딕"/>
                <a:ea typeface="맑은 고딕"/>
              </a:rPr>
              <a:t>«Decorator» </a:t>
            </a:r>
            <a:r>
              <a:rPr lang="ko-KR" altLang="en-US" sz="600" b="1" dirty="0">
                <a:solidFill>
                  <a:srgbClr val="5E35B1"/>
                </a:solidFill>
                <a:latin typeface="맑은 고딕"/>
                <a:ea typeface="맑은 고딕"/>
              </a:rPr>
              <a:t>메모리 </a:t>
            </a:r>
            <a:r>
              <a:rPr lang="en-US" altLang="ko-KR" sz="600" b="1" dirty="0">
                <a:solidFill>
                  <a:srgbClr val="5E35B1"/>
                </a:solidFill>
                <a:latin typeface="맑은 고딕"/>
                <a:ea typeface="맑은 고딕"/>
              </a:rPr>
              <a:t>tier</a:t>
            </a:r>
            <a:r>
              <a:rPr lang="ko-KR" altLang="en-US" sz="600" b="1" dirty="0">
                <a:solidFill>
                  <a:srgbClr val="5E35B1"/>
                </a:solidFill>
                <a:latin typeface="맑은 고딕"/>
                <a:ea typeface="맑은 고딕"/>
              </a:rPr>
              <a:t>별 비용</a:t>
            </a:r>
            <a:endParaRPr sz="600" b="1" dirty="0">
              <a:solidFill>
                <a:srgbClr val="5E35B1"/>
              </a:solidFill>
              <a:latin typeface="맑은 고딕"/>
              <a:ea typeface="맑은 고딕"/>
            </a:endParaRPr>
          </a:p>
        </p:txBody>
      </p:sp>
      <p:sp>
        <p:nvSpPr>
          <p:cNvPr id="176" name="Rectangle 196"/>
          <p:cNvSpPr/>
          <p:nvPr/>
        </p:nvSpPr>
        <p:spPr>
          <a:xfrm>
            <a:off x="9217152" y="3538164"/>
            <a:ext cx="1536192" cy="182880"/>
          </a:xfrm>
          <a:prstGeom prst="rect">
            <a:avLst/>
          </a:prstGeom>
          <a:solidFill>
            <a:srgbClr val="FBE5D6"/>
          </a:solidFill>
          <a:ln w="12700">
            <a:solidFill>
              <a:srgbClr val="C55A11"/>
            </a:solidFill>
          </a:ln>
          <a:effectLst/>
        </p:spPr>
        <p:txBody>
          <a:bodyPr wrap="square" lIns="36576" tIns="18288" rIns="36576" bIns="18288" rtlCol="0" anchor="ctr"/>
          <a:lstStyle/>
          <a:p>
            <a:pPr algn="ctr"/>
            <a:r>
              <a:rPr lang="ko-KR" altLang="en-US" sz="650" dirty="0">
                <a:solidFill>
                  <a:srgbClr val="000000"/>
                </a:solidFill>
                <a:latin typeface="맑은 고딕"/>
                <a:ea typeface="맑은 고딕"/>
              </a:rPr>
              <a:t>메모리 </a:t>
            </a:r>
            <a:r>
              <a:rPr lang="en-US" altLang="ko-KR" sz="650" dirty="0">
                <a:solidFill>
                  <a:srgbClr val="000000"/>
                </a:solidFill>
                <a:latin typeface="맑은 고딕"/>
                <a:ea typeface="맑은 고딕"/>
              </a:rPr>
              <a:t>Tier</a:t>
            </a:r>
            <a:r>
              <a:rPr lang="ko-KR" altLang="en-US" sz="650" dirty="0">
                <a:solidFill>
                  <a:srgbClr val="000000"/>
                </a:solidFill>
                <a:latin typeface="맑은 고딕"/>
                <a:ea typeface="맑은 고딕"/>
              </a:rPr>
              <a:t>별 비용</a:t>
            </a:r>
            <a:endParaRPr sz="650" b="0" dirty="0">
              <a:solidFill>
                <a:srgbClr val="000000"/>
              </a:solidFill>
              <a:latin typeface="맑은 고딕"/>
              <a:ea typeface="맑은 고딕"/>
            </a:endParaRPr>
          </a:p>
        </p:txBody>
      </p:sp>
      <p:sp>
        <p:nvSpPr>
          <p:cNvPr id="177" name="Rectangle 197"/>
          <p:cNvSpPr/>
          <p:nvPr/>
        </p:nvSpPr>
        <p:spPr>
          <a:xfrm>
            <a:off x="7848674" y="3985863"/>
            <a:ext cx="777240" cy="312274"/>
          </a:xfrm>
          <a:prstGeom prst="rect">
            <a:avLst/>
          </a:prstGeom>
          <a:solidFill>
            <a:srgbClr val="FBE5D6"/>
          </a:solidFill>
          <a:ln w="19050">
            <a:solidFill>
              <a:srgbClr val="C55A11"/>
            </a:solidFill>
          </a:ln>
          <a:effectLst/>
        </p:spPr>
        <p:txBody>
          <a:bodyPr wrap="square" lIns="36576" tIns="18288" rIns="36576" bIns="18288" rtlCol="0" anchor="ctr"/>
          <a:lstStyle/>
          <a:p>
            <a:pPr algn="ctr"/>
            <a:r>
              <a:rPr sz="700" b="1" dirty="0">
                <a:solidFill>
                  <a:srgbClr val="000000"/>
                </a:solidFill>
                <a:latin typeface="맑은 고딕"/>
                <a:ea typeface="맑은 고딕"/>
              </a:rPr>
              <a:t>Event</a:t>
            </a:r>
          </a:p>
          <a:p>
            <a:pPr algn="ctr"/>
            <a:r>
              <a:rPr sz="700" b="1" dirty="0">
                <a:solidFill>
                  <a:srgbClr val="000000"/>
                </a:solidFill>
                <a:latin typeface="맑은 고딕"/>
                <a:ea typeface="맑은 고딕"/>
              </a:rPr>
              <a:t>Subscriber</a:t>
            </a:r>
          </a:p>
        </p:txBody>
      </p:sp>
      <p:sp>
        <p:nvSpPr>
          <p:cNvPr id="179" name="Rectangle 198"/>
          <p:cNvSpPr/>
          <p:nvPr/>
        </p:nvSpPr>
        <p:spPr>
          <a:xfrm>
            <a:off x="8744786" y="3932312"/>
            <a:ext cx="868680" cy="173812"/>
          </a:xfrm>
          <a:prstGeom prst="rect">
            <a:avLst/>
          </a:prstGeom>
          <a:solidFill>
            <a:srgbClr val="FBE5D6"/>
          </a:solidFill>
          <a:ln w="12700">
            <a:solidFill>
              <a:srgbClr val="C55A11"/>
            </a:solidFill>
          </a:ln>
          <a:effectLst/>
        </p:spPr>
        <p:txBody>
          <a:bodyPr wrap="square" lIns="36576" tIns="18288" rIns="36576" bIns="18288" rtlCol="0" anchor="ctr"/>
          <a:lstStyle/>
          <a:p>
            <a:pPr algn="ctr"/>
            <a:r>
              <a:rPr sz="650" b="1" dirty="0">
                <a:solidFill>
                  <a:srgbClr val="000000"/>
                </a:solidFill>
                <a:latin typeface="맑은 고딕"/>
                <a:ea typeface="맑은 고딕"/>
              </a:rPr>
              <a:t>KV Index </a:t>
            </a:r>
            <a:r>
              <a:rPr sz="650" b="1" dirty="0" err="1">
                <a:solidFill>
                  <a:srgbClr val="000000"/>
                </a:solidFill>
                <a:latin typeface="맑은 고딕"/>
                <a:ea typeface="맑은 고딕"/>
              </a:rPr>
              <a:t>갱신</a:t>
            </a:r>
            <a:endParaRPr sz="650" b="1" dirty="0">
              <a:solidFill>
                <a:srgbClr val="000000"/>
              </a:solidFill>
              <a:latin typeface="맑은 고딕"/>
              <a:ea typeface="맑은 고딕"/>
            </a:endParaRPr>
          </a:p>
        </p:txBody>
      </p:sp>
      <p:cxnSp>
        <p:nvCxnSpPr>
          <p:cNvPr id="180" name="Connector 199"/>
          <p:cNvCxnSpPr/>
          <p:nvPr/>
        </p:nvCxnSpPr>
        <p:spPr>
          <a:xfrm flipV="1">
            <a:off x="8625914" y="4023348"/>
            <a:ext cx="118872" cy="52898"/>
          </a:xfrm>
          <a:prstGeom prst="line">
            <a:avLst/>
          </a:prstGeom>
          <a:ln w="12700">
            <a:solidFill>
              <a:srgbClr val="C55A11"/>
            </a:solidFill>
            <a:tailEnd type="triangle"/>
          </a:ln>
        </p:spPr>
      </p:cxnSp>
      <p:sp>
        <p:nvSpPr>
          <p:cNvPr id="181" name="Rectangle 200"/>
          <p:cNvSpPr/>
          <p:nvPr/>
        </p:nvSpPr>
        <p:spPr>
          <a:xfrm>
            <a:off x="8744786" y="4179199"/>
            <a:ext cx="868680" cy="173812"/>
          </a:xfrm>
          <a:prstGeom prst="rect">
            <a:avLst/>
          </a:prstGeom>
          <a:solidFill>
            <a:srgbClr val="FBE5D6"/>
          </a:solidFill>
          <a:ln w="12700">
            <a:solidFill>
              <a:srgbClr val="C55A11"/>
            </a:solidFill>
          </a:ln>
          <a:effectLst/>
        </p:spPr>
        <p:txBody>
          <a:bodyPr wrap="square" lIns="36576" tIns="18288" rIns="36576" bIns="18288" rtlCol="0" anchor="ctr"/>
          <a:lstStyle/>
          <a:p>
            <a:pPr algn="ctr"/>
            <a:r>
              <a:rPr sz="650" b="1">
                <a:solidFill>
                  <a:srgbClr val="000000"/>
                </a:solidFill>
                <a:latin typeface="맑은 고딕"/>
                <a:ea typeface="맑은 고딕"/>
              </a:rPr>
              <a:t>Metrics 스냅샷</a:t>
            </a:r>
          </a:p>
        </p:txBody>
      </p:sp>
      <p:cxnSp>
        <p:nvCxnSpPr>
          <p:cNvPr id="182" name="Connector 201"/>
          <p:cNvCxnSpPr/>
          <p:nvPr/>
        </p:nvCxnSpPr>
        <p:spPr>
          <a:xfrm>
            <a:off x="8625914" y="4222930"/>
            <a:ext cx="118872" cy="37785"/>
          </a:xfrm>
          <a:prstGeom prst="line">
            <a:avLst/>
          </a:prstGeom>
          <a:ln w="12700">
            <a:solidFill>
              <a:srgbClr val="C55A11"/>
            </a:solidFill>
            <a:tailEnd type="triangle"/>
          </a:ln>
        </p:spPr>
      </p:cxnSp>
      <p:sp>
        <p:nvSpPr>
          <p:cNvPr id="183" name="Rectangle 202"/>
          <p:cNvSpPr/>
          <p:nvPr/>
        </p:nvSpPr>
        <p:spPr>
          <a:xfrm>
            <a:off x="9732338" y="3985863"/>
            <a:ext cx="731520" cy="312274"/>
          </a:xfrm>
          <a:prstGeom prst="rect">
            <a:avLst/>
          </a:prstGeom>
          <a:solidFill>
            <a:srgbClr val="FBE5D6"/>
          </a:solidFill>
          <a:ln w="19050">
            <a:solidFill>
              <a:srgbClr val="C55A11"/>
            </a:solidFill>
          </a:ln>
          <a:effectLst/>
        </p:spPr>
        <p:txBody>
          <a:bodyPr wrap="square" lIns="36576" tIns="18288" rIns="36576" bIns="18288" rtlCol="0" anchor="ctr"/>
          <a:lstStyle/>
          <a:p>
            <a:pPr algn="ctr"/>
            <a:r>
              <a:rPr sz="700" b="1" dirty="0">
                <a:solidFill>
                  <a:srgbClr val="000000"/>
                </a:solidFill>
                <a:latin typeface="맑은 고딕"/>
                <a:ea typeface="맑은 고딕"/>
              </a:rPr>
              <a:t>State</a:t>
            </a:r>
            <a:r>
              <a:rPr lang="en-US" sz="700" b="1" dirty="0">
                <a:solidFill>
                  <a:srgbClr val="000000"/>
                </a:solidFill>
                <a:latin typeface="맑은 고딕"/>
                <a:ea typeface="맑은 고딕"/>
              </a:rPr>
              <a:t> </a:t>
            </a:r>
            <a:r>
              <a:rPr sz="700" b="1" dirty="0">
                <a:solidFill>
                  <a:srgbClr val="000000"/>
                </a:solidFill>
                <a:latin typeface="맑은 고딕"/>
                <a:ea typeface="맑은 고딕"/>
              </a:rPr>
              <a:t>View</a:t>
            </a:r>
          </a:p>
        </p:txBody>
      </p:sp>
      <p:cxnSp>
        <p:nvCxnSpPr>
          <p:cNvPr id="184" name="Connector 203"/>
          <p:cNvCxnSpPr/>
          <p:nvPr/>
        </p:nvCxnSpPr>
        <p:spPr>
          <a:xfrm>
            <a:off x="9614474" y="4147871"/>
            <a:ext cx="118872" cy="0"/>
          </a:xfrm>
          <a:prstGeom prst="line">
            <a:avLst/>
          </a:prstGeom>
          <a:ln w="12700">
            <a:solidFill>
              <a:srgbClr val="C55A11"/>
            </a:solidFill>
            <a:tailEnd type="triangle"/>
          </a:ln>
        </p:spPr>
      </p:cxnSp>
      <p:cxnSp>
        <p:nvCxnSpPr>
          <p:cNvPr id="185" name="Connector 204"/>
          <p:cNvCxnSpPr>
            <a:stCxn id="183" idx="0"/>
            <a:endCxn id="172" idx="2"/>
          </p:cNvCxnSpPr>
          <p:nvPr/>
        </p:nvCxnSpPr>
        <p:spPr>
          <a:xfrm rot="16200000" flipV="1">
            <a:off x="8929312" y="2817077"/>
            <a:ext cx="464502" cy="1873070"/>
          </a:xfrm>
          <a:prstGeom prst="bentConnector3">
            <a:avLst>
              <a:gd name="adj1" fmla="val 50000"/>
            </a:avLst>
          </a:prstGeom>
          <a:ln w="15875">
            <a:solidFill>
              <a:srgbClr val="C55A11"/>
            </a:solidFill>
            <a:tailEnd type="triangle"/>
          </a:ln>
        </p:spPr>
      </p:cxnSp>
      <p:sp>
        <p:nvSpPr>
          <p:cNvPr id="186" name="Rectangle 213"/>
          <p:cNvSpPr/>
          <p:nvPr/>
        </p:nvSpPr>
        <p:spPr>
          <a:xfrm>
            <a:off x="10954512" y="1855359"/>
            <a:ext cx="914400" cy="1097280"/>
          </a:xfrm>
          <a:prstGeom prst="rect">
            <a:avLst/>
          </a:prstGeom>
          <a:solidFill>
            <a:srgbClr val="FFFFFF"/>
          </a:solidFill>
          <a:ln w="15875">
            <a:solidFill>
              <a:srgbClr val="7F7F7F"/>
            </a:solidFill>
          </a:ln>
          <a:effectLst/>
        </p:spPr>
        <p:txBody>
          <a:bodyPr rtlCol="0" anchor="ctr"/>
          <a:lstStyle/>
          <a:p>
            <a:pPr algn="ctr"/>
            <a:endParaRPr/>
          </a:p>
        </p:txBody>
      </p:sp>
      <p:sp>
        <p:nvSpPr>
          <p:cNvPr id="187" name="Rectangle 214"/>
          <p:cNvSpPr/>
          <p:nvPr/>
        </p:nvSpPr>
        <p:spPr>
          <a:xfrm>
            <a:off x="10954512" y="1855359"/>
            <a:ext cx="914400" cy="173736"/>
          </a:xfrm>
          <a:prstGeom prst="rect">
            <a:avLst/>
          </a:prstGeom>
          <a:solidFill>
            <a:srgbClr val="7F7F7F"/>
          </a:solidFill>
          <a:ln w="12700">
            <a:solidFill>
              <a:srgbClr val="7F7F7F"/>
            </a:solidFill>
          </a:ln>
          <a:effectLst/>
        </p:spPr>
        <p:txBody>
          <a:bodyPr wrap="square" lIns="45720" tIns="0" rIns="18288" bIns="0" rtlCol="0" anchor="ctr"/>
          <a:lstStyle/>
          <a:p>
            <a:pPr algn="l"/>
            <a:r>
              <a:rPr sz="800" b="1">
                <a:solidFill>
                  <a:srgbClr val="FFFFFF"/>
                </a:solidFill>
                <a:latin typeface="맑은 고딕"/>
                <a:ea typeface="맑은 고딕"/>
              </a:rPr>
              <a:t>«pod» vLLM</a:t>
            </a:r>
          </a:p>
        </p:txBody>
      </p:sp>
      <p:sp>
        <p:nvSpPr>
          <p:cNvPr id="189" name="Rectangle 215"/>
          <p:cNvSpPr/>
          <p:nvPr/>
        </p:nvSpPr>
        <p:spPr>
          <a:xfrm>
            <a:off x="11009376" y="2102247"/>
            <a:ext cx="804672" cy="778374"/>
          </a:xfrm>
          <a:prstGeom prst="rect">
            <a:avLst/>
          </a:prstGeom>
          <a:solidFill>
            <a:srgbClr val="F2F2F2"/>
          </a:solidFill>
          <a:ln w="12700">
            <a:solidFill>
              <a:srgbClr val="7F7F7F"/>
            </a:solidFill>
          </a:ln>
          <a:effectLst/>
        </p:spPr>
        <p:txBody>
          <a:bodyPr wrap="square" lIns="36576" tIns="18288" rIns="36576" bIns="18288" rtlCol="0" anchor="ctr"/>
          <a:lstStyle/>
          <a:p>
            <a:pPr algn="ctr"/>
            <a:r>
              <a:rPr lang="en-US" altLang="ko-KR" sz="800" b="1" dirty="0" err="1">
                <a:solidFill>
                  <a:srgbClr val="000000"/>
                </a:solidFill>
                <a:ea typeface="맑은 고딕"/>
              </a:rPr>
              <a:t>vLLM</a:t>
            </a:r>
            <a:r>
              <a:rPr lang="en-US" altLang="ko-KR" sz="800" b="1" dirty="0">
                <a:solidFill>
                  <a:srgbClr val="000000"/>
                </a:solidFill>
                <a:ea typeface="맑은 고딕"/>
              </a:rPr>
              <a:t> (decode)</a:t>
            </a:r>
          </a:p>
        </p:txBody>
      </p:sp>
      <p:sp>
        <p:nvSpPr>
          <p:cNvPr id="190" name="Rectangle 216"/>
          <p:cNvSpPr/>
          <p:nvPr/>
        </p:nvSpPr>
        <p:spPr>
          <a:xfrm>
            <a:off x="10954512" y="3318399"/>
            <a:ext cx="914400" cy="1120311"/>
          </a:xfrm>
          <a:prstGeom prst="rect">
            <a:avLst/>
          </a:prstGeom>
          <a:solidFill>
            <a:srgbClr val="FFFFFF"/>
          </a:solidFill>
          <a:ln w="15875">
            <a:solidFill>
              <a:srgbClr val="7F7F7F"/>
            </a:solidFill>
          </a:ln>
          <a:effectLst/>
        </p:spPr>
        <p:txBody>
          <a:bodyPr rtlCol="0" anchor="ctr"/>
          <a:lstStyle/>
          <a:p>
            <a:pPr algn="ctr"/>
            <a:endParaRPr/>
          </a:p>
        </p:txBody>
      </p:sp>
      <p:sp>
        <p:nvSpPr>
          <p:cNvPr id="191" name="Rectangle 217"/>
          <p:cNvSpPr/>
          <p:nvPr/>
        </p:nvSpPr>
        <p:spPr>
          <a:xfrm>
            <a:off x="10954512" y="3318399"/>
            <a:ext cx="914400" cy="173736"/>
          </a:xfrm>
          <a:prstGeom prst="rect">
            <a:avLst/>
          </a:prstGeom>
          <a:solidFill>
            <a:srgbClr val="7F7F7F"/>
          </a:solidFill>
          <a:ln w="12700">
            <a:solidFill>
              <a:srgbClr val="7F7F7F"/>
            </a:solidFill>
          </a:ln>
          <a:effectLst/>
        </p:spPr>
        <p:txBody>
          <a:bodyPr wrap="square" lIns="45720" tIns="0" rIns="18288" bIns="0" rtlCol="0" anchor="ctr"/>
          <a:lstStyle/>
          <a:p>
            <a:pPr algn="l"/>
            <a:r>
              <a:rPr sz="800" b="1">
                <a:solidFill>
                  <a:srgbClr val="FFFFFF"/>
                </a:solidFill>
                <a:latin typeface="맑은 고딕"/>
                <a:ea typeface="맑은 고딕"/>
              </a:rPr>
              <a:t>«pod» vLLM</a:t>
            </a:r>
          </a:p>
        </p:txBody>
      </p:sp>
      <p:sp>
        <p:nvSpPr>
          <p:cNvPr id="192" name="Rectangle 218"/>
          <p:cNvSpPr/>
          <p:nvPr/>
        </p:nvSpPr>
        <p:spPr>
          <a:xfrm>
            <a:off x="11009376" y="3581876"/>
            <a:ext cx="804672" cy="736966"/>
          </a:xfrm>
          <a:prstGeom prst="rect">
            <a:avLst/>
          </a:prstGeom>
          <a:solidFill>
            <a:srgbClr val="F2F2F2"/>
          </a:solidFill>
          <a:ln w="12700">
            <a:solidFill>
              <a:srgbClr val="7F7F7F"/>
            </a:solidFill>
          </a:ln>
          <a:effectLst/>
        </p:spPr>
        <p:txBody>
          <a:bodyPr wrap="square" lIns="36576" tIns="18288" rIns="36576" bIns="18288" rtlCol="0" anchor="ctr"/>
          <a:lstStyle/>
          <a:p>
            <a:pPr algn="ctr"/>
            <a:r>
              <a:rPr lang="en-US" altLang="ko-KR" sz="800" b="1" dirty="0" err="1">
                <a:solidFill>
                  <a:srgbClr val="000000"/>
                </a:solidFill>
                <a:ea typeface="맑은 고딕"/>
              </a:rPr>
              <a:t>vLLM</a:t>
            </a:r>
            <a:r>
              <a:rPr lang="en-US" altLang="ko-KR" sz="800" b="1" dirty="0">
                <a:solidFill>
                  <a:srgbClr val="000000"/>
                </a:solidFill>
                <a:ea typeface="맑은 고딕"/>
              </a:rPr>
              <a:t> (prefill)</a:t>
            </a:r>
          </a:p>
        </p:txBody>
      </p:sp>
      <p:cxnSp>
        <p:nvCxnSpPr>
          <p:cNvPr id="193" name="Connector 219"/>
          <p:cNvCxnSpPr/>
          <p:nvPr/>
        </p:nvCxnSpPr>
        <p:spPr>
          <a:xfrm>
            <a:off x="11411712" y="2945781"/>
            <a:ext cx="0" cy="377851"/>
          </a:xfrm>
          <a:prstGeom prst="line">
            <a:avLst/>
          </a:prstGeom>
          <a:ln w="15875">
            <a:solidFill>
              <a:srgbClr val="404040"/>
            </a:solidFill>
            <a:headEnd type="triangle"/>
            <a:tailEnd type="triangle"/>
          </a:ln>
        </p:spPr>
      </p:cxnSp>
      <p:sp>
        <p:nvSpPr>
          <p:cNvPr id="194" name="Oval 220"/>
          <p:cNvSpPr/>
          <p:nvPr/>
        </p:nvSpPr>
        <p:spPr>
          <a:xfrm>
            <a:off x="11553443" y="3112659"/>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4</a:t>
            </a:r>
          </a:p>
        </p:txBody>
      </p:sp>
      <p:cxnSp>
        <p:nvCxnSpPr>
          <p:cNvPr id="195" name="Connector 221"/>
          <p:cNvCxnSpPr/>
          <p:nvPr/>
        </p:nvCxnSpPr>
        <p:spPr>
          <a:xfrm flipV="1">
            <a:off x="10716767" y="2513727"/>
            <a:ext cx="292609" cy="164592"/>
          </a:xfrm>
          <a:prstGeom prst="line">
            <a:avLst/>
          </a:prstGeom>
          <a:ln w="15875">
            <a:solidFill>
              <a:srgbClr val="404040"/>
            </a:solidFill>
            <a:tailEnd type="triangle"/>
          </a:ln>
        </p:spPr>
      </p:cxnSp>
      <p:cxnSp>
        <p:nvCxnSpPr>
          <p:cNvPr id="196" name="Connector 223"/>
          <p:cNvCxnSpPr/>
          <p:nvPr/>
        </p:nvCxnSpPr>
        <p:spPr>
          <a:xfrm flipH="1">
            <a:off x="10716767" y="4141358"/>
            <a:ext cx="292609" cy="0"/>
          </a:xfrm>
          <a:prstGeom prst="line">
            <a:avLst/>
          </a:prstGeom>
          <a:ln w="15875">
            <a:solidFill>
              <a:srgbClr val="404040"/>
            </a:solidFill>
            <a:prstDash val="solid"/>
            <a:tailEnd type="triangle"/>
          </a:ln>
        </p:spPr>
      </p:cxnSp>
      <p:sp>
        <p:nvSpPr>
          <p:cNvPr id="198" name="Oval 224"/>
          <p:cNvSpPr/>
          <p:nvPr/>
        </p:nvSpPr>
        <p:spPr>
          <a:xfrm>
            <a:off x="10785347" y="3917330"/>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5</a:t>
            </a:r>
          </a:p>
        </p:txBody>
      </p:sp>
      <p:sp>
        <p:nvSpPr>
          <p:cNvPr id="199" name="Rectangle 229"/>
          <p:cNvSpPr/>
          <p:nvPr/>
        </p:nvSpPr>
        <p:spPr>
          <a:xfrm>
            <a:off x="9349052" y="4516373"/>
            <a:ext cx="1554480" cy="146304"/>
          </a:xfrm>
          <a:prstGeom prst="rect">
            <a:avLst/>
          </a:prstGeom>
          <a:solidFill>
            <a:srgbClr val="FBE5D6"/>
          </a:solidFill>
          <a:ln w="19050">
            <a:solidFill>
              <a:srgbClr val="C55A11"/>
            </a:solidFill>
          </a:ln>
          <a:effectLst/>
        </p:spPr>
        <p:txBody>
          <a:bodyPr wrap="square" lIns="36576" tIns="18288" rIns="36576" bIns="18288" rtlCol="0" anchor="ctr"/>
          <a:lstStyle/>
          <a:p>
            <a:pPr algn="ctr"/>
            <a:r>
              <a:rPr lang="ko-KR" altLang="en-US" sz="700" b="1" dirty="0">
                <a:solidFill>
                  <a:srgbClr val="000000"/>
                </a:solidFill>
                <a:latin typeface="맑은 고딕"/>
                <a:ea typeface="맑은 고딕"/>
              </a:rPr>
              <a:t>자체 </a:t>
            </a:r>
            <a:r>
              <a:rPr sz="700" b="1" dirty="0" err="1">
                <a:solidFill>
                  <a:srgbClr val="000000"/>
                </a:solidFill>
                <a:latin typeface="맑은 고딕"/>
                <a:ea typeface="맑은 고딕"/>
              </a:rPr>
              <a:t>개발</a:t>
            </a:r>
            <a:endParaRPr sz="700" b="1" dirty="0">
              <a:solidFill>
                <a:srgbClr val="000000"/>
              </a:solidFill>
              <a:latin typeface="맑은 고딕"/>
              <a:ea typeface="맑은 고딕"/>
            </a:endParaRPr>
          </a:p>
        </p:txBody>
      </p:sp>
      <p:sp>
        <p:nvSpPr>
          <p:cNvPr id="201" name="Rectangle 231"/>
          <p:cNvSpPr/>
          <p:nvPr/>
        </p:nvSpPr>
        <p:spPr>
          <a:xfrm>
            <a:off x="10972800" y="4523670"/>
            <a:ext cx="868680" cy="146304"/>
          </a:xfrm>
          <a:prstGeom prst="rect">
            <a:avLst/>
          </a:prstGeom>
          <a:solidFill>
            <a:srgbClr val="F2F2F2"/>
          </a:solidFill>
          <a:ln w="12700">
            <a:solidFill>
              <a:srgbClr val="7F7F7F"/>
            </a:solidFill>
          </a:ln>
          <a:effectLst/>
        </p:spPr>
        <p:txBody>
          <a:bodyPr wrap="square" lIns="36576" tIns="18288" rIns="36576" bIns="18288" rtlCol="0" anchor="ctr"/>
          <a:lstStyle/>
          <a:p>
            <a:pPr algn="ctr"/>
            <a:r>
              <a:rPr sz="700" b="1" dirty="0" err="1">
                <a:solidFill>
                  <a:srgbClr val="000000"/>
                </a:solidFill>
                <a:latin typeface="맑은 고딕"/>
                <a:ea typeface="맑은 고딕"/>
              </a:rPr>
              <a:t>외부</a:t>
            </a:r>
            <a:r>
              <a:rPr sz="700" b="1" dirty="0">
                <a:solidFill>
                  <a:srgbClr val="000000"/>
                </a:solidFill>
                <a:latin typeface="맑은 고딕"/>
                <a:ea typeface="맑은 고딕"/>
              </a:rPr>
              <a:t> </a:t>
            </a:r>
            <a:r>
              <a:rPr sz="700" b="1" dirty="0" err="1">
                <a:solidFill>
                  <a:srgbClr val="000000"/>
                </a:solidFill>
                <a:latin typeface="맑은 고딕"/>
                <a:ea typeface="맑은 고딕"/>
              </a:rPr>
              <a:t>고정</a:t>
            </a:r>
            <a:r>
              <a:rPr sz="700" b="1" dirty="0">
                <a:solidFill>
                  <a:srgbClr val="000000"/>
                </a:solidFill>
                <a:latin typeface="맑은 고딕"/>
                <a:ea typeface="맑은 고딕"/>
              </a:rPr>
              <a:t>(</a:t>
            </a:r>
            <a:r>
              <a:rPr sz="700" b="1" dirty="0" err="1">
                <a:solidFill>
                  <a:srgbClr val="000000"/>
                </a:solidFill>
                <a:latin typeface="맑은 고딕"/>
                <a:ea typeface="맑은 고딕"/>
              </a:rPr>
              <a:t>vLLM</a:t>
            </a:r>
            <a:r>
              <a:rPr sz="700" b="1" dirty="0">
                <a:solidFill>
                  <a:srgbClr val="000000"/>
                </a:solidFill>
                <a:latin typeface="맑은 고딕"/>
                <a:ea typeface="맑은 고딕"/>
              </a:rPr>
              <a:t>)</a:t>
            </a:r>
          </a:p>
        </p:txBody>
      </p:sp>
      <p:sp>
        <p:nvSpPr>
          <p:cNvPr id="202" name="Rectangle 186"/>
          <p:cNvSpPr/>
          <p:nvPr/>
        </p:nvSpPr>
        <p:spPr>
          <a:xfrm>
            <a:off x="7262121" y="2486295"/>
            <a:ext cx="3491223" cy="1295578"/>
          </a:xfrm>
          <a:prstGeom prst="rect">
            <a:avLst/>
          </a:prstGeom>
          <a:noFill/>
          <a:ln w="6350">
            <a:solidFill>
              <a:srgbClr val="C55A11"/>
            </a:solidFill>
            <a:prstDash val="dash"/>
          </a:ln>
          <a:effectLst/>
        </p:spPr>
        <p:txBody>
          <a:bodyPr rtlCol="0" anchor="ctr"/>
          <a:lstStyle/>
          <a:p>
            <a:pPr algn="ctr"/>
            <a:endParaRPr/>
          </a:p>
        </p:txBody>
      </p:sp>
      <p:sp>
        <p:nvSpPr>
          <p:cNvPr id="203" name="TextBox 202"/>
          <p:cNvSpPr txBox="1"/>
          <p:nvPr/>
        </p:nvSpPr>
        <p:spPr>
          <a:xfrm>
            <a:off x="7328917" y="2487130"/>
            <a:ext cx="441197" cy="100027"/>
          </a:xfrm>
          <a:prstGeom prst="rect">
            <a:avLst/>
          </a:prstGeom>
          <a:noFill/>
        </p:spPr>
        <p:txBody>
          <a:bodyPr wrap="square" lIns="0" tIns="0" rIns="0" bIns="0" anchor="t">
            <a:spAutoFit/>
          </a:bodyPr>
          <a:lstStyle/>
          <a:p>
            <a:pPr algn="l"/>
            <a:r>
              <a:rPr sz="650" b="1" dirty="0">
                <a:solidFill>
                  <a:srgbClr val="C55A11"/>
                </a:solidFill>
                <a:latin typeface="맑은 고딕"/>
                <a:ea typeface="맑은 고딕"/>
              </a:rPr>
              <a:t>Pipeline</a:t>
            </a:r>
          </a:p>
        </p:txBody>
      </p:sp>
      <p:sp>
        <p:nvSpPr>
          <p:cNvPr id="204" name="Rectangle 186"/>
          <p:cNvSpPr/>
          <p:nvPr/>
        </p:nvSpPr>
        <p:spPr>
          <a:xfrm>
            <a:off x="7262121" y="3873002"/>
            <a:ext cx="3491223" cy="511943"/>
          </a:xfrm>
          <a:prstGeom prst="rect">
            <a:avLst/>
          </a:prstGeom>
          <a:noFill/>
          <a:ln w="6350">
            <a:solidFill>
              <a:srgbClr val="C55A11"/>
            </a:solidFill>
            <a:prstDash val="dash"/>
          </a:ln>
          <a:effectLst/>
        </p:spPr>
        <p:txBody>
          <a:bodyPr rtlCol="0" anchor="ctr"/>
          <a:lstStyle/>
          <a:p>
            <a:pPr algn="ctr"/>
            <a:endParaRPr/>
          </a:p>
        </p:txBody>
      </p:sp>
      <p:sp>
        <p:nvSpPr>
          <p:cNvPr id="205" name="TextBox 204"/>
          <p:cNvSpPr txBox="1"/>
          <p:nvPr/>
        </p:nvSpPr>
        <p:spPr>
          <a:xfrm>
            <a:off x="7301483" y="3896606"/>
            <a:ext cx="1097280" cy="100027"/>
          </a:xfrm>
          <a:prstGeom prst="rect">
            <a:avLst/>
          </a:prstGeom>
          <a:noFill/>
        </p:spPr>
        <p:txBody>
          <a:bodyPr wrap="square" lIns="0" tIns="0" rIns="0" bIns="0" anchor="t">
            <a:spAutoFit/>
          </a:bodyPr>
          <a:lstStyle/>
          <a:p>
            <a:pPr algn="l"/>
            <a:r>
              <a:rPr lang="en-US" sz="650" b="1" dirty="0">
                <a:solidFill>
                  <a:srgbClr val="C55A11"/>
                </a:solidFill>
                <a:latin typeface="맑은 고딕"/>
                <a:ea typeface="맑은 고딕"/>
              </a:rPr>
              <a:t>State Plane</a:t>
            </a:r>
            <a:endParaRPr sz="650" b="1" dirty="0">
              <a:solidFill>
                <a:srgbClr val="C55A11"/>
              </a:solidFill>
              <a:latin typeface="맑은 고딕"/>
              <a:ea typeface="맑은 고딕"/>
            </a:endParaRPr>
          </a:p>
        </p:txBody>
      </p:sp>
      <p:cxnSp>
        <p:nvCxnSpPr>
          <p:cNvPr id="206" name="Connector 194"/>
          <p:cNvCxnSpPr/>
          <p:nvPr/>
        </p:nvCxnSpPr>
        <p:spPr>
          <a:xfrm>
            <a:off x="9007383" y="2888631"/>
            <a:ext cx="0" cy="201168"/>
          </a:xfrm>
          <a:prstGeom prst="line">
            <a:avLst/>
          </a:prstGeom>
          <a:ln w="15875">
            <a:solidFill>
              <a:srgbClr val="5E35B1"/>
            </a:solidFill>
            <a:tailEnd type="triangle"/>
          </a:ln>
        </p:spPr>
      </p:cxnSp>
      <p:sp>
        <p:nvSpPr>
          <p:cNvPr id="207" name="Rectangle 186"/>
          <p:cNvSpPr/>
          <p:nvPr/>
        </p:nvSpPr>
        <p:spPr>
          <a:xfrm>
            <a:off x="7262121" y="2045307"/>
            <a:ext cx="3491223" cy="374525"/>
          </a:xfrm>
          <a:prstGeom prst="rect">
            <a:avLst/>
          </a:prstGeom>
          <a:noFill/>
          <a:ln w="6350">
            <a:solidFill>
              <a:srgbClr val="C55A11"/>
            </a:solidFill>
            <a:prstDash val="dash"/>
          </a:ln>
          <a:effectLst/>
        </p:spPr>
        <p:txBody>
          <a:bodyPr rtlCol="0" anchor="ctr"/>
          <a:lstStyle/>
          <a:p>
            <a:pPr algn="ctr"/>
            <a:endParaRPr/>
          </a:p>
        </p:txBody>
      </p:sp>
      <p:sp>
        <p:nvSpPr>
          <p:cNvPr id="208" name="TextBox 207"/>
          <p:cNvSpPr txBox="1"/>
          <p:nvPr/>
        </p:nvSpPr>
        <p:spPr>
          <a:xfrm>
            <a:off x="7328917" y="2045307"/>
            <a:ext cx="441197" cy="100027"/>
          </a:xfrm>
          <a:prstGeom prst="rect">
            <a:avLst/>
          </a:prstGeom>
          <a:noFill/>
        </p:spPr>
        <p:txBody>
          <a:bodyPr wrap="square" lIns="0" tIns="0" rIns="0" bIns="0" anchor="t">
            <a:spAutoFit/>
          </a:bodyPr>
          <a:lstStyle/>
          <a:p>
            <a:pPr algn="l"/>
            <a:r>
              <a:rPr lang="en-US" sz="650" b="1" dirty="0">
                <a:solidFill>
                  <a:srgbClr val="C55A11"/>
                </a:solidFill>
                <a:latin typeface="맑은 고딕"/>
                <a:ea typeface="맑은 고딕"/>
              </a:rPr>
              <a:t>Ingress</a:t>
            </a:r>
            <a:endParaRPr sz="650" b="1" dirty="0">
              <a:solidFill>
                <a:srgbClr val="C55A11"/>
              </a:solidFill>
              <a:latin typeface="맑은 고딕"/>
              <a:ea typeface="맑은 고딕"/>
            </a:endParaRPr>
          </a:p>
        </p:txBody>
      </p:sp>
      <p:sp>
        <p:nvSpPr>
          <p:cNvPr id="209" name="Oval 166"/>
          <p:cNvSpPr/>
          <p:nvPr/>
        </p:nvSpPr>
        <p:spPr>
          <a:xfrm>
            <a:off x="3888485" y="3079262"/>
            <a:ext cx="155448" cy="155448"/>
          </a:xfrm>
          <a:prstGeom prst="ellipse">
            <a:avLst/>
          </a:prstGeom>
          <a:solidFill>
            <a:srgbClr val="404040"/>
          </a:solidFill>
          <a:ln w="9525">
            <a:solidFill>
              <a:srgbClr val="FFFFFF"/>
            </a:solidFill>
          </a:ln>
          <a:effectLst/>
        </p:spPr>
        <p:txBody>
          <a:bodyPr wrap="square" lIns="0" tIns="0" rIns="0" bIns="0" rtlCol="0" anchor="ctr"/>
          <a:lstStyle/>
          <a:p>
            <a:pPr algn="ctr"/>
            <a:r>
              <a:rPr sz="650" b="1" dirty="0">
                <a:solidFill>
                  <a:srgbClr val="FFFFFF"/>
                </a:solidFill>
                <a:latin typeface="맑은 고딕"/>
                <a:ea typeface="맑은 고딕"/>
              </a:rPr>
              <a:t>7</a:t>
            </a:r>
          </a:p>
        </p:txBody>
      </p:sp>
      <p:sp>
        <p:nvSpPr>
          <p:cNvPr id="210" name="Oval 182"/>
          <p:cNvSpPr/>
          <p:nvPr/>
        </p:nvSpPr>
        <p:spPr>
          <a:xfrm>
            <a:off x="7932419" y="2380307"/>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dirty="0">
                <a:solidFill>
                  <a:srgbClr val="FFFFFF"/>
                </a:solidFill>
                <a:latin typeface="맑은 고딕"/>
                <a:ea typeface="맑은 고딕"/>
              </a:rPr>
              <a:t>2</a:t>
            </a:r>
          </a:p>
        </p:txBody>
      </p:sp>
      <p:cxnSp>
        <p:nvCxnSpPr>
          <p:cNvPr id="211" name="Connector 221"/>
          <p:cNvCxnSpPr/>
          <p:nvPr/>
        </p:nvCxnSpPr>
        <p:spPr>
          <a:xfrm>
            <a:off x="10730484" y="2834930"/>
            <a:ext cx="233171" cy="809225"/>
          </a:xfrm>
          <a:prstGeom prst="line">
            <a:avLst/>
          </a:prstGeom>
          <a:ln w="15875">
            <a:solidFill>
              <a:srgbClr val="404040"/>
            </a:solidFill>
            <a:tailEnd type="triangle"/>
          </a:ln>
        </p:spPr>
      </p:cxnSp>
      <p:sp>
        <p:nvSpPr>
          <p:cNvPr id="212" name="Oval 222"/>
          <p:cNvSpPr/>
          <p:nvPr/>
        </p:nvSpPr>
        <p:spPr>
          <a:xfrm>
            <a:off x="10771632" y="2701179"/>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3</a:t>
            </a:r>
          </a:p>
        </p:txBody>
      </p:sp>
      <p:sp>
        <p:nvSpPr>
          <p:cNvPr id="213" name="Rectangle 190"/>
          <p:cNvSpPr/>
          <p:nvPr/>
        </p:nvSpPr>
        <p:spPr>
          <a:xfrm>
            <a:off x="9217152" y="2945781"/>
            <a:ext cx="1045464" cy="137160"/>
          </a:xfrm>
          <a:prstGeom prst="rect">
            <a:avLst/>
          </a:prstGeom>
          <a:solidFill>
            <a:srgbClr val="EDE7F6"/>
          </a:solidFill>
          <a:ln w="9525">
            <a:solidFill>
              <a:srgbClr val="5E35B1"/>
            </a:solidFill>
          </a:ln>
          <a:effectLst/>
        </p:spPr>
        <p:txBody>
          <a:bodyPr wrap="square" lIns="18288" tIns="0" rIns="18288" bIns="0" rtlCol="0" anchor="ctr"/>
          <a:lstStyle/>
          <a:p>
            <a:pPr algn="ctr"/>
            <a:r>
              <a:rPr sz="600" b="1" dirty="0">
                <a:solidFill>
                  <a:srgbClr val="5E35B1"/>
                </a:solidFill>
                <a:latin typeface="맑은 고딕"/>
                <a:ea typeface="맑은 고딕"/>
              </a:rPr>
              <a:t>«Strategy» P/D </a:t>
            </a:r>
            <a:r>
              <a:rPr lang="ko-KR" altLang="en-US" sz="600" b="1" dirty="0">
                <a:solidFill>
                  <a:srgbClr val="5E35B1"/>
                </a:solidFill>
                <a:latin typeface="맑은 고딕"/>
                <a:ea typeface="맑은 고딕"/>
              </a:rPr>
              <a:t>결정 </a:t>
            </a:r>
            <a:r>
              <a:rPr sz="600" b="1" dirty="0" err="1">
                <a:solidFill>
                  <a:srgbClr val="5E35B1"/>
                </a:solidFill>
                <a:latin typeface="맑은 고딕"/>
                <a:ea typeface="맑은 고딕"/>
              </a:rPr>
              <a:t>정책</a:t>
            </a:r>
            <a:endParaRPr sz="600" b="1" dirty="0">
              <a:solidFill>
                <a:srgbClr val="5E35B1"/>
              </a:solidFill>
              <a:latin typeface="맑은 고딕"/>
              <a:ea typeface="맑은 고딕"/>
            </a:endParaRPr>
          </a:p>
        </p:txBody>
      </p:sp>
      <p:sp>
        <p:nvSpPr>
          <p:cNvPr id="214" name="Rectangle 191"/>
          <p:cNvSpPr/>
          <p:nvPr/>
        </p:nvSpPr>
        <p:spPr>
          <a:xfrm>
            <a:off x="9217152" y="3113929"/>
            <a:ext cx="1536192" cy="217170"/>
          </a:xfrm>
          <a:prstGeom prst="rect">
            <a:avLst/>
          </a:prstGeom>
          <a:solidFill>
            <a:srgbClr val="FFFFFF"/>
          </a:solidFill>
          <a:ln w="15875">
            <a:solidFill>
              <a:srgbClr val="5E35B1"/>
            </a:solidFill>
          </a:ln>
          <a:effectLst/>
        </p:spPr>
        <p:txBody>
          <a:bodyPr rtlCol="0" anchor="ctr"/>
          <a:lstStyle/>
          <a:p>
            <a:pPr algn="ctr"/>
            <a:endParaRPr/>
          </a:p>
        </p:txBody>
      </p:sp>
      <p:sp>
        <p:nvSpPr>
          <p:cNvPr id="215" name="TextBox 214"/>
          <p:cNvSpPr txBox="1"/>
          <p:nvPr/>
        </p:nvSpPr>
        <p:spPr>
          <a:xfrm>
            <a:off x="9424327" y="3162223"/>
            <a:ext cx="1209124" cy="118872"/>
          </a:xfrm>
          <a:prstGeom prst="rect">
            <a:avLst/>
          </a:prstGeom>
          <a:noFill/>
        </p:spPr>
        <p:txBody>
          <a:bodyPr wrap="square" lIns="0" tIns="0" rIns="0" bIns="0" anchor="t">
            <a:spAutoFit/>
          </a:bodyPr>
          <a:lstStyle/>
          <a:p>
            <a:pPr algn="l"/>
            <a:r>
              <a:rPr sz="650" b="1" dirty="0">
                <a:solidFill>
                  <a:srgbClr val="5E35B1"/>
                </a:solidFill>
                <a:latin typeface="맑은 고딕"/>
                <a:ea typeface="맑은 고딕"/>
              </a:rPr>
              <a:t>«interface» </a:t>
            </a:r>
            <a:r>
              <a:rPr sz="650" b="1" dirty="0" err="1">
                <a:solidFill>
                  <a:srgbClr val="5E35B1"/>
                </a:solidFill>
                <a:latin typeface="맑은 고딕"/>
                <a:ea typeface="맑은 고딕"/>
              </a:rPr>
              <a:t>PDPlanStrategy</a:t>
            </a:r>
            <a:endParaRPr sz="650" b="1" dirty="0">
              <a:solidFill>
                <a:srgbClr val="5E35B1"/>
              </a:solidFill>
              <a:latin typeface="맑은 고딕"/>
              <a:ea typeface="맑은 고딕"/>
            </a:endParaRPr>
          </a:p>
        </p:txBody>
      </p:sp>
      <p:sp>
        <p:nvSpPr>
          <p:cNvPr id="218" name="Oval 205"/>
          <p:cNvSpPr/>
          <p:nvPr/>
        </p:nvSpPr>
        <p:spPr>
          <a:xfrm>
            <a:off x="8508745" y="3721044"/>
            <a:ext cx="155448" cy="155448"/>
          </a:xfrm>
          <a:prstGeom prst="ellipse">
            <a:avLst/>
          </a:prstGeom>
          <a:solidFill>
            <a:srgbClr val="C55A11"/>
          </a:solidFill>
          <a:ln w="9525">
            <a:solidFill>
              <a:srgbClr val="FFFFFF"/>
            </a:solidFill>
          </a:ln>
          <a:effectLst/>
        </p:spPr>
        <p:txBody>
          <a:bodyPr wrap="square" lIns="0" tIns="0" rIns="0" bIns="0" rtlCol="0" anchor="ctr"/>
          <a:lstStyle/>
          <a:p>
            <a:pPr algn="ctr"/>
            <a:r>
              <a:rPr sz="650" b="1">
                <a:solidFill>
                  <a:srgbClr val="FFFFFF"/>
                </a:solidFill>
                <a:latin typeface="맑은 고딕"/>
                <a:ea typeface="맑은 고딕"/>
              </a:rPr>
              <a:t>6</a:t>
            </a:r>
          </a:p>
        </p:txBody>
      </p:sp>
      <p:sp>
        <p:nvSpPr>
          <p:cNvPr id="226" name="실행 단추: 앞으로 또는 다음 225">
            <a:hlinkClick r:id="" action="ppaction://noaction" highlightClick="1"/>
          </p:cNvPr>
          <p:cNvSpPr/>
          <p:nvPr/>
        </p:nvSpPr>
        <p:spPr>
          <a:xfrm>
            <a:off x="508836" y="6404267"/>
            <a:ext cx="250190" cy="193383"/>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p:cNvSpPr/>
          <p:nvPr/>
        </p:nvSpPr>
        <p:spPr>
          <a:xfrm>
            <a:off x="6583680" y="1044054"/>
            <a:ext cx="5524500" cy="57072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3940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5707</Words>
  <Application>Microsoft Office PowerPoint</Application>
  <PresentationFormat>와이드스크린</PresentationFormat>
  <Paragraphs>852</Paragraphs>
  <Slides>10</Slides>
  <Notes>10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10</vt:i4>
      </vt:variant>
    </vt:vector>
  </HeadingPairs>
  <TitlesOfParts>
    <vt:vector size="16" baseType="lpstr">
      <vt:lpstr>Samsung Sharp Sans Bold</vt:lpstr>
      <vt:lpstr>맑은 고딕</vt:lpstr>
      <vt:lpstr>맑은 고딕</vt:lpstr>
      <vt:lpstr>Arial</vt:lpstr>
      <vt:lpstr>Wingdings</vt:lpstr>
      <vt:lpstr>Office 테마</vt:lpstr>
      <vt:lpstr>DP1. 이기종 메모리 기반 Data Migration 결정 구조 - 배경</vt:lpstr>
      <vt:lpstr>DP1. 이기종 메모리 기반 Data Migration 결정 구조 - 배경</vt:lpstr>
      <vt:lpstr>DP1. 이기종 메모리 기반 Data Migration 결정 구조 - 설계</vt:lpstr>
      <vt:lpstr>DP1. 이기종 메모리 기반 Data Migration 결정 구조 - 설계</vt:lpstr>
      <vt:lpstr>DP2. 이기종 메모리 환경의 Prefill/Decode 실행 위치 결정 구조 - 사전 지식</vt:lpstr>
      <vt:lpstr>DP2. 이기종 메모리 환경의 Prefill/Decode 실행 위치 결정 구조 - 배경</vt:lpstr>
      <vt:lpstr>DP2. 이기종 메모리 환경의 Prefill/Decode 실행 위치 결정 구조 - 설계</vt:lpstr>
      <vt:lpstr>DP4. 요청 조율 구조 (Orchestration) - 배경</vt:lpstr>
      <vt:lpstr>DP4. 여러 서버를 묶는 요청 조율 구조 - 배경</vt:lpstr>
      <vt:lpstr>DP4. 요청 조율 계층 (Orchestration) 설계 - 구조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DP1. 이기종 메모리 기반 Data Migration 결정 구조 - 배경</dc:title>
  <dc:creator>Myeong Woo Kim</dc:creator>
  <cp:lastModifiedBy>Myeong Woo Kim</cp:lastModifiedBy>
  <cp:revision>1</cp:revision>
  <dcterms:created xsi:type="dcterms:W3CDTF">2026-10-10T04:25:41Z</dcterms:created>
  <dcterms:modified xsi:type="dcterms:W3CDTF">2026-10-10T04:26:54Z</dcterms:modified>
</cp:coreProperties>
</file>
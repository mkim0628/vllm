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DP-1  메모리 추상화 계층의 추상화 수준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21792"/>
            <a:ext cx="11457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범용성 강조 구조  vs  하드웨어 특화 구조 — 구조 · 장점 · 단점 · Trade-off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969264"/>
            <a:ext cx="1005840" cy="384048"/>
          </a:xfrm>
          <a:prstGeom prst="rect">
            <a:avLst/>
          </a:prstGeom>
          <a:solidFill>
            <a:srgbClr val="EFEFE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44752" y="969264"/>
            <a:ext cx="5074920" cy="384048"/>
          </a:xfrm>
          <a:prstGeom prst="rect">
            <a:avLst/>
          </a:prstGeom>
          <a:solidFill>
            <a:srgbClr val="028090"/>
          </a:solidFill>
          <a:ln w="9525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56832" y="969264"/>
            <a:ext cx="5074920" cy="384048"/>
          </a:xfrm>
          <a:prstGeom prst="rect">
            <a:avLst/>
          </a:prstGeom>
          <a:solidFill>
            <a:srgbClr val="B85042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44752" y="96926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 1 — 범용성 강조 구조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656832" y="96926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 2 — 하드웨어 특화 구조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1005840" cy="3246120"/>
          </a:xfrm>
          <a:prstGeom prst="rect">
            <a:avLst/>
          </a:prstGeom>
          <a:solidFill>
            <a:srgbClr val="EFEFE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" y="1353312"/>
            <a:ext cx="1005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444752" y="1353312"/>
            <a:ext cx="5074920" cy="3246120"/>
          </a:xfrm>
          <a:prstGeom prst="rect">
            <a:avLst/>
          </a:prstGeom>
          <a:solidFill>
            <a:srgbClr val="E7F3F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56832" y="1353312"/>
            <a:ext cx="5074920" cy="3246120"/>
          </a:xfrm>
          <a:prstGeom prst="rect">
            <a:avLst/>
          </a:prstGeom>
          <a:solidFill>
            <a:srgbClr val="F8ECE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22092" y="1554480"/>
            <a:ext cx="1920240" cy="310896"/>
          </a:xfrm>
          <a:prstGeom prst="roundRect">
            <a:avLst>
              <a:gd name="adj" fmla="val 14706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22092" y="1554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TierPlacementPolicy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39212" y="2029968"/>
            <a:ext cx="2286000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39212" y="20299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MemoryTierRegistry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982212" y="1865376"/>
            <a:ext cx="0" cy="164592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82212" y="2340864"/>
            <a:ext cx="0" cy="172822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29054" y="2513686"/>
            <a:ext cx="3906317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29054" y="2513686"/>
            <a:ext cx="0" cy="21122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005633" y="2513686"/>
            <a:ext cx="0" cy="21122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982212" y="2513686"/>
            <a:ext cx="0" cy="21122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958791" y="2513686"/>
            <a:ext cx="0" cy="21122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35370" y="2513686"/>
            <a:ext cx="0" cy="21122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581912" y="2724912"/>
            <a:ext cx="894283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581912" y="2724912"/>
            <a:ext cx="8942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HBM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558491" y="2724912"/>
            <a:ext cx="894283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558491" y="2724912"/>
            <a:ext cx="8942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DRAM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535070" y="2724912"/>
            <a:ext cx="894283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35070" y="2724912"/>
            <a:ext cx="8942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HBM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11650" y="2724912"/>
            <a:ext cx="894283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11650" y="2724912"/>
            <a:ext cx="8942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CXL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8229" y="2724912"/>
            <a:ext cx="894283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8229" y="2724912"/>
            <a:ext cx="8942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HBF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029054" y="3227832"/>
            <a:ext cx="0" cy="146304"/>
          </a:xfrm>
          <a:prstGeom prst="line">
            <a:avLst/>
          </a:prstGeom>
          <a:noFill/>
          <a:ln w="9525">
            <a:solidFill>
              <a:srgbClr val="AAAAA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581912" y="3374136"/>
            <a:ext cx="894283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81912" y="3374136"/>
            <a:ext cx="8942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메모리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3005633" y="3227832"/>
            <a:ext cx="0" cy="146304"/>
          </a:xfrm>
          <a:prstGeom prst="line">
            <a:avLst/>
          </a:prstGeom>
          <a:noFill/>
          <a:ln w="9525">
            <a:solidFill>
              <a:srgbClr val="AAAAAA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2558491" y="3374136"/>
            <a:ext cx="894283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558491" y="3374136"/>
            <a:ext cx="8942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메모리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3982212" y="3227832"/>
            <a:ext cx="0" cy="146304"/>
          </a:xfrm>
          <a:prstGeom prst="line">
            <a:avLst/>
          </a:prstGeom>
          <a:noFill/>
          <a:ln w="9525">
            <a:solidFill>
              <a:srgbClr val="AAAAAA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3535070" y="3374136"/>
            <a:ext cx="894283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535070" y="3374136"/>
            <a:ext cx="8942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메모리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4958791" y="3227832"/>
            <a:ext cx="0" cy="146304"/>
          </a:xfrm>
          <a:prstGeom prst="line">
            <a:avLst/>
          </a:prstGeom>
          <a:noFill/>
          <a:ln w="9525">
            <a:solidFill>
              <a:srgbClr val="AAAAAA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511650" y="3374136"/>
            <a:ext cx="894283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11650" y="3374136"/>
            <a:ext cx="8942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메모리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5935370" y="3227832"/>
            <a:ext cx="0" cy="146304"/>
          </a:xfrm>
          <a:prstGeom prst="line">
            <a:avLst/>
          </a:prstGeom>
          <a:noFill/>
          <a:ln w="9525">
            <a:solidFill>
              <a:srgbClr val="AAAAAA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488229" y="3374136"/>
            <a:ext cx="894283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8229" y="3374136"/>
            <a:ext cx="8942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메모리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8234172" y="1554480"/>
            <a:ext cx="1920240" cy="310896"/>
          </a:xfrm>
          <a:prstGeom prst="roundRect">
            <a:avLst>
              <a:gd name="adj" fmla="val 14706"/>
            </a:avLst>
          </a:prstGeom>
          <a:solidFill>
            <a:srgbClr val="1E276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234172" y="1554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TierPlacementPolicy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051292" y="2029968"/>
            <a:ext cx="2286000" cy="310896"/>
          </a:xfrm>
          <a:prstGeom prst="roundRect">
            <a:avLst>
              <a:gd name="adj" fmla="val 14706"/>
            </a:avLst>
          </a:prstGeom>
          <a:solidFill>
            <a:srgbClr val="B8504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051292" y="20299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MemoryTierRegistry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9194292" y="1865376"/>
            <a:ext cx="0" cy="164592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9194292" y="2340864"/>
            <a:ext cx="0" cy="172822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241134" y="2513686"/>
            <a:ext cx="3906317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241134" y="2513686"/>
            <a:ext cx="0" cy="21122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8217713" y="2513686"/>
            <a:ext cx="0" cy="21122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94292" y="2513686"/>
            <a:ext cx="0" cy="21122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10170871" y="2513686"/>
            <a:ext cx="0" cy="21122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11147450" y="2513686"/>
            <a:ext cx="0" cy="211226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8747150" y="2432304"/>
            <a:ext cx="894283" cy="237744"/>
          </a:xfrm>
          <a:prstGeom prst="roundRect">
            <a:avLst>
              <a:gd name="adj" fmla="val 15385"/>
            </a:avLst>
          </a:prstGeom>
          <a:solidFill>
            <a:srgbClr val="D9A79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747150" y="2432304"/>
            <a:ext cx="8942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+Compute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9723730" y="2432304"/>
            <a:ext cx="894283" cy="237744"/>
          </a:xfrm>
          <a:prstGeom prst="roundRect">
            <a:avLst>
              <a:gd name="adj" fmla="val 15385"/>
            </a:avLst>
          </a:prstGeom>
          <a:solidFill>
            <a:srgbClr val="D9A79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3730" y="2432304"/>
            <a:ext cx="8942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+Pooling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10700309" y="2432304"/>
            <a:ext cx="894283" cy="237744"/>
          </a:xfrm>
          <a:prstGeom prst="roundRect">
            <a:avLst>
              <a:gd name="adj" fmla="val 15385"/>
            </a:avLst>
          </a:prstGeom>
          <a:solidFill>
            <a:srgbClr val="D9A79C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700309" y="2432304"/>
            <a:ext cx="8942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+BatchRead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6793992" y="2724912"/>
            <a:ext cx="894283" cy="502920"/>
          </a:xfrm>
          <a:prstGeom prst="rect">
            <a:avLst/>
          </a:prstGeom>
          <a:solidFill>
            <a:srgbClr val="B850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793992" y="2724912"/>
            <a:ext cx="8942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HBM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7770571" y="2724912"/>
            <a:ext cx="894283" cy="502920"/>
          </a:xfrm>
          <a:prstGeom prst="rect">
            <a:avLst/>
          </a:prstGeom>
          <a:solidFill>
            <a:srgbClr val="B850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770571" y="2724912"/>
            <a:ext cx="8942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DRAM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8747150" y="2724912"/>
            <a:ext cx="894283" cy="502920"/>
          </a:xfrm>
          <a:prstGeom prst="rect">
            <a:avLst/>
          </a:prstGeom>
          <a:solidFill>
            <a:srgbClr val="B850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47150" y="2724912"/>
            <a:ext cx="8942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HBM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9723730" y="2724912"/>
            <a:ext cx="894283" cy="502920"/>
          </a:xfrm>
          <a:prstGeom prst="rect">
            <a:avLst/>
          </a:prstGeom>
          <a:solidFill>
            <a:srgbClr val="B850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723730" y="2724912"/>
            <a:ext cx="8942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CXL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10700309" y="2724912"/>
            <a:ext cx="894283" cy="502920"/>
          </a:xfrm>
          <a:prstGeom prst="rect">
            <a:avLst/>
          </a:prstGeom>
          <a:solidFill>
            <a:srgbClr val="B850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700309" y="2724912"/>
            <a:ext cx="8942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HBF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7241134" y="3227832"/>
            <a:ext cx="0" cy="146304"/>
          </a:xfrm>
          <a:prstGeom prst="line">
            <a:avLst/>
          </a:prstGeom>
          <a:noFill/>
          <a:ln w="9525">
            <a:solidFill>
              <a:srgbClr val="AAAAAA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6793992" y="3374136"/>
            <a:ext cx="894283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793992" y="3374136"/>
            <a:ext cx="8942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메모리</a:t>
            </a:r>
            <a:endParaRPr lang="en-US" sz="600" dirty="0"/>
          </a:p>
        </p:txBody>
      </p:sp>
      <p:sp>
        <p:nvSpPr>
          <p:cNvPr id="81" name="Shape 79"/>
          <p:cNvSpPr/>
          <p:nvPr/>
        </p:nvSpPr>
        <p:spPr>
          <a:xfrm>
            <a:off x="8217713" y="3227832"/>
            <a:ext cx="0" cy="146304"/>
          </a:xfrm>
          <a:prstGeom prst="line">
            <a:avLst/>
          </a:prstGeom>
          <a:noFill/>
          <a:ln w="9525">
            <a:solidFill>
              <a:srgbClr val="AAAAAA"/>
            </a:solidFill>
            <a:prstDash val="dash"/>
          </a:ln>
        </p:spPr>
      </p:sp>
      <p:sp>
        <p:nvSpPr>
          <p:cNvPr id="82" name="Shape 80"/>
          <p:cNvSpPr/>
          <p:nvPr/>
        </p:nvSpPr>
        <p:spPr>
          <a:xfrm>
            <a:off x="7770571" y="3374136"/>
            <a:ext cx="894283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7770571" y="3374136"/>
            <a:ext cx="8942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메모리</a:t>
            </a:r>
            <a:endParaRPr lang="en-US" sz="600" dirty="0"/>
          </a:p>
        </p:txBody>
      </p:sp>
      <p:sp>
        <p:nvSpPr>
          <p:cNvPr id="84" name="Shape 82"/>
          <p:cNvSpPr/>
          <p:nvPr/>
        </p:nvSpPr>
        <p:spPr>
          <a:xfrm>
            <a:off x="9194292" y="3227832"/>
            <a:ext cx="0" cy="146304"/>
          </a:xfrm>
          <a:prstGeom prst="line">
            <a:avLst/>
          </a:prstGeom>
          <a:noFill/>
          <a:ln w="9525">
            <a:solidFill>
              <a:srgbClr val="AAAAAA"/>
            </a:solidFill>
            <a:prstDash val="dash"/>
          </a:ln>
        </p:spPr>
      </p:sp>
      <p:sp>
        <p:nvSpPr>
          <p:cNvPr id="85" name="Shape 83"/>
          <p:cNvSpPr/>
          <p:nvPr/>
        </p:nvSpPr>
        <p:spPr>
          <a:xfrm>
            <a:off x="8747150" y="3374136"/>
            <a:ext cx="894283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747150" y="3374136"/>
            <a:ext cx="8942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메모리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0170871" y="3227832"/>
            <a:ext cx="0" cy="146304"/>
          </a:xfrm>
          <a:prstGeom prst="line">
            <a:avLst/>
          </a:prstGeom>
          <a:noFill/>
          <a:ln w="9525">
            <a:solidFill>
              <a:srgbClr val="AAAAAA"/>
            </a:solidFill>
            <a:prstDash val="dash"/>
          </a:ln>
        </p:spPr>
      </p:sp>
      <p:sp>
        <p:nvSpPr>
          <p:cNvPr id="88" name="Shape 86"/>
          <p:cNvSpPr/>
          <p:nvPr/>
        </p:nvSpPr>
        <p:spPr>
          <a:xfrm>
            <a:off x="9723730" y="3374136"/>
            <a:ext cx="894283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723730" y="3374136"/>
            <a:ext cx="8942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메모리</a:t>
            </a:r>
            <a:endParaRPr lang="en-US" sz="600" dirty="0"/>
          </a:p>
        </p:txBody>
      </p:sp>
      <p:sp>
        <p:nvSpPr>
          <p:cNvPr id="90" name="Shape 88"/>
          <p:cNvSpPr/>
          <p:nvPr/>
        </p:nvSpPr>
        <p:spPr>
          <a:xfrm>
            <a:off x="11147450" y="3227832"/>
            <a:ext cx="0" cy="146304"/>
          </a:xfrm>
          <a:prstGeom prst="line">
            <a:avLst/>
          </a:prstGeom>
          <a:noFill/>
          <a:ln w="9525">
            <a:solidFill>
              <a:srgbClr val="AAAAAA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>
            <a:off x="10700309" y="3374136"/>
            <a:ext cx="894283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0700309" y="3374136"/>
            <a:ext cx="8942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메모리</a:t>
            </a:r>
            <a:endParaRPr lang="en-US" sz="600" dirty="0"/>
          </a:p>
        </p:txBody>
      </p:sp>
      <p:sp>
        <p:nvSpPr>
          <p:cNvPr id="93" name="Text 91"/>
          <p:cNvSpPr txBox="1"/>
          <p:nvPr/>
        </p:nvSpPr>
        <p:spPr>
          <a:xfrm>
            <a:off x="1581912" y="379476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티어가 동일한 MemoryTier 인터페이스만 구현 → 상자 크기·모양이 전부 동일</a:t>
            </a:r>
            <a:endParaRPr lang="en-US" sz="950" dirty="0"/>
          </a:p>
        </p:txBody>
      </p:sp>
      <p:sp>
        <p:nvSpPr>
          <p:cNvPr id="94" name="Text 92"/>
          <p:cNvSpPr txBox="1"/>
          <p:nvPr/>
        </p:nvSpPr>
        <p:spPr>
          <a:xfrm>
            <a:off x="6793992" y="379476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 티어가 추가 확장 인터페이스 구현 → 상자 모양이 의도적으로 비대칭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365760" y="4599432"/>
            <a:ext cx="1005840" cy="749808"/>
          </a:xfrm>
          <a:prstGeom prst="rect">
            <a:avLst/>
          </a:prstGeom>
          <a:solidFill>
            <a:srgbClr val="EFEFE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365760" y="4599432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장점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1444752" y="4599432"/>
            <a:ext cx="5074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56832" y="4599432"/>
            <a:ext cx="5074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1673352" y="4654296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메모리 온보딩 쉬움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상위 모듈 변경 거의 없음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구현·유지보수 단순</a:t>
            </a:r>
            <a:endParaRPr lang="en-US" sz="1100" dirty="0"/>
          </a:p>
        </p:txBody>
      </p:sp>
      <p:sp>
        <p:nvSpPr>
          <p:cNvPr id="100" name="Text 98"/>
          <p:cNvSpPr txBox="1"/>
          <p:nvPr/>
        </p:nvSpPr>
        <p:spPr>
          <a:xfrm>
            <a:off x="6885432" y="4654296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하드웨어 고유 기능 최대 활용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상한 높음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365760" y="5349240"/>
            <a:ext cx="1005840" cy="749808"/>
          </a:xfrm>
          <a:prstGeom prst="rect">
            <a:avLst/>
          </a:prstGeom>
          <a:solidFill>
            <a:srgbClr val="EFEFE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65760" y="5349240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단점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1444752" y="5349240"/>
            <a:ext cx="5074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656832" y="5349240"/>
            <a:ext cx="5074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673352" y="540410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하드웨어 고유 기능 활용 불가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상한 낮음 (최소공배수 추상화)</a:t>
            </a:r>
            <a:endParaRPr lang="en-US" sz="1100" dirty="0"/>
          </a:p>
        </p:txBody>
      </p:sp>
      <p:sp>
        <p:nvSpPr>
          <p:cNvPr id="106" name="Text 104"/>
          <p:cNvSpPr txBox="1"/>
          <p:nvPr/>
        </p:nvSpPr>
        <p:spPr>
          <a:xfrm>
            <a:off x="6885432" y="540410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상위 모듈 변경 필요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조합별 호환성 매트릭스 부담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365760" y="6099048"/>
            <a:ext cx="1005840" cy="457200"/>
          </a:xfrm>
          <a:prstGeom prst="rect">
            <a:avLst/>
          </a:prstGeom>
          <a:solidFill>
            <a:srgbClr val="EFEFE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365760" y="6099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1444752" y="6099048"/>
            <a:ext cx="5074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656832" y="6099048"/>
            <a:ext cx="5074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627632" y="609904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확장성·안정성 ↑   vs   성능 잠재력 ↓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839712" y="609904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잠재력 ↑   vs   확장성·안정성 ↓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2026-08-27T00:25:03Z</dcterms:created>
  <dcterms:modified xsi:type="dcterms:W3CDTF">2026-08-27T00:25:03Z</dcterms:modified>
</cp:coreProperties>
</file>
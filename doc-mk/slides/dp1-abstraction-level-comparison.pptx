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11457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DP-1  메모리 추상화 계층의 추상화 수준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57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범용성 강조 구조  vs  하드웨어 특화 구조 — 구조 · 장점 · 단점 · Trade-off (공통 QA 비교)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1188720" cy="329184"/>
          </a:xfrm>
          <a:prstGeom prst="rect">
            <a:avLst/>
          </a:prstGeom>
          <a:solidFill>
            <a:srgbClr val="EFEFE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786384"/>
            <a:ext cx="4983480" cy="329184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786384"/>
            <a:ext cx="4983480" cy="329184"/>
          </a:xfrm>
          <a:prstGeom prst="rect">
            <a:avLst/>
          </a:prstGeom>
          <a:solidFill>
            <a:srgbClr val="B85042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7863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1 — 범용성 강조 구조 (Uniform Capability Model)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7863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2 — 하드웨어 특화 구조 (Extensible Capability Model)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1188720" cy="2514600"/>
          </a:xfrm>
          <a:prstGeom prst="rect">
            <a:avLst/>
          </a:prstGeom>
          <a:solidFill>
            <a:srgbClr val="EFEFE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115568"/>
            <a:ext cx="1188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(Module View)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1115568"/>
            <a:ext cx="4983480" cy="2514600"/>
          </a:xfrm>
          <a:prstGeom prst="rect">
            <a:avLst/>
          </a:prstGeom>
          <a:solidFill>
            <a:srgbClr val="E7F3F3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115568"/>
            <a:ext cx="4983480" cy="2514600"/>
          </a:xfrm>
          <a:prstGeom prst="rect">
            <a:avLst/>
          </a:prstGeom>
          <a:solidFill>
            <a:srgbClr val="F8ECEA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8940" y="1170432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8A8F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48940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/ ModelLoader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91940" y="1389888"/>
            <a:ext cx="0" cy="6400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77540" y="145389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77540" y="1453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TierPlacementPolicy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91940" y="1691640"/>
            <a:ext cx="0" cy="6400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175564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17556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MemoryTierRegistry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91940" y="1993392"/>
            <a:ext cx="0" cy="10972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9015" y="2103120"/>
            <a:ext cx="382585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79015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35478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91940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48402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04865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737360" y="2267712"/>
            <a:ext cx="88331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37360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GPUHBMTier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693822" y="2267712"/>
            <a:ext cx="88331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3822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CPUDRAMTier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650285" y="2267712"/>
            <a:ext cx="88331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0285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CustomHBMTier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606747" y="2267712"/>
            <a:ext cx="88331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06747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CXLTier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563210" y="2267712"/>
            <a:ext cx="88331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63210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HBFTier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2179015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737360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737360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HBM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135478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693822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93822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DRAM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091940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650285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50285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HBM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5048402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606747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06747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Memory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004865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563210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63210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HBF</a:t>
            </a:r>
            <a:endParaRPr lang="en-US" sz="600" dirty="0"/>
          </a:p>
        </p:txBody>
      </p:sp>
      <p:sp>
        <p:nvSpPr>
          <p:cNvPr id="53" name="Text 51"/>
          <p:cNvSpPr txBox="1"/>
          <p:nvPr/>
        </p:nvSpPr>
        <p:spPr>
          <a:xfrm>
            <a:off x="1737360" y="3081528"/>
            <a:ext cx="47091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MemoryTier {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capabilities(); allocate(); free();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as_torch_storage(); copy_in(); copy_out();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5개 티어 모두 이 계약 하나만 구현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8069580" y="1170432"/>
            <a:ext cx="2286000" cy="219456"/>
          </a:xfrm>
          <a:prstGeom prst="roundRect">
            <a:avLst>
              <a:gd name="adj" fmla="val 16667"/>
            </a:avLst>
          </a:prstGeom>
          <a:solidFill>
            <a:srgbClr val="8A8F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69580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/ ModelLoader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212580" y="1389888"/>
            <a:ext cx="0" cy="6400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298180" y="145389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98180" y="1453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TierPlacementPolicy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12580" y="1691640"/>
            <a:ext cx="0" cy="6400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138160" y="175564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B8504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138160" y="17556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MemoryTierRegistry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212580" y="1993392"/>
            <a:ext cx="0" cy="10972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99655" y="2103120"/>
            <a:ext cx="382585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99655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256118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212580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169042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1125505" y="2103120"/>
            <a:ext cx="0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770925" y="2002536"/>
            <a:ext cx="883310" cy="219456"/>
          </a:xfrm>
          <a:prstGeom prst="roundRect">
            <a:avLst>
              <a:gd name="adj" fmla="val 16667"/>
            </a:avLst>
          </a:prstGeom>
          <a:solidFill>
            <a:srgbClr val="D9A79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770925" y="2002536"/>
            <a:ext cx="883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+Compute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9727387" y="2002536"/>
            <a:ext cx="883310" cy="219456"/>
          </a:xfrm>
          <a:prstGeom prst="roundRect">
            <a:avLst>
              <a:gd name="adj" fmla="val 16667"/>
            </a:avLst>
          </a:prstGeom>
          <a:solidFill>
            <a:srgbClr val="D9A79C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727387" y="2002536"/>
            <a:ext cx="883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+Pooling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10683850" y="2002536"/>
            <a:ext cx="883310" cy="219456"/>
          </a:xfrm>
          <a:prstGeom prst="roundRect">
            <a:avLst>
              <a:gd name="adj" fmla="val 16667"/>
            </a:avLst>
          </a:prstGeom>
          <a:solidFill>
            <a:srgbClr val="D9A79C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0683850" y="2002536"/>
            <a:ext cx="883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+BatchRead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858000" y="2267712"/>
            <a:ext cx="88331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58000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GPUHBMTier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7814462" y="2267712"/>
            <a:ext cx="88331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814462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CPUDRAMTier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8770925" y="2267712"/>
            <a:ext cx="88331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770925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CustomHBMTier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9727387" y="2267712"/>
            <a:ext cx="88331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727387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CXLTier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10683850" y="2267712"/>
            <a:ext cx="88331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683850" y="2267712"/>
            <a:ext cx="88331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HBFTier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7299655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6858000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858000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HBM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8256118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7814462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814462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DRAM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9212580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8770925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770925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HBM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10169042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9727387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9727387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Memory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11125505" y="2688336"/>
            <a:ext cx="0" cy="914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10683850" y="2779776"/>
            <a:ext cx="88331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683850" y="2779776"/>
            <a:ext cx="883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HBF</a:t>
            </a:r>
            <a:endParaRPr lang="en-US" sz="600" dirty="0"/>
          </a:p>
        </p:txBody>
      </p:sp>
      <p:sp>
        <p:nvSpPr>
          <p:cNvPr id="100" name="Text 98"/>
          <p:cNvSpPr txBox="1"/>
          <p:nvPr/>
        </p:nvSpPr>
        <p:spPr>
          <a:xfrm>
            <a:off x="6858000" y="3081528"/>
            <a:ext cx="47091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MemoryTier { ...base }  +선택적 확장: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ComputeCapableTier.execute_partial()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CXLPoolingExtension.request_pooled_capacity()</a:t>
            </a:r>
            <a:endParaRPr lang="en-US" sz="7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HBFBatchReadExtension.batch_read()</a:t>
            </a:r>
            <a:endParaRPr lang="en-US" sz="760" dirty="0"/>
          </a:p>
        </p:txBody>
      </p:sp>
      <p:sp>
        <p:nvSpPr>
          <p:cNvPr id="101" name="Shape 99"/>
          <p:cNvSpPr/>
          <p:nvPr/>
        </p:nvSpPr>
        <p:spPr>
          <a:xfrm>
            <a:off x="365760" y="3630168"/>
            <a:ext cx="1188720" cy="822960"/>
          </a:xfrm>
          <a:prstGeom prst="rect">
            <a:avLst/>
          </a:prstGeom>
          <a:solidFill>
            <a:srgbClr val="EFEFE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65760" y="3630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1600200" y="3630168"/>
            <a:ext cx="4983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20840" y="3630168"/>
            <a:ext cx="4983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801368" y="3675888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메모리 온보딩 난이도 낮음 — 범용 필드만 채우면 등록 끝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모듈(TierPlacementPolicy 등) 변경 거의 없음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구현·유지보수 단순, 코드 재사용성 최대</a:t>
            </a:r>
            <a:endParaRPr lang="en-US" sz="1050" dirty="0"/>
          </a:p>
        </p:txBody>
      </p:sp>
      <p:sp>
        <p:nvSpPr>
          <p:cNvPr id="106" name="Text 104"/>
          <p:cNvSpPr txBox="1"/>
          <p:nvPr/>
        </p:nvSpPr>
        <p:spPr>
          <a:xfrm>
            <a:off x="6922008" y="3675888"/>
            <a:ext cx="4599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고유 기능(CXL pooling, PIM 연산, HBF batch-read) 최대 활용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상한 높음 — 하드웨어 투자 대비 이득 극대화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티어별로 필요한 확장만 선택적으로 구현 가능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365760" y="4453128"/>
            <a:ext cx="1188720" cy="777240"/>
          </a:xfrm>
          <a:prstGeom prst="rect">
            <a:avLst/>
          </a:prstGeom>
          <a:solidFill>
            <a:srgbClr val="EFEFE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65760" y="44531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1600200" y="4453128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20840" y="4453128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801368" y="449884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고유 기능 활용 불가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상한 낮음 — 최소공배수 추상화의 전형적 함정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티어 간 차이를 표현할 방법이 구조적으로 없음</a:t>
            </a:r>
            <a:endParaRPr lang="en-US" sz="1050" dirty="0"/>
          </a:p>
        </p:txBody>
      </p:sp>
      <p:sp>
        <p:nvSpPr>
          <p:cNvPr id="112" name="Text 110"/>
          <p:cNvSpPr txBox="1"/>
          <p:nvPr/>
        </p:nvSpPr>
        <p:spPr>
          <a:xfrm>
            <a:off x="6922008" y="449884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모듈이 확장 유무까지 알아야 해 변경 필요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확장이 늘수록 '어떤 백엔드가 어떤 조합을 지원' 매트릭스 관리 부담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메모리마다 '확장을 새로 만들지' 매번 판단 필요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365760" y="5230368"/>
            <a:ext cx="1129284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65760" y="523036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— 공통 QA(품질 속성) 비교  ·  ★ 3점 만점, 높을수록 유리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365760" y="5541264"/>
            <a:ext cx="1188720" cy="241402"/>
          </a:xfrm>
          <a:prstGeom prst="rect">
            <a:avLst/>
          </a:prstGeom>
          <a:solidFill>
            <a:srgbClr val="EFEFE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65760" y="5541264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(온보딩 난이도)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1600200" y="5541264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720840" y="5541264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874520" y="5541264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쉬움</a:t>
            </a:r>
            <a:endParaRPr lang="en-US" sz="1500" dirty="0"/>
          </a:p>
        </p:txBody>
      </p:sp>
      <p:sp>
        <p:nvSpPr>
          <p:cNvPr id="120" name="Text 118"/>
          <p:cNvSpPr txBox="1"/>
          <p:nvPr/>
        </p:nvSpPr>
        <p:spPr>
          <a:xfrm>
            <a:off x="6995160" y="5541264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어려움</a:t>
            </a:r>
            <a:endParaRPr lang="en-US" sz="1500" dirty="0"/>
          </a:p>
        </p:txBody>
      </p:sp>
      <p:sp>
        <p:nvSpPr>
          <p:cNvPr id="121" name="Shape 119"/>
          <p:cNvSpPr/>
          <p:nvPr/>
        </p:nvSpPr>
        <p:spPr>
          <a:xfrm>
            <a:off x="365760" y="5782666"/>
            <a:ext cx="1188720" cy="241402"/>
          </a:xfrm>
          <a:prstGeom prst="rect">
            <a:avLst/>
          </a:prstGeom>
          <a:solidFill>
            <a:srgbClr val="EFEFE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365760" y="578266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모듈 안정성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(변경 최소화)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600200" y="5782666"/>
            <a:ext cx="4983480" cy="241402"/>
          </a:xfrm>
          <a:prstGeom prst="rect">
            <a:avLst/>
          </a:prstGeom>
          <a:solidFill>
            <a:srgbClr val="E7F3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20840" y="5782666"/>
            <a:ext cx="4983480" cy="241402"/>
          </a:xfrm>
          <a:prstGeom prst="rect">
            <a:avLst/>
          </a:prstGeom>
          <a:solidFill>
            <a:srgbClr val="F8ECEA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874520" y="5782666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거의 없음</a:t>
            </a:r>
            <a:endParaRPr lang="en-US" sz="1500" dirty="0"/>
          </a:p>
        </p:txBody>
      </p:sp>
      <p:sp>
        <p:nvSpPr>
          <p:cNvPr id="126" name="Text 124"/>
          <p:cNvSpPr txBox="1"/>
          <p:nvPr/>
        </p:nvSpPr>
        <p:spPr>
          <a:xfrm>
            <a:off x="6995160" y="5782666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변경 필요</a:t>
            </a:r>
            <a:endParaRPr lang="en-US" sz="1500" dirty="0"/>
          </a:p>
        </p:txBody>
      </p:sp>
      <p:sp>
        <p:nvSpPr>
          <p:cNvPr id="127" name="Shape 125"/>
          <p:cNvSpPr/>
          <p:nvPr/>
        </p:nvSpPr>
        <p:spPr>
          <a:xfrm>
            <a:off x="365760" y="6024067"/>
            <a:ext cx="1188720" cy="241402"/>
          </a:xfrm>
          <a:prstGeom prst="rect">
            <a:avLst/>
          </a:prstGeom>
          <a:solidFill>
            <a:srgbClr val="EFEFE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65760" y="6024067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단순성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1600200" y="6024067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0840" y="6024067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874520" y="6024067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단순</a:t>
            </a:r>
            <a:endParaRPr lang="en-US" sz="1500" dirty="0"/>
          </a:p>
        </p:txBody>
      </p:sp>
      <p:sp>
        <p:nvSpPr>
          <p:cNvPr id="132" name="Text 130"/>
          <p:cNvSpPr txBox="1"/>
          <p:nvPr/>
        </p:nvSpPr>
        <p:spPr>
          <a:xfrm>
            <a:off x="6995160" y="6024067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복잡(매트릭스)</a:t>
            </a:r>
            <a:endParaRPr lang="en-US" sz="1500" dirty="0"/>
          </a:p>
        </p:txBody>
      </p:sp>
      <p:sp>
        <p:nvSpPr>
          <p:cNvPr id="133" name="Shape 131"/>
          <p:cNvSpPr/>
          <p:nvPr/>
        </p:nvSpPr>
        <p:spPr>
          <a:xfrm>
            <a:off x="365760" y="6265469"/>
            <a:ext cx="1188720" cy="241402"/>
          </a:xfrm>
          <a:prstGeom prst="rect">
            <a:avLst/>
          </a:prstGeom>
          <a:solidFill>
            <a:srgbClr val="EFEFE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365760" y="6265469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활용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·성능 잠재력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1600200" y="6265469"/>
            <a:ext cx="4983480" cy="241402"/>
          </a:xfrm>
          <a:prstGeom prst="rect">
            <a:avLst/>
          </a:prstGeom>
          <a:solidFill>
            <a:srgbClr val="E7F3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20840" y="6265469"/>
            <a:ext cx="4983480" cy="241402"/>
          </a:xfrm>
          <a:prstGeom prst="rect">
            <a:avLst/>
          </a:prstGeom>
          <a:solidFill>
            <a:srgbClr val="F8ECEA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874520" y="6265469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낮음</a:t>
            </a:r>
            <a:endParaRPr lang="en-US" sz="1500" dirty="0"/>
          </a:p>
        </p:txBody>
      </p:sp>
      <p:sp>
        <p:nvSpPr>
          <p:cNvPr id="138" name="Text 136"/>
          <p:cNvSpPr txBox="1"/>
          <p:nvPr/>
        </p:nvSpPr>
        <p:spPr>
          <a:xfrm>
            <a:off x="6995160" y="6265469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높음</a:t>
            </a:r>
            <a:endParaRPr lang="en-US" sz="1500" dirty="0"/>
          </a:p>
        </p:txBody>
      </p:sp>
      <p:sp>
        <p:nvSpPr>
          <p:cNvPr id="139" name="Shape 137"/>
          <p:cNvSpPr/>
          <p:nvPr/>
        </p:nvSpPr>
        <p:spPr>
          <a:xfrm>
            <a:off x="365760" y="6506870"/>
            <a:ext cx="1188720" cy="241402"/>
          </a:xfrm>
          <a:prstGeom prst="rect">
            <a:avLst/>
          </a:prstGeom>
          <a:solidFill>
            <a:srgbClr val="EFEFE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365760" y="6506870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재사용성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1600200" y="6506870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20840" y="6506870"/>
            <a:ext cx="4983480" cy="241402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874520" y="6506870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최대</a:t>
            </a:r>
            <a:endParaRPr lang="en-US" sz="1500" dirty="0"/>
          </a:p>
        </p:txBody>
      </p:sp>
      <p:sp>
        <p:nvSpPr>
          <p:cNvPr id="144" name="Text 142"/>
          <p:cNvSpPr txBox="1"/>
          <p:nvPr/>
        </p:nvSpPr>
        <p:spPr>
          <a:xfrm>
            <a:off x="6995160" y="6506870"/>
            <a:ext cx="44348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pPr algn="l" indent="0" marL="0">
              <a:buNone/>
            </a:pPr>
            <a:r>
              <a:rPr lang="en-US" sz="1500" b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확장부분 제한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2026-08-27T00:44:10Z</dcterms:created>
  <dcterms:modified xsi:type="dcterms:W3CDTF">2026-08-27T00:44:10Z</dcterms:modified>
</cp:coreProperties>
</file>
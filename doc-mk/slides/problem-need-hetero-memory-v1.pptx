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DB59D-6851-4087-A360-1717CD539FDC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D42F9D-A517-472D-B53C-0A9BC49CDB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00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우리는 HBM 수요를 건드리지 않고, 앞으로 커질 수 있는 메모리 type(CXL, Custom HBM, HBF 등)별로 SW 솔루션을 미리 준비한다.</a:t>
            </a:r>
          </a:p>
          <a:p>
            <a:r>
              <a:t>근거: (a) offloading과 (b) scheduling 모두 baseline 대비 1.5배 이상의 처리량/지연 개선이 공개 사례로 확인되나, 모두 동질 계층(HBM-DRAM-SSD) 전제이다. 이기종 메모리 특성을 인지하는 런타임은 확인되지 않는다.</a:t>
            </a:r>
          </a:p>
          <a:p>
            <a:r>
              <a:t>의미: 수요가 확정된 후 대응하면 늦으므로 이기종 메모리 인지형 런타임을 선제 연구한다.</a:t>
            </a:r>
          </a:p>
          <a:p>
            <a:r>
              <a:t>주의: 시장 규모는 출처별 정의 편차가 크고 HBF 수치는 2차 인용이다. 'HBM 수요 영향' 열은 분석가 판단이다.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766F1F-6FFF-438E-978E-7F50C6A9E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AFAFD0-1F82-4A9B-B3F6-99224804E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A504BB-6AAA-4233-A0A1-1975C91F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792343-8259-4E59-9F61-74C15CCD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CB83A2-9524-4B3A-B3C6-D4F79B0E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1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69E3-A266-4BEB-8BBA-CE42A5B66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E1CA8F-9445-4D8B-A0A0-34714CBA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2E6160-1C4D-4559-89D9-A35150A35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2329A2-229C-4CBB-AC58-12A0F0AC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41D84D-6A9B-449E-843F-67D8BA66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59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6C279-BE8E-4A58-8F27-8C25650D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92A46-7FFF-4D6F-AA6E-D59A61223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685FA-9578-48E3-9E09-D095C1DF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A1F830-4CCD-4D6C-BCCB-003C05CF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0742D8-AAC9-4467-8546-CC9D64B5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59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B4E56-0A82-416C-92D9-654BF5C9D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2FE0-D66C-416D-A771-4B8A78E1DB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DFEE8-FEDA-40B6-AD92-F654C3C94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C12402-8087-4755-8681-5AB4A554C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6EB7B6-16FD-43F7-AD81-6AE05331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884AA5-2DBF-4023-90B7-AAC1D132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268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2D15B-0C0F-4390-875E-1590EE8F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713CE4-54D4-472C-AF86-5304C461B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F3848C-49A2-46AD-B69D-6770C2A44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F7C98F-4810-4F56-8535-9FA72E9AD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491211-BEE3-4FEF-980E-6C26F7443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1097-25B6-4C35-9EDA-0A1B99A7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967B94-09AA-40C9-A6E7-C49079C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4706B7-77D3-4F97-B3C3-87F6F63E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3900A-A75F-4F93-AE6D-F58DCEBA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FA1503-70FC-402A-9BEA-A7A4CBD5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8CE03B-7743-434D-93C2-5D3CF40D6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E11778-A95C-403D-A5C5-03429AA1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8204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9B79F9-D3BF-4383-9A2B-6720ED16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91CDC1-1BD2-4CEC-AF70-F1035E05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BE70D-7B66-4208-B021-AB8D7CB4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693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1A4DB-6070-458A-B403-896204387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FAD1F-018C-4CD8-A320-CCA387166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0798B4-57C3-44B4-A8C2-A1110A143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382C16-FF45-4304-A19A-EF629B474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56C59-F03D-40C5-A062-6C1D08EA6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5D1989-7D2D-483E-8B76-675B71A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681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0EA15-1B37-4FC8-A267-BD814C73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6C1A13-FB13-43ED-9A16-DE43BD615F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750587-5197-4793-84A9-1FCE8E0F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A05951-2B75-4A9C-9D31-DA984C7D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3DFFFB-CB82-44B7-ADD5-6C06FFCA9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C3ACB5-7C5F-4763-A545-1E091D9CF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8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F7E99-E266-4394-AC3C-C81C0AA0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903C54-E094-4214-B922-CFC0A7561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6B284-4B0D-4115-B089-AA26C33B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850256-F467-447D-9263-C7183DD6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3367B8-E91F-4EFF-904D-A125138D3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18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CC87E-C30F-4874-9B17-340763F05A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237634-FD61-4D11-A5FB-707E825AD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80697-7563-4134-9650-BD8DE52F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795852-3BEA-4032-BF3B-1DBB06E39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E3DC6E-6854-4E11-B4EC-45C9A22F9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05289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/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40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0AD665B-95C3-4399-9C37-9DABDB1E5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DC265-2495-45CB-94D5-2A0095D35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E49F97-8660-4B82-B92F-E28176287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8CD36A-B7E4-4EBB-BD2C-7A89014F8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89CF50-AAA0-498B-83B2-83B855385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89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과제 필요성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55448"/>
            <a:ext cx="3108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System 연구 필요성  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" y="1069848"/>
            <a:ext cx="5760720" cy="2386584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91440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HBM 수요는 유지, 어떤 메모리가 더 커질지는 불확실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128016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HBM 시장·수요를 해치지 않는 선에서 커질 메모리 type을 미리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572768"/>
            <a:ext cx="2743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AI 메모리 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572768"/>
            <a:ext cx="2743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추가 수요 후보 (규모·순서 미정)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176272"/>
            <a:ext cx="868680" cy="777240"/>
          </a:xfrm>
          <a:prstGeom prst="rect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현재 수요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63040" y="2560320"/>
            <a:ext cx="77724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71600" y="2084831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추론 · Agent 확산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176272"/>
            <a:ext cx="868680" cy="777240"/>
          </a:xfrm>
          <a:prstGeom prst="rect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유지 · 보존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2968" y="237744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801368"/>
            <a:ext cx="566928" cy="1152144"/>
          </a:xfrm>
          <a:prstGeom prst="rect">
            <a:avLst/>
          </a:prstGeom>
          <a:solidFill>
            <a:srgbClr val="E2F0D9"/>
          </a:solidFill>
          <a:ln w="15240">
            <a:solidFill>
              <a:srgbClr val="5482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
Memory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801368"/>
            <a:ext cx="566928" cy="1152144"/>
          </a:xfrm>
          <a:prstGeom prst="rect">
            <a:avLst/>
          </a:prstGeom>
          <a:solidFill>
            <a:srgbClr val="DEEBF7"/>
          </a:solidFill>
          <a:ln w="15240">
            <a:solidFill>
              <a:srgbClr val="2E75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
HBM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1801368"/>
            <a:ext cx="566928" cy="1152144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1801368"/>
            <a:ext cx="566928" cy="1152144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기타
PIM·PNM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962656"/>
            <a:ext cx="557784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점선 막대의 높이는 규모 미정을 뜻하는 표기이며 실제 수치가 아님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47472" y="3218688"/>
            <a:ext cx="274320" cy="18288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154680"/>
            <a:ext cx="5303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66FF"/>
                </a:solidFill>
                <a:latin typeface="맑은 고딕"/>
                <a:ea typeface="맑은 고딕"/>
                <a:cs typeface="맑은 고딕"/>
              </a:rPr>
              <a:t>어느 type이 커질지 알 수 없으므로, 제품별 SW 솔루션을 미리 준비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1069848"/>
            <a:ext cx="5760720" cy="2386584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91440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런타임 역할의 한계: Offloading · Scheduling 효과 (공개 사례)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128016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Agent의 자원 수요가 동적으로 변하는 상황에서 런타임 역할이 결정적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1572768"/>
            <a:ext cx="5486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(a) KV Offloading 유무 — 개선 배수(×), baseline = 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1764792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Baseline: GPU 메모리만 사용 (vLLM)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14232" y="1783080"/>
            <a:ext cx="160020" cy="15544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01684" y="1755648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1.0×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1947672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LMCache 처리율 @동일 TTFT 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14232" y="1965960"/>
            <a:ext cx="368046" cy="155448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82278" y="1965960"/>
            <a:ext cx="1872234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81944" y="1938528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2.3–14×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2130552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LMCache TTFT 단축 (QPS=1) 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14232" y="2148840"/>
            <a:ext cx="304038" cy="155448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18270" y="2148840"/>
            <a:ext cx="992124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37826" y="2121408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1.9–8.1×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2313432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Mooncake KV pool 요청 용량 (SLO 내) 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14232" y="2331720"/>
            <a:ext cx="254431" cy="155448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68663" y="2331720"/>
            <a:ext cx="702487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98583" y="2304288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1.59–5.98×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792" y="2542032"/>
            <a:ext cx="5486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(b) Scheduling 유무 — 처리량(steps/min), SWE-agent 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6792" y="2734056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Baseline: 요청 단위 스케줄링 (vLLM)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14232" y="2752344"/>
            <a:ext cx="1250156" cy="15544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91820" y="2724912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6792" y="2916936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프로그램 인지 스케줄링 (로컬)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14232" y="2935224"/>
            <a:ext cx="2006917" cy="1554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48581" y="2907792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602 (1.61×)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36792" y="3099816"/>
            <a:ext cx="23774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글로벌 대기열 (ThunderAgent)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14232" y="3118104"/>
            <a:ext cx="2240280" cy="1554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81944" y="3090672"/>
            <a:ext cx="1005840" cy="2011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672 (1.79×)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2992" y="2560320"/>
            <a:ext cx="173736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벤치마크 전반 1.48–3.58×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7744" y="3767328"/>
            <a:ext cx="5760720" cy="1947672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7472" y="361188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HBM 외 제품의 Biz Impact: HBM과 상호 보완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" y="393192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HBM의 수요를 뺏지 않고, HBM이 담지 못하는 영역을 채움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29184" y="4224528"/>
          <a:ext cx="5486400" cy="1298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8680"/>
                <a:gridCol w="1417320"/>
                <a:gridCol w="2011680"/>
                <a:gridCol w="1188720"/>
              </a:tblGrid>
              <a:tr h="20116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데이터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시장 전망 (2030, 공개 전망)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수요 영향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활성 KV·가중치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 $100B (Micron 전망) ④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1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기준선, 수요 유지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Custom HBM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변형 (base die 맞춤)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수십 B$ (SK hynix 전망) ⑤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시장 내 성장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CXL Memory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유휴·재사용 KV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$4–7B (범위 정의별 차이) 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비대체, DRAM 확장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HBF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대용량·저비용 계층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$40–150B (Goldman, 2차 인용) ⑦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비대체, 신규 Tier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6199632" y="3767328"/>
            <a:ext cx="5760720" cy="1947672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361188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이기종 메모리를 인지하는 SW의 부재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36792" y="393192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 메모리를 AI 워크로드와 연결하는 소프트웨어 계층이 없음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73952" y="4242816"/>
            <a:ext cx="5212080" cy="274320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워크로드 (LLM 추론 · Agent: 자원 수요가 동적으로 변동)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079992" y="4517136"/>
            <a:ext cx="0" cy="109728"/>
          </a:xfrm>
          <a:prstGeom prst="line">
            <a:avLst/>
          </a:prstGeom>
          <a:ln w="19050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6473952" y="4626864"/>
            <a:ext cx="5212080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이기종 메모리 인지형 런타임:  부재 (공백)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메모리 특성(대역폭·용량·연산 가능 여부) 인식 → 배치·스케줄링 결정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9079992" y="5120640"/>
            <a:ext cx="0" cy="128016"/>
          </a:xfrm>
          <a:prstGeom prst="line">
            <a:avLst/>
          </a:prstGeom>
          <a:ln w="19050">
            <a:solidFill>
              <a:srgbClr val="FF0000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400800" y="5248656"/>
            <a:ext cx="822960" cy="256032"/>
          </a:xfrm>
          <a:prstGeom prst="rect">
            <a:avLst/>
          </a:prstGeom>
          <a:solidFill>
            <a:srgbClr val="F0F1F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87768" y="5248656"/>
            <a:ext cx="822960" cy="256032"/>
          </a:xfrm>
          <a:prstGeom prst="rect">
            <a:avLst/>
          </a:prstGeom>
          <a:solidFill>
            <a:srgbClr val="F0F1F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74736" y="5248656"/>
            <a:ext cx="822960" cy="256032"/>
          </a:xfrm>
          <a:prstGeom prst="rect">
            <a:avLst/>
          </a:prstGeom>
          <a:solidFill>
            <a:srgbClr val="F0F1F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61704" y="5248656"/>
            <a:ext cx="8229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CXL-Memory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948672" y="5248656"/>
            <a:ext cx="8229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35640" y="5248656"/>
            <a:ext cx="8229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HBF · PIM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0" y="5504688"/>
            <a:ext cx="2651760" cy="164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기존 메모리 계층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34272" y="5504688"/>
            <a:ext cx="2743200" cy="164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신규 메모리: 특성 미인식 → 활용 불가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37744" y="5742432"/>
            <a:ext cx="11750040" cy="347472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LLM 추론 처리량 향상을 위한 이기종 메모리 인지형 런타임 연구 개발 필요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7744" y="6126480"/>
            <a:ext cx="11750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효과 배수는 각 연구의 모델·워크로드·baseline 조건에서 측정한 값으로, 연구 간 직접 비교는 불가. 시장 전망은 출처·범위 정의별 편차가 큼(검증 전 공개 전망).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① LMCache, arXiv:2510.09665 (단일 노드 CPU offload, 10K-token 멀티라운드 QA, baseline = GPU-only vLLM)  ② Mooncake, USENIX FAST'25 (Qin et al.), baseline 대비 유효 요청 용량 +59–498%  ③ ThunderAgent, arXiv:2602.13692 (v2) — 1.48–3.58× vs vLLM; 하단 막대는 부록 ablation(GLM-4.5-fp8, mini-SWEAgent, 2×H100, 144 programs)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④ Micron FQ1'25 실적발표(2024 $16B → 2030 &gt; $100B, 회사 전망)  ⑤ SK hynix 전망, Tom's Hardware  ⑥ Mordor Intelligence·Business Research Co. 등(2030 약 $4–7B, 보수적 정의 기준)  ⑦ Goldman Sachs 추정의 2차 인용(404k Research Substack), 원문 미확인; 샘플 2026 하반기·소규모 상용 2027–28 (OSCOO)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5707</Words>
  <Application>Microsoft Office PowerPoint</Application>
  <PresentationFormat>와이드스크린</PresentationFormat>
  <Paragraphs>852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DP4. 요청 조율 구조 (Orchestration) - 배경</vt:lpstr>
      <vt:lpstr>DP4. 여러 서버를 묶는 요청 조율 구조 - 배경</vt:lpstr>
      <vt:lpstr>DP4. 요청 조율 계층 (Orchestration) 설계 - 구조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배경</dc:title>
  <dc:creator>Myeong Woo Kim</dc:creator>
  <cp:lastModifiedBy>Myeong Woo Kim</cp:lastModifiedBy>
  <cp:revision>1</cp:revision>
  <dcterms:created xsi:type="dcterms:W3CDTF">2026-10-10T04:25:41Z</dcterms:created>
  <dcterms:modified xsi:type="dcterms:W3CDTF">2026-10-10T04:26:54Z</dcterms:modified>
</cp:coreProperties>
</file>
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DB59D-6851-4087-A360-1717CD539FDC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D42F9D-A517-472D-B53C-0A9BC49CDB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00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우리는 HBM 수요를 건드리지 않고, 앞으로 커질 수 있는 메모리 type(CXL, Custom HBM, HBF 등)별로 SW 솔루션을 미리 준비한다.</a:t>
            </a:r>
          </a:p>
          <a:p>
            <a:r>
              <a:t>근거: (a) offloading과 (b) scheduling 모두 baseline 대비 1.5배 이상의 처리량/지연 개선이 공개 사례로 확인되나, 모두 동질 계층(HBM-DRAM-SSD) 전제이다. 이기종 메모리 특성을 인지하는 런타임은 확인되지 않는다.</a:t>
            </a:r>
          </a:p>
          <a:p>
            <a:r>
              <a:t>의미: 수요가 확정된 후 대응하면 늦으므로 이기종 메모리 인지형 런타임을 선제 연구한다.</a:t>
            </a:r>
          </a:p>
          <a:p>
            <a:r>
              <a:t>주의: 시장 규모는 출처별 정의 편차가 크고 HBF 수치는 2차 인용이다. 'HBM 수요 영향' 열은 분석가 판단이다.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66F1F-6FFF-438E-978E-7F50C6A9E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FAFD0-1F82-4A9B-B3F6-99224804E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A504BB-6AAA-4233-A0A1-1975C91F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92343-8259-4E59-9F61-74C15CCD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CB83A2-9524-4B3A-B3C6-D4F79B0E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1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69E3-A266-4BEB-8BBA-CE42A5B66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E1CA8F-9445-4D8B-A0A0-34714CBA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2E6160-1C4D-4559-89D9-A35150A35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2329A2-229C-4CBB-AC58-12A0F0AC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41D84D-6A9B-449E-843F-67D8BA66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59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6C279-BE8E-4A58-8F27-8C25650D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92A46-7FFF-4D6F-AA6E-D59A61223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85FA-9578-48E3-9E09-D095C1DF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A1F830-4CCD-4D6C-BCCB-003C05C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742D8-AAC9-4467-8546-CC9D64B5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9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B4E56-0A82-416C-92D9-654BF5C9D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2FE0-D66C-416D-A771-4B8A78E1DB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DFEE8-FEDA-40B6-AD92-F654C3C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C12402-8087-4755-8681-5AB4A554C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EB7B6-16FD-43F7-AD81-6AE05331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884AA5-2DBF-4023-90B7-AAC1D132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268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D15B-0C0F-4390-875E-1590EE8F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713CE4-54D4-472C-AF86-5304C461B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F3848C-49A2-46AD-B69D-6770C2A4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F7C98F-4810-4F56-8535-9FA72E9AD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491211-BEE3-4FEF-980E-6C26F7443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1097-25B6-4C35-9EDA-0A1B99A7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967B94-09AA-40C9-A6E7-C49079C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4706B7-77D3-4F97-B3C3-87F6F63E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900A-A75F-4F93-AE6D-F58DCEBA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FA1503-70FC-402A-9BEA-A7A4CBD5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8CE03B-7743-434D-93C2-5D3CF40D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E11778-A95C-403D-A5C5-03429AA1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20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9B79F9-D3BF-4383-9A2B-6720ED16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91CDC1-1BD2-4CEC-AF70-F1035E05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BE70D-7B66-4208-B021-AB8D7CB4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693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1A4DB-6070-458A-B403-896204387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FAD1F-018C-4CD8-A320-CCA387166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0798B4-57C3-44B4-A8C2-A1110A143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382C16-FF45-4304-A19A-EF629B47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56C59-F03D-40C5-A062-6C1D08EA6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5D1989-7D2D-483E-8B76-675B71A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681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EA15-1B37-4FC8-A267-BD814C73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6C1A13-FB13-43ED-9A16-DE43BD615F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750587-5197-4793-84A9-1FCE8E0F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A05951-2B75-4A9C-9D31-DA984C7D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3DFFFB-CB82-44B7-ADD5-6C06FFCA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C3ACB5-7C5F-4763-A545-1E091D9CF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7E99-E266-4394-AC3C-C81C0AA0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903C54-E094-4214-B922-CFC0A7561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6B284-4B0D-4115-B089-AA26C33B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850256-F467-447D-9263-C7183DD6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3367B8-E91F-4EFF-904D-A125138D3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18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CC87E-C30F-4874-9B17-340763F05A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237634-FD61-4D11-A5FB-707E825AD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80697-7563-4134-9650-BD8DE52F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795852-3BEA-4032-BF3B-1DBB06E39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E3DC6E-6854-4E11-B4EC-45C9A22F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05289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/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40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AD665B-95C3-4399-9C37-9DABDB1E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DC265-2495-45CB-94D5-2A0095D3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E49F97-8660-4B82-B92F-E28176287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8CD36A-B7E4-4EBB-BD2C-7A89014F8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89CF50-AAA0-498B-83B2-83B855385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89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과제 필요성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55448"/>
            <a:ext cx="3108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System 연구 필요성  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" y="1069848"/>
            <a:ext cx="5760720" cy="2386584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91440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HBM 수요는 유지, 어떤 메모리가 더 커질지는 불확실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128016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HBM 시장·수요를 해치지 않는 선에서 커질 메모리 type을 미리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572768"/>
            <a:ext cx="2743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AI 메모리 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72768"/>
            <a:ext cx="2743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추가 수요 후보 (규모·순서 미정)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76272"/>
            <a:ext cx="868680" cy="777240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현재 수요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2560320"/>
            <a:ext cx="77724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71600" y="2084831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추론 · Agent 확산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2176272"/>
            <a:ext cx="868680" cy="777240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유지 · 보존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2968" y="237744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801368"/>
            <a:ext cx="566928" cy="1152144"/>
          </a:xfrm>
          <a:prstGeom prst="rect">
            <a:avLst/>
          </a:prstGeom>
          <a:solidFill>
            <a:srgbClr val="E2F0D9"/>
          </a:solidFill>
          <a:ln w="15240">
            <a:solidFill>
              <a:srgbClr val="5482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
Memory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801368"/>
            <a:ext cx="566928" cy="1152144"/>
          </a:xfrm>
          <a:prstGeom prst="rect">
            <a:avLst/>
          </a:prstGeom>
          <a:solidFill>
            <a:srgbClr val="DEEBF7"/>
          </a:solidFill>
          <a:ln w="15240">
            <a:solidFill>
              <a:srgbClr val="2E75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Custom
HBM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1801368"/>
            <a:ext cx="566928" cy="1152144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1801368"/>
            <a:ext cx="566928" cy="1152144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?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기타
PIM·PNM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962656"/>
            <a:ext cx="5577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점선 막대의 높이는 규모 미정을 뜻하는 표기이며 실제 수치가 아님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47472" y="3218688"/>
            <a:ext cx="274320" cy="18288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154680"/>
            <a:ext cx="5303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어느 type이 커질지 알 수 없으므로, 제품별 SW 솔루션을 미리 준비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069848"/>
            <a:ext cx="5760720" cy="2386584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91440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런타임 역할의 한계: Offloading · Scheduling 효과 (공개 사례)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128016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Agent의 자원 수요가 동적으로 변하는 상황에서 런타임 역할이 결정적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1591056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KV Offloading 유무: 처리량 (tok/s) 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65392" y="2670048"/>
            <a:ext cx="640080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62671" y="2084832"/>
            <a:ext cx="640080" cy="65836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82512" y="2743200"/>
            <a:ext cx="2286000" cy="91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2512" y="2468879"/>
            <a:ext cx="1005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1,850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1883664"/>
            <a:ext cx="1005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16,650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94192" y="2039112"/>
            <a:ext cx="566928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9.0×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761488"/>
            <a:ext cx="118872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Baseline
(offloading 없음)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761488"/>
            <a:ext cx="118872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CPU DRAM Offloading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3072384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환경: H100 80GB, Llama-3.1-8B-Instruct, CPU DRAM 128GB offload, vLLM native connector (동시성 높은 부하)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1591056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스케줄링 유무: 처리량 (steps/min) 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2375807"/>
            <a:ext cx="640080" cy="3673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515600" y="2084832"/>
            <a:ext cx="640080" cy="65836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35440" y="2743200"/>
            <a:ext cx="2286000" cy="91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2174639"/>
            <a:ext cx="1005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1883664"/>
            <a:ext cx="1005840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672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47120" y="2039112"/>
            <a:ext cx="566928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1.79×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2761488"/>
            <a:ext cx="118872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Baseline
(vLLM 요청 단위)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2761488"/>
            <a:ext cx="118872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ThunderAgent
(프로그램 인지)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3072384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환경: H100 2노드, GLM-4.5-fp8, mini-SWE-agent, 동시 144 programs (벤치마크 전반 1.48–3.58×)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1645920"/>
            <a:ext cx="9144" cy="175564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7744" y="3767328"/>
            <a:ext cx="5760720" cy="1947672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" y="361188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HBM 외 제품의 Biz Impact: HBM과 상호 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4" y="393192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HBM의 수요를 뺏지 않고, HBM이 담지 못하는 영역을 채움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29184" y="4224528"/>
          <a:ext cx="5486400" cy="1298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8680"/>
                <a:gridCol w="1417320"/>
                <a:gridCol w="2011680"/>
                <a:gridCol w="1188720"/>
              </a:tblGrid>
              <a:tr h="20116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데이터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시장 전망 (2030, 공개 전망)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수요 영향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활성 KV·가중치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 $100B (Micron 전망) ①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1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기준선, 수요 유지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Custom HBM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변형 (base die 맞춤)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수십 B$ (SK hynix 전망) ②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시장 내 성장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CXL Memory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유휴·재사용 KV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$4–7B (범위 정의별 차이) ③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비대체, DRAM 확장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HBF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대용량·저비용 계층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$40–150B (Goldman, 2차 인용) ④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800" b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HBM 비대체, 신규 Tier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6199632" y="3767328"/>
            <a:ext cx="5760720" cy="1947672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09360" y="3611880"/>
            <a:ext cx="5541264" cy="310896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이기종 메모리를 인지하는 SW의 부재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36792" y="3931920"/>
            <a:ext cx="54864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 메모리를 AI 워크로드와 연결하는 소프트웨어 계층이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3952" y="4242816"/>
            <a:ext cx="5212080" cy="274320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워크로드 (LLM 추론 · Agent: 자원 수요가 동적으로 변동)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079992" y="4517136"/>
            <a:ext cx="0" cy="109728"/>
          </a:xfrm>
          <a:prstGeom prst="line">
            <a:avLst/>
          </a:prstGeom>
          <a:ln w="19050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6473952" y="4626864"/>
            <a:ext cx="5212080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이기종 메모리 인지형 런타임:  부재 (공백)</a:t>
            </a:r>
          </a:p>
          <a:p>
            <a:pPr algn="ctr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메모리 특성(대역폭·용량·연산 가능 여부) 인식 → 배치·스케줄링 결정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079992" y="5120640"/>
            <a:ext cx="0" cy="128016"/>
          </a:xfrm>
          <a:prstGeom prst="line">
            <a:avLst/>
          </a:prstGeom>
          <a:ln w="19050">
            <a:solidFill>
              <a:srgbClr val="FF0000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400800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87768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DRAM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74736" y="5248656"/>
            <a:ext cx="822960" cy="256032"/>
          </a:xfrm>
          <a:prstGeom prst="rect">
            <a:avLst/>
          </a:prstGeom>
          <a:solidFill>
            <a:srgbClr val="F0F1F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61704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CXL-Memory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948672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CXL-PNM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835640" y="5248656"/>
            <a:ext cx="8229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HBF · PIM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5504688"/>
            <a:ext cx="2651760" cy="164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기존 메모리 계층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2" y="5504688"/>
            <a:ext cx="2743200" cy="1645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신규 메모리: 특성 미인식 → 활용 불가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37744" y="5742432"/>
            <a:ext cx="11750040" cy="347472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LLM 추론 처리량 향상을 위한 이기종 메모리 인지형 런타임 연구 개발 필요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744" y="6126480"/>
            <a:ext cx="11750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⑤ vLLM Blog, Inside vLLM's New KV Offloading Connector (2026-01-08): 처리량 최대 9×, 수치·환경은 3rd-party 요약(barrahome.org) 기준  ⑥ ThunderAgent, arXiv:2602.13692 부록 ablation(1.79×), 환경은 검색 요약 기준. ⑤⑥ 모두 원문 대조 전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시장 전망은 출처·범위 정의별 편차가 큼(검증 전 공개 전망).</a:t>
            </a:r>
          </a:p>
          <a:p>
            <a:pPr algn="l">
              <a:spcAft>
                <a:spcPts val="0"/>
              </a:spcAft>
            </a:pPr>
            <a:r>
              <a:rPr sz="6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Micron FQ1'25 실적발표(2024 $16B → 2030 &gt; $100B, 회사 전망)  ② SK hynix 전망, Tom's Hardware  ③ Mordor Intelligence·Business Research Co. 등(2030 약 $4–7B, 보수적 정의 기준)  ④ Goldman Sachs 추정의 2차 인용(404k Research Substack), 원문 미확인; 샘플 2026 하반기·소규모 상용 2027–28 (OSCOO)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5707</Words>
  <Application>Microsoft Office PowerPoint</Application>
  <PresentationFormat>와이드스크린</PresentationFormat>
  <Paragraphs>852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DP4. 요청 조율 구조 (Orchestration) - 배경</vt:lpstr>
      <vt:lpstr>DP4. 여러 서버를 묶는 요청 조율 구조 - 배경</vt:lpstr>
      <vt:lpstr>DP4. 요청 조율 계층 (Orchestration) 설계 - 구조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배경</dc:title>
  <dc:creator>Myeong Woo Kim</dc:creator>
  <cp:lastModifiedBy>Myeong Woo Kim</cp:lastModifiedBy>
  <cp:revision>1</cp:revision>
  <dcterms:created xsi:type="dcterms:W3CDTF">2026-10-10T04:25:41Z</dcterms:created>
  <dcterms:modified xsi:type="dcterms:W3CDTF">2026-10-10T04:26:54Z</dcterms:modified>
</cp:coreProperties>
</file>
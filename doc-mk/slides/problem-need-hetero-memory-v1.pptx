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우리는 HBM 수요를 건드리지 않고, 앞으로 커질 수 있는 메모리 type(CXL, Custom HBM, HBF 등)별로 SW 솔루션을 미리 준비한다.</a:t>
            </a:r>
          </a:p>
          <a:p>
            <a:r>
              <a:t>근거: (a) offloading과 (b) scheduling 모두 baseline 대비 1.5배 이상의 처리량/지연 개선이 공개 사례로 확인되나, 모두 동질 계층(HBM-DRAM-SSD) 전제이다. 이기종 메모리 특성을 인지하는 런타임은 확인되지 않는다.</a:t>
            </a:r>
          </a:p>
          <a:p>
            <a:r>
              <a:t>의미: 수요가 확정된 후 대응하면 늦으므로 이기종 메모리 인지형 런타임을 선제 연구한다.</a:t>
            </a:r>
          </a:p>
          <a:p>
            <a:r>
              <a:t>주의: 시장 규모는 출처별 정의 편차가 크고 HBF 수치는 2차 인용이다. 'HBM 수요 영향' 열은 분석가 판단이다.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/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과제 필요성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55448"/>
            <a:ext cx="310896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System 연구 필요성  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" y="1069848"/>
            <a:ext cx="5760720" cy="2386584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914400"/>
            <a:ext cx="5541264" cy="31089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HBM 수요는 유지, 어떤 메모리가 더 커질지는 불확실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" y="128016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HBM 시장·수요를 해치지 않는 선에서 커질 메모리 type을 미리 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572768"/>
            <a:ext cx="27432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AI 메모리 수요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572768"/>
            <a:ext cx="274320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추가 수요 후보 (규모·순서 미정)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76272"/>
            <a:ext cx="868680" cy="777240"/>
          </a:xfrm>
          <a:prstGeom prst="rect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현재 수요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63040" y="2560320"/>
            <a:ext cx="77724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1600" y="2084831"/>
            <a:ext cx="1005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 추론 · Agent 확산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176272"/>
            <a:ext cx="868680" cy="777240"/>
          </a:xfrm>
          <a:prstGeom prst="rect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유지 · 보존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8" y="2377440"/>
            <a:ext cx="182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1801368"/>
            <a:ext cx="566928" cy="1152144"/>
          </a:xfrm>
          <a:prstGeom prst="rect">
            <a:avLst/>
          </a:prstGeom>
          <a:solidFill>
            <a:srgbClr val="E2F0D9"/>
          </a:solidFill>
          <a:ln w="15240">
            <a:solidFill>
              <a:srgbClr val="5482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
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1801368"/>
            <a:ext cx="566928" cy="1152144"/>
          </a:xfrm>
          <a:prstGeom prst="rect">
            <a:avLst/>
          </a:prstGeom>
          <a:solidFill>
            <a:srgbClr val="DEEBF7"/>
          </a:solidFill>
          <a:ln w="1524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Custom
HBM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1801368"/>
            <a:ext cx="566928" cy="1152144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1801368"/>
            <a:ext cx="566928" cy="1152144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기타
PIM·PNM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962656"/>
            <a:ext cx="55778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점선 막대의 높이는 규모 미정을 뜻하는 표기이며 실제 수치가 아님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47472" y="3218688"/>
            <a:ext cx="274320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154680"/>
            <a:ext cx="5303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어느 type이 커질지 알 수 없으므로, 제품별 SW 솔루션을 미리 준비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1069848"/>
            <a:ext cx="5760720" cy="2386584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914400"/>
            <a:ext cx="5541264" cy="31089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런타임 역할의 한계: Offloading · Scheduling 효과 (공개 사례)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128016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Agent의 자원 수요가 동적으로 변하는 상황에서 런타임 역할이 결정적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1874519"/>
            <a:ext cx="521208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Offloading 하는 경우 vs 안하는 경우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성능 차이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스케줄링 하는 경우 vs 안하는 경우 성능 차이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" y="3767328"/>
            <a:ext cx="5760720" cy="1947672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" y="3611880"/>
            <a:ext cx="5541264" cy="31089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HBM 외 제품의 Biz Impact: HBM과 상호 보완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" y="393192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HBM의 수요를 뺏지 않고, HBM이 담지 못하는 영역을 채움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29184" y="4224528"/>
          <a:ext cx="5486400" cy="12984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68680"/>
                <a:gridCol w="1417320"/>
                <a:gridCol w="2011680"/>
                <a:gridCol w="1188720"/>
              </a:tblGrid>
              <a:tr h="2011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데이터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시장 전망 (2030, 공개 전망)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수요 영향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활성 KV·가중치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&gt; $100B (Micron 전망) ①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기준선, 수요 유지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Custom HBM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변형 (base die 맞춤)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수십 B$ (SK hynix 전망) ②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시장 내 성장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CXL Memory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유휴·재사용 KV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$4–7B (범위 정의별 차이) ③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비대체, DRAM 확장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HBF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대용량·저비용 계층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$40–150B (Goldman, 2차 인용) ④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비대체, 신규 Tier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6199632" y="3767328"/>
            <a:ext cx="5760720" cy="1947672"/>
          </a:xfrm>
          <a:prstGeom prst="rect">
            <a:avLst/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611880"/>
            <a:ext cx="5541264" cy="310896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이기종 메모리를 인지하는 SW의 부재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93192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새 메모리를 AI 워크로드와 연결하는 소프트웨어 계층이 없음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73952" y="4242816"/>
            <a:ext cx="5212080" cy="274320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워크로드 (LLM 추론 · Agent: 자원 수요가 동적으로 변동)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79992" y="4517136"/>
            <a:ext cx="0" cy="109728"/>
          </a:xfrm>
          <a:prstGeom prst="line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473952" y="4626864"/>
            <a:ext cx="521208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이기종 메모리 인지형 런타임:  부재 (공백)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메모리 특성(대역폭·용량·연산 가능 여부) 인식 → 배치·스케줄링 결정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79992" y="5120640"/>
            <a:ext cx="0" cy="128016"/>
          </a:xfrm>
          <a:prstGeom prst="line">
            <a:avLst/>
          </a:prstGeom>
          <a:ln w="19050"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400800" y="5248656"/>
            <a:ext cx="822960" cy="256032"/>
          </a:xfrm>
          <a:prstGeom prst="rect">
            <a:avLst/>
          </a:prstGeom>
          <a:solidFill>
            <a:srgbClr val="F0F1F3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87768" y="5248656"/>
            <a:ext cx="822960" cy="256032"/>
          </a:xfrm>
          <a:prstGeom prst="rect">
            <a:avLst/>
          </a:prstGeom>
          <a:solidFill>
            <a:srgbClr val="F0F1F3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DRAM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4736" y="5248656"/>
            <a:ext cx="822960" cy="256032"/>
          </a:xfrm>
          <a:prstGeom prst="rect">
            <a:avLst/>
          </a:prstGeom>
          <a:solidFill>
            <a:srgbClr val="F0F1F3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SSD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61704" y="5248656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CXL-Memory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48672" y="5248656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CXL-PNM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35640" y="5248656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HBF · PIM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504688"/>
            <a:ext cx="265176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기존 메모리 계층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34272" y="5504688"/>
            <a:ext cx="274320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신규 메모리: 특성 미인식 → 활용 불가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7744" y="5742432"/>
            <a:ext cx="11750040" cy="347472"/>
          </a:xfrm>
          <a:prstGeom prst="round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LLM 추론 처리량 향상을 위한 이기종 메모리 인지형 런타임 연구 개발 필요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" y="6126480"/>
            <a:ext cx="11750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시장 전망은 출처·범위 정의별 편차가 큼(검증 전 공개 전망).</a:t>
            </a:r>
          </a:p>
          <a:p>
            <a:pPr algn="l">
              <a:spcAft>
                <a:spcPts val="0"/>
              </a:spcAft>
            </a:pPr>
            <a:r>
              <a:rPr sz="6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Micron FQ1'25 실적발표(2024 $16B → 2030 &gt; $100B, 회사 전망)  ② SK hynix 전망, Tom's Hardware  ③ Mordor Intelligence·Business Research Co. 등(2030 약 $4–7B, 보수적 정의 기준)  ④ Goldman Sachs 추정의 2차 인용(404k Research Substack), 원문 미확인; 샘플 2026 하반기·소규모 상용 2027–28 (OSCOO)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
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7"/>
    <p:sldId id="257" r:id="rId8"/>
    <p:sldId id="258" r:id="rId9"/>
    <p:sldId id="259" r:id="rId10"/>
    <p:sldId id="260"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FDB59D-6851-4087-A360-1717CD539FDC}" type="datetimeFigureOut">
              <a:rPr lang="ko-KR" altLang="en-US" smtClean="0"/>
              <a:t>2026-10-10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42F9D-A517-472D-B53C-0A9BC49CDB65}" type="slidenum">
              <a:rPr lang="ko-KR" altLang="en-US" smtClean="0"/>
              <a:t>‹#›</a:t>
            </a:fld>
            <a:endParaRPr lang="ko-KR" altLang="en-US"/>
          </a:p>
        </p:txBody>
      </p:sp>
    </p:spTree>
    <p:extLst>
      <p:ext uri="{BB962C8B-B14F-4D97-AF65-F5344CB8AC3E}">
        <p14:creationId xmlns:p14="http://schemas.microsoft.com/office/powerpoint/2010/main" val="43600162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 보완 설계 쟁점 · 약 1분 30초]</a:t>
            </a:r>
          </a:p>
          <a:p/>
          <a:p>
            <a:r>
              <a:t>[상단 요약을 가리키며]</a:t>
            </a:r>
          </a:p>
          <a:p>
            <a:r>
              <a:t>앞서 DP3 후보 비교에서 2안, 그러니까 요청 시점의 실제 Query로 재계산 토큰을 고르는 Query Aware 구조를 선택했습니다. 이 안은 원본 KV를 한 부만 보관하고 정확도 마진을 구조적으로 확보한다는 강점이 있지만, 비교표에서 짚은 두 가지 단점이 남아 있습니다. 하나는 재계산이 매 요청의 critical path에 상주해서 TTFT 절감률이 낮다는 점, 다른 하나는 동시 요청이 늘면 재계산 경합 때문에 확장 여유가 제한된다는 점입니다. 오늘은 이 두 단점을 구조로 보완하는 설계를 말씀드리겠습니다.</a:t>
            </a:r>
          </a:p>
          <a:p/>
          <a:p>
            <a:r>
              <a:t>[중앙 비용 분해 식을 가리키며]</a:t>
            </a:r>
          </a:p>
          <a:p>
            <a:r>
              <a:t>critical path에 상주한다는 말만으로는 무엇을 고쳐야 할지 알 수 없어서, 요청 경로를 다섯 개 항으로 쪼갰습니다. KV를 tier에서 HBM으로 읽는 T_fetch, 실제 Query로 KV 전체에 attention을 계산하는 T_score, 토큰을 고르는 T_select, 고른 토큰을 layer별로 다시 계산하는 T_recomp, 나머지 구간입니다. 여기서 중요한 건 병목 자원이 항마다 다르다는 점입니다. T_score는 전체 K를 한 번 훑는 연산이라 memory-bound이고, T_recomp는 compute-bound입니다. 그래서 같은 요청이 여러 개 몰리면 HBM 대역폭과 SM을 서로 다른 방식으로 소모합니다. 이 식은 개념식이고 실측 분해가 아니라는 점은 밝혀 둡니다.</a:t>
            </a:r>
          </a:p>
          <a:p/>
          <a:p>
            <a:r>
              <a:t>[하단 표를 가리키며]</a:t>
            </a:r>
          </a:p>
          <a:p>
            <a:r>
              <a:t>표의 첫 번째 단점은 T_score 직렬 구조에서 오고, Block Digest 기반 계층 스코어링과 레이어 파이프라인으로 대응합니다. 두 번째 단점은 n개 요청이 같은 KV를 각자 스캔하고 재계산이 Decode와 SM을 두고 경쟁하는 데서 오며, 배치 스코어링과 예산 기반 선정으로 대응합니다. 그리고 세 번째로, 이 최적화들은 전부 정확도를 깎는 방향이라 제약 C1, 출력 정확도 보장을 지키려면 안전망이 반드시 같이 들어가야 합니다. 그게 Confidence Gate입니다.</a:t>
            </a:r>
          </a:p>
          <a:p/>
          <a:p>
            <a:r>
              <a:t>[하단 핵심 메시지를 가리키며]</a:t>
            </a:r>
          </a:p>
          <a:p>
            <a:r>
              <a:t>설계 원칙은 한 줄입니다. critical path를 없애는 게 아니라 줄이고 숨깁니다. 압축 없이 원본 한 부를 보관하는 것과 요청 시점에 Query로 결정하는 것은 그대로 지킵니다. 이 원칙을 지키지 않으면 1안으로 퇴행하기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 보완 구조도 · 약 2분]</a:t>
            </a:r>
          </a:p>
          <a:p/>
          <a:p>
            <a:r>
              <a:t>[구조도 전체를 가리키며]</a:t>
            </a:r>
          </a:p>
          <a:p>
            <a:r>
              <a:t>선택한 2안의 구조도에 보완을 얹은 그림입니다. 기존 모듈은 그대로고 노랑으로 칠한 곳이 보완으로 추가되거나 확장되는 부분입니다.</a:t>
            </a:r>
          </a:p>
          <a:p/>
          <a:p>
            <a:r>
              <a:t>[1번에서 3번까지 따라가며]</a:t>
            </a:r>
          </a:p>
          <a:p>
            <a:r>
              <a:t>흐름은 기존과 같습니다. 1번, User Query Manager가 실제 Query를 Attention Manager로 넘깁니다. 달라지는 건 두 가지입니다. 먼저 User Query Manager에 배치 윈도우가 붙습니다. 같은 Context를 보는 Query를 짧은 시간 안에 모으기 위해서입니다. 그리고 2번에서 Attention Manager가 KV Store에서 읽어오는 대상이 둘로 나뉩니다. 먼저 Block Digest, 즉 블록마다 K를 요약한 작은 메타데이터를 읽어 Query와 coarse하게 비교하고, 상위 블록에 대해서만 실제 Query 곱하기 K를 계산합니다. 이게 M1입니다. 이렇게 하면 스코어링이 전체 KV 로드를 기다리지 않습니다. Digest를 Context KV와 같거나 더 상위 tier에 두기 때문에, 스코어링과 KV 로드가 병렬이 됩니다.</a:t>
            </a:r>
          </a:p>
          <a:p/>
          <a:p>
            <a:r>
              <a:t>[Blend 레이어를 가리키며]</a:t>
            </a:r>
          </a:p>
          <a:p>
            <a:r>
              <a:t>3번에서 점수가 KV Sampler로 가고, 4번에서 Recompute Token Selector가 토큰을 고릅니다. 여기서 달라지는 점은 무제한 top-k가 아니라 DP2가 주는 예산 B 안에서 고른다는 겁니다. 부하가 높으면 예산이 줄어서 재계산 토큰이 줄고, 한도 없이 지연이 늘어나는 대신 정확도 마진이 조금씩 줄어드는 쪽으로 동작합니다. 그리고 5번 전에 Confidence Gate를 둡니다. 선정한 토큰이 attention 질량을 충분히 덮는지 보고, 모자라면 재계산 비율을 올리거나 그 요청만 Full Prefill로 내립니다. 이게 정확도 제약을 지키는 안전망입니다.</a:t>
            </a:r>
          </a:p>
          <a:p/>
          <a:p>
            <a:r>
              <a:t>[우측 KV Store와 DP1 상자를 가리키며]</a:t>
            </a:r>
          </a:p>
          <a:p>
            <a:r>
              <a:t>저장소 쪽은 원본 Context KV 한 부와 Digest뿐입니다. Digest 크기는 블록 크기 B를 기준으로 KV의 대략 1/B로 추정하고 있고, 이 값은 실측이 아닌 산식입니다. 요청마다 새로 생기는 산출물은 선정된 토큰 목록 정도라서, 메모리를 최대한 활용한다는 과제 방향과 충돌하지 않습니다. DP1과는 digest co-pin 요청과 tier별 load 지연을 주고받습니다.</a:t>
            </a:r>
          </a:p>
          <a:p/>
          <a:p>
            <a:r>
              <a:t>[Selective Recompute를 가리키며]</a:t>
            </a:r>
          </a:p>
          <a:p>
            <a:r>
              <a:t>마지막으로 Selective Recompute는 레이어 파이프라인으로 돌고, 별도 stream이나 자원 클래스에서 실행합니다. 구체 내용은 다음 장에서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 · 보완 기법 상세 · 약 2분 30초]</a:t>
            </a:r>
          </a:p>
          <a:p/>
          <a:p>
            <a:r>
              <a:t>[좌측 타임라인을 가리키며]</a:t>
            </a:r>
          </a:p>
          <a:p>
            <a:r>
              <a:t>왼쪽은 지연 쪽 보완입니다. 위 줄이 현재 2안의 직렬 구조고, 아래가 보완 후입니다. 축척이 없는 개념도임을 먼저 말씀드립니다. 보완 후에는 digest 스코어링이 KV fetch와 동시에 시작하고, 상위 블록에 대한 fine 스코어링이 끝나면 recompute가 레이어 단위로 돌면서 다음 레이어의 로드와 겹칩니다. 즉 fetch와 score가 recompute 뒤로 숨습니다.</a:t>
            </a:r>
          </a:p>
          <a:p/>
          <a:p>
            <a:r>
              <a:t>[M1 설명을 가리키며]</a:t>
            </a:r>
          </a:p>
          <a:p>
            <a:r>
              <a:t>M1은 Stage 1의 읽기량을 줄입니다. 전체 K를 읽는 대신 블록 요약, digest를 먼저 보고 상위 블록만 정밀하게 계산합니다. 중요한 점은 digest 자체는 Query와 무관한 메타데이터지만 어떤 토큰을 재계산할지는 여전히 요청 시점에 실제 Query로 정한다는 겁니다. 그래서 1안으로 돌아가지 않습니다. 이 방식은 문헌의 Quest 계열 아이디어에서 가져왔고, 아직 원문 확인이 필요한 문헌 근거입니다.</a:t>
            </a:r>
          </a:p>
          <a:p/>
          <a:p>
            <a:r>
              <a:t>[M2 설명을 가리키며]</a:t>
            </a:r>
          </a:p>
          <a:p>
            <a:r>
              <a:t>M2는 파이프라인입니다. vLLM의 KV connector에는 이미 레이어 단위 훅이 있습니다. 기존 인터페이스 위에서 레이어 l을 계산하는 동안 레이어 l+1을 불러오도록 할 수 있습니다. 여기서 재계산 비율 r을 고정하지 않고, 재계산 시간이 load 시간 안에 끝나는 최대치로 잡자는 게 이 식입니다. 이렇게 하면 그 범위의 재계산은 TTFT에 추가 비용이 없다는 게 가설입니다. 이 식에는 두 입력이 있는데, tier별 load 지연은 DP1에서, 재계산 시간은 DP2의 자원 모델에서 옵니다. 다만 솔직히 한계가 있습니다. Context가 이미 HBM에 있으면 숨길 로드 시간이 없어서 이 효과는 작고, 그 경우 M1과 M3에 기대야 합니다.</a:t>
            </a:r>
          </a:p>
          <a:p/>
          <a:p>
            <a:r>
              <a:t>[우측 M3를 가리키며]</a:t>
            </a:r>
          </a:p>
          <a:p>
            <a:r>
              <a:t>오른쪽은 확장성입니다. 스코어링은 KV를 한 번 훑는 memory-bound 연산이라, 같은 Context를 보는 Query가 n개면 한 번 읽을 때 n개를 같이 처리할 수 있습니다. 동시 요청이 늘어난다는 단점이 이 기법에서는 오히려 유리한 조건이 됩니다. 조건은 같은 Context를 식별할 수 있어야 하고 배치 윈도우가 이득보다 길지 않아야 한다는 것입니다.</a:t>
            </a:r>
          </a:p>
          <a:p/>
          <a:p>
            <a:r>
              <a:t>[M4 표와 M5를 가리키며]</a:t>
            </a:r>
          </a:p>
          <a:p>
            <a:r>
              <a:t>그래도 부하가 넘치면 M4가 동작합니다. 재계산 토큰을 스케줄러의 token budget에 넣어 Decode와의 간섭을 기존 메커니즘으로 통제하고, 부하에 따라 L0에서 L3까지 내려갑니다. L2는 재계산을 생략하는 단계라 정확도 민감 클래스는 제외하고, 마지막 L3는 해당 요청만 Full Prefill로 보냅니다. 이건 경합 한계가 없어진다는 뜻이 아닙니다. 지연이 폭증하는 대신 정확도 마진이 소진되는 완만한 곡선으로 바꾼다는 것이고, 그래서 M5 Gate가 반드시 짝으로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 · 계약과 Tradeoff · 약 1분 40초]</a:t>
            </a:r>
          </a:p>
          <a:p/>
          <a:p>
            <a:r>
              <a:t>[상단 계약 표를 가리키며]</a:t>
            </a:r>
          </a:p>
          <a:p>
            <a:r>
              <a:t>보완 설계가 다른 DP와 맞닿는 곳은 네 방향의 계약입니다. DP3에서 DP1로는 Block Digest 객체와 co-pin 요청을 줍니다. 다시 말해 DP3가 새로 요구하는 저장 객체는 이것 하나입니다. DP1에서 DP3로는 tier별 load 지연을 받는데, 이게 앞 장의 재계산 비율 r*를 정하는 입력입니다. DP3에서 DP2로는 재계산 토큰 수, 레이어 범위, Stage 1 비용을 줍니다. 원래 2안에서는 스코어링 이후에야 재계산 크기가 확정돼서 DP2의 계획이 늦어지거나 stale해질 수 있다는 문제가 있었는데, digest를 쓰면 Stage 1 비용을 미리 예측할 수 있을 것으로 봅니다. 이 부분은 가설입니다. DP2에서 DP3로는 예산과 자원 클래스, 우선순위를 받아 재계산을 Decode와 격리합니다.</a:t>
            </a:r>
          </a:p>
          <a:p/>
          <a:p>
            <a:r>
              <a:t>[하단 Tradeoff 표를 가리키며]</a:t>
            </a:r>
          </a:p>
          <a:p>
            <a:r>
              <a:t>Tradeoff는 별점이 아니라 서술로 썼습니다. 별점은 정량 구간이 확정되기 전에는 쓰지 않기로 해서입니다. Latency는 fetch와 score를 recompute 뒤로 숨겨 개선되지만 HBM에 이미 올라 있는 단일 요청에서는 효과가 작습니다. HBM 점유율은 digest만큼, 대략 KV의 1/B가 늘지만 B에 따라 작게 유지할 수 있습니다. 확장성은 배치 스코어링과 예산으로 경합이 완화되고 넘치면 점진 저하하는데, 같은 Context를 보는 요청 비율이 낮으면 배치 효과가 작습니다. 정확도는 Gate가 지키되 Gate 자체의 오탐과 미탐이 위험입니다.</a:t>
            </a:r>
          </a:p>
          <a:p/>
          <a:p>
            <a:r>
              <a:t>[하단 메모를 가리키며]</a:t>
            </a:r>
          </a:p>
          <a:p>
            <a:r>
              <a:t>한 가지 공정성 문제를 짚어 둡니다. 기존 슬라이드에서 1안과 2안은 총점이 7점으로 동점이었습니다. 2안만 보완을 반영해 점수를 올리면 비교가 기울기 때문에, 같은 정량 구간으로 1안도 함께 재평가해야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 · 검증 계획과 남은 위험 · 약 1분 30초]</a:t>
            </a:r>
          </a:p>
          <a:p/>
          <a:p>
            <a:r>
              <a:t>[상단 표를 가리키며]</a:t>
            </a:r>
          </a:p>
          <a:p>
            <a:r>
              <a:t>지금까지 말씀드린 효과는 전부 구조 논증이고, 아직 실측이 없는 가설입니다. 그래서 마지막 장은 이 가정들을 어떻게 지표로 바꿔 검증할지입니다. 기법마다 핵심 가정이 하나씩 있습니다. M1은 coarse에서 fine으로 가는 선정이 전체 스코어링과 일치하는가, M2는 로드와 재계산이 실제로 겹치고 일부 레이어의 선정이 전 레이어에 통하는가, M3는 동일 Context에 몰리는 요청 비율이 충분한가, M4는 예산을 줄일 때 정확도가 완만하게 떨어지는가, M5는 신뢰도 신호가 정확도 저하 요청을 구분하는가입니다. 지표와 sweep 축은 오른쪽에 표시했고, 수치 목표는 통합 단계에서 임계값이 정해진 뒤에 적겠습니다.</a:t>
            </a:r>
          </a:p>
          <a:p/>
          <a:p>
            <a:r>
              <a:t>[좌하단 대조군을 가리키며]</a:t>
            </a:r>
          </a:p>
          <a:p>
            <a:r>
              <a:t>비교는 세 가지입니다. 재사용 없는 Full Prefill, 보완 없는 2안, 그리고 보완 전체와 기법을 하나씩 뺀 변형입니다. 이렇게 하면 어느 기법이 어느 이득을 내는지 분리해서 보고할 수 있습니다. 실행 시점과 DP1 구성은 고정해서 병기합니다. 안 그러면 차이가 평가 방식 때문인지 구성 때문인지 구분되지 않기 때문입니다.</a:t>
            </a:r>
          </a:p>
          <a:p/>
          <a:p>
            <a:r>
              <a:t>[우하단 위험을 가리키며]</a:t>
            </a:r>
          </a:p>
          <a:p>
            <a:r>
              <a:t>남은 위험도 솔직히 말씀드립니다. 첫째, Context가 HBM에 이미 있으면 M2는 거의 효과가 없습니다. 둘째, 레이어 간 선정 재사용 가정이 깨지면 정확도가 손실됩니다. 셋째, 배치 윈도우 자체의 지연이 이득을 상쇄할 수 있습니다. 그리고 선정 결과를 캐싱하는 Selection Memo 아이디어는 유사 Query가 유사한 선정을 낳는지 검증이 안 돼서 기본 구성에서 뺐습니다.</a:t>
            </a:r>
          </a:p>
          <a:p/>
          <a:p>
            <a:r>
              <a:t>[마무리]</a:t>
            </a:r>
          </a:p>
          <a:p>
            <a:r>
              <a:t>정리하면 2안의 장점인 원본 1부 보관과 Query-aware 결정은 그대로 두고, 단점은 줄이고 숨기고 나누는 다섯 가지 보완으로 대응하며, 그 효과는 이 계획대로 ablation으로 확인하겠습니다.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766F1F-6FFF-438E-978E-7F50C6A9E636}"/>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DAFAFD0-1F82-4A9B-B3F6-99224804EA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D2A504BB-6AAA-4233-A0A1-1975C91FEA4C}"/>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AE792343-8259-4E59-9F61-74C15CCDDC4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1CB83A2-9524-4B3A-B3C6-D4F79B0E8BB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64031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E669E3-A266-4BEB-8BBA-CE42A5B6659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CE1CA8F-9445-4D8B-A0A0-34714CBAC16D}"/>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82E6160-1C4D-4559-89D9-A35150A3582B}"/>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5B2329A2-229C-4CBB-AC58-12A0F0ACAC1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241D84D-6A9B-449E-843F-67D8BA66FBB1}"/>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872596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076C279-BE8E-4A58-8F27-8C25650DED1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4392A46-7FFF-4D6F-AA6E-D59A61223D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46685FA-9578-48E3-9E09-D095C1DFA2E5}"/>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2AA1F830-4CCD-4D6C-BCCB-003C05CFE7D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80742D8-AAC9-4467-8546-CC9D64B5949C}"/>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433598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44B4E56-0A82-416C-92D9-654BF5C9D24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FB22FE0-D66C-416D-A771-4B8A78E1DB6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70BDFEE8-FEDA-40B6-AD92-F654C3C947F8}"/>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47C12402-8087-4755-8681-5AB4A554CB75}"/>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FB6EB7B6-16FD-43F7-AD81-6AE05331273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7884AA5-2DBF-4023-90B7-AAC1D13205A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488268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92D15B-0C0F-4390-875E-1590EE8F0FD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5B713CE4-54D4-472C-AF86-5304C461B5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0EF3848C-49A2-46AD-B69D-6770C2A44318}"/>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90F7C98F-4810-4F56-8535-9FA72E9AD6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D491211-BEE3-4FEF-980E-6C26F74438DF}"/>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8E8F1097-25B6-4C35-9EDA-0A1B99A7AF6E}"/>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8" name="바닥글 개체 틀 7">
            <a:extLst>
              <a:ext uri="{FF2B5EF4-FFF2-40B4-BE49-F238E27FC236}">
                <a16:creationId xmlns:a16="http://schemas.microsoft.com/office/drawing/2014/main" id="{11967B94-09AA-40C9-A6E7-C49079CAA9A0}"/>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E44706B7-77D3-4F97-B3C3-87F6F63E48FB}"/>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975102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E3900A-A75F-4F93-AE6D-F58DCEBA40E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09FA1503-70FC-402A-9BEA-A7A4CBD5F324}"/>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4" name="바닥글 개체 틀 3">
            <a:extLst>
              <a:ext uri="{FF2B5EF4-FFF2-40B4-BE49-F238E27FC236}">
                <a16:creationId xmlns:a16="http://schemas.microsoft.com/office/drawing/2014/main" id="{AD8CE03B-7743-434D-93C2-5D3CF40D6E07}"/>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E3E11778-A95C-403D-A5C5-03429AA1E58E}"/>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158204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879B79F9-D3BF-4383-9A2B-6720ED16C1D7}"/>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3" name="바닥글 개체 틀 2">
            <a:extLst>
              <a:ext uri="{FF2B5EF4-FFF2-40B4-BE49-F238E27FC236}">
                <a16:creationId xmlns:a16="http://schemas.microsoft.com/office/drawing/2014/main" id="{9791CDC1-1BD2-4CEC-AF70-F1035E05EE8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066BE70D-7B66-4208-B021-AB8D7CB4D757}"/>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423693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71A4DB-6070-458A-B403-89620438738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3CEFAD1F-018C-4CD8-A320-CCA387166D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290798B4-57C3-44B4-A8C2-A1110A1433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6382C16-FF45-4304-A19A-EF629B4740F6}"/>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9BB56C59-F03D-40C5-A062-6C1D08EA6FB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B5D1989-7D2D-483E-8B76-675B71A799C6}"/>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694681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F80EA15-1B37-4FC8-A267-BD814C73A41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A6C1A13-FB13-43ED-9A16-DE43BD615F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C750587-5197-4793-84A9-1FCE8E0FE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2A05951-2B75-4A9C-9D31-DA984C7D0BA0}"/>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893DFFFB-CB82-44B7-ADD5-6C06FFCA99B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DFC3ACB5-7C5F-4763-A545-1E091D9CF56F}"/>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31381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8F7E99-E266-4394-AC3C-C81C0AA01FE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B903C54-E094-4214-B922-CFC0A756130D}"/>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C66B284-4B0D-4115-B089-AA26C33B4436}"/>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08850256-F467-447D-9263-C7183DD65B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83367B8-E91F-4EFF-904D-A125138D360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447184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2E4CC87E-C30F-4874-9B17-340763F05AF7}"/>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B237634-FD61-4D11-A5FB-707E825ADF3E}"/>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9D80697-7563-4134-9650-BD8DE52FAD6B}"/>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B7795852-3BEA-4032-BF3B-1DBB06E399D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EE3DC6E-6854-4E11-B4EC-45C9A22F9932}"/>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4090528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5"/>
          <p:cNvSpPr>
            <a:spLocks noGrp="1"/>
          </p:cNvSpPr>
          <p:nvPr>
            <p:ph type="sldNum" sz="quarter" idx="4"/>
          </p:nvPr>
        </p:nvSpPr>
        <p:spPr>
          <a:xfrm>
            <a:off x="5620080" y="6597650"/>
            <a:ext cx="456466" cy="209550"/>
          </a:xfrm>
          <a:prstGeom prst="rect">
            <a:avLst/>
          </a:prstGeom>
        </p:spPr>
        <p:txBody>
          <a:bodyPr vert="horz" lIns="91440" tIns="45720" rIns="91440" bIns="45720" rtlCol="0" anchor="ctr"/>
          <a:lstStyle>
            <a:lvl1pPr algn="r">
              <a:defRPr sz="1200">
                <a:solidFill>
                  <a:schemeClr val="tx1">
                    <a:tint val="75000"/>
                  </a:schemeClr>
                </a:solidFill>
              </a:defRPr>
            </a:lvl1pPr>
          </a:lstStyle>
          <a:p>
            <a:fld id="{7F889C64-266A-4D07-AD8F-5B592E61CCE1}" type="slidenum">
              <a:rPr lang="ko-KR" altLang="en-US" smtClean="0"/>
              <a:pPr/>
              <a:t>‹#›</a:t>
            </a:fld>
            <a:endParaRPr lang="ko-KR" altLang="en-US" dirty="0"/>
          </a:p>
        </p:txBody>
      </p: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sp>
        <p:nvSpPr>
          <p:cNvPr id="2" name="TextBox 1"/>
          <p:cNvSpPr txBox="1"/>
          <p:nvPr userDrawn="1"/>
        </p:nvSpPr>
        <p:spPr>
          <a:xfrm>
            <a:off x="5975555" y="6563925"/>
            <a:ext cx="470643" cy="276999"/>
          </a:xfrm>
          <a:prstGeom prst="rect">
            <a:avLst/>
          </a:prstGeom>
          <a:noFill/>
        </p:spPr>
        <p:txBody>
          <a:bodyPr wrap="square" rtlCol="0">
            <a:spAutoFit/>
          </a:bodyPr>
          <a:lstStyle/>
          <a:p>
            <a:r>
              <a:rPr lang="en-US" altLang="ko-KR" sz="1200" dirty="0">
                <a:solidFill>
                  <a:schemeClr val="bg1">
                    <a:lumMod val="50000"/>
                  </a:schemeClr>
                </a:solidFill>
              </a:rPr>
              <a:t>/ 5</a:t>
            </a:r>
            <a:endParaRPr lang="ko-KR" altLang="en-US" sz="1200" dirty="0">
              <a:solidFill>
                <a:schemeClr val="bg1">
                  <a:lumMod val="50000"/>
                </a:schemeClr>
              </a:solidFill>
            </a:endParaRPr>
          </a:p>
        </p:txBody>
      </p:sp>
    </p:spTree>
    <p:extLst>
      <p:ext uri="{BB962C8B-B14F-4D97-AF65-F5344CB8AC3E}">
        <p14:creationId xmlns:p14="http://schemas.microsoft.com/office/powerpoint/2010/main" val="24276406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0AD665B-95C3-4399-9C37-9DABDB1E5A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0A6DC265-2495-45CB-94D5-2A0095D35D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1E49F97-8660-4B82-B92F-E281762879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D78CD36A-B7E4-4EBB-BD2C-7A89014F8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A89CF50-AAA0-498B-83B2-83B855385D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15890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DP3. Long Context를 위한 KV 캐시 재사용 구조 - 보완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2안(Query Aware, Online)의 두 단점을 구조로 어떻게 보완할 것인가</a:t>
            </a:r>
          </a:p>
        </p:txBody>
      </p:sp>
      <p:sp>
        <p:nvSpPr>
          <p:cNvPr id="13" name="Rounded Rectangle 12"/>
          <p:cNvSpPr/>
          <p:nvPr/>
        </p:nvSpPr>
        <p:spPr>
          <a:xfrm>
            <a:off x="11146536"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C1</a:t>
            </a:r>
          </a:p>
        </p:txBody>
      </p:sp>
      <p:sp>
        <p:nvSpPr>
          <p:cNvPr id="14" name="Rounded Rectangle 13"/>
          <p:cNvSpPr/>
          <p:nvPr/>
        </p:nvSpPr>
        <p:spPr>
          <a:xfrm>
            <a:off x="10396728"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Q5</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Q3</a:t>
            </a:r>
          </a:p>
        </p:txBody>
      </p:sp>
      <p:sp>
        <p:nvSpPr>
          <p:cNvPr id="16" name="Rounded Rectangle 15"/>
          <p:cNvSpPr/>
          <p:nvPr/>
        </p:nvSpPr>
        <p:spPr>
          <a:xfrm>
            <a:off x="8897111"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7" name="Rounded Rectangle 16"/>
          <p:cNvSpPr/>
          <p:nvPr/>
        </p:nvSpPr>
        <p:spPr>
          <a:xfrm>
            <a:off x="8147303"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F3</a:t>
            </a:r>
          </a:p>
        </p:txBody>
      </p:sp>
      <p:sp>
        <p:nvSpPr>
          <p:cNvPr id="18" name="TextBox 17"/>
          <p:cNvSpPr txBox="1"/>
          <p:nvPr/>
        </p:nvSpPr>
        <p:spPr>
          <a:xfrm>
            <a:off x="356616" y="1097280"/>
            <a:ext cx="11612880" cy="457200"/>
          </a:xfrm>
          <a:prstGeom prst="rect">
            <a:avLst/>
          </a:prstGeom>
          <a:noFill/>
        </p:spPr>
        <p:txBody>
          <a:bodyPr wrap="square" anchor="t" lIns="45720" rIns="45720" tIns="27432" bIns="27432">
            <a:spAutoFit/>
          </a:bodyPr>
          <a:lstStyle/>
          <a:p>
            <a:pPr algn="l">
              <a:spcAft>
                <a:spcPts val="200"/>
              </a:spcAft>
            </a:pPr>
            <a:r>
              <a:rPr sz="1200" b="0">
                <a:solidFill>
                  <a:srgbClr val="404040"/>
                </a:solidFill>
                <a:latin typeface="맑은 고딕"/>
                <a:ea typeface="맑은 고딕"/>
                <a:cs typeface="맑은 고딕"/>
              </a:rPr>
              <a:t>- 2안은 원본 KV 1부만 보관하고 요청 시점의 실제 Query로 재계산 토큰을 고르므로 정확도 마진을 구조적으로 확보하지만, 그 선정과 재계산이 매 요청 경로에 올라감</a:t>
            </a:r>
          </a:p>
        </p:txBody>
      </p:sp>
      <p:sp>
        <p:nvSpPr>
          <p:cNvPr id="19" name="Rectangle 18"/>
          <p:cNvSpPr/>
          <p:nvPr/>
        </p:nvSpPr>
        <p:spPr>
          <a:xfrm>
            <a:off x="347472" y="1783080"/>
            <a:ext cx="11402568" cy="146304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28515" y="1627632"/>
            <a:ext cx="384048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요청 경로(TTFT)의 비용 분해  [개념식]</a:t>
            </a:r>
          </a:p>
        </p:txBody>
      </p:sp>
      <p:sp>
        <p:nvSpPr>
          <p:cNvPr id="21" name="Rectangle 20"/>
          <p:cNvSpPr/>
          <p:nvPr/>
        </p:nvSpPr>
        <p:spPr>
          <a:xfrm>
            <a:off x="594360" y="2103120"/>
            <a:ext cx="1920240" cy="566928"/>
          </a:xfrm>
          <a:prstGeom prst="rect">
            <a:avLst/>
          </a:prstGeom>
          <a:solidFill>
            <a:srgbClr val="E2F0D9"/>
          </a:solidFill>
          <a:ln w="1524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100" b="1">
                <a:solidFill>
                  <a:srgbClr val="000000"/>
                </a:solidFill>
                <a:latin typeface="맑은 고딕"/>
                <a:ea typeface="맑은 고딕"/>
                <a:cs typeface="맑은 고딕"/>
              </a:rPr>
              <a:t>T_fetch</a:t>
            </a:r>
          </a:p>
          <a:p>
            <a:pPr algn="ctr">
              <a:spcAft>
                <a:spcPts val="200"/>
              </a:spcAft>
            </a:pPr>
            <a:r>
              <a:rPr sz="850" b="0">
                <a:solidFill>
                  <a:srgbClr val="000000"/>
                </a:solidFill>
                <a:latin typeface="맑은 고딕"/>
                <a:ea typeface="맑은 고딕"/>
                <a:cs typeface="맑은 고딕"/>
              </a:rPr>
              <a:t>tier → HBM KV 로드</a:t>
            </a:r>
          </a:p>
        </p:txBody>
      </p:sp>
      <p:sp>
        <p:nvSpPr>
          <p:cNvPr id="22" name="TextBox 21"/>
          <p:cNvSpPr txBox="1"/>
          <p:nvPr/>
        </p:nvSpPr>
        <p:spPr>
          <a:xfrm>
            <a:off x="594360" y="2697480"/>
            <a:ext cx="1920240" cy="274320"/>
          </a:xfrm>
          <a:prstGeom prst="rect">
            <a:avLst/>
          </a:prstGeom>
          <a:noFill/>
        </p:spPr>
        <p:txBody>
          <a:bodyPr wrap="square" anchor="t" lIns="45720" rIns="45720" tIns="27432" bIns="27432">
            <a:spAutoFit/>
          </a:bodyPr>
          <a:lstStyle/>
          <a:p>
            <a:pPr algn="ctr">
              <a:spcAft>
                <a:spcPts val="200"/>
              </a:spcAft>
            </a:pPr>
            <a:r>
              <a:rPr sz="900" b="1">
                <a:solidFill>
                  <a:srgbClr val="595959"/>
                </a:solidFill>
                <a:latin typeface="맑은 고딕"/>
                <a:ea typeface="맑은 고딕"/>
                <a:cs typeface="맑은 고딕"/>
              </a:rPr>
              <a:t>링크 대역폭</a:t>
            </a:r>
          </a:p>
        </p:txBody>
      </p:sp>
      <p:sp>
        <p:nvSpPr>
          <p:cNvPr id="23" name="TextBox 22"/>
          <p:cNvSpPr txBox="1"/>
          <p:nvPr/>
        </p:nvSpPr>
        <p:spPr>
          <a:xfrm>
            <a:off x="2496312" y="2176272"/>
            <a:ext cx="411480" cy="365760"/>
          </a:xfrm>
          <a:prstGeom prst="rect">
            <a:avLst/>
          </a:prstGeom>
          <a:noFill/>
        </p:spPr>
        <p:txBody>
          <a:bodyPr wrap="square" anchor="t" lIns="45720" rIns="45720" tIns="27432" bIns="27432">
            <a:spAutoFit/>
          </a:bodyPr>
          <a:lstStyle/>
          <a:p>
            <a:pPr algn="ctr">
              <a:spcAft>
                <a:spcPts val="200"/>
              </a:spcAft>
            </a:pPr>
            <a:r>
              <a:rPr sz="1600" b="1">
                <a:solidFill>
                  <a:srgbClr val="595959"/>
                </a:solidFill>
                <a:latin typeface="맑은 고딕"/>
                <a:ea typeface="맑은 고딕"/>
                <a:cs typeface="맑은 고딕"/>
              </a:rPr>
              <a:t>+</a:t>
            </a:r>
          </a:p>
        </p:txBody>
      </p:sp>
      <p:sp>
        <p:nvSpPr>
          <p:cNvPr id="24" name="Rectangle 23"/>
          <p:cNvSpPr/>
          <p:nvPr/>
        </p:nvSpPr>
        <p:spPr>
          <a:xfrm>
            <a:off x="2880360" y="2103120"/>
            <a:ext cx="1920240" cy="566928"/>
          </a:xfrm>
          <a:prstGeom prst="rect">
            <a:avLst/>
          </a:prstGeom>
          <a:solidFill>
            <a:srgbClr val="FBE5D6"/>
          </a:solidFill>
          <a:ln w="1524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100" b="1">
                <a:solidFill>
                  <a:srgbClr val="000000"/>
                </a:solidFill>
                <a:latin typeface="맑은 고딕"/>
                <a:ea typeface="맑은 고딕"/>
                <a:cs typeface="맑은 고딕"/>
              </a:rPr>
              <a:t>T_score</a:t>
            </a:r>
          </a:p>
          <a:p>
            <a:pPr algn="ctr">
              <a:spcAft>
                <a:spcPts val="200"/>
              </a:spcAft>
            </a:pPr>
            <a:r>
              <a:rPr sz="850" b="0">
                <a:solidFill>
                  <a:srgbClr val="000000"/>
                </a:solidFill>
                <a:latin typeface="맑은 고딕"/>
                <a:ea typeface="맑은 고딕"/>
                <a:cs typeface="맑은 고딕"/>
              </a:rPr>
              <a:t>Query × KV Attention (Stage 1)</a:t>
            </a:r>
          </a:p>
        </p:txBody>
      </p:sp>
      <p:sp>
        <p:nvSpPr>
          <p:cNvPr id="25" name="TextBox 24"/>
          <p:cNvSpPr txBox="1"/>
          <p:nvPr/>
        </p:nvSpPr>
        <p:spPr>
          <a:xfrm>
            <a:off x="2880360" y="2697480"/>
            <a:ext cx="1920240" cy="274320"/>
          </a:xfrm>
          <a:prstGeom prst="rect">
            <a:avLst/>
          </a:prstGeom>
          <a:noFill/>
        </p:spPr>
        <p:txBody>
          <a:bodyPr wrap="square" anchor="t" lIns="45720" rIns="45720" tIns="27432" bIns="27432">
            <a:spAutoFit/>
          </a:bodyPr>
          <a:lstStyle/>
          <a:p>
            <a:pPr algn="ctr">
              <a:spcAft>
                <a:spcPts val="200"/>
              </a:spcAft>
            </a:pPr>
            <a:r>
              <a:rPr sz="900" b="1">
                <a:solidFill>
                  <a:srgbClr val="595959"/>
                </a:solidFill>
                <a:latin typeface="맑은 고딕"/>
                <a:ea typeface="맑은 고딕"/>
                <a:cs typeface="맑은 고딕"/>
              </a:rPr>
              <a:t>HBM 대역폭 (memory-bound)</a:t>
            </a:r>
          </a:p>
        </p:txBody>
      </p:sp>
      <p:sp>
        <p:nvSpPr>
          <p:cNvPr id="26" name="TextBox 25"/>
          <p:cNvSpPr txBox="1"/>
          <p:nvPr/>
        </p:nvSpPr>
        <p:spPr>
          <a:xfrm>
            <a:off x="4782312" y="2176272"/>
            <a:ext cx="411480" cy="365760"/>
          </a:xfrm>
          <a:prstGeom prst="rect">
            <a:avLst/>
          </a:prstGeom>
          <a:noFill/>
        </p:spPr>
        <p:txBody>
          <a:bodyPr wrap="square" anchor="t" lIns="45720" rIns="45720" tIns="27432" bIns="27432">
            <a:spAutoFit/>
          </a:bodyPr>
          <a:lstStyle/>
          <a:p>
            <a:pPr algn="ctr">
              <a:spcAft>
                <a:spcPts val="200"/>
              </a:spcAft>
            </a:pPr>
            <a:r>
              <a:rPr sz="1600" b="1">
                <a:solidFill>
                  <a:srgbClr val="595959"/>
                </a:solidFill>
                <a:latin typeface="맑은 고딕"/>
                <a:ea typeface="맑은 고딕"/>
                <a:cs typeface="맑은 고딕"/>
              </a:rPr>
              <a:t>+</a:t>
            </a:r>
          </a:p>
        </p:txBody>
      </p:sp>
      <p:sp>
        <p:nvSpPr>
          <p:cNvPr id="27" name="Rectangle 26"/>
          <p:cNvSpPr/>
          <p:nvPr/>
        </p:nvSpPr>
        <p:spPr>
          <a:xfrm>
            <a:off x="5166360" y="2103120"/>
            <a:ext cx="1920240" cy="566928"/>
          </a:xfrm>
          <a:prstGeom prst="rect">
            <a:avLst/>
          </a:prstGeom>
          <a:solidFill>
            <a:srgbClr val="F0F1F3"/>
          </a:solidFill>
          <a:ln w="1524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100" b="1">
                <a:solidFill>
                  <a:srgbClr val="000000"/>
                </a:solidFill>
                <a:latin typeface="맑은 고딕"/>
                <a:ea typeface="맑은 고딕"/>
                <a:cs typeface="맑은 고딕"/>
              </a:rPr>
              <a:t>T_select</a:t>
            </a:r>
          </a:p>
          <a:p>
            <a:pPr algn="ctr">
              <a:spcAft>
                <a:spcPts val="200"/>
              </a:spcAft>
            </a:pPr>
            <a:r>
              <a:rPr sz="850" b="0">
                <a:solidFill>
                  <a:srgbClr val="000000"/>
                </a:solidFill>
                <a:latin typeface="맑은 고딕"/>
                <a:ea typeface="맑은 고딕"/>
                <a:cs typeface="맑은 고딕"/>
              </a:rPr>
              <a:t>점수 상위 토큰 선정</a:t>
            </a:r>
          </a:p>
        </p:txBody>
      </p:sp>
      <p:sp>
        <p:nvSpPr>
          <p:cNvPr id="28" name="TextBox 27"/>
          <p:cNvSpPr txBox="1"/>
          <p:nvPr/>
        </p:nvSpPr>
        <p:spPr>
          <a:xfrm>
            <a:off x="5166360" y="2697480"/>
            <a:ext cx="1920240" cy="274320"/>
          </a:xfrm>
          <a:prstGeom prst="rect">
            <a:avLst/>
          </a:prstGeom>
          <a:noFill/>
        </p:spPr>
        <p:txBody>
          <a:bodyPr wrap="square" anchor="t" lIns="45720" rIns="45720" tIns="27432" bIns="27432">
            <a:spAutoFit/>
          </a:bodyPr>
          <a:lstStyle/>
          <a:p>
            <a:pPr algn="ctr">
              <a:spcAft>
                <a:spcPts val="200"/>
              </a:spcAft>
            </a:pPr>
            <a:r>
              <a:rPr sz="900" b="1">
                <a:solidFill>
                  <a:srgbClr val="595959"/>
                </a:solidFill>
                <a:latin typeface="맑은 고딕"/>
                <a:ea typeface="맑은 고딕"/>
                <a:cs typeface="맑은 고딕"/>
              </a:rPr>
              <a:t>무시 가능</a:t>
            </a:r>
          </a:p>
        </p:txBody>
      </p:sp>
      <p:sp>
        <p:nvSpPr>
          <p:cNvPr id="29" name="TextBox 28"/>
          <p:cNvSpPr txBox="1"/>
          <p:nvPr/>
        </p:nvSpPr>
        <p:spPr>
          <a:xfrm>
            <a:off x="7068312" y="2176272"/>
            <a:ext cx="411480" cy="365760"/>
          </a:xfrm>
          <a:prstGeom prst="rect">
            <a:avLst/>
          </a:prstGeom>
          <a:noFill/>
        </p:spPr>
        <p:txBody>
          <a:bodyPr wrap="square" anchor="t" lIns="45720" rIns="45720" tIns="27432" bIns="27432">
            <a:spAutoFit/>
          </a:bodyPr>
          <a:lstStyle/>
          <a:p>
            <a:pPr algn="ctr">
              <a:spcAft>
                <a:spcPts val="200"/>
              </a:spcAft>
            </a:pPr>
            <a:r>
              <a:rPr sz="1600" b="1">
                <a:solidFill>
                  <a:srgbClr val="595959"/>
                </a:solidFill>
                <a:latin typeface="맑은 고딕"/>
                <a:ea typeface="맑은 고딕"/>
                <a:cs typeface="맑은 고딕"/>
              </a:rPr>
              <a:t>+</a:t>
            </a:r>
          </a:p>
        </p:txBody>
      </p:sp>
      <p:sp>
        <p:nvSpPr>
          <p:cNvPr id="30" name="Rectangle 29"/>
          <p:cNvSpPr/>
          <p:nvPr/>
        </p:nvSpPr>
        <p:spPr>
          <a:xfrm>
            <a:off x="7452360" y="2103120"/>
            <a:ext cx="1920240" cy="566928"/>
          </a:xfrm>
          <a:prstGeom prst="rect">
            <a:avLst/>
          </a:prstGeom>
          <a:solidFill>
            <a:srgbClr val="DEEBF7"/>
          </a:solidFill>
          <a:ln w="1524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100" b="1">
                <a:solidFill>
                  <a:srgbClr val="000000"/>
                </a:solidFill>
                <a:latin typeface="맑은 고딕"/>
                <a:ea typeface="맑은 고딕"/>
                <a:cs typeface="맑은 고딕"/>
              </a:rPr>
              <a:t>T_recomp</a:t>
            </a:r>
          </a:p>
          <a:p>
            <a:pPr algn="ctr">
              <a:spcAft>
                <a:spcPts val="200"/>
              </a:spcAft>
            </a:pPr>
            <a:r>
              <a:rPr sz="850" b="0">
                <a:solidFill>
                  <a:srgbClr val="000000"/>
                </a:solidFill>
                <a:latin typeface="맑은 고딕"/>
                <a:ea typeface="맑은 고딕"/>
                <a:cs typeface="맑은 고딕"/>
              </a:rPr>
              <a:t>선택 토큰 layer별 재연산</a:t>
            </a:r>
          </a:p>
        </p:txBody>
      </p:sp>
      <p:sp>
        <p:nvSpPr>
          <p:cNvPr id="31" name="TextBox 30"/>
          <p:cNvSpPr txBox="1"/>
          <p:nvPr/>
        </p:nvSpPr>
        <p:spPr>
          <a:xfrm>
            <a:off x="7452360" y="2697480"/>
            <a:ext cx="1920240" cy="274320"/>
          </a:xfrm>
          <a:prstGeom prst="rect">
            <a:avLst/>
          </a:prstGeom>
          <a:noFill/>
        </p:spPr>
        <p:txBody>
          <a:bodyPr wrap="square" anchor="t" lIns="45720" rIns="45720" tIns="27432" bIns="27432">
            <a:spAutoFit/>
          </a:bodyPr>
          <a:lstStyle/>
          <a:p>
            <a:pPr algn="ctr">
              <a:spcAft>
                <a:spcPts val="200"/>
              </a:spcAft>
            </a:pPr>
            <a:r>
              <a:rPr sz="900" b="1">
                <a:solidFill>
                  <a:srgbClr val="595959"/>
                </a:solidFill>
                <a:latin typeface="맑은 고딕"/>
                <a:ea typeface="맑은 고딕"/>
                <a:cs typeface="맑은 고딕"/>
              </a:rPr>
              <a:t>SM (compute-bound)</a:t>
            </a:r>
          </a:p>
        </p:txBody>
      </p:sp>
      <p:sp>
        <p:nvSpPr>
          <p:cNvPr id="32" name="TextBox 31"/>
          <p:cNvSpPr txBox="1"/>
          <p:nvPr/>
        </p:nvSpPr>
        <p:spPr>
          <a:xfrm>
            <a:off x="9354312" y="2176272"/>
            <a:ext cx="411480" cy="365760"/>
          </a:xfrm>
          <a:prstGeom prst="rect">
            <a:avLst/>
          </a:prstGeom>
          <a:noFill/>
        </p:spPr>
        <p:txBody>
          <a:bodyPr wrap="square" anchor="t" lIns="45720" rIns="45720" tIns="27432" bIns="27432">
            <a:spAutoFit/>
          </a:bodyPr>
          <a:lstStyle/>
          <a:p>
            <a:pPr algn="ctr">
              <a:spcAft>
                <a:spcPts val="200"/>
              </a:spcAft>
            </a:pPr>
            <a:r>
              <a:rPr sz="1600" b="1">
                <a:solidFill>
                  <a:srgbClr val="595959"/>
                </a:solidFill>
                <a:latin typeface="맑은 고딕"/>
                <a:ea typeface="맑은 고딕"/>
                <a:cs typeface="맑은 고딕"/>
              </a:rPr>
              <a:t>+</a:t>
            </a:r>
          </a:p>
        </p:txBody>
      </p:sp>
      <p:sp>
        <p:nvSpPr>
          <p:cNvPr id="33" name="Rectangle 32"/>
          <p:cNvSpPr/>
          <p:nvPr/>
        </p:nvSpPr>
        <p:spPr>
          <a:xfrm>
            <a:off x="9738360" y="2103120"/>
            <a:ext cx="1920240" cy="566928"/>
          </a:xfrm>
          <a:prstGeom prst="rect">
            <a:avLst/>
          </a:prstGeom>
          <a:solidFill>
            <a:srgbClr val="F0F1F3"/>
          </a:solidFill>
          <a:ln w="1524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100" b="1">
                <a:solidFill>
                  <a:srgbClr val="000000"/>
                </a:solidFill>
                <a:latin typeface="맑은 고딕"/>
                <a:ea typeface="맑은 고딕"/>
                <a:cs typeface="맑은 고딕"/>
              </a:rPr>
              <a:t>T_rest</a:t>
            </a:r>
          </a:p>
          <a:p>
            <a:pPr algn="ctr">
              <a:spcAft>
                <a:spcPts val="200"/>
              </a:spcAft>
            </a:pPr>
            <a:r>
              <a:rPr sz="850" b="0">
                <a:solidFill>
                  <a:srgbClr val="000000"/>
                </a:solidFill>
                <a:latin typeface="맑은 고딕"/>
                <a:ea typeface="맑은 고딕"/>
                <a:cs typeface="맑은 고딕"/>
              </a:rPr>
              <a:t>비재계산 구간 · Query suffix</a:t>
            </a:r>
          </a:p>
        </p:txBody>
      </p:sp>
      <p:sp>
        <p:nvSpPr>
          <p:cNvPr id="34" name="TextBox 33"/>
          <p:cNvSpPr txBox="1"/>
          <p:nvPr/>
        </p:nvSpPr>
        <p:spPr>
          <a:xfrm>
            <a:off x="9738360" y="2697480"/>
            <a:ext cx="1920240" cy="274320"/>
          </a:xfrm>
          <a:prstGeom prst="rect">
            <a:avLst/>
          </a:prstGeom>
          <a:noFill/>
        </p:spPr>
        <p:txBody>
          <a:bodyPr wrap="square" anchor="t" lIns="45720" rIns="45720" tIns="27432" bIns="27432">
            <a:spAutoFit/>
          </a:bodyPr>
          <a:lstStyle/>
          <a:p>
            <a:pPr algn="ctr">
              <a:spcAft>
                <a:spcPts val="200"/>
              </a:spcAft>
            </a:pPr>
            <a:r>
              <a:rPr sz="900" b="1">
                <a:solidFill>
                  <a:srgbClr val="595959"/>
                </a:solidFill>
                <a:latin typeface="맑은 고딕"/>
                <a:ea typeface="맑은 고딕"/>
                <a:cs typeface="맑은 고딕"/>
              </a:rPr>
              <a:t>—</a:t>
            </a:r>
          </a:p>
        </p:txBody>
      </p:sp>
      <p:sp>
        <p:nvSpPr>
          <p:cNvPr id="35" name="TextBox 34"/>
          <p:cNvSpPr txBox="1"/>
          <p:nvPr/>
        </p:nvSpPr>
        <p:spPr>
          <a:xfrm>
            <a:off x="457200" y="2926080"/>
            <a:ext cx="11155680" cy="274320"/>
          </a:xfrm>
          <a:prstGeom prst="rect">
            <a:avLst/>
          </a:prstGeom>
          <a:noFill/>
        </p:spPr>
        <p:txBody>
          <a:bodyPr wrap="square" anchor="t" lIns="45720" rIns="45720" tIns="27432" bIns="27432">
            <a:spAutoFit/>
          </a:bodyPr>
          <a:lstStyle/>
          <a:p>
            <a:pPr algn="l">
              <a:spcAft>
                <a:spcPts val="200"/>
              </a:spcAft>
            </a:pPr>
            <a:r>
              <a:rPr sz="1000" b="1">
                <a:solidFill>
                  <a:srgbClr val="404040"/>
                </a:solidFill>
                <a:latin typeface="맑은 고딕"/>
                <a:ea typeface="맑은 고딕"/>
                <a:cs typeface="맑은 고딕"/>
              </a:rPr>
              <a:t>TTFT(2안) ≈ T_fetch + T_score + T_select + T_recomp + T_rest  (단계 직렬 가정, 보완 설계가 공략하는 항: T_fetch · T_score · T_recomp)</a:t>
            </a:r>
          </a:p>
        </p:txBody>
      </p:sp>
      <p:graphicFrame>
        <p:nvGraphicFramePr>
          <p:cNvPr id="36" name="Table 35"/>
          <p:cNvGraphicFramePr>
            <a:graphicFrameLocks noGrp="1"/>
          </p:cNvGraphicFramePr>
          <p:nvPr/>
        </p:nvGraphicFramePr>
        <p:xfrm>
          <a:off x="246888" y="3429000"/>
          <a:ext cx="11750039" cy="2011680"/>
        </p:xfrm>
        <a:graphic>
          <a:graphicData uri="http://schemas.openxmlformats.org/drawingml/2006/table">
            <a:tbl>
              <a:tblPr firstRow="0" bandRow="0">
                <a:tableStyleId>{2D5ABB26-0587-4C30-8999-92F81FD0307C}</a:tableStyleId>
              </a:tblPr>
              <a:tblGrid>
                <a:gridCol w="2743200"/>
                <a:gridCol w="3977639"/>
                <a:gridCol w="5029200"/>
              </a:tblGrid>
              <a:tr h="310896">
                <a:tc>
                  <a:txBody>
                    <a:bodyPr wrap="square"/>
                    <a:lstStyle/>
                    <a:p>
                      <a:pPr algn="ctr">
                        <a:spcAft>
                          <a:spcPts val="100"/>
                        </a:spcAft>
                      </a:pPr>
                      <a:r>
                        <a:rPr sz="1150" b="0">
                          <a:solidFill>
                            <a:srgbClr val="7F7F7F"/>
                          </a:solidFill>
                          <a:latin typeface="맑은 고딕"/>
                          <a:ea typeface="맑은 고딕"/>
                          <a:cs typeface="맑은 고딕"/>
                        </a:rPr>
                        <a:t>단점 (기존 슬라이드)</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150" b="1">
                          <a:solidFill>
                            <a:srgbClr val="7F7F7F"/>
                          </a:solidFill>
                          <a:latin typeface="맑은 고딕"/>
                          <a:ea typeface="맑은 고딕"/>
                          <a:cs typeface="맑은 고딕"/>
                        </a:rPr>
                        <a:t>원인 항</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150" b="1">
                          <a:solidFill>
                            <a:srgbClr val="7F7F7F"/>
                          </a:solidFill>
                          <a:latin typeface="맑은 고딕"/>
                          <a:ea typeface="맑은 고딕"/>
                          <a:cs typeface="맑은 고딕"/>
                        </a:rPr>
                        <a:t>보완 기법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66928">
                <a:tc>
                  <a:txBody>
                    <a:bodyPr wrap="square"/>
                    <a:lstStyle/>
                    <a:p>
                      <a:pPr algn="ctr">
                        <a:spcAft>
                          <a:spcPts val="100"/>
                        </a:spcAft>
                      </a:pPr>
                      <a:r>
                        <a:rPr sz="1050" b="1">
                          <a:solidFill>
                            <a:srgbClr val="7F7F7F"/>
                          </a:solidFill>
                          <a:latin typeface="맑은 고딕"/>
                          <a:ea typeface="맑은 고딕"/>
                          <a:cs typeface="맑은 고딕"/>
                        </a:rPr>
                        <a:t>① 재계산이 매 요청 critical path에 상주</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50" b="0">
                          <a:solidFill>
                            <a:srgbClr val="000000"/>
                          </a:solidFill>
                          <a:latin typeface="맑은 고딕"/>
                          <a:ea typeface="맑은 고딕"/>
                          <a:cs typeface="맑은 고딕"/>
                        </a:rPr>
                        <a:t>T_score: 요청마다 전체 K를 스캔 / T_fetch → T_score → T_recomp 직렬</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50" b="1">
                          <a:solidFill>
                            <a:srgbClr val="000000"/>
                          </a:solidFill>
                          <a:latin typeface="맑은 고딕"/>
                          <a:ea typeface="맑은 고딕"/>
                          <a:cs typeface="맑은 고딕"/>
                        </a:rPr>
                        <a:t>M1 Block Digest 계층 스코어링 + M2 레이어 파이프라인·load-hiding 재계산 예산</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66928">
                <a:tc>
                  <a:txBody>
                    <a:bodyPr wrap="square"/>
                    <a:lstStyle/>
                    <a:p>
                      <a:pPr algn="ctr">
                        <a:spcAft>
                          <a:spcPts val="100"/>
                        </a:spcAft>
                      </a:pPr>
                      <a:r>
                        <a:rPr sz="1050" b="1">
                          <a:solidFill>
                            <a:srgbClr val="7F7F7F"/>
                          </a:solidFill>
                          <a:latin typeface="맑은 고딕"/>
                          <a:ea typeface="맑은 고딕"/>
                          <a:cs typeface="맑은 고딕"/>
                        </a:rPr>
                        <a:t>② 동시 요청 증가 시 재계산 경합 → 확장 여유 제한</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50" b="0">
                          <a:solidFill>
                            <a:srgbClr val="000000"/>
                          </a:solidFill>
                          <a:latin typeface="맑은 고딕"/>
                          <a:ea typeface="맑은 고딕"/>
                          <a:cs typeface="맑은 고딕"/>
                        </a:rPr>
                        <a:t>n개 요청이 같은 Context KV를 각자 스캔 / 재계산이 Decode와 SM 경쟁</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50" b="1">
                          <a:solidFill>
                            <a:srgbClr val="000000"/>
                          </a:solidFill>
                          <a:latin typeface="맑은 고딕"/>
                          <a:ea typeface="맑은 고딕"/>
                          <a:cs typeface="맑은 고딕"/>
                        </a:rPr>
                        <a:t>M3 Shared-KV 배치 스코어링 + M4 예산 선정·단계적 저하</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66928">
                <a:tc>
                  <a:txBody>
                    <a:bodyPr wrap="square"/>
                    <a:lstStyle/>
                    <a:p>
                      <a:pPr algn="ctr">
                        <a:spcAft>
                          <a:spcPts val="100"/>
                        </a:spcAft>
                      </a:pPr>
                      <a:r>
                        <a:rPr sz="1050" b="1">
                          <a:solidFill>
                            <a:srgbClr val="7F7F7F"/>
                          </a:solidFill>
                          <a:latin typeface="맑은 고딕"/>
                          <a:ea typeface="맑은 고딕"/>
                          <a:cs typeface="맑은 고딕"/>
                        </a:rPr>
                        <a:t>③ 보완이 만드는 새 위험: 정확도 저하</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50" b="0">
                          <a:solidFill>
                            <a:srgbClr val="000000"/>
                          </a:solidFill>
                          <a:latin typeface="맑은 고딕"/>
                          <a:ea typeface="맑은 고딕"/>
                          <a:cs typeface="맑은 고딕"/>
                        </a:rPr>
                        <a:t>M1·M2·M4는 모두 정확도를 깎는 방향의 최적화 (제약 C1: 출력 정확도 보장)</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50" b="1">
                          <a:solidFill>
                            <a:srgbClr val="000000"/>
                          </a:solidFill>
                          <a:latin typeface="맑은 고딕"/>
                          <a:ea typeface="맑은 고딕"/>
                          <a:cs typeface="맑은 고딕"/>
                        </a:rPr>
                        <a:t>M5 Confidence Gate (신뢰도 미달 시 r 상향 / Full Prefill)</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37" name="Right Arrow 36"/>
          <p:cNvSpPr/>
          <p:nvPr/>
        </p:nvSpPr>
        <p:spPr>
          <a:xfrm>
            <a:off x="283464" y="5760720"/>
            <a:ext cx="411480" cy="274320"/>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742432"/>
            <a:ext cx="11155680" cy="310896"/>
          </a:xfrm>
          <a:prstGeom prst="rect">
            <a:avLst/>
          </a:prstGeom>
          <a:noFill/>
        </p:spPr>
        <p:txBody>
          <a:bodyPr wrap="square" anchor="ctr" lIns="45720" rIns="45720" tIns="27432" bIns="27432">
            <a:spAutoFit/>
          </a:bodyPr>
          <a:lstStyle/>
          <a:p>
            <a:pPr algn="l">
              <a:spcAft>
                <a:spcPts val="200"/>
              </a:spcAft>
            </a:pPr>
            <a:r>
              <a:rPr sz="1200" b="1">
                <a:solidFill>
                  <a:srgbClr val="0066FF"/>
                </a:solidFill>
                <a:latin typeface="맑은 고딕"/>
                <a:ea typeface="맑은 고딕"/>
                <a:cs typeface="맑은 고딕"/>
              </a:rPr>
              <a:t>보완 원칙: critical path를 없애지 않고 줄이고 숨긴다. 원본 KV 1부 보관(압축 없음)과 요청 시점 Query-aware 결정은 그대로 유지</a:t>
            </a:r>
          </a:p>
        </p:txBody>
      </p:sp>
      <p:sp>
        <p:nvSpPr>
          <p:cNvPr id="39" name="TextBox 38"/>
          <p:cNvSpPr txBox="1"/>
          <p:nvPr/>
        </p:nvSpPr>
        <p:spPr>
          <a:xfrm>
            <a:off x="384048" y="6071616"/>
            <a:ext cx="11430000" cy="548640"/>
          </a:xfrm>
          <a:prstGeom prst="rect">
            <a:avLst/>
          </a:prstGeom>
          <a:noFill/>
        </p:spPr>
        <p:txBody>
          <a:bodyPr wrap="square" anchor="t" lIns="45720" rIns="45720" tIns="27432" bIns="27432">
            <a:spAutoFit/>
          </a:bodyPr>
          <a:lstStyle/>
          <a:p>
            <a:pPr algn="l">
              <a:spcAft>
                <a:spcPts val="100"/>
              </a:spcAft>
            </a:pPr>
            <a:r>
              <a:rPr sz="1100" b="1">
                <a:solidFill>
                  <a:srgbClr val="000000"/>
                </a:solidFill>
                <a:latin typeface="맑은 고딕"/>
                <a:ea typeface="맑은 고딕"/>
                <a:cs typeface="맑은 고딕"/>
              </a:rPr>
              <a:t>설계 쟁점 1. 지연: Stage 1과 KV 로드를 재계산 뒤로 숨겨 TTFT 절감률을 높이는 구조</a:t>
            </a:r>
          </a:p>
          <a:p>
            <a:pPr algn="l">
              <a:spcAft>
                <a:spcPts val="100"/>
              </a:spcAft>
            </a:pPr>
            <a:r>
              <a:rPr sz="1100" b="1">
                <a:solidFill>
                  <a:srgbClr val="000000"/>
                </a:solidFill>
                <a:latin typeface="맑은 고딕"/>
                <a:ea typeface="맑은 고딕"/>
                <a:cs typeface="맑은 고딕"/>
              </a:rPr>
              <a:t>설계 쟁점 2. 확장성: 동시 요청이 늘어도 경합이 선형으로 증가하지 않고 정확도로 점진 저하되는 구조</a:t>
            </a:r>
          </a:p>
        </p:txBody>
      </p:sp>
      <p:sp>
        <p:nvSpPr>
          <p:cNvPr id="40" name="TextBox 39"/>
          <p:cNvSpPr txBox="1"/>
          <p:nvPr/>
        </p:nvSpPr>
        <p:spPr>
          <a:xfrm>
            <a:off x="274320" y="6601968"/>
            <a:ext cx="4983480" cy="228600"/>
          </a:xfrm>
          <a:prstGeom prst="rect">
            <a:avLst/>
          </a:prstGeom>
          <a:noFill/>
        </p:spPr>
        <p:txBody>
          <a:bodyPr wrap="square" anchor="t" lIns="45720" rIns="45720" tIns="27432" bIns="27432">
            <a:spAutoFit/>
          </a:bodyPr>
          <a:lstStyle/>
          <a:p>
            <a:pPr algn="l">
              <a:spcAft>
                <a:spcPts val="200"/>
              </a:spcAft>
            </a:pPr>
            <a:r>
              <a:rPr sz="700" b="0">
                <a:solidFill>
                  <a:srgbClr val="7F7F7F"/>
                </a:solidFill>
                <a:latin typeface="맑은 고딕"/>
                <a:ea typeface="맑은 고딕"/>
                <a:cs typeface="맑은 고딕"/>
              </a:rPr>
              <a:t>출처: doc-mk/DP3/dp3-kv-compression-reuse-structure-draft.md. 효과는 모두 [가설], 문헌 [B]</a:t>
            </a:r>
          </a:p>
        </p:txBody>
      </p:sp>
      <p:sp>
        <p:nvSpPr>
          <p:cNvPr id="41" name="TextBox 40"/>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DP3. Long Context를 위한 KV 캐시 재사용 구조 - 보완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2안 + 보완: 기존 모듈은 유지하고 세 곳을 확장한다</a:t>
            </a:r>
          </a:p>
        </p:txBody>
      </p:sp>
      <p:sp>
        <p:nvSpPr>
          <p:cNvPr id="13" name="Rounded Rectangle 12"/>
          <p:cNvSpPr/>
          <p:nvPr/>
        </p:nvSpPr>
        <p:spPr>
          <a:xfrm>
            <a:off x="11146536"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C1</a:t>
            </a:r>
          </a:p>
        </p:txBody>
      </p:sp>
      <p:sp>
        <p:nvSpPr>
          <p:cNvPr id="14" name="Rounded Rectangle 13"/>
          <p:cNvSpPr/>
          <p:nvPr/>
        </p:nvSpPr>
        <p:spPr>
          <a:xfrm>
            <a:off x="10396728"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Q5</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Q3</a:t>
            </a:r>
          </a:p>
        </p:txBody>
      </p:sp>
      <p:sp>
        <p:nvSpPr>
          <p:cNvPr id="16" name="Rounded Rectangle 15"/>
          <p:cNvSpPr/>
          <p:nvPr/>
        </p:nvSpPr>
        <p:spPr>
          <a:xfrm>
            <a:off x="8897111"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7" name="Rounded Rectangle 16"/>
          <p:cNvSpPr/>
          <p:nvPr/>
        </p:nvSpPr>
        <p:spPr>
          <a:xfrm>
            <a:off x="8147303"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F3</a:t>
            </a:r>
          </a:p>
        </p:txBody>
      </p:sp>
      <p:sp>
        <p:nvSpPr>
          <p:cNvPr id="18" name="Rectangle 17"/>
          <p:cNvSpPr/>
          <p:nvPr/>
        </p:nvSpPr>
        <p:spPr>
          <a:xfrm>
            <a:off x="365760" y="1234440"/>
            <a:ext cx="2194560" cy="777240"/>
          </a:xfrm>
          <a:prstGeom prst="rect">
            <a:avLst/>
          </a:prstGeom>
          <a:solidFill>
            <a:srgbClr val="FFF2CC"/>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000000"/>
                </a:solidFill>
                <a:latin typeface="맑은 고딕"/>
                <a:ea typeface="맑은 고딕"/>
                <a:cs typeface="맑은 고딕"/>
              </a:rPr>
              <a:t>User Query Manager</a:t>
            </a:r>
          </a:p>
          <a:p>
            <a:pPr algn="ctr">
              <a:spcAft>
                <a:spcPts val="200"/>
              </a:spcAft>
            </a:pPr>
            <a:r>
              <a:rPr sz="850" b="0">
                <a:solidFill>
                  <a:srgbClr val="000000"/>
                </a:solidFill>
                <a:latin typeface="맑은 고딕"/>
                <a:ea typeface="맑은 고딕"/>
                <a:cs typeface="맑은 고딕"/>
              </a:rPr>
              <a:t>실제 Query (요청 시점)</a:t>
            </a:r>
          </a:p>
          <a:p>
            <a:pPr algn="ctr">
              <a:spcAft>
                <a:spcPts val="200"/>
              </a:spcAft>
            </a:pPr>
            <a:r>
              <a:rPr sz="850" b="1">
                <a:solidFill>
                  <a:srgbClr val="FF0000"/>
                </a:solidFill>
                <a:latin typeface="맑은 고딕"/>
                <a:ea typeface="맑은 고딕"/>
                <a:cs typeface="맑은 고딕"/>
              </a:rPr>
              <a:t>+ Query 배치 윈도우 (M3)</a:t>
            </a:r>
          </a:p>
        </p:txBody>
      </p:sp>
      <p:sp>
        <p:nvSpPr>
          <p:cNvPr id="19" name="Rectangle 18"/>
          <p:cNvSpPr/>
          <p:nvPr/>
        </p:nvSpPr>
        <p:spPr>
          <a:xfrm>
            <a:off x="274320" y="2331720"/>
            <a:ext cx="2514600" cy="3246120"/>
          </a:xfrm>
          <a:prstGeom prst="rect">
            <a:avLst/>
          </a:prstGeom>
          <a:solidFill>
            <a:srgbClr val="F0F1F3"/>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2331720"/>
            <a:ext cx="2514600" cy="219456"/>
          </a:xfrm>
          <a:prstGeom prst="rect">
            <a:avLst/>
          </a:prstGeom>
          <a:solidFill>
            <a:srgbClr val="595959"/>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보완 기법</a:t>
            </a:r>
          </a:p>
        </p:txBody>
      </p:sp>
      <p:sp>
        <p:nvSpPr>
          <p:cNvPr id="21" name="TextBox 20"/>
          <p:cNvSpPr txBox="1"/>
          <p:nvPr/>
        </p:nvSpPr>
        <p:spPr>
          <a:xfrm>
            <a:off x="329184" y="2578608"/>
            <a:ext cx="2423160" cy="3017520"/>
          </a:xfrm>
          <a:prstGeom prst="rect">
            <a:avLst/>
          </a:prstGeom>
          <a:noFill/>
        </p:spPr>
        <p:txBody>
          <a:bodyPr wrap="square" anchor="t" lIns="45720" rIns="45720" tIns="27432" bIns="27432">
            <a:spAutoFit/>
          </a:bodyPr>
          <a:lstStyle/>
          <a:p>
            <a:pPr algn="l">
              <a:spcAft>
                <a:spcPts val="100"/>
              </a:spcAft>
            </a:pPr>
            <a:r>
              <a:rPr sz="800" b="1">
                <a:solidFill>
                  <a:srgbClr val="404040"/>
                </a:solidFill>
                <a:latin typeface="맑은 고딕"/>
                <a:ea typeface="맑은 고딕"/>
                <a:cs typeface="맑은 고딕"/>
              </a:rPr>
              <a:t>M1  Block Digest 계층 스코어링</a:t>
            </a:r>
          </a:p>
          <a:p>
            <a:pPr algn="l">
              <a:spcAft>
                <a:spcPts val="100"/>
              </a:spcAft>
            </a:pPr>
            <a:r>
              <a:rPr sz="800" b="0">
                <a:solidFill>
                  <a:srgbClr val="404040"/>
                </a:solidFill>
                <a:latin typeface="맑은 고딕"/>
                <a:ea typeface="맑은 고딕"/>
                <a:cs typeface="맑은 고딕"/>
              </a:rPr>
              <a:t>Query × digest(coarse) → 상위 블록만 Query × K(fine)</a:t>
            </a:r>
          </a:p>
          <a:p>
            <a:pPr algn="l">
              <a:spcAft>
                <a:spcPts val="100"/>
              </a:spcAft>
            </a:pPr>
            <a:r>
              <a:rPr sz="800" b="1">
                <a:solidFill>
                  <a:srgbClr val="404040"/>
                </a:solidFill>
                <a:latin typeface="맑은 고딕"/>
                <a:ea typeface="맑은 고딕"/>
                <a:cs typeface="맑은 고딕"/>
              </a:rPr>
              <a:t>M2  레이어 파이프라인</a:t>
            </a:r>
          </a:p>
          <a:p>
            <a:pPr algn="l">
              <a:spcAft>
                <a:spcPts val="100"/>
              </a:spcAft>
            </a:pPr>
            <a:r>
              <a:rPr sz="800" b="0">
                <a:solidFill>
                  <a:srgbClr val="404040"/>
                </a:solidFill>
                <a:latin typeface="맑은 고딕"/>
                <a:ea typeface="맑은 고딕"/>
                <a:cs typeface="맑은 고딕"/>
              </a:rPr>
              <a:t>recompute(l)과 load/score(l+1) 중첩, r* = max{r | T_recomp(r) ≤ T_fetch}</a:t>
            </a:r>
          </a:p>
          <a:p>
            <a:pPr algn="l">
              <a:spcAft>
                <a:spcPts val="100"/>
              </a:spcAft>
            </a:pPr>
            <a:r>
              <a:rPr sz="800" b="1">
                <a:solidFill>
                  <a:srgbClr val="404040"/>
                </a:solidFill>
                <a:latin typeface="맑은 고딕"/>
                <a:ea typeface="맑은 고딕"/>
                <a:cs typeface="맑은 고딕"/>
              </a:rPr>
              <a:t>M3  Shared-KV 배치 스코어링</a:t>
            </a:r>
          </a:p>
          <a:p>
            <a:pPr algn="l">
              <a:spcAft>
                <a:spcPts val="100"/>
              </a:spcAft>
            </a:pPr>
            <a:r>
              <a:rPr sz="800" b="0">
                <a:solidFill>
                  <a:srgbClr val="404040"/>
                </a:solidFill>
                <a:latin typeface="맑은 고딕"/>
                <a:ea typeface="맑은 고딕"/>
                <a:cs typeface="맑은 고딕"/>
              </a:rPr>
              <a:t>같은 Context의 n개 Query가 KV를 1회 스캔</a:t>
            </a:r>
          </a:p>
          <a:p>
            <a:pPr algn="l">
              <a:spcAft>
                <a:spcPts val="100"/>
              </a:spcAft>
            </a:pPr>
            <a:r>
              <a:rPr sz="800" b="1">
                <a:solidFill>
                  <a:srgbClr val="404040"/>
                </a:solidFill>
                <a:latin typeface="맑은 고딕"/>
                <a:ea typeface="맑은 고딕"/>
                <a:cs typeface="맑은 고딕"/>
              </a:rPr>
              <a:t>M4  예산 선정 · 단계적 저하</a:t>
            </a:r>
          </a:p>
          <a:p>
            <a:pPr algn="l">
              <a:spcAft>
                <a:spcPts val="100"/>
              </a:spcAft>
            </a:pPr>
            <a:r>
              <a:rPr sz="800" b="0">
                <a:solidFill>
                  <a:srgbClr val="404040"/>
                </a:solidFill>
                <a:latin typeface="맑은 고딕"/>
                <a:ea typeface="맑은 고딕"/>
                <a:cs typeface="맑은 고딕"/>
              </a:rPr>
              <a:t>DP2 예산 B 내 top-k, L0→L3</a:t>
            </a:r>
          </a:p>
          <a:p>
            <a:pPr algn="l">
              <a:spcAft>
                <a:spcPts val="100"/>
              </a:spcAft>
            </a:pPr>
            <a:r>
              <a:rPr sz="800" b="1">
                <a:solidFill>
                  <a:srgbClr val="404040"/>
                </a:solidFill>
                <a:latin typeface="맑은 고딕"/>
                <a:ea typeface="맑은 고딕"/>
                <a:cs typeface="맑은 고딕"/>
              </a:rPr>
              <a:t>M5  Confidence Gate</a:t>
            </a:r>
          </a:p>
          <a:p>
            <a:pPr algn="l">
              <a:spcAft>
                <a:spcPts val="100"/>
              </a:spcAft>
            </a:pPr>
            <a:r>
              <a:rPr sz="800" b="0">
                <a:solidFill>
                  <a:srgbClr val="404040"/>
                </a:solidFill>
                <a:latin typeface="맑은 고딕"/>
                <a:ea typeface="맑은 고딕"/>
                <a:cs typeface="맑은 고딕"/>
              </a:rPr>
              <a:t>커버리지 미달 시 r↑ / Full Prefill</a:t>
            </a:r>
          </a:p>
        </p:txBody>
      </p:sp>
      <p:sp>
        <p:nvSpPr>
          <p:cNvPr id="22" name="Rectangle 21"/>
          <p:cNvSpPr/>
          <p:nvPr/>
        </p:nvSpPr>
        <p:spPr>
          <a:xfrm>
            <a:off x="3017520" y="1188720"/>
            <a:ext cx="4846320" cy="160020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017520" y="1188720"/>
            <a:ext cx="4846320" cy="219456"/>
          </a:xfrm>
          <a:prstGeom prst="rect">
            <a:avLst/>
          </a:prstGeom>
          <a:solidFill>
            <a:srgbClr val="2E75B6"/>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«layer» LLM generation (기존)</a:t>
            </a:r>
          </a:p>
        </p:txBody>
      </p:sp>
      <p:sp>
        <p:nvSpPr>
          <p:cNvPr id="24" name="Rectangle 23"/>
          <p:cNvSpPr/>
          <p:nvPr/>
        </p:nvSpPr>
        <p:spPr>
          <a:xfrm>
            <a:off x="3200400" y="1536192"/>
            <a:ext cx="2148840" cy="1097280"/>
          </a:xfrm>
          <a:prstGeom prst="rect">
            <a:avLst/>
          </a:prstGeom>
          <a:solidFill>
            <a:srgbClr val="FFFFFF"/>
          </a:solidFill>
          <a:ln w="1524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000000"/>
                </a:solidFill>
                <a:latin typeface="맑은 고딕"/>
                <a:ea typeface="맑은 고딕"/>
                <a:cs typeface="맑은 고딕"/>
              </a:rPr>
              <a:t>Attention Manager</a:t>
            </a:r>
          </a:p>
          <a:p>
            <a:pPr algn="ctr">
              <a:spcAft>
                <a:spcPts val="200"/>
              </a:spcAft>
            </a:pPr>
            <a:r>
              <a:rPr sz="850" b="0">
                <a:solidFill>
                  <a:srgbClr val="000000"/>
                </a:solidFill>
                <a:latin typeface="맑은 고딕"/>
                <a:ea typeface="맑은 고딕"/>
                <a:cs typeface="맑은 고딕"/>
              </a:rPr>
              <a:t>Query × KV Attention</a:t>
            </a:r>
          </a:p>
          <a:p>
            <a:pPr algn="ctr">
              <a:spcAft>
                <a:spcPts val="200"/>
              </a:spcAft>
            </a:pPr>
            <a:r>
              <a:rPr sz="850" b="1">
                <a:solidFill>
                  <a:srgbClr val="FF0000"/>
                </a:solidFill>
                <a:latin typeface="맑은 고딕"/>
                <a:ea typeface="맑은 고딕"/>
                <a:cs typeface="맑은 고딕"/>
              </a:rPr>
              <a:t>① Query × Digest (coarse)</a:t>
            </a:r>
          </a:p>
          <a:p>
            <a:pPr algn="ctr">
              <a:spcAft>
                <a:spcPts val="200"/>
              </a:spcAft>
            </a:pPr>
            <a:r>
              <a:rPr sz="850" b="1">
                <a:solidFill>
                  <a:srgbClr val="FF0000"/>
                </a:solidFill>
                <a:latin typeface="맑은 고딕"/>
                <a:ea typeface="맑은 고딕"/>
                <a:cs typeface="맑은 고딕"/>
              </a:rPr>
              <a:t>② Query × K (fine, 상위 블록)</a:t>
            </a:r>
          </a:p>
        </p:txBody>
      </p:sp>
      <p:sp>
        <p:nvSpPr>
          <p:cNvPr id="25" name="Rectangle 24"/>
          <p:cNvSpPr/>
          <p:nvPr/>
        </p:nvSpPr>
        <p:spPr>
          <a:xfrm>
            <a:off x="5532120" y="1536192"/>
            <a:ext cx="2148840" cy="1097280"/>
          </a:xfrm>
          <a:prstGeom prst="rect">
            <a:avLst/>
          </a:prstGeom>
          <a:solidFill>
            <a:srgbClr val="FFFFFF"/>
          </a:solidFill>
          <a:ln w="1524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000000"/>
                </a:solidFill>
                <a:latin typeface="맑은 고딕"/>
                <a:ea typeface="맑은 고딕"/>
                <a:cs typeface="맑은 고딕"/>
              </a:rPr>
              <a:t>Selective Recompute</a:t>
            </a:r>
          </a:p>
          <a:p>
            <a:pPr algn="ctr">
              <a:spcAft>
                <a:spcPts val="200"/>
              </a:spcAft>
            </a:pPr>
            <a:r>
              <a:rPr sz="850" b="0">
                <a:solidFill>
                  <a:srgbClr val="000000"/>
                </a:solidFill>
                <a:latin typeface="맑은 고딕"/>
                <a:ea typeface="맑은 고딕"/>
                <a:cs typeface="맑은 고딕"/>
              </a:rPr>
              <a:t>선정 토큰만 재연산</a:t>
            </a:r>
          </a:p>
          <a:p>
            <a:pPr algn="ctr">
              <a:spcAft>
                <a:spcPts val="200"/>
              </a:spcAft>
            </a:pPr>
            <a:r>
              <a:rPr sz="850" b="1">
                <a:solidFill>
                  <a:srgbClr val="FF0000"/>
                </a:solidFill>
                <a:latin typeface="맑은 고딕"/>
                <a:ea typeface="맑은 고딕"/>
                <a:cs typeface="맑은 고딕"/>
              </a:rPr>
              <a:t>+ 레이어 파이프라인 (M2)</a:t>
            </a:r>
          </a:p>
          <a:p>
            <a:pPr algn="ctr">
              <a:spcAft>
                <a:spcPts val="200"/>
              </a:spcAft>
            </a:pPr>
            <a:r>
              <a:rPr sz="850" b="1">
                <a:solidFill>
                  <a:srgbClr val="FF0000"/>
                </a:solidFill>
                <a:latin typeface="맑은 고딕"/>
                <a:ea typeface="맑은 고딕"/>
                <a:cs typeface="맑은 고딕"/>
              </a:rPr>
              <a:t>+ 별도 stream / 자원 클래스</a:t>
            </a:r>
          </a:p>
        </p:txBody>
      </p:sp>
      <p:sp>
        <p:nvSpPr>
          <p:cNvPr id="26" name="Rectangle 25"/>
          <p:cNvSpPr/>
          <p:nvPr/>
        </p:nvSpPr>
        <p:spPr>
          <a:xfrm>
            <a:off x="3017520" y="3154680"/>
            <a:ext cx="4846320" cy="242316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017520" y="3154680"/>
            <a:ext cx="4846320" cy="219456"/>
          </a:xfrm>
          <a:prstGeom prst="rect">
            <a:avLst/>
          </a:prstGeom>
          <a:solidFill>
            <a:srgbClr val="C55A11"/>
          </a:solidFill>
          <a:ln w="1016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«layer» Blend (DP3)</a:t>
            </a:r>
          </a:p>
        </p:txBody>
      </p:sp>
      <p:sp>
        <p:nvSpPr>
          <p:cNvPr id="28" name="Rectangle 27"/>
          <p:cNvSpPr/>
          <p:nvPr/>
        </p:nvSpPr>
        <p:spPr>
          <a:xfrm>
            <a:off x="3154680" y="3520440"/>
            <a:ext cx="1280160" cy="868680"/>
          </a:xfrm>
          <a:prstGeom prst="rect">
            <a:avLst/>
          </a:prstGeom>
          <a:solidFill>
            <a:srgbClr val="FFFFFF"/>
          </a:solidFill>
          <a:ln w="1524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000000"/>
                </a:solidFill>
                <a:latin typeface="맑은 고딕"/>
                <a:ea typeface="맑은 고딕"/>
                <a:cs typeface="맑은 고딕"/>
              </a:rPr>
              <a:t>KV Sampler</a:t>
            </a:r>
          </a:p>
          <a:p>
            <a:pPr algn="ctr">
              <a:spcAft>
                <a:spcPts val="200"/>
              </a:spcAft>
            </a:pPr>
            <a:r>
              <a:rPr sz="850" b="0">
                <a:solidFill>
                  <a:srgbClr val="000000"/>
                </a:solidFill>
                <a:latin typeface="맑은 고딕"/>
                <a:ea typeface="맑은 고딕"/>
                <a:cs typeface="맑은 고딕"/>
              </a:rPr>
              <a:t>점수로 토큰 선정</a:t>
            </a:r>
          </a:p>
        </p:txBody>
      </p:sp>
      <p:sp>
        <p:nvSpPr>
          <p:cNvPr id="29" name="Rectangle 28"/>
          <p:cNvSpPr/>
          <p:nvPr/>
        </p:nvSpPr>
        <p:spPr>
          <a:xfrm>
            <a:off x="4617720" y="3520440"/>
            <a:ext cx="1600200" cy="868680"/>
          </a:xfrm>
          <a:prstGeom prst="rect">
            <a:avLst/>
          </a:prstGeom>
          <a:solidFill>
            <a:srgbClr val="FFF2CC"/>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000000"/>
                </a:solidFill>
                <a:latin typeface="맑은 고딕"/>
                <a:ea typeface="맑은 고딕"/>
                <a:cs typeface="맑은 고딕"/>
              </a:rPr>
              <a:t>Recompute Token Selector</a:t>
            </a:r>
          </a:p>
          <a:p>
            <a:pPr algn="ctr">
              <a:spcAft>
                <a:spcPts val="200"/>
              </a:spcAft>
            </a:pPr>
            <a:r>
              <a:rPr sz="850" b="1">
                <a:solidFill>
                  <a:srgbClr val="FF0000"/>
                </a:solidFill>
                <a:latin typeface="맑은 고딕"/>
                <a:ea typeface="맑은 고딕"/>
                <a:cs typeface="맑은 고딕"/>
              </a:rPr>
              <a:t>예산 B 내 top-k (M4)</a:t>
            </a:r>
          </a:p>
        </p:txBody>
      </p:sp>
      <p:sp>
        <p:nvSpPr>
          <p:cNvPr id="30" name="Rectangle 29"/>
          <p:cNvSpPr/>
          <p:nvPr/>
        </p:nvSpPr>
        <p:spPr>
          <a:xfrm>
            <a:off x="6400800" y="3520440"/>
            <a:ext cx="1325880" cy="868680"/>
          </a:xfrm>
          <a:prstGeom prst="rect">
            <a:avLst/>
          </a:prstGeom>
          <a:solidFill>
            <a:srgbClr val="FFF2CC"/>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000000"/>
                </a:solidFill>
                <a:latin typeface="맑은 고딕"/>
                <a:ea typeface="맑은 고딕"/>
                <a:cs typeface="맑은 고딕"/>
              </a:rPr>
              <a:t>Confidence Gate</a:t>
            </a:r>
          </a:p>
          <a:p>
            <a:pPr algn="ctr">
              <a:spcAft>
                <a:spcPts val="200"/>
              </a:spcAft>
            </a:pPr>
            <a:r>
              <a:rPr sz="850" b="1">
                <a:solidFill>
                  <a:srgbClr val="FF0000"/>
                </a:solidFill>
                <a:latin typeface="맑은 고딕"/>
                <a:ea typeface="맑은 고딕"/>
                <a:cs typeface="맑은 고딕"/>
              </a:rPr>
              <a:t>신규 (M5)</a:t>
            </a:r>
          </a:p>
        </p:txBody>
      </p:sp>
      <p:sp>
        <p:nvSpPr>
          <p:cNvPr id="31" name="TextBox 30"/>
          <p:cNvSpPr txBox="1"/>
          <p:nvPr/>
        </p:nvSpPr>
        <p:spPr>
          <a:xfrm>
            <a:off x="6126480" y="4407408"/>
            <a:ext cx="1737360" cy="457200"/>
          </a:xfrm>
          <a:prstGeom prst="rect">
            <a:avLst/>
          </a:prstGeom>
          <a:noFill/>
        </p:spPr>
        <p:txBody>
          <a:bodyPr wrap="square" anchor="t" lIns="45720" rIns="45720" tIns="27432" bIns="27432">
            <a:spAutoFit/>
          </a:bodyPr>
          <a:lstStyle/>
          <a:p>
            <a:pPr algn="ctr">
              <a:spcAft>
                <a:spcPts val="200"/>
              </a:spcAft>
            </a:pPr>
            <a:r>
              <a:rPr sz="800" b="1">
                <a:solidFill>
                  <a:srgbClr val="FF0000"/>
                </a:solidFill>
                <a:latin typeface="맑은 고딕"/>
                <a:ea typeface="맑은 고딕"/>
                <a:cs typeface="맑은 고딕"/>
              </a:rPr>
              <a:t>미달 → r↑ 또는 Full Prefill (L3)</a:t>
            </a:r>
          </a:p>
        </p:txBody>
      </p:sp>
      <p:sp>
        <p:nvSpPr>
          <p:cNvPr id="32" name="Rectangle 31"/>
          <p:cNvSpPr/>
          <p:nvPr/>
        </p:nvSpPr>
        <p:spPr>
          <a:xfrm>
            <a:off x="3154680" y="4937760"/>
            <a:ext cx="4572000" cy="502920"/>
          </a:xfrm>
          <a:prstGeom prst="rect">
            <a:avLst/>
          </a:prstGeom>
          <a:solidFill>
            <a:srgbClr val="FFFFFF"/>
          </a:solidFill>
          <a:ln w="12700">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900" b="1">
                <a:solidFill>
                  <a:srgbClr val="000000"/>
                </a:solidFill>
                <a:latin typeface="맑은 고딕"/>
                <a:ea typeface="맑은 고딕"/>
                <a:cs typeface="맑은 고딕"/>
              </a:rPr>
              <a:t>DP2 → 예산 B · 자원 클래스(Stage 1 / 재계산 격리) · 우선순위</a:t>
            </a:r>
          </a:p>
        </p:txBody>
      </p:sp>
      <p:sp>
        <p:nvSpPr>
          <p:cNvPr id="33" name="Rectangle 32"/>
          <p:cNvSpPr/>
          <p:nvPr/>
        </p:nvSpPr>
        <p:spPr>
          <a:xfrm>
            <a:off x="8503920" y="1188720"/>
            <a:ext cx="3291840" cy="2834640"/>
          </a:xfrm>
          <a:prstGeom prst="rect">
            <a:avLst/>
          </a:prstGeom>
          <a:solidFill>
            <a:srgbClr val="E2F0D9"/>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03920" y="1188720"/>
            <a:ext cx="3291840" cy="219456"/>
          </a:xfrm>
          <a:prstGeom prst="rect">
            <a:avLst/>
          </a:prstGeom>
          <a:solidFill>
            <a:srgbClr val="548235"/>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«store» KV Store (DP1)</a:t>
            </a:r>
          </a:p>
        </p:txBody>
      </p:sp>
      <p:sp>
        <p:nvSpPr>
          <p:cNvPr id="35" name="TextBox 34"/>
          <p:cNvSpPr txBox="1"/>
          <p:nvPr/>
        </p:nvSpPr>
        <p:spPr>
          <a:xfrm>
            <a:off x="8549640" y="1444752"/>
            <a:ext cx="3200400" cy="201168"/>
          </a:xfrm>
          <a:prstGeom prst="rect">
            <a:avLst/>
          </a:prstGeom>
          <a:noFill/>
        </p:spPr>
        <p:txBody>
          <a:bodyPr wrap="square" anchor="t" lIns="45720" rIns="45720" tIns="27432" bIns="27432">
            <a:spAutoFit/>
          </a:bodyPr>
          <a:lstStyle/>
          <a:p>
            <a:pPr algn="ctr">
              <a:spcAft>
                <a:spcPts val="200"/>
              </a:spcAft>
            </a:pPr>
            <a:r>
              <a:rPr sz="800" b="0">
                <a:solidFill>
                  <a:srgbClr val="7F7F7F"/>
                </a:solidFill>
                <a:latin typeface="맑은 고딕"/>
                <a:ea typeface="맑은 고딕"/>
                <a:cs typeface="맑은 고딕"/>
              </a:rPr>
              <a:t>HBM · DRAM · CXL · SSD</a:t>
            </a:r>
          </a:p>
        </p:txBody>
      </p:sp>
      <p:sp>
        <p:nvSpPr>
          <p:cNvPr id="36" name="Rectangle 35"/>
          <p:cNvSpPr/>
          <p:nvPr/>
        </p:nvSpPr>
        <p:spPr>
          <a:xfrm>
            <a:off x="8686800" y="1691640"/>
            <a:ext cx="2926080" cy="384048"/>
          </a:xfrm>
          <a:prstGeom prst="rect">
            <a:avLst/>
          </a:prstGeom>
          <a:solidFill>
            <a:srgbClr val="DEEBF7"/>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900" b="0">
                <a:solidFill>
                  <a:srgbClr val="000000"/>
                </a:solidFill>
                <a:latin typeface="맑은 고딕"/>
                <a:ea typeface="맑은 고딕"/>
                <a:cs typeface="맑은 고딕"/>
              </a:rPr>
              <a:t>Context KV 1</a:t>
            </a:r>
          </a:p>
        </p:txBody>
      </p:sp>
      <p:sp>
        <p:nvSpPr>
          <p:cNvPr id="37" name="Rectangle 36"/>
          <p:cNvSpPr/>
          <p:nvPr/>
        </p:nvSpPr>
        <p:spPr>
          <a:xfrm>
            <a:off x="8686800" y="2148840"/>
            <a:ext cx="2926080" cy="384048"/>
          </a:xfrm>
          <a:prstGeom prst="rect">
            <a:avLst/>
          </a:prstGeom>
          <a:solidFill>
            <a:srgbClr val="DEEBF7"/>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900" b="0">
                <a:solidFill>
                  <a:srgbClr val="000000"/>
                </a:solidFill>
                <a:latin typeface="맑은 고딕"/>
                <a:ea typeface="맑은 고딕"/>
                <a:cs typeface="맑은 고딕"/>
              </a:rPr>
              <a:t>Context KV 2</a:t>
            </a:r>
          </a:p>
        </p:txBody>
      </p:sp>
      <p:sp>
        <p:nvSpPr>
          <p:cNvPr id="38" name="Rectangle 37"/>
          <p:cNvSpPr/>
          <p:nvPr/>
        </p:nvSpPr>
        <p:spPr>
          <a:xfrm>
            <a:off x="8686800" y="2697480"/>
            <a:ext cx="2926080" cy="749808"/>
          </a:xfrm>
          <a:prstGeom prst="rect">
            <a:avLst/>
          </a:prstGeom>
          <a:solidFill>
            <a:srgbClr val="FFF2CC"/>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000000"/>
                </a:solidFill>
                <a:latin typeface="맑은 고딕"/>
                <a:ea typeface="맑은 고딕"/>
                <a:cs typeface="맑은 고딕"/>
              </a:rPr>
              <a:t>Block Digest (신규, M1)</a:t>
            </a:r>
          </a:p>
          <a:p>
            <a:pPr algn="ctr">
              <a:spcAft>
                <a:spcPts val="200"/>
              </a:spcAft>
            </a:pPr>
            <a:r>
              <a:rPr sz="850" b="0">
                <a:solidFill>
                  <a:srgbClr val="000000"/>
                </a:solidFill>
                <a:latin typeface="맑은 고딕"/>
                <a:ea typeface="맑은 고딕"/>
                <a:cs typeface="맑은 고딕"/>
              </a:rPr>
              <a:t>블록당 K 요약, 크기 ≈ KV의 1/B [추정]</a:t>
            </a:r>
          </a:p>
          <a:p>
            <a:pPr algn="ctr">
              <a:spcAft>
                <a:spcPts val="200"/>
              </a:spcAft>
            </a:pPr>
            <a:r>
              <a:rPr sz="850" b="0">
                <a:solidFill>
                  <a:srgbClr val="000000"/>
                </a:solidFill>
                <a:latin typeface="맑은 고딕"/>
                <a:ea typeface="맑은 고딕"/>
                <a:cs typeface="맑은 고딕"/>
              </a:rPr>
              <a:t>Context KV와 같거나 상위 tier에 co-pin</a:t>
            </a:r>
          </a:p>
        </p:txBody>
      </p:sp>
      <p:sp>
        <p:nvSpPr>
          <p:cNvPr id="39" name="TextBox 38"/>
          <p:cNvSpPr txBox="1"/>
          <p:nvPr/>
        </p:nvSpPr>
        <p:spPr>
          <a:xfrm>
            <a:off x="8595360" y="3493008"/>
            <a:ext cx="3108960" cy="457200"/>
          </a:xfrm>
          <a:prstGeom prst="rect">
            <a:avLst/>
          </a:prstGeom>
          <a:noFill/>
        </p:spPr>
        <p:txBody>
          <a:bodyPr wrap="square" anchor="t" lIns="45720" rIns="45720" tIns="27432" bIns="27432">
            <a:spAutoFit/>
          </a:bodyPr>
          <a:lstStyle/>
          <a:p>
            <a:pPr algn="ctr">
              <a:spcAft>
                <a:spcPts val="200"/>
              </a:spcAft>
            </a:pPr>
            <a:r>
              <a:rPr sz="800" b="0">
                <a:solidFill>
                  <a:srgbClr val="595959"/>
                </a:solidFill>
                <a:latin typeface="맑은 고딕"/>
                <a:ea typeface="맑은 고딕"/>
                <a:cs typeface="맑은 고딕"/>
              </a:rPr>
              <a:t>Context KV는 원본 1부만 보관, 요청 단위 산출물은 선정 토큰 목록뿐</a:t>
            </a:r>
          </a:p>
        </p:txBody>
      </p:sp>
      <p:sp>
        <p:nvSpPr>
          <p:cNvPr id="40" name="Rectangle 39"/>
          <p:cNvSpPr/>
          <p:nvPr/>
        </p:nvSpPr>
        <p:spPr>
          <a:xfrm>
            <a:off x="8503920" y="4251960"/>
            <a:ext cx="3291840" cy="1325880"/>
          </a:xfrm>
          <a:prstGeom prst="rect">
            <a:avLst/>
          </a:prstGeom>
          <a:solidFill>
            <a:srgbClr val="F0F1F3"/>
          </a:solidFill>
          <a:ln w="12700">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000000"/>
                </a:solidFill>
                <a:latin typeface="맑은 고딕"/>
                <a:ea typeface="맑은 고딕"/>
                <a:cs typeface="맑은 고딕"/>
              </a:rPr>
              <a:t>DP1 → DP3 계약</a:t>
            </a:r>
          </a:p>
          <a:p>
            <a:pPr algn="ctr">
              <a:spcAft>
                <a:spcPts val="200"/>
              </a:spcAft>
            </a:pPr>
            <a:r>
              <a:rPr sz="900" b="0">
                <a:solidFill>
                  <a:srgbClr val="000000"/>
                </a:solidFill>
                <a:latin typeface="맑은 고딕"/>
                <a:ea typeface="맑은 고딕"/>
                <a:cs typeface="맑은 고딕"/>
              </a:rPr>
              <a:t>tier별 load 지연 (M2의 r* 입력)</a:t>
            </a:r>
          </a:p>
          <a:p>
            <a:pPr algn="ctr">
              <a:spcAft>
                <a:spcPts val="200"/>
              </a:spcAft>
            </a:pPr>
            <a:r>
              <a:rPr sz="1000" b="1">
                <a:solidFill>
                  <a:srgbClr val="000000"/>
                </a:solidFill>
                <a:latin typeface="맑은 고딕"/>
                <a:ea typeface="맑은 고딕"/>
                <a:cs typeface="맑은 고딕"/>
              </a:rPr>
              <a:t>DP3 → DP1 계약</a:t>
            </a:r>
          </a:p>
          <a:p>
            <a:pPr algn="ctr">
              <a:spcAft>
                <a:spcPts val="200"/>
              </a:spcAft>
            </a:pPr>
            <a:r>
              <a:rPr sz="900" b="0">
                <a:solidFill>
                  <a:srgbClr val="000000"/>
                </a:solidFill>
                <a:latin typeface="맑은 고딕"/>
                <a:ea typeface="맑은 고딕"/>
                <a:cs typeface="맑은 고딕"/>
              </a:rPr>
              <a:t>digest co-pin 요청, Chunk 키·digest 버전</a:t>
            </a:r>
          </a:p>
        </p:txBody>
      </p:sp>
      <p:cxnSp>
        <p:nvCxnSpPr>
          <p:cNvPr id="41" name="Connector 40"/>
          <p:cNvCxnSpPr/>
          <p:nvPr/>
        </p:nvCxnSpPr>
        <p:spPr>
          <a:xfrm>
            <a:off x="2560320" y="1627632"/>
            <a:ext cx="640080" cy="384048"/>
          </a:xfrm>
          <a:prstGeom prst="line">
            <a:avLst/>
          </a:prstGeom>
          <a:ln w="1651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7863840" y="1783080"/>
            <a:ext cx="640080" cy="0"/>
          </a:xfrm>
          <a:prstGeom prst="line">
            <a:avLst/>
          </a:prstGeom>
          <a:ln w="1651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863840" y="2377440"/>
            <a:ext cx="640080" cy="0"/>
          </a:xfrm>
          <a:prstGeom prst="line">
            <a:avLst/>
          </a:prstGeom>
          <a:ln w="1651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882127" y="1417320"/>
            <a:ext cx="640080" cy="320040"/>
          </a:xfrm>
          <a:prstGeom prst="rect">
            <a:avLst/>
          </a:prstGeom>
          <a:noFill/>
        </p:spPr>
        <p:txBody>
          <a:bodyPr wrap="square" anchor="t" lIns="45720" rIns="45720" tIns="27432" bIns="27432">
            <a:spAutoFit/>
          </a:bodyPr>
          <a:lstStyle/>
          <a:p>
            <a:pPr algn="ctr">
              <a:spcAft>
                <a:spcPts val="200"/>
              </a:spcAft>
            </a:pPr>
            <a:r>
              <a:rPr sz="750" b="1">
                <a:solidFill>
                  <a:srgbClr val="FF0000"/>
                </a:solidFill>
                <a:latin typeface="맑은 고딕"/>
                <a:ea typeface="맑은 고딕"/>
                <a:cs typeface="맑은 고딕"/>
              </a:rPr>
              <a:t>② digest</a:t>
            </a:r>
          </a:p>
        </p:txBody>
      </p:sp>
      <p:sp>
        <p:nvSpPr>
          <p:cNvPr id="45" name="TextBox 44"/>
          <p:cNvSpPr txBox="1"/>
          <p:nvPr/>
        </p:nvSpPr>
        <p:spPr>
          <a:xfrm>
            <a:off x="7882127" y="2395728"/>
            <a:ext cx="640080" cy="320040"/>
          </a:xfrm>
          <a:prstGeom prst="rect">
            <a:avLst/>
          </a:prstGeom>
          <a:noFill/>
        </p:spPr>
        <p:txBody>
          <a:bodyPr wrap="square" anchor="t" lIns="45720" rIns="45720" tIns="27432" bIns="27432">
            <a:spAutoFit/>
          </a:bodyPr>
          <a:lstStyle/>
          <a:p>
            <a:pPr algn="ctr">
              <a:spcAft>
                <a:spcPts val="200"/>
              </a:spcAft>
            </a:pPr>
            <a:r>
              <a:rPr sz="750" b="1">
                <a:solidFill>
                  <a:srgbClr val="FF0000"/>
                </a:solidFill>
                <a:latin typeface="맑은 고딕"/>
                <a:ea typeface="맑은 고딕"/>
                <a:cs typeface="맑은 고딕"/>
              </a:rPr>
              <a:t>②′ KV</a:t>
            </a:r>
          </a:p>
        </p:txBody>
      </p:sp>
      <p:cxnSp>
        <p:nvCxnSpPr>
          <p:cNvPr id="46" name="Connector 45"/>
          <p:cNvCxnSpPr/>
          <p:nvPr/>
        </p:nvCxnSpPr>
        <p:spPr>
          <a:xfrm flipH="1">
            <a:off x="3794760" y="2633472"/>
            <a:ext cx="320040" cy="886968"/>
          </a:xfrm>
          <a:prstGeom prst="line">
            <a:avLst/>
          </a:prstGeom>
          <a:ln w="1651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34840" y="3950208"/>
            <a:ext cx="182880" cy="0"/>
          </a:xfrm>
          <a:prstGeom prst="line">
            <a:avLst/>
          </a:prstGeom>
          <a:ln w="1651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217920" y="3950208"/>
            <a:ext cx="182880" cy="0"/>
          </a:xfrm>
          <a:prstGeom prst="line">
            <a:avLst/>
          </a:prstGeom>
          <a:ln w="1651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6675120" y="2633472"/>
            <a:ext cx="365760" cy="886968"/>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5394960" y="4389120"/>
            <a:ext cx="91440" cy="548640"/>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2743200" y="1417320"/>
            <a:ext cx="219456" cy="219456"/>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1</a:t>
            </a:r>
          </a:p>
        </p:txBody>
      </p:sp>
      <p:sp>
        <p:nvSpPr>
          <p:cNvPr id="52" name="Oval 51"/>
          <p:cNvSpPr/>
          <p:nvPr/>
        </p:nvSpPr>
        <p:spPr>
          <a:xfrm>
            <a:off x="3749039" y="2926080"/>
            <a:ext cx="219456" cy="219456"/>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3</a:t>
            </a:r>
          </a:p>
        </p:txBody>
      </p:sp>
      <p:sp>
        <p:nvSpPr>
          <p:cNvPr id="53" name="Oval 52"/>
          <p:cNvSpPr/>
          <p:nvPr/>
        </p:nvSpPr>
        <p:spPr>
          <a:xfrm>
            <a:off x="6291072" y="3657600"/>
            <a:ext cx="219456" cy="219456"/>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4</a:t>
            </a:r>
          </a:p>
        </p:txBody>
      </p:sp>
      <p:sp>
        <p:nvSpPr>
          <p:cNvPr id="54" name="Oval 53"/>
          <p:cNvSpPr/>
          <p:nvPr/>
        </p:nvSpPr>
        <p:spPr>
          <a:xfrm>
            <a:off x="6949440" y="2926080"/>
            <a:ext cx="219456" cy="219456"/>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5</a:t>
            </a:r>
          </a:p>
        </p:txBody>
      </p:sp>
      <p:sp>
        <p:nvSpPr>
          <p:cNvPr id="55" name="TextBox 54"/>
          <p:cNvSpPr txBox="1"/>
          <p:nvPr/>
        </p:nvSpPr>
        <p:spPr>
          <a:xfrm>
            <a:off x="8503920" y="5669280"/>
            <a:ext cx="3291840" cy="274320"/>
          </a:xfrm>
          <a:prstGeom prst="rect">
            <a:avLst/>
          </a:prstGeom>
          <a:noFill/>
        </p:spPr>
        <p:txBody>
          <a:bodyPr wrap="square" anchor="t" lIns="45720" rIns="45720" tIns="27432" bIns="27432">
            <a:spAutoFit/>
          </a:bodyPr>
          <a:lstStyle/>
          <a:p>
            <a:pPr algn="l">
              <a:spcAft>
                <a:spcPts val="200"/>
              </a:spcAft>
            </a:pPr>
            <a:r>
              <a:rPr sz="800" b="0">
                <a:solidFill>
                  <a:srgbClr val="7F7F7F"/>
                </a:solidFill>
                <a:latin typeface="맑은 고딕"/>
                <a:ea typeface="맑은 고딕"/>
                <a:cs typeface="맑은 고딕"/>
              </a:rPr>
              <a:t>실선 = 서빙 경로 · 점선 = DP1/DP2 제어·계약</a:t>
            </a:r>
          </a:p>
        </p:txBody>
      </p:sp>
      <p:sp>
        <p:nvSpPr>
          <p:cNvPr id="56" name="Rectangle 55"/>
          <p:cNvSpPr/>
          <p:nvPr/>
        </p:nvSpPr>
        <p:spPr>
          <a:xfrm>
            <a:off x="365760" y="5806440"/>
            <a:ext cx="274320" cy="182880"/>
          </a:xfrm>
          <a:prstGeom prst="rect">
            <a:avLst/>
          </a:prstGeom>
          <a:solidFill>
            <a:srgbClr val="FFF2CC"/>
          </a:solidFill>
          <a:ln w="127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900" b="0">
                <a:solidFill>
                  <a:srgbClr val="000000"/>
                </a:solidFill>
                <a:latin typeface="맑은 고딕"/>
                <a:ea typeface="맑은 고딕"/>
                <a:cs typeface="맑은 고딕"/>
              </a:rPr>
              <a:t/>
            </a:r>
          </a:p>
        </p:txBody>
      </p:sp>
      <p:sp>
        <p:nvSpPr>
          <p:cNvPr id="57" name="TextBox 56"/>
          <p:cNvSpPr txBox="1"/>
          <p:nvPr/>
        </p:nvSpPr>
        <p:spPr>
          <a:xfrm>
            <a:off x="685800" y="5742432"/>
            <a:ext cx="4572000" cy="274320"/>
          </a:xfrm>
          <a:prstGeom prst="rect">
            <a:avLst/>
          </a:prstGeom>
          <a:noFill/>
        </p:spPr>
        <p:txBody>
          <a:bodyPr wrap="square" anchor="t" lIns="45720" rIns="45720" tIns="27432" bIns="27432">
            <a:spAutoFit/>
          </a:bodyPr>
          <a:lstStyle/>
          <a:p>
            <a:pPr algn="l">
              <a:spcAft>
                <a:spcPts val="200"/>
              </a:spcAft>
            </a:pPr>
            <a:r>
              <a:rPr sz="850" b="0">
                <a:solidFill>
                  <a:srgbClr val="404040"/>
                </a:solidFill>
                <a:latin typeface="맑은 고딕"/>
                <a:ea typeface="맑은 고딕"/>
                <a:cs typeface="맑은 고딕"/>
              </a:rPr>
              <a:t>노랑 = 보완으로 추가·확장되는 부분, 파랑 = 기존 모듈 (구조 변경 없음)</a:t>
            </a:r>
          </a:p>
        </p:txBody>
      </p:sp>
      <p:sp>
        <p:nvSpPr>
          <p:cNvPr id="58" name="Right Arrow 57"/>
          <p:cNvSpPr/>
          <p:nvPr/>
        </p:nvSpPr>
        <p:spPr>
          <a:xfrm>
            <a:off x="283464" y="5989320"/>
            <a:ext cx="411480" cy="274320"/>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1520" y="5971032"/>
            <a:ext cx="11155680" cy="310896"/>
          </a:xfrm>
          <a:prstGeom prst="rect">
            <a:avLst/>
          </a:prstGeom>
          <a:noFill/>
        </p:spPr>
        <p:txBody>
          <a:bodyPr wrap="square" anchor="ctr" lIns="45720" rIns="45720" tIns="27432" bIns="27432">
            <a:spAutoFit/>
          </a:bodyPr>
          <a:lstStyle/>
          <a:p>
            <a:pPr algn="l">
              <a:spcAft>
                <a:spcPts val="200"/>
              </a:spcAft>
            </a:pPr>
            <a:r>
              <a:rPr sz="1200" b="1">
                <a:solidFill>
                  <a:srgbClr val="0066FF"/>
                </a:solidFill>
                <a:latin typeface="맑은 고딕"/>
                <a:ea typeface="맑은 고딕"/>
                <a:cs typeface="맑은 고딕"/>
              </a:rPr>
              <a:t>기존 모듈 이름과 역할은 유지하고, Digest(저장소) · Gate(Blend) · 예산/배치(입출력) 세 곳만 확장</a:t>
            </a:r>
          </a:p>
        </p:txBody>
      </p:sp>
      <p:sp>
        <p:nvSpPr>
          <p:cNvPr id="60" name="TextBox 59"/>
          <p:cNvSpPr txBox="1"/>
          <p:nvPr/>
        </p:nvSpPr>
        <p:spPr>
          <a:xfrm>
            <a:off x="384048" y="6300216"/>
            <a:ext cx="11430000" cy="548640"/>
          </a:xfrm>
          <a:prstGeom prst="rect">
            <a:avLst/>
          </a:prstGeom>
          <a:noFill/>
        </p:spPr>
        <p:txBody>
          <a:bodyPr wrap="square" anchor="t" lIns="45720" rIns="45720" tIns="27432" bIns="27432">
            <a:spAutoFit/>
          </a:bodyPr>
          <a:lstStyle/>
          <a:p>
            <a:pPr algn="l">
              <a:spcAft>
                <a:spcPts val="100"/>
              </a:spcAft>
            </a:pPr>
            <a:r>
              <a:rPr sz="1100" b="1">
                <a:solidFill>
                  <a:srgbClr val="000000"/>
                </a:solidFill>
                <a:latin typeface="맑은 고딕"/>
                <a:ea typeface="맑은 고딕"/>
                <a:cs typeface="맑은 고딕"/>
              </a:rPr>
              <a:t>Module / C&amp;C View: 서빙 시(요청 경로) 흐름만 표시, 번호는 호출 순서 (②′는 레이어 파이프라인으로 중첩)</a:t>
            </a:r>
          </a:p>
        </p:txBody>
      </p:sp>
      <p:sp>
        <p:nvSpPr>
          <p:cNvPr id="61" name="TextBox 60"/>
          <p:cNvSpPr txBox="1"/>
          <p:nvPr/>
        </p:nvSpPr>
        <p:spPr>
          <a:xfrm>
            <a:off x="274320" y="6601968"/>
            <a:ext cx="4983480" cy="228600"/>
          </a:xfrm>
          <a:prstGeom prst="rect">
            <a:avLst/>
          </a:prstGeom>
          <a:noFill/>
        </p:spPr>
        <p:txBody>
          <a:bodyPr wrap="square" anchor="t" lIns="45720" rIns="45720" tIns="27432" bIns="27432">
            <a:spAutoFit/>
          </a:bodyPr>
          <a:lstStyle/>
          <a:p>
            <a:pPr algn="l">
              <a:spcAft>
                <a:spcPts val="200"/>
              </a:spcAft>
            </a:pPr>
            <a:r>
              <a:rPr sz="700" b="0">
                <a:solidFill>
                  <a:srgbClr val="7F7F7F"/>
                </a:solidFill>
                <a:latin typeface="맑은 고딕"/>
                <a:ea typeface="맑은 고딕"/>
                <a:cs typeface="맑은 고딕"/>
              </a:rPr>
              <a:t>출처: doc-mk/DP3/dp3-kv-compression-reuse-structure-draft.md. 효과는 모두 [가설], 문헌 [B]</a:t>
            </a:r>
          </a:p>
        </p:txBody>
      </p:sp>
      <p:sp>
        <p:nvSpPr>
          <p:cNvPr id="62" name="TextBox 61"/>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DP3. Long Context를 위한 KV 캐시 재사용 구조 - 보완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보완 기법 상세: 지연은 숨기고(M1·M2), 확장성은 나눠 쓴다(M3·M4)</a:t>
            </a:r>
          </a:p>
        </p:txBody>
      </p:sp>
      <p:sp>
        <p:nvSpPr>
          <p:cNvPr id="13" name="Rounded Rectangle 12"/>
          <p:cNvSpPr/>
          <p:nvPr/>
        </p:nvSpPr>
        <p:spPr>
          <a:xfrm>
            <a:off x="11146536"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C1</a:t>
            </a:r>
          </a:p>
        </p:txBody>
      </p:sp>
      <p:sp>
        <p:nvSpPr>
          <p:cNvPr id="14" name="Rounded Rectangle 13"/>
          <p:cNvSpPr/>
          <p:nvPr/>
        </p:nvSpPr>
        <p:spPr>
          <a:xfrm>
            <a:off x="10396728"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Q5</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Q3</a:t>
            </a:r>
          </a:p>
        </p:txBody>
      </p:sp>
      <p:sp>
        <p:nvSpPr>
          <p:cNvPr id="16" name="Rounded Rectangle 15"/>
          <p:cNvSpPr/>
          <p:nvPr/>
        </p:nvSpPr>
        <p:spPr>
          <a:xfrm>
            <a:off x="8897111"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7" name="Rounded Rectangle 16"/>
          <p:cNvSpPr/>
          <p:nvPr/>
        </p:nvSpPr>
        <p:spPr>
          <a:xfrm>
            <a:off x="8147303"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F3</a:t>
            </a:r>
          </a:p>
        </p:txBody>
      </p:sp>
      <p:sp>
        <p:nvSpPr>
          <p:cNvPr id="18" name="Rectangle 17"/>
          <p:cNvSpPr/>
          <p:nvPr/>
        </p:nvSpPr>
        <p:spPr>
          <a:xfrm>
            <a:off x="347472" y="1371600"/>
            <a:ext cx="5760720" cy="457200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124712" y="1216152"/>
            <a:ext cx="420624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지연: T_score · T_fetch를 재계산 뒤로 숨김</a:t>
            </a:r>
          </a:p>
        </p:txBody>
      </p:sp>
      <p:sp>
        <p:nvSpPr>
          <p:cNvPr id="20" name="TextBox 19"/>
          <p:cNvSpPr txBox="1"/>
          <p:nvPr/>
        </p:nvSpPr>
        <p:spPr>
          <a:xfrm>
            <a:off x="457200" y="1645920"/>
            <a:ext cx="5577840" cy="228600"/>
          </a:xfrm>
          <a:prstGeom prst="rect">
            <a:avLst/>
          </a:prstGeom>
          <a:noFill/>
        </p:spPr>
        <p:txBody>
          <a:bodyPr wrap="square" anchor="t" lIns="45720" rIns="45720" tIns="27432" bIns="27432">
            <a:spAutoFit/>
          </a:bodyPr>
          <a:lstStyle/>
          <a:p>
            <a:pPr algn="l">
              <a:spcAft>
                <a:spcPts val="200"/>
              </a:spcAft>
            </a:pPr>
            <a:r>
              <a:rPr sz="800" b="0">
                <a:solidFill>
                  <a:srgbClr val="7F7F7F"/>
                </a:solidFill>
                <a:latin typeface="맑은 고딕"/>
                <a:ea typeface="맑은 고딕"/>
                <a:cs typeface="맑은 고딕"/>
              </a:rPr>
              <a:t>[개념도, 축척 아님] 가로축 = 시간</a:t>
            </a:r>
          </a:p>
        </p:txBody>
      </p:sp>
      <p:sp>
        <p:nvSpPr>
          <p:cNvPr id="21" name="TextBox 20"/>
          <p:cNvSpPr txBox="1"/>
          <p:nvPr/>
        </p:nvSpPr>
        <p:spPr>
          <a:xfrm>
            <a:off x="457200" y="1920240"/>
            <a:ext cx="914400" cy="274320"/>
          </a:xfrm>
          <a:prstGeom prst="rect">
            <a:avLst/>
          </a:prstGeom>
          <a:noFill/>
        </p:spPr>
        <p:txBody>
          <a:bodyPr wrap="square" anchor="t" lIns="45720" rIns="45720" tIns="27432" bIns="27432">
            <a:spAutoFit/>
          </a:bodyPr>
          <a:lstStyle/>
          <a:p>
            <a:pPr algn="l">
              <a:spcAft>
                <a:spcPts val="200"/>
              </a:spcAft>
            </a:pPr>
            <a:r>
              <a:rPr sz="900" b="1">
                <a:solidFill>
                  <a:srgbClr val="000000"/>
                </a:solidFill>
                <a:latin typeface="맑은 고딕"/>
                <a:ea typeface="맑은 고딕"/>
                <a:cs typeface="맑은 고딕"/>
              </a:rPr>
              <a:t>2안 (직렬)</a:t>
            </a:r>
          </a:p>
        </p:txBody>
      </p:sp>
      <p:sp>
        <p:nvSpPr>
          <p:cNvPr id="22" name="Rectangle 21"/>
          <p:cNvSpPr/>
          <p:nvPr/>
        </p:nvSpPr>
        <p:spPr>
          <a:xfrm>
            <a:off x="1417320" y="1920240"/>
            <a:ext cx="1005840" cy="292608"/>
          </a:xfrm>
          <a:prstGeom prst="rect">
            <a:avLst/>
          </a:prstGeom>
          <a:solidFill>
            <a:srgbClr val="E2F0D9"/>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50" b="0">
                <a:solidFill>
                  <a:srgbClr val="000000"/>
                </a:solidFill>
                <a:latin typeface="맑은 고딕"/>
                <a:ea typeface="맑은 고딕"/>
                <a:cs typeface="맑은 고딕"/>
              </a:rPr>
              <a:t>fetch</a:t>
            </a:r>
          </a:p>
        </p:txBody>
      </p:sp>
      <p:sp>
        <p:nvSpPr>
          <p:cNvPr id="23" name="Rectangle 22"/>
          <p:cNvSpPr/>
          <p:nvPr/>
        </p:nvSpPr>
        <p:spPr>
          <a:xfrm>
            <a:off x="2423160" y="1920240"/>
            <a:ext cx="914400" cy="292608"/>
          </a:xfrm>
          <a:prstGeom prst="rect">
            <a:avLst/>
          </a:prstGeom>
          <a:solidFill>
            <a:srgbClr val="FBE5D6"/>
          </a:solidFill>
          <a:ln w="1016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50" b="0">
                <a:solidFill>
                  <a:srgbClr val="000000"/>
                </a:solidFill>
                <a:latin typeface="맑은 고딕"/>
                <a:ea typeface="맑은 고딕"/>
                <a:cs typeface="맑은 고딕"/>
              </a:rPr>
              <a:t>score</a:t>
            </a:r>
          </a:p>
        </p:txBody>
      </p:sp>
      <p:sp>
        <p:nvSpPr>
          <p:cNvPr id="24" name="Rectangle 23"/>
          <p:cNvSpPr/>
          <p:nvPr/>
        </p:nvSpPr>
        <p:spPr>
          <a:xfrm>
            <a:off x="3337560" y="1920240"/>
            <a:ext cx="1188720" cy="292608"/>
          </a:xfrm>
          <a:prstGeom prst="rect">
            <a:avLst/>
          </a:prstGeom>
          <a:solidFill>
            <a:srgbClr val="DEEBF7"/>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50" b="0">
                <a:solidFill>
                  <a:srgbClr val="000000"/>
                </a:solidFill>
                <a:latin typeface="맑은 고딕"/>
                <a:ea typeface="맑은 고딕"/>
                <a:cs typeface="맑은 고딕"/>
              </a:rPr>
              <a:t>recompute</a:t>
            </a:r>
          </a:p>
        </p:txBody>
      </p:sp>
      <p:sp>
        <p:nvSpPr>
          <p:cNvPr id="25" name="Rectangle 24"/>
          <p:cNvSpPr/>
          <p:nvPr/>
        </p:nvSpPr>
        <p:spPr>
          <a:xfrm>
            <a:off x="4526280" y="1920240"/>
            <a:ext cx="731520" cy="292608"/>
          </a:xfrm>
          <a:prstGeom prst="rect">
            <a:avLst/>
          </a:prstGeom>
          <a:solidFill>
            <a:srgbClr val="F0F1F3"/>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50" b="0">
                <a:solidFill>
                  <a:srgbClr val="000000"/>
                </a:solidFill>
                <a:latin typeface="맑은 고딕"/>
                <a:ea typeface="맑은 고딕"/>
                <a:cs typeface="맑은 고딕"/>
              </a:rPr>
              <a:t>rest</a:t>
            </a:r>
          </a:p>
        </p:txBody>
      </p:sp>
      <p:sp>
        <p:nvSpPr>
          <p:cNvPr id="26" name="TextBox 25"/>
          <p:cNvSpPr txBox="1"/>
          <p:nvPr/>
        </p:nvSpPr>
        <p:spPr>
          <a:xfrm>
            <a:off x="457200" y="2395728"/>
            <a:ext cx="914400" cy="274320"/>
          </a:xfrm>
          <a:prstGeom prst="rect">
            <a:avLst/>
          </a:prstGeom>
          <a:noFill/>
        </p:spPr>
        <p:txBody>
          <a:bodyPr wrap="square" anchor="t" lIns="45720" rIns="45720" tIns="27432" bIns="27432">
            <a:spAutoFit/>
          </a:bodyPr>
          <a:lstStyle/>
          <a:p>
            <a:pPr algn="l">
              <a:spcAft>
                <a:spcPts val="200"/>
              </a:spcAft>
            </a:pPr>
            <a:r>
              <a:rPr sz="900" b="1">
                <a:solidFill>
                  <a:srgbClr val="000000"/>
                </a:solidFill>
                <a:latin typeface="맑은 고딕"/>
                <a:ea typeface="맑은 고딕"/>
                <a:cs typeface="맑은 고딕"/>
              </a:rPr>
              <a:t>보완 후</a:t>
            </a:r>
          </a:p>
        </p:txBody>
      </p:sp>
      <p:sp>
        <p:nvSpPr>
          <p:cNvPr id="27" name="TextBox 26"/>
          <p:cNvSpPr txBox="1"/>
          <p:nvPr/>
        </p:nvSpPr>
        <p:spPr>
          <a:xfrm>
            <a:off x="457200" y="2697480"/>
            <a:ext cx="914400" cy="228600"/>
          </a:xfrm>
          <a:prstGeom prst="rect">
            <a:avLst/>
          </a:prstGeom>
          <a:noFill/>
        </p:spPr>
        <p:txBody>
          <a:bodyPr wrap="square" anchor="t" lIns="45720" rIns="45720" tIns="27432" bIns="27432">
            <a:spAutoFit/>
          </a:bodyPr>
          <a:lstStyle/>
          <a:p>
            <a:pPr algn="l">
              <a:spcAft>
                <a:spcPts val="200"/>
              </a:spcAft>
            </a:pPr>
            <a:r>
              <a:rPr sz="800" b="0">
                <a:solidFill>
                  <a:srgbClr val="595959"/>
                </a:solidFill>
                <a:latin typeface="맑은 고딕"/>
                <a:ea typeface="맑은 고딕"/>
                <a:cs typeface="맑은 고딕"/>
              </a:rPr>
              <a:t>fetch</a:t>
            </a:r>
          </a:p>
        </p:txBody>
      </p:sp>
      <p:sp>
        <p:nvSpPr>
          <p:cNvPr id="28" name="TextBox 27"/>
          <p:cNvSpPr txBox="1"/>
          <p:nvPr/>
        </p:nvSpPr>
        <p:spPr>
          <a:xfrm>
            <a:off x="457200" y="3017520"/>
            <a:ext cx="914400" cy="228600"/>
          </a:xfrm>
          <a:prstGeom prst="rect">
            <a:avLst/>
          </a:prstGeom>
          <a:noFill/>
        </p:spPr>
        <p:txBody>
          <a:bodyPr wrap="square" anchor="t" lIns="45720" rIns="45720" tIns="27432" bIns="27432">
            <a:spAutoFit/>
          </a:bodyPr>
          <a:lstStyle/>
          <a:p>
            <a:pPr algn="l">
              <a:spcAft>
                <a:spcPts val="200"/>
              </a:spcAft>
            </a:pPr>
            <a:r>
              <a:rPr sz="800" b="0">
                <a:solidFill>
                  <a:srgbClr val="595959"/>
                </a:solidFill>
                <a:latin typeface="맑은 고딕"/>
                <a:ea typeface="맑은 고딕"/>
                <a:cs typeface="맑은 고딕"/>
              </a:rPr>
              <a:t>score</a:t>
            </a:r>
          </a:p>
        </p:txBody>
      </p:sp>
      <p:sp>
        <p:nvSpPr>
          <p:cNvPr id="29" name="TextBox 28"/>
          <p:cNvSpPr txBox="1"/>
          <p:nvPr/>
        </p:nvSpPr>
        <p:spPr>
          <a:xfrm>
            <a:off x="457200" y="3337560"/>
            <a:ext cx="914400" cy="228600"/>
          </a:xfrm>
          <a:prstGeom prst="rect">
            <a:avLst/>
          </a:prstGeom>
          <a:noFill/>
        </p:spPr>
        <p:txBody>
          <a:bodyPr wrap="square" anchor="t" lIns="45720" rIns="45720" tIns="27432" bIns="27432">
            <a:spAutoFit/>
          </a:bodyPr>
          <a:lstStyle/>
          <a:p>
            <a:pPr algn="l">
              <a:spcAft>
                <a:spcPts val="200"/>
              </a:spcAft>
            </a:pPr>
            <a:r>
              <a:rPr sz="800" b="0">
                <a:solidFill>
                  <a:srgbClr val="595959"/>
                </a:solidFill>
                <a:latin typeface="맑은 고딕"/>
                <a:ea typeface="맑은 고딕"/>
                <a:cs typeface="맑은 고딕"/>
              </a:rPr>
              <a:t>recompute</a:t>
            </a:r>
          </a:p>
        </p:txBody>
      </p:sp>
      <p:sp>
        <p:nvSpPr>
          <p:cNvPr id="30" name="Rectangle 29"/>
          <p:cNvSpPr/>
          <p:nvPr/>
        </p:nvSpPr>
        <p:spPr>
          <a:xfrm>
            <a:off x="1417320" y="2697480"/>
            <a:ext cx="1005840" cy="256032"/>
          </a:xfrm>
          <a:prstGeom prst="rect">
            <a:avLst/>
          </a:prstGeom>
          <a:solidFill>
            <a:srgbClr val="E2F0D9"/>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00" b="0">
                <a:solidFill>
                  <a:srgbClr val="000000"/>
                </a:solidFill>
                <a:latin typeface="맑은 고딕"/>
                <a:ea typeface="맑은 고딕"/>
                <a:cs typeface="맑은 고딕"/>
              </a:rPr>
              <a:t>fetch (layer별)</a:t>
            </a:r>
          </a:p>
        </p:txBody>
      </p:sp>
      <p:sp>
        <p:nvSpPr>
          <p:cNvPr id="31" name="Rectangle 30"/>
          <p:cNvSpPr/>
          <p:nvPr/>
        </p:nvSpPr>
        <p:spPr>
          <a:xfrm>
            <a:off x="1417320" y="3017520"/>
            <a:ext cx="320040" cy="256032"/>
          </a:xfrm>
          <a:prstGeom prst="rect">
            <a:avLst/>
          </a:prstGeom>
          <a:solidFill>
            <a:srgbClr val="FBE5D6"/>
          </a:solidFill>
          <a:ln w="1016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00" b="0">
                <a:solidFill>
                  <a:srgbClr val="000000"/>
                </a:solidFill>
                <a:latin typeface="맑은 고딕"/>
                <a:ea typeface="맑은 고딕"/>
                <a:cs typeface="맑은 고딕"/>
              </a:rPr>
              <a:t>D</a:t>
            </a:r>
          </a:p>
        </p:txBody>
      </p:sp>
      <p:sp>
        <p:nvSpPr>
          <p:cNvPr id="32" name="Rectangle 31"/>
          <p:cNvSpPr/>
          <p:nvPr/>
        </p:nvSpPr>
        <p:spPr>
          <a:xfrm>
            <a:off x="1737360" y="3017520"/>
            <a:ext cx="320040" cy="256032"/>
          </a:xfrm>
          <a:prstGeom prst="rect">
            <a:avLst/>
          </a:prstGeom>
          <a:solidFill>
            <a:srgbClr val="FBE5D6"/>
          </a:solidFill>
          <a:ln w="1016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00" b="0">
                <a:solidFill>
                  <a:srgbClr val="000000"/>
                </a:solidFill>
                <a:latin typeface="맑은 고딕"/>
                <a:ea typeface="맑은 고딕"/>
                <a:cs typeface="맑은 고딕"/>
              </a:rPr>
              <a:t>F</a:t>
            </a:r>
          </a:p>
        </p:txBody>
      </p:sp>
      <p:sp>
        <p:nvSpPr>
          <p:cNvPr id="33" name="Rectangle 32"/>
          <p:cNvSpPr/>
          <p:nvPr/>
        </p:nvSpPr>
        <p:spPr>
          <a:xfrm>
            <a:off x="2057400" y="3337560"/>
            <a:ext cx="1188720" cy="256032"/>
          </a:xfrm>
          <a:prstGeom prst="rect">
            <a:avLst/>
          </a:prstGeom>
          <a:solidFill>
            <a:srgbClr val="DEEBF7"/>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00" b="0">
                <a:solidFill>
                  <a:srgbClr val="000000"/>
                </a:solidFill>
                <a:latin typeface="맑은 고딕"/>
                <a:ea typeface="맑은 고딕"/>
                <a:cs typeface="맑은 고딕"/>
              </a:rPr>
              <a:t>recompute (layer별)</a:t>
            </a:r>
          </a:p>
        </p:txBody>
      </p:sp>
      <p:sp>
        <p:nvSpPr>
          <p:cNvPr id="34" name="Rectangle 33"/>
          <p:cNvSpPr/>
          <p:nvPr/>
        </p:nvSpPr>
        <p:spPr>
          <a:xfrm>
            <a:off x="3246120" y="3337560"/>
            <a:ext cx="731520" cy="256032"/>
          </a:xfrm>
          <a:prstGeom prst="rect">
            <a:avLst/>
          </a:prstGeom>
          <a:solidFill>
            <a:srgbClr val="F0F1F3"/>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00" b="0">
                <a:solidFill>
                  <a:srgbClr val="000000"/>
                </a:solidFill>
                <a:latin typeface="맑은 고딕"/>
                <a:ea typeface="맑은 고딕"/>
                <a:cs typeface="맑은 고딕"/>
              </a:rPr>
              <a:t>rest</a:t>
            </a:r>
          </a:p>
        </p:txBody>
      </p:sp>
      <p:cxnSp>
        <p:nvCxnSpPr>
          <p:cNvPr id="35" name="Connector 34"/>
          <p:cNvCxnSpPr/>
          <p:nvPr/>
        </p:nvCxnSpPr>
        <p:spPr>
          <a:xfrm>
            <a:off x="1920240" y="2743200"/>
            <a:ext cx="365760" cy="594360"/>
          </a:xfrm>
          <a:prstGeom prst="line">
            <a:avLst/>
          </a:prstGeom>
          <a:ln w="12700">
            <a:solidFill>
              <a:srgbClr val="C55A1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069080" y="2651760"/>
            <a:ext cx="2011680" cy="822960"/>
          </a:xfrm>
          <a:prstGeom prst="rect">
            <a:avLst/>
          </a:prstGeom>
          <a:noFill/>
        </p:spPr>
        <p:txBody>
          <a:bodyPr wrap="square" anchor="t" lIns="45720" rIns="45720" tIns="27432" bIns="27432">
            <a:spAutoFit/>
          </a:bodyPr>
          <a:lstStyle/>
          <a:p>
            <a:pPr algn="l">
              <a:spcAft>
                <a:spcPts val="200"/>
              </a:spcAft>
            </a:pPr>
            <a:r>
              <a:rPr sz="800" b="0">
                <a:solidFill>
                  <a:srgbClr val="404040"/>
                </a:solidFill>
                <a:latin typeface="맑은 고딕"/>
                <a:ea typeface="맑은 고딕"/>
                <a:cs typeface="맑은 고딕"/>
              </a:rPr>
              <a:t>D = digest 스코어링 (coarse)</a:t>
            </a:r>
          </a:p>
          <a:p>
            <a:pPr algn="l">
              <a:spcAft>
                <a:spcPts val="200"/>
              </a:spcAft>
            </a:pPr>
            <a:r>
              <a:rPr sz="800" b="0">
                <a:solidFill>
                  <a:srgbClr val="404040"/>
                </a:solidFill>
                <a:latin typeface="맑은 고딕"/>
                <a:ea typeface="맑은 고딕"/>
                <a:cs typeface="맑은 고딕"/>
              </a:rPr>
              <a:t>F = 상위 블록 fine 스코어링</a:t>
            </a:r>
          </a:p>
          <a:p>
            <a:pPr algn="l">
              <a:spcAft>
                <a:spcPts val="200"/>
              </a:spcAft>
            </a:pPr>
            <a:r>
              <a:rPr sz="800" b="1">
                <a:solidFill>
                  <a:srgbClr val="FF0000"/>
                </a:solidFill>
                <a:latin typeface="맑은 고딕"/>
                <a:ea typeface="맑은 고딕"/>
                <a:cs typeface="맑은 고딕"/>
              </a:rPr>
              <a:t>fetch · score가 recompute와 중첩</a:t>
            </a:r>
          </a:p>
        </p:txBody>
      </p:sp>
      <p:sp>
        <p:nvSpPr>
          <p:cNvPr id="37" name="TextBox 36"/>
          <p:cNvSpPr txBox="1"/>
          <p:nvPr/>
        </p:nvSpPr>
        <p:spPr>
          <a:xfrm>
            <a:off x="457200" y="3703320"/>
            <a:ext cx="5577840" cy="2194560"/>
          </a:xfrm>
          <a:prstGeom prst="rect">
            <a:avLst/>
          </a:prstGeom>
          <a:noFill/>
        </p:spPr>
        <p:txBody>
          <a:bodyPr wrap="square" anchor="t" lIns="45720" rIns="45720" tIns="27432" bIns="27432">
            <a:spAutoFit/>
          </a:bodyPr>
          <a:lstStyle/>
          <a:p>
            <a:pPr algn="l">
              <a:spcAft>
                <a:spcPts val="200"/>
              </a:spcAft>
            </a:pPr>
            <a:r>
              <a:rPr sz="1050" b="1">
                <a:solidFill>
                  <a:srgbClr val="2E75B6"/>
                </a:solidFill>
                <a:latin typeface="맑은 고딕"/>
                <a:ea typeface="맑은 고딕"/>
                <a:cs typeface="맑은 고딕"/>
              </a:rPr>
              <a:t>M1  Block Digest 계층 스코어링</a:t>
            </a:r>
          </a:p>
          <a:p>
            <a:pPr algn="l">
              <a:spcAft>
                <a:spcPts val="200"/>
              </a:spcAft>
            </a:pPr>
            <a:r>
              <a:rPr sz="900" b="0">
                <a:solidFill>
                  <a:srgbClr val="404040"/>
                </a:solidFill>
                <a:latin typeface="맑은 고딕"/>
                <a:ea typeface="맑은 고딕"/>
                <a:cs typeface="맑은 고딕"/>
              </a:rPr>
              <a:t>Stage 1 읽기량 O(L) → O(L/B + k·B). 결정은 여전히 실제 Query 기반이라 1안으로 퇴행하지 않음. digest 크기 ≈ KV의 1/B (K min/max 기준) [추정]. 요약 기반 블록 선택은 Quest 계열 [B]</a:t>
            </a:r>
          </a:p>
          <a:p>
            <a:pPr algn="l">
              <a:spcAft>
                <a:spcPts val="200"/>
              </a:spcAft>
            </a:pPr>
            <a:r>
              <a:rPr sz="1050" b="1">
                <a:solidFill>
                  <a:srgbClr val="2E75B6"/>
                </a:solidFill>
                <a:latin typeface="맑은 고딕"/>
                <a:ea typeface="맑은 고딕"/>
                <a:cs typeface="맑은 고딕"/>
              </a:rPr>
              <a:t>M2  레이어 파이프라인 + load-hiding 재계산 예산</a:t>
            </a:r>
          </a:p>
          <a:p>
            <a:pPr algn="l">
              <a:spcAft>
                <a:spcPts val="200"/>
              </a:spcAft>
            </a:pPr>
            <a:r>
              <a:rPr sz="900" b="0">
                <a:solidFill>
                  <a:srgbClr val="404040"/>
                </a:solidFill>
                <a:latin typeface="맑은 고딕"/>
                <a:ea typeface="맑은 고딕"/>
                <a:cs typeface="맑은 고딕"/>
              </a:rPr>
              <a:t>KV connector의 레이어 훅(wait_for_layer_load / save_kv_layer)으로 recompute(l)과 load(l+1) 중첩.  r* = max { r | T_recomp(r) ≤ T_fetch(tier) } → 이 구간의 재계산은 TTFT 추가 비용 0 [가설]. 선정을 일부 레이어에서만 수행해 재사용하는 방식은 CacheBlend 계열 [B], 레이어 간 랭킹 상관은 검증 대상</a:t>
            </a:r>
          </a:p>
          <a:p>
            <a:pPr algn="l">
              <a:spcAft>
                <a:spcPts val="200"/>
              </a:spcAft>
            </a:pPr>
            <a:r>
              <a:rPr sz="1050" b="1">
                <a:solidFill>
                  <a:srgbClr val="FF0000"/>
                </a:solidFill>
                <a:latin typeface="맑은 고딕"/>
                <a:ea typeface="맑은 고딕"/>
                <a:cs typeface="맑은 고딕"/>
              </a:rPr>
              <a:t>한계</a:t>
            </a:r>
          </a:p>
          <a:p>
            <a:pPr algn="l">
              <a:spcAft>
                <a:spcPts val="200"/>
              </a:spcAft>
            </a:pPr>
            <a:r>
              <a:rPr sz="900" b="0">
                <a:solidFill>
                  <a:srgbClr val="404040"/>
                </a:solidFill>
                <a:latin typeface="맑은 고딕"/>
                <a:ea typeface="맑은 고딕"/>
                <a:cs typeface="맑은 고딕"/>
              </a:rPr>
              <a:t>tier가 HBM이면 숨길 로드 시간이 없음. 이때 효과는 M1과 M3에서 나와야 함</a:t>
            </a:r>
          </a:p>
        </p:txBody>
      </p:sp>
      <p:sp>
        <p:nvSpPr>
          <p:cNvPr id="38" name="Rectangle 37"/>
          <p:cNvSpPr/>
          <p:nvPr/>
        </p:nvSpPr>
        <p:spPr>
          <a:xfrm>
            <a:off x="6309360" y="1371600"/>
            <a:ext cx="5486400" cy="457200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949440" y="1216152"/>
            <a:ext cx="420624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확장성: 경합을 나눠 쓰고, 넘치면 점진 저하</a:t>
            </a:r>
          </a:p>
        </p:txBody>
      </p:sp>
      <p:sp>
        <p:nvSpPr>
          <p:cNvPr id="40" name="TextBox 39"/>
          <p:cNvSpPr txBox="1"/>
          <p:nvPr/>
        </p:nvSpPr>
        <p:spPr>
          <a:xfrm>
            <a:off x="6400800" y="1645920"/>
            <a:ext cx="5303520" cy="228600"/>
          </a:xfrm>
          <a:prstGeom prst="rect">
            <a:avLst/>
          </a:prstGeom>
          <a:noFill/>
        </p:spPr>
        <p:txBody>
          <a:bodyPr wrap="square" anchor="t" lIns="45720" rIns="45720" tIns="27432" bIns="27432">
            <a:spAutoFit/>
          </a:bodyPr>
          <a:lstStyle/>
          <a:p>
            <a:pPr algn="l">
              <a:spcAft>
                <a:spcPts val="200"/>
              </a:spcAft>
            </a:pPr>
            <a:r>
              <a:rPr sz="1050" b="1">
                <a:solidFill>
                  <a:srgbClr val="2E75B6"/>
                </a:solidFill>
                <a:latin typeface="맑은 고딕"/>
                <a:ea typeface="맑은 고딕"/>
                <a:cs typeface="맑은 고딕"/>
              </a:rPr>
              <a:t>M3  Shared-KV 배치 스코어링</a:t>
            </a:r>
          </a:p>
        </p:txBody>
      </p:sp>
      <p:sp>
        <p:nvSpPr>
          <p:cNvPr id="41" name="Rectangle 40"/>
          <p:cNvSpPr/>
          <p:nvPr/>
        </p:nvSpPr>
        <p:spPr>
          <a:xfrm>
            <a:off x="6446520" y="1920240"/>
            <a:ext cx="731520" cy="237744"/>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00" b="0">
                <a:solidFill>
                  <a:srgbClr val="000000"/>
                </a:solidFill>
                <a:latin typeface="맑은 고딕"/>
                <a:ea typeface="맑은 고딕"/>
                <a:cs typeface="맑은 고딕"/>
              </a:rPr>
              <a:t>Query 1</a:t>
            </a:r>
          </a:p>
        </p:txBody>
      </p:sp>
      <p:cxnSp>
        <p:nvCxnSpPr>
          <p:cNvPr id="42" name="Connector 41"/>
          <p:cNvCxnSpPr/>
          <p:nvPr/>
        </p:nvCxnSpPr>
        <p:spPr>
          <a:xfrm>
            <a:off x="7178040" y="2039112"/>
            <a:ext cx="457200" cy="246888"/>
          </a:xfrm>
          <a:prstGeom prst="line">
            <a:avLst/>
          </a:prstGeom>
          <a:ln w="10160">
            <a:solidFill>
              <a:srgbClr val="7F7F7F"/>
            </a:solidFill>
            <a:tailEnd type="triangle"/>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6446520" y="2212848"/>
            <a:ext cx="731520" cy="237744"/>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00" b="0">
                <a:solidFill>
                  <a:srgbClr val="000000"/>
                </a:solidFill>
                <a:latin typeface="맑은 고딕"/>
                <a:ea typeface="맑은 고딕"/>
                <a:cs typeface="맑은 고딕"/>
              </a:rPr>
              <a:t>Query 2</a:t>
            </a:r>
          </a:p>
        </p:txBody>
      </p:sp>
      <p:cxnSp>
        <p:nvCxnSpPr>
          <p:cNvPr id="44" name="Connector 43"/>
          <p:cNvCxnSpPr/>
          <p:nvPr/>
        </p:nvCxnSpPr>
        <p:spPr>
          <a:xfrm flipV="1">
            <a:off x="7178040" y="2286000"/>
            <a:ext cx="457200" cy="45720"/>
          </a:xfrm>
          <a:prstGeom prst="line">
            <a:avLst/>
          </a:prstGeom>
          <a:ln w="10160">
            <a:solidFill>
              <a:srgbClr val="7F7F7F"/>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6446520" y="2505456"/>
            <a:ext cx="731520" cy="237744"/>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00" b="0">
                <a:solidFill>
                  <a:srgbClr val="000000"/>
                </a:solidFill>
                <a:latin typeface="맑은 고딕"/>
                <a:ea typeface="맑은 고딕"/>
                <a:cs typeface="맑은 고딕"/>
              </a:rPr>
              <a:t>Query 3</a:t>
            </a:r>
          </a:p>
        </p:txBody>
      </p:sp>
      <p:cxnSp>
        <p:nvCxnSpPr>
          <p:cNvPr id="46" name="Connector 45"/>
          <p:cNvCxnSpPr/>
          <p:nvPr/>
        </p:nvCxnSpPr>
        <p:spPr>
          <a:xfrm flipV="1">
            <a:off x="7178040" y="2286000"/>
            <a:ext cx="457200" cy="338328"/>
          </a:xfrm>
          <a:prstGeom prst="line">
            <a:avLst/>
          </a:prstGeom>
          <a:ln w="10160">
            <a:solidFill>
              <a:srgbClr val="7F7F7F"/>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7635240" y="1920240"/>
            <a:ext cx="1554480" cy="731520"/>
          </a:xfrm>
          <a:prstGeom prst="rect">
            <a:avLst/>
          </a:prstGeom>
          <a:solidFill>
            <a:srgbClr val="FBE5D6"/>
          </a:solidFill>
          <a:ln w="1524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850" b="0">
                <a:solidFill>
                  <a:srgbClr val="000000"/>
                </a:solidFill>
                <a:latin typeface="맑은 고딕"/>
                <a:ea typeface="맑은 고딕"/>
                <a:cs typeface="맑은 고딕"/>
              </a:rPr>
              <a:t>Query 묶음 (n×d)</a:t>
            </a:r>
          </a:p>
          <a:p>
            <a:pPr algn="ctr">
              <a:spcAft>
                <a:spcPts val="200"/>
              </a:spcAft>
            </a:pPr>
            <a:r>
              <a:rPr sz="850" b="1">
                <a:solidFill>
                  <a:srgbClr val="000000"/>
                </a:solidFill>
                <a:latin typeface="맑은 고딕"/>
                <a:ea typeface="맑은 고딕"/>
                <a:cs typeface="맑은 고딕"/>
              </a:rPr>
              <a:t>× Context KV 1회 스캔</a:t>
            </a:r>
          </a:p>
        </p:txBody>
      </p:sp>
      <p:cxnSp>
        <p:nvCxnSpPr>
          <p:cNvPr id="48" name="Connector 47"/>
          <p:cNvCxnSpPr/>
          <p:nvPr/>
        </p:nvCxnSpPr>
        <p:spPr>
          <a:xfrm>
            <a:off x="9189720" y="2286000"/>
            <a:ext cx="411480" cy="0"/>
          </a:xfrm>
          <a:prstGeom prst="line">
            <a:avLst/>
          </a:prstGeom>
          <a:ln w="12700">
            <a:solidFill>
              <a:srgbClr val="7F7F7F"/>
            </a:solidFill>
            <a:tailEnd type="triangle"/>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9601200" y="1920240"/>
            <a:ext cx="2011680" cy="731520"/>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900" b="0">
                <a:solidFill>
                  <a:srgbClr val="000000"/>
                </a:solidFill>
                <a:latin typeface="맑은 고딕"/>
                <a:ea typeface="맑은 고딕"/>
                <a:cs typeface="맑은 고딕"/>
              </a:rPr>
              <a:t>n개 점수 벡터</a:t>
            </a:r>
          </a:p>
          <a:p>
            <a:pPr algn="ctr">
              <a:spcAft>
                <a:spcPts val="200"/>
              </a:spcAft>
            </a:pPr>
            <a:r>
              <a:rPr sz="850" b="1">
                <a:solidFill>
                  <a:srgbClr val="FF0000"/>
                </a:solidFill>
                <a:latin typeface="맑은 고딕"/>
                <a:ea typeface="맑은 고딕"/>
                <a:cs typeface="맑은 고딕"/>
              </a:rPr>
              <a:t>KV 읽기 ×1 (as-is ×n)</a:t>
            </a:r>
          </a:p>
        </p:txBody>
      </p:sp>
      <p:sp>
        <p:nvSpPr>
          <p:cNvPr id="50" name="TextBox 49"/>
          <p:cNvSpPr txBox="1"/>
          <p:nvPr/>
        </p:nvSpPr>
        <p:spPr>
          <a:xfrm>
            <a:off x="6400800" y="2743200"/>
            <a:ext cx="5303520" cy="685800"/>
          </a:xfrm>
          <a:prstGeom prst="rect">
            <a:avLst/>
          </a:prstGeom>
          <a:noFill/>
        </p:spPr>
        <p:txBody>
          <a:bodyPr wrap="square" anchor="t" lIns="45720" rIns="45720" tIns="27432" bIns="27432">
            <a:spAutoFit/>
          </a:bodyPr>
          <a:lstStyle/>
          <a:p>
            <a:pPr algn="l">
              <a:spcAft>
                <a:spcPts val="200"/>
              </a:spcAft>
            </a:pPr>
            <a:r>
              <a:rPr sz="900" b="0">
                <a:solidFill>
                  <a:srgbClr val="404040"/>
                </a:solidFill>
                <a:latin typeface="맑은 고딕"/>
                <a:ea typeface="맑은 고딕"/>
                <a:cs typeface="맑은 고딕"/>
              </a:rPr>
              <a:t>memory-bound인 스코어링은 읽기 1회로 n개 Query를 처리해 연산 강도가 약 n배 (cascade / shared-prefix attention과 같은 원리) [가설]. 동시 요청이 많을수록 유리. 조건: 동일 Context 식별(Chunk 키)과 짧은 윈도우(지연 &lt; 이득)</a:t>
            </a:r>
          </a:p>
        </p:txBody>
      </p:sp>
      <p:sp>
        <p:nvSpPr>
          <p:cNvPr id="51" name="TextBox 50"/>
          <p:cNvSpPr txBox="1"/>
          <p:nvPr/>
        </p:nvSpPr>
        <p:spPr>
          <a:xfrm>
            <a:off x="6400800" y="3456432"/>
            <a:ext cx="5303520" cy="228600"/>
          </a:xfrm>
          <a:prstGeom prst="rect">
            <a:avLst/>
          </a:prstGeom>
          <a:noFill/>
        </p:spPr>
        <p:txBody>
          <a:bodyPr wrap="square" anchor="t" lIns="45720" rIns="45720" tIns="27432" bIns="27432">
            <a:spAutoFit/>
          </a:bodyPr>
          <a:lstStyle/>
          <a:p>
            <a:pPr algn="l">
              <a:spcAft>
                <a:spcPts val="200"/>
              </a:spcAft>
            </a:pPr>
            <a:r>
              <a:rPr sz="1050" b="1">
                <a:solidFill>
                  <a:srgbClr val="2E75B6"/>
                </a:solidFill>
                <a:latin typeface="맑은 고딕"/>
                <a:ea typeface="맑은 고딕"/>
                <a:cs typeface="맑은 고딕"/>
              </a:rPr>
              <a:t>M4  예산 선정 + 단계적 저하 (DP2 예산 B, vLLM token_budget에 편입)</a:t>
            </a:r>
          </a:p>
        </p:txBody>
      </p:sp>
      <p:graphicFrame>
        <p:nvGraphicFramePr>
          <p:cNvPr id="52" name="Table 51"/>
          <p:cNvGraphicFramePr>
            <a:graphicFrameLocks noGrp="1"/>
          </p:cNvGraphicFramePr>
          <p:nvPr/>
        </p:nvGraphicFramePr>
        <p:xfrm>
          <a:off x="6400800" y="3767328"/>
          <a:ext cx="5349240" cy="1234440"/>
        </p:xfrm>
        <a:graphic>
          <a:graphicData uri="http://schemas.openxmlformats.org/drawingml/2006/table">
            <a:tbl>
              <a:tblPr firstRow="0" bandRow="0">
                <a:tableStyleId>{2D5ABB26-0587-4C30-8999-92F81FD0307C}</a:tableStyleId>
              </a:tblPr>
              <a:tblGrid>
                <a:gridCol w="502920"/>
                <a:gridCol w="1737360"/>
                <a:gridCol w="3108960"/>
              </a:tblGrid>
              <a:tr h="246888">
                <a:tc>
                  <a:txBody>
                    <a:bodyPr wrap="square"/>
                    <a:lstStyle/>
                    <a:p>
                      <a:pPr algn="ctr">
                        <a:spcAft>
                          <a:spcPts val="100"/>
                        </a:spcAft>
                      </a:pPr>
                      <a:r>
                        <a:rPr sz="1000" b="0">
                          <a:solidFill>
                            <a:srgbClr val="000000"/>
                          </a:solidFill>
                          <a:latin typeface="맑은 고딕"/>
                          <a:ea typeface="맑은 고딕"/>
                          <a:cs typeface="맑은 고딕"/>
                        </a:rPr>
                        <a:t>단계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000" b="1">
                          <a:solidFill>
                            <a:srgbClr val="000000"/>
                          </a:solidFill>
                          <a:latin typeface="맑은 고딕"/>
                          <a:ea typeface="맑은 고딕"/>
                          <a:cs typeface="맑은 고딕"/>
                        </a:rPr>
                        <a:t>조건</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000" b="1">
                          <a:solidFill>
                            <a:srgbClr val="000000"/>
                          </a:solidFill>
                          <a:latin typeface="맑은 고딕"/>
                          <a:ea typeface="맑은 고딕"/>
                          <a:cs typeface="맑은 고딕"/>
                        </a:rPr>
                        <a:t>동작</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246888">
                <a:tc>
                  <a:txBody>
                    <a:bodyPr wrap="square"/>
                    <a:lstStyle/>
                    <a:p>
                      <a:pPr algn="ctr">
                        <a:spcAft>
                          <a:spcPts val="100"/>
                        </a:spcAft>
                      </a:pPr>
                      <a:r>
                        <a:rPr sz="900" b="0">
                          <a:solidFill>
                            <a:srgbClr val="000000"/>
                          </a:solidFill>
                          <a:latin typeface="맑은 고딕"/>
                          <a:ea typeface="맑은 고딕"/>
                          <a:cs typeface="맑은 고딕"/>
                        </a:rPr>
                        <a:t>L0</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여유</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M2의 r* 그대로</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246888">
                <a:tc>
                  <a:txBody>
                    <a:bodyPr wrap="square"/>
                    <a:lstStyle/>
                    <a:p>
                      <a:pPr algn="ctr">
                        <a:spcAft>
                          <a:spcPts val="100"/>
                        </a:spcAft>
                      </a:pPr>
                      <a:r>
                        <a:rPr sz="900" b="0">
                          <a:solidFill>
                            <a:srgbClr val="000000"/>
                          </a:solidFill>
                          <a:latin typeface="맑은 고딕"/>
                          <a:ea typeface="맑은 고딕"/>
                          <a:cs typeface="맑은 고딕"/>
                        </a:rPr>
                        <a:t>L1</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부하 증가</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r 축소 (점수 상위 순)</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246888">
                <a:tc>
                  <a:txBody>
                    <a:bodyPr wrap="square"/>
                    <a:lstStyle/>
                    <a:p>
                      <a:pPr algn="ctr">
                        <a:spcAft>
                          <a:spcPts val="100"/>
                        </a:spcAft>
                      </a:pPr>
                      <a:r>
                        <a:rPr sz="900" b="0">
                          <a:solidFill>
                            <a:srgbClr val="000000"/>
                          </a:solidFill>
                          <a:latin typeface="맑은 고딕"/>
                          <a:ea typeface="맑은 고딕"/>
                          <a:cs typeface="맑은 고딕"/>
                        </a:rPr>
                        <a:t>L2</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포화</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재계산 생략(재사용만). 정확도 민감 클래스 제외</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246888">
                <a:tc>
                  <a:txBody>
                    <a:bodyPr wrap="square"/>
                    <a:lstStyle/>
                    <a:p>
                      <a:pPr algn="ctr">
                        <a:spcAft>
                          <a:spcPts val="100"/>
                        </a:spcAft>
                      </a:pPr>
                      <a:r>
                        <a:rPr sz="900" b="0">
                          <a:solidFill>
                            <a:srgbClr val="000000"/>
                          </a:solidFill>
                          <a:latin typeface="맑은 고딕"/>
                          <a:ea typeface="맑은 고딕"/>
                          <a:cs typeface="맑은 고딕"/>
                        </a:rPr>
                        <a:t>L3</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Gate 실패 (M5)</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해당 요청만 Full Prefill</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3" name="TextBox 52"/>
          <p:cNvSpPr txBox="1"/>
          <p:nvPr/>
        </p:nvSpPr>
        <p:spPr>
          <a:xfrm>
            <a:off x="6400800" y="5166360"/>
            <a:ext cx="5303520" cy="731520"/>
          </a:xfrm>
          <a:prstGeom prst="rect">
            <a:avLst/>
          </a:prstGeom>
          <a:noFill/>
        </p:spPr>
        <p:txBody>
          <a:bodyPr wrap="square" anchor="t" lIns="45720" rIns="45720" tIns="27432" bIns="27432">
            <a:spAutoFit/>
          </a:bodyPr>
          <a:lstStyle/>
          <a:p>
            <a:pPr algn="l">
              <a:spcAft>
                <a:spcPts val="200"/>
              </a:spcAft>
            </a:pPr>
            <a:r>
              <a:rPr sz="900" b="0">
                <a:solidFill>
                  <a:srgbClr val="404040"/>
                </a:solidFill>
                <a:latin typeface="맑은 고딕"/>
                <a:ea typeface="맑은 고딕"/>
                <a:cs typeface="맑은 고딕"/>
              </a:rPr>
              <a:t>재계산은 별도 stream / 자원 클래스로 격리(우선순위는 DP2). 경합 한계가 사라지는 것이 아니라 '지연 폭증'이 '정확도 마진 소진'으로 바뀌는 완만한 저하 곡선 [가설]</a:t>
            </a:r>
          </a:p>
          <a:p>
            <a:pPr algn="l">
              <a:spcAft>
                <a:spcPts val="200"/>
              </a:spcAft>
            </a:pPr>
            <a:r>
              <a:rPr sz="900" b="1">
                <a:solidFill>
                  <a:srgbClr val="404040"/>
                </a:solidFill>
                <a:latin typeface="맑은 고딕"/>
                <a:ea typeface="맑은 고딕"/>
                <a:cs typeface="맑은 고딕"/>
              </a:rPr>
              <a:t>M5 Gate: 선정 토큰의 attention 질량 커버리지 / 점수 엔트로피로 판단, 신호는 스코어링 부산물이라 추가 비용 거의 없음</a:t>
            </a:r>
          </a:p>
        </p:txBody>
      </p:sp>
      <p:sp>
        <p:nvSpPr>
          <p:cNvPr id="54" name="TextBox 53"/>
          <p:cNvSpPr txBox="1"/>
          <p:nvPr/>
        </p:nvSpPr>
        <p:spPr>
          <a:xfrm>
            <a:off x="274320" y="6601968"/>
            <a:ext cx="4983480" cy="228600"/>
          </a:xfrm>
          <a:prstGeom prst="rect">
            <a:avLst/>
          </a:prstGeom>
          <a:noFill/>
        </p:spPr>
        <p:txBody>
          <a:bodyPr wrap="square" anchor="t" lIns="45720" rIns="45720" tIns="27432" bIns="27432">
            <a:spAutoFit/>
          </a:bodyPr>
          <a:lstStyle/>
          <a:p>
            <a:pPr algn="l">
              <a:spcAft>
                <a:spcPts val="200"/>
              </a:spcAft>
            </a:pPr>
            <a:r>
              <a:rPr sz="700" b="0">
                <a:solidFill>
                  <a:srgbClr val="7F7F7F"/>
                </a:solidFill>
                <a:latin typeface="맑은 고딕"/>
                <a:ea typeface="맑은 고딕"/>
                <a:cs typeface="맑은 고딕"/>
              </a:rPr>
              <a:t>근거: kv_connector/v1/base.py(layer 훅), v1/core/sched/scheduler.py(token_budget). 효과 [가설]</a:t>
            </a:r>
          </a:p>
        </p:txBody>
      </p:sp>
      <p:sp>
        <p:nvSpPr>
          <p:cNvPr id="55" name="TextBox 54"/>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DP3. Long Context를 위한 KV 캐시 재사용 구조 - 보완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보완이 DP1·DP2 계약과 QA Tradeoff를 어떻게 바꾸는가</a:t>
            </a:r>
          </a:p>
        </p:txBody>
      </p:sp>
      <p:sp>
        <p:nvSpPr>
          <p:cNvPr id="13" name="Rounded Rectangle 12"/>
          <p:cNvSpPr/>
          <p:nvPr/>
        </p:nvSpPr>
        <p:spPr>
          <a:xfrm>
            <a:off x="11146536"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C1</a:t>
            </a:r>
          </a:p>
        </p:txBody>
      </p:sp>
      <p:sp>
        <p:nvSpPr>
          <p:cNvPr id="14" name="Rounded Rectangle 13"/>
          <p:cNvSpPr/>
          <p:nvPr/>
        </p:nvSpPr>
        <p:spPr>
          <a:xfrm>
            <a:off x="10396728"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Q5</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Q3</a:t>
            </a:r>
          </a:p>
        </p:txBody>
      </p:sp>
      <p:sp>
        <p:nvSpPr>
          <p:cNvPr id="16" name="Rounded Rectangle 15"/>
          <p:cNvSpPr/>
          <p:nvPr/>
        </p:nvSpPr>
        <p:spPr>
          <a:xfrm>
            <a:off x="8897111"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7" name="Rounded Rectangle 16"/>
          <p:cNvSpPr/>
          <p:nvPr/>
        </p:nvSpPr>
        <p:spPr>
          <a:xfrm>
            <a:off x="8147303"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F3</a:t>
            </a:r>
          </a:p>
        </p:txBody>
      </p:sp>
      <p:sp>
        <p:nvSpPr>
          <p:cNvPr id="18" name="Rectangle 17"/>
          <p:cNvSpPr/>
          <p:nvPr/>
        </p:nvSpPr>
        <p:spPr>
          <a:xfrm>
            <a:off x="347472" y="1371600"/>
            <a:ext cx="11402568" cy="228600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860036" y="1216152"/>
            <a:ext cx="237744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DP 간 계약 (제안 [C])</a:t>
            </a:r>
          </a:p>
        </p:txBody>
      </p:sp>
      <p:graphicFrame>
        <p:nvGraphicFramePr>
          <p:cNvPr id="20" name="Table 19"/>
          <p:cNvGraphicFramePr>
            <a:graphicFrameLocks noGrp="1"/>
          </p:cNvGraphicFramePr>
          <p:nvPr/>
        </p:nvGraphicFramePr>
        <p:xfrm>
          <a:off x="457200" y="1600200"/>
          <a:ext cx="11155680" cy="1664208"/>
        </p:xfrm>
        <a:graphic>
          <a:graphicData uri="http://schemas.openxmlformats.org/drawingml/2006/table">
            <a:tbl>
              <a:tblPr firstRow="0" bandRow="0">
                <a:tableStyleId>{2D5ABB26-0587-4C30-8999-92F81FD0307C}</a:tableStyleId>
              </a:tblPr>
              <a:tblGrid>
                <a:gridCol w="1280160"/>
                <a:gridCol w="3200400"/>
                <a:gridCol w="3657600"/>
                <a:gridCol w="3017520"/>
              </a:tblGrid>
              <a:tr h="274320">
                <a:tc>
                  <a:txBody>
                    <a:bodyPr wrap="square"/>
                    <a:lstStyle/>
                    <a:p>
                      <a:pPr algn="ctr">
                        <a:spcAft>
                          <a:spcPts val="100"/>
                        </a:spcAft>
                      </a:pPr>
                      <a:r>
                        <a:rPr sz="1050" b="0">
                          <a:solidFill>
                            <a:srgbClr val="000000"/>
                          </a:solidFill>
                          <a:latin typeface="맑은 고딕"/>
                          <a:ea typeface="맑은 고딕"/>
                          <a:cs typeface="맑은 고딕"/>
                        </a:rPr>
                        <a:t>방향</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000000"/>
                          </a:solidFill>
                          <a:latin typeface="맑은 고딕"/>
                          <a:ea typeface="맑은 고딕"/>
                          <a:cs typeface="맑은 고딕"/>
                        </a:rPr>
                        <a:t>주고받는 것</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000000"/>
                          </a:solidFill>
                          <a:latin typeface="맑은 고딕"/>
                          <a:ea typeface="맑은 고딕"/>
                          <a:cs typeface="맑은 고딕"/>
                        </a:rPr>
                        <a:t>의미</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000000"/>
                          </a:solidFill>
                          <a:latin typeface="맑은 고딕"/>
                          <a:ea typeface="맑은 고딕"/>
                          <a:cs typeface="맑은 고딕"/>
                        </a:rPr>
                        <a:t>연결 기법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347472">
                <a:tc>
                  <a:txBody>
                    <a:bodyPr wrap="square"/>
                    <a:lstStyle/>
                    <a:p>
                      <a:pPr algn="ctr">
                        <a:spcAft>
                          <a:spcPts val="100"/>
                        </a:spcAft>
                      </a:pPr>
                      <a:r>
                        <a:rPr sz="950" b="0">
                          <a:solidFill>
                            <a:srgbClr val="000000"/>
                          </a:solidFill>
                          <a:latin typeface="맑은 고딕"/>
                          <a:ea typeface="맑은 고딕"/>
                          <a:cs typeface="맑은 고딕"/>
                        </a:rPr>
                        <a:t>DP3 → DP1</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Block Digest 객체, co-pin 요청, Chunk 키 · digest 버전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digest는 Context KV와 같거나 상위 tier에 둠</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M1</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47472">
                <a:tc>
                  <a:txBody>
                    <a:bodyPr wrap="square"/>
                    <a:lstStyle/>
                    <a:p>
                      <a:pPr algn="ctr">
                        <a:spcAft>
                          <a:spcPts val="100"/>
                        </a:spcAft>
                      </a:pPr>
                      <a:r>
                        <a:rPr sz="950" b="0">
                          <a:solidFill>
                            <a:srgbClr val="000000"/>
                          </a:solidFill>
                          <a:latin typeface="맑은 고딕"/>
                          <a:ea typeface="맑은 고딕"/>
                          <a:cs typeface="맑은 고딕"/>
                        </a:rPr>
                        <a:t>DP1 → DP3</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tier별 load 지연, 용량 압박 신호</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r* = max{r | T_recomp(r) ≤ T_fetch(tier)} 의 입력</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M2</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47472">
                <a:tc>
                  <a:txBody>
                    <a:bodyPr wrap="square"/>
                    <a:lstStyle/>
                    <a:p>
                      <a:pPr algn="ctr">
                        <a:spcAft>
                          <a:spcPts val="100"/>
                        </a:spcAft>
                      </a:pPr>
                      <a:r>
                        <a:rPr sz="950" b="0">
                          <a:solidFill>
                            <a:srgbClr val="000000"/>
                          </a:solidFill>
                          <a:latin typeface="맑은 고딕"/>
                          <a:ea typeface="맑은 고딕"/>
                          <a:cs typeface="맑은 고딕"/>
                        </a:rPr>
                        <a:t>DP3 → DP2</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재계산 토큰 수 · 레이어 범위 · Stage 1 비용</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digest 덕에 Stage 1 비용을 L과 거의 무관하게 예측 가능 [가설] → 계획 stale 완화</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M1, M4</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47472">
                <a:tc>
                  <a:txBody>
                    <a:bodyPr wrap="square"/>
                    <a:lstStyle/>
                    <a:p>
                      <a:pPr algn="ctr">
                        <a:spcAft>
                          <a:spcPts val="100"/>
                        </a:spcAft>
                      </a:pPr>
                      <a:r>
                        <a:rPr sz="950" b="0">
                          <a:solidFill>
                            <a:srgbClr val="000000"/>
                          </a:solidFill>
                          <a:latin typeface="맑은 고딕"/>
                          <a:ea typeface="맑은 고딕"/>
                          <a:cs typeface="맑은 고딕"/>
                        </a:rPr>
                        <a:t>DP2 → DP3</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예산 B, 자원 클래스, 우선순위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재계산을 Decode와 격리하고 부하별 L0~L3 결정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M4</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21" name="TextBox 20"/>
          <p:cNvSpPr txBox="1"/>
          <p:nvPr/>
        </p:nvSpPr>
        <p:spPr>
          <a:xfrm>
            <a:off x="457200" y="3675887"/>
            <a:ext cx="11247120" cy="274320"/>
          </a:xfrm>
          <a:prstGeom prst="rect">
            <a:avLst/>
          </a:prstGeom>
          <a:noFill/>
        </p:spPr>
        <p:txBody>
          <a:bodyPr wrap="square" anchor="t" lIns="45720" rIns="45720" tIns="27432" bIns="27432">
            <a:spAutoFit/>
          </a:bodyPr>
          <a:lstStyle/>
          <a:p>
            <a:pPr algn="l">
              <a:spcAft>
                <a:spcPts val="200"/>
              </a:spcAft>
            </a:pPr>
            <a:r>
              <a:rPr sz="1100" b="1">
                <a:solidFill>
                  <a:srgbClr val="000000"/>
                </a:solidFill>
                <a:latin typeface="맑은 고딕"/>
                <a:ea typeface="맑은 고딕"/>
                <a:cs typeface="맑은 고딕"/>
              </a:rPr>
              <a:t>Tradeoff  (평가 전 가설 · 정량 구간 확정 전이라 별점 미사용)</a:t>
            </a:r>
          </a:p>
        </p:txBody>
      </p:sp>
      <p:graphicFrame>
        <p:nvGraphicFramePr>
          <p:cNvPr id="22" name="Table 21"/>
          <p:cNvGraphicFramePr>
            <a:graphicFrameLocks noGrp="1"/>
          </p:cNvGraphicFramePr>
          <p:nvPr/>
        </p:nvGraphicFramePr>
        <p:xfrm>
          <a:off x="246888" y="3977639"/>
          <a:ext cx="11750040" cy="1664208"/>
        </p:xfrm>
        <a:graphic>
          <a:graphicData uri="http://schemas.openxmlformats.org/drawingml/2006/table">
            <a:tbl>
              <a:tblPr firstRow="0" bandRow="0">
                <a:tableStyleId>{2D5ABB26-0587-4C30-8999-92F81FD0307C}</a:tableStyleId>
              </a:tblPr>
              <a:tblGrid>
                <a:gridCol w="1417320"/>
                <a:gridCol w="2926080"/>
                <a:gridCol w="4206240"/>
                <a:gridCol w="3200400"/>
              </a:tblGrid>
              <a:tr h="274320">
                <a:tc>
                  <a:txBody>
                    <a:bodyPr wrap="square"/>
                    <a:lstStyle/>
                    <a:p>
                      <a:pPr algn="ctr">
                        <a:spcAft>
                          <a:spcPts val="100"/>
                        </a:spcAft>
                      </a:pPr>
                      <a:r>
                        <a:rPr sz="1050" b="0">
                          <a:solidFill>
                            <a:srgbClr val="7F7F7F"/>
                          </a:solidFill>
                          <a:latin typeface="맑은 고딕"/>
                          <a:ea typeface="맑은 고딕"/>
                          <a:cs typeface="맑은 고딕"/>
                        </a:rPr>
                        <a:t>QA / 제약</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7F7F7F"/>
                          </a:solidFill>
                          <a:latin typeface="맑은 고딕"/>
                          <a:ea typeface="맑은 고딕"/>
                          <a:cs typeface="맑은 고딕"/>
                        </a:rPr>
                        <a:t>2안 (현재)</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7F7F7F"/>
                          </a:solidFill>
                          <a:latin typeface="맑은 고딕"/>
                          <a:ea typeface="맑은 고딕"/>
                          <a:cs typeface="맑은 고딕"/>
                        </a:rPr>
                        <a:t>2안 + 보완 [가설]</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7F7F7F"/>
                          </a:solidFill>
                          <a:latin typeface="맑은 고딕"/>
                          <a:ea typeface="맑은 고딕"/>
                          <a:cs typeface="맑은 고딕"/>
                        </a:rPr>
                        <a:t>조건 · 잔존 위험</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347472">
                <a:tc>
                  <a:txBody>
                    <a:bodyPr wrap="square"/>
                    <a:lstStyle/>
                    <a:p>
                      <a:pPr algn="ctr">
                        <a:spcAft>
                          <a:spcPts val="100"/>
                        </a:spcAft>
                      </a:pPr>
                      <a:r>
                        <a:rPr sz="950" b="0">
                          <a:solidFill>
                            <a:srgbClr val="7F7F7F"/>
                          </a:solidFill>
                          <a:latin typeface="맑은 고딕"/>
                          <a:ea typeface="맑은 고딕"/>
                          <a:cs typeface="맑은 고딕"/>
                        </a:rPr>
                        <a:t>Q2 Latency</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Stage 1·재계산이 직렬 → TTFT 절감률 낮음</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fetch·score를 recompute 뒤로 숨겨 TTFT 개선 (M1·M2)</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FF0000"/>
                          </a:solidFill>
                          <a:latin typeface="맑은 고딕"/>
                          <a:ea typeface="맑은 고딕"/>
                          <a:cs typeface="맑은 고딕"/>
                        </a:rPr>
                        <a:t>HBM 상주 Context의 단일 요청은 효과 작음</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47472">
                <a:tc>
                  <a:txBody>
                    <a:bodyPr wrap="square"/>
                    <a:lstStyle/>
                    <a:p>
                      <a:pPr algn="ctr">
                        <a:spcAft>
                          <a:spcPts val="100"/>
                        </a:spcAft>
                      </a:pPr>
                      <a:r>
                        <a:rPr sz="950" b="0">
                          <a:solidFill>
                            <a:srgbClr val="7F7F7F"/>
                          </a:solidFill>
                          <a:latin typeface="맑은 고딕"/>
                          <a:ea typeface="맑은 고딕"/>
                          <a:cs typeface="맑은 고딕"/>
                        </a:rPr>
                        <a:t>Q3 HBM 점유율</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원본 1부, 요청 산출물은 토큰 목록뿐</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동일 + digest ≈ KV의 1/B [추정]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digest 메모리 상주 비용</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47472">
                <a:tc>
                  <a:txBody>
                    <a:bodyPr wrap="square"/>
                    <a:lstStyle/>
                    <a:p>
                      <a:pPr algn="ctr">
                        <a:spcAft>
                          <a:spcPts val="100"/>
                        </a:spcAft>
                      </a:pPr>
                      <a:r>
                        <a:rPr sz="950" b="0">
                          <a:solidFill>
                            <a:srgbClr val="7F7F7F"/>
                          </a:solidFill>
                          <a:latin typeface="맑은 고딕"/>
                          <a:ea typeface="맑은 고딕"/>
                          <a:cs typeface="맑은 고딕"/>
                        </a:rPr>
                        <a:t>Q5 확장성</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동시 요청이 늘면 스코어링·재계산 경합</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배치 스코어링 + 예산으로 경합 완화, 초과 시 점진 저하 (M3·M4)</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FF0000"/>
                          </a:solidFill>
                          <a:latin typeface="맑은 고딕"/>
                          <a:ea typeface="맑은 고딕"/>
                          <a:cs typeface="맑은 고딕"/>
                        </a:rPr>
                        <a:t>동일 Context 요청 비율이 낮으면 M3 효과 작음</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47472">
                <a:tc>
                  <a:txBody>
                    <a:bodyPr wrap="square"/>
                    <a:lstStyle/>
                    <a:p>
                      <a:pPr algn="ctr">
                        <a:spcAft>
                          <a:spcPts val="100"/>
                        </a:spcAft>
                      </a:pPr>
                      <a:r>
                        <a:rPr sz="950" b="0">
                          <a:solidFill>
                            <a:srgbClr val="7F7F7F"/>
                          </a:solidFill>
                          <a:latin typeface="맑은 고딕"/>
                          <a:ea typeface="맑은 고딕"/>
                          <a:cs typeface="맑은 고딕"/>
                        </a:rPr>
                        <a:t>C1 정확도 보장</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Query-aware로 구조적 확보</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M1·M2·M4 손실을 Gate가 보상 (M5)</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Gate 오탐·미탐이 위험</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23" name="TextBox 22"/>
          <p:cNvSpPr txBox="1"/>
          <p:nvPr/>
        </p:nvSpPr>
        <p:spPr>
          <a:xfrm>
            <a:off x="365760" y="6126480"/>
            <a:ext cx="11430000" cy="411480"/>
          </a:xfrm>
          <a:prstGeom prst="rect">
            <a:avLst/>
          </a:prstGeom>
          <a:noFill/>
        </p:spPr>
        <p:txBody>
          <a:bodyPr wrap="square" anchor="t" lIns="45720" rIns="45720" tIns="27432" bIns="27432">
            <a:spAutoFit/>
          </a:bodyPr>
          <a:lstStyle/>
          <a:p>
            <a:pPr algn="l">
              <a:spcAft>
                <a:spcPts val="200"/>
              </a:spcAft>
            </a:pPr>
            <a:r>
              <a:rPr sz="900" b="1">
                <a:solidFill>
                  <a:srgbClr val="0066FF"/>
                </a:solidFill>
                <a:latin typeface="맑은 고딕"/>
                <a:ea typeface="맑은 고딕"/>
                <a:cs typeface="맑은 고딕"/>
              </a:rPr>
              <a:t>※ 기존 슬라이드의 별점(2안 Performance ★★☆ / Resource ★★★ / Scalability ★★☆)은 보완 반영 시 재산정 대상. 같은 정량 구간 정의로 1안도 함께 재평가해야 공정함</a:t>
            </a:r>
          </a:p>
        </p:txBody>
      </p:sp>
      <p:sp>
        <p:nvSpPr>
          <p:cNvPr id="24" name="TextBox 23"/>
          <p:cNvSpPr txBox="1"/>
          <p:nvPr/>
        </p:nvSpPr>
        <p:spPr>
          <a:xfrm>
            <a:off x="274320" y="6601968"/>
            <a:ext cx="4983480" cy="228600"/>
          </a:xfrm>
          <a:prstGeom prst="rect">
            <a:avLst/>
          </a:prstGeom>
          <a:noFill/>
        </p:spPr>
        <p:txBody>
          <a:bodyPr wrap="square" anchor="t" lIns="45720" rIns="45720" tIns="27432" bIns="27432">
            <a:spAutoFit/>
          </a:bodyPr>
          <a:lstStyle/>
          <a:p>
            <a:pPr algn="l">
              <a:spcAft>
                <a:spcPts val="200"/>
              </a:spcAft>
            </a:pPr>
            <a:r>
              <a:rPr sz="700" b="0">
                <a:solidFill>
                  <a:srgbClr val="7F7F7F"/>
                </a:solidFill>
                <a:latin typeface="맑은 고딕"/>
                <a:ea typeface="맑은 고딕"/>
                <a:cs typeface="맑은 고딕"/>
              </a:rPr>
              <a:t>출처: doc-mk/DP3/dp3-kv-compression-reuse-structure-draft.md. 효과는 모두 [가설], 문헌 [B]</a:t>
            </a:r>
          </a:p>
        </p:txBody>
      </p:sp>
      <p:sp>
        <p:nvSpPr>
          <p:cNvPr id="25" name="TextBox 24"/>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DP3. Long Context를 위한 KV 캐시 재사용 구조 - 보완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보완 설계 검증 계획: 가정을 지표로 바꿔 하나씩 끈다(ablation)</a:t>
            </a:r>
          </a:p>
        </p:txBody>
      </p:sp>
      <p:sp>
        <p:nvSpPr>
          <p:cNvPr id="13" name="Rounded Rectangle 12"/>
          <p:cNvSpPr/>
          <p:nvPr/>
        </p:nvSpPr>
        <p:spPr>
          <a:xfrm>
            <a:off x="11146536"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C1</a:t>
            </a:r>
          </a:p>
        </p:txBody>
      </p:sp>
      <p:sp>
        <p:nvSpPr>
          <p:cNvPr id="14" name="Rounded Rectangle 13"/>
          <p:cNvSpPr/>
          <p:nvPr/>
        </p:nvSpPr>
        <p:spPr>
          <a:xfrm>
            <a:off x="10396728"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Q5</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Q3</a:t>
            </a:r>
          </a:p>
        </p:txBody>
      </p:sp>
      <p:sp>
        <p:nvSpPr>
          <p:cNvPr id="16" name="Rounded Rectangle 15"/>
          <p:cNvSpPr/>
          <p:nvPr/>
        </p:nvSpPr>
        <p:spPr>
          <a:xfrm>
            <a:off x="8897111"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7" name="Rounded Rectangle 16"/>
          <p:cNvSpPr/>
          <p:nvPr/>
        </p:nvSpPr>
        <p:spPr>
          <a:xfrm>
            <a:off x="8147303"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F3</a:t>
            </a:r>
          </a:p>
        </p:txBody>
      </p:sp>
      <p:graphicFrame>
        <p:nvGraphicFramePr>
          <p:cNvPr id="18" name="Table 17"/>
          <p:cNvGraphicFramePr>
            <a:graphicFrameLocks noGrp="1"/>
          </p:cNvGraphicFramePr>
          <p:nvPr/>
        </p:nvGraphicFramePr>
        <p:xfrm>
          <a:off x="246888" y="1143000"/>
          <a:ext cx="11750040" cy="2843784"/>
        </p:xfrm>
        <a:graphic>
          <a:graphicData uri="http://schemas.openxmlformats.org/drawingml/2006/table">
            <a:tbl>
              <a:tblPr firstRow="0" bandRow="0">
                <a:tableStyleId>{2D5ABB26-0587-4C30-8999-92F81FD0307C}</a:tableStyleId>
              </a:tblPr>
              <a:tblGrid>
                <a:gridCol w="1371600"/>
                <a:gridCol w="3291840"/>
                <a:gridCol w="3566160"/>
                <a:gridCol w="3520440"/>
              </a:tblGrid>
              <a:tr h="329184">
                <a:tc>
                  <a:txBody>
                    <a:bodyPr wrap="square"/>
                    <a:lstStyle/>
                    <a:p>
                      <a:pPr algn="ctr">
                        <a:spcAft>
                          <a:spcPts val="100"/>
                        </a:spcAft>
                      </a:pPr>
                      <a:r>
                        <a:rPr sz="1050" b="0">
                          <a:solidFill>
                            <a:srgbClr val="000000"/>
                          </a:solidFill>
                          <a:latin typeface="맑은 고딕"/>
                          <a:ea typeface="맑은 고딕"/>
                          <a:cs typeface="맑은 고딕"/>
                        </a:rPr>
                        <a:t>기법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000000"/>
                          </a:solidFill>
                          <a:latin typeface="맑은 고딕"/>
                          <a:ea typeface="맑은 고딕"/>
                          <a:cs typeface="맑은 고딕"/>
                        </a:rPr>
                        <a:t>핵심 가정 (검증 대상)</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000000"/>
                          </a:solidFill>
                          <a:latin typeface="맑은 고딕"/>
                          <a:ea typeface="맑은 고딕"/>
                          <a:cs typeface="맑은 고딕"/>
                        </a:rPr>
                        <a:t>지표 (단위)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000000"/>
                          </a:solidFill>
                          <a:latin typeface="맑은 고딕"/>
                          <a:ea typeface="맑은 고딕"/>
                          <a:cs typeface="맑은 고딕"/>
                        </a:rPr>
                        <a:t>조건 · sweep</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02920">
                <a:tc>
                  <a:txBody>
                    <a:bodyPr wrap="square"/>
                    <a:lstStyle/>
                    <a:p>
                      <a:pPr algn="ctr">
                        <a:spcAft>
                          <a:spcPts val="100"/>
                        </a:spcAft>
                      </a:pPr>
                      <a:r>
                        <a:rPr sz="950" b="0">
                          <a:solidFill>
                            <a:srgbClr val="000000"/>
                          </a:solidFill>
                          <a:latin typeface="맑은 고딕"/>
                          <a:ea typeface="맑은 고딕"/>
                          <a:cs typeface="맑은 고딕"/>
                        </a:rPr>
                        <a:t>M1 Digest</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coarse→fine 선정이 full 스코어링 선정과 거의 일치</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선정 일치율 top-k recall (%), Stage 1 시간 (ms)</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블록 크기 B, 상위 블록 수 k, Context 길이 L</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02920">
                <a:tc>
                  <a:txBody>
                    <a:bodyPr wrap="square"/>
                    <a:lstStyle/>
                    <a:p>
                      <a:pPr algn="ctr">
                        <a:spcAft>
                          <a:spcPts val="100"/>
                        </a:spcAft>
                      </a:pPr>
                      <a:r>
                        <a:rPr sz="950" b="0">
                          <a:solidFill>
                            <a:srgbClr val="000000"/>
                          </a:solidFill>
                          <a:latin typeface="맑은 고딕"/>
                          <a:ea typeface="맑은 고딕"/>
                          <a:cs typeface="맑은 고딕"/>
                        </a:rPr>
                        <a:t>M2 파이프라인</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load와 recompute가 실제로 중첩. 일부 레이어 선정이 전 레이어에 유효</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TTFT P50 / P99 (ms), 선정 레이어 수별 정확도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tier(HBM / DRAM / CXL / SSD) × 재계산 비율 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02920">
                <a:tc>
                  <a:txBody>
                    <a:bodyPr wrap="square"/>
                    <a:lstStyle/>
                    <a:p>
                      <a:pPr algn="ctr">
                        <a:spcAft>
                          <a:spcPts val="100"/>
                        </a:spcAft>
                      </a:pPr>
                      <a:r>
                        <a:rPr sz="950" b="0">
                          <a:solidFill>
                            <a:srgbClr val="000000"/>
                          </a:solidFill>
                          <a:latin typeface="맑은 고딕"/>
                          <a:ea typeface="맑은 고딕"/>
                          <a:cs typeface="맑은 고딕"/>
                        </a:rPr>
                        <a:t>M3 배치 스코어링</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동일 Context에 몰리는 요청 비율이 충분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KV 읽기 바이트(GB), Stage 1 처리량, TTFT P99</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배치 윈도우(ms), 동일 Context 비율, 동시 요청 수</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02920">
                <a:tc>
                  <a:txBody>
                    <a:bodyPr wrap="square"/>
                    <a:lstStyle/>
                    <a:p>
                      <a:pPr algn="ctr">
                        <a:spcAft>
                          <a:spcPts val="100"/>
                        </a:spcAft>
                      </a:pPr>
                      <a:r>
                        <a:rPr sz="950" b="0">
                          <a:solidFill>
                            <a:srgbClr val="000000"/>
                          </a:solidFill>
                          <a:latin typeface="맑은 고딕"/>
                          <a:ea typeface="맑은 고딕"/>
                          <a:cs typeface="맑은 고딕"/>
                        </a:rPr>
                        <a:t>M4 예산 선정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예산 축소 시 정확도 저하가 완만하고 Decode 간섭 감소</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SLO Goodput, TPOT P99 (ms), 정확도 지표 vs 부하</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예산 B, 동시 요청 수, Decode 비율</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02920">
                <a:tc>
                  <a:txBody>
                    <a:bodyPr wrap="square"/>
                    <a:lstStyle/>
                    <a:p>
                      <a:pPr algn="ctr">
                        <a:spcAft>
                          <a:spcPts val="100"/>
                        </a:spcAft>
                      </a:pPr>
                      <a:r>
                        <a:rPr sz="950" b="0">
                          <a:solidFill>
                            <a:srgbClr val="000000"/>
                          </a:solidFill>
                          <a:latin typeface="맑은 고딕"/>
                          <a:ea typeface="맑은 고딕"/>
                          <a:cs typeface="맑은 고딕"/>
                        </a:rPr>
                        <a:t>M5 Gate</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신뢰도 신호가 정확도 저하 요청을 구분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Gate precision / recall (%), 출력 정확도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임계치, 질의 유형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19" name="Rectangle 18"/>
          <p:cNvSpPr/>
          <p:nvPr/>
        </p:nvSpPr>
        <p:spPr>
          <a:xfrm>
            <a:off x="347472" y="4343400"/>
            <a:ext cx="5577840" cy="178308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404872" y="4187952"/>
            <a:ext cx="146304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대조군</a:t>
            </a:r>
          </a:p>
        </p:txBody>
      </p:sp>
      <p:sp>
        <p:nvSpPr>
          <p:cNvPr id="21" name="TextBox 20"/>
          <p:cNvSpPr txBox="1"/>
          <p:nvPr/>
        </p:nvSpPr>
        <p:spPr>
          <a:xfrm>
            <a:off x="457200" y="4553712"/>
            <a:ext cx="5394960" cy="1554480"/>
          </a:xfrm>
          <a:prstGeom prst="rect">
            <a:avLst/>
          </a:prstGeom>
          <a:noFill/>
        </p:spPr>
        <p:txBody>
          <a:bodyPr wrap="square" anchor="t" lIns="45720" rIns="45720" tIns="27432" bIns="27432">
            <a:spAutoFit/>
          </a:bodyPr>
          <a:lstStyle/>
          <a:p>
            <a:pPr algn="l">
              <a:spcAft>
                <a:spcPts val="300"/>
              </a:spcAft>
            </a:pPr>
            <a:r>
              <a:rPr sz="1000" b="0">
                <a:solidFill>
                  <a:srgbClr val="404040"/>
                </a:solidFill>
                <a:latin typeface="맑은 고딕"/>
                <a:ea typeface="맑은 고딕"/>
                <a:cs typeface="맑은 고딕"/>
              </a:rPr>
              <a:t>• (a) 재사용 없이 Full Prefill</a:t>
            </a:r>
          </a:p>
          <a:p>
            <a:pPr algn="l">
              <a:spcAft>
                <a:spcPts val="300"/>
              </a:spcAft>
            </a:pPr>
            <a:r>
              <a:rPr sz="1000" b="0">
                <a:solidFill>
                  <a:srgbClr val="404040"/>
                </a:solidFill>
                <a:latin typeface="맑은 고딕"/>
                <a:ea typeface="맑은 고딕"/>
                <a:cs typeface="맑은 고딕"/>
              </a:rPr>
              <a:t>• (b) 2안 원형 (보완 없음)</a:t>
            </a:r>
          </a:p>
          <a:p>
            <a:pPr algn="l">
              <a:spcAft>
                <a:spcPts val="300"/>
              </a:spcAft>
            </a:pPr>
            <a:r>
              <a:rPr sz="1000" b="0">
                <a:solidFill>
                  <a:srgbClr val="404040"/>
                </a:solidFill>
                <a:latin typeface="맑은 고딕"/>
                <a:ea typeface="맑은 고딕"/>
                <a:cs typeface="맑은 고딕"/>
              </a:rPr>
              <a:t>• (c) 2안 + 보완 전체, 그리고 기법 하나씩 제거한 변형</a:t>
            </a:r>
          </a:p>
          <a:p>
            <a:pPr algn="l">
              <a:spcAft>
                <a:spcPts val="300"/>
              </a:spcAft>
            </a:pPr>
            <a:r>
              <a:rPr sz="1000" b="0">
                <a:solidFill>
                  <a:srgbClr val="404040"/>
                </a:solidFill>
                <a:latin typeface="맑은 고딕"/>
                <a:ea typeface="맑은 고딕"/>
                <a:cs typeface="맑은 고딕"/>
              </a:rPr>
              <a:t>• 실행 시점·DP1 구성을 고정해 병기 (원본 §2.3 원칙)</a:t>
            </a:r>
          </a:p>
        </p:txBody>
      </p:sp>
      <p:sp>
        <p:nvSpPr>
          <p:cNvPr id="22" name="Rectangle 21"/>
          <p:cNvSpPr/>
          <p:nvPr/>
        </p:nvSpPr>
        <p:spPr>
          <a:xfrm>
            <a:off x="6172200" y="4343400"/>
            <a:ext cx="5577840" cy="178308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589520" y="4187952"/>
            <a:ext cx="274320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남은 위험과 열린 질문</a:t>
            </a:r>
          </a:p>
        </p:txBody>
      </p:sp>
      <p:sp>
        <p:nvSpPr>
          <p:cNvPr id="24" name="TextBox 23"/>
          <p:cNvSpPr txBox="1"/>
          <p:nvPr/>
        </p:nvSpPr>
        <p:spPr>
          <a:xfrm>
            <a:off x="6281928" y="4553712"/>
            <a:ext cx="5394960" cy="1554480"/>
          </a:xfrm>
          <a:prstGeom prst="rect">
            <a:avLst/>
          </a:prstGeom>
          <a:noFill/>
        </p:spPr>
        <p:txBody>
          <a:bodyPr wrap="square" anchor="t" lIns="45720" rIns="45720" tIns="27432" bIns="27432">
            <a:spAutoFit/>
          </a:bodyPr>
          <a:lstStyle/>
          <a:p>
            <a:pPr algn="l">
              <a:spcAft>
                <a:spcPts val="300"/>
              </a:spcAft>
            </a:pPr>
            <a:r>
              <a:rPr sz="1000" b="0">
                <a:solidFill>
                  <a:srgbClr val="404040"/>
                </a:solidFill>
                <a:latin typeface="맑은 고딕"/>
                <a:ea typeface="맑은 고딕"/>
                <a:cs typeface="맑은 고딕"/>
              </a:rPr>
              <a:t>• HBM 상주 Context에서는 M2 효과가 거의 없음 → 효과 범위를 tier 구성별로 명시</a:t>
            </a:r>
          </a:p>
          <a:p>
            <a:pPr algn="l">
              <a:spcAft>
                <a:spcPts val="300"/>
              </a:spcAft>
            </a:pPr>
            <a:r>
              <a:rPr sz="1000" b="0">
                <a:solidFill>
                  <a:srgbClr val="404040"/>
                </a:solidFill>
                <a:latin typeface="맑은 고딕"/>
                <a:ea typeface="맑은 고딕"/>
                <a:cs typeface="맑은 고딕"/>
              </a:rPr>
              <a:t>• 레이어 간 선정 재사용 가정(M2)이 깨지면 정확도 손실</a:t>
            </a:r>
          </a:p>
          <a:p>
            <a:pPr algn="l">
              <a:spcAft>
                <a:spcPts val="300"/>
              </a:spcAft>
            </a:pPr>
            <a:r>
              <a:rPr sz="1000" b="0">
                <a:solidFill>
                  <a:srgbClr val="404040"/>
                </a:solidFill>
                <a:latin typeface="맑은 고딕"/>
                <a:ea typeface="맑은 고딕"/>
                <a:cs typeface="맑은 고딕"/>
              </a:rPr>
              <a:t>• 배치 윈도우 지연이 M3 이득을 상쇄할 수 있음</a:t>
            </a:r>
          </a:p>
          <a:p>
            <a:pPr algn="l">
              <a:spcAft>
                <a:spcPts val="300"/>
              </a:spcAft>
            </a:pPr>
            <a:r>
              <a:rPr sz="1000" b="0">
                <a:solidFill>
                  <a:srgbClr val="404040"/>
                </a:solidFill>
                <a:latin typeface="맑은 고딕"/>
                <a:ea typeface="맑은 고딕"/>
                <a:cs typeface="맑은 고딕"/>
              </a:rPr>
              <a:t>• Selection Memo(선정 결과 캐시)는 유사 Query ↔ 선정 일치율 상관이 미검증이라 기본 구성에서 제외</a:t>
            </a:r>
          </a:p>
        </p:txBody>
      </p:sp>
      <p:sp>
        <p:nvSpPr>
          <p:cNvPr id="25" name="TextBox 24"/>
          <p:cNvSpPr txBox="1"/>
          <p:nvPr/>
        </p:nvSpPr>
        <p:spPr>
          <a:xfrm>
            <a:off x="365760" y="6172200"/>
            <a:ext cx="11430000" cy="365760"/>
          </a:xfrm>
          <a:prstGeom prst="rect">
            <a:avLst/>
          </a:prstGeom>
          <a:noFill/>
        </p:spPr>
        <p:txBody>
          <a:bodyPr wrap="square" anchor="t" lIns="45720" rIns="45720" tIns="27432" bIns="27432">
            <a:spAutoFit/>
          </a:bodyPr>
          <a:lstStyle/>
          <a:p>
            <a:pPr algn="l">
              <a:spcAft>
                <a:spcPts val="200"/>
              </a:spcAft>
            </a:pPr>
            <a:r>
              <a:rPr sz="1000" b="1">
                <a:solidFill>
                  <a:srgbClr val="0066FF"/>
                </a:solidFill>
                <a:latin typeface="맑은 고딕"/>
                <a:ea typeface="맑은 고딕"/>
                <a:cs typeface="맑은 고딕"/>
              </a:rPr>
              <a:t>모든 항목은 구조 논증 [C]이며 prototype/시뮬레이션 전까지 가설. 수치 목표는 통합 단계에서 임계값 확정 후 기입</a:t>
            </a:r>
          </a:p>
        </p:txBody>
      </p:sp>
      <p:sp>
        <p:nvSpPr>
          <p:cNvPr id="26" name="TextBox 25"/>
          <p:cNvSpPr txBox="1"/>
          <p:nvPr/>
        </p:nvSpPr>
        <p:spPr>
          <a:xfrm>
            <a:off x="274320" y="6601968"/>
            <a:ext cx="4983480" cy="228600"/>
          </a:xfrm>
          <a:prstGeom prst="rect">
            <a:avLst/>
          </a:prstGeom>
          <a:noFill/>
        </p:spPr>
        <p:txBody>
          <a:bodyPr wrap="square" anchor="t" lIns="45720" rIns="45720" tIns="27432" bIns="27432">
            <a:spAutoFit/>
          </a:bodyPr>
          <a:lstStyle/>
          <a:p>
            <a:pPr algn="l">
              <a:spcAft>
                <a:spcPts val="200"/>
              </a:spcAft>
            </a:pPr>
            <a:r>
              <a:rPr sz="700" b="0">
                <a:solidFill>
                  <a:srgbClr val="7F7F7F"/>
                </a:solidFill>
                <a:latin typeface="맑은 고딕"/>
                <a:ea typeface="맑은 고딕"/>
                <a:cs typeface="맑은 고딕"/>
              </a:rPr>
              <a:t>출처: doc-mk/DP3/dp3-kv-compression-reuse-structure-draft.md. 효과는 모두 [가설], 문헌 [B]</a:t>
            </a:r>
          </a:p>
        </p:txBody>
      </p:sp>
      <p:sp>
        <p:nvSpPr>
          <p:cNvPr id="27" name="TextBox 26"/>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5</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5707</Words>
  <Application>Microsoft Office PowerPoint</Application>
  <PresentationFormat>와이드스크린</PresentationFormat>
  <Paragraphs>852</Paragraphs>
  <Slides>10</Slides>
  <Notes>10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10</vt:i4>
      </vt:variant>
    </vt:vector>
  </HeadingPairs>
  <TitlesOfParts>
    <vt:vector size="16" baseType="lpstr">
      <vt:lpstr>Samsung Sharp Sans Bold</vt:lpstr>
      <vt:lpstr>맑은 고딕</vt:lpstr>
      <vt:lpstr>맑은 고딕</vt:lpstr>
      <vt:lpstr>Arial</vt:lpstr>
      <vt:lpstr>Wingdings</vt:lpstr>
      <vt:lpstr>Office 테마</vt:lpstr>
      <vt:lpstr>DP1. 이기종 메모리 기반 Data Migration 결정 구조 - 배경</vt:lpstr>
      <vt:lpstr>DP1. 이기종 메모리 기반 Data Migration 결정 구조 - 배경</vt:lpstr>
      <vt:lpstr>DP1. 이기종 메모리 기반 Data Migration 결정 구조 - 설계</vt:lpstr>
      <vt:lpstr>DP1. 이기종 메모리 기반 Data Migration 결정 구조 - 설계</vt:lpstr>
      <vt:lpstr>DP2. 이기종 메모리 환경의 Prefill/Decode 실행 위치 결정 구조 - 사전 지식</vt:lpstr>
      <vt:lpstr>DP2. 이기종 메모리 환경의 Prefill/Decode 실행 위치 결정 구조 - 배경</vt:lpstr>
      <vt:lpstr>DP2. 이기종 메모리 환경의 Prefill/Decode 실행 위치 결정 구조 - 설계</vt:lpstr>
      <vt:lpstr>DP4. 요청 조율 구조 (Orchestration) - 배경</vt:lpstr>
      <vt:lpstr>DP4. 여러 서버를 묶는 요청 조율 구조 - 배경</vt:lpstr>
      <vt:lpstr>DP4. 요청 조율 계층 (Orchestration) 설계 - 구조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DP1. 이기종 메모리 기반 Data Migration 결정 구조 - 배경</dc:title>
  <dc:creator>Myeong Woo Kim</dc:creator>
  <cp:lastModifiedBy>Myeong Woo Kim</cp:lastModifiedBy>
  <cp:revision>1</cp:revision>
  <dcterms:created xsi:type="dcterms:W3CDTF">2026-10-10T04:25:41Z</dcterms:created>
  <dcterms:modified xsi:type="dcterms:W3CDTF">2026-10-10T04:26:54Z</dcterms:modified>
</cp:coreProperties>
</file>
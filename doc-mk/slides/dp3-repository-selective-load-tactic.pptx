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B59D-6851-4087-A360-1717CD539FDC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42F9D-A517-472D-B53C-0A9BC49CDB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2안은 재계산 위치를 서빙 전에 알아서 덮어쓸 토큰의 기존 KV 적재를 생략할 수 있다. 1안은 attention 점수 계산 뒤에야 위치를 알아 전체를 먼저 적재해야 한다.</a:t>
            </a:r>
          </a:p>
          <a:p>
            <a:r>
              <a:t>근거: 적재량은 (1-rho)L로 줄지만, 재계산 토큰의 새 KV도 HBM에 있어야 하므로 정상 상태 HBM 점유는 같다. 감소는 적재 트래픽, TTFT, 적재 시점 피크(중복 버퍼가 있을 때)에 한정된다.</a:t>
            </a:r>
          </a:p>
          <a:p>
            <a:r>
              <a:t>의미: 이 택틱은 QA1 보완과 QA2 피크 완화다. HBM 점유율 자체를 낮추는 수단은 DP1의 상주 정책(hot KV만 HBM) 또는 압축 계열이며 이 장 범위 밖이다. 모든 효과는 [C] 논증이다.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6F1F-6FFF-438E-978E-7F50C6A9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FAFD0-1F82-4A9B-B3F6-9922480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504BB-6AAA-4233-A0A1-1975C91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92343-8259-4E59-9F61-74C15CC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B83A2-9524-4B3A-B3C6-D4F79B0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69E3-A266-4BEB-8BBA-CE42A5B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CA8F-9445-4D8B-A0A0-34714CB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E6160-1C4D-4559-89D9-A35150A3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329A2-229C-4CBB-AC58-12A0F0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D84D-6A9B-449E-843F-67D8BA6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59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6C279-BE8E-4A58-8F27-8C25650D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2A46-7FFF-4D6F-AA6E-D59A612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85FA-9578-48E3-9E09-D095C1D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1F830-4CCD-4D6C-BCCB-003C05C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742D8-AAC9-4467-8546-CC9D64B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B4E56-0A82-416C-92D9-654BF5C9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2FE0-D66C-416D-A771-4B8A78E1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DFEE8-FEDA-40B6-AD92-F654C3C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12402-8087-4755-8681-5AB4A554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EB7B6-16FD-43F7-AD81-6AE0533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84AA5-2DBF-4023-90B7-AAC1D132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D15B-0C0F-4390-875E-1590EE8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13CE4-54D4-472C-AF86-5304C461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3848C-49A2-46AD-B69D-6770C2A4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7C98F-4810-4F56-8535-9FA72E9A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491211-BEE3-4FEF-980E-6C26F7443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1097-25B6-4C35-9EDA-0A1B99A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967B94-09AA-40C9-A6E7-C49079C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06B7-77D3-4F97-B3C3-87F6F63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900A-A75F-4F93-AE6D-F58DCEBA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A1503-70FC-402A-9BEA-A7A4CBD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CE03B-7743-434D-93C2-5D3CF40D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11778-A95C-403D-A5C5-03429AA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9B79F9-D3BF-4383-9A2B-6720ED16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91CDC1-1BD2-4CEC-AF70-F1035E0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BE70D-7B66-4208-B021-AB8D7CB4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9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1A4DB-6070-458A-B403-8962043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FAD1F-018C-4CD8-A320-CCA38716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798B4-57C3-44B4-A8C2-A1110A14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82C16-FF45-4304-A19A-EF629B47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6C59-F03D-40C5-A062-6C1D08E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D1989-7D2D-483E-8B76-675B71A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8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0EA15-1B37-4FC8-A267-BD814C73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6C1A13-FB13-43ED-9A16-DE43BD615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0587-5197-4793-84A9-1FCE8E0F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05951-2B75-4A9C-9D31-DA984C7D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FFFB-CB82-44B7-ADD5-6C06FFC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3ACB5-7C5F-4763-A545-1E091D9C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7E99-E266-4394-AC3C-C81C0AA0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3C54-E094-4214-B922-CFC0A756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B284-4B0D-4115-B089-AA26C33B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50256-F467-447D-9263-C7183DD6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67B8-E91F-4EFF-904D-A125138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8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CC87E-C30F-4874-9B17-340763F05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237634-FD61-4D11-A5FB-707E825A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80697-7563-4134-9650-BD8DE52F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95852-3BEA-4032-BF3B-1DBB06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DC6E-6854-4E11-B4EC-45C9A22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1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40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AD665B-95C3-4399-9C37-9DABDB1E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DC265-2495-45CB-94D5-2A0095D3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49F97-8660-4B82-B92F-E2817628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CD36A-B7E4-4EBB-BD2C-7A89014F8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9CF50-AAA0-498B-83B2-83B85538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DP3. KV 캐시 재사용 구조 - 보완 설계 (2안 선택적 KV 적재)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2안 보완: 사전 재계산 위치로 덮어쓸 토큰의 기존 KV 적재를 생략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" y="1024128"/>
            <a:ext cx="117043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핵심 : </a:t>
            </a:r>
            <a:r>
              <a:rPr sz="105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재계산 위치를 서빙 전에 알기 때문에 덮어쓸 토큰의 기존 KV는 적재하지 않는다 — 적재량·시간은 줄고 HBM 정상 상태 점유는 그대로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1371600"/>
            <a:ext cx="5760720" cy="292608"/>
          </a:xfrm>
          <a:prstGeom prst="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보완 전 (2안 기본) </a:t>
            </a:r>
            <a:r>
              <a:rPr sz="105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KV 적재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1700784"/>
            <a:ext cx="54864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KV Repository (DP1) — Context KV (12 토큰 예시) + 재계산 위치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4944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23544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15568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344168" y="1920240"/>
            <a:ext cx="384048" cy="329184"/>
          </a:xfrm>
          <a:prstGeom prst="rect">
            <a:avLst/>
          </a:prstGeom>
          <a:solidFill>
            <a:srgbClr val="FBE5D6"/>
          </a:solidFill>
          <a:ln w="1651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36192" y="2249424"/>
            <a:ext cx="0" cy="539496"/>
          </a:xfrm>
          <a:prstGeom prst="line">
            <a:avLst/>
          </a:prstGeom>
          <a:ln w="1524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764792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56816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185416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77440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606040" y="1920240"/>
            <a:ext cx="384048" cy="329184"/>
          </a:xfrm>
          <a:prstGeom prst="rect">
            <a:avLst/>
          </a:prstGeom>
          <a:solidFill>
            <a:srgbClr val="FBE5D6"/>
          </a:solidFill>
          <a:ln w="1651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98064" y="2249424"/>
            <a:ext cx="0" cy="539496"/>
          </a:xfrm>
          <a:prstGeom prst="line">
            <a:avLst/>
          </a:prstGeom>
          <a:ln w="1524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026664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18688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447288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39312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867912" y="1920240"/>
            <a:ext cx="384048" cy="329184"/>
          </a:xfrm>
          <a:prstGeom prst="rect">
            <a:avLst/>
          </a:prstGeom>
          <a:solidFill>
            <a:srgbClr val="FBE5D6"/>
          </a:solidFill>
          <a:ln w="1651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59936" y="2249424"/>
            <a:ext cx="0" cy="539496"/>
          </a:xfrm>
          <a:prstGeom prst="line">
            <a:avLst/>
          </a:prstGeom>
          <a:ln w="1524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288536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480560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709160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01184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129784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321808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783080" y="2395728"/>
            <a:ext cx="24688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12/12 적재 (재계산 대상 포함)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788920"/>
            <a:ext cx="5257800" cy="896112"/>
          </a:xfrm>
          <a:prstGeom prst="rect">
            <a:avLst/>
          </a:prstGeom>
          <a:solidFill>
            <a:srgbClr val="EEF5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2798064"/>
            <a:ext cx="36576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HBM (서빙 시 상주)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544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44168" y="3090672"/>
            <a:ext cx="384048" cy="329184"/>
          </a:xfrm>
          <a:prstGeom prst="rect">
            <a:avLst/>
          </a:prstGeom>
          <a:solidFill>
            <a:srgbClr val="FBE5D6"/>
          </a:solidFill>
          <a:ln w="1651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64792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85416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6040" y="3090672"/>
            <a:ext cx="384048" cy="329184"/>
          </a:xfrm>
          <a:prstGeom prst="rect">
            <a:avLst/>
          </a:prstGeom>
          <a:solidFill>
            <a:srgbClr val="FBE5D6"/>
          </a:solidFill>
          <a:ln w="1651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26664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47288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67912" y="3090672"/>
            <a:ext cx="384048" cy="329184"/>
          </a:xfrm>
          <a:prstGeom prst="rect">
            <a:avLst/>
          </a:prstGeom>
          <a:solidFill>
            <a:srgbClr val="FBE5D6"/>
          </a:solidFill>
          <a:ln w="1651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88536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09160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9784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71800" y="2798064"/>
            <a:ext cx="25603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기존 KV 적재됨 → 덮어쓰기 예정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80160" y="3886200"/>
            <a:ext cx="3108960" cy="384048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 Recomputer (DP2)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 토큰의 새 KV를 해당 슬롯에 기록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536192" y="3419856"/>
            <a:ext cx="0" cy="466344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798064" y="3419856"/>
            <a:ext cx="0" cy="466344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059936" y="3419856"/>
            <a:ext cx="0" cy="466344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6190488" y="1371600"/>
            <a:ext cx="5760720" cy="292608"/>
          </a:xfrm>
          <a:prstGeom prst="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보완 후 </a:t>
            </a:r>
            <a:r>
              <a:rPr sz="10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재사용 토큰 KV만 적재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1700784"/>
            <a:ext cx="54864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KV Repository (DP1) — Context KV (12 토큰 예시) + 재계산 위치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638544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6867144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059168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7287768" y="1920240"/>
            <a:ext cx="384048" cy="329184"/>
          </a:xfrm>
          <a:prstGeom prst="rect">
            <a:avLst/>
          </a:prstGeom>
          <a:solidFill>
            <a:srgbClr val="FBE5D6"/>
          </a:solidFill>
          <a:ln w="1651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78040" y="2331720"/>
            <a:ext cx="603504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✕ 생략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08392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900416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8129016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321040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8549640" y="1920240"/>
            <a:ext cx="384048" cy="329184"/>
          </a:xfrm>
          <a:prstGeom prst="rect">
            <a:avLst/>
          </a:prstGeom>
          <a:solidFill>
            <a:srgbClr val="FBE5D6"/>
          </a:solidFill>
          <a:ln w="1651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39912" y="2331720"/>
            <a:ext cx="603504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✕ 생략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70264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62288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9390888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582912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9811512" y="1920240"/>
            <a:ext cx="384048" cy="329184"/>
          </a:xfrm>
          <a:prstGeom prst="rect">
            <a:avLst/>
          </a:prstGeom>
          <a:solidFill>
            <a:srgbClr val="FBE5D6"/>
          </a:solidFill>
          <a:ln w="1651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01784" y="2331720"/>
            <a:ext cx="603504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✕ 생략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32136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424160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10652760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0844784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11073384" y="1920240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1265408" y="2249424"/>
            <a:ext cx="0" cy="539496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7909560" y="2560320"/>
            <a:ext cx="210312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재사용 토큰 9/12만 적재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2788920"/>
            <a:ext cx="5257800" cy="896112"/>
          </a:xfrm>
          <a:prstGeom prst="rect">
            <a:avLst/>
          </a:prstGeom>
          <a:solidFill>
            <a:srgbClr val="EEF5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59" y="2798064"/>
            <a:ext cx="365760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HBM (서빙 시 상주)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46520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867144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287768" y="3090672"/>
            <a:ext cx="384048" cy="329184"/>
          </a:xfrm>
          <a:prstGeom prst="rect">
            <a:avLst/>
          </a:prstGeom>
          <a:solidFill>
            <a:srgbClr val="FFFFFF"/>
          </a:solidFill>
          <a:ln w="16510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빈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08392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129016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549640" y="3090672"/>
            <a:ext cx="384048" cy="329184"/>
          </a:xfrm>
          <a:prstGeom prst="rect">
            <a:avLst/>
          </a:prstGeom>
          <a:solidFill>
            <a:srgbClr val="FFFFFF"/>
          </a:solidFill>
          <a:ln w="16510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70264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390888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811512" y="3090672"/>
            <a:ext cx="384048" cy="329184"/>
          </a:xfrm>
          <a:prstGeom prst="rect">
            <a:avLst/>
          </a:prstGeom>
          <a:solidFill>
            <a:srgbClr val="FFFFFF"/>
          </a:solidFill>
          <a:ln w="16510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빈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232136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52760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073384" y="3090672"/>
            <a:ext cx="384048" cy="32918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15400" y="2798064"/>
            <a:ext cx="25603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슬롯만 확보 (기존 KV 없음)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223759" y="3886200"/>
            <a:ext cx="3108960" cy="384048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 Recomputer (DP2)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 토큰의 새 KV를 해당 슬롯에 기록</a:t>
            </a:r>
          </a:p>
        </p:txBody>
      </p:sp>
      <p:cxnSp>
        <p:nvCxnSpPr>
          <p:cNvPr id="106" name="Connector 105"/>
          <p:cNvCxnSpPr/>
          <p:nvPr/>
        </p:nvCxnSpPr>
        <p:spPr>
          <a:xfrm flipV="1">
            <a:off x="7479792" y="3419856"/>
            <a:ext cx="0" cy="466344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741664" y="3419856"/>
            <a:ext cx="0" cy="466344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03536" y="3419856"/>
            <a:ext cx="0" cy="466344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4526280" y="3776472"/>
            <a:ext cx="1463040" cy="173736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재사용 토큰 (공통)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26280" y="3977639"/>
            <a:ext cx="1463040" cy="173736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 대상 (2안 위치 정보)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26280" y="4178808"/>
            <a:ext cx="1463040" cy="173736"/>
          </a:xfrm>
          <a:prstGeom prst="rect">
            <a:avLst/>
          </a:prstGeom>
          <a:solidFill>
            <a:srgbClr val="FFFFFF"/>
          </a:solidFill>
          <a:ln w="10160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제안: 빈 슬롯</a:t>
            </a: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246888" y="4434840"/>
          <a:ext cx="11750040" cy="15179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926080"/>
                <a:gridCol w="608076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보완 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보완 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적재량 · 적재 시간 (QA1)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 토큰 전체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(1−ρ)·L 토큰, ρ = 재계산 비율 (가정 0.15 → 최대 15% 감소) [C]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정상 상태 상주 KV (QA2)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 토큰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 토큰 — 변화 없음 (재계산 토큰의 새 KV가 슬롯을 채움)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적재 시점 피크 (QA2)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KV 복사본과 새 KV 버퍼가 겹치면 ρ·L 중복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 제거 (덮어쓰기 방식이 아닐 때만 해당, 구현 의존) [C]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(QA5)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정보가 stale해도 전체를 적재하므로 영향 작음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stale 위치 정보면 필요한 KV 누락 가능 → version · validity 검사 필수 [제안]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TextBox 112"/>
          <p:cNvSpPr txBox="1"/>
          <p:nvPr/>
        </p:nvSpPr>
        <p:spPr>
          <a:xfrm>
            <a:off x="246888" y="6172200"/>
            <a:ext cx="1170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전제 : ① 재계산 위치가 layer 공통이고 적재 블록 경계에 정렬되어야 적재 생략 가능  ② 효과는 [C] 논증이며 미구현 · 미측정 (수치 주장 없음)  ③ 12 토큰, 25%는 그림용 예시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5707</Words>
  <Application>Microsoft Office PowerPoint</Application>
  <PresentationFormat>와이드스크린</PresentationFormat>
  <Paragraphs>852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DP4. 요청 조율 구조 (Orchestration) - 배경</vt:lpstr>
      <vt:lpstr>DP4. 여러 서버를 묶는 요청 조율 구조 - 배경</vt:lpstr>
      <vt:lpstr>DP4. 요청 조율 계층 (Orchestration) 설계 -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배경</dc:title>
  <dc:creator>Myeong Woo Kim</dc:creator>
  <cp:lastModifiedBy>Myeong Woo Kim</cp:lastModifiedBy>
  <cp:revision>1</cp:revision>
  <dcterms:created xsi:type="dcterms:W3CDTF">2026-10-10T04:25:41Z</dcterms:created>
  <dcterms:modified xsi:type="dcterms:W3CDTF">2026-10-10T04:26:54Z</dcterms:modified>
</cp:coreProperties>
</file>
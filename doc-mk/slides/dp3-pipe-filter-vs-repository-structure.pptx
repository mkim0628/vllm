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7"/>
    <p:sldId id="257" r:id="rId8"/>
    <p:sldId id="258" r:id="rId9"/>
    <p:sldId id="259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FDB59D-6851-4087-A360-1717CD539FDC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D42F9D-A517-472D-B53C-0A9BC49CDB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0016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DP3는 토큰 선정 알고리즘이 아니라, 재계산 대상 결정의 시점·정보·결과 상태 소유를 정하는 구조 설계다.</a:t>
            </a:r>
          </a:p>
          <a:p>
            <a:r>
              <a:t>근거: 점수 산정과 토큰 선택은 두 안에서 같은 모듈이라 변별력이 없고, 달라지는 것은 결정 시점과 모듈 간 결합 방식(Pipe vs Repository)이다.</a:t>
            </a:r>
          </a:p>
          <a:p>
            <a:r>
              <a:t>의미: 알고리즘은 정책 모듈로 격리하고 구조 대안은 단일 변수로 비교한다. Incremental Build, Materialized View는 이해를 돕는 비유이며 근거가 아니다.</a:t>
            </a:r>
          </a:p>
          <a:p>
            <a:r>
              <a:t>출처: 사용자 제공 DP3 PPT 1~2쪽, doc-mk/DP3/dp3-kv-compression-reuse-structure-draft.md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색으로 구분했다. 회색은 두 안이 공유하는 모듈·연결, 파랑은 1안 고유(Pipe), 주황은 2안 고유(사전 분석, Repository write/read)다.</a:t>
            </a:r>
          </a:p>
          <a:p>
            <a:r>
              <a:t>근거: 모듈과 처리 순서는 같고, 2안은 같은 체인을 사전/서빙 두 시점으로 끊어 그 사이에 영속 저장소를 둔다.</a:t>
            </a:r>
          </a:p>
          <a:p>
            <a:r>
              <a:t>의미: 차이는 흐름 순서가 아니라 connector(Pipe vs 공유 Repository)와 결정 시점이다. version · validity는 원본에 없는 제안 요소다.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처리 순서는 같지만 Pipe는 요청 범위에서 소멸하고 Repository는 영속이라 생산 1회 · 소비 N회와 서빙 경로 분리가 가능하다.</a:t>
            </a:r>
          </a:p>
          <a:p>
            <a:r>
              <a:t>근거: 1안은 요청마다 분석 3단계를 반복하고, 2안은 사전에 1회 수행해 서빙에는 Selective Recomputer만 남는다.</a:t>
            </a:r>
          </a:p>
          <a:p>
            <a:r>
              <a:t>의미: 반대로 1안은 실제 Query 반영과 파생 상태 없음이 장점이다. ④의 새 소비자 추가는 제안이며 검증되지 않았다.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1안(Pipe-and-Filter)과 대치되는 스타일은 Data-Centered 계열의 Repository다. Batch-Sequential은 P&amp;F와 같은 Data-Flow 계열이라 사전 분석부의 하위 구조로 둔다.</a:t>
            </a:r>
          </a:p>
          <a:p>
            <a:r>
              <a:t>근거: 두 안은 모듈이 같고 결합 방식(Pipe vs 공유 저장소)과 결정 시점만 다르다. Blackboard는 단계 순서가 고정된 이 문제에는 과설계다.</a:t>
            </a:r>
          </a:p>
          <a:p>
            <a:r>
              <a:t>의미: Repository를 택하면 파생 상태의 정합성 비용(version/validity)이 생긴다. 이 비용을 슬라이드에 명시해야 선택의 감수 불이익이 드러난다.</a:t>
            </a:r>
          </a:p>
          <a:p>
            <a:r>
              <a:t>스타일 분류는 Shaw &amp; Garlan의 Data-Flow / Data-Centered 구분을 따랐다.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766F1F-6FFF-438E-978E-7F50C6A9E6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DAFAFD0-1F82-4A9B-B3F6-99224804EA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A504BB-6AAA-4233-A0A1-1975C91FE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792343-8259-4E59-9F61-74C15CCDD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CB83A2-9524-4B3A-B3C6-D4F79B0E8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031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E669E3-A266-4BEB-8BBA-CE42A5B66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E1CA8F-9445-4D8B-A0A0-34714CBAC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2E6160-1C4D-4559-89D9-A35150A35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2329A2-229C-4CBB-AC58-12A0F0ACA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41D84D-6A9B-449E-843F-67D8BA66F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25964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76C279-BE8E-4A58-8F27-8C25650DE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392A46-7FFF-4D6F-AA6E-D59A61223D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6685FA-9578-48E3-9E09-D095C1DFA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A1F830-4CCD-4D6C-BCCB-003C05CFE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0742D8-AAC9-4467-8546-CC9D64B59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3598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4B4E56-0A82-416C-92D9-654BF5C9D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B22FE0-D66C-416D-A771-4B8A78E1DB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0BDFEE8-FEDA-40B6-AD92-F654C3C947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7C12402-8087-4755-8681-5AB4A554C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6EB7B6-16FD-43F7-AD81-6AE053312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884AA5-2DBF-4023-90B7-AAC1D1320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8268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92D15B-0C0F-4390-875E-1590EE8F0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B713CE4-54D4-472C-AF86-5304C461B5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EF3848C-49A2-46AD-B69D-6770C2A443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0F7C98F-4810-4F56-8535-9FA72E9AD6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491211-BEE3-4FEF-980E-6C26F74438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E8F1097-25B6-4C35-9EDA-0A1B99A7A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1967B94-09AA-40C9-A6E7-C49079CAA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44706B7-77D3-4F97-B3C3-87F6F63E4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5102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E3900A-A75F-4F93-AE6D-F58DCEBA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9FA1503-70FC-402A-9BEA-A7A4CBD5F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D8CE03B-7743-434D-93C2-5D3CF40D6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3E11778-A95C-403D-A5C5-03429AA1E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8204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79B79F9-D3BF-4383-9A2B-6720ED16C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791CDC1-1BD2-4CEC-AF70-F1035E05E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6BE70D-7B66-4208-B021-AB8D7CB4D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36938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71A4DB-6070-458A-B403-896204387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EFAD1F-018C-4CD8-A320-CCA387166D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90798B4-57C3-44B4-A8C2-A1110A1433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6382C16-FF45-4304-A19A-EF629B474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56C59-F03D-40C5-A062-6C1D08EA6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B5D1989-7D2D-483E-8B76-675B71A79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4681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80EA15-1B37-4FC8-A267-BD814C73A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A6C1A13-FB13-43ED-9A16-DE43BD615F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C750587-5197-4793-84A9-1FCE8E0FEC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A05951-2B75-4A9C-9D31-DA984C7D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3DFFFB-CB82-44B7-ADD5-6C06FFCA9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C3ACB5-7C5F-4763-A545-1E091D9CF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381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8F7E99-E266-4394-AC3C-C81C0AA01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B903C54-E094-4214-B922-CFC0A75613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66B284-4B0D-4115-B089-AA26C33B4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850256-F467-447D-9263-C7183DD65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3367B8-E91F-4EFF-904D-A125138D3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184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E4CC87E-C30F-4874-9B17-340763F05A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237634-FD61-4D11-A5FB-707E825ADF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D80697-7563-4134-9650-BD8DE52F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795852-3BEA-4032-BF3B-1DBB06E39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E3DC6E-6854-4E11-B4EC-45C9A22F9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05289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4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640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0AD665B-95C3-4399-9C37-9DABDB1E5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6DC265-2495-45CB-94D5-2A0095D35D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E49F97-8660-4B82-B92F-E281762879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8CD36A-B7E4-4EBB-BD2C-7A89014F80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89CF50-AAA0-498B-83B2-83B855385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890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DP3. KV 캐시 재사용 구조 - 배경 (구조설계 관점)</a:t>
            </a:r>
          </a:p>
        </p:txBody>
      </p:sp>
      <p:sp>
        <p:nvSpPr>
          <p:cNvPr id="3" name="Chevron 2"/>
          <p:cNvSpPr/>
          <p:nvPr/>
        </p:nvSpPr>
        <p:spPr>
          <a:xfrm>
            <a:off x="7522768" y="137160"/>
            <a:ext cx="1031443" cy="357530"/>
          </a:xfrm>
          <a:prstGeom prst="chevron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과제 소개</a:t>
            </a:r>
          </a:p>
        </p:txBody>
      </p:sp>
      <p:sp>
        <p:nvSpPr>
          <p:cNvPr id="4" name="Chevron 3"/>
          <p:cNvSpPr/>
          <p:nvPr/>
        </p:nvSpPr>
        <p:spPr>
          <a:xfrm>
            <a:off x="8415223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5" name="Chevron 4"/>
          <p:cNvSpPr/>
          <p:nvPr/>
        </p:nvSpPr>
        <p:spPr>
          <a:xfrm>
            <a:off x="9314078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6" name="Chevron 5"/>
          <p:cNvSpPr/>
          <p:nvPr/>
        </p:nvSpPr>
        <p:spPr>
          <a:xfrm>
            <a:off x="10206532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구현/검증</a:t>
            </a:r>
          </a:p>
        </p:txBody>
      </p:sp>
      <p:sp>
        <p:nvSpPr>
          <p:cNvPr id="7" name="Chevron 6"/>
          <p:cNvSpPr/>
          <p:nvPr/>
        </p:nvSpPr>
        <p:spPr>
          <a:xfrm>
            <a:off x="11105388" y="137160"/>
            <a:ext cx="892454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7529169" y="137160"/>
            <a:ext cx="212140" cy="35753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89359" y="137160"/>
            <a:ext cx="212140" cy="3575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" y="667512"/>
            <a:ext cx="115214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- 독립 생성된 Context KV(파생 데이터)를 재사용하면 Prefill 연산을 생략하지만, 조각 간 의존성이 유실되어 정확도가 저하됨 → 일부 토큰의 부분 재계산(Partial Refresh)이 필요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- 구조설계 관점의 문제는 '어떤 토큰이 중요한가(알고리즘)'가 아니라, 이 갱신 대상 결정(Refresh Decision)을 누가 · 언제 · 어떤 정보로 수행하고 그 결과 상태를 어디에 둘 것인가임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- 점수 산정 · 토큰 선택 방식은 교체 가능한 정책(Policy) 모듈로 고정하고, 두 설계안은 결정 시점 · 결합 방식 · 상태 소유만 달리해 비교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2057400"/>
            <a:ext cx="11430000" cy="2697480"/>
          </a:xfrm>
          <a:prstGeom prst="rect">
            <a:avLst/>
          </a:prstGeom>
          <a:noFill/>
          <a:ln w="1270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85032" y="1901952"/>
            <a:ext cx="4754880" cy="31089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문제 치환 : 알고리즘 표현 → 구조설계 표현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2286000"/>
          <a:ext cx="10927079" cy="2231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17520"/>
                <a:gridCol w="3931920"/>
                <a:gridCol w="3977639"/>
              </a:tblGrid>
              <a:tr h="310896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도메인(알고리즘) 표현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15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구조설계 표현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15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개념 · 관련 DP/QA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KV 재사용 + 선택적 재계산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파생 산출물 재사용 + 부분 갱신 (Partial Refresh)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Incremental Build / Materialized View 와 같은 문제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재계산 토큰 선정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갱신 대상 결정(Refresh Decision)의 책임 배치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시점(Binding Time) · 정보 범위 → QA1 TTFT, QA5 정확도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 Query · 재계산 위치 정보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결과 메타데이터 = 파생 상태(Derived State)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소유 · 수명 · 정합성(Staleness) → QA2 메모리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KV 저장 / 연산 자원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컴포넌트 경계 인터페이스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 위치 = DP1, 실행 자원 = DP2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Attention score · top-k 방식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교체 가능한 정책 (Strategy)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변동점 — 두 안에서 동일, 비교 대상 아님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Right Arrow 13"/>
          <p:cNvSpPr/>
          <p:nvPr/>
        </p:nvSpPr>
        <p:spPr>
          <a:xfrm>
            <a:off x="283464" y="5029200"/>
            <a:ext cx="411480" cy="274320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010912"/>
            <a:ext cx="1115568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66FF"/>
                </a:solidFill>
                <a:latin typeface="맑은 고딕"/>
                <a:ea typeface="맑은 고딕"/>
                <a:cs typeface="맑은 고딕"/>
              </a:rPr>
              <a:t>재사용 KV 위에서 재계산 대상 결정을 누가 · 언제 · 어떤 정보로 수행하고, 결과 상태를 어디에 둘 것인가에 대한 구조 설계 필요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340096"/>
            <a:ext cx="11430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설계 쟁점 1. 결정 시점 · 정보 : 요청 시점의 실제 Query (Online) vs 사전의 대표 Query (Offline)  —  TTFT(QA1) vs 정확도(QA5)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설계 쟁점 2. 결합 방식 · 상태 소유 : 데이터 스트림 전달 (Pipe-and-Filter) vs 공유 저장소 경유 (Repository)  —  정합성 · 메모리(QA2)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6583680"/>
            <a:ext cx="621792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DP3. KV 캐시 재사용 구조 - 설계</a:t>
            </a:r>
          </a:p>
        </p:txBody>
      </p:sp>
      <p:sp>
        <p:nvSpPr>
          <p:cNvPr id="3" name="Chevron 2"/>
          <p:cNvSpPr/>
          <p:nvPr/>
        </p:nvSpPr>
        <p:spPr>
          <a:xfrm>
            <a:off x="7522768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과제 소개</a:t>
            </a:r>
          </a:p>
        </p:txBody>
      </p:sp>
      <p:sp>
        <p:nvSpPr>
          <p:cNvPr id="4" name="Chevron 3"/>
          <p:cNvSpPr/>
          <p:nvPr/>
        </p:nvSpPr>
        <p:spPr>
          <a:xfrm>
            <a:off x="8415223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5" name="Chevron 4"/>
          <p:cNvSpPr/>
          <p:nvPr/>
        </p:nvSpPr>
        <p:spPr>
          <a:xfrm>
            <a:off x="9314078" y="137160"/>
            <a:ext cx="1031443" cy="357530"/>
          </a:xfrm>
          <a:prstGeom prst="chevron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6" name="Chevron 5"/>
          <p:cNvSpPr/>
          <p:nvPr/>
        </p:nvSpPr>
        <p:spPr>
          <a:xfrm>
            <a:off x="10206532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구현/검증</a:t>
            </a:r>
          </a:p>
        </p:txBody>
      </p:sp>
      <p:sp>
        <p:nvSpPr>
          <p:cNvPr id="7" name="Chevron 6"/>
          <p:cNvSpPr/>
          <p:nvPr/>
        </p:nvSpPr>
        <p:spPr>
          <a:xfrm>
            <a:off x="11105388" y="137160"/>
            <a:ext cx="892454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7529169" y="137160"/>
            <a:ext cx="212140" cy="3575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89359" y="137160"/>
            <a:ext cx="212140" cy="3575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" y="621792"/>
            <a:ext cx="75895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재계산 토큰 선정(Refresh Decision)을 어떤 구조로 구성할 것인가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46536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96728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46919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97111" y="630936"/>
            <a:ext cx="713232" cy="320040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6888" y="1033271"/>
            <a:ext cx="1280160" cy="201168"/>
          </a:xfrm>
          <a:prstGeom prst="rect">
            <a:avLst/>
          </a:prstGeom>
          <a:solidFill>
            <a:srgbClr val="F0F1F3"/>
          </a:solidFill>
          <a:ln w="1016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공통 모듈 · 연결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18488" y="1033271"/>
            <a:ext cx="1280160" cy="201168"/>
          </a:xfrm>
          <a:prstGeom prst="rect">
            <a:avLst/>
          </a:prstGeom>
          <a:solidFill>
            <a:srgbClr val="DEEBF7"/>
          </a:solidFill>
          <a:ln w="1016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1안 고유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90088" y="1033271"/>
            <a:ext cx="1280160" cy="201168"/>
          </a:xfrm>
          <a:prstGeom prst="rect">
            <a:avLst/>
          </a:prstGeom>
          <a:solidFill>
            <a:srgbClr val="FBE5D6"/>
          </a:solidFill>
          <a:ln w="1016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2안 고유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61688" y="1033271"/>
            <a:ext cx="1280160" cy="20116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 (신규 가정)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6888" y="1325880"/>
            <a:ext cx="914400" cy="1691640"/>
          </a:xfrm>
          <a:prstGeom prst="rect">
            <a:avLst/>
          </a:prstGeom>
          <a:solidFill>
            <a:srgbClr val="2E75B6"/>
          </a:solidFill>
          <a:ln w="1016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1안</a:t>
            </a:r>
          </a:p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Query Aware</a:t>
            </a:r>
          </a:p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(Online)</a:t>
            </a:r>
          </a:p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Pipe-and-Filter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34440" y="1325880"/>
            <a:ext cx="10104120" cy="1097280"/>
          </a:xfrm>
          <a:prstGeom prst="rect">
            <a:avLst/>
          </a:prstGeom>
          <a:solidFill>
            <a:srgbClr val="EEF5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80160" y="1335024"/>
            <a:ext cx="73152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서빙 경로 (요청마다 실행, 동기) — Pipe : 요청 범위에서만 존재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" y="1691640"/>
            <a:ext cx="1188720" cy="54864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User Query Manager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실제 Query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63239" y="1691640"/>
            <a:ext cx="1188720" cy="54864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 Manager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 × KV Attention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00600" y="1691640"/>
            <a:ext cx="1188720" cy="54864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Sampler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점수로 토큰 선정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59" y="1691640"/>
            <a:ext cx="1188720" cy="54864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 Token Selector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 토큰 선정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19" y="1691640"/>
            <a:ext cx="1188720" cy="54864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 Recomputer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선정 토큰만 재계산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12680" y="1691640"/>
            <a:ext cx="1188720" cy="54864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Decode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응답 생성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98280" y="1600200"/>
            <a:ext cx="384048" cy="182880"/>
          </a:xfrm>
          <a:prstGeom prst="rect">
            <a:avLst/>
          </a:prstGeom>
          <a:solidFill>
            <a:srgbClr val="404040"/>
          </a:solidFill>
          <a:ln w="1016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514600" y="2057400"/>
            <a:ext cx="548639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468880" y="1737360"/>
            <a:ext cx="6400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실제 Query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251959" y="2057400"/>
            <a:ext cx="548641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206240" y="1737360"/>
            <a:ext cx="6400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attention score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989320" y="2057400"/>
            <a:ext cx="548639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943600" y="1737360"/>
            <a:ext cx="6400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후보 순위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726679" y="2057400"/>
            <a:ext cx="548640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680959" y="1737360"/>
            <a:ext cx="6400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재계산 토큰 집합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464040" y="2057400"/>
            <a:ext cx="548640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418319" y="1737360"/>
            <a:ext cx="6400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Blended KV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63240" y="2697480"/>
            <a:ext cx="6400800" cy="274320"/>
          </a:xfrm>
          <a:prstGeom prst="rect">
            <a:avLst/>
          </a:prstGeom>
          <a:solidFill>
            <a:srgbClr val="F0F1F3"/>
          </a:solidFill>
          <a:ln w="1016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Store (DP1) — Context KV 1 · 2  (read-only)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0" y="2606040"/>
            <a:ext cx="384048" cy="182880"/>
          </a:xfrm>
          <a:prstGeom prst="rect">
            <a:avLst/>
          </a:prstGeom>
          <a:solidFill>
            <a:srgbClr val="404040"/>
          </a:solidFill>
          <a:ln w="1016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DP1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3657600" y="2240280"/>
            <a:ext cx="0" cy="457200"/>
          </a:xfrm>
          <a:prstGeom prst="line">
            <a:avLst/>
          </a:prstGeom>
          <a:ln w="15240">
            <a:solidFill>
              <a:srgbClr val="7F7F7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8869680" y="2240280"/>
            <a:ext cx="0" cy="457200"/>
          </a:xfrm>
          <a:prstGeom prst="line">
            <a:avLst/>
          </a:prstGeom>
          <a:ln w="15240">
            <a:solidFill>
              <a:srgbClr val="7F7F7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703320" y="2395728"/>
            <a:ext cx="54864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read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15400" y="2395728"/>
            <a:ext cx="54864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read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6888" y="3154680"/>
            <a:ext cx="914400" cy="3246120"/>
          </a:xfrm>
          <a:prstGeom prst="rect">
            <a:avLst/>
          </a:prstGeom>
          <a:solidFill>
            <a:srgbClr val="C55A11"/>
          </a:solidFill>
          <a:ln w="1016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2안</a:t>
            </a:r>
          </a:p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Query Agnostic</a:t>
            </a:r>
          </a:p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(Offline)</a:t>
            </a:r>
          </a:p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Repository</a:t>
            </a:r>
          </a:p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+ 사전 Batch 분석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34440" y="3154680"/>
            <a:ext cx="6629400" cy="1188720"/>
          </a:xfrm>
          <a:prstGeom prst="rect">
            <a:avLst/>
          </a:prstGeom>
          <a:solidFill>
            <a:srgbClr val="FEF4EC"/>
          </a:solidFill>
          <a:ln w="1905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80160" y="3163824"/>
            <a:ext cx="65836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 분석 (Offline, 1회 · KV 갱신 시) — Batch-Sequential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25880" y="3566160"/>
            <a:ext cx="1188720" cy="548640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 Sampler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W/L별 대표 Query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63239" y="3566160"/>
            <a:ext cx="1188720" cy="54864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 Manager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Query × KV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00600" y="3566160"/>
            <a:ext cx="1188720" cy="54864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Sampler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점수로 토큰 선정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37959" y="3566160"/>
            <a:ext cx="1188720" cy="54864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 Token Selector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 위치 선정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514600" y="3840480"/>
            <a:ext cx="548639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2468880" y="3584448"/>
            <a:ext cx="6400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대표 Query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251959" y="3840480"/>
            <a:ext cx="54864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4206240" y="3584448"/>
            <a:ext cx="6400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score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989320" y="3840480"/>
            <a:ext cx="548639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943600" y="3584448"/>
            <a:ext cx="6400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후보 순위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34440" y="4663440"/>
            <a:ext cx="10104120" cy="73152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80160" y="4672584"/>
            <a:ext cx="73152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KV Store (DP1) = Repository : 공유 · 영속 · 키로 조회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325880" y="4937760"/>
            <a:ext cx="1188720" cy="38404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W/L 대표 Query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63" name="Rectangle 62"/>
          <p:cNvSpPr/>
          <p:nvPr/>
        </p:nvSpPr>
        <p:spPr>
          <a:xfrm>
            <a:off x="3063239" y="4937760"/>
            <a:ext cx="1188720" cy="38404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Context KV 1 · 2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4800600" y="4937760"/>
            <a:ext cx="1188720" cy="38404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version · validity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37959" y="4937760"/>
            <a:ext cx="1188720" cy="38404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KV별 재계산 위치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920240" y="4114800"/>
            <a:ext cx="0" cy="82296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965960" y="4434840"/>
            <a:ext cx="82296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132320" y="4114800"/>
            <a:ext cx="0" cy="82296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178040" y="4434840"/>
            <a:ext cx="82296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</a:t>
            </a:r>
          </a:p>
        </p:txBody>
      </p:sp>
      <p:cxnSp>
        <p:nvCxnSpPr>
          <p:cNvPr id="70" name="Connector 69"/>
          <p:cNvCxnSpPr/>
          <p:nvPr/>
        </p:nvCxnSpPr>
        <p:spPr>
          <a:xfrm flipV="1">
            <a:off x="3657599" y="4114800"/>
            <a:ext cx="0" cy="822960"/>
          </a:xfrm>
          <a:prstGeom prst="line">
            <a:avLst/>
          </a:prstGeom>
          <a:ln w="15240">
            <a:solidFill>
              <a:srgbClr val="7F7F7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703320" y="4434840"/>
            <a:ext cx="82296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read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881360" y="4690872"/>
            <a:ext cx="384048" cy="182880"/>
          </a:xfrm>
          <a:prstGeom prst="rect">
            <a:avLst/>
          </a:prstGeom>
          <a:solidFill>
            <a:srgbClr val="404040"/>
          </a:solidFill>
          <a:ln w="1016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446520" y="5559552"/>
            <a:ext cx="4892040" cy="841248"/>
          </a:xfrm>
          <a:prstGeom prst="rect">
            <a:avLst/>
          </a:prstGeom>
          <a:solidFill>
            <a:srgbClr val="FEF4EC"/>
          </a:solidFill>
          <a:ln w="1905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92240" y="5568696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서빙 경로 (요청 1…N마다, 동기)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37959" y="5833872"/>
            <a:ext cx="1188720" cy="45720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User Query Manager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실제 Query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75319" y="5833872"/>
            <a:ext cx="1188720" cy="45720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 Recomputer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 위치 조회 후 재계산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012680" y="5833872"/>
            <a:ext cx="1188720" cy="45720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Decode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응답 생성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098280" y="5742432"/>
            <a:ext cx="384048" cy="182880"/>
          </a:xfrm>
          <a:prstGeom prst="rect">
            <a:avLst/>
          </a:prstGeom>
          <a:solidFill>
            <a:srgbClr val="404040"/>
          </a:solidFill>
          <a:ln w="1016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DP2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7726679" y="6062472"/>
            <a:ext cx="548640" cy="0"/>
          </a:xfrm>
          <a:prstGeom prst="line">
            <a:avLst/>
          </a:prstGeom>
          <a:ln w="19050">
            <a:solidFill>
              <a:srgbClr val="7F7F7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464040" y="6062472"/>
            <a:ext cx="548640" cy="0"/>
          </a:xfrm>
          <a:prstGeom prst="line">
            <a:avLst/>
          </a:prstGeom>
          <a:ln w="19050">
            <a:solidFill>
              <a:srgbClr val="7F7F7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8869680" y="5394960"/>
            <a:ext cx="0" cy="438912"/>
          </a:xfrm>
          <a:prstGeom prst="line">
            <a:avLst/>
          </a:prstGeom>
          <a:ln w="2286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8961119" y="5029200"/>
            <a:ext cx="237744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700" b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(동기): 재계산 위치 · Context KV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1280160" y="5623560"/>
            <a:ext cx="320040" cy="228600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45920" y="5532120"/>
            <a:ext cx="47091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66FF"/>
                </a:solidFill>
                <a:latin typeface="맑은 고딕"/>
                <a:ea typeface="맑은 고딕"/>
                <a:cs typeface="맑은 고딕"/>
              </a:rPr>
              <a:t>흐름 순서(QS/UQM → AM → KVS → RTS → SR)는 두 안이 동일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달라지는 것 ① 필터를 잇는 connector: Pipe → 공유 Repository  ② 실행 시점: 요청마다 → 사전 1회 + 서빙 시 조회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349240" y="6583680"/>
            <a:ext cx="621792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DP3. KV 캐시 재사용 구조 - 설계 (흐름은 같고 무엇이 다른가)</a:t>
            </a:r>
          </a:p>
        </p:txBody>
      </p:sp>
      <p:sp>
        <p:nvSpPr>
          <p:cNvPr id="3" name="Chevron 2"/>
          <p:cNvSpPr/>
          <p:nvPr/>
        </p:nvSpPr>
        <p:spPr>
          <a:xfrm>
            <a:off x="7522768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과제 소개</a:t>
            </a:r>
          </a:p>
        </p:txBody>
      </p:sp>
      <p:sp>
        <p:nvSpPr>
          <p:cNvPr id="4" name="Chevron 3"/>
          <p:cNvSpPr/>
          <p:nvPr/>
        </p:nvSpPr>
        <p:spPr>
          <a:xfrm>
            <a:off x="8415223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5" name="Chevron 4"/>
          <p:cNvSpPr/>
          <p:nvPr/>
        </p:nvSpPr>
        <p:spPr>
          <a:xfrm>
            <a:off x="9314078" y="137160"/>
            <a:ext cx="1031443" cy="357530"/>
          </a:xfrm>
          <a:prstGeom prst="chevron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6" name="Chevron 5"/>
          <p:cNvSpPr/>
          <p:nvPr/>
        </p:nvSpPr>
        <p:spPr>
          <a:xfrm>
            <a:off x="10206532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구현/검증</a:t>
            </a:r>
          </a:p>
        </p:txBody>
      </p:sp>
      <p:sp>
        <p:nvSpPr>
          <p:cNvPr id="7" name="Chevron 6"/>
          <p:cNvSpPr/>
          <p:nvPr/>
        </p:nvSpPr>
        <p:spPr>
          <a:xfrm>
            <a:off x="11105388" y="137160"/>
            <a:ext cx="892454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7529169" y="137160"/>
            <a:ext cx="212140" cy="3575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89359" y="137160"/>
            <a:ext cx="212140" cy="3575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" y="621792"/>
            <a:ext cx="75895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흐름 순서는 같다 — 달라지는 것은 Pipe의 수명과 실행 시점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46536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96728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46919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97111" y="630936"/>
            <a:ext cx="713232" cy="320040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6888" y="1097280"/>
            <a:ext cx="5760720" cy="310896"/>
          </a:xfrm>
          <a:prstGeom prst="rect">
            <a:avLst/>
          </a:prstGeom>
          <a:solidFill>
            <a:srgbClr val="F2F2F2"/>
          </a:solidFill>
          <a:ln w="1016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(1안) Pipe-and-Filter </a:t>
            </a:r>
            <a:r>
              <a:rPr sz="1100" b="1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요청마다 전체 체인 실행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9632" y="1097280"/>
            <a:ext cx="5760720" cy="310896"/>
          </a:xfrm>
          <a:prstGeom prst="rect">
            <a:avLst/>
          </a:prstGeom>
          <a:solidFill>
            <a:srgbClr val="F2F2F2"/>
          </a:solidFill>
          <a:ln w="1016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(2안) Repository </a:t>
            </a:r>
            <a:r>
              <a:rPr sz="11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분석 1회 + 요청마다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16459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R1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600200"/>
            <a:ext cx="868680" cy="36576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645919" y="1783080"/>
            <a:ext cx="228600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1874519" y="1600200"/>
            <a:ext cx="868680" cy="36576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743200" y="1783080"/>
            <a:ext cx="228600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2971800" y="1600200"/>
            <a:ext cx="868680" cy="36576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840480" y="1783080"/>
            <a:ext cx="228600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4069079" y="1600200"/>
            <a:ext cx="868680" cy="36576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21031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R2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2057400"/>
            <a:ext cx="868680" cy="36576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AM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645919" y="2240280"/>
            <a:ext cx="228600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1874519" y="2057400"/>
            <a:ext cx="868680" cy="36576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743200" y="2240280"/>
            <a:ext cx="228600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2971800" y="2057400"/>
            <a:ext cx="868680" cy="36576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RTS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840480" y="2240280"/>
            <a:ext cx="228600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4069079" y="2057400"/>
            <a:ext cx="868680" cy="36576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25603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R3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2514600"/>
            <a:ext cx="868680" cy="36576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AM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645919" y="2697480"/>
            <a:ext cx="228600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874519" y="2514600"/>
            <a:ext cx="868680" cy="36576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743200" y="2697480"/>
            <a:ext cx="228600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971800" y="2514600"/>
            <a:ext cx="868680" cy="36576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RTS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840480" y="2697480"/>
            <a:ext cx="228600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4069079" y="2514600"/>
            <a:ext cx="868680" cy="36576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1691640"/>
            <a:ext cx="10058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 분석 3단계 반복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30175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Pipe : 요청 범위에서만 존재 · 순차 · 1:1, 요청이 끝나면 소멸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Query를 매번 반영 → 정확도 유리, 파생 상태 없음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1645920"/>
            <a:ext cx="502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20840" y="1600200"/>
            <a:ext cx="822960" cy="365760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543800" y="1783080"/>
            <a:ext cx="228600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7772400" y="1600200"/>
            <a:ext cx="822960" cy="36576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AM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595360" y="1783080"/>
            <a:ext cx="228600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8823959" y="1600200"/>
            <a:ext cx="822960" cy="36576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KVS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646919" y="1783080"/>
            <a:ext cx="228600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9875519" y="1600200"/>
            <a:ext cx="822960" cy="36576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45352" y="2240280"/>
            <a:ext cx="5669280" cy="347472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: 재계산 위치 (영속, 키로 조회)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0287000" y="1965960"/>
            <a:ext cx="0" cy="27432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0332720" y="1965960"/>
            <a:ext cx="1371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720840" y="2834640"/>
            <a:ext cx="914400" cy="310896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R1 : SR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7178040" y="2587752"/>
            <a:ext cx="0" cy="246888"/>
          </a:xfrm>
          <a:prstGeom prst="line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7909560" y="2834640"/>
            <a:ext cx="914400" cy="310896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R2 : SR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8366760" y="2587752"/>
            <a:ext cx="0" cy="246888"/>
          </a:xfrm>
          <a:prstGeom prst="line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9098280" y="2834640"/>
            <a:ext cx="914400" cy="310896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R3 : SR</a:t>
            </a:r>
          </a:p>
        </p:txBody>
      </p:sp>
      <p:cxnSp>
        <p:nvCxnSpPr>
          <p:cNvPr id="61" name="Connector 60"/>
          <p:cNvCxnSpPr/>
          <p:nvPr/>
        </p:nvCxnSpPr>
        <p:spPr>
          <a:xfrm flipV="1">
            <a:off x="9555480" y="2587752"/>
            <a:ext cx="0" cy="246888"/>
          </a:xfrm>
          <a:prstGeom prst="line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7223760" y="2615184"/>
            <a:ext cx="18288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 (동기)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2743200"/>
            <a:ext cx="1645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 경로에는 SR만 남음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대표 Query 기반 → 정확도 근사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version · validity 필요 [제안]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246888" y="4114800"/>
          <a:ext cx="11750039" cy="2194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68880"/>
                <a:gridCol w="3749039"/>
                <a:gridCol w="4526280"/>
                <a:gridCol w="1005840"/>
              </a:tblGrid>
              <a:tr h="274320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Pipe로는 어려운 것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1안 Pipe-and-Filter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2안 Repository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QA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요청 간 재사용 (1회 생산 · N회 소비)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Pipe는 요청 범위에서만 존재 → 요청마다 attention · 선정 재실행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재계산 위치를 1회 write, 모든 요청이 read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QA1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서빙 경로에서 분석 필터 제거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AM · KVS · RTS가 모두 서빙 경로에 직렬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3개 필터가 사전으로 이동, 서빙에는 SR만 남음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QA1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 키 기반 조회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순차 스트림이라 소비 순서가 고정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KV · 워크로드 키로 조회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QA1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④ 생산 · 소비의 독립 실행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생산자와 소비자가 같은 실행 흐름에 결합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KV 변경 시 해당 분석만 재실행, 새 소비자 추가 가능 [제안]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QA1 · QA2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⑤ 반대로 1안이 나은 점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실제 Query 반영, 파생 상태 없음 → 정합성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 Query 근사 → 부적합 시 정확도 저하, version · validity 필요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QA5 · QA2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246888" y="6400800"/>
            <a:ext cx="54864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회색 공통 · 파랑 1안 · 주황 2안 | AM Attention Mgr, KVS KV Sampler, RTS Token Selector, SR Selective Recomputer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49240" y="6583680"/>
            <a:ext cx="621792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DP3. KV 캐시 재사용 구조 - 설계 (구조 스타일 선정)</a:t>
            </a:r>
          </a:p>
        </p:txBody>
      </p:sp>
      <p:sp>
        <p:nvSpPr>
          <p:cNvPr id="3" name="Chevron 2"/>
          <p:cNvSpPr/>
          <p:nvPr/>
        </p:nvSpPr>
        <p:spPr>
          <a:xfrm>
            <a:off x="7522768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과제 소개</a:t>
            </a:r>
          </a:p>
        </p:txBody>
      </p:sp>
      <p:sp>
        <p:nvSpPr>
          <p:cNvPr id="4" name="Chevron 3"/>
          <p:cNvSpPr/>
          <p:nvPr/>
        </p:nvSpPr>
        <p:spPr>
          <a:xfrm>
            <a:off x="8415223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5" name="Chevron 4"/>
          <p:cNvSpPr/>
          <p:nvPr/>
        </p:nvSpPr>
        <p:spPr>
          <a:xfrm>
            <a:off x="9314078" y="137160"/>
            <a:ext cx="1031443" cy="357530"/>
          </a:xfrm>
          <a:prstGeom prst="chevron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6" name="Chevron 5"/>
          <p:cNvSpPr/>
          <p:nvPr/>
        </p:nvSpPr>
        <p:spPr>
          <a:xfrm>
            <a:off x="10206532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구현/검증</a:t>
            </a:r>
          </a:p>
        </p:txBody>
      </p:sp>
      <p:sp>
        <p:nvSpPr>
          <p:cNvPr id="7" name="Chevron 6"/>
          <p:cNvSpPr/>
          <p:nvPr/>
        </p:nvSpPr>
        <p:spPr>
          <a:xfrm>
            <a:off x="11105388" y="137160"/>
            <a:ext cx="892454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7529169" y="137160"/>
            <a:ext cx="212140" cy="3575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89359" y="137160"/>
            <a:ext cx="212140" cy="3575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" y="621792"/>
            <a:ext cx="75895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1안(Pipe-and-Filter)과 대치되는 2안의 구조 스타일은 무엇인가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46536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96728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46919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97111" y="630936"/>
            <a:ext cx="713232" cy="320040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F5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46888" y="1143000"/>
          <a:ext cx="11750040" cy="3291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1234440"/>
                <a:gridCol w="6309360"/>
                <a:gridCol w="2286000"/>
              </a:tblGrid>
              <a:tr h="310896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스타일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계열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 문제에의 적합성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Pipe-and-Filter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Data-Flow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Query → score → 후보 → 재계산 집합 → 재계산으로 이어지는 고정 순서 변환. 단계는 입력→출력만 가지며 교체가 쉽고 요청 단위로 동기 실행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1안 채택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Batch-Sequential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Data-Flow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 Query 전체를 단계별로 일괄 처리하는 사전 분석에 적합. 단 P&amp;F와 같은 Data-Flow 계열이라 차이는 일괄/증분 처리 단위뿐이며, 단독으로는 1안과 대치되는 구조가 아님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2안의 사전 분석부 (하위 구조)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Repository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Data-Centered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사전 결과(재계산 위치)를 공유 저장소에 두고 서빙 경로가 조회. 결합점이 데이터 저장소가 되어 write(비동기)/read(동기)가 시간상 분리 → 1안과 결합 방식이 대치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2안 주 스타일 (대치 축 = 결합 방식)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Blackboard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Data-Centered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해법 순서가 비결정적이고 지식원이 점진 기여할 때 적합. 이 문제는 단계 순서와 입출력이 고정이라 제어 컴포넌트·지식원 구조가 과설계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기각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Memoization / Cache-aside (참고 패턴)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시 1안처럼 계산하되 유사 Query 군집별 결과를 캐시. 1안과 2안의 중간점이라 대치 구조가 아니라 후속 후보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후속 Hybrid 후보 [제안]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347472" y="4892040"/>
            <a:ext cx="11430000" cy="1508760"/>
          </a:xfrm>
          <a:prstGeom prst="rect">
            <a:avLst/>
          </a:prstGeom>
          <a:noFill/>
          <a:ln w="1270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73752" y="4736592"/>
            <a:ext cx="2377440" cy="31089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표기 · 설계 보완 제안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120640"/>
            <a:ext cx="111556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2안 표기 : '(Offline) (Repository + Batch 사전 분석)'. 현재의 'Batch-Sequential + Repository'는 Data-Flow와 Data-Centered 두 계열이 섞여 1안과 비교하는 축이 흐려짐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비교 변수 : 두 안은 4개 모듈을 공유하고 connector(Pipe vs Repository read/write)와 결정 시점만 다름 → 단일 변수 비교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• 2안의 신규 비용 : 재계산 위치는 KV의 파생 상태라 KV 이동 · 삭제 · 재생성(DP1) 시 stale 가능 → 'version · validity'를 제안 요소로 추가 (원본에 없음)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1안 장점 'Stale 방지'는 단일 원본(Single Source of Truth)에서 오는 정합성 속성 — 현재 QA2(HBM)로 매핑되어 있어 QA 근거 재확인 필요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6583680"/>
            <a:ext cx="621792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5707</Words>
  <Application>Microsoft Office PowerPoint</Application>
  <PresentationFormat>와이드스크린</PresentationFormat>
  <Paragraphs>852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6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DP1. 이기종 메모리 기반 Data Migration 결정 구조 - 배경</vt:lpstr>
      <vt:lpstr>DP1. 이기종 메모리 기반 Data Migration 결정 구조 - 배경</vt:lpstr>
      <vt:lpstr>DP1. 이기종 메모리 기반 Data Migration 결정 구조 - 설계</vt:lpstr>
      <vt:lpstr>DP1. 이기종 메모리 기반 Data Migration 결정 구조 - 설계</vt:lpstr>
      <vt:lpstr>DP2. 이기종 메모리 환경의 Prefill/Decode 실행 위치 결정 구조 - 사전 지식</vt:lpstr>
      <vt:lpstr>DP2. 이기종 메모리 환경의 Prefill/Decode 실행 위치 결정 구조 - 배경</vt:lpstr>
      <vt:lpstr>DP2. 이기종 메모리 환경의 Prefill/Decode 실행 위치 결정 구조 - 설계</vt:lpstr>
      <vt:lpstr>DP4. 요청 조율 구조 (Orchestration) - 배경</vt:lpstr>
      <vt:lpstr>DP4. 여러 서버를 묶는 요청 조율 구조 - 배경</vt:lpstr>
      <vt:lpstr>DP4. 요청 조율 계층 (Orchestration) 설계 - 구조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결정 구조 - 배경</dc:title>
  <dc:creator>Myeong Woo Kim</dc:creator>
  <cp:lastModifiedBy>Myeong Woo Kim</cp:lastModifiedBy>
  <cp:revision>1</cp:revision>
  <dcterms:created xsi:type="dcterms:W3CDTF">2026-10-10T04:25:41Z</dcterms:created>
  <dcterms:modified xsi:type="dcterms:W3CDTF">2026-10-10T04:26:54Z</dcterms:modified>
</cp:coreProperties>
</file>
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DP3는 토큰 선정 알고리즘이 아니라, 재계산 대상 결정의 시점·정보·결과 상태 소유를 정하는 구조 설계다.</a:t>
            </a:r>
          </a:p>
          <a:p>
            <a:r>
              <a:t>근거: 점수 산정과 토큰 선택은 두 안에서 같은 모듈이라 변별력이 없고, 달라지는 것은 결정 시점과 모듈 간 결합 방식(Pipe vs Repository)이다.</a:t>
            </a:r>
          </a:p>
          <a:p>
            <a:r>
              <a:t>의미: 알고리즘은 정책 모듈로 격리하고 구조 대안은 단일 변수로 비교한다. Incremental Build, Materialized View는 이해를 돕는 비유이며 근거가 아니다.</a:t>
            </a:r>
          </a:p>
          <a:p>
            <a:r>
              <a:t>출처: 사용자 제공 DP3 PPT 1~2쪽, doc-mk/DP3/dp3-kv-compression-reuse-structure-draft.md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색으로 구분했다. 회색은 두 안이 공유하는 모듈·연결, 파랑은 1안 고유(Pipe), 주황은 2안 고유(사전 분석, Repository write/read)다.</a:t>
            </a:r>
          </a:p>
          <a:p>
            <a:r>
              <a:t>근거: 모듈과 처리 순서는 같고, 2안은 같은 체인을 사전/서빙 두 시점으로 끊어 그 사이에 영속 저장소를 둔다.</a:t>
            </a:r>
          </a:p>
          <a:p>
            <a:r>
              <a:t>의미: 차이는 흐름 순서가 아니라 connector(Pipe vs 공유 Repository)와 결정 시점이다. version · validity는 원본에 없는 제안 요소다.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처리 순서는 같지만 Pipe는 요청 범위에서 소멸하고 Repository는 영속이라 생산 1회 · 소비 N회와 서빙 경로 분리가 가능하다.</a:t>
            </a:r>
          </a:p>
          <a:p>
            <a:r>
              <a:t>근거: 1안은 요청마다 분석 3단계를 반복하고, 2안은 사전에 1회 수행해 서빙에는 Selective Recomputer만 남는다.</a:t>
            </a:r>
          </a:p>
          <a:p>
            <a:r>
              <a:t>의미: 반대로 1안은 실제 Query 반영과 파생 상태 없음이 장점이다. ④의 새 소비자 추가는 제안이며 검증되지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1안(Pipe-and-Filter)과 대치되는 스타일은 Data-Centered 계열의 Repository다. Batch-Sequential은 P&amp;F와 같은 Data-Flow 계열이라 사전 분석부의 하위 구조로 둔다.</a:t>
            </a:r>
          </a:p>
          <a:p>
            <a:r>
              <a:t>근거: 두 안은 모듈이 같고 결합 방식(Pipe vs 공유 저장소)과 결정 시점만 다르다. Blackboard는 단계 순서가 고정된 이 문제에는 과설계다.</a:t>
            </a:r>
          </a:p>
          <a:p>
            <a:r>
              <a:t>의미: Repository를 택하면 파생 상태의 정합성 비용(version/validity)이 생긴다. 이 비용을 슬라이드에 명시해야 선택의 감수 불이익이 드러난다.</a:t>
            </a:r>
          </a:p>
          <a:p>
            <a:r>
              <a:t>스타일 분류는 Shaw &amp; Garlan의 Data-Flow / Data-Centered 구분을 따랐다.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4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캐시 재사용 구조 - 배경 (구조설계 관점)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" y="667512"/>
            <a:ext cx="115214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독립 생성된 Context KV(파생 데이터)를 재사용하면 Prefill 연산을 생략하지만, 조각 간 의존성이 유실되어 정확도가 저하됨 → 일부 토큰의 부분 재계산(Partial Refresh)이 필요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구조설계 관점의 문제는 '어떤 토큰이 중요한가(알고리즘)'가 아니라, 이 갱신 대상 결정(Refresh Decision)을 누가 · 언제 · 어떤 정보로 수행하고 그 결과 상태를 어디에 둘 것인가임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- 점수 산정 · 토큰 선택 방식은 교체 가능한 정책(Policy) 모듈로 고정하고, 두 설계안은 결정 시점 · 결합 방식 · 상태 소유만 달리해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057400"/>
            <a:ext cx="11430000" cy="269748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85032" y="1901952"/>
            <a:ext cx="475488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문제 치환 : 알고리즘 표현 → 구조설계 표현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2286000"/>
          <a:ext cx="10927079" cy="22311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3931920"/>
                <a:gridCol w="3977639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도메인(알고리즘) 표현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구조설계 표현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개념 · 관련 DP/QA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재사용 + 선택적 재계산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파생 산출물 재사용 + 부분 갱신 (Partial Refresh)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Incremental Build / Materialized View 와 같은 문제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재계산 토큰 선정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갱신 대상 결정(Refresh Decision)의 책임 배치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시점(Binding Time) · 정보 범위 → QA1 TTFT, QA5 정확도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Query · 재계산 위치 정보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결과 메타데이터 = 파생 상태(Derived State)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소유 · 수명 · 정합성(Staleness) → QA2 메모리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저장 / 연산 자원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컴포넌트 경계 인터페이스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위치 = DP1, 실행 자원 = DP2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Attention score · top-k 방식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교체 가능한 정책 (Strategy)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변동점 — 두 안에서 동일, 비교 대상 아님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ight Arrow 13"/>
          <p:cNvSpPr/>
          <p:nvPr/>
        </p:nvSpPr>
        <p:spPr>
          <a:xfrm>
            <a:off x="283464" y="5029200"/>
            <a:ext cx="411480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10912"/>
            <a:ext cx="1115568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재사용 KV 위에서 재계산 대상 결정을 누가 · 언제 · 어떤 정보로 수행하고, 결과 상태를 어디에 둘 것인가에 대한 구조 설계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340096"/>
            <a:ext cx="11430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쟁점 1. 결정 시점 · 정보 : 요청 시점의 실제 Query (Online) vs 사전의 대표 Query (Offline)  —  TTFT(QA1) vs 정확도(QA5)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쟁점 2. 결합 방식 · 상태 소유 : 데이터 스트림 전달 (Pipe-and-Filter) vs 공유 저장소 경유 (Repository)  —  정합성 · 메모리(QA2)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캐시 재사용 구조 - 설계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재계산 토큰 선정(Refresh Decision)을 어떤 구조로 구성할 것인가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" y="1024128"/>
            <a:ext cx="117043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1안 : </a:t>
            </a:r>
            <a:r>
              <a:rPr sz="105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요청마다 무상태 필터가 Pipe로 데이터를 넘기며, 서빙 경로 안에서 재계산 토큰을 그때그때 선정하는 구조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2523744"/>
            <a:ext cx="777240" cy="173736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0" y="2523744"/>
            <a:ext cx="777240" cy="173736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1안 고유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715768"/>
            <a:ext cx="777240" cy="173736"/>
          </a:xfrm>
          <a:prstGeom prst="rect">
            <a:avLst/>
          </a:prstGeom>
          <a:solidFill>
            <a:srgbClr val="FBE5D6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2안 고유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0" y="2715768"/>
            <a:ext cx="777240" cy="17373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" y="1325880"/>
            <a:ext cx="914400" cy="1572768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1안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Query Aware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(Online)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Pipe-and-Filter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1325880"/>
            <a:ext cx="10104120" cy="1024128"/>
          </a:xfrm>
          <a:prstGeom prst="rect">
            <a:avLst/>
          </a:prstGeom>
          <a:solidFill>
            <a:srgbClr val="EEF5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1335024"/>
            <a:ext cx="73152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서빙 경로 (요청마다 실행, 동기) — Pipe : 요청 범위에서만 존재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1691640"/>
            <a:ext cx="1188720" cy="54864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User Query Manager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실제 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39" y="1691640"/>
            <a:ext cx="1188720" cy="54864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 Manager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Query × KV Attention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1691640"/>
            <a:ext cx="1188720" cy="54864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Sampler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점수로 토큰 선정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59" y="1691640"/>
            <a:ext cx="1188720" cy="54864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 Token Selector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 토큰 선정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1691640"/>
            <a:ext cx="1188720" cy="54864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 Recomputer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선정 토큰만 재계산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1691640"/>
            <a:ext cx="1188720" cy="54864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Decode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응답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600200"/>
            <a:ext cx="384048" cy="182880"/>
          </a:xfrm>
          <a:prstGeom prst="rect">
            <a:avLst/>
          </a:prstGeom>
          <a:solidFill>
            <a:srgbClr val="404040"/>
          </a:solidFill>
          <a:ln w="1016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14600" y="2057400"/>
            <a:ext cx="548639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68880" y="1737360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실제 Query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51959" y="2057400"/>
            <a:ext cx="548641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06240" y="1737360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attention score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9320" y="2057400"/>
            <a:ext cx="548639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0" y="1737360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후보 순위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26679" y="2057400"/>
            <a:ext cx="54864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80959" y="1737360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재계산 토큰 집합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64040" y="2057400"/>
            <a:ext cx="54864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418319" y="1737360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Blended KV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63240" y="2560320"/>
            <a:ext cx="6400800" cy="274320"/>
          </a:xfrm>
          <a:prstGeom prst="rect">
            <a:avLst/>
          </a:prstGeom>
          <a:solidFill>
            <a:srgbClr val="F0F1F3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Store (DP1) — Context KV 1 · 2  (read-only)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2468880"/>
            <a:ext cx="384048" cy="182880"/>
          </a:xfrm>
          <a:prstGeom prst="rect">
            <a:avLst/>
          </a:prstGeom>
          <a:solidFill>
            <a:srgbClr val="404040"/>
          </a:solidFill>
          <a:ln w="1016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DP1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3657600" y="2240280"/>
            <a:ext cx="0" cy="320040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69680" y="2240280"/>
            <a:ext cx="0" cy="320040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703320" y="2359152"/>
            <a:ext cx="5486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2359152"/>
            <a:ext cx="5486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" y="2916936"/>
            <a:ext cx="1170432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2안 : </a:t>
            </a:r>
            <a:r>
              <a:rPr sz="105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같은 체인을 사전에 1회 실행해 재계산 위치를 공유 KV Repository에 write하고, 서빙 경로는 read해 Selective Recomputer만 실행하는 구조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" y="3154680"/>
            <a:ext cx="914400" cy="3246120"/>
          </a:xfrm>
          <a:prstGeom prst="rect">
            <a:avLst/>
          </a:prstGeom>
          <a:solidFill>
            <a:srgbClr val="C55A11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2안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Query Agnostic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(Offline)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Repository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사전 Batch 분석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34440" y="3154680"/>
            <a:ext cx="6629400" cy="1188720"/>
          </a:xfrm>
          <a:prstGeom prst="rect">
            <a:avLst/>
          </a:prstGeom>
          <a:solidFill>
            <a:srgbClr val="FEF4EC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80160" y="3163824"/>
            <a:ext cx="65836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사전 분석 (Offline, 1회 · KV 갱신 시) — Batch-Sequential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25880" y="3566160"/>
            <a:ext cx="1188720" cy="548640"/>
          </a:xfrm>
          <a:prstGeom prst="rect">
            <a:avLst/>
          </a:prstGeom>
          <a:solidFill>
            <a:srgbClr val="FBE5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Query Sampler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W/L별 대표 Query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39" y="3566160"/>
            <a:ext cx="1188720" cy="54864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 Manager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 Query × KV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00600" y="3566160"/>
            <a:ext cx="1188720" cy="54864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Sampler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점수로 토큰 선정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59" y="3566160"/>
            <a:ext cx="1188720" cy="54864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 Token Selector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 위치 선정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514600" y="3840480"/>
            <a:ext cx="548639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68880" y="3584448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대표 Query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251959" y="3840480"/>
            <a:ext cx="548641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206240" y="3584448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score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989320" y="3840480"/>
            <a:ext cx="548639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943600" y="3584448"/>
            <a:ext cx="6400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후보 순위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34440" y="4663440"/>
            <a:ext cx="10104120" cy="73152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80160" y="4672584"/>
            <a:ext cx="73152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KV Store (DP1) = Repository : 공유 · 영속 · 키로 조회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25880" y="4937760"/>
            <a:ext cx="1188720" cy="384048"/>
          </a:xfrm>
          <a:prstGeom prst="rect">
            <a:avLst/>
          </a:prstGeom>
          <a:solidFill>
            <a:srgbClr val="FBE5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W/L 대표 Query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3063239" y="4937760"/>
            <a:ext cx="1188720" cy="384048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Context KV 1 · 2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4800600" y="4937760"/>
            <a:ext cx="1188720" cy="384048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version · validity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59" y="4937760"/>
            <a:ext cx="1188720" cy="384048"/>
          </a:xfrm>
          <a:prstGeom prst="rect">
            <a:avLst/>
          </a:prstGeom>
          <a:solidFill>
            <a:srgbClr val="FBE5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KV별 재계산 위치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920240" y="4114800"/>
            <a:ext cx="0" cy="82296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965960" y="4434840"/>
            <a:ext cx="82296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write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132320" y="4114800"/>
            <a:ext cx="0" cy="82296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178040" y="4434840"/>
            <a:ext cx="82296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write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3657599" y="4114800"/>
            <a:ext cx="0" cy="822960"/>
          </a:xfrm>
          <a:prstGeom prst="line">
            <a:avLst/>
          </a:prstGeom>
          <a:ln w="1524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703320" y="4434840"/>
            <a:ext cx="82296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881360" y="4690872"/>
            <a:ext cx="384048" cy="182880"/>
          </a:xfrm>
          <a:prstGeom prst="rect">
            <a:avLst/>
          </a:prstGeom>
          <a:solidFill>
            <a:srgbClr val="404040"/>
          </a:solidFill>
          <a:ln w="1016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5559552"/>
            <a:ext cx="4892040" cy="841248"/>
          </a:xfrm>
          <a:prstGeom prst="rect">
            <a:avLst/>
          </a:prstGeom>
          <a:solidFill>
            <a:srgbClr val="FEF4EC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92240" y="5568696"/>
            <a:ext cx="3657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서빙 경로 (요청 1…N마다, 동기)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59" y="5833872"/>
            <a:ext cx="1188720" cy="45720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User Query Manager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실제 Query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75319" y="5833872"/>
            <a:ext cx="1188720" cy="45720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 Recomputer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 위치 조회 후 재계산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12680" y="5833872"/>
            <a:ext cx="1188720" cy="45720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Decode</a:t>
            </a:r>
          </a:p>
          <a:p>
            <a:pPr algn="ctr"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응답 생성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98280" y="5742432"/>
            <a:ext cx="384048" cy="182880"/>
          </a:xfrm>
          <a:prstGeom prst="rect">
            <a:avLst/>
          </a:prstGeom>
          <a:solidFill>
            <a:srgbClr val="404040"/>
          </a:solidFill>
          <a:ln w="1016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726679" y="6062472"/>
            <a:ext cx="54864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464040" y="6062472"/>
            <a:ext cx="54864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869680" y="5394960"/>
            <a:ext cx="0" cy="438912"/>
          </a:xfrm>
          <a:prstGeom prst="line">
            <a:avLst/>
          </a:prstGeom>
          <a:ln w="2286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961119" y="5029200"/>
            <a:ext cx="23774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read (동기): 재계산 위치 · Context KV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1280160" y="5623560"/>
            <a:ext cx="320040" cy="22860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45920" y="5532120"/>
            <a:ext cx="47091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흐름 순서(QS/UQM → AM → KVS → RTS → SR)는 두 안이 동일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달라지는 것 ① 필터를 잇는 connector: Pipe → 공유 Repository  ② 실행 시점: 요청마다 → 사전 1회 + 서빙 시 조회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캐시 재사용 구조 - 설계 (흐름은 같고 무엇이 다른가)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흐름 순서는 같다 — 달라지는 것은 Pipe의 수명과 실행 시점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1097280"/>
            <a:ext cx="5760720" cy="310896"/>
          </a:xfrm>
          <a:prstGeom prst="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(1안) Pipe-and-Filter </a:t>
            </a:r>
            <a:r>
              <a:rPr sz="11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요청마다 전체 체인 실행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097280"/>
            <a:ext cx="5760720" cy="310896"/>
          </a:xfrm>
          <a:prstGeom prst="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(2안) Repository </a:t>
            </a:r>
            <a:r>
              <a:rPr sz="11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분석 1회 + 요청마다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6459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16002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45919" y="1783080"/>
            <a:ext cx="22860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874519" y="16002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43200" y="1783080"/>
            <a:ext cx="22860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971800" y="16002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0480" y="1783080"/>
            <a:ext cx="22860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069079" y="16002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1031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20574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45919" y="2240280"/>
            <a:ext cx="22860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874519" y="20574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2240280"/>
            <a:ext cx="22860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71800" y="20574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40480" y="2240280"/>
            <a:ext cx="22860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69079" y="20574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5603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25146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645919" y="2697480"/>
            <a:ext cx="22860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874519" y="25146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743200" y="2697480"/>
            <a:ext cx="22860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71800" y="25146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40480" y="2697480"/>
            <a:ext cx="228600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069079" y="2514600"/>
            <a:ext cx="86868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1691640"/>
            <a:ext cx="1005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요청마다 분석 3단계 반복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301752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Pipe : 요청 범위에서만 존재 · 순차 · 1:1, 요청이 끝나면 소멸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실제 Query를 매번 반영 → 정확도 유리, 파생 상태 없음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1645920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사전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0840" y="1600200"/>
            <a:ext cx="822960" cy="365760"/>
          </a:xfrm>
          <a:prstGeom prst="rect">
            <a:avLst/>
          </a:prstGeom>
          <a:solidFill>
            <a:srgbClr val="FBE5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543800" y="1783080"/>
            <a:ext cx="22860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772400" y="1600200"/>
            <a:ext cx="82296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AM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595360" y="1783080"/>
            <a:ext cx="22860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8823959" y="1600200"/>
            <a:ext cx="82296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46919" y="1783080"/>
            <a:ext cx="228600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875519" y="1600200"/>
            <a:ext cx="822960" cy="36576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45352" y="2240280"/>
            <a:ext cx="5669280" cy="347472"/>
          </a:xfrm>
          <a:prstGeom prst="rect">
            <a:avLst/>
          </a:prstGeom>
          <a:solidFill>
            <a:srgbClr val="FBE5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Repository : 재계산 위치 (영속, 키로 조회)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287000" y="1965960"/>
            <a:ext cx="0" cy="27432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332720" y="1965960"/>
            <a:ext cx="13716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write 1회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20840" y="2834640"/>
            <a:ext cx="914400" cy="310896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R1 : SR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7178040" y="2587752"/>
            <a:ext cx="0" cy="246888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7909560" y="2834640"/>
            <a:ext cx="914400" cy="310896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R2 : SR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8366760" y="2587752"/>
            <a:ext cx="0" cy="246888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9098280" y="2834640"/>
            <a:ext cx="914400" cy="310896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R3 : SR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9555480" y="2587752"/>
            <a:ext cx="0" cy="246888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223760" y="2615184"/>
            <a:ext cx="18288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read × N (동기)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2743200"/>
            <a:ext cx="1645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서빙 경로에는 SR만 남음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대표 Query 기반 → 정확도 근사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version · validity 필요 [제안]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246888" y="4114800"/>
          <a:ext cx="11750039" cy="21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68880"/>
                <a:gridCol w="3749039"/>
                <a:gridCol w="4526280"/>
                <a:gridCol w="100584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Pipe로는 어려운 것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1안 Pipe-and-Filter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2안 Repository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QA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요청 간 재사용 (1회 생산 · N회 소비)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Pipe는 요청 범위에서만 존재 → 요청마다 attention · 선정 재실행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재계산 위치를 1회 write, 모든 요청이 read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서빙 경로에서 분석 필터 제거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AM · KVS · RTS가 모두 서빙 경로에 직렬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필터가 사전으로 이동, 서빙에는 SR만 남음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키 기반 조회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순차 스트림이라 소비 순서가 고정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· 워크로드 키로 조회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생산 · 소비의 독립 실행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생산자와 소비자가 같은 실행 흐름에 결합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변경 시 해당 분석만 재실행, 새 소비자 추가 가능 [제안]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QA1 · QA2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반대로 1안이 나은 점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Query 반영, 파생 상태 없음 → 정합성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Query 근사 → 부적합 시 정확도 저하, version · validity 필요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QA5 · QA2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246888" y="6400800"/>
            <a:ext cx="54864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회색 공통 · 파랑 1안 · 주황 2안 | AM Attention Mgr, KVS KV Sampler, RTS Token Selector, SR Selective Recomputer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DP3. KV 캐시 재사용 구조 - 설계 (구조 스타일 선정)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75895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1안(Pipe-and-Filter)과 대치되는 2안의 구조 스타일은 무엇인가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6536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96728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19" y="630936"/>
            <a:ext cx="713232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1" y="630936"/>
            <a:ext cx="713232" cy="320040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F5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46888" y="1143000"/>
          <a:ext cx="11750040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1234440"/>
                <a:gridCol w="6309360"/>
                <a:gridCol w="228600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스타일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문제에의 적합성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Pipe-and-Filter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Data-Flow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Query → score → 후보 → 재계산 집합 → 재계산으로 이어지는 고정 순서 변환. 단계는 입력→출력만 가지며 교체가 쉽고 요청 단위로 동기 실행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1안 채택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Batch-Sequential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Data-Flow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Query 전체를 단계별로 일괄 처리하는 사전 분석에 적합. 단 P&amp;F와 같은 Data-Flow 계열이라 차이는 일괄/증분 처리 단위뿐이며, 단독으로는 1안과 대치되는 구조가 아님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2안의 사전 분석부 (하위 구조)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Repository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Data-Centered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결과(재계산 위치)를 공유 저장소에 두고 서빙 경로가 조회. 결합점이 데이터 저장소가 되어 write(비동기)/read(동기)가 시간상 분리 → 1안과 결합 방식이 대치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2안 주 스타일 (대치 축 = 결합 방식)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Blackboard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Data-Centered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해법 순서가 비결정적이고 지식원이 점진 기여할 때 적합. 이 문제는 단계 순서와 입출력이 고정이라 제어 컴포넌트·지식원 구조가 과설계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기각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7F7F7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Memoization / Cache-aside (참고 패턴)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시 1안처럼 계산하되 유사 Query 군집별 결과를 캐시. 1안과 2안의 중간점이라 대치 구조가 아니라 후속 후보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후속 Hybrid 후보 [제안]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47472" y="4892040"/>
            <a:ext cx="11430000" cy="1508760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73752" y="4736592"/>
            <a:ext cx="2377440" cy="310896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표기 · 설계 보완 제안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111556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2안 표기 : '(Offline) (Repository + Batch 사전 분석)'. 현재의 'Batch-Sequential + Repository'는 Data-Flow와 Data-Centered 두 계열이 섞여 1안과 비교하는 축이 흐려짐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비교 변수 : 두 안은 4개 모듈을 공유하고 connector(Pipe vs Repository read/write)와 결정 시점만 다름 → 단일 변수 비교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• 2안의 신규 비용 : 재계산 위치는 KV의 파생 상태라 KV 이동 · 삭제 · 재생성(DP1) 시 stale 가능 → 'version · validity'를 제안 요소로 추가 (원본에 없음)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1안 장점 'Stale 방지'는 단일 원본(Single Source of Truth)에서 오는 정합성 속성 — 현재 QA2(HBM)로 매핑되어 있어 QA 근거 재확인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
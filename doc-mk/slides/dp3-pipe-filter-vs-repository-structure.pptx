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12"/>
  </p:notesMasterIdLst>
  <p:sldIdLst>
    <p:sldId id="256" r:id="rId7"/>
    <p:sldId id="257" r:id="rId8"/>
    <p:sldId id="258" r:id="rId9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3" d="100"/>
          <a:sy n="113" d="100"/>
        </p:scale>
        <p:origin x="510" y="8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E3FDB59D-6851-4087-A360-1717CD539FDC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D1D42F9D-A517-472D-B53C-0A9BC49CDB65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3600162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DP3는 토큰 선정 알고리즘이 아니라, 재계산 대상 결정의 시점·정보·결과 상태 소유를 정하는 구조 설계다.</a:t>
            </a:r>
          </a:p>
          <a:p>
            <a:r>
              <a:t>근거: 점수 산정과 토큰 선택은 두 안에서 같은 모듈이라 변별력이 없고, 달라지는 것은 결정 시점과 모듈 간 결합 방식(Pipe vs Repository)이다.</a:t>
            </a:r>
          </a:p>
          <a:p>
            <a:r>
              <a:t>의미: 알고리즘은 정책 모듈로 격리하고 구조 대안은 단일 변수로 비교한다. Incremental Build, Materialized View는 이해를 돕는 비유이며 근거가 아니다.</a:t>
            </a:r>
          </a:p>
          <a:p>
            <a:r>
              <a:t>출처: 사용자 제공 DP3 PPT 1~2쪽, doc-mk/DP3/dp3-kv-compression-reuse-structure-draft.md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두 안은 같은 4개 모듈(Attention Manager, KV Sampler, Recompute Token Selector, Selective Recomputer)을 쓰고, 결합 방식과 결정 시점만 다르다.</a:t>
            </a:r>
          </a:p>
          <a:p>
            <a:r>
              <a:t>근거: 1안은 Pipe로 연결된 무상태 Filter가 서빙 경로에서 실행되어 파생 상태가 없다. 2안은 사전 분석 결과(재계산 위치)를 공유 Repository에 쓰고 서빙 경로가 읽는다.</a:t>
            </a:r>
          </a:p>
          <a:p>
            <a:r>
              <a:t>의미: 1안은 정확도와 정합성을, 2안은 TTFT를 얻는 대신 파생 상태의 정합성(version/validity)과 메모리를 비용으로 지불한다. 수치는 평가 전 [가설]이다.</a:t>
            </a:r>
          </a:p>
          <a:p>
            <a:r>
              <a:t>version/validity는 원본 구조도에 없는 제안 요소다.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핵심: 1안(Pipe-and-Filter)과 대치되는 스타일은 Data-Centered 계열의 Repository다. Batch-Sequential은 P&amp;F와 같은 Data-Flow 계열이라 사전 분석부의 하위 구조로 둔다.</a:t>
            </a:r>
          </a:p>
          <a:p>
            <a:r>
              <a:t>근거: 두 안은 모듈이 같고 결합 방식(Pipe vs 공유 저장소)과 결정 시점만 다르다. Blackboard는 단계 순서가 고정된 이 문제에는 과설계다.</a:t>
            </a:r>
          </a:p>
          <a:p>
            <a:r>
              <a:t>의미: Repository를 택하면 파생 상태의 정합성 비용(version/validity)이 생긴다. 이 비용을 슬라이드에 명시해야 선택의 감수 불이익이 드러난다.</a:t>
            </a:r>
          </a:p>
          <a:p>
            <a:r>
              <a:t>스타일 분류는 Shaw &amp; Garlan의 Data-Flow / Data-Centered 구분을 따랐다.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38766F1F-6FFF-438E-978E-7F50C6A9E636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>
            <a:extLst>
              <a:ext uri="{FF2B5EF4-FFF2-40B4-BE49-F238E27FC236}">
                <a16:creationId xmlns:a16="http://schemas.microsoft.com/office/drawing/2014/main" id="{3DAFAFD0-1F82-4A9B-B3F6-99224804EA14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2A504BB-6AAA-4233-A0A1-1975C91FEA4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AE792343-8259-4E59-9F61-74C15CCDDC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1CB83A2-9524-4B3A-B3C6-D4F79B0E8BB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6403100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1BE669E3-A266-4BEB-8BBA-CE42A5B6659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5CE1CA8F-9445-4D8B-A0A0-34714CBAC16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982E6160-1C4D-4559-89D9-A35150A3582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5B2329A2-229C-4CBB-AC58-12A0F0ACAC1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B241D84D-6A9B-449E-843F-67D8BA66FBB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87259641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F076C279-BE8E-4A58-8F27-8C25650DED1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F4392A46-7FFF-4D6F-AA6E-D59A61223D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046685FA-9578-48E3-9E09-D095C1DFA2E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2AA1F830-4CCD-4D6C-BCCB-003C05CFE7D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680742D8-AAC9-4467-8546-CC9D64B5949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4335984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544B4E56-0A82-416C-92D9-654BF5C9D24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EFB22FE0-D66C-416D-A771-4B8A78E1DB68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70BDFEE8-FEDA-40B6-AD92-F654C3C947F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47C12402-8087-4755-8681-5AB4A554CB7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FB6EB7B6-16FD-43F7-AD81-6AE05331273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A7884AA5-2DBF-4023-90B7-AAC1D13205A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8826856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592D15B-0C0F-4390-875E-1590EE8F0FD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5B713CE4-54D4-472C-AF86-5304C461B59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4" name="내용 개체 틀 3">
            <a:extLst>
              <a:ext uri="{FF2B5EF4-FFF2-40B4-BE49-F238E27FC236}">
                <a16:creationId xmlns:a16="http://schemas.microsoft.com/office/drawing/2014/main" id="{0EF3848C-49A2-46AD-B69D-6770C2A4431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5" name="텍스트 개체 틀 4">
            <a:extLst>
              <a:ext uri="{FF2B5EF4-FFF2-40B4-BE49-F238E27FC236}">
                <a16:creationId xmlns:a16="http://schemas.microsoft.com/office/drawing/2014/main" id="{90F7C98F-4810-4F56-8535-9FA72E9AD67D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6" name="내용 개체 틀 5">
            <a:extLst>
              <a:ext uri="{FF2B5EF4-FFF2-40B4-BE49-F238E27FC236}">
                <a16:creationId xmlns:a16="http://schemas.microsoft.com/office/drawing/2014/main" id="{5D491211-BEE3-4FEF-980E-6C26F74438DF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7" name="날짜 개체 틀 6">
            <a:extLst>
              <a:ext uri="{FF2B5EF4-FFF2-40B4-BE49-F238E27FC236}">
                <a16:creationId xmlns:a16="http://schemas.microsoft.com/office/drawing/2014/main" id="{8E8F1097-25B6-4C35-9EDA-0A1B99A7AF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8" name="바닥글 개체 틀 7">
            <a:extLst>
              <a:ext uri="{FF2B5EF4-FFF2-40B4-BE49-F238E27FC236}">
                <a16:creationId xmlns:a16="http://schemas.microsoft.com/office/drawing/2014/main" id="{11967B94-09AA-40C9-A6E7-C49079CAA9A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>
            <a:extLst>
              <a:ext uri="{FF2B5EF4-FFF2-40B4-BE49-F238E27FC236}">
                <a16:creationId xmlns:a16="http://schemas.microsoft.com/office/drawing/2014/main" id="{E44706B7-77D3-4F97-B3C3-87F6F63E48F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751027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07E3900A-A75F-4F93-AE6D-F58DCEBA40E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>
            <a:extLst>
              <a:ext uri="{FF2B5EF4-FFF2-40B4-BE49-F238E27FC236}">
                <a16:creationId xmlns:a16="http://schemas.microsoft.com/office/drawing/2014/main" id="{09FA1503-70FC-402A-9BEA-A7A4CBD5F32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4" name="바닥글 개체 틀 3">
            <a:extLst>
              <a:ext uri="{FF2B5EF4-FFF2-40B4-BE49-F238E27FC236}">
                <a16:creationId xmlns:a16="http://schemas.microsoft.com/office/drawing/2014/main" id="{AD8CE03B-7743-434D-93C2-5D3CF40D6E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>
            <a:extLst>
              <a:ext uri="{FF2B5EF4-FFF2-40B4-BE49-F238E27FC236}">
                <a16:creationId xmlns:a16="http://schemas.microsoft.com/office/drawing/2014/main" id="{E3E11778-A95C-403D-A5C5-03429AA1E58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58204577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>
            <a:extLst>
              <a:ext uri="{FF2B5EF4-FFF2-40B4-BE49-F238E27FC236}">
                <a16:creationId xmlns:a16="http://schemas.microsoft.com/office/drawing/2014/main" id="{879B79F9-D3BF-4383-9A2B-6720ED16C1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3" name="바닥글 개체 틀 2">
            <a:extLst>
              <a:ext uri="{FF2B5EF4-FFF2-40B4-BE49-F238E27FC236}">
                <a16:creationId xmlns:a16="http://schemas.microsoft.com/office/drawing/2014/main" id="{9791CDC1-1BD2-4CEC-AF70-F1035E05EE8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066BE70D-7B66-4208-B021-AB8D7CB4D7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23693896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8971A4DB-6070-458A-B403-8962043873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>
            <a:extLst>
              <a:ext uri="{FF2B5EF4-FFF2-40B4-BE49-F238E27FC236}">
                <a16:creationId xmlns:a16="http://schemas.microsoft.com/office/drawing/2014/main" id="{3CEFAD1F-018C-4CD8-A320-CCA387166D5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290798B4-57C3-44B4-A8C2-A1110A14334A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C6382C16-FF45-4304-A19A-EF629B4740F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9BB56C59-F03D-40C5-A062-6C1D08EA6FB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9B5D1989-7D2D-483E-8B76-675B71A799C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6946810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BF80EA15-1B37-4FC8-A267-BD814C73A41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>
            <a:extLst>
              <a:ext uri="{FF2B5EF4-FFF2-40B4-BE49-F238E27FC236}">
                <a16:creationId xmlns:a16="http://schemas.microsoft.com/office/drawing/2014/main" id="{7A6C1A13-FB13-43ED-9A16-DE43BD615F3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>
            <a:extLst>
              <a:ext uri="{FF2B5EF4-FFF2-40B4-BE49-F238E27FC236}">
                <a16:creationId xmlns:a16="http://schemas.microsoft.com/office/drawing/2014/main" id="{BC750587-5197-4793-84A9-1FCE8E0FECC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스타일을 편집하려면 클릭</a:t>
            </a:r>
          </a:p>
        </p:txBody>
      </p:sp>
      <p:sp>
        <p:nvSpPr>
          <p:cNvPr id="5" name="날짜 개체 틀 4">
            <a:extLst>
              <a:ext uri="{FF2B5EF4-FFF2-40B4-BE49-F238E27FC236}">
                <a16:creationId xmlns:a16="http://schemas.microsoft.com/office/drawing/2014/main" id="{02A05951-2B75-4A9C-9D31-DA984C7D0BA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6" name="바닥글 개체 틀 5">
            <a:extLst>
              <a:ext uri="{FF2B5EF4-FFF2-40B4-BE49-F238E27FC236}">
                <a16:creationId xmlns:a16="http://schemas.microsoft.com/office/drawing/2014/main" id="{893DFFFB-CB82-44B7-ADD5-6C06FFCA99B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>
            <a:extLst>
              <a:ext uri="{FF2B5EF4-FFF2-40B4-BE49-F238E27FC236}">
                <a16:creationId xmlns:a16="http://schemas.microsoft.com/office/drawing/2014/main" id="{DFC3ACB5-7C5F-4763-A545-1E091D9CF56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3138194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>
            <a:extLst>
              <a:ext uri="{FF2B5EF4-FFF2-40B4-BE49-F238E27FC236}">
                <a16:creationId xmlns:a16="http://schemas.microsoft.com/office/drawing/2014/main" id="{948F7E99-E266-4394-AC3C-C81C0AA01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CB903C54-E094-4214-B922-CFC0A756130D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7C66B284-4B0D-4115-B089-AA26C33B443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08850256-F467-447D-9263-C7183DD65BC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883367B8-E91F-4EFF-904D-A125138D36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4718402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>
            <a:extLst>
              <a:ext uri="{FF2B5EF4-FFF2-40B4-BE49-F238E27FC236}">
                <a16:creationId xmlns:a16="http://schemas.microsoft.com/office/drawing/2014/main" id="{2E4CC87E-C30F-4874-9B17-340763F05AF7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>
            <a:extLst>
              <a:ext uri="{FF2B5EF4-FFF2-40B4-BE49-F238E27FC236}">
                <a16:creationId xmlns:a16="http://schemas.microsoft.com/office/drawing/2014/main" id="{DB237634-FD61-4D11-A5FB-707E825ADF3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D9D80697-7563-4134-9650-BD8DE52FAD6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B7795852-3BEA-4032-BF3B-1DBB06E399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CEE3DC6E-6854-4E11-B4EC-45C9A22F993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40905289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12" name="직선 연결선 11"/>
          <p:cNvCxnSpPr/>
          <p:nvPr userDrawn="1"/>
        </p:nvCxnSpPr>
        <p:spPr>
          <a:xfrm>
            <a:off x="234950" y="654050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5620080" y="6597650"/>
            <a:ext cx="456466" cy="209550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7F889C64-266A-4D07-AD8F-5B592E61CCE1}" type="slidenum">
              <a:rPr lang="ko-KR" altLang="en-US" smtClean="0"/>
              <a:pPr/>
              <a:t>‹#›</a:t>
            </a:fld>
            <a:endParaRPr lang="ko-KR" altLang="en-US" dirty="0"/>
          </a:p>
        </p:txBody>
      </p:sp>
      <p:cxnSp>
        <p:nvCxnSpPr>
          <p:cNvPr id="20" name="직선 연결선 19"/>
          <p:cNvCxnSpPr/>
          <p:nvPr userDrawn="1"/>
        </p:nvCxnSpPr>
        <p:spPr>
          <a:xfrm>
            <a:off x="234950" y="539750"/>
            <a:ext cx="11766550" cy="0"/>
          </a:xfrm>
          <a:prstGeom prst="line">
            <a:avLst/>
          </a:prstGeom>
          <a:ln>
            <a:solidFill>
              <a:schemeClr val="bg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제목 개체 틀 1"/>
          <p:cNvSpPr>
            <a:spLocks noGrp="1"/>
          </p:cNvSpPr>
          <p:nvPr>
            <p:ph type="title"/>
          </p:nvPr>
        </p:nvSpPr>
        <p:spPr>
          <a:xfrm>
            <a:off x="234948" y="137379"/>
            <a:ext cx="7655985" cy="365125"/>
          </a:xfrm>
          <a:prstGeom prst="rect">
            <a:avLst/>
          </a:prstGeom>
        </p:spPr>
        <p:txBody>
          <a:bodyPr vert="horz" lIns="91440" tIns="45720" rIns="91440" bIns="45720" rtlCol="0" anchor="ctr">
            <a:noAutofit/>
          </a:bodyPr>
          <a:lstStyle>
            <a:lvl1pPr>
              <a:defRPr sz="1800" b="1"/>
            </a:lvl1pPr>
          </a:lstStyle>
          <a:p>
            <a:r>
              <a:rPr lang="ko-KR" altLang="en-US" dirty="0"/>
              <a:t>마스터 제목 스타일 편집</a:t>
            </a:r>
          </a:p>
        </p:txBody>
      </p:sp>
      <p:sp>
        <p:nvSpPr>
          <p:cNvPr id="2" name="TextBox 1"/>
          <p:cNvSpPr txBox="1"/>
          <p:nvPr userDrawn="1"/>
        </p:nvSpPr>
        <p:spPr>
          <a:xfrm>
            <a:off x="5975555" y="6563925"/>
            <a:ext cx="470643" cy="27699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1200" dirty="0">
                <a:solidFill>
                  <a:schemeClr val="bg1">
                    <a:lumMod val="50000"/>
                  </a:schemeClr>
                </a:solidFill>
              </a:rPr>
              <a:t>/ 3</a:t>
            </a:r>
            <a:endParaRPr lang="ko-KR" altLang="en-US" sz="1200" dirty="0">
              <a:solidFill>
                <a:schemeClr val="bg1">
                  <a:lumMod val="50000"/>
                </a:schemeClr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242764065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80AD665B-95C3-4399-9C37-9DABDB1E5A2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0A6DC265-2495-45CB-94D5-2A0095D35DF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A1E49F97-8660-4B82-B92F-E2817628795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AE88268F-BED8-44AD-B530-9127EA8013B5}" type="datetimeFigureOut">
              <a:rPr lang="ko-KR" altLang="en-US" smtClean="0"/>
              <a:t>2026-10-10</a:t>
            </a:fld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D78CD36A-B7E4-4EBB-BD2C-7A89014F80D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3A89CF50-AAA0-498B-83B2-83B855385DEC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1DB3628-4F54-4F9C-AC44-2CC595CFF671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1589079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2.xml"/><Relationship Id="rId2" Type="http://schemas.openxmlformats.org/officeDocument/2006/relationships/notesSlide" Target="../notesSlides/notesSlide3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배경 (구조설계 관점)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56616" y="667512"/>
            <a:ext cx="11521440" cy="10972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- 독립 생성된 Context KV(파생 데이터)를 재사용하면 Prefill 연산을 생략하지만, 조각 간 의존성이 유실되어 정확도가 저하됨 → 일부 토큰의 부분 재계산(Partial Refresh)이 필요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- 구조설계 관점의 문제는 '어떤 토큰이 중요한가(알고리즘)'가 아니라, 이 갱신 대상 결정(Refresh Decision)을 누가 · 언제 · 어떤 정보로 수행하고 그 결과 상태를 어디에 둘 것인가임</a:t>
            </a:r>
          </a:p>
          <a:p>
            <a:pPr algn="l">
              <a:spcAft>
                <a:spcPts val="300"/>
              </a:spcAft>
            </a:pPr>
            <a:r>
              <a:rPr sz="1200" b="0">
                <a:solidFill>
                  <a:srgbClr val="404040"/>
                </a:solidFill>
                <a:latin typeface="맑은 고딕"/>
                <a:ea typeface="맑은 고딕"/>
                <a:cs typeface="맑은 고딕"/>
              </a:rPr>
              <a:t>- 점수 산정 · 토큰 선택 방식은 교체 가능한 정책(Policy) 모듈로 고정하고, 두 설계안은 결정 시점 · 결합 방식 · 상태 소유만 달리해 비교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7472" y="2057400"/>
            <a:ext cx="11430000" cy="2697480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85032" y="1901952"/>
            <a:ext cx="4754880" cy="3108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문제 치환 : 알고리즘 표현 → 구조설계 표현</a:t>
            </a:r>
          </a:p>
        </p:txBody>
      </p:sp>
      <p:graphicFrame>
        <p:nvGraphicFramePr>
          <p:cNvPr id="13" name="Table 12"/>
          <p:cNvGraphicFramePr>
            <a:graphicFrameLocks noGrp="1"/>
          </p:cNvGraphicFramePr>
          <p:nvPr/>
        </p:nvGraphicFramePr>
        <p:xfrm>
          <a:off x="502920" y="2286000"/>
          <a:ext cx="10927079" cy="223113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3017520"/>
                <a:gridCol w="3931920"/>
                <a:gridCol w="3977639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도메인(알고리즘) 표현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구조설계 표현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5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대응 개념 · 관련 DP/QA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재사용 + 선택적 재계산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파생 산출물 재사용 + 부분 갱신 (Partial Refresh)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Incremental Build / Materialized View 와 같은 문제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재계산 토큰 선정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갱신 대상 결정(Refresh Decision)의 책임 배치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시점(Binding Time) · 정보 범위 → QA1 TTFT, QA5 정확도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Query · 재계산 위치 정보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결과 메타데이터 = 파생 상태(Derived State)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소유 · 수명 · 정합성(Staleness) → QA2 메모리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KV 저장 / 연산 자원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컴포넌트 경계 인터페이스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저장 위치 = DP1, 실행 자원 = DP2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Attention score · top-k 방식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교체 가능한 정책 (Strategy)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5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변동점 — 두 안에서 동일, 비교 대상 아님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</a:tr>
            </a:tbl>
          </a:graphicData>
        </a:graphic>
      </p:graphicFrame>
      <p:sp>
        <p:nvSpPr>
          <p:cNvPr id="14" name="Right Arrow 13"/>
          <p:cNvSpPr/>
          <p:nvPr/>
        </p:nvSpPr>
        <p:spPr>
          <a:xfrm>
            <a:off x="283464" y="5029200"/>
            <a:ext cx="411480" cy="274320"/>
          </a:xfrm>
          <a:prstGeom prst="rightArrow">
            <a:avLst/>
          </a:prstGeom>
          <a:solidFill>
            <a:srgbClr val="2E75B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20" y="5010912"/>
            <a:ext cx="11155680" cy="310896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200" b="1">
                <a:solidFill>
                  <a:srgbClr val="0066FF"/>
                </a:solidFill>
                <a:latin typeface="맑은 고딕"/>
                <a:ea typeface="맑은 고딕"/>
                <a:cs typeface="맑은 고딕"/>
              </a:rPr>
              <a:t>재사용 KV 위에서 재계산 대상 결정을 누가 · 언제 · 어떤 정보로 수행하고, 결과 상태를 어디에 둘 것인가에 대한 구조 설계 필요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84048" y="5340096"/>
            <a:ext cx="11430000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쟁점 1. 결정 시점 · 정보 : 요청 시점의 실제 Query (Online) vs 사전의 대표 Query (Offline)  —  TTFT(QA1) vs 정확도(QA5)</a:t>
            </a:r>
          </a:p>
          <a:p>
            <a:pPr algn="l">
              <a:spcAft>
                <a:spcPts val="1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설계 쟁점 2. 결합 방식 · 상태 소유 : 데이터 스트림 전달 (Pipe-and-Filter) vs 공유 저장소 경유 (Repository)  —  정합성 · 메모리(QA2)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설계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재계산 토큰 선정(Refresh Decision)을 어떤 구조로 구성할 것인가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F5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46888" y="1097280"/>
            <a:ext cx="5760720" cy="329184"/>
          </a:xfrm>
          <a:prstGeom prst="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(1안) Query Aware 재사용 (Online) </a:t>
            </a:r>
            <a:r>
              <a:rPr sz="110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Pipe-and-Filter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4048" y="1572768"/>
            <a:ext cx="1554480" cy="502920"/>
          </a:xfrm>
          <a:prstGeom prst="rect">
            <a:avLst/>
          </a:prstGeom>
          <a:solidFill>
            <a:srgbClr val="F0F1F3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Query (요청 시점)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834640" y="1572768"/>
            <a:ext cx="3017520" cy="502920"/>
          </a:xfrm>
          <a:prstGeom prst="rect">
            <a:avLst/>
          </a:prstGeom>
          <a:solidFill>
            <a:srgbClr val="E2F0D9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Store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 KV 1 · 2  (read-only)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440680" y="1481328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92608" y="2377440"/>
            <a:ext cx="5669280" cy="2514600"/>
          </a:xfrm>
          <a:prstGeom prst="rect">
            <a:avLst/>
          </a:prstGeom>
          <a:solidFill>
            <a:srgbClr val="F7FAFD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411480" y="2788920"/>
            <a:ext cx="155448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Manager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× KV Attention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331720" y="2788920"/>
            <a:ext cx="155448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점수로 토큰 선정</a:t>
            </a:r>
          </a:p>
        </p:txBody>
      </p:sp>
      <p:sp>
        <p:nvSpPr>
          <p:cNvPr id="24" name="Rectangle 23"/>
          <p:cNvSpPr/>
          <p:nvPr/>
        </p:nvSpPr>
        <p:spPr>
          <a:xfrm>
            <a:off x="4251960" y="2788920"/>
            <a:ext cx="155448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 Token Selector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토큰 집합 결정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251960" y="4023360"/>
            <a:ext cx="1554480" cy="64008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선정 토큰만 재계산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486400" y="3931920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331720" y="4023360"/>
            <a:ext cx="1554480" cy="640080"/>
          </a:xfrm>
          <a:prstGeom prst="rect">
            <a:avLst/>
          </a:prstGeom>
          <a:solidFill>
            <a:srgbClr val="F0F1F3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</a:t>
            </a:r>
          </a:p>
          <a:p>
            <a:pPr algn="ctr">
              <a:spcAft>
                <a:spcPts val="200"/>
              </a:spcAft>
            </a:pPr>
            <a:r>
              <a:rPr sz="7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 생성</a:t>
            </a:r>
          </a:p>
        </p:txBody>
      </p:sp>
      <p:cxnSp>
        <p:nvCxnSpPr>
          <p:cNvPr id="28" name="Connector 27"/>
          <p:cNvCxnSpPr/>
          <p:nvPr/>
        </p:nvCxnSpPr>
        <p:spPr>
          <a:xfrm>
            <a:off x="1965960" y="3108960"/>
            <a:ext cx="365760" cy="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886200" y="3108960"/>
            <a:ext cx="365760" cy="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>
            <a:off x="5029200" y="3429000"/>
            <a:ext cx="0" cy="59436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3886200" y="4343400"/>
            <a:ext cx="365760" cy="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2" name="TextBox 31"/>
          <p:cNvSpPr txBox="1"/>
          <p:nvPr/>
        </p:nvSpPr>
        <p:spPr>
          <a:xfrm>
            <a:off x="1691640" y="3456432"/>
            <a:ext cx="914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attention score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611880" y="3456432"/>
            <a:ext cx="914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후보 토큰 순위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3657600" y="3675887"/>
            <a:ext cx="13258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재계산 토큰 집합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3383280" y="4681728"/>
            <a:ext cx="914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Blended KV</a:t>
            </a:r>
          </a:p>
        </p:txBody>
      </p:sp>
      <p:cxnSp>
        <p:nvCxnSpPr>
          <p:cNvPr id="36" name="Connector 35"/>
          <p:cNvCxnSpPr/>
          <p:nvPr/>
        </p:nvCxnSpPr>
        <p:spPr>
          <a:xfrm>
            <a:off x="868680" y="2075688"/>
            <a:ext cx="0" cy="713232"/>
          </a:xfrm>
          <a:prstGeom prst="line">
            <a:avLst/>
          </a:prstGeom>
          <a:ln w="15240">
            <a:solidFill>
              <a:srgbClr val="595959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7" name="TextBox 36"/>
          <p:cNvSpPr txBox="1"/>
          <p:nvPr/>
        </p:nvSpPr>
        <p:spPr>
          <a:xfrm>
            <a:off x="914400" y="2130552"/>
            <a:ext cx="5486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38" name="Connector 37"/>
          <p:cNvCxnSpPr/>
          <p:nvPr/>
        </p:nvCxnSpPr>
        <p:spPr>
          <a:xfrm>
            <a:off x="3291840" y="2075688"/>
            <a:ext cx="0" cy="438912"/>
          </a:xfrm>
          <a:prstGeom prst="line">
            <a:avLst/>
          </a:prstGeom>
          <a:ln w="1524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9" name="Connector 38"/>
          <p:cNvCxnSpPr/>
          <p:nvPr/>
        </p:nvCxnSpPr>
        <p:spPr>
          <a:xfrm flipH="1">
            <a:off x="1554480" y="2514600"/>
            <a:ext cx="1737360" cy="0"/>
          </a:xfrm>
          <a:prstGeom prst="line">
            <a:avLst/>
          </a:prstGeom>
          <a:ln w="1524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0" name="Connector 39"/>
          <p:cNvCxnSpPr/>
          <p:nvPr/>
        </p:nvCxnSpPr>
        <p:spPr>
          <a:xfrm>
            <a:off x="1554480" y="2514600"/>
            <a:ext cx="0" cy="274320"/>
          </a:xfrm>
          <a:prstGeom prst="line">
            <a:avLst/>
          </a:prstGeom>
          <a:ln w="1524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1" name="TextBox 40"/>
          <p:cNvSpPr txBox="1"/>
          <p:nvPr/>
        </p:nvSpPr>
        <p:spPr>
          <a:xfrm>
            <a:off x="1783080" y="2130552"/>
            <a:ext cx="14630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Context KV (read)</a:t>
            </a:r>
          </a:p>
        </p:txBody>
      </p:sp>
      <p:cxnSp>
        <p:nvCxnSpPr>
          <p:cNvPr id="42" name="Connector 41"/>
          <p:cNvCxnSpPr/>
          <p:nvPr/>
        </p:nvCxnSpPr>
        <p:spPr>
          <a:xfrm>
            <a:off x="5852160" y="1828800"/>
            <a:ext cx="54864" cy="0"/>
          </a:xfrm>
          <a:prstGeom prst="line">
            <a:avLst/>
          </a:prstGeom>
          <a:ln w="1524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3" name="Connector 42"/>
          <p:cNvCxnSpPr/>
          <p:nvPr/>
        </p:nvCxnSpPr>
        <p:spPr>
          <a:xfrm>
            <a:off x="5907024" y="1828800"/>
            <a:ext cx="0" cy="2514600"/>
          </a:xfrm>
          <a:prstGeom prst="line">
            <a:avLst/>
          </a:prstGeom>
          <a:ln w="1524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4" name="Connector 43"/>
          <p:cNvCxnSpPr/>
          <p:nvPr/>
        </p:nvCxnSpPr>
        <p:spPr>
          <a:xfrm flipH="1">
            <a:off x="5806440" y="4343400"/>
            <a:ext cx="100584" cy="0"/>
          </a:xfrm>
          <a:prstGeom prst="line">
            <a:avLst/>
          </a:prstGeom>
          <a:ln w="1524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5" name="TextBox 44"/>
          <p:cNvSpPr txBox="1"/>
          <p:nvPr/>
        </p:nvSpPr>
        <p:spPr>
          <a:xfrm>
            <a:off x="4526280" y="4681728"/>
            <a:ext cx="132588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750" b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Context KV (재사용분)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65760" y="4069080"/>
            <a:ext cx="1920240" cy="64008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서빙 경로 (요청 시점, 동기)</a:t>
            </a:r>
          </a:p>
          <a:p>
            <a:pPr algn="l">
              <a:spcAft>
                <a:spcPts val="200"/>
              </a:spcAft>
            </a:pPr>
            <a:r>
              <a:rPr sz="8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Filter : 무상태 · 요청 단위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92608" y="4983480"/>
            <a:ext cx="5669280" cy="548640"/>
          </a:xfrm>
          <a:prstGeom prst="rect">
            <a:avLst/>
          </a:prstGeom>
          <a:solidFill>
            <a:srgbClr val="FFFFFF"/>
          </a:solidFill>
          <a:ln w="10160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l">
              <a:spcAft>
                <a:spcPts val="1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결정 시점 : 요청마다 실제 Query로 attention 재산출 (Late Binding)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상태 : 파생 상태 없음, KV 원본만 보관 → Stale 위험 낮음</a:t>
            </a:r>
          </a:p>
          <a:p>
            <a:pPr algn="l">
              <a:spcAft>
                <a:spcPts val="100"/>
              </a:spcAft>
            </a:pPr>
            <a:r>
              <a:rPr sz="850" b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• 비용 : 모든 Filter가 서빙 경로에 직렬 위치 → TTFT 가산 [가설]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199632" y="1097280"/>
            <a:ext cx="5760720" cy="329184"/>
          </a:xfrm>
          <a:prstGeom prst="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45720" rIns="45720" tIns="27432" bIns="27432"/>
          <a:lstStyle/>
          <a:p>
            <a:pPr algn="ctr">
              <a:spcAft>
                <a:spcPts val="200"/>
              </a:spcAft>
            </a:pPr>
            <a:r>
              <a:rPr sz="11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(2안) Query Agnostic 재사용 (Offline) </a:t>
            </a:r>
            <a:r>
              <a:rPr sz="1100" b="1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Repository + 사전 Batch 분석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245352" y="1536192"/>
            <a:ext cx="5669280" cy="1188720"/>
          </a:xfrm>
          <a:prstGeom prst="rect">
            <a:avLst/>
          </a:prstGeom>
          <a:solidFill>
            <a:srgbClr val="FBE5D6"/>
          </a:solidFill>
          <a:ln w="1270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6245352" y="1536192"/>
            <a:ext cx="5669280" cy="219456"/>
          </a:xfrm>
          <a:prstGeom prst="rect">
            <a:avLst/>
          </a:prstGeom>
          <a:solidFill>
            <a:srgbClr val="C55A11"/>
          </a:solidFill>
          <a:ln w="1016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사전 분석 (Offline) — Batch-Sequential : 단계별 일괄 처리 후 다음 단계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355080" y="1828800"/>
            <a:ext cx="1170432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Query Sampler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W/L별 대표 Query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781544" y="1828800"/>
            <a:ext cx="1170432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Attention Manager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대표 Query × KV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08008" y="1828800"/>
            <a:ext cx="1170432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 Sampler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점수로 토큰 선정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0634472" y="1828800"/>
            <a:ext cx="1170432" cy="548640"/>
          </a:xfrm>
          <a:prstGeom prst="rect">
            <a:avLst/>
          </a:prstGeom>
          <a:solidFill>
            <a:srgbClr val="FFFFFF"/>
          </a:solidFill>
          <a:ln w="15240">
            <a:solidFill>
              <a:srgbClr val="C55A1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Recompute Token Selector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위치 선정</a:t>
            </a:r>
          </a:p>
        </p:txBody>
      </p:sp>
      <p:cxnSp>
        <p:nvCxnSpPr>
          <p:cNvPr id="55" name="Connector 54"/>
          <p:cNvCxnSpPr/>
          <p:nvPr/>
        </p:nvCxnSpPr>
        <p:spPr>
          <a:xfrm>
            <a:off x="7525512" y="2103120"/>
            <a:ext cx="256032" cy="0"/>
          </a:xfrm>
          <a:prstGeom prst="line">
            <a:avLst/>
          </a:prstGeom>
          <a:ln w="1651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6" name="Connector 55"/>
          <p:cNvCxnSpPr/>
          <p:nvPr/>
        </p:nvCxnSpPr>
        <p:spPr>
          <a:xfrm>
            <a:off x="8951976" y="2103120"/>
            <a:ext cx="256032" cy="0"/>
          </a:xfrm>
          <a:prstGeom prst="line">
            <a:avLst/>
          </a:prstGeom>
          <a:ln w="1651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7" name="Connector 56"/>
          <p:cNvCxnSpPr/>
          <p:nvPr/>
        </p:nvCxnSpPr>
        <p:spPr>
          <a:xfrm>
            <a:off x="10378440" y="2103120"/>
            <a:ext cx="256032" cy="0"/>
          </a:xfrm>
          <a:prstGeom prst="line">
            <a:avLst/>
          </a:prstGeom>
          <a:ln w="1651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8" name="Rectangle 57"/>
          <p:cNvSpPr/>
          <p:nvPr/>
        </p:nvSpPr>
        <p:spPr>
          <a:xfrm>
            <a:off x="6245352" y="3063240"/>
            <a:ext cx="5669280" cy="914400"/>
          </a:xfrm>
          <a:prstGeom prst="rect">
            <a:avLst/>
          </a:prstGeom>
          <a:solidFill>
            <a:srgbClr val="E2F0D9"/>
          </a:solidFill>
          <a:ln w="1270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6355080" y="3154680"/>
            <a:ext cx="1170432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W/L 대표 Query</a:t>
            </a:r>
          </a:p>
        </p:txBody>
      </p:sp>
      <p:sp>
        <p:nvSpPr>
          <p:cNvPr id="60" name="Rectangle 59"/>
          <p:cNvSpPr/>
          <p:nvPr/>
        </p:nvSpPr>
        <p:spPr>
          <a:xfrm>
            <a:off x="7781544" y="3154680"/>
            <a:ext cx="1170432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Context KV 1 · 2</a:t>
            </a:r>
          </a:p>
        </p:txBody>
      </p:sp>
      <p:sp>
        <p:nvSpPr>
          <p:cNvPr id="61" name="Rectangle 60"/>
          <p:cNvSpPr/>
          <p:nvPr/>
        </p:nvSpPr>
        <p:spPr>
          <a:xfrm>
            <a:off x="9208008" y="3154680"/>
            <a:ext cx="1170432" cy="411480"/>
          </a:xfrm>
          <a:prstGeom prst="rect">
            <a:avLst/>
          </a:prstGeom>
          <a:solidFill>
            <a:srgbClr val="FFF2CC"/>
          </a:solidFill>
          <a:ln w="10160">
            <a:solidFill>
              <a:srgbClr val="BF900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[제안] version · validity</a:t>
            </a:r>
          </a:p>
        </p:txBody>
      </p:sp>
      <p:sp>
        <p:nvSpPr>
          <p:cNvPr id="62" name="Rectangle 61"/>
          <p:cNvSpPr/>
          <p:nvPr/>
        </p:nvSpPr>
        <p:spPr>
          <a:xfrm>
            <a:off x="10634472" y="3154680"/>
            <a:ext cx="1170432" cy="411480"/>
          </a:xfrm>
          <a:prstGeom prst="rect">
            <a:avLst/>
          </a:prstGeom>
          <a:solidFill>
            <a:srgbClr val="FFFFFF"/>
          </a:solidFill>
          <a:ln w="10160">
            <a:solidFill>
              <a:srgbClr val="548235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20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KV별 재계산 위치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0" y="3703320"/>
            <a:ext cx="54864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50" b="1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KV Repository (공유 저장소 · KV 위치는 DP1: HBM · DRAM · CXL · SSD)</a:t>
            </a:r>
          </a:p>
        </p:txBody>
      </p:sp>
      <p:sp>
        <p:nvSpPr>
          <p:cNvPr id="64" name="Rectangle 63"/>
          <p:cNvSpPr/>
          <p:nvPr/>
        </p:nvSpPr>
        <p:spPr>
          <a:xfrm>
            <a:off x="11475720" y="3721608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DP1</a:t>
            </a:r>
          </a:p>
        </p:txBody>
      </p:sp>
      <p:cxnSp>
        <p:nvCxnSpPr>
          <p:cNvPr id="65" name="Connector 64"/>
          <p:cNvCxnSpPr/>
          <p:nvPr/>
        </p:nvCxnSpPr>
        <p:spPr>
          <a:xfrm>
            <a:off x="6940296" y="2377440"/>
            <a:ext cx="0" cy="777240"/>
          </a:xfrm>
          <a:prstGeom prst="line">
            <a:avLst/>
          </a:prstGeom>
          <a:ln w="1651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6" name="TextBox 65"/>
          <p:cNvSpPr txBox="1"/>
          <p:nvPr/>
        </p:nvSpPr>
        <p:spPr>
          <a:xfrm>
            <a:off x="6995160" y="2743200"/>
            <a:ext cx="914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write: 대표 Query</a:t>
            </a:r>
          </a:p>
        </p:txBody>
      </p:sp>
      <p:cxnSp>
        <p:nvCxnSpPr>
          <p:cNvPr id="67" name="Connector 66"/>
          <p:cNvCxnSpPr/>
          <p:nvPr/>
        </p:nvCxnSpPr>
        <p:spPr>
          <a:xfrm flipV="1">
            <a:off x="8366760" y="2377440"/>
            <a:ext cx="0" cy="777240"/>
          </a:xfrm>
          <a:prstGeom prst="line">
            <a:avLst/>
          </a:prstGeom>
          <a:ln w="1651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8" name="TextBox 67"/>
          <p:cNvSpPr txBox="1"/>
          <p:nvPr/>
        </p:nvSpPr>
        <p:spPr>
          <a:xfrm>
            <a:off x="8412480" y="2743200"/>
            <a:ext cx="9144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read: Context KV</a:t>
            </a:r>
          </a:p>
        </p:txBody>
      </p:sp>
      <p:cxnSp>
        <p:nvCxnSpPr>
          <p:cNvPr id="69" name="Connector 68"/>
          <p:cNvCxnSpPr/>
          <p:nvPr/>
        </p:nvCxnSpPr>
        <p:spPr>
          <a:xfrm>
            <a:off x="11219688" y="2377440"/>
            <a:ext cx="0" cy="777240"/>
          </a:xfrm>
          <a:prstGeom prst="line">
            <a:avLst/>
          </a:prstGeom>
          <a:ln w="16510">
            <a:solidFill>
              <a:srgbClr val="C55A11"/>
            </a:solidFill>
            <a:prstDash val="dash"/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0" name="TextBox 69"/>
          <p:cNvSpPr txBox="1"/>
          <p:nvPr/>
        </p:nvSpPr>
        <p:spPr>
          <a:xfrm>
            <a:off x="10241280" y="2743200"/>
            <a:ext cx="96012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700" b="0">
                <a:solidFill>
                  <a:srgbClr val="C55A11"/>
                </a:solidFill>
                <a:latin typeface="맑은 고딕"/>
                <a:ea typeface="맑은 고딕"/>
                <a:cs typeface="맑은 고딕"/>
              </a:rPr>
              <a:t>write: 재계산 위치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245352" y="4526280"/>
            <a:ext cx="5669280" cy="914400"/>
          </a:xfrm>
          <a:prstGeom prst="rect">
            <a:avLst/>
          </a:prstGeom>
          <a:solidFill>
            <a:srgbClr val="F7FAFD"/>
          </a:solidFill>
          <a:ln w="1270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Rectangle 71"/>
          <p:cNvSpPr/>
          <p:nvPr/>
        </p:nvSpPr>
        <p:spPr>
          <a:xfrm>
            <a:off x="6355080" y="4663440"/>
            <a:ext cx="1463040" cy="502920"/>
          </a:xfrm>
          <a:prstGeom prst="rect">
            <a:avLst/>
          </a:prstGeom>
          <a:solidFill>
            <a:srgbClr val="F0F1F3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User Query Manager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실제 Query (서빙 시)</a:t>
            </a:r>
          </a:p>
        </p:txBody>
      </p:sp>
      <p:sp>
        <p:nvSpPr>
          <p:cNvPr id="73" name="Rectangle 72"/>
          <p:cNvSpPr/>
          <p:nvPr/>
        </p:nvSpPr>
        <p:spPr>
          <a:xfrm>
            <a:off x="8412480" y="4663440"/>
            <a:ext cx="1828800" cy="502920"/>
          </a:xfrm>
          <a:prstGeom prst="rect">
            <a:avLst/>
          </a:prstGeom>
          <a:solidFill>
            <a:srgbClr val="FFFFFF"/>
          </a:solidFill>
          <a:ln w="15240">
            <a:solidFill>
              <a:srgbClr val="2E75B6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5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Selective Recomputer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재계산 위치 조회 → 선정 토큰만 재계산</a:t>
            </a:r>
          </a:p>
        </p:txBody>
      </p:sp>
      <p:sp>
        <p:nvSpPr>
          <p:cNvPr id="74" name="Rectangle 73"/>
          <p:cNvSpPr/>
          <p:nvPr/>
        </p:nvSpPr>
        <p:spPr>
          <a:xfrm>
            <a:off x="10698480" y="4663440"/>
            <a:ext cx="1143000" cy="502920"/>
          </a:xfrm>
          <a:prstGeom prst="rect">
            <a:avLst/>
          </a:prstGeom>
          <a:solidFill>
            <a:srgbClr val="F0F1F3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7432" rIns="27432" tIns="27432" bIns="27432"/>
          <a:lstStyle/>
          <a:p>
            <a:pPr algn="ctr">
              <a:spcAft>
                <a:spcPts val="0"/>
              </a:spcAft>
            </a:pPr>
            <a:r>
              <a:rPr sz="8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Decode</a:t>
            </a:r>
          </a:p>
          <a:p>
            <a:pPr algn="ctr">
              <a:spcAft>
                <a:spcPts val="0"/>
              </a:spcAft>
            </a:pPr>
            <a:r>
              <a:rPr sz="7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응답 생성</a:t>
            </a:r>
          </a:p>
        </p:txBody>
      </p:sp>
      <p:sp>
        <p:nvSpPr>
          <p:cNvPr id="75" name="Rectangle 74"/>
          <p:cNvSpPr/>
          <p:nvPr/>
        </p:nvSpPr>
        <p:spPr>
          <a:xfrm>
            <a:off x="10058400" y="4572000"/>
            <a:ext cx="384048" cy="182880"/>
          </a:xfrm>
          <a:prstGeom prst="rect">
            <a:avLst/>
          </a:prstGeom>
          <a:solidFill>
            <a:srgbClr val="404040"/>
          </a:solidFill>
          <a:ln w="10160">
            <a:solidFill>
              <a:srgbClr val="4040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7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DP2</a:t>
            </a:r>
          </a:p>
        </p:txBody>
      </p:sp>
      <p:cxnSp>
        <p:nvCxnSpPr>
          <p:cNvPr id="76" name="Connector 75"/>
          <p:cNvCxnSpPr/>
          <p:nvPr/>
        </p:nvCxnSpPr>
        <p:spPr>
          <a:xfrm>
            <a:off x="7818120" y="4919472"/>
            <a:ext cx="594360" cy="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7" name="Connector 76"/>
          <p:cNvCxnSpPr/>
          <p:nvPr/>
        </p:nvCxnSpPr>
        <p:spPr>
          <a:xfrm>
            <a:off x="10241280" y="4919472"/>
            <a:ext cx="457200" cy="0"/>
          </a:xfrm>
          <a:prstGeom prst="line">
            <a:avLst/>
          </a:prstGeom>
          <a:ln w="19050">
            <a:solidFill>
              <a:srgbClr val="2E75B6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8" name="TextBox 77"/>
          <p:cNvSpPr txBox="1"/>
          <p:nvPr/>
        </p:nvSpPr>
        <p:spPr>
          <a:xfrm>
            <a:off x="7772400" y="4709160"/>
            <a:ext cx="73152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spcAft>
                <a:spcPts val="200"/>
              </a:spcAft>
            </a:pPr>
            <a:r>
              <a:rPr sz="700" b="0">
                <a:solidFill>
                  <a:srgbClr val="595959"/>
                </a:solidFill>
                <a:latin typeface="맑은 고딕"/>
                <a:ea typeface="맑은 고딕"/>
                <a:cs typeface="맑은 고딕"/>
              </a:rPr>
              <a:t>Query</a:t>
            </a:r>
          </a:p>
        </p:txBody>
      </p:sp>
      <p:cxnSp>
        <p:nvCxnSpPr>
          <p:cNvPr id="79" name="Connector 78"/>
          <p:cNvCxnSpPr/>
          <p:nvPr/>
        </p:nvCxnSpPr>
        <p:spPr>
          <a:xfrm flipV="1">
            <a:off x="9326880" y="3977639"/>
            <a:ext cx="0" cy="685801"/>
          </a:xfrm>
          <a:prstGeom prst="line">
            <a:avLst/>
          </a:prstGeom>
          <a:ln w="19050">
            <a:solidFill>
              <a:srgbClr val="548235"/>
            </a:solidFill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0" name="TextBox 79"/>
          <p:cNvSpPr txBox="1"/>
          <p:nvPr/>
        </p:nvSpPr>
        <p:spPr>
          <a:xfrm>
            <a:off x="9418320" y="4187952"/>
            <a:ext cx="237744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50" b="0">
                <a:solidFill>
                  <a:srgbClr val="548235"/>
                </a:solidFill>
                <a:latin typeface="맑은 고딕"/>
                <a:ea typeface="맑은 고딕"/>
                <a:cs typeface="맑은 고딕"/>
              </a:rPr>
              <a:t>read (동기): Context KV · 재계산 위치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9360" y="5212080"/>
            <a:ext cx="2743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800" b="1">
                <a:solidFill>
                  <a:srgbClr val="2E75B6"/>
                </a:solidFill>
                <a:latin typeface="맑은 고딕"/>
                <a:ea typeface="맑은 고딕"/>
                <a:cs typeface="맑은 고딕"/>
              </a:rPr>
              <a:t>서빙 경로 (요청 시점, 동기)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144000" y="5212080"/>
            <a:ext cx="2743200" cy="22860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800" b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재계산 위치는 Query와 무관하게 결정된 값</a:t>
            </a:r>
          </a:p>
        </p:txBody>
      </p:sp>
      <p:graphicFrame>
        <p:nvGraphicFramePr>
          <p:cNvPr id="83" name="Table 82"/>
          <p:cNvGraphicFramePr>
            <a:graphicFrameLocks noGrp="1"/>
          </p:cNvGraphicFramePr>
          <p:nvPr/>
        </p:nvGraphicFramePr>
        <p:xfrm>
          <a:off x="246888" y="5559552"/>
          <a:ext cx="11750040" cy="768096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325880"/>
                <a:gridCol w="5212080"/>
                <a:gridCol w="5212080"/>
              </a:tblGrid>
              <a:tr h="256032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결합 방식 (Connector)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Pipe : Filter 간 데이터 스트림 전달, 단방향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Repository : 공유 저장소 경유 write(사전, 비동기) / read(서빙, 동기)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결정 시점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시점 (Late Binding)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(Early Binding), 서빙 시에는 조회만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256032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파생 상태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2F2F2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없음 — KV 원본만 보관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900" b="0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있음 — 재계산 위치 · 대표 Query (KV와 정합성 유지 필요)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4" name="TextBox 83"/>
          <p:cNvSpPr txBox="1"/>
          <p:nvPr/>
        </p:nvSpPr>
        <p:spPr>
          <a:xfrm>
            <a:off x="246888" y="6400800"/>
            <a:ext cx="5029200" cy="201168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7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범례  ▭ 모듈  ━▶ 동기 data flow  ┅▶ 사전·비동기 write  노랑 점선 = 제안  [가설] = 평가 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DP3. KV 캐시 재사용 구조 - 설계 (구조 스타일 선정)</a:t>
            </a:r>
          </a:p>
        </p:txBody>
      </p:sp>
      <p:sp>
        <p:nvSpPr>
          <p:cNvPr id="3" name="Chevron 2"/>
          <p:cNvSpPr/>
          <p:nvPr/>
        </p:nvSpPr>
        <p:spPr>
          <a:xfrm>
            <a:off x="7522768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과제 소개</a:t>
            </a:r>
          </a:p>
        </p:txBody>
      </p:sp>
      <p:sp>
        <p:nvSpPr>
          <p:cNvPr id="4" name="Chevron 3"/>
          <p:cNvSpPr/>
          <p:nvPr/>
        </p:nvSpPr>
        <p:spPr>
          <a:xfrm>
            <a:off x="8415223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요구사항</a:t>
            </a:r>
          </a:p>
        </p:txBody>
      </p:sp>
      <p:sp>
        <p:nvSpPr>
          <p:cNvPr id="5" name="Chevron 4"/>
          <p:cNvSpPr/>
          <p:nvPr/>
        </p:nvSpPr>
        <p:spPr>
          <a:xfrm>
            <a:off x="9314078" y="137160"/>
            <a:ext cx="1031443" cy="357530"/>
          </a:xfrm>
          <a:prstGeom prst="chevron">
            <a:avLst/>
          </a:prstGeom>
          <a:solidFill>
            <a:srgbClr val="59595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설계</a:t>
            </a:r>
          </a:p>
        </p:txBody>
      </p:sp>
      <p:sp>
        <p:nvSpPr>
          <p:cNvPr id="6" name="Chevron 5"/>
          <p:cNvSpPr/>
          <p:nvPr/>
        </p:nvSpPr>
        <p:spPr>
          <a:xfrm>
            <a:off x="10206532" y="137160"/>
            <a:ext cx="1031443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구현/검증</a:t>
            </a:r>
          </a:p>
        </p:txBody>
      </p:sp>
      <p:sp>
        <p:nvSpPr>
          <p:cNvPr id="7" name="Chevron 6"/>
          <p:cNvSpPr/>
          <p:nvPr/>
        </p:nvSpPr>
        <p:spPr>
          <a:xfrm>
            <a:off x="11105388" y="137160"/>
            <a:ext cx="892454" cy="357530"/>
          </a:xfrm>
          <a:prstGeom prst="chevron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10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결론</a:t>
            </a:r>
          </a:p>
        </p:txBody>
      </p:sp>
      <p:sp>
        <p:nvSpPr>
          <p:cNvPr id="8" name="Rectangle 7"/>
          <p:cNvSpPr/>
          <p:nvPr/>
        </p:nvSpPr>
        <p:spPr>
          <a:xfrm>
            <a:off x="752916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11789359" y="137160"/>
            <a:ext cx="212140" cy="357530"/>
          </a:xfrm>
          <a:prstGeom prst="rect">
            <a:avLst/>
          </a:prstGeom>
          <a:solidFill>
            <a:srgbClr val="BFBFB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237744" y="594360"/>
            <a:ext cx="11750040" cy="393192"/>
          </a:xfrm>
          <a:prstGeom prst="rect">
            <a:avLst/>
          </a:prstGeom>
          <a:solidFill>
            <a:srgbClr val="7F7F7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402336" y="676656"/>
            <a:ext cx="64008" cy="219456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66344" y="621792"/>
            <a:ext cx="7589520" cy="329184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1안(Pipe-and-Filter)과 대치되는 2안의 구조 스타일은 무엇인가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146536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10396728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QA2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46919" y="630936"/>
            <a:ext cx="713232" cy="320040"/>
          </a:xfrm>
          <a:prstGeom prst="roundRect">
            <a:avLst/>
          </a:prstGeom>
          <a:solidFill>
            <a:srgbClr val="833C0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QA1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897111" y="630936"/>
            <a:ext cx="713232" cy="320040"/>
          </a:xfrm>
          <a:prstGeom prst="roundRect">
            <a:avLst/>
          </a:prstGeom>
          <a:solidFill>
            <a:srgbClr val="2038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0" rIns="0" tIns="27432" bIns="27432"/>
          <a:lstStyle/>
          <a:p>
            <a:pPr algn="ctr">
              <a:spcAft>
                <a:spcPts val="200"/>
              </a:spcAft>
            </a:pPr>
            <a:r>
              <a:rPr sz="900" b="1">
                <a:solidFill>
                  <a:srgbClr val="FFFFFF"/>
                </a:solidFill>
                <a:latin typeface="맑은 고딕"/>
                <a:ea typeface="맑은 고딕"/>
                <a:cs typeface="맑은 고딕"/>
              </a:rPr>
              <a:t>F5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246888" y="1143000"/>
          <a:ext cx="11750040" cy="3291840"/>
        </p:xfrm>
        <a:graphic>
          <a:graphicData uri="http://schemas.openxmlformats.org/drawingml/2006/table">
            <a:tbl>
              <a:tblPr firstRow="0" bandRow="0">
                <a:tableStyleId>{2D5ABB26-0587-4C30-8999-92F81FD0307C}</a:tableStyleId>
              </a:tblPr>
              <a:tblGrid>
                <a:gridCol w="1920240"/>
                <a:gridCol w="1234440"/>
                <a:gridCol w="6309360"/>
                <a:gridCol w="2286000"/>
              </a:tblGrid>
              <a:tr h="310896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후보 스타일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계열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이 문제에의 적합성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100" b="1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판단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Pipe-and-Filter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Data-Flow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Query → score → 후보 → 재계산 집합 → 재계산으로 이어지는 고정 순서 변환. 단계는 입력→출력만 가지며 교체가 쉽고 요청 단위로 동기 실행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1안 채택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713232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Batch-Sequential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Data-Flow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대표 Query 전체를 단계별로 일괄 처리하는 사전 분석에 적합. 단 P&amp;F와 같은 Data-Flow 계열이라 차이는 일괄/증분 처리 단위뿐이며, 단독으로는 1안과 대치되는 구조가 아님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2안의 사전 분석부 (하위 구조)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Repository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Data-Centered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사전 결과(재계산 위치)를 공유 저장소에 두고 서빙 경로가 조회. 결합점이 데이터 저장소가 되어 write(비동기)/read(동기)가 시간상 분리 → 1안과 결합 방식이 대치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1">
                          <a:solidFill>
                            <a:srgbClr val="FF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2안 주 스타일 (대치 축 = 결합 방식)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DEEBF7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Blackboard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Data-Centered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해법 순서가 비결정적이고 지식원이 점진 기여할 때 적합. 이 문제는 단계 순서와 입출력이 고정이라 제어 컴포넌트·지식원 구조가 과설계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기각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 wrap="square"/>
                    <a:lstStyle/>
                    <a:p>
                      <a:pPr algn="ctr"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7F7F7F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Memoization / Cache-aside (참고 패턴)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하이브리드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요청 시 1안처럼 계산하되 유사 Query 군집별 결과를 캐시. 1안과 2안의 중간점이라 대치 구조가 아니라 후속 후보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>
                        <a:spcAft>
                          <a:spcPts val="100"/>
                        </a:spcAft>
                      </a:pPr>
                      <a:r>
                        <a:rPr sz="1000" b="0">
                          <a:solidFill>
                            <a:srgbClr val="000000"/>
                          </a:solidFill>
                          <a:latin typeface="맑은 고딕"/>
                          <a:ea typeface="맑은 고딕"/>
                          <a:cs typeface="맑은 고딕"/>
                        </a:rPr>
                        <a:t>후속 Hybrid 후보 [제안]</a:t>
                      </a:r>
                    </a:p>
                  </a:txBody>
                  <a:tcPr marL="64008" marR="64008" marT="27432" marB="27432" anchor="ctr">
                    <a:lnL w="6350">
                      <a:solidFill>
                        <a:srgbClr val="BFBFBF"/>
                      </a:solidFill>
                    </a:lnL>
                    <a:lnR w="6350">
                      <a:solidFill>
                        <a:srgbClr val="BFBFBF"/>
                      </a:solidFill>
                    </a:lnR>
                    <a:lnT w="6350">
                      <a:solidFill>
                        <a:srgbClr val="BFBFBF"/>
                      </a:solidFill>
                    </a:lnT>
                    <a:lnB w="6350">
                      <a:solidFill>
                        <a:srgbClr val="BFBFBF"/>
                      </a:solidFill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Rectangle 17"/>
          <p:cNvSpPr/>
          <p:nvPr/>
        </p:nvSpPr>
        <p:spPr>
          <a:xfrm>
            <a:off x="347472" y="4892040"/>
            <a:ext cx="11430000" cy="1508760"/>
          </a:xfrm>
          <a:prstGeom prst="rect">
            <a:avLst/>
          </a:prstGeom>
          <a:noFill/>
          <a:ln w="12700">
            <a:solidFill>
              <a:srgbClr val="BFBFBF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4873752" y="4736592"/>
            <a:ext cx="2377440" cy="310896"/>
          </a:xfrm>
          <a:prstGeom prst="roundRect">
            <a:avLst/>
          </a:prstGeom>
          <a:solidFill>
            <a:srgbClr val="F2F2F2"/>
          </a:solidFill>
          <a:ln w="10160">
            <a:solidFill>
              <a:srgbClr val="7F7F7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" rIns="18288" tIns="27432" bIns="27432"/>
          <a:lstStyle/>
          <a:p>
            <a:pPr algn="ctr">
              <a:spcAft>
                <a:spcPts val="200"/>
              </a:spcAft>
            </a:pPr>
            <a:r>
              <a:rPr sz="1200" b="1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표기 · 설계 보완 제안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5120640"/>
            <a:ext cx="11155680" cy="12801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2안 표기 : '(Offline) (Repository + Batch 사전 분석)'. 현재의 'Batch-Sequential + Repository'는 Data-Flow와 Data-Centered 두 계열이 섞여 1안과 비교하는 축이 흐려짐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비교 변수 : 두 안은 4개 모듈을 공유하고 connector(Pipe vs Repository read/write)와 결정 시점만 다름 → 단일 변수 비교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FF0000"/>
                </a:solidFill>
                <a:latin typeface="맑은 고딕"/>
                <a:ea typeface="맑은 고딕"/>
                <a:cs typeface="맑은 고딕"/>
              </a:rPr>
              <a:t>• 2안의 신규 비용 : 재계산 위치는 KV의 파생 상태라 KV 이동 · 삭제 · 재생성(DP1) 시 stale 가능 → 'version · validity'를 제안 요소로 추가 (원본에 없음)</a:t>
            </a:r>
          </a:p>
          <a:p>
            <a:pPr algn="l">
              <a:spcAft>
                <a:spcPts val="300"/>
              </a:spcAft>
            </a:pPr>
            <a:r>
              <a:rPr sz="1000" b="0">
                <a:solidFill>
                  <a:srgbClr val="000000"/>
                </a:solidFill>
                <a:latin typeface="맑은 고딕"/>
                <a:ea typeface="맑은 고딕"/>
                <a:cs typeface="맑은 고딕"/>
              </a:rPr>
              <a:t>• 1안 장점 'Stale 방지'는 단일 원본(Single Source of Truth)에서 오는 정합성 속성 — 현재 QA2(HBM)로 매핑되어 있어 QA 근거 재확인 필요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49240" y="6583680"/>
            <a:ext cx="621792" cy="237744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spcAft>
                <a:spcPts val="200"/>
              </a:spcAft>
            </a:pPr>
            <a:r>
              <a:rPr sz="1000" b="0">
                <a:solidFill>
                  <a:srgbClr val="7F7F7F"/>
                </a:solidFill>
                <a:latin typeface="맑은 고딕"/>
                <a:ea typeface="맑은 고딕"/>
                <a:cs typeface="맑은 고딕"/>
              </a:rPr>
              <a:t>3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5707</Words>
  <Application>Microsoft Office PowerPoint</Application>
  <PresentationFormat>와이드스크린</PresentationFormat>
  <Paragraphs>852</Paragraphs>
  <Slides>10</Slides>
  <Notes>10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10</vt:i4>
      </vt:variant>
    </vt:vector>
  </HeadingPairs>
  <TitlesOfParts>
    <vt:vector size="16" baseType="lpstr">
      <vt:lpstr>Samsung Sharp Sans Bold</vt:lpstr>
      <vt:lpstr>맑은 고딕</vt:lpstr>
      <vt:lpstr>맑은 고딕</vt:lpstr>
      <vt:lpstr>Arial</vt:lpstr>
      <vt:lpstr>Wingdings</vt:lpstr>
      <vt:lpstr>Office 테마</vt:lpstr>
      <vt:lpstr>DP1. 이기종 메모리 기반 Data Migration 결정 구조 - 배경</vt:lpstr>
      <vt:lpstr>DP1. 이기종 메모리 기반 Data Migration 결정 구조 - 배경</vt:lpstr>
      <vt:lpstr>DP1. 이기종 메모리 기반 Data Migration 결정 구조 - 설계</vt:lpstr>
      <vt:lpstr>DP1. 이기종 메모리 기반 Data Migration 결정 구조 - 설계</vt:lpstr>
      <vt:lpstr>DP2. 이기종 메모리 환경의 Prefill/Decode 실행 위치 결정 구조 - 사전 지식</vt:lpstr>
      <vt:lpstr>DP2. 이기종 메모리 환경의 Prefill/Decode 실행 위치 결정 구조 - 배경</vt:lpstr>
      <vt:lpstr>DP2. 이기종 메모리 환경의 Prefill/Decode 실행 위치 결정 구조 - 설계</vt:lpstr>
      <vt:lpstr>DP4. 요청 조율 구조 (Orchestration) - 배경</vt:lpstr>
      <vt:lpstr>DP4. 여러 서버를 묶는 요청 조율 구조 - 배경</vt:lpstr>
      <vt:lpstr>DP4. 요청 조율 계층 (Orchestration) 설계 - 구조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DP1. 이기종 메모리 기반 Data Migration 결정 구조 - 배경</dc:title>
  <dc:creator>Myeong Woo Kim</dc:creator>
  <cp:lastModifiedBy>Myeong Woo Kim</cp:lastModifiedBy>
  <cp:revision>1</cp:revision>
  <dcterms:created xsi:type="dcterms:W3CDTF">2026-10-10T04:25:41Z</dcterms:created>
  <dcterms:modified xsi:type="dcterms:W3CDTF">2026-10-10T04:26:54Z</dcterms:modified>
</cp:coreProperties>
</file>
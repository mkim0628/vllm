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929" r:id="rId2"/>
    <p:sldId id="943" r:id="rId3"/>
    <p:sldId id="812" r:id="rId4"/>
    <p:sldId id="931" r:id="rId5"/>
    <p:sldId id="920" r:id="rId6"/>
    <p:sldId id="945" r:id="rId7"/>
    <p:sldId id="946" r:id="rId8"/>
    <p:sldId id="926" r:id="rId9"/>
    <p:sldId id="886" r:id="rId10"/>
    <p:sldId id="959" r:id="rId11"/>
    <p:sldId id="870" r:id="rId12"/>
    <p:sldId id="960" r:id="rId13"/>
    <p:sldId id="962" r:id="rId30"/>
    <p:sldId id="963" r:id="rId31"/>
    <p:sldId id="964" r:id="rId32"/>
    <p:sldId id="965" r:id="rId33"/>
    <p:sldId id="966" r:id="rId34"/>
    <p:sldId id="967" r:id="rId35"/>
    <p:sldId id="968" r:id="rId36"/>
    <p:sldId id="969" r:id="rId37"/>
    <p:sldId id="970" r:id="rId38"/>
    <p:sldId id="971" r:id="rId39"/>
    <p:sldId id="972" r:id="rId40"/>
    <p:sldId id="973" r:id="rId41"/>
    <p:sldId id="974" r:id="rId42"/>
    <p:sldId id="459" r:id="rId14"/>
    <p:sldId id="277" r:id="rId15"/>
    <p:sldId id="411" r:id="rId16"/>
    <p:sldId id="961" r:id="rId17"/>
    <p:sldId id="446" r:id="rId18"/>
    <p:sldId id="482" r:id="rId19"/>
    <p:sldId id="484" r:id="rId20"/>
    <p:sldId id="483" r:id="rId21"/>
    <p:sldId id="487" r:id="rId22"/>
    <p:sldId id="485" r:id="rId23"/>
    <p:sldId id="486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5C805-4CF4-4314-8A05-50505E4D0A4C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AD3762-95E0-4C28-9328-63F3382276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38432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요구사항 표로 </a:t>
            </a:r>
            <a:r>
              <a:rPr lang="ko-KR" altLang="en-US" dirty="0" err="1"/>
              <a:t>보여주는게</a:t>
            </a:r>
            <a:r>
              <a:rPr lang="ko-KR" altLang="en-US" dirty="0"/>
              <a:t> 나을 듯</a:t>
            </a:r>
            <a:endParaRPr lang="en-US" altLang="ko-KR" dirty="0"/>
          </a:p>
          <a:p>
            <a:r>
              <a:rPr lang="en-US" altLang="ko-KR" dirty="0"/>
              <a:t>Id | Refinement | Description 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34587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해당 그림은 이번 과제에서 설계하는 런타임에 대한 </a:t>
            </a:r>
            <a:r>
              <a:rPr lang="en-US" altLang="ko-KR" dirty="0"/>
              <a:t>Module view</a:t>
            </a:r>
            <a:r>
              <a:rPr lang="ko-KR" altLang="en-US" dirty="0"/>
              <a:t>를 나타내고</a:t>
            </a:r>
            <a:r>
              <a:rPr lang="en-US" altLang="ko-KR" dirty="0"/>
              <a:t>, </a:t>
            </a:r>
            <a:r>
              <a:rPr lang="ko-KR" altLang="en-US" dirty="0"/>
              <a:t>각 </a:t>
            </a:r>
            <a:r>
              <a:rPr lang="en-US" altLang="ko-KR" dirty="0"/>
              <a:t>Module </a:t>
            </a:r>
            <a:r>
              <a:rPr lang="ko-KR" altLang="en-US" dirty="0"/>
              <a:t>별로 어떤 </a:t>
            </a:r>
            <a:r>
              <a:rPr lang="en-US" altLang="ko-KR" dirty="0"/>
              <a:t>DP</a:t>
            </a:r>
            <a:r>
              <a:rPr lang="ko-KR" altLang="en-US" dirty="0"/>
              <a:t>와 관련이 있는지를 표기하였습니다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선정된 </a:t>
            </a:r>
            <a:r>
              <a:rPr lang="en-US" altLang="ko-KR" dirty="0"/>
              <a:t>DP</a:t>
            </a:r>
            <a:r>
              <a:rPr lang="ko-KR" altLang="en-US" dirty="0"/>
              <a:t>는 총 </a:t>
            </a:r>
            <a:r>
              <a:rPr lang="en-US" altLang="ko-KR" dirty="0"/>
              <a:t>4</a:t>
            </a:r>
            <a:r>
              <a:rPr lang="ko-KR" altLang="en-US" dirty="0"/>
              <a:t>개로 오른쪽에 작성한 것과 같습니다</a:t>
            </a:r>
            <a:r>
              <a:rPr lang="en-US" altLang="ko-KR" dirty="0"/>
              <a:t>. </a:t>
            </a:r>
            <a:r>
              <a:rPr lang="ko-KR" altLang="en-US" dirty="0"/>
              <a:t>각각에 대해서는 다음 장부터 조금 더 상세히 설명을 드리도록 하겠습니다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F56981-8A65-4F3E-9859-015D93710B04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61984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959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16143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9614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80124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해당 그림은 </a:t>
            </a:r>
            <a:r>
              <a:rPr lang="en-US" altLang="ko-KR" baseline="0" dirty="0"/>
              <a:t>DP</a:t>
            </a:r>
            <a:r>
              <a:rPr lang="ko-KR" altLang="en-US" baseline="0" dirty="0"/>
              <a:t>에서 설정된 최종 </a:t>
            </a:r>
            <a:r>
              <a:rPr lang="ko-KR" altLang="en-US" baseline="0" dirty="0" err="1"/>
              <a:t>설계안을</a:t>
            </a:r>
            <a:r>
              <a:rPr lang="ko-KR" altLang="en-US" baseline="0" dirty="0"/>
              <a:t> 모두 반영한 </a:t>
            </a:r>
            <a:r>
              <a:rPr lang="en-US" altLang="ko-KR" baseline="0" dirty="0"/>
              <a:t>Module view</a:t>
            </a:r>
            <a:r>
              <a:rPr lang="ko-KR" altLang="en-US" baseline="0" dirty="0"/>
              <a:t>를 나타냅니다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DP-01</a:t>
            </a:r>
            <a:r>
              <a:rPr lang="ko-KR" altLang="en-US" baseline="0" dirty="0"/>
              <a:t>에 따라 컴파일러 및 런타임 컴포넌트의 구조를 결정하였으며</a:t>
            </a:r>
            <a:r>
              <a:rPr lang="en-US" altLang="ko-KR" baseline="0" dirty="0"/>
              <a:t>, DP-02</a:t>
            </a:r>
            <a:r>
              <a:rPr lang="ko-KR" altLang="en-US" baseline="0" dirty="0"/>
              <a:t>를 통해 컴파일러와 런타임의 역할을 결정하고</a:t>
            </a:r>
            <a:r>
              <a:rPr lang="en-US" altLang="ko-KR" baseline="0" dirty="0"/>
              <a:t> </a:t>
            </a:r>
            <a:r>
              <a:rPr lang="ko-KR" altLang="en-US" baseline="0" dirty="0"/>
              <a:t>이에 따른 구조 설계를 진행하였습니다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DP-03</a:t>
            </a:r>
            <a:r>
              <a:rPr lang="ko-KR" altLang="en-US" baseline="0" dirty="0"/>
              <a:t>인 컴파일러 중간 표현의 최종 설계안에 따라 계층별 </a:t>
            </a:r>
            <a:r>
              <a:rPr lang="en-US" altLang="ko-KR" baseline="0" dirty="0"/>
              <a:t>IR</a:t>
            </a:r>
            <a:r>
              <a:rPr lang="ko-KR" altLang="en-US" baseline="0" dirty="0"/>
              <a:t>을 정의하고</a:t>
            </a:r>
            <a:r>
              <a:rPr lang="en-US" altLang="ko-KR" baseline="0" dirty="0"/>
              <a:t>, DP-03</a:t>
            </a:r>
            <a:r>
              <a:rPr lang="ko-KR" altLang="en-US" baseline="0" dirty="0"/>
              <a:t>의 단점으로 제시된 최적화 복잡도를 완화하기 위해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우측과 같이 완전히 독립된 스케줄링 최적화 컴포넌트를 설계하여 다양한 최적화 기법을 연구 개발하여 적용할 수 있도록 하였습니다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또한 </a:t>
            </a:r>
            <a:r>
              <a:rPr lang="en-US" altLang="ko-KR" baseline="0" dirty="0"/>
              <a:t>DP04</a:t>
            </a:r>
            <a:r>
              <a:rPr lang="ko-KR" altLang="en-US" baseline="0" dirty="0"/>
              <a:t>인 하드웨어 정보 구성과 관련하여 별도의 </a:t>
            </a:r>
            <a:r>
              <a:rPr lang="en-US" altLang="ko-KR" baseline="0" dirty="0"/>
              <a:t>HW Manager </a:t>
            </a:r>
            <a:r>
              <a:rPr lang="ko-KR" altLang="en-US" baseline="0" dirty="0"/>
              <a:t>컴포넌트를 설계에 추가하였으며</a:t>
            </a:r>
            <a:r>
              <a:rPr lang="en-US" altLang="ko-KR" baseline="0" dirty="0"/>
              <a:t>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마지막으로 </a:t>
            </a:r>
            <a:r>
              <a:rPr lang="en-US" altLang="ko-KR" baseline="0" dirty="0"/>
              <a:t>DP05</a:t>
            </a:r>
            <a:r>
              <a:rPr lang="ko-KR" altLang="en-US" baseline="0" dirty="0"/>
              <a:t>와 관련해서는 </a:t>
            </a:r>
            <a:r>
              <a:rPr lang="en-US" altLang="ko-KR" baseline="0" dirty="0"/>
              <a:t>master-slave </a:t>
            </a:r>
            <a:r>
              <a:rPr lang="ko-KR" altLang="en-US" baseline="0" dirty="0"/>
              <a:t>구조의 런타임 동작을 위해 컴파일러에서 바이너리를 생성해주는 부분이 수정되고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런타임에서 </a:t>
            </a:r>
            <a:r>
              <a:rPr lang="en-US" altLang="ko-KR" baseline="0" dirty="0"/>
              <a:t>Distributed Runtime </a:t>
            </a:r>
            <a:r>
              <a:rPr lang="ko-KR" altLang="en-US" baseline="0" dirty="0"/>
              <a:t>컴포넌트가 새로 생겼습니다</a:t>
            </a:r>
            <a:r>
              <a:rPr lang="en-US" altLang="ko-KR" baseline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36472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앞서 설명 드린 </a:t>
            </a:r>
            <a:r>
              <a:rPr lang="en-US" altLang="ko-KR" dirty="0"/>
              <a:t>Stakeholder</a:t>
            </a:r>
            <a:r>
              <a:rPr lang="ko-KR" altLang="en-US" dirty="0"/>
              <a:t>로 부터 수집한 요구사항은 총 </a:t>
            </a:r>
            <a:r>
              <a:rPr lang="en-US" altLang="ko-KR" dirty="0"/>
              <a:t>54</a:t>
            </a:r>
            <a:r>
              <a:rPr lang="ko-KR" altLang="en-US" dirty="0"/>
              <a:t>건이며</a:t>
            </a:r>
            <a:r>
              <a:rPr lang="en-US" altLang="ko-KR" dirty="0"/>
              <a:t>, </a:t>
            </a:r>
            <a:r>
              <a:rPr lang="ko-KR" altLang="en-US" dirty="0"/>
              <a:t>이를 정제하는 과정을 거쳐 </a:t>
            </a:r>
            <a:r>
              <a:rPr lang="en-US" altLang="ko-KR" dirty="0"/>
              <a:t>22</a:t>
            </a:r>
            <a:r>
              <a:rPr lang="ko-KR" altLang="en-US" dirty="0"/>
              <a:t>건의 요구사항을 도출하였습니다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최종적으로 선정된 기능 요구사항은 총 </a:t>
            </a:r>
            <a:r>
              <a:rPr lang="en-US" altLang="ko-KR" dirty="0"/>
              <a:t>9</a:t>
            </a:r>
            <a:r>
              <a:rPr lang="ko-KR" altLang="en-US" dirty="0"/>
              <a:t>건이며</a:t>
            </a:r>
            <a:r>
              <a:rPr lang="en-US" altLang="ko-KR" dirty="0"/>
              <a:t>, </a:t>
            </a:r>
            <a:r>
              <a:rPr lang="ko-KR" altLang="en-US" dirty="0"/>
              <a:t>시스템 및 장치 지원</a:t>
            </a:r>
            <a:r>
              <a:rPr lang="en-US" altLang="ko-KR" dirty="0"/>
              <a:t>, </a:t>
            </a:r>
            <a:r>
              <a:rPr lang="ko-KR" altLang="en-US" dirty="0"/>
              <a:t>모델 지원</a:t>
            </a:r>
            <a:r>
              <a:rPr lang="en-US" altLang="ko-KR" dirty="0"/>
              <a:t>, Ondevice</a:t>
            </a:r>
            <a:r>
              <a:rPr lang="en-US" altLang="ko-KR" baseline="0" dirty="0"/>
              <a:t> </a:t>
            </a:r>
            <a:r>
              <a:rPr lang="ko-KR" altLang="en-US" baseline="0" dirty="0"/>
              <a:t>컴파일 등을 포함하고 있습니다</a:t>
            </a:r>
            <a:r>
              <a:rPr lang="en-US" altLang="ko-KR" baseline="0" dirty="0"/>
              <a:t>.</a:t>
            </a:r>
          </a:p>
          <a:p>
            <a:r>
              <a:rPr lang="ko-KR" altLang="en-US" baseline="0" dirty="0"/>
              <a:t>제약 사항으로는 핵심 </a:t>
            </a:r>
            <a:r>
              <a:rPr lang="en-US" altLang="ko-KR" baseline="0" dirty="0"/>
              <a:t>HW IP </a:t>
            </a:r>
            <a:r>
              <a:rPr lang="ko-KR" altLang="en-US" baseline="0" dirty="0"/>
              <a:t>정보를 컴파일러</a:t>
            </a:r>
            <a:r>
              <a:rPr lang="en-US" altLang="ko-KR" baseline="0" dirty="0"/>
              <a:t>/</a:t>
            </a:r>
            <a:r>
              <a:rPr lang="ko-KR" altLang="en-US" baseline="0" dirty="0"/>
              <a:t>런타임 사용자에게 노출시키지 않는 것이며</a:t>
            </a:r>
            <a:r>
              <a:rPr lang="en-US" altLang="ko-KR" baseline="0" dirty="0"/>
              <a:t>, </a:t>
            </a:r>
          </a:p>
          <a:p>
            <a:r>
              <a:rPr lang="ko-KR" altLang="en-US" baseline="0" dirty="0"/>
              <a:t>실제로 사업부 및 </a:t>
            </a:r>
            <a:r>
              <a:rPr lang="ko-KR" altLang="en-US" baseline="0" dirty="0" err="1"/>
              <a:t>고객사와</a:t>
            </a:r>
            <a:r>
              <a:rPr lang="ko-KR" altLang="en-US" baseline="0" dirty="0"/>
              <a:t> 직접 </a:t>
            </a:r>
            <a:r>
              <a:rPr lang="en-US" altLang="ko-KR" baseline="0" dirty="0"/>
              <a:t>Align</a:t>
            </a:r>
            <a:r>
              <a:rPr lang="ko-KR" altLang="en-US" baseline="0" dirty="0"/>
              <a:t>되어 진행되는 부분이 있어서 개발 일정을 준수해야 하는 것이 중요하기 때문에</a:t>
            </a:r>
            <a:endParaRPr lang="en-US" altLang="ko-KR" baseline="0" dirty="0"/>
          </a:p>
          <a:p>
            <a:r>
              <a:rPr lang="ko-KR" altLang="en-US" baseline="0" dirty="0"/>
              <a:t>총 </a:t>
            </a:r>
            <a:r>
              <a:rPr lang="en-US" altLang="ko-KR" baseline="0" dirty="0"/>
              <a:t>2</a:t>
            </a:r>
            <a:r>
              <a:rPr lang="ko-KR" altLang="en-US" baseline="0" dirty="0"/>
              <a:t>건의 제약 사항을 선정하였습니다</a:t>
            </a:r>
            <a:r>
              <a:rPr lang="en-US" altLang="ko-KR" baseline="0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08069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해당 그림은 </a:t>
            </a:r>
            <a:r>
              <a:rPr lang="en-US" altLang="ko-KR" baseline="0" dirty="0"/>
              <a:t>DP</a:t>
            </a:r>
            <a:r>
              <a:rPr lang="ko-KR" altLang="en-US" baseline="0" dirty="0"/>
              <a:t>에서 설정된 최종 </a:t>
            </a:r>
            <a:r>
              <a:rPr lang="ko-KR" altLang="en-US" baseline="0" dirty="0" err="1"/>
              <a:t>설계안을</a:t>
            </a:r>
            <a:r>
              <a:rPr lang="ko-KR" altLang="en-US" baseline="0" dirty="0"/>
              <a:t> 모두 반영한 </a:t>
            </a:r>
            <a:r>
              <a:rPr lang="en-US" altLang="ko-KR" baseline="0" dirty="0"/>
              <a:t>Module view</a:t>
            </a:r>
            <a:r>
              <a:rPr lang="ko-KR" altLang="en-US" baseline="0" dirty="0"/>
              <a:t>를 나타냅니다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DP-01</a:t>
            </a:r>
            <a:r>
              <a:rPr lang="ko-KR" altLang="en-US" baseline="0" dirty="0"/>
              <a:t>에 따라 컴파일러 및 런타임 컴포넌트의 구조를 결정하였으며</a:t>
            </a:r>
            <a:r>
              <a:rPr lang="en-US" altLang="ko-KR" baseline="0" dirty="0"/>
              <a:t>, DP-02</a:t>
            </a:r>
            <a:r>
              <a:rPr lang="ko-KR" altLang="en-US" baseline="0" dirty="0"/>
              <a:t>를 통해 컴파일러와 런타임의 역할을 결정하고</a:t>
            </a:r>
            <a:r>
              <a:rPr lang="en-US" altLang="ko-KR" baseline="0" dirty="0"/>
              <a:t> </a:t>
            </a:r>
            <a:r>
              <a:rPr lang="ko-KR" altLang="en-US" baseline="0" dirty="0"/>
              <a:t>이에 따른 구조 설계를 진행하였습니다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DP-03</a:t>
            </a:r>
            <a:r>
              <a:rPr lang="ko-KR" altLang="en-US" baseline="0" dirty="0"/>
              <a:t>인 컴파일러 중간 표현의 최종 설계안에 따라 계층별 </a:t>
            </a:r>
            <a:r>
              <a:rPr lang="en-US" altLang="ko-KR" baseline="0" dirty="0"/>
              <a:t>IR</a:t>
            </a:r>
            <a:r>
              <a:rPr lang="ko-KR" altLang="en-US" baseline="0" dirty="0"/>
              <a:t>을 정의하고</a:t>
            </a:r>
            <a:r>
              <a:rPr lang="en-US" altLang="ko-KR" baseline="0" dirty="0"/>
              <a:t>, DP-03</a:t>
            </a:r>
            <a:r>
              <a:rPr lang="ko-KR" altLang="en-US" baseline="0" dirty="0"/>
              <a:t>의 단점으로 제시된 최적화 복잡도를 완화하기 위해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우측과 같이 완전히 독립된 스케줄링 최적화 컴포넌트를 설계하여 다양한 최적화 기법을 연구 개발하여 적용할 수 있도록 하였습니다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또한 </a:t>
            </a:r>
            <a:r>
              <a:rPr lang="en-US" altLang="ko-KR" baseline="0" dirty="0"/>
              <a:t>DP04</a:t>
            </a:r>
            <a:r>
              <a:rPr lang="ko-KR" altLang="en-US" baseline="0" dirty="0"/>
              <a:t>인 하드웨어 정보 구성과 관련하여 별도의 </a:t>
            </a:r>
            <a:r>
              <a:rPr lang="en-US" altLang="ko-KR" baseline="0" dirty="0"/>
              <a:t>HW Manager </a:t>
            </a:r>
            <a:r>
              <a:rPr lang="ko-KR" altLang="en-US" baseline="0" dirty="0"/>
              <a:t>컴포넌트를 설계에 추가하였으며</a:t>
            </a:r>
            <a:r>
              <a:rPr lang="en-US" altLang="ko-KR" baseline="0" dirty="0"/>
              <a:t>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마지막으로 </a:t>
            </a:r>
            <a:r>
              <a:rPr lang="en-US" altLang="ko-KR" baseline="0" dirty="0"/>
              <a:t>DP05</a:t>
            </a:r>
            <a:r>
              <a:rPr lang="ko-KR" altLang="en-US" baseline="0" dirty="0"/>
              <a:t>와 관련해서는 </a:t>
            </a:r>
            <a:r>
              <a:rPr lang="en-US" altLang="ko-KR" baseline="0" dirty="0"/>
              <a:t>master-slave </a:t>
            </a:r>
            <a:r>
              <a:rPr lang="ko-KR" altLang="en-US" baseline="0" dirty="0"/>
              <a:t>구조의 런타임 동작을 위해 컴파일러에서 바이너리를 생성해주는 부분이 수정되고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런타임에서 </a:t>
            </a:r>
            <a:r>
              <a:rPr lang="en-US" altLang="ko-KR" baseline="0" dirty="0"/>
              <a:t>Distributed Runtime </a:t>
            </a:r>
            <a:r>
              <a:rPr lang="ko-KR" altLang="en-US" baseline="0" dirty="0"/>
              <a:t>컴포넌트가 새로 생겼습니다</a:t>
            </a:r>
            <a:r>
              <a:rPr lang="en-US" altLang="ko-KR" baseline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36472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좌측 그림은 </a:t>
            </a:r>
            <a:r>
              <a:rPr lang="en-US" altLang="ko-KR" baseline="0" dirty="0"/>
              <a:t>Component &amp; Connector View</a:t>
            </a:r>
            <a:r>
              <a:rPr lang="ko-KR" altLang="en-US" baseline="0" dirty="0"/>
              <a:t>를 나타내고</a:t>
            </a:r>
            <a:r>
              <a:rPr lang="en-US" altLang="ko-KR" baseline="0" dirty="0"/>
              <a:t>, </a:t>
            </a:r>
            <a:r>
              <a:rPr lang="ko-KR" altLang="en-US" baseline="0" dirty="0"/>
              <a:t>우측에는 </a:t>
            </a:r>
            <a:r>
              <a:rPr lang="en-US" altLang="ko-KR" baseline="0" dirty="0"/>
              <a:t>Deployment view</a:t>
            </a:r>
            <a:r>
              <a:rPr lang="ko-KR" altLang="en-US" baseline="0" dirty="0"/>
              <a:t>를 나타내었습니다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특히 </a:t>
            </a:r>
            <a:r>
              <a:rPr lang="en-US" altLang="ko-KR" baseline="0" dirty="0"/>
              <a:t>Deployment view</a:t>
            </a:r>
            <a:r>
              <a:rPr lang="ko-KR" altLang="en-US" baseline="0" dirty="0"/>
              <a:t>의 경우</a:t>
            </a:r>
            <a:r>
              <a:rPr lang="en-US" altLang="ko-KR" baseline="0" dirty="0"/>
              <a:t>, </a:t>
            </a:r>
            <a:r>
              <a:rPr lang="ko-KR" altLang="en-US" baseline="0" dirty="0"/>
              <a:t>하나의 컴파일러 및 런타임이 모델 학습을 위한 분산 </a:t>
            </a:r>
            <a:r>
              <a:rPr lang="en-US" altLang="ko-KR" baseline="0" dirty="0"/>
              <a:t>GPU </a:t>
            </a:r>
            <a:r>
              <a:rPr lang="ko-KR" altLang="en-US" baseline="0" dirty="0"/>
              <a:t>환경 및 </a:t>
            </a:r>
            <a:r>
              <a:rPr lang="en-US" altLang="ko-KR" baseline="0" dirty="0"/>
              <a:t>Ondevice </a:t>
            </a:r>
            <a:r>
              <a:rPr lang="ko-KR" altLang="en-US" baseline="0" dirty="0"/>
              <a:t>추론을 위한 모바일 환경에 </a:t>
            </a:r>
            <a:r>
              <a:rPr lang="en-US" altLang="ko-KR" baseline="0" dirty="0"/>
              <a:t>Deploy</a:t>
            </a:r>
            <a:r>
              <a:rPr lang="ko-KR" altLang="en-US" baseline="0" dirty="0"/>
              <a:t>가 되기 때문에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각각을 구분하여 별도의 </a:t>
            </a:r>
            <a:r>
              <a:rPr lang="en-US" altLang="ko-KR" baseline="0" dirty="0"/>
              <a:t>Deployment view</a:t>
            </a:r>
            <a:r>
              <a:rPr lang="ko-KR" altLang="en-US" baseline="0" dirty="0"/>
              <a:t>로 그렸습니다</a:t>
            </a:r>
            <a:r>
              <a:rPr lang="en-US" altLang="ko-KR" baseline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91042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19165350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31008296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21063990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26139936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36118498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6177806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4개 DP 최종안(보완 설계 포함)을 반영한 전체 모듈 구성. 근거: 3p Overall Architecture + 4~11p 최종안 + doc-mk DP 문서. 의미: 테두리색=담당 DP, 노란 fill=신규/수정 모듈. 모듈 배치는 제안([C]).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프로세스 경계(Client/EngineCore/Worker/Offline Analyzer/Metadata Server)와 connector 의미(call/event/data)를 구분. 근거: DP1~DP4 설계 + vLLM v1 프로세스 구조(ZMQ, shm MQ, KV connector). 의미: Plan 생성은 critical path 밖, 검증·dispatch만 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단일 노드(GPU 8장)와 멀티 노드(서버 2대+CXL 공유 풀+Metadata Server) 배포. 근거: project-context GC-1/2/9. 의미: 차세대 메모리는 시뮬레이션, 서버 간 PCIe 64GB/s 가정.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요청 조율·실행 위치 결정(DP2) 클래스. 근거: DP2 아키텍처 문서 §4 + vLLM 클래스. 의미: Scheduler는 ExecutionPlanner만 호출, 비용 모델은 순수 추정.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데이터 이동·자원 관리(DP1) 클래스. 근거: dp1-vllm-uml.md §1.3·§3. 의미: 판단(Control)·관측(Resource)·실행(Data) 분리, Lease로 stale 보정.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KV 재사용(DP3)과 서버 간 공유(DP4) 클래스. 근거: DP3/DP6 문서, 8~11p. 의미: 사전 분석 1회+서빙 조회, 메타데이터 Sharding.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FR01~04·C01~02·QA에서 UC01~UC11 도출. 근거: 1p, 2p. 의미: QA 기반 UC(UC09~11)는 회색, 핵심 DP UC는 DP색. QA-06은 원본 표에 번호만 비어 매핑 제외.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UC별 Actor·FR·QA·DP·모듈 추적표. 근거: 1p, 2p, 4~11p. 의미: 5개 핵심 UC(UC01·03·06·07·08)의 상세는 21~25p.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UC01 end-to-end 요청 경로. 근거: vllm/v1/engine, core/sched. 의미: schedule() 안이 UC03/UC06/UC07의 확장점.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UC03 Plan(비동기)/Decision(critical path) 분리. 근거: DP2 문서 §9.2, 7p. 의미: mismatch 시 순위 후보 k 순차 조회, 소진 시 비동기 replan.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UC06 사전 분석 1회 + 서빙 시 Base 공유/Delta 할당. 근거: 8~9p. 의미: HBM 3.0L→1.3L은 N=3, ρ=0.15 가정 예시이며 실측이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UC07 상태 관측·이동 결정 분리 + Lease. 근거: 4~5p, dp1-vllm-uml.md. 의미: Lease 만료 Event가 재평가를 유발, 실패는 UC09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UC08 중앙 Metadata Server(Sharding)+CXL 공유 풀. 근거: 10~11p. 의미: 실패·timeout은 재계산 fallback(QA-07).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ADF5FB-2990-42D6-87F6-0339711CF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31425C-524F-4528-A2C6-2AC9BFE96A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AC11B2-23AC-4568-8D90-6E440757E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84141A-1FCB-4253-8D59-B668B17B4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8EC380-BF48-4449-81BA-937BB1174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4063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79C87-A0F3-40FA-BAF6-5AC4ECC38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FCDCCF-3972-4AE6-9247-439E7EA5D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CC695F-3069-4EF8-8862-CCCFC72A5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7D42B8-9A5C-4A7D-AE05-497319476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BB4124-BE76-4585-9AFB-B1EB0B7A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1675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C80006-75C4-4319-AAFA-A51AD1DF5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C31C72-B218-4CBA-8C41-4DE4C7896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C34A41-BE05-4283-B489-AD2D351B8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24AE9E-65C7-45DB-9A85-C5D6F743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54A71E-0B8C-418F-9EB4-CF663C2B8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83183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BD6CE4-0387-4886-9679-62514B689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048DF6-E042-4C40-B75D-370F63AB18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1438D7-3D7A-48B2-9DB6-93C3992E24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524322-8FB3-441B-816F-E81516A04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5B5887A-1D61-4CB7-9895-FF608E06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9D3DB8A-DE25-474E-A941-D5F6FCE63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274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C71621-8EE0-4EAE-8C20-36EC1A58D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F436C7-8D72-4E7C-AB79-3D41BAC28E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BE86CF-9066-4393-97EB-3F1A9724CB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5478073-F55A-44F5-9EAC-A4AF90266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A1A993-37C9-4056-BAAE-09E141D2B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269CF5F-1D33-4340-8DF9-6BAE5D33B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0120BA8-17F8-4DB6-84A6-025BD14D7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BC44235-05DC-4E48-950C-2AF52633D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769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564AC7-B04E-4DC2-BCF1-42E39FCFC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C09AB40-02F3-4FED-9BB8-06EF29AA8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2A94C25-9E32-4E87-A61E-19A8DBB24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68C104-8F6C-4336-BD6A-D420CE55C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703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45161CD-9D8A-4A47-B582-B008A09BC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2FC14F1-C009-460B-A69D-37D29A67C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13A546-45D9-4081-8486-B9A208C81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08124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609842-36C6-40E2-B9CB-9B64E2469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DCFF72-D47F-4678-9C18-2B42F392E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954B377-4AAC-464B-A7BA-2A7855A7F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690DE6-DF19-4EC2-9680-A9335AFB9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DCF43E3-ECA1-4B99-96E5-4A7348EDC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04CCB62-4BC5-40E8-B52C-2DC3FBD76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056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6D21C2-8F4A-433E-A75A-2C65070D0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3D98D3D-E4D6-4FDD-850C-C157D0465D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CC50D7-3392-4836-A02E-3EDFB82604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C0AF2B-2494-4165-A0CB-C985BBCC6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776844-E118-42A4-8BB7-825739792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9CDB67-86A3-4B80-B43A-E1D9A5FB0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8306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8134E3-7021-4CA6-867B-AE1F1D435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5952982-620B-4BE7-95AD-BE395750E5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88E0BD7-2A47-4737-A859-3F18AA83E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A265B-3B9A-4C4D-8941-91E328993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DC6660-2321-46D4-BF52-4D276DA3E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1643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8F7DA7-D282-4A5A-9C16-163090C62A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7D12738-EFB1-44F0-92CF-ED689E5674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DC8554-91BF-4AC7-8E47-2CAA705A5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C1441D-5757-42FC-897F-EBB6EAFB1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BCDEA1-B763-4AAD-8F10-4F75D0B97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58542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271088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9" y="137379"/>
            <a:ext cx="621719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2" name="갈매기형 수장 21"/>
          <p:cNvSpPr/>
          <p:nvPr userDrawn="1"/>
        </p:nvSpPr>
        <p:spPr>
          <a:xfrm>
            <a:off x="6510272" y="137379"/>
            <a:ext cx="1031887" cy="357521"/>
          </a:xfrm>
          <a:prstGeom prst="chevron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과제 소개</a:t>
            </a:r>
          </a:p>
        </p:txBody>
      </p:sp>
      <p:sp>
        <p:nvSpPr>
          <p:cNvPr id="23" name="갈매기형 수장 22"/>
          <p:cNvSpPr/>
          <p:nvPr userDrawn="1"/>
        </p:nvSpPr>
        <p:spPr>
          <a:xfrm>
            <a:off x="7402754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요구사항</a:t>
            </a:r>
          </a:p>
        </p:txBody>
      </p:sp>
      <p:sp>
        <p:nvSpPr>
          <p:cNvPr id="25" name="갈매기형 수장 24"/>
          <p:cNvSpPr/>
          <p:nvPr userDrawn="1"/>
        </p:nvSpPr>
        <p:spPr>
          <a:xfrm>
            <a:off x="8301672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26" name="갈매기형 수장 25"/>
          <p:cNvSpPr/>
          <p:nvPr userDrawn="1"/>
        </p:nvSpPr>
        <p:spPr>
          <a:xfrm>
            <a:off x="9194153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구현</a:t>
            </a:r>
            <a:r>
              <a:rPr lang="en-US" altLang="ko-KR" sz="1000" b="1" dirty="0">
                <a:solidFill>
                  <a:schemeClr val="bg1"/>
                </a:solidFill>
              </a:rPr>
              <a:t>/</a:t>
            </a:r>
            <a:r>
              <a:rPr lang="ko-KR" altLang="en-US" sz="1000" b="1" dirty="0">
                <a:solidFill>
                  <a:schemeClr val="bg1"/>
                </a:solidFill>
              </a:rPr>
              <a:t>검증</a:t>
            </a:r>
          </a:p>
        </p:txBody>
      </p:sp>
      <p:sp>
        <p:nvSpPr>
          <p:cNvPr id="27" name="갈매기형 수장 26"/>
          <p:cNvSpPr/>
          <p:nvPr userDrawn="1"/>
        </p:nvSpPr>
        <p:spPr>
          <a:xfrm>
            <a:off x="10086636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결론</a:t>
            </a:r>
          </a:p>
        </p:txBody>
      </p:sp>
      <p:sp>
        <p:nvSpPr>
          <p:cNvPr id="28" name="직사각형 27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직사각형 28"/>
          <p:cNvSpPr/>
          <p:nvPr userDrawn="1"/>
        </p:nvSpPr>
        <p:spPr>
          <a:xfrm>
            <a:off x="10909598" y="137379"/>
            <a:ext cx="212127" cy="357521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endParaRPr lang="ko-KR" altLang="en-US" sz="1000" b="1">
              <a:solidFill>
                <a:schemeClr val="bg1"/>
              </a:solidFill>
            </a:endParaRPr>
          </a:p>
        </p:txBody>
      </p:sp>
      <p:sp>
        <p:nvSpPr>
          <p:cNvPr id="30" name="직사각형 29"/>
          <p:cNvSpPr/>
          <p:nvPr userDrawn="1"/>
        </p:nvSpPr>
        <p:spPr>
          <a:xfrm>
            <a:off x="6507070" y="137379"/>
            <a:ext cx="212127" cy="35752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endParaRPr lang="ko-KR" altLang="en-US" sz="1000" b="1">
              <a:solidFill>
                <a:schemeClr val="bg1"/>
              </a:solidFill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4645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ub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6" hasCustomPrompt="1"/>
          </p:nvPr>
        </p:nvSpPr>
        <p:spPr>
          <a:xfrm>
            <a:off x="295275" y="224684"/>
            <a:ext cx="7167035" cy="52605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 altLang="ko-KR" dirty="0"/>
              <a:t>Insert your main title</a:t>
            </a:r>
            <a:endParaRPr lang="ko-KR" altLang="en-US" dirty="0"/>
          </a:p>
        </p:txBody>
      </p:sp>
      <p:sp>
        <p:nvSpPr>
          <p:cNvPr id="7" name="직사각형 6"/>
          <p:cNvSpPr/>
          <p:nvPr userDrawn="1"/>
        </p:nvSpPr>
        <p:spPr>
          <a:xfrm>
            <a:off x="69851" y="851111"/>
            <a:ext cx="12037482" cy="45719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00"/>
          </a:p>
        </p:txBody>
      </p:sp>
      <p:pic>
        <p:nvPicPr>
          <p:cNvPr id="15" name="Picture 2" descr="I:\YISSUE\삼성\그래픽 모티브\아이콘\브랜딩4-1(아이콘)-13.png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t="51595" r="42041" b="26474"/>
          <a:stretch/>
        </p:blipFill>
        <p:spPr bwMode="auto">
          <a:xfrm flipH="1">
            <a:off x="0" y="6409267"/>
            <a:ext cx="1298960" cy="448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/>
          <p:cNvSpPr txBox="1"/>
          <p:nvPr userDrawn="1"/>
        </p:nvSpPr>
        <p:spPr>
          <a:xfrm>
            <a:off x="11322454" y="6534139"/>
            <a:ext cx="671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60E2A6B-A809-4840-BF14-8648BC0BDF87}" type="slidenum">
              <a:rPr lang="id-ID" sz="1200" b="0" i="0" smtClean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cs typeface="Titillium" charset="0"/>
              </a:rPr>
              <a:pPr algn="ctr"/>
              <a:t>‹#›</a:t>
            </a:fld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cs typeface="Titillium" charset="0"/>
              </a:rPr>
              <a:t> / </a:t>
            </a:r>
            <a:r>
              <a:rPr lang="en-US" sz="1200" b="0" i="0" baseline="0" dirty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cs typeface="Titillium" charset="0"/>
              </a:rPr>
              <a:t>33</a:t>
            </a:r>
            <a:endParaRPr lang="en-MY" sz="2400" b="0" i="0" dirty="0">
              <a:solidFill>
                <a:schemeClr val="bg1">
                  <a:lumMod val="50000"/>
                </a:schemeClr>
              </a:solidFill>
              <a:latin typeface="+mn-ea"/>
              <a:ea typeface="+mn-ea"/>
              <a:cs typeface="Titillium" charset="0"/>
            </a:endParaRPr>
          </a:p>
        </p:txBody>
      </p:sp>
      <p:sp>
        <p:nvSpPr>
          <p:cNvPr id="24" name="텍스트 개체 틀 4"/>
          <p:cNvSpPr>
            <a:spLocks noGrp="1"/>
          </p:cNvSpPr>
          <p:nvPr>
            <p:ph type="body" sz="quarter" idx="14" hasCustomPrompt="1"/>
          </p:nvPr>
        </p:nvSpPr>
        <p:spPr>
          <a:xfrm>
            <a:off x="902091" y="3667841"/>
            <a:ext cx="8228797" cy="890916"/>
          </a:xfrm>
          <a:prstGeom prst="rect">
            <a:avLst/>
          </a:prstGeom>
        </p:spPr>
        <p:txBody>
          <a:bodyPr/>
          <a:lstStyle>
            <a:lvl1pPr marL="265113" indent="-265113">
              <a:lnSpc>
                <a:spcPct val="70000"/>
              </a:lnSpc>
              <a:buFont typeface="Arial" panose="020B0604020202020204" pitchFamily="34" charset="0"/>
              <a:buChar char="•"/>
              <a:defRPr b="0" baseline="0"/>
            </a:lvl1pPr>
          </a:lstStyle>
          <a:p>
            <a:pPr lvl="0"/>
            <a:r>
              <a:rPr lang="en-US" altLang="ko-KR"/>
              <a:t>text</a:t>
            </a:r>
          </a:p>
          <a:p>
            <a:pPr lvl="0"/>
            <a:r>
              <a:rPr lang="en-US" altLang="ko-KR"/>
              <a:t>text</a:t>
            </a:r>
            <a:endParaRPr lang="ko-KR" altLang="en-US"/>
          </a:p>
        </p:txBody>
      </p:sp>
      <p:sp>
        <p:nvSpPr>
          <p:cNvPr id="25" name="텍스트 개체 틀 4"/>
          <p:cNvSpPr>
            <a:spLocks noGrp="1"/>
          </p:cNvSpPr>
          <p:nvPr>
            <p:ph type="body" sz="quarter" idx="15" hasCustomPrompt="1"/>
          </p:nvPr>
        </p:nvSpPr>
        <p:spPr>
          <a:xfrm>
            <a:off x="296520" y="2982571"/>
            <a:ext cx="8834369" cy="351317"/>
          </a:xfrm>
          <a:prstGeom prst="rect">
            <a:avLst/>
          </a:prstGeom>
        </p:spPr>
        <p:txBody>
          <a:bodyPr/>
          <a:lstStyle>
            <a:lvl1pPr marL="265113" indent="-265113">
              <a:buFontTx/>
              <a:buBlip>
                <a:blip r:embed="rId3"/>
              </a:buBlip>
              <a:defRPr sz="2000" b="1" baseline="0"/>
            </a:lvl1pPr>
          </a:lstStyle>
          <a:p>
            <a:pPr lvl="0"/>
            <a:r>
              <a:rPr lang="en-US" altLang="ko-KR" dirty="0"/>
              <a:t>First Sub-heading</a:t>
            </a:r>
            <a:endParaRPr lang="ko-KR" altLang="en-US" dirty="0"/>
          </a:p>
        </p:txBody>
      </p:sp>
      <p:sp>
        <p:nvSpPr>
          <p:cNvPr id="26" name="텍스트 개체 틀 4"/>
          <p:cNvSpPr>
            <a:spLocks noGrp="1"/>
          </p:cNvSpPr>
          <p:nvPr>
            <p:ph type="body" sz="quarter" idx="13" hasCustomPrompt="1"/>
          </p:nvPr>
        </p:nvSpPr>
        <p:spPr>
          <a:xfrm>
            <a:off x="902091" y="1682475"/>
            <a:ext cx="8228797" cy="890916"/>
          </a:xfrm>
          <a:prstGeom prst="rect">
            <a:avLst/>
          </a:prstGeom>
        </p:spPr>
        <p:txBody>
          <a:bodyPr/>
          <a:lstStyle>
            <a:lvl1pPr marL="265113" indent="-265113">
              <a:lnSpc>
                <a:spcPct val="70000"/>
              </a:lnSpc>
              <a:buFont typeface="Arial" panose="020B0604020202020204" pitchFamily="34" charset="0"/>
              <a:buChar char="•"/>
              <a:defRPr b="0" baseline="0"/>
            </a:lvl1pPr>
          </a:lstStyle>
          <a:p>
            <a:pPr lvl="0"/>
            <a:r>
              <a:rPr lang="en-US" altLang="ko-KR"/>
              <a:t>text</a:t>
            </a:r>
          </a:p>
          <a:p>
            <a:pPr lvl="0"/>
            <a:r>
              <a:rPr lang="en-US" altLang="ko-KR"/>
              <a:t>text</a:t>
            </a:r>
            <a:endParaRPr lang="ko-KR" altLang="en-US"/>
          </a:p>
        </p:txBody>
      </p:sp>
      <p:sp>
        <p:nvSpPr>
          <p:cNvPr id="27" name="텍스트 개체 틀 4"/>
          <p:cNvSpPr>
            <a:spLocks noGrp="1"/>
          </p:cNvSpPr>
          <p:nvPr>
            <p:ph type="body" sz="quarter" idx="12" hasCustomPrompt="1"/>
          </p:nvPr>
        </p:nvSpPr>
        <p:spPr>
          <a:xfrm>
            <a:off x="296520" y="997205"/>
            <a:ext cx="8834369" cy="351317"/>
          </a:xfrm>
          <a:prstGeom prst="rect">
            <a:avLst/>
          </a:prstGeom>
        </p:spPr>
        <p:txBody>
          <a:bodyPr/>
          <a:lstStyle>
            <a:lvl1pPr marL="265113" indent="-265113">
              <a:buFontTx/>
              <a:buBlip>
                <a:blip r:embed="rId3"/>
              </a:buBlip>
              <a:defRPr sz="2000" b="1" baseline="0"/>
            </a:lvl1pPr>
          </a:lstStyle>
          <a:p>
            <a:pPr lvl="0"/>
            <a:r>
              <a:rPr lang="en-US" altLang="ko-KR" dirty="0"/>
              <a:t>First Sub-heading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07384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949662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1C70E5E-3DD0-40C9-834A-9114ACBB7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A5FB5E-79D3-4765-A391-6966424B1A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1CB2CC-A963-4AAF-8D2D-058EFDFF9F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B93A88-6D85-4E4F-87C8-C7A1BF371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F1B9CA-3AC9-471E-A0A0-1E93FA2EFC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3996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slide" Target="slide1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 dirty="0" err="1">
                <a:solidFill>
                  <a:srgbClr val="000000"/>
                </a:solidFill>
                <a:latin typeface="맑은 고딕"/>
              </a:rPr>
              <a:t>주요</a:t>
            </a:r>
            <a:r>
              <a:rPr sz="2200" b="1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2200" b="1" i="0" dirty="0" err="1">
                <a:solidFill>
                  <a:srgbClr val="000000"/>
                </a:solidFill>
                <a:latin typeface="맑은 고딕"/>
              </a:rPr>
              <a:t>기능</a:t>
            </a:r>
            <a:r>
              <a:rPr sz="2200" b="1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2200" b="1" i="0" dirty="0" err="1">
                <a:solidFill>
                  <a:srgbClr val="000000"/>
                </a:solidFill>
                <a:latin typeface="맑은 고딕"/>
              </a:rPr>
              <a:t>요구사항</a:t>
            </a:r>
            <a:r>
              <a:rPr sz="2200" b="1" i="0" dirty="0">
                <a:solidFill>
                  <a:srgbClr val="000000"/>
                </a:solidFill>
                <a:latin typeface="맑은 고딕"/>
              </a:rPr>
              <a:t> 및 </a:t>
            </a:r>
            <a:r>
              <a:rPr sz="2200" b="1" i="0" dirty="0" err="1">
                <a:solidFill>
                  <a:srgbClr val="000000"/>
                </a:solidFill>
                <a:latin typeface="맑은 고딕"/>
              </a:rPr>
              <a:t>제약사항</a:t>
            </a:r>
            <a:endParaRPr sz="2200" b="1" i="0" dirty="0">
              <a:solidFill>
                <a:srgbClr val="000000"/>
              </a:solidFill>
              <a:latin typeface="맑은 고딕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237744" y="873085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65175" y="1360639"/>
            <a:ext cx="11588157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3503" y="1360639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30936" y="1378927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5" y="1890991"/>
            <a:ext cx="11588157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3503" y="1890991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30936" y="1909279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5" y="1482231"/>
            <a:ext cx="6093291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US" altLang="ko-KR" sz="1100" b="1" dirty="0">
                <a:solidFill>
                  <a:srgbClr val="000000"/>
                </a:solidFill>
              </a:rPr>
              <a:t>LLM </a:t>
            </a:r>
            <a:r>
              <a:rPr lang="ko-KR" altLang="en-US" sz="1100" b="1" dirty="0">
                <a:solidFill>
                  <a:srgbClr val="000000"/>
                </a:solidFill>
              </a:rPr>
              <a:t>추론 요청을 수신하고</a:t>
            </a:r>
            <a:r>
              <a:rPr lang="en-US" altLang="ko-KR" sz="1100" b="1" dirty="0">
                <a:solidFill>
                  <a:srgbClr val="000000"/>
                </a:solidFill>
              </a:rPr>
              <a:t>, </a:t>
            </a:r>
            <a:r>
              <a:rPr lang="ko-KR" altLang="en-US" sz="1100" b="1" dirty="0" err="1">
                <a:solidFill>
                  <a:srgbClr val="000000"/>
                </a:solidFill>
              </a:rPr>
              <a:t>요청별</a:t>
            </a:r>
            <a:r>
              <a:rPr lang="ko-KR" altLang="en-US" sz="1100" b="1" dirty="0">
                <a:solidFill>
                  <a:srgbClr val="000000"/>
                </a:solidFill>
              </a:rPr>
              <a:t> 입력 및 실행 상태를 관리한다</a:t>
            </a:r>
            <a:r>
              <a:rPr lang="en-US" altLang="ko-KR" sz="1100" b="1" dirty="0">
                <a:solidFill>
                  <a:srgbClr val="000000"/>
                </a:solidFill>
              </a:rPr>
              <a:t>.</a:t>
            </a:r>
            <a:endParaRPr lang="ko-KR" altLang="en-US" sz="1100" b="1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65176" y="2421342"/>
            <a:ext cx="11588156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3503" y="2421342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30936" y="2439630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" y="2951694"/>
            <a:ext cx="11588156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03503" y="2951694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30936" y="2969982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9576" y="2015771"/>
            <a:ext cx="7265924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ko-KR" altLang="en-US" sz="1100" b="1" dirty="0">
                <a:solidFill>
                  <a:srgbClr val="000000"/>
                </a:solidFill>
              </a:rPr>
              <a:t>다중 요청의 실행 순서와 </a:t>
            </a:r>
            <a:r>
              <a:rPr lang="ko-KR" altLang="en-US" sz="1100" b="1" dirty="0" err="1">
                <a:solidFill>
                  <a:srgbClr val="000000"/>
                </a:solidFill>
              </a:rPr>
              <a:t>배칭을</a:t>
            </a:r>
            <a:r>
              <a:rPr lang="ko-KR" altLang="en-US" sz="1100" b="1" dirty="0">
                <a:solidFill>
                  <a:srgbClr val="000000"/>
                </a:solidFill>
              </a:rPr>
              <a:t> 결정하고</a:t>
            </a:r>
            <a:r>
              <a:rPr lang="en-US" altLang="ko-KR" sz="1100" b="1" dirty="0">
                <a:solidFill>
                  <a:srgbClr val="000000"/>
                </a:solidFill>
              </a:rPr>
              <a:t>, </a:t>
            </a:r>
            <a:r>
              <a:rPr lang="ko-KR" altLang="en-US" sz="1100" b="1" dirty="0">
                <a:solidFill>
                  <a:srgbClr val="000000"/>
                </a:solidFill>
              </a:rPr>
              <a:t>가용 연산 자원에 작업을 할당하여 실행 시점을 조정</a:t>
            </a:r>
            <a:r>
              <a:rPr lang="en-US" altLang="ko-KR" sz="1100" b="1" dirty="0">
                <a:solidFill>
                  <a:srgbClr val="000000"/>
                </a:solidFill>
              </a:rPr>
              <a:t>(</a:t>
            </a:r>
            <a:r>
              <a:rPr lang="ko-KR" altLang="en-US" sz="1100" b="1" dirty="0">
                <a:solidFill>
                  <a:srgbClr val="000000"/>
                </a:solidFill>
              </a:rPr>
              <a:t>스케줄링</a:t>
            </a:r>
            <a:r>
              <a:rPr lang="en-US" altLang="ko-KR" sz="1100" b="1" dirty="0">
                <a:solidFill>
                  <a:srgbClr val="000000"/>
                </a:solidFill>
              </a:rPr>
              <a:t>)</a:t>
            </a:r>
            <a:r>
              <a:rPr lang="ko-KR" altLang="en-US" sz="1100" b="1" dirty="0">
                <a:solidFill>
                  <a:srgbClr val="000000"/>
                </a:solidFill>
              </a:rPr>
              <a:t>한다</a:t>
            </a:r>
            <a:r>
              <a:rPr lang="en-US" altLang="ko-KR" sz="1100" b="1" dirty="0">
                <a:solidFill>
                  <a:srgbClr val="000000"/>
                </a:solidFill>
              </a:rPr>
              <a:t>.</a:t>
            </a:r>
            <a:endParaRPr lang="ko-KR" altLang="en-US" sz="1100" b="1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D39D4B0-244F-4FC9-B93F-DC6D352A79F4}"/>
              </a:ext>
            </a:extLst>
          </p:cNvPr>
          <p:cNvSpPr txBox="1"/>
          <p:nvPr/>
        </p:nvSpPr>
        <p:spPr>
          <a:xfrm>
            <a:off x="8144933" y="1460530"/>
            <a:ext cx="37083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</a:t>
            </a:r>
            <a:r>
              <a:rPr lang="ko-KR" altLang="en-US" sz="1100" dirty="0"/>
              <a:t>추론 요청 관리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8A3B323-AAEE-473A-AF1A-0D606D76FEB4}"/>
              </a:ext>
            </a:extLst>
          </p:cNvPr>
          <p:cNvSpPr txBox="1"/>
          <p:nvPr/>
        </p:nvSpPr>
        <p:spPr>
          <a:xfrm>
            <a:off x="5046133" y="1991636"/>
            <a:ext cx="680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</a:t>
            </a:r>
            <a:r>
              <a:rPr lang="ko-KR" altLang="en-US" sz="1100" dirty="0"/>
              <a:t>추론 스케줄링</a:t>
            </a:r>
          </a:p>
        </p:txBody>
      </p:sp>
      <p:sp>
        <p:nvSpPr>
          <p:cNvPr id="79" name="Rectangle 45">
            <a:extLst>
              <a:ext uri="{FF2B5EF4-FFF2-40B4-BE49-F238E27FC236}">
                <a16:creationId xmlns:a16="http://schemas.microsoft.com/office/drawing/2014/main" id="{3FCA8F25-63F1-47C2-AF65-DF75850C1EA1}"/>
              </a:ext>
            </a:extLst>
          </p:cNvPr>
          <p:cNvSpPr/>
          <p:nvPr/>
        </p:nvSpPr>
        <p:spPr>
          <a:xfrm>
            <a:off x="218102" y="4813596"/>
            <a:ext cx="11615588" cy="480902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46">
            <a:extLst>
              <a:ext uri="{FF2B5EF4-FFF2-40B4-BE49-F238E27FC236}">
                <a16:creationId xmlns:a16="http://schemas.microsoft.com/office/drawing/2014/main" id="{D28FE1C4-816C-4972-B17F-633272FB8ED7}"/>
              </a:ext>
            </a:extLst>
          </p:cNvPr>
          <p:cNvSpPr/>
          <p:nvPr/>
        </p:nvSpPr>
        <p:spPr>
          <a:xfrm>
            <a:off x="556430" y="4813596"/>
            <a:ext cx="640080" cy="480902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47">
            <a:extLst>
              <a:ext uri="{FF2B5EF4-FFF2-40B4-BE49-F238E27FC236}">
                <a16:creationId xmlns:a16="http://schemas.microsoft.com/office/drawing/2014/main" id="{6441E98F-EA5F-4518-BA2F-8B9E7D52008A}"/>
              </a:ext>
            </a:extLst>
          </p:cNvPr>
          <p:cNvSpPr/>
          <p:nvPr/>
        </p:nvSpPr>
        <p:spPr>
          <a:xfrm>
            <a:off x="583862" y="4827336"/>
            <a:ext cx="603503" cy="453421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D5A7070-27AE-4C35-BBA5-133CB01EB5CD}"/>
              </a:ext>
            </a:extLst>
          </p:cNvPr>
          <p:cNvSpPr txBox="1"/>
          <p:nvPr/>
        </p:nvSpPr>
        <p:spPr>
          <a:xfrm>
            <a:off x="1315381" y="4954789"/>
            <a:ext cx="7540751" cy="19851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US" altLang="ko-KR" sz="1050" b="1" dirty="0" err="1"/>
              <a:t>vLLM</a:t>
            </a:r>
            <a:r>
              <a:rPr lang="en-US" altLang="ko-KR" sz="1050" b="1" dirty="0"/>
              <a:t> </a:t>
            </a:r>
            <a:r>
              <a:rPr lang="ko-KR" altLang="en-US" sz="1050" b="1" dirty="0" err="1"/>
              <a:t>서빙</a:t>
            </a:r>
            <a:r>
              <a:rPr lang="ko-KR" altLang="en-US" sz="1050" b="1" dirty="0"/>
              <a:t> </a:t>
            </a:r>
            <a:r>
              <a:rPr lang="en-US" altLang="ko-KR" sz="1050" b="1" dirty="0"/>
              <a:t>Framework </a:t>
            </a:r>
            <a:r>
              <a:rPr lang="ko-KR" altLang="en-US" sz="1050" b="1" dirty="0"/>
              <a:t>기반으로 개발한다</a:t>
            </a:r>
            <a:r>
              <a:rPr lang="en-US" altLang="ko-KR" sz="1050" b="1" dirty="0"/>
              <a:t> </a:t>
            </a:r>
            <a:endParaRPr lang="en-US" altLang="ko-KR" sz="1050" b="1" i="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04FE08-1DEE-45B4-9CF1-EF975F110581}"/>
              </a:ext>
            </a:extLst>
          </p:cNvPr>
          <p:cNvSpPr txBox="1"/>
          <p:nvPr/>
        </p:nvSpPr>
        <p:spPr>
          <a:xfrm>
            <a:off x="197339" y="921031"/>
            <a:ext cx="18524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chemeClr val="accent5">
                    <a:lumMod val="50000"/>
                  </a:schemeClr>
                </a:solidFill>
              </a:rPr>
              <a:t>기능 요구사항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646E41B-0C2D-4C16-B4E0-E14283A0EF12}"/>
              </a:ext>
            </a:extLst>
          </p:cNvPr>
          <p:cNvSpPr txBox="1"/>
          <p:nvPr/>
        </p:nvSpPr>
        <p:spPr>
          <a:xfrm>
            <a:off x="218102" y="4352692"/>
            <a:ext cx="18524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chemeClr val="accent6">
                    <a:lumMod val="50000"/>
                  </a:schemeClr>
                </a:solidFill>
              </a:rPr>
              <a:t>제약사항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03D20420-D68B-4666-B110-11317DEE246D}"/>
              </a:ext>
            </a:extLst>
          </p:cNvPr>
          <p:cNvSpPr txBox="1"/>
          <p:nvPr/>
        </p:nvSpPr>
        <p:spPr>
          <a:xfrm>
            <a:off x="1179576" y="2570535"/>
            <a:ext cx="6834124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US" altLang="ko-KR" sz="1100" b="1" dirty="0">
                <a:solidFill>
                  <a:srgbClr val="000000"/>
                </a:solidFill>
              </a:rPr>
              <a:t>LLM </a:t>
            </a:r>
            <a:r>
              <a:rPr lang="ko-KR" altLang="en-US" sz="1100" b="1" dirty="0">
                <a:solidFill>
                  <a:srgbClr val="000000"/>
                </a:solidFill>
              </a:rPr>
              <a:t>모델을 실행하여 입력에 대한</a:t>
            </a:r>
            <a:r>
              <a:rPr lang="en-US" altLang="ko-KR" sz="1100" b="1" dirty="0">
                <a:solidFill>
                  <a:srgbClr val="000000"/>
                </a:solidFill>
              </a:rPr>
              <a:t> </a:t>
            </a:r>
            <a:r>
              <a:rPr lang="ko-KR" altLang="en-US" sz="1100" b="1" dirty="0">
                <a:solidFill>
                  <a:srgbClr val="000000"/>
                </a:solidFill>
              </a:rPr>
              <a:t>연산을 수행하고 출력 토큰을 생성한다</a:t>
            </a:r>
            <a:r>
              <a:rPr lang="en-US" altLang="ko-KR" sz="1100" b="1" dirty="0">
                <a:solidFill>
                  <a:srgbClr val="000000"/>
                </a:solidFill>
              </a:rPr>
              <a:t>.</a:t>
            </a:r>
            <a:endParaRPr lang="ko-KR" altLang="en-US" sz="1100" b="1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1461643-C2FA-4E83-9270-39C3F56B508A}"/>
              </a:ext>
            </a:extLst>
          </p:cNvPr>
          <p:cNvSpPr txBox="1"/>
          <p:nvPr/>
        </p:nvSpPr>
        <p:spPr>
          <a:xfrm>
            <a:off x="5046133" y="2532478"/>
            <a:ext cx="680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LLM </a:t>
            </a:r>
            <a:r>
              <a:rPr lang="ko-KR" altLang="en-US" sz="1100" dirty="0"/>
              <a:t>추론 실행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721E31D8-0D3C-4FBD-9B1A-AF55B77A1FD7}"/>
              </a:ext>
            </a:extLst>
          </p:cNvPr>
          <p:cNvSpPr txBox="1"/>
          <p:nvPr/>
        </p:nvSpPr>
        <p:spPr>
          <a:xfrm>
            <a:off x="1179576" y="3077572"/>
            <a:ext cx="4846320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ko-KR" altLang="en-US" sz="1100" b="1" dirty="0">
                <a:solidFill>
                  <a:srgbClr val="000000"/>
                </a:solidFill>
              </a:rPr>
              <a:t>추론 과정에서 생성되는 </a:t>
            </a:r>
            <a:r>
              <a:rPr lang="en-US" altLang="ko-KR" sz="1100" b="1" dirty="0">
                <a:solidFill>
                  <a:srgbClr val="000000"/>
                </a:solidFill>
              </a:rPr>
              <a:t>KV </a:t>
            </a:r>
            <a:r>
              <a:rPr lang="ko-KR" altLang="en-US" sz="1100" b="1" dirty="0">
                <a:solidFill>
                  <a:srgbClr val="000000"/>
                </a:solidFill>
              </a:rPr>
              <a:t>캐시를 할당</a:t>
            </a:r>
            <a:r>
              <a:rPr lang="en-US" altLang="ko-KR" sz="1100" b="1" dirty="0">
                <a:solidFill>
                  <a:srgbClr val="000000"/>
                </a:solidFill>
              </a:rPr>
              <a:t>, </a:t>
            </a:r>
            <a:r>
              <a:rPr lang="ko-KR" altLang="en-US" sz="1100" b="1" dirty="0">
                <a:solidFill>
                  <a:srgbClr val="000000"/>
                </a:solidFill>
              </a:rPr>
              <a:t>저장</a:t>
            </a:r>
            <a:r>
              <a:rPr lang="en-US" altLang="ko-KR" sz="1100" b="1" dirty="0">
                <a:solidFill>
                  <a:srgbClr val="000000"/>
                </a:solidFill>
              </a:rPr>
              <a:t>, </a:t>
            </a:r>
            <a:r>
              <a:rPr lang="ko-KR" altLang="en-US" sz="1100" b="1" dirty="0">
                <a:solidFill>
                  <a:srgbClr val="000000"/>
                </a:solidFill>
              </a:rPr>
              <a:t>재사용 및 해제한다</a:t>
            </a:r>
            <a:r>
              <a:rPr lang="en-US" altLang="ko-KR" sz="1100" b="1" dirty="0">
                <a:solidFill>
                  <a:srgbClr val="000000"/>
                </a:solidFill>
              </a:rPr>
              <a:t>.</a:t>
            </a:r>
            <a:endParaRPr lang="ko-KR" altLang="en-US" sz="1100" b="1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E03050F-1B33-4E51-B626-E954EE61AD7F}"/>
              </a:ext>
            </a:extLst>
          </p:cNvPr>
          <p:cNvSpPr txBox="1"/>
          <p:nvPr/>
        </p:nvSpPr>
        <p:spPr>
          <a:xfrm>
            <a:off x="5046133" y="3058684"/>
            <a:ext cx="680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KV </a:t>
            </a:r>
            <a:r>
              <a:rPr lang="ko-KR" altLang="en-US" sz="1100" dirty="0"/>
              <a:t>캐시 관리</a:t>
            </a:r>
            <a:endParaRPr lang="en-US" altLang="ko-KR" sz="1100" dirty="0"/>
          </a:p>
        </p:txBody>
      </p:sp>
      <p:sp>
        <p:nvSpPr>
          <p:cNvPr id="8" name="실행 단추: 앞으로 또는 다음 7">
            <a:hlinkClick r:id="" action="ppaction://noaction" highlightClick="1"/>
          </p:cNvPr>
          <p:cNvSpPr/>
          <p:nvPr/>
        </p:nvSpPr>
        <p:spPr>
          <a:xfrm>
            <a:off x="10302719" y="1000682"/>
            <a:ext cx="247357" cy="22556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실행 단추: 앞으로 또는 다음 54">
            <a:hlinkClick r:id="" action="ppaction://noaction" highlightClick="1"/>
          </p:cNvPr>
          <p:cNvSpPr/>
          <p:nvPr/>
        </p:nvSpPr>
        <p:spPr>
          <a:xfrm>
            <a:off x="11671292" y="999121"/>
            <a:ext cx="232287" cy="228736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/>
          <p:cNvSpPr txBox="1"/>
          <p:nvPr/>
        </p:nvSpPr>
        <p:spPr>
          <a:xfrm>
            <a:off x="9071569" y="1028401"/>
            <a:ext cx="1278043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050" b="0" i="0" dirty="0">
                <a:solidFill>
                  <a:srgbClr val="404040"/>
                </a:solidFill>
                <a:latin typeface="맑은 고딕"/>
                <a:ea typeface="맑은 고딕"/>
              </a:rPr>
              <a:t>기능 요구사항 전체 </a:t>
            </a:r>
            <a:endParaRPr sz="10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735432" y="1028401"/>
            <a:ext cx="982791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050" b="0" i="0">
                <a:solidFill>
                  <a:srgbClr val="404040"/>
                </a:solidFill>
                <a:latin typeface="맑은 고딕"/>
                <a:ea typeface="맑은 고딕"/>
              </a:rPr>
              <a:t>요구사항 정제</a:t>
            </a:r>
            <a:endParaRPr sz="10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81C0127-3DDD-4B91-8D00-013FC1325DD7}"/>
              </a:ext>
            </a:extLst>
          </p:cNvPr>
          <p:cNvSpPr txBox="1"/>
          <p:nvPr/>
        </p:nvSpPr>
        <p:spPr>
          <a:xfrm>
            <a:off x="5046133" y="4933589"/>
            <a:ext cx="680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</a:t>
            </a:r>
            <a:r>
              <a:rPr lang="ko-KR" altLang="en-US" sz="1100" dirty="0"/>
              <a:t>개발 환경 </a:t>
            </a:r>
          </a:p>
        </p:txBody>
      </p:sp>
      <p:sp>
        <p:nvSpPr>
          <p:cNvPr id="50" name="Rectangle 45">
            <a:extLst>
              <a:ext uri="{FF2B5EF4-FFF2-40B4-BE49-F238E27FC236}">
                <a16:creationId xmlns:a16="http://schemas.microsoft.com/office/drawing/2014/main" id="{21BDE2AC-7258-4268-A7AD-C44418089B10}"/>
              </a:ext>
            </a:extLst>
          </p:cNvPr>
          <p:cNvSpPr/>
          <p:nvPr/>
        </p:nvSpPr>
        <p:spPr>
          <a:xfrm>
            <a:off x="218102" y="5393514"/>
            <a:ext cx="11615588" cy="480902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46">
            <a:extLst>
              <a:ext uri="{FF2B5EF4-FFF2-40B4-BE49-F238E27FC236}">
                <a16:creationId xmlns:a16="http://schemas.microsoft.com/office/drawing/2014/main" id="{24055539-83D1-4EB6-A5F6-D51297921A05}"/>
              </a:ext>
            </a:extLst>
          </p:cNvPr>
          <p:cNvSpPr/>
          <p:nvPr/>
        </p:nvSpPr>
        <p:spPr>
          <a:xfrm>
            <a:off x="556430" y="5393514"/>
            <a:ext cx="640080" cy="480902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47">
            <a:extLst>
              <a:ext uri="{FF2B5EF4-FFF2-40B4-BE49-F238E27FC236}">
                <a16:creationId xmlns:a16="http://schemas.microsoft.com/office/drawing/2014/main" id="{00FBCFC1-DC86-4DF0-A0F5-D033401BDB43}"/>
              </a:ext>
            </a:extLst>
          </p:cNvPr>
          <p:cNvSpPr/>
          <p:nvPr/>
        </p:nvSpPr>
        <p:spPr>
          <a:xfrm>
            <a:off x="583862" y="5407254"/>
            <a:ext cx="603503" cy="453421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맑은 고딕"/>
              </a:rPr>
              <a:t>C0</a:t>
            </a:r>
            <a:r>
              <a:rPr lang="en-US" sz="1100" b="1" i="0" dirty="0">
                <a:solidFill>
                  <a:srgbClr val="FFFFFF"/>
                </a:solidFill>
                <a:latin typeface="맑은 고딕"/>
              </a:rPr>
              <a:t>2</a:t>
            </a:r>
            <a:endParaRPr sz="1100" b="1" i="0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2687D3C-A50F-431C-A9DE-F1E7205F8F17}"/>
              </a:ext>
            </a:extLst>
          </p:cNvPr>
          <p:cNvSpPr txBox="1"/>
          <p:nvPr/>
        </p:nvSpPr>
        <p:spPr>
          <a:xfrm>
            <a:off x="1315381" y="5534707"/>
            <a:ext cx="7540751" cy="19851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US" altLang="ko-KR" sz="1050" b="1" dirty="0"/>
              <a:t>LLM </a:t>
            </a:r>
            <a:r>
              <a:rPr lang="ko-KR" altLang="en-US" sz="1050" b="1" dirty="0"/>
              <a:t>모델의 추론 정확도 저하는 기본 대비 </a:t>
            </a:r>
            <a:r>
              <a:rPr lang="en-US" altLang="ko-KR" sz="1050" b="1" dirty="0"/>
              <a:t>1% </a:t>
            </a:r>
            <a:r>
              <a:rPr lang="ko-KR" altLang="en-US" sz="1050" b="1" dirty="0"/>
              <a:t>이내여야 한다</a:t>
            </a:r>
            <a:r>
              <a:rPr lang="en-US" altLang="ko-KR" sz="1050" b="1" dirty="0"/>
              <a:t>. </a:t>
            </a:r>
            <a:r>
              <a:rPr lang="ko-KR" altLang="en-US" sz="1050" b="1" i="0" dirty="0"/>
              <a:t> </a:t>
            </a:r>
            <a:endParaRPr lang="en-US" altLang="ko-KR" sz="1050" b="1" i="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831A06-B334-4FFE-82CD-1259EF6E0A64}"/>
              </a:ext>
            </a:extLst>
          </p:cNvPr>
          <p:cNvSpPr txBox="1"/>
          <p:nvPr/>
        </p:nvSpPr>
        <p:spPr>
          <a:xfrm>
            <a:off x="7272866" y="5513507"/>
            <a:ext cx="4580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</a:t>
            </a:r>
            <a:r>
              <a:rPr lang="ko-KR" altLang="en-US" sz="1100" dirty="0"/>
              <a:t> 추론 정확도 보장</a:t>
            </a:r>
          </a:p>
        </p:txBody>
      </p:sp>
    </p:spTree>
    <p:extLst>
      <p:ext uri="{BB962C8B-B14F-4D97-AF65-F5344CB8AC3E}">
        <p14:creationId xmlns:p14="http://schemas.microsoft.com/office/powerpoint/2010/main" val="167497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/>
        </p:nvGraphicFramePr>
        <p:xfrm>
          <a:off x="278859" y="996757"/>
          <a:ext cx="11709382" cy="3769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새로운 메모리 </a:t>
                      </a:r>
                      <a:r>
                        <a:rPr lang="en-US" altLang="ko-KR" sz="900" dirty="0"/>
                        <a:t>tier, </a:t>
                      </a:r>
                      <a:r>
                        <a:rPr lang="ko-KR" altLang="en-US" sz="900" dirty="0"/>
                        <a:t>이동</a:t>
                      </a:r>
                      <a:r>
                        <a:rPr lang="en-US" altLang="ko-KR" sz="900" dirty="0"/>
                        <a:t>·</a:t>
                      </a:r>
                      <a:r>
                        <a:rPr lang="ko-KR" altLang="en-US" sz="900" dirty="0"/>
                        <a:t>배치 정책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데이터 객체 유형을 추가할 때 서빙 경로를 수정하지 않고 반영할 수 있어야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</a:t>
                      </a:r>
                      <a:r>
                        <a:rPr lang="ko-KR" altLang="en-US" sz="900" b="1" dirty="0"/>
                        <a:t>토큰 비용 </a:t>
                      </a:r>
                      <a:r>
                        <a:rPr lang="en-US" altLang="ko-KR" sz="900" b="1" dirty="0"/>
                        <a:t>&lt; [ ] </a:t>
                      </a:r>
                      <a:r>
                        <a:rPr lang="ko-KR" altLang="en-US" sz="900" b="1" dirty="0"/>
                        <a:t>개</a:t>
                      </a:r>
                      <a:r>
                        <a:rPr lang="en-US" altLang="ko-KR" sz="900" b="1" dirty="0"/>
                        <a:t>, </a:t>
                      </a:r>
                      <a:r>
                        <a:rPr lang="ko-KR" altLang="en-US" sz="900" b="1" dirty="0"/>
                        <a:t>공수 </a:t>
                      </a:r>
                      <a:r>
                        <a:rPr lang="en-US" altLang="ko-KR" sz="900" b="1" dirty="0"/>
                        <a:t>&lt; [ ] MM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642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49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565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직사각형 165">
            <a:extLst>
              <a:ext uri="{FF2B5EF4-FFF2-40B4-BE49-F238E27FC236}">
                <a16:creationId xmlns:a16="http://schemas.microsoft.com/office/drawing/2014/main" id="{1242C599-BD36-4F5A-8843-1A0561C9867C}"/>
              </a:ext>
            </a:extLst>
          </p:cNvPr>
          <p:cNvSpPr/>
          <p:nvPr/>
        </p:nvSpPr>
        <p:spPr>
          <a:xfrm>
            <a:off x="1667523" y="2930967"/>
            <a:ext cx="6360041" cy="280691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Inference Engine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B1E269D-86BE-454D-95E7-7AB7335B5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Architecture </a:t>
            </a:r>
            <a:r>
              <a:rPr lang="ko-KR" altLang="en-US" dirty="0"/>
              <a:t>분석 </a:t>
            </a:r>
            <a:r>
              <a:rPr lang="en-US" altLang="ko-KR" dirty="0"/>
              <a:t>– Overall</a:t>
            </a:r>
            <a:r>
              <a:rPr lang="ko-KR" altLang="en-US" dirty="0"/>
              <a:t> </a:t>
            </a:r>
            <a:r>
              <a:rPr lang="en-US" altLang="ko-KR" dirty="0"/>
              <a:t>Architecture (Module View)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3987BE4-A66E-43CB-835D-E763AF31D81E}"/>
              </a:ext>
            </a:extLst>
          </p:cNvPr>
          <p:cNvSpPr/>
          <p:nvPr/>
        </p:nvSpPr>
        <p:spPr>
          <a:xfrm>
            <a:off x="356869" y="1301651"/>
            <a:ext cx="2403126" cy="2649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Memory-Centric AI Runtime</a:t>
            </a:r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2D98E46-4D0C-46AA-BA61-6FE6449A50A9}"/>
              </a:ext>
            </a:extLst>
          </p:cNvPr>
          <p:cNvSpPr/>
          <p:nvPr/>
        </p:nvSpPr>
        <p:spPr>
          <a:xfrm>
            <a:off x="356869" y="1566629"/>
            <a:ext cx="8888108" cy="439174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sz="600" b="1" dirty="0">
              <a:solidFill>
                <a:schemeClr val="tx1"/>
              </a:solidFill>
            </a:endParaRP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0B69379A-E4C9-4712-8673-038D252E1590}"/>
              </a:ext>
            </a:extLst>
          </p:cNvPr>
          <p:cNvCxnSpPr>
            <a:cxnSpLocks/>
          </p:cNvCxnSpPr>
          <p:nvPr/>
        </p:nvCxnSpPr>
        <p:spPr>
          <a:xfrm>
            <a:off x="3682746" y="3917228"/>
            <a:ext cx="4592830" cy="807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27D6D7E5-4C5A-4F6F-99B5-9D7A4FC1F5C1}"/>
              </a:ext>
            </a:extLst>
          </p:cNvPr>
          <p:cNvCxnSpPr>
            <a:cxnSpLocks/>
          </p:cNvCxnSpPr>
          <p:nvPr/>
        </p:nvCxnSpPr>
        <p:spPr>
          <a:xfrm>
            <a:off x="6205987" y="4280616"/>
            <a:ext cx="2069589" cy="586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9F40B79-BC5C-4891-83AD-60166B46E7E1}"/>
              </a:ext>
            </a:extLst>
          </p:cNvPr>
          <p:cNvCxnSpPr>
            <a:cxnSpLocks/>
          </p:cNvCxnSpPr>
          <p:nvPr/>
        </p:nvCxnSpPr>
        <p:spPr>
          <a:xfrm>
            <a:off x="7582893" y="4656801"/>
            <a:ext cx="694144" cy="605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4DA1CFA-045E-4628-8869-1F56B7ECF57B}"/>
              </a:ext>
            </a:extLst>
          </p:cNvPr>
          <p:cNvSpPr/>
          <p:nvPr/>
        </p:nvSpPr>
        <p:spPr>
          <a:xfrm>
            <a:off x="4270980" y="3347272"/>
            <a:ext cx="1986013" cy="216174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Data Management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C911235-0C56-4AE4-9779-0F18111703B7}"/>
              </a:ext>
            </a:extLst>
          </p:cNvPr>
          <p:cNvSpPr/>
          <p:nvPr/>
        </p:nvSpPr>
        <p:spPr>
          <a:xfrm>
            <a:off x="6681597" y="3330310"/>
            <a:ext cx="996489" cy="21902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Resource Management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5F2A673-00A9-4622-8C5F-1F07A44E80DC}"/>
              </a:ext>
            </a:extLst>
          </p:cNvPr>
          <p:cNvSpPr/>
          <p:nvPr/>
        </p:nvSpPr>
        <p:spPr>
          <a:xfrm>
            <a:off x="6772763" y="3654331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Resource State Monitor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64AF095-3145-42B9-950F-8650F3231BF4}"/>
              </a:ext>
            </a:extLst>
          </p:cNvPr>
          <p:cNvSpPr/>
          <p:nvPr/>
        </p:nvSpPr>
        <p:spPr>
          <a:xfrm>
            <a:off x="6768370" y="402738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Resource Analyzer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E7FDF7A-F68D-4C7C-B00C-F3972DD97D24}"/>
              </a:ext>
            </a:extLst>
          </p:cNvPr>
          <p:cNvSpPr/>
          <p:nvPr/>
        </p:nvSpPr>
        <p:spPr>
          <a:xfrm>
            <a:off x="6768370" y="4405012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Destination Tier Selector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627DCA7-A71D-4418-8B57-363A2C2B5AD6}"/>
              </a:ext>
            </a:extLst>
          </p:cNvPr>
          <p:cNvSpPr/>
          <p:nvPr/>
        </p:nvSpPr>
        <p:spPr>
          <a:xfrm>
            <a:off x="6768370" y="4774125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Telemetry Collector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2FC10B3-A64E-4BC5-A19B-135224951C91}"/>
              </a:ext>
            </a:extLst>
          </p:cNvPr>
          <p:cNvSpPr/>
          <p:nvPr/>
        </p:nvSpPr>
        <p:spPr>
          <a:xfrm>
            <a:off x="1747590" y="1888008"/>
            <a:ext cx="6005496" cy="73241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Request Orchestrator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9A34B3D-E9CF-4CCB-AAED-A317E0E9C59A}"/>
              </a:ext>
            </a:extLst>
          </p:cNvPr>
          <p:cNvSpPr/>
          <p:nvPr/>
        </p:nvSpPr>
        <p:spPr>
          <a:xfrm>
            <a:off x="6768370" y="5135613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Memory Registry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E6B93BB-A891-48C9-A089-337174B4C624}"/>
              </a:ext>
            </a:extLst>
          </p:cNvPr>
          <p:cNvSpPr/>
          <p:nvPr/>
        </p:nvSpPr>
        <p:spPr>
          <a:xfrm>
            <a:off x="1751950" y="3347433"/>
            <a:ext cx="979011" cy="217311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Generation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F53572B-A831-4841-B126-9C6E8F10F18B}"/>
              </a:ext>
            </a:extLst>
          </p:cNvPr>
          <p:cNvSpPr/>
          <p:nvPr/>
        </p:nvSpPr>
        <p:spPr>
          <a:xfrm>
            <a:off x="1832968" y="3650225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Scheduler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9E0E5F2-21B7-428D-827E-E767EC5D2F39}"/>
              </a:ext>
            </a:extLst>
          </p:cNvPr>
          <p:cNvSpPr/>
          <p:nvPr/>
        </p:nvSpPr>
        <p:spPr>
          <a:xfrm>
            <a:off x="1832968" y="4029129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Engine</a:t>
            </a:r>
            <a:r>
              <a:rPr lang="ko-KR" altLang="en-US" sz="700" b="1" dirty="0">
                <a:solidFill>
                  <a:schemeClr val="tx1"/>
                </a:solidFill>
              </a:rPr>
              <a:t> </a:t>
            </a:r>
            <a:r>
              <a:rPr lang="en-US" altLang="ko-KR" sz="700" b="1" dirty="0">
                <a:solidFill>
                  <a:schemeClr val="tx1"/>
                </a:solidFill>
              </a:rPr>
              <a:t>Core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6915685-ADC8-455E-9AA5-761416FE3281}"/>
              </a:ext>
            </a:extLst>
          </p:cNvPr>
          <p:cNvSpPr/>
          <p:nvPr/>
        </p:nvSpPr>
        <p:spPr>
          <a:xfrm>
            <a:off x="1832968" y="4393004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Executor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258AB417-7C37-42AC-9CAC-DC3FD03FAD91}"/>
              </a:ext>
            </a:extLst>
          </p:cNvPr>
          <p:cNvSpPr/>
          <p:nvPr/>
        </p:nvSpPr>
        <p:spPr>
          <a:xfrm>
            <a:off x="1832968" y="4762325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Input/Output Processor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A41461A-A297-4D14-BBF2-4F2CEE376EEC}"/>
              </a:ext>
            </a:extLst>
          </p:cNvPr>
          <p:cNvSpPr/>
          <p:nvPr/>
        </p:nvSpPr>
        <p:spPr>
          <a:xfrm>
            <a:off x="8280551" y="1901437"/>
            <a:ext cx="864882" cy="383455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System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C14CD25-5690-4E8A-85BF-7D833CD6354B}"/>
              </a:ext>
            </a:extLst>
          </p:cNvPr>
          <p:cNvSpPr/>
          <p:nvPr/>
        </p:nvSpPr>
        <p:spPr>
          <a:xfrm>
            <a:off x="8339648" y="2222065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Utility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07B3CB5E-589C-4FE1-ABDF-F8E54085D318}"/>
              </a:ext>
            </a:extLst>
          </p:cNvPr>
          <p:cNvSpPr/>
          <p:nvPr/>
        </p:nvSpPr>
        <p:spPr>
          <a:xfrm>
            <a:off x="8339648" y="2760528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>
                <a:solidFill>
                  <a:schemeClr val="tx1"/>
                </a:solidFill>
              </a:rPr>
              <a:t>Configuration</a:t>
            </a:r>
            <a:endParaRPr lang="ko-KR" altLang="en-US" sz="600" b="1" dirty="0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059C39C-6D34-4711-B6EA-B57CE7C4EF6E}"/>
              </a:ext>
            </a:extLst>
          </p:cNvPr>
          <p:cNvSpPr/>
          <p:nvPr/>
        </p:nvSpPr>
        <p:spPr>
          <a:xfrm>
            <a:off x="8339648" y="3298990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Network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63D9356-2AA3-43E0-ACAF-ED3D8266C112}"/>
              </a:ext>
            </a:extLst>
          </p:cNvPr>
          <p:cNvSpPr/>
          <p:nvPr/>
        </p:nvSpPr>
        <p:spPr>
          <a:xfrm>
            <a:off x="8339648" y="3837454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Memory Pool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0D8CD6-8959-4368-9774-18EC55010405}"/>
              </a:ext>
            </a:extLst>
          </p:cNvPr>
          <p:cNvSpPr/>
          <p:nvPr/>
        </p:nvSpPr>
        <p:spPr>
          <a:xfrm>
            <a:off x="8339648" y="4375918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Shared Pool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98FEDAF-10E6-43E3-88E5-782FE8E2F423}"/>
              </a:ext>
            </a:extLst>
          </p:cNvPr>
          <p:cNvCxnSpPr/>
          <p:nvPr/>
        </p:nvCxnSpPr>
        <p:spPr>
          <a:xfrm>
            <a:off x="7758571" y="2142212"/>
            <a:ext cx="51069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2D9E731-D8BB-45F3-9793-2CA3B1EC07E5}"/>
              </a:ext>
            </a:extLst>
          </p:cNvPr>
          <p:cNvSpPr txBox="1"/>
          <p:nvPr/>
        </p:nvSpPr>
        <p:spPr>
          <a:xfrm>
            <a:off x="7796828" y="2012805"/>
            <a:ext cx="406877" cy="65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CDCA96ED-4347-47C2-B946-D2E6A0EBA841}"/>
              </a:ext>
            </a:extLst>
          </p:cNvPr>
          <p:cNvSpPr/>
          <p:nvPr/>
        </p:nvSpPr>
        <p:spPr>
          <a:xfrm>
            <a:off x="437308" y="1888008"/>
            <a:ext cx="878833" cy="113507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Input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7F39DDD-41B3-4425-BAE2-5527B2EDBE63}"/>
              </a:ext>
            </a:extLst>
          </p:cNvPr>
          <p:cNvSpPr/>
          <p:nvPr/>
        </p:nvSpPr>
        <p:spPr>
          <a:xfrm>
            <a:off x="499336" y="2165392"/>
            <a:ext cx="757604" cy="3431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Query Hist-</a:t>
            </a:r>
            <a:r>
              <a:rPr lang="en-US" altLang="ko-KR" sz="700" b="1" dirty="0" err="1">
                <a:solidFill>
                  <a:schemeClr val="tx1"/>
                </a:solidFill>
              </a:rPr>
              <a:t>ory</a:t>
            </a:r>
            <a:r>
              <a:rPr lang="en-US" altLang="ko-KR" sz="700" b="1" dirty="0">
                <a:solidFill>
                  <a:schemeClr val="tx1"/>
                </a:solidFill>
              </a:rPr>
              <a:t>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180BF17C-17D3-43A3-9CB6-B014F53CE8F4}"/>
              </a:ext>
            </a:extLst>
          </p:cNvPr>
          <p:cNvSpPr/>
          <p:nvPr/>
        </p:nvSpPr>
        <p:spPr>
          <a:xfrm>
            <a:off x="498707" y="2600586"/>
            <a:ext cx="755203" cy="3431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User Query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A655CFDC-6628-4EC6-BDF2-B1EE855E2F07}"/>
              </a:ext>
            </a:extLst>
          </p:cNvPr>
          <p:cNvCxnSpPr/>
          <p:nvPr/>
        </p:nvCxnSpPr>
        <p:spPr>
          <a:xfrm flipH="1">
            <a:off x="1323526" y="2142212"/>
            <a:ext cx="42406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1EA65D2F-022B-41A5-B18F-57A4B5469CF0}"/>
              </a:ext>
            </a:extLst>
          </p:cNvPr>
          <p:cNvSpPr txBox="1"/>
          <p:nvPr/>
        </p:nvSpPr>
        <p:spPr>
          <a:xfrm>
            <a:off x="1242922" y="1944671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262854A-2C05-485F-82E1-B2F491C43DE5}"/>
              </a:ext>
            </a:extLst>
          </p:cNvPr>
          <p:cNvSpPr txBox="1"/>
          <p:nvPr/>
        </p:nvSpPr>
        <p:spPr>
          <a:xfrm>
            <a:off x="7796828" y="3802778"/>
            <a:ext cx="406877" cy="65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01176E-BD38-42E4-8DD3-9F0729D676D9}"/>
              </a:ext>
            </a:extLst>
          </p:cNvPr>
          <p:cNvSpPr txBox="1"/>
          <p:nvPr/>
        </p:nvSpPr>
        <p:spPr>
          <a:xfrm>
            <a:off x="7796828" y="4153613"/>
            <a:ext cx="406877" cy="65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8C3069-92F2-4A89-A97C-44A23767F5D6}"/>
              </a:ext>
            </a:extLst>
          </p:cNvPr>
          <p:cNvSpPr txBox="1"/>
          <p:nvPr/>
        </p:nvSpPr>
        <p:spPr>
          <a:xfrm>
            <a:off x="7796828" y="4544664"/>
            <a:ext cx="406877" cy="65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E6A9138A-C182-47D9-B49C-7BF6607F944D}"/>
              </a:ext>
            </a:extLst>
          </p:cNvPr>
          <p:cNvSpPr/>
          <p:nvPr/>
        </p:nvSpPr>
        <p:spPr>
          <a:xfrm>
            <a:off x="3074901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Prefill/Decode </a:t>
            </a:r>
          </a:p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Execution Planner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D34F8860-FA35-4E68-A7A5-565A0A8599E6}"/>
              </a:ext>
            </a:extLst>
          </p:cNvPr>
          <p:cNvSpPr/>
          <p:nvPr/>
        </p:nvSpPr>
        <p:spPr>
          <a:xfrm>
            <a:off x="4265519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Router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4B26147D-BBEE-433B-902B-6409A56B92B1}"/>
              </a:ext>
            </a:extLst>
          </p:cNvPr>
          <p:cNvSpPr/>
          <p:nvPr/>
        </p:nvSpPr>
        <p:spPr>
          <a:xfrm>
            <a:off x="6646755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Cost Evaluator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F5296705-1646-4329-A8F0-50B46937C6ED}"/>
              </a:ext>
            </a:extLst>
          </p:cNvPr>
          <p:cNvSpPr/>
          <p:nvPr/>
        </p:nvSpPr>
        <p:spPr>
          <a:xfrm>
            <a:off x="1884283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Request Scheduler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038F448B-A0E2-4E53-8F30-25709573E212}"/>
              </a:ext>
            </a:extLst>
          </p:cNvPr>
          <p:cNvSpPr/>
          <p:nvPr/>
        </p:nvSpPr>
        <p:spPr>
          <a:xfrm>
            <a:off x="437308" y="3568051"/>
            <a:ext cx="878833" cy="15506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KV Pool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6B473A58-D4E2-4FA0-9A7D-1F5A60EAD4AD}"/>
              </a:ext>
            </a:extLst>
          </p:cNvPr>
          <p:cNvSpPr/>
          <p:nvPr/>
        </p:nvSpPr>
        <p:spPr>
          <a:xfrm>
            <a:off x="504341" y="4270921"/>
            <a:ext cx="731306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Blending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9A62AA52-D747-49F2-B3D2-58709970563E}"/>
              </a:ext>
            </a:extLst>
          </p:cNvPr>
          <p:cNvSpPr/>
          <p:nvPr/>
        </p:nvSpPr>
        <p:spPr>
          <a:xfrm>
            <a:off x="504341" y="3899394"/>
            <a:ext cx="731306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KV Compressor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BF7FF720-49D8-4157-83B3-99E2D081D465}"/>
              </a:ext>
            </a:extLst>
          </p:cNvPr>
          <p:cNvCxnSpPr/>
          <p:nvPr/>
        </p:nvCxnSpPr>
        <p:spPr>
          <a:xfrm flipH="1">
            <a:off x="1322451" y="5007940"/>
            <a:ext cx="42513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CE66B868-FB5E-46E2-943A-191E289B584B}"/>
              </a:ext>
            </a:extLst>
          </p:cNvPr>
          <p:cNvSpPr txBox="1"/>
          <p:nvPr/>
        </p:nvSpPr>
        <p:spPr>
          <a:xfrm>
            <a:off x="1240480" y="4821851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B6D5FAEA-73C8-4BA9-801D-7D0E25A8BE7B}"/>
              </a:ext>
            </a:extLst>
          </p:cNvPr>
          <p:cNvSpPr/>
          <p:nvPr/>
        </p:nvSpPr>
        <p:spPr>
          <a:xfrm>
            <a:off x="7024933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29322D6-4503-4175-965B-5579364D3384}"/>
              </a:ext>
            </a:extLst>
          </p:cNvPr>
          <p:cNvSpPr/>
          <p:nvPr/>
        </p:nvSpPr>
        <p:spPr>
          <a:xfrm>
            <a:off x="7157523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0DBE6106-25E3-4326-A986-EAF4BE6E78A8}"/>
              </a:ext>
            </a:extLst>
          </p:cNvPr>
          <p:cNvSpPr/>
          <p:nvPr/>
        </p:nvSpPr>
        <p:spPr>
          <a:xfrm>
            <a:off x="7282478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B9CB965B-AE01-4439-A4F1-5A258843335D}"/>
              </a:ext>
            </a:extLst>
          </p:cNvPr>
          <p:cNvSpPr/>
          <p:nvPr/>
        </p:nvSpPr>
        <p:spPr>
          <a:xfrm>
            <a:off x="2562928" y="3243335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9ADF5CDF-6244-4721-95BF-5FEC8028BFE2}"/>
              </a:ext>
            </a:extLst>
          </p:cNvPr>
          <p:cNvSpPr/>
          <p:nvPr/>
        </p:nvSpPr>
        <p:spPr>
          <a:xfrm>
            <a:off x="6081618" y="3252625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cxnSp>
        <p:nvCxnSpPr>
          <p:cNvPr id="93" name="꺾인 연결선 197">
            <a:extLst>
              <a:ext uri="{FF2B5EF4-FFF2-40B4-BE49-F238E27FC236}">
                <a16:creationId xmlns:a16="http://schemas.microsoft.com/office/drawing/2014/main" id="{CEEC7ABF-C513-4E7C-B1A3-2B3DA29E9C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908110" y="1016656"/>
            <a:ext cx="18583" cy="4624357"/>
          </a:xfrm>
          <a:prstGeom prst="bentConnector3">
            <a:avLst>
              <a:gd name="adj1" fmla="val -1230157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꺾인 연결선 199">
            <a:extLst>
              <a:ext uri="{FF2B5EF4-FFF2-40B4-BE49-F238E27FC236}">
                <a16:creationId xmlns:a16="http://schemas.microsoft.com/office/drawing/2014/main" id="{00CC0BBE-238A-475C-A8FF-5598CF09FA07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 flipV="1">
            <a:off x="6256993" y="4425430"/>
            <a:ext cx="424604" cy="271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653B51CE-D02D-426C-B6EC-46CB1E98F0B3}"/>
              </a:ext>
            </a:extLst>
          </p:cNvPr>
          <p:cNvCxnSpPr>
            <a:cxnSpLocks/>
          </p:cNvCxnSpPr>
          <p:nvPr/>
        </p:nvCxnSpPr>
        <p:spPr>
          <a:xfrm>
            <a:off x="2240244" y="2500885"/>
            <a:ext cx="0" cy="79810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E6027C02-B8AC-44A0-82A5-1F7F8387E3FE}"/>
              </a:ext>
            </a:extLst>
          </p:cNvPr>
          <p:cNvCxnSpPr>
            <a:cxnSpLocks/>
          </p:cNvCxnSpPr>
          <p:nvPr/>
        </p:nvCxnSpPr>
        <p:spPr>
          <a:xfrm>
            <a:off x="4746756" y="2620426"/>
            <a:ext cx="0" cy="72629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B3FC211-184A-450C-97B8-7A8BF87B61B2}"/>
              </a:ext>
            </a:extLst>
          </p:cNvPr>
          <p:cNvCxnSpPr>
            <a:cxnSpLocks/>
          </p:cNvCxnSpPr>
          <p:nvPr/>
        </p:nvCxnSpPr>
        <p:spPr>
          <a:xfrm>
            <a:off x="7389703" y="2620426"/>
            <a:ext cx="0" cy="71615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785511F-19D2-468A-9DA5-2546B179A38E}"/>
              </a:ext>
            </a:extLst>
          </p:cNvPr>
          <p:cNvSpPr txBox="1"/>
          <p:nvPr/>
        </p:nvSpPr>
        <p:spPr>
          <a:xfrm>
            <a:off x="2116906" y="2739807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8FAA730-B10F-472F-A7FF-3051B63CDFF9}"/>
              </a:ext>
            </a:extLst>
          </p:cNvPr>
          <p:cNvSpPr txBox="1"/>
          <p:nvPr/>
        </p:nvSpPr>
        <p:spPr>
          <a:xfrm>
            <a:off x="4648553" y="2724836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5604597-0B51-4F3C-BF5A-A4E2B0C2FFAA}"/>
              </a:ext>
            </a:extLst>
          </p:cNvPr>
          <p:cNvSpPr txBox="1"/>
          <p:nvPr/>
        </p:nvSpPr>
        <p:spPr>
          <a:xfrm>
            <a:off x="7291666" y="2724836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4FE0B36-4E28-4210-A1E8-19D45FD7DA4C}"/>
              </a:ext>
            </a:extLst>
          </p:cNvPr>
          <p:cNvSpPr txBox="1"/>
          <p:nvPr/>
        </p:nvSpPr>
        <p:spPr>
          <a:xfrm>
            <a:off x="6163143" y="4273236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7A508D8-0ABD-46EF-A3FA-BD746858CA1B}"/>
              </a:ext>
            </a:extLst>
          </p:cNvPr>
          <p:cNvSpPr txBox="1"/>
          <p:nvPr/>
        </p:nvSpPr>
        <p:spPr>
          <a:xfrm>
            <a:off x="5434831" y="2936421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A502D86-0F3C-4383-BF26-87810FC4643F}"/>
              </a:ext>
            </a:extLst>
          </p:cNvPr>
          <p:cNvSpPr txBox="1"/>
          <p:nvPr/>
        </p:nvSpPr>
        <p:spPr>
          <a:xfrm>
            <a:off x="3030921" y="2923901"/>
            <a:ext cx="540770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86DB123-E533-43DE-ADB8-3C149A164B89}"/>
              </a:ext>
            </a:extLst>
          </p:cNvPr>
          <p:cNvSpPr txBox="1"/>
          <p:nvPr/>
        </p:nvSpPr>
        <p:spPr>
          <a:xfrm>
            <a:off x="4944109" y="2977659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076ABB55-4A68-49B9-B046-77372484C2DF}"/>
              </a:ext>
            </a:extLst>
          </p:cNvPr>
          <p:cNvSpPr/>
          <p:nvPr/>
        </p:nvSpPr>
        <p:spPr>
          <a:xfrm>
            <a:off x="8339648" y="4951974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Debug Log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03E2C7D4-6C3F-45BF-8125-3A061A155C3E}"/>
              </a:ext>
            </a:extLst>
          </p:cNvPr>
          <p:cNvSpPr/>
          <p:nvPr/>
        </p:nvSpPr>
        <p:spPr>
          <a:xfrm>
            <a:off x="1832968" y="5135927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Engine Core Client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6416B6B3-D518-4F05-96A2-1F7BAD5BFAB2}"/>
              </a:ext>
            </a:extLst>
          </p:cNvPr>
          <p:cNvSpPr/>
          <p:nvPr/>
        </p:nvSpPr>
        <p:spPr>
          <a:xfrm>
            <a:off x="437308" y="1755912"/>
            <a:ext cx="462049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26CCC084-9618-4794-8AD6-F546063948A0}"/>
              </a:ext>
            </a:extLst>
          </p:cNvPr>
          <p:cNvSpPr/>
          <p:nvPr/>
        </p:nvSpPr>
        <p:spPr>
          <a:xfrm>
            <a:off x="1747418" y="1755912"/>
            <a:ext cx="462049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234" name="직선 화살표 연결선 233">
            <a:extLst>
              <a:ext uri="{FF2B5EF4-FFF2-40B4-BE49-F238E27FC236}">
                <a16:creationId xmlns:a16="http://schemas.microsoft.com/office/drawing/2014/main" id="{540FF106-8E6A-4FA3-8B84-92434C6EC870}"/>
              </a:ext>
            </a:extLst>
          </p:cNvPr>
          <p:cNvCxnSpPr>
            <a:cxnSpLocks/>
            <a:stCxn id="33" idx="3"/>
            <a:endCxn id="15" idx="1"/>
          </p:cNvCxnSpPr>
          <p:nvPr/>
        </p:nvCxnSpPr>
        <p:spPr>
          <a:xfrm flipV="1">
            <a:off x="2730961" y="4428147"/>
            <a:ext cx="1540019" cy="584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9752EBAF-EA24-4AAC-92B2-711728D3919F}"/>
              </a:ext>
            </a:extLst>
          </p:cNvPr>
          <p:cNvSpPr/>
          <p:nvPr/>
        </p:nvSpPr>
        <p:spPr>
          <a:xfrm>
            <a:off x="8275573" y="1755912"/>
            <a:ext cx="462049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0" name="직사각형 119">
            <a:extLst>
              <a:ext uri="{FF2B5EF4-FFF2-40B4-BE49-F238E27FC236}">
                <a16:creationId xmlns:a16="http://schemas.microsoft.com/office/drawing/2014/main" id="{2F8423FF-2D99-486D-AE0A-C10476FE5EA2}"/>
              </a:ext>
            </a:extLst>
          </p:cNvPr>
          <p:cNvSpPr/>
          <p:nvPr/>
        </p:nvSpPr>
        <p:spPr>
          <a:xfrm>
            <a:off x="1752062" y="3216544"/>
            <a:ext cx="264443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0E035AFB-9309-4F8D-BC61-8EEC519A0615}"/>
              </a:ext>
            </a:extLst>
          </p:cNvPr>
          <p:cNvSpPr/>
          <p:nvPr/>
        </p:nvSpPr>
        <p:spPr>
          <a:xfrm>
            <a:off x="4272618" y="3215995"/>
            <a:ext cx="264443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2B5CBED5-03A8-4431-BC69-3B5CAE173667}"/>
              </a:ext>
            </a:extLst>
          </p:cNvPr>
          <p:cNvSpPr/>
          <p:nvPr/>
        </p:nvSpPr>
        <p:spPr>
          <a:xfrm>
            <a:off x="6681597" y="3205849"/>
            <a:ext cx="264443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79699B55-1870-4683-A3EF-B51DE9DD3037}"/>
              </a:ext>
            </a:extLst>
          </p:cNvPr>
          <p:cNvSpPr/>
          <p:nvPr/>
        </p:nvSpPr>
        <p:spPr>
          <a:xfrm>
            <a:off x="7578697" y="3246925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836E3607-6A09-4E13-AEAE-06128F9ECE7C}"/>
              </a:ext>
            </a:extLst>
          </p:cNvPr>
          <p:cNvSpPr/>
          <p:nvPr/>
        </p:nvSpPr>
        <p:spPr>
          <a:xfrm>
            <a:off x="434820" y="3427779"/>
            <a:ext cx="462049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78" name="직사각형 177">
            <a:extLst>
              <a:ext uri="{FF2B5EF4-FFF2-40B4-BE49-F238E27FC236}">
                <a16:creationId xmlns:a16="http://schemas.microsoft.com/office/drawing/2014/main" id="{29F98B32-5AEA-465F-ACF7-48DC7A79458B}"/>
              </a:ext>
            </a:extLst>
          </p:cNvPr>
          <p:cNvSpPr/>
          <p:nvPr/>
        </p:nvSpPr>
        <p:spPr>
          <a:xfrm>
            <a:off x="4392245" y="367898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Migra-</a:t>
            </a:r>
            <a:r>
              <a:rPr lang="en-US" altLang="ko-KR" sz="700" b="1" dirty="0" err="1">
                <a:solidFill>
                  <a:schemeClr val="tx1"/>
                </a:solidFill>
              </a:rPr>
              <a:t>tion</a:t>
            </a:r>
            <a:r>
              <a:rPr lang="en-US" altLang="ko-KR" sz="700" b="1" dirty="0">
                <a:solidFill>
                  <a:schemeClr val="tx1"/>
                </a:solidFill>
              </a:rPr>
              <a:t> Scheduler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79" name="직사각형 178">
            <a:extLst>
              <a:ext uri="{FF2B5EF4-FFF2-40B4-BE49-F238E27FC236}">
                <a16:creationId xmlns:a16="http://schemas.microsoft.com/office/drawing/2014/main" id="{1DE578DF-0FF1-4DE3-B625-EF569A8BF066}"/>
              </a:ext>
            </a:extLst>
          </p:cNvPr>
          <p:cNvSpPr/>
          <p:nvPr/>
        </p:nvSpPr>
        <p:spPr>
          <a:xfrm>
            <a:off x="4392245" y="4405699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Expert</a:t>
            </a:r>
          </a:p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980AB048-A5FA-40DA-8F06-A7C654E32B79}"/>
              </a:ext>
            </a:extLst>
          </p:cNvPr>
          <p:cNvSpPr/>
          <p:nvPr/>
        </p:nvSpPr>
        <p:spPr>
          <a:xfrm>
            <a:off x="4392245" y="4041826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KV Cache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8D82D52-E8F2-402F-9020-4933BB66A8C9}"/>
              </a:ext>
            </a:extLst>
          </p:cNvPr>
          <p:cNvSpPr/>
          <p:nvPr/>
        </p:nvSpPr>
        <p:spPr>
          <a:xfrm>
            <a:off x="4392245" y="477085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 err="1">
                <a:solidFill>
                  <a:schemeClr val="tx1"/>
                </a:solidFill>
              </a:rPr>
              <a:t>LoRA</a:t>
            </a:r>
            <a:r>
              <a:rPr lang="en-US" altLang="ko-KR" sz="700" b="1" dirty="0">
                <a:solidFill>
                  <a:schemeClr val="tx1"/>
                </a:solidFill>
              </a:rPr>
              <a:t>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118482D7-2D66-4500-811B-B158D62013F3}"/>
              </a:ext>
            </a:extLst>
          </p:cNvPr>
          <p:cNvSpPr/>
          <p:nvPr/>
        </p:nvSpPr>
        <p:spPr>
          <a:xfrm>
            <a:off x="4392245" y="5132882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Object Registry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5" name="직사각형 184">
            <a:extLst>
              <a:ext uri="{FF2B5EF4-FFF2-40B4-BE49-F238E27FC236}">
                <a16:creationId xmlns:a16="http://schemas.microsoft.com/office/drawing/2014/main" id="{66A80510-5426-4FD3-898F-DE81168BF1B1}"/>
              </a:ext>
            </a:extLst>
          </p:cNvPr>
          <p:cNvSpPr/>
          <p:nvPr/>
        </p:nvSpPr>
        <p:spPr>
          <a:xfrm>
            <a:off x="5329726" y="367898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Behavior Monitor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6" name="직사각형 185">
            <a:extLst>
              <a:ext uri="{FF2B5EF4-FFF2-40B4-BE49-F238E27FC236}">
                <a16:creationId xmlns:a16="http://schemas.microsoft.com/office/drawing/2014/main" id="{E2066CD4-4E11-4C94-ACCB-196EF0671AFD}"/>
              </a:ext>
            </a:extLst>
          </p:cNvPr>
          <p:cNvSpPr/>
          <p:nvPr/>
        </p:nvSpPr>
        <p:spPr>
          <a:xfrm>
            <a:off x="5329726" y="4405699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Behavior Predictor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5FA42E-0535-4FCB-B335-8A338E24A74E}"/>
              </a:ext>
            </a:extLst>
          </p:cNvPr>
          <p:cNvSpPr/>
          <p:nvPr/>
        </p:nvSpPr>
        <p:spPr>
          <a:xfrm>
            <a:off x="5329726" y="4041826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Behavior Analyzer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8" name="직사각형 187">
            <a:extLst>
              <a:ext uri="{FF2B5EF4-FFF2-40B4-BE49-F238E27FC236}">
                <a16:creationId xmlns:a16="http://schemas.microsoft.com/office/drawing/2014/main" id="{E39DB062-5571-42A5-AFFD-615F797A3513}"/>
              </a:ext>
            </a:extLst>
          </p:cNvPr>
          <p:cNvSpPr/>
          <p:nvPr/>
        </p:nvSpPr>
        <p:spPr>
          <a:xfrm>
            <a:off x="5329726" y="477085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Migra-</a:t>
            </a:r>
            <a:r>
              <a:rPr lang="en-US" altLang="ko-KR" sz="700" b="1" dirty="0" err="1">
                <a:solidFill>
                  <a:schemeClr val="tx1"/>
                </a:solidFill>
              </a:rPr>
              <a:t>tion</a:t>
            </a:r>
            <a:r>
              <a:rPr lang="en-US" altLang="ko-KR" sz="700" b="1" dirty="0">
                <a:solidFill>
                  <a:schemeClr val="tx1"/>
                </a:solidFill>
              </a:rPr>
              <a:t> Selector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9" name="직사각형 188">
            <a:extLst>
              <a:ext uri="{FF2B5EF4-FFF2-40B4-BE49-F238E27FC236}">
                <a16:creationId xmlns:a16="http://schemas.microsoft.com/office/drawing/2014/main" id="{A1D1881B-A67C-4726-9931-E1DB7406F7B4}"/>
              </a:ext>
            </a:extLst>
          </p:cNvPr>
          <p:cNvSpPr/>
          <p:nvPr/>
        </p:nvSpPr>
        <p:spPr>
          <a:xfrm>
            <a:off x="5329726" y="5132882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Eviction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07" name="직사각형 206">
            <a:extLst>
              <a:ext uri="{FF2B5EF4-FFF2-40B4-BE49-F238E27FC236}">
                <a16:creationId xmlns:a16="http://schemas.microsoft.com/office/drawing/2014/main" id="{B06E824E-1BF9-4B18-B22B-AC4A74455002}"/>
              </a:ext>
            </a:extLst>
          </p:cNvPr>
          <p:cNvSpPr/>
          <p:nvPr/>
        </p:nvSpPr>
        <p:spPr>
          <a:xfrm>
            <a:off x="7202749" y="3278963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518D7C32-08DD-4560-94CA-E3364A9B380E}"/>
              </a:ext>
            </a:extLst>
          </p:cNvPr>
          <p:cNvSpPr/>
          <p:nvPr/>
        </p:nvSpPr>
        <p:spPr>
          <a:xfrm>
            <a:off x="7336341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E2B7E17A-02A7-4463-AE3F-26ADCED44908}"/>
              </a:ext>
            </a:extLst>
          </p:cNvPr>
          <p:cNvSpPr/>
          <p:nvPr/>
        </p:nvSpPr>
        <p:spPr>
          <a:xfrm>
            <a:off x="7461296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211" name="직사각형 210">
            <a:extLst>
              <a:ext uri="{FF2B5EF4-FFF2-40B4-BE49-F238E27FC236}">
                <a16:creationId xmlns:a16="http://schemas.microsoft.com/office/drawing/2014/main" id="{C64F5E99-C08C-4E50-8068-C9B1DD456540}"/>
              </a:ext>
            </a:extLst>
          </p:cNvPr>
          <p:cNvSpPr/>
          <p:nvPr/>
        </p:nvSpPr>
        <p:spPr>
          <a:xfrm>
            <a:off x="7757515" y="3246925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cxnSp>
        <p:nvCxnSpPr>
          <p:cNvPr id="227" name="직선 화살표 연결선 226">
            <a:extLst>
              <a:ext uri="{FF2B5EF4-FFF2-40B4-BE49-F238E27FC236}">
                <a16:creationId xmlns:a16="http://schemas.microsoft.com/office/drawing/2014/main" id="{321731F0-8452-430F-BE28-0C5D36C09582}"/>
              </a:ext>
            </a:extLst>
          </p:cNvPr>
          <p:cNvCxnSpPr>
            <a:cxnSpLocks/>
            <a:endCxn id="61" idx="2"/>
          </p:cNvCxnSpPr>
          <p:nvPr/>
        </p:nvCxnSpPr>
        <p:spPr>
          <a:xfrm rot="10800000">
            <a:off x="876726" y="3023080"/>
            <a:ext cx="872797" cy="437947"/>
          </a:xfrm>
          <a:prstGeom prst="bentConnector2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TextBox 229">
            <a:extLst>
              <a:ext uri="{FF2B5EF4-FFF2-40B4-BE49-F238E27FC236}">
                <a16:creationId xmlns:a16="http://schemas.microsoft.com/office/drawing/2014/main" id="{263D06B6-7D16-45FF-A1A9-C4444812C33E}"/>
              </a:ext>
            </a:extLst>
          </p:cNvPr>
          <p:cNvSpPr txBox="1"/>
          <p:nvPr/>
        </p:nvSpPr>
        <p:spPr>
          <a:xfrm>
            <a:off x="899357" y="3238716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8D4FD793-A991-421C-85A2-D68ADED0CA3E}"/>
              </a:ext>
            </a:extLst>
          </p:cNvPr>
          <p:cNvSpPr txBox="1"/>
          <p:nvPr/>
        </p:nvSpPr>
        <p:spPr>
          <a:xfrm>
            <a:off x="3735814" y="4269911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298" name="직사각형 297">
            <a:extLst>
              <a:ext uri="{FF2B5EF4-FFF2-40B4-BE49-F238E27FC236}">
                <a16:creationId xmlns:a16="http://schemas.microsoft.com/office/drawing/2014/main" id="{019E176B-54A8-4449-914D-977803BBA35C}"/>
              </a:ext>
            </a:extLst>
          </p:cNvPr>
          <p:cNvSpPr/>
          <p:nvPr/>
        </p:nvSpPr>
        <p:spPr>
          <a:xfrm>
            <a:off x="5501798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KV State Monitor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17" name="직사각형 316">
            <a:extLst>
              <a:ext uri="{FF2B5EF4-FFF2-40B4-BE49-F238E27FC236}">
                <a16:creationId xmlns:a16="http://schemas.microsoft.com/office/drawing/2014/main" id="{9EDF2630-A613-4E8E-A695-2BFF10D388FF}"/>
              </a:ext>
            </a:extLst>
          </p:cNvPr>
          <p:cNvSpPr/>
          <p:nvPr/>
        </p:nvSpPr>
        <p:spPr>
          <a:xfrm>
            <a:off x="2978360" y="3216544"/>
            <a:ext cx="264443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316" name="직사각형 315">
            <a:extLst>
              <a:ext uri="{FF2B5EF4-FFF2-40B4-BE49-F238E27FC236}">
                <a16:creationId xmlns:a16="http://schemas.microsoft.com/office/drawing/2014/main" id="{E8771830-0235-4208-9057-C78FD109F8F4}"/>
              </a:ext>
            </a:extLst>
          </p:cNvPr>
          <p:cNvSpPr/>
          <p:nvPr/>
        </p:nvSpPr>
        <p:spPr>
          <a:xfrm>
            <a:off x="2978248" y="3347433"/>
            <a:ext cx="979011" cy="217311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Compute Management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6E896632-A58A-43DA-877F-7667D80DD95A}"/>
              </a:ext>
            </a:extLst>
          </p:cNvPr>
          <p:cNvSpPr/>
          <p:nvPr/>
        </p:nvSpPr>
        <p:spPr>
          <a:xfrm>
            <a:off x="3082321" y="3675872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Worker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C5EBD24D-B64A-4B7C-9D0C-815448032426}"/>
              </a:ext>
            </a:extLst>
          </p:cNvPr>
          <p:cNvSpPr/>
          <p:nvPr/>
        </p:nvSpPr>
        <p:spPr>
          <a:xfrm>
            <a:off x="3082321" y="4054776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Model Runner</a:t>
            </a: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6A687733-807F-423F-A595-B320D0B485E3}"/>
              </a:ext>
            </a:extLst>
          </p:cNvPr>
          <p:cNvSpPr/>
          <p:nvPr/>
        </p:nvSpPr>
        <p:spPr>
          <a:xfrm>
            <a:off x="3085372" y="4438037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Model/Layers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19" name="직사각형 218">
            <a:extLst>
              <a:ext uri="{FF2B5EF4-FFF2-40B4-BE49-F238E27FC236}">
                <a16:creationId xmlns:a16="http://schemas.microsoft.com/office/drawing/2014/main" id="{EC19A98B-C198-496F-8F1B-377A9CFE8831}"/>
              </a:ext>
            </a:extLst>
          </p:cNvPr>
          <p:cNvSpPr/>
          <p:nvPr/>
        </p:nvSpPr>
        <p:spPr>
          <a:xfrm>
            <a:off x="3082321" y="4787972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Attention Backend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20" name="직사각형 219">
            <a:extLst>
              <a:ext uri="{FF2B5EF4-FFF2-40B4-BE49-F238E27FC236}">
                <a16:creationId xmlns:a16="http://schemas.microsoft.com/office/drawing/2014/main" id="{583F557F-D47C-48C6-BE32-029454599704}"/>
              </a:ext>
            </a:extLst>
          </p:cNvPr>
          <p:cNvSpPr/>
          <p:nvPr/>
        </p:nvSpPr>
        <p:spPr>
          <a:xfrm>
            <a:off x="3082321" y="5161574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Custom Operator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20" name="직사각형 319">
            <a:extLst>
              <a:ext uri="{FF2B5EF4-FFF2-40B4-BE49-F238E27FC236}">
                <a16:creationId xmlns:a16="http://schemas.microsoft.com/office/drawing/2014/main" id="{65FBDE47-ACC2-484F-A8A4-C64FB74ACB13}"/>
              </a:ext>
            </a:extLst>
          </p:cNvPr>
          <p:cNvSpPr/>
          <p:nvPr/>
        </p:nvSpPr>
        <p:spPr>
          <a:xfrm>
            <a:off x="4321477" y="3625954"/>
            <a:ext cx="3311330" cy="1970791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1" name="직사각형 320">
            <a:extLst>
              <a:ext uri="{FF2B5EF4-FFF2-40B4-BE49-F238E27FC236}">
                <a16:creationId xmlns:a16="http://schemas.microsoft.com/office/drawing/2014/main" id="{DCDC752D-254C-4A97-8DF2-CAD47C049929}"/>
              </a:ext>
            </a:extLst>
          </p:cNvPr>
          <p:cNvSpPr/>
          <p:nvPr/>
        </p:nvSpPr>
        <p:spPr>
          <a:xfrm>
            <a:off x="9580321" y="2540964"/>
            <a:ext cx="2109873" cy="2846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DP-2. 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연산 실행 위치 결정</a:t>
            </a:r>
            <a:endParaRPr lang="ko-KR" altLang="en-US" sz="1250" b="1" dirty="0"/>
          </a:p>
        </p:txBody>
      </p:sp>
      <p:sp>
        <p:nvSpPr>
          <p:cNvPr id="324" name="직사각형 323">
            <a:extLst>
              <a:ext uri="{FF2B5EF4-FFF2-40B4-BE49-F238E27FC236}">
                <a16:creationId xmlns:a16="http://schemas.microsoft.com/office/drawing/2014/main" id="{9CF5B1FE-9495-4451-9594-8F8B85242E82}"/>
              </a:ext>
            </a:extLst>
          </p:cNvPr>
          <p:cNvSpPr/>
          <p:nvPr/>
        </p:nvSpPr>
        <p:spPr>
          <a:xfrm>
            <a:off x="9580321" y="5185457"/>
            <a:ext cx="2217274" cy="2846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DP-4. 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서버 간 </a:t>
            </a:r>
            <a:r>
              <a:rPr lang="en-US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KV 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캐시 공유</a:t>
            </a:r>
            <a:endParaRPr lang="ko-KR" altLang="en-US" sz="1250" b="1" dirty="0"/>
          </a:p>
        </p:txBody>
      </p:sp>
      <p:sp>
        <p:nvSpPr>
          <p:cNvPr id="325" name="직사각형 324">
            <a:extLst>
              <a:ext uri="{FF2B5EF4-FFF2-40B4-BE49-F238E27FC236}">
                <a16:creationId xmlns:a16="http://schemas.microsoft.com/office/drawing/2014/main" id="{DABE46FD-C803-4916-A7EE-CF574B7B1A8D}"/>
              </a:ext>
            </a:extLst>
          </p:cNvPr>
          <p:cNvSpPr/>
          <p:nvPr/>
        </p:nvSpPr>
        <p:spPr>
          <a:xfrm>
            <a:off x="9580321" y="1183181"/>
            <a:ext cx="2250937" cy="2846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DP-1. </a:t>
            </a:r>
            <a:r>
              <a:rPr lang="en-US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Data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Migration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 결정 </a:t>
            </a:r>
            <a:endParaRPr lang="ko-KR" altLang="en-US" sz="1250" b="1" dirty="0"/>
          </a:p>
        </p:txBody>
      </p:sp>
      <p:sp>
        <p:nvSpPr>
          <p:cNvPr id="326" name="직사각형 325">
            <a:extLst>
              <a:ext uri="{FF2B5EF4-FFF2-40B4-BE49-F238E27FC236}">
                <a16:creationId xmlns:a16="http://schemas.microsoft.com/office/drawing/2014/main" id="{1F5BBC27-AF31-4074-BFA3-D3BB76637572}"/>
              </a:ext>
            </a:extLst>
          </p:cNvPr>
          <p:cNvSpPr/>
          <p:nvPr/>
        </p:nvSpPr>
        <p:spPr>
          <a:xfrm>
            <a:off x="9443551" y="1258375"/>
            <a:ext cx="158966" cy="92027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7" name="직사각형 326">
            <a:extLst>
              <a:ext uri="{FF2B5EF4-FFF2-40B4-BE49-F238E27FC236}">
                <a16:creationId xmlns:a16="http://schemas.microsoft.com/office/drawing/2014/main" id="{EBF1A7DD-B698-4C3F-B0F7-FD6D9822FEEB}"/>
              </a:ext>
            </a:extLst>
          </p:cNvPr>
          <p:cNvSpPr/>
          <p:nvPr/>
        </p:nvSpPr>
        <p:spPr>
          <a:xfrm>
            <a:off x="9789799" y="1438410"/>
            <a:ext cx="1779654" cy="57708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QA1. Throughput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QA2. Resource Efficiency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QA3. Modifiability </a:t>
            </a:r>
          </a:p>
        </p:txBody>
      </p:sp>
      <p:sp>
        <p:nvSpPr>
          <p:cNvPr id="329" name="직사각형 328">
            <a:extLst>
              <a:ext uri="{FF2B5EF4-FFF2-40B4-BE49-F238E27FC236}">
                <a16:creationId xmlns:a16="http://schemas.microsoft.com/office/drawing/2014/main" id="{EA8E4AB3-DEFD-4A79-B99F-08D8B5E2239F}"/>
              </a:ext>
            </a:extLst>
          </p:cNvPr>
          <p:cNvSpPr/>
          <p:nvPr/>
        </p:nvSpPr>
        <p:spPr>
          <a:xfrm>
            <a:off x="9789799" y="2796785"/>
            <a:ext cx="1779654" cy="57708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QA1. Throughput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QA2. Resource Efficiency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QA4. Scalability</a:t>
            </a:r>
          </a:p>
        </p:txBody>
      </p:sp>
      <p:sp>
        <p:nvSpPr>
          <p:cNvPr id="334" name="직사각형 333">
            <a:extLst>
              <a:ext uri="{FF2B5EF4-FFF2-40B4-BE49-F238E27FC236}">
                <a16:creationId xmlns:a16="http://schemas.microsoft.com/office/drawing/2014/main" id="{1281D8CA-BE80-4341-821F-9E0FBE008879}"/>
              </a:ext>
            </a:extLst>
          </p:cNvPr>
          <p:cNvSpPr/>
          <p:nvPr/>
        </p:nvSpPr>
        <p:spPr>
          <a:xfrm>
            <a:off x="9443551" y="5246253"/>
            <a:ext cx="158966" cy="735995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73F9068F-D995-4FF3-9F53-6E31967EA48F}"/>
              </a:ext>
            </a:extLst>
          </p:cNvPr>
          <p:cNvSpPr/>
          <p:nvPr/>
        </p:nvSpPr>
        <p:spPr>
          <a:xfrm>
            <a:off x="9789799" y="5447705"/>
            <a:ext cx="1308371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QA1. Throughput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QA5. Scalability</a:t>
            </a:r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AE5B1FAE-5F5C-417C-9BB4-206CA55C7102}"/>
              </a:ext>
            </a:extLst>
          </p:cNvPr>
          <p:cNvSpPr/>
          <p:nvPr/>
        </p:nvSpPr>
        <p:spPr>
          <a:xfrm>
            <a:off x="9580321" y="3937315"/>
            <a:ext cx="1784463" cy="2846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DP-3. </a:t>
            </a:r>
            <a:r>
              <a:rPr lang="en-US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KV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 캐시 재사용</a:t>
            </a:r>
            <a:endParaRPr lang="ko-KR" altLang="en-US" sz="125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208EA886-0989-42C4-8166-A549EF76B8C8}"/>
              </a:ext>
            </a:extLst>
          </p:cNvPr>
          <p:cNvSpPr/>
          <p:nvPr/>
        </p:nvSpPr>
        <p:spPr>
          <a:xfrm>
            <a:off x="9443551" y="3998112"/>
            <a:ext cx="158966" cy="727479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23AF7D03-F190-46E0-8280-EB1F259562B5}"/>
              </a:ext>
            </a:extLst>
          </p:cNvPr>
          <p:cNvSpPr/>
          <p:nvPr/>
        </p:nvSpPr>
        <p:spPr>
          <a:xfrm>
            <a:off x="9789799" y="4199563"/>
            <a:ext cx="2004075" cy="57708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QA1. Throughput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QA2. Resource Efficiency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QA5. Functional Correctness</a:t>
            </a:r>
          </a:p>
        </p:txBody>
      </p:sp>
      <p:sp>
        <p:nvSpPr>
          <p:cNvPr id="340" name="직사각형 339">
            <a:extLst>
              <a:ext uri="{FF2B5EF4-FFF2-40B4-BE49-F238E27FC236}">
                <a16:creationId xmlns:a16="http://schemas.microsoft.com/office/drawing/2014/main" id="{D69D0FCC-FF8F-491B-9315-43C7CB65367D}"/>
              </a:ext>
            </a:extLst>
          </p:cNvPr>
          <p:cNvSpPr/>
          <p:nvPr/>
        </p:nvSpPr>
        <p:spPr>
          <a:xfrm>
            <a:off x="9443551" y="2564262"/>
            <a:ext cx="158966" cy="92027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5" name="직사각형 344">
            <a:extLst>
              <a:ext uri="{FF2B5EF4-FFF2-40B4-BE49-F238E27FC236}">
                <a16:creationId xmlns:a16="http://schemas.microsoft.com/office/drawing/2014/main" id="{DAA2D829-A8F0-4AA4-AC12-D22E2A7F96CF}"/>
              </a:ext>
            </a:extLst>
          </p:cNvPr>
          <p:cNvSpPr/>
          <p:nvPr/>
        </p:nvSpPr>
        <p:spPr>
          <a:xfrm>
            <a:off x="475643" y="3851589"/>
            <a:ext cx="800433" cy="756323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7" name="직사각형 346">
            <a:extLst>
              <a:ext uri="{FF2B5EF4-FFF2-40B4-BE49-F238E27FC236}">
                <a16:creationId xmlns:a16="http://schemas.microsoft.com/office/drawing/2014/main" id="{3F0CD0D6-203A-4775-A596-826544A8A24D}"/>
              </a:ext>
            </a:extLst>
          </p:cNvPr>
          <p:cNvSpPr/>
          <p:nvPr/>
        </p:nvSpPr>
        <p:spPr>
          <a:xfrm>
            <a:off x="1782222" y="4749985"/>
            <a:ext cx="2132637" cy="363158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8" name="직사각형 347">
            <a:extLst>
              <a:ext uri="{FF2B5EF4-FFF2-40B4-BE49-F238E27FC236}">
                <a16:creationId xmlns:a16="http://schemas.microsoft.com/office/drawing/2014/main" id="{4E0240E3-9BB8-45A1-901D-C7BBDD61D7A5}"/>
              </a:ext>
            </a:extLst>
          </p:cNvPr>
          <p:cNvSpPr/>
          <p:nvPr/>
        </p:nvSpPr>
        <p:spPr>
          <a:xfrm>
            <a:off x="472272" y="2113876"/>
            <a:ext cx="816203" cy="862360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9" name="직사각형 348">
            <a:extLst>
              <a:ext uri="{FF2B5EF4-FFF2-40B4-BE49-F238E27FC236}">
                <a16:creationId xmlns:a16="http://schemas.microsoft.com/office/drawing/2014/main" id="{CF1A6EA5-52FC-408F-9AEE-45B9AE0F6533}"/>
              </a:ext>
            </a:extLst>
          </p:cNvPr>
          <p:cNvSpPr/>
          <p:nvPr/>
        </p:nvSpPr>
        <p:spPr>
          <a:xfrm>
            <a:off x="3014145" y="2126062"/>
            <a:ext cx="4716603" cy="427114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2" name="직사각형 351">
            <a:extLst>
              <a:ext uri="{FF2B5EF4-FFF2-40B4-BE49-F238E27FC236}">
                <a16:creationId xmlns:a16="http://schemas.microsoft.com/office/drawing/2014/main" id="{0C5C70F7-44D1-43D1-A8AF-4039F97A9E41}"/>
              </a:ext>
            </a:extLst>
          </p:cNvPr>
          <p:cNvSpPr/>
          <p:nvPr/>
        </p:nvSpPr>
        <p:spPr>
          <a:xfrm>
            <a:off x="6730524" y="3645269"/>
            <a:ext cx="973051" cy="332911"/>
          </a:xfrm>
          <a:prstGeom prst="rect">
            <a:avLst/>
          </a:prstGeom>
          <a:noFill/>
          <a:ln w="28575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61" name="그룹 360">
            <a:extLst>
              <a:ext uri="{FF2B5EF4-FFF2-40B4-BE49-F238E27FC236}">
                <a16:creationId xmlns:a16="http://schemas.microsoft.com/office/drawing/2014/main" id="{06DA6039-4915-48F7-957C-53BD25C4DECF}"/>
              </a:ext>
            </a:extLst>
          </p:cNvPr>
          <p:cNvGrpSpPr/>
          <p:nvPr/>
        </p:nvGrpSpPr>
        <p:grpSpPr>
          <a:xfrm>
            <a:off x="397988" y="5150460"/>
            <a:ext cx="723464" cy="740401"/>
            <a:chOff x="430412" y="5447854"/>
            <a:chExt cx="723464" cy="740401"/>
          </a:xfrm>
        </p:grpSpPr>
        <p:sp>
          <p:nvSpPr>
            <p:cNvPr id="355" name="직사각형 354">
              <a:extLst>
                <a:ext uri="{FF2B5EF4-FFF2-40B4-BE49-F238E27FC236}">
                  <a16:creationId xmlns:a16="http://schemas.microsoft.com/office/drawing/2014/main" id="{B0887197-F49B-407F-901A-7A4FBA359060}"/>
                </a:ext>
              </a:extLst>
            </p:cNvPr>
            <p:cNvSpPr/>
            <p:nvPr/>
          </p:nvSpPr>
          <p:spPr>
            <a:xfrm>
              <a:off x="494022" y="5942887"/>
              <a:ext cx="604385" cy="24536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700" b="1" dirty="0">
                  <a:solidFill>
                    <a:schemeClr val="tx1"/>
                  </a:solidFill>
                </a:rPr>
                <a:t>신규</a:t>
              </a:r>
              <a:r>
                <a:rPr lang="en-US" altLang="ko-KR" sz="700" b="1" dirty="0">
                  <a:solidFill>
                    <a:schemeClr val="tx1"/>
                  </a:solidFill>
                </a:rPr>
                <a:t>/</a:t>
              </a:r>
              <a:r>
                <a:rPr lang="ko-KR" altLang="en-US" sz="700" b="1" dirty="0">
                  <a:solidFill>
                    <a:schemeClr val="tx1"/>
                  </a:solidFill>
                </a:rPr>
                <a:t>수정 </a:t>
              </a:r>
              <a:r>
                <a:rPr lang="en-US" altLang="ko-KR" sz="700" b="1" dirty="0">
                  <a:solidFill>
                    <a:schemeClr val="tx1"/>
                  </a:solidFill>
                </a:rPr>
                <a:t>Module</a:t>
              </a:r>
              <a:endParaRPr lang="ko-KR" altLang="en-US" sz="700" b="1" dirty="0">
                <a:solidFill>
                  <a:schemeClr val="tx1"/>
                </a:solidFill>
              </a:endParaRPr>
            </a:p>
          </p:txBody>
        </p:sp>
        <p:sp>
          <p:nvSpPr>
            <p:cNvPr id="356" name="직사각형 355">
              <a:extLst>
                <a:ext uri="{FF2B5EF4-FFF2-40B4-BE49-F238E27FC236}">
                  <a16:creationId xmlns:a16="http://schemas.microsoft.com/office/drawing/2014/main" id="{BFDBEC6B-6081-4054-B9CA-60DE32E87723}"/>
                </a:ext>
              </a:extLst>
            </p:cNvPr>
            <p:cNvSpPr/>
            <p:nvPr/>
          </p:nvSpPr>
          <p:spPr>
            <a:xfrm>
              <a:off x="494022" y="5655547"/>
              <a:ext cx="604385" cy="245368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700" b="1" dirty="0">
                  <a:solidFill>
                    <a:schemeClr val="tx1"/>
                  </a:solidFill>
                </a:rPr>
                <a:t>기존 </a:t>
              </a:r>
              <a:r>
                <a:rPr lang="en-US" altLang="ko-KR" sz="700" b="1" dirty="0">
                  <a:solidFill>
                    <a:schemeClr val="tx1"/>
                  </a:solidFill>
                </a:rPr>
                <a:t>Module</a:t>
              </a:r>
              <a:endParaRPr lang="ko-KR" altLang="en-US" sz="700" b="1" dirty="0">
                <a:solidFill>
                  <a:schemeClr val="tx1"/>
                </a:solidFill>
              </a:endParaRPr>
            </a:p>
          </p:txBody>
        </p:sp>
        <p:sp>
          <p:nvSpPr>
            <p:cNvPr id="360" name="TextBox 359">
              <a:extLst>
                <a:ext uri="{FF2B5EF4-FFF2-40B4-BE49-F238E27FC236}">
                  <a16:creationId xmlns:a16="http://schemas.microsoft.com/office/drawing/2014/main" id="{D556D070-02D8-4D33-BFD9-7FFF7C31D0BB}"/>
                </a:ext>
              </a:extLst>
            </p:cNvPr>
            <p:cNvSpPr txBox="1"/>
            <p:nvPr/>
          </p:nvSpPr>
          <p:spPr>
            <a:xfrm>
              <a:off x="430412" y="5447854"/>
              <a:ext cx="72346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dirty="0"/>
                <a:t>Legend</a:t>
              </a:r>
              <a:endParaRPr lang="ko-KR" altLang="en-US" sz="800" b="1" dirty="0"/>
            </a:p>
          </p:txBody>
        </p:sp>
      </p:grpSp>
      <p:sp>
        <p:nvSpPr>
          <p:cNvPr id="363" name="직사각형 362">
            <a:extLst>
              <a:ext uri="{FF2B5EF4-FFF2-40B4-BE49-F238E27FC236}">
                <a16:creationId xmlns:a16="http://schemas.microsoft.com/office/drawing/2014/main" id="{AD051C3C-12D8-42BB-9F55-991CB6F616BC}"/>
              </a:ext>
            </a:extLst>
          </p:cNvPr>
          <p:cNvSpPr/>
          <p:nvPr/>
        </p:nvSpPr>
        <p:spPr>
          <a:xfrm>
            <a:off x="8315940" y="3243336"/>
            <a:ext cx="793194" cy="1608456"/>
          </a:xfrm>
          <a:prstGeom prst="rect">
            <a:avLst/>
          </a:prstGeom>
          <a:noFill/>
          <a:ln w="28575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5" name="직사각형 364">
            <a:extLst>
              <a:ext uri="{FF2B5EF4-FFF2-40B4-BE49-F238E27FC236}">
                <a16:creationId xmlns:a16="http://schemas.microsoft.com/office/drawing/2014/main" id="{31F9289C-89E3-4569-8CB1-A50BCE19B7AD}"/>
              </a:ext>
            </a:extLst>
          </p:cNvPr>
          <p:cNvSpPr/>
          <p:nvPr/>
        </p:nvSpPr>
        <p:spPr>
          <a:xfrm>
            <a:off x="4350418" y="3982949"/>
            <a:ext cx="899880" cy="392969"/>
          </a:xfrm>
          <a:prstGeom prst="rect">
            <a:avLst/>
          </a:prstGeom>
          <a:noFill/>
          <a:ln w="28575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8" name="직사각형 367">
            <a:extLst>
              <a:ext uri="{FF2B5EF4-FFF2-40B4-BE49-F238E27FC236}">
                <a16:creationId xmlns:a16="http://schemas.microsoft.com/office/drawing/2014/main" id="{E81D811F-D865-44DE-B588-B672A5ED15C9}"/>
              </a:ext>
            </a:extLst>
          </p:cNvPr>
          <p:cNvSpPr/>
          <p:nvPr/>
        </p:nvSpPr>
        <p:spPr>
          <a:xfrm>
            <a:off x="504341" y="4688629"/>
            <a:ext cx="731306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KV Index</a:t>
            </a:r>
          </a:p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69" name="직사각형 368">
            <a:extLst>
              <a:ext uri="{FF2B5EF4-FFF2-40B4-BE49-F238E27FC236}">
                <a16:creationId xmlns:a16="http://schemas.microsoft.com/office/drawing/2014/main" id="{C1ECC368-8C00-47A3-B150-B92406C5E7BE}"/>
              </a:ext>
            </a:extLst>
          </p:cNvPr>
          <p:cNvSpPr/>
          <p:nvPr/>
        </p:nvSpPr>
        <p:spPr>
          <a:xfrm>
            <a:off x="461216" y="4670621"/>
            <a:ext cx="818835" cy="362304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0" name="직사각형 369">
            <a:extLst>
              <a:ext uri="{FF2B5EF4-FFF2-40B4-BE49-F238E27FC236}">
                <a16:creationId xmlns:a16="http://schemas.microsoft.com/office/drawing/2014/main" id="{8BD2194C-80C8-4765-9FEB-D972CEECD1A7}"/>
              </a:ext>
            </a:extLst>
          </p:cNvPr>
          <p:cNvSpPr/>
          <p:nvPr/>
        </p:nvSpPr>
        <p:spPr>
          <a:xfrm>
            <a:off x="392299" y="4639683"/>
            <a:ext cx="939880" cy="448181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8BD2194C-80C8-4765-9FEB-D972CEECD1A7}"/>
              </a:ext>
            </a:extLst>
          </p:cNvPr>
          <p:cNvSpPr/>
          <p:nvPr/>
        </p:nvSpPr>
        <p:spPr>
          <a:xfrm>
            <a:off x="1785381" y="4358738"/>
            <a:ext cx="2129478" cy="1119917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397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8081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591491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2264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92524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340394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30313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2095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264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413291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30313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  <a:r>
                        <a:rPr lang="en-US" altLang="ko-KR" sz="1200" b="1" strike="noStrike" baseline="0" dirty="0"/>
                        <a:t>+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HBM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점유 기한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(Lease)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제어 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 HBM stage-in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시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lease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를 부여하여 주기적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migration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재평가</a:t>
                      </a:r>
                      <a:endParaRPr lang="en-US" altLang="ko-KR" sz="1200" b="0" strike="noStrike" baseline="0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최신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behavior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기반으로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lease </a:t>
                      </a:r>
                      <a:r>
                        <a:rPr lang="ko-KR" altLang="en-US" sz="1200" b="0" strike="noStrike" baseline="0" dirty="0" err="1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연장∙선별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demotion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하여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HBM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점유율 제한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>
                <a:solidFill>
                  <a:srgbClr val="FF0000"/>
                </a:solidFill>
              </a:rPr>
              <a:t>보완 설계</a:t>
            </a:r>
            <a:endParaRPr lang="ko-KR" altLang="en-US" dirty="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8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2" name="Rectangle 71"/>
          <p:cNvSpPr/>
          <p:nvPr/>
        </p:nvSpPr>
        <p:spPr>
          <a:xfrm>
            <a:off x="6621854" y="1492132"/>
            <a:ext cx="5128953" cy="932688"/>
          </a:xfrm>
          <a:prstGeom prst="rect">
            <a:avLst/>
          </a:prstGeom>
          <a:solidFill>
            <a:srgbClr val="DCE9F7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621854" y="1528708"/>
            <a:ext cx="5128953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F4E79"/>
                </a:solidFill>
                <a:latin typeface="맑은 고딕"/>
                <a:ea typeface="맑은 고딕"/>
              </a:rPr>
              <a:t>Control Plane</a:t>
            </a:r>
          </a:p>
        </p:txBody>
      </p:sp>
      <p:sp>
        <p:nvSpPr>
          <p:cNvPr id="114" name="Rectangle 73"/>
          <p:cNvSpPr/>
          <p:nvPr/>
        </p:nvSpPr>
        <p:spPr>
          <a:xfrm>
            <a:off x="6721606" y="1674917"/>
            <a:ext cx="1317565" cy="343501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25000"/>
              </a:lnSpc>
            </a:pPr>
            <a:r>
              <a:rPr sz="850" b="1" i="0" dirty="0">
                <a:solidFill>
                  <a:srgbClr val="7F5F00"/>
                </a:solidFill>
                <a:latin typeface="맑은 고딕"/>
                <a:ea typeface="맑은 고딕"/>
              </a:rPr>
              <a:t>Decision Scheduler</a:t>
            </a:r>
          </a:p>
          <a:p>
            <a:pPr algn="ctr">
              <a:lnSpc>
                <a:spcPct val="125000"/>
              </a:lnSpc>
            </a:pPr>
            <a:r>
              <a:rPr sz="650" b="0" i="0" dirty="0" err="1">
                <a:solidFill>
                  <a:srgbClr val="7F5F00"/>
                </a:solidFill>
                <a:latin typeface="맑은 고딕"/>
                <a:ea typeface="맑은 고딕"/>
              </a:rPr>
              <a:t>판단</a:t>
            </a:r>
            <a:r>
              <a:rPr sz="650" b="0" i="0" dirty="0">
                <a:solidFill>
                  <a:srgbClr val="7F5F00"/>
                </a:solidFill>
                <a:latin typeface="맑은 고딕"/>
                <a:ea typeface="맑은 고딕"/>
              </a:rPr>
              <a:t> </a:t>
            </a:r>
            <a:r>
              <a:rPr sz="650" b="0" i="0" dirty="0" err="1">
                <a:solidFill>
                  <a:srgbClr val="7F5F00"/>
                </a:solidFill>
                <a:latin typeface="맑은 고딕"/>
                <a:ea typeface="맑은 고딕"/>
              </a:rPr>
              <a:t>주기</a:t>
            </a:r>
            <a:r>
              <a:rPr sz="650" b="0" i="0" dirty="0">
                <a:solidFill>
                  <a:srgbClr val="7F5F00"/>
                </a:solidFill>
                <a:latin typeface="맑은 고딕"/>
                <a:ea typeface="맑은 고딕"/>
              </a:rPr>
              <a:t> </a:t>
            </a:r>
            <a:r>
              <a:rPr lang="ko-KR" altLang="en-US" sz="650" b="0" i="0" dirty="0">
                <a:solidFill>
                  <a:srgbClr val="7F5F00"/>
                </a:solidFill>
                <a:latin typeface="맑은 고딕"/>
                <a:ea typeface="맑은 고딕"/>
              </a:rPr>
              <a:t>독립 </a:t>
            </a:r>
            <a:r>
              <a:rPr sz="650" b="0" i="0" dirty="0" err="1">
                <a:solidFill>
                  <a:srgbClr val="7F5F00"/>
                </a:solidFill>
                <a:latin typeface="맑은 고딕"/>
                <a:ea typeface="맑은 고딕"/>
              </a:rPr>
              <a:t>보유</a:t>
            </a:r>
            <a:endParaRPr sz="650" b="0" i="0" dirty="0">
              <a:solidFill>
                <a:srgbClr val="7F5F00"/>
              </a:solidFill>
              <a:latin typeface="맑은 고딕"/>
              <a:ea typeface="맑은 고딕"/>
            </a:endParaRPr>
          </a:p>
        </p:txBody>
      </p:sp>
      <p:sp>
        <p:nvSpPr>
          <p:cNvPr id="115" name="Rectangle 74"/>
          <p:cNvSpPr/>
          <p:nvPr/>
        </p:nvSpPr>
        <p:spPr>
          <a:xfrm>
            <a:off x="8197115" y="1752531"/>
            <a:ext cx="951807" cy="343501"/>
          </a:xfrm>
          <a:prstGeom prst="rect">
            <a:avLst/>
          </a:prstGeom>
          <a:solidFill>
            <a:schemeClr val="bg1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25000"/>
              </a:lnSpc>
            </a:pPr>
            <a:r>
              <a:rPr sz="850" b="1" i="0" dirty="0">
                <a:solidFill>
                  <a:schemeClr val="tx1"/>
                </a:solidFill>
                <a:latin typeface="맑은 고딕"/>
                <a:ea typeface="맑은 고딕"/>
              </a:rPr>
              <a:t>Trend Analyzer</a:t>
            </a:r>
          </a:p>
          <a:p>
            <a:pPr algn="ctr">
              <a:lnSpc>
                <a:spcPct val="125000"/>
              </a:lnSpc>
            </a:pP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자원</a:t>
            </a:r>
            <a:r>
              <a:rPr sz="68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추세</a:t>
            </a:r>
            <a:r>
              <a:rPr sz="68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판단</a:t>
            </a:r>
            <a:endParaRPr sz="680" b="0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16" name="Rectangle 75"/>
          <p:cNvSpPr/>
          <p:nvPr/>
        </p:nvSpPr>
        <p:spPr>
          <a:xfrm>
            <a:off x="9281927" y="1752531"/>
            <a:ext cx="1163782" cy="343501"/>
          </a:xfrm>
          <a:prstGeom prst="rect">
            <a:avLst/>
          </a:prstGeom>
          <a:solidFill>
            <a:schemeClr val="bg1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chemeClr val="tx1"/>
                </a:solidFill>
                <a:latin typeface="맑은 고딕"/>
                <a:ea typeface="맑은 고딕"/>
              </a:rPr>
              <a:t>Affinity Mapper</a:t>
            </a:r>
          </a:p>
          <a:p>
            <a:pPr algn="ctr">
              <a:lnSpc>
                <a:spcPct val="125000"/>
              </a:lnSpc>
            </a:pPr>
            <a:r>
              <a:rPr sz="680" b="0" i="0">
                <a:solidFill>
                  <a:schemeClr val="tx1"/>
                </a:solidFill>
                <a:latin typeface="맑은 고딕"/>
                <a:ea typeface="맑은 고딕"/>
              </a:rPr>
              <a:t>데이터·메모리 적합도</a:t>
            </a:r>
          </a:p>
        </p:txBody>
      </p:sp>
      <p:sp>
        <p:nvSpPr>
          <p:cNvPr id="117" name="Rectangle 76"/>
          <p:cNvSpPr/>
          <p:nvPr/>
        </p:nvSpPr>
        <p:spPr>
          <a:xfrm>
            <a:off x="10578712" y="1667809"/>
            <a:ext cx="1163782" cy="647283"/>
          </a:xfrm>
          <a:prstGeom prst="rect">
            <a:avLst/>
          </a:prstGeom>
          <a:solidFill>
            <a:schemeClr val="bg1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t"/>
          <a:lstStyle/>
          <a:p>
            <a:pPr algn="ctr">
              <a:lnSpc>
                <a:spcPct val="125000"/>
              </a:lnSpc>
            </a:pPr>
            <a:r>
              <a:rPr sz="850" b="1" i="0" dirty="0">
                <a:solidFill>
                  <a:schemeClr val="tx1"/>
                </a:solidFill>
                <a:latin typeface="맑은 고딕"/>
                <a:ea typeface="맑은 고딕"/>
              </a:rPr>
              <a:t>Policy Engine</a:t>
            </a:r>
          </a:p>
          <a:p>
            <a:pPr algn="ctr">
              <a:lnSpc>
                <a:spcPct val="125000"/>
              </a:lnSpc>
            </a:pP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이동</a:t>
            </a:r>
            <a:r>
              <a:rPr sz="68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명령</a:t>
            </a:r>
            <a:r>
              <a:rPr sz="68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확정</a:t>
            </a:r>
            <a:endParaRPr sz="680" b="0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cxnSp>
        <p:nvCxnSpPr>
          <p:cNvPr id="118" name="Connector 77"/>
          <p:cNvCxnSpPr/>
          <p:nvPr/>
        </p:nvCxnSpPr>
        <p:spPr>
          <a:xfrm>
            <a:off x="8047485" y="1924281"/>
            <a:ext cx="149630" cy="0"/>
          </a:xfrm>
          <a:prstGeom prst="line">
            <a:avLst/>
          </a:prstGeom>
          <a:ln w="12700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79"/>
          <p:cNvCxnSpPr/>
          <p:nvPr/>
        </p:nvCxnSpPr>
        <p:spPr>
          <a:xfrm>
            <a:off x="9148923" y="1924281"/>
            <a:ext cx="133004" cy="0"/>
          </a:xfrm>
          <a:prstGeom prst="line">
            <a:avLst/>
          </a:prstGeom>
          <a:ln w="12700">
            <a:solidFill>
              <a:srgbClr val="2E75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80"/>
          <p:cNvCxnSpPr/>
          <p:nvPr/>
        </p:nvCxnSpPr>
        <p:spPr>
          <a:xfrm>
            <a:off x="10445709" y="1924281"/>
            <a:ext cx="133004" cy="0"/>
          </a:xfrm>
          <a:prstGeom prst="line">
            <a:avLst/>
          </a:prstGeom>
          <a:ln w="12700">
            <a:solidFill>
              <a:srgbClr val="2E75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ectangle 81"/>
          <p:cNvSpPr/>
          <p:nvPr/>
        </p:nvSpPr>
        <p:spPr>
          <a:xfrm>
            <a:off x="6621854" y="2662564"/>
            <a:ext cx="2527069" cy="1225296"/>
          </a:xfrm>
          <a:prstGeom prst="rect">
            <a:avLst/>
          </a:prstGeom>
          <a:solidFill>
            <a:srgbClr val="DCE9F7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6621854" y="2699140"/>
            <a:ext cx="2527069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F4E79"/>
                </a:solidFill>
                <a:latin typeface="맑은 고딕"/>
                <a:ea typeface="맑은 고딕"/>
              </a:rPr>
              <a:t>Resource Plane</a:t>
            </a:r>
          </a:p>
        </p:txBody>
      </p:sp>
      <p:sp>
        <p:nvSpPr>
          <p:cNvPr id="123" name="Rectangle 83"/>
          <p:cNvSpPr/>
          <p:nvPr/>
        </p:nvSpPr>
        <p:spPr>
          <a:xfrm>
            <a:off x="6721607" y="2882020"/>
            <a:ext cx="2327564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25000"/>
              </a:lnSpc>
            </a:pPr>
            <a:r>
              <a:rPr sz="800" b="1" i="0">
                <a:solidFill>
                  <a:srgbClr val="7F5F00"/>
                </a:solidFill>
                <a:latin typeface="맑은 고딕"/>
                <a:ea typeface="맑은 고딕"/>
              </a:rPr>
              <a:t>State Snapshot Builder</a:t>
            </a:r>
          </a:p>
          <a:p>
            <a:pPr algn="ctr">
              <a:lnSpc>
                <a:spcPct val="125000"/>
              </a:lnSpc>
            </a:pPr>
            <a:r>
              <a:rPr sz="650" b="0" i="0">
                <a:solidFill>
                  <a:srgbClr val="7F5F00"/>
                </a:solidFill>
                <a:latin typeface="맑은 고딕"/>
                <a:ea typeface="맑은 고딕"/>
              </a:rPr>
              <a:t>일관 복사본 생성 · object 수 비례 비용</a:t>
            </a:r>
          </a:p>
        </p:txBody>
      </p:sp>
      <p:sp>
        <p:nvSpPr>
          <p:cNvPr id="124" name="Rectangle 84"/>
          <p:cNvSpPr/>
          <p:nvPr/>
        </p:nvSpPr>
        <p:spPr>
          <a:xfrm>
            <a:off x="6721607" y="3211204"/>
            <a:ext cx="1113906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0" i="0">
                <a:solidFill>
                  <a:srgbClr val="404040"/>
                </a:solidFill>
                <a:latin typeface="맑은 고딕"/>
                <a:ea typeface="맑은 고딕"/>
              </a:rPr>
              <a:t>Telemetry Collector</a:t>
            </a:r>
          </a:p>
        </p:txBody>
      </p:sp>
      <p:sp>
        <p:nvSpPr>
          <p:cNvPr id="125" name="Rectangle 85"/>
          <p:cNvSpPr/>
          <p:nvPr/>
        </p:nvSpPr>
        <p:spPr>
          <a:xfrm>
            <a:off x="7935265" y="3211204"/>
            <a:ext cx="1113906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404040"/>
                </a:solidFill>
                <a:latin typeface="맑은 고딕"/>
                <a:ea typeface="맑은 고딕"/>
              </a:rPr>
              <a:t>State Monitor</a:t>
            </a:r>
          </a:p>
        </p:txBody>
      </p:sp>
      <p:sp>
        <p:nvSpPr>
          <p:cNvPr id="126" name="Rectangle 86"/>
          <p:cNvSpPr/>
          <p:nvPr/>
        </p:nvSpPr>
        <p:spPr>
          <a:xfrm>
            <a:off x="6721607" y="3522098"/>
            <a:ext cx="2327564" cy="347473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t"/>
          <a:lstStyle/>
          <a:p>
            <a:pPr algn="ctr">
              <a:lnSpc>
                <a:spcPct val="95000"/>
              </a:lnSpc>
            </a:pPr>
            <a:r>
              <a:rPr sz="80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Memory·Data</a:t>
            </a:r>
            <a:r>
              <a:rPr sz="800" b="0" i="0" dirty="0">
                <a:solidFill>
                  <a:srgbClr val="404040"/>
                </a:solidFill>
                <a:latin typeface="맑은 고딕"/>
                <a:ea typeface="맑은 고딕"/>
              </a:rPr>
              <a:t> Object Registry</a:t>
            </a:r>
            <a:endParaRPr lang="en-US" sz="800" b="0" i="0" dirty="0">
              <a:solidFill>
                <a:srgbClr val="404040"/>
              </a:solidFill>
              <a:latin typeface="맑은 고딕"/>
              <a:ea typeface="맑은 고딕"/>
            </a:endParaRPr>
          </a:p>
          <a:p>
            <a:pPr algn="ctr">
              <a:lnSpc>
                <a:spcPct val="95000"/>
              </a:lnSpc>
            </a:pPr>
            <a:endParaRPr sz="80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127" name="Connector 87"/>
          <p:cNvCxnSpPr/>
          <p:nvPr/>
        </p:nvCxnSpPr>
        <p:spPr>
          <a:xfrm flipV="1">
            <a:off x="7278559" y="3156340"/>
            <a:ext cx="0" cy="54864"/>
          </a:xfrm>
          <a:prstGeom prst="line">
            <a:avLst/>
          </a:prstGeom>
          <a:ln w="12700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88"/>
          <p:cNvCxnSpPr/>
          <p:nvPr/>
        </p:nvCxnSpPr>
        <p:spPr>
          <a:xfrm flipV="1">
            <a:off x="8492218" y="3156340"/>
            <a:ext cx="0" cy="54864"/>
          </a:xfrm>
          <a:prstGeom prst="line">
            <a:avLst/>
          </a:prstGeom>
          <a:ln w="12700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89"/>
          <p:cNvCxnSpPr/>
          <p:nvPr/>
        </p:nvCxnSpPr>
        <p:spPr>
          <a:xfrm flipV="1">
            <a:off x="7885389" y="3156340"/>
            <a:ext cx="0" cy="365759"/>
          </a:xfrm>
          <a:prstGeom prst="line">
            <a:avLst/>
          </a:prstGeom>
          <a:ln w="12700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09"/>
          <p:cNvSpPr/>
          <p:nvPr/>
        </p:nvSpPr>
        <p:spPr>
          <a:xfrm>
            <a:off x="6621854" y="4052452"/>
            <a:ext cx="5128953" cy="237744"/>
          </a:xfrm>
          <a:prstGeom prst="rect">
            <a:avLst/>
          </a:prstGeom>
          <a:solidFill>
            <a:srgbClr val="59595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</a:rPr>
              <a:t>Common Memory Backend Interface</a:t>
            </a:r>
          </a:p>
        </p:txBody>
      </p:sp>
      <p:sp>
        <p:nvSpPr>
          <p:cNvPr id="131" name="KV Cache Manager">
            <a:extLst>
              <a:ext uri="{FF2B5EF4-FFF2-40B4-BE49-F238E27FC236}">
                <a16:creationId xmlns:a16="http://schemas.microsoft.com/office/drawing/2014/main" id="{B18B6AEF-CA0B-409D-820C-810CFB582295}"/>
              </a:ext>
            </a:extLst>
          </p:cNvPr>
          <p:cNvSpPr/>
          <p:nvPr/>
        </p:nvSpPr>
        <p:spPr>
          <a:xfrm>
            <a:off x="6841608" y="2175624"/>
            <a:ext cx="960355" cy="2065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Lease</a:t>
            </a:r>
            <a:r>
              <a:rPr lang="ko-KR" altLang="en-US" sz="900" b="1" dirty="0">
                <a:solidFill>
                  <a:schemeClr val="tx1"/>
                </a:solidFill>
              </a:rPr>
              <a:t> </a:t>
            </a:r>
            <a:r>
              <a:rPr lang="en-US" altLang="ko-KR" sz="900" b="1" dirty="0">
                <a:solidFill>
                  <a:schemeClr val="tx1"/>
                </a:solidFill>
              </a:rPr>
              <a:t>Timer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32" name="KV Cache Manager">
            <a:extLst>
              <a:ext uri="{FF2B5EF4-FFF2-40B4-BE49-F238E27FC236}">
                <a16:creationId xmlns:a16="http://schemas.microsoft.com/office/drawing/2014/main" id="{0AC675B6-EBCF-4411-982A-606F1B39DD1C}"/>
              </a:ext>
            </a:extLst>
          </p:cNvPr>
          <p:cNvSpPr/>
          <p:nvPr/>
        </p:nvSpPr>
        <p:spPr>
          <a:xfrm>
            <a:off x="10637394" y="2014610"/>
            <a:ext cx="1056391" cy="2614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HBM Lease Granter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133" name="① Event">
            <a:extLst>
              <a:ext uri="{FF2B5EF4-FFF2-40B4-BE49-F238E27FC236}">
                <a16:creationId xmlns:a16="http://schemas.microsoft.com/office/drawing/2014/main" id="{AA6A60D7-3F4D-4197-A43E-5FBE2A7B70E4}"/>
              </a:ext>
            </a:extLst>
          </p:cNvPr>
          <p:cNvCxnSpPr>
            <a:cxnSpLocks/>
            <a:stCxn id="132" idx="1"/>
            <a:endCxn id="131" idx="3"/>
          </p:cNvCxnSpPr>
          <p:nvPr/>
        </p:nvCxnSpPr>
        <p:spPr>
          <a:xfrm rot="10800000" flipV="1">
            <a:off x="7801964" y="2145320"/>
            <a:ext cx="2835431" cy="133592"/>
          </a:xfrm>
          <a:prstGeom prst="bentConnector3">
            <a:avLst>
              <a:gd name="adj1" fmla="val 50000"/>
            </a:avLst>
          </a:prstGeom>
          <a:ln w="9525">
            <a:solidFill>
              <a:srgbClr val="FF0000"/>
            </a:solidFill>
            <a:prstDash val="dash"/>
            <a:tailEnd type="arrow"/>
          </a:ln>
        </p:spPr>
      </p:cxnSp>
      <p:cxnSp>
        <p:nvCxnSpPr>
          <p:cNvPr id="134" name="① Event">
            <a:extLst>
              <a:ext uri="{FF2B5EF4-FFF2-40B4-BE49-F238E27FC236}">
                <a16:creationId xmlns:a16="http://schemas.microsoft.com/office/drawing/2014/main" id="{393EDD8C-32BA-4528-8222-186C12CC2266}"/>
              </a:ext>
            </a:extLst>
          </p:cNvPr>
          <p:cNvCxnSpPr>
            <a:cxnSpLocks/>
            <a:endCxn id="135" idx="3"/>
          </p:cNvCxnSpPr>
          <p:nvPr/>
        </p:nvCxnSpPr>
        <p:spPr>
          <a:xfrm rot="10800000" flipV="1">
            <a:off x="8436224" y="2138122"/>
            <a:ext cx="2201179" cy="1633875"/>
          </a:xfrm>
          <a:prstGeom prst="bentConnector3">
            <a:avLst>
              <a:gd name="adj1" fmla="val 64713"/>
            </a:avLst>
          </a:prstGeom>
          <a:ln w="9525">
            <a:solidFill>
              <a:srgbClr val="FF0000"/>
            </a:solidFill>
            <a:prstDash val="dash"/>
            <a:tailEnd type="arrow"/>
          </a:ln>
        </p:spPr>
      </p:cxnSp>
      <p:sp>
        <p:nvSpPr>
          <p:cNvPr id="135" name="KV Cache Manager">
            <a:extLst>
              <a:ext uri="{FF2B5EF4-FFF2-40B4-BE49-F238E27FC236}">
                <a16:creationId xmlns:a16="http://schemas.microsoft.com/office/drawing/2014/main" id="{B18B6AEF-CA0B-409D-820C-810CFB582295}"/>
              </a:ext>
            </a:extLst>
          </p:cNvPr>
          <p:cNvSpPr/>
          <p:nvPr/>
        </p:nvSpPr>
        <p:spPr>
          <a:xfrm>
            <a:off x="7475868" y="3686636"/>
            <a:ext cx="960355" cy="17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Metadata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136" name="① Event">
            <a:extLst>
              <a:ext uri="{FF2B5EF4-FFF2-40B4-BE49-F238E27FC236}">
                <a16:creationId xmlns:a16="http://schemas.microsoft.com/office/drawing/2014/main" id="{4612F9B8-78D5-4DE5-B2DC-45A405916D8A}"/>
              </a:ext>
            </a:extLst>
          </p:cNvPr>
          <p:cNvCxnSpPr>
            <a:cxnSpLocks/>
          </p:cNvCxnSpPr>
          <p:nvPr/>
        </p:nvCxnSpPr>
        <p:spPr>
          <a:xfrm flipH="1" flipV="1">
            <a:off x="7014297" y="2018259"/>
            <a:ext cx="2453" cy="166391"/>
          </a:xfrm>
          <a:prstGeom prst="straightConnector1">
            <a:avLst/>
          </a:prstGeom>
          <a:ln w="9525">
            <a:solidFill>
              <a:srgbClr val="FF0000"/>
            </a:solidFill>
            <a:prstDash val="dash"/>
            <a:tailEnd type="arrow"/>
          </a:ln>
        </p:spPr>
      </p:cxn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3471A210-CDF4-4BA3-84BD-F653298D9DEF}"/>
              </a:ext>
            </a:extLst>
          </p:cNvPr>
          <p:cNvSpPr/>
          <p:nvPr/>
        </p:nvSpPr>
        <p:spPr>
          <a:xfrm>
            <a:off x="7012988" y="2004682"/>
            <a:ext cx="1042191" cy="200055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rgbClr val="FF0000"/>
                </a:solidFill>
              </a:rPr>
              <a:t>Event (Lease Expired)</a:t>
            </a: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83407551-4922-4346-9CDE-2770BEA53886}"/>
              </a:ext>
            </a:extLst>
          </p:cNvPr>
          <p:cNvGrpSpPr/>
          <p:nvPr/>
        </p:nvGrpSpPr>
        <p:grpSpPr>
          <a:xfrm>
            <a:off x="10877540" y="3314931"/>
            <a:ext cx="886133" cy="491780"/>
            <a:chOff x="11056831" y="3583489"/>
            <a:chExt cx="886133" cy="491780"/>
          </a:xfrm>
        </p:grpSpPr>
        <p:sp>
          <p:nvSpPr>
            <p:cNvPr id="139" name="KV Cache Manager">
              <a:extLst>
                <a:ext uri="{FF2B5EF4-FFF2-40B4-BE49-F238E27FC236}">
                  <a16:creationId xmlns:a16="http://schemas.microsoft.com/office/drawing/2014/main" id="{98E078A6-320E-4FDE-982D-DB32947602AA}"/>
                </a:ext>
              </a:extLst>
            </p:cNvPr>
            <p:cNvSpPr/>
            <p:nvPr/>
          </p:nvSpPr>
          <p:spPr>
            <a:xfrm>
              <a:off x="11126972" y="3816949"/>
              <a:ext cx="784423" cy="19403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QA2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보완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0B9F48D5-E468-4CDF-978E-9BCF5DF01EFF}"/>
                </a:ext>
              </a:extLst>
            </p:cNvPr>
            <p:cNvSpPr/>
            <p:nvPr/>
          </p:nvSpPr>
          <p:spPr>
            <a:xfrm>
              <a:off x="11056831" y="3583489"/>
              <a:ext cx="886133" cy="491780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41" name="Connector 91"/>
          <p:cNvCxnSpPr/>
          <p:nvPr/>
        </p:nvCxnSpPr>
        <p:spPr>
          <a:xfrm flipV="1">
            <a:off x="8721012" y="2111395"/>
            <a:ext cx="0" cy="731623"/>
          </a:xfrm>
          <a:prstGeom prst="line">
            <a:avLst/>
          </a:prstGeom>
          <a:ln w="12700">
            <a:solidFill>
              <a:srgbClr val="BF8F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6E2B7273-A609-42E8-9B1D-ED211C704AFC}"/>
              </a:ext>
            </a:extLst>
          </p:cNvPr>
          <p:cNvSpPr/>
          <p:nvPr/>
        </p:nvSpPr>
        <p:spPr>
          <a:xfrm>
            <a:off x="6584187" y="1044054"/>
            <a:ext cx="5510377" cy="58139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모서리가 둥근 직사각형 106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148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149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5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5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52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5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54" name="모서리가 둥근 직사각형 153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grpSp>
        <p:nvGrpSpPr>
          <p:cNvPr id="155" name="그룹 154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156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157" name="TextBox 156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158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159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160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161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10013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035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137096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446687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7381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864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9352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4905466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7381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200" b="1" strike="noStrike" kern="1200" baseline="0" noProof="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kumimoji="0" lang="ko-KR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맑은 고딕"/>
                          <a:cs typeface="+mn-cs"/>
                        </a:rPr>
                        <a:t>저비용 검증 </a:t>
                      </a:r>
                      <a:r>
                        <a:rPr lang="en-US" altLang="ko-KR" sz="1050" b="1" kern="12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 </a:t>
                      </a:r>
                      <a:r>
                        <a:rPr lang="en-US" altLang="ko-KR" sz="1050" b="1" kern="12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+ Feedback Control)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292793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요청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∙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대한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 </a:t>
                      </a:r>
                    </a:p>
                    <a:p>
                      <a:pPr marL="228600" indent="-228600">
                        <a:lnSpc>
                          <a:spcPct val="100000"/>
                        </a:lnSpc>
                        <a:spcAft>
                          <a:spcPts val="200"/>
                        </a:spcAft>
                        <a:buFont typeface="Arial" pitchFamily="34" charset="0"/>
                        <a:buAutoNum type="arabicPeriod"/>
                      </a:pP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여러 안을 계획해서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Mismatch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시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Cost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재계산 없이 순차적 구간 조회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(k)</a:t>
                      </a:r>
                    </a:p>
                    <a:p>
                      <a:pPr marL="228600" indent="-228600">
                        <a:lnSpc>
                          <a:spcPct val="100000"/>
                        </a:lnSpc>
                        <a:spcAft>
                          <a:spcPts val="200"/>
                        </a:spcAft>
                        <a:buFont typeface="Arial" pitchFamily="34" charset="0"/>
                        <a:buAutoNum type="arabicPeriod"/>
                      </a:pP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요청이 </a:t>
                      </a:r>
                      <a:r>
                        <a:rPr lang="en-US" altLang="ko-KR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Queue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에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도착 즉시가 아니라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head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로부터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W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슬롯 안에 들어올 때 계획 </a:t>
                      </a:r>
                      <a:endParaRPr lang="en-US" altLang="ko-KR" sz="1200" dirty="0">
                        <a:solidFill>
                          <a:srgbClr val="FF000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indent="-228600">
                        <a:lnSpc>
                          <a:spcPct val="100000"/>
                        </a:lnSpc>
                        <a:spcAft>
                          <a:spcPts val="200"/>
                        </a:spcAft>
                        <a:buFont typeface="Arial" pitchFamily="34" charset="0"/>
                        <a:buAutoNum type="arabicPeriod"/>
                      </a:pP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L</a:t>
                      </a:r>
                      <a:r>
                        <a:rPr lang="en-US" altLang="ko-KR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oad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↑ → </a:t>
                      </a:r>
                      <a:r>
                        <a:rPr lang="en-US" altLang="ko-KR" sz="1200" b="0" i="0" dirty="0" err="1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W↓k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↑</a:t>
                      </a:r>
                      <a:r>
                        <a:rPr lang="en-US" altLang="ko-KR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(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계획을 짧고 넓게</a:t>
                      </a:r>
                      <a:r>
                        <a:rPr lang="en-US" altLang="ko-KR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), Load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↓ → </a:t>
                      </a:r>
                      <a:r>
                        <a:rPr lang="en-US" altLang="ko-KR" sz="1200" dirty="0" err="1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W↑k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↓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(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완전 사전 계획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)</a:t>
                      </a:r>
                      <a:endParaRPr lang="ko-KR" altLang="en-US" sz="1200" b="0" i="0" dirty="0">
                        <a:solidFill>
                          <a:srgbClr val="FF000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◐</a:t>
                      </a:r>
                      <a:endParaRPr lang="en-US" altLang="ko-KR" sz="1200" b="0" dirty="0">
                        <a:solidFill>
                          <a:srgbClr val="FF000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>
                <a:solidFill>
                  <a:srgbClr val="FF0000"/>
                </a:solidFill>
              </a:rPr>
              <a:t>보완 설계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4442239" y="6486392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70180" y="653271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8</a:t>
            </a:r>
            <a:r>
              <a:rPr lang="ko-KR" altLang="en-US" sz="1200" dirty="0"/>
              <a:t>점</a:t>
            </a:r>
          </a:p>
        </p:txBody>
      </p:sp>
      <p:sp>
        <p:nvSpPr>
          <p:cNvPr id="108" name="실행 단추: 앞으로 또는 다음 107">
            <a:hlinkClick r:id="" action="ppaction://noaction" highlightClick="1"/>
          </p:cNvPr>
          <p:cNvSpPr/>
          <p:nvPr/>
        </p:nvSpPr>
        <p:spPr>
          <a:xfrm>
            <a:off x="11782688" y="1103765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95779" y="6308977"/>
            <a:ext cx="203053" cy="18023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136866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E2B7273-A609-42E8-9B1D-ED211C704AFC}"/>
              </a:ext>
            </a:extLst>
          </p:cNvPr>
          <p:cNvSpPr/>
          <p:nvPr/>
        </p:nvSpPr>
        <p:spPr>
          <a:xfrm>
            <a:off x="6125252" y="1053935"/>
            <a:ext cx="5989442" cy="570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6236792" y="1589059"/>
            <a:ext cx="5760721" cy="2680725"/>
            <a:chOff x="6783687" y="1726402"/>
            <a:chExt cx="5237019" cy="2789573"/>
          </a:xfrm>
        </p:grpSpPr>
        <p:sp>
          <p:nvSpPr>
            <p:cNvPr id="116" name="Shape 31">
              <a:extLst>
                <a:ext uri="{FF2B5EF4-FFF2-40B4-BE49-F238E27FC236}">
                  <a16:creationId xmlns:a16="http://schemas.microsoft.com/office/drawing/2014/main" id="{76AB0CFB-9315-4F87-BDDA-11D011BB00D3}"/>
                </a:ext>
              </a:extLst>
            </p:cNvPr>
            <p:cNvSpPr/>
            <p:nvPr/>
          </p:nvSpPr>
          <p:spPr>
            <a:xfrm>
              <a:off x="7519638" y="201536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17" name="원통 5">
              <a:extLst>
                <a:ext uri="{FF2B5EF4-FFF2-40B4-BE49-F238E27FC236}">
                  <a16:creationId xmlns:a16="http://schemas.microsoft.com/office/drawing/2014/main" id="{607D3B1A-A13D-4B9F-A6DE-E266ED68AFC3}"/>
                </a:ext>
              </a:extLst>
            </p:cNvPr>
            <p:cNvSpPr/>
            <p:nvPr/>
          </p:nvSpPr>
          <p:spPr>
            <a:xfrm>
              <a:off x="7954418" y="3861869"/>
              <a:ext cx="1005895" cy="273732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18" name="직선 화살표 연결선 185">
              <a:extLst>
                <a:ext uri="{FF2B5EF4-FFF2-40B4-BE49-F238E27FC236}">
                  <a16:creationId xmlns:a16="http://schemas.microsoft.com/office/drawing/2014/main" id="{7AFE4BD9-002D-4D76-9079-6287254D9F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36598" y="3609825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119" name="직선 화살표 연결선 185">
              <a:extLst>
                <a:ext uri="{FF2B5EF4-FFF2-40B4-BE49-F238E27FC236}">
                  <a16:creationId xmlns:a16="http://schemas.microsoft.com/office/drawing/2014/main" id="{73E7D81B-6FBE-4226-ADD7-0FFEA572F57E}"/>
                </a:ext>
              </a:extLst>
            </p:cNvPr>
            <p:cNvCxnSpPr>
              <a:cxnSpLocks/>
              <a:stCxn id="129" idx="2"/>
              <a:endCxn id="138" idx="0"/>
            </p:cNvCxnSpPr>
            <p:nvPr/>
          </p:nvCxnSpPr>
          <p:spPr>
            <a:xfrm flipH="1">
              <a:off x="10602968" y="2410565"/>
              <a:ext cx="1" cy="24282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3A6C8762-AA1E-48D6-AFE6-B4BC62313E1E}"/>
                </a:ext>
              </a:extLst>
            </p:cNvPr>
            <p:cNvSpPr/>
            <p:nvPr/>
          </p:nvSpPr>
          <p:spPr>
            <a:xfrm>
              <a:off x="7520870" y="1726402"/>
              <a:ext cx="1383184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</a:t>
              </a:r>
            </a:p>
          </p:txBody>
        </p: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D9478518-0083-431B-895B-C1BB81DDE028}"/>
                </a:ext>
              </a:extLst>
            </p:cNvPr>
            <p:cNvGrpSpPr/>
            <p:nvPr/>
          </p:nvGrpSpPr>
          <p:grpSpPr>
            <a:xfrm>
              <a:off x="9748834" y="2144559"/>
              <a:ext cx="1708273" cy="2126181"/>
              <a:chOff x="12508587" y="2383427"/>
              <a:chExt cx="1879100" cy="2126181"/>
            </a:xfrm>
          </p:grpSpPr>
          <p:sp>
            <p:nvSpPr>
              <p:cNvPr id="129" name="Shape 31">
                <a:extLst>
                  <a:ext uri="{FF2B5EF4-FFF2-40B4-BE49-F238E27FC236}">
                    <a16:creationId xmlns:a16="http://schemas.microsoft.com/office/drawing/2014/main" id="{F355C5E5-D60B-4572-9D91-2061BF7DD83A}"/>
                  </a:ext>
                </a:extLst>
              </p:cNvPr>
              <p:cNvSpPr/>
              <p:nvPr/>
            </p:nvSpPr>
            <p:spPr>
              <a:xfrm>
                <a:off x="128647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38" name="Shape 31">
                <a:extLst>
                  <a:ext uri="{FF2B5EF4-FFF2-40B4-BE49-F238E27FC236}">
                    <a16:creationId xmlns:a16="http://schemas.microsoft.com/office/drawing/2014/main" id="{535199C9-9527-4091-AD95-AB60C112E9D7}"/>
                  </a:ext>
                </a:extLst>
              </p:cNvPr>
              <p:cNvSpPr/>
              <p:nvPr/>
            </p:nvSpPr>
            <p:spPr>
              <a:xfrm>
                <a:off x="12508587" y="2892261"/>
                <a:ext cx="1879100" cy="962972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t"/>
              <a:lstStyle/>
              <a:p>
                <a:pPr algn="ctr"/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Lookup Validator</a:t>
                </a:r>
                <a:endParaRPr lang="ko-KR" altLang="en-US" sz="9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  <p:sp>
            <p:nvSpPr>
              <p:cNvPr id="139" name="Shape 31">
                <a:extLst>
                  <a:ext uri="{FF2B5EF4-FFF2-40B4-BE49-F238E27FC236}">
                    <a16:creationId xmlns:a16="http://schemas.microsoft.com/office/drawing/2014/main" id="{BD56F8F3-399D-40F7-9849-206895CDE16B}"/>
                  </a:ext>
                </a:extLst>
              </p:cNvPr>
              <p:cNvSpPr/>
              <p:nvPr/>
            </p:nvSpPr>
            <p:spPr>
              <a:xfrm>
                <a:off x="12806409" y="4243602"/>
                <a:ext cx="1283450" cy="26600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  <a:endParaRPr lang="ko-KR" altLang="en-US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</p:grpSp>
        <p:cxnSp>
          <p:nvCxnSpPr>
            <p:cNvPr id="142" name="직선 화살표 연결선 185">
              <a:extLst>
                <a:ext uri="{FF2B5EF4-FFF2-40B4-BE49-F238E27FC236}">
                  <a16:creationId xmlns:a16="http://schemas.microsoft.com/office/drawing/2014/main" id="{03ABB882-11D6-4845-A2A5-4FDFAA1E6339}"/>
                </a:ext>
              </a:extLst>
            </p:cNvPr>
            <p:cNvCxnSpPr>
              <a:cxnSpLocks/>
              <a:stCxn id="138" idx="2"/>
              <a:endCxn id="139" idx="0"/>
            </p:cNvCxnSpPr>
            <p:nvPr/>
          </p:nvCxnSpPr>
          <p:spPr>
            <a:xfrm>
              <a:off x="10602968" y="3616365"/>
              <a:ext cx="0" cy="388369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7" name="직선 화살표 연결선 185">
              <a:extLst>
                <a:ext uri="{FF2B5EF4-FFF2-40B4-BE49-F238E27FC236}">
                  <a16:creationId xmlns:a16="http://schemas.microsoft.com/office/drawing/2014/main" id="{0B056F2D-FE29-4725-A3F3-CA2EBC006FB4}"/>
                </a:ext>
              </a:extLst>
            </p:cNvPr>
            <p:cNvCxnSpPr>
              <a:cxnSpLocks/>
            </p:cNvCxnSpPr>
            <p:nvPr/>
          </p:nvCxnSpPr>
          <p:spPr>
            <a:xfrm>
              <a:off x="7923737" y="2215221"/>
              <a:ext cx="2" cy="20144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54" name="직사각형 153">
              <a:extLst>
                <a:ext uri="{FF2B5EF4-FFF2-40B4-BE49-F238E27FC236}">
                  <a16:creationId xmlns:a16="http://schemas.microsoft.com/office/drawing/2014/main" id="{362F8D9F-BDB3-4426-BE60-50824CFD8181}"/>
                </a:ext>
              </a:extLst>
            </p:cNvPr>
            <p:cNvSpPr/>
            <p:nvPr/>
          </p:nvSpPr>
          <p:spPr>
            <a:xfrm>
              <a:off x="9763641" y="1763109"/>
              <a:ext cx="1746648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</a:t>
              </a:r>
            </a:p>
          </p:txBody>
        </p:sp>
        <p:grpSp>
          <p:nvGrpSpPr>
            <p:cNvPr id="156" name="그룹 155">
              <a:extLst>
                <a:ext uri="{FF2B5EF4-FFF2-40B4-BE49-F238E27FC236}">
                  <a16:creationId xmlns:a16="http://schemas.microsoft.com/office/drawing/2014/main" id="{66104227-632F-4532-A15F-A94E4AD0E570}"/>
                </a:ext>
              </a:extLst>
            </p:cNvPr>
            <p:cNvGrpSpPr/>
            <p:nvPr/>
          </p:nvGrpSpPr>
          <p:grpSpPr>
            <a:xfrm>
              <a:off x="7507561" y="2416669"/>
              <a:ext cx="1359852" cy="1199696"/>
              <a:chOff x="6330553" y="2404429"/>
              <a:chExt cx="1830129" cy="1451634"/>
            </a:xfrm>
          </p:grpSpPr>
          <p:sp>
            <p:nvSpPr>
              <p:cNvPr id="158" name="Shape 37">
                <a:extLst>
                  <a:ext uri="{FF2B5EF4-FFF2-40B4-BE49-F238E27FC236}">
                    <a16:creationId xmlns:a16="http://schemas.microsoft.com/office/drawing/2014/main" id="{4BEDC545-66DD-4655-A68A-E3E610279C82}"/>
                  </a:ext>
                </a:extLst>
              </p:cNvPr>
              <p:cNvSpPr/>
              <p:nvPr/>
            </p:nvSpPr>
            <p:spPr>
              <a:xfrm>
                <a:off x="6330553" y="2404429"/>
                <a:ext cx="1825852" cy="395582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Prefill/Decode Execution Planner</a:t>
                </a:r>
              </a:p>
            </p:txBody>
          </p:sp>
          <p:sp>
            <p:nvSpPr>
              <p:cNvPr id="159" name="Shape 37">
                <a:extLst>
                  <a:ext uri="{FF2B5EF4-FFF2-40B4-BE49-F238E27FC236}">
                    <a16:creationId xmlns:a16="http://schemas.microsoft.com/office/drawing/2014/main" id="{3B719E66-F236-4D8A-A4DD-359F1145DC18}"/>
                  </a:ext>
                </a:extLst>
              </p:cNvPr>
              <p:cNvSpPr/>
              <p:nvPr/>
            </p:nvSpPr>
            <p:spPr>
              <a:xfrm>
                <a:off x="6561862" y="2908105"/>
                <a:ext cx="1371789" cy="27018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60" name="직선 화살표 연결선 185">
                <a:extLst>
                  <a:ext uri="{FF2B5EF4-FFF2-40B4-BE49-F238E27FC236}">
                    <a16:creationId xmlns:a16="http://schemas.microsoft.com/office/drawing/2014/main" id="{7DF56018-1135-4C31-BF01-C43F9DB53B8F}"/>
                  </a:ext>
                </a:extLst>
              </p:cNvPr>
              <p:cNvCxnSpPr>
                <a:cxnSpLocks/>
                <a:stCxn id="158" idx="2"/>
                <a:endCxn id="159" idx="0"/>
              </p:cNvCxnSpPr>
              <p:nvPr/>
            </p:nvCxnSpPr>
            <p:spPr>
              <a:xfrm>
                <a:off x="7243479" y="2800011"/>
                <a:ext cx="4278" cy="108094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1" name="Shape 37">
                <a:extLst>
                  <a:ext uri="{FF2B5EF4-FFF2-40B4-BE49-F238E27FC236}">
                    <a16:creationId xmlns:a16="http://schemas.microsoft.com/office/drawing/2014/main" id="{2A62CB42-EEB8-43B7-BCDD-BC501C1BDA1F}"/>
                  </a:ext>
                </a:extLst>
              </p:cNvPr>
              <p:cNvSpPr/>
              <p:nvPr/>
            </p:nvSpPr>
            <p:spPr>
              <a:xfrm>
                <a:off x="6334829" y="3329544"/>
                <a:ext cx="1825853" cy="5265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t"/>
              <a:lstStyle/>
              <a:p>
                <a:pPr algn="ctr"/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Plan</a:t>
                </a:r>
                <a:r>
                  <a:rPr lang="ko-KR" altLang="en-US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 </a:t>
                </a:r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Publisher</a:t>
                </a:r>
              </a:p>
            </p:txBody>
          </p:sp>
          <p:cxnSp>
            <p:nvCxnSpPr>
              <p:cNvPr id="165" name="직선 화살표 연결선 185">
                <a:extLst>
                  <a:ext uri="{FF2B5EF4-FFF2-40B4-BE49-F238E27FC236}">
                    <a16:creationId xmlns:a16="http://schemas.microsoft.com/office/drawing/2014/main" id="{2D8BFBA6-054C-465C-BB99-DA2EF692189C}"/>
                  </a:ext>
                </a:extLst>
              </p:cNvPr>
              <p:cNvCxnSpPr>
                <a:cxnSpLocks/>
                <a:stCxn id="159" idx="2"/>
                <a:endCxn id="161" idx="0"/>
              </p:cNvCxnSpPr>
              <p:nvPr/>
            </p:nvCxnSpPr>
            <p:spPr>
              <a:xfrm flipH="1">
                <a:off x="7247756" y="3178293"/>
                <a:ext cx="1" cy="151251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66" name="C2 freshness note">
              <a:extLst>
                <a:ext uri="{FF2B5EF4-FFF2-40B4-BE49-F238E27FC236}">
                  <a16:creationId xmlns:a16="http://schemas.microsoft.com/office/drawing/2014/main" id="{6CDBB823-D88F-4179-AF8F-A7BA5D43B7BC}"/>
                </a:ext>
              </a:extLst>
            </p:cNvPr>
            <p:cNvSpPr txBox="1"/>
            <p:nvPr/>
          </p:nvSpPr>
          <p:spPr>
            <a:xfrm>
              <a:off x="8231378" y="3680819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76" name="C2 freshness note">
              <a:extLst>
                <a:ext uri="{FF2B5EF4-FFF2-40B4-BE49-F238E27FC236}">
                  <a16:creationId xmlns:a16="http://schemas.microsoft.com/office/drawing/2014/main" id="{1BC6499B-FF93-4BF7-AC46-B40964266EDA}"/>
                </a:ext>
              </a:extLst>
            </p:cNvPr>
            <p:cNvSpPr txBox="1"/>
            <p:nvPr/>
          </p:nvSpPr>
          <p:spPr>
            <a:xfrm>
              <a:off x="10720148" y="3720694"/>
              <a:ext cx="493326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78" name="Rectangle 72">
              <a:extLst>
                <a:ext uri="{FF2B5EF4-FFF2-40B4-BE49-F238E27FC236}">
                  <a16:creationId xmlns:a16="http://schemas.microsoft.com/office/drawing/2014/main" id="{B1580EF9-18C1-4398-A6A7-79BDE5FB0E99}"/>
                </a:ext>
              </a:extLst>
            </p:cNvPr>
            <p:cNvSpPr/>
            <p:nvPr/>
          </p:nvSpPr>
          <p:spPr>
            <a:xfrm>
              <a:off x="6783687" y="1980022"/>
              <a:ext cx="687999" cy="29260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lang="ko-KR" alt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②</a:t>
              </a:r>
              <a:r>
                <a:rPr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</a:t>
              </a:r>
              <a:r>
                <a:rPr lang="en-US"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Plan age </a:t>
              </a:r>
              <a:r>
                <a:rPr lang="ko-KR" altLang="en-US"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조절</a:t>
              </a:r>
              <a:endParaRPr sz="900" b="1" i="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179" name="Connector 73">
              <a:extLst>
                <a:ext uri="{FF2B5EF4-FFF2-40B4-BE49-F238E27FC236}">
                  <a16:creationId xmlns:a16="http://schemas.microsoft.com/office/drawing/2014/main" id="{36B8346B-263D-4054-9586-665ED38BBD97}"/>
                </a:ext>
              </a:extLst>
            </p:cNvPr>
            <p:cNvCxnSpPr>
              <a:cxnSpLocks/>
              <a:stCxn id="178" idx="3"/>
            </p:cNvCxnSpPr>
            <p:nvPr/>
          </p:nvCxnSpPr>
          <p:spPr>
            <a:xfrm>
              <a:off x="7471686" y="2126327"/>
              <a:ext cx="249313" cy="0"/>
            </a:xfrm>
            <a:prstGeom prst="line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3836ECBB-F50B-4462-AF0B-785DCB30583C}"/>
                </a:ext>
              </a:extLst>
            </p:cNvPr>
            <p:cNvSpPr txBox="1"/>
            <p:nvPr/>
          </p:nvSpPr>
          <p:spPr>
            <a:xfrm>
              <a:off x="8012029" y="2236805"/>
              <a:ext cx="1704411" cy="12926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>
                <a:lnSpc>
                  <a:spcPct val="105000"/>
                </a:lnSpc>
              </a:pPr>
              <a:r>
                <a:rPr lang="en-US" altLang="ko-KR" sz="800" dirty="0">
                  <a:solidFill>
                    <a:srgbClr val="FF0000"/>
                  </a:solidFill>
                  <a:ea typeface="맑은 고딕"/>
                </a:rPr>
                <a:t>plan age ≤ W × </a:t>
              </a:r>
              <a:r>
                <a:rPr lang="ko-KR" altLang="en-US" sz="800" dirty="0">
                  <a:solidFill>
                    <a:srgbClr val="FF0000"/>
                  </a:solidFill>
                  <a:ea typeface="맑은 고딕"/>
                </a:rPr>
                <a:t>평균 </a:t>
              </a:r>
              <a:r>
                <a:rPr lang="ko-KR" altLang="en-US" sz="800" dirty="0" err="1">
                  <a:solidFill>
                    <a:srgbClr val="FF0000"/>
                  </a:solidFill>
                  <a:ea typeface="맑은 고딕"/>
                </a:rPr>
                <a:t>서비스시간</a:t>
              </a:r>
              <a:endParaRPr sz="650" b="0" i="0" dirty="0">
                <a:solidFill>
                  <a:srgbClr val="FF00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81" name="Rectangle 90">
              <a:extLst>
                <a:ext uri="{FF2B5EF4-FFF2-40B4-BE49-F238E27FC236}">
                  <a16:creationId xmlns:a16="http://schemas.microsoft.com/office/drawing/2014/main" id="{393AF082-229B-4EA1-B973-529F7E5939CD}"/>
                </a:ext>
              </a:extLst>
            </p:cNvPr>
            <p:cNvSpPr/>
            <p:nvPr/>
          </p:nvSpPr>
          <p:spPr>
            <a:xfrm>
              <a:off x="7397563" y="4243058"/>
              <a:ext cx="2194560" cy="26298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rgbClr val="5482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05000"/>
                </a:lnSpc>
              </a:pPr>
              <a:r>
                <a:rPr lang="ko-KR" alt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③</a:t>
              </a:r>
              <a:r>
                <a:rPr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</a:t>
              </a:r>
              <a:r>
                <a:rPr 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Load</a:t>
              </a:r>
              <a:r>
                <a:rPr lang="ko-KR" alt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에 따라 </a:t>
              </a:r>
              <a:r>
                <a:rPr lang="en-US" altLang="ko-KR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plan age, </a:t>
              </a:r>
              <a:r>
                <a:rPr lang="ko-KR" alt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구간 조절</a:t>
              </a:r>
              <a:endParaRPr sz="900" b="1" i="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182" name="Connector 91">
              <a:extLst>
                <a:ext uri="{FF2B5EF4-FFF2-40B4-BE49-F238E27FC236}">
                  <a16:creationId xmlns:a16="http://schemas.microsoft.com/office/drawing/2014/main" id="{CA4C1222-DD39-4CB4-9CC3-03ED0A73CB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96343" y="3586363"/>
              <a:ext cx="0" cy="660487"/>
            </a:xfrm>
            <a:prstGeom prst="line">
              <a:avLst/>
            </a:prstGeom>
            <a:ln w="12700">
              <a:solidFill>
                <a:schemeClr val="accent6">
                  <a:lumMod val="75000"/>
                </a:scheme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3" name="Rectangle 99">
              <a:extLst>
                <a:ext uri="{FF2B5EF4-FFF2-40B4-BE49-F238E27FC236}">
                  <a16:creationId xmlns:a16="http://schemas.microsoft.com/office/drawing/2014/main" id="{DEC58700-628A-46D6-8DB4-59853C5D7B6E}"/>
                </a:ext>
              </a:extLst>
            </p:cNvPr>
            <p:cNvSpPr/>
            <p:nvPr/>
          </p:nvSpPr>
          <p:spPr>
            <a:xfrm>
              <a:off x="9840834" y="2926911"/>
              <a:ext cx="1493409" cy="54391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50000"/>
                </a:lnSpc>
              </a:pPr>
              <a:r>
                <a:rPr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① </a:t>
              </a:r>
              <a:r>
                <a:rPr lang="en-US"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Mismatch </a:t>
              </a:r>
              <a:r>
                <a:rPr lang="ko-KR" altLang="en-US"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시 구간</a:t>
              </a:r>
              <a:r>
                <a:rPr lang="en-US" altLang="ko-KR"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(</a:t>
              </a:r>
              <a:r>
                <a:rPr lang="en-US" altLang="ko-KR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k)</a:t>
              </a:r>
              <a:r>
                <a:rPr lang="ko-KR" altLang="en-US"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 조회</a:t>
              </a:r>
              <a:endParaRPr lang="en-US" altLang="ko-KR" sz="800" b="1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1</a:t>
              </a:r>
              <a:r>
                <a:rPr lang="ko-KR" altLang="en-US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순위 </a:t>
              </a:r>
              <a:r>
                <a:rPr lang="en-US" altLang="ko-KR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fail → 2</a:t>
              </a:r>
              <a:r>
                <a:rPr lang="ko-KR" altLang="en-US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순위 선택</a:t>
              </a:r>
            </a:p>
          </p:txBody>
        </p:sp>
        <p:sp>
          <p:nvSpPr>
            <p:cNvPr id="184" name="Rectangle 99">
              <a:extLst>
                <a:ext uri="{FF2B5EF4-FFF2-40B4-BE49-F238E27FC236}">
                  <a16:creationId xmlns:a16="http://schemas.microsoft.com/office/drawing/2014/main" id="{AC7EA8DB-BC4B-4D91-B691-7CA48A2BFA88}"/>
                </a:ext>
              </a:extLst>
            </p:cNvPr>
            <p:cNvSpPr/>
            <p:nvPr/>
          </p:nvSpPr>
          <p:spPr>
            <a:xfrm>
              <a:off x="7705229" y="3373532"/>
              <a:ext cx="973633" cy="16799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50000"/>
                </a:lnSpc>
              </a:pPr>
              <a:r>
                <a:rPr lang="en-US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Plan </a:t>
              </a:r>
              <a:r>
                <a:rPr lang="ko-KR" altLang="en-US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구간 가변</a:t>
              </a:r>
            </a:p>
          </p:txBody>
        </p: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010BE734-ED4C-4304-B91C-30745AE9AA7F}"/>
                </a:ext>
              </a:extLst>
            </p:cNvPr>
            <p:cNvGrpSpPr/>
            <p:nvPr/>
          </p:nvGrpSpPr>
          <p:grpSpPr>
            <a:xfrm>
              <a:off x="11288365" y="4027657"/>
              <a:ext cx="732341" cy="488318"/>
              <a:chOff x="11056831" y="3583489"/>
              <a:chExt cx="886133" cy="488318"/>
            </a:xfrm>
          </p:grpSpPr>
          <p:sp>
            <p:nvSpPr>
              <p:cNvPr id="189" name="KV Cache Manager">
                <a:extLst>
                  <a:ext uri="{FF2B5EF4-FFF2-40B4-BE49-F238E27FC236}">
                    <a16:creationId xmlns:a16="http://schemas.microsoft.com/office/drawing/2014/main" id="{7193BC83-981B-478E-BB00-B0CCD220C611}"/>
                  </a:ext>
                </a:extLst>
              </p:cNvPr>
              <p:cNvSpPr/>
              <p:nvPr/>
            </p:nvSpPr>
            <p:spPr>
              <a:xfrm>
                <a:off x="11126972" y="3816949"/>
                <a:ext cx="784423" cy="19403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pPr algn="ctr"/>
                <a:r>
                  <a:rPr lang="en-US" altLang="ko-KR" sz="800" b="1" dirty="0">
                    <a:solidFill>
                      <a:schemeClr val="tx1"/>
                    </a:solidFill>
                  </a:rPr>
                  <a:t>QA2 </a:t>
                </a:r>
                <a:r>
                  <a:rPr lang="ko-KR" altLang="en-US" sz="800" b="1" dirty="0">
                    <a:solidFill>
                      <a:schemeClr val="tx1"/>
                    </a:solidFill>
                  </a:rPr>
                  <a:t>보완</a:t>
                </a:r>
                <a:endParaRPr lang="en-US" altLang="ko-KR" sz="8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0" name="직사각형 189">
                <a:extLst>
                  <a:ext uri="{FF2B5EF4-FFF2-40B4-BE49-F238E27FC236}">
                    <a16:creationId xmlns:a16="http://schemas.microsoft.com/office/drawing/2014/main" id="{C84C114C-72C6-4726-8195-A62CCA108A92}"/>
                  </a:ext>
                </a:extLst>
              </p:cNvPr>
              <p:cNvSpPr/>
              <p:nvPr/>
            </p:nvSpPr>
            <p:spPr>
              <a:xfrm>
                <a:off x="11056831" y="3583489"/>
                <a:ext cx="886133" cy="488318"/>
              </a:xfrm>
              <a:prstGeom prst="rect">
                <a:avLst/>
              </a:prstGeom>
              <a:noFill/>
              <a:ln w="19050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altLang="ko-KR" sz="800" b="1" dirty="0">
                    <a:solidFill>
                      <a:schemeClr val="tx1"/>
                    </a:solidFill>
                  </a:rPr>
                  <a:t>Legend</a:t>
                </a:r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97" name="직선 연결선 196"/>
            <p:cNvCxnSpPr/>
            <p:nvPr/>
          </p:nvCxnSpPr>
          <p:spPr>
            <a:xfrm>
              <a:off x="9628991" y="1977996"/>
              <a:ext cx="0" cy="2536897"/>
            </a:xfrm>
            <a:prstGeom prst="line">
              <a:avLst/>
            </a:prstGeom>
            <a:noFill/>
            <a:ln w="12700">
              <a:solidFill>
                <a:srgbClr val="C76E31"/>
              </a:solidFill>
              <a:prstDash val="dash"/>
            </a:ln>
          </p:spPr>
        </p:cxnSp>
      </p:grpSp>
      <p:grpSp>
        <p:nvGrpSpPr>
          <p:cNvPr id="4" name="그룹 3"/>
          <p:cNvGrpSpPr/>
          <p:nvPr/>
        </p:nvGrpSpPr>
        <p:grpSpPr>
          <a:xfrm>
            <a:off x="1513665" y="1714715"/>
            <a:ext cx="4266747" cy="2485293"/>
            <a:chOff x="1422351" y="1800000"/>
            <a:chExt cx="4693422" cy="2733822"/>
          </a:xfrm>
        </p:grpSpPr>
        <p:sp>
          <p:nvSpPr>
            <p:cNvPr id="112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2862635" y="1853692"/>
              <a:ext cx="1411795" cy="2926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Scheduler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9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12" idx="2"/>
              <a:endCxn id="144" idx="0"/>
            </p:cNvCxnSpPr>
            <p:nvPr/>
          </p:nvCxnSpPr>
          <p:spPr>
            <a:xfrm>
              <a:off x="3568533" y="2146299"/>
              <a:ext cx="1889" cy="289506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24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2394012" y="4212297"/>
              <a:ext cx="795864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5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1434016" y="4212297"/>
              <a:ext cx="795864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6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337592" y="4212297"/>
              <a:ext cx="875450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2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51" idx="2"/>
              <a:endCxn id="125" idx="0"/>
            </p:cNvCxnSpPr>
            <p:nvPr/>
          </p:nvCxnSpPr>
          <p:spPr>
            <a:xfrm rot="5400000">
              <a:off x="2567161" y="3209036"/>
              <a:ext cx="268048" cy="1738474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3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51" idx="2"/>
              <a:endCxn id="126" idx="0"/>
            </p:cNvCxnSpPr>
            <p:nvPr/>
          </p:nvCxnSpPr>
          <p:spPr>
            <a:xfrm rot="16200000" flipH="1">
              <a:off x="3538845" y="3975825"/>
              <a:ext cx="268048" cy="204895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7" name="TextBox 76"/>
            <p:cNvSpPr txBox="1"/>
            <p:nvPr/>
          </p:nvSpPr>
          <p:spPr>
            <a:xfrm>
              <a:off x="4482797" y="3231336"/>
              <a:ext cx="1600000" cy="2769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Cost 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계산이</a:t>
              </a:r>
            </a:p>
            <a:p>
              <a:pPr algn="l">
                <a:lnSpc>
                  <a:spcPct val="100000"/>
                </a:lnSpc>
              </a:pP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critical path  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내부</a:t>
              </a:r>
            </a:p>
          </p:txBody>
        </p:sp>
        <p:sp>
          <p:nvSpPr>
            <p:cNvPr id="136" name="Shape 37">
              <a:extLst>
                <a:ext uri="{FF2B5EF4-FFF2-40B4-BE49-F238E27FC236}">
                  <a16:creationId xmlns:a16="http://schemas.microsoft.com/office/drawing/2014/main" id="{7F2072DD-19B6-48CA-BD3D-876E8DDC9C60}"/>
                </a:ext>
              </a:extLst>
            </p:cNvPr>
            <p:cNvSpPr/>
            <p:nvPr/>
          </p:nvSpPr>
          <p:spPr>
            <a:xfrm>
              <a:off x="4737207" y="2129473"/>
              <a:ext cx="1262736" cy="3269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KV State Monitor</a:t>
              </a:r>
            </a:p>
          </p:txBody>
        </p:sp>
        <p:cxnSp>
          <p:nvCxnSpPr>
            <p:cNvPr id="143" name="직선 화살표 연결선 185">
              <a:extLst>
                <a:ext uri="{FF2B5EF4-FFF2-40B4-BE49-F238E27FC236}">
                  <a16:creationId xmlns:a16="http://schemas.microsoft.com/office/drawing/2014/main" id="{BA0CBBE8-3F10-4B7D-B934-710047CDD61C}"/>
                </a:ext>
              </a:extLst>
            </p:cNvPr>
            <p:cNvCxnSpPr>
              <a:cxnSpLocks/>
              <a:stCxn id="144" idx="3"/>
              <a:endCxn id="136" idx="1"/>
            </p:cNvCxnSpPr>
            <p:nvPr/>
          </p:nvCxnSpPr>
          <p:spPr>
            <a:xfrm flipV="1">
              <a:off x="4324906" y="2292936"/>
              <a:ext cx="412301" cy="322679"/>
            </a:xfrm>
            <a:prstGeom prst="bentConnector3">
              <a:avLst>
                <a:gd name="adj1" fmla="val 50000"/>
              </a:avLst>
            </a:prstGeom>
            <a:noFill/>
            <a:ln w="9525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cxnSp>
        <p:sp>
          <p:nvSpPr>
            <p:cNvPr id="144" name="Shape 37">
              <a:extLst>
                <a:ext uri="{FF2B5EF4-FFF2-40B4-BE49-F238E27FC236}">
                  <a16:creationId xmlns:a16="http://schemas.microsoft.com/office/drawing/2014/main" id="{70E92FE8-4878-4154-BB88-F90E93B7B850}"/>
                </a:ext>
              </a:extLst>
            </p:cNvPr>
            <p:cNvSpPr/>
            <p:nvPr/>
          </p:nvSpPr>
          <p:spPr>
            <a:xfrm>
              <a:off x="2815938" y="2435805"/>
              <a:ext cx="1508968" cy="35961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Planner</a:t>
              </a:r>
            </a:p>
            <a:p>
              <a:pPr algn="ctr"/>
              <a:r>
                <a:rPr lang="en-US" altLang="ko-KR" sz="900" b="1" dirty="0">
                  <a:solidFill>
                    <a:srgbClr val="FF0000"/>
                  </a:solidFill>
                </a:rPr>
                <a:t>(Plan)</a:t>
              </a:r>
            </a:p>
          </p:txBody>
        </p:sp>
        <p:sp>
          <p:nvSpPr>
            <p:cNvPr id="145" name="Shape 37">
              <a:extLst>
                <a:ext uri="{FF2B5EF4-FFF2-40B4-BE49-F238E27FC236}">
                  <a16:creationId xmlns:a16="http://schemas.microsoft.com/office/drawing/2014/main" id="{7EA846FB-2BF9-4A17-B933-665E6BCC5A1E}"/>
                </a:ext>
              </a:extLst>
            </p:cNvPr>
            <p:cNvSpPr/>
            <p:nvPr/>
          </p:nvSpPr>
          <p:spPr>
            <a:xfrm>
              <a:off x="4737207" y="2582530"/>
              <a:ext cx="1262736" cy="3269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Resource State</a:t>
              </a:r>
            </a:p>
            <a:p>
              <a:pPr algn="ctr"/>
              <a:r>
                <a:rPr lang="en-US" altLang="ko-KR" sz="100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Monitor</a:t>
              </a:r>
              <a:endPara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</p:txBody>
        </p:sp>
        <p:cxnSp>
          <p:nvCxnSpPr>
            <p:cNvPr id="146" name="직선 화살표 연결선 185">
              <a:extLst>
                <a:ext uri="{FF2B5EF4-FFF2-40B4-BE49-F238E27FC236}">
                  <a16:creationId xmlns:a16="http://schemas.microsoft.com/office/drawing/2014/main" id="{866738E6-B5E2-485B-BCC3-7AB7D686059C}"/>
                </a:ext>
              </a:extLst>
            </p:cNvPr>
            <p:cNvCxnSpPr>
              <a:cxnSpLocks/>
              <a:stCxn id="144" idx="3"/>
              <a:endCxn id="145" idx="1"/>
            </p:cNvCxnSpPr>
            <p:nvPr/>
          </p:nvCxnSpPr>
          <p:spPr>
            <a:xfrm>
              <a:off x="4324906" y="2615615"/>
              <a:ext cx="412301" cy="130378"/>
            </a:xfrm>
            <a:prstGeom prst="bentConnector3">
              <a:avLst>
                <a:gd name="adj1" fmla="val 50000"/>
              </a:avLst>
            </a:prstGeom>
            <a:noFill/>
            <a:ln w="9525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cxnSp>
        <p:sp>
          <p:nvSpPr>
            <p:cNvPr id="149" name="Shape 37">
              <a:extLst>
                <a:ext uri="{FF2B5EF4-FFF2-40B4-BE49-F238E27FC236}">
                  <a16:creationId xmlns:a16="http://schemas.microsoft.com/office/drawing/2014/main" id="{D29B8A49-AE77-46A5-BF3C-C5FFF88BE9D4}"/>
                </a:ext>
              </a:extLst>
            </p:cNvPr>
            <p:cNvSpPr/>
            <p:nvPr/>
          </p:nvSpPr>
          <p:spPr>
            <a:xfrm>
              <a:off x="2815938" y="3112583"/>
              <a:ext cx="1508968" cy="29720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Cost Evaluator</a:t>
              </a:r>
              <a:endPara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50" name="직선 화살표 연결선 185">
              <a:extLst>
                <a:ext uri="{FF2B5EF4-FFF2-40B4-BE49-F238E27FC236}">
                  <a16:creationId xmlns:a16="http://schemas.microsoft.com/office/drawing/2014/main" id="{EFEBEDC4-80EE-4735-B71E-6C1DFDD6FCDC}"/>
                </a:ext>
              </a:extLst>
            </p:cNvPr>
            <p:cNvCxnSpPr>
              <a:cxnSpLocks/>
              <a:stCxn id="144" idx="2"/>
              <a:endCxn id="149" idx="0"/>
            </p:cNvCxnSpPr>
            <p:nvPr/>
          </p:nvCxnSpPr>
          <p:spPr>
            <a:xfrm>
              <a:off x="3570422" y="2795424"/>
              <a:ext cx="0" cy="317159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cxnSp>
        <p:sp>
          <p:nvSpPr>
            <p:cNvPr id="151" name="Shape 37">
              <a:extLst>
                <a:ext uri="{FF2B5EF4-FFF2-40B4-BE49-F238E27FC236}">
                  <a16:creationId xmlns:a16="http://schemas.microsoft.com/office/drawing/2014/main" id="{1AFCAFB9-F8C0-41A8-8E3E-3B7ACC234BE6}"/>
                </a:ext>
              </a:extLst>
            </p:cNvPr>
            <p:cNvSpPr/>
            <p:nvPr/>
          </p:nvSpPr>
          <p:spPr>
            <a:xfrm>
              <a:off x="2815938" y="3584630"/>
              <a:ext cx="1508968" cy="35961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Router</a:t>
              </a:r>
            </a:p>
            <a:p>
              <a:pPr algn="ctr"/>
              <a:r>
                <a:rPr lang="en-US" altLang="ko-KR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</a:rPr>
                <a:t>(Decision)</a:t>
              </a:r>
            </a:p>
          </p:txBody>
        </p:sp>
        <p:cxnSp>
          <p:nvCxnSpPr>
            <p:cNvPr id="152" name="직선 화살표 연결선 185">
              <a:extLst>
                <a:ext uri="{FF2B5EF4-FFF2-40B4-BE49-F238E27FC236}">
                  <a16:creationId xmlns:a16="http://schemas.microsoft.com/office/drawing/2014/main" id="{A5D1AF10-B4E4-4F84-8D33-8BACD09A70C2}"/>
                </a:ext>
              </a:extLst>
            </p:cNvPr>
            <p:cNvCxnSpPr>
              <a:cxnSpLocks/>
              <a:stCxn id="149" idx="2"/>
              <a:endCxn id="151" idx="0"/>
            </p:cNvCxnSpPr>
            <p:nvPr/>
          </p:nvCxnSpPr>
          <p:spPr>
            <a:xfrm>
              <a:off x="3570422" y="3409788"/>
              <a:ext cx="0" cy="17484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53" name="직선 화살표 연결선 185">
              <a:extLst>
                <a:ext uri="{FF2B5EF4-FFF2-40B4-BE49-F238E27FC236}">
                  <a16:creationId xmlns:a16="http://schemas.microsoft.com/office/drawing/2014/main" id="{667011A0-7D9C-4D04-BD0D-206D0F921C23}"/>
                </a:ext>
              </a:extLst>
            </p:cNvPr>
            <p:cNvCxnSpPr>
              <a:cxnSpLocks/>
              <a:stCxn id="151" idx="2"/>
              <a:endCxn id="124" idx="0"/>
            </p:cNvCxnSpPr>
            <p:nvPr/>
          </p:nvCxnSpPr>
          <p:spPr>
            <a:xfrm rot="5400000">
              <a:off x="3047159" y="3689034"/>
              <a:ext cx="268048" cy="778478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55" name="Shape 31">
              <a:extLst>
                <a:ext uri="{FF2B5EF4-FFF2-40B4-BE49-F238E27FC236}">
                  <a16:creationId xmlns:a16="http://schemas.microsoft.com/office/drawing/2014/main" id="{C0494BB5-740B-474B-8EDE-7DEE62853B08}"/>
                </a:ext>
              </a:extLst>
            </p:cNvPr>
            <p:cNvSpPr/>
            <p:nvPr/>
          </p:nvSpPr>
          <p:spPr>
            <a:xfrm>
              <a:off x="4393753" y="4212297"/>
              <a:ext cx="87545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57" name="직선 화살표 연결선 185">
              <a:extLst>
                <a:ext uri="{FF2B5EF4-FFF2-40B4-BE49-F238E27FC236}">
                  <a16:creationId xmlns:a16="http://schemas.microsoft.com/office/drawing/2014/main" id="{D2EDFE24-B445-4346-8805-83EFFC8CB053}"/>
                </a:ext>
              </a:extLst>
            </p:cNvPr>
            <p:cNvCxnSpPr>
              <a:cxnSpLocks/>
              <a:stCxn id="151" idx="2"/>
              <a:endCxn id="155" idx="0"/>
            </p:cNvCxnSpPr>
            <p:nvPr/>
          </p:nvCxnSpPr>
          <p:spPr>
            <a:xfrm rot="16200000" flipH="1">
              <a:off x="4066926" y="3447745"/>
              <a:ext cx="268048" cy="1261056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dash"/>
              <a:headEnd type="none"/>
              <a:tailEnd type="triangle"/>
            </a:ln>
          </p:spPr>
        </p:cxnSp>
        <p:sp>
          <p:nvSpPr>
            <p:cNvPr id="1271" name="C1 Critical path boundary"/>
            <p:cNvSpPr/>
            <p:nvPr/>
          </p:nvSpPr>
          <p:spPr>
            <a:xfrm>
              <a:off x="2695773" y="1800000"/>
              <a:ext cx="3420000" cy="2185000"/>
            </a:xfrm>
            <a:prstGeom prst="rect">
              <a:avLst/>
            </a:prstGeom>
            <a:noFill/>
            <a:ln w="12700">
              <a:solidFill>
                <a:srgbClr val="C76E31"/>
              </a:solidFill>
              <a:prstDash val="dash"/>
            </a:ln>
          </p:spPr>
          <p:txBody>
            <a:bodyPr rtlCol="0" anchor="ctr"/>
            <a:lstStyle/>
            <a:p>
              <a:pPr algn="ctr"/>
              <a:endParaRPr lang="en-US" altLang="ko-KR" sz="9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293" name="C1 Critical path label"/>
            <p:cNvSpPr/>
            <p:nvPr/>
          </p:nvSpPr>
          <p:spPr>
            <a:xfrm>
              <a:off x="4330000" y="1815000"/>
              <a:ext cx="1440000" cy="250000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+ Decision</a:t>
              </a:r>
            </a:p>
          </p:txBody>
        </p:sp>
        <p:cxnSp>
          <p:nvCxnSpPr>
            <p:cNvPr id="120" name="직선 화살표 연결선 185">
              <a:extLst>
                <a:ext uri="{FF2B5EF4-FFF2-40B4-BE49-F238E27FC236}">
                  <a16:creationId xmlns:a16="http://schemas.microsoft.com/office/drawing/2014/main" id="{6B405AD3-50C7-4140-923C-39C9EC62E997}"/>
                </a:ext>
              </a:extLst>
            </p:cNvPr>
            <p:cNvCxnSpPr>
              <a:cxnSpLocks/>
              <a:stCxn id="149" idx="1"/>
              <a:endCxn id="123" idx="0"/>
            </p:cNvCxnSpPr>
            <p:nvPr/>
          </p:nvCxnSpPr>
          <p:spPr>
            <a:xfrm rot="10800000" flipV="1">
              <a:off x="1977484" y="3261185"/>
              <a:ext cx="838455" cy="122381"/>
            </a:xfrm>
            <a:prstGeom prst="bentConnector2">
              <a:avLst/>
            </a:prstGeom>
            <a:noFill/>
            <a:ln w="9525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cxnSp>
        <p:sp>
          <p:nvSpPr>
            <p:cNvPr id="123" name="KV Cache Manager">
              <a:extLst>
                <a:ext uri="{FF2B5EF4-FFF2-40B4-BE49-F238E27FC236}">
                  <a16:creationId xmlns:a16="http://schemas.microsoft.com/office/drawing/2014/main" id="{AF50C5FD-82D2-49A4-BB8D-5B9CCB95E6F0}"/>
                </a:ext>
              </a:extLst>
            </p:cNvPr>
            <p:cNvSpPr/>
            <p:nvPr/>
          </p:nvSpPr>
          <p:spPr>
            <a:xfrm>
              <a:off x="1422351" y="3383568"/>
              <a:ext cx="1110263" cy="46576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dirty="0">
                  <a:solidFill>
                    <a:schemeClr val="bg1"/>
                  </a:solidFill>
                </a:rPr>
                <a:t>Common Memory Backend Interface</a:t>
              </a:r>
              <a:endParaRPr lang="ko-KR" altLang="en-US" sz="900" dirty="0">
                <a:solidFill>
                  <a:schemeClr val="bg1"/>
                </a:solidFill>
              </a:endParaRPr>
            </a:p>
          </p:txBody>
        </p:sp>
      </p:grpSp>
      <p:sp>
        <p:nvSpPr>
          <p:cNvPr id="198" name="모서리가 둥근 직사각형 19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9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20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201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202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204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205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206" name="모서리가 둥근 직사각형 205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184584" y="1397170"/>
            <a:ext cx="62636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100"/>
            </a:lvl1pPr>
          </a:lstStyle>
          <a:p>
            <a:r>
              <a:rPr dirty="0"/>
              <a:t>“</a:t>
            </a:r>
            <a:r>
              <a:rPr lang="ko-KR" altLang="en-US" dirty="0"/>
              <a:t>계획의 구간을 확장하고</a:t>
            </a:r>
            <a:r>
              <a:rPr lang="en-US" altLang="ko-KR" dirty="0"/>
              <a:t>, Queue</a:t>
            </a:r>
            <a:r>
              <a:rPr lang="ko-KR" altLang="en-US" dirty="0"/>
              <a:t>의 크기를 보고 계획 시점을 조율</a:t>
            </a:r>
            <a:r>
              <a:rPr lang="en-US" altLang="ko-KR" dirty="0"/>
              <a:t>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563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15847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82206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2794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161182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8" y="1054901"/>
          <a:ext cx="11759184" cy="562179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15847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82206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2794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161182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</a:rPr>
                        <a:t>+</a:t>
                      </a:r>
                      <a:r>
                        <a:rPr lang="en-US" altLang="ko-KR" sz="1200" b="1" baseline="0" dirty="0">
                          <a:solidFill>
                            <a:srgbClr val="FF0000"/>
                          </a:solidFill>
                        </a:rPr>
                        <a:t> Base </a:t>
                      </a:r>
                      <a:r>
                        <a:rPr lang="ko-KR" altLang="en-US" sz="1200" b="1" baseline="0" dirty="0">
                          <a:solidFill>
                            <a:srgbClr val="FF0000"/>
                          </a:solidFill>
                        </a:rPr>
                        <a:t>공유</a:t>
                      </a:r>
                      <a:r>
                        <a:rPr lang="en-US" altLang="ko-KR" sz="1200" b="1" baseline="0" dirty="0">
                          <a:solidFill>
                            <a:srgbClr val="FF0000"/>
                          </a:solidFill>
                        </a:rPr>
                        <a:t>, Delta</a:t>
                      </a:r>
                      <a:r>
                        <a:rPr lang="ko-KR" altLang="en-US" sz="1200" b="1" baseline="0" dirty="0">
                          <a:solidFill>
                            <a:srgbClr val="FF0000"/>
                          </a:solidFill>
                        </a:rPr>
                        <a:t>만 할당</a:t>
                      </a:r>
                      <a:endParaRPr lang="ko-KR" alt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091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요청이 끝나면 재계산 위치를 소멸하여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Stale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데이터 발생 방지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대표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en-US" altLang="ko-KR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및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재계산 위치를 별도 저장하므로 메모리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점유량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증가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-&gt;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공통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KV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는 요청 간 공유하고 요청 별로 새로 쓰는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KV(Delta)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만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Append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하게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Layout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을 조절하여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HBM </a:t>
                      </a:r>
                      <a:r>
                        <a:rPr lang="ko-KR" altLang="en-US" sz="1200" strike="noStrike" baseline="0" dirty="0" err="1">
                          <a:solidFill>
                            <a:srgbClr val="FF0000"/>
                          </a:solidFill>
                          <a:effectLst/>
                        </a:rPr>
                        <a:t>점유량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 제어 </a:t>
                      </a:r>
                      <a:endParaRPr lang="en-US" altLang="ko-KR" sz="1200" strike="noStrike" baseline="0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>
                <a:solidFill>
                  <a:srgbClr val="FF0000"/>
                </a:solidFill>
              </a:rPr>
              <a:t>보완 설계 </a:t>
            </a:r>
            <a:endParaRPr lang="ko-KR" altLang="en-US" strike="sngStrike" dirty="0">
              <a:solidFill>
                <a:srgbClr val="FF0000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서빙</a:t>
            </a:r>
            <a:r>
              <a:rPr lang="ko-KR" altLang="en-US" sz="1100" dirty="0"/>
              <a:t> 경로 내에서 재계산 대상 토큰을 동적으로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선택적 재계산을 수행하는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재사용 </a:t>
            </a:r>
            <a:r>
              <a:rPr lang="en-US" altLang="ko-KR" sz="1100" dirty="0"/>
              <a:t>KV</a:t>
            </a:r>
            <a:r>
              <a:rPr lang="ko-KR" altLang="en-US" sz="1100" dirty="0"/>
              <a:t>는 요청 간 공유</a:t>
            </a:r>
            <a:r>
              <a:rPr lang="en-US" altLang="ko-KR" sz="1100" dirty="0"/>
              <a:t>(Base)</a:t>
            </a:r>
            <a:r>
              <a:rPr lang="ko-KR" altLang="en-US" sz="1100" dirty="0"/>
              <a:t>하고 </a:t>
            </a:r>
            <a:r>
              <a:rPr lang="ko-KR" altLang="en-US" sz="1100" dirty="0" err="1"/>
              <a:t>재계산분만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요청별</a:t>
            </a:r>
            <a:r>
              <a:rPr lang="en-US" altLang="ko-KR" sz="1100" dirty="0"/>
              <a:t>(Delta)</a:t>
            </a:r>
            <a:r>
              <a:rPr lang="ko-KR" altLang="en-US" sz="1100" dirty="0"/>
              <a:t>로 두며 </a:t>
            </a:r>
            <a:r>
              <a:rPr lang="en-US" altLang="ko-KR" sz="1100" dirty="0"/>
              <a:t>HBM </a:t>
            </a:r>
            <a:r>
              <a:rPr lang="ko-KR" altLang="en-US" sz="1100" dirty="0"/>
              <a:t>예산을 입장 전에 계산</a:t>
            </a:r>
            <a:r>
              <a:rPr lang="en-US" altLang="ko-KR" sz="1100" dirty="0"/>
              <a:t>”</a:t>
            </a:r>
            <a:endParaRPr lang="ko-KR" altLang="en-US" sz="1100" dirty="0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38649" y="6339481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045624" y="630275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8</a:t>
            </a:r>
            <a:r>
              <a:rPr lang="ko-KR" altLang="en-US" sz="1200" dirty="0">
                <a:solidFill>
                  <a:srgbClr val="FF0000"/>
                </a:solidFill>
              </a:rPr>
              <a:t>점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6663658" y="1846644"/>
            <a:ext cx="5155915" cy="1618145"/>
            <a:chOff x="320040" y="1783080"/>
            <a:chExt cx="6400800" cy="2606040"/>
          </a:xfrm>
        </p:grpSpPr>
        <p:sp>
          <p:nvSpPr>
            <p:cNvPr id="70" name="Rectangle 17"/>
            <p:cNvSpPr/>
            <p:nvPr/>
          </p:nvSpPr>
          <p:spPr>
            <a:xfrm>
              <a:off x="411480" y="1928537"/>
              <a:ext cx="2834640" cy="608533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Offline Analyzer (</a:t>
              </a:r>
              <a:r>
                <a:rPr sz="85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사전</a:t>
              </a: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)</a:t>
              </a:r>
            </a:p>
            <a:p>
              <a:pPr algn="ctr">
                <a:spcAft>
                  <a:spcPts val="0"/>
                </a:spcAft>
              </a:pP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대표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Query →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재계산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위치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선정</a:t>
              </a:r>
              <a:endParaRPr sz="7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71" name="Rectangle 18"/>
            <p:cNvSpPr/>
            <p:nvPr/>
          </p:nvSpPr>
          <p:spPr>
            <a:xfrm>
              <a:off x="320040" y="3017520"/>
              <a:ext cx="3154680" cy="1005840"/>
            </a:xfrm>
            <a:prstGeom prst="rect">
              <a:avLst/>
            </a:prstGeom>
            <a:solidFill>
              <a:srgbClr val="F7FAFD"/>
            </a:solidFill>
            <a:ln w="9525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365760" y="3026665"/>
              <a:ext cx="2743200" cy="28749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KV Repository</a:t>
              </a:r>
            </a:p>
          </p:txBody>
        </p:sp>
        <p:sp>
          <p:nvSpPr>
            <p:cNvPr id="73" name="Rectangle 20"/>
            <p:cNvSpPr/>
            <p:nvPr/>
          </p:nvSpPr>
          <p:spPr>
            <a:xfrm>
              <a:off x="411480" y="3383280"/>
              <a:ext cx="1371600" cy="457200"/>
            </a:xfrm>
            <a:prstGeom prst="rect">
              <a:avLst/>
            </a:prstGeom>
            <a:solidFill>
              <a:srgbClr val="F0F1F3"/>
            </a:solidFill>
            <a:ln w="9525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Context KV</a:t>
              </a:r>
            </a:p>
          </p:txBody>
        </p:sp>
        <p:sp>
          <p:nvSpPr>
            <p:cNvPr id="74" name="Rectangle 21"/>
            <p:cNvSpPr/>
            <p:nvPr/>
          </p:nvSpPr>
          <p:spPr>
            <a:xfrm>
              <a:off x="1965960" y="3383280"/>
              <a:ext cx="1417320" cy="4572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Plan Store</a:t>
              </a:r>
            </a:p>
            <a:p>
              <a:pPr algn="ctr">
                <a:spcAft>
                  <a:spcPts val="0"/>
                </a:spcAft>
              </a:pP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재계산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위치</a:t>
              </a:r>
              <a:endParaRPr sz="7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cxnSp>
          <p:nvCxnSpPr>
            <p:cNvPr id="75" name="Connector 22"/>
            <p:cNvCxnSpPr/>
            <p:nvPr/>
          </p:nvCxnSpPr>
          <p:spPr>
            <a:xfrm>
              <a:off x="2651760" y="2513693"/>
              <a:ext cx="0" cy="869587"/>
            </a:xfrm>
            <a:prstGeom prst="line">
              <a:avLst/>
            </a:prstGeom>
            <a:ln w="9525">
              <a:solidFill>
                <a:srgbClr val="C55A1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/>
            <p:cNvSpPr txBox="1"/>
            <p:nvPr/>
          </p:nvSpPr>
          <p:spPr>
            <a:xfrm>
              <a:off x="2697480" y="2697480"/>
              <a:ext cx="64008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750" b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write</a:t>
              </a:r>
            </a:p>
          </p:txBody>
        </p:sp>
        <p:sp>
          <p:nvSpPr>
            <p:cNvPr id="79" name="Rectangle 26"/>
            <p:cNvSpPr/>
            <p:nvPr/>
          </p:nvSpPr>
          <p:spPr>
            <a:xfrm>
              <a:off x="3886200" y="1783080"/>
              <a:ext cx="2834640" cy="2606040"/>
            </a:xfrm>
            <a:prstGeom prst="rect">
              <a:avLst/>
            </a:prstGeom>
            <a:solidFill>
              <a:srgbClr val="FEF4EC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3931920" y="1792224"/>
              <a:ext cx="2743200" cy="28749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800" b="1" dirty="0" err="1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서빙</a:t>
              </a:r>
              <a:r>
                <a:rPr sz="800" b="1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800" b="1" dirty="0" err="1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경로</a:t>
              </a:r>
              <a:r>
                <a:rPr sz="800" b="1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</a:p>
          </p:txBody>
        </p:sp>
        <p:sp>
          <p:nvSpPr>
            <p:cNvPr id="82" name="Rectangle 28"/>
            <p:cNvSpPr/>
            <p:nvPr/>
          </p:nvSpPr>
          <p:spPr>
            <a:xfrm>
              <a:off x="4023360" y="2128520"/>
              <a:ext cx="2560320" cy="390650"/>
            </a:xfrm>
            <a:prstGeom prst="rect">
              <a:avLst/>
            </a:prstGeom>
            <a:solidFill>
              <a:srgbClr val="F0F1F3"/>
            </a:solidFill>
            <a:ln w="9525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9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Selective </a:t>
              </a:r>
              <a:r>
                <a:rPr sz="9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Recomputer</a:t>
              </a:r>
              <a:endParaRPr 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83" name="Rectangle 29"/>
            <p:cNvSpPr/>
            <p:nvPr/>
          </p:nvSpPr>
          <p:spPr>
            <a:xfrm>
              <a:off x="4023360" y="2858094"/>
              <a:ext cx="2560320" cy="51944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9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KV Layout Manager</a:t>
              </a:r>
            </a:p>
            <a:p>
              <a:pPr algn="ctr">
                <a:spcAft>
                  <a:spcPts val="0"/>
                </a:spcAft>
              </a:pP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공유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(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refcount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) + Delta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요청별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할당</a:t>
              </a:r>
              <a:endParaRPr sz="7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84" name="Rectangle 30"/>
            <p:cNvSpPr/>
            <p:nvPr/>
          </p:nvSpPr>
          <p:spPr>
            <a:xfrm>
              <a:off x="4023360" y="3790187"/>
              <a:ext cx="2560320" cy="502921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9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Plan-aware Admission Controller</a:t>
              </a:r>
            </a:p>
            <a:p>
              <a:pPr algn="ctr">
                <a:spcAft>
                  <a:spcPts val="0"/>
                </a:spcAft>
              </a:pP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plan으로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요청별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HBM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소요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계산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</a:p>
          </p:txBody>
        </p:sp>
        <p:cxnSp>
          <p:nvCxnSpPr>
            <p:cNvPr id="85" name="Connector 31"/>
            <p:cNvCxnSpPr/>
            <p:nvPr/>
          </p:nvCxnSpPr>
          <p:spPr>
            <a:xfrm flipV="1">
              <a:off x="5303520" y="3406142"/>
              <a:ext cx="0" cy="320037"/>
            </a:xfrm>
            <a:prstGeom prst="line">
              <a:avLst/>
            </a:prstGeom>
            <a:ln w="9525"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or 32"/>
            <p:cNvCxnSpPr/>
            <p:nvPr/>
          </p:nvCxnSpPr>
          <p:spPr>
            <a:xfrm flipV="1">
              <a:off x="5303520" y="2553018"/>
              <a:ext cx="0" cy="228601"/>
            </a:xfrm>
            <a:prstGeom prst="line">
              <a:avLst/>
            </a:prstGeom>
            <a:ln w="9525"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Box 86"/>
            <p:cNvSpPr txBox="1"/>
            <p:nvPr/>
          </p:nvSpPr>
          <p:spPr>
            <a:xfrm>
              <a:off x="5349240" y="3496027"/>
              <a:ext cx="128016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75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admit</a:t>
              </a: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5349240" y="2577203"/>
              <a:ext cx="128016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75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Delta </a:t>
              </a:r>
              <a:r>
                <a:rPr sz="750" b="0" dirty="0" err="1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할당</a:t>
              </a:r>
              <a:endParaRPr sz="750" b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cxnSp>
          <p:nvCxnSpPr>
            <p:cNvPr id="89" name="Connector 35"/>
            <p:cNvCxnSpPr/>
            <p:nvPr/>
          </p:nvCxnSpPr>
          <p:spPr>
            <a:xfrm>
              <a:off x="3383280" y="3703319"/>
              <a:ext cx="640079" cy="251335"/>
            </a:xfrm>
            <a:prstGeom prst="line">
              <a:avLst/>
            </a:prstGeom>
            <a:ln w="9525">
              <a:solidFill>
                <a:srgbClr val="C55A1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Box 89"/>
            <p:cNvSpPr txBox="1"/>
            <p:nvPr/>
          </p:nvSpPr>
          <p:spPr>
            <a:xfrm>
              <a:off x="3456432" y="3474720"/>
              <a:ext cx="45720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plan</a:t>
              </a:r>
            </a:p>
          </p:txBody>
        </p:sp>
        <p:cxnSp>
          <p:nvCxnSpPr>
            <p:cNvPr id="91" name="Connector 37"/>
            <p:cNvCxnSpPr/>
            <p:nvPr/>
          </p:nvCxnSpPr>
          <p:spPr>
            <a:xfrm flipV="1">
              <a:off x="3474720" y="3017520"/>
              <a:ext cx="548640" cy="91440"/>
            </a:xfrm>
            <a:prstGeom prst="line">
              <a:avLst/>
            </a:prstGeom>
            <a:ln w="9525">
              <a:solidFill>
                <a:srgbClr val="7F7F7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/>
            <p:cNvSpPr txBox="1"/>
            <p:nvPr/>
          </p:nvSpPr>
          <p:spPr>
            <a:xfrm>
              <a:off x="3456432" y="2834640"/>
              <a:ext cx="45720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Base</a:t>
              </a:r>
            </a:p>
          </p:txBody>
        </p:sp>
      </p:grpSp>
      <p:grpSp>
        <p:nvGrpSpPr>
          <p:cNvPr id="11" name="그룹 10"/>
          <p:cNvGrpSpPr/>
          <p:nvPr/>
        </p:nvGrpSpPr>
        <p:grpSpPr>
          <a:xfrm>
            <a:off x="6847294" y="3808443"/>
            <a:ext cx="5074920" cy="700777"/>
            <a:chOff x="6847294" y="3507797"/>
            <a:chExt cx="5074920" cy="1241469"/>
          </a:xfrm>
        </p:grpSpPr>
        <p:sp>
          <p:nvSpPr>
            <p:cNvPr id="93" name="TextBox 92"/>
            <p:cNvSpPr txBox="1"/>
            <p:nvPr/>
          </p:nvSpPr>
          <p:spPr>
            <a:xfrm>
              <a:off x="6847294" y="3887257"/>
              <a:ext cx="822960" cy="274320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1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보완 전</a:t>
              </a:r>
            </a:p>
          </p:txBody>
        </p:sp>
        <p:sp>
          <p:nvSpPr>
            <p:cNvPr id="94" name="Rectangle 41"/>
            <p:cNvSpPr/>
            <p:nvPr/>
          </p:nvSpPr>
          <p:spPr>
            <a:xfrm>
              <a:off x="7715974" y="3782049"/>
              <a:ext cx="1049274" cy="365760"/>
            </a:xfrm>
            <a:prstGeom prst="rect">
              <a:avLst/>
            </a:prstGeom>
            <a:solidFill>
              <a:srgbClr val="F0F1F3"/>
            </a:solidFill>
            <a:ln w="10160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80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</a:t>
              </a:r>
            </a:p>
          </p:txBody>
        </p:sp>
        <p:sp>
          <p:nvSpPr>
            <p:cNvPr id="95" name="Rectangle 42"/>
            <p:cNvSpPr/>
            <p:nvPr/>
          </p:nvSpPr>
          <p:spPr>
            <a:xfrm>
              <a:off x="8765248" y="3782049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7715974" y="3507797"/>
              <a:ext cx="1234440" cy="288981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R1 (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전체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 L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복사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)</a:t>
              </a:r>
            </a:p>
          </p:txBody>
        </p:sp>
        <p:sp>
          <p:nvSpPr>
            <p:cNvPr id="97" name="Rectangle 44"/>
            <p:cNvSpPr/>
            <p:nvPr/>
          </p:nvSpPr>
          <p:spPr>
            <a:xfrm>
              <a:off x="8950414" y="3782049"/>
              <a:ext cx="1049274" cy="365760"/>
            </a:xfrm>
            <a:prstGeom prst="rect">
              <a:avLst/>
            </a:prstGeom>
            <a:solidFill>
              <a:srgbClr val="F0F1F3"/>
            </a:solidFill>
            <a:ln w="10160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80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</a:t>
              </a:r>
            </a:p>
          </p:txBody>
        </p:sp>
        <p:sp>
          <p:nvSpPr>
            <p:cNvPr id="98" name="Rectangle 45"/>
            <p:cNvSpPr/>
            <p:nvPr/>
          </p:nvSpPr>
          <p:spPr>
            <a:xfrm>
              <a:off x="9999688" y="3782049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8950414" y="3507797"/>
              <a:ext cx="1234440" cy="288981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R2 (전체 L 복사)</a:t>
              </a:r>
            </a:p>
          </p:txBody>
        </p:sp>
        <p:sp>
          <p:nvSpPr>
            <p:cNvPr id="100" name="Rectangle 47"/>
            <p:cNvSpPr/>
            <p:nvPr/>
          </p:nvSpPr>
          <p:spPr>
            <a:xfrm>
              <a:off x="10184854" y="3782049"/>
              <a:ext cx="1049274" cy="365760"/>
            </a:xfrm>
            <a:prstGeom prst="rect">
              <a:avLst/>
            </a:prstGeom>
            <a:solidFill>
              <a:srgbClr val="F0F1F3"/>
            </a:solidFill>
            <a:ln w="10160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80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</a:t>
              </a:r>
            </a:p>
          </p:txBody>
        </p:sp>
        <p:sp>
          <p:nvSpPr>
            <p:cNvPr id="101" name="Rectangle 48"/>
            <p:cNvSpPr/>
            <p:nvPr/>
          </p:nvSpPr>
          <p:spPr>
            <a:xfrm>
              <a:off x="11234128" y="3782049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10184854" y="3507797"/>
              <a:ext cx="1234440" cy="288981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R3 (전체 L 복사)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11465014" y="3827769"/>
              <a:ext cx="457200" cy="274320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50" b="1">
                  <a:solidFill>
                    <a:srgbClr val="FF0000"/>
                  </a:solidFill>
                  <a:latin typeface="맑은 고딕"/>
                  <a:ea typeface="맑은 고딕"/>
                  <a:cs typeface="맑은 고딕"/>
                </a:rPr>
                <a:t>3.0 L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6847294" y="4474946"/>
              <a:ext cx="822960" cy="274320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1" dirty="0" err="1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보완</a:t>
              </a:r>
              <a:r>
                <a:rPr sz="900" b="1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 후</a:t>
              </a:r>
            </a:p>
          </p:txBody>
        </p:sp>
        <p:sp>
          <p:nvSpPr>
            <p:cNvPr id="110" name="Rectangle 52"/>
            <p:cNvSpPr/>
            <p:nvPr/>
          </p:nvSpPr>
          <p:spPr>
            <a:xfrm>
              <a:off x="7715974" y="4377956"/>
              <a:ext cx="1049274" cy="365760"/>
            </a:xfrm>
            <a:prstGeom prst="rect">
              <a:avLst/>
            </a:prstGeom>
            <a:solidFill>
              <a:srgbClr val="F0F1F3"/>
            </a:solidFill>
            <a:ln w="10160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80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 (공유 ×3)</a:t>
              </a:r>
            </a:p>
          </p:txBody>
        </p:sp>
        <p:sp>
          <p:nvSpPr>
            <p:cNvPr id="111" name="Rectangle 53"/>
            <p:cNvSpPr/>
            <p:nvPr/>
          </p:nvSpPr>
          <p:spPr>
            <a:xfrm>
              <a:off x="8765248" y="4377956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65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d1</a:t>
              </a:r>
            </a:p>
          </p:txBody>
        </p:sp>
        <p:sp>
          <p:nvSpPr>
            <p:cNvPr id="112" name="Rectangle 54"/>
            <p:cNvSpPr/>
            <p:nvPr/>
          </p:nvSpPr>
          <p:spPr>
            <a:xfrm>
              <a:off x="8950414" y="4377956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65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d2</a:t>
              </a:r>
            </a:p>
          </p:txBody>
        </p:sp>
        <p:sp>
          <p:nvSpPr>
            <p:cNvPr id="114" name="Rectangle 55"/>
            <p:cNvSpPr/>
            <p:nvPr/>
          </p:nvSpPr>
          <p:spPr>
            <a:xfrm>
              <a:off x="9135580" y="4377956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65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d3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8765248" y="4135201"/>
              <a:ext cx="1371600" cy="288981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700" b="0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Delta (</a:t>
              </a:r>
              <a:r>
                <a:rPr sz="700" b="0" dirty="0" err="1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요청별</a:t>
              </a:r>
              <a:r>
                <a:rPr sz="700" b="0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)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9407614" y="4423676"/>
              <a:ext cx="731520" cy="274320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50" b="1">
                  <a:solidFill>
                    <a:srgbClr val="FF0000"/>
                  </a:solidFill>
                  <a:latin typeface="맑은 고딕"/>
                  <a:ea typeface="맑은 고딕"/>
                  <a:cs typeface="맑은 고딕"/>
                </a:rPr>
                <a:t>1.3 L</a:t>
              </a:r>
            </a:p>
          </p:txBody>
        </p:sp>
      </p:grp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4E780B97-B2C1-448F-BF73-FB8F18044673}"/>
              </a:ext>
            </a:extLst>
          </p:cNvPr>
          <p:cNvSpPr/>
          <p:nvPr/>
        </p:nvSpPr>
        <p:spPr>
          <a:xfrm>
            <a:off x="6514419" y="1037703"/>
            <a:ext cx="5492576" cy="5607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Rectangle 39"/>
          <p:cNvSpPr/>
          <p:nvPr/>
        </p:nvSpPr>
        <p:spPr>
          <a:xfrm>
            <a:off x="6755917" y="3621597"/>
            <a:ext cx="5029200" cy="181686"/>
          </a:xfrm>
          <a:prstGeom prst="rect">
            <a:avLst/>
          </a:prstGeom>
          <a:solidFill>
            <a:srgbClr val="F2F2F2"/>
          </a:solidFill>
          <a:ln w="1016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레이아웃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동시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N=3, ρ=0.15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가정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예시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6790473" y="4534699"/>
            <a:ext cx="4580015" cy="379591"/>
          </a:xfrm>
          <a:prstGeom prst="rect">
            <a:avLst/>
          </a:prstGeom>
        </p:spPr>
        <p:txBody>
          <a:bodyPr>
            <a:spAutoFit/>
          </a:bodyPr>
          <a:lstStyle/>
          <a:p>
            <a:pPr lvl="0">
              <a:spcAft>
                <a:spcPts val="200"/>
              </a:spcAft>
            </a:pPr>
            <a:r>
              <a:rPr lang="en-US" altLang="ko-KR" sz="850" b="1" dirty="0">
                <a:solidFill>
                  <a:srgbClr val="404040"/>
                </a:solidFill>
                <a:ea typeface="맑은 고딕"/>
                <a:cs typeface="맑은 고딕"/>
              </a:rPr>
              <a:t>HBM = (1−ρ)·L + </a:t>
            </a:r>
            <a:r>
              <a:rPr lang="en-US" altLang="ko-KR" sz="850" b="1" dirty="0" err="1">
                <a:solidFill>
                  <a:srgbClr val="404040"/>
                </a:solidFill>
                <a:ea typeface="맑은 고딕"/>
                <a:cs typeface="맑은 고딕"/>
              </a:rPr>
              <a:t>N·ρ·L</a:t>
            </a:r>
            <a:r>
              <a:rPr lang="ko-KR" altLang="en-US" sz="850" b="1" dirty="0">
                <a:solidFill>
                  <a:srgbClr val="404040"/>
                </a:solidFill>
                <a:ea typeface="맑은 고딕"/>
                <a:cs typeface="맑은 고딕"/>
              </a:rPr>
              <a:t>  </a:t>
            </a:r>
            <a:r>
              <a:rPr lang="en-US" altLang="ko-KR" sz="850" b="1" dirty="0">
                <a:solidFill>
                  <a:srgbClr val="404040"/>
                </a:solidFill>
                <a:ea typeface="맑은 고딕"/>
                <a:cs typeface="맑은 고딕"/>
              </a:rPr>
              <a:t>vs  N·L  → N=3, ρ=0.15</a:t>
            </a:r>
            <a:r>
              <a:rPr lang="ko-KR" altLang="en-US" sz="850" b="1" dirty="0">
                <a:solidFill>
                  <a:srgbClr val="404040"/>
                </a:solidFill>
                <a:ea typeface="맑은 고딕"/>
                <a:cs typeface="맑은 고딕"/>
              </a:rPr>
              <a:t>에서 </a:t>
            </a:r>
            <a:r>
              <a:rPr lang="en-US" altLang="ko-KR" sz="850" b="1" dirty="0">
                <a:solidFill>
                  <a:srgbClr val="404040"/>
                </a:solidFill>
                <a:ea typeface="맑은 고딕"/>
                <a:cs typeface="맑은 고딕"/>
              </a:rPr>
              <a:t>3.0 L → 1.3 L (−57%)</a:t>
            </a:r>
          </a:p>
          <a:p>
            <a:pPr lvl="0">
              <a:spcAft>
                <a:spcPts val="200"/>
              </a:spcAft>
            </a:pPr>
            <a:r>
              <a:rPr lang="en-US" altLang="ko-KR" sz="850" dirty="0">
                <a:solidFill>
                  <a:srgbClr val="595959"/>
                </a:solidFill>
                <a:ea typeface="맑은 고딕"/>
                <a:cs typeface="맑은 고딕"/>
              </a:rPr>
              <a:t>N</a:t>
            </a:r>
            <a:r>
              <a:rPr lang="ko-KR" altLang="en-US" sz="850" dirty="0">
                <a:solidFill>
                  <a:srgbClr val="595959"/>
                </a:solidFill>
                <a:ea typeface="맑은 고딕"/>
                <a:cs typeface="맑은 고딕"/>
              </a:rPr>
              <a:t>이 커질수록 요청당 </a:t>
            </a:r>
            <a:r>
              <a:rPr lang="en-US" altLang="ko-KR" sz="850" dirty="0" err="1">
                <a:solidFill>
                  <a:srgbClr val="595959"/>
                </a:solidFill>
                <a:ea typeface="맑은 고딕"/>
                <a:cs typeface="맑은 고딕"/>
              </a:rPr>
              <a:t>ρ·L</a:t>
            </a:r>
            <a:r>
              <a:rPr lang="ko-KR" altLang="en-US" sz="850" dirty="0">
                <a:solidFill>
                  <a:srgbClr val="595959"/>
                </a:solidFill>
                <a:ea typeface="맑은 고딕"/>
                <a:cs typeface="맑은 고딕"/>
              </a:rPr>
              <a:t>에 수렴</a:t>
            </a:r>
            <a:r>
              <a:rPr lang="en-US" altLang="ko-KR" sz="850" dirty="0">
                <a:solidFill>
                  <a:srgbClr val="595959"/>
                </a:solidFill>
                <a:ea typeface="맑은 고딕"/>
                <a:cs typeface="맑은 고딕"/>
              </a:rPr>
              <a:t>. </a:t>
            </a:r>
            <a:r>
              <a:rPr lang="ko-KR" altLang="en-US" sz="850" dirty="0">
                <a:solidFill>
                  <a:srgbClr val="595959"/>
                </a:solidFill>
                <a:ea typeface="맑은 고딕"/>
                <a:cs typeface="맑은 고딕"/>
              </a:rPr>
              <a:t>재사용이 분산돼 </a:t>
            </a:r>
            <a:r>
              <a:rPr lang="en-US" altLang="ko-KR" sz="850" dirty="0">
                <a:solidFill>
                  <a:srgbClr val="595959"/>
                </a:solidFill>
                <a:ea typeface="맑은 고딕"/>
                <a:cs typeface="맑은 고딕"/>
              </a:rPr>
              <a:t>N≈1</a:t>
            </a:r>
            <a:r>
              <a:rPr lang="ko-KR" altLang="en-US" sz="850" dirty="0">
                <a:solidFill>
                  <a:srgbClr val="595959"/>
                </a:solidFill>
                <a:ea typeface="맑은 고딕"/>
                <a:cs typeface="맑은 고딕"/>
              </a:rPr>
              <a:t>이면 이득 없음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92849" y="2332514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0" name="Rectangle 19"/>
          <p:cNvSpPr/>
          <p:nvPr/>
        </p:nvSpPr>
        <p:spPr>
          <a:xfrm>
            <a:off x="1611630" y="2259453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31" name="Connector 20"/>
          <p:cNvCxnSpPr/>
          <p:nvPr/>
        </p:nvCxnSpPr>
        <p:spPr>
          <a:xfrm>
            <a:off x="2271947" y="2421418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ectangle 21"/>
          <p:cNvSpPr/>
          <p:nvPr/>
        </p:nvSpPr>
        <p:spPr>
          <a:xfrm>
            <a:off x="2445714" y="2259453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35" name="Connector 22"/>
          <p:cNvCxnSpPr/>
          <p:nvPr/>
        </p:nvCxnSpPr>
        <p:spPr>
          <a:xfrm>
            <a:off x="3106033" y="2421418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23"/>
          <p:cNvSpPr/>
          <p:nvPr/>
        </p:nvSpPr>
        <p:spPr>
          <a:xfrm>
            <a:off x="3279801" y="2259453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40" name="Connector 24"/>
          <p:cNvCxnSpPr/>
          <p:nvPr/>
        </p:nvCxnSpPr>
        <p:spPr>
          <a:xfrm>
            <a:off x="3940118" y="2421418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25"/>
          <p:cNvSpPr/>
          <p:nvPr/>
        </p:nvSpPr>
        <p:spPr>
          <a:xfrm>
            <a:off x="4113885" y="2259452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1192849" y="2822457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43" name="Rectangle 27"/>
          <p:cNvSpPr/>
          <p:nvPr/>
        </p:nvSpPr>
        <p:spPr>
          <a:xfrm>
            <a:off x="2444860" y="2749396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46" name="Connector 28"/>
          <p:cNvCxnSpPr/>
          <p:nvPr/>
        </p:nvCxnSpPr>
        <p:spPr>
          <a:xfrm>
            <a:off x="3105177" y="2911362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29"/>
          <p:cNvSpPr/>
          <p:nvPr/>
        </p:nvSpPr>
        <p:spPr>
          <a:xfrm>
            <a:off x="3278944" y="2749396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1" name="Connector 30"/>
          <p:cNvCxnSpPr/>
          <p:nvPr/>
        </p:nvCxnSpPr>
        <p:spPr>
          <a:xfrm>
            <a:off x="3939263" y="2911362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ectangle 31"/>
          <p:cNvSpPr/>
          <p:nvPr/>
        </p:nvSpPr>
        <p:spPr>
          <a:xfrm>
            <a:off x="4113031" y="2749396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6" name="Connector 32"/>
          <p:cNvCxnSpPr/>
          <p:nvPr/>
        </p:nvCxnSpPr>
        <p:spPr>
          <a:xfrm>
            <a:off x="4773348" y="2911362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Rectangle 33"/>
          <p:cNvSpPr/>
          <p:nvPr/>
        </p:nvSpPr>
        <p:spPr>
          <a:xfrm>
            <a:off x="4947115" y="2749396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2849" y="3312401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63" name="Rectangle 35"/>
          <p:cNvSpPr/>
          <p:nvPr/>
        </p:nvSpPr>
        <p:spPr>
          <a:xfrm>
            <a:off x="3272288" y="3239339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4" name="Connector 36"/>
          <p:cNvCxnSpPr/>
          <p:nvPr/>
        </p:nvCxnSpPr>
        <p:spPr>
          <a:xfrm>
            <a:off x="3932605" y="3401305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ectangle 37"/>
          <p:cNvSpPr/>
          <p:nvPr/>
        </p:nvSpPr>
        <p:spPr>
          <a:xfrm>
            <a:off x="4106372" y="3239339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6" name="Connector 38"/>
          <p:cNvCxnSpPr/>
          <p:nvPr/>
        </p:nvCxnSpPr>
        <p:spPr>
          <a:xfrm>
            <a:off x="4766691" y="3401305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ectangle 39"/>
          <p:cNvSpPr/>
          <p:nvPr/>
        </p:nvSpPr>
        <p:spPr>
          <a:xfrm>
            <a:off x="4940459" y="3239339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68" name="Connector 40"/>
          <p:cNvCxnSpPr/>
          <p:nvPr/>
        </p:nvCxnSpPr>
        <p:spPr>
          <a:xfrm>
            <a:off x="5600776" y="3401305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ectangle 41"/>
          <p:cNvSpPr/>
          <p:nvPr/>
        </p:nvSpPr>
        <p:spPr>
          <a:xfrm>
            <a:off x="5774543" y="3239340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271552" y="1944788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71" name="실행 단추: 앞으로 또는 다음 170">
            <a:hlinkClick r:id="" action="ppaction://noaction" highlightClick="1"/>
          </p:cNvPr>
          <p:cNvSpPr/>
          <p:nvPr/>
        </p:nvSpPr>
        <p:spPr>
          <a:xfrm>
            <a:off x="569407" y="3283938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KV Cache Manager">
            <a:extLst>
              <a:ext uri="{FF2B5EF4-FFF2-40B4-BE49-F238E27FC236}">
                <a16:creationId xmlns:a16="http://schemas.microsoft.com/office/drawing/2014/main" id="{7193BC83-981B-478E-BB00-B0CCD220C611}"/>
              </a:ext>
            </a:extLst>
          </p:cNvPr>
          <p:cNvSpPr/>
          <p:nvPr/>
        </p:nvSpPr>
        <p:spPr>
          <a:xfrm>
            <a:off x="11185692" y="4590767"/>
            <a:ext cx="713111" cy="1864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</a:rPr>
              <a:t>QA2 </a:t>
            </a:r>
            <a:r>
              <a:rPr lang="ko-KR" altLang="en-US" sz="800" b="1" dirty="0">
                <a:solidFill>
                  <a:schemeClr val="tx1"/>
                </a:solidFill>
              </a:rPr>
              <a:t>보완</a:t>
            </a:r>
            <a:endParaRPr lang="en-US" altLang="ko-KR" sz="800" b="1" dirty="0">
              <a:solidFill>
                <a:schemeClr val="tx1"/>
              </a:solidFill>
            </a:endParaRP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C84C114C-72C6-4726-8195-A62CCA108A92}"/>
              </a:ext>
            </a:extLst>
          </p:cNvPr>
          <p:cNvSpPr/>
          <p:nvPr/>
        </p:nvSpPr>
        <p:spPr>
          <a:xfrm>
            <a:off x="11121927" y="4366417"/>
            <a:ext cx="805575" cy="469264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</a:rPr>
              <a:t>Legend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136" name="모서리가 둥근 직사각형 135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14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145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47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48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6" name="실행 단추: 앞으로 또는 다음 5">
            <a:hlinkClick r:id="" action="ppaction://noaction" highlightClick="1"/>
          </p:cNvPr>
          <p:cNvSpPr/>
          <p:nvPr/>
        </p:nvSpPr>
        <p:spPr>
          <a:xfrm>
            <a:off x="11370488" y="1162050"/>
            <a:ext cx="230962" cy="184150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9437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47501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822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53818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48818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47866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47501" cy="552569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822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53818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48818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47866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</a:rPr>
                        <a:t>+ </a:t>
                      </a:r>
                      <a:r>
                        <a:rPr lang="en-US" altLang="ko-KR" sz="1200" b="1" dirty="0" err="1">
                          <a:solidFill>
                            <a:srgbClr val="FF0000"/>
                          </a:solidFill>
                        </a:rPr>
                        <a:t>Sharding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</a:rPr>
                        <a:t>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42991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9304399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  <a:p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1.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메타데이터 요청의 병렬 처리로 서버 처리량 증가</a:t>
                      </a:r>
                    </a:p>
                    <a:p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2.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중앙 관리 인터페이스를 유지하면서 노드 확장성 개선</a:t>
                      </a:r>
                      <a:endParaRPr lang="en-US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1429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endParaRPr lang="en-US" altLang="ko-KR" sz="1200" b="0" dirty="0">
                        <a:solidFill>
                          <a:srgbClr val="FF0000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«store» CXL </a:t>
            </a:r>
            <a:r>
              <a:rPr sz="7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공유</a:t>
            </a:r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ea typeface="맑은 고딕"/>
              </a:rPr>
              <a:t>공유 데이터</a:t>
            </a:r>
            <a:endParaRPr lang="en-US" altLang="ko-KR" sz="800" dirty="0">
              <a:solidFill>
                <a:schemeClr val="tx1"/>
              </a:solidFill>
              <a:ea typeface="맑은 고딕"/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>
                <a:solidFill>
                  <a:srgbClr val="FF0000"/>
                </a:solidFill>
              </a:rPr>
              <a:t>보완 설계</a:t>
            </a:r>
            <a:endParaRPr lang="ko-KR" altLang="en-US" strike="sngStrike" dirty="0">
              <a:solidFill>
                <a:srgbClr val="FF0000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“KV </a:t>
            </a:r>
            <a:r>
              <a:rPr lang="ko-KR" altLang="en-US" sz="1100" dirty="0"/>
              <a:t>해시 기반 </a:t>
            </a:r>
            <a:r>
              <a:rPr lang="en-US" altLang="ko-KR" sz="1100" dirty="0"/>
              <a:t>Metadata </a:t>
            </a:r>
            <a:r>
              <a:rPr lang="en-US" altLang="ko-KR" sz="1100" dirty="0" err="1"/>
              <a:t>Sharding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/>
              <a:t>Shard</a:t>
            </a:r>
            <a:r>
              <a:rPr lang="ko-KR" altLang="en-US" sz="1100" dirty="0"/>
              <a:t>별 독립 </a:t>
            </a:r>
            <a:r>
              <a:rPr lang="en-US" altLang="ko-KR" sz="1100" dirty="0"/>
              <a:t>Worker </a:t>
            </a:r>
            <a:r>
              <a:rPr lang="ko-KR" altLang="en-US" sz="1100" dirty="0"/>
              <a:t>구성</a:t>
            </a:r>
            <a:r>
              <a:rPr lang="en-US" altLang="ko-KR" sz="1100" dirty="0"/>
              <a:t> 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노드가 2단 락으로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0A9BCA1-FAEA-4612-92CB-05CCBDD3F489}"/>
              </a:ext>
            </a:extLst>
          </p:cNvPr>
          <p:cNvGrpSpPr/>
          <p:nvPr/>
        </p:nvGrpSpPr>
        <p:grpSpPr>
          <a:xfrm>
            <a:off x="1448656" y="1847396"/>
            <a:ext cx="4668457" cy="1771105"/>
            <a:chOff x="1261872" y="2029255"/>
            <a:chExt cx="5135303" cy="2143037"/>
          </a:xfrm>
        </p:grpSpPr>
        <p:sp>
          <p:nvSpPr>
            <p:cNvPr id="140" name="Rectangle 139"/>
            <p:cNvSpPr/>
            <p:nvPr/>
          </p:nvSpPr>
          <p:spPr>
            <a:xfrm>
              <a:off x="1261872" y="2120695"/>
              <a:ext cx="1417320" cy="2000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/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1261872" y="2120696"/>
              <a:ext cx="822960" cy="17373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18288" bIns="0" rtlCol="0" anchor="ctr"/>
            <a:lstStyle/>
            <a:p>
              <a:pPr algn="l"/>
              <a:r>
                <a:rPr sz="7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«node» P </a:t>
              </a:r>
              <a:r>
                <a:rPr sz="700" b="1" i="0" dirty="0" err="1">
                  <a:solidFill>
                    <a:schemeClr val="tx1"/>
                  </a:solidFill>
                  <a:latin typeface="맑은 고딕"/>
                  <a:ea typeface="맑은 고딕"/>
                </a:rPr>
                <a:t>노드</a:t>
              </a:r>
              <a:endParaRPr sz="700" b="1" i="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42" name="Rectangle 141"/>
            <p:cNvSpPr/>
            <p:nvPr/>
          </p:nvSpPr>
          <p:spPr>
            <a:xfrm>
              <a:off x="1371600" y="2440496"/>
              <a:ext cx="1188720" cy="27480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Executor</a:t>
              </a:r>
              <a:endParaRPr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46" name="Rectangle 145"/>
            <p:cNvSpPr/>
            <p:nvPr/>
          </p:nvSpPr>
          <p:spPr>
            <a:xfrm>
              <a:off x="4979855" y="2120696"/>
              <a:ext cx="1417320" cy="20000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  <p:sp>
          <p:nvSpPr>
            <p:cNvPr id="147" name="Rectangle 146"/>
            <p:cNvSpPr/>
            <p:nvPr/>
          </p:nvSpPr>
          <p:spPr>
            <a:xfrm>
              <a:off x="4979855" y="2120696"/>
              <a:ext cx="822960" cy="17373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18288" bIns="0" rtlCol="0" anchor="ctr"/>
            <a:lstStyle/>
            <a:p>
              <a:r>
                <a:rPr sz="7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«node» D </a:t>
              </a:r>
              <a:r>
                <a:rPr sz="700" b="1" dirty="0" err="1">
                  <a:solidFill>
                    <a:schemeClr val="tx1"/>
                  </a:solidFill>
                  <a:latin typeface="맑은 고딕"/>
                  <a:ea typeface="맑은 고딕"/>
                </a:rPr>
                <a:t>노드</a:t>
              </a:r>
              <a:endParaRPr sz="700" b="1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5089583" y="2440496"/>
              <a:ext cx="1188720" cy="27480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Executor</a:t>
              </a:r>
            </a:p>
          </p:txBody>
        </p:sp>
        <p:sp>
          <p:nvSpPr>
            <p:cNvPr id="152" name="Rectangle 151"/>
            <p:cNvSpPr/>
            <p:nvPr/>
          </p:nvSpPr>
          <p:spPr>
            <a:xfrm>
              <a:off x="3019667" y="2029255"/>
              <a:ext cx="1704108" cy="1532337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3017852" y="2029256"/>
              <a:ext cx="1286810" cy="173736"/>
            </a:xfrm>
            <a:prstGeom prst="rect">
              <a:avLst/>
            </a:prstGeom>
            <a:solidFill>
              <a:srgbClr val="C55A11"/>
            </a:solidFill>
            <a:ln w="1270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18288" bIns="0" rtlCol="0" anchor="ctr"/>
            <a:lstStyle/>
            <a:p>
              <a:pPr algn="l"/>
              <a:r>
                <a:rPr sz="7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«store» CXL </a:t>
              </a:r>
              <a:r>
                <a:rPr sz="700" b="1" i="0" dirty="0" err="1">
                  <a:solidFill>
                    <a:srgbClr val="FFFFFF"/>
                  </a:solidFill>
                  <a:latin typeface="맑은 고딕"/>
                  <a:ea typeface="맑은 고딕"/>
                </a:rPr>
                <a:t>공유</a:t>
              </a:r>
              <a:r>
                <a:rPr sz="7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 풀</a:t>
              </a:r>
              <a:r>
                <a:rPr lang="en-US" sz="7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 </a:t>
              </a:r>
              <a:endParaRPr sz="70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3124504" y="2373264"/>
              <a:ext cx="1537855" cy="292608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  <a:latin typeface="맑은 고딕"/>
                  <a:ea typeface="맑은 고딕"/>
                </a:rPr>
                <a:t>공유 데이터</a:t>
              </a:r>
              <a:endParaRPr sz="80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159" name="Connector 158"/>
            <p:cNvCxnSpPr/>
            <p:nvPr/>
          </p:nvCxnSpPr>
          <p:spPr>
            <a:xfrm>
              <a:off x="2549632" y="3344010"/>
              <a:ext cx="458759" cy="0"/>
            </a:xfrm>
            <a:prstGeom prst="line">
              <a:avLst/>
            </a:prstGeom>
            <a:ln w="15875">
              <a:solidFill>
                <a:srgbClr val="2F559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Oval 159"/>
            <p:cNvSpPr/>
            <p:nvPr/>
          </p:nvSpPr>
          <p:spPr>
            <a:xfrm>
              <a:off x="2701812" y="3243038"/>
              <a:ext cx="155448" cy="155448"/>
            </a:xfrm>
            <a:prstGeom prst="ellipse">
              <a:avLst/>
            </a:prstGeom>
            <a:solidFill>
              <a:srgbClr val="2F5597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sz="65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1</a:t>
              </a:r>
            </a:p>
          </p:txBody>
        </p:sp>
        <p:cxnSp>
          <p:nvCxnSpPr>
            <p:cNvPr id="161" name="Connector 160"/>
            <p:cNvCxnSpPr/>
            <p:nvPr/>
          </p:nvCxnSpPr>
          <p:spPr>
            <a:xfrm flipH="1">
              <a:off x="4621340" y="3285858"/>
              <a:ext cx="474344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Oval 161"/>
            <p:cNvSpPr/>
            <p:nvPr/>
          </p:nvSpPr>
          <p:spPr>
            <a:xfrm>
              <a:off x="4778047" y="3188562"/>
              <a:ext cx="155448" cy="15544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4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04" name="C1 slot-server link"/>
            <p:cNvCxnSpPr>
              <a:cxnSpLocks/>
            </p:cNvCxnSpPr>
            <p:nvPr/>
          </p:nvCxnSpPr>
          <p:spPr>
            <a:xfrm>
              <a:off x="3890772" y="3573688"/>
              <a:ext cx="0" cy="598604"/>
            </a:xfrm>
            <a:prstGeom prst="line">
              <a:avLst/>
            </a:prstGeom>
            <a:ln w="15875">
              <a:solidFill>
                <a:srgbClr val="2F5597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5" name="C1 link label"/>
            <p:cNvSpPr txBox="1"/>
            <p:nvPr/>
          </p:nvSpPr>
          <p:spPr>
            <a:xfrm>
              <a:off x="3981451" y="3630728"/>
              <a:ext cx="880000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650" dirty="0">
                  <a:solidFill>
                    <a:srgbClr val="404040"/>
                  </a:solidFill>
                  <a:latin typeface="맑은 고딕"/>
                  <a:ea typeface="맑은 고딕"/>
                </a:rPr>
                <a:t>Polling</a:t>
              </a:r>
              <a:endParaRPr sz="65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30" name="Rectangle 35"/>
            <p:cNvSpPr/>
            <p:nvPr/>
          </p:nvSpPr>
          <p:spPr>
            <a:xfrm>
              <a:off x="1368310" y="2966024"/>
              <a:ext cx="1147156" cy="60167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 defTabSz="457200" latinLnBrk="0">
                <a:lnSpc>
                  <a:spcPct val="150000"/>
                </a:lnSpc>
              </a:pPr>
              <a:r>
                <a:rPr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Client Library</a:t>
              </a:r>
            </a:p>
            <a:p>
              <a:pPr algn="ctr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요청 쓰기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(</a:t>
              </a: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캐시 우회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)</a:t>
              </a:r>
            </a:p>
            <a:p>
              <a:pPr algn="ctr"/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응답 읽기</a:t>
              </a:r>
            </a:p>
          </p:txBody>
        </p:sp>
        <p:sp>
          <p:nvSpPr>
            <p:cNvPr id="132" name="Rectangle 35"/>
            <p:cNvSpPr/>
            <p:nvPr/>
          </p:nvSpPr>
          <p:spPr>
            <a:xfrm>
              <a:off x="5090865" y="2966024"/>
              <a:ext cx="1147156" cy="60167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 defTabSz="457200" latinLnBrk="0">
                <a:lnSpc>
                  <a:spcPct val="150000"/>
                </a:lnSpc>
              </a:pPr>
              <a:r>
                <a:rPr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Client Library</a:t>
              </a:r>
            </a:p>
            <a:p>
              <a:pPr algn="ctr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요청 쓰기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(</a:t>
              </a: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캐시 우회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)</a:t>
              </a:r>
            </a:p>
            <a:p>
              <a:pPr algn="ctr"/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응답 읽기</a:t>
              </a:r>
            </a:p>
          </p:txBody>
        </p:sp>
        <p:sp>
          <p:nvSpPr>
            <p:cNvPr id="135" name="Rectangle 37"/>
            <p:cNvSpPr/>
            <p:nvPr/>
          </p:nvSpPr>
          <p:spPr>
            <a:xfrm>
              <a:off x="1399032" y="3719744"/>
              <a:ext cx="1078992" cy="274320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05000"/>
                </a:lnSpc>
              </a:pPr>
              <a:r>
                <a:rPr sz="8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락 </a:t>
              </a:r>
              <a:r>
                <a:rPr sz="800" b="0" i="0" dirty="0" err="1">
                  <a:solidFill>
                    <a:srgbClr val="808080"/>
                  </a:solidFill>
                  <a:latin typeface="맑은 고딕"/>
                  <a:ea typeface="맑은 고딕"/>
                </a:rPr>
                <a:t>불필요</a:t>
              </a:r>
              <a:endParaRPr sz="8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36" name="Rectangle 37"/>
            <p:cNvSpPr/>
            <p:nvPr/>
          </p:nvSpPr>
          <p:spPr>
            <a:xfrm>
              <a:off x="5118493" y="3726096"/>
              <a:ext cx="1078992" cy="274320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05000"/>
                </a:lnSpc>
              </a:pPr>
              <a:r>
                <a:rPr sz="8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락 </a:t>
              </a:r>
              <a:r>
                <a:rPr sz="800" b="0" i="0" dirty="0" err="1">
                  <a:solidFill>
                    <a:srgbClr val="808080"/>
                  </a:solidFill>
                  <a:latin typeface="맑은 고딕"/>
                  <a:ea typeface="맑은 고딕"/>
                </a:rPr>
                <a:t>불필요</a:t>
              </a:r>
              <a:endParaRPr sz="8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13" name="Rectangle 48"/>
            <p:cNvSpPr/>
            <p:nvPr/>
          </p:nvSpPr>
          <p:spPr>
            <a:xfrm>
              <a:off x="3110754" y="2891678"/>
              <a:ext cx="1511405" cy="5199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50000"/>
                </a:lnSpc>
              </a:pPr>
              <a:r>
                <a:rPr sz="900" b="1" i="0" dirty="0" err="1">
                  <a:solidFill>
                    <a:schemeClr val="tx1"/>
                  </a:solidFill>
                  <a:latin typeface="맑은 고딕"/>
                  <a:ea typeface="맑은 고딕"/>
                </a:rPr>
                <a:t>요청</a:t>
              </a:r>
              <a:r>
                <a:rPr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/ </a:t>
              </a:r>
              <a:r>
                <a:rPr sz="900" b="1" dirty="0" err="1">
                  <a:solidFill>
                    <a:schemeClr val="tx1"/>
                  </a:solidFill>
                  <a:ea typeface="맑은 고딕"/>
                </a:rPr>
                <a:t>응답</a:t>
              </a:r>
              <a:r>
                <a:rPr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</a:t>
              </a:r>
              <a:r>
                <a:rPr sz="900" b="1" i="0" dirty="0" err="1">
                  <a:solidFill>
                    <a:schemeClr val="tx1"/>
                  </a:solidFill>
                  <a:latin typeface="맑은 고딕"/>
                  <a:ea typeface="맑은 고딕"/>
                </a:rPr>
                <a:t>슬롯</a:t>
              </a:r>
              <a:r>
                <a:rPr lang="en-US"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(</a:t>
              </a:r>
              <a:r>
                <a:rPr 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RPC)</a:t>
              </a:r>
              <a:endParaRPr sz="900" b="1" i="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14" name="Oval 159"/>
            <p:cNvSpPr/>
            <p:nvPr/>
          </p:nvSpPr>
          <p:spPr>
            <a:xfrm>
              <a:off x="3667251" y="3625044"/>
              <a:ext cx="155448" cy="155448"/>
            </a:xfrm>
            <a:prstGeom prst="ellipse">
              <a:avLst/>
            </a:prstGeom>
            <a:solidFill>
              <a:srgbClr val="2F5597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2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17" name="Connector 158"/>
            <p:cNvCxnSpPr/>
            <p:nvPr/>
          </p:nvCxnSpPr>
          <p:spPr>
            <a:xfrm>
              <a:off x="2542776" y="3078856"/>
              <a:ext cx="458759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8" name="Oval 159"/>
            <p:cNvSpPr/>
            <p:nvPr/>
          </p:nvSpPr>
          <p:spPr>
            <a:xfrm>
              <a:off x="2699716" y="2977884"/>
              <a:ext cx="155448" cy="155448"/>
            </a:xfrm>
            <a:prstGeom prst="ellipse">
              <a:avLst/>
            </a:prstGeom>
            <a:solidFill>
              <a:srgbClr val="2F5597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3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21" name="Connector 158"/>
            <p:cNvCxnSpPr/>
            <p:nvPr/>
          </p:nvCxnSpPr>
          <p:spPr>
            <a:xfrm>
              <a:off x="2574036" y="2519568"/>
              <a:ext cx="458759" cy="0"/>
            </a:xfrm>
            <a:prstGeom prst="line">
              <a:avLst/>
            </a:prstGeom>
            <a:ln w="15875">
              <a:solidFill>
                <a:srgbClr val="2F559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0" name="Oval 159"/>
            <p:cNvSpPr/>
            <p:nvPr/>
          </p:nvSpPr>
          <p:spPr>
            <a:xfrm>
              <a:off x="2716149" y="2427509"/>
              <a:ext cx="155448" cy="155448"/>
            </a:xfrm>
            <a:prstGeom prst="ellipse">
              <a:avLst/>
            </a:prstGeom>
            <a:solidFill>
              <a:srgbClr val="2F5597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4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24" name="Connector 158"/>
            <p:cNvCxnSpPr/>
            <p:nvPr/>
          </p:nvCxnSpPr>
          <p:spPr>
            <a:xfrm>
              <a:off x="4629714" y="3046260"/>
              <a:ext cx="458759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Oval 159"/>
            <p:cNvSpPr/>
            <p:nvPr/>
          </p:nvSpPr>
          <p:spPr>
            <a:xfrm>
              <a:off x="4781894" y="2945288"/>
              <a:ext cx="155448" cy="15544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6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26" name="Oval 159"/>
            <p:cNvSpPr/>
            <p:nvPr/>
          </p:nvSpPr>
          <p:spPr>
            <a:xfrm>
              <a:off x="3465443" y="3622817"/>
              <a:ext cx="155448" cy="15544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5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27" name="Connector 158"/>
            <p:cNvCxnSpPr/>
            <p:nvPr/>
          </p:nvCxnSpPr>
          <p:spPr>
            <a:xfrm>
              <a:off x="4647136" y="2519568"/>
              <a:ext cx="417054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8" name="Oval 159"/>
            <p:cNvSpPr/>
            <p:nvPr/>
          </p:nvSpPr>
          <p:spPr>
            <a:xfrm>
              <a:off x="4796974" y="2427509"/>
              <a:ext cx="155448" cy="15544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7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</p:grp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63089" y="300288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1255880" y="4222474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50169" y="4010261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0" name="직사각형 119">
            <a:extLst>
              <a:ext uri="{FF2B5EF4-FFF2-40B4-BE49-F238E27FC236}">
                <a16:creationId xmlns:a16="http://schemas.microsoft.com/office/drawing/2014/main" id="{AB71E37E-1E20-4358-BCBA-5681E2D81FAD}"/>
              </a:ext>
            </a:extLst>
          </p:cNvPr>
          <p:cNvSpPr/>
          <p:nvPr/>
        </p:nvSpPr>
        <p:spPr>
          <a:xfrm>
            <a:off x="1081944" y="1048899"/>
            <a:ext cx="5492576" cy="56149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680249" y="6373748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7.5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351518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C7DD5F2C-51E6-4D74-83EF-A4160F72D0A7}"/>
              </a:ext>
            </a:extLst>
          </p:cNvPr>
          <p:cNvGrpSpPr/>
          <p:nvPr/>
        </p:nvGrpSpPr>
        <p:grpSpPr>
          <a:xfrm>
            <a:off x="2279209" y="3673870"/>
            <a:ext cx="3027586" cy="1114973"/>
            <a:chOff x="7360920" y="3300984"/>
            <a:chExt cx="3977639" cy="1407513"/>
          </a:xfrm>
        </p:grpSpPr>
        <p:sp>
          <p:nvSpPr>
            <p:cNvPr id="107" name="Rectangle 323">
              <a:extLst>
                <a:ext uri="{FF2B5EF4-FFF2-40B4-BE49-F238E27FC236}">
                  <a16:creationId xmlns:a16="http://schemas.microsoft.com/office/drawing/2014/main" id="{F3EF4309-C200-4C7D-A2E0-E20290214D3B}"/>
                </a:ext>
              </a:extLst>
            </p:cNvPr>
            <p:cNvSpPr/>
            <p:nvPr/>
          </p:nvSpPr>
          <p:spPr>
            <a:xfrm>
              <a:off x="7360920" y="3300984"/>
              <a:ext cx="3977639" cy="118941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25F9BE9-7BDB-4B08-86A4-D6EEB192A0F4}"/>
                </a:ext>
              </a:extLst>
            </p:cNvPr>
            <p:cNvSpPr txBox="1"/>
            <p:nvPr/>
          </p:nvSpPr>
          <p:spPr>
            <a:xfrm>
              <a:off x="7389801" y="3308854"/>
              <a:ext cx="3938257" cy="21079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9" b="1" i="0" dirty="0">
                  <a:latin typeface="맑은 고딕"/>
                </a:rPr>
                <a:t>Central Metadata Service</a:t>
              </a:r>
            </a:p>
          </p:txBody>
        </p:sp>
        <p:sp>
          <p:nvSpPr>
            <p:cNvPr id="110" name="Rectangle 326">
              <a:extLst>
                <a:ext uri="{FF2B5EF4-FFF2-40B4-BE49-F238E27FC236}">
                  <a16:creationId xmlns:a16="http://schemas.microsoft.com/office/drawing/2014/main" id="{DDE1E66E-F345-4106-907C-07940FC245C6}"/>
                </a:ext>
              </a:extLst>
            </p:cNvPr>
            <p:cNvSpPr/>
            <p:nvPr/>
          </p:nvSpPr>
          <p:spPr>
            <a:xfrm>
              <a:off x="7443216" y="3593592"/>
              <a:ext cx="3822192" cy="246888"/>
            </a:xfrm>
            <a:prstGeom prst="rect">
              <a:avLst/>
            </a:prstGeom>
            <a:solidFill>
              <a:schemeClr val="bg1"/>
            </a:solidFill>
            <a:ln w="11430">
              <a:solidFill>
                <a:srgbClr val="888C9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2004" tIns="10972" rIns="32004" bIns="10972" rtlCol="0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0" dirty="0">
                  <a:solidFill>
                    <a:srgbClr val="1C1C1C"/>
                  </a:solidFill>
                  <a:latin typeface="맑은 고딕"/>
                </a:rPr>
                <a:t>Shard Router  |  hash(</a:t>
              </a:r>
              <a:r>
                <a:rPr lang="en-US" sz="900" i="0" dirty="0">
                  <a:solidFill>
                    <a:srgbClr val="1C1C1C"/>
                  </a:solidFill>
                  <a:latin typeface="맑은 고딕"/>
                </a:rPr>
                <a:t>Data Object ID</a:t>
              </a:r>
              <a:r>
                <a:rPr sz="900" i="0" dirty="0">
                  <a:solidFill>
                    <a:srgbClr val="1C1C1C"/>
                  </a:solidFill>
                  <a:latin typeface="맑은 고딕"/>
                </a:rPr>
                <a:t>) → Worker</a:t>
              </a:r>
            </a:p>
          </p:txBody>
        </p:sp>
        <p:sp>
          <p:nvSpPr>
            <p:cNvPr id="111" name="Rectangle 327">
              <a:extLst>
                <a:ext uri="{FF2B5EF4-FFF2-40B4-BE49-F238E27FC236}">
                  <a16:creationId xmlns:a16="http://schemas.microsoft.com/office/drawing/2014/main" id="{20542A6F-E606-48F9-9328-78C58F84D5E8}"/>
                </a:ext>
              </a:extLst>
            </p:cNvPr>
            <p:cNvSpPr/>
            <p:nvPr/>
          </p:nvSpPr>
          <p:spPr>
            <a:xfrm>
              <a:off x="7498079" y="4023360"/>
              <a:ext cx="1170432" cy="411480"/>
            </a:xfrm>
            <a:prstGeom prst="rect">
              <a:avLst/>
            </a:prstGeom>
            <a:solidFill>
              <a:schemeClr val="bg1"/>
            </a:solidFill>
            <a:ln w="10160">
              <a:solidFill>
                <a:srgbClr val="1C1C1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0746786E-0A9A-486C-9581-CE210FB844D6}"/>
                </a:ext>
              </a:extLst>
            </p:cNvPr>
            <p:cNvSpPr txBox="1"/>
            <p:nvPr/>
          </p:nvSpPr>
          <p:spPr>
            <a:xfrm>
              <a:off x="7498079" y="4041648"/>
              <a:ext cx="1170432" cy="164592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0" b="1" i="0" dirty="0">
                  <a:solidFill>
                    <a:srgbClr val="1C1C1C"/>
                  </a:solidFill>
                  <a:latin typeface="맑은 고딕"/>
                </a:rPr>
                <a:t>Worker 0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F307C70-7FFF-42E0-A240-365C21BA9626}"/>
                </a:ext>
              </a:extLst>
            </p:cNvPr>
            <p:cNvSpPr txBox="1"/>
            <p:nvPr/>
          </p:nvSpPr>
          <p:spPr>
            <a:xfrm>
              <a:off x="7498079" y="4242816"/>
              <a:ext cx="1170432" cy="146304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40" b="0" i="0" dirty="0">
                  <a:solidFill>
                    <a:srgbClr val="373737"/>
                  </a:solidFill>
                  <a:latin typeface="맑은 고딕"/>
                </a:rPr>
                <a:t>Shard S0 · LRU</a:t>
              </a:r>
            </a:p>
          </p:txBody>
        </p:sp>
        <p:sp>
          <p:nvSpPr>
            <p:cNvPr id="114" name="Rectangle 330">
              <a:extLst>
                <a:ext uri="{FF2B5EF4-FFF2-40B4-BE49-F238E27FC236}">
                  <a16:creationId xmlns:a16="http://schemas.microsoft.com/office/drawing/2014/main" id="{5C372C1C-0123-47D4-A750-C3F0E0BCEB87}"/>
                </a:ext>
              </a:extLst>
            </p:cNvPr>
            <p:cNvSpPr/>
            <p:nvPr/>
          </p:nvSpPr>
          <p:spPr>
            <a:xfrm>
              <a:off x="8769096" y="4023360"/>
              <a:ext cx="1170432" cy="411480"/>
            </a:xfrm>
            <a:prstGeom prst="rect">
              <a:avLst/>
            </a:prstGeom>
            <a:solidFill>
              <a:schemeClr val="bg1"/>
            </a:solidFill>
            <a:ln w="10160">
              <a:solidFill>
                <a:srgbClr val="1C1C1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CCE53D9-4E12-4163-BA6A-EE177F9A9AA6}"/>
                </a:ext>
              </a:extLst>
            </p:cNvPr>
            <p:cNvSpPr txBox="1"/>
            <p:nvPr/>
          </p:nvSpPr>
          <p:spPr>
            <a:xfrm>
              <a:off x="8769096" y="4041648"/>
              <a:ext cx="1170432" cy="164592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0" b="1" i="0">
                  <a:solidFill>
                    <a:srgbClr val="1C1C1C"/>
                  </a:solidFill>
                  <a:latin typeface="맑은 고딕"/>
                </a:rPr>
                <a:t>Worker 1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E34D97CF-8C50-4A89-AC10-66F126BAAB27}"/>
                </a:ext>
              </a:extLst>
            </p:cNvPr>
            <p:cNvSpPr txBox="1"/>
            <p:nvPr/>
          </p:nvSpPr>
          <p:spPr>
            <a:xfrm>
              <a:off x="8769096" y="4242816"/>
              <a:ext cx="1170432" cy="146304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40" b="0" i="0">
                  <a:solidFill>
                    <a:srgbClr val="373737"/>
                  </a:solidFill>
                  <a:latin typeface="맑은 고딕"/>
                </a:rPr>
                <a:t>Shard S1 · LRU</a:t>
              </a:r>
            </a:p>
          </p:txBody>
        </p:sp>
        <p:sp>
          <p:nvSpPr>
            <p:cNvPr id="117" name="Rectangle 333">
              <a:extLst>
                <a:ext uri="{FF2B5EF4-FFF2-40B4-BE49-F238E27FC236}">
                  <a16:creationId xmlns:a16="http://schemas.microsoft.com/office/drawing/2014/main" id="{3478BB35-EDD9-4AF8-B638-6F739C780025}"/>
                </a:ext>
              </a:extLst>
            </p:cNvPr>
            <p:cNvSpPr/>
            <p:nvPr/>
          </p:nvSpPr>
          <p:spPr>
            <a:xfrm>
              <a:off x="10040112" y="4023360"/>
              <a:ext cx="1170432" cy="411480"/>
            </a:xfrm>
            <a:prstGeom prst="rect">
              <a:avLst/>
            </a:prstGeom>
            <a:solidFill>
              <a:schemeClr val="bg1"/>
            </a:solidFill>
            <a:ln w="10160">
              <a:solidFill>
                <a:srgbClr val="1C1C1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8A476709-D627-400C-AD76-E4C93A32EBE2}"/>
                </a:ext>
              </a:extLst>
            </p:cNvPr>
            <p:cNvSpPr txBox="1"/>
            <p:nvPr/>
          </p:nvSpPr>
          <p:spPr>
            <a:xfrm>
              <a:off x="10040112" y="4041648"/>
              <a:ext cx="1170432" cy="164592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0" b="1" i="0">
                  <a:solidFill>
                    <a:srgbClr val="1C1C1C"/>
                  </a:solidFill>
                  <a:latin typeface="맑은 고딕"/>
                </a:rPr>
                <a:t>Worker 2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730905E6-94BD-4C11-BE84-78501AF0A6AB}"/>
                </a:ext>
              </a:extLst>
            </p:cNvPr>
            <p:cNvSpPr txBox="1"/>
            <p:nvPr/>
          </p:nvSpPr>
          <p:spPr>
            <a:xfrm>
              <a:off x="10040112" y="4242816"/>
              <a:ext cx="1170432" cy="146304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40" b="0" i="0" dirty="0">
                  <a:solidFill>
                    <a:srgbClr val="373737"/>
                  </a:solidFill>
                  <a:latin typeface="맑은 고딕"/>
                </a:rPr>
                <a:t>Shard S2 · LRU</a:t>
              </a:r>
            </a:p>
          </p:txBody>
        </p:sp>
        <p:cxnSp>
          <p:nvCxnSpPr>
            <p:cNvPr id="127" name="Connector 337">
              <a:extLst>
                <a:ext uri="{FF2B5EF4-FFF2-40B4-BE49-F238E27FC236}">
                  <a16:creationId xmlns:a16="http://schemas.microsoft.com/office/drawing/2014/main" id="{E4A9BD72-EC30-4BA7-8048-5E9667C4236B}"/>
                </a:ext>
              </a:extLst>
            </p:cNvPr>
            <p:cNvCxnSpPr/>
            <p:nvPr/>
          </p:nvCxnSpPr>
          <p:spPr>
            <a:xfrm>
              <a:off x="9317736" y="3840480"/>
              <a:ext cx="0" cy="91440"/>
            </a:xfrm>
            <a:prstGeom prst="line">
              <a:avLst/>
            </a:prstGeom>
            <a:ln w="16510">
              <a:solidFill>
                <a:srgbClr val="2D57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338">
              <a:extLst>
                <a:ext uri="{FF2B5EF4-FFF2-40B4-BE49-F238E27FC236}">
                  <a16:creationId xmlns:a16="http://schemas.microsoft.com/office/drawing/2014/main" id="{FC0EE07D-7E24-4865-8965-B09EEEEF11F7}"/>
                </a:ext>
              </a:extLst>
            </p:cNvPr>
            <p:cNvCxnSpPr/>
            <p:nvPr/>
          </p:nvCxnSpPr>
          <p:spPr>
            <a:xfrm>
              <a:off x="8074152" y="3931920"/>
              <a:ext cx="2523744" cy="0"/>
            </a:xfrm>
            <a:prstGeom prst="line">
              <a:avLst/>
            </a:prstGeom>
            <a:ln w="15875">
              <a:solidFill>
                <a:srgbClr val="2D57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339">
              <a:extLst>
                <a:ext uri="{FF2B5EF4-FFF2-40B4-BE49-F238E27FC236}">
                  <a16:creationId xmlns:a16="http://schemas.microsoft.com/office/drawing/2014/main" id="{0E26A8A2-AA32-472C-BFEB-3E8765219CFD}"/>
                </a:ext>
              </a:extLst>
            </p:cNvPr>
            <p:cNvCxnSpPr/>
            <p:nvPr/>
          </p:nvCxnSpPr>
          <p:spPr>
            <a:xfrm>
              <a:off x="8083296" y="3931920"/>
              <a:ext cx="0" cy="91440"/>
            </a:xfrm>
            <a:prstGeom prst="line">
              <a:avLst/>
            </a:prstGeom>
            <a:ln w="15875">
              <a:solidFill>
                <a:srgbClr val="2D5794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340">
              <a:extLst>
                <a:ext uri="{FF2B5EF4-FFF2-40B4-BE49-F238E27FC236}">
                  <a16:creationId xmlns:a16="http://schemas.microsoft.com/office/drawing/2014/main" id="{0E952D8A-2E31-4377-9C4D-B444607E7A66}"/>
                </a:ext>
              </a:extLst>
            </p:cNvPr>
            <p:cNvCxnSpPr/>
            <p:nvPr/>
          </p:nvCxnSpPr>
          <p:spPr>
            <a:xfrm>
              <a:off x="9354312" y="3931920"/>
              <a:ext cx="0" cy="91440"/>
            </a:xfrm>
            <a:prstGeom prst="line">
              <a:avLst/>
            </a:prstGeom>
            <a:ln w="15875">
              <a:solidFill>
                <a:srgbClr val="2D5794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nector 341">
              <a:extLst>
                <a:ext uri="{FF2B5EF4-FFF2-40B4-BE49-F238E27FC236}">
                  <a16:creationId xmlns:a16="http://schemas.microsoft.com/office/drawing/2014/main" id="{23FDAB63-4F84-4566-8E6A-C291A10BA8ED}"/>
                </a:ext>
              </a:extLst>
            </p:cNvPr>
            <p:cNvCxnSpPr/>
            <p:nvPr/>
          </p:nvCxnSpPr>
          <p:spPr>
            <a:xfrm>
              <a:off x="10625328" y="3931920"/>
              <a:ext cx="0" cy="91440"/>
            </a:xfrm>
            <a:prstGeom prst="line">
              <a:avLst/>
            </a:prstGeom>
            <a:ln w="15875">
              <a:solidFill>
                <a:srgbClr val="2D5794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9747C3D2-2124-4271-B457-FF6FCE5D8717}"/>
                </a:ext>
              </a:extLst>
            </p:cNvPr>
            <p:cNvSpPr txBox="1"/>
            <p:nvPr/>
          </p:nvSpPr>
          <p:spPr>
            <a:xfrm>
              <a:off x="7413267" y="4553049"/>
              <a:ext cx="3749039" cy="155448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810" b="1" dirty="0">
                  <a:solidFill>
                    <a:srgbClr val="2D5794"/>
                  </a:solidFill>
                  <a:latin typeface="맑은 고딕"/>
                </a:rPr>
                <a:t>Shard </a:t>
              </a:r>
              <a:r>
                <a:rPr sz="810" b="1" i="0" dirty="0">
                  <a:solidFill>
                    <a:srgbClr val="2D5794"/>
                  </a:solidFill>
                  <a:latin typeface="맑은 고딕"/>
                </a:rPr>
                <a:t>별 Metadata / Allocator / LRU </a:t>
              </a:r>
              <a:r>
                <a:rPr sz="810" b="1" i="0" dirty="0" err="1">
                  <a:solidFill>
                    <a:srgbClr val="2D5794"/>
                  </a:solidFill>
                  <a:latin typeface="맑은 고딕"/>
                </a:rPr>
                <a:t>독립</a:t>
              </a:r>
              <a:r>
                <a:rPr sz="810" b="1" i="0" dirty="0">
                  <a:solidFill>
                    <a:srgbClr val="2D5794"/>
                  </a:solidFill>
                  <a:latin typeface="맑은 고딕"/>
                </a:rPr>
                <a:t> </a:t>
              </a:r>
              <a:r>
                <a:rPr sz="810" b="1" i="0" dirty="0" err="1">
                  <a:solidFill>
                    <a:srgbClr val="2D5794"/>
                  </a:solidFill>
                  <a:latin typeface="맑은 고딕"/>
                </a:rPr>
                <a:t>관리</a:t>
              </a:r>
              <a:endParaRPr sz="810" b="1" i="0" dirty="0">
                <a:solidFill>
                  <a:srgbClr val="2D5794"/>
                </a:solidFill>
                <a:latin typeface="맑은 고딕"/>
              </a:endParaRPr>
            </a:p>
          </p:txBody>
        </p:sp>
      </p:grpSp>
      <p:grpSp>
        <p:nvGrpSpPr>
          <p:cNvPr id="151" name="그룹 150">
            <a:extLst>
              <a:ext uri="{FF2B5EF4-FFF2-40B4-BE49-F238E27FC236}">
                <a16:creationId xmlns:a16="http://schemas.microsoft.com/office/drawing/2014/main" id="{7B264FE8-2CB7-4D4E-92C7-8C589E53BFE5}"/>
              </a:ext>
            </a:extLst>
          </p:cNvPr>
          <p:cNvGrpSpPr/>
          <p:nvPr/>
        </p:nvGrpSpPr>
        <p:grpSpPr>
          <a:xfrm>
            <a:off x="5634885" y="4080458"/>
            <a:ext cx="805575" cy="488318"/>
            <a:chOff x="11056831" y="3583489"/>
            <a:chExt cx="886133" cy="488318"/>
          </a:xfrm>
        </p:grpSpPr>
        <p:sp>
          <p:nvSpPr>
            <p:cNvPr id="155" name="KV Cache Manager">
              <a:extLst>
                <a:ext uri="{FF2B5EF4-FFF2-40B4-BE49-F238E27FC236}">
                  <a16:creationId xmlns:a16="http://schemas.microsoft.com/office/drawing/2014/main" id="{F89BBB6F-0E43-46F5-B240-620E3C4C25D4}"/>
                </a:ext>
              </a:extLst>
            </p:cNvPr>
            <p:cNvSpPr/>
            <p:nvPr/>
          </p:nvSpPr>
          <p:spPr>
            <a:xfrm>
              <a:off x="11126972" y="3816949"/>
              <a:ext cx="784423" cy="19403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QA4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보완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EC34CC24-7BF3-4713-95E8-2A090762D893}"/>
                </a:ext>
              </a:extLst>
            </p:cNvPr>
            <p:cNvSpPr/>
            <p:nvPr/>
          </p:nvSpPr>
          <p:spPr>
            <a:xfrm>
              <a:off x="11056831" y="3583489"/>
              <a:ext cx="886133" cy="488318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6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65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6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6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69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7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</p:spTree>
    <p:extLst>
      <p:ext uri="{BB962C8B-B14F-4D97-AF65-F5344CB8AC3E}">
        <p14:creationId xmlns:p14="http://schemas.microsoft.com/office/powerpoint/2010/main" val="3040208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E3FF83-D207-4F53-BD88-4C2902AA3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Reference</a:t>
            </a:r>
            <a:endParaRPr lang="ko-KR" altLang="en-US" dirty="0"/>
          </a:p>
        </p:txBody>
      </p:sp>
      <p:sp>
        <p:nvSpPr>
          <p:cNvPr id="43" name="제목 1">
            <a:extLst>
              <a:ext uri="{FF2B5EF4-FFF2-40B4-BE49-F238E27FC236}">
                <a16:creationId xmlns:a16="http://schemas.microsoft.com/office/drawing/2014/main" id="{926C5D1D-3080-453C-A6B4-7CA4F97C390A}"/>
              </a:ext>
            </a:extLst>
          </p:cNvPr>
          <p:cNvSpPr txBox="1">
            <a:spLocks/>
          </p:cNvSpPr>
          <p:nvPr/>
        </p:nvSpPr>
        <p:spPr>
          <a:xfrm>
            <a:off x="234947" y="1017912"/>
            <a:ext cx="11228919" cy="314768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1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해야 할 것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전체 </a:t>
            </a:r>
            <a:r>
              <a:rPr lang="en-US" altLang="ko-KR" dirty="0"/>
              <a:t>module view – 14p </a:t>
            </a:r>
            <a:r>
              <a:rPr lang="ko-KR" altLang="en-US" dirty="0"/>
              <a:t>참조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전체 </a:t>
            </a:r>
            <a:r>
              <a:rPr lang="en-US" altLang="ko-KR" dirty="0"/>
              <a:t>C&amp;C view, </a:t>
            </a:r>
            <a:r>
              <a:rPr lang="ko-KR" altLang="en-US" dirty="0"/>
              <a:t>전체 </a:t>
            </a:r>
            <a:r>
              <a:rPr lang="en-US" altLang="ko-KR" dirty="0"/>
              <a:t>Deployment view </a:t>
            </a:r>
            <a:r>
              <a:rPr lang="ko-KR" altLang="en-US" dirty="0"/>
              <a:t>그릴 것 </a:t>
            </a:r>
            <a:r>
              <a:rPr lang="en-US" altLang="ko-KR" dirty="0"/>
              <a:t>– 16p </a:t>
            </a:r>
            <a:r>
              <a:rPr lang="ko-KR" altLang="en-US" dirty="0"/>
              <a:t>참조 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전체 </a:t>
            </a:r>
            <a:r>
              <a:rPr lang="en-US" altLang="ko-KR" dirty="0"/>
              <a:t>class diagram </a:t>
            </a:r>
            <a:r>
              <a:rPr lang="ko-KR" altLang="en-US" dirty="0"/>
              <a:t>그릴 것 </a:t>
            </a:r>
            <a:r>
              <a:rPr lang="en-US" altLang="ko-KR" dirty="0"/>
              <a:t>– 18p </a:t>
            </a:r>
            <a:r>
              <a:rPr lang="ko-KR" altLang="en-US" dirty="0"/>
              <a:t>참조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 과제의 </a:t>
            </a:r>
            <a:r>
              <a:rPr lang="en-US" altLang="ko-KR" dirty="0"/>
              <a:t>Use case </a:t>
            </a:r>
            <a:r>
              <a:rPr lang="ko-KR" altLang="en-US" dirty="0"/>
              <a:t>뽑기 </a:t>
            </a:r>
            <a:r>
              <a:rPr lang="en-US" altLang="ko-KR" dirty="0"/>
              <a:t>– </a:t>
            </a:r>
            <a:r>
              <a:rPr lang="ko-KR" altLang="en-US" dirty="0"/>
              <a:t>기능 요구사항</a:t>
            </a:r>
            <a:r>
              <a:rPr lang="en-US" altLang="ko-KR" dirty="0"/>
              <a:t>(1p), </a:t>
            </a:r>
            <a:r>
              <a:rPr lang="ko-KR" altLang="en-US" dirty="0"/>
              <a:t>품질 요구사항</a:t>
            </a:r>
            <a:r>
              <a:rPr lang="en-US" altLang="ko-KR" dirty="0"/>
              <a:t>(2p), UC Reference 15p </a:t>
            </a:r>
            <a:r>
              <a:rPr lang="ko-KR" altLang="en-US" dirty="0"/>
              <a:t>우측 참조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UC</a:t>
            </a:r>
            <a:r>
              <a:rPr lang="ko-KR" altLang="en-US" dirty="0"/>
              <a:t>별 </a:t>
            </a:r>
            <a:r>
              <a:rPr lang="en-US" altLang="ko-KR" dirty="0"/>
              <a:t>class diagram, sequence diagram </a:t>
            </a:r>
            <a:r>
              <a:rPr lang="ko-KR" altLang="en-US" dirty="0"/>
              <a:t>뽑기 </a:t>
            </a:r>
            <a:r>
              <a:rPr lang="en-US" altLang="ko-KR" dirty="0"/>
              <a:t>– 19~23p  </a:t>
            </a:r>
            <a:r>
              <a:rPr lang="ko-KR" altLang="en-US" dirty="0"/>
              <a:t>참고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76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직사각형 122"/>
          <p:cNvSpPr/>
          <p:nvPr/>
        </p:nvSpPr>
        <p:spPr>
          <a:xfrm>
            <a:off x="183590" y="1255491"/>
            <a:ext cx="11795050" cy="55415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/>
          <p:cNvGrpSpPr/>
          <p:nvPr/>
        </p:nvGrpSpPr>
        <p:grpSpPr>
          <a:xfrm>
            <a:off x="5850067" y="102872"/>
            <a:ext cx="6221469" cy="201686"/>
            <a:chOff x="3253771" y="153288"/>
            <a:chExt cx="5655881" cy="166683"/>
          </a:xfrm>
        </p:grpSpPr>
        <p:sp>
          <p:nvSpPr>
            <p:cNvPr id="21" name="자유형 20"/>
            <p:cNvSpPr/>
            <p:nvPr/>
          </p:nvSpPr>
          <p:spPr>
            <a:xfrm>
              <a:off x="325377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>
                  <a:solidFill>
                    <a:schemeClr val="tx1"/>
                  </a:solidFill>
                </a:rPr>
                <a:t>과제 개요</a:t>
              </a:r>
            </a:p>
          </p:txBody>
        </p:sp>
        <p:sp>
          <p:nvSpPr>
            <p:cNvPr id="22" name="자유형 21"/>
            <p:cNvSpPr/>
            <p:nvPr/>
          </p:nvSpPr>
          <p:spPr>
            <a:xfrm>
              <a:off x="4196418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3" name="자유형 22"/>
            <p:cNvSpPr/>
            <p:nvPr/>
          </p:nvSpPr>
          <p:spPr>
            <a:xfrm>
              <a:off x="4453504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요구사항</a:t>
              </a:r>
            </a:p>
          </p:txBody>
        </p:sp>
        <p:sp>
          <p:nvSpPr>
            <p:cNvPr id="24" name="자유형 23"/>
            <p:cNvSpPr/>
            <p:nvPr/>
          </p:nvSpPr>
          <p:spPr>
            <a:xfrm>
              <a:off x="5396151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5" name="자유형 24"/>
            <p:cNvSpPr/>
            <p:nvPr/>
          </p:nvSpPr>
          <p:spPr>
            <a:xfrm>
              <a:off x="5653236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b="1" dirty="0"/>
                <a:t>설계</a:t>
              </a:r>
            </a:p>
          </p:txBody>
        </p:sp>
        <p:sp>
          <p:nvSpPr>
            <p:cNvPr id="26" name="자유형 25"/>
            <p:cNvSpPr/>
            <p:nvPr/>
          </p:nvSpPr>
          <p:spPr>
            <a:xfrm>
              <a:off x="6595883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7" name="자유형 26"/>
            <p:cNvSpPr/>
            <p:nvPr/>
          </p:nvSpPr>
          <p:spPr>
            <a:xfrm>
              <a:off x="6852969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검증</a:t>
              </a:r>
            </a:p>
          </p:txBody>
        </p:sp>
        <p:sp>
          <p:nvSpPr>
            <p:cNvPr id="28" name="자유형 27"/>
            <p:cNvSpPr/>
            <p:nvPr/>
          </p:nvSpPr>
          <p:spPr>
            <a:xfrm>
              <a:off x="7795616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9" name="자유형 28"/>
            <p:cNvSpPr/>
            <p:nvPr/>
          </p:nvSpPr>
          <p:spPr>
            <a:xfrm>
              <a:off x="805270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결론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1348073" y="1313319"/>
            <a:ext cx="9319927" cy="5415915"/>
            <a:chOff x="1294733" y="1016139"/>
            <a:chExt cx="9957522" cy="5786429"/>
          </a:xfrm>
        </p:grpSpPr>
        <p:sp>
          <p:nvSpPr>
            <p:cNvPr id="15" name="직사각형 14"/>
            <p:cNvSpPr/>
            <p:nvPr/>
          </p:nvSpPr>
          <p:spPr>
            <a:xfrm>
              <a:off x="1400274" y="1280772"/>
              <a:ext cx="5227704" cy="235595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401779" y="1131412"/>
              <a:ext cx="532578" cy="14909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1400274" y="4007492"/>
              <a:ext cx="5227704" cy="27146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397451" y="1319429"/>
              <a:ext cx="884080" cy="2301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Compiler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397451" y="4021301"/>
              <a:ext cx="851538" cy="2301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Runtime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1554376" y="1637262"/>
              <a:ext cx="853491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User interface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1401779" y="3858396"/>
              <a:ext cx="532578" cy="1490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2732998" y="1504364"/>
              <a:ext cx="3716645" cy="45919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2732998" y="1435211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871100" y="1639713"/>
              <a:ext cx="651157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Front-end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3741211" y="1604860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Model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4556090" y="1604859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Model convertor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5450470" y="1604859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Backward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2732998" y="2112653"/>
              <a:ext cx="3716645" cy="80928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2732997" y="2043499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834277" y="2240159"/>
              <a:ext cx="724802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Middle-end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3741211" y="2213148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Graph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4551573" y="2213148"/>
              <a:ext cx="76879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Memory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5450470" y="2213147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Transform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2732997" y="3057657"/>
              <a:ext cx="3716645" cy="45919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2732996" y="2988503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886511" y="3185327"/>
              <a:ext cx="620329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Back-end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3660354" y="3158152"/>
              <a:ext cx="806415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Target</a:t>
              </a:r>
              <a:r>
                <a:rPr kumimoji="0" lang="en-US" altLang="ko-KR" sz="700" b="0" i="0" u="none" strike="noStrike" kern="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 binary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4505608" y="3158152"/>
              <a:ext cx="902052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Runtime binary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5450470" y="3158150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Binary exporter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1557130" y="2142316"/>
              <a:ext cx="853491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Cmd</a:t>
              </a: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-line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5" name="직사각형 54"/>
            <p:cNvSpPr/>
            <p:nvPr/>
          </p:nvSpPr>
          <p:spPr>
            <a:xfrm>
              <a:off x="2732998" y="4229363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2732998" y="4160208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2896791" y="4370508"/>
              <a:ext cx="599777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Interface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741211" y="4329858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rPr>
                <a:t>User</a:t>
              </a:r>
              <a:r>
                <a:rPr lang="ko-KR" altLang="en-US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 </a:t>
              </a: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APIs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4552818" y="4329857"/>
              <a:ext cx="72555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Binary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5364423" y="4329856"/>
              <a:ext cx="72555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NN builder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2732998" y="5492388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2732997" y="5423235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874525" y="5634305"/>
              <a:ext cx="644306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Scheduler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3572702" y="5592884"/>
              <a:ext cx="633271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Resource allocator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4271432" y="5592883"/>
              <a:ext cx="67650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Scheduler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6" name="직사각형 65"/>
            <p:cNvSpPr/>
            <p:nvPr/>
          </p:nvSpPr>
          <p:spPr>
            <a:xfrm>
              <a:off x="5013400" y="5592882"/>
              <a:ext cx="673764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Executor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7" name="직사각형 66"/>
            <p:cNvSpPr/>
            <p:nvPr/>
          </p:nvSpPr>
          <p:spPr>
            <a:xfrm>
              <a:off x="2732997" y="6100677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2732996" y="6031524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2845409" y="6238051"/>
              <a:ext cx="702536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User driver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70" name="직사각형 69"/>
            <p:cNvSpPr/>
            <p:nvPr/>
          </p:nvSpPr>
          <p:spPr>
            <a:xfrm>
              <a:off x="3741210" y="6201171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GPU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4552817" y="6201171"/>
              <a:ext cx="768796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NPU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5407660" y="6201171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PIM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1545245" y="4360036"/>
              <a:ext cx="828093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Debugger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4" name="직사각형 73"/>
            <p:cNvSpPr/>
            <p:nvPr/>
          </p:nvSpPr>
          <p:spPr>
            <a:xfrm>
              <a:off x="1547999" y="4865091"/>
              <a:ext cx="828093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Profiler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129" name="직선 화살표 연결선 128"/>
            <p:cNvCxnSpPr>
              <a:stCxn id="15" idx="2"/>
              <a:endCxn id="17" idx="0"/>
            </p:cNvCxnSpPr>
            <p:nvPr/>
          </p:nvCxnSpPr>
          <p:spPr>
            <a:xfrm>
              <a:off x="4014126" y="3636729"/>
              <a:ext cx="0" cy="370763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0" name="TextBox 129"/>
            <p:cNvSpPr txBox="1"/>
            <p:nvPr/>
          </p:nvSpPr>
          <p:spPr>
            <a:xfrm>
              <a:off x="4014126" y="3700938"/>
              <a:ext cx="152405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&lt;&lt;executable binary&gt;&gt;</a:t>
              </a:r>
              <a:endParaRPr lang="ko-KR" altLang="en-US" sz="900" dirty="0"/>
            </a:p>
          </p:txBody>
        </p:sp>
        <p:sp>
          <p:nvSpPr>
            <p:cNvPr id="170" name="모서리가 둥근 직사각형 169"/>
            <p:cNvSpPr/>
            <p:nvPr/>
          </p:nvSpPr>
          <p:spPr>
            <a:xfrm>
              <a:off x="7648271" y="4806265"/>
              <a:ext cx="2836993" cy="7127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chemeClr val="tx1">
                  <a:lumMod val="75000"/>
                  <a:lumOff val="25000"/>
                </a:schemeClr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grpSp>
          <p:nvGrpSpPr>
            <p:cNvPr id="171" name="그룹 170"/>
            <p:cNvGrpSpPr/>
            <p:nvPr/>
          </p:nvGrpSpPr>
          <p:grpSpPr>
            <a:xfrm>
              <a:off x="8334687" y="4856004"/>
              <a:ext cx="847753" cy="270769"/>
              <a:chOff x="2111193" y="2886144"/>
              <a:chExt cx="721426" cy="377318"/>
            </a:xfrm>
          </p:grpSpPr>
          <p:sp>
            <p:nvSpPr>
              <p:cNvPr id="172" name="직사각형 171"/>
              <p:cNvSpPr/>
              <p:nvPr/>
            </p:nvSpPr>
            <p:spPr>
              <a:xfrm>
                <a:off x="2111193" y="2989088"/>
                <a:ext cx="721426" cy="27437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추가</a:t>
                </a:r>
                <a:r>
                  <a:rPr lang="en-US" altLang="ko-KR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Package</a:t>
                </a:r>
                <a:endParaRPr kumimoji="0" lang="ko-KR" altLang="en-US" sz="7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3" name="직사각형 172"/>
              <p:cNvSpPr/>
              <p:nvPr/>
            </p:nvSpPr>
            <p:spPr>
              <a:xfrm>
                <a:off x="2111193" y="2886144"/>
                <a:ext cx="259674" cy="10265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sp>
          <p:nvSpPr>
            <p:cNvPr id="174" name="직사각형 173"/>
            <p:cNvSpPr/>
            <p:nvPr/>
          </p:nvSpPr>
          <p:spPr>
            <a:xfrm>
              <a:off x="8332768" y="5216167"/>
              <a:ext cx="847754" cy="1968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추가 </a:t>
              </a:r>
              <a:r>
                <a:rPr lang="en-US" altLang="ko-KR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Module</a:t>
              </a:r>
              <a:endParaRPr kumimoji="0" lang="ko-KR" altLang="en-US" sz="7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75" name="TextBox 174"/>
            <p:cNvSpPr txBox="1"/>
            <p:nvPr/>
          </p:nvSpPr>
          <p:spPr>
            <a:xfrm>
              <a:off x="7619210" y="5012756"/>
              <a:ext cx="723088" cy="2712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Legends:</a:t>
              </a:r>
              <a:endParaRPr lang="ko-KR" altLang="en-US" sz="105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79" name="직사각형 178"/>
            <p:cNvSpPr/>
            <p:nvPr/>
          </p:nvSpPr>
          <p:spPr>
            <a:xfrm>
              <a:off x="3741211" y="2570541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Schedule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0" name="직사각형 179"/>
            <p:cNvSpPr/>
            <p:nvPr/>
          </p:nvSpPr>
          <p:spPr>
            <a:xfrm>
              <a:off x="5450470" y="2566913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Optimizer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1" name="직사각형 180"/>
            <p:cNvSpPr/>
            <p:nvPr/>
          </p:nvSpPr>
          <p:spPr>
            <a:xfrm>
              <a:off x="4551573" y="2571904"/>
              <a:ext cx="76879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Target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2" name="직사각형 181"/>
            <p:cNvSpPr/>
            <p:nvPr/>
          </p:nvSpPr>
          <p:spPr>
            <a:xfrm>
              <a:off x="1566370" y="2626028"/>
              <a:ext cx="893012" cy="89082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3" name="직사각형 182"/>
            <p:cNvSpPr/>
            <p:nvPr/>
          </p:nvSpPr>
          <p:spPr>
            <a:xfrm>
              <a:off x="1566368" y="2556874"/>
              <a:ext cx="218254" cy="6915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1617354" y="2811914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extractor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4" name="직사각형 183"/>
            <p:cNvSpPr/>
            <p:nvPr/>
          </p:nvSpPr>
          <p:spPr>
            <a:xfrm>
              <a:off x="1617354" y="3056106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info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5" name="직사각형 184"/>
            <p:cNvSpPr/>
            <p:nvPr/>
          </p:nvSpPr>
          <p:spPr>
            <a:xfrm>
              <a:off x="1617354" y="3300298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interface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7" name="TextBox 186"/>
            <p:cNvSpPr txBox="1"/>
            <p:nvPr/>
          </p:nvSpPr>
          <p:spPr>
            <a:xfrm>
              <a:off x="1566368" y="2604176"/>
              <a:ext cx="83869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HW Manager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192" name="직사각형 191"/>
            <p:cNvSpPr/>
            <p:nvPr/>
          </p:nvSpPr>
          <p:spPr>
            <a:xfrm>
              <a:off x="2732998" y="4852090"/>
              <a:ext cx="3716645" cy="45919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3" name="직사각형 192"/>
            <p:cNvSpPr/>
            <p:nvPr/>
          </p:nvSpPr>
          <p:spPr>
            <a:xfrm>
              <a:off x="2732998" y="4782935"/>
              <a:ext cx="218254" cy="6915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4" name="TextBox 193"/>
            <p:cNvSpPr txBox="1"/>
            <p:nvPr/>
          </p:nvSpPr>
          <p:spPr>
            <a:xfrm>
              <a:off x="2727631" y="4917511"/>
              <a:ext cx="9327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Distributed Runtime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195" name="직사각형 194"/>
            <p:cNvSpPr/>
            <p:nvPr/>
          </p:nvSpPr>
          <p:spPr>
            <a:xfrm>
              <a:off x="3741211" y="4952585"/>
              <a:ext cx="669495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rPr>
                <a:t>Manager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96" name="직사각형 195"/>
            <p:cNvSpPr/>
            <p:nvPr/>
          </p:nvSpPr>
          <p:spPr>
            <a:xfrm>
              <a:off x="4487017" y="4952584"/>
              <a:ext cx="867671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Communicator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97" name="직사각형 196"/>
            <p:cNvSpPr/>
            <p:nvPr/>
          </p:nvSpPr>
          <p:spPr>
            <a:xfrm>
              <a:off x="5430999" y="4952583"/>
              <a:ext cx="811605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Synchronizer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8" name="직사각형 197"/>
            <p:cNvSpPr/>
            <p:nvPr/>
          </p:nvSpPr>
          <p:spPr>
            <a:xfrm>
              <a:off x="5752623" y="5592882"/>
              <a:ext cx="63386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System monitor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99" name="그룹 198"/>
            <p:cNvGrpSpPr/>
            <p:nvPr/>
          </p:nvGrpSpPr>
          <p:grpSpPr>
            <a:xfrm>
              <a:off x="9419635" y="4858377"/>
              <a:ext cx="847754" cy="270342"/>
              <a:chOff x="2111193" y="2886739"/>
              <a:chExt cx="721427" cy="376723"/>
            </a:xfrm>
            <a:solidFill>
              <a:schemeClr val="accent2">
                <a:lumMod val="20000"/>
                <a:lumOff val="80000"/>
              </a:schemeClr>
            </a:solidFill>
          </p:grpSpPr>
          <p:sp>
            <p:nvSpPr>
              <p:cNvPr id="200" name="직사각형 199"/>
              <p:cNvSpPr/>
              <p:nvPr/>
            </p:nvSpPr>
            <p:spPr>
              <a:xfrm>
                <a:off x="2111193" y="2989088"/>
                <a:ext cx="721427" cy="274374"/>
              </a:xfrm>
              <a:prstGeom prst="rect">
                <a:avLst/>
              </a:prstGeom>
              <a:grp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변경 </a:t>
                </a:r>
                <a:r>
                  <a:rPr lang="en-US" altLang="ko-KR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Package</a:t>
                </a:r>
                <a:endParaRPr kumimoji="0" lang="ko-KR" altLang="en-US" sz="7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endParaRPr>
              </a:p>
            </p:txBody>
          </p:sp>
          <p:sp>
            <p:nvSpPr>
              <p:cNvPr id="201" name="직사각형 200"/>
              <p:cNvSpPr/>
              <p:nvPr/>
            </p:nvSpPr>
            <p:spPr>
              <a:xfrm>
                <a:off x="2111614" y="2886739"/>
                <a:ext cx="259674" cy="102651"/>
              </a:xfrm>
              <a:prstGeom prst="rect">
                <a:avLst/>
              </a:prstGeom>
              <a:grp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sp>
          <p:nvSpPr>
            <p:cNvPr id="202" name="직사각형 201"/>
            <p:cNvSpPr/>
            <p:nvPr/>
          </p:nvSpPr>
          <p:spPr>
            <a:xfrm>
              <a:off x="9419635" y="5214908"/>
              <a:ext cx="847754" cy="19689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변경 </a:t>
              </a:r>
              <a:r>
                <a:rPr lang="en-US" altLang="ko-KR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Module</a:t>
              </a:r>
              <a:endParaRPr kumimoji="0" lang="ko-KR" altLang="en-US" sz="7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3" name="직사각형 202"/>
            <p:cNvSpPr/>
            <p:nvPr/>
          </p:nvSpPr>
          <p:spPr>
            <a:xfrm>
              <a:off x="7207961" y="1665344"/>
              <a:ext cx="3897619" cy="25689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4" name="직사각형 203"/>
            <p:cNvSpPr/>
            <p:nvPr/>
          </p:nvSpPr>
          <p:spPr>
            <a:xfrm>
              <a:off x="7209466" y="1515984"/>
              <a:ext cx="532578" cy="1490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5" name="TextBox 204"/>
            <p:cNvSpPr txBox="1"/>
            <p:nvPr/>
          </p:nvSpPr>
          <p:spPr>
            <a:xfrm>
              <a:off x="7205138" y="1704001"/>
              <a:ext cx="94929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Optimizer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06" name="직사각형 205"/>
            <p:cNvSpPr/>
            <p:nvPr/>
          </p:nvSpPr>
          <p:spPr>
            <a:xfrm>
              <a:off x="7401638" y="2013249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IR loader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7" name="직사각형 206"/>
            <p:cNvSpPr/>
            <p:nvPr/>
          </p:nvSpPr>
          <p:spPr>
            <a:xfrm>
              <a:off x="8219075" y="2013249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HW loader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8" name="직사각형 207"/>
            <p:cNvSpPr/>
            <p:nvPr/>
          </p:nvSpPr>
          <p:spPr>
            <a:xfrm>
              <a:off x="7398019" y="2596983"/>
              <a:ext cx="3455728" cy="58834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9" name="직사각형 208"/>
            <p:cNvSpPr/>
            <p:nvPr/>
          </p:nvSpPr>
          <p:spPr>
            <a:xfrm>
              <a:off x="7399523" y="2457146"/>
              <a:ext cx="420759" cy="14105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0" name="TextBox 209"/>
            <p:cNvSpPr txBox="1"/>
            <p:nvPr/>
          </p:nvSpPr>
          <p:spPr>
            <a:xfrm>
              <a:off x="7378803" y="2771588"/>
              <a:ext cx="72648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Optimizer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11" name="직사각형 210"/>
            <p:cNvSpPr/>
            <p:nvPr/>
          </p:nvSpPr>
          <p:spPr>
            <a:xfrm>
              <a:off x="8151423" y="2741178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Meta-heuristic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2" name="직사각형 211"/>
            <p:cNvSpPr/>
            <p:nvPr/>
          </p:nvSpPr>
          <p:spPr>
            <a:xfrm>
              <a:off x="8944634" y="2741178"/>
              <a:ext cx="863292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Linear programming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3" name="직사각형 212"/>
            <p:cNvSpPr/>
            <p:nvPr/>
          </p:nvSpPr>
          <p:spPr>
            <a:xfrm>
              <a:off x="9875578" y="2745492"/>
              <a:ext cx="863292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Deep learning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4" name="직사각형 213"/>
            <p:cNvSpPr/>
            <p:nvPr/>
          </p:nvSpPr>
          <p:spPr>
            <a:xfrm>
              <a:off x="7398019" y="3444189"/>
              <a:ext cx="3455728" cy="58834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5" name="직사각형 214"/>
            <p:cNvSpPr/>
            <p:nvPr/>
          </p:nvSpPr>
          <p:spPr>
            <a:xfrm>
              <a:off x="7399523" y="3301971"/>
              <a:ext cx="420759" cy="14105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6" name="TextBox 215"/>
            <p:cNvSpPr txBox="1"/>
            <p:nvPr/>
          </p:nvSpPr>
          <p:spPr>
            <a:xfrm>
              <a:off x="7378803" y="3554141"/>
              <a:ext cx="9619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Performance Estimator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17" name="직사각형 216"/>
            <p:cNvSpPr/>
            <p:nvPr/>
          </p:nvSpPr>
          <p:spPr>
            <a:xfrm>
              <a:off x="8406902" y="3588384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System builder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8" name="직사각형 217"/>
            <p:cNvSpPr/>
            <p:nvPr/>
          </p:nvSpPr>
          <p:spPr>
            <a:xfrm>
              <a:off x="9200388" y="3588384"/>
              <a:ext cx="74088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Cost model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9" name="직사각형 218"/>
            <p:cNvSpPr/>
            <p:nvPr/>
          </p:nvSpPr>
          <p:spPr>
            <a:xfrm>
              <a:off x="9997984" y="3592698"/>
              <a:ext cx="74088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Executor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cxnSp>
          <p:nvCxnSpPr>
            <p:cNvPr id="220" name="직선 화살표 연결선 219"/>
            <p:cNvCxnSpPr>
              <a:stCxn id="180" idx="3"/>
            </p:cNvCxnSpPr>
            <p:nvPr/>
          </p:nvCxnSpPr>
          <p:spPr>
            <a:xfrm>
              <a:off x="6176028" y="2714999"/>
              <a:ext cx="1045874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1" name="TextBox 220"/>
            <p:cNvSpPr txBox="1"/>
            <p:nvPr/>
          </p:nvSpPr>
          <p:spPr>
            <a:xfrm>
              <a:off x="6585238" y="2469970"/>
              <a:ext cx="63269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&lt;&lt;use&gt;&gt;</a:t>
              </a:r>
              <a:endParaRPr lang="ko-KR" altLang="en-US" sz="900" dirty="0"/>
            </a:p>
          </p:txBody>
        </p:sp>
        <p:sp>
          <p:nvSpPr>
            <p:cNvPr id="222" name="직사각형 221"/>
            <p:cNvSpPr/>
            <p:nvPr/>
          </p:nvSpPr>
          <p:spPr>
            <a:xfrm>
              <a:off x="1520152" y="3554834"/>
              <a:ext cx="1874942" cy="205138"/>
            </a:xfrm>
            <a:prstGeom prst="rect">
              <a:avLst/>
            </a:prstGeom>
            <a:solidFill>
              <a:srgbClr val="F024C9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DP-04. </a:t>
              </a:r>
              <a:r>
                <a:rPr lang="ko-KR" altLang="en-US" sz="1000" b="1" dirty="0"/>
                <a:t>하드웨어 정보 구성</a:t>
              </a:r>
            </a:p>
          </p:txBody>
        </p:sp>
        <p:sp>
          <p:nvSpPr>
            <p:cNvPr id="223" name="직사각형 222"/>
            <p:cNvSpPr/>
            <p:nvPr/>
          </p:nvSpPr>
          <p:spPr>
            <a:xfrm>
              <a:off x="1537246" y="2511883"/>
              <a:ext cx="943918" cy="1042257"/>
            </a:xfrm>
            <a:prstGeom prst="rect">
              <a:avLst/>
            </a:prstGeom>
            <a:noFill/>
            <a:ln w="28575">
              <a:solidFill>
                <a:srgbClr val="F024C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5" name="직사각형 224"/>
            <p:cNvSpPr/>
            <p:nvPr/>
          </p:nvSpPr>
          <p:spPr>
            <a:xfrm>
              <a:off x="3598103" y="2149212"/>
              <a:ext cx="2671883" cy="827834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6" name="직사각형 225"/>
            <p:cNvSpPr/>
            <p:nvPr/>
          </p:nvSpPr>
          <p:spPr>
            <a:xfrm>
              <a:off x="4487016" y="1541596"/>
              <a:ext cx="1782969" cy="474327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4" name="직사각형 223"/>
            <p:cNvSpPr/>
            <p:nvPr/>
          </p:nvSpPr>
          <p:spPr>
            <a:xfrm>
              <a:off x="3585054" y="1952568"/>
              <a:ext cx="2059980" cy="205138"/>
            </a:xfrm>
            <a:prstGeom prst="rect">
              <a:avLst/>
            </a:prstGeom>
            <a:solidFill>
              <a:srgbClr val="FF990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DP-03. </a:t>
              </a:r>
              <a:r>
                <a:rPr lang="ko-KR" altLang="en-US" sz="1000" b="1" dirty="0"/>
                <a:t>컴파일러 중간 표현 구조 </a:t>
              </a:r>
            </a:p>
          </p:txBody>
        </p:sp>
        <p:sp>
          <p:nvSpPr>
            <p:cNvPr id="228" name="직사각형 227"/>
            <p:cNvSpPr/>
            <p:nvPr/>
          </p:nvSpPr>
          <p:spPr>
            <a:xfrm>
              <a:off x="3598103" y="3085476"/>
              <a:ext cx="897742" cy="452685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9" name="직사각형 228"/>
            <p:cNvSpPr/>
            <p:nvPr/>
          </p:nvSpPr>
          <p:spPr>
            <a:xfrm>
              <a:off x="5416513" y="2522945"/>
              <a:ext cx="796695" cy="385616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0" name="직사각형 229"/>
            <p:cNvSpPr/>
            <p:nvPr/>
          </p:nvSpPr>
          <p:spPr>
            <a:xfrm>
              <a:off x="7182131" y="1491918"/>
              <a:ext cx="3994563" cy="2837937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3" name="직사각형 232"/>
            <p:cNvSpPr/>
            <p:nvPr/>
          </p:nvSpPr>
          <p:spPr>
            <a:xfrm>
              <a:off x="7124099" y="1422533"/>
              <a:ext cx="4128156" cy="2998785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4" name="직사각형 233"/>
            <p:cNvSpPr/>
            <p:nvPr/>
          </p:nvSpPr>
          <p:spPr>
            <a:xfrm>
              <a:off x="2668128" y="4085681"/>
              <a:ext cx="3877132" cy="1265568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1" name="직사각형 230"/>
            <p:cNvSpPr/>
            <p:nvPr/>
          </p:nvSpPr>
          <p:spPr>
            <a:xfrm>
              <a:off x="2668127" y="5368587"/>
              <a:ext cx="3877132" cy="630847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2" name="직사각형 231"/>
            <p:cNvSpPr/>
            <p:nvPr/>
          </p:nvSpPr>
          <p:spPr>
            <a:xfrm>
              <a:off x="2656255" y="5155711"/>
              <a:ext cx="1934602" cy="205138"/>
            </a:xfrm>
            <a:prstGeom prst="rect">
              <a:avLst/>
            </a:prstGeom>
            <a:solidFill>
              <a:srgbClr val="00B05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DP-02. </a:t>
              </a:r>
              <a:r>
                <a:rPr lang="ko-KR" altLang="en-US" sz="1000" b="1" dirty="0"/>
                <a:t>스케줄링 최적화 시점</a:t>
              </a:r>
            </a:p>
          </p:txBody>
        </p:sp>
        <p:sp>
          <p:nvSpPr>
            <p:cNvPr id="235" name="직사각형 234"/>
            <p:cNvSpPr/>
            <p:nvPr/>
          </p:nvSpPr>
          <p:spPr>
            <a:xfrm>
              <a:off x="4070837" y="3516850"/>
              <a:ext cx="2144113" cy="205138"/>
            </a:xfrm>
            <a:prstGeom prst="rect">
              <a:avLst/>
            </a:prstGeom>
            <a:solidFill>
              <a:srgbClr val="7030A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DP-05. </a:t>
              </a:r>
              <a:r>
                <a:rPr lang="ko-KR" altLang="en-US" sz="1000" b="1" dirty="0"/>
                <a:t>분산 서버 간의 동작 구조</a:t>
              </a:r>
            </a:p>
          </p:txBody>
        </p:sp>
        <p:sp>
          <p:nvSpPr>
            <p:cNvPr id="236" name="직사각형 235"/>
            <p:cNvSpPr/>
            <p:nvPr/>
          </p:nvSpPr>
          <p:spPr>
            <a:xfrm>
              <a:off x="4495844" y="3088568"/>
              <a:ext cx="1707311" cy="449593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7" name="직사각형 236"/>
            <p:cNvSpPr/>
            <p:nvPr/>
          </p:nvSpPr>
          <p:spPr>
            <a:xfrm>
              <a:off x="1294733" y="1016139"/>
              <a:ext cx="5425261" cy="5786429"/>
            </a:xfrm>
            <a:prstGeom prst="rect">
              <a:avLst/>
            </a:prstGeom>
            <a:noFill/>
            <a:ln w="28575">
              <a:solidFill>
                <a:srgbClr val="00ACE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8" name="직사각형 237"/>
            <p:cNvSpPr/>
            <p:nvPr/>
          </p:nvSpPr>
          <p:spPr>
            <a:xfrm>
              <a:off x="4423943" y="1016139"/>
              <a:ext cx="2296051" cy="232053"/>
            </a:xfrm>
            <a:prstGeom prst="rect">
              <a:avLst/>
            </a:prstGeom>
            <a:solidFill>
              <a:srgbClr val="00ACEB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DP-01. </a:t>
              </a:r>
              <a:r>
                <a:rPr lang="ko-KR" altLang="en-US" sz="1000" b="1" dirty="0"/>
                <a:t>프레임워크에서의 실행 구조</a:t>
              </a:r>
            </a:p>
          </p:txBody>
        </p:sp>
      </p:grpSp>
      <p:sp>
        <p:nvSpPr>
          <p:cNvPr id="124" name="양쪽 모서리가 잘린 사각형 123"/>
          <p:cNvSpPr/>
          <p:nvPr/>
        </p:nvSpPr>
        <p:spPr>
          <a:xfrm>
            <a:off x="172028" y="978039"/>
            <a:ext cx="11817436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Module View</a:t>
            </a:r>
          </a:p>
        </p:txBody>
      </p:sp>
    </p:spTree>
    <p:extLst>
      <p:ext uri="{BB962C8B-B14F-4D97-AF65-F5344CB8AC3E}">
        <p14:creationId xmlns:p14="http://schemas.microsoft.com/office/powerpoint/2010/main" val="28534309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105295" cy="365125"/>
          </a:xfrm>
        </p:spPr>
        <p:txBody>
          <a:bodyPr/>
          <a:lstStyle/>
          <a:p>
            <a:r>
              <a:rPr lang="ko-KR" altLang="en-US" dirty="0"/>
              <a:t>최종 설계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367587"/>
            <a:ext cx="5695950" cy="5070412"/>
          </a:xfrm>
          <a:prstGeom prst="rect">
            <a:avLst/>
          </a:prstGeom>
        </p:spPr>
      </p:pic>
      <p:sp>
        <p:nvSpPr>
          <p:cNvPr id="35" name="직사각형 34"/>
          <p:cNvSpPr/>
          <p:nvPr/>
        </p:nvSpPr>
        <p:spPr>
          <a:xfrm>
            <a:off x="234950" y="1149351"/>
            <a:ext cx="5839280" cy="534669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/>
          <p:cNvSpPr/>
          <p:nvPr/>
        </p:nvSpPr>
        <p:spPr>
          <a:xfrm>
            <a:off x="6144080" y="1149351"/>
            <a:ext cx="5839280" cy="534669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/>
          <p:cNvSpPr/>
          <p:nvPr/>
        </p:nvSpPr>
        <p:spPr>
          <a:xfrm>
            <a:off x="234949" y="621645"/>
            <a:ext cx="5839281" cy="469655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>
                <a:lumMod val="5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</a:rPr>
              <a:t>      최종 구조설계 </a:t>
            </a:r>
            <a:r>
              <a:rPr lang="en-US" altLang="ko-KR" sz="1600" dirty="0">
                <a:solidFill>
                  <a:schemeClr val="tx1"/>
                </a:solidFill>
              </a:rPr>
              <a:t>– Module View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38" name="타원 37"/>
          <p:cNvSpPr/>
          <p:nvPr/>
        </p:nvSpPr>
        <p:spPr>
          <a:xfrm>
            <a:off x="463391" y="779591"/>
            <a:ext cx="153762" cy="153762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b="1">
              <a:ln>
                <a:solidFill>
                  <a:schemeClr val="tx1"/>
                </a:solidFill>
              </a:ln>
              <a:effectLst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6144079" y="621645"/>
            <a:ext cx="5839281" cy="46965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>
                <a:lumMod val="5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</a:rPr>
              <a:t>      최종 구조설계 </a:t>
            </a:r>
            <a:r>
              <a:rPr lang="en-US" altLang="ko-KR" sz="1600" dirty="0">
                <a:solidFill>
                  <a:schemeClr val="tx1"/>
                </a:solidFill>
              </a:rPr>
              <a:t>– C&amp;C View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타원 39"/>
          <p:cNvSpPr/>
          <p:nvPr/>
        </p:nvSpPr>
        <p:spPr>
          <a:xfrm>
            <a:off x="6372521" y="779591"/>
            <a:ext cx="153762" cy="153762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b="1">
              <a:ln>
                <a:solidFill>
                  <a:schemeClr val="tx1"/>
                </a:solidFill>
              </a:ln>
              <a:effectLst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9799" y="1515711"/>
            <a:ext cx="5730694" cy="4922288"/>
          </a:xfrm>
          <a:prstGeom prst="rect">
            <a:avLst/>
          </a:prstGeom>
        </p:spPr>
      </p:pic>
      <p:sp>
        <p:nvSpPr>
          <p:cNvPr id="1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14</a:t>
            </a:fld>
            <a:endParaRPr lang="ko-KR" altLang="en-US" dirty="0"/>
          </a:p>
        </p:txBody>
      </p:sp>
      <p:cxnSp>
        <p:nvCxnSpPr>
          <p:cNvPr id="13" name="직선 연결선 12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07370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460451" y="2076076"/>
            <a:ext cx="5807344" cy="327030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460451" y="5728819"/>
            <a:ext cx="5807344" cy="92598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6450676" y="2000250"/>
            <a:ext cx="5439776" cy="465455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5" name="표 24"/>
          <p:cNvGraphicFramePr>
            <a:graphicFrameLocks noGrp="1"/>
          </p:cNvGraphicFramePr>
          <p:nvPr/>
        </p:nvGraphicFramePr>
        <p:xfrm>
          <a:off x="520908" y="2152952"/>
          <a:ext cx="5679867" cy="357903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70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32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9575">
                  <a:extLst>
                    <a:ext uri="{9D8B030D-6E8A-4147-A177-3AD203B41FA5}">
                      <a16:colId xmlns:a16="http://schemas.microsoft.com/office/drawing/2014/main" val="1473006135"/>
                    </a:ext>
                  </a:extLst>
                </a:gridCol>
              </a:tblGrid>
              <a:tr h="2871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기능 요구사항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설명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7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FR-01</a:t>
                      </a:r>
                      <a:endParaRPr lang="ko-KR" altLang="en-US" sz="900" b="1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시스템 지원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임베디드 시스템과 대규모 서버 시스템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에서 딥 러닝 모델을 실행하기 위한 바이너리를 생성할 수 있어야 하고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이를 시스템 상에서 동작 시킬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6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FR-02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연산 장치 지원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NPU, PIM, GPU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등 다양한 하드웨어 가속기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에서 실행 가능한 바이너리를 생성할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71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FR-03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장치 간 연동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서로 다른 연산 장치를 사용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해서 딥 러닝 모델을 실행할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946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FR-04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모델 지원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CNN, RNN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및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Transformer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기반 대규모 언어 모델 등 여러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다양한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AI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응용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을 지원할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3159070"/>
                  </a:ext>
                </a:extLst>
              </a:tr>
              <a:tr h="3216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FR-05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Ondevice </a:t>
                      </a: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컴파일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딥 러닝 모델을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실제로 실행할 시스템 상에서 컴파일을 수행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하고 바로 실행할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71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FR-06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학습</a:t>
                      </a:r>
                      <a:r>
                        <a:rPr lang="en-US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추론 지원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딥 러닝 모델의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학습과 추론을 위한 바이너리를 생성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365506"/>
                  </a:ext>
                </a:extLst>
              </a:tr>
              <a:tr h="3496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/>
                        <a:t>FR</a:t>
                      </a:r>
                      <a:r>
                        <a:rPr lang="en-US" altLang="ko-KR" sz="900" dirty="0"/>
                        <a:t>-0</a:t>
                      </a:r>
                      <a:r>
                        <a:rPr lang="en-US" altLang="ko-KR" sz="900" b="0" dirty="0"/>
                        <a:t>7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병렬</a:t>
                      </a:r>
                      <a:r>
                        <a:rPr lang="en-US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분산 처리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두 개 이상의 연산 장치 또는 서버 노드를 동시에 활용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하여 딥 러닝 모델을 실행할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9007937"/>
                  </a:ext>
                </a:extLst>
              </a:tr>
              <a:tr h="3142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/>
                        <a:t>FR</a:t>
                      </a:r>
                      <a:r>
                        <a:rPr lang="en-US" altLang="ko-KR" sz="900" dirty="0"/>
                        <a:t>-0</a:t>
                      </a:r>
                      <a:r>
                        <a:rPr lang="en-US" altLang="ko-KR" sz="900" b="0" dirty="0"/>
                        <a:t>8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메모리 관리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딥 러닝 모델 실행을 위해 필요한 메모리 크기보다 연산 장치의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메모리가 작은 경우에도 모델을 실행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575705"/>
                  </a:ext>
                </a:extLst>
              </a:tr>
              <a:tr h="2871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/>
                        <a:t>FR</a:t>
                      </a:r>
                      <a:r>
                        <a:rPr lang="en-US" altLang="ko-KR" sz="900" dirty="0"/>
                        <a:t>-0</a:t>
                      </a:r>
                      <a:r>
                        <a:rPr lang="en-US" altLang="ko-KR" sz="900" b="0" dirty="0"/>
                        <a:t>9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다중 응용 실행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두 개 이상의 딥 러닝 모델을 동시에 실행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64876"/>
                  </a:ext>
                </a:extLst>
              </a:tr>
            </a:tbl>
          </a:graphicData>
        </a:graphic>
      </p:graphicFrame>
      <p:graphicFrame>
        <p:nvGraphicFramePr>
          <p:cNvPr id="26" name="표 25"/>
          <p:cNvGraphicFramePr>
            <a:graphicFrameLocks noGrp="1"/>
          </p:cNvGraphicFramePr>
          <p:nvPr/>
        </p:nvGraphicFramePr>
        <p:xfrm>
          <a:off x="556055" y="5860545"/>
          <a:ext cx="5616135" cy="960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20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4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9590">
                  <a:extLst>
                    <a:ext uri="{9D8B030D-6E8A-4147-A177-3AD203B41FA5}">
                      <a16:colId xmlns:a16="http://schemas.microsoft.com/office/drawing/2014/main" val="3939805216"/>
                    </a:ext>
                  </a:extLst>
                </a:gridCol>
              </a:tblGrid>
              <a:tr h="22160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제약 사항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설명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6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C-01</a:t>
                      </a:r>
                      <a:endParaRPr lang="ko-KR" altLang="en-US" sz="900" b="1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보안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당사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핵심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HW IP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정보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가 컴파일러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런타임 사용자에게 노출되지 않아야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16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C-02</a:t>
                      </a:r>
                      <a:endParaRPr lang="ko-KR" altLang="en-US" sz="900" b="1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일정 준수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목표한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개발 일정을 준수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해야한다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7" name="직사각형 26"/>
          <p:cNvSpPr/>
          <p:nvPr/>
        </p:nvSpPr>
        <p:spPr>
          <a:xfrm>
            <a:off x="169504" y="902881"/>
            <a:ext cx="11709383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lang="ko-KR" altLang="en-US" b="1" dirty="0">
                <a:latin typeface="+mj-ea"/>
              </a:rPr>
              <a:t>수집한 요구사항 </a:t>
            </a:r>
            <a:r>
              <a:rPr lang="en-US" altLang="ko-KR" b="1" dirty="0">
                <a:latin typeface="+mj-ea"/>
              </a:rPr>
              <a:t>54</a:t>
            </a:r>
            <a:r>
              <a:rPr lang="ko-KR" altLang="en-US" b="1" dirty="0">
                <a:latin typeface="+mj-ea"/>
              </a:rPr>
              <a:t>건 → </a:t>
            </a:r>
            <a:r>
              <a:rPr lang="ko-KR" altLang="en-US" b="1" dirty="0">
                <a:solidFill>
                  <a:srgbClr val="0070C0"/>
                </a:solidFill>
                <a:latin typeface="+mj-ea"/>
              </a:rPr>
              <a:t>정제 요구사항 </a:t>
            </a:r>
            <a:r>
              <a:rPr lang="en-US" altLang="ko-KR" b="1" dirty="0">
                <a:solidFill>
                  <a:srgbClr val="0070C0"/>
                </a:solidFill>
                <a:latin typeface="+mj-ea"/>
              </a:rPr>
              <a:t>22</a:t>
            </a:r>
            <a:r>
              <a:rPr lang="ko-KR" altLang="en-US" b="1" dirty="0">
                <a:solidFill>
                  <a:srgbClr val="0070C0"/>
                </a:solidFill>
                <a:latin typeface="+mj-ea"/>
              </a:rPr>
              <a:t>건 </a:t>
            </a:r>
            <a:r>
              <a:rPr lang="ko-KR" altLang="en-US" b="1" dirty="0">
                <a:latin typeface="+mj-ea"/>
              </a:rPr>
              <a:t>분석</a:t>
            </a:r>
            <a:endParaRPr lang="en-US" altLang="ko-KR" b="1" dirty="0">
              <a:latin typeface="+mj-ea"/>
            </a:endParaRP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j-ea"/>
              </a:rPr>
              <a:t>기능 요구 사항 </a:t>
            </a:r>
            <a:r>
              <a:rPr lang="en-US" altLang="ko-KR" sz="1600" dirty="0">
                <a:latin typeface="+mj-ea"/>
              </a:rPr>
              <a:t>9</a:t>
            </a:r>
            <a:r>
              <a:rPr lang="ko-KR" altLang="en-US" sz="1600" dirty="0">
                <a:latin typeface="+mj-ea"/>
              </a:rPr>
              <a:t>건</a:t>
            </a:r>
            <a:r>
              <a:rPr lang="en-US" altLang="ko-KR" sz="1600" dirty="0">
                <a:latin typeface="+mj-ea"/>
              </a:rPr>
              <a:t>, </a:t>
            </a:r>
            <a:r>
              <a:rPr lang="ko-KR" altLang="en-US" sz="1600" dirty="0">
                <a:latin typeface="+mj-ea"/>
              </a:rPr>
              <a:t>품질 요구 사항 </a:t>
            </a:r>
            <a:r>
              <a:rPr lang="en-US" altLang="ko-KR" sz="1600" dirty="0">
                <a:latin typeface="+mj-ea"/>
              </a:rPr>
              <a:t>11</a:t>
            </a:r>
            <a:r>
              <a:rPr lang="ko-KR" altLang="en-US" sz="1600" dirty="0">
                <a:latin typeface="+mj-ea"/>
              </a:rPr>
              <a:t>건</a:t>
            </a:r>
            <a:r>
              <a:rPr lang="en-US" altLang="ko-KR" sz="1600" dirty="0">
                <a:latin typeface="+mj-ea"/>
              </a:rPr>
              <a:t>, </a:t>
            </a:r>
            <a:r>
              <a:rPr lang="ko-KR" altLang="en-US" sz="1600" dirty="0">
                <a:latin typeface="+mj-ea"/>
              </a:rPr>
              <a:t>제약 사항 </a:t>
            </a:r>
            <a:r>
              <a:rPr lang="en-US" altLang="ko-KR" sz="1600" dirty="0">
                <a:latin typeface="+mj-ea"/>
              </a:rPr>
              <a:t>2</a:t>
            </a:r>
            <a:r>
              <a:rPr lang="ko-KR" altLang="en-US" sz="1600" dirty="0">
                <a:latin typeface="+mj-ea"/>
              </a:rPr>
              <a:t>건 도출</a:t>
            </a:r>
            <a:r>
              <a:rPr lang="en-US" altLang="ko-KR" sz="1600" dirty="0">
                <a:latin typeface="+mj-ea"/>
              </a:rPr>
              <a:t> </a:t>
            </a:r>
          </a:p>
        </p:txBody>
      </p:sp>
      <p:sp>
        <p:nvSpPr>
          <p:cNvPr id="28" name="직사각형 27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9" name="그룹 28"/>
          <p:cNvGrpSpPr/>
          <p:nvPr/>
        </p:nvGrpSpPr>
        <p:grpSpPr>
          <a:xfrm>
            <a:off x="5850067" y="102872"/>
            <a:ext cx="6221469" cy="201686"/>
            <a:chOff x="3253771" y="153288"/>
            <a:chExt cx="5655881" cy="166683"/>
          </a:xfrm>
        </p:grpSpPr>
        <p:sp>
          <p:nvSpPr>
            <p:cNvPr id="30" name="자유형 29"/>
            <p:cNvSpPr/>
            <p:nvPr/>
          </p:nvSpPr>
          <p:spPr>
            <a:xfrm>
              <a:off x="325377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>
                  <a:solidFill>
                    <a:schemeClr val="tx1"/>
                  </a:solidFill>
                </a:rPr>
                <a:t>과제 개요</a:t>
              </a:r>
            </a:p>
          </p:txBody>
        </p:sp>
        <p:sp>
          <p:nvSpPr>
            <p:cNvPr id="31" name="자유형 30"/>
            <p:cNvSpPr/>
            <p:nvPr/>
          </p:nvSpPr>
          <p:spPr>
            <a:xfrm>
              <a:off x="4196418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32" name="자유형 31"/>
            <p:cNvSpPr/>
            <p:nvPr/>
          </p:nvSpPr>
          <p:spPr>
            <a:xfrm>
              <a:off x="4453504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b="1" dirty="0"/>
                <a:t>요구사항</a:t>
              </a:r>
            </a:p>
          </p:txBody>
        </p:sp>
        <p:sp>
          <p:nvSpPr>
            <p:cNvPr id="33" name="자유형 32"/>
            <p:cNvSpPr/>
            <p:nvPr/>
          </p:nvSpPr>
          <p:spPr>
            <a:xfrm>
              <a:off x="5396151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34" name="자유형 33"/>
            <p:cNvSpPr/>
            <p:nvPr/>
          </p:nvSpPr>
          <p:spPr>
            <a:xfrm>
              <a:off x="5653236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설계</a:t>
              </a:r>
            </a:p>
          </p:txBody>
        </p:sp>
        <p:sp>
          <p:nvSpPr>
            <p:cNvPr id="35" name="자유형 34"/>
            <p:cNvSpPr/>
            <p:nvPr/>
          </p:nvSpPr>
          <p:spPr>
            <a:xfrm>
              <a:off x="6595883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36" name="자유형 35"/>
            <p:cNvSpPr/>
            <p:nvPr/>
          </p:nvSpPr>
          <p:spPr>
            <a:xfrm>
              <a:off x="6852969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검증</a:t>
              </a:r>
            </a:p>
          </p:txBody>
        </p:sp>
        <p:sp>
          <p:nvSpPr>
            <p:cNvPr id="37" name="자유형 36"/>
            <p:cNvSpPr/>
            <p:nvPr/>
          </p:nvSpPr>
          <p:spPr>
            <a:xfrm>
              <a:off x="7795616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38" name="자유형 37"/>
            <p:cNvSpPr/>
            <p:nvPr/>
          </p:nvSpPr>
          <p:spPr>
            <a:xfrm>
              <a:off x="805270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결론</a:t>
              </a: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요구사항 정제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410" y="2179094"/>
            <a:ext cx="5364048" cy="4372690"/>
          </a:xfrm>
          <a:prstGeom prst="rect">
            <a:avLst/>
          </a:prstGeom>
        </p:spPr>
      </p:pic>
      <p:sp>
        <p:nvSpPr>
          <p:cNvPr id="11" name="양쪽 모서리가 잘린 사각형 10"/>
          <p:cNvSpPr/>
          <p:nvPr/>
        </p:nvSpPr>
        <p:spPr>
          <a:xfrm>
            <a:off x="6445914" y="1775768"/>
            <a:ext cx="5439773" cy="300310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solidFill>
                  <a:schemeClr val="bg1"/>
                </a:solidFill>
                <a:latin typeface="+mj-ea"/>
              </a:rPr>
              <a:t>Use-case diagram</a:t>
            </a:r>
          </a:p>
        </p:txBody>
      </p:sp>
      <p:sp>
        <p:nvSpPr>
          <p:cNvPr id="9" name="양쪽 모서리가 잘린 사각형 8"/>
          <p:cNvSpPr/>
          <p:nvPr/>
        </p:nvSpPr>
        <p:spPr>
          <a:xfrm>
            <a:off x="448887" y="5454832"/>
            <a:ext cx="581890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제약사항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7" name="양쪽 모서리가 잘린 사각형 6"/>
          <p:cNvSpPr/>
          <p:nvPr/>
        </p:nvSpPr>
        <p:spPr>
          <a:xfrm>
            <a:off x="448887" y="1798624"/>
            <a:ext cx="5826051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기능 요구사항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1687672" y="540638"/>
            <a:ext cx="350701" cy="304648"/>
            <a:chOff x="4333458" y="997205"/>
            <a:chExt cx="421422" cy="366082"/>
          </a:xfrm>
        </p:grpSpPr>
        <p:sp>
          <p:nvSpPr>
            <p:cNvPr id="40" name="직사각형 39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이등변 삼각형 40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10005801" y="562958"/>
            <a:ext cx="17171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solidFill>
                  <a:schemeClr val="bg1"/>
                </a:solidFill>
              </a:rPr>
              <a:t>전체 수집된 요구사항 </a:t>
            </a:r>
            <a:r>
              <a:rPr lang="en-US" altLang="ko-KR" sz="1200" b="1" dirty="0">
                <a:solidFill>
                  <a:schemeClr val="bg1"/>
                </a:solidFill>
              </a:rPr>
              <a:t>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74840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직사각형 122"/>
          <p:cNvSpPr/>
          <p:nvPr/>
        </p:nvSpPr>
        <p:spPr>
          <a:xfrm>
            <a:off x="183590" y="1255491"/>
            <a:ext cx="11795050" cy="55415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/>
          <p:cNvGrpSpPr/>
          <p:nvPr/>
        </p:nvGrpSpPr>
        <p:grpSpPr>
          <a:xfrm>
            <a:off x="5850067" y="102872"/>
            <a:ext cx="6221469" cy="201686"/>
            <a:chOff x="3253771" y="153288"/>
            <a:chExt cx="5655881" cy="166683"/>
          </a:xfrm>
        </p:grpSpPr>
        <p:sp>
          <p:nvSpPr>
            <p:cNvPr id="21" name="자유형 20"/>
            <p:cNvSpPr/>
            <p:nvPr/>
          </p:nvSpPr>
          <p:spPr>
            <a:xfrm>
              <a:off x="325377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>
                  <a:solidFill>
                    <a:schemeClr val="tx1"/>
                  </a:solidFill>
                </a:rPr>
                <a:t>과제 개요</a:t>
              </a:r>
            </a:p>
          </p:txBody>
        </p:sp>
        <p:sp>
          <p:nvSpPr>
            <p:cNvPr id="22" name="자유형 21"/>
            <p:cNvSpPr/>
            <p:nvPr/>
          </p:nvSpPr>
          <p:spPr>
            <a:xfrm>
              <a:off x="4196418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3" name="자유형 22"/>
            <p:cNvSpPr/>
            <p:nvPr/>
          </p:nvSpPr>
          <p:spPr>
            <a:xfrm>
              <a:off x="4453504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요구사항</a:t>
              </a:r>
            </a:p>
          </p:txBody>
        </p:sp>
        <p:sp>
          <p:nvSpPr>
            <p:cNvPr id="24" name="자유형 23"/>
            <p:cNvSpPr/>
            <p:nvPr/>
          </p:nvSpPr>
          <p:spPr>
            <a:xfrm>
              <a:off x="5396151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5" name="자유형 24"/>
            <p:cNvSpPr/>
            <p:nvPr/>
          </p:nvSpPr>
          <p:spPr>
            <a:xfrm>
              <a:off x="5653236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b="1" dirty="0"/>
                <a:t>설계</a:t>
              </a:r>
            </a:p>
          </p:txBody>
        </p:sp>
        <p:sp>
          <p:nvSpPr>
            <p:cNvPr id="26" name="자유형 25"/>
            <p:cNvSpPr/>
            <p:nvPr/>
          </p:nvSpPr>
          <p:spPr>
            <a:xfrm>
              <a:off x="6595883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7" name="자유형 26"/>
            <p:cNvSpPr/>
            <p:nvPr/>
          </p:nvSpPr>
          <p:spPr>
            <a:xfrm>
              <a:off x="6852969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검증</a:t>
              </a:r>
            </a:p>
          </p:txBody>
        </p:sp>
        <p:sp>
          <p:nvSpPr>
            <p:cNvPr id="28" name="자유형 27"/>
            <p:cNvSpPr/>
            <p:nvPr/>
          </p:nvSpPr>
          <p:spPr>
            <a:xfrm>
              <a:off x="7795616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9" name="자유형 28"/>
            <p:cNvSpPr/>
            <p:nvPr/>
          </p:nvSpPr>
          <p:spPr>
            <a:xfrm>
              <a:off x="805270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결론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1348073" y="1313319"/>
            <a:ext cx="9319927" cy="5415915"/>
            <a:chOff x="1294733" y="1016139"/>
            <a:chExt cx="9957522" cy="5786429"/>
          </a:xfrm>
        </p:grpSpPr>
        <p:sp>
          <p:nvSpPr>
            <p:cNvPr id="15" name="직사각형 14"/>
            <p:cNvSpPr/>
            <p:nvPr/>
          </p:nvSpPr>
          <p:spPr>
            <a:xfrm>
              <a:off x="1400274" y="1280772"/>
              <a:ext cx="5227704" cy="235595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401779" y="1131412"/>
              <a:ext cx="532578" cy="14909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1400274" y="4007492"/>
              <a:ext cx="5227704" cy="27146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397451" y="1319429"/>
              <a:ext cx="884080" cy="2301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Compiler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397451" y="4021301"/>
              <a:ext cx="851538" cy="2301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Runtime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1554376" y="1637262"/>
              <a:ext cx="853491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User interface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1401779" y="3858396"/>
              <a:ext cx="532578" cy="1490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2732998" y="1504364"/>
              <a:ext cx="3716645" cy="45919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2732998" y="1435211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871100" y="1639713"/>
              <a:ext cx="651157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Front-end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3741211" y="1604860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Model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4556090" y="1604859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Model convertor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5450470" y="1604859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Backward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2732998" y="2112653"/>
              <a:ext cx="3716645" cy="80928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2732997" y="2043499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834277" y="2240159"/>
              <a:ext cx="724802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Middle-end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3741211" y="2213148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Graph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4551573" y="2213148"/>
              <a:ext cx="76879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Memory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5450470" y="2213147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Transform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2732997" y="3057657"/>
              <a:ext cx="3716645" cy="45919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2732996" y="2988503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886511" y="3185327"/>
              <a:ext cx="620329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Back-end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3660354" y="3158152"/>
              <a:ext cx="806415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Target</a:t>
              </a:r>
              <a:r>
                <a:rPr kumimoji="0" lang="en-US" altLang="ko-KR" sz="700" b="0" i="0" u="none" strike="noStrike" kern="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 binary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4505608" y="3158152"/>
              <a:ext cx="902052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Runtime binary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5450470" y="3158150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Binary exporter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1557130" y="2142316"/>
              <a:ext cx="853491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Cmd</a:t>
              </a: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-line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5" name="직사각형 54"/>
            <p:cNvSpPr/>
            <p:nvPr/>
          </p:nvSpPr>
          <p:spPr>
            <a:xfrm>
              <a:off x="2732998" y="4229363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2732998" y="4160208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2896791" y="4370508"/>
              <a:ext cx="599777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Interface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741211" y="4329858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rPr>
                <a:t>User</a:t>
              </a:r>
              <a:r>
                <a:rPr lang="ko-KR" altLang="en-US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 </a:t>
              </a: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APIs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4552818" y="4329857"/>
              <a:ext cx="72555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Binary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5364423" y="4329856"/>
              <a:ext cx="72555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NN builder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2732998" y="5492388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2732997" y="5423235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874525" y="5634305"/>
              <a:ext cx="644306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Scheduler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3572702" y="5592884"/>
              <a:ext cx="633271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Resource allocator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4271432" y="5592883"/>
              <a:ext cx="67650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Scheduler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6" name="직사각형 65"/>
            <p:cNvSpPr/>
            <p:nvPr/>
          </p:nvSpPr>
          <p:spPr>
            <a:xfrm>
              <a:off x="5013400" y="5592882"/>
              <a:ext cx="673764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Executor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7" name="직사각형 66"/>
            <p:cNvSpPr/>
            <p:nvPr/>
          </p:nvSpPr>
          <p:spPr>
            <a:xfrm>
              <a:off x="2732997" y="6100677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2732996" y="6031524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2845409" y="6238051"/>
              <a:ext cx="702536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User driver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70" name="직사각형 69"/>
            <p:cNvSpPr/>
            <p:nvPr/>
          </p:nvSpPr>
          <p:spPr>
            <a:xfrm>
              <a:off x="3741210" y="6201171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GPU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4552817" y="6201171"/>
              <a:ext cx="768796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NPU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5407660" y="6201171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PIM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1545245" y="4360036"/>
              <a:ext cx="828093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Debugger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4" name="직사각형 73"/>
            <p:cNvSpPr/>
            <p:nvPr/>
          </p:nvSpPr>
          <p:spPr>
            <a:xfrm>
              <a:off x="1547999" y="4865091"/>
              <a:ext cx="828093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Profiler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129" name="직선 화살표 연결선 128"/>
            <p:cNvCxnSpPr>
              <a:stCxn id="15" idx="2"/>
              <a:endCxn id="17" idx="0"/>
            </p:cNvCxnSpPr>
            <p:nvPr/>
          </p:nvCxnSpPr>
          <p:spPr>
            <a:xfrm>
              <a:off x="4014126" y="3636729"/>
              <a:ext cx="0" cy="370763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0" name="TextBox 129"/>
            <p:cNvSpPr txBox="1"/>
            <p:nvPr/>
          </p:nvSpPr>
          <p:spPr>
            <a:xfrm>
              <a:off x="4014126" y="3700938"/>
              <a:ext cx="152405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&lt;&lt;executable binary&gt;&gt;</a:t>
              </a:r>
              <a:endParaRPr lang="ko-KR" altLang="en-US" sz="900" dirty="0"/>
            </a:p>
          </p:txBody>
        </p:sp>
        <p:sp>
          <p:nvSpPr>
            <p:cNvPr id="170" name="모서리가 둥근 직사각형 169"/>
            <p:cNvSpPr/>
            <p:nvPr/>
          </p:nvSpPr>
          <p:spPr>
            <a:xfrm>
              <a:off x="7648271" y="4806265"/>
              <a:ext cx="2836993" cy="7127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chemeClr val="tx1">
                  <a:lumMod val="75000"/>
                  <a:lumOff val="25000"/>
                </a:schemeClr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grpSp>
          <p:nvGrpSpPr>
            <p:cNvPr id="171" name="그룹 170"/>
            <p:cNvGrpSpPr/>
            <p:nvPr/>
          </p:nvGrpSpPr>
          <p:grpSpPr>
            <a:xfrm>
              <a:off x="8334687" y="4856004"/>
              <a:ext cx="847753" cy="270769"/>
              <a:chOff x="2111193" y="2886144"/>
              <a:chExt cx="721426" cy="377318"/>
            </a:xfrm>
          </p:grpSpPr>
          <p:sp>
            <p:nvSpPr>
              <p:cNvPr id="172" name="직사각형 171"/>
              <p:cNvSpPr/>
              <p:nvPr/>
            </p:nvSpPr>
            <p:spPr>
              <a:xfrm>
                <a:off x="2111193" y="2989088"/>
                <a:ext cx="721426" cy="27437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추가</a:t>
                </a:r>
                <a:r>
                  <a:rPr lang="en-US" altLang="ko-KR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Package</a:t>
                </a:r>
                <a:endParaRPr kumimoji="0" lang="ko-KR" altLang="en-US" sz="7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3" name="직사각형 172"/>
              <p:cNvSpPr/>
              <p:nvPr/>
            </p:nvSpPr>
            <p:spPr>
              <a:xfrm>
                <a:off x="2111193" y="2886144"/>
                <a:ext cx="259674" cy="10265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sp>
          <p:nvSpPr>
            <p:cNvPr id="174" name="직사각형 173"/>
            <p:cNvSpPr/>
            <p:nvPr/>
          </p:nvSpPr>
          <p:spPr>
            <a:xfrm>
              <a:off x="8332768" y="5216167"/>
              <a:ext cx="847754" cy="1968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추가 </a:t>
              </a:r>
              <a:r>
                <a:rPr lang="en-US" altLang="ko-KR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Module</a:t>
              </a:r>
              <a:endParaRPr kumimoji="0" lang="ko-KR" altLang="en-US" sz="7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75" name="TextBox 174"/>
            <p:cNvSpPr txBox="1"/>
            <p:nvPr/>
          </p:nvSpPr>
          <p:spPr>
            <a:xfrm>
              <a:off x="7619210" y="5012756"/>
              <a:ext cx="723088" cy="2712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Legends:</a:t>
              </a:r>
              <a:endParaRPr lang="ko-KR" altLang="en-US" sz="105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79" name="직사각형 178"/>
            <p:cNvSpPr/>
            <p:nvPr/>
          </p:nvSpPr>
          <p:spPr>
            <a:xfrm>
              <a:off x="3741211" y="2570541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Schedule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0" name="직사각형 179"/>
            <p:cNvSpPr/>
            <p:nvPr/>
          </p:nvSpPr>
          <p:spPr>
            <a:xfrm>
              <a:off x="5450470" y="2566913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Optimizer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1" name="직사각형 180"/>
            <p:cNvSpPr/>
            <p:nvPr/>
          </p:nvSpPr>
          <p:spPr>
            <a:xfrm>
              <a:off x="4551573" y="2571904"/>
              <a:ext cx="76879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Target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2" name="직사각형 181"/>
            <p:cNvSpPr/>
            <p:nvPr/>
          </p:nvSpPr>
          <p:spPr>
            <a:xfrm>
              <a:off x="1566370" y="2626028"/>
              <a:ext cx="893012" cy="89082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3" name="직사각형 182"/>
            <p:cNvSpPr/>
            <p:nvPr/>
          </p:nvSpPr>
          <p:spPr>
            <a:xfrm>
              <a:off x="1566368" y="2556874"/>
              <a:ext cx="218254" cy="6915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1617354" y="2811914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extractor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4" name="직사각형 183"/>
            <p:cNvSpPr/>
            <p:nvPr/>
          </p:nvSpPr>
          <p:spPr>
            <a:xfrm>
              <a:off x="1617354" y="3056106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info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5" name="직사각형 184"/>
            <p:cNvSpPr/>
            <p:nvPr/>
          </p:nvSpPr>
          <p:spPr>
            <a:xfrm>
              <a:off x="1617354" y="3300298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interface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7" name="TextBox 186"/>
            <p:cNvSpPr txBox="1"/>
            <p:nvPr/>
          </p:nvSpPr>
          <p:spPr>
            <a:xfrm>
              <a:off x="1566368" y="2604176"/>
              <a:ext cx="83869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HW Manager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192" name="직사각형 191"/>
            <p:cNvSpPr/>
            <p:nvPr/>
          </p:nvSpPr>
          <p:spPr>
            <a:xfrm>
              <a:off x="2732998" y="4852090"/>
              <a:ext cx="3716645" cy="45919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3" name="직사각형 192"/>
            <p:cNvSpPr/>
            <p:nvPr/>
          </p:nvSpPr>
          <p:spPr>
            <a:xfrm>
              <a:off x="2732998" y="4782935"/>
              <a:ext cx="218254" cy="6915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4" name="TextBox 193"/>
            <p:cNvSpPr txBox="1"/>
            <p:nvPr/>
          </p:nvSpPr>
          <p:spPr>
            <a:xfrm>
              <a:off x="2727631" y="4917511"/>
              <a:ext cx="9327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Distributed Runtime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195" name="직사각형 194"/>
            <p:cNvSpPr/>
            <p:nvPr/>
          </p:nvSpPr>
          <p:spPr>
            <a:xfrm>
              <a:off x="3741211" y="4952585"/>
              <a:ext cx="669495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rPr>
                <a:t>Manager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96" name="직사각형 195"/>
            <p:cNvSpPr/>
            <p:nvPr/>
          </p:nvSpPr>
          <p:spPr>
            <a:xfrm>
              <a:off x="4487017" y="4952584"/>
              <a:ext cx="867671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Communicator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97" name="직사각형 196"/>
            <p:cNvSpPr/>
            <p:nvPr/>
          </p:nvSpPr>
          <p:spPr>
            <a:xfrm>
              <a:off x="5430999" y="4952583"/>
              <a:ext cx="811605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Synchronizer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8" name="직사각형 197"/>
            <p:cNvSpPr/>
            <p:nvPr/>
          </p:nvSpPr>
          <p:spPr>
            <a:xfrm>
              <a:off x="5752623" y="5592882"/>
              <a:ext cx="63386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System monitor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99" name="그룹 198"/>
            <p:cNvGrpSpPr/>
            <p:nvPr/>
          </p:nvGrpSpPr>
          <p:grpSpPr>
            <a:xfrm>
              <a:off x="9419635" y="4858377"/>
              <a:ext cx="847754" cy="270342"/>
              <a:chOff x="2111193" y="2886739"/>
              <a:chExt cx="721427" cy="376723"/>
            </a:xfrm>
            <a:solidFill>
              <a:schemeClr val="accent2">
                <a:lumMod val="20000"/>
                <a:lumOff val="80000"/>
              </a:schemeClr>
            </a:solidFill>
          </p:grpSpPr>
          <p:sp>
            <p:nvSpPr>
              <p:cNvPr id="200" name="직사각형 199"/>
              <p:cNvSpPr/>
              <p:nvPr/>
            </p:nvSpPr>
            <p:spPr>
              <a:xfrm>
                <a:off x="2111193" y="2989088"/>
                <a:ext cx="721427" cy="274374"/>
              </a:xfrm>
              <a:prstGeom prst="rect">
                <a:avLst/>
              </a:prstGeom>
              <a:grp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변경 </a:t>
                </a:r>
                <a:r>
                  <a:rPr lang="en-US" altLang="ko-KR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Package</a:t>
                </a:r>
                <a:endParaRPr kumimoji="0" lang="ko-KR" altLang="en-US" sz="7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endParaRPr>
              </a:p>
            </p:txBody>
          </p:sp>
          <p:sp>
            <p:nvSpPr>
              <p:cNvPr id="201" name="직사각형 200"/>
              <p:cNvSpPr/>
              <p:nvPr/>
            </p:nvSpPr>
            <p:spPr>
              <a:xfrm>
                <a:off x="2111614" y="2886739"/>
                <a:ext cx="259674" cy="102651"/>
              </a:xfrm>
              <a:prstGeom prst="rect">
                <a:avLst/>
              </a:prstGeom>
              <a:grp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sp>
          <p:nvSpPr>
            <p:cNvPr id="202" name="직사각형 201"/>
            <p:cNvSpPr/>
            <p:nvPr/>
          </p:nvSpPr>
          <p:spPr>
            <a:xfrm>
              <a:off x="9419635" y="5214908"/>
              <a:ext cx="847754" cy="19689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변경 </a:t>
              </a:r>
              <a:r>
                <a:rPr lang="en-US" altLang="ko-KR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Module</a:t>
              </a:r>
              <a:endParaRPr kumimoji="0" lang="ko-KR" altLang="en-US" sz="7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3" name="직사각형 202"/>
            <p:cNvSpPr/>
            <p:nvPr/>
          </p:nvSpPr>
          <p:spPr>
            <a:xfrm>
              <a:off x="7207961" y="1665344"/>
              <a:ext cx="3897619" cy="25689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4" name="직사각형 203"/>
            <p:cNvSpPr/>
            <p:nvPr/>
          </p:nvSpPr>
          <p:spPr>
            <a:xfrm>
              <a:off x="7209466" y="1515984"/>
              <a:ext cx="532578" cy="1490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5" name="TextBox 204"/>
            <p:cNvSpPr txBox="1"/>
            <p:nvPr/>
          </p:nvSpPr>
          <p:spPr>
            <a:xfrm>
              <a:off x="7205138" y="1704001"/>
              <a:ext cx="94929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Optimizer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06" name="직사각형 205"/>
            <p:cNvSpPr/>
            <p:nvPr/>
          </p:nvSpPr>
          <p:spPr>
            <a:xfrm>
              <a:off x="7401638" y="2013249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IR loader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7" name="직사각형 206"/>
            <p:cNvSpPr/>
            <p:nvPr/>
          </p:nvSpPr>
          <p:spPr>
            <a:xfrm>
              <a:off x="8219075" y="2013249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HW loader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8" name="직사각형 207"/>
            <p:cNvSpPr/>
            <p:nvPr/>
          </p:nvSpPr>
          <p:spPr>
            <a:xfrm>
              <a:off x="7398019" y="2596983"/>
              <a:ext cx="3455728" cy="58834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9" name="직사각형 208"/>
            <p:cNvSpPr/>
            <p:nvPr/>
          </p:nvSpPr>
          <p:spPr>
            <a:xfrm>
              <a:off x="7399523" y="2457146"/>
              <a:ext cx="420759" cy="14105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0" name="TextBox 209"/>
            <p:cNvSpPr txBox="1"/>
            <p:nvPr/>
          </p:nvSpPr>
          <p:spPr>
            <a:xfrm>
              <a:off x="7378803" y="2771588"/>
              <a:ext cx="72648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Optimizer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11" name="직사각형 210"/>
            <p:cNvSpPr/>
            <p:nvPr/>
          </p:nvSpPr>
          <p:spPr>
            <a:xfrm>
              <a:off x="8151423" y="2741178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Meta-heuristic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2" name="직사각형 211"/>
            <p:cNvSpPr/>
            <p:nvPr/>
          </p:nvSpPr>
          <p:spPr>
            <a:xfrm>
              <a:off x="8944634" y="2741178"/>
              <a:ext cx="863292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Linear programming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3" name="직사각형 212"/>
            <p:cNvSpPr/>
            <p:nvPr/>
          </p:nvSpPr>
          <p:spPr>
            <a:xfrm>
              <a:off x="9875578" y="2745492"/>
              <a:ext cx="863292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Deep learning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4" name="직사각형 213"/>
            <p:cNvSpPr/>
            <p:nvPr/>
          </p:nvSpPr>
          <p:spPr>
            <a:xfrm>
              <a:off x="7398019" y="3444189"/>
              <a:ext cx="3455728" cy="58834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5" name="직사각형 214"/>
            <p:cNvSpPr/>
            <p:nvPr/>
          </p:nvSpPr>
          <p:spPr>
            <a:xfrm>
              <a:off x="7399523" y="3301971"/>
              <a:ext cx="420759" cy="14105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6" name="TextBox 215"/>
            <p:cNvSpPr txBox="1"/>
            <p:nvPr/>
          </p:nvSpPr>
          <p:spPr>
            <a:xfrm>
              <a:off x="7378803" y="3554141"/>
              <a:ext cx="9619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Performance Estimator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17" name="직사각형 216"/>
            <p:cNvSpPr/>
            <p:nvPr/>
          </p:nvSpPr>
          <p:spPr>
            <a:xfrm>
              <a:off x="8406902" y="3588384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System builder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8" name="직사각형 217"/>
            <p:cNvSpPr/>
            <p:nvPr/>
          </p:nvSpPr>
          <p:spPr>
            <a:xfrm>
              <a:off x="9200388" y="3588384"/>
              <a:ext cx="74088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Cost model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9" name="직사각형 218"/>
            <p:cNvSpPr/>
            <p:nvPr/>
          </p:nvSpPr>
          <p:spPr>
            <a:xfrm>
              <a:off x="9997984" y="3592698"/>
              <a:ext cx="74088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Executor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cxnSp>
          <p:nvCxnSpPr>
            <p:cNvPr id="220" name="직선 화살표 연결선 219"/>
            <p:cNvCxnSpPr>
              <a:stCxn id="180" idx="3"/>
            </p:cNvCxnSpPr>
            <p:nvPr/>
          </p:nvCxnSpPr>
          <p:spPr>
            <a:xfrm>
              <a:off x="6176028" y="2714999"/>
              <a:ext cx="1045874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1" name="TextBox 220"/>
            <p:cNvSpPr txBox="1"/>
            <p:nvPr/>
          </p:nvSpPr>
          <p:spPr>
            <a:xfrm>
              <a:off x="6585238" y="2469970"/>
              <a:ext cx="63269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&lt;&lt;use&gt;&gt;</a:t>
              </a:r>
              <a:endParaRPr lang="ko-KR" altLang="en-US" sz="900" dirty="0"/>
            </a:p>
          </p:txBody>
        </p:sp>
        <p:sp>
          <p:nvSpPr>
            <p:cNvPr id="222" name="직사각형 221"/>
            <p:cNvSpPr/>
            <p:nvPr/>
          </p:nvSpPr>
          <p:spPr>
            <a:xfrm>
              <a:off x="1520152" y="3554834"/>
              <a:ext cx="1874942" cy="205138"/>
            </a:xfrm>
            <a:prstGeom prst="rect">
              <a:avLst/>
            </a:prstGeom>
            <a:solidFill>
              <a:srgbClr val="F024C9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DP-04. </a:t>
              </a:r>
              <a:r>
                <a:rPr lang="ko-KR" altLang="en-US" sz="1000" b="1" dirty="0"/>
                <a:t>하드웨어 정보 구성</a:t>
              </a:r>
            </a:p>
          </p:txBody>
        </p:sp>
        <p:sp>
          <p:nvSpPr>
            <p:cNvPr id="223" name="직사각형 222"/>
            <p:cNvSpPr/>
            <p:nvPr/>
          </p:nvSpPr>
          <p:spPr>
            <a:xfrm>
              <a:off x="1537246" y="2511883"/>
              <a:ext cx="943918" cy="1042257"/>
            </a:xfrm>
            <a:prstGeom prst="rect">
              <a:avLst/>
            </a:prstGeom>
            <a:noFill/>
            <a:ln w="28575">
              <a:solidFill>
                <a:srgbClr val="F024C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5" name="직사각형 224"/>
            <p:cNvSpPr/>
            <p:nvPr/>
          </p:nvSpPr>
          <p:spPr>
            <a:xfrm>
              <a:off x="3598103" y="2149212"/>
              <a:ext cx="2671883" cy="827834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6" name="직사각형 225"/>
            <p:cNvSpPr/>
            <p:nvPr/>
          </p:nvSpPr>
          <p:spPr>
            <a:xfrm>
              <a:off x="4487016" y="1541596"/>
              <a:ext cx="1782969" cy="474327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4" name="직사각형 223"/>
            <p:cNvSpPr/>
            <p:nvPr/>
          </p:nvSpPr>
          <p:spPr>
            <a:xfrm>
              <a:off x="3585054" y="1952568"/>
              <a:ext cx="2059980" cy="205138"/>
            </a:xfrm>
            <a:prstGeom prst="rect">
              <a:avLst/>
            </a:prstGeom>
            <a:solidFill>
              <a:srgbClr val="FF990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DP-03. </a:t>
              </a:r>
              <a:r>
                <a:rPr lang="ko-KR" altLang="en-US" sz="1000" b="1" dirty="0"/>
                <a:t>컴파일러 중간 표현 구조 </a:t>
              </a:r>
            </a:p>
          </p:txBody>
        </p:sp>
        <p:sp>
          <p:nvSpPr>
            <p:cNvPr id="228" name="직사각형 227"/>
            <p:cNvSpPr/>
            <p:nvPr/>
          </p:nvSpPr>
          <p:spPr>
            <a:xfrm>
              <a:off x="3598103" y="3085476"/>
              <a:ext cx="897742" cy="452685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9" name="직사각형 228"/>
            <p:cNvSpPr/>
            <p:nvPr/>
          </p:nvSpPr>
          <p:spPr>
            <a:xfrm>
              <a:off x="5416513" y="2522945"/>
              <a:ext cx="796695" cy="385616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0" name="직사각형 229"/>
            <p:cNvSpPr/>
            <p:nvPr/>
          </p:nvSpPr>
          <p:spPr>
            <a:xfrm>
              <a:off x="7182131" y="1491918"/>
              <a:ext cx="3994563" cy="2837937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3" name="직사각형 232"/>
            <p:cNvSpPr/>
            <p:nvPr/>
          </p:nvSpPr>
          <p:spPr>
            <a:xfrm>
              <a:off x="7124099" y="1422533"/>
              <a:ext cx="4128156" cy="2998785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4" name="직사각형 233"/>
            <p:cNvSpPr/>
            <p:nvPr/>
          </p:nvSpPr>
          <p:spPr>
            <a:xfrm>
              <a:off x="2668128" y="4085681"/>
              <a:ext cx="3877132" cy="1265568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1" name="직사각형 230"/>
            <p:cNvSpPr/>
            <p:nvPr/>
          </p:nvSpPr>
          <p:spPr>
            <a:xfrm>
              <a:off x="2668127" y="5368587"/>
              <a:ext cx="3877132" cy="630847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2" name="직사각형 231"/>
            <p:cNvSpPr/>
            <p:nvPr/>
          </p:nvSpPr>
          <p:spPr>
            <a:xfrm>
              <a:off x="2656255" y="5155711"/>
              <a:ext cx="1934602" cy="205138"/>
            </a:xfrm>
            <a:prstGeom prst="rect">
              <a:avLst/>
            </a:prstGeom>
            <a:solidFill>
              <a:srgbClr val="00B05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DP-02. </a:t>
              </a:r>
              <a:r>
                <a:rPr lang="ko-KR" altLang="en-US" sz="1000" b="1" dirty="0"/>
                <a:t>스케줄링 최적화 시점</a:t>
              </a:r>
            </a:p>
          </p:txBody>
        </p:sp>
        <p:sp>
          <p:nvSpPr>
            <p:cNvPr id="235" name="직사각형 234"/>
            <p:cNvSpPr/>
            <p:nvPr/>
          </p:nvSpPr>
          <p:spPr>
            <a:xfrm>
              <a:off x="4070837" y="3516850"/>
              <a:ext cx="2144113" cy="205138"/>
            </a:xfrm>
            <a:prstGeom prst="rect">
              <a:avLst/>
            </a:prstGeom>
            <a:solidFill>
              <a:srgbClr val="7030A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DP-05. </a:t>
              </a:r>
              <a:r>
                <a:rPr lang="ko-KR" altLang="en-US" sz="1000" b="1" dirty="0"/>
                <a:t>분산 서버 간의 동작 구조</a:t>
              </a:r>
            </a:p>
          </p:txBody>
        </p:sp>
        <p:sp>
          <p:nvSpPr>
            <p:cNvPr id="236" name="직사각형 235"/>
            <p:cNvSpPr/>
            <p:nvPr/>
          </p:nvSpPr>
          <p:spPr>
            <a:xfrm>
              <a:off x="4495844" y="3088568"/>
              <a:ext cx="1707311" cy="449593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7" name="직사각형 236"/>
            <p:cNvSpPr/>
            <p:nvPr/>
          </p:nvSpPr>
          <p:spPr>
            <a:xfrm>
              <a:off x="1294733" y="1016139"/>
              <a:ext cx="5425261" cy="5786429"/>
            </a:xfrm>
            <a:prstGeom prst="rect">
              <a:avLst/>
            </a:prstGeom>
            <a:noFill/>
            <a:ln w="28575">
              <a:solidFill>
                <a:srgbClr val="00ACE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8" name="직사각형 237"/>
            <p:cNvSpPr/>
            <p:nvPr/>
          </p:nvSpPr>
          <p:spPr>
            <a:xfrm>
              <a:off x="4423943" y="1016139"/>
              <a:ext cx="2296051" cy="232053"/>
            </a:xfrm>
            <a:prstGeom prst="rect">
              <a:avLst/>
            </a:prstGeom>
            <a:solidFill>
              <a:srgbClr val="00ACEB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DP-01. </a:t>
              </a:r>
              <a:r>
                <a:rPr lang="ko-KR" altLang="en-US" sz="1000" b="1" dirty="0"/>
                <a:t>프레임워크에서의 실행 구조</a:t>
              </a:r>
            </a:p>
          </p:txBody>
        </p:sp>
      </p:grpSp>
      <p:sp>
        <p:nvSpPr>
          <p:cNvPr id="124" name="양쪽 모서리가 잘린 사각형 123"/>
          <p:cNvSpPr/>
          <p:nvPr/>
        </p:nvSpPr>
        <p:spPr>
          <a:xfrm>
            <a:off x="172028" y="978039"/>
            <a:ext cx="11817436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Module View</a:t>
            </a:r>
          </a:p>
        </p:txBody>
      </p:sp>
    </p:spTree>
    <p:extLst>
      <p:ext uri="{BB962C8B-B14F-4D97-AF65-F5344CB8AC3E}">
        <p14:creationId xmlns:p14="http://schemas.microsoft.com/office/powerpoint/2010/main" val="3314860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직사각형 141"/>
          <p:cNvSpPr/>
          <p:nvPr/>
        </p:nvSpPr>
        <p:spPr>
          <a:xfrm>
            <a:off x="7370717" y="4602481"/>
            <a:ext cx="4700819" cy="196596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/>
          <p:cNvGrpSpPr/>
          <p:nvPr/>
        </p:nvGrpSpPr>
        <p:grpSpPr>
          <a:xfrm>
            <a:off x="5850067" y="102872"/>
            <a:ext cx="6221469" cy="201686"/>
            <a:chOff x="3253771" y="153288"/>
            <a:chExt cx="5655881" cy="166683"/>
          </a:xfrm>
        </p:grpSpPr>
        <p:sp>
          <p:nvSpPr>
            <p:cNvPr id="21" name="자유형 20"/>
            <p:cNvSpPr/>
            <p:nvPr/>
          </p:nvSpPr>
          <p:spPr>
            <a:xfrm>
              <a:off x="325377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>
                  <a:solidFill>
                    <a:schemeClr val="tx1"/>
                  </a:solidFill>
                </a:rPr>
                <a:t>과제 개요</a:t>
              </a:r>
            </a:p>
          </p:txBody>
        </p:sp>
        <p:sp>
          <p:nvSpPr>
            <p:cNvPr id="22" name="자유형 21"/>
            <p:cNvSpPr/>
            <p:nvPr/>
          </p:nvSpPr>
          <p:spPr>
            <a:xfrm>
              <a:off x="4196418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3" name="자유형 22"/>
            <p:cNvSpPr/>
            <p:nvPr/>
          </p:nvSpPr>
          <p:spPr>
            <a:xfrm>
              <a:off x="4453504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요구사항</a:t>
              </a:r>
            </a:p>
          </p:txBody>
        </p:sp>
        <p:sp>
          <p:nvSpPr>
            <p:cNvPr id="24" name="자유형 23"/>
            <p:cNvSpPr/>
            <p:nvPr/>
          </p:nvSpPr>
          <p:spPr>
            <a:xfrm>
              <a:off x="5396151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5" name="자유형 24"/>
            <p:cNvSpPr/>
            <p:nvPr/>
          </p:nvSpPr>
          <p:spPr>
            <a:xfrm>
              <a:off x="5653236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b="1" dirty="0"/>
                <a:t>설계</a:t>
              </a:r>
            </a:p>
          </p:txBody>
        </p:sp>
        <p:sp>
          <p:nvSpPr>
            <p:cNvPr id="26" name="자유형 25"/>
            <p:cNvSpPr/>
            <p:nvPr/>
          </p:nvSpPr>
          <p:spPr>
            <a:xfrm>
              <a:off x="6595883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7" name="자유형 26"/>
            <p:cNvSpPr/>
            <p:nvPr/>
          </p:nvSpPr>
          <p:spPr>
            <a:xfrm>
              <a:off x="6852969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검증</a:t>
              </a:r>
            </a:p>
          </p:txBody>
        </p:sp>
        <p:sp>
          <p:nvSpPr>
            <p:cNvPr id="28" name="자유형 27"/>
            <p:cNvSpPr/>
            <p:nvPr/>
          </p:nvSpPr>
          <p:spPr>
            <a:xfrm>
              <a:off x="7795616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9" name="자유형 28"/>
            <p:cNvSpPr/>
            <p:nvPr/>
          </p:nvSpPr>
          <p:spPr>
            <a:xfrm>
              <a:off x="805270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결론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7108395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7121886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Component &amp; Connector View</a:t>
            </a:r>
          </a:p>
        </p:txBody>
      </p:sp>
      <p:sp>
        <p:nvSpPr>
          <p:cNvPr id="125" name="직사각형 124"/>
          <p:cNvSpPr/>
          <p:nvPr/>
        </p:nvSpPr>
        <p:spPr>
          <a:xfrm>
            <a:off x="7370717" y="1293591"/>
            <a:ext cx="4700819" cy="326316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7368788" y="1016139"/>
            <a:ext cx="470274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Deployment View</a:t>
            </a:r>
          </a:p>
        </p:txBody>
      </p:sp>
      <p:pic>
        <p:nvPicPr>
          <p:cNvPr id="137" name="그림 136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19" y="1590849"/>
            <a:ext cx="7066325" cy="4595959"/>
          </a:xfrm>
          <a:prstGeom prst="rect">
            <a:avLst/>
          </a:prstGeom>
        </p:spPr>
      </p:pic>
      <p:pic>
        <p:nvPicPr>
          <p:cNvPr id="138" name="그림 137" descr="C:\Users\hw7884.jung\AppData\Local\Microsoft\Windows\INetCache\Content.MSO\FF7AEBED.tmp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5871" y="1359117"/>
            <a:ext cx="2876098" cy="31404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그림 138" descr="C:\Users\hw7884.jung\AppData\Local\Microsoft\Windows\INetCache\Content.MSO\25473889.tmp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1244" y="4648834"/>
            <a:ext cx="3149121" cy="1877695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TextBox 139"/>
          <p:cNvSpPr txBox="1"/>
          <p:nvPr/>
        </p:nvSpPr>
        <p:spPr>
          <a:xfrm>
            <a:off x="7325365" y="2712924"/>
            <a:ext cx="1328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altLang="ko-KR" sz="1000" b="1" dirty="0"/>
              <a:t>1) </a:t>
            </a:r>
            <a:r>
              <a:rPr lang="ko-KR" altLang="en-US" sz="1000" b="1" dirty="0"/>
              <a:t>딥 러닝 학습 서버 </a:t>
            </a:r>
            <a:r>
              <a:rPr lang="en-US" altLang="ko-KR" sz="1000" b="1" dirty="0"/>
              <a:t>Deployment View</a:t>
            </a:r>
            <a:endParaRPr lang="ko-KR" altLang="en-US" sz="1000" b="1" dirty="0"/>
          </a:p>
        </p:txBody>
      </p:sp>
      <p:sp>
        <p:nvSpPr>
          <p:cNvPr id="141" name="TextBox 140"/>
          <p:cNvSpPr txBox="1"/>
          <p:nvPr/>
        </p:nvSpPr>
        <p:spPr>
          <a:xfrm>
            <a:off x="7306315" y="5392422"/>
            <a:ext cx="15350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altLang="ko-KR" sz="1000" b="1" dirty="0"/>
              <a:t>2) </a:t>
            </a:r>
            <a:r>
              <a:rPr lang="en-US" altLang="ko-KR" sz="1000" b="1" dirty="0" err="1"/>
              <a:t>Ondevice</a:t>
            </a:r>
            <a:r>
              <a:rPr lang="en-US" altLang="ko-KR" sz="1000" b="1" dirty="0"/>
              <a:t> </a:t>
            </a:r>
            <a:r>
              <a:rPr lang="ko-KR" altLang="en-US" sz="1000" b="1" dirty="0"/>
              <a:t>추론 시스템 </a:t>
            </a:r>
            <a:r>
              <a:rPr lang="en-US" altLang="ko-KR" sz="1000" b="1" dirty="0"/>
              <a:t>Deployment View</a:t>
            </a:r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38109455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grpSp>
        <p:nvGrpSpPr>
          <p:cNvPr id="33" name="그룹 32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34" name="직사각형 33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이등변 삼각형 34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pic>
        <p:nvPicPr>
          <p:cNvPr id="37" name="그림 36" descr="C:\Users\hw7884.jung\AppData\Local\Microsoft\Windows\INetCache\Content.MSO\AC53B071.tmp"/>
          <p:cNvPicPr/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403"/>
          <a:stretch/>
        </p:blipFill>
        <p:spPr bwMode="auto">
          <a:xfrm>
            <a:off x="1781652" y="996254"/>
            <a:ext cx="4197985" cy="581608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8" name="그림 37" descr="C:\Users\hw7884.jung\AppData\Local\Microsoft\Windows\INetCache\Content.MSO\54772A2B.tmp"/>
          <p:cNvPicPr/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30"/>
          <a:stretch/>
        </p:blipFill>
        <p:spPr bwMode="auto">
          <a:xfrm>
            <a:off x="7878127" y="996254"/>
            <a:ext cx="3211513" cy="5703389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42438" y="996254"/>
            <a:ext cx="15799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7800" indent="-177800"/>
            <a:r>
              <a:rPr lang="en-US" altLang="ko-KR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1. Compiler </a:t>
            </a:r>
            <a:r>
              <a:rPr lang="ko-KR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전체 </a:t>
            </a:r>
            <a:r>
              <a:rPr lang="en-US" altLang="ko-KR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Class diagram</a:t>
            </a:r>
            <a:endParaRPr lang="ko-KR" altLang="en-US" sz="14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298189" y="996254"/>
            <a:ext cx="15799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7800" indent="-177800"/>
            <a:r>
              <a:rPr lang="en-US" altLang="ko-KR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2. Runtime </a:t>
            </a:r>
            <a:r>
              <a:rPr lang="ko-KR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전체 </a:t>
            </a:r>
            <a:r>
              <a:rPr lang="en-US" altLang="ko-KR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Class diagram</a:t>
            </a:r>
            <a:endParaRPr lang="ko-KR" altLang="en-US" sz="14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14459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UC01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변환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UC01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변환</a:t>
            </a:r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 </a:t>
            </a:r>
          </a:p>
        </p:txBody>
      </p:sp>
      <p:pic>
        <p:nvPicPr>
          <p:cNvPr id="33" name="그림 32"/>
          <p:cNvPicPr/>
          <p:nvPr/>
        </p:nvPicPr>
        <p:blipFill rotWithShape="1">
          <a:blip r:embed="rId3"/>
          <a:srcRect l="1324" t="7922" r="3962" b="7562"/>
          <a:stretch/>
        </p:blipFill>
        <p:spPr bwMode="auto">
          <a:xfrm>
            <a:off x="182528" y="2209800"/>
            <a:ext cx="5951478" cy="293126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4" name="그림 13"/>
          <p:cNvPicPr/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09"/>
          <a:stretch/>
        </p:blipFill>
        <p:spPr bwMode="auto">
          <a:xfrm>
            <a:off x="6587865" y="2011997"/>
            <a:ext cx="5232400" cy="354520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15" name="그룹 14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16" name="직사각형 15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4075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UC02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컴파일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UC02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컴파일</a:t>
            </a:r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 </a:t>
            </a:r>
          </a:p>
        </p:txBody>
      </p:sp>
      <p:pic>
        <p:nvPicPr>
          <p:cNvPr id="38" name="그림 37"/>
          <p:cNvPicPr/>
          <p:nvPr/>
        </p:nvPicPr>
        <p:blipFill>
          <a:blip r:embed="rId3"/>
          <a:stretch>
            <a:fillRect/>
          </a:stretch>
        </p:blipFill>
        <p:spPr>
          <a:xfrm>
            <a:off x="1248404" y="1402913"/>
            <a:ext cx="4161796" cy="2643303"/>
          </a:xfrm>
          <a:prstGeom prst="rect">
            <a:avLst/>
          </a:prstGeom>
        </p:spPr>
      </p:pic>
      <p:pic>
        <p:nvPicPr>
          <p:cNvPr id="39" name="그림 38"/>
          <p:cNvPicPr/>
          <p:nvPr/>
        </p:nvPicPr>
        <p:blipFill>
          <a:blip r:embed="rId4"/>
          <a:stretch>
            <a:fillRect/>
          </a:stretch>
        </p:blipFill>
        <p:spPr>
          <a:xfrm>
            <a:off x="1132674" y="4135732"/>
            <a:ext cx="4025446" cy="2342511"/>
          </a:xfrm>
          <a:prstGeom prst="rect">
            <a:avLst/>
          </a:prstGeom>
        </p:spPr>
      </p:pic>
      <p:pic>
        <p:nvPicPr>
          <p:cNvPr id="40" name="그림 39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140" y="1453231"/>
            <a:ext cx="5149849" cy="5038254"/>
          </a:xfrm>
          <a:prstGeom prst="rect">
            <a:avLst/>
          </a:prstGeom>
        </p:spPr>
      </p:pic>
      <p:grpSp>
        <p:nvGrpSpPr>
          <p:cNvPr id="41" name="그룹 40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42" name="직사각형 41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이등변 삼각형 42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39460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UC05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실행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UC05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실행</a:t>
            </a:r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 </a:t>
            </a:r>
          </a:p>
        </p:txBody>
      </p:sp>
      <p:pic>
        <p:nvPicPr>
          <p:cNvPr id="31" name="그림 30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809" y="1402913"/>
            <a:ext cx="4934512" cy="5011959"/>
          </a:xfrm>
          <a:prstGeom prst="rect">
            <a:avLst/>
          </a:prstGeom>
        </p:spPr>
      </p:pic>
      <p:pic>
        <p:nvPicPr>
          <p:cNvPr id="32" name="그림 31"/>
          <p:cNvPicPr/>
          <p:nvPr/>
        </p:nvPicPr>
        <p:blipFill>
          <a:blip r:embed="rId4"/>
          <a:stretch>
            <a:fillRect/>
          </a:stretch>
        </p:blipFill>
        <p:spPr>
          <a:xfrm>
            <a:off x="410209" y="1453586"/>
            <a:ext cx="5490657" cy="4961286"/>
          </a:xfrm>
          <a:prstGeom prst="rect">
            <a:avLst/>
          </a:prstGeom>
        </p:spPr>
      </p:pic>
      <p:grpSp>
        <p:nvGrpSpPr>
          <p:cNvPr id="33" name="그룹 32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34" name="직사각형 33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이등변 삼각형 34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74684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UC09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다중 서버 실행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UC09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다중 서버 실행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pic>
        <p:nvPicPr>
          <p:cNvPr id="15" name="그림 14"/>
          <p:cNvPicPr/>
          <p:nvPr/>
        </p:nvPicPr>
        <p:blipFill>
          <a:blip r:embed="rId3"/>
          <a:stretch>
            <a:fillRect/>
          </a:stretch>
        </p:blipFill>
        <p:spPr>
          <a:xfrm>
            <a:off x="590550" y="2545426"/>
            <a:ext cx="5295900" cy="1990725"/>
          </a:xfrm>
          <a:prstGeom prst="rect">
            <a:avLst/>
          </a:prstGeom>
        </p:spPr>
      </p:pic>
      <p:pic>
        <p:nvPicPr>
          <p:cNvPr id="16" name="그림 15" descr="C:\Users\hw7884.jung\AppData\Local\Microsoft\Windows\INetCache\Content.MSO\62CF0055.tmp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6793" y="1845729"/>
            <a:ext cx="5394544" cy="417057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" name="그룹 16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18" name="직사각형 17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이등변 삼각형 19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49119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UC10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데이터 오프로딩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UC10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데이터 오프로딩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pic>
        <p:nvPicPr>
          <p:cNvPr id="14" name="그림 13"/>
          <p:cNvPicPr/>
          <p:nvPr/>
        </p:nvPicPr>
        <p:blipFill>
          <a:blip r:embed="rId3"/>
          <a:stretch>
            <a:fillRect/>
          </a:stretch>
        </p:blipFill>
        <p:spPr>
          <a:xfrm>
            <a:off x="795972" y="2558732"/>
            <a:ext cx="5139055" cy="2324735"/>
          </a:xfrm>
          <a:prstGeom prst="rect">
            <a:avLst/>
          </a:prstGeom>
        </p:spPr>
      </p:pic>
      <p:pic>
        <p:nvPicPr>
          <p:cNvPr id="17" name="그림 16" descr="C:\Users\hw7884.jung\AppData\Local\Microsoft\Windows\INetCache\Content.MSO\D17BE50B.tmp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0750" y="1416268"/>
            <a:ext cx="4948016" cy="50332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그룹 17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20" name="직사각형 19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이등변 삼각형 20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482"/>
      </p:ext>
    </p:extLst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Module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61872"/>
            <a:ext cx="9281160" cy="5230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377440" cy="24688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Memory-Centric AI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"/>
            <a:ext cx="93268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최종 설계(DP1 2안+Lease · DP2 2안+Plan 보완 · DP3 2안+Base/Delta · DP4 1안+Sharding) 기준 전체 모듈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81328"/>
            <a:ext cx="1417320" cy="109728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90472"/>
            <a:ext cx="141732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" y="1755648"/>
            <a:ext cx="1280160" cy="237744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Sampler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" y="2029968"/>
            <a:ext cx="1280160" cy="237744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User Query Manager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" y="2304288"/>
            <a:ext cx="1280160" cy="237744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History Manager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1481328"/>
            <a:ext cx="6172200" cy="109728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1490472"/>
            <a:ext cx="617220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 Orchestrator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84248" y="1737360"/>
            <a:ext cx="9509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 Scheduler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99232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Prefill/Decode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Planner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14216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 Evaluator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State Monitor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4184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Cache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59168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Publisher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84248" y="2148840"/>
            <a:ext cx="9509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99232" y="214884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Router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(Decision)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14216" y="214884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Lookup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14884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State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Monitor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4184" y="214884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Admission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Controller (DP3)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788920"/>
            <a:ext cx="1417320" cy="361188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2697479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2798063"/>
            <a:ext cx="141732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Pool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" y="3063240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 Analyzer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(대표 Query → 재계산 위치)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" y="3538728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Store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(재계산 위치)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9768" y="4014216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Layout Manager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(Base 공유 + Delta)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" y="4489704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Recompute-Token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9768" y="4965192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Sampler /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Compressor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9768" y="5440680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Blending Manager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768" y="5916168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Index Manager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20240" y="2788920"/>
            <a:ext cx="6172200" cy="361188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20240" y="2697479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20240" y="2798063"/>
            <a:ext cx="617220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Inference Engine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11680" y="3108960"/>
            <a:ext cx="10972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011680" y="301752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11680" y="3118103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Generation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075688" y="3383280"/>
            <a:ext cx="96926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75688" y="3931920"/>
            <a:ext cx="969264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 Core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75688" y="4480560"/>
            <a:ext cx="96926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75688" y="5029200"/>
            <a:ext cx="969264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Input/Output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75688" y="5577840"/>
            <a:ext cx="969264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 Core Client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3108960"/>
            <a:ext cx="10972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00400" y="301752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0" y="3118103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Compute Management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64408" y="3383280"/>
            <a:ext cx="96926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64408" y="3840480"/>
            <a:ext cx="96926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Runner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64408" y="4297680"/>
            <a:ext cx="96926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Model/Layers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64408" y="4754880"/>
            <a:ext cx="969264" cy="384048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 Backend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(+Attention Manager)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64408" y="5212080"/>
            <a:ext cx="969264" cy="384048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64408" y="5669280"/>
            <a:ext cx="96926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Custom Operator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89120" y="3108960"/>
            <a:ext cx="22860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89120" y="301752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89120" y="3118103"/>
            <a:ext cx="2286000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53128" y="3383280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 Scheduler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453128" y="3858768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 Analyzer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53128" y="4334256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 Mapper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53128" y="4809744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Policy Engine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53128" y="5285232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Command Queue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53128" y="5760720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77840" y="3383280"/>
            <a:ext cx="1033271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Object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Registry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577840" y="3858768"/>
            <a:ext cx="1033271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Cache Manager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0" y="4334256"/>
            <a:ext cx="1033271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Eviction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77840" y="4809744"/>
            <a:ext cx="1033271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Expert Manager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77840" y="5285232"/>
            <a:ext cx="1033271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LoRA Manager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577840" y="5760720"/>
            <a:ext cx="1033271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 Client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(Client Library)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0" y="3108960"/>
            <a:ext cx="126187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766560" y="301752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766560" y="3118103"/>
            <a:ext cx="1261872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Mgmt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821424" y="3383280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State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Monitor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21424" y="3858768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 Snapshot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21424" y="4334256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Collector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821424" y="4809744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 Registry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21424" y="5285232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Lease Timer /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 Lease Granter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821424" y="5760720"/>
            <a:ext cx="1152144" cy="411480"/>
          </a:xfrm>
          <a:prstGeom prst="rect">
            <a:avLst/>
          </a:prstGeom>
          <a:solidFill>
            <a:srgbClr val="FFF2CC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Common Memory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Backend I/F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211312" y="1481328"/>
            <a:ext cx="1234440" cy="4919472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211312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11312" y="1490472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System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1783080"/>
            <a:ext cx="1106424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Utility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275320" y="2194560"/>
            <a:ext cx="1106424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Configuration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75320" y="2606040"/>
            <a:ext cx="1106424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Network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(NIXL / PCIe)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275320" y="3200400"/>
            <a:ext cx="1106424" cy="54864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 Pool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(HBM·DRAM·CXL·SSD)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275320" y="3840480"/>
            <a:ext cx="1106424" cy="54864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Pool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(CXL, non-coherent)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75320" y="4526280"/>
            <a:ext cx="1106424" cy="777240"/>
          </a:xfrm>
          <a:prstGeom prst="rect">
            <a:avLst/>
          </a:prstGeom>
          <a:solidFill>
            <a:srgbClr val="FFF2CC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 Server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(Shard Router +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Worker 0..n)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275320" y="5486400"/>
            <a:ext cx="1106424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Debug Log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1097280" y="2578608"/>
            <a:ext cx="0" cy="210312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783080" y="2011680"/>
            <a:ext cx="137160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937760" y="2578608"/>
            <a:ext cx="0" cy="210312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4719561" y="2601468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8092440" y="2011680"/>
            <a:ext cx="118872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783080" y="4206240"/>
            <a:ext cx="137160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1633461" y="4123944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8028431" y="4754880"/>
            <a:ext cx="182881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7901673" y="4672584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738360" y="1188720"/>
            <a:ext cx="82296" cy="10058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875520" y="1161288"/>
            <a:ext cx="21945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DP1. Data Migration 결정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2안 상태·이동 결정 분리 + Lease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Q1 Throughput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Q2 HBM 점유율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Q5 Modifiability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38360" y="2377440"/>
            <a:ext cx="82296" cy="10058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875520" y="2350008"/>
            <a:ext cx="21945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DP2. 연산 실행 위치 결정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2안 Plan/Decision 분리 + Feedback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Q1 Throughput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Q2 HBM 점유율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Q4 Scalability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738360" y="3566160"/>
            <a:ext cx="82296" cy="100584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75520" y="3538728"/>
            <a:ext cx="21945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DP3. KV 캐시 재사용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2안 Shared Repository + Base/Delta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Q1 Throughput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Q2 HBM 점유율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정확도(C02)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738360" y="4754880"/>
            <a:ext cx="82296" cy="100584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875520" y="4727448"/>
            <a:ext cx="21945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DP4. 서버 간 KV 캐시 공유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1안 중앙 Metadata Server + Sharding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Q1 Throughput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Q3 고부하 지연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Q4 Scalability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784080" y="5943600"/>
            <a:ext cx="32004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149840" y="5943600"/>
            <a:ext cx="54864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744200" y="5925312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테두리 색 = 담당 DP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38360" y="6199632"/>
            <a:ext cx="2286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※ 4~11p 보완 설계 + doc-mk DP 문서에서 정리. 모듈 배치는 제안([C])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C&amp;C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1463040" cy="36576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463040" cy="201168"/>
          </a:xfrm>
          <a:prstGeom prst="rect">
            <a:avLst/>
          </a:prstGeom>
          <a:solidFill>
            <a:srgbClr val="595959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Client / API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1188720"/>
            <a:ext cx="4572000" cy="365760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1188720"/>
            <a:ext cx="4572000" cy="201168"/>
          </a:xfrm>
          <a:prstGeom prst="rect">
            <a:avLst/>
          </a:prstGeom>
          <a:solidFill>
            <a:srgbClr val="2E75B6"/>
          </a:solidFill>
          <a:ln w="1016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EngineCore (scheduler process)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188720"/>
            <a:ext cx="2103120" cy="3657600"/>
          </a:xfrm>
          <a:prstGeom prst="rect">
            <a:avLst/>
          </a:prstGeom>
          <a:solidFill>
            <a:srgbClr val="E2F0D9"/>
          </a:solidFill>
          <a:ln w="1270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188720"/>
            <a:ext cx="2103120" cy="201168"/>
          </a:xfrm>
          <a:prstGeom prst="rect">
            <a:avLst/>
          </a:prstGeom>
          <a:solidFill>
            <a:srgbClr val="548235"/>
          </a:solidFill>
          <a:ln w="1016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Worker × N (GPU별)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1188720"/>
            <a:ext cx="2743200" cy="178308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235440" y="1188720"/>
            <a:ext cx="2743200" cy="201168"/>
          </a:xfrm>
          <a:prstGeom prst="rect">
            <a:avLst/>
          </a:prstGeom>
          <a:solidFill>
            <a:srgbClr val="C55A11"/>
          </a:solidFill>
          <a:ln w="1016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Offline Analyzer (DP3, batch)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3108960"/>
            <a:ext cx="2743200" cy="1737360"/>
          </a:xfrm>
          <a:prstGeom prst="rect">
            <a:avLst/>
          </a:prstGeom>
          <a:solidFill>
            <a:srgbClr val="EDE2F6"/>
          </a:solidFill>
          <a:ln w="1270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235440" y="3108960"/>
            <a:ext cx="2743200" cy="201168"/>
          </a:xfrm>
          <a:prstGeom prst="rect">
            <a:avLst/>
          </a:prstGeom>
          <a:solidFill>
            <a:srgbClr val="7030A0"/>
          </a:solidFill>
          <a:ln w="1016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Metadata Server (DP4)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5120640"/>
            <a:ext cx="11704320" cy="1325880"/>
          </a:xfrm>
          <a:prstGeom prst="rect">
            <a:avLst/>
          </a:prstGeom>
          <a:solidFill>
            <a:srgbClr val="F0F1F3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5120640"/>
            <a:ext cx="11704320" cy="201168"/>
          </a:xfrm>
          <a:prstGeom prst="rect">
            <a:avLst/>
          </a:prstGeom>
          <a:solidFill>
            <a:srgbClr val="595959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Memory Backend (Common Memory Backend Interface)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508760"/>
            <a:ext cx="1188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Agent / LLM Client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1328" y="153619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194560"/>
            <a:ext cx="1188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Input/Output Processor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(AsyncLLM)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222199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2971800"/>
            <a:ext cx="11887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 Core Client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(ZMQ)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1328" y="299923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03120" y="150876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schedule()/update_from_output()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55848" y="15361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11880" y="150876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Lookup Validator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15361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0" y="150876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Router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(Decision)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3368" y="15361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03120" y="210312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Cache Manager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KV Layout Manager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55848" y="213055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11880" y="210312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Publisher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Plan Cache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213055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20640" y="210312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Planner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(Plan, async thread)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73368" y="213055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103120" y="269748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Admission Controller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(plan-aware, DP3)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55848" y="272491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11880" y="269748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 Scheduler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Trend Analyzer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64608" y="272491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20640" y="269748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 Evaluator +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Resource/KV State Monitor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73368" y="272491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03120" y="329184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 Mapper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Policy Engine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55848" y="3319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11880" y="329184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 Snapshot Builder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Telemetry Collector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64608" y="3319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120640" y="329184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Object Registry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Lease Timer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73368" y="3319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103120" y="4023360"/>
            <a:ext cx="288036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 Connector (KVConnectorBase_V1) — scheduler role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64607" y="40507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20640" y="402336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Command Queue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(비동기 buffer)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73368" y="40507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995160" y="1508760"/>
            <a:ext cx="18288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 → Worker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 / sample_tokens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705088" y="153619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995160" y="2057400"/>
            <a:ext cx="18288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Runner / Model Layers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05088" y="208483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995160" y="2606040"/>
            <a:ext cx="1828800" cy="384048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 Backend +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 Recomputer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705088" y="26334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995160" y="3154680"/>
            <a:ext cx="1828800" cy="384048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 +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 Handler (DMA)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05088" y="318211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995160" y="3703320"/>
            <a:ext cx="1828800" cy="384048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 Connector — worker role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05088" y="373075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995160" y="4251960"/>
            <a:ext cx="18288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 Client (Client Library)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Memory Backend Adapter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705088" y="42793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372600" y="1481328"/>
            <a:ext cx="2468880" cy="347472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Sampler → Attention Manager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722607" y="1508760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372600" y="1901952"/>
            <a:ext cx="2468880" cy="347472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Sampler / Recompute-Token Selector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722607" y="1929384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372600" y="2414016"/>
            <a:ext cx="2468880" cy="384048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«datastore» Plan Store (write 1회)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722607" y="2441448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372600" y="3429000"/>
            <a:ext cx="2468880" cy="329184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Router: hash(Data Object ID) → Worker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722607" y="34564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372600" y="3886200"/>
            <a:ext cx="777240" cy="41148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 0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S0·LRU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030967" y="39136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241280" y="3886200"/>
            <a:ext cx="777240" cy="41148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 1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S1·LRU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899647" y="39136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109960" y="3886200"/>
            <a:ext cx="777240" cy="41148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 2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S2·LRU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1768328" y="39136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372600" y="4389120"/>
            <a:ext cx="2468880" cy="347472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Shard별 Metadata / Allocator / LRU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1722607" y="441655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57200" y="5669280"/>
            <a:ext cx="2011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(KV Pool)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50008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43200" y="5669280"/>
            <a:ext cx="2011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DRAM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(CPU offload)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636008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029200" y="5669280"/>
            <a:ext cx="2011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22008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315200" y="5669280"/>
            <a:ext cx="2011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CXL-PNM / ScHBM / HBF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(시뮬레이션)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08007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601200" y="5669280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 공유 풀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(서버 간)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1494007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005840" y="1965960"/>
            <a:ext cx="0" cy="22860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126083" y="1984248"/>
            <a:ext cx="30815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HTTP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05840" y="2743200"/>
            <a:ext cx="0" cy="228600"/>
          </a:xfrm>
          <a:prstGeom prst="line">
            <a:avLst/>
          </a:prstGeom>
          <a:ln w="12700">
            <a:solidFill>
              <a:srgbClr val="7F7F7F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600200" y="3200400"/>
            <a:ext cx="411480" cy="0"/>
          </a:xfrm>
          <a:prstGeom prst="line">
            <a:avLst/>
          </a:prstGeom>
          <a:ln w="12700">
            <a:solidFill>
              <a:srgbClr val="2E75B6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1668665" y="2999232"/>
            <a:ext cx="26540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ZMQ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3474720" y="173736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983480" y="173736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788920" y="196596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788920" y="256032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4297680" y="196596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4983480" y="233172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5806440" y="256032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297680" y="315468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3474720" y="2926080"/>
            <a:ext cx="137160" cy="0"/>
          </a:xfrm>
          <a:prstGeom prst="line">
            <a:avLst/>
          </a:prstGeom>
          <a:ln w="12700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3474720" y="352044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983480" y="352044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788920" y="3749039"/>
            <a:ext cx="0" cy="274321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2834639" y="3749039"/>
            <a:ext cx="8229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migration intent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4983479" y="4251960"/>
            <a:ext cx="137161" cy="0"/>
          </a:xfrm>
          <a:prstGeom prst="line">
            <a:avLst/>
          </a:prstGeom>
          <a:ln w="1270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6492240" y="1700784"/>
            <a:ext cx="502920" cy="36576"/>
          </a:xfrm>
          <a:prstGeom prst="line">
            <a:avLst/>
          </a:prstGeom>
          <a:ln w="1651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6492240" y="3895344"/>
            <a:ext cx="502920" cy="356616"/>
          </a:xfrm>
          <a:prstGeom prst="line">
            <a:avLst/>
          </a:prstGeom>
          <a:ln w="13970">
            <a:solidFill>
              <a:srgbClr val="2E75B6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7909560" y="1892807"/>
            <a:ext cx="0" cy="164593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7909560" y="2441448"/>
            <a:ext cx="0" cy="164592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7909560" y="2990088"/>
            <a:ext cx="0" cy="164592"/>
          </a:xfrm>
          <a:prstGeom prst="line">
            <a:avLst/>
          </a:prstGeom>
          <a:ln w="12700">
            <a:solidFill>
              <a:srgbClr val="7F7F7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7909560" y="3538728"/>
            <a:ext cx="0" cy="164592"/>
          </a:xfrm>
          <a:prstGeom prst="line">
            <a:avLst/>
          </a:prstGeom>
          <a:ln w="12700">
            <a:solidFill>
              <a:srgbClr val="2E75B6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7909560" y="4087368"/>
            <a:ext cx="0" cy="164592"/>
          </a:xfrm>
          <a:prstGeom prst="line">
            <a:avLst/>
          </a:prstGeom>
          <a:ln w="15240">
            <a:solidFill>
              <a:srgbClr val="C55A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>
            <a:off x="8823960" y="2606040"/>
            <a:ext cx="548640" cy="192024"/>
          </a:xfrm>
          <a:prstGeom prst="line">
            <a:avLst/>
          </a:prstGeom>
          <a:ln w="13970">
            <a:solidFill>
              <a:srgbClr val="7030A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8842248" y="2414016"/>
            <a:ext cx="54864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030A0"/>
                </a:solidFill>
                <a:latin typeface="맑은 고딕"/>
                <a:ea typeface="맑은 고딕"/>
                <a:cs typeface="맑은 고딕"/>
              </a:rPr>
              <a:t>재계산 위치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0607040" y="2286000"/>
            <a:ext cx="0" cy="128016"/>
          </a:xfrm>
          <a:prstGeom prst="line">
            <a:avLst/>
          </a:prstGeom>
          <a:ln w="12700">
            <a:solidFill>
              <a:srgbClr val="7030A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8823960" y="4480560"/>
            <a:ext cx="548640" cy="0"/>
          </a:xfrm>
          <a:prstGeom prst="line">
            <a:avLst/>
          </a:prstGeom>
          <a:ln w="1651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8942832" y="4297680"/>
            <a:ext cx="3657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RPC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7909560" y="4709160"/>
            <a:ext cx="0" cy="960120"/>
          </a:xfrm>
          <a:prstGeom prst="line">
            <a:avLst/>
          </a:prstGeom>
          <a:ln w="16510">
            <a:solidFill>
              <a:srgbClr val="C55A1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8092440" y="4983480"/>
            <a:ext cx="91440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data (DMA / NIXL)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10607040" y="4846320"/>
            <a:ext cx="0" cy="822960"/>
          </a:xfrm>
          <a:prstGeom prst="line">
            <a:avLst/>
          </a:prstGeom>
          <a:ln w="1651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10835640" y="4901184"/>
            <a:ext cx="8229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load/store (CXL)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74320" y="3566160"/>
            <a:ext cx="169164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Legend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━▶ call / 동기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┅▶ event / 비동기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EngineCore→Worker: collective_rpc (shm MQ)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scheduler↔worker: KVConnectorMetadata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━▶ data flow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노란 fill = 신규/수정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테두리색 = 담당 DP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Deployment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1) 단일 노드 Deployment (GPU 8장 서버, 평가: SYS-H100 / SYS-B200)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5486400" cy="4937760"/>
          </a:xfrm>
          <a:prstGeom prst="rect">
            <a:avLst/>
          </a:prstGeom>
          <a:solidFill>
            <a:srgbClr val="F2F2F2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52160" y="1389888"/>
            <a:ext cx="64008" cy="493776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548640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GPU Server (Node)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2240280" cy="160020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755648"/>
            <a:ext cx="64008" cy="16002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27632"/>
            <a:ext cx="224028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«execution environment» Host CPU / DRAM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965960"/>
            <a:ext cx="2057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API Server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(Input/Output Processor)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32888" y="199339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2423160"/>
            <a:ext cx="2057400" cy="41148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EngineCore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(Scheduler · Planner · DP1 Control)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32888" y="245059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2880360"/>
            <a:ext cx="205740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DRAM tier (CPU offload KV)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32888" y="290779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26080" y="1691640"/>
            <a:ext cx="283464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60720" y="1755648"/>
            <a:ext cx="64008" cy="315468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26080" y="1627632"/>
            <a:ext cx="28346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0" y="1709928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GPU 0..7 (HBM)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1965960"/>
            <a:ext cx="26517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Worker (per GPU)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Runner · Attention Backend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50407" y="199339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17520" y="2423160"/>
            <a:ext cx="26517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 Recomputer · KV Layout (Base/Delta)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0407" y="245059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017520" y="2880360"/>
            <a:ext cx="26517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 · Transfer Handler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50407" y="290779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017520" y="3337560"/>
            <a:ext cx="2651760" cy="365760"/>
          </a:xfrm>
          <a:prstGeom prst="rect">
            <a:avLst/>
          </a:prstGeom>
          <a:solidFill>
            <a:srgbClr val="FFF2CC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«store» HBM KV Pool (Base shared + Delta)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50407" y="336499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17520" y="3794760"/>
            <a:ext cx="26517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Store 사본(read-only) + Plan cache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0407" y="38221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3520440"/>
            <a:ext cx="2240280" cy="128016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0" y="3584448"/>
            <a:ext cx="64008" cy="128016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456432"/>
            <a:ext cx="224028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3538728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Storage / Next-gen Memory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" y="3794760"/>
            <a:ext cx="2057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NVMe SSD (실장)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32888" y="382219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" y="4114800"/>
            <a:ext cx="2057400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CXL-PNM / ScHBM / HBF (시뮬레이션)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32888" y="41422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4360" y="4434840"/>
            <a:ext cx="2057400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PIM / SSD-PIM (시뮬레이션)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32888" y="4462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743200" y="2606040"/>
            <a:ext cx="182880" cy="0"/>
          </a:xfrm>
          <a:prstGeom prst="line">
            <a:avLst/>
          </a:prstGeom>
          <a:ln w="12700">
            <a:solidFill>
              <a:srgbClr val="7F7F7F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616441" y="2395728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shm/ZMQ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26080" y="4983480"/>
            <a:ext cx="2834640" cy="1143000"/>
          </a:xfrm>
          <a:prstGeom prst="rect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20" y="5029200"/>
            <a:ext cx="26517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연결: GPU↔Host PCIe 64GB/s (GC-9)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GPU↔DRAM↔차세대 메모리 전송은 DP1 Migration Executor가 수행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device runtime 오버헤드는 범위 밖(GC-2), 차세대 메모리 성능은 시뮬레이션(GC-1)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37760"/>
            <a:ext cx="22860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배포 단위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vLLM 프로세스: API Server / EngineCore / Worker×N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DP 모듈은 EngineCore·Worker 프로세스 내부에 plug-in (C01)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Offline Analyzer는 배치 job (서빙 외)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685800"/>
            <a:ext cx="576072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2) 멀티 노드 Deployment (GPU 서버 2대 + CXL 공유 풀 + Metadata Server)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55080" y="1325880"/>
            <a:ext cx="26060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61120" y="1389888"/>
            <a:ext cx="64008" cy="22860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55080" y="1261872"/>
            <a:ext cx="26060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55080" y="1344168"/>
            <a:ext cx="260604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GPU Server A (P 노드)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46520" y="1691640"/>
            <a:ext cx="24231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EngineCore + Worker×8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(DP1~DP3 모듈)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50807" y="17190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46520" y="214884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 + Metadata Client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50807" y="2176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46520" y="2560320"/>
            <a:ext cx="24231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 / DRAM / SSD (노드 로컬)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750807" y="258775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46520" y="297180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«artifact» Plan Store 사본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750807" y="29992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372600" y="1325880"/>
            <a:ext cx="26060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1978640" y="1389888"/>
            <a:ext cx="64008" cy="22860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372600" y="1261872"/>
            <a:ext cx="26060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72600" y="1344168"/>
            <a:ext cx="260604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GPU Server B (D 노드)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64040" y="1691640"/>
            <a:ext cx="24231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EngineCore + Worker×8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(DP1~DP3 모듈)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768328" y="17190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464040" y="214884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 + Metadata Client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768328" y="2176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464040" y="2560320"/>
            <a:ext cx="24231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 / DRAM / SSD (노드 로컬)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768328" y="258775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464040" y="297180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«artifact» Plan Store 사본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768328" y="29992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55080" y="4572000"/>
            <a:ext cx="2606040" cy="1691640"/>
          </a:xfrm>
          <a:prstGeom prst="rect">
            <a:avLst/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61120" y="4636008"/>
            <a:ext cx="64008" cy="1691640"/>
          </a:xfrm>
          <a:prstGeom prst="rect">
            <a:avLst/>
          </a:prstGeom>
          <a:solidFill>
            <a:srgbClr val="D9D9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355080" y="4507992"/>
            <a:ext cx="26060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55080" y="4590288"/>
            <a:ext cx="260604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CXL Shared Memory Pool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46520" y="4892040"/>
            <a:ext cx="242316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공유 KV 데이터 (non-coherent)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750807" y="491947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446520" y="530352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 / 응답 슬롯 (RPC, 캐시 우회)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50807" y="533095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446520" y="5715000"/>
            <a:ext cx="24231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캐시 우회 write / polling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750807" y="574243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372600" y="4572000"/>
            <a:ext cx="2606040" cy="1691640"/>
          </a:xfrm>
          <a:prstGeom prst="rect">
            <a:avLst/>
          </a:prstGeom>
          <a:solidFill>
            <a:srgbClr val="EDE2F6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1978640" y="4636008"/>
            <a:ext cx="64008" cy="1691640"/>
          </a:xfrm>
          <a:prstGeom prst="rect">
            <a:avLst/>
          </a:prstGeom>
          <a:solidFill>
            <a:srgbClr val="D9D9D9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372600" y="4507992"/>
            <a:ext cx="26060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372600" y="4590288"/>
            <a:ext cx="260604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«server» Metadata Server (DP4)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464040" y="489204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Router (hash → Worker)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768328" y="49194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464040" y="530352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Worker 0..n (Metadata·Allocator·LRU)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768328" y="533095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464040" y="5715000"/>
            <a:ext cx="24231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 Analyzer (batch, 별도 job)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1768328" y="57424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8961120" y="2331720"/>
            <a:ext cx="411480" cy="0"/>
          </a:xfrm>
          <a:prstGeom prst="line">
            <a:avLst/>
          </a:prstGeom>
          <a:ln w="15240">
            <a:solidFill>
              <a:srgbClr val="C55A1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8988552" y="2057400"/>
            <a:ext cx="3657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PCIe</a:t>
            </a:r>
          </a:p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64GB/s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680960" y="3611880"/>
            <a:ext cx="0" cy="960120"/>
          </a:xfrm>
          <a:prstGeom prst="line">
            <a:avLst/>
          </a:prstGeom>
          <a:ln w="1524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7680960" y="4023360"/>
            <a:ext cx="8229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load/store (CXL)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0698480" y="3611880"/>
            <a:ext cx="0" cy="960120"/>
          </a:xfrm>
          <a:prstGeom prst="line">
            <a:avLst/>
          </a:prstGeom>
          <a:ln w="1524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0744200" y="4023360"/>
            <a:ext cx="8229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RPC (메타데이터)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8961120" y="5394960"/>
            <a:ext cx="411480" cy="0"/>
          </a:xfrm>
          <a:prstGeom prst="line">
            <a:avLst/>
          </a:prstGeom>
          <a:ln w="1270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8321040" y="3611880"/>
            <a:ext cx="1920240" cy="960120"/>
          </a:xfrm>
          <a:prstGeom prst="line">
            <a:avLst/>
          </a:prstGeom>
          <a:ln w="12700">
            <a:solidFill>
              <a:srgbClr val="548235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6355080" y="3703320"/>
            <a:ext cx="12801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GC-9: 서버 간 PCIe 64GB/s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(RDMA/NIC 종류 미확인)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전체 Class Diagram (1/3) 요청 조율·실행 위치 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Request Orchestrator + Inference Engine — DP2: 사전 계획(Plan) + 저비용 검증(Decision)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5156" y="667512"/>
            <a:ext cx="361188" cy="246888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187451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scheduler: Scheduler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model_executor: Executor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33118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step() / step_with_batch_queue()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add_request(request)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70048" y="118872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371600"/>
            <a:ext cx="1874519" cy="477316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kv_cache_manager: KVCacheManager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kv_connector: KVConnectorBase_V1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planner: ExecutionPlanner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plan_validator: PlanLookupValidator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0048" y="1848916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update_from_output(...)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0055" y="118872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5" y="1371600"/>
            <a:ext cx="1874519" cy="477316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scheduled_new_reqs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scheduled_cached_reqs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kv_connector_metadata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execution_plans: list[ExecutionPlan]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5" y="1848916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70063" y="118872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«abstract»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0063" y="1463040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70063" y="150876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execute_model(SchedulerOutput)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collective_rpc(method, args)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20072" y="1188720"/>
            <a:ext cx="187451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20072" y="1371600"/>
            <a:ext cx="1874519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model_runner: GPUModelRunner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20072" y="1525219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sample_tokens(...)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69748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cost_evaluator: CostEvaluator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publisher: PlanPublisher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958998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plan(ctx): ExecutionPlan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replan(ctx, state): ExecutionPlan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plan_window(W, k)  // 구간 조회 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70048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PlanLookupValidator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max_plan_age: W × avg_service_time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70048" y="2851099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lookup(request_id): ExecutionPlan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state): bool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next_candidate(plan, k)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0055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0055" y="2697480"/>
            <a:ext cx="1874519" cy="585216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prefill_resource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decode_start_resource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candidates: list (1순위..k)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data_moves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planned_at: timestamp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0055" y="3282696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70063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ExecutionRouter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70063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workers: dict[resource_id, Worker]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70063" y="28510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dispatch(plan, SchedulerOutput)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fallback(plan)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20072" y="2514600"/>
            <a:ext cx="187451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GPUModelRunner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20072" y="2697480"/>
            <a:ext cx="1874519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2743200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execute_model(scheduler_output)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sample_tokens(grammar_output)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CostEvaluator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model: ExecutionCostModel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17697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evaluate(ctx, candidates, snapshot)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evaluate_batch(ctxs, ...)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70048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ExecutionPlanCache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entries: dict[request_id, ExecutionPlan]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670048" y="4176979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put(plan)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get(request_id)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invalidate(request_id)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20072" y="3840480"/>
            <a:ext cx="1874519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«abstract»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AttentionBackend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20072" y="4114800"/>
            <a:ext cx="1874519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20072" y="4160520"/>
            <a:ext cx="1874519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forward(layer, q, k, v, ...)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16636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«interface»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ExecutionCostModel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5440680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0040" y="548640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estimate(ctx, cand, snap): CostEstimate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compute·memory·transfer·queue cost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70048" y="516636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ResourceStateMonitor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70048" y="534924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telemetry: TelemetryCollector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kv_state: KVStateMonitor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610758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snapshot(): RuntimeStateSnapshot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update(telemetry)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0055" y="516636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PlanPublisher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0055" y="534924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cache: ExecutionPlanCache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0055" y="5502859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publish(plan)  // async write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194560" y="1541678"/>
            <a:ext cx="475488" cy="107899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270455" y="152247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owns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4544568" y="1541678"/>
            <a:ext cx="475487" cy="10789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527194" y="152247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produces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244584" y="1479499"/>
            <a:ext cx="475488" cy="822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343796" y="1410462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rpc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657332" y="178673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657332" y="3004718"/>
            <a:ext cx="0" cy="835762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0425531" y="3349447"/>
            <a:ext cx="46360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forward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3419856" y="2110435"/>
            <a:ext cx="0" cy="404165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3164738" y="2239365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validate</a:t>
            </a:r>
          </a:p>
        </p:txBody>
      </p:sp>
      <p:cxnSp>
        <p:nvCxnSpPr>
          <p:cNvPr id="67" name="Connector 66"/>
          <p:cNvCxnSpPr/>
          <p:nvPr/>
        </p:nvCxnSpPr>
        <p:spPr>
          <a:xfrm flipH="1">
            <a:off x="2194560" y="286755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223820" y="2821381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replan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419856" y="322051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3211372" y="3457346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lookup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257300" y="3328415"/>
            <a:ext cx="0" cy="512065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002182" y="351129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evaluate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257300" y="443849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095451" y="472927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uses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194560" y="5457139"/>
            <a:ext cx="475488" cy="62179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2177186" y="541507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snapshot</a:t>
            </a:r>
          </a:p>
        </p:txBody>
      </p:sp>
      <p:cxnSp>
        <p:nvCxnSpPr>
          <p:cNvPr id="77" name="Connector 76"/>
          <p:cNvCxnSpPr/>
          <p:nvPr/>
        </p:nvCxnSpPr>
        <p:spPr>
          <a:xfrm flipH="1" flipV="1">
            <a:off x="4169663" y="4546396"/>
            <a:ext cx="1412749" cy="61996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4737506" y="4783226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put</a:t>
            </a:r>
          </a:p>
        </p:txBody>
      </p:sp>
      <p:cxnSp>
        <p:nvCxnSpPr>
          <p:cNvPr id="79" name="Connector 78"/>
          <p:cNvCxnSpPr/>
          <p:nvPr/>
        </p:nvCxnSpPr>
        <p:spPr>
          <a:xfrm flipV="1">
            <a:off x="4357116" y="3328416"/>
            <a:ext cx="1037843" cy="512064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4667554" y="3511296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stores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957315" y="189463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538977" y="2131466"/>
            <a:ext cx="83667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execution_plans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6894575" y="2813608"/>
            <a:ext cx="475488" cy="10790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6877202" y="279440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consumes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8119871" y="1786737"/>
            <a:ext cx="2162557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8946032" y="207751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dispatch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0055" y="3931920"/>
            <a:ext cx="45720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522975" y="3931920"/>
            <a:ext cx="68580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0055" y="4160520"/>
            <a:ext cx="27432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◇━ 구성(composition)   ━▶ 연관/호출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┅▶ 의존(use / event)   ▷ 구현·상속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노란 fill = 이 과제에서 신규 또는 수정하는 클래스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70063" y="5166360"/>
            <a:ext cx="44805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읽는 법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Scheduler는 비용 모델 구현을 import하지 않고 ExecutionPlanner만 호출(의존 규칙 1)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ExecutionCostModel은 순수 추정(Worker/Executor 호출 금지), Executor는 plan만 소비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Plan 생성은 critical path 밖, Validator+Router만 critical path 안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Scheduler → KVCacheManager 호출은 (2/3)에서 이어짐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70063" y="6126480"/>
            <a:ext cx="44805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근거: doc-mk/DP2/vllm-cost-model-prefill-decode-execution-planning-architecture.md §3~§9, 슬라이드 6~7p. vLLM 클래스는 vllm/v1/{engine/core.py, core/sched/scheduler.py, executor/abstract.py, worker/gpu_worker.py} 기준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전체 Class Diagram (2/3) 데이터 이동·자원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Data / Resource Management — DP1: 상태 관측·이동 결정 분리 + Lease 제어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5156" y="667512"/>
            <a:ext cx="361188" cy="24688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DP1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187451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1874519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update_from_output(...)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70048" y="118872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«KVConnectorBase_V1»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DP1Connector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46304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event_sink: MigrationEventSink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coordinator: MigrationCoordinator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0048" y="1724558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get_num_new_matched_tokens()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build_connector_meta(...)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update_connector_output(...)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0055" y="118872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KVCacheManager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5" y="137160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block_pool: BlockPool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5" y="1525219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get_computed_blocks(request)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allocate_slots(...)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evict_blocks(block_ids)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70063" y="118872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BlockPool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0063" y="137160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cached_block_hash_to_block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free_block_queue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70063" y="1633118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get_usage()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get_new_blocks(n)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insert_prefetched_blocks(...)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DecisionScheduler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69748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period: 판단 주기(독립 보유)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event_queue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958998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on_event(MigrationEvent)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tick(): snapshot 요청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70048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TrendAnalyzer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048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window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0048" y="28510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analyze(snapshot): ResourceState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자원 추세 + 데이터 접근 추세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0055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AffinityMapper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0055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hints: AffinityHint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0055" y="28510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map(object, state): candidate tiers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데이터·메모리 적합도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70063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PolicyEngine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0063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budget: MigrationBudget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70063" y="2851099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decide(state, cands): list[Decision]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20072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MigrationCommandQueue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20072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commands: ordered buffer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20072" y="28510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enqueue(decision)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dequeue(): MigrationCommand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StateSnapshotBuilder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23360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406908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build(): ResourceSnapshot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일관 복사본, object 수 비례 비용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70048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HbmLeaseGranter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70048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default_lease: duration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70048" y="417697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grant(object, tier=HBM)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extend(object, behavior)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0055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DataObjectRegistry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0055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records: dict[object_id, ObjectRecord]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0055" y="4176979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 / remove / get(object_id)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move(object_id, tier)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drop_to_replica(object_id)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70063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LeaseTimer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70063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deadlines: heap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70063" y="417697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arm(object, ttl)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on_expire(): Event(Lease Expired)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20072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720072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handlers: TransferHandlerRegistry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20072" y="417697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poll_completed(): list[Result]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516636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ResourceStateMonitor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534924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usage per tier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502859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observe(): usage, bw_util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70048" y="516636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TelemetryCollector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70048" y="534924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sources: BlockPool, SchedulerStats, ...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70048" y="5502859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collect(): MemoryTelemetry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0055" y="516636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«interface»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MemoryBackend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0055" y="544068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descriptor: MemoryDescriptor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capacity, bw, latency, capability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0055" y="5702198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export_async / import_async(...)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telemetry(): MemoryTelemetry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70063" y="516636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«OffloadingHandler»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TransferHandler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70063" y="54406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src_medium, dst_medium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70063" y="55942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transfer_async(job_id, spec): bool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get_finished(): list[Result]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2194560" y="1433779"/>
            <a:ext cx="475488" cy="20756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293772" y="1464411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cxnSp>
        <p:nvCxnSpPr>
          <p:cNvPr id="64" name="Connector 63"/>
          <p:cNvCxnSpPr/>
          <p:nvPr/>
        </p:nvCxnSpPr>
        <p:spPr>
          <a:xfrm flipV="1">
            <a:off x="4544568" y="1541678"/>
            <a:ext cx="475487" cy="9967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597146" y="1518361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evict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894575" y="154167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444751" y="2093976"/>
            <a:ext cx="1787652" cy="42062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53411" y="2231136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event</a:t>
            </a:r>
          </a:p>
        </p:txBody>
      </p:sp>
      <p:cxnSp>
        <p:nvCxnSpPr>
          <p:cNvPr id="69" name="Connector 68"/>
          <p:cNvCxnSpPr/>
          <p:nvPr/>
        </p:nvCxnSpPr>
        <p:spPr>
          <a:xfrm flipV="1">
            <a:off x="2194560" y="281360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544568" y="2813608"/>
            <a:ext cx="475487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6894575" y="2759659"/>
            <a:ext cx="475488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244584" y="2759659"/>
            <a:ext cx="475488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250527" y="2713482"/>
            <a:ext cx="46360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enqueue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257300" y="322051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002182" y="345734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snapshot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144767" y="311261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5959601" y="3403396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query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544568" y="4139488"/>
            <a:ext cx="475487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4597146" y="4093311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grant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6894575" y="413948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993788" y="4093311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arm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657332" y="311261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0425531" y="3403396"/>
            <a:ext cx="46360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dequeue</a:t>
            </a:r>
          </a:p>
        </p:txBody>
      </p:sp>
      <p:cxnSp>
        <p:nvCxnSpPr>
          <p:cNvPr id="84" name="Connector 83"/>
          <p:cNvCxnSpPr/>
          <p:nvPr/>
        </p:nvCxnSpPr>
        <p:spPr>
          <a:xfrm flipH="1">
            <a:off x="8307323" y="4438497"/>
            <a:ext cx="1975105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9039758" y="472927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dispatch</a:t>
            </a:r>
          </a:p>
        </p:txBody>
      </p:sp>
      <p:cxnSp>
        <p:nvCxnSpPr>
          <p:cNvPr id="86" name="Connector 85"/>
          <p:cNvCxnSpPr/>
          <p:nvPr/>
        </p:nvCxnSpPr>
        <p:spPr>
          <a:xfrm flipV="1">
            <a:off x="1257300" y="4330598"/>
            <a:ext cx="0" cy="835762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1072134" y="4675327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usage</a:t>
            </a:r>
          </a:p>
        </p:txBody>
      </p:sp>
      <p:cxnSp>
        <p:nvCxnSpPr>
          <p:cNvPr id="88" name="Connector 87"/>
          <p:cNvCxnSpPr/>
          <p:nvPr/>
        </p:nvCxnSpPr>
        <p:spPr>
          <a:xfrm flipH="1" flipV="1">
            <a:off x="1819655" y="4330598"/>
            <a:ext cx="1412748" cy="835762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4544568" y="5411419"/>
            <a:ext cx="475487" cy="153619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6894575" y="551108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993788" y="5464911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I/O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720072" y="1188720"/>
            <a:ext cx="246888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흐름 요약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① TelemetryCollector → StateSnapshotBuilder ② DecisionScheduler 주기 tick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③ Trend→Affinity→Policy → CommandQueue ④ MigrationExecutor→TransferHandler→MemoryBackend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⑤ LeaseTimer 만료 Event → DecisionScheduler 재평가(lease 연장/선별 demotion)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• Experts/LoRA는 Registry에 같은 방식으로 등록(Phase 1은 KV 한정)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720072" y="5257800"/>
            <a:ext cx="45720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222992" y="5257800"/>
            <a:ext cx="68580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20072" y="5486400"/>
            <a:ext cx="17373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◇━ 구성   ━▶ 연관·호출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┅▶ 의존(use/event)  ▷ 구현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720072" y="6035040"/>
            <a:ext cx="24688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근거: doc-mk/DP1/dp1-vllm-uml.md §1.3·§3, 슬라이드 4~5p. vllm/v1/core/{block_pool,kv_cache_manager}.py, vllm/v1/kv_offload/*, kv_connector/v1/base.py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전체 Class Diagram (3/3) KV 재사용·공유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7863840" cy="27432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DP3. KV 캐시 재사용 (사전 분석 1회 + 요청마다 조회)</a:t>
            </a:r>
          </a:p>
        </p:txBody>
      </p:sp>
      <p:sp>
        <p:nvSpPr>
          <p:cNvPr id="5" name="Rectangle 4"/>
          <p:cNvSpPr/>
          <p:nvPr/>
        </p:nvSpPr>
        <p:spPr>
          <a:xfrm>
            <a:off x="8321040" y="685800"/>
            <a:ext cx="3657600" cy="27432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DP4. 서버 간 KV 캐시 공유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QuerySampler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workloads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2521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sample(workload): representative queries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304288" y="118872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AttentionManager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04288" y="137160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04288" y="141732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score(query, context_kv): scores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8536" y="118872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KVSampler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8536" y="137160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88536" y="141732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select_reuse(scores): token_ids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3" y="118872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RecomputeTokenSelector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2783" y="137160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2783" y="141732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select(scores): recompute_positions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5146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OfflineAnalyzer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6974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sampler / attn / kv_sampler / selector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85109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analyze(workload): ReusePlan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사전 1회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251460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«repository»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PlanStore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2783" y="278892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plans: dict[context_id, ReusePlan]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context_kv: KV Repository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2783" y="305043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write(plan)  // 1회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read(context_id): ReusePlan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8404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PlanAwareAdmissionController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0233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hbm_budget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17697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required_hbm(plan): bytes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admit(request): bool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04288" y="38404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KVLayoutManager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04288" y="402336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base_refcount: dict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delta_alloc: per request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04288" y="428487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share_base(context_id)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allocate_delta(request, ρ)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88536" y="384048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SelectiveRecomputer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88536" y="402336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88536" y="4069080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recompute(tokens, base+delta)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blending과 같은 동작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72783" y="38404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72783" y="40233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stale 기준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72783" y="417697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result)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update(plan)  // stale 보완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1920240" y="1379829"/>
            <a:ext cx="384048" cy="5395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927098" y="1333652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query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904487" y="1379829"/>
            <a:ext cx="384049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888028" y="1306677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scores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888736" y="1379829"/>
            <a:ext cx="384047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120140" y="1678838"/>
            <a:ext cx="0" cy="835762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58291" y="2023567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uses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072883" y="1570939"/>
            <a:ext cx="0" cy="943661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87718" y="1969617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write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92923" y="3311956"/>
            <a:ext cx="0" cy="52852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184440" y="3503066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update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920240" y="4139488"/>
            <a:ext cx="384048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927098" y="4093311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Delta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3904487" y="4085539"/>
            <a:ext cx="384049" cy="10789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981297" y="4066336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KV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88736" y="4085539"/>
            <a:ext cx="384047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65545" y="4039362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68696" y="3311956"/>
            <a:ext cx="1024127" cy="52852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802325" y="3503066"/>
            <a:ext cx="556869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read plan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58568" y="2560320"/>
            <a:ext cx="3749039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서빙 경로: Scheduler → (admit) → KVLayoutManager → SelectiveRecomputer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조회는 PlanStore read 1회뿐 → tail latency 평탄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공통 KV는 Base로 공유(refcount), 요청별 Delta만 Append → HBM 3.0L→1.3L (N=3, ρ=0.15 가정)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Validator가 stale 재계산 위치를 갱신 (정확도 C02 보호)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118872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412480" y="1371600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client: MetadataClient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12480" y="1525219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데이터 송·수신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241280" y="118872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MetadataClient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241280" y="1371600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slot: request/response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server_addr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241280" y="1633118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request(op, key): Response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캐시 우회 write, polling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12480" y="2514600"/>
            <a:ext cx="169164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«store»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CxlSharedPool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12480" y="2788920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kv_data (non-coherent)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2942539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read(addr, 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write(addr, n)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241280" y="251460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ShardRouter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241280" y="2697480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workers: list[ShardWorker]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241280" y="2851099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route(object_id): ShardWorker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hash(Data Object ID)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241280" y="384048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ShardWorker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241280" y="4023360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shard: MetadataShard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241280" y="4176979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 / insert / evict(key)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독립 처리 스레드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241280" y="516636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MetadataShard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41280" y="5349240"/>
            <a:ext cx="169164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hash_table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lru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241280" y="5718657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 / put / free(key)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0104119" y="1487728"/>
            <a:ext cx="137161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1087100" y="189463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0948568" y="2131466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RPC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1087100" y="311261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0925251" y="340339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hash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1087100" y="443849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258300" y="178673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9096451" y="207751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cxnSp>
        <p:nvCxnSpPr>
          <p:cNvPr id="82" name="Connector 81"/>
          <p:cNvCxnSpPr/>
          <p:nvPr/>
        </p:nvCxnSpPr>
        <p:spPr>
          <a:xfrm flipH="1" flipV="1">
            <a:off x="9258300" y="3204057"/>
            <a:ext cx="1321307" cy="636423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9757105" y="344911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addr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12480" y="5257800"/>
            <a:ext cx="45720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915400" y="5257800"/>
            <a:ext cx="68580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2480" y="5486400"/>
            <a:ext cx="17373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◇━ 구성   ━▶ 연관·호출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┅▶ 의존(use/event)  ▷ 구현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0040" y="5212080"/>
            <a:ext cx="3749039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읽는 법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사전(Offline): OfflineAnalyzer가 대표 Query로 재사용/재계산 토큰을 선정해 PlanStore에 1회 기록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DP4: 메타데이터 요청은 hash(Data Object ID)로 Shard Worker에 분산, 데이터는 CXL 공유 풀에 직접 read/write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실패/timeout 시 재계산 fallback(QA-07) — 시퀀스는 UC08 참조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근거: doc-mk/DP3/dp3-*.md, doc-mk/DP6/dp4-inter-node-kv-sharing-structure-draft.md, 슬라이드 8~11p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 도출 – FR/QA → Use-case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416052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요구사항 · 제약사항 → UC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4160520" cy="25511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7200"/>
                <a:gridCol w="2651760"/>
                <a:gridCol w="1051560"/>
              </a:tblGrid>
              <a:tr h="246888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ID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추론 요청을 수신하고 요청별 입력·실행 상태를 관리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요청의 실행 순서·배칭을 정하고 가용 연산 자원에 작업을 할당(스케줄링)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UC02, UC03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모델을 실행해 연산을 수행하고 출력 토큰을 생성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KV 캐시를 할당·저장·재사용·해제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UC05~UC08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C01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vLLM 서빙 Framework 기반 개발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UC (제약)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C02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 정확도 저하 ≤ 기본 대비 1%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UC06 (재계산 보정)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74320" y="3703320"/>
            <a:ext cx="416052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 요구사항(QA) → UC  (우선순위 H, 난이도 M 이상)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4023360"/>
          <a:ext cx="4160520" cy="21671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7200"/>
                <a:gridCol w="2651760"/>
                <a:gridCol w="1051560"/>
              </a:tblGrid>
              <a:tr h="246888"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ID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6E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Throughput: SLO 만족 최대 처리량 ≥ Baseline 2x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UC01~03, 06~08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6E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Resource Efficiency: HBM 점유율 −20%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UC03, 05~07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6E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Tail Latency: TTFT·TPOT(P99) −30%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UC01~03, 06~08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6E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Scalability: Scaling Efficiency &gt; 80%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UC03, UC08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6E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Modifiability: 서빙 경로 수정 없이 tier·정책 추가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UC07, UC11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QA-07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6E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Fault tolerance: fallback 성공률 &gt; 99.9%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UC09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6E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Adaptability: 워크로드 변화 후 성능 회복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UC10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626364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※ QA-06은 원본 QA 표(2p)에서 번호만 비어 있어 매핑에서 제외. UC는 FR(1p)·QA(2p)에서 도출한 제안([C])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685800"/>
            <a:ext cx="736092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Use-case diagram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1097280"/>
            <a:ext cx="4754880" cy="534924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97880" y="1115568"/>
            <a:ext cx="4754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Memory-Centric AI Runtime (vLLM 기반)</a:t>
            </a:r>
          </a:p>
        </p:txBody>
      </p:sp>
      <p:sp>
        <p:nvSpPr>
          <p:cNvPr id="12" name="Oval 11"/>
          <p:cNvSpPr/>
          <p:nvPr/>
        </p:nvSpPr>
        <p:spPr>
          <a:xfrm>
            <a:off x="5175504" y="146304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257800" y="1627632"/>
            <a:ext cx="0" cy="219456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20640" y="1719072"/>
            <a:ext cx="27432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148072" y="184708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257800" y="184708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617720" y="204825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Agent /</a:t>
            </a:r>
          </a:p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LLM Client</a:t>
            </a:r>
          </a:p>
        </p:txBody>
      </p:sp>
      <p:sp>
        <p:nvSpPr>
          <p:cNvPr id="18" name="Oval 17"/>
          <p:cNvSpPr/>
          <p:nvPr/>
        </p:nvSpPr>
        <p:spPr>
          <a:xfrm>
            <a:off x="5175504" y="475488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257800" y="4919472"/>
            <a:ext cx="0" cy="219456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120640" y="5010912"/>
            <a:ext cx="27432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148072" y="513892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257800" y="513892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17720" y="534009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Runtime</a:t>
            </a:r>
          </a:p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개발자·운영자</a:t>
            </a:r>
          </a:p>
        </p:txBody>
      </p:sp>
      <p:sp>
        <p:nvSpPr>
          <p:cNvPr id="24" name="Oval 23"/>
          <p:cNvSpPr/>
          <p:nvPr/>
        </p:nvSpPr>
        <p:spPr>
          <a:xfrm>
            <a:off x="11210544" y="3017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1292840" y="3182112"/>
            <a:ext cx="0" cy="219456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155680" y="3273552"/>
            <a:ext cx="27432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1183112" y="340156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292840" y="3401568"/>
            <a:ext cx="109727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0652760" y="360273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메모리 장치</a:t>
            </a:r>
          </a:p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(HBM·DRAM·CXL·SSD</a:t>
            </a:r>
          </a:p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시뮬레이터)</a:t>
            </a:r>
          </a:p>
        </p:txBody>
      </p:sp>
      <p:sp>
        <p:nvSpPr>
          <p:cNvPr id="30" name="Oval 29"/>
          <p:cNvSpPr/>
          <p:nvPr/>
        </p:nvSpPr>
        <p:spPr>
          <a:xfrm>
            <a:off x="11210544" y="466344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1292840" y="4828031"/>
            <a:ext cx="0" cy="219457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155680" y="4919472"/>
            <a:ext cx="27432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183112" y="504748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292840" y="5047488"/>
            <a:ext cx="109727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0652760" y="5248655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원격 노드</a:t>
            </a:r>
          </a:p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(Peer vLLM)</a:t>
            </a:r>
          </a:p>
        </p:txBody>
      </p:sp>
      <p:sp>
        <p:nvSpPr>
          <p:cNvPr id="36" name="Oval 35"/>
          <p:cNvSpPr/>
          <p:nvPr/>
        </p:nvSpPr>
        <p:spPr>
          <a:xfrm>
            <a:off x="5989320" y="1463040"/>
            <a:ext cx="173736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UC01 추론 요청 처리</a:t>
            </a:r>
          </a:p>
        </p:txBody>
      </p:sp>
      <p:sp>
        <p:nvSpPr>
          <p:cNvPr id="37" name="Oval 36"/>
          <p:cNvSpPr/>
          <p:nvPr/>
        </p:nvSpPr>
        <p:spPr>
          <a:xfrm>
            <a:off x="5989320" y="2240280"/>
            <a:ext cx="173736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UC02 요청 스케줄링·배칭</a:t>
            </a:r>
          </a:p>
        </p:txBody>
      </p:sp>
      <p:sp>
        <p:nvSpPr>
          <p:cNvPr id="38" name="Oval 37"/>
          <p:cNvSpPr/>
          <p:nvPr/>
        </p:nvSpPr>
        <p:spPr>
          <a:xfrm>
            <a:off x="5989320" y="3017520"/>
            <a:ext cx="1737360" cy="457200"/>
          </a:xfrm>
          <a:prstGeom prst="ellipse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UC03 연산 실행 위치 결정</a:t>
            </a:r>
          </a:p>
        </p:txBody>
      </p:sp>
      <p:sp>
        <p:nvSpPr>
          <p:cNvPr id="39" name="Oval 38"/>
          <p:cNvSpPr/>
          <p:nvPr/>
        </p:nvSpPr>
        <p:spPr>
          <a:xfrm>
            <a:off x="5989320" y="3840480"/>
            <a:ext cx="1737360" cy="45720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UC10 워크로드 변화 적응</a:t>
            </a:r>
          </a:p>
        </p:txBody>
      </p:sp>
      <p:sp>
        <p:nvSpPr>
          <p:cNvPr id="40" name="Oval 39"/>
          <p:cNvSpPr/>
          <p:nvPr/>
        </p:nvSpPr>
        <p:spPr>
          <a:xfrm>
            <a:off x="5989320" y="4663440"/>
            <a:ext cx="1737360" cy="45720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UC09 전송 실패 대체(fallback)</a:t>
            </a:r>
          </a:p>
        </p:txBody>
      </p:sp>
      <p:sp>
        <p:nvSpPr>
          <p:cNvPr id="41" name="Oval 40"/>
          <p:cNvSpPr/>
          <p:nvPr/>
        </p:nvSpPr>
        <p:spPr>
          <a:xfrm>
            <a:off x="5989320" y="5486400"/>
            <a:ext cx="1737360" cy="45720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UC11 메모리 tier·정책 확장</a:t>
            </a:r>
          </a:p>
        </p:txBody>
      </p:sp>
      <p:sp>
        <p:nvSpPr>
          <p:cNvPr id="42" name="Oval 41"/>
          <p:cNvSpPr/>
          <p:nvPr/>
        </p:nvSpPr>
        <p:spPr>
          <a:xfrm>
            <a:off x="8732520" y="1463040"/>
            <a:ext cx="173736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UC04 LLM 추론 실행</a:t>
            </a:r>
          </a:p>
        </p:txBody>
      </p:sp>
      <p:sp>
        <p:nvSpPr>
          <p:cNvPr id="43" name="Oval 42"/>
          <p:cNvSpPr/>
          <p:nvPr/>
        </p:nvSpPr>
        <p:spPr>
          <a:xfrm>
            <a:off x="8732520" y="2240280"/>
            <a:ext cx="173736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UC05 KV 캐시 할당·해제</a:t>
            </a:r>
          </a:p>
        </p:txBody>
      </p:sp>
      <p:sp>
        <p:nvSpPr>
          <p:cNvPr id="44" name="Oval 43"/>
          <p:cNvSpPr/>
          <p:nvPr/>
        </p:nvSpPr>
        <p:spPr>
          <a:xfrm>
            <a:off x="8732520" y="3017520"/>
            <a:ext cx="1737360" cy="457200"/>
          </a:xfrm>
          <a:prstGeom prst="ellipse">
            <a:avLst/>
          </a:prstGeom>
          <a:solidFill>
            <a:srgbClr val="EDE2F6"/>
          </a:solidFill>
          <a:ln w="1270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UC06 KV 캐시 재사용</a:t>
            </a:r>
          </a:p>
        </p:txBody>
      </p:sp>
      <p:sp>
        <p:nvSpPr>
          <p:cNvPr id="45" name="Oval 44"/>
          <p:cNvSpPr/>
          <p:nvPr/>
        </p:nvSpPr>
        <p:spPr>
          <a:xfrm>
            <a:off x="8732520" y="3840480"/>
            <a:ext cx="1737360" cy="457200"/>
          </a:xfrm>
          <a:prstGeom prst="ellipse">
            <a:avLst/>
          </a:prstGeom>
          <a:solidFill>
            <a:srgbClr val="F9DCD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UC07 데이터 이동(Migration)</a:t>
            </a:r>
          </a:p>
        </p:txBody>
      </p:sp>
      <p:sp>
        <p:nvSpPr>
          <p:cNvPr id="46" name="Oval 45"/>
          <p:cNvSpPr/>
          <p:nvPr/>
        </p:nvSpPr>
        <p:spPr>
          <a:xfrm>
            <a:off x="8732520" y="4663440"/>
            <a:ext cx="1737360" cy="457200"/>
          </a:xfrm>
          <a:prstGeom prst="ellipse">
            <a:avLst/>
          </a:prstGeom>
          <a:solidFill>
            <a:srgbClr val="E2F0D9"/>
          </a:solidFill>
          <a:ln w="1270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UC08 서버 간 KV 캐시 공유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858000" y="1920240"/>
            <a:ext cx="0" cy="32004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08533" y="1997964"/>
            <a:ext cx="52189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«include»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58000" y="2697480"/>
            <a:ext cx="0" cy="32004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008533" y="2775204"/>
            <a:ext cx="52189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«include»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726679" y="1691640"/>
            <a:ext cx="1005841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968653" y="1508760"/>
            <a:ext cx="52189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«include»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601200" y="1920240"/>
            <a:ext cx="0" cy="32004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751733" y="1997964"/>
            <a:ext cx="52189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«include»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9601200" y="2697480"/>
            <a:ext cx="0" cy="32004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9773107" y="2775204"/>
            <a:ext cx="47914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«extend»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0469880" y="4069080"/>
            <a:ext cx="0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0469880" y="2468880"/>
            <a:ext cx="0" cy="1600200"/>
          </a:xfrm>
          <a:prstGeom prst="line">
            <a:avLst/>
          </a:prstGeom>
          <a:ln w="10160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469880" y="2468880"/>
            <a:ext cx="0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10230307" y="2926080"/>
            <a:ext cx="47914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«extend»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9601200" y="4297680"/>
            <a:ext cx="0" cy="36576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773107" y="4398264"/>
            <a:ext cx="47914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«extend»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726679" y="4069080"/>
            <a:ext cx="1005841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990027" y="3886200"/>
            <a:ext cx="47914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«extend»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726679" y="4892040"/>
            <a:ext cx="1005841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712163" y="4709159"/>
            <a:ext cx="103487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«extend»  (UC07·UC08)</a:t>
            </a:r>
          </a:p>
        </p:txBody>
      </p:sp>
      <p:cxnSp>
        <p:nvCxnSpPr>
          <p:cNvPr id="67" name="Connector 66"/>
          <p:cNvCxnSpPr/>
          <p:nvPr/>
        </p:nvCxnSpPr>
        <p:spPr>
          <a:xfrm flipV="1">
            <a:off x="5394960" y="1691640"/>
            <a:ext cx="594360" cy="182879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394960" y="5074920"/>
            <a:ext cx="594360" cy="64008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10469880" y="3474720"/>
            <a:ext cx="685800" cy="59436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 flipV="1">
            <a:off x="10469880" y="4937759"/>
            <a:ext cx="685800" cy="91441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 flipV="1">
            <a:off x="10469880" y="2560320"/>
            <a:ext cx="685800" cy="82296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4617720" y="5943600"/>
            <a:ext cx="1280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색 = 담당 DP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파랑 DP2 · 보라 DP3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빨강 DP1 · 초록 DP4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회색 = QA 기반 UC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 도출 – UC 명세 (FR/QA/DP 추적)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46888" y="685800"/>
          <a:ext cx="11658600" cy="55046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0"/>
                <a:gridCol w="1417320"/>
                <a:gridCol w="1234440"/>
                <a:gridCol w="3840480"/>
                <a:gridCol w="640080"/>
                <a:gridCol w="822960"/>
                <a:gridCol w="2606040"/>
                <a:gridCol w="59436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이름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Actor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DP · 주요 모듈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상세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 요청 처리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Agent/LLM Client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요청을 수신해 토큰화·상태를 등록하고, 스케줄링·실행을 거쳐 출력 토큰을 스트리밍한다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QA-01, 03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AsyncLLM, Input/Output Processor, EngineCore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p.21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스케줄링·배칭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(UC01에 포함)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요청의 실행 순서·배치를 정하고 가용 연산 자원에 작업을 할당한다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QA-01, 03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Scheduler, Request Scheduler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p.21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연산 실행 위치 결정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 계획(Plan)으로 prefill/decode 실행 자원(GPU·CPU·CXL-PNM) 후보를 정하고 실행 시점에 저비용으로 검증한다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FR02, FR03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QA-01~04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DP2 · Execution Planner, Plan Cache, Plan Lookup Validator, Execution Router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p.22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추론 실행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(UC01에 포함)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모델을 실행해 입력에 대한 연산을 수행하고 출력 토큰을 생성한다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Executor, Worker, Model Runner, Attention Backend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p.21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KV 캐시 할당·해제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(UC04에 포함)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 중 생성되는 KV 블록을 할당·저장하고 요청 종료 시 해제한다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KV Cache Manager, Block Pool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p.21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UC06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KV 캐시 재사용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Agent/LLM Client (간접)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 분석된 재사용/재계산 위치로 KV를 재사용하고 일부 토큰만 선택적으로 재계산한다 (정확도 C02 보호)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FR04, C02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QA-01~03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DP3 · Offline Analyzer, Plan Store, KV Layout Manager, Selective Recomputer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p.23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UC07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9DC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이동(Migration)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메모리 장치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상태·데이터 특성으로 evict/promote/prefetch를 결정하고 이기종 메모리(HBM·DRAM·CXL·SSD) 간 이동한다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QA-01~03, 05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DP1 · Decision Scheduler, Policy Engine, Migration Executor, Lease Timer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p.24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간 KV 캐시 공유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 노드, 메모리 장치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비일관 CXL 공유 풀의 KV를 Metadata Server(Sharding)로 정합성을 지키며 서버 간 공유한다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QA-01, 03, 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DP4 · Metadata Client, Shard Router/Worker, CXL 공유 풀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p.25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UC09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전송·offload 실패 대체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KV 전송·offload가 실패하거나 timeout이어도 재계산 등 대체 경로로 요청 처리를 이어간다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(QA-07)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QA-07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Migration Executor, DP1 Connector (kv_load_failure_policy)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p.24~25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UC10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워크로드 변화 적응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분포·접근 패턴이 바뀌면 접근 통계를 반영해 배치를 재조정하고 성능을 회복한다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(QA-08)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Trend Analyzer, Affinity Mapper, Lease Timer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p.24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UC11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메모리 tier·정책 확장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Runtime 개발자·운영자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 메모리 tier·이동/배치 정책·데이터 객체 유형을 서빙 경로 수정 없이 추가한다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(QA-05)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QA-05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Common Memory Backend Interface, Memory Registry, Policy plug-in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46888" y="6263640"/>
            <a:ext cx="11704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근거: 기능 요구사항(1p)·품질 요구사항(2p), DP 설계(4~11p), doc-mk/Requirements/project-context.md. 상세 class/sequence는 5개 핵심 UC(UC01·03·06·07·08)에 대해 21~25p에 작성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UC01 추론 요청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UC01 추론 요청 처리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96728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30384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UC01 추론 요청 처리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UC01 추론 요청 처리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AsyncLLM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691639"/>
            <a:ext cx="1600200" cy="369417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input_processor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output_processor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engine_core: EngineCoreClient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061057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generate(prompt, params)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add_request(...)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7712" y="150876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InputProcessor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691639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67712" y="173736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process_inputs(...): EngineCoreRequest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OutputProcessor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691639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request_states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84525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process_outputs(...)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71800"/>
            <a:ext cx="16002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«AsyncMPClient»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EngineCoreClient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24612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29183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add_request_async(request)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get_output_async()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7712" y="297180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3154680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model_executor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3416198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step()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add_request(request)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9663" y="29718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31546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kv_cache_manager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330829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update_from_output(...)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434840"/>
            <a:ext cx="16002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«abstract»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709159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4754879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execute_model(SchedulerOutput)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67712" y="443484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461772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model_runner: GPUModelRunner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477133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sample_tokens(...)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9663" y="443484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KVCacheManager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9663" y="461772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block_pool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9663" y="4771339"/>
            <a:ext cx="1600200" cy="369417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get_computed_blocks(request)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allocate_slots(...)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free(request)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1965960" y="1699869"/>
            <a:ext cx="301752" cy="215798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65860" y="2322576"/>
            <a:ext cx="0" cy="64922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04011" y="257403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uses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65960" y="3262579"/>
            <a:ext cx="301752" cy="6217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67912" y="3270808"/>
            <a:ext cx="301751" cy="53950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969764" y="3569817"/>
            <a:ext cx="0" cy="86502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784598" y="3929176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alloc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1645920" y="3677716"/>
            <a:ext cx="941832" cy="75712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954987" y="398312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exec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65960" y="4671669"/>
            <a:ext cx="301752" cy="6217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65760" y="5806440"/>
            <a:ext cx="5486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기존 vLLM v1 경로. 노란색 Scheduler는 UC03(Plan 검증)·UC06(Admission)·UC07(DP1 Connector)이 schedule() 안에서 호출되는 확장점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vllm/v1/engine/{async_llm,core,core_client}.py, core/sched/scheduler.py, executor/abstract.py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2F2F2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AsyncLLM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(+I/O Proc)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40664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22960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05256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87552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069848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Worker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152144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8706916" y="3296412"/>
            <a:ext cx="3160166" cy="183794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06916" y="3296412"/>
            <a:ext cx="100584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loop: engine step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0" y="210312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368796" y="1947672"/>
            <a:ext cx="1252728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generate(prompt, params)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406640" y="2290572"/>
            <a:ext cx="256031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662671" y="2290572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7406640" y="2455164"/>
            <a:ext cx="25603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7699248" y="2253996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process_inputs()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406640" y="271576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236333" y="2560320"/>
            <a:ext cx="116357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add_request_async(req)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229600" y="2976372"/>
            <a:ext cx="82296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8059292" y="2820924"/>
            <a:ext cx="116357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ZMQ: EngineCoreRequest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052560" y="323697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9015984" y="3081528"/>
            <a:ext cx="8961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add_request(req)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9052560" y="371703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9052560" y="3561588"/>
            <a:ext cx="8229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875520" y="397764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393174" y="3822192"/>
            <a:ext cx="1787651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get_computed_blocks / allocate_slots</a:t>
            </a:r>
          </a:p>
        </p:txBody>
      </p:sp>
      <p:cxnSp>
        <p:nvCxnSpPr>
          <p:cNvPr id="85" name="Connector 84"/>
          <p:cNvCxnSpPr/>
          <p:nvPr/>
        </p:nvCxnSpPr>
        <p:spPr>
          <a:xfrm flipH="1">
            <a:off x="9052560" y="4238244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9038272" y="4082796"/>
            <a:ext cx="85153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SchedulerOutput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052560" y="4498848"/>
            <a:ext cx="246888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052559" y="4343400"/>
            <a:ext cx="246888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execute_model(output)</a:t>
            </a:r>
          </a:p>
        </p:txBody>
      </p:sp>
      <p:cxnSp>
        <p:nvCxnSpPr>
          <p:cNvPr id="89" name="Connector 88"/>
          <p:cNvCxnSpPr/>
          <p:nvPr/>
        </p:nvCxnSpPr>
        <p:spPr>
          <a:xfrm flipH="1">
            <a:off x="9052560" y="4759452"/>
            <a:ext cx="246888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9052559" y="4604004"/>
            <a:ext cx="246888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ModelRunnerOutput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9052560" y="502005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926830" y="4864608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update_from_output()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8229600" y="5390388"/>
            <a:ext cx="82296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8059292" y="5234940"/>
            <a:ext cx="116357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ZMQ: EngineCoreOutputs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406640" y="5577840"/>
            <a:ext cx="256031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7662671" y="5577840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7406640" y="5742432"/>
            <a:ext cx="25603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699248" y="5541264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process_outputs() / detokenize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6583680" y="600303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6457950" y="5847588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stream RequestOutput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UC03 연산 실행 위치 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UC03 연산 실행 위치 결정 (DP2)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61803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9545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UC03 연산 실행 위치 결정 (DP2)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UC03 연산 실행 위치 결정 (DP2)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9163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plan_validator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953158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PlanLookupValidator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max_plan_age = W·t̄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67712" y="1845259"/>
            <a:ext cx="160020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lookup(request_id)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state)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next_candidate(plan, k)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ExecutionPlanCache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entries: dict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9663" y="184525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put(plan)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get(request_id)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ExecutionPlanner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10896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publisher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37047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plan(ctx): ExecutionPlan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replan(ctx, state)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9663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PlanPublisher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9663" y="310896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69663" y="31546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publish(plan)  // async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67712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67712" y="3108960"/>
            <a:ext cx="160020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prefill_resource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decode_start_resource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candidates (1순위..k)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67712" y="3478377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CostEvaluator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5262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model: ExecutionCostModel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67989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evaluate(ctx, cands, snap)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ResourceStateMonitor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452628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67712" y="457200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snapshot(): RuntimeState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9663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ExecutionRouter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9663" y="45262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69663" y="467989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dispatch(plan, output)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fallback(plan)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965960" y="1807768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67912" y="1807768"/>
            <a:ext cx="301751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965960" y="3225088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969764" y="2106777"/>
            <a:ext cx="0" cy="81930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31232" y="2443276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put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165860" y="3631996"/>
            <a:ext cx="0" cy="71140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004011" y="391454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eval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965960" y="4534509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45920" y="2214676"/>
            <a:ext cx="941832" cy="71140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08352" y="2497226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replan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067812" y="3524097"/>
            <a:ext cx="1421891" cy="819303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365760" y="5806440"/>
            <a:ext cx="5486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Plan 생성은 critical path 밖(비동기), Validator·Router만 critical path 안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Mismatch 시 Cost 재계산 없이 순위 후보 k를 순차 조회, Load↑ → plan 구간 W↓ k↑ (7p 보완)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doc-mk/DP2/vllm-cost-model-...-architecture.md §4, §9.2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58368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Planner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40664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CostEval /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StateMonitor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22960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Cache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05256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87552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PlanLookup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069848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Router→Worker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152144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238036" y="1901952"/>
            <a:ext cx="3160166" cy="1316736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38036" y="1901952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async: plan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38036" y="3273552"/>
            <a:ext cx="5629046" cy="315468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38036" y="3273552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critical path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583680" y="232257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6457950" y="2167128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plan(ctx)  [waiting]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406640" y="258318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214044" y="2427732"/>
            <a:ext cx="120815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snapshot() + estimate()</a:t>
            </a:r>
          </a:p>
        </p:txBody>
      </p:sp>
      <p:cxnSp>
        <p:nvCxnSpPr>
          <p:cNvPr id="77" name="Connector 76"/>
          <p:cNvCxnSpPr/>
          <p:nvPr/>
        </p:nvCxnSpPr>
        <p:spPr>
          <a:xfrm flipH="1">
            <a:off x="7406640" y="2843784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370064" y="2688336"/>
            <a:ext cx="8961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CostEstimate × k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7406640" y="3104388"/>
            <a:ext cx="164592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7406640" y="2948940"/>
            <a:ext cx="16459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publish(ranked plan)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6583680" y="3694176"/>
            <a:ext cx="329184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6583679" y="3538728"/>
            <a:ext cx="329184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875520" y="395478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526905" y="3799332"/>
            <a:ext cx="152018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 + validate(plan, state)</a:t>
            </a:r>
          </a:p>
        </p:txBody>
      </p:sp>
      <p:cxnSp>
        <p:nvCxnSpPr>
          <p:cNvPr id="85" name="Connector 84"/>
          <p:cNvCxnSpPr/>
          <p:nvPr/>
        </p:nvCxnSpPr>
        <p:spPr>
          <a:xfrm flipH="1">
            <a:off x="9052560" y="4215384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9052560" y="4059936"/>
            <a:ext cx="164591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get(request_id)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052560" y="4475988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052560" y="4320540"/>
            <a:ext cx="164591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238036" y="4626864"/>
            <a:ext cx="5629047" cy="0"/>
          </a:xfrm>
          <a:prstGeom prst="line">
            <a:avLst/>
          </a:prstGeom>
          <a:ln w="9525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6265468" y="4626864"/>
            <a:ext cx="146304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alt match / mismatch</a:t>
            </a:r>
          </a:p>
        </p:txBody>
      </p:sp>
      <p:cxnSp>
        <p:nvCxnSpPr>
          <p:cNvPr id="91" name="Connector 90"/>
          <p:cNvCxnSpPr/>
          <p:nvPr/>
        </p:nvCxnSpPr>
        <p:spPr>
          <a:xfrm flipH="1">
            <a:off x="9875520" y="491947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9838944" y="4764024"/>
            <a:ext cx="8961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match → 1순위 plan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10442448" y="5106924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442448" y="5106924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0442448" y="5271516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8759951" y="5070348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mismatch → next_candidate(k)</a:t>
            </a:r>
          </a:p>
        </p:txBody>
      </p:sp>
      <p:cxnSp>
        <p:nvCxnSpPr>
          <p:cNvPr id="97" name="Connector 96"/>
          <p:cNvCxnSpPr/>
          <p:nvPr/>
        </p:nvCxnSpPr>
        <p:spPr>
          <a:xfrm flipH="1">
            <a:off x="7406640" y="5532120"/>
            <a:ext cx="246888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406639" y="5376672"/>
            <a:ext cx="246888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async replan (k 소진 시)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6583680" y="5792724"/>
            <a:ext cx="329184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6583679" y="5637276"/>
            <a:ext cx="329184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SchedulerOutput + plan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583680" y="6053328"/>
            <a:ext cx="49377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6583679" y="5897880"/>
            <a:ext cx="49377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dispatch(plan)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6583680" y="6313932"/>
            <a:ext cx="49377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6583679" y="6158484"/>
            <a:ext cx="49377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ModelRunnerOutput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UC06 KV 캐시 재사용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UC06 KV 캐시 재사용 (DP3)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30383" y="667512"/>
            <a:ext cx="361188" cy="246888"/>
          </a:xfrm>
          <a:prstGeom prst="round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6403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UC06 KV 캐시 재사용 (DP3)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UC06 KV 캐시 재사용 (DP3)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OfflineAnalyzer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sampler, attention, selector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4525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analyze(workload): ReusePlan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50876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«repository»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PlanStore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78308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plans: dict[context_id]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context_kv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67712" y="204459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write(plan)  // 1회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read(context_id)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691639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69663" y="173736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result)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update(plan)  // stale 보완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1089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admission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26257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PlanAwareAdmissionController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31089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hbm_budget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7712" y="326257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required_hbm(plan)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admit(request): bool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KVLayoutManager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310896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base_refcount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delta per request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9663" y="337047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share_base(context_id)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allocate_delta(req, ρ)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34340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SelectiveRecomputer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52628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57200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recompute(tokens, base+delta)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434340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KVCacheManager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452628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block_pool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67712" y="467989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allocate_slots(...)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free(request)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9663" y="434340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BlockPool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9663" y="452628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ref_cnt per block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69663" y="467989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get_new_blocks(n)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free_blocks(...)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965960" y="1753819"/>
            <a:ext cx="301752" cy="15361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67912" y="1753819"/>
            <a:ext cx="301751" cy="153619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965960" y="3171139"/>
            <a:ext cx="301752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867912" y="3225088"/>
            <a:ext cx="301751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67812" y="230611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905963" y="254294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plan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3547872" y="3631996"/>
            <a:ext cx="941831" cy="71140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833622" y="3914546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alloc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867912" y="4642408"/>
            <a:ext cx="301751" cy="0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165860" y="3416198"/>
            <a:ext cx="0" cy="927202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027328" y="3806647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5806440"/>
            <a:ext cx="5486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사전: 대표 Query로 재사용/재계산 위치를 PlanStore에 1회 기록. 서빙: PlanStore 조회 1회 + Base 공유(refcount) + Delta만 할당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HBM = (1−ρ)·L + N·ρ·L vs N·L  (N=3, ρ=0.15 가정 시 3.0L → 1.3L) — 가정 예시, 실측 아님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슬라이드 8~9p, doc-mk/DP3/dp3-kv-compression-reuse-structure-draft.md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Analyzer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58368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PlanStore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40664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22960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Admission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Controller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05256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KVLayout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87552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Recomputer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069848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152144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238036" y="1901952"/>
            <a:ext cx="1514246" cy="886967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38036" y="1901952"/>
            <a:ext cx="100584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사전 (offline, 1회)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060996" y="2843784"/>
            <a:ext cx="4806086" cy="297180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060996" y="2843784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서빙 (요청마다)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583680" y="2249424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839712" y="2249424"/>
            <a:ext cx="0" cy="164591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6583680" y="2414015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876288" y="2212848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Query → 재계산 위치 선정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583680" y="267462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6583680" y="2519172"/>
            <a:ext cx="82295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write(plan)</a:t>
            </a:r>
          </a:p>
        </p:txBody>
      </p:sp>
      <p:cxnSp>
        <p:nvCxnSpPr>
          <p:cNvPr id="79" name="Connector 78"/>
          <p:cNvCxnSpPr/>
          <p:nvPr/>
        </p:nvCxnSpPr>
        <p:spPr>
          <a:xfrm flipH="1">
            <a:off x="7406640" y="326440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7370064" y="3108960"/>
            <a:ext cx="8961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read(context_id)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7406640" y="352501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7406640" y="3369564"/>
            <a:ext cx="8229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ReusePlan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8229600" y="378561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8103869" y="3630168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admit(request, plan)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052560" y="3973068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308592" y="3973068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9052560" y="4137660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345168" y="3936492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required_hbm(plan)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9052560" y="4398264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8770810" y="4242816"/>
            <a:ext cx="138645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share_base / allocate_delta</a:t>
            </a:r>
          </a:p>
        </p:txBody>
      </p:sp>
      <p:cxnSp>
        <p:nvCxnSpPr>
          <p:cNvPr id="91" name="Connector 90"/>
          <p:cNvCxnSpPr/>
          <p:nvPr/>
        </p:nvCxnSpPr>
        <p:spPr>
          <a:xfrm flipH="1">
            <a:off x="9052560" y="465886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748522" y="4503420"/>
            <a:ext cx="1431036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Base refcount↑, Delta blocks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8229600" y="491947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8229600" y="4764024"/>
            <a:ext cx="8229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admit / defer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8229600" y="5180076"/>
            <a:ext cx="246888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8229600" y="5024628"/>
            <a:ext cx="246887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recompute(plan tokens)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0698480" y="544068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0528173" y="5285232"/>
            <a:ext cx="116357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result)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7406640" y="5701284"/>
            <a:ext cx="411480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7406640" y="5545836"/>
            <a:ext cx="411480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update(plan)  // stale 보완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UC07 데이터 이동(Migration)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UC07 데이터 이동 (DP1)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3223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7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UC07 데이터 이동 (DP1)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UC07 데이터 이동 (DP1)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1463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DecisionScheduler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45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169164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on_event(event)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tick()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463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TrendAnalyzer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645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67712" y="1691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analyze(snapshot)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463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AffinityMapper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645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69663" y="1691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map(object, state)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606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TelemetryCollector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788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834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collect(): MemoryTelemetry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2606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StateSnapshotBuilder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2788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67712" y="2834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build(): ResourceSnapshot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2606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PolicyEngine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2788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69663" y="2834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decide(...): list[Decision]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9663" y="3749039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MigrationCommandQueue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9663" y="3931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3" y="3977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enqueue / dequeue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3749039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3931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67712" y="3977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749039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DataObjectRegistry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931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397763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move(object, tier)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drop_to_replica(obj)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67712" y="4892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TransferHandler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67712" y="5074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67712" y="512064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transfer_async(job, spec)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get_finished()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69663" y="489204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«interface»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MemoryBackend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69663" y="5166359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69663" y="521207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export_async / import_async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892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LeaseTimer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074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512064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arm(object, ttl)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on_expire(): Event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1965960" y="1654149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67912" y="1654149"/>
            <a:ext cx="30175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65860" y="1953158"/>
            <a:ext cx="0" cy="652882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965960" y="2797149"/>
            <a:ext cx="30175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969764" y="1845259"/>
            <a:ext cx="0" cy="760781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969764" y="2988259"/>
            <a:ext cx="0" cy="76078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737963" y="3295497"/>
            <a:ext cx="46360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enqueue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3867912" y="3940149"/>
            <a:ext cx="30175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965960" y="3940149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067812" y="4131259"/>
            <a:ext cx="0" cy="760781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812694" y="4438497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dispatch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3867912" y="5128869"/>
            <a:ext cx="301751" cy="823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65860" y="4239158"/>
            <a:ext cx="0" cy="652882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27328" y="4492447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arm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6126480"/>
            <a:ext cx="5486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Lease 만료 Event → DecisionScheduler 재평가 (stale 보정). 근거: 슬라이드 4~5p, doc-mk/DP1/dp1-vllm-uml.md §4b·§4c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Collector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58368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40664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Trend→Affinity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→Policy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822960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Command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Queue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05256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987552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Backend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69848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Registry /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LeaseTimer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152144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9529876" y="4338828"/>
            <a:ext cx="2337206" cy="1330452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529876" y="4338828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alt: 성공 / 실패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6583680" y="2103120"/>
            <a:ext cx="82296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6391084" y="1947672"/>
            <a:ext cx="120815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event (usage↑ / access)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406640" y="2290572"/>
            <a:ext cx="256031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7662671" y="2290572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7406640" y="2455164"/>
            <a:ext cx="25603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7699248" y="2253996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tick (독립 판단 주기)</a:t>
            </a:r>
          </a:p>
        </p:txBody>
      </p:sp>
      <p:cxnSp>
        <p:nvCxnSpPr>
          <p:cNvPr id="89" name="Connector 88"/>
          <p:cNvCxnSpPr/>
          <p:nvPr/>
        </p:nvCxnSpPr>
        <p:spPr>
          <a:xfrm flipH="1">
            <a:off x="6583680" y="271576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6583680" y="2560320"/>
            <a:ext cx="82295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 snapshot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583680" y="297637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547104" y="2820924"/>
            <a:ext cx="8961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ResourceSnapshot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406640" y="323697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7236333" y="3081528"/>
            <a:ext cx="116357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 → map → decide</a:t>
            </a:r>
          </a:p>
        </p:txBody>
      </p:sp>
      <p:cxnSp>
        <p:nvCxnSpPr>
          <p:cNvPr id="95" name="Connector 94"/>
          <p:cNvCxnSpPr/>
          <p:nvPr/>
        </p:nvCxnSpPr>
        <p:spPr>
          <a:xfrm flipH="1">
            <a:off x="7406640" y="349758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7303198" y="3342132"/>
            <a:ext cx="1029843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MigrationDecision[]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7406640" y="3758184"/>
            <a:ext cx="164592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406640" y="3602736"/>
            <a:ext cx="16459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enqueue(decision)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9052560" y="401878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9052560" y="3863340"/>
            <a:ext cx="8229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dequeue()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9875520" y="427939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9616059" y="4123944"/>
            <a:ext cx="1341881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transfer_async(job)  [DMA]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9875520" y="475945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9682924" y="4604004"/>
            <a:ext cx="120815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TransferResult(success)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9875520" y="5020056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9875520" y="4864608"/>
            <a:ext cx="16459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move(object, tier) + arm lease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9529876" y="5170932"/>
            <a:ext cx="2337207" cy="0"/>
          </a:xfrm>
          <a:prstGeom prst="line">
            <a:avLst/>
          </a:prstGeom>
          <a:ln w="9525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9557308" y="5170932"/>
            <a:ext cx="146304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실패 / timeout → UC09 fallback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9875520" y="5390388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0131552" y="5390388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9875520" y="5554980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10168128" y="5353812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rollback, 재계산 경로</a:t>
            </a:r>
          </a:p>
        </p:txBody>
      </p:sp>
      <p:cxnSp>
        <p:nvCxnSpPr>
          <p:cNvPr id="113" name="Connector 112"/>
          <p:cNvCxnSpPr/>
          <p:nvPr/>
        </p:nvCxnSpPr>
        <p:spPr>
          <a:xfrm flipH="1">
            <a:off x="7406640" y="5925312"/>
            <a:ext cx="411480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7406640" y="5769864"/>
            <a:ext cx="411480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Event(Lease Expired) → 재평가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UC08 서버 간 KV 캐시 공유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UC08 서버 간 KV 캐시 공유 (DP4)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3223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7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UC08 서버 간 KV 캐시 공유 (DP4)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UC08 서버 간 KV 캐시 공유 (DP4)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client: MetadataClient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4525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MetadataClient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69163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server_addr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slot: request/response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67712" y="195315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request(op, key): Response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캐시 우회, polling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92608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«store»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CxlSharedPool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20040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kv_data (non-coherent)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35401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read(addr, 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write(addr, 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67712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ShardRouter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7712" y="31089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7712" y="326257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route(object_id): ShardWorker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hash(Data Object ID)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ShardWorker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45262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shard: MetadataShard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7712" y="467989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 / insert / evict(key)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MetadataShard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4526280"/>
            <a:ext cx="160020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hash_table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lru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9663" y="4895697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 / put / free(key)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FallbackPolicy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9663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timeout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69663" y="184525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on_failure(request): recompute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65960" y="1753819"/>
            <a:ext cx="301752" cy="10789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867912" y="1753819"/>
            <a:ext cx="301751" cy="107899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067812" y="2214676"/>
            <a:ext cx="0" cy="71140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929280" y="2497226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RPC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067812" y="3524097"/>
            <a:ext cx="0" cy="81930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905963" y="386059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hash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867912" y="4588459"/>
            <a:ext cx="301751" cy="107899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65860" y="1998878"/>
            <a:ext cx="0" cy="927202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04011" y="2389327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5806440"/>
            <a:ext cx="5486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메타데이터는 hash(Data Object ID)로 Shard Worker에 분산, 데이터는 CXL 공유 풀에 직접 read/write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실패·timeout 시 재계산으로 대체(QA-07). 서버 간 대역폭 상한은 PCIe 64GB/s(GC-9)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슬라이드 10~11p, doc-mk/DP6/dp4-inter-node-kv-sharing-structure-draft.md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0877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 노드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65226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168895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612379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812901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Router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57250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08913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 k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53262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0049256" y="1463040"/>
            <a:ext cx="886968" cy="310896"/>
          </a:xfrm>
          <a:prstGeom prst="rect">
            <a:avLst/>
          </a:prstGeom>
          <a:solidFill>
            <a:srgbClr val="DEEBF7"/>
          </a:solidFill>
          <a:ln w="1016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공유 풀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049274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1100937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 노드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145286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6249009" y="1901952"/>
            <a:ext cx="4646980" cy="218998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49009" y="1901952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 (P 노드)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69249" y="4146804"/>
            <a:ext cx="3686860" cy="185166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169249" y="4146804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 (D 노드)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652260" y="2322576"/>
            <a:ext cx="960119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95109" y="2167128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put(block_key, size)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612379" y="2583180"/>
            <a:ext cx="960121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354633" y="2427732"/>
            <a:ext cx="14756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RPC: alloc(key)  [slot write]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572500" y="2843784"/>
            <a:ext cx="9601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515350" y="2688336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hash(key) → worker k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532620" y="3031236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9788652" y="3031236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9532620" y="3195828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9825228" y="2994660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 + LRU/metadata 갱신</a:t>
            </a:r>
          </a:p>
        </p:txBody>
      </p:sp>
      <p:cxnSp>
        <p:nvCxnSpPr>
          <p:cNvPr id="73" name="Connector 72"/>
          <p:cNvCxnSpPr/>
          <p:nvPr/>
        </p:nvCxnSpPr>
        <p:spPr>
          <a:xfrm flipH="1">
            <a:off x="7612379" y="3456432"/>
            <a:ext cx="1920241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7612379" y="3300984"/>
            <a:ext cx="192024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addr, version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652260" y="3717036"/>
            <a:ext cx="384048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652259" y="3561588"/>
            <a:ext cx="384048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 KV data (캐시 우회)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612379" y="3977640"/>
            <a:ext cx="1920241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612379" y="3822192"/>
            <a:ext cx="192024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commit(key)</a:t>
            </a:r>
          </a:p>
        </p:txBody>
      </p:sp>
      <p:cxnSp>
        <p:nvCxnSpPr>
          <p:cNvPr id="79" name="Connector 78"/>
          <p:cNvCxnSpPr/>
          <p:nvPr/>
        </p:nvCxnSpPr>
        <p:spPr>
          <a:xfrm flipH="1">
            <a:off x="8572500" y="4567428"/>
            <a:ext cx="28803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8572500" y="4411980"/>
            <a:ext cx="28803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lookup(key)  [Client Library]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8572500" y="4828032"/>
            <a:ext cx="9601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8572500" y="4672584"/>
            <a:ext cx="9601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route(hash)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532620" y="5088636"/>
            <a:ext cx="192024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532620" y="4933188"/>
            <a:ext cx="192023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addr, version</a:t>
            </a:r>
          </a:p>
        </p:txBody>
      </p:sp>
      <p:cxnSp>
        <p:nvCxnSpPr>
          <p:cNvPr id="85" name="Connector 84"/>
          <p:cNvCxnSpPr/>
          <p:nvPr/>
        </p:nvCxnSpPr>
        <p:spPr>
          <a:xfrm flipH="1">
            <a:off x="10492740" y="5349240"/>
            <a:ext cx="9601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10435590" y="5193792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 KV data (캐시 우회)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169249" y="5500116"/>
            <a:ext cx="3686861" cy="0"/>
          </a:xfrm>
          <a:prstGeom prst="line">
            <a:avLst/>
          </a:prstGeom>
          <a:ln w="9525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8196681" y="5500116"/>
            <a:ext cx="146304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timeout / 실패 (QA-07)</a:t>
            </a:r>
          </a:p>
        </p:txBody>
      </p:sp>
      <p:cxnSp>
        <p:nvCxnSpPr>
          <p:cNvPr id="89" name="Connector 88"/>
          <p:cNvCxnSpPr/>
          <p:nvPr/>
        </p:nvCxnSpPr>
        <p:spPr>
          <a:xfrm flipH="1">
            <a:off x="11196828" y="5719572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1196828" y="5719572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1196828" y="5884164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9514332" y="5682996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 fallback (UC09)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6368</Words>
  <Application>Microsoft Office PowerPoint</Application>
  <PresentationFormat>와이드스크린</PresentationFormat>
  <Paragraphs>1367</Paragraphs>
  <Slides>23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9" baseType="lpstr">
      <vt:lpstr>Mona Sans VF</vt:lpstr>
      <vt:lpstr>Malgun Gothic</vt:lpstr>
      <vt:lpstr>Malgun Gothic</vt:lpstr>
      <vt:lpstr>Arial</vt:lpstr>
      <vt:lpstr>Wingdings</vt:lpstr>
      <vt:lpstr>Office 테마</vt:lpstr>
      <vt:lpstr>PowerPoint 프레젠테이션</vt:lpstr>
      <vt:lpstr>품질 요구사항</vt:lpstr>
      <vt:lpstr>Architecture 분석 – Overall Architecture (Module View)</vt:lpstr>
      <vt:lpstr>DP1. Data Migration 결정 구조 - 설계</vt:lpstr>
      <vt:lpstr>DP1. Data Migration 결정 구조 - 보완 설계</vt:lpstr>
      <vt:lpstr>DP2. 연산(Prefill/Decode) 실행 위치 결정 구조 - 설계</vt:lpstr>
      <vt:lpstr>DP2. 연산(Prefill/Decode) 실행 위치 결정 구조 - 보완 설계</vt:lpstr>
      <vt:lpstr>DP3. KV 캐시 재사용 구조 – 설계 </vt:lpstr>
      <vt:lpstr>DP3. KV 캐시 재사용 구조 – 보완 설계 </vt:lpstr>
      <vt:lpstr>DP4. 서버 간 KV 캐시 공유 구조 – 설계</vt:lpstr>
      <vt:lpstr>DP4. 서버 간 KV 캐시 공유 구조 – 보완 설계</vt:lpstr>
      <vt:lpstr>Reference</vt:lpstr>
      <vt:lpstr>PowerPoint 프레젠테이션</vt:lpstr>
      <vt:lpstr>최종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Myeong Woo Kim</dc:creator>
  <cp:lastModifiedBy>Myeong Woo Kim</cp:lastModifiedBy>
  <cp:revision>1</cp:revision>
  <dcterms:created xsi:type="dcterms:W3CDTF">2026-10-24T03:07:30Z</dcterms:created>
  <dcterms:modified xsi:type="dcterms:W3CDTF">2026-10-24T03:15:44Z</dcterms:modified>
</cp:coreProperties>
</file>
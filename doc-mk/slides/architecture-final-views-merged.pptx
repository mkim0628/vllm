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929" r:id="rId2"/>
    <p:sldId id="943" r:id="rId3"/>
    <p:sldId id="812" r:id="rId4"/>
    <p:sldId id="962" r:id="rId30"/>
    <p:sldId id="931" r:id="rId5"/>
    <p:sldId id="920" r:id="rId6"/>
    <p:sldId id="945" r:id="rId7"/>
    <p:sldId id="946" r:id="rId8"/>
    <p:sldId id="926" r:id="rId9"/>
    <p:sldId id="886" r:id="rId10"/>
    <p:sldId id="959" r:id="rId11"/>
    <p:sldId id="870" r:id="rId12"/>
    <p:sldId id="960" r:id="rId13"/>
    <p:sldId id="963" r:id="rId31"/>
    <p:sldId id="964" r:id="rId32"/>
    <p:sldId id="965" r:id="rId33"/>
    <p:sldId id="966" r:id="rId34"/>
    <p:sldId id="967" r:id="rId35"/>
    <p:sldId id="968" r:id="rId36"/>
    <p:sldId id="969" r:id="rId37"/>
    <p:sldId id="970" r:id="rId38"/>
    <p:sldId id="971" r:id="rId39"/>
    <p:sldId id="972" r:id="rId40"/>
    <p:sldId id="973" r:id="rId41"/>
    <p:sldId id="974" r:id="rId42"/>
    <p:sldId id="975" r:id="rId43"/>
    <p:sldId id="459" r:id="rId14"/>
    <p:sldId id="277" r:id="rId15"/>
    <p:sldId id="411" r:id="rId16"/>
    <p:sldId id="961" r:id="rId17"/>
    <p:sldId id="446" r:id="rId18"/>
    <p:sldId id="482" r:id="rId19"/>
    <p:sldId id="484" r:id="rId20"/>
    <p:sldId id="483" r:id="rId21"/>
    <p:sldId id="487" r:id="rId22"/>
    <p:sldId id="485" r:id="rId23"/>
    <p:sldId id="48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5C805-4CF4-4314-8A05-50505E4D0A4C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D3762-95E0-4C28-9328-63F3382276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43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요구사항 표로 </a:t>
            </a:r>
            <a:r>
              <a:rPr lang="ko-KR" altLang="en-US" dirty="0" err="1"/>
              <a:t>보여주는게</a:t>
            </a:r>
            <a:r>
              <a:rPr lang="ko-KR" altLang="en-US" dirty="0"/>
              <a:t> 나을 듯</a:t>
            </a:r>
            <a:endParaRPr lang="en-US" altLang="ko-KR" dirty="0"/>
          </a:p>
          <a:p>
            <a:r>
              <a:rPr lang="en-US" altLang="ko-KR" dirty="0"/>
              <a:t>Id | Refinement | Description 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3458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해당 그림은 이번 과제에서 설계하는 런타임에 대한 </a:t>
            </a:r>
            <a:r>
              <a:rPr lang="en-US" altLang="ko-KR" dirty="0"/>
              <a:t>Module view</a:t>
            </a:r>
            <a:r>
              <a:rPr lang="ko-KR" altLang="en-US" dirty="0"/>
              <a:t>를 나타내고</a:t>
            </a:r>
            <a:r>
              <a:rPr lang="en-US" altLang="ko-KR" dirty="0"/>
              <a:t>, </a:t>
            </a:r>
            <a:r>
              <a:rPr lang="ko-KR" altLang="en-US" dirty="0"/>
              <a:t>각 </a:t>
            </a:r>
            <a:r>
              <a:rPr lang="en-US" altLang="ko-KR" dirty="0"/>
              <a:t>Module </a:t>
            </a:r>
            <a:r>
              <a:rPr lang="ko-KR" altLang="en-US" dirty="0"/>
              <a:t>별로 어떤 </a:t>
            </a:r>
            <a:r>
              <a:rPr lang="en-US" altLang="ko-KR" dirty="0"/>
              <a:t>DP</a:t>
            </a:r>
            <a:r>
              <a:rPr lang="ko-KR" altLang="en-US" dirty="0"/>
              <a:t>와 관련이 있는지를 표기하였습니다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선정된 </a:t>
            </a:r>
            <a:r>
              <a:rPr lang="en-US" altLang="ko-KR" dirty="0"/>
              <a:t>DP</a:t>
            </a:r>
            <a:r>
              <a:rPr lang="ko-KR" altLang="en-US" dirty="0"/>
              <a:t>는 총 </a:t>
            </a:r>
            <a:r>
              <a:rPr lang="en-US" altLang="ko-KR" dirty="0"/>
              <a:t>4</a:t>
            </a:r>
            <a:r>
              <a:rPr lang="ko-KR" altLang="en-US" dirty="0"/>
              <a:t>개로 오른쪽에 작성한 것과 같습니다</a:t>
            </a:r>
            <a:r>
              <a:rPr lang="en-US" altLang="ko-KR" dirty="0"/>
              <a:t>. </a:t>
            </a:r>
            <a:r>
              <a:rPr lang="ko-KR" altLang="en-US" dirty="0"/>
              <a:t>각각에 대해서는 다음 장부터 조금 더 상세히 설명을 드리도록 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6198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959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614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614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012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설명 드린 </a:t>
            </a:r>
            <a:r>
              <a:rPr lang="en-US" altLang="ko-KR" dirty="0"/>
              <a:t>Stakeholder</a:t>
            </a:r>
            <a:r>
              <a:rPr lang="ko-KR" altLang="en-US" dirty="0"/>
              <a:t>로 부터 수집한 요구사항은 총 </a:t>
            </a:r>
            <a:r>
              <a:rPr lang="en-US" altLang="ko-KR" dirty="0"/>
              <a:t>54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이를 정제하는 과정을 거쳐 </a:t>
            </a:r>
            <a:r>
              <a:rPr lang="en-US" altLang="ko-KR" dirty="0"/>
              <a:t>22</a:t>
            </a:r>
            <a:r>
              <a:rPr lang="ko-KR" altLang="en-US" dirty="0"/>
              <a:t>건의 요구사항을 도출하였습니다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최종적으로 선정된 기능 요구사항은 총 </a:t>
            </a:r>
            <a:r>
              <a:rPr lang="en-US" altLang="ko-KR" dirty="0"/>
              <a:t>9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시스템 및 장치 지원</a:t>
            </a:r>
            <a:r>
              <a:rPr lang="en-US" altLang="ko-KR" dirty="0"/>
              <a:t>, </a:t>
            </a:r>
            <a:r>
              <a:rPr lang="ko-KR" altLang="en-US" dirty="0"/>
              <a:t>모델 지원</a:t>
            </a:r>
            <a:r>
              <a:rPr lang="en-US" altLang="ko-KR" dirty="0"/>
              <a:t>, Ondevice</a:t>
            </a:r>
            <a:r>
              <a:rPr lang="en-US" altLang="ko-KR" baseline="0" dirty="0"/>
              <a:t> </a:t>
            </a:r>
            <a:r>
              <a:rPr lang="ko-KR" altLang="en-US" baseline="0" dirty="0"/>
              <a:t>컴파일 등을 포함하고 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제약 사항으로는 핵심 </a:t>
            </a:r>
            <a:r>
              <a:rPr lang="en-US" altLang="ko-KR" baseline="0" dirty="0"/>
              <a:t>HW IP </a:t>
            </a:r>
            <a:r>
              <a:rPr lang="ko-KR" altLang="en-US" baseline="0" dirty="0"/>
              <a:t>정보를 컴파일러</a:t>
            </a:r>
            <a:r>
              <a:rPr lang="en-US" altLang="ko-KR" baseline="0" dirty="0"/>
              <a:t>/</a:t>
            </a:r>
            <a:r>
              <a:rPr lang="ko-KR" altLang="en-US" baseline="0" dirty="0"/>
              <a:t>런타임 사용자에게 노출시키지 않는 것이며</a:t>
            </a:r>
            <a:r>
              <a:rPr lang="en-US" altLang="ko-KR" baseline="0" dirty="0"/>
              <a:t>, </a:t>
            </a:r>
          </a:p>
          <a:p>
            <a:r>
              <a:rPr lang="ko-KR" altLang="en-US" baseline="0" dirty="0"/>
              <a:t>실제로 사업부 및 </a:t>
            </a:r>
            <a:r>
              <a:rPr lang="ko-KR" altLang="en-US" baseline="0" dirty="0" err="1"/>
              <a:t>고객사와</a:t>
            </a:r>
            <a:r>
              <a:rPr lang="ko-KR" altLang="en-US" baseline="0" dirty="0"/>
              <a:t> 직접 </a:t>
            </a:r>
            <a:r>
              <a:rPr lang="en-US" altLang="ko-KR" baseline="0" dirty="0"/>
              <a:t>Align</a:t>
            </a:r>
            <a:r>
              <a:rPr lang="ko-KR" altLang="en-US" baseline="0" dirty="0"/>
              <a:t>되어 진행되는 부분이 있어서 개발 일정을 준수해야 하는 것이 중요하기 때문에</a:t>
            </a:r>
            <a:endParaRPr lang="en-US" altLang="ko-KR" baseline="0" dirty="0"/>
          </a:p>
          <a:p>
            <a:r>
              <a:rPr lang="ko-KR" altLang="en-US" baseline="0" dirty="0"/>
              <a:t>총 </a:t>
            </a:r>
            <a:r>
              <a:rPr lang="en-US" altLang="ko-KR" baseline="0" dirty="0"/>
              <a:t>2</a:t>
            </a:r>
            <a:r>
              <a:rPr lang="ko-KR" altLang="en-US" baseline="0" dirty="0"/>
              <a:t>건의 제약 사항을 선정하였습니다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08069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좌측 그림은 </a:t>
            </a:r>
            <a:r>
              <a:rPr lang="en-US" altLang="ko-KR" baseline="0" dirty="0"/>
              <a:t>Component &amp; Connector View</a:t>
            </a:r>
            <a:r>
              <a:rPr lang="ko-KR" altLang="en-US" baseline="0" dirty="0"/>
              <a:t>를 나타내고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우측에는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를 나타내었습니다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특히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의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하나의 컴파일러 및 런타임이 모델 학습을 위한 분산 </a:t>
            </a:r>
            <a:r>
              <a:rPr lang="en-US" altLang="ko-KR" baseline="0" dirty="0"/>
              <a:t>GPU </a:t>
            </a:r>
            <a:r>
              <a:rPr lang="ko-KR" altLang="en-US" baseline="0" dirty="0"/>
              <a:t>환경 및 </a:t>
            </a:r>
            <a:r>
              <a:rPr lang="en-US" altLang="ko-KR" baseline="0" dirty="0"/>
              <a:t>Ondevice </a:t>
            </a:r>
            <a:r>
              <a:rPr lang="ko-KR" altLang="en-US" baseline="0" dirty="0"/>
              <a:t>추론을 위한 모바일 환경에 </a:t>
            </a:r>
            <a:r>
              <a:rPr lang="en-US" altLang="ko-KR" baseline="0" dirty="0"/>
              <a:t>Deploy</a:t>
            </a:r>
            <a:r>
              <a:rPr lang="ko-KR" altLang="en-US" baseline="0" dirty="0"/>
              <a:t>가 되기 때문에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각각을 구분하여 별도의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로 그렸습니다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104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1916535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100829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1063990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6139936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6118498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6177806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처음 보여줄 Overall Architecture. 패키지와 핵심 모듈만 요약했고 상세 모듈(보완 설계 반영)은 최종 Module View에서 보인다. 근거: 3p. 의미: 테두리색=담당 DP, 노란 fill=신규/수정.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4개 DP 최종안(보완 설계 포함)을 반영한 전체 모듈 구성(구현/검증 단계용). 근거: 3p + 4~11p + doc-mk DP 문서. 의미: 테두리색=담당 DP, 노란 fill=신규/수정. 모듈 배치는 제안([C]).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프로세스 경계(Client/EngineCore/Worker/Offline Analyzer/Metadata Server)와 connector 의미(call/event/data)를 구분. 근거: DP1~DP4 설계 + vLLM v1 프로세스 구조. 의미: Plan 생성은 critical path 밖, 검증·dispatch만 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단일 노드(GPU 8장)와 멀티 노드(서버 2대+CXL 공유 풀+Metadata Server) 배포. 근거: project-context GC-1/2/9. 의미: 차세대 메모리는 시뮬레이션, 서버 간 PCIe 64GB/s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요청 조율·실행 위치 결정(DP2) 클래스. 근거: DP2 아키텍처 문서 §4 + vLLM 클래스.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데이터 이동·자원 관리(DP1) 클래스. 근거: dp1-vllm-uml.md. 의미: 판단·관측·실행 분리, Lease로 stale 보정.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KV 재사용(DP3)과 서버 간 공유(DP4) 클래스. 근거: DP3/DP6 문서, 8~11p.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이 런타임의 사용자 관점 Use case. Actor는 Context View(AI Application, 서비스 제공자, 시스템 제공자, Device 제공자) 기준. UC02~UC05는 UC01의 확장 시나리오. DP/QA와 1:1 대응하지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 목록(Actor, 입·출력 시나리오, 참고 FR). 근거: 1p FR, project-context의 워크로드 전제.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UC01이 거치는 vLLM 기본 요청 경로. schedule() 안이 DP1~DP3의 확장점. 근거: vllm/v1/engine, core/sched.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DP1 상태 관측·이동 결정 분리 + Lease. 근거: 4~5p, dp1-vllm-uml.md. 의미: Lease 만료 Event가 재평가를 유발, 실패 시 대체 경로.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DP2 Plan(비동기)/Decision(critical path) 분리. 근거: DP2 문서 §9.2, 7p. 의미: mismatch 시 순위 후보 k 순차 조회, 소진 시 비동기 replan.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DP3 사전 분석 1회 + 서빙 시 Base 공유/Delta 할당. 근거: 8~9p. 의미: HBM 3.0L→1.3L은 N=3, ρ=0.15 가정 예시이며 실측이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DP4 중앙 Metadata Server(Sharding)+CXL 공유 풀. 근거: 10~11p. 의미: 실패·timeout은 재계산 fallback(QA-07).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DF5FB-2990-42D6-87F6-0339711CF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31425C-524F-4528-A2C6-2AC9BFE96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C11B2-23AC-4568-8D90-6E440757E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84141A-1FCB-4253-8D59-B668B17B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8EC380-BF48-4449-81BA-937BB117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063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79C87-A0F3-40FA-BAF6-5AC4ECC38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FCDCCF-3972-4AE6-9247-439E7EA5D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695F-3069-4EF8-8862-CCCFC72A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7D42B8-9A5C-4A7D-AE05-497319476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B4124-BE76-4585-9AFB-B1EB0B7A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675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C80006-75C4-4319-AAFA-A51AD1DF5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C31C72-B218-4CBA-8C41-4DE4C7896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C34A41-BE05-4283-B489-AD2D351B8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24AE9E-65C7-45DB-9A85-C5D6F743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54A71E-0B8C-418F-9EB4-CF663C2B8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318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D6CE4-0387-4886-9679-62514B689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048DF6-E042-4C40-B75D-370F63AB1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438D7-3D7A-48B2-9DB6-93C3992E2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524322-8FB3-441B-816F-E81516A0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B5887A-1D61-4CB7-9895-FF608E06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D3DB8A-DE25-474E-A941-D5F6FCE63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C71621-8EE0-4EAE-8C20-36EC1A58D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F436C7-8D72-4E7C-AB79-3D41BAC28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BE86CF-9066-4393-97EB-3F1A9724C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478073-F55A-44F5-9EAC-A4AF90266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A1A993-37C9-4056-BAAE-09E141D2B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69CF5F-1D33-4340-8DF9-6BAE5D33B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0120BA8-17F8-4DB6-84A6-025BD14D7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C44235-05DC-4E48-950C-2AF52633D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769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564AC7-B04E-4DC2-BCF1-42E39FCFC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09AB40-02F3-4FED-9BB8-06EF29AA8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A94C25-9E32-4E87-A61E-19A8DBB24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68C104-8F6C-4336-BD6A-D420CE55C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703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5161CD-9D8A-4A47-B582-B008A09BC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2FC14F1-C009-460B-A69D-37D29A67C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3A546-45D9-4081-8486-B9A208C81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0812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09842-36C6-40E2-B9CB-9B64E246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CFF72-D47F-4678-9C18-2B42F392E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54B377-4AAC-464B-A7BA-2A7855A7F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690DE6-DF19-4EC2-9680-A9335AFB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CF43E3-ECA1-4B99-96E5-4A7348ED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4CCB62-4BC5-40E8-B52C-2DC3FBD76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05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D21C2-8F4A-433E-A75A-2C65070D0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3D98D3D-E4D6-4FDD-850C-C157D0465D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CC50D7-3392-4836-A02E-3EDFB8260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C0AF2B-2494-4165-A0CB-C985BBCC6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776844-E118-42A4-8BB7-825739792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9CDB67-86A3-4B80-B43A-E1D9A5FB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8306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134E3-7021-4CA6-867B-AE1F1D435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52982-620B-4BE7-95AD-BE395750E5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8E0BD7-2A47-4737-A859-3F18AA83E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A265B-3B9A-4C4D-8941-91E32899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DC6660-2321-46D4-BF52-4D276DA3E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643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8F7DA7-D282-4A5A-9C16-163090C62A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D12738-EFB1-44F0-92CF-ED689E567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C8554-91BF-4AC7-8E47-2CAA705A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1441D-5757-42FC-897F-EBB6EAFB1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BCDEA1-B763-4AAD-8F10-4F75D0B9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854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7108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9" y="137379"/>
            <a:ext cx="621719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2" name="갈매기형 수장 21"/>
          <p:cNvSpPr/>
          <p:nvPr userDrawn="1"/>
        </p:nvSpPr>
        <p:spPr>
          <a:xfrm>
            <a:off x="6510272" y="137379"/>
            <a:ext cx="1031887" cy="357521"/>
          </a:xfrm>
          <a:prstGeom prst="chevron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과제 소개</a:t>
            </a:r>
          </a:p>
        </p:txBody>
      </p:sp>
      <p:sp>
        <p:nvSpPr>
          <p:cNvPr id="23" name="갈매기형 수장 22"/>
          <p:cNvSpPr/>
          <p:nvPr userDrawn="1"/>
        </p:nvSpPr>
        <p:spPr>
          <a:xfrm>
            <a:off x="7402754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요구사항</a:t>
            </a:r>
          </a:p>
        </p:txBody>
      </p:sp>
      <p:sp>
        <p:nvSpPr>
          <p:cNvPr id="25" name="갈매기형 수장 24"/>
          <p:cNvSpPr/>
          <p:nvPr userDrawn="1"/>
        </p:nvSpPr>
        <p:spPr>
          <a:xfrm>
            <a:off x="8301672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26" name="갈매기형 수장 25"/>
          <p:cNvSpPr/>
          <p:nvPr userDrawn="1"/>
        </p:nvSpPr>
        <p:spPr>
          <a:xfrm>
            <a:off x="9194153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구현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검증</a:t>
            </a:r>
          </a:p>
        </p:txBody>
      </p:sp>
      <p:sp>
        <p:nvSpPr>
          <p:cNvPr id="27" name="갈매기형 수장 26"/>
          <p:cNvSpPr/>
          <p:nvPr userDrawn="1"/>
        </p:nvSpPr>
        <p:spPr>
          <a:xfrm>
            <a:off x="10086636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결론</a:t>
            </a:r>
          </a:p>
        </p:txBody>
      </p:sp>
      <p:sp>
        <p:nvSpPr>
          <p:cNvPr id="28" name="직사각형 27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직사각형 28"/>
          <p:cNvSpPr/>
          <p:nvPr userDrawn="1"/>
        </p:nvSpPr>
        <p:spPr>
          <a:xfrm>
            <a:off x="10909598" y="137379"/>
            <a:ext cx="212127" cy="357521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0" name="직사각형 29"/>
          <p:cNvSpPr/>
          <p:nvPr userDrawn="1"/>
        </p:nvSpPr>
        <p:spPr>
          <a:xfrm>
            <a:off x="6507070" y="137379"/>
            <a:ext cx="212127" cy="3575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64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b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6" hasCustomPrompt="1"/>
          </p:nvPr>
        </p:nvSpPr>
        <p:spPr>
          <a:xfrm>
            <a:off x="295275" y="224684"/>
            <a:ext cx="7167035" cy="5260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altLang="ko-KR" dirty="0"/>
              <a:t>Insert your main title</a:t>
            </a:r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69851" y="851111"/>
            <a:ext cx="12037482" cy="4571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/>
          </a:p>
        </p:txBody>
      </p:sp>
      <p:pic>
        <p:nvPicPr>
          <p:cNvPr id="15" name="Picture 2" descr="I:\YISSUE\삼성\그래픽 모티브\아이콘\브랜딩4-1(아이콘)-13.pn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51595" r="42041" b="26474"/>
          <a:stretch/>
        </p:blipFill>
        <p:spPr bwMode="auto">
          <a:xfrm flipH="1">
            <a:off x="0" y="6409267"/>
            <a:ext cx="1298960" cy="448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1322454" y="6534139"/>
            <a:ext cx="671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60E2A6B-A809-4840-BF14-8648BC0BDF87}" type="slidenum">
              <a:rPr lang="id-ID" sz="1200" b="0" i="0" smtClean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pPr algn="ctr"/>
              <a:t>‹#›</a:t>
            </a:fld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 / </a:t>
            </a:r>
            <a:r>
              <a:rPr lang="en-US" sz="1200" b="0" i="0" baseline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33</a:t>
            </a:r>
            <a:endParaRPr lang="en-MY" sz="2400" b="0" i="0" dirty="0">
              <a:solidFill>
                <a:schemeClr val="bg1">
                  <a:lumMod val="50000"/>
                </a:schemeClr>
              </a:solidFill>
              <a:latin typeface="+mn-ea"/>
              <a:ea typeface="+mn-ea"/>
              <a:cs typeface="Titillium" charset="0"/>
            </a:endParaRPr>
          </a:p>
        </p:txBody>
      </p:sp>
      <p:sp>
        <p:nvSpPr>
          <p:cNvPr id="24" name="텍스트 개체 틀 4"/>
          <p:cNvSpPr>
            <a:spLocks noGrp="1"/>
          </p:cNvSpPr>
          <p:nvPr>
            <p:ph type="body" sz="quarter" idx="14" hasCustomPrompt="1"/>
          </p:nvPr>
        </p:nvSpPr>
        <p:spPr>
          <a:xfrm>
            <a:off x="902091" y="3667841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5" name="텍스트 개체 틀 4"/>
          <p:cNvSpPr>
            <a:spLocks noGrp="1"/>
          </p:cNvSpPr>
          <p:nvPr>
            <p:ph type="body" sz="quarter" idx="15" hasCustomPrompt="1"/>
          </p:nvPr>
        </p:nvSpPr>
        <p:spPr>
          <a:xfrm>
            <a:off x="296520" y="2982571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  <p:sp>
        <p:nvSpPr>
          <p:cNvPr id="26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902091" y="1682475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7" name="텍스트 개체 틀 4"/>
          <p:cNvSpPr>
            <a:spLocks noGrp="1"/>
          </p:cNvSpPr>
          <p:nvPr>
            <p:ph type="body" sz="quarter" idx="12" hasCustomPrompt="1"/>
          </p:nvPr>
        </p:nvSpPr>
        <p:spPr>
          <a:xfrm>
            <a:off x="296520" y="997205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07384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4966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C70E5E-3DD0-40C9-834A-9114ACBB7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5FB5E-79D3-4765-A391-6966424B1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1CB2CC-A963-4AAF-8D2D-058EFDFF9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B93A88-6D85-4E4F-87C8-C7A1BF371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1B9CA-3AC9-471E-A0A0-1E93FA2EF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99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slide" Target="slide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주요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기능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요구사항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및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제약사항</a:t>
            </a:r>
            <a:endParaRPr sz="2200" b="1" i="0" dirty="0">
              <a:solidFill>
                <a:srgbClr val="000000"/>
              </a:solidFill>
              <a:latin typeface="맑은 고딕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237744" y="873085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65175" y="1360639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3" y="1360639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0936" y="137892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5" y="1890991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3" y="189099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0936" y="190927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5" y="1482231"/>
            <a:ext cx="6093291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추론 요청을 수신하고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 err="1">
                <a:solidFill>
                  <a:srgbClr val="000000"/>
                </a:solidFill>
              </a:rPr>
              <a:t>요청별</a:t>
            </a:r>
            <a:r>
              <a:rPr lang="ko-KR" altLang="en-US" sz="1100" b="1" dirty="0">
                <a:solidFill>
                  <a:srgbClr val="000000"/>
                </a:solidFill>
              </a:rPr>
              <a:t> 입력 및 실행 상태를 관리한다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5176" y="2421342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3" y="242134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0936" y="243963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951694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3" y="2951694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0936" y="2969982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2015771"/>
            <a:ext cx="72659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다중 요청의 실행 순서와 </a:t>
            </a:r>
            <a:r>
              <a:rPr lang="ko-KR" altLang="en-US" sz="1100" b="1" dirty="0" err="1">
                <a:solidFill>
                  <a:srgbClr val="000000"/>
                </a:solidFill>
              </a:rPr>
              <a:t>배칭을</a:t>
            </a:r>
            <a:r>
              <a:rPr lang="ko-KR" altLang="en-US" sz="1100" b="1" dirty="0">
                <a:solidFill>
                  <a:srgbClr val="000000"/>
                </a:solidFill>
              </a:rPr>
              <a:t> 결정하고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가용 연산 자원에 작업을 할당하여 실행 시점을 조정</a:t>
            </a:r>
            <a:r>
              <a:rPr lang="en-US" altLang="ko-KR" sz="1100" b="1" dirty="0">
                <a:solidFill>
                  <a:srgbClr val="000000"/>
                </a:solidFill>
              </a:rPr>
              <a:t>(</a:t>
            </a:r>
            <a:r>
              <a:rPr lang="ko-KR" altLang="en-US" sz="1100" b="1" dirty="0">
                <a:solidFill>
                  <a:srgbClr val="000000"/>
                </a:solidFill>
              </a:rPr>
              <a:t>스케줄링</a:t>
            </a:r>
            <a:r>
              <a:rPr lang="en-US" altLang="ko-KR" sz="1100" b="1" dirty="0">
                <a:solidFill>
                  <a:srgbClr val="000000"/>
                </a:solidFill>
              </a:rPr>
              <a:t>)</a:t>
            </a:r>
            <a:r>
              <a:rPr lang="ko-KR" altLang="en-US" sz="1100" b="1" dirty="0">
                <a:solidFill>
                  <a:srgbClr val="000000"/>
                </a:solidFill>
              </a:rPr>
              <a:t>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39D4B0-244F-4FC9-B93F-DC6D352A79F4}"/>
              </a:ext>
            </a:extLst>
          </p:cNvPr>
          <p:cNvSpPr txBox="1"/>
          <p:nvPr/>
        </p:nvSpPr>
        <p:spPr>
          <a:xfrm>
            <a:off x="8144933" y="1460530"/>
            <a:ext cx="3708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요청 관리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A3B323-AAEE-473A-AF1A-0D606D76FEB4}"/>
              </a:ext>
            </a:extLst>
          </p:cNvPr>
          <p:cNvSpPr txBox="1"/>
          <p:nvPr/>
        </p:nvSpPr>
        <p:spPr>
          <a:xfrm>
            <a:off x="5046133" y="1991636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스케줄링</a:t>
            </a:r>
          </a:p>
        </p:txBody>
      </p:sp>
      <p:sp>
        <p:nvSpPr>
          <p:cNvPr id="79" name="Rectangle 45">
            <a:extLst>
              <a:ext uri="{FF2B5EF4-FFF2-40B4-BE49-F238E27FC236}">
                <a16:creationId xmlns:a16="http://schemas.microsoft.com/office/drawing/2014/main" id="{3FCA8F25-63F1-47C2-AF65-DF75850C1EA1}"/>
              </a:ext>
            </a:extLst>
          </p:cNvPr>
          <p:cNvSpPr/>
          <p:nvPr/>
        </p:nvSpPr>
        <p:spPr>
          <a:xfrm>
            <a:off x="218102" y="4813596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46">
            <a:extLst>
              <a:ext uri="{FF2B5EF4-FFF2-40B4-BE49-F238E27FC236}">
                <a16:creationId xmlns:a16="http://schemas.microsoft.com/office/drawing/2014/main" id="{D28FE1C4-816C-4972-B17F-633272FB8ED7}"/>
              </a:ext>
            </a:extLst>
          </p:cNvPr>
          <p:cNvSpPr/>
          <p:nvPr/>
        </p:nvSpPr>
        <p:spPr>
          <a:xfrm>
            <a:off x="556430" y="4813596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47">
            <a:extLst>
              <a:ext uri="{FF2B5EF4-FFF2-40B4-BE49-F238E27FC236}">
                <a16:creationId xmlns:a16="http://schemas.microsoft.com/office/drawing/2014/main" id="{6441E98F-EA5F-4518-BA2F-8B9E7D52008A}"/>
              </a:ext>
            </a:extLst>
          </p:cNvPr>
          <p:cNvSpPr/>
          <p:nvPr/>
        </p:nvSpPr>
        <p:spPr>
          <a:xfrm>
            <a:off x="583862" y="4827336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D5A7070-27AE-4C35-BBA5-133CB01EB5CD}"/>
              </a:ext>
            </a:extLst>
          </p:cNvPr>
          <p:cNvSpPr txBox="1"/>
          <p:nvPr/>
        </p:nvSpPr>
        <p:spPr>
          <a:xfrm>
            <a:off x="1315381" y="4954789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 err="1"/>
              <a:t>vLLM</a:t>
            </a:r>
            <a:r>
              <a:rPr lang="en-US" altLang="ko-KR" sz="1050" b="1" dirty="0"/>
              <a:t> </a:t>
            </a:r>
            <a:r>
              <a:rPr lang="ko-KR" altLang="en-US" sz="1050" b="1" dirty="0" err="1"/>
              <a:t>서빙</a:t>
            </a:r>
            <a:r>
              <a:rPr lang="ko-KR" altLang="en-US" sz="1050" b="1" dirty="0"/>
              <a:t> </a:t>
            </a:r>
            <a:r>
              <a:rPr lang="en-US" altLang="ko-KR" sz="1050" b="1" dirty="0"/>
              <a:t>Framework </a:t>
            </a:r>
            <a:r>
              <a:rPr lang="ko-KR" altLang="en-US" sz="1050" b="1" dirty="0"/>
              <a:t>기반으로 개발한다</a:t>
            </a:r>
            <a:r>
              <a:rPr lang="en-US" altLang="ko-KR" sz="1050" b="1" dirty="0"/>
              <a:t> </a:t>
            </a:r>
            <a:endParaRPr lang="en-US" altLang="ko-KR" sz="1050" b="1" i="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04FE08-1DEE-45B4-9CF1-EF975F110581}"/>
              </a:ext>
            </a:extLst>
          </p:cNvPr>
          <p:cNvSpPr txBox="1"/>
          <p:nvPr/>
        </p:nvSpPr>
        <p:spPr>
          <a:xfrm>
            <a:off x="197339" y="921031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5">
                    <a:lumMod val="50000"/>
                  </a:schemeClr>
                </a:solidFill>
              </a:rPr>
              <a:t>기능 요구사항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46E41B-0C2D-4C16-B4E0-E14283A0EF12}"/>
              </a:ext>
            </a:extLst>
          </p:cNvPr>
          <p:cNvSpPr txBox="1"/>
          <p:nvPr/>
        </p:nvSpPr>
        <p:spPr>
          <a:xfrm>
            <a:off x="218102" y="4352692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제약사항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03D20420-D68B-4666-B110-11317DEE246D}"/>
              </a:ext>
            </a:extLst>
          </p:cNvPr>
          <p:cNvSpPr txBox="1"/>
          <p:nvPr/>
        </p:nvSpPr>
        <p:spPr>
          <a:xfrm>
            <a:off x="1179576" y="2570535"/>
            <a:ext cx="68341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모델을 실행하여 입력에 대한</a:t>
            </a:r>
            <a:r>
              <a:rPr lang="en-US" altLang="ko-KR" sz="1100" b="1" dirty="0">
                <a:solidFill>
                  <a:srgbClr val="000000"/>
                </a:solidFill>
              </a:rPr>
              <a:t> </a:t>
            </a:r>
            <a:r>
              <a:rPr lang="ko-KR" altLang="en-US" sz="1100" b="1" dirty="0">
                <a:solidFill>
                  <a:srgbClr val="000000"/>
                </a:solidFill>
              </a:rPr>
              <a:t>연산을 수행하고 출력 토큰을 생성한다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1461643-C2FA-4E83-9270-39C3F56B508A}"/>
              </a:ext>
            </a:extLst>
          </p:cNvPr>
          <p:cNvSpPr txBox="1"/>
          <p:nvPr/>
        </p:nvSpPr>
        <p:spPr>
          <a:xfrm>
            <a:off x="5046133" y="2532478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LLM </a:t>
            </a:r>
            <a:r>
              <a:rPr lang="ko-KR" altLang="en-US" sz="1100" dirty="0"/>
              <a:t>추론 실행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721E31D8-0D3C-4FBD-9B1A-AF55B77A1FD7}"/>
              </a:ext>
            </a:extLst>
          </p:cNvPr>
          <p:cNvSpPr txBox="1"/>
          <p:nvPr/>
        </p:nvSpPr>
        <p:spPr>
          <a:xfrm>
            <a:off x="1179576" y="3077572"/>
            <a:ext cx="4846320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추론 과정에서 생성되는 </a:t>
            </a:r>
            <a:r>
              <a:rPr lang="en-US" altLang="ko-KR" sz="1100" b="1" dirty="0">
                <a:solidFill>
                  <a:srgbClr val="000000"/>
                </a:solidFill>
              </a:rPr>
              <a:t>KV </a:t>
            </a:r>
            <a:r>
              <a:rPr lang="ko-KR" altLang="en-US" sz="1100" b="1" dirty="0">
                <a:solidFill>
                  <a:srgbClr val="000000"/>
                </a:solidFill>
              </a:rPr>
              <a:t>캐시를 할당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저장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재사용 및 해제한다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E03050F-1B33-4E51-B626-E954EE61AD7F}"/>
              </a:ext>
            </a:extLst>
          </p:cNvPr>
          <p:cNvSpPr txBox="1"/>
          <p:nvPr/>
        </p:nvSpPr>
        <p:spPr>
          <a:xfrm>
            <a:off x="5046133" y="3058684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KV </a:t>
            </a:r>
            <a:r>
              <a:rPr lang="ko-KR" altLang="en-US" sz="1100" dirty="0"/>
              <a:t>캐시 관리</a:t>
            </a:r>
            <a:endParaRPr lang="en-US" altLang="ko-KR" sz="1100" dirty="0"/>
          </a:p>
        </p:txBody>
      </p:sp>
      <p:sp>
        <p:nvSpPr>
          <p:cNvPr id="8" name="실행 단추: 앞으로 또는 다음 7">
            <a:hlinkClick r:id="" action="ppaction://noaction" highlightClick="1"/>
          </p:cNvPr>
          <p:cNvSpPr/>
          <p:nvPr/>
        </p:nvSpPr>
        <p:spPr>
          <a:xfrm>
            <a:off x="10302719" y="1000682"/>
            <a:ext cx="247357" cy="22556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실행 단추: 앞으로 또는 다음 54">
            <a:hlinkClick r:id="" action="ppaction://noaction" highlightClick="1"/>
          </p:cNvPr>
          <p:cNvSpPr/>
          <p:nvPr/>
        </p:nvSpPr>
        <p:spPr>
          <a:xfrm>
            <a:off x="11671292" y="999121"/>
            <a:ext cx="232287" cy="228736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/>
          <p:cNvSpPr txBox="1"/>
          <p:nvPr/>
        </p:nvSpPr>
        <p:spPr>
          <a:xfrm>
            <a:off x="9071569" y="1028401"/>
            <a:ext cx="127804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 dirty="0">
                <a:solidFill>
                  <a:srgbClr val="404040"/>
                </a:solidFill>
                <a:latin typeface="맑은 고딕"/>
                <a:ea typeface="맑은 고딕"/>
              </a:rPr>
              <a:t>기능 요구사항 전체 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735432" y="1028401"/>
            <a:ext cx="982791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>
                <a:solidFill>
                  <a:srgbClr val="404040"/>
                </a:solidFill>
                <a:latin typeface="맑은 고딕"/>
                <a:ea typeface="맑은 고딕"/>
              </a:rPr>
              <a:t>요구사항 정제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C0127-3DDD-4B91-8D00-013FC1325DD7}"/>
              </a:ext>
            </a:extLst>
          </p:cNvPr>
          <p:cNvSpPr txBox="1"/>
          <p:nvPr/>
        </p:nvSpPr>
        <p:spPr>
          <a:xfrm>
            <a:off x="5046133" y="4933589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개발 환경 </a:t>
            </a:r>
          </a:p>
        </p:txBody>
      </p:sp>
      <p:sp>
        <p:nvSpPr>
          <p:cNvPr id="50" name="Rectangle 45">
            <a:extLst>
              <a:ext uri="{FF2B5EF4-FFF2-40B4-BE49-F238E27FC236}">
                <a16:creationId xmlns:a16="http://schemas.microsoft.com/office/drawing/2014/main" id="{21BDE2AC-7258-4268-A7AD-C44418089B10}"/>
              </a:ext>
            </a:extLst>
          </p:cNvPr>
          <p:cNvSpPr/>
          <p:nvPr/>
        </p:nvSpPr>
        <p:spPr>
          <a:xfrm>
            <a:off x="218102" y="5393514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46">
            <a:extLst>
              <a:ext uri="{FF2B5EF4-FFF2-40B4-BE49-F238E27FC236}">
                <a16:creationId xmlns:a16="http://schemas.microsoft.com/office/drawing/2014/main" id="{24055539-83D1-4EB6-A5F6-D51297921A05}"/>
              </a:ext>
            </a:extLst>
          </p:cNvPr>
          <p:cNvSpPr/>
          <p:nvPr/>
        </p:nvSpPr>
        <p:spPr>
          <a:xfrm>
            <a:off x="556430" y="5393514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47">
            <a:extLst>
              <a:ext uri="{FF2B5EF4-FFF2-40B4-BE49-F238E27FC236}">
                <a16:creationId xmlns:a16="http://schemas.microsoft.com/office/drawing/2014/main" id="{00FBCFC1-DC86-4DF0-A0F5-D033401BDB43}"/>
              </a:ext>
            </a:extLst>
          </p:cNvPr>
          <p:cNvSpPr/>
          <p:nvPr/>
        </p:nvSpPr>
        <p:spPr>
          <a:xfrm>
            <a:off x="583862" y="5407254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맑은 고딕"/>
              </a:rPr>
              <a:t>C0</a:t>
            </a:r>
            <a:r>
              <a:rPr lang="en-US" sz="1100" b="1" i="0" dirty="0">
                <a:solidFill>
                  <a:srgbClr val="FFFFFF"/>
                </a:solidFill>
                <a:latin typeface="맑은 고딕"/>
              </a:rPr>
              <a:t>2</a:t>
            </a:r>
            <a:endParaRPr sz="1100" b="1" i="0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687D3C-A50F-431C-A9DE-F1E7205F8F17}"/>
              </a:ext>
            </a:extLst>
          </p:cNvPr>
          <p:cNvSpPr txBox="1"/>
          <p:nvPr/>
        </p:nvSpPr>
        <p:spPr>
          <a:xfrm>
            <a:off x="1315381" y="5534707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/>
              <a:t>LLM </a:t>
            </a:r>
            <a:r>
              <a:rPr lang="ko-KR" altLang="en-US" sz="1050" b="1" dirty="0"/>
              <a:t>모델의 추론 정확도 저하는 기본 대비 </a:t>
            </a:r>
            <a:r>
              <a:rPr lang="en-US" altLang="ko-KR" sz="1050" b="1" dirty="0"/>
              <a:t>1% </a:t>
            </a:r>
            <a:r>
              <a:rPr lang="ko-KR" altLang="en-US" sz="1050" b="1" dirty="0"/>
              <a:t>이내여야 한다</a:t>
            </a:r>
            <a:r>
              <a:rPr lang="en-US" altLang="ko-KR" sz="1050" b="1" dirty="0"/>
              <a:t>. </a:t>
            </a:r>
            <a:r>
              <a:rPr lang="ko-KR" altLang="en-US" sz="1050" b="1" i="0" dirty="0"/>
              <a:t> </a:t>
            </a:r>
            <a:endParaRPr lang="en-US" altLang="ko-KR" sz="1050" b="1" i="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831A06-B334-4FFE-82CD-1259EF6E0A64}"/>
              </a:ext>
            </a:extLst>
          </p:cNvPr>
          <p:cNvSpPr txBox="1"/>
          <p:nvPr/>
        </p:nvSpPr>
        <p:spPr>
          <a:xfrm>
            <a:off x="7272866" y="5513507"/>
            <a:ext cx="4580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</a:t>
            </a:r>
            <a:r>
              <a:rPr lang="ko-KR" altLang="en-US" sz="1100" dirty="0"/>
              <a:t> 추론 정확도 보장</a:t>
            </a:r>
          </a:p>
        </p:txBody>
      </p:sp>
    </p:spTree>
    <p:extLst>
      <p:ext uri="{BB962C8B-B14F-4D97-AF65-F5344CB8AC3E}">
        <p14:creationId xmlns:p14="http://schemas.microsoft.com/office/powerpoint/2010/main" val="167497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/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새로운 메모리 </a:t>
                      </a:r>
                      <a:r>
                        <a:rPr lang="en-US" altLang="ko-KR" sz="900" dirty="0"/>
                        <a:t>tier, </a:t>
                      </a:r>
                      <a:r>
                        <a:rPr lang="ko-KR" altLang="en-US" sz="900" dirty="0"/>
                        <a:t>이동</a:t>
                      </a:r>
                      <a:r>
                        <a:rPr lang="en-US" altLang="ko-KR" sz="900" dirty="0"/>
                        <a:t>·</a:t>
                      </a:r>
                      <a:r>
                        <a:rPr lang="ko-KR" altLang="en-US" sz="900" dirty="0"/>
                        <a:t>배치 정책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데이터 객체 유형을 추가할 때 서빙 경로를 수정하지 않고 반영할 수 있어야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</a:t>
                      </a:r>
                      <a:r>
                        <a:rPr lang="ko-KR" altLang="en-US" sz="900" b="1" dirty="0"/>
                        <a:t>토큰 비용 </a:t>
                      </a:r>
                      <a:r>
                        <a:rPr lang="en-US" altLang="ko-KR" sz="900" b="1" dirty="0"/>
                        <a:t>&lt; [ ] </a:t>
                      </a:r>
                      <a:r>
                        <a:rPr lang="ko-KR" altLang="en-US" sz="900" b="1" dirty="0"/>
                        <a:t>개</a:t>
                      </a:r>
                      <a:r>
                        <a:rPr lang="en-US" altLang="ko-KR" sz="900" b="1" dirty="0"/>
                        <a:t>, </a:t>
                      </a:r>
                      <a:r>
                        <a:rPr lang="ko-KR" altLang="en-US" sz="900" b="1" dirty="0"/>
                        <a:t>공수 </a:t>
                      </a:r>
                      <a:r>
                        <a:rPr lang="en-US" altLang="ko-KR" sz="900" b="1" dirty="0"/>
                        <a:t>&lt; [ ] MM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242C599-BD36-4F5A-8843-1A0561C9867C}"/>
              </a:ext>
            </a:extLst>
          </p:cNvPr>
          <p:cNvSpPr/>
          <p:nvPr/>
        </p:nvSpPr>
        <p:spPr>
          <a:xfrm>
            <a:off x="1667523" y="2930967"/>
            <a:ext cx="6360041" cy="28069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Inference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Architecture </a:t>
            </a:r>
            <a:r>
              <a:rPr lang="ko-KR" altLang="en-US" dirty="0"/>
              <a:t>분석 </a:t>
            </a:r>
            <a:r>
              <a:rPr lang="en-US" altLang="ko-KR" dirty="0"/>
              <a:t>– Overall</a:t>
            </a:r>
            <a:r>
              <a:rPr lang="ko-KR" altLang="en-US" dirty="0"/>
              <a:t> </a:t>
            </a:r>
            <a:r>
              <a:rPr lang="en-US" altLang="ko-KR" dirty="0"/>
              <a:t>Architecture (Module View)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987BE4-A66E-43CB-835D-E763AF31D81E}"/>
              </a:ext>
            </a:extLst>
          </p:cNvPr>
          <p:cNvSpPr/>
          <p:nvPr/>
        </p:nvSpPr>
        <p:spPr>
          <a:xfrm>
            <a:off x="356869" y="1301651"/>
            <a:ext cx="2403126" cy="2649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Memory-Centric AI Runtime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D98E46-4D0C-46AA-BA61-6FE6449A50A9}"/>
              </a:ext>
            </a:extLst>
          </p:cNvPr>
          <p:cNvSpPr/>
          <p:nvPr/>
        </p:nvSpPr>
        <p:spPr>
          <a:xfrm>
            <a:off x="356869" y="1566629"/>
            <a:ext cx="8888108" cy="439174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sz="600" b="1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B69379A-E4C9-4712-8673-038D252E1590}"/>
              </a:ext>
            </a:extLst>
          </p:cNvPr>
          <p:cNvCxnSpPr>
            <a:cxnSpLocks/>
          </p:cNvCxnSpPr>
          <p:nvPr/>
        </p:nvCxnSpPr>
        <p:spPr>
          <a:xfrm>
            <a:off x="3682746" y="3917228"/>
            <a:ext cx="4592830" cy="8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7D6D7E5-4C5A-4F6F-99B5-9D7A4FC1F5C1}"/>
              </a:ext>
            </a:extLst>
          </p:cNvPr>
          <p:cNvCxnSpPr>
            <a:cxnSpLocks/>
          </p:cNvCxnSpPr>
          <p:nvPr/>
        </p:nvCxnSpPr>
        <p:spPr>
          <a:xfrm>
            <a:off x="6205987" y="4280616"/>
            <a:ext cx="2069589" cy="586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9F40B79-BC5C-4891-83AD-60166B46E7E1}"/>
              </a:ext>
            </a:extLst>
          </p:cNvPr>
          <p:cNvCxnSpPr>
            <a:cxnSpLocks/>
          </p:cNvCxnSpPr>
          <p:nvPr/>
        </p:nvCxnSpPr>
        <p:spPr>
          <a:xfrm>
            <a:off x="7582893" y="4656801"/>
            <a:ext cx="694144" cy="605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4DA1CFA-045E-4628-8869-1F56B7ECF57B}"/>
              </a:ext>
            </a:extLst>
          </p:cNvPr>
          <p:cNvSpPr/>
          <p:nvPr/>
        </p:nvSpPr>
        <p:spPr>
          <a:xfrm>
            <a:off x="4270980" y="3347272"/>
            <a:ext cx="1986013" cy="21617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 Management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911235-0C56-4AE4-9779-0F18111703B7}"/>
              </a:ext>
            </a:extLst>
          </p:cNvPr>
          <p:cNvSpPr/>
          <p:nvPr/>
        </p:nvSpPr>
        <p:spPr>
          <a:xfrm>
            <a:off x="6681597" y="3330310"/>
            <a:ext cx="996489" cy="21902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Resource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F2A673-00A9-4622-8C5F-1F07A44E80DC}"/>
              </a:ext>
            </a:extLst>
          </p:cNvPr>
          <p:cNvSpPr/>
          <p:nvPr/>
        </p:nvSpPr>
        <p:spPr>
          <a:xfrm>
            <a:off x="6772763" y="3654331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64AF095-3145-42B9-950F-8650F3231BF4}"/>
              </a:ext>
            </a:extLst>
          </p:cNvPr>
          <p:cNvSpPr/>
          <p:nvPr/>
        </p:nvSpPr>
        <p:spPr>
          <a:xfrm>
            <a:off x="6768370" y="40273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E7FDF7A-F68D-4C7C-B00C-F3972DD97D24}"/>
              </a:ext>
            </a:extLst>
          </p:cNvPr>
          <p:cNvSpPr/>
          <p:nvPr/>
        </p:nvSpPr>
        <p:spPr>
          <a:xfrm>
            <a:off x="6768370" y="440501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Destination Tier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27DCA7-A71D-4418-8B57-363A2C2B5AD6}"/>
              </a:ext>
            </a:extLst>
          </p:cNvPr>
          <p:cNvSpPr/>
          <p:nvPr/>
        </p:nvSpPr>
        <p:spPr>
          <a:xfrm>
            <a:off x="6768370" y="47741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Telemetry Collector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2FC10B3-A64E-4BC5-A19B-135224951C91}"/>
              </a:ext>
            </a:extLst>
          </p:cNvPr>
          <p:cNvSpPr/>
          <p:nvPr/>
        </p:nvSpPr>
        <p:spPr>
          <a:xfrm>
            <a:off x="1747590" y="1888008"/>
            <a:ext cx="6005496" cy="73241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Request Orchestrator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9A34B3D-E9CF-4CCB-AAED-A317E0E9C59A}"/>
              </a:ext>
            </a:extLst>
          </p:cNvPr>
          <p:cNvSpPr/>
          <p:nvPr/>
        </p:nvSpPr>
        <p:spPr>
          <a:xfrm>
            <a:off x="6768370" y="5135613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E6B93BB-A891-48C9-A089-337174B4C624}"/>
              </a:ext>
            </a:extLst>
          </p:cNvPr>
          <p:cNvSpPr/>
          <p:nvPr/>
        </p:nvSpPr>
        <p:spPr>
          <a:xfrm>
            <a:off x="1751950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Generation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53572B-A831-4841-B126-9C6E8F10F18B}"/>
              </a:ext>
            </a:extLst>
          </p:cNvPr>
          <p:cNvSpPr/>
          <p:nvPr/>
        </p:nvSpPr>
        <p:spPr>
          <a:xfrm>
            <a:off x="1832968" y="3650225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9E0E5F2-21B7-428D-827E-E767EC5D2F39}"/>
              </a:ext>
            </a:extLst>
          </p:cNvPr>
          <p:cNvSpPr/>
          <p:nvPr/>
        </p:nvSpPr>
        <p:spPr>
          <a:xfrm>
            <a:off x="1832968" y="4029129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</a:t>
            </a:r>
            <a:r>
              <a:rPr lang="ko-KR" altLang="en-US" sz="700" b="1" dirty="0">
                <a:solidFill>
                  <a:schemeClr val="tx1"/>
                </a:solidFill>
              </a:rPr>
              <a:t> </a:t>
            </a:r>
            <a:r>
              <a:rPr lang="en-US" altLang="ko-KR" sz="700" b="1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6915685-ADC8-455E-9AA5-761416FE3281}"/>
              </a:ext>
            </a:extLst>
          </p:cNvPr>
          <p:cNvSpPr/>
          <p:nvPr/>
        </p:nvSpPr>
        <p:spPr>
          <a:xfrm>
            <a:off x="1832968" y="439300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58AB417-7C37-42AC-9CAC-DC3FD03FAD91}"/>
              </a:ext>
            </a:extLst>
          </p:cNvPr>
          <p:cNvSpPr/>
          <p:nvPr/>
        </p:nvSpPr>
        <p:spPr>
          <a:xfrm>
            <a:off x="1832968" y="47623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Input/Output Processor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A41461A-A297-4D14-BBF2-4F2CEE376EEC}"/>
              </a:ext>
            </a:extLst>
          </p:cNvPr>
          <p:cNvSpPr/>
          <p:nvPr/>
        </p:nvSpPr>
        <p:spPr>
          <a:xfrm>
            <a:off x="8280551" y="1901437"/>
            <a:ext cx="864882" cy="38345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System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C14CD25-5690-4E8A-85BF-7D833CD6354B}"/>
              </a:ext>
            </a:extLst>
          </p:cNvPr>
          <p:cNvSpPr/>
          <p:nvPr/>
        </p:nvSpPr>
        <p:spPr>
          <a:xfrm>
            <a:off x="8339648" y="2222065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Utility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7B3CB5E-589C-4FE1-ABDF-F8E54085D318}"/>
              </a:ext>
            </a:extLst>
          </p:cNvPr>
          <p:cNvSpPr/>
          <p:nvPr/>
        </p:nvSpPr>
        <p:spPr>
          <a:xfrm>
            <a:off x="8339648" y="276052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>
                <a:solidFill>
                  <a:schemeClr val="tx1"/>
                </a:solidFill>
              </a:rPr>
              <a:t>Configuration</a:t>
            </a:r>
            <a:endParaRPr lang="ko-KR" altLang="en-US" sz="600" b="1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059C39C-6D34-4711-B6EA-B57CE7C4EF6E}"/>
              </a:ext>
            </a:extLst>
          </p:cNvPr>
          <p:cNvSpPr/>
          <p:nvPr/>
        </p:nvSpPr>
        <p:spPr>
          <a:xfrm>
            <a:off x="8339648" y="3298990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Network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63D9356-2AA3-43E0-ACAF-ED3D8266C112}"/>
              </a:ext>
            </a:extLst>
          </p:cNvPr>
          <p:cNvSpPr/>
          <p:nvPr/>
        </p:nvSpPr>
        <p:spPr>
          <a:xfrm>
            <a:off x="8339648" y="383745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0D8CD6-8959-4368-9774-18EC55010405}"/>
              </a:ext>
            </a:extLst>
          </p:cNvPr>
          <p:cNvSpPr/>
          <p:nvPr/>
        </p:nvSpPr>
        <p:spPr>
          <a:xfrm>
            <a:off x="8339648" y="437591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Shared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98FEDAF-10E6-43E3-88E5-782FE8E2F423}"/>
              </a:ext>
            </a:extLst>
          </p:cNvPr>
          <p:cNvCxnSpPr/>
          <p:nvPr/>
        </p:nvCxnSpPr>
        <p:spPr>
          <a:xfrm>
            <a:off x="7758571" y="2142212"/>
            <a:ext cx="510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D9E731-D8BB-45F3-9793-2CA3B1EC07E5}"/>
              </a:ext>
            </a:extLst>
          </p:cNvPr>
          <p:cNvSpPr txBox="1"/>
          <p:nvPr/>
        </p:nvSpPr>
        <p:spPr>
          <a:xfrm>
            <a:off x="7796828" y="2012805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DCA96ED-4347-47C2-B946-D2E6A0EBA841}"/>
              </a:ext>
            </a:extLst>
          </p:cNvPr>
          <p:cNvSpPr/>
          <p:nvPr/>
        </p:nvSpPr>
        <p:spPr>
          <a:xfrm>
            <a:off x="437308" y="1888008"/>
            <a:ext cx="878833" cy="11350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Input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7F39DDD-41B3-4425-BAE2-5527B2EDBE63}"/>
              </a:ext>
            </a:extLst>
          </p:cNvPr>
          <p:cNvSpPr/>
          <p:nvPr/>
        </p:nvSpPr>
        <p:spPr>
          <a:xfrm>
            <a:off x="499336" y="2165392"/>
            <a:ext cx="757604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Query Hist-</a:t>
            </a:r>
            <a:r>
              <a:rPr lang="en-US" altLang="ko-KR" sz="700" b="1" dirty="0" err="1">
                <a:solidFill>
                  <a:schemeClr val="tx1"/>
                </a:solidFill>
              </a:rPr>
              <a:t>ory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180BF17C-17D3-43A3-9CB6-B014F53CE8F4}"/>
              </a:ext>
            </a:extLst>
          </p:cNvPr>
          <p:cNvSpPr/>
          <p:nvPr/>
        </p:nvSpPr>
        <p:spPr>
          <a:xfrm>
            <a:off x="498707" y="2600586"/>
            <a:ext cx="755203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User Query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655CFDC-6628-4EC6-BDF2-B1EE855E2F07}"/>
              </a:ext>
            </a:extLst>
          </p:cNvPr>
          <p:cNvCxnSpPr/>
          <p:nvPr/>
        </p:nvCxnSpPr>
        <p:spPr>
          <a:xfrm flipH="1">
            <a:off x="1323526" y="2142212"/>
            <a:ext cx="4240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EA65D2F-022B-41A5-B18F-57A4B5469CF0}"/>
              </a:ext>
            </a:extLst>
          </p:cNvPr>
          <p:cNvSpPr txBox="1"/>
          <p:nvPr/>
        </p:nvSpPr>
        <p:spPr>
          <a:xfrm>
            <a:off x="1242922" y="194467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2854A-2C05-485F-82E1-B2F491C43DE5}"/>
              </a:ext>
            </a:extLst>
          </p:cNvPr>
          <p:cNvSpPr txBox="1"/>
          <p:nvPr/>
        </p:nvSpPr>
        <p:spPr>
          <a:xfrm>
            <a:off x="7796828" y="3802778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01176E-BD38-42E4-8DD3-9F0729D676D9}"/>
              </a:ext>
            </a:extLst>
          </p:cNvPr>
          <p:cNvSpPr txBox="1"/>
          <p:nvPr/>
        </p:nvSpPr>
        <p:spPr>
          <a:xfrm>
            <a:off x="7796828" y="4153613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8C3069-92F2-4A89-A97C-44A23767F5D6}"/>
              </a:ext>
            </a:extLst>
          </p:cNvPr>
          <p:cNvSpPr txBox="1"/>
          <p:nvPr/>
        </p:nvSpPr>
        <p:spPr>
          <a:xfrm>
            <a:off x="7796828" y="4544664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6A9138A-C182-47D9-B49C-7BF6607F944D}"/>
              </a:ext>
            </a:extLst>
          </p:cNvPr>
          <p:cNvSpPr/>
          <p:nvPr/>
        </p:nvSpPr>
        <p:spPr>
          <a:xfrm>
            <a:off x="3074901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Prefill/Decode 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Execution Planner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D34F8860-FA35-4E68-A7A5-565A0A8599E6}"/>
              </a:ext>
            </a:extLst>
          </p:cNvPr>
          <p:cNvSpPr/>
          <p:nvPr/>
        </p:nvSpPr>
        <p:spPr>
          <a:xfrm>
            <a:off x="4265519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Router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4B26147D-BBEE-433B-902B-6409A56B92B1}"/>
              </a:ext>
            </a:extLst>
          </p:cNvPr>
          <p:cNvSpPr/>
          <p:nvPr/>
        </p:nvSpPr>
        <p:spPr>
          <a:xfrm>
            <a:off x="6646755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Cost Evaluator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5296705-1646-4329-A8F0-50B46937C6ED}"/>
              </a:ext>
            </a:extLst>
          </p:cNvPr>
          <p:cNvSpPr/>
          <p:nvPr/>
        </p:nvSpPr>
        <p:spPr>
          <a:xfrm>
            <a:off x="1884283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Request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38F448B-A0E2-4E53-8F30-25709573E212}"/>
              </a:ext>
            </a:extLst>
          </p:cNvPr>
          <p:cNvSpPr/>
          <p:nvPr/>
        </p:nvSpPr>
        <p:spPr>
          <a:xfrm>
            <a:off x="437308" y="3568051"/>
            <a:ext cx="878833" cy="15506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KV Pool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6B473A58-D4E2-4FA0-9A7D-1F5A60EAD4AD}"/>
              </a:ext>
            </a:extLst>
          </p:cNvPr>
          <p:cNvSpPr/>
          <p:nvPr/>
        </p:nvSpPr>
        <p:spPr>
          <a:xfrm>
            <a:off x="504341" y="4270921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Blending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A62AA52-D747-49F2-B3D2-58709970563E}"/>
              </a:ext>
            </a:extLst>
          </p:cNvPr>
          <p:cNvSpPr/>
          <p:nvPr/>
        </p:nvSpPr>
        <p:spPr>
          <a:xfrm>
            <a:off x="504341" y="3899394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Compressor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F7FF720-49D8-4157-83B3-99E2D081D465}"/>
              </a:ext>
            </a:extLst>
          </p:cNvPr>
          <p:cNvCxnSpPr/>
          <p:nvPr/>
        </p:nvCxnSpPr>
        <p:spPr>
          <a:xfrm flipH="1">
            <a:off x="1322451" y="5007940"/>
            <a:ext cx="42513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E66B868-FB5E-46E2-943A-191E289B584B}"/>
              </a:ext>
            </a:extLst>
          </p:cNvPr>
          <p:cNvSpPr txBox="1"/>
          <p:nvPr/>
        </p:nvSpPr>
        <p:spPr>
          <a:xfrm>
            <a:off x="1240480" y="482185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B6D5FAEA-73C8-4BA9-801D-7D0E25A8BE7B}"/>
              </a:ext>
            </a:extLst>
          </p:cNvPr>
          <p:cNvSpPr/>
          <p:nvPr/>
        </p:nvSpPr>
        <p:spPr>
          <a:xfrm>
            <a:off x="702493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29322D6-4503-4175-965B-5579364D3384}"/>
              </a:ext>
            </a:extLst>
          </p:cNvPr>
          <p:cNvSpPr/>
          <p:nvPr/>
        </p:nvSpPr>
        <p:spPr>
          <a:xfrm>
            <a:off x="715752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0DBE6106-25E3-4326-A986-EAF4BE6E78A8}"/>
              </a:ext>
            </a:extLst>
          </p:cNvPr>
          <p:cNvSpPr/>
          <p:nvPr/>
        </p:nvSpPr>
        <p:spPr>
          <a:xfrm>
            <a:off x="7282478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B9CB965B-AE01-4439-A4F1-5A258843335D}"/>
              </a:ext>
            </a:extLst>
          </p:cNvPr>
          <p:cNvSpPr/>
          <p:nvPr/>
        </p:nvSpPr>
        <p:spPr>
          <a:xfrm>
            <a:off x="2562928" y="324333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ADF5CDF-6244-4721-95BF-5FEC8028BFE2}"/>
              </a:ext>
            </a:extLst>
          </p:cNvPr>
          <p:cNvSpPr/>
          <p:nvPr/>
        </p:nvSpPr>
        <p:spPr>
          <a:xfrm>
            <a:off x="6081618" y="32526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93" name="꺾인 연결선 197">
            <a:extLst>
              <a:ext uri="{FF2B5EF4-FFF2-40B4-BE49-F238E27FC236}">
                <a16:creationId xmlns:a16="http://schemas.microsoft.com/office/drawing/2014/main" id="{CEEC7ABF-C513-4E7C-B1A3-2B3DA29E9C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908110" y="1016656"/>
            <a:ext cx="18583" cy="4624357"/>
          </a:xfrm>
          <a:prstGeom prst="bentConnector3">
            <a:avLst>
              <a:gd name="adj1" fmla="val -1230157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199">
            <a:extLst>
              <a:ext uri="{FF2B5EF4-FFF2-40B4-BE49-F238E27FC236}">
                <a16:creationId xmlns:a16="http://schemas.microsoft.com/office/drawing/2014/main" id="{00CC0BBE-238A-475C-A8FF-5598CF09FA07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6256993" y="4425430"/>
            <a:ext cx="424604" cy="271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53B51CE-D02D-426C-B6EC-46CB1E98F0B3}"/>
              </a:ext>
            </a:extLst>
          </p:cNvPr>
          <p:cNvCxnSpPr>
            <a:cxnSpLocks/>
          </p:cNvCxnSpPr>
          <p:nvPr/>
        </p:nvCxnSpPr>
        <p:spPr>
          <a:xfrm>
            <a:off x="2240244" y="2500885"/>
            <a:ext cx="0" cy="79810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E6027C02-B8AC-44A0-82A5-1F7F8387E3FE}"/>
              </a:ext>
            </a:extLst>
          </p:cNvPr>
          <p:cNvCxnSpPr>
            <a:cxnSpLocks/>
          </p:cNvCxnSpPr>
          <p:nvPr/>
        </p:nvCxnSpPr>
        <p:spPr>
          <a:xfrm>
            <a:off x="4746756" y="2620426"/>
            <a:ext cx="0" cy="72629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B3FC211-184A-450C-97B8-7A8BF87B61B2}"/>
              </a:ext>
            </a:extLst>
          </p:cNvPr>
          <p:cNvCxnSpPr>
            <a:cxnSpLocks/>
          </p:cNvCxnSpPr>
          <p:nvPr/>
        </p:nvCxnSpPr>
        <p:spPr>
          <a:xfrm>
            <a:off x="7389703" y="2620426"/>
            <a:ext cx="0" cy="71615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85511F-19D2-468A-9DA5-2546B179A38E}"/>
              </a:ext>
            </a:extLst>
          </p:cNvPr>
          <p:cNvSpPr txBox="1"/>
          <p:nvPr/>
        </p:nvSpPr>
        <p:spPr>
          <a:xfrm>
            <a:off x="2116906" y="2739807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8FAA730-B10F-472F-A7FF-3051B63CDFF9}"/>
              </a:ext>
            </a:extLst>
          </p:cNvPr>
          <p:cNvSpPr txBox="1"/>
          <p:nvPr/>
        </p:nvSpPr>
        <p:spPr>
          <a:xfrm>
            <a:off x="4648553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5604597-0B51-4F3C-BF5A-A4E2B0C2FFAA}"/>
              </a:ext>
            </a:extLst>
          </p:cNvPr>
          <p:cNvSpPr txBox="1"/>
          <p:nvPr/>
        </p:nvSpPr>
        <p:spPr>
          <a:xfrm>
            <a:off x="7291666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4FE0B36-4E28-4210-A1E8-19D45FD7DA4C}"/>
              </a:ext>
            </a:extLst>
          </p:cNvPr>
          <p:cNvSpPr txBox="1"/>
          <p:nvPr/>
        </p:nvSpPr>
        <p:spPr>
          <a:xfrm>
            <a:off x="6163143" y="42732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7A508D8-0ABD-46EF-A3FA-BD746858CA1B}"/>
              </a:ext>
            </a:extLst>
          </p:cNvPr>
          <p:cNvSpPr txBox="1"/>
          <p:nvPr/>
        </p:nvSpPr>
        <p:spPr>
          <a:xfrm>
            <a:off x="5434831" y="293642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A502D86-0F3C-4383-BF26-87810FC4643F}"/>
              </a:ext>
            </a:extLst>
          </p:cNvPr>
          <p:cNvSpPr txBox="1"/>
          <p:nvPr/>
        </p:nvSpPr>
        <p:spPr>
          <a:xfrm>
            <a:off x="3030921" y="2923901"/>
            <a:ext cx="540770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86DB123-E533-43DE-ADB8-3C149A164B89}"/>
              </a:ext>
            </a:extLst>
          </p:cNvPr>
          <p:cNvSpPr txBox="1"/>
          <p:nvPr/>
        </p:nvSpPr>
        <p:spPr>
          <a:xfrm>
            <a:off x="4944109" y="2977659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076ABB55-4A68-49B9-B046-77372484C2DF}"/>
              </a:ext>
            </a:extLst>
          </p:cNvPr>
          <p:cNvSpPr/>
          <p:nvPr/>
        </p:nvSpPr>
        <p:spPr>
          <a:xfrm>
            <a:off x="8339648" y="495197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Debug Log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03E2C7D4-6C3F-45BF-8125-3A061A155C3E}"/>
              </a:ext>
            </a:extLst>
          </p:cNvPr>
          <p:cNvSpPr/>
          <p:nvPr/>
        </p:nvSpPr>
        <p:spPr>
          <a:xfrm>
            <a:off x="1832968" y="513592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 Core Client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6416B6B3-D518-4F05-96A2-1F7BAD5BFAB2}"/>
              </a:ext>
            </a:extLst>
          </p:cNvPr>
          <p:cNvSpPr/>
          <p:nvPr/>
        </p:nvSpPr>
        <p:spPr>
          <a:xfrm>
            <a:off x="43730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26CCC084-9618-4794-8AD6-F546063948A0}"/>
              </a:ext>
            </a:extLst>
          </p:cNvPr>
          <p:cNvSpPr/>
          <p:nvPr/>
        </p:nvSpPr>
        <p:spPr>
          <a:xfrm>
            <a:off x="174741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540FF106-8E6A-4FA3-8B84-92434C6EC870}"/>
              </a:ext>
            </a:extLst>
          </p:cNvPr>
          <p:cNvCxnSpPr>
            <a:cxnSpLocks/>
            <a:stCxn id="33" idx="3"/>
            <a:endCxn id="15" idx="1"/>
          </p:cNvCxnSpPr>
          <p:nvPr/>
        </p:nvCxnSpPr>
        <p:spPr>
          <a:xfrm flipV="1">
            <a:off x="2730961" y="4428147"/>
            <a:ext cx="1540019" cy="584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9752EBAF-EA24-4AAC-92B2-711728D3919F}"/>
              </a:ext>
            </a:extLst>
          </p:cNvPr>
          <p:cNvSpPr/>
          <p:nvPr/>
        </p:nvSpPr>
        <p:spPr>
          <a:xfrm>
            <a:off x="8275573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2F8423FF-2D99-486D-AE0A-C10476FE5EA2}"/>
              </a:ext>
            </a:extLst>
          </p:cNvPr>
          <p:cNvSpPr/>
          <p:nvPr/>
        </p:nvSpPr>
        <p:spPr>
          <a:xfrm>
            <a:off x="1752062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0E035AFB-9309-4F8D-BC61-8EEC519A0615}"/>
              </a:ext>
            </a:extLst>
          </p:cNvPr>
          <p:cNvSpPr/>
          <p:nvPr/>
        </p:nvSpPr>
        <p:spPr>
          <a:xfrm>
            <a:off x="4272618" y="3215995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2B5CBED5-03A8-4431-BC69-3B5CAE173667}"/>
              </a:ext>
            </a:extLst>
          </p:cNvPr>
          <p:cNvSpPr/>
          <p:nvPr/>
        </p:nvSpPr>
        <p:spPr>
          <a:xfrm>
            <a:off x="6681597" y="3205849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79699B55-1870-4683-A3EF-B51DE9DD3037}"/>
              </a:ext>
            </a:extLst>
          </p:cNvPr>
          <p:cNvSpPr/>
          <p:nvPr/>
        </p:nvSpPr>
        <p:spPr>
          <a:xfrm>
            <a:off x="7578697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836E3607-6A09-4E13-AEAE-06128F9ECE7C}"/>
              </a:ext>
            </a:extLst>
          </p:cNvPr>
          <p:cNvSpPr/>
          <p:nvPr/>
        </p:nvSpPr>
        <p:spPr>
          <a:xfrm>
            <a:off x="434820" y="3427779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29F98B32-5AEA-465F-ACF7-48DC7A79458B}"/>
              </a:ext>
            </a:extLst>
          </p:cNvPr>
          <p:cNvSpPr/>
          <p:nvPr/>
        </p:nvSpPr>
        <p:spPr>
          <a:xfrm>
            <a:off x="4392245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1DE578DF-0FF1-4DE3-B625-EF569A8BF066}"/>
              </a:ext>
            </a:extLst>
          </p:cNvPr>
          <p:cNvSpPr/>
          <p:nvPr/>
        </p:nvSpPr>
        <p:spPr>
          <a:xfrm>
            <a:off x="4392245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Expert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80AB048-A5FA-40DA-8F06-A7C654E32B79}"/>
              </a:ext>
            </a:extLst>
          </p:cNvPr>
          <p:cNvSpPr/>
          <p:nvPr/>
        </p:nvSpPr>
        <p:spPr>
          <a:xfrm>
            <a:off x="4392245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Cache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8D82D52-E8F2-402F-9020-4933BB66A8C9}"/>
              </a:ext>
            </a:extLst>
          </p:cNvPr>
          <p:cNvSpPr/>
          <p:nvPr/>
        </p:nvSpPr>
        <p:spPr>
          <a:xfrm>
            <a:off x="4392245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 err="1">
                <a:solidFill>
                  <a:schemeClr val="tx1"/>
                </a:solidFill>
              </a:rPr>
              <a:t>LoRA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118482D7-2D66-4500-811B-B158D62013F3}"/>
              </a:ext>
            </a:extLst>
          </p:cNvPr>
          <p:cNvSpPr/>
          <p:nvPr/>
        </p:nvSpPr>
        <p:spPr>
          <a:xfrm>
            <a:off x="4392245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Object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66A80510-5426-4FD3-898F-DE81168BF1B1}"/>
              </a:ext>
            </a:extLst>
          </p:cNvPr>
          <p:cNvSpPr/>
          <p:nvPr/>
        </p:nvSpPr>
        <p:spPr>
          <a:xfrm>
            <a:off x="5329726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Behavior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E2066CD4-4E11-4C94-ACCB-196EF0671AFD}"/>
              </a:ext>
            </a:extLst>
          </p:cNvPr>
          <p:cNvSpPr/>
          <p:nvPr/>
        </p:nvSpPr>
        <p:spPr>
          <a:xfrm>
            <a:off x="5329726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Predictor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5FA42E-0535-4FCB-B335-8A338E24A74E}"/>
              </a:ext>
            </a:extLst>
          </p:cNvPr>
          <p:cNvSpPr/>
          <p:nvPr/>
        </p:nvSpPr>
        <p:spPr>
          <a:xfrm>
            <a:off x="5329726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E39DB062-5571-42A5-AFFD-615F797A3513}"/>
              </a:ext>
            </a:extLst>
          </p:cNvPr>
          <p:cNvSpPr/>
          <p:nvPr/>
        </p:nvSpPr>
        <p:spPr>
          <a:xfrm>
            <a:off x="5329726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9" name="직사각형 188">
            <a:extLst>
              <a:ext uri="{FF2B5EF4-FFF2-40B4-BE49-F238E27FC236}">
                <a16:creationId xmlns:a16="http://schemas.microsoft.com/office/drawing/2014/main" id="{A1D1881B-A67C-4726-9931-E1DB7406F7B4}"/>
              </a:ext>
            </a:extLst>
          </p:cNvPr>
          <p:cNvSpPr/>
          <p:nvPr/>
        </p:nvSpPr>
        <p:spPr>
          <a:xfrm>
            <a:off x="5329726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Eviction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B06E824E-1BF9-4B18-B22B-AC4A74455002}"/>
              </a:ext>
            </a:extLst>
          </p:cNvPr>
          <p:cNvSpPr/>
          <p:nvPr/>
        </p:nvSpPr>
        <p:spPr>
          <a:xfrm>
            <a:off x="7202749" y="3278963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18D7C32-08DD-4560-94CA-E3364A9B380E}"/>
              </a:ext>
            </a:extLst>
          </p:cNvPr>
          <p:cNvSpPr/>
          <p:nvPr/>
        </p:nvSpPr>
        <p:spPr>
          <a:xfrm>
            <a:off x="7336341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E2B7E17A-02A7-4463-AE3F-26ADCED44908}"/>
              </a:ext>
            </a:extLst>
          </p:cNvPr>
          <p:cNvSpPr/>
          <p:nvPr/>
        </p:nvSpPr>
        <p:spPr>
          <a:xfrm>
            <a:off x="7461296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C64F5E99-C08C-4E50-8068-C9B1DD456540}"/>
              </a:ext>
            </a:extLst>
          </p:cNvPr>
          <p:cNvSpPr/>
          <p:nvPr/>
        </p:nvSpPr>
        <p:spPr>
          <a:xfrm>
            <a:off x="7757515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321731F0-8452-430F-BE28-0C5D36C09582}"/>
              </a:ext>
            </a:extLst>
          </p:cNvPr>
          <p:cNvCxnSpPr>
            <a:cxnSpLocks/>
            <a:endCxn id="61" idx="2"/>
          </p:cNvCxnSpPr>
          <p:nvPr/>
        </p:nvCxnSpPr>
        <p:spPr>
          <a:xfrm rot="10800000">
            <a:off x="876726" y="3023080"/>
            <a:ext cx="872797" cy="437947"/>
          </a:xfrm>
          <a:prstGeom prst="bentConnector2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263D06B6-7D16-45FF-A1A9-C4444812C33E}"/>
              </a:ext>
            </a:extLst>
          </p:cNvPr>
          <p:cNvSpPr txBox="1"/>
          <p:nvPr/>
        </p:nvSpPr>
        <p:spPr>
          <a:xfrm>
            <a:off x="899357" y="323871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8D4FD793-A991-421C-85A2-D68ADED0CA3E}"/>
              </a:ext>
            </a:extLst>
          </p:cNvPr>
          <p:cNvSpPr txBox="1"/>
          <p:nvPr/>
        </p:nvSpPr>
        <p:spPr>
          <a:xfrm>
            <a:off x="3735814" y="426991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019E176B-54A8-4449-914D-977803BBA35C}"/>
              </a:ext>
            </a:extLst>
          </p:cNvPr>
          <p:cNvSpPr/>
          <p:nvPr/>
        </p:nvSpPr>
        <p:spPr>
          <a:xfrm>
            <a:off x="5501798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9EDF2630-A613-4E8E-A695-2BFF10D388FF}"/>
              </a:ext>
            </a:extLst>
          </p:cNvPr>
          <p:cNvSpPr/>
          <p:nvPr/>
        </p:nvSpPr>
        <p:spPr>
          <a:xfrm>
            <a:off x="2978360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16" name="직사각형 315">
            <a:extLst>
              <a:ext uri="{FF2B5EF4-FFF2-40B4-BE49-F238E27FC236}">
                <a16:creationId xmlns:a16="http://schemas.microsoft.com/office/drawing/2014/main" id="{E8771830-0235-4208-9057-C78FD109F8F4}"/>
              </a:ext>
            </a:extLst>
          </p:cNvPr>
          <p:cNvSpPr/>
          <p:nvPr/>
        </p:nvSpPr>
        <p:spPr>
          <a:xfrm>
            <a:off x="2978248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Compute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6E896632-A58A-43DA-877F-7667D80DD95A}"/>
              </a:ext>
            </a:extLst>
          </p:cNvPr>
          <p:cNvSpPr/>
          <p:nvPr/>
        </p:nvSpPr>
        <p:spPr>
          <a:xfrm>
            <a:off x="3082321" y="3675872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Worker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C5EBD24D-B64A-4B7C-9D0C-815448032426}"/>
              </a:ext>
            </a:extLst>
          </p:cNvPr>
          <p:cNvSpPr/>
          <p:nvPr/>
        </p:nvSpPr>
        <p:spPr>
          <a:xfrm>
            <a:off x="3082321" y="4054776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 Runner</a:t>
            </a: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6A687733-807F-423F-A595-B320D0B485E3}"/>
              </a:ext>
            </a:extLst>
          </p:cNvPr>
          <p:cNvSpPr/>
          <p:nvPr/>
        </p:nvSpPr>
        <p:spPr>
          <a:xfrm>
            <a:off x="3085372" y="443803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Model/Layers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EC19A98B-C198-496F-8F1B-377A9CFE8831}"/>
              </a:ext>
            </a:extLst>
          </p:cNvPr>
          <p:cNvSpPr/>
          <p:nvPr/>
        </p:nvSpPr>
        <p:spPr>
          <a:xfrm>
            <a:off x="3082321" y="478797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Attention Backend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583F557F-D47C-48C6-BE32-029454599704}"/>
              </a:ext>
            </a:extLst>
          </p:cNvPr>
          <p:cNvSpPr/>
          <p:nvPr/>
        </p:nvSpPr>
        <p:spPr>
          <a:xfrm>
            <a:off x="3082321" y="516157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Custom Operator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20" name="직사각형 319">
            <a:extLst>
              <a:ext uri="{FF2B5EF4-FFF2-40B4-BE49-F238E27FC236}">
                <a16:creationId xmlns:a16="http://schemas.microsoft.com/office/drawing/2014/main" id="{65FBDE47-ACC2-484F-A8A4-C64FB74ACB13}"/>
              </a:ext>
            </a:extLst>
          </p:cNvPr>
          <p:cNvSpPr/>
          <p:nvPr/>
        </p:nvSpPr>
        <p:spPr>
          <a:xfrm>
            <a:off x="4321477" y="3625954"/>
            <a:ext cx="3311330" cy="197079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직사각형 320">
            <a:extLst>
              <a:ext uri="{FF2B5EF4-FFF2-40B4-BE49-F238E27FC236}">
                <a16:creationId xmlns:a16="http://schemas.microsoft.com/office/drawing/2014/main" id="{DCDC752D-254C-4A97-8DF2-CAD47C049929}"/>
              </a:ext>
            </a:extLst>
          </p:cNvPr>
          <p:cNvSpPr/>
          <p:nvPr/>
        </p:nvSpPr>
        <p:spPr>
          <a:xfrm>
            <a:off x="9580321" y="2540964"/>
            <a:ext cx="210987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DP-2.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연산 실행 위치 결정</a:t>
            </a:r>
            <a:endParaRPr lang="ko-KR" altLang="en-US" sz="1250" b="1" dirty="0"/>
          </a:p>
        </p:txBody>
      </p:sp>
      <p:sp>
        <p:nvSpPr>
          <p:cNvPr id="324" name="직사각형 323">
            <a:extLst>
              <a:ext uri="{FF2B5EF4-FFF2-40B4-BE49-F238E27FC236}">
                <a16:creationId xmlns:a16="http://schemas.microsoft.com/office/drawing/2014/main" id="{9CF5B1FE-9495-4451-9594-8F8B85242E82}"/>
              </a:ext>
            </a:extLst>
          </p:cNvPr>
          <p:cNvSpPr/>
          <p:nvPr/>
        </p:nvSpPr>
        <p:spPr>
          <a:xfrm>
            <a:off x="9580321" y="5185457"/>
            <a:ext cx="2217274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DP-4.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서버 간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캐시 공유</a:t>
            </a:r>
            <a:endParaRPr lang="ko-KR" altLang="en-US" sz="1250" b="1" dirty="0"/>
          </a:p>
        </p:txBody>
      </p:sp>
      <p:sp>
        <p:nvSpPr>
          <p:cNvPr id="325" name="직사각형 324">
            <a:extLst>
              <a:ext uri="{FF2B5EF4-FFF2-40B4-BE49-F238E27FC236}">
                <a16:creationId xmlns:a16="http://schemas.microsoft.com/office/drawing/2014/main" id="{DABE46FD-C803-4916-A7EE-CF574B7B1A8D}"/>
              </a:ext>
            </a:extLst>
          </p:cNvPr>
          <p:cNvSpPr/>
          <p:nvPr/>
        </p:nvSpPr>
        <p:spPr>
          <a:xfrm>
            <a:off x="9580321" y="1183181"/>
            <a:ext cx="2250937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DP-1.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Data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Migration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결정 </a:t>
            </a:r>
            <a:endParaRPr lang="ko-KR" altLang="en-US" sz="1250" b="1" dirty="0"/>
          </a:p>
        </p:txBody>
      </p:sp>
      <p:sp>
        <p:nvSpPr>
          <p:cNvPr id="326" name="직사각형 325">
            <a:extLst>
              <a:ext uri="{FF2B5EF4-FFF2-40B4-BE49-F238E27FC236}">
                <a16:creationId xmlns:a16="http://schemas.microsoft.com/office/drawing/2014/main" id="{1F5BBC27-AF31-4074-BFA3-D3BB76637572}"/>
              </a:ext>
            </a:extLst>
          </p:cNvPr>
          <p:cNvSpPr/>
          <p:nvPr/>
        </p:nvSpPr>
        <p:spPr>
          <a:xfrm>
            <a:off x="9443551" y="1258375"/>
            <a:ext cx="158966" cy="92027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EBF1A7DD-B698-4C3F-B0F7-FD6D9822FEEB}"/>
              </a:ext>
            </a:extLst>
          </p:cNvPr>
          <p:cNvSpPr/>
          <p:nvPr/>
        </p:nvSpPr>
        <p:spPr>
          <a:xfrm>
            <a:off x="9789799" y="1438410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QA3. Modifiability </a:t>
            </a: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EA8E4AB3-DEFD-4A79-B99F-08D8B5E2239F}"/>
              </a:ext>
            </a:extLst>
          </p:cNvPr>
          <p:cNvSpPr/>
          <p:nvPr/>
        </p:nvSpPr>
        <p:spPr>
          <a:xfrm>
            <a:off x="9789799" y="2796785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QA4. Scalability</a:t>
            </a: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1281D8CA-BE80-4341-821F-9E0FBE008879}"/>
              </a:ext>
            </a:extLst>
          </p:cNvPr>
          <p:cNvSpPr/>
          <p:nvPr/>
        </p:nvSpPr>
        <p:spPr>
          <a:xfrm>
            <a:off x="9443551" y="5246253"/>
            <a:ext cx="158966" cy="735995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73F9068F-D995-4FF3-9F53-6E31967EA48F}"/>
              </a:ext>
            </a:extLst>
          </p:cNvPr>
          <p:cNvSpPr/>
          <p:nvPr/>
        </p:nvSpPr>
        <p:spPr>
          <a:xfrm>
            <a:off x="9789799" y="5447705"/>
            <a:ext cx="1308371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Scalability</a:t>
            </a:r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AE5B1FAE-5F5C-417C-9BB4-206CA55C7102}"/>
              </a:ext>
            </a:extLst>
          </p:cNvPr>
          <p:cNvSpPr/>
          <p:nvPr/>
        </p:nvSpPr>
        <p:spPr>
          <a:xfrm>
            <a:off x="9580321" y="3937315"/>
            <a:ext cx="178446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DP-3.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캐시 재사용</a:t>
            </a:r>
            <a:endParaRPr lang="ko-KR" altLang="en-US" sz="125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208EA886-0989-42C4-8166-A549EF76B8C8}"/>
              </a:ext>
            </a:extLst>
          </p:cNvPr>
          <p:cNvSpPr/>
          <p:nvPr/>
        </p:nvSpPr>
        <p:spPr>
          <a:xfrm>
            <a:off x="9443551" y="3998112"/>
            <a:ext cx="158966" cy="727479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23AF7D03-F190-46E0-8280-EB1F259562B5}"/>
              </a:ext>
            </a:extLst>
          </p:cNvPr>
          <p:cNvSpPr/>
          <p:nvPr/>
        </p:nvSpPr>
        <p:spPr>
          <a:xfrm>
            <a:off x="9789799" y="4199563"/>
            <a:ext cx="2004075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Functional Correctness</a:t>
            </a:r>
          </a:p>
        </p:txBody>
      </p:sp>
      <p:sp>
        <p:nvSpPr>
          <p:cNvPr id="340" name="직사각형 339">
            <a:extLst>
              <a:ext uri="{FF2B5EF4-FFF2-40B4-BE49-F238E27FC236}">
                <a16:creationId xmlns:a16="http://schemas.microsoft.com/office/drawing/2014/main" id="{D69D0FCC-FF8F-491B-9315-43C7CB65367D}"/>
              </a:ext>
            </a:extLst>
          </p:cNvPr>
          <p:cNvSpPr/>
          <p:nvPr/>
        </p:nvSpPr>
        <p:spPr>
          <a:xfrm>
            <a:off x="9443551" y="2564262"/>
            <a:ext cx="158966" cy="92027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DAA2D829-A8F0-4AA4-AC12-D22E2A7F96CF}"/>
              </a:ext>
            </a:extLst>
          </p:cNvPr>
          <p:cNvSpPr/>
          <p:nvPr/>
        </p:nvSpPr>
        <p:spPr>
          <a:xfrm>
            <a:off x="475643" y="3851589"/>
            <a:ext cx="800433" cy="756323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3F0CD0D6-203A-4775-A596-826544A8A24D}"/>
              </a:ext>
            </a:extLst>
          </p:cNvPr>
          <p:cNvSpPr/>
          <p:nvPr/>
        </p:nvSpPr>
        <p:spPr>
          <a:xfrm>
            <a:off x="1782222" y="4749985"/>
            <a:ext cx="2132637" cy="363158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직사각형 347">
            <a:extLst>
              <a:ext uri="{FF2B5EF4-FFF2-40B4-BE49-F238E27FC236}">
                <a16:creationId xmlns:a16="http://schemas.microsoft.com/office/drawing/2014/main" id="{4E0240E3-9BB8-45A1-901D-C7BBDD61D7A5}"/>
              </a:ext>
            </a:extLst>
          </p:cNvPr>
          <p:cNvSpPr/>
          <p:nvPr/>
        </p:nvSpPr>
        <p:spPr>
          <a:xfrm>
            <a:off x="472272" y="2113876"/>
            <a:ext cx="816203" cy="862360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직사각형 348">
            <a:extLst>
              <a:ext uri="{FF2B5EF4-FFF2-40B4-BE49-F238E27FC236}">
                <a16:creationId xmlns:a16="http://schemas.microsoft.com/office/drawing/2014/main" id="{CF1A6EA5-52FC-408F-9AEE-45B9AE0F6533}"/>
              </a:ext>
            </a:extLst>
          </p:cNvPr>
          <p:cNvSpPr/>
          <p:nvPr/>
        </p:nvSpPr>
        <p:spPr>
          <a:xfrm>
            <a:off x="3014145" y="2126062"/>
            <a:ext cx="4716603" cy="42711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0C5C70F7-44D1-43D1-A8AF-4039F97A9E41}"/>
              </a:ext>
            </a:extLst>
          </p:cNvPr>
          <p:cNvSpPr/>
          <p:nvPr/>
        </p:nvSpPr>
        <p:spPr>
          <a:xfrm>
            <a:off x="6730524" y="3645269"/>
            <a:ext cx="973051" cy="332911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06DA6039-4915-48F7-957C-53BD25C4DECF}"/>
              </a:ext>
            </a:extLst>
          </p:cNvPr>
          <p:cNvGrpSpPr/>
          <p:nvPr/>
        </p:nvGrpSpPr>
        <p:grpSpPr>
          <a:xfrm>
            <a:off x="397988" y="5150460"/>
            <a:ext cx="723464" cy="740401"/>
            <a:chOff x="430412" y="5447854"/>
            <a:chExt cx="723464" cy="740401"/>
          </a:xfrm>
        </p:grpSpPr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B0887197-F49B-407F-901A-7A4FBA359060}"/>
                </a:ext>
              </a:extLst>
            </p:cNvPr>
            <p:cNvSpPr/>
            <p:nvPr/>
          </p:nvSpPr>
          <p:spPr>
            <a:xfrm>
              <a:off x="494022" y="5942887"/>
              <a:ext cx="604385" cy="24536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신규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/</a:t>
              </a:r>
              <a:r>
                <a:rPr lang="ko-KR" altLang="en-US" sz="700" b="1" dirty="0">
                  <a:solidFill>
                    <a:schemeClr val="tx1"/>
                  </a:solidFill>
                </a:rPr>
                <a:t>수정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BFDBEC6B-6081-4054-B9CA-60DE32E87723}"/>
                </a:ext>
              </a:extLst>
            </p:cNvPr>
            <p:cNvSpPr/>
            <p:nvPr/>
          </p:nvSpPr>
          <p:spPr>
            <a:xfrm>
              <a:off x="494022" y="5655547"/>
              <a:ext cx="604385" cy="245368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기존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D556D070-02D8-4D33-BFD9-7FFF7C31D0BB}"/>
                </a:ext>
              </a:extLst>
            </p:cNvPr>
            <p:cNvSpPr txBox="1"/>
            <p:nvPr/>
          </p:nvSpPr>
          <p:spPr>
            <a:xfrm>
              <a:off x="430412" y="5447854"/>
              <a:ext cx="7234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Legend</a:t>
              </a:r>
              <a:endParaRPr lang="ko-KR" altLang="en-US" sz="800" b="1" dirty="0"/>
            </a:p>
          </p:txBody>
        </p:sp>
      </p:grpSp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AD051C3C-12D8-42BB-9F55-991CB6F616BC}"/>
              </a:ext>
            </a:extLst>
          </p:cNvPr>
          <p:cNvSpPr/>
          <p:nvPr/>
        </p:nvSpPr>
        <p:spPr>
          <a:xfrm>
            <a:off x="8315940" y="3243336"/>
            <a:ext cx="793194" cy="1608456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31F9289C-89E3-4569-8CB1-A50BCE19B7AD}"/>
              </a:ext>
            </a:extLst>
          </p:cNvPr>
          <p:cNvSpPr/>
          <p:nvPr/>
        </p:nvSpPr>
        <p:spPr>
          <a:xfrm>
            <a:off x="4350418" y="3982949"/>
            <a:ext cx="899880" cy="392969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E81D811F-D865-44DE-B588-B672A5ED15C9}"/>
              </a:ext>
            </a:extLst>
          </p:cNvPr>
          <p:cNvSpPr/>
          <p:nvPr/>
        </p:nvSpPr>
        <p:spPr>
          <a:xfrm>
            <a:off x="504341" y="4688629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Index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69" name="직사각형 368">
            <a:extLst>
              <a:ext uri="{FF2B5EF4-FFF2-40B4-BE49-F238E27FC236}">
                <a16:creationId xmlns:a16="http://schemas.microsoft.com/office/drawing/2014/main" id="{C1ECC368-8C00-47A3-B150-B92406C5E7BE}"/>
              </a:ext>
            </a:extLst>
          </p:cNvPr>
          <p:cNvSpPr/>
          <p:nvPr/>
        </p:nvSpPr>
        <p:spPr>
          <a:xfrm>
            <a:off x="461216" y="4670621"/>
            <a:ext cx="818835" cy="36230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392299" y="4639683"/>
            <a:ext cx="939880" cy="44818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1785381" y="4358738"/>
            <a:ext cx="2129478" cy="1119917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397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8081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925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40394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95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13291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  <a:r>
                        <a:rPr lang="en-US" altLang="ko-KR" sz="1200" b="1" strike="noStrike" baseline="0" dirty="0"/>
                        <a:t>+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HBM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점유 기한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(Lease)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제어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HBM stage-in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부여하여 주기적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migration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재평가</a:t>
                      </a:r>
                      <a:endParaRPr lang="en-US" altLang="ko-KR" sz="1200" b="0" strike="noStrike" baseline="0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최신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behavior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기반으로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 </a:t>
                      </a:r>
                      <a:r>
                        <a:rPr lang="ko-KR" altLang="en-US" sz="1200" b="0" strike="noStrike" baseline="0" dirty="0" err="1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연장∙선별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demotion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하여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HBM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점유율 제한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Rectangle 71"/>
          <p:cNvSpPr/>
          <p:nvPr/>
        </p:nvSpPr>
        <p:spPr>
          <a:xfrm>
            <a:off x="6621854" y="1492132"/>
            <a:ext cx="5128953" cy="932688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621854" y="1528708"/>
            <a:ext cx="51289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Control Plane</a:t>
            </a:r>
          </a:p>
        </p:txBody>
      </p:sp>
      <p:sp>
        <p:nvSpPr>
          <p:cNvPr id="114" name="Rectangle 73"/>
          <p:cNvSpPr/>
          <p:nvPr/>
        </p:nvSpPr>
        <p:spPr>
          <a:xfrm>
            <a:off x="6721606" y="1674917"/>
            <a:ext cx="1317565" cy="343501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rgbClr val="7F5F00"/>
                </a:solidFill>
                <a:latin typeface="맑은 고딕"/>
                <a:ea typeface="맑은 고딕"/>
              </a:rPr>
              <a:t>Decision Scheduler</a:t>
            </a:r>
          </a:p>
          <a:p>
            <a:pPr algn="ctr">
              <a:lnSpc>
                <a:spcPct val="125000"/>
              </a:lnSpc>
            </a:pP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판단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주기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lang="ko-KR" altLang="en-US"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독립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보유</a:t>
            </a:r>
            <a:endParaRPr sz="650" b="0" i="0" dirty="0">
              <a:solidFill>
                <a:srgbClr val="7F5F00"/>
              </a:solidFill>
              <a:latin typeface="맑은 고딕"/>
              <a:ea typeface="맑은 고딕"/>
            </a:endParaRPr>
          </a:p>
        </p:txBody>
      </p:sp>
      <p:sp>
        <p:nvSpPr>
          <p:cNvPr id="115" name="Rectangle 74"/>
          <p:cNvSpPr/>
          <p:nvPr/>
        </p:nvSpPr>
        <p:spPr>
          <a:xfrm>
            <a:off x="8197115" y="1752531"/>
            <a:ext cx="951807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Trend Analyzer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자원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추세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판단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16" name="Rectangle 75"/>
          <p:cNvSpPr/>
          <p:nvPr/>
        </p:nvSpPr>
        <p:spPr>
          <a:xfrm>
            <a:off x="9281927" y="1752531"/>
            <a:ext cx="1163782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chemeClr val="tx1"/>
                </a:solidFill>
                <a:latin typeface="맑은 고딕"/>
                <a:ea typeface="맑은 고딕"/>
              </a:rPr>
              <a:t>Affinity Mapper</a:t>
            </a:r>
          </a:p>
          <a:p>
            <a:pPr algn="ctr">
              <a:lnSpc>
                <a:spcPct val="125000"/>
              </a:lnSpc>
            </a:pPr>
            <a:r>
              <a:rPr sz="680" b="0" i="0">
                <a:solidFill>
                  <a:schemeClr val="tx1"/>
                </a:solidFill>
                <a:latin typeface="맑은 고딕"/>
                <a:ea typeface="맑은 고딕"/>
              </a:rPr>
              <a:t>데이터·메모리 적합도</a:t>
            </a:r>
          </a:p>
        </p:txBody>
      </p:sp>
      <p:sp>
        <p:nvSpPr>
          <p:cNvPr id="117" name="Rectangle 76"/>
          <p:cNvSpPr/>
          <p:nvPr/>
        </p:nvSpPr>
        <p:spPr>
          <a:xfrm>
            <a:off x="10578712" y="1667809"/>
            <a:ext cx="1163782" cy="647283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Policy Engine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이동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명령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확정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cxnSp>
        <p:nvCxnSpPr>
          <p:cNvPr id="118" name="Connector 77"/>
          <p:cNvCxnSpPr/>
          <p:nvPr/>
        </p:nvCxnSpPr>
        <p:spPr>
          <a:xfrm>
            <a:off x="8047485" y="1924281"/>
            <a:ext cx="149630" cy="0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79"/>
          <p:cNvCxnSpPr/>
          <p:nvPr/>
        </p:nvCxnSpPr>
        <p:spPr>
          <a:xfrm>
            <a:off x="9148923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80"/>
          <p:cNvCxnSpPr/>
          <p:nvPr/>
        </p:nvCxnSpPr>
        <p:spPr>
          <a:xfrm>
            <a:off x="10445709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81"/>
          <p:cNvSpPr/>
          <p:nvPr/>
        </p:nvSpPr>
        <p:spPr>
          <a:xfrm>
            <a:off x="6621854" y="2662564"/>
            <a:ext cx="2527069" cy="1225296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6621854" y="2699140"/>
            <a:ext cx="2527069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Resource Plane</a:t>
            </a:r>
          </a:p>
        </p:txBody>
      </p:sp>
      <p:sp>
        <p:nvSpPr>
          <p:cNvPr id="123" name="Rectangle 83"/>
          <p:cNvSpPr/>
          <p:nvPr/>
        </p:nvSpPr>
        <p:spPr>
          <a:xfrm>
            <a:off x="6721607" y="2882020"/>
            <a:ext cx="232756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7F5F00"/>
                </a:solidFill>
                <a:latin typeface="맑은 고딕"/>
                <a:ea typeface="맑은 고딕"/>
              </a:rPr>
              <a:t>State Snapshot Builder</a:t>
            </a:r>
          </a:p>
          <a:p>
            <a:pPr algn="ctr">
              <a:lnSpc>
                <a:spcPct val="125000"/>
              </a:lnSpc>
            </a:pPr>
            <a:r>
              <a:rPr sz="650" b="0" i="0">
                <a:solidFill>
                  <a:srgbClr val="7F5F00"/>
                </a:solidFill>
                <a:latin typeface="맑은 고딕"/>
                <a:ea typeface="맑은 고딕"/>
              </a:rPr>
              <a:t>일관 복사본 생성 · object 수 비례 비용</a:t>
            </a:r>
          </a:p>
        </p:txBody>
      </p:sp>
      <p:sp>
        <p:nvSpPr>
          <p:cNvPr id="124" name="Rectangle 84"/>
          <p:cNvSpPr/>
          <p:nvPr/>
        </p:nvSpPr>
        <p:spPr>
          <a:xfrm>
            <a:off x="6721607" y="3211204"/>
            <a:ext cx="1113906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404040"/>
                </a:solidFill>
                <a:latin typeface="맑은 고딕"/>
                <a:ea typeface="맑은 고딕"/>
              </a:rPr>
              <a:t>Telemetry Collector</a:t>
            </a:r>
          </a:p>
        </p:txBody>
      </p:sp>
      <p:sp>
        <p:nvSpPr>
          <p:cNvPr id="125" name="Rectangle 85"/>
          <p:cNvSpPr/>
          <p:nvPr/>
        </p:nvSpPr>
        <p:spPr>
          <a:xfrm>
            <a:off x="7935265" y="3211204"/>
            <a:ext cx="111390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State Monitor</a:t>
            </a:r>
          </a:p>
        </p:txBody>
      </p:sp>
      <p:sp>
        <p:nvSpPr>
          <p:cNvPr id="126" name="Rectangle 86"/>
          <p:cNvSpPr/>
          <p:nvPr/>
        </p:nvSpPr>
        <p:spPr>
          <a:xfrm>
            <a:off x="6721607" y="3522098"/>
            <a:ext cx="2327564" cy="347473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95000"/>
              </a:lnSpc>
            </a:pPr>
            <a:r>
              <a:rPr sz="80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Memory·Data</a:t>
            </a:r>
            <a:r>
              <a:rPr sz="800" b="0" i="0" dirty="0">
                <a:solidFill>
                  <a:srgbClr val="404040"/>
                </a:solidFill>
                <a:latin typeface="맑은 고딕"/>
                <a:ea typeface="맑은 고딕"/>
              </a:rPr>
              <a:t> Object Registry</a:t>
            </a:r>
            <a:endParaRPr lang="en-US"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>
              <a:lnSpc>
                <a:spcPct val="95000"/>
              </a:lnSpc>
            </a:pPr>
            <a:endParaRPr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127" name="Connector 87"/>
          <p:cNvCxnSpPr/>
          <p:nvPr/>
        </p:nvCxnSpPr>
        <p:spPr>
          <a:xfrm flipV="1">
            <a:off x="7278559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88"/>
          <p:cNvCxnSpPr/>
          <p:nvPr/>
        </p:nvCxnSpPr>
        <p:spPr>
          <a:xfrm flipV="1">
            <a:off x="8492218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89"/>
          <p:cNvCxnSpPr/>
          <p:nvPr/>
        </p:nvCxnSpPr>
        <p:spPr>
          <a:xfrm flipV="1">
            <a:off x="7885389" y="3156340"/>
            <a:ext cx="0" cy="365759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09"/>
          <p:cNvSpPr/>
          <p:nvPr/>
        </p:nvSpPr>
        <p:spPr>
          <a:xfrm>
            <a:off x="6621854" y="4052452"/>
            <a:ext cx="5128953" cy="237744"/>
          </a:xfrm>
          <a:prstGeom prst="rect">
            <a:avLst/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</a:rPr>
              <a:t>Common Memory Backend Interface</a:t>
            </a:r>
          </a:p>
        </p:txBody>
      </p:sp>
      <p:sp>
        <p:nvSpPr>
          <p:cNvPr id="131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6841608" y="2175624"/>
            <a:ext cx="960355" cy="206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Lease</a:t>
            </a:r>
            <a:r>
              <a:rPr lang="ko-KR" altLang="en-US" sz="900" b="1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</a:rPr>
              <a:t>Timer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32" name="KV Cache Manager">
            <a:extLst>
              <a:ext uri="{FF2B5EF4-FFF2-40B4-BE49-F238E27FC236}">
                <a16:creationId xmlns:a16="http://schemas.microsoft.com/office/drawing/2014/main" id="{0AC675B6-EBCF-4411-982A-606F1B39DD1C}"/>
              </a:ext>
            </a:extLst>
          </p:cNvPr>
          <p:cNvSpPr/>
          <p:nvPr/>
        </p:nvSpPr>
        <p:spPr>
          <a:xfrm>
            <a:off x="10637394" y="2014610"/>
            <a:ext cx="1056391" cy="2614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HBM Lease Granter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3" name="① Event">
            <a:extLst>
              <a:ext uri="{FF2B5EF4-FFF2-40B4-BE49-F238E27FC236}">
                <a16:creationId xmlns:a16="http://schemas.microsoft.com/office/drawing/2014/main" id="{AA6A60D7-3F4D-4197-A43E-5FBE2A7B70E4}"/>
              </a:ext>
            </a:extLst>
          </p:cNvPr>
          <p:cNvCxnSpPr>
            <a:cxnSpLocks/>
            <a:stCxn id="132" idx="1"/>
            <a:endCxn id="131" idx="3"/>
          </p:cNvCxnSpPr>
          <p:nvPr/>
        </p:nvCxnSpPr>
        <p:spPr>
          <a:xfrm rot="10800000" flipV="1">
            <a:off x="7801964" y="2145320"/>
            <a:ext cx="2835431" cy="133592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cxnSp>
        <p:nvCxnSpPr>
          <p:cNvPr id="134" name="① Event">
            <a:extLst>
              <a:ext uri="{FF2B5EF4-FFF2-40B4-BE49-F238E27FC236}">
                <a16:creationId xmlns:a16="http://schemas.microsoft.com/office/drawing/2014/main" id="{393EDD8C-32BA-4528-8222-186C12CC2266}"/>
              </a:ext>
            </a:extLst>
          </p:cNvPr>
          <p:cNvCxnSpPr>
            <a:cxnSpLocks/>
            <a:endCxn id="135" idx="3"/>
          </p:cNvCxnSpPr>
          <p:nvPr/>
        </p:nvCxnSpPr>
        <p:spPr>
          <a:xfrm rot="10800000" flipV="1">
            <a:off x="8436224" y="2138122"/>
            <a:ext cx="2201179" cy="1633875"/>
          </a:xfrm>
          <a:prstGeom prst="bentConnector3">
            <a:avLst>
              <a:gd name="adj1" fmla="val 64713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5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7475868" y="3686636"/>
            <a:ext cx="960355" cy="17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Metadata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6" name="① Event">
            <a:extLst>
              <a:ext uri="{FF2B5EF4-FFF2-40B4-BE49-F238E27FC236}">
                <a16:creationId xmlns:a16="http://schemas.microsoft.com/office/drawing/2014/main" id="{4612F9B8-78D5-4DE5-B2DC-45A405916D8A}"/>
              </a:ext>
            </a:extLst>
          </p:cNvPr>
          <p:cNvCxnSpPr>
            <a:cxnSpLocks/>
          </p:cNvCxnSpPr>
          <p:nvPr/>
        </p:nvCxnSpPr>
        <p:spPr>
          <a:xfrm flipH="1" flipV="1">
            <a:off x="7014297" y="2018259"/>
            <a:ext cx="2453" cy="166391"/>
          </a:xfrm>
          <a:prstGeom prst="straightConnector1">
            <a:avLst/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471A210-CDF4-4BA3-84BD-F653298D9DEF}"/>
              </a:ext>
            </a:extLst>
          </p:cNvPr>
          <p:cNvSpPr/>
          <p:nvPr/>
        </p:nvSpPr>
        <p:spPr>
          <a:xfrm>
            <a:off x="7012988" y="2004682"/>
            <a:ext cx="1042191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rgbClr val="FF0000"/>
                </a:solidFill>
              </a:rPr>
              <a:t>Event (Lease Expired)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83407551-4922-4346-9CDE-2770BEA53886}"/>
              </a:ext>
            </a:extLst>
          </p:cNvPr>
          <p:cNvGrpSpPr/>
          <p:nvPr/>
        </p:nvGrpSpPr>
        <p:grpSpPr>
          <a:xfrm>
            <a:off x="10877540" y="3314931"/>
            <a:ext cx="886133" cy="491780"/>
            <a:chOff x="11056831" y="3583489"/>
            <a:chExt cx="886133" cy="491780"/>
          </a:xfrm>
        </p:grpSpPr>
        <p:sp>
          <p:nvSpPr>
            <p:cNvPr id="139" name="KV Cache Manager">
              <a:extLst>
                <a:ext uri="{FF2B5EF4-FFF2-40B4-BE49-F238E27FC236}">
                  <a16:creationId xmlns:a16="http://schemas.microsoft.com/office/drawing/2014/main" id="{98E078A6-320E-4FDE-982D-DB32947602AA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QA2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0B9F48D5-E468-4CDF-978E-9BCF5DF01EFF}"/>
                </a:ext>
              </a:extLst>
            </p:cNvPr>
            <p:cNvSpPr/>
            <p:nvPr/>
          </p:nvSpPr>
          <p:spPr>
            <a:xfrm>
              <a:off x="11056831" y="3583489"/>
              <a:ext cx="886133" cy="491780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41" name="Connector 91"/>
          <p:cNvCxnSpPr/>
          <p:nvPr/>
        </p:nvCxnSpPr>
        <p:spPr>
          <a:xfrm flipV="1">
            <a:off x="8721012" y="2111395"/>
            <a:ext cx="0" cy="731623"/>
          </a:xfrm>
          <a:prstGeom prst="line">
            <a:avLst/>
          </a:prstGeom>
          <a:ln w="12700">
            <a:solidFill>
              <a:srgbClr val="BF8F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584187" y="1044054"/>
            <a:ext cx="5510377" cy="58139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9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5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52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5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grpSp>
        <p:nvGrpSpPr>
          <p:cNvPr id="155" name="그룹 154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156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158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159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160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161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0013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035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13709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46687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864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9352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905466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200" b="1" strike="noStrike" kern="1200" baseline="0" noProof="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kumimoji="0" lang="ko-KR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저비용 검증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+ Feedback Control)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292793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요청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대한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 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여러 안을 계획해서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Mismatch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Cost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재계산 없이 순차적 구간 조회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(k)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요청이 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Queue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에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도착 즉시가 아니라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head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로부터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슬롯 안에 들어올 때 계획 </a:t>
                      </a:r>
                      <a:endParaRPr lang="en-US" altLang="ko-KR" sz="120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L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 → </a:t>
                      </a:r>
                      <a:r>
                        <a:rPr lang="en-US" altLang="ko-KR" sz="1200" b="0" i="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W↓k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계획을 짧고 넓게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), Load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 → </a:t>
                      </a:r>
                      <a:r>
                        <a:rPr lang="en-US" altLang="ko-KR" sz="120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W↑k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완전 사전 계획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</a:t>
                      </a:r>
                      <a:endParaRPr lang="ko-KR" altLang="en-US" sz="1200" b="0" i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◐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4442239" y="6486392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70180" y="653271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108" name="실행 단추: 앞으로 또는 다음 107">
            <a:hlinkClick r:id="" action="ppaction://noaction" highlightClick="1"/>
          </p:cNvPr>
          <p:cNvSpPr/>
          <p:nvPr/>
        </p:nvSpPr>
        <p:spPr>
          <a:xfrm>
            <a:off x="11782688" y="1103765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95779" y="6308977"/>
            <a:ext cx="203053" cy="18023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136866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125252" y="1053935"/>
            <a:ext cx="5989442" cy="570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6236792" y="1589059"/>
            <a:ext cx="5760721" cy="2680725"/>
            <a:chOff x="6783687" y="1726402"/>
            <a:chExt cx="5237019" cy="2789573"/>
          </a:xfrm>
        </p:grpSpPr>
        <p:sp>
          <p:nvSpPr>
            <p:cNvPr id="116" name="Shape 31">
              <a:extLst>
                <a:ext uri="{FF2B5EF4-FFF2-40B4-BE49-F238E27FC236}">
                  <a16:creationId xmlns:a16="http://schemas.microsoft.com/office/drawing/2014/main" id="{76AB0CFB-9315-4F87-BDDA-11D011BB00D3}"/>
                </a:ext>
              </a:extLst>
            </p:cNvPr>
            <p:cNvSpPr/>
            <p:nvPr/>
          </p:nvSpPr>
          <p:spPr>
            <a:xfrm>
              <a:off x="7519638" y="201536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17" name="원통 5">
              <a:extLst>
                <a:ext uri="{FF2B5EF4-FFF2-40B4-BE49-F238E27FC236}">
                  <a16:creationId xmlns:a16="http://schemas.microsoft.com/office/drawing/2014/main" id="{607D3B1A-A13D-4B9F-A6DE-E266ED68AFC3}"/>
                </a:ext>
              </a:extLst>
            </p:cNvPr>
            <p:cNvSpPr/>
            <p:nvPr/>
          </p:nvSpPr>
          <p:spPr>
            <a:xfrm>
              <a:off x="7954418" y="3861869"/>
              <a:ext cx="1005895" cy="273732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18" name="직선 화살표 연결선 185">
              <a:extLst>
                <a:ext uri="{FF2B5EF4-FFF2-40B4-BE49-F238E27FC236}">
                  <a16:creationId xmlns:a16="http://schemas.microsoft.com/office/drawing/2014/main" id="{7AFE4BD9-002D-4D76-9079-6287254D9F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36598" y="3609825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119" name="직선 화살표 연결선 185">
              <a:extLst>
                <a:ext uri="{FF2B5EF4-FFF2-40B4-BE49-F238E27FC236}">
                  <a16:creationId xmlns:a16="http://schemas.microsoft.com/office/drawing/2014/main" id="{73E7D81B-6FBE-4226-ADD7-0FFEA572F57E}"/>
                </a:ext>
              </a:extLst>
            </p:cNvPr>
            <p:cNvCxnSpPr>
              <a:cxnSpLocks/>
              <a:stCxn id="129" idx="2"/>
              <a:endCxn id="138" idx="0"/>
            </p:cNvCxnSpPr>
            <p:nvPr/>
          </p:nvCxnSpPr>
          <p:spPr>
            <a:xfrm flipH="1">
              <a:off x="10602968" y="2410565"/>
              <a:ext cx="1" cy="24282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3A6C8762-AA1E-48D6-AFE6-B4BC62313E1E}"/>
                </a:ext>
              </a:extLst>
            </p:cNvPr>
            <p:cNvSpPr/>
            <p:nvPr/>
          </p:nvSpPr>
          <p:spPr>
            <a:xfrm>
              <a:off x="7520870" y="1726402"/>
              <a:ext cx="1383184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</a:t>
              </a:r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D9478518-0083-431B-895B-C1BB81DDE028}"/>
                </a:ext>
              </a:extLst>
            </p:cNvPr>
            <p:cNvGrpSpPr/>
            <p:nvPr/>
          </p:nvGrpSpPr>
          <p:grpSpPr>
            <a:xfrm>
              <a:off x="9748834" y="2144559"/>
              <a:ext cx="1708273" cy="2126181"/>
              <a:chOff x="12508587" y="2383427"/>
              <a:chExt cx="1879100" cy="2126181"/>
            </a:xfrm>
          </p:grpSpPr>
          <p:sp>
            <p:nvSpPr>
              <p:cNvPr id="129" name="Shape 31">
                <a:extLst>
                  <a:ext uri="{FF2B5EF4-FFF2-40B4-BE49-F238E27FC236}">
                    <a16:creationId xmlns:a16="http://schemas.microsoft.com/office/drawing/2014/main" id="{F355C5E5-D60B-4572-9D91-2061BF7DD83A}"/>
                  </a:ext>
                </a:extLst>
              </p:cNvPr>
              <p:cNvSpPr/>
              <p:nvPr/>
            </p:nvSpPr>
            <p:spPr>
              <a:xfrm>
                <a:off x="128647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38" name="Shape 31">
                <a:extLst>
                  <a:ext uri="{FF2B5EF4-FFF2-40B4-BE49-F238E27FC236}">
                    <a16:creationId xmlns:a16="http://schemas.microsoft.com/office/drawing/2014/main" id="{535199C9-9527-4091-AD95-AB60C112E9D7}"/>
                  </a:ext>
                </a:extLst>
              </p:cNvPr>
              <p:cNvSpPr/>
              <p:nvPr/>
            </p:nvSpPr>
            <p:spPr>
              <a:xfrm>
                <a:off x="12508587" y="2892261"/>
                <a:ext cx="1879100" cy="96297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Lookup Validator</a:t>
                </a:r>
                <a:endParaRPr lang="ko-KR" altLang="en-US" sz="9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139" name="Shape 31">
                <a:extLst>
                  <a:ext uri="{FF2B5EF4-FFF2-40B4-BE49-F238E27FC236}">
                    <a16:creationId xmlns:a16="http://schemas.microsoft.com/office/drawing/2014/main" id="{BD56F8F3-399D-40F7-9849-206895CDE16B}"/>
                  </a:ext>
                </a:extLst>
              </p:cNvPr>
              <p:cNvSpPr/>
              <p:nvPr/>
            </p:nvSpPr>
            <p:spPr>
              <a:xfrm>
                <a:off x="12806409" y="4243602"/>
                <a:ext cx="1283450" cy="26600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  <a:endParaRPr lang="ko-KR" altLang="en-US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</p:grpSp>
        <p:cxnSp>
          <p:nvCxnSpPr>
            <p:cNvPr id="142" name="직선 화살표 연결선 185">
              <a:extLst>
                <a:ext uri="{FF2B5EF4-FFF2-40B4-BE49-F238E27FC236}">
                  <a16:creationId xmlns:a16="http://schemas.microsoft.com/office/drawing/2014/main" id="{03ABB882-11D6-4845-A2A5-4FDFAA1E6339}"/>
                </a:ext>
              </a:extLst>
            </p:cNvPr>
            <p:cNvCxnSpPr>
              <a:cxnSpLocks/>
              <a:stCxn id="138" idx="2"/>
              <a:endCxn id="139" idx="0"/>
            </p:cNvCxnSpPr>
            <p:nvPr/>
          </p:nvCxnSpPr>
          <p:spPr>
            <a:xfrm>
              <a:off x="10602968" y="3616365"/>
              <a:ext cx="0" cy="388369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7" name="직선 화살표 연결선 185">
              <a:extLst>
                <a:ext uri="{FF2B5EF4-FFF2-40B4-BE49-F238E27FC236}">
                  <a16:creationId xmlns:a16="http://schemas.microsoft.com/office/drawing/2014/main" id="{0B056F2D-FE29-4725-A3F3-CA2EBC006FB4}"/>
                </a:ext>
              </a:extLst>
            </p:cNvPr>
            <p:cNvCxnSpPr>
              <a:cxnSpLocks/>
            </p:cNvCxnSpPr>
            <p:nvPr/>
          </p:nvCxnSpPr>
          <p:spPr>
            <a:xfrm>
              <a:off x="7923737" y="2215221"/>
              <a:ext cx="2" cy="2014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362F8D9F-BDB3-4426-BE60-50824CFD8181}"/>
                </a:ext>
              </a:extLst>
            </p:cNvPr>
            <p:cNvSpPr/>
            <p:nvPr/>
          </p:nvSpPr>
          <p:spPr>
            <a:xfrm>
              <a:off x="9763641" y="1763109"/>
              <a:ext cx="1746648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</a:t>
              </a:r>
            </a:p>
          </p:txBody>
        </p:sp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66104227-632F-4532-A15F-A94E4AD0E570}"/>
                </a:ext>
              </a:extLst>
            </p:cNvPr>
            <p:cNvGrpSpPr/>
            <p:nvPr/>
          </p:nvGrpSpPr>
          <p:grpSpPr>
            <a:xfrm>
              <a:off x="7507561" y="2416669"/>
              <a:ext cx="1359852" cy="1199696"/>
              <a:chOff x="6330553" y="2404429"/>
              <a:chExt cx="1830129" cy="1451634"/>
            </a:xfrm>
          </p:grpSpPr>
          <p:sp>
            <p:nvSpPr>
              <p:cNvPr id="158" name="Shape 37">
                <a:extLst>
                  <a:ext uri="{FF2B5EF4-FFF2-40B4-BE49-F238E27FC236}">
                    <a16:creationId xmlns:a16="http://schemas.microsoft.com/office/drawing/2014/main" id="{4BEDC545-66DD-4655-A68A-E3E610279C82}"/>
                  </a:ext>
                </a:extLst>
              </p:cNvPr>
              <p:cNvSpPr/>
              <p:nvPr/>
            </p:nvSpPr>
            <p:spPr>
              <a:xfrm>
                <a:off x="6330553" y="2404429"/>
                <a:ext cx="1825852" cy="395582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Prefill/Decode Execution Planner</a:t>
                </a:r>
              </a:p>
            </p:txBody>
          </p:sp>
          <p:sp>
            <p:nvSpPr>
              <p:cNvPr id="159" name="Shape 37">
                <a:extLst>
                  <a:ext uri="{FF2B5EF4-FFF2-40B4-BE49-F238E27FC236}">
                    <a16:creationId xmlns:a16="http://schemas.microsoft.com/office/drawing/2014/main" id="{3B719E66-F236-4D8A-A4DD-359F1145DC18}"/>
                  </a:ext>
                </a:extLst>
              </p:cNvPr>
              <p:cNvSpPr/>
              <p:nvPr/>
            </p:nvSpPr>
            <p:spPr>
              <a:xfrm>
                <a:off x="6561862" y="2908105"/>
                <a:ext cx="1371789" cy="2701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60" name="직선 화살표 연결선 185">
                <a:extLst>
                  <a:ext uri="{FF2B5EF4-FFF2-40B4-BE49-F238E27FC236}">
                    <a16:creationId xmlns:a16="http://schemas.microsoft.com/office/drawing/2014/main" id="{7DF56018-1135-4C31-BF01-C43F9DB53B8F}"/>
                  </a:ext>
                </a:extLst>
              </p:cNvPr>
              <p:cNvCxnSpPr>
                <a:cxnSpLocks/>
                <a:stCxn id="158" idx="2"/>
                <a:endCxn id="159" idx="0"/>
              </p:cNvCxnSpPr>
              <p:nvPr/>
            </p:nvCxnSpPr>
            <p:spPr>
              <a:xfrm>
                <a:off x="7243479" y="2800011"/>
                <a:ext cx="4278" cy="108094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1" name="Shape 37">
                <a:extLst>
                  <a:ext uri="{FF2B5EF4-FFF2-40B4-BE49-F238E27FC236}">
                    <a16:creationId xmlns:a16="http://schemas.microsoft.com/office/drawing/2014/main" id="{2A62CB42-EEB8-43B7-BCDD-BC501C1BDA1F}"/>
                  </a:ext>
                </a:extLst>
              </p:cNvPr>
              <p:cNvSpPr/>
              <p:nvPr/>
            </p:nvSpPr>
            <p:spPr>
              <a:xfrm>
                <a:off x="6334829" y="3329544"/>
                <a:ext cx="1825853" cy="5265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Plan</a:t>
                </a:r>
                <a:r>
                  <a:rPr lang="ko-KR" altLang="en-US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 </a:t>
                </a:r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Publisher</a:t>
                </a:r>
              </a:p>
            </p:txBody>
          </p:sp>
          <p:cxnSp>
            <p:nvCxnSpPr>
              <p:cNvPr id="165" name="직선 화살표 연결선 185">
                <a:extLst>
                  <a:ext uri="{FF2B5EF4-FFF2-40B4-BE49-F238E27FC236}">
                    <a16:creationId xmlns:a16="http://schemas.microsoft.com/office/drawing/2014/main" id="{2D8BFBA6-054C-465C-BB99-DA2EF692189C}"/>
                  </a:ext>
                </a:extLst>
              </p:cNvPr>
              <p:cNvCxnSpPr>
                <a:cxnSpLocks/>
                <a:stCxn id="159" idx="2"/>
                <a:endCxn id="161" idx="0"/>
              </p:cNvCxnSpPr>
              <p:nvPr/>
            </p:nvCxnSpPr>
            <p:spPr>
              <a:xfrm flipH="1">
                <a:off x="7247756" y="3178293"/>
                <a:ext cx="1" cy="151251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66" name="C2 freshness note">
              <a:extLst>
                <a:ext uri="{FF2B5EF4-FFF2-40B4-BE49-F238E27FC236}">
                  <a16:creationId xmlns:a16="http://schemas.microsoft.com/office/drawing/2014/main" id="{6CDBB823-D88F-4179-AF8F-A7BA5D43B7BC}"/>
                </a:ext>
              </a:extLst>
            </p:cNvPr>
            <p:cNvSpPr txBox="1"/>
            <p:nvPr/>
          </p:nvSpPr>
          <p:spPr>
            <a:xfrm>
              <a:off x="8231378" y="3680819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6" name="C2 freshness note">
              <a:extLst>
                <a:ext uri="{FF2B5EF4-FFF2-40B4-BE49-F238E27FC236}">
                  <a16:creationId xmlns:a16="http://schemas.microsoft.com/office/drawing/2014/main" id="{1BC6499B-FF93-4BF7-AC46-B40964266EDA}"/>
                </a:ext>
              </a:extLst>
            </p:cNvPr>
            <p:cNvSpPr txBox="1"/>
            <p:nvPr/>
          </p:nvSpPr>
          <p:spPr>
            <a:xfrm>
              <a:off x="10720148" y="3720694"/>
              <a:ext cx="493326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8" name="Rectangle 72">
              <a:extLst>
                <a:ext uri="{FF2B5EF4-FFF2-40B4-BE49-F238E27FC236}">
                  <a16:creationId xmlns:a16="http://schemas.microsoft.com/office/drawing/2014/main" id="{B1580EF9-18C1-4398-A6A7-79BDE5FB0E99}"/>
                </a:ext>
              </a:extLst>
            </p:cNvPr>
            <p:cNvSpPr/>
            <p:nvPr/>
          </p:nvSpPr>
          <p:spPr>
            <a:xfrm>
              <a:off x="6783687" y="1980022"/>
              <a:ext cx="687999" cy="29260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②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 </a:t>
              </a:r>
              <a:r>
                <a:rPr lang="ko-KR" alt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79" name="Connector 73">
              <a:extLst>
                <a:ext uri="{FF2B5EF4-FFF2-40B4-BE49-F238E27FC236}">
                  <a16:creationId xmlns:a16="http://schemas.microsoft.com/office/drawing/2014/main" id="{36B8346B-263D-4054-9586-665ED38BBD97}"/>
                </a:ext>
              </a:extLst>
            </p:cNvPr>
            <p:cNvCxnSpPr>
              <a:cxnSpLocks/>
              <a:stCxn id="178" idx="3"/>
            </p:cNvCxnSpPr>
            <p:nvPr/>
          </p:nvCxnSpPr>
          <p:spPr>
            <a:xfrm>
              <a:off x="7471686" y="2126327"/>
              <a:ext cx="249313" cy="0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3836ECBB-F50B-4462-AF0B-785DCB30583C}"/>
                </a:ext>
              </a:extLst>
            </p:cNvPr>
            <p:cNvSpPr txBox="1"/>
            <p:nvPr/>
          </p:nvSpPr>
          <p:spPr>
            <a:xfrm>
              <a:off x="8012029" y="2236805"/>
              <a:ext cx="1704411" cy="1292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>
                <a:lnSpc>
                  <a:spcPct val="105000"/>
                </a:lnSpc>
              </a:pPr>
              <a:r>
                <a:rPr lang="en-US" altLang="ko-KR" sz="800" dirty="0">
                  <a:solidFill>
                    <a:srgbClr val="FF0000"/>
                  </a:solidFill>
                  <a:ea typeface="맑은 고딕"/>
                </a:rPr>
                <a:t>plan age ≤ W × </a:t>
              </a:r>
              <a:r>
                <a:rPr lang="ko-KR" altLang="en-US" sz="800" dirty="0">
                  <a:solidFill>
                    <a:srgbClr val="FF0000"/>
                  </a:solidFill>
                  <a:ea typeface="맑은 고딕"/>
                </a:rPr>
                <a:t>평균 </a:t>
              </a:r>
              <a:r>
                <a:rPr lang="ko-KR" altLang="en-US" sz="800" dirty="0" err="1">
                  <a:solidFill>
                    <a:srgbClr val="FF0000"/>
                  </a:solidFill>
                  <a:ea typeface="맑은 고딕"/>
                </a:rPr>
                <a:t>서비스시간</a:t>
              </a:r>
              <a:endParaRPr sz="650" b="0" i="0" dirty="0">
                <a:solidFill>
                  <a:srgbClr val="FF00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81" name="Rectangle 90">
              <a:extLst>
                <a:ext uri="{FF2B5EF4-FFF2-40B4-BE49-F238E27FC236}">
                  <a16:creationId xmlns:a16="http://schemas.microsoft.com/office/drawing/2014/main" id="{393AF082-229B-4EA1-B973-529F7E5939CD}"/>
                </a:ext>
              </a:extLst>
            </p:cNvPr>
            <p:cNvSpPr/>
            <p:nvPr/>
          </p:nvSpPr>
          <p:spPr>
            <a:xfrm>
              <a:off x="7397563" y="4243058"/>
              <a:ext cx="2194560" cy="2629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5482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③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Load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에 따라 </a:t>
              </a:r>
              <a:r>
                <a:rPr lang="en-US" altLang="ko-KR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age, 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구간 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82" name="Connector 91">
              <a:extLst>
                <a:ext uri="{FF2B5EF4-FFF2-40B4-BE49-F238E27FC236}">
                  <a16:creationId xmlns:a16="http://schemas.microsoft.com/office/drawing/2014/main" id="{CA4C1222-DD39-4CB4-9CC3-03ED0A73CB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6343" y="3586363"/>
              <a:ext cx="0" cy="660487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Rectangle 99">
              <a:extLst>
                <a:ext uri="{FF2B5EF4-FFF2-40B4-BE49-F238E27FC236}">
                  <a16:creationId xmlns:a16="http://schemas.microsoft.com/office/drawing/2014/main" id="{DEC58700-628A-46D6-8DB4-59853C5D7B6E}"/>
                </a:ext>
              </a:extLst>
            </p:cNvPr>
            <p:cNvSpPr/>
            <p:nvPr/>
          </p:nvSpPr>
          <p:spPr>
            <a:xfrm>
              <a:off x="9840834" y="2926911"/>
              <a:ext cx="1493409" cy="54391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① </a:t>
              </a:r>
              <a:r>
                <a:rPr 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Mismatch 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시 구간</a:t>
              </a:r>
              <a:r>
                <a:rPr lang="en-US" altLang="ko-KR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(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k)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 조회</a:t>
              </a:r>
              <a:endParaRPr lang="en-US" altLang="ko-KR" sz="800" b="1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1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fail → 2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선택</a:t>
              </a:r>
            </a:p>
          </p:txBody>
        </p:sp>
        <p:sp>
          <p:nvSpPr>
            <p:cNvPr id="184" name="Rectangle 99">
              <a:extLst>
                <a:ext uri="{FF2B5EF4-FFF2-40B4-BE49-F238E27FC236}">
                  <a16:creationId xmlns:a16="http://schemas.microsoft.com/office/drawing/2014/main" id="{AC7EA8DB-BC4B-4D91-B691-7CA48A2BFA88}"/>
                </a:ext>
              </a:extLst>
            </p:cNvPr>
            <p:cNvSpPr/>
            <p:nvPr/>
          </p:nvSpPr>
          <p:spPr>
            <a:xfrm>
              <a:off x="7705229" y="3373532"/>
              <a:ext cx="973633" cy="1679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Plan 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구간 가변</a:t>
              </a: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010BE734-ED4C-4304-B91C-30745AE9AA7F}"/>
                </a:ext>
              </a:extLst>
            </p:cNvPr>
            <p:cNvGrpSpPr/>
            <p:nvPr/>
          </p:nvGrpSpPr>
          <p:grpSpPr>
            <a:xfrm>
              <a:off x="11288365" y="4027657"/>
              <a:ext cx="732341" cy="488318"/>
              <a:chOff x="11056831" y="3583489"/>
              <a:chExt cx="886133" cy="488318"/>
            </a:xfrm>
          </p:grpSpPr>
          <p:sp>
            <p:nvSpPr>
              <p:cNvPr id="189" name="KV Cache Manager">
                <a:extLst>
                  <a:ext uri="{FF2B5EF4-FFF2-40B4-BE49-F238E27FC236}">
                    <a16:creationId xmlns:a16="http://schemas.microsoft.com/office/drawing/2014/main" id="{7193BC83-981B-478E-BB00-B0CCD220C611}"/>
                  </a:ext>
                </a:extLst>
              </p:cNvPr>
              <p:cNvSpPr/>
              <p:nvPr/>
            </p:nvSpPr>
            <p:spPr>
              <a:xfrm>
                <a:off x="11126972" y="3816949"/>
                <a:ext cx="784423" cy="19403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QA2 </a:t>
                </a:r>
                <a:r>
                  <a:rPr lang="ko-KR" altLang="en-US" sz="800" b="1" dirty="0">
                    <a:solidFill>
                      <a:schemeClr val="tx1"/>
                    </a:solidFill>
                  </a:rPr>
                  <a:t>보완</a:t>
                </a:r>
                <a:endParaRPr lang="en-US" altLang="ko-KR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직사각형 189">
                <a:extLst>
                  <a:ext uri="{FF2B5EF4-FFF2-40B4-BE49-F238E27FC236}">
                    <a16:creationId xmlns:a16="http://schemas.microsoft.com/office/drawing/2014/main" id="{C84C114C-72C6-4726-8195-A62CCA108A92}"/>
                  </a:ext>
                </a:extLst>
              </p:cNvPr>
              <p:cNvSpPr/>
              <p:nvPr/>
            </p:nvSpPr>
            <p:spPr>
              <a:xfrm>
                <a:off x="11056831" y="3583489"/>
                <a:ext cx="886133" cy="488318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Legend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97" name="직선 연결선 196"/>
            <p:cNvCxnSpPr/>
            <p:nvPr/>
          </p:nvCxnSpPr>
          <p:spPr>
            <a:xfrm>
              <a:off x="9628991" y="1977996"/>
              <a:ext cx="0" cy="2536897"/>
            </a:xfrm>
            <a:prstGeom prst="line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</p:cxnSp>
      </p:grpSp>
      <p:grpSp>
        <p:nvGrpSpPr>
          <p:cNvPr id="4" name="그룹 3"/>
          <p:cNvGrpSpPr/>
          <p:nvPr/>
        </p:nvGrpSpPr>
        <p:grpSpPr>
          <a:xfrm>
            <a:off x="1513665" y="1714715"/>
            <a:ext cx="4266747" cy="2485293"/>
            <a:chOff x="1422351" y="1800000"/>
            <a:chExt cx="4693422" cy="2733822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862635" y="1853692"/>
              <a:ext cx="1411795" cy="2926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44" idx="0"/>
            </p:cNvCxnSpPr>
            <p:nvPr/>
          </p:nvCxnSpPr>
          <p:spPr>
            <a:xfrm>
              <a:off x="3568533" y="2146299"/>
              <a:ext cx="1889" cy="289506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394012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1434016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337592" y="4212297"/>
              <a:ext cx="875450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5" idx="0"/>
            </p:cNvCxnSpPr>
            <p:nvPr/>
          </p:nvCxnSpPr>
          <p:spPr>
            <a:xfrm rot="5400000">
              <a:off x="2567161" y="3209036"/>
              <a:ext cx="268048" cy="1738474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6" idx="0"/>
            </p:cNvCxnSpPr>
            <p:nvPr/>
          </p:nvCxnSpPr>
          <p:spPr>
            <a:xfrm rot="16200000" flipH="1">
              <a:off x="3538845" y="3975825"/>
              <a:ext cx="268048" cy="204895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4482797" y="3231336"/>
              <a:ext cx="1600000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Cost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계산이</a:t>
              </a:r>
            </a:p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critical path 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내부</a:t>
              </a:r>
            </a:p>
          </p:txBody>
        </p:sp>
        <p:sp>
          <p:nvSpPr>
            <p:cNvPr id="136" name="Shape 37">
              <a:extLst>
                <a:ext uri="{FF2B5EF4-FFF2-40B4-BE49-F238E27FC236}">
                  <a16:creationId xmlns:a16="http://schemas.microsoft.com/office/drawing/2014/main" id="{7F2072DD-19B6-48CA-BD3D-876E8DDC9C60}"/>
                </a:ext>
              </a:extLst>
            </p:cNvPr>
            <p:cNvSpPr/>
            <p:nvPr/>
          </p:nvSpPr>
          <p:spPr>
            <a:xfrm>
              <a:off x="4737207" y="2129473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 Monitor</a:t>
              </a:r>
            </a:p>
          </p:txBody>
        </p:sp>
        <p:cxnSp>
          <p:nvCxnSpPr>
            <p:cNvPr id="143" name="직선 화살표 연결선 185">
              <a:extLst>
                <a:ext uri="{FF2B5EF4-FFF2-40B4-BE49-F238E27FC236}">
                  <a16:creationId xmlns:a16="http://schemas.microsoft.com/office/drawing/2014/main" id="{BA0CBBE8-3F10-4B7D-B934-710047CDD61C}"/>
                </a:ext>
              </a:extLst>
            </p:cNvPr>
            <p:cNvCxnSpPr>
              <a:cxnSpLocks/>
              <a:stCxn id="144" idx="3"/>
              <a:endCxn id="136" idx="1"/>
            </p:cNvCxnSpPr>
            <p:nvPr/>
          </p:nvCxnSpPr>
          <p:spPr>
            <a:xfrm flipV="1">
              <a:off x="4324906" y="2292936"/>
              <a:ext cx="412301" cy="322679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4" name="Shape 37">
              <a:extLst>
                <a:ext uri="{FF2B5EF4-FFF2-40B4-BE49-F238E27FC236}">
                  <a16:creationId xmlns:a16="http://schemas.microsoft.com/office/drawing/2014/main" id="{70E92FE8-4878-4154-BB88-F90E93B7B850}"/>
                </a:ext>
              </a:extLst>
            </p:cNvPr>
            <p:cNvSpPr/>
            <p:nvPr/>
          </p:nvSpPr>
          <p:spPr>
            <a:xfrm>
              <a:off x="2815938" y="2435805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Planner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</a:rPr>
                <a:t>(Plan)</a:t>
              </a:r>
            </a:p>
          </p:txBody>
        </p:sp>
        <p:sp>
          <p:nvSpPr>
            <p:cNvPr id="145" name="Shape 37">
              <a:extLst>
                <a:ext uri="{FF2B5EF4-FFF2-40B4-BE49-F238E27FC236}">
                  <a16:creationId xmlns:a16="http://schemas.microsoft.com/office/drawing/2014/main" id="{7EA846FB-2BF9-4A17-B933-665E6BCC5A1E}"/>
                </a:ext>
              </a:extLst>
            </p:cNvPr>
            <p:cNvSpPr/>
            <p:nvPr/>
          </p:nvSpPr>
          <p:spPr>
            <a:xfrm>
              <a:off x="4737207" y="2582530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  <a:endPara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cxnSp>
          <p:nvCxnSpPr>
            <p:cNvPr id="146" name="직선 화살표 연결선 185">
              <a:extLst>
                <a:ext uri="{FF2B5EF4-FFF2-40B4-BE49-F238E27FC236}">
                  <a16:creationId xmlns:a16="http://schemas.microsoft.com/office/drawing/2014/main" id="{866738E6-B5E2-485B-BCC3-7AB7D686059C}"/>
                </a:ext>
              </a:extLst>
            </p:cNvPr>
            <p:cNvCxnSpPr>
              <a:cxnSpLocks/>
              <a:stCxn id="144" idx="3"/>
              <a:endCxn id="145" idx="1"/>
            </p:cNvCxnSpPr>
            <p:nvPr/>
          </p:nvCxnSpPr>
          <p:spPr>
            <a:xfrm>
              <a:off x="4324906" y="2615615"/>
              <a:ext cx="412301" cy="130378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9" name="Shape 37">
              <a:extLst>
                <a:ext uri="{FF2B5EF4-FFF2-40B4-BE49-F238E27FC236}">
                  <a16:creationId xmlns:a16="http://schemas.microsoft.com/office/drawing/2014/main" id="{D29B8A49-AE77-46A5-BF3C-C5FFF88BE9D4}"/>
                </a:ext>
              </a:extLst>
            </p:cNvPr>
            <p:cNvSpPr/>
            <p:nvPr/>
          </p:nvSpPr>
          <p:spPr>
            <a:xfrm>
              <a:off x="2815938" y="3112583"/>
              <a:ext cx="1508968" cy="29720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Cost Evaluator</a:t>
              </a:r>
              <a:endPara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50" name="직선 화살표 연결선 185">
              <a:extLst>
                <a:ext uri="{FF2B5EF4-FFF2-40B4-BE49-F238E27FC236}">
                  <a16:creationId xmlns:a16="http://schemas.microsoft.com/office/drawing/2014/main" id="{EFEBEDC4-80EE-4735-B71E-6C1DFDD6FCDC}"/>
                </a:ext>
              </a:extLst>
            </p:cNvPr>
            <p:cNvCxnSpPr>
              <a:cxnSpLocks/>
              <a:stCxn id="144" idx="2"/>
              <a:endCxn id="149" idx="0"/>
            </p:cNvCxnSpPr>
            <p:nvPr/>
          </p:nvCxnSpPr>
          <p:spPr>
            <a:xfrm>
              <a:off x="3570422" y="2795424"/>
              <a:ext cx="0" cy="317159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51" name="Shape 37">
              <a:extLst>
                <a:ext uri="{FF2B5EF4-FFF2-40B4-BE49-F238E27FC236}">
                  <a16:creationId xmlns:a16="http://schemas.microsoft.com/office/drawing/2014/main" id="{1AFCAFB9-F8C0-41A8-8E3E-3B7ACC234BE6}"/>
                </a:ext>
              </a:extLst>
            </p:cNvPr>
            <p:cNvSpPr/>
            <p:nvPr/>
          </p:nvSpPr>
          <p:spPr>
            <a:xfrm>
              <a:off x="2815938" y="3584630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</a:rPr>
                <a:t>(Decision)</a:t>
              </a:r>
            </a:p>
          </p:txBody>
        </p:sp>
        <p:cxnSp>
          <p:nvCxnSpPr>
            <p:cNvPr id="152" name="직선 화살표 연결선 185">
              <a:extLst>
                <a:ext uri="{FF2B5EF4-FFF2-40B4-BE49-F238E27FC236}">
                  <a16:creationId xmlns:a16="http://schemas.microsoft.com/office/drawing/2014/main" id="{A5D1AF10-B4E4-4F84-8D33-8BACD09A70C2}"/>
                </a:ext>
              </a:extLst>
            </p:cNvPr>
            <p:cNvCxnSpPr>
              <a:cxnSpLocks/>
              <a:stCxn id="149" idx="2"/>
              <a:endCxn id="151" idx="0"/>
            </p:cNvCxnSpPr>
            <p:nvPr/>
          </p:nvCxnSpPr>
          <p:spPr>
            <a:xfrm>
              <a:off x="3570422" y="3409788"/>
              <a:ext cx="0" cy="17484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53" name="직선 화살표 연결선 185">
              <a:extLst>
                <a:ext uri="{FF2B5EF4-FFF2-40B4-BE49-F238E27FC236}">
                  <a16:creationId xmlns:a16="http://schemas.microsoft.com/office/drawing/2014/main" id="{667011A0-7D9C-4D04-BD0D-206D0F921C23}"/>
                </a:ext>
              </a:extLst>
            </p:cNvPr>
            <p:cNvCxnSpPr>
              <a:cxnSpLocks/>
              <a:stCxn id="151" idx="2"/>
              <a:endCxn id="124" idx="0"/>
            </p:cNvCxnSpPr>
            <p:nvPr/>
          </p:nvCxnSpPr>
          <p:spPr>
            <a:xfrm rot="5400000">
              <a:off x="3047159" y="3689034"/>
              <a:ext cx="268048" cy="778478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5" name="Shape 31">
              <a:extLst>
                <a:ext uri="{FF2B5EF4-FFF2-40B4-BE49-F238E27FC236}">
                  <a16:creationId xmlns:a16="http://schemas.microsoft.com/office/drawing/2014/main" id="{C0494BB5-740B-474B-8EDE-7DEE62853B08}"/>
                </a:ext>
              </a:extLst>
            </p:cNvPr>
            <p:cNvSpPr/>
            <p:nvPr/>
          </p:nvSpPr>
          <p:spPr>
            <a:xfrm>
              <a:off x="4393753" y="4212297"/>
              <a:ext cx="87545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57" name="직선 화살표 연결선 185">
              <a:extLst>
                <a:ext uri="{FF2B5EF4-FFF2-40B4-BE49-F238E27FC236}">
                  <a16:creationId xmlns:a16="http://schemas.microsoft.com/office/drawing/2014/main" id="{D2EDFE24-B445-4346-8805-83EFFC8CB053}"/>
                </a:ext>
              </a:extLst>
            </p:cNvPr>
            <p:cNvCxnSpPr>
              <a:cxnSpLocks/>
              <a:stCxn id="151" idx="2"/>
              <a:endCxn id="155" idx="0"/>
            </p:cNvCxnSpPr>
            <p:nvPr/>
          </p:nvCxnSpPr>
          <p:spPr>
            <a:xfrm rot="16200000" flipH="1">
              <a:off x="4066926" y="3447745"/>
              <a:ext cx="268048" cy="126105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dash"/>
              <a:headEnd type="none"/>
              <a:tailEnd type="triangle"/>
            </a:ln>
          </p:spPr>
        </p:cxnSp>
        <p:sp>
          <p:nvSpPr>
            <p:cNvPr id="1271" name="C1 Critical path boundary"/>
            <p:cNvSpPr/>
            <p:nvPr/>
          </p:nvSpPr>
          <p:spPr>
            <a:xfrm>
              <a:off x="2695773" y="1800000"/>
              <a:ext cx="3420000" cy="2185000"/>
            </a:xfrm>
            <a:prstGeom prst="rect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  <p:txBody>
            <a:bodyPr rtlCol="0" anchor="ctr"/>
            <a:lstStyle/>
            <a:p>
              <a:pPr algn="ctr"/>
              <a:endParaRPr lang="en-US" altLang="ko-KR" sz="9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293" name="C1 Critical path label"/>
            <p:cNvSpPr/>
            <p:nvPr/>
          </p:nvSpPr>
          <p:spPr>
            <a:xfrm>
              <a:off x="4330000" y="1815000"/>
              <a:ext cx="1440000" cy="250000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+ Decision</a:t>
              </a:r>
            </a:p>
          </p:txBody>
        </p:sp>
        <p:cxnSp>
          <p:nvCxnSpPr>
            <p:cNvPr id="120" name="직선 화살표 연결선 185">
              <a:extLst>
                <a:ext uri="{FF2B5EF4-FFF2-40B4-BE49-F238E27FC236}">
                  <a16:creationId xmlns:a16="http://schemas.microsoft.com/office/drawing/2014/main" id="{6B405AD3-50C7-4140-923C-39C9EC62E997}"/>
                </a:ext>
              </a:extLst>
            </p:cNvPr>
            <p:cNvCxnSpPr>
              <a:cxnSpLocks/>
              <a:stCxn id="149" idx="1"/>
              <a:endCxn id="123" idx="0"/>
            </p:cNvCxnSpPr>
            <p:nvPr/>
          </p:nvCxnSpPr>
          <p:spPr>
            <a:xfrm rot="10800000" flipV="1">
              <a:off x="1977484" y="3261185"/>
              <a:ext cx="838455" cy="122381"/>
            </a:xfrm>
            <a:prstGeom prst="bentConnector2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23" name="KV Cache Manager">
              <a:extLst>
                <a:ext uri="{FF2B5EF4-FFF2-40B4-BE49-F238E27FC236}">
                  <a16:creationId xmlns:a16="http://schemas.microsoft.com/office/drawing/2014/main" id="{AF50C5FD-82D2-49A4-BB8D-5B9CCB95E6F0}"/>
                </a:ext>
              </a:extLst>
            </p:cNvPr>
            <p:cNvSpPr/>
            <p:nvPr/>
          </p:nvSpPr>
          <p:spPr>
            <a:xfrm>
              <a:off x="1422351" y="3383568"/>
              <a:ext cx="1110263" cy="46576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dirty="0">
                  <a:solidFill>
                    <a:schemeClr val="bg1"/>
                  </a:solidFill>
                </a:rPr>
                <a:t>Common Memory Backend Interface</a:t>
              </a:r>
              <a:endParaRPr lang="ko-KR" altLang="en-US" sz="900" dirty="0">
                <a:solidFill>
                  <a:schemeClr val="bg1"/>
                </a:solidFill>
              </a:endParaRPr>
            </a:p>
          </p:txBody>
        </p:sp>
      </p:grpSp>
      <p:sp>
        <p:nvSpPr>
          <p:cNvPr id="198" name="모서리가 둥근 직사각형 19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9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01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02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204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205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206" name="모서리가 둥근 직사각형 205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184584" y="1397170"/>
            <a:ext cx="62636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dirty="0"/>
              <a:t>“</a:t>
            </a:r>
            <a:r>
              <a:rPr lang="ko-KR" altLang="en-US" dirty="0"/>
              <a:t>계획의 구간을 확장하고</a:t>
            </a:r>
            <a:r>
              <a:rPr lang="en-US" altLang="ko-KR" dirty="0"/>
              <a:t>, Queue</a:t>
            </a:r>
            <a:r>
              <a:rPr lang="ko-KR" altLang="en-US" dirty="0"/>
              <a:t>의 크기를 보고 계획 시점을 조율</a:t>
            </a:r>
            <a:r>
              <a:rPr lang="en-US" altLang="ko-KR" dirty="0"/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563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8" y="1054901"/>
          <a:ext cx="11759184" cy="56217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 Base 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공유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, Delta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만 할당</a:t>
                      </a:r>
                      <a:endParaRPr lang="ko-KR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091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요청이 끝나면 재계산 위치를 소멸하여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Stale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데이터 발생 방지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en-US" altLang="ko-KR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및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재계산 위치를 별도 저장하므로 메모리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증가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공통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는 요청 간 공유하고 요청 별로 새로 쓰는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KV(Delta)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Append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하게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Layout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을 조절하여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HBM </a:t>
                      </a:r>
                      <a:r>
                        <a:rPr lang="ko-KR" altLang="en-US" sz="1200" strike="noStrike" baseline="0" dirty="0" err="1">
                          <a:solidFill>
                            <a:srgbClr val="FF0000"/>
                          </a:solidFill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 제어 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rgbClr val="FF0000"/>
                </a:solidFill>
              </a:rPr>
              <a:t>보완 설계 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서빙</a:t>
            </a:r>
            <a:r>
              <a:rPr lang="ko-KR" altLang="en-US" sz="1100" dirty="0"/>
              <a:t> 경로 내에서 재계산 대상 토큰을 동적으로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선택적 재계산을 수행하는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재사용 </a:t>
            </a:r>
            <a:r>
              <a:rPr lang="en-US" altLang="ko-KR" sz="1100" dirty="0"/>
              <a:t>KV</a:t>
            </a:r>
            <a:r>
              <a:rPr lang="ko-KR" altLang="en-US" sz="1100" dirty="0"/>
              <a:t>는 요청 간 공유</a:t>
            </a:r>
            <a:r>
              <a:rPr lang="en-US" altLang="ko-KR" sz="1100" dirty="0"/>
              <a:t>(Base)</a:t>
            </a:r>
            <a:r>
              <a:rPr lang="ko-KR" altLang="en-US" sz="1100" dirty="0"/>
              <a:t>하고 </a:t>
            </a:r>
            <a:r>
              <a:rPr lang="ko-KR" altLang="en-US" sz="1100" dirty="0" err="1"/>
              <a:t>재계산분만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요청별</a:t>
            </a:r>
            <a:r>
              <a:rPr lang="en-US" altLang="ko-KR" sz="1100" dirty="0"/>
              <a:t>(Delta)</a:t>
            </a:r>
            <a:r>
              <a:rPr lang="ko-KR" altLang="en-US" sz="1100" dirty="0"/>
              <a:t>로 두며 </a:t>
            </a:r>
            <a:r>
              <a:rPr lang="en-US" altLang="ko-KR" sz="1100" dirty="0"/>
              <a:t>HBM </a:t>
            </a:r>
            <a:r>
              <a:rPr lang="ko-KR" altLang="en-US" sz="1100" dirty="0"/>
              <a:t>예산을 입장 전에 계산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38649" y="6339481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045624" y="630275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>
                <a:solidFill>
                  <a:srgbClr val="FF0000"/>
                </a:solidFill>
              </a:rPr>
              <a:t>점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6663658" y="1846644"/>
            <a:ext cx="5155915" cy="1618145"/>
            <a:chOff x="320040" y="1783080"/>
            <a:chExt cx="6400800" cy="2606040"/>
          </a:xfrm>
        </p:grpSpPr>
        <p:sp>
          <p:nvSpPr>
            <p:cNvPr id="70" name="Rectangle 17"/>
            <p:cNvSpPr/>
            <p:nvPr/>
          </p:nvSpPr>
          <p:spPr>
            <a:xfrm>
              <a:off x="411480" y="1928537"/>
              <a:ext cx="2834640" cy="608533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Offline Analyzer (</a:t>
              </a:r>
              <a:r>
                <a:rPr sz="85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사전</a:t>
              </a: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대표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Query →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선정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71" name="Rectangle 18"/>
            <p:cNvSpPr/>
            <p:nvPr/>
          </p:nvSpPr>
          <p:spPr>
            <a:xfrm>
              <a:off x="320040" y="3017520"/>
              <a:ext cx="3154680" cy="1005840"/>
            </a:xfrm>
            <a:prstGeom prst="rect">
              <a:avLst/>
            </a:prstGeom>
            <a:solidFill>
              <a:srgbClr val="F7FAFD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65760" y="3026665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KV Repository</a:t>
              </a:r>
            </a:p>
          </p:txBody>
        </p:sp>
        <p:sp>
          <p:nvSpPr>
            <p:cNvPr id="73" name="Rectangle 20"/>
            <p:cNvSpPr/>
            <p:nvPr/>
          </p:nvSpPr>
          <p:spPr>
            <a:xfrm>
              <a:off x="411480" y="3383280"/>
              <a:ext cx="1371600" cy="45720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Context KV</a:t>
              </a:r>
            </a:p>
          </p:txBody>
        </p:sp>
        <p:sp>
          <p:nvSpPr>
            <p:cNvPr id="74" name="Rectangle 21"/>
            <p:cNvSpPr/>
            <p:nvPr/>
          </p:nvSpPr>
          <p:spPr>
            <a:xfrm>
              <a:off x="1965960" y="3383280"/>
              <a:ext cx="1417320" cy="4572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 Store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75" name="Connector 22"/>
            <p:cNvCxnSpPr/>
            <p:nvPr/>
          </p:nvCxnSpPr>
          <p:spPr>
            <a:xfrm>
              <a:off x="2651760" y="2513693"/>
              <a:ext cx="0" cy="869587"/>
            </a:xfrm>
            <a:prstGeom prst="line">
              <a:avLst/>
            </a:prstGeom>
            <a:ln w="9525">
              <a:solidFill>
                <a:srgbClr val="C55A1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/>
            <p:cNvSpPr txBox="1"/>
            <p:nvPr/>
          </p:nvSpPr>
          <p:spPr>
            <a:xfrm>
              <a:off x="2697480" y="2697480"/>
              <a:ext cx="64008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write</a:t>
              </a:r>
            </a:p>
          </p:txBody>
        </p:sp>
        <p:sp>
          <p:nvSpPr>
            <p:cNvPr id="79" name="Rectangle 26"/>
            <p:cNvSpPr/>
            <p:nvPr/>
          </p:nvSpPr>
          <p:spPr>
            <a:xfrm>
              <a:off x="3886200" y="1783080"/>
              <a:ext cx="2834640" cy="2606040"/>
            </a:xfrm>
            <a:prstGeom prst="rect">
              <a:avLst/>
            </a:prstGeom>
            <a:solidFill>
              <a:srgbClr val="FEF4EC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931920" y="1792224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서빙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경로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sp>
          <p:nvSpPr>
            <p:cNvPr id="82" name="Rectangle 28"/>
            <p:cNvSpPr/>
            <p:nvPr/>
          </p:nvSpPr>
          <p:spPr>
            <a:xfrm>
              <a:off x="4023360" y="2128520"/>
              <a:ext cx="2560320" cy="39065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9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Selective </a:t>
              </a:r>
              <a:r>
                <a:rPr sz="9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Recomputer</a:t>
              </a:r>
              <a:endParaRPr 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3" name="Rectangle 29"/>
            <p:cNvSpPr/>
            <p:nvPr/>
          </p:nvSpPr>
          <p:spPr>
            <a:xfrm>
              <a:off x="4023360" y="2858094"/>
              <a:ext cx="2560320" cy="51944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KV Layout Manager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공유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(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refcount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 + Delta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4" name="Rectangle 30"/>
            <p:cNvSpPr/>
            <p:nvPr/>
          </p:nvSpPr>
          <p:spPr>
            <a:xfrm>
              <a:off x="4023360" y="3790187"/>
              <a:ext cx="2560320" cy="502921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Plan-aware Admission Controller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plan으로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HBM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소요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cxnSp>
          <p:nvCxnSpPr>
            <p:cNvPr id="85" name="Connector 31"/>
            <p:cNvCxnSpPr/>
            <p:nvPr/>
          </p:nvCxnSpPr>
          <p:spPr>
            <a:xfrm flipV="1">
              <a:off x="5303520" y="3406142"/>
              <a:ext cx="0" cy="320037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32"/>
            <p:cNvCxnSpPr/>
            <p:nvPr/>
          </p:nvCxnSpPr>
          <p:spPr>
            <a:xfrm flipV="1">
              <a:off x="5303520" y="2553018"/>
              <a:ext cx="0" cy="228601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/>
            <p:cNvSpPr txBox="1"/>
            <p:nvPr/>
          </p:nvSpPr>
          <p:spPr>
            <a:xfrm>
              <a:off x="5349240" y="3496027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admit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5349240" y="2577203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Delta </a:t>
              </a:r>
              <a:r>
                <a:rPr sz="75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5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89" name="Connector 35"/>
            <p:cNvCxnSpPr/>
            <p:nvPr/>
          </p:nvCxnSpPr>
          <p:spPr>
            <a:xfrm>
              <a:off x="3383280" y="3703319"/>
              <a:ext cx="640079" cy="251335"/>
            </a:xfrm>
            <a:prstGeom prst="line">
              <a:avLst/>
            </a:prstGeom>
            <a:ln w="9525">
              <a:solidFill>
                <a:srgbClr val="C55A1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3456432" y="347472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plan</a:t>
              </a:r>
            </a:p>
          </p:txBody>
        </p:sp>
        <p:cxnSp>
          <p:nvCxnSpPr>
            <p:cNvPr id="91" name="Connector 37"/>
            <p:cNvCxnSpPr/>
            <p:nvPr/>
          </p:nvCxnSpPr>
          <p:spPr>
            <a:xfrm flipV="1">
              <a:off x="3474720" y="3017520"/>
              <a:ext cx="548640" cy="9144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/>
            <p:cNvSpPr txBox="1"/>
            <p:nvPr/>
          </p:nvSpPr>
          <p:spPr>
            <a:xfrm>
              <a:off x="3456432" y="283464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</p:grpSp>
      <p:grpSp>
        <p:nvGrpSpPr>
          <p:cNvPr id="11" name="그룹 10"/>
          <p:cNvGrpSpPr/>
          <p:nvPr/>
        </p:nvGrpSpPr>
        <p:grpSpPr>
          <a:xfrm>
            <a:off x="6847294" y="3808443"/>
            <a:ext cx="5074920" cy="700777"/>
            <a:chOff x="6847294" y="3507797"/>
            <a:chExt cx="5074920" cy="1241469"/>
          </a:xfrm>
        </p:grpSpPr>
        <p:sp>
          <p:nvSpPr>
            <p:cNvPr id="93" name="TextBox 92"/>
            <p:cNvSpPr txBox="1"/>
            <p:nvPr/>
          </p:nvSpPr>
          <p:spPr>
            <a:xfrm>
              <a:off x="6847294" y="3887257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보완 전</a:t>
              </a:r>
            </a:p>
          </p:txBody>
        </p:sp>
        <p:sp>
          <p:nvSpPr>
            <p:cNvPr id="94" name="Rectangle 41"/>
            <p:cNvSpPr/>
            <p:nvPr/>
          </p:nvSpPr>
          <p:spPr>
            <a:xfrm>
              <a:off x="771597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5" name="Rectangle 42"/>
            <p:cNvSpPr/>
            <p:nvPr/>
          </p:nvSpPr>
          <p:spPr>
            <a:xfrm>
              <a:off x="876524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71597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R1 (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전체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 L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복사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97" name="Rectangle 44"/>
            <p:cNvSpPr/>
            <p:nvPr/>
          </p:nvSpPr>
          <p:spPr>
            <a:xfrm>
              <a:off x="895041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8" name="Rectangle 45"/>
            <p:cNvSpPr/>
            <p:nvPr/>
          </p:nvSpPr>
          <p:spPr>
            <a:xfrm>
              <a:off x="999968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895041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R2 (전체 L 복사)</a:t>
              </a:r>
            </a:p>
          </p:txBody>
        </p:sp>
        <p:sp>
          <p:nvSpPr>
            <p:cNvPr id="100" name="Rectangle 47"/>
            <p:cNvSpPr/>
            <p:nvPr/>
          </p:nvSpPr>
          <p:spPr>
            <a:xfrm>
              <a:off x="1018485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101" name="Rectangle 48"/>
            <p:cNvSpPr/>
            <p:nvPr/>
          </p:nvSpPr>
          <p:spPr>
            <a:xfrm>
              <a:off x="1123412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1018485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R3 (전체 L 복사)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11465014" y="3827769"/>
              <a:ext cx="45720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3.0 L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847294" y="4474946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보완</a:t>
              </a:r>
              <a:r>
                <a:rPr sz="9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후</a:t>
              </a:r>
            </a:p>
          </p:txBody>
        </p:sp>
        <p:sp>
          <p:nvSpPr>
            <p:cNvPr id="110" name="Rectangle 52"/>
            <p:cNvSpPr/>
            <p:nvPr/>
          </p:nvSpPr>
          <p:spPr>
            <a:xfrm>
              <a:off x="7715974" y="4377956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(공유 ×3)</a:t>
              </a:r>
            </a:p>
          </p:txBody>
        </p:sp>
        <p:sp>
          <p:nvSpPr>
            <p:cNvPr id="111" name="Rectangle 53"/>
            <p:cNvSpPr/>
            <p:nvPr/>
          </p:nvSpPr>
          <p:spPr>
            <a:xfrm>
              <a:off x="8765248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d1</a:t>
              </a:r>
            </a:p>
          </p:txBody>
        </p:sp>
        <p:sp>
          <p:nvSpPr>
            <p:cNvPr id="112" name="Rectangle 54"/>
            <p:cNvSpPr/>
            <p:nvPr/>
          </p:nvSpPr>
          <p:spPr>
            <a:xfrm>
              <a:off x="8950414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d2</a:t>
              </a:r>
            </a:p>
          </p:txBody>
        </p:sp>
        <p:sp>
          <p:nvSpPr>
            <p:cNvPr id="114" name="Rectangle 55"/>
            <p:cNvSpPr/>
            <p:nvPr/>
          </p:nvSpPr>
          <p:spPr>
            <a:xfrm>
              <a:off x="9135580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d3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8765248" y="4135201"/>
              <a:ext cx="137160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Delta (</a:t>
              </a:r>
              <a:r>
                <a:rPr sz="700" b="0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07614" y="4423676"/>
              <a:ext cx="73152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1.3 L</a:t>
              </a:r>
            </a:p>
          </p:txBody>
        </p:sp>
      </p:grp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E780B97-B2C1-448F-BF73-FB8F18044673}"/>
              </a:ext>
            </a:extLst>
          </p:cNvPr>
          <p:cNvSpPr/>
          <p:nvPr/>
        </p:nvSpPr>
        <p:spPr>
          <a:xfrm>
            <a:off x="6514419" y="1037703"/>
            <a:ext cx="5492576" cy="5607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Rectangle 39"/>
          <p:cNvSpPr/>
          <p:nvPr/>
        </p:nvSpPr>
        <p:spPr>
          <a:xfrm>
            <a:off x="6755917" y="3621597"/>
            <a:ext cx="5029200" cy="181686"/>
          </a:xfrm>
          <a:prstGeom prst="rect">
            <a:avLst/>
          </a:prstGeom>
          <a:solidFill>
            <a:srgbClr val="F2F2F2"/>
          </a:solidFill>
          <a:ln w="1016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레이아웃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N=3, ρ=0.15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790473" y="4534699"/>
            <a:ext cx="4580015" cy="37959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spcAft>
                <a:spcPts val="200"/>
              </a:spcAft>
            </a:pP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HBM = (1−ρ)·L + </a:t>
            </a:r>
            <a:r>
              <a:rPr lang="en-US" altLang="ko-KR" sz="850" b="1" dirty="0" err="1">
                <a:solidFill>
                  <a:srgbClr val="404040"/>
                </a:solidFill>
                <a:ea typeface="맑은 고딕"/>
                <a:cs typeface="맑은 고딕"/>
              </a:rPr>
              <a:t>N·ρ·L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 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vs  N·L  → N=3, ρ=0.15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에서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3.0 L → 1.3 L (−57%)</a:t>
            </a:r>
          </a:p>
          <a:p>
            <a:pPr lvl="0">
              <a:spcAft>
                <a:spcPts val="200"/>
              </a:spcAft>
            </a:pP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 커질수록 요청당 </a:t>
            </a:r>
            <a:r>
              <a:rPr lang="en-US" altLang="ko-KR" sz="850" dirty="0" err="1">
                <a:solidFill>
                  <a:srgbClr val="595959"/>
                </a:solidFill>
                <a:ea typeface="맑은 고딕"/>
                <a:cs typeface="맑은 고딕"/>
              </a:rPr>
              <a:t>ρ·L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에 수렴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. 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재사용이 분산돼 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N≈1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이면 이득 없음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92849" y="2332514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0" name="Rectangle 19"/>
          <p:cNvSpPr/>
          <p:nvPr/>
        </p:nvSpPr>
        <p:spPr>
          <a:xfrm>
            <a:off x="1611630" y="2259453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1" name="Connector 20"/>
          <p:cNvCxnSpPr/>
          <p:nvPr/>
        </p:nvCxnSpPr>
        <p:spPr>
          <a:xfrm>
            <a:off x="2271947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21"/>
          <p:cNvSpPr/>
          <p:nvPr/>
        </p:nvSpPr>
        <p:spPr>
          <a:xfrm>
            <a:off x="2445714" y="2259453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5" name="Connector 22"/>
          <p:cNvCxnSpPr/>
          <p:nvPr/>
        </p:nvCxnSpPr>
        <p:spPr>
          <a:xfrm>
            <a:off x="3106033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23"/>
          <p:cNvSpPr/>
          <p:nvPr/>
        </p:nvSpPr>
        <p:spPr>
          <a:xfrm>
            <a:off x="3279801" y="2259453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40" name="Connector 24"/>
          <p:cNvCxnSpPr/>
          <p:nvPr/>
        </p:nvCxnSpPr>
        <p:spPr>
          <a:xfrm>
            <a:off x="3940118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25"/>
          <p:cNvSpPr/>
          <p:nvPr/>
        </p:nvSpPr>
        <p:spPr>
          <a:xfrm>
            <a:off x="4113885" y="2259452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192849" y="2822457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43" name="Rectangle 27"/>
          <p:cNvSpPr/>
          <p:nvPr/>
        </p:nvSpPr>
        <p:spPr>
          <a:xfrm>
            <a:off x="2444860" y="2749396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46" name="Connector 28"/>
          <p:cNvCxnSpPr/>
          <p:nvPr/>
        </p:nvCxnSpPr>
        <p:spPr>
          <a:xfrm>
            <a:off x="3105177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29"/>
          <p:cNvSpPr/>
          <p:nvPr/>
        </p:nvSpPr>
        <p:spPr>
          <a:xfrm>
            <a:off x="3278944" y="2749396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1" name="Connector 30"/>
          <p:cNvCxnSpPr/>
          <p:nvPr/>
        </p:nvCxnSpPr>
        <p:spPr>
          <a:xfrm>
            <a:off x="3939263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31"/>
          <p:cNvSpPr/>
          <p:nvPr/>
        </p:nvSpPr>
        <p:spPr>
          <a:xfrm>
            <a:off x="4113031" y="2749396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6" name="Connector 32"/>
          <p:cNvCxnSpPr/>
          <p:nvPr/>
        </p:nvCxnSpPr>
        <p:spPr>
          <a:xfrm>
            <a:off x="4773348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33"/>
          <p:cNvSpPr/>
          <p:nvPr/>
        </p:nvSpPr>
        <p:spPr>
          <a:xfrm>
            <a:off x="4947115" y="2749396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2849" y="3312401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63" name="Rectangle 35"/>
          <p:cNvSpPr/>
          <p:nvPr/>
        </p:nvSpPr>
        <p:spPr>
          <a:xfrm>
            <a:off x="3272288" y="3239339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4" name="Connector 36"/>
          <p:cNvCxnSpPr/>
          <p:nvPr/>
        </p:nvCxnSpPr>
        <p:spPr>
          <a:xfrm>
            <a:off x="3932605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37"/>
          <p:cNvSpPr/>
          <p:nvPr/>
        </p:nvSpPr>
        <p:spPr>
          <a:xfrm>
            <a:off x="4106372" y="3239339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6" name="Connector 38"/>
          <p:cNvCxnSpPr/>
          <p:nvPr/>
        </p:nvCxnSpPr>
        <p:spPr>
          <a:xfrm>
            <a:off x="4766691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39"/>
          <p:cNvSpPr/>
          <p:nvPr/>
        </p:nvSpPr>
        <p:spPr>
          <a:xfrm>
            <a:off x="4940459" y="3239339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68" name="Connector 40"/>
          <p:cNvCxnSpPr/>
          <p:nvPr/>
        </p:nvCxnSpPr>
        <p:spPr>
          <a:xfrm>
            <a:off x="5600776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 41"/>
          <p:cNvSpPr/>
          <p:nvPr/>
        </p:nvSpPr>
        <p:spPr>
          <a:xfrm>
            <a:off x="5774543" y="3239340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71552" y="1944788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1" name="실행 단추: 앞으로 또는 다음 170">
            <a:hlinkClick r:id="" action="ppaction://noaction" highlightClick="1"/>
          </p:cNvPr>
          <p:cNvSpPr/>
          <p:nvPr/>
        </p:nvSpPr>
        <p:spPr>
          <a:xfrm>
            <a:off x="569407" y="3283938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KV Cache Manager">
            <a:extLst>
              <a:ext uri="{FF2B5EF4-FFF2-40B4-BE49-F238E27FC236}">
                <a16:creationId xmlns:a16="http://schemas.microsoft.com/office/drawing/2014/main" id="{7193BC83-981B-478E-BB00-B0CCD220C611}"/>
              </a:ext>
            </a:extLst>
          </p:cNvPr>
          <p:cNvSpPr/>
          <p:nvPr/>
        </p:nvSpPr>
        <p:spPr>
          <a:xfrm>
            <a:off x="11185692" y="4590767"/>
            <a:ext cx="713111" cy="1864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QA2 </a:t>
            </a:r>
            <a:r>
              <a:rPr lang="ko-KR" altLang="en-US" sz="800" b="1" dirty="0">
                <a:solidFill>
                  <a:schemeClr val="tx1"/>
                </a:solidFill>
              </a:rPr>
              <a:t>보완</a:t>
            </a:r>
            <a:endParaRPr lang="en-US" altLang="ko-KR" sz="800" b="1" dirty="0">
              <a:solidFill>
                <a:schemeClr val="tx1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84C114C-72C6-4726-8195-A62CCA108A92}"/>
              </a:ext>
            </a:extLst>
          </p:cNvPr>
          <p:cNvSpPr/>
          <p:nvPr/>
        </p:nvSpPr>
        <p:spPr>
          <a:xfrm>
            <a:off x="11121927" y="4366417"/>
            <a:ext cx="805575" cy="469264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Legend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47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6" name="실행 단추: 앞으로 또는 다음 5">
            <a:hlinkClick r:id="" action="ppaction://noaction" highlightClick="1"/>
          </p:cNvPr>
          <p:cNvSpPr/>
          <p:nvPr/>
        </p:nvSpPr>
        <p:spPr>
          <a:xfrm>
            <a:off x="11370488" y="1162050"/>
            <a:ext cx="230962" cy="18415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943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5256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 </a:t>
                      </a:r>
                      <a:r>
                        <a:rPr lang="en-US" altLang="ko-KR" sz="1200" b="1" dirty="0" err="1">
                          <a:solidFill>
                            <a:srgbClr val="FF0000"/>
                          </a:solidFill>
                        </a:rPr>
                        <a:t>Sharding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</a:rPr>
                        <a:t>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299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304399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1.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메타데이터 요청의 병렬 처리로 서버 처리량 증가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2.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중앙 관리 인터페이스를 유지하면서 노드 확장성 개선</a:t>
                      </a:r>
                      <a:endParaRPr lang="en-US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142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CXL </a:t>
            </a:r>
            <a:r>
              <a:rPr sz="7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공유</a:t>
            </a:r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ea typeface="맑은 고딕"/>
              </a:rPr>
              <a:t>공유 데이터</a:t>
            </a:r>
            <a:endParaRPr lang="en-US" altLang="ko-KR" sz="800" dirty="0">
              <a:solidFill>
                <a:schemeClr val="tx1"/>
              </a:solidFill>
              <a:ea typeface="맑은 고딕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“KV </a:t>
            </a:r>
            <a:r>
              <a:rPr lang="ko-KR" altLang="en-US" sz="1100" dirty="0"/>
              <a:t>해시 기반 </a:t>
            </a:r>
            <a:r>
              <a:rPr lang="en-US" altLang="ko-KR" sz="1100" dirty="0"/>
              <a:t>Metadata </a:t>
            </a:r>
            <a:r>
              <a:rPr lang="en-US" altLang="ko-KR" sz="1100" dirty="0" err="1"/>
              <a:t>Sharding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/>
              <a:t>Shard</a:t>
            </a:r>
            <a:r>
              <a:rPr lang="ko-KR" altLang="en-US" sz="1100" dirty="0"/>
              <a:t>별 독립 </a:t>
            </a:r>
            <a:r>
              <a:rPr lang="en-US" altLang="ko-KR" sz="1100" dirty="0"/>
              <a:t>Worker </a:t>
            </a:r>
            <a:r>
              <a:rPr lang="ko-KR" altLang="en-US" sz="1100" dirty="0"/>
              <a:t>구성</a:t>
            </a:r>
            <a:r>
              <a:rPr lang="en-US" altLang="ko-KR" sz="1100" dirty="0"/>
              <a:t> 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노드가 2단 락으로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0A9BCA1-FAEA-4612-92CB-05CCBDD3F489}"/>
              </a:ext>
            </a:extLst>
          </p:cNvPr>
          <p:cNvGrpSpPr/>
          <p:nvPr/>
        </p:nvGrpSpPr>
        <p:grpSpPr>
          <a:xfrm>
            <a:off x="1448656" y="1847396"/>
            <a:ext cx="4668457" cy="1771105"/>
            <a:chOff x="1261872" y="2029255"/>
            <a:chExt cx="5135303" cy="2143037"/>
          </a:xfrm>
        </p:grpSpPr>
        <p:sp>
          <p:nvSpPr>
            <p:cNvPr id="140" name="Rectangle 139"/>
            <p:cNvSpPr/>
            <p:nvPr/>
          </p:nvSpPr>
          <p:spPr>
            <a:xfrm>
              <a:off x="1261872" y="2120695"/>
              <a:ext cx="1417320" cy="2000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1261872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P </a:t>
              </a:r>
              <a:r>
                <a:rPr sz="7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1371600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  <a:endParaRPr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4979855" y="2120696"/>
              <a:ext cx="1417320" cy="20000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4979855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r>
                <a:rPr sz="7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D </a:t>
              </a:r>
              <a:r>
                <a:rPr sz="700" b="1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5089583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3019667" y="2029255"/>
              <a:ext cx="1704108" cy="1532337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3017852" y="2029256"/>
              <a:ext cx="1286810" cy="173736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«store» CXL </a:t>
              </a:r>
              <a:r>
                <a:rPr sz="700" b="1" i="0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공유</a:t>
              </a:r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풀</a:t>
              </a:r>
              <a:r>
                <a:rPr lang="en-US"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</a:t>
              </a:r>
              <a:endParaRPr sz="70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3124504" y="2373264"/>
              <a:ext cx="1537855" cy="29260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  <a:latin typeface="맑은 고딕"/>
                  <a:ea typeface="맑은 고딕"/>
                </a:rPr>
                <a:t>공유 데이터</a:t>
              </a:r>
              <a:endParaRPr sz="80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59" name="Connector 158"/>
            <p:cNvCxnSpPr/>
            <p:nvPr/>
          </p:nvCxnSpPr>
          <p:spPr>
            <a:xfrm>
              <a:off x="2549632" y="3344010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Oval 159"/>
            <p:cNvSpPr/>
            <p:nvPr/>
          </p:nvSpPr>
          <p:spPr>
            <a:xfrm>
              <a:off x="2701812" y="3243038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65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cxnSp>
          <p:nvCxnSpPr>
            <p:cNvPr id="161" name="Connector 160"/>
            <p:cNvCxnSpPr/>
            <p:nvPr/>
          </p:nvCxnSpPr>
          <p:spPr>
            <a:xfrm flipH="1">
              <a:off x="4621340" y="3285858"/>
              <a:ext cx="47434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Oval 161"/>
            <p:cNvSpPr/>
            <p:nvPr/>
          </p:nvSpPr>
          <p:spPr>
            <a:xfrm>
              <a:off x="4778047" y="3188562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04" name="C1 slot-server link"/>
            <p:cNvCxnSpPr>
              <a:cxnSpLocks/>
            </p:cNvCxnSpPr>
            <p:nvPr/>
          </p:nvCxnSpPr>
          <p:spPr>
            <a:xfrm>
              <a:off x="3890772" y="3573688"/>
              <a:ext cx="0" cy="598604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C1 link label"/>
            <p:cNvSpPr txBox="1"/>
            <p:nvPr/>
          </p:nvSpPr>
          <p:spPr>
            <a:xfrm>
              <a:off x="3981451" y="3630728"/>
              <a:ext cx="880000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650" dirty="0">
                  <a:solidFill>
                    <a:srgbClr val="404040"/>
                  </a:solidFill>
                  <a:latin typeface="맑은 고딕"/>
                  <a:ea typeface="맑은 고딕"/>
                </a:rPr>
                <a:t>Polling</a:t>
              </a:r>
              <a:endParaRPr sz="65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0" name="Rectangle 35"/>
            <p:cNvSpPr/>
            <p:nvPr/>
          </p:nvSpPr>
          <p:spPr>
            <a:xfrm>
              <a:off x="1368310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2" name="Rectangle 35"/>
            <p:cNvSpPr/>
            <p:nvPr/>
          </p:nvSpPr>
          <p:spPr>
            <a:xfrm>
              <a:off x="5090865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5" name="Rectangle 37"/>
            <p:cNvSpPr/>
            <p:nvPr/>
          </p:nvSpPr>
          <p:spPr>
            <a:xfrm>
              <a:off x="1399032" y="3719744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6" name="Rectangle 37"/>
            <p:cNvSpPr/>
            <p:nvPr/>
          </p:nvSpPr>
          <p:spPr>
            <a:xfrm>
              <a:off x="5118493" y="3726096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3" name="Rectangle 48"/>
            <p:cNvSpPr/>
            <p:nvPr/>
          </p:nvSpPr>
          <p:spPr>
            <a:xfrm>
              <a:off x="3110754" y="2891678"/>
              <a:ext cx="1511405" cy="5199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요청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/ </a:t>
              </a:r>
              <a:r>
                <a:rPr sz="900" b="1" dirty="0" err="1">
                  <a:solidFill>
                    <a:schemeClr val="tx1"/>
                  </a:solidFill>
                  <a:ea typeface="맑은 고딕"/>
                </a:rPr>
                <a:t>응답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슬롯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(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RPC)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4" name="Oval 159"/>
            <p:cNvSpPr/>
            <p:nvPr/>
          </p:nvSpPr>
          <p:spPr>
            <a:xfrm>
              <a:off x="3667251" y="362504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2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17" name="Connector 158"/>
            <p:cNvCxnSpPr/>
            <p:nvPr/>
          </p:nvCxnSpPr>
          <p:spPr>
            <a:xfrm>
              <a:off x="2542776" y="3078856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Oval 159"/>
            <p:cNvSpPr/>
            <p:nvPr/>
          </p:nvSpPr>
          <p:spPr>
            <a:xfrm>
              <a:off x="2699716" y="297788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3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1" name="Connector 158"/>
            <p:cNvCxnSpPr/>
            <p:nvPr/>
          </p:nvCxnSpPr>
          <p:spPr>
            <a:xfrm>
              <a:off x="2574036" y="2519568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Oval 159"/>
            <p:cNvSpPr/>
            <p:nvPr/>
          </p:nvSpPr>
          <p:spPr>
            <a:xfrm>
              <a:off x="2716149" y="2427509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4" name="Connector 158"/>
            <p:cNvCxnSpPr/>
            <p:nvPr/>
          </p:nvCxnSpPr>
          <p:spPr>
            <a:xfrm>
              <a:off x="4629714" y="3046260"/>
              <a:ext cx="458759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Oval 159"/>
            <p:cNvSpPr/>
            <p:nvPr/>
          </p:nvSpPr>
          <p:spPr>
            <a:xfrm>
              <a:off x="4781894" y="2945288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6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26" name="Oval 159"/>
            <p:cNvSpPr/>
            <p:nvPr/>
          </p:nvSpPr>
          <p:spPr>
            <a:xfrm>
              <a:off x="3465443" y="3622817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5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7" name="Connector 158"/>
            <p:cNvCxnSpPr/>
            <p:nvPr/>
          </p:nvCxnSpPr>
          <p:spPr>
            <a:xfrm>
              <a:off x="4647136" y="2519568"/>
              <a:ext cx="41705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Oval 159"/>
            <p:cNvSpPr/>
            <p:nvPr/>
          </p:nvSpPr>
          <p:spPr>
            <a:xfrm>
              <a:off x="4796974" y="2427509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7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</p:grp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63089" y="300288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255880" y="4222474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50169" y="4010261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AB71E37E-1E20-4358-BCBA-5681E2D81FAD}"/>
              </a:ext>
            </a:extLst>
          </p:cNvPr>
          <p:cNvSpPr/>
          <p:nvPr/>
        </p:nvSpPr>
        <p:spPr>
          <a:xfrm>
            <a:off x="1081944" y="1048899"/>
            <a:ext cx="5492576" cy="5614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680249" y="637374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7.5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35151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C7DD5F2C-51E6-4D74-83EF-A4160F72D0A7}"/>
              </a:ext>
            </a:extLst>
          </p:cNvPr>
          <p:cNvGrpSpPr/>
          <p:nvPr/>
        </p:nvGrpSpPr>
        <p:grpSpPr>
          <a:xfrm>
            <a:off x="2279209" y="3673870"/>
            <a:ext cx="3027586" cy="1114973"/>
            <a:chOff x="7360920" y="3300984"/>
            <a:chExt cx="3977639" cy="1407513"/>
          </a:xfrm>
        </p:grpSpPr>
        <p:sp>
          <p:nvSpPr>
            <p:cNvPr id="107" name="Rectangle 323">
              <a:extLst>
                <a:ext uri="{FF2B5EF4-FFF2-40B4-BE49-F238E27FC236}">
                  <a16:creationId xmlns:a16="http://schemas.microsoft.com/office/drawing/2014/main" id="{F3EF4309-C200-4C7D-A2E0-E20290214D3B}"/>
                </a:ext>
              </a:extLst>
            </p:cNvPr>
            <p:cNvSpPr/>
            <p:nvPr/>
          </p:nvSpPr>
          <p:spPr>
            <a:xfrm>
              <a:off x="7360920" y="3300984"/>
              <a:ext cx="3977639" cy="11894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25F9BE9-7BDB-4B08-86A4-D6EEB192A0F4}"/>
                </a:ext>
              </a:extLst>
            </p:cNvPr>
            <p:cNvSpPr txBox="1"/>
            <p:nvPr/>
          </p:nvSpPr>
          <p:spPr>
            <a:xfrm>
              <a:off x="7389801" y="3308854"/>
              <a:ext cx="3938257" cy="2107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9" b="1" i="0" dirty="0">
                  <a:latin typeface="맑은 고딕"/>
                </a:rPr>
                <a:t>Central Metadata Service</a:t>
              </a:r>
            </a:p>
          </p:txBody>
        </p:sp>
        <p:sp>
          <p:nvSpPr>
            <p:cNvPr id="110" name="Rectangle 326">
              <a:extLst>
                <a:ext uri="{FF2B5EF4-FFF2-40B4-BE49-F238E27FC236}">
                  <a16:creationId xmlns:a16="http://schemas.microsoft.com/office/drawing/2014/main" id="{DDE1E66E-F345-4106-907C-07940FC245C6}"/>
                </a:ext>
              </a:extLst>
            </p:cNvPr>
            <p:cNvSpPr/>
            <p:nvPr/>
          </p:nvSpPr>
          <p:spPr>
            <a:xfrm>
              <a:off x="7443216" y="3593592"/>
              <a:ext cx="3822192" cy="246888"/>
            </a:xfrm>
            <a:prstGeom prst="rect">
              <a:avLst/>
            </a:prstGeom>
            <a:solidFill>
              <a:schemeClr val="bg1"/>
            </a:solidFill>
            <a:ln w="11430">
              <a:solidFill>
                <a:srgbClr val="888C9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2004" tIns="10972" rIns="32004" bIns="10972" rtlCol="0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Shard Router  |  hash(</a:t>
              </a:r>
              <a:r>
                <a:rPr lang="en-US" sz="900" i="0" dirty="0">
                  <a:solidFill>
                    <a:srgbClr val="1C1C1C"/>
                  </a:solidFill>
                  <a:latin typeface="맑은 고딕"/>
                </a:rPr>
                <a:t>Data Object ID</a:t>
              </a: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) → Worker</a:t>
              </a:r>
            </a:p>
          </p:txBody>
        </p:sp>
        <p:sp>
          <p:nvSpPr>
            <p:cNvPr id="111" name="Rectangle 327">
              <a:extLst>
                <a:ext uri="{FF2B5EF4-FFF2-40B4-BE49-F238E27FC236}">
                  <a16:creationId xmlns:a16="http://schemas.microsoft.com/office/drawing/2014/main" id="{20542A6F-E606-48F9-9328-78C58F84D5E8}"/>
                </a:ext>
              </a:extLst>
            </p:cNvPr>
            <p:cNvSpPr/>
            <p:nvPr/>
          </p:nvSpPr>
          <p:spPr>
            <a:xfrm>
              <a:off x="7498079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746786E-0A9A-486C-9581-CE210FB844D6}"/>
                </a:ext>
              </a:extLst>
            </p:cNvPr>
            <p:cNvSpPr txBox="1"/>
            <p:nvPr/>
          </p:nvSpPr>
          <p:spPr>
            <a:xfrm>
              <a:off x="7498079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 dirty="0">
                  <a:solidFill>
                    <a:srgbClr val="1C1C1C"/>
                  </a:solidFill>
                  <a:latin typeface="맑은 고딕"/>
                </a:rPr>
                <a:t>Worker 0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F307C70-7FFF-42E0-A240-365C21BA9626}"/>
                </a:ext>
              </a:extLst>
            </p:cNvPr>
            <p:cNvSpPr txBox="1"/>
            <p:nvPr/>
          </p:nvSpPr>
          <p:spPr>
            <a:xfrm>
              <a:off x="7498079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S0 · LRU</a:t>
              </a:r>
            </a:p>
          </p:txBody>
        </p:sp>
        <p:sp>
          <p:nvSpPr>
            <p:cNvPr id="114" name="Rectangle 330">
              <a:extLst>
                <a:ext uri="{FF2B5EF4-FFF2-40B4-BE49-F238E27FC236}">
                  <a16:creationId xmlns:a16="http://schemas.microsoft.com/office/drawing/2014/main" id="{5C372C1C-0123-47D4-A750-C3F0E0BCEB87}"/>
                </a:ext>
              </a:extLst>
            </p:cNvPr>
            <p:cNvSpPr/>
            <p:nvPr/>
          </p:nvSpPr>
          <p:spPr>
            <a:xfrm>
              <a:off x="8769096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CCE53D9-4E12-4163-BA6A-EE177F9A9AA6}"/>
                </a:ext>
              </a:extLst>
            </p:cNvPr>
            <p:cNvSpPr txBox="1"/>
            <p:nvPr/>
          </p:nvSpPr>
          <p:spPr>
            <a:xfrm>
              <a:off x="8769096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1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34D97CF-8C50-4A89-AC10-66F126BAAB27}"/>
                </a:ext>
              </a:extLst>
            </p:cNvPr>
            <p:cNvSpPr txBox="1"/>
            <p:nvPr/>
          </p:nvSpPr>
          <p:spPr>
            <a:xfrm>
              <a:off x="8769096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>
                  <a:solidFill>
                    <a:srgbClr val="373737"/>
                  </a:solidFill>
                  <a:latin typeface="맑은 고딕"/>
                </a:rPr>
                <a:t>Shard S1 · LRU</a:t>
              </a:r>
            </a:p>
          </p:txBody>
        </p:sp>
        <p:sp>
          <p:nvSpPr>
            <p:cNvPr id="117" name="Rectangle 333">
              <a:extLst>
                <a:ext uri="{FF2B5EF4-FFF2-40B4-BE49-F238E27FC236}">
                  <a16:creationId xmlns:a16="http://schemas.microsoft.com/office/drawing/2014/main" id="{3478BB35-EDD9-4AF8-B638-6F739C780025}"/>
                </a:ext>
              </a:extLst>
            </p:cNvPr>
            <p:cNvSpPr/>
            <p:nvPr/>
          </p:nvSpPr>
          <p:spPr>
            <a:xfrm>
              <a:off x="10040112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A476709-D627-400C-AD76-E4C93A32EBE2}"/>
                </a:ext>
              </a:extLst>
            </p:cNvPr>
            <p:cNvSpPr txBox="1"/>
            <p:nvPr/>
          </p:nvSpPr>
          <p:spPr>
            <a:xfrm>
              <a:off x="10040112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30905E6-94BD-4C11-BE84-78501AF0A6AB}"/>
                </a:ext>
              </a:extLst>
            </p:cNvPr>
            <p:cNvSpPr txBox="1"/>
            <p:nvPr/>
          </p:nvSpPr>
          <p:spPr>
            <a:xfrm>
              <a:off x="10040112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S2 · LRU</a:t>
              </a:r>
            </a:p>
          </p:txBody>
        </p:sp>
        <p:cxnSp>
          <p:nvCxnSpPr>
            <p:cNvPr id="127" name="Connector 337">
              <a:extLst>
                <a:ext uri="{FF2B5EF4-FFF2-40B4-BE49-F238E27FC236}">
                  <a16:creationId xmlns:a16="http://schemas.microsoft.com/office/drawing/2014/main" id="{E4A9BD72-EC30-4BA7-8048-5E9667C4236B}"/>
                </a:ext>
              </a:extLst>
            </p:cNvPr>
            <p:cNvCxnSpPr/>
            <p:nvPr/>
          </p:nvCxnSpPr>
          <p:spPr>
            <a:xfrm>
              <a:off x="9317736" y="3840480"/>
              <a:ext cx="0" cy="91440"/>
            </a:xfrm>
            <a:prstGeom prst="line">
              <a:avLst/>
            </a:prstGeom>
            <a:ln w="16510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338">
              <a:extLst>
                <a:ext uri="{FF2B5EF4-FFF2-40B4-BE49-F238E27FC236}">
                  <a16:creationId xmlns:a16="http://schemas.microsoft.com/office/drawing/2014/main" id="{FC0EE07D-7E24-4865-8965-B09EEEEF11F7}"/>
                </a:ext>
              </a:extLst>
            </p:cNvPr>
            <p:cNvCxnSpPr/>
            <p:nvPr/>
          </p:nvCxnSpPr>
          <p:spPr>
            <a:xfrm>
              <a:off x="8074152" y="3931920"/>
              <a:ext cx="2523744" cy="0"/>
            </a:xfrm>
            <a:prstGeom prst="line">
              <a:avLst/>
            </a:prstGeom>
            <a:ln w="15875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339">
              <a:extLst>
                <a:ext uri="{FF2B5EF4-FFF2-40B4-BE49-F238E27FC236}">
                  <a16:creationId xmlns:a16="http://schemas.microsoft.com/office/drawing/2014/main" id="{0E26A8A2-AA32-472C-BFEB-3E8765219CFD}"/>
                </a:ext>
              </a:extLst>
            </p:cNvPr>
            <p:cNvCxnSpPr/>
            <p:nvPr/>
          </p:nvCxnSpPr>
          <p:spPr>
            <a:xfrm>
              <a:off x="8083296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340">
              <a:extLst>
                <a:ext uri="{FF2B5EF4-FFF2-40B4-BE49-F238E27FC236}">
                  <a16:creationId xmlns:a16="http://schemas.microsoft.com/office/drawing/2014/main" id="{0E952D8A-2E31-4377-9C4D-B444607E7A66}"/>
                </a:ext>
              </a:extLst>
            </p:cNvPr>
            <p:cNvCxnSpPr/>
            <p:nvPr/>
          </p:nvCxnSpPr>
          <p:spPr>
            <a:xfrm>
              <a:off x="9354312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341">
              <a:extLst>
                <a:ext uri="{FF2B5EF4-FFF2-40B4-BE49-F238E27FC236}">
                  <a16:creationId xmlns:a16="http://schemas.microsoft.com/office/drawing/2014/main" id="{23FDAB63-4F84-4566-8E6A-C291A10BA8ED}"/>
                </a:ext>
              </a:extLst>
            </p:cNvPr>
            <p:cNvCxnSpPr/>
            <p:nvPr/>
          </p:nvCxnSpPr>
          <p:spPr>
            <a:xfrm>
              <a:off x="10625328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747C3D2-2124-4271-B457-FF6FCE5D8717}"/>
                </a:ext>
              </a:extLst>
            </p:cNvPr>
            <p:cNvSpPr txBox="1"/>
            <p:nvPr/>
          </p:nvSpPr>
          <p:spPr>
            <a:xfrm>
              <a:off x="7413267" y="4553049"/>
              <a:ext cx="3749039" cy="155448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810" b="1" dirty="0">
                  <a:solidFill>
                    <a:srgbClr val="2D5794"/>
                  </a:solidFill>
                  <a:latin typeface="맑은 고딕"/>
                </a:rPr>
                <a:t>Shard 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별 Metadata / Allocator / LRU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독립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관리</a:t>
              </a:r>
              <a:endParaRPr sz="810" b="1" i="0" dirty="0">
                <a:solidFill>
                  <a:srgbClr val="2D5794"/>
                </a:solidFill>
                <a:latin typeface="맑은 고딕"/>
              </a:endParaRPr>
            </a:p>
          </p:txBody>
        </p:sp>
      </p:grpSp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7B264FE8-2CB7-4D4E-92C7-8C589E53BFE5}"/>
              </a:ext>
            </a:extLst>
          </p:cNvPr>
          <p:cNvGrpSpPr/>
          <p:nvPr/>
        </p:nvGrpSpPr>
        <p:grpSpPr>
          <a:xfrm>
            <a:off x="5634885" y="4080458"/>
            <a:ext cx="805575" cy="488318"/>
            <a:chOff x="11056831" y="3583489"/>
            <a:chExt cx="886133" cy="488318"/>
          </a:xfrm>
        </p:grpSpPr>
        <p:sp>
          <p:nvSpPr>
            <p:cNvPr id="155" name="KV Cache Manager">
              <a:extLst>
                <a:ext uri="{FF2B5EF4-FFF2-40B4-BE49-F238E27FC236}">
                  <a16:creationId xmlns:a16="http://schemas.microsoft.com/office/drawing/2014/main" id="{F89BBB6F-0E43-46F5-B240-620E3C4C25D4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QA4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EC34CC24-7BF3-4713-95E8-2A090762D893}"/>
                </a:ext>
              </a:extLst>
            </p:cNvPr>
            <p:cNvSpPr/>
            <p:nvPr/>
          </p:nvSpPr>
          <p:spPr>
            <a:xfrm>
              <a:off x="11056831" y="3583489"/>
              <a:ext cx="886133" cy="488318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6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6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6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7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3040208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3FF83-D207-4F53-BD88-4C2902AA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</a:t>
            </a:r>
            <a:endParaRPr lang="ko-KR" altLang="en-US" dirty="0"/>
          </a:p>
        </p:txBody>
      </p:sp>
      <p:sp>
        <p:nvSpPr>
          <p:cNvPr id="43" name="제목 1">
            <a:extLst>
              <a:ext uri="{FF2B5EF4-FFF2-40B4-BE49-F238E27FC236}">
                <a16:creationId xmlns:a16="http://schemas.microsoft.com/office/drawing/2014/main" id="{926C5D1D-3080-453C-A6B4-7CA4F97C390A}"/>
              </a:ext>
            </a:extLst>
          </p:cNvPr>
          <p:cNvSpPr txBox="1">
            <a:spLocks/>
          </p:cNvSpPr>
          <p:nvPr/>
        </p:nvSpPr>
        <p:spPr>
          <a:xfrm>
            <a:off x="234947" y="1017912"/>
            <a:ext cx="11228919" cy="3147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해야 할 것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module view – 14p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C&amp;C view, </a:t>
            </a:r>
            <a:r>
              <a:rPr lang="ko-KR" altLang="en-US" dirty="0"/>
              <a:t>전체 </a:t>
            </a:r>
            <a:r>
              <a:rPr lang="en-US" altLang="ko-KR" dirty="0"/>
              <a:t>Deployment view </a:t>
            </a:r>
            <a:r>
              <a:rPr lang="ko-KR" altLang="en-US" dirty="0"/>
              <a:t>그릴 것 </a:t>
            </a:r>
            <a:r>
              <a:rPr lang="en-US" altLang="ko-KR" dirty="0"/>
              <a:t>– 16p </a:t>
            </a:r>
            <a:r>
              <a:rPr lang="ko-KR" altLang="en-US" dirty="0"/>
              <a:t>참조 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class diagram </a:t>
            </a:r>
            <a:r>
              <a:rPr lang="ko-KR" altLang="en-US" dirty="0"/>
              <a:t>그릴 것 </a:t>
            </a:r>
            <a:r>
              <a:rPr lang="en-US" altLang="ko-KR" dirty="0"/>
              <a:t>– 18p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 과제의 </a:t>
            </a:r>
            <a:r>
              <a:rPr lang="en-US" altLang="ko-KR" dirty="0"/>
              <a:t>Use case </a:t>
            </a:r>
            <a:r>
              <a:rPr lang="ko-KR" altLang="en-US" dirty="0"/>
              <a:t>뽑기 </a:t>
            </a:r>
            <a:r>
              <a:rPr lang="en-US" altLang="ko-KR" dirty="0"/>
              <a:t>– </a:t>
            </a:r>
            <a:r>
              <a:rPr lang="ko-KR" altLang="en-US" dirty="0"/>
              <a:t>기능 요구사항</a:t>
            </a:r>
            <a:r>
              <a:rPr lang="en-US" altLang="ko-KR" dirty="0"/>
              <a:t>(1p), </a:t>
            </a:r>
            <a:r>
              <a:rPr lang="ko-KR" altLang="en-US" dirty="0"/>
              <a:t>품질 요구사항</a:t>
            </a:r>
            <a:r>
              <a:rPr lang="en-US" altLang="ko-KR" dirty="0"/>
              <a:t>(2p), UC Reference 15p </a:t>
            </a:r>
            <a:r>
              <a:rPr lang="ko-KR" altLang="en-US" dirty="0"/>
              <a:t>우측 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UC</a:t>
            </a:r>
            <a:r>
              <a:rPr lang="ko-KR" altLang="en-US" dirty="0"/>
              <a:t>별 </a:t>
            </a:r>
            <a:r>
              <a:rPr lang="en-US" altLang="ko-KR" dirty="0"/>
              <a:t>class diagram, sequence diagram </a:t>
            </a:r>
            <a:r>
              <a:rPr lang="ko-KR" altLang="en-US" dirty="0"/>
              <a:t>뽑기 </a:t>
            </a:r>
            <a:r>
              <a:rPr lang="en-US" altLang="ko-KR" dirty="0"/>
              <a:t>– 19~23p  </a:t>
            </a:r>
            <a:r>
              <a:rPr lang="ko-KR" altLang="en-US" dirty="0"/>
              <a:t>참고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7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2853430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105295" cy="365125"/>
          </a:xfrm>
        </p:spPr>
        <p:txBody>
          <a:bodyPr/>
          <a:lstStyle/>
          <a:p>
            <a:r>
              <a:rPr lang="ko-KR" altLang="en-US" dirty="0"/>
              <a:t>최종 설계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67587"/>
            <a:ext cx="5695950" cy="5070412"/>
          </a:xfrm>
          <a:prstGeom prst="rect">
            <a:avLst/>
          </a:prstGeom>
        </p:spPr>
      </p:pic>
      <p:sp>
        <p:nvSpPr>
          <p:cNvPr id="35" name="직사각형 34"/>
          <p:cNvSpPr/>
          <p:nvPr/>
        </p:nvSpPr>
        <p:spPr>
          <a:xfrm>
            <a:off x="23495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14408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/>
          <p:cNvSpPr/>
          <p:nvPr/>
        </p:nvSpPr>
        <p:spPr>
          <a:xfrm>
            <a:off x="234949" y="621645"/>
            <a:ext cx="5839281" cy="46965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Module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38" name="타원 37"/>
          <p:cNvSpPr/>
          <p:nvPr/>
        </p:nvSpPr>
        <p:spPr>
          <a:xfrm>
            <a:off x="46339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6144079" y="621645"/>
            <a:ext cx="5839281" cy="469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C&amp;C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637252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799" y="1515711"/>
            <a:ext cx="5730694" cy="4922288"/>
          </a:xfrm>
          <a:prstGeom prst="rect">
            <a:avLst/>
          </a:prstGeom>
        </p:spPr>
      </p:pic>
      <p:sp>
        <p:nvSpPr>
          <p:cNvPr id="1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cxnSp>
        <p:nvCxnSpPr>
          <p:cNvPr id="13" name="직선 연결선 12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7370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460451" y="2076076"/>
            <a:ext cx="5807344" cy="327030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60451" y="5728819"/>
            <a:ext cx="5807344" cy="9259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450676" y="2000250"/>
            <a:ext cx="5439776" cy="46545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24"/>
          <p:cNvGraphicFramePr>
            <a:graphicFrameLocks noGrp="1"/>
          </p:cNvGraphicFramePr>
          <p:nvPr/>
        </p:nvGraphicFramePr>
        <p:xfrm>
          <a:off x="520908" y="2152952"/>
          <a:ext cx="5679867" cy="357903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7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1473006135"/>
                    </a:ext>
                  </a:extLst>
                </a:gridCol>
              </a:tblGrid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기능 요구사항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임베디드 시스템과 대규모 서버 시스템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딥 러닝 모델을 실행하기 위한 바이너리를 생성할 수 있어야 하고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이를 시스템 상에서 동작 시킬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FR-02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연산 장치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NPU, PIM, GPU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다양한 하드웨어 가속기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실행 가능한 바이너리를 생성할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FR-03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장치 간 연동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서로 다른 연산 장치를 사용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해서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946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FR-04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모델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CNN, RNN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및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Transformer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기반 대규모 언어 모델 등 여러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다양한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응용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지원할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159070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FR-05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Ondevice 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컴파일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모델을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실제로 실행할 시스템 상에서 컴파일을 수행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하고 바로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FR-06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추론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학습과 추론을 위한 바이너리를 생성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365506"/>
                  </a:ext>
                </a:extLst>
              </a:tr>
              <a:tr h="3496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7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병렬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분산 처리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연산 장치 또는 서버 노드를 동시에 활용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하여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007937"/>
                  </a:ext>
                </a:extLst>
              </a:tr>
              <a:tr h="3142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8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 관리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 실행을 위해 필요한 메모리 크기보다 연산 장치의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메모리가 작은 경우에도 모델을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575705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9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다중 응용 실행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딥 러닝 모델을 동시에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876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/>
        </p:nvGraphicFramePr>
        <p:xfrm>
          <a:off x="556055" y="5860545"/>
          <a:ext cx="5616135" cy="96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2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590">
                  <a:extLst>
                    <a:ext uri="{9D8B030D-6E8A-4147-A177-3AD203B41FA5}">
                      <a16:colId xmlns:a16="http://schemas.microsoft.com/office/drawing/2014/main" val="3939805216"/>
                    </a:ext>
                  </a:extLst>
                </a:gridCol>
              </a:tblGrid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제약 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보안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당사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핵심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HW IP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정보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가 컴파일러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사용자에게 노출되지 않아야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C-02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일정 준수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목표한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 일정을 준수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해야한다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" name="직사각형 26"/>
          <p:cNvSpPr/>
          <p:nvPr/>
        </p:nvSpPr>
        <p:spPr>
          <a:xfrm>
            <a:off x="169504" y="902881"/>
            <a:ext cx="1170938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lang="ko-KR" altLang="en-US" b="1" dirty="0">
                <a:latin typeface="+mj-ea"/>
              </a:rPr>
              <a:t>수집한 요구사항 </a:t>
            </a:r>
            <a:r>
              <a:rPr lang="en-US" altLang="ko-KR" b="1" dirty="0">
                <a:latin typeface="+mj-ea"/>
              </a:rPr>
              <a:t>54</a:t>
            </a:r>
            <a:r>
              <a:rPr lang="ko-KR" altLang="en-US" b="1" dirty="0">
                <a:latin typeface="+mj-ea"/>
              </a:rPr>
              <a:t>건 → 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정제 요구사항 </a:t>
            </a:r>
            <a:r>
              <a:rPr lang="en-US" altLang="ko-KR" b="1" dirty="0">
                <a:solidFill>
                  <a:srgbClr val="0070C0"/>
                </a:solidFill>
                <a:latin typeface="+mj-ea"/>
              </a:rPr>
              <a:t>22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건 </a:t>
            </a:r>
            <a:r>
              <a:rPr lang="ko-KR" altLang="en-US" b="1" dirty="0">
                <a:latin typeface="+mj-ea"/>
              </a:rPr>
              <a:t>분석</a:t>
            </a:r>
            <a:endParaRPr lang="en-US" altLang="ko-KR" b="1" dirty="0">
              <a:latin typeface="+mj-ea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j-ea"/>
              </a:rPr>
              <a:t>기능 요구 사항 </a:t>
            </a:r>
            <a:r>
              <a:rPr lang="en-US" altLang="ko-KR" sz="1600" dirty="0">
                <a:latin typeface="+mj-ea"/>
              </a:rPr>
              <a:t>9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품질 요구 사항 </a:t>
            </a:r>
            <a:r>
              <a:rPr lang="en-US" altLang="ko-KR" sz="1600" dirty="0">
                <a:latin typeface="+mj-ea"/>
              </a:rPr>
              <a:t>11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제약 사항 </a:t>
            </a:r>
            <a:r>
              <a:rPr lang="en-US" altLang="ko-KR" sz="1600" dirty="0">
                <a:latin typeface="+mj-ea"/>
              </a:rPr>
              <a:t>2</a:t>
            </a:r>
            <a:r>
              <a:rPr lang="ko-KR" altLang="en-US" sz="1600" dirty="0">
                <a:latin typeface="+mj-ea"/>
              </a:rPr>
              <a:t>건 도출</a:t>
            </a:r>
            <a:r>
              <a:rPr lang="en-US" altLang="ko-KR" sz="1600" dirty="0">
                <a:latin typeface="+mj-ea"/>
              </a:rPr>
              <a:t> 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30" name="자유형 29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31" name="자유형 30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2" name="자유형 31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요구사항</a:t>
              </a:r>
            </a:p>
          </p:txBody>
        </p:sp>
        <p:sp>
          <p:nvSpPr>
            <p:cNvPr id="33" name="자유형 32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4" name="자유형 33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설계</a:t>
              </a: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6" name="자유형 35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37" name="자유형 36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8" name="자유형 37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요구사항 정제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410" y="2179094"/>
            <a:ext cx="5364048" cy="4372690"/>
          </a:xfrm>
          <a:prstGeom prst="rect">
            <a:avLst/>
          </a:prstGeom>
        </p:spPr>
      </p:pic>
      <p:sp>
        <p:nvSpPr>
          <p:cNvPr id="11" name="양쪽 모서리가 잘린 사각형 10"/>
          <p:cNvSpPr/>
          <p:nvPr/>
        </p:nvSpPr>
        <p:spPr>
          <a:xfrm>
            <a:off x="6445914" y="1775768"/>
            <a:ext cx="5439773" cy="300310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latin typeface="+mj-ea"/>
              </a:rPr>
              <a:t>Use-case diagram</a:t>
            </a:r>
          </a:p>
        </p:txBody>
      </p:sp>
      <p:sp>
        <p:nvSpPr>
          <p:cNvPr id="9" name="양쪽 모서리가 잘린 사각형 8"/>
          <p:cNvSpPr/>
          <p:nvPr/>
        </p:nvSpPr>
        <p:spPr>
          <a:xfrm>
            <a:off x="448887" y="5454832"/>
            <a:ext cx="581890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제약사항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7" name="양쪽 모서리가 잘린 사각형 6"/>
          <p:cNvSpPr/>
          <p:nvPr/>
        </p:nvSpPr>
        <p:spPr>
          <a:xfrm>
            <a:off x="448887" y="1798624"/>
            <a:ext cx="5826051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기능 요구사항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1687672" y="540638"/>
            <a:ext cx="350701" cy="304648"/>
            <a:chOff x="4333458" y="997205"/>
            <a:chExt cx="421422" cy="366082"/>
          </a:xfrm>
        </p:grpSpPr>
        <p:sp>
          <p:nvSpPr>
            <p:cNvPr id="40" name="직사각형 3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0005801" y="562958"/>
            <a:ext cx="1717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</a:rPr>
              <a:t>전체 수집된 요구사항 </a:t>
            </a:r>
            <a:r>
              <a:rPr lang="en-US" altLang="ko-KR" sz="1200" b="1" dirty="0">
                <a:solidFill>
                  <a:schemeClr val="bg1"/>
                </a:solidFill>
              </a:rPr>
              <a:t>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484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331486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직사각형 141"/>
          <p:cNvSpPr/>
          <p:nvPr/>
        </p:nvSpPr>
        <p:spPr>
          <a:xfrm>
            <a:off x="7370717" y="4602481"/>
            <a:ext cx="4700819" cy="196596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7108395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7121886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Component &amp; Connector View</a:t>
            </a:r>
          </a:p>
        </p:txBody>
      </p:sp>
      <p:sp>
        <p:nvSpPr>
          <p:cNvPr id="125" name="직사각형 124"/>
          <p:cNvSpPr/>
          <p:nvPr/>
        </p:nvSpPr>
        <p:spPr>
          <a:xfrm>
            <a:off x="7370717" y="1293591"/>
            <a:ext cx="4700819" cy="32631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7368788" y="1016139"/>
            <a:ext cx="470274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Deployment View</a:t>
            </a:r>
          </a:p>
        </p:txBody>
      </p:sp>
      <p:pic>
        <p:nvPicPr>
          <p:cNvPr id="137" name="그림 13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19" y="1590849"/>
            <a:ext cx="7066325" cy="4595959"/>
          </a:xfrm>
          <a:prstGeom prst="rect">
            <a:avLst/>
          </a:prstGeom>
        </p:spPr>
      </p:pic>
      <p:pic>
        <p:nvPicPr>
          <p:cNvPr id="138" name="그림 137" descr="C:\Users\hw7884.jung\AppData\Local\Microsoft\Windows\INetCache\Content.MSO\FF7AEBED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871" y="1359117"/>
            <a:ext cx="2876098" cy="3140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그림 138" descr="C:\Users\hw7884.jung\AppData\Local\Microsoft\Windows\INetCache\Content.MSO\25473889.tmp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1244" y="4648834"/>
            <a:ext cx="3149121" cy="187769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TextBox 139"/>
          <p:cNvSpPr txBox="1"/>
          <p:nvPr/>
        </p:nvSpPr>
        <p:spPr>
          <a:xfrm>
            <a:off x="7325365" y="2712924"/>
            <a:ext cx="1328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1) </a:t>
            </a:r>
            <a:r>
              <a:rPr lang="ko-KR" altLang="en-US" sz="1000" b="1" dirty="0"/>
              <a:t>딥 러닝 학습 서버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  <p:sp>
        <p:nvSpPr>
          <p:cNvPr id="141" name="TextBox 140"/>
          <p:cNvSpPr txBox="1"/>
          <p:nvPr/>
        </p:nvSpPr>
        <p:spPr>
          <a:xfrm>
            <a:off x="7306315" y="5392422"/>
            <a:ext cx="15350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2) </a:t>
            </a:r>
            <a:r>
              <a:rPr lang="en-US" altLang="ko-KR" sz="1000" b="1" dirty="0" err="1"/>
              <a:t>Ondevice</a:t>
            </a:r>
            <a:r>
              <a:rPr lang="en-US" altLang="ko-KR" sz="1000" b="1" dirty="0"/>
              <a:t> </a:t>
            </a:r>
            <a:r>
              <a:rPr lang="ko-KR" altLang="en-US" sz="1000" b="1" dirty="0"/>
              <a:t>추론 시스템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810945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pic>
        <p:nvPicPr>
          <p:cNvPr id="37" name="그림 36" descr="C:\Users\hw7884.jung\AppData\Local\Microsoft\Windows\INetCache\Content.MSO\AC53B071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403"/>
          <a:stretch/>
        </p:blipFill>
        <p:spPr bwMode="auto">
          <a:xfrm>
            <a:off x="1781652" y="996254"/>
            <a:ext cx="4197985" cy="581608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8" name="그림 37" descr="C:\Users\hw7884.jung\AppData\Local\Microsoft\Windows\INetCache\Content.MSO\54772A2B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30"/>
          <a:stretch/>
        </p:blipFill>
        <p:spPr bwMode="auto">
          <a:xfrm>
            <a:off x="7878127" y="996254"/>
            <a:ext cx="3211513" cy="570338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2438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1. Compiler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298189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2. Runtime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445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3" name="그림 32"/>
          <p:cNvPicPr/>
          <p:nvPr/>
        </p:nvPicPr>
        <p:blipFill rotWithShape="1">
          <a:blip r:embed="rId3"/>
          <a:srcRect l="1324" t="7922" r="3962" b="7562"/>
          <a:stretch/>
        </p:blipFill>
        <p:spPr bwMode="auto">
          <a:xfrm>
            <a:off x="182528" y="2209800"/>
            <a:ext cx="5951478" cy="293126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4" name="그림 13"/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09"/>
          <a:stretch/>
        </p:blipFill>
        <p:spPr bwMode="auto">
          <a:xfrm>
            <a:off x="6587865" y="2011997"/>
            <a:ext cx="5232400" cy="35452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6" name="직사각형 15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075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8" name="그림 37"/>
          <p:cNvPicPr/>
          <p:nvPr/>
        </p:nvPicPr>
        <p:blipFill>
          <a:blip r:embed="rId3"/>
          <a:stretch>
            <a:fillRect/>
          </a:stretch>
        </p:blipFill>
        <p:spPr>
          <a:xfrm>
            <a:off x="1248404" y="1402913"/>
            <a:ext cx="4161796" cy="2643303"/>
          </a:xfrm>
          <a:prstGeom prst="rect">
            <a:avLst/>
          </a:prstGeom>
        </p:spPr>
      </p:pic>
      <p:pic>
        <p:nvPicPr>
          <p:cNvPr id="39" name="그림 38"/>
          <p:cNvPicPr/>
          <p:nvPr/>
        </p:nvPicPr>
        <p:blipFill>
          <a:blip r:embed="rId4"/>
          <a:stretch>
            <a:fillRect/>
          </a:stretch>
        </p:blipFill>
        <p:spPr>
          <a:xfrm>
            <a:off x="1132674" y="4135732"/>
            <a:ext cx="4025446" cy="2342511"/>
          </a:xfrm>
          <a:prstGeom prst="rect">
            <a:avLst/>
          </a:prstGeom>
        </p:spPr>
      </p:pic>
      <p:pic>
        <p:nvPicPr>
          <p:cNvPr id="40" name="그림 39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140" y="1453231"/>
            <a:ext cx="5149849" cy="5038254"/>
          </a:xfrm>
          <a:prstGeom prst="rect">
            <a:avLst/>
          </a:prstGeom>
        </p:spPr>
      </p:pic>
      <p:grpSp>
        <p:nvGrpSpPr>
          <p:cNvPr id="41" name="그룹 40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42" name="직사각형 41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42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3946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1" name="그림 30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809" y="1402913"/>
            <a:ext cx="4934512" cy="5011959"/>
          </a:xfrm>
          <a:prstGeom prst="rect">
            <a:avLst/>
          </a:prstGeom>
        </p:spPr>
      </p:pic>
      <p:pic>
        <p:nvPicPr>
          <p:cNvPr id="32" name="그림 31"/>
          <p:cNvPicPr/>
          <p:nvPr/>
        </p:nvPicPr>
        <p:blipFill>
          <a:blip r:embed="rId4"/>
          <a:stretch>
            <a:fillRect/>
          </a:stretch>
        </p:blipFill>
        <p:spPr>
          <a:xfrm>
            <a:off x="410209" y="1453586"/>
            <a:ext cx="5490657" cy="4961286"/>
          </a:xfrm>
          <a:prstGeom prst="rect">
            <a:avLst/>
          </a:prstGeom>
        </p:spPr>
      </p:pic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4684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5" name="그림 14"/>
          <p:cNvPicPr/>
          <p:nvPr/>
        </p:nvPicPr>
        <p:blipFill>
          <a:blip r:embed="rId3"/>
          <a:stretch>
            <a:fillRect/>
          </a:stretch>
        </p:blipFill>
        <p:spPr>
          <a:xfrm>
            <a:off x="590550" y="2545426"/>
            <a:ext cx="5295900" cy="1990725"/>
          </a:xfrm>
          <a:prstGeom prst="rect">
            <a:avLst/>
          </a:prstGeom>
        </p:spPr>
      </p:pic>
      <p:pic>
        <p:nvPicPr>
          <p:cNvPr id="16" name="그림 15" descr="C:\Users\hw7884.jung\AppData\Local\Microsoft\Windows\INetCache\Content.MSO\62CF0055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6793" y="1845729"/>
            <a:ext cx="5394544" cy="417057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그룹 16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8" name="직사각형 17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이등변 삼각형 19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911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4" name="그림 13"/>
          <p:cNvPicPr/>
          <p:nvPr/>
        </p:nvPicPr>
        <p:blipFill>
          <a:blip r:embed="rId3"/>
          <a:stretch>
            <a:fillRect/>
          </a:stretch>
        </p:blipFill>
        <p:spPr>
          <a:xfrm>
            <a:off x="795972" y="2558732"/>
            <a:ext cx="5139055" cy="2324735"/>
          </a:xfrm>
          <a:prstGeom prst="rect">
            <a:avLst/>
          </a:prstGeom>
        </p:spPr>
      </p:pic>
      <p:pic>
        <p:nvPicPr>
          <p:cNvPr id="17" name="그림 16" descr="C:\Users\hw7884.jung\AppData\Local\Microsoft\Windows\INetCache\Content.MSO\D17BE50B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750" y="1416268"/>
            <a:ext cx="4948016" cy="50332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48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분석 – Overall Architecture (Module View, 요약)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Overall Architecture – 패키지와 핵심 모듈 (상세 모듈은 설계/구현 단계의 Module View 참조)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18872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828800"/>
            <a:ext cx="1280160" cy="32004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240280"/>
            <a:ext cx="1280160" cy="32004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481328"/>
            <a:ext cx="6172200" cy="118872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1874519"/>
            <a:ext cx="1097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874519"/>
            <a:ext cx="1097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417320" cy="3520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788920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889503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" y="329184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" y="416052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" y="502920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2880360"/>
            <a:ext cx="6172200" cy="3520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2788920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2889503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3200400"/>
            <a:ext cx="1097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3209544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75688" y="35204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75688" y="42062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4892040"/>
            <a:ext cx="96926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75688" y="55778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3200400"/>
            <a:ext cx="1097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3209544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64408" y="35204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64408" y="42062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64408" y="4892040"/>
            <a:ext cx="96926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64408" y="55778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200400"/>
            <a:ext cx="2286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8912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3209544"/>
            <a:ext cx="228600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53128" y="35204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Migration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53128" y="42062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Behavior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53128" y="48920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53128" y="55778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520440"/>
            <a:ext cx="1033271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4206240"/>
            <a:ext cx="1033271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4892040"/>
            <a:ext cx="1033271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0" y="5577840"/>
            <a:ext cx="1033271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3200400"/>
            <a:ext cx="126187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3209544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21424" y="35204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21424" y="42062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21424" y="48920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Destination Tier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21424" y="55778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1810512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20" y="2286000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28346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75320" y="3520440"/>
            <a:ext cx="1106424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75320" y="4251960"/>
            <a:ext cx="1106424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5029200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097280" y="267004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83080" y="210312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37760" y="267004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4719561" y="269290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092440" y="210312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83080" y="448056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633461" y="439826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738360" y="1188720"/>
            <a:ext cx="82296" cy="914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116128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QA5 Modifiability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38360" y="2377440"/>
            <a:ext cx="82296" cy="914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35000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QA4 Scalability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738360" y="3566160"/>
            <a:ext cx="82296" cy="91440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0" y="353872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738360" y="4754880"/>
            <a:ext cx="82296" cy="91440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75520" y="472744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QA3 고부하 지연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QA4 Scalability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784080" y="598932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9840" y="598932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44200" y="5971032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Module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최종 설계(DP1 2안+Lease · DP2 2안+Plan 보완 · DP3 2안+Base/Delta · DP4 1안+Sharding) 기준 전체 모듈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75564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02996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230428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481328"/>
            <a:ext cx="617220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173736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99232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14216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 Monitor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Cache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4248" y="214884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99232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4216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4184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 (DP3)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88920"/>
            <a:ext cx="141732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798063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" y="306324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(대표 Query → 재계산 위치)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353872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(재계산 위치)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" y="4014216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Layout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(Base 공유 + Delta)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" y="4489704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Recompute-Token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" y="4965192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" y="544068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" y="591616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2788920"/>
            <a:ext cx="617220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2024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0240" y="2798063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168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3118103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75688" y="338328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75688" y="393192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448056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5688" y="502920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75688" y="557784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0" y="3118103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64408" y="3383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64408" y="38404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64408" y="42976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Model/Layers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64408" y="47548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(+Attention Manager)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64408" y="52120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64408" y="5669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89120" y="3108960"/>
            <a:ext cx="22860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8912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118103"/>
            <a:ext cx="228600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53128" y="338328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53128" y="3858768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 Analyzer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53128" y="4334256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53128" y="4809744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 Engine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53128" y="5285232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 Queue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53128" y="576072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77840" y="338328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77840" y="3858768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4334256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4809744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5285232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77840" y="576072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(Client Library)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108960"/>
            <a:ext cx="12618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6656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66560" y="3118103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1424" y="3383280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21424" y="3858768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21424" y="4334256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21424" y="4809744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Registry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21424" y="5285232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 Timer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Lease Granter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5760720"/>
            <a:ext cx="1152144" cy="41148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Common Memory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 I/F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178308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19456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75320" y="26060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(NIXL / PCIe)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275320" y="320040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(HBM·DRAM·CXL·SSD)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75320" y="384048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(CXL, non-coherent)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75320" y="4526280"/>
            <a:ext cx="1106424" cy="77724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(Shard Router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548640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09728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83080" y="201168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3776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4719561" y="260146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92440" y="201168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83080" y="420624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633461" y="412394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738360" y="1188720"/>
            <a:ext cx="82296" cy="1005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75520" y="116128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상태·이동 결정 분리 + Lease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Q5 Modifiability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38360" y="2377440"/>
            <a:ext cx="82296" cy="10058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875520" y="235000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Plan/Decision 분리 + Feedback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738360" y="3566160"/>
            <a:ext cx="82296" cy="10058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75520" y="353872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Shared Repository + Base/Delta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38360" y="4754880"/>
            <a:ext cx="82296" cy="10058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75520" y="472744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1안 중앙 Metadata Server + Sharding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Q3 고부하 지연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784080" y="594360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594360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744200" y="5925312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6199632"/>
            <a:ext cx="2286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4~11p 보완 설계 + doc-mk DP 문서에서 정리. 모듈 배치는 제안([C])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C&amp;C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46304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46304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Client / API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188720"/>
            <a:ext cx="4572000" cy="3657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1188720"/>
            <a:ext cx="4572000" cy="201168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EngineCore (scheduler process)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188720"/>
            <a:ext cx="2103120" cy="3657600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188720"/>
            <a:ext cx="2103120" cy="201168"/>
          </a:xfrm>
          <a:prstGeom prst="rect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Worker × N (GPU별)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188720"/>
            <a:ext cx="2743200" cy="17830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35440" y="1188720"/>
            <a:ext cx="2743200" cy="201168"/>
          </a:xfrm>
          <a:prstGeom prst="rect">
            <a:avLst/>
          </a:prstGeom>
          <a:solidFill>
            <a:srgbClr val="C55A11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Offline Analyzer (DP3, batch)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3108960"/>
            <a:ext cx="2743200" cy="1737360"/>
          </a:xfrm>
          <a:prstGeom prst="rect">
            <a:avLst/>
          </a:prstGeom>
          <a:solidFill>
            <a:srgbClr val="EDE2F6"/>
          </a:solidFill>
          <a:ln w="127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35440" y="3108960"/>
            <a:ext cx="2743200" cy="201168"/>
          </a:xfrm>
          <a:prstGeom prst="rect">
            <a:avLst/>
          </a:prstGeom>
          <a:solidFill>
            <a:srgbClr val="7030A0"/>
          </a:solidFill>
          <a:ln w="1016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Metadata Server (DP4)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120640"/>
            <a:ext cx="11704320" cy="1325880"/>
          </a:xfrm>
          <a:prstGeom prst="rect">
            <a:avLst/>
          </a:prstGeom>
          <a:solidFill>
            <a:srgbClr val="F0F1F3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5120640"/>
            <a:ext cx="1170432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Memory Backend (Common Memory Backend Interface)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508760"/>
            <a:ext cx="1188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/ LLM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194560"/>
            <a:ext cx="1188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 Processor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(AsyncLLM)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22219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1188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(ZMQ)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29992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schedule()/update_from_output()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584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1188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 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KV Layout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1188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Plan Cache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(Plan, async thread)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0312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 Controller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(plan-aware, DP3)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1188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Trend Analyzer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6460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Resource/KV State Monitor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336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0312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Policy Engine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1188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 Builder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Telemetry Collector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2064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 Registry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Lease 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03120" y="4023360"/>
            <a:ext cx="288036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(KVConnectorBase_V1) — scheduler role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64607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20640" y="40233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Command Queue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(비동기 buffer)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5160" y="150876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 → Worker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 / sample_tokens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0508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95160" y="205740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/ Model Layers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5088" y="208483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95160" y="260604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05088" y="2633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95160" y="315468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 Handler (DMA)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05088" y="31821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95160" y="370332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— worker role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05088" y="37307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95160" y="4251960"/>
            <a:ext cx="18288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 (Client Library)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Memory Backend Adapter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05088" y="42793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372600" y="1481328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 → Attention Manager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722607" y="1508760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372600" y="1901952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 Recompute-Token Selector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722607" y="1929384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372600" y="2414016"/>
            <a:ext cx="246888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«datastore» Plan Store (write 1회)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722607" y="2441448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372600" y="3429000"/>
            <a:ext cx="2468880" cy="329184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Router: hash(Data Object ID) → 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722607" y="3456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37260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0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S0·LRU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03096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4128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1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S1·LRU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9964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10996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2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S2·LRU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768328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72600" y="4389120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Shard별 Metadata / Allocator / LRU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722607" y="44165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(KV Pool)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50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(CPU offload)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29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2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315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(시뮬레이션)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08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601200" y="566928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 공유 풀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(서버 간)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494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005840" y="196596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26083" y="1984248"/>
            <a:ext cx="30815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HTTP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05840" y="274320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00200" y="3200400"/>
            <a:ext cx="411480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668665" y="2999232"/>
            <a:ext cx="26540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7472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8348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8892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8892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29768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983480" y="233172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80644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297680" y="315468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3474720" y="2926080"/>
            <a:ext cx="137160" cy="0"/>
          </a:xfrm>
          <a:prstGeom prst="line">
            <a:avLst/>
          </a:prstGeom>
          <a:ln w="1270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347472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98348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88920" y="3749039"/>
            <a:ext cx="0" cy="274321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2834639" y="3749039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migration intent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983479" y="4251960"/>
            <a:ext cx="137161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6492240" y="1700784"/>
            <a:ext cx="502920" cy="36576"/>
          </a:xfrm>
          <a:prstGeom prst="line">
            <a:avLst/>
          </a:prstGeom>
          <a:ln w="1651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6492240" y="3895344"/>
            <a:ext cx="502920" cy="356616"/>
          </a:xfrm>
          <a:prstGeom prst="line">
            <a:avLst/>
          </a:prstGeom>
          <a:ln w="1397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7909560" y="1892807"/>
            <a:ext cx="0" cy="164593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7909560" y="244144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09560" y="299008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909560" y="3538728"/>
            <a:ext cx="0" cy="164592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909560" y="4087368"/>
            <a:ext cx="0" cy="164592"/>
          </a:xfrm>
          <a:prstGeom prst="line">
            <a:avLst/>
          </a:prstGeom>
          <a:ln w="15240">
            <a:solidFill>
              <a:srgbClr val="C55A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8823960" y="2606040"/>
            <a:ext cx="548640" cy="192024"/>
          </a:xfrm>
          <a:prstGeom prst="line">
            <a:avLst/>
          </a:prstGeom>
          <a:ln w="1397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842248" y="2414016"/>
            <a:ext cx="5486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030A0"/>
                </a:solidFill>
                <a:latin typeface="맑은 고딕"/>
                <a:ea typeface="맑은 고딕"/>
                <a:cs typeface="맑은 고딕"/>
              </a:rPr>
              <a:t>재계산 위치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0607040" y="2286000"/>
            <a:ext cx="0" cy="128016"/>
          </a:xfrm>
          <a:prstGeom prst="line">
            <a:avLst/>
          </a:prstGeom>
          <a:ln w="1270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823960" y="4480560"/>
            <a:ext cx="548640" cy="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8942832" y="4297680"/>
            <a:ext cx="3657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909560" y="4709160"/>
            <a:ext cx="0" cy="960120"/>
          </a:xfrm>
          <a:prstGeom prst="line">
            <a:avLst/>
          </a:prstGeom>
          <a:ln w="1651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8092440" y="4983480"/>
            <a:ext cx="9144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data (DMA / NIXL)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607040" y="4846320"/>
            <a:ext cx="0" cy="82296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10835640" y="4901184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3566160"/>
            <a:ext cx="16916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Legend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━▶ call / 동기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┅▶ event / 비동기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EngineCore→Worker: collective_rpc (shm MQ)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scheduler↔worker: KVConnectorMetadata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━▶ data flow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노란 fill = 신규/수정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테두리색 = 담당 DP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Deployment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1) 단일 노드 Deployment (GPU 8장 서버, 평가: SYS-H100 / SYS-B200)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493776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52160" y="1389888"/>
            <a:ext cx="64008" cy="49377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48640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(Node)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240280" cy="160020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755648"/>
            <a:ext cx="64008" cy="16002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276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«execution environment» Host CPU / DRAM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965960"/>
            <a:ext cx="2057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API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(Input/Output Processor)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2888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423160"/>
            <a:ext cx="205740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(Scheduler · Planner · DP1 Control)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32888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2880360"/>
            <a:ext cx="205740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 tier (CPU offload KV)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2888" y="29077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6080" y="1691640"/>
            <a:ext cx="283464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0" y="1755648"/>
            <a:ext cx="64008" cy="315468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0" y="1627632"/>
            <a:ext cx="28346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170992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0..7 (HBM)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1965960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Worker (per GPU)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· Attention Backend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50407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17520" y="24231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 · KV Layout (Base/Delta)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7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17520" y="28803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· Transfer Handler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7" y="29077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7520" y="3337560"/>
            <a:ext cx="2651760" cy="36576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«store» HBM KV Pool (Base shared + Delta)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7" y="33649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3794760"/>
            <a:ext cx="26517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 사본(read-only) + Plan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0407" y="3822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3520440"/>
            <a:ext cx="2240280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0" y="3584448"/>
            <a:ext cx="64008" cy="12801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4564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53872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Storage / Next-gen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3794760"/>
            <a:ext cx="2057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NVMe SSD (실장)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32888" y="3822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411480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 (시뮬레이션)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32888" y="4142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443484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PIM / SSD-PIM (시뮬레이션)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32888" y="4462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43200" y="2606040"/>
            <a:ext cx="182880" cy="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616441" y="239572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shm/ZMQ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4983480"/>
            <a:ext cx="28346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029200"/>
            <a:ext cx="26517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연결: GPU↔Host PCIe 64GB/s (GC-9)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GPU↔DRAM↔차세대 메모리 전송은 DP1 Migration Executor가 수행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device runtime 오버헤드는 범위 밖(GC-2), 차세대 메모리 성능은 시뮬레이션(GC-1)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37760"/>
            <a:ext cx="2286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 단위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vLLM 프로세스: API Server / EngineCore / Worker×N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 모듈은 EngineCore·Worker 프로세스 내부에 plug-in (C01)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Offline Analyzer는 배치 job (서빙 외)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685800"/>
            <a:ext cx="57607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2) 멀티 노드 Deployment (GPU 서버 2대 + CXL 공유 풀 + Metadata Server)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6112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134416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A (P 노드)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50807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4652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50807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4652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50807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4652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50807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7260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97864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7260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134416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B (D 노드)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6404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768328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6404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768328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6404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768328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6404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768328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4572000"/>
            <a:ext cx="2606040" cy="1691640"/>
          </a:xfrm>
          <a:prstGeom prst="rect">
            <a:avLst/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6112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508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55080" y="459028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CXL Shared Memory Pool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46520" y="4892040"/>
            <a:ext cx="2423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KV 데이터 (non-coherent)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50807" y="491947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4652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/ 응답 슬롯 (RPC, 캐시 우회)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50807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46520" y="5715000"/>
            <a:ext cx="24231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캐시 우회 write / polling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750807" y="57424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372600" y="4572000"/>
            <a:ext cx="2606040" cy="1691640"/>
          </a:xfrm>
          <a:prstGeom prst="rect">
            <a:avLst/>
          </a:prstGeom>
          <a:solidFill>
            <a:srgbClr val="EDE2F6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97864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72600" y="459028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«server» Metadata Server (DP4)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64040" y="48920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 (hash → Worker)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768328" y="4919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46404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 (Metadata·Allocator·LRU)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768328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464040" y="571500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 (batch, 별도 job)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768328" y="5742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8961120" y="2331720"/>
            <a:ext cx="411480" cy="0"/>
          </a:xfrm>
          <a:prstGeom prst="line">
            <a:avLst/>
          </a:prstGeom>
          <a:ln w="1524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988552" y="2057400"/>
            <a:ext cx="3657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PCIe</a:t>
            </a:r>
          </a:p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64GB/s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68096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680960" y="4023360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744200" y="4023360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 (메타데이터)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8961120" y="5394960"/>
            <a:ext cx="411480" cy="0"/>
          </a:xfrm>
          <a:prstGeom prst="line">
            <a:avLst/>
          </a:prstGeom>
          <a:ln w="1270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321040" y="3611880"/>
            <a:ext cx="1920240" cy="960120"/>
          </a:xfrm>
          <a:prstGeom prst="line">
            <a:avLst/>
          </a:prstGeom>
          <a:ln w="12700">
            <a:solidFill>
              <a:srgbClr val="548235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355080" y="3703320"/>
            <a:ext cx="1280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GC-9: 서버 간 PCIe 64GB/s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(RDMA/NIC 종류 미확인)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(1/3) 요청 조율·실행 위치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Request Orchestrator + Inference Engine — DP2: 사전 계획(Plan) + 저비용 검증(Decision)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scheduler: 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model_executor: Executor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33118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 / step_with_batch_queue()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kv_cache_manager: KVCacheManager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kv_connector: KVConnectorBase_V1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planner: ExecutionPlanner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plan_validator: PlanLookupValidator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848916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scheduled_new_reqs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scheduled_cached_reqs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kv_connector_metadata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execution_plans: list[ExecutionPlan]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84891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46304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3" y="150876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collective_rpc(method, args)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20072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0072" y="137160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1525219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cost_evaluator: CostEvaluator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publisher: PlanPublisher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5899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plan_window(W, k)  // 구간 조회 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max_plan_age: W × avg_service_time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70048" y="285109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0055" y="2697480"/>
            <a:ext cx="1874519" cy="5852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candidates: list (1순위..k)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data_moves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planned_at: timestamp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0055" y="328269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dict[resource_id, Worker]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3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GPUModelRunner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20072" y="269748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27432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execute_model(scheduler_output)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sample_tokens(grammar_output)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candidates, snapshot)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evaluate_batch(ctxs, ...)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dict[request_id, ExecutionPlan]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70048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invalidate(request_id)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20072" y="3840480"/>
            <a:ext cx="1874519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AttentionBackend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20072" y="41148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20072" y="416052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forward(layer, q, k, v, ...)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ExecutionCostModel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44068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54864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estimate(ctx, cand, snap): CostEstimate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compute·memory·transfer·queue cost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70048" y="53492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telemetry: TelemetryCollector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kv_state: KVStateMonitor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61075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update(telemetry)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0055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0055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cache: ExecutionPlanCache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0055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 write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194560" y="1541678"/>
            <a:ext cx="475488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270455" y="15224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owns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4544568" y="1541678"/>
            <a:ext cx="475487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27194" y="15224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produces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244584" y="1479499"/>
            <a:ext cx="475488" cy="822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343796" y="1410462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657332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57332" y="300471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0425531" y="3349447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forward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419856" y="2110435"/>
            <a:ext cx="0" cy="4041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3164738" y="2239365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validate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2194560" y="286755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223820" y="2821381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419856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11372" y="345734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lookup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257300" y="3328415"/>
            <a:ext cx="0" cy="5120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002182" y="351129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evaluate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2573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95451" y="47292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194560" y="5457139"/>
            <a:ext cx="475488" cy="6217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77186" y="54150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7" name="Connector 76"/>
          <p:cNvCxnSpPr/>
          <p:nvPr/>
        </p:nvCxnSpPr>
        <p:spPr>
          <a:xfrm flipH="1" flipV="1">
            <a:off x="4169663" y="4546396"/>
            <a:ext cx="1412749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737506" y="478322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4357116" y="3328416"/>
            <a:ext cx="1037843" cy="5120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667554" y="351129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stores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57315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538977" y="2131466"/>
            <a:ext cx="83667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execution_plans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6894575" y="2813608"/>
            <a:ext cx="475488" cy="10790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77202" y="279440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consumes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119871" y="1786737"/>
            <a:ext cx="2162557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946032" y="207751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0055" y="393192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22975" y="393192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0055" y="416052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구성(composition)   ━▶ 연관/호출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 / event)   ▷ 구현·상속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노란 fill = 이 과제에서 신규 또는 수정하는 클래스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70063" y="5166360"/>
            <a:ext cx="4480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Scheduler는 비용 모델 구현을 import하지 않고 ExecutionPlanner만 호출(의존 규칙 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ExecutionCostModel은 순수 추정(Worker/Executor 호출 금지), Executor는 plan만 소비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밖, Validator+Router만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 → KVCacheManager 호출은 (2/3)에서 이어짐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0063" y="6126480"/>
            <a:ext cx="4480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doc-mk/DP2/vllm-cost-model-prefill-decode-execution-planning-architecture.md §3~§9, 슬라이드 6~7p. vLLM 클래스는 vllm/v1/{engine/core.py, core/sched/scheduler.py, executor/abstract.py, worker/gpu_worker.py} 기준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(2/3) 데이터 이동·자원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/ Resource Management — DP1: 상태 관측·이동 결정 분리 + Lease 제어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«KVConnectorBase_V1»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DP1Connector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4630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event_sink: MigrationEventSink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coordinator: MigrationCoordinator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72455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get_num_new_matched_tokens()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build_connector_meta(...)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update_connector_output(...)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block_pool: BlockPool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52521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evict_blocks(block_ids)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3716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cached_block_hash_to_block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free_block_queue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3" y="163311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get_usage()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insert_prefetched_blocks(...)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period: 판단 주기(독립 보유)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event_queue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589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on_event(MigrationEvent)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tick(): snapshot 요청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analyze(snapshot): ResourceState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자원 추세 + 데이터 접근 추세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0055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hints: AffinityHint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0055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state): candidate tiers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데이터·메모리 적합도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budget: MigrationBudget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70063" y="285109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decide(state, cands): list[Decision]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72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commands: ordered buffer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20072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dequeue(): MigrationCommand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2336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40690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일관 복사본, object 수 비례 비용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HbmLeaseGranter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default_lease: duration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70048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grant(object, tier=HBM)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extend(object, behavior)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0055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0055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records: dict[object_id, ObjectRecord]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0055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 / remove / get(object_id)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move(object_id,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drop_to_replica(object_id)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0063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0063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deadlines: heap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0063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Event(Lease Expired)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20072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20072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handlers: TransferHandlerRegistry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20072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poll_completed(): list[Result]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usage per tier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observe(): usage, bw_util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70048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sources: BlockPool, SchedulerStats, ...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0048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0055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0055" y="54406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descriptor: MemoryDescriptor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capacity, bw, latency, capability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0055" y="57021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telemetry(): MemoryTelemetry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0063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«OffloadingHandler»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70063" y="54406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src_medium, dst_medium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70063" y="55942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transfer_async(job_id, spec):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get_finished(): list[Result]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194560" y="1433779"/>
            <a:ext cx="475488" cy="20756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293772" y="14644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cxnSp>
        <p:nvCxnSpPr>
          <p:cNvPr id="64" name="Connector 63"/>
          <p:cNvCxnSpPr/>
          <p:nvPr/>
        </p:nvCxnSpPr>
        <p:spPr>
          <a:xfrm flipV="1">
            <a:off x="4544568" y="1541678"/>
            <a:ext cx="475487" cy="9967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597146" y="151836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evict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94575" y="154167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444751" y="2093976"/>
            <a:ext cx="1787652" cy="4206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53411" y="223113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event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2194560" y="281360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44568" y="2813608"/>
            <a:ext cx="475487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894575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244584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250527" y="2713482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257300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002182" y="345734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44767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59601" y="340339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544568" y="4139488"/>
            <a:ext cx="475487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597146" y="409331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grant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6894575" y="41394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993788" y="40933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657332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425531" y="3403396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dequeue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8307323" y="4438497"/>
            <a:ext cx="1975105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039758" y="47292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1257300" y="433059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072134" y="4675327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usage</a:t>
            </a:r>
          </a:p>
        </p:txBody>
      </p:sp>
      <p:cxnSp>
        <p:nvCxnSpPr>
          <p:cNvPr id="88" name="Connector 87"/>
          <p:cNvCxnSpPr/>
          <p:nvPr/>
        </p:nvCxnSpPr>
        <p:spPr>
          <a:xfrm flipH="1" flipV="1">
            <a:off x="1819655" y="4330598"/>
            <a:ext cx="1412748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544568" y="5411419"/>
            <a:ext cx="475487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6894575" y="55110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993788" y="54649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I/O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20072" y="1188720"/>
            <a:ext cx="246888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흐름 요약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TelemetryCollector → StateSnapshotBuilder ② DecisionScheduler 주기 tick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Trend→Affinity→Policy → CommandQueue ④ MigrationExecutor→TransferHandler→MemoryBackend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⑤ LeaseTimer 만료 Event → DecisionScheduler 재평가(lease 연장/선별 demotion)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• Experts/LoRA는 Registry에 같은 방식으로 등록(Phase 1은 KV 한정)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720072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22992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20072" y="5486400"/>
            <a:ext cx="17373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20072" y="6035040"/>
            <a:ext cx="2468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doc-mk/DP1/dp1-vllm-uml.md §1.3·§3, 슬라이드 4~5p. vllm/v1/core/{block_pool,kv_cache_manager}.py, vllm/v1/kv_offload/*, kv_connector/v1/base.py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(3/3) KV 재사용·공유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7863840" cy="27432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(사전 분석 1회 + 요청마다 조회)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685800"/>
            <a:ext cx="3657600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QuerySampler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2521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sample(workload): representative queries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11887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AttentionManager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04288" y="13716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04288" y="14173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score(query, context_kv):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KVSampler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select_reuse(scores): token_ids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3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RecomputeTokenSelector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3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3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select(scores): recompute_positions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5146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6974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 / attn / kv_sampler / selector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510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사전 1회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251460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3" y="278892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dict[context_id, ReusePlan]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context_kv: KV Repository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305043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read(context_id): ReusePlan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required_hbm(plan): bytes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04288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04288" y="4023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base_refcount: dict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delta_alloc: per 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04288" y="42848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allocate_delta(request, ρ)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88536" y="384048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88536" y="402336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0690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blending과 같은 동작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3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2783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stale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3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920240" y="1379829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927098" y="1333652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04487" y="1379829"/>
            <a:ext cx="384049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888028" y="1306677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scores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88736" y="1379829"/>
            <a:ext cx="384047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20140" y="167883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58291" y="2023567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72883" y="1570939"/>
            <a:ext cx="0" cy="94366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87718" y="1969617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write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92923" y="3311956"/>
            <a:ext cx="0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184440" y="350306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update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920240" y="4139488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927098" y="409331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Delta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3904487" y="4085539"/>
            <a:ext cx="384049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981297" y="4066336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KV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88736" y="4085539"/>
            <a:ext cx="384047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65545" y="4039362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68696" y="3311956"/>
            <a:ext cx="1024127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802325" y="3503066"/>
            <a:ext cx="556869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read plan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58568" y="2560320"/>
            <a:ext cx="3749039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경로: Scheduler → (admit) → KVLayoutManager → SelectiveRecomputer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조회는 PlanStore read 1회뿐 → tail latency 평탄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공통 KV는 Base로 공유(refcount), 요청별 Delta만 Append → HBM 3.0L→1.3L (N=3, ρ=0.15 가정)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Validator가 stale 재계산 위치를 갱신 (정확도 C02 보호)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137160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152521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 송·수신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412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1371600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1633118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 write, polling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2514600"/>
            <a:ext cx="169164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2480" y="278892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4253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41280" y="251460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241280" y="269748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list[ShardWorker]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41280" y="285109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41280" y="384048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02336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41280" y="417697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독립 처리 스레드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41280" y="516636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41280" y="5349240"/>
            <a:ext cx="169164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41280" y="5718657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104119" y="1487728"/>
            <a:ext cx="13716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087100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48568" y="213146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087100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25251" y="340339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10871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258300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096451" y="207751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9258300" y="3204057"/>
            <a:ext cx="1321307" cy="63642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757105" y="344911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addr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0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15400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0" y="5486400"/>
            <a:ext cx="17373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" y="5212080"/>
            <a:ext cx="3749039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사전(Offline): OfflineAnalyzer가 대표 Query로 재사용/재계산 토큰을 선정해 PlanStore에 1회 기록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DP4: 메타데이터 요청은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실패/timeout 시 재계산 fallback(QA-07) — 시퀀스는 DP4 상세(p.26) 참조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doc-mk/DP3/dp3-*.md, doc-mk/DP6/dp4-inter-node-kv-sharing-structure-draft.md, 슬라이드 8~11p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Use-case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117043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Memory-Centric Runtime Framework의 Use-case diagram (Actor는 Context View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1097280"/>
            <a:ext cx="6492240" cy="534924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115568"/>
            <a:ext cx="6492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&lt;&lt;System&gt;&gt; Memory-Centric Runtime Framework</a:t>
            </a:r>
          </a:p>
        </p:txBody>
      </p:sp>
      <p:sp>
        <p:nvSpPr>
          <p:cNvPr id="7" name="Oval 6"/>
          <p:cNvSpPr/>
          <p:nvPr/>
        </p:nvSpPr>
        <p:spPr>
          <a:xfrm>
            <a:off x="1289304" y="219456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71600" y="235915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34440" y="2450591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261872" y="25786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71600" y="25786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277977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Application /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Framework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(사용자)</a:t>
            </a:r>
          </a:p>
        </p:txBody>
      </p:sp>
      <p:sp>
        <p:nvSpPr>
          <p:cNvPr id="13" name="Oval 12"/>
          <p:cNvSpPr/>
          <p:nvPr/>
        </p:nvSpPr>
        <p:spPr>
          <a:xfrm>
            <a:off x="1289304" y="475488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371600" y="491947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34440" y="501091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61872" y="513892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71600" y="513892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534009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시스템 제공자</a:t>
            </a:r>
          </a:p>
        </p:txBody>
      </p:sp>
      <p:sp>
        <p:nvSpPr>
          <p:cNvPr id="19" name="Oval 18"/>
          <p:cNvSpPr/>
          <p:nvPr/>
        </p:nvSpPr>
        <p:spPr>
          <a:xfrm>
            <a:off x="10616184" y="448056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698480" y="464515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561319" y="4736592"/>
            <a:ext cx="274321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588752" y="48646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98480" y="4864608"/>
            <a:ext cx="109727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0" y="506577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제공자</a:t>
            </a:r>
          </a:p>
        </p:txBody>
      </p:sp>
      <p:sp>
        <p:nvSpPr>
          <p:cNvPr id="25" name="Oval 24"/>
          <p:cNvSpPr/>
          <p:nvPr/>
        </p:nvSpPr>
        <p:spPr>
          <a:xfrm>
            <a:off x="10616184" y="557784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698480" y="5742431"/>
            <a:ext cx="0" cy="219457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561319" y="5833872"/>
            <a:ext cx="274321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0588752" y="59618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98480" y="5961888"/>
            <a:ext cx="109727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058400" y="6163055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Device 제공자</a:t>
            </a:r>
          </a:p>
        </p:txBody>
      </p:sp>
      <p:sp>
        <p:nvSpPr>
          <p:cNvPr id="31" name="Oval 30"/>
          <p:cNvSpPr/>
          <p:nvPr/>
        </p:nvSpPr>
        <p:spPr>
          <a:xfrm>
            <a:off x="3429000" y="2491739"/>
            <a:ext cx="2103120" cy="594360"/>
          </a:xfrm>
          <a:prstGeom prst="ellipse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UC01 LLM 추론 요청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(스트리밍 응답)</a:t>
            </a:r>
          </a:p>
        </p:txBody>
      </p:sp>
      <p:sp>
        <p:nvSpPr>
          <p:cNvPr id="32" name="Oval 31"/>
          <p:cNvSpPr/>
          <p:nvPr/>
        </p:nvSpPr>
        <p:spPr>
          <a:xfrm>
            <a:off x="6812280" y="1440180"/>
            <a:ext cx="19202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UC02 멀티턴·Agent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세션 이어가기</a:t>
            </a:r>
          </a:p>
        </p:txBody>
      </p:sp>
      <p:sp>
        <p:nvSpPr>
          <p:cNvPr id="33" name="Oval 32"/>
          <p:cNvSpPr/>
          <p:nvPr/>
        </p:nvSpPr>
        <p:spPr>
          <a:xfrm>
            <a:off x="6812280" y="2171700"/>
            <a:ext cx="19202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UC03 장문·RAG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컨텍스트 요청</a:t>
            </a:r>
          </a:p>
        </p:txBody>
      </p:sp>
      <p:sp>
        <p:nvSpPr>
          <p:cNvPr id="34" name="Oval 33"/>
          <p:cNvSpPr/>
          <p:nvPr/>
        </p:nvSpPr>
        <p:spPr>
          <a:xfrm>
            <a:off x="6812280" y="2903220"/>
            <a:ext cx="19202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UC04 요청 취소·중단</a:t>
            </a:r>
          </a:p>
        </p:txBody>
      </p:sp>
      <p:sp>
        <p:nvSpPr>
          <p:cNvPr id="35" name="Oval 34"/>
          <p:cNvSpPr/>
          <p:nvPr/>
        </p:nvSpPr>
        <p:spPr>
          <a:xfrm>
            <a:off x="6812280" y="3634740"/>
            <a:ext cx="19202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UC05 다중 서버에서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처리</a:t>
            </a:r>
          </a:p>
        </p:txBody>
      </p:sp>
      <p:sp>
        <p:nvSpPr>
          <p:cNvPr id="36" name="Oval 35"/>
          <p:cNvSpPr/>
          <p:nvPr/>
        </p:nvSpPr>
        <p:spPr>
          <a:xfrm>
            <a:off x="6812280" y="4411979"/>
            <a:ext cx="1920240" cy="50292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UC06 SLO·정책·자원 구성</a:t>
            </a:r>
          </a:p>
        </p:txBody>
      </p:sp>
      <p:sp>
        <p:nvSpPr>
          <p:cNvPr id="37" name="Oval 36"/>
          <p:cNvSpPr/>
          <p:nvPr/>
        </p:nvSpPr>
        <p:spPr>
          <a:xfrm>
            <a:off x="6812280" y="5052059"/>
            <a:ext cx="1920240" cy="50292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UC07 상태·성능 모니터링</a:t>
            </a:r>
          </a:p>
        </p:txBody>
      </p:sp>
      <p:sp>
        <p:nvSpPr>
          <p:cNvPr id="38" name="Oval 37"/>
          <p:cNvSpPr/>
          <p:nvPr/>
        </p:nvSpPr>
        <p:spPr>
          <a:xfrm>
            <a:off x="3246120" y="5006340"/>
            <a:ext cx="1920240" cy="50292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UC08 시스템 구성 정보 반영</a:t>
            </a:r>
          </a:p>
        </p:txBody>
      </p:sp>
      <p:sp>
        <p:nvSpPr>
          <p:cNvPr id="39" name="Oval 38"/>
          <p:cNvSpPr/>
          <p:nvPr/>
        </p:nvSpPr>
        <p:spPr>
          <a:xfrm>
            <a:off x="6812280" y="5692140"/>
            <a:ext cx="1920240" cy="50292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UC09 Device 연동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5486400" y="1691640"/>
            <a:ext cx="1325880" cy="82296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486400" y="2423160"/>
            <a:ext cx="1325880" cy="274319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5486400" y="2880360"/>
            <a:ext cx="1325880" cy="27432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5486400" y="3063239"/>
            <a:ext cx="1325880" cy="822961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15507" y="2011680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645920" y="2651760"/>
            <a:ext cx="1783080" cy="13716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45920" y="5120640"/>
            <a:ext cx="1554479" cy="13716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8732520" y="4663440"/>
            <a:ext cx="1691640" cy="18288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8732520" y="4846320"/>
            <a:ext cx="1691640" cy="45720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8732520" y="5943600"/>
            <a:ext cx="1691640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464040" y="1188720"/>
            <a:ext cx="256032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Actor (Context View)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AI Application / Agent Framework(사용자): Query·Context·요청 ID를 보내고 생성 토큰을 받음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제공자: SLO·정책·자원 구성을 주고 성능 지표·Health 이벤트·오류를 받음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시스템 제공자: Compute/Memory/네트워크 구성 정보를 주고 시스템 구성 정보를 받음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Device 제공자: Device Runtime/Driver·Emulation API·HW 스펙을 제공</a:t>
            </a:r>
          </a:p>
          <a:p>
            <a:pPr algn="l">
              <a:spcAft>
                <a:spcPts val="0"/>
              </a:spcAft>
            </a:pPr>
            <a:r>
              <a:rPr sz="4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UC02~UC05는 UC01(기본 추론 요청)이 워크로드·환경에 따라 확장된 시나리오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UC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6888" y="731520"/>
          <a:ext cx="11704320" cy="5230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640"/>
                <a:gridCol w="2011680"/>
                <a:gridCol w="2377440"/>
                <a:gridCol w="576072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Actor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 (입력 → 출력)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 FR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Query·Context·요청 ID를 보내면 런타임이 요청을 접수·스케줄링해 모델을 실행하고 생성 토큰을 스트리밍으로 돌려준다. 실행 중 KV 캐시를 할당하고 요청이 끝나면 해제한다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FR01~FR04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멀티턴·Agent 세션 이어가기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턴 대화와 tool 호출 결과가 붙은 후속 요청을 보낸다. 이전 컨텍스트의 KV 캐시를 재사용해 prefill 비용을 줄이고, tool 응답을 기다리는 동안 세션 상태를 유지한다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장문·RAG 컨텍스트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수만 토큰 이상의 문서나 검색 결과가 붙은 요청을 보낸다. 긴 컨텍스트의 KV 캐시가 GPU 메모리 용량을 압박해도 요청이 처리되어야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취소·중단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중인 요청을 취소한다. 런타임은 실행을 멈추고 해당 요청이 쓰던 자원(KV 블록 등)을 회수한다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서버에서 요청 처리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서버로 구성된 환경에서 요청을 받아 서버 중 하나에서 처리한다. 필요하면 다른 서버에 있는 KV 캐시를 가져와 사용한다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SLO·정책·자원 구성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SLO·정책·자원 구성을 입력해 런타임을 구성·기동하고, 운영 중에도 변경한다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상태·성능 모니터링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지표, Health 이벤트, 오류를 받아 런타임 상태를 확인한다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 정보 반영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Compute/Memory/네트워크 구성 정보를 받아 메모리 계층과 연산 자원 구성을 인식하고, 런타임이 인식한 시스템 구성 정보를 돌려준다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Device 연동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Device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Device Runtime/Driver, Emulation API, HW 스펙을 받아 차세대 메모리·연산 가능 메모리를 사용 가능한 자원으로 등록하고 호출한다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46888" y="6126480"/>
            <a:ext cx="11704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Actor와 입·출력은 Context View(Overall System) 기준. UC는 DP/QA와 1:1로 대응하지 않으며, DP는 각 UC 수행 중 발생하는 결정 문제를 설계한 것이다. '참고 FR'은 1p의 FR 중 관련된 것(참고용)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요청 처리 기본 경로 – Class / Sequence (vLLM 기준선)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 처리 기본 경로 (vLLM 기준선)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66576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00232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33888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67544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요청 처리 기본 경로 (vLLM 기준선)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요청 처리 기본 경로 (vLLM 기준선)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916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engine_core: EngineCoreClient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1057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InputProcessor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69163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67712" y="173736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process_inputs(...): EngineCoreRequest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OutputProcessor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request_states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process_outputs(...)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7180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«AsyncMPClient»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4612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918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get_output_async()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29718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31546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416198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29718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3082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70915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475487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7712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7713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9663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7713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1965960" y="1699869"/>
            <a:ext cx="301752" cy="215798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5860" y="2322576"/>
            <a:ext cx="0" cy="6492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4011" y="257403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65960" y="326257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67912" y="327080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969764" y="3569817"/>
            <a:ext cx="0" cy="86502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784598" y="392917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645920" y="3677716"/>
            <a:ext cx="941832" cy="7571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954987" y="398312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65960" y="467166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기존 vLLM v1 경로. 노란색 Scheduler는 DP2(Plan 검증)·DP3(Admission)·DP1(Connector)이 schedule() 안에서 호출되는 확장점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vllm/v1/engine/{async_llm,core,core_client}.py, core/sched/scheduler.py, executor/abstract.py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2F2F2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(+I/O Proc)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2960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05256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87552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6984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Worker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5214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8706916" y="3296412"/>
            <a:ext cx="3160166" cy="183794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06916" y="329641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loop: engine step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368796" y="1947672"/>
            <a:ext cx="1252728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36333" y="2560320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29600" y="2976372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059292" y="2820924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EngineCoreRequest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05256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015984" y="3081528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052560" y="3717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052560" y="3561588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7764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393174" y="3822192"/>
            <a:ext cx="178765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 / allocate_slots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3824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38272" y="4082796"/>
            <a:ext cx="85153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98848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59" y="4343400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execute_model(output)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9052560" y="4759452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9052559" y="4604004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052560" y="502005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926830" y="486460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update_from_output()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5390388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059292" y="5234940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EngineCoreOutputs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406640" y="5577840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662671" y="5577840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406640" y="5742432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699248" y="5541264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process_outputs() / detokenize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6003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457950" y="584758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stream RequestOutput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 Data Migration 결정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DP1. Data Migration 결정 (분리 + Lease)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DP1. Data Migration 결정 (분리 + Lease)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DP1. Data Migration 결정 (분리 + Lease)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691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67712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7712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9663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decide(...): list[Decision]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3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 / dequeue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977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67712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7712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7712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transfer_async(job, spec)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9663" y="48920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9663" y="516635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69663" y="52120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1965960" y="1654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67912" y="1654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65860" y="1953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65960" y="2797149"/>
            <a:ext cx="30175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69764" y="1845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69764" y="2988259"/>
            <a:ext cx="0" cy="76078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737963" y="3295497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867912" y="3940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965960" y="3940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67812" y="4131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12694" y="4438497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867912" y="5128869"/>
            <a:ext cx="301751" cy="823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65860" y="4239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27328" y="4492447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6126480"/>
            <a:ext cx="5486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Lease 만료 Event → DecisionScheduler 재평가 (stale 보정). 근거: 슬라이드 4~5p, doc-mk/DP1/dp1-vllm-uml.md §4b·§4c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5836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Trend→Affinity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→Policy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22960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05256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87552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6984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15214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9529876" y="4338828"/>
            <a:ext cx="2337206" cy="1330452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29876" y="4338828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alt: 성공 / 실패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391084" y="194767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 (usage↑ / access)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 (독립 판단 주기)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658368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583680" y="2560320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 snapshot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583680" y="29763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47104" y="2820924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ResourceSnapshot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0664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236333" y="3081528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 → map → decide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7406640" y="34975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03198" y="3342132"/>
            <a:ext cx="10298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MigrationDecision[]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406640" y="3758184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40" y="3602736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9052560" y="401878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9052560" y="3863340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9875520" y="427939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9616059" y="4123944"/>
            <a:ext cx="134188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transfer_async(job)  [DMA]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9875520" y="475945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9682924" y="4604004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TransferResult(success)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875520" y="5020056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9875520" y="4864608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 + arm lease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9529876" y="5170932"/>
            <a:ext cx="233720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557308" y="5170932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실패 / timeout → 대체 경로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875520" y="539038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131552" y="539038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9875520" y="555498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0168128" y="5353812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rollback, 재계산 경로</a:t>
            </a:r>
          </a:p>
        </p:txBody>
      </p:sp>
      <p:cxnSp>
        <p:nvCxnSpPr>
          <p:cNvPr id="113" name="Connector 112"/>
          <p:cNvCxnSpPr/>
          <p:nvPr/>
        </p:nvCxnSpPr>
        <p:spPr>
          <a:xfrm flipH="1">
            <a:off x="7406640" y="5925312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7406640" y="5769864"/>
            <a:ext cx="41148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Event(Lease Expired) → 재평가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DP2 연산 실행 위치 결정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DP2. 연산 실행 위치 결정 (Plan/Decision 분리)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1803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9545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DP2. 연산 실행 위치 결정 (Plan/Decision 분리)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DP2. 연산 실행 위치 결정 (Plan/Decision 분리)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53158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 = W·t̄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10896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67712" y="310896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 (1순위..k)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478377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cands, snap)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45720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80776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80776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65960" y="322508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69764" y="210677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31232" y="244327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65860" y="363199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04011" y="391454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965960" y="453450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45920" y="2214676"/>
            <a:ext cx="941832" cy="71140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08352" y="249722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67812" y="3524097"/>
            <a:ext cx="1421891" cy="81930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밖(비동기), Validator·Router만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Mismatch 시 Cost 재계산 없이 순위 후보 k를 순차 조회, Load↑ → plan 구간 W↓ k↑ (7p 보완)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doc-mk/DP2/vllm-cost-model-...-architecture.md §4, §9.2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StateMonitor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Router→Worker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3160166" cy="1316736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async: plan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8036" y="3273552"/>
            <a:ext cx="5629046" cy="315468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8036" y="32735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path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3225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457950" y="216712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  [waiting]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5831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14044" y="242773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 + estimate()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7406640" y="284378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370064" y="2688336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CostEstimate × k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406640" y="3104388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406640" y="2948940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publish(ranked plan)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583680" y="3694176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83679" y="3538728"/>
            <a:ext cx="32918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547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26905" y="3799332"/>
            <a:ext cx="152018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+ validate(plan, state)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15384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52560" y="4059936"/>
            <a:ext cx="164591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75988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60" y="4320540"/>
            <a:ext cx="164591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238036" y="4626864"/>
            <a:ext cx="562904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265468" y="4626864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 match / mismatch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87552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838944" y="4764024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match → 1순위 plan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0442448" y="51069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442448" y="5106924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0442448" y="5271516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759951" y="507034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mismatch → next_candidate(k)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7406640" y="5532120"/>
            <a:ext cx="246888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39" y="5376672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async replan (k 소진 시)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5792724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583679" y="5637276"/>
            <a:ext cx="32918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 + plan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583680" y="6053328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6583679" y="5897880"/>
            <a:ext cx="49377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dispatch(plan)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6583680" y="6313932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6583679" y="6158484"/>
            <a:ext cx="49377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 KV 캐시 재사용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(Repository + Base/Delta)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0383" y="667512"/>
            <a:ext cx="361188" cy="246888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3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DP3. KV 캐시 재사용 (Repository + Base/Delta)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DP3. KV 캐시 재사용 (Repository + Base/Delta)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sampler, attention, selector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78308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204459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737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2625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 per 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allocate_delta(req, ρ)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57200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67712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ref_cnt per block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free_blocks(...)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753819"/>
            <a:ext cx="301752" cy="15361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753819"/>
            <a:ext cx="301751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65960" y="3171139"/>
            <a:ext cx="301752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67912" y="322508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67812" y="23061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5963" y="254294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547872" y="3631996"/>
            <a:ext cx="941831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33622" y="391454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867912" y="4642408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65860" y="341619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27328" y="3806647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사전: 대표 Query로 재사용/재계산 위치를 PlanStore에 1회 기록. 서빙: PlanStore 조회 1회 + Base 공유(refcount) + Delta만 할당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HBM = (1−ρ)·L + N·ρ·L vs N·L  (N=3, ρ=0.15 가정 시 3.0L → 1.3L) — 가정 예시, 실측 아님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8~9p, doc-mk/DP3/dp3-kv-compression-reuse-structure-draft.md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1514246" cy="886967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사전 (offline, 1회)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60996" y="2843784"/>
            <a:ext cx="4806086" cy="29718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60996" y="284378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(요청마다)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2494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839712" y="2249424"/>
            <a:ext cx="0" cy="164591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6583680" y="2414015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76288" y="221284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Query → 재계산 위치 선정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583680" y="26746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583680" y="2519172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7406640" y="326440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370064" y="3108960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406640" y="352501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406640" y="336956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ReusePlan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229600" y="378561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103869" y="363016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admit(request, plan)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052560" y="397306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308592" y="397306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9052560" y="413766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345168" y="3936492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9052560" y="439826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770810" y="4242816"/>
            <a:ext cx="13864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 / allocate_delta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052560" y="46588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748522" y="4503420"/>
            <a:ext cx="1431036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 refcount↑, Delta blocks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229600" y="476402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 / defer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229600" y="5180076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229600" y="5024628"/>
            <a:ext cx="246887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recompute(plan tokens)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54406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528173" y="5285232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406640" y="5701284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406640" y="5545836"/>
            <a:ext cx="41148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DP4 서버 간 KV 캐시 공유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 (Sharding)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DP4. 서버 간 KV 캐시 공유 (Sharding)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DP4. 서버 간 KV 캐시 공유 (Sharding)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95315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우회, polling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92608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004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5401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452628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4895697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FallbackPolicy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9663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on_failure(request): recompute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65960" y="1753819"/>
            <a:ext cx="301752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867912" y="175381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67812" y="221467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29280" y="249722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67812" y="352409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5963" y="386059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867912" y="458845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5860" y="199887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4011" y="2389327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메타데이터는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실패·timeout 시 재계산으로 대체(QA-07). 서버 간 대역폭 상한은 PCIe 64GB/s(GC-9)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10~11p, doc-mk/DP6/dp4-inter-node-kv-sharing-structure-draft.md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87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6522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68895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2379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12901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7250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08913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k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3262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049256" y="1463040"/>
            <a:ext cx="886968" cy="310896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풀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49274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0093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528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249009" y="1901952"/>
            <a:ext cx="4646980" cy="218998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49009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 (P 노드)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9249" y="4146804"/>
            <a:ext cx="3686860" cy="185166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69249" y="414680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(D 노드)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652260" y="2322576"/>
            <a:ext cx="960119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95109" y="216712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put(block_key, size)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612379" y="2583180"/>
            <a:ext cx="96012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54633" y="2427732"/>
            <a:ext cx="14756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RPC: alloc(key)  [slot write]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572500" y="2843784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515350" y="2688336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hash(key) → worker 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532620" y="3031236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788652" y="3031236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9532620" y="3195828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825228" y="2994660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 + LRU/metadata 갱신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7612379" y="3456432"/>
            <a:ext cx="1920241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12379" y="3300984"/>
            <a:ext cx="19202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652260" y="3717036"/>
            <a:ext cx="38404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52259" y="3561588"/>
            <a:ext cx="38404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 KV data (캐시 우회)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12379" y="3977640"/>
            <a:ext cx="192024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612379" y="3822192"/>
            <a:ext cx="19202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commit(key)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8572500" y="4567428"/>
            <a:ext cx="28803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572500" y="4411980"/>
            <a:ext cx="28803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lookup(key)  [Client Library]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572500" y="4828032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572500" y="4672584"/>
            <a:ext cx="9601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route(hash)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532620" y="5088636"/>
            <a:ext cx="19202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32620" y="4933188"/>
            <a:ext cx="192023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10492740" y="5349240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0435590" y="5193792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 KV data (캐시 우회)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169249" y="5500116"/>
            <a:ext cx="3686861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8196681" y="5500116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 / 실패 (QA-07)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11196828" y="5719572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1196828" y="5719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1196828" y="5884164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514332" y="5682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fallback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6368</Words>
  <Application>Microsoft Office PowerPoint</Application>
  <PresentationFormat>와이드스크린</PresentationFormat>
  <Paragraphs>1367</Paragraphs>
  <Slides>23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Mona Sans VF</vt:lpstr>
      <vt:lpstr>Malgun Gothic</vt:lpstr>
      <vt:lpstr>Malgun Gothic</vt:lpstr>
      <vt:lpstr>Arial</vt:lpstr>
      <vt:lpstr>Wingdings</vt:lpstr>
      <vt:lpstr>Office 테마</vt:lpstr>
      <vt:lpstr>PowerPoint 프레젠테이션</vt:lpstr>
      <vt:lpstr>품질 요구사항</vt:lpstr>
      <vt:lpstr>Architecture 분석 – Overall Architecture (Module View)</vt:lpstr>
      <vt:lpstr>DP1. Data Migration 결정 구조 - 설계</vt:lpstr>
      <vt:lpstr>DP1. Data Migration 결정 구조 - 보완 설계</vt:lpstr>
      <vt:lpstr>DP2. 연산(Prefill/Decode) 실행 위치 결정 구조 - 설계</vt:lpstr>
      <vt:lpstr>DP2. 연산(Prefill/Decode) 실행 위치 결정 구조 - 보완 설계</vt:lpstr>
      <vt:lpstr>DP3. KV 캐시 재사용 구조 – 설계 </vt:lpstr>
      <vt:lpstr>DP3. KV 캐시 재사용 구조 – 보완 설계 </vt:lpstr>
      <vt:lpstr>DP4. 서버 간 KV 캐시 공유 구조 – 설계</vt:lpstr>
      <vt:lpstr>DP4. 서버 간 KV 캐시 공유 구조 – 보완 설계</vt:lpstr>
      <vt:lpstr>Reference</vt:lpstr>
      <vt:lpstr>PowerPoint 프레젠테이션</vt:lpstr>
      <vt:lpstr>최종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1</cp:revision>
  <dcterms:created xsi:type="dcterms:W3CDTF">2026-10-24T03:07:30Z</dcterms:created>
  <dcterms:modified xsi:type="dcterms:W3CDTF">2026-10-24T03:15:44Z</dcterms:modified>
</cp:coreProperties>
</file>
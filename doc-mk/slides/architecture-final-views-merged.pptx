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929" r:id="rId2"/>
    <p:sldId id="943" r:id="rId3"/>
    <p:sldId id="812" r:id="rId4"/>
    <p:sldId id="962" r:id="rId5"/>
    <p:sldId id="931" r:id="rId6"/>
    <p:sldId id="920" r:id="rId7"/>
    <p:sldId id="945" r:id="rId8"/>
    <p:sldId id="946" r:id="rId9"/>
    <p:sldId id="926" r:id="rId10"/>
    <p:sldId id="886" r:id="rId11"/>
    <p:sldId id="959" r:id="rId12"/>
    <p:sldId id="870" r:id="rId13"/>
    <p:sldId id="960" r:id="rId14"/>
    <p:sldId id="963" r:id="rId15"/>
    <p:sldId id="964" r:id="rId16"/>
    <p:sldId id="965" r:id="rId17"/>
    <p:sldId id="966" r:id="rId18"/>
    <p:sldId id="967" r:id="rId19"/>
    <p:sldId id="968" r:id="rId20"/>
    <p:sldId id="976" r:id="rId50"/>
    <p:sldId id="977" r:id="rId51"/>
    <p:sldId id="971" r:id="rId23"/>
    <p:sldId id="972" r:id="rId24"/>
    <p:sldId id="978" r:id="rId52"/>
    <p:sldId id="973" r:id="rId25"/>
    <p:sldId id="979" r:id="rId53"/>
    <p:sldId id="974" r:id="rId26"/>
    <p:sldId id="980" r:id="rId54"/>
    <p:sldId id="975" r:id="rId27"/>
    <p:sldId id="981" r:id="rId55"/>
    <p:sldId id="982" r:id="rId56"/>
    <p:sldId id="983" r:id="rId57"/>
    <p:sldId id="984" r:id="rId58"/>
    <p:sldId id="985" r:id="rId59"/>
    <p:sldId id="986" r:id="rId60"/>
    <p:sldId id="987" r:id="rId61"/>
    <p:sldId id="459" r:id="rId28"/>
    <p:sldId id="277" r:id="rId29"/>
    <p:sldId id="411" r:id="rId30"/>
    <p:sldId id="961" r:id="rId31"/>
    <p:sldId id="446" r:id="rId32"/>
    <p:sldId id="482" r:id="rId33"/>
    <p:sldId id="484" r:id="rId34"/>
    <p:sldId id="483" r:id="rId35"/>
    <p:sldId id="487" r:id="rId36"/>
    <p:sldId id="485" r:id="rId37"/>
    <p:sldId id="486" r:id="rId38"/>
    <p:sldId id="448" r:id="rId39"/>
    <p:sldId id="488" r:id="rId40"/>
    <p:sldId id="491" r:id="rId41"/>
    <p:sldId id="489" r:id="rId42"/>
    <p:sldId id="490" r:id="rId43"/>
    <p:sldId id="492" r:id="rId4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3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latin typeface="맑은 고딕"/>
              </a:rPr>
              <a:t>처리량 R = Max SLO goodput ÷ B0 (↑ 좋음)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BFBFBF"/>
              </a:solidFill>
            </c:spPr>
          </c:dPt>
          <c:dPt>
            <c:idx val="2"/>
            <c:spPr>
              <a:solidFill>
                <a:srgbClr val="2E75B6"/>
              </a:solidFill>
            </c:spPr>
          </c:dPt>
          <c:dPt>
            <c:idx val="3"/>
            <c:spPr>
              <a:solidFill>
                <a:srgbClr val="2E75B6"/>
              </a:solidFill>
            </c:spPr>
          </c:dPt>
          <c:dPt>
            <c:idx val="4"/>
            <c:spPr>
              <a:solidFill>
                <a:srgbClr val="2E75B6"/>
              </a:solidFill>
            </c:spPr>
          </c:dPt>
          <c:dPt>
            <c:idx val="5"/>
            <c:spPr>
              <a:solidFill>
                <a:srgbClr val="2E75B6"/>
              </a:solidFill>
            </c:spPr>
          </c:dPt>
          <c:cat>
            <c:strRef>
              <c:f>Sheet1!$A$2:$A$7</c:f>
              <c:strCache>
                <c:ptCount val="6"/>
                <c:pt idx="0">
                  <c:v>Response
Measure</c:v>
                </c:pt>
                <c:pt idx="1">
                  <c:v>B1 경쟁
기술</c:v>
                </c:pt>
                <c:pt idx="2">
                  <c:v>DP1
2안</c:v>
                </c:pt>
                <c:pt idx="3">
                  <c:v>DP2
2안</c:v>
                </c:pt>
                <c:pt idx="4">
                  <c:v>DP3
2안</c:v>
                </c:pt>
                <c:pt idx="5">
                  <c:v>DP4
1안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</c:v>
                </c:pt>
                <c:pt idx="1">
                  <c:v>2.35</c:v>
                </c:pt>
                <c:pt idx="2">
                  <c:v>2.47</c:v>
                </c:pt>
                <c:pt idx="3">
                  <c:v>3.61</c:v>
                </c:pt>
                <c:pt idx="4">
                  <c:v>3.36</c:v>
                </c:pt>
                <c:pt idx="5">
                  <c:v>3.09</c:v>
                </c:pt>
              </c:numCache>
            </c:numRef>
          </c:val>
        </c:ser>
        <c:dLbls>
          <c:numFmt formatCode="0.00&quot;x&quot;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4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latin typeface="맑은 고딕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latin typeface="맑은 고딕"/>
              </a:rPr>
              <a:t>HBM 사용량 감소율 (B0 대비, ↑ 좋음)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BFBFBF"/>
              </a:solidFill>
            </c:spPr>
          </c:dPt>
          <c:dPt>
            <c:idx val="2"/>
            <c:spPr>
              <a:solidFill>
                <a:srgbClr val="2E75B6"/>
              </a:solidFill>
            </c:spPr>
          </c:dPt>
          <c:dPt>
            <c:idx val="3"/>
            <c:spPr>
              <a:solidFill>
                <a:srgbClr val="2E75B6"/>
              </a:solidFill>
            </c:spPr>
          </c:dPt>
          <c:dPt>
            <c:idx val="4"/>
            <c:spPr>
              <a:solidFill>
                <a:srgbClr val="2E75B6"/>
              </a:solidFill>
            </c:spPr>
          </c:dPt>
          <c:cat>
            <c:strRef>
              <c:f>Sheet1!$A$2:$A$6</c:f>
              <c:strCache>
                <c:ptCount val="5"/>
                <c:pt idx="0">
                  <c:v>Response
Measure</c:v>
                </c:pt>
                <c:pt idx="1">
                  <c:v>B1 경쟁
기술</c:v>
                </c:pt>
                <c:pt idx="2">
                  <c:v>DP1
2안</c:v>
                </c:pt>
                <c:pt idx="3">
                  <c:v>DP2
2안</c:v>
                </c:pt>
                <c:pt idx="4">
                  <c:v>DP3
2안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0</c:v>
                </c:pt>
                <c:pt idx="2">
                  <c:v>5</c:v>
                </c:pt>
                <c:pt idx="3">
                  <c:v>8</c:v>
                </c:pt>
                <c:pt idx="4">
                  <c:v>25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latin typeface="맑은 고딕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latin typeface="맑은 고딕"/>
              </a:rPr>
              <a:t>P99 개선 r = √(TTFT 개선 × TPOT 개선) (↑ 좋음)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BFBFBF"/>
              </a:solidFill>
            </c:spPr>
          </c:dPt>
          <c:dPt>
            <c:idx val="2"/>
            <c:spPr>
              <a:solidFill>
                <a:srgbClr val="2E75B6"/>
              </a:solidFill>
            </c:spPr>
          </c:dPt>
          <c:dPt>
            <c:idx val="3"/>
            <c:spPr>
              <a:solidFill>
                <a:srgbClr val="2E75B6"/>
              </a:solidFill>
            </c:spPr>
          </c:dPt>
          <c:dPt>
            <c:idx val="4"/>
            <c:spPr>
              <a:solidFill>
                <a:srgbClr val="2E75B6"/>
              </a:solidFill>
            </c:spPr>
          </c:dPt>
          <c:dPt>
            <c:idx val="5"/>
            <c:spPr>
              <a:solidFill>
                <a:srgbClr val="2E75B6"/>
              </a:solidFill>
            </c:spPr>
          </c:dPt>
          <c:cat>
            <c:strRef>
              <c:f>Sheet1!$A$2:$A$7</c:f>
              <c:strCache>
                <c:ptCount val="6"/>
                <c:pt idx="0">
                  <c:v>Response
Measure</c:v>
                </c:pt>
                <c:pt idx="1">
                  <c:v>B1 경쟁
기술</c:v>
                </c:pt>
                <c:pt idx="2">
                  <c:v>DP1
2안</c:v>
                </c:pt>
                <c:pt idx="3">
                  <c:v>DP2
2안</c:v>
                </c:pt>
                <c:pt idx="4">
                  <c:v>DP3
2안</c:v>
                </c:pt>
                <c:pt idx="5">
                  <c:v>DP4
1안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1.43</c:v>
                </c:pt>
                <c:pt idx="1">
                  <c:v>2.1</c:v>
                </c:pt>
                <c:pt idx="2">
                  <c:v>2.14</c:v>
                </c:pt>
                <c:pt idx="3">
                  <c:v>2.35</c:v>
                </c:pt>
                <c:pt idx="4">
                  <c:v>2.76</c:v>
                </c:pt>
                <c:pt idx="5">
                  <c:v>3.36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latin typeface="맑은 고딕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latin typeface="맑은 고딕"/>
              </a:rPr>
              <a:t>Scaling Efficiency SE(N=16) (↑ 좋음)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BFBFBF"/>
              </a:solidFill>
            </c:spPr>
          </c:dPt>
          <c:dPt>
            <c:idx val="2"/>
            <c:spPr>
              <a:solidFill>
                <a:srgbClr val="2E75B6"/>
              </a:solidFill>
            </c:spPr>
          </c:dPt>
          <c:dPt>
            <c:idx val="3"/>
            <c:spPr>
              <a:solidFill>
                <a:srgbClr val="2E75B6"/>
              </a:solidFill>
            </c:spPr>
          </c:dPt>
          <c:cat>
            <c:strRef>
              <c:f>Sheet1!$A$2:$A$5</c:f>
              <c:strCache>
                <c:ptCount val="4"/>
                <c:pt idx="0">
                  <c:v>Response
Measure</c:v>
                </c:pt>
                <c:pt idx="1">
                  <c:v>B1 경쟁 기술
(노드 독립)</c:v>
                </c:pt>
                <c:pt idx="2">
                  <c:v>DP2 2안</c:v>
                </c:pt>
                <c:pt idx="3">
                  <c:v>DP4 1안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98</c:v>
                </c:pt>
                <c:pt idx="2">
                  <c:v>97</c:v>
                </c:pt>
                <c:pt idx="3">
                  <c:v>99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latin typeface="맑은 고딕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latin typeface="맑은 고딕"/>
              </a:rPr>
              <a:t>변경 module 수 (↓ 좋음)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BFBFBF"/>
              </a:solidFill>
            </c:spPr>
          </c:dPt>
          <c:dPt>
            <c:idx val="2"/>
            <c:spPr>
              <a:solidFill>
                <a:srgbClr val="2E75B6"/>
              </a:solidFill>
            </c:spPr>
          </c:dPt>
          <c:cat>
            <c:strRef>
              <c:f>Sheet1!$A$2:$A$4</c:f>
              <c:strCache>
                <c:ptCount val="3"/>
                <c:pt idx="0">
                  <c:v>Response
Measure</c:v>
                </c:pt>
                <c:pt idx="1">
                  <c:v>DP1
1안</c:v>
                </c:pt>
                <c:pt idx="2">
                  <c:v>DP1
2안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1.75</c:v>
                </c:pt>
                <c:pt idx="2">
                  <c:v>2.5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latin typeface="맑은 고딕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900" b="1">
                <a:latin typeface="맑은 고딕"/>
              </a:rPr>
              <a:t>개발 공수 M/M (↓ 좋음)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값</c:v>
                </c:pt>
              </c:strCache>
            </c:strRef>
          </c:tx>
          <c:dPt>
            <c:idx val="0"/>
            <c:spPr>
              <a:solidFill>
                <a:srgbClr val="C00000"/>
              </a:solidFill>
            </c:spPr>
          </c:dPt>
          <c:dPt>
            <c:idx val="1"/>
            <c:spPr>
              <a:solidFill>
                <a:srgbClr val="BFBFBF"/>
              </a:solidFill>
            </c:spPr>
          </c:dPt>
          <c:dPt>
            <c:idx val="2"/>
            <c:spPr>
              <a:solidFill>
                <a:srgbClr val="2E75B6"/>
              </a:solidFill>
            </c:spPr>
          </c:dPt>
          <c:cat>
            <c:strRef>
              <c:f>Sheet1!$A$2:$A$4</c:f>
              <c:strCache>
                <c:ptCount val="3"/>
                <c:pt idx="0">
                  <c:v>Response
Measure</c:v>
                </c:pt>
                <c:pt idx="1">
                  <c:v>DP1
1안</c:v>
                </c:pt>
                <c:pt idx="2">
                  <c:v>DP1
2안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1.0</c:v>
                </c:pt>
                <c:pt idx="1">
                  <c:v>0.38</c:v>
                </c:pt>
                <c:pt idx="2">
                  <c:v>0.51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3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800"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5C805-4CF4-4314-8A05-50505E4D0A4C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D3762-95E0-4C28-9328-63F3382276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843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기능 요구사항 표로 </a:t>
            </a:r>
            <a:r>
              <a:rPr lang="ko-KR" altLang="en-US" dirty="0" err="1"/>
              <a:t>보여주는게</a:t>
            </a:r>
            <a:r>
              <a:rPr lang="ko-KR" altLang="en-US" dirty="0"/>
              <a:t> 나을 듯</a:t>
            </a:r>
            <a:endParaRPr lang="en-US" altLang="ko-KR" dirty="0"/>
          </a:p>
          <a:p>
            <a:r>
              <a:rPr lang="en-US" altLang="ko-KR" dirty="0"/>
              <a:t>Id | Refinement | Description 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17B06-B204-4E73-B04E-053CD704EFD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458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기능 정확도가 </a:t>
            </a:r>
            <a:r>
              <a:rPr lang="en-US" altLang="ko-KR" dirty="0"/>
              <a:t>QA</a:t>
            </a:r>
            <a:r>
              <a:rPr lang="ko-KR" altLang="en-US" dirty="0"/>
              <a:t>로 들어가는 사람들이 많음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B17B06-B204-4E73-B04E-053CD704EFD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44617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해당 그림은 이번 과제에서 설계하는 런타임에 대한 </a:t>
            </a:r>
            <a:r>
              <a:rPr lang="en-US" altLang="ko-KR" dirty="0"/>
              <a:t>Module view</a:t>
            </a:r>
            <a:r>
              <a:rPr lang="ko-KR" altLang="en-US" dirty="0"/>
              <a:t>를 나타내고</a:t>
            </a:r>
            <a:r>
              <a:rPr lang="en-US" altLang="ko-KR" dirty="0"/>
              <a:t>, </a:t>
            </a:r>
            <a:r>
              <a:rPr lang="ko-KR" altLang="en-US" dirty="0"/>
              <a:t>각 </a:t>
            </a:r>
            <a:r>
              <a:rPr lang="en-US" altLang="ko-KR" dirty="0"/>
              <a:t>Module </a:t>
            </a:r>
            <a:r>
              <a:rPr lang="ko-KR" altLang="en-US" dirty="0"/>
              <a:t>별로 어떤 </a:t>
            </a:r>
            <a:r>
              <a:rPr lang="en-US" altLang="ko-KR" dirty="0"/>
              <a:t>DP</a:t>
            </a:r>
            <a:r>
              <a:rPr lang="ko-KR" altLang="en-US" dirty="0"/>
              <a:t>와 관련이 있는지를 표기하였습니다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선정된 </a:t>
            </a:r>
            <a:r>
              <a:rPr lang="en-US" altLang="ko-KR" dirty="0"/>
              <a:t>DP</a:t>
            </a:r>
            <a:r>
              <a:rPr lang="ko-KR" altLang="en-US" dirty="0"/>
              <a:t>는 총 </a:t>
            </a:r>
            <a:r>
              <a:rPr lang="en-US" altLang="ko-KR" dirty="0"/>
              <a:t>4</a:t>
            </a:r>
            <a:r>
              <a:rPr lang="ko-KR" altLang="en-US" dirty="0"/>
              <a:t>개로 오른쪽에 작성한 것과 같습니다</a:t>
            </a:r>
            <a:r>
              <a:rPr lang="en-US" altLang="ko-KR" dirty="0"/>
              <a:t>. </a:t>
            </a:r>
            <a:r>
              <a:rPr lang="ko-KR" altLang="en-US" dirty="0"/>
              <a:t>각각에 대해서는 다음 장부터 조금 더 상세히 설명을 드리도록 하겠습니다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F56981-8A65-4F3E-9859-015D93710B0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6198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핵심: 처음 보여줄 Overall Architecture. 패키지와 핵심 모듈만 요약했고 상세 모듈(보완 설계 반영)은 최종 Module View에서 보인다. 근거: 3p. 의미: 테두리색=담당 DP, 노란 fill=신규/수정.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행위를 분석하고 마이그레이션 정책을 결정하는 계층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자원 상태를 수집하고 관리하는 계층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복사 및 전송을 전담하는 실행 계층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pressure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발생했을 때 빠르게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victim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migration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 수 있음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pipeline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단순해서 제어 오버헤드가 작음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C2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migration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cacahe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miss/reload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줄이고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HBM hit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높여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throughput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더 잘 보존할 가능성 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 – QA1</a:t>
            </a:r>
          </a:p>
          <a:p>
            <a:r>
              <a:rPr lang="ko-KR" altLang="en-US" dirty="0"/>
              <a:t>① </a:t>
            </a:r>
            <a:r>
              <a:rPr lang="en-US" altLang="ko-KR" dirty="0"/>
              <a:t>Resource pressure </a:t>
            </a:r>
            <a:r>
              <a:rPr lang="ko-KR" altLang="en-US" dirty="0"/>
              <a:t>기반 즉시 대응으로 병목 완화 ② 단순 </a:t>
            </a:r>
            <a:r>
              <a:rPr lang="en-US" altLang="ko-KR" dirty="0"/>
              <a:t>decision logic</a:t>
            </a:r>
            <a:r>
              <a:rPr lang="ko-KR" altLang="en-US" dirty="0"/>
              <a:t>으로 제어 오버헤드 최소화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C2 – QA1</a:t>
            </a:r>
          </a:p>
          <a:p>
            <a:r>
              <a:rPr lang="ko-KR" altLang="en-US" dirty="0"/>
              <a:t>① </a:t>
            </a:r>
            <a:r>
              <a:rPr lang="en-US" altLang="ko-KR" dirty="0"/>
              <a:t>Hot/Cold </a:t>
            </a:r>
            <a:r>
              <a:rPr lang="ko-KR" altLang="en-US" dirty="0"/>
              <a:t>기반 선별 </a:t>
            </a:r>
            <a:r>
              <a:rPr lang="en-US" altLang="ko-KR" dirty="0"/>
              <a:t>migration</a:t>
            </a:r>
            <a:r>
              <a:rPr lang="ko-KR" altLang="en-US" dirty="0"/>
              <a:t>으로 불필요한 </a:t>
            </a:r>
            <a:r>
              <a:rPr lang="en-US" altLang="ko-KR" dirty="0"/>
              <a:t>reload </a:t>
            </a:r>
            <a:r>
              <a:rPr lang="ko-KR" altLang="en-US" dirty="0"/>
              <a:t>감소 ② 향후 </a:t>
            </a:r>
            <a:r>
              <a:rPr lang="en-US" altLang="ko-KR" dirty="0"/>
              <a:t>reuse</a:t>
            </a:r>
            <a:r>
              <a:rPr lang="ko-KR" altLang="en-US" dirty="0"/>
              <a:t>를 고려해 고성능 </a:t>
            </a:r>
            <a:r>
              <a:rPr lang="en-US" altLang="ko-KR" dirty="0"/>
              <a:t>tier </a:t>
            </a:r>
            <a:r>
              <a:rPr lang="ko-KR" altLang="en-US" dirty="0"/>
              <a:t>활용 극대화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rgbClr val="1F2328"/>
                </a:solidFill>
                <a:effectLst/>
                <a:latin typeface="Mona Sans VF"/>
              </a:rPr>
              <a:t>Modifiability</a:t>
            </a:r>
            <a:r>
              <a:rPr lang="ko-KR" altLang="en-US" b="1" i="0" dirty="0">
                <a:solidFill>
                  <a:srgbClr val="1F2328"/>
                </a:solidFill>
                <a:effectLst/>
                <a:latin typeface="Mona Sans VF"/>
              </a:rPr>
              <a:t>가 상대적으로 높음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: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Mona Sans VF"/>
              </a:rPr>
              <a:t> 새로운 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memory resource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Mona Sans VF"/>
              </a:rPr>
              <a:t>추가 시 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Registry / affinity mapping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Mona Sans VF"/>
              </a:rPr>
              <a:t>확장으로 대응 가능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4695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상태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행위를 분석하고 마이그레이션 정책을 결정하는 계층</a:t>
            </a: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자원 상태를 수집하고 관리하는 계층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Plane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실제 복사 및 전송을 전담하는 실행 계층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memory pressure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발생했을 때 빠르게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victim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migration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할 수 있음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 pipeline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단순해서 제어 오버헤드가 작음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C2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migration 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이후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cacahe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miss/reload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줄이고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HBM hit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높여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throughput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을 더 잘 보존할 가능성 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C1 – QA1</a:t>
            </a:r>
          </a:p>
          <a:p>
            <a:r>
              <a:rPr lang="ko-KR" altLang="en-US" dirty="0"/>
              <a:t>① </a:t>
            </a:r>
            <a:r>
              <a:rPr lang="en-US" altLang="ko-KR" dirty="0"/>
              <a:t>Resource pressure </a:t>
            </a:r>
            <a:r>
              <a:rPr lang="ko-KR" altLang="en-US" dirty="0"/>
              <a:t>기반 즉시 대응으로 병목 완화 ② 단순 </a:t>
            </a:r>
            <a:r>
              <a:rPr lang="en-US" altLang="ko-KR" dirty="0"/>
              <a:t>decision logic</a:t>
            </a:r>
            <a:r>
              <a:rPr lang="ko-KR" altLang="en-US" dirty="0"/>
              <a:t>으로 제어 오버헤드 최소화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C2 – QA1</a:t>
            </a:r>
          </a:p>
          <a:p>
            <a:r>
              <a:rPr lang="ko-KR" altLang="en-US" dirty="0"/>
              <a:t>① </a:t>
            </a:r>
            <a:r>
              <a:rPr lang="en-US" altLang="ko-KR" dirty="0"/>
              <a:t>Hot/Cold </a:t>
            </a:r>
            <a:r>
              <a:rPr lang="ko-KR" altLang="en-US" dirty="0"/>
              <a:t>기반 선별 </a:t>
            </a:r>
            <a:r>
              <a:rPr lang="en-US" altLang="ko-KR" dirty="0"/>
              <a:t>migration</a:t>
            </a:r>
            <a:r>
              <a:rPr lang="ko-KR" altLang="en-US" dirty="0"/>
              <a:t>으로 불필요한 </a:t>
            </a:r>
            <a:r>
              <a:rPr lang="en-US" altLang="ko-KR" dirty="0"/>
              <a:t>reload </a:t>
            </a:r>
            <a:r>
              <a:rPr lang="ko-KR" altLang="en-US" dirty="0"/>
              <a:t>감소 ② 향후 </a:t>
            </a:r>
            <a:r>
              <a:rPr lang="en-US" altLang="ko-KR" dirty="0"/>
              <a:t>reuse</a:t>
            </a:r>
            <a:r>
              <a:rPr lang="ko-KR" altLang="en-US" dirty="0"/>
              <a:t>를 고려해 고성능 </a:t>
            </a:r>
            <a:r>
              <a:rPr lang="en-US" altLang="ko-KR" dirty="0"/>
              <a:t>tier </a:t>
            </a:r>
            <a:r>
              <a:rPr lang="ko-KR" altLang="en-US" dirty="0"/>
              <a:t>활용 극대화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C1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1" i="0" dirty="0">
                <a:solidFill>
                  <a:srgbClr val="1F2328"/>
                </a:solidFill>
                <a:effectLst/>
                <a:latin typeface="Mona Sans VF"/>
              </a:rPr>
              <a:t>Modifiability</a:t>
            </a:r>
            <a:r>
              <a:rPr lang="ko-KR" altLang="en-US" b="1" i="0" dirty="0">
                <a:solidFill>
                  <a:srgbClr val="1F2328"/>
                </a:solidFill>
                <a:effectLst/>
                <a:latin typeface="Mona Sans VF"/>
              </a:rPr>
              <a:t>가 상대적으로 높음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: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Mona Sans VF"/>
              </a:rPr>
              <a:t> 새로운 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memory resource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Mona Sans VF"/>
              </a:rPr>
              <a:t>추가 시 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Registry / affinity mapping 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Mona Sans VF"/>
              </a:rPr>
              <a:t>확장으로 대응 가능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Mona Sans VF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959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쉬운 비유</a:t>
            </a:r>
            <a:r>
              <a:rPr lang="en-US" altLang="ko-KR" dirty="0"/>
              <a:t>: </a:t>
            </a:r>
            <a:r>
              <a:rPr lang="ko-KR" altLang="en-US" dirty="0" err="1"/>
              <a:t>네이게이션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</a:t>
            </a:r>
            <a:r>
              <a:rPr lang="ko-KR" altLang="en-US" dirty="0"/>
              <a:t>안</a:t>
            </a:r>
            <a:r>
              <a:rPr lang="en-US" altLang="ko-KR" dirty="0"/>
              <a:t>: </a:t>
            </a:r>
            <a:r>
              <a:rPr lang="ko-KR" altLang="en-US" dirty="0"/>
              <a:t>출발 직전에 경로 계산 </a:t>
            </a:r>
            <a:r>
              <a:rPr lang="en-US" altLang="ko-KR" dirty="0"/>
              <a:t>-&gt; </a:t>
            </a:r>
            <a:r>
              <a:rPr lang="ko-KR" altLang="en-US" dirty="0"/>
              <a:t>경로 계산 기다렸다가 출발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</a:t>
            </a:r>
            <a:r>
              <a:rPr lang="ko-KR" altLang="en-US" dirty="0"/>
              <a:t>안</a:t>
            </a:r>
            <a:r>
              <a:rPr lang="en-US" altLang="ko-KR" dirty="0"/>
              <a:t>: </a:t>
            </a:r>
            <a:r>
              <a:rPr lang="ko-KR" altLang="en-US" dirty="0"/>
              <a:t>미리 경로 계산 </a:t>
            </a:r>
            <a:r>
              <a:rPr lang="en-US" altLang="ko-KR" dirty="0"/>
              <a:t>-&gt; </a:t>
            </a:r>
            <a:r>
              <a:rPr lang="ko-KR" altLang="en-US" dirty="0"/>
              <a:t>그대로 출발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</a:t>
            </a:r>
            <a:r>
              <a:rPr lang="ko-KR" altLang="en-US" dirty="0"/>
              <a:t>안 단점</a:t>
            </a:r>
            <a:r>
              <a:rPr lang="en-US" altLang="ko-KR" dirty="0"/>
              <a:t>:</a:t>
            </a:r>
            <a:r>
              <a:rPr lang="en-US" altLang="ko-KR" baseline="0" dirty="0"/>
              <a:t> </a:t>
            </a:r>
            <a:r>
              <a:rPr lang="ko-KR" altLang="en-US" baseline="0" dirty="0"/>
              <a:t>가는 동안 정체 시 </a:t>
            </a:r>
            <a:r>
              <a:rPr lang="en-US" altLang="ko-KR" baseline="0" dirty="0"/>
              <a:t>-&gt; </a:t>
            </a:r>
            <a:r>
              <a:rPr lang="ko-KR" altLang="en-US" baseline="0" dirty="0"/>
              <a:t>다시 계산</a:t>
            </a:r>
            <a:endParaRPr lang="en-US" altLang="ko-KR" baseline="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상태 정보</a:t>
            </a:r>
            <a:r>
              <a:rPr lang="en-US" altLang="ko-KR" dirty="0"/>
              <a:t>: Prefill </a:t>
            </a:r>
            <a:r>
              <a:rPr lang="ko-KR" altLang="en-US" dirty="0"/>
              <a:t>노드의 대기 토큰 수와 </a:t>
            </a:r>
            <a:r>
              <a:rPr lang="en-US" altLang="ko-KR" dirty="0"/>
              <a:t>Decode </a:t>
            </a:r>
            <a:r>
              <a:rPr lang="ko-KR" altLang="en-US" dirty="0"/>
              <a:t>수</a:t>
            </a:r>
            <a:r>
              <a:rPr lang="en-US" altLang="ko-KR" dirty="0"/>
              <a:t>, Decode </a:t>
            </a:r>
            <a:r>
              <a:rPr lang="ko-KR" altLang="en-US" dirty="0"/>
              <a:t>노드의 </a:t>
            </a:r>
            <a:r>
              <a:rPr lang="en-US" altLang="ko-KR" dirty="0"/>
              <a:t>Tier </a:t>
            </a:r>
            <a:r>
              <a:rPr lang="ko-KR" altLang="en-US" dirty="0"/>
              <a:t>여유 용량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/>
              <a:t>History KV </a:t>
            </a:r>
            <a:r>
              <a:rPr lang="ko-KR" altLang="en-US" dirty="0"/>
              <a:t>위치를 저장하고</a:t>
            </a:r>
            <a:r>
              <a:rPr lang="en-US" altLang="ko-KR" dirty="0"/>
              <a:t>, </a:t>
            </a:r>
            <a:r>
              <a:rPr lang="ko-KR" altLang="en-US" dirty="0"/>
              <a:t>생성 시각도 함께 기록합니다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MISMATCH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altLang="ko-KR" dirty="0"/>
              <a:t>. ranked alt </a:t>
            </a:r>
            <a:r>
              <a:rPr lang="ko-KR" altLang="en-US" dirty="0"/>
              <a:t>중 </a:t>
            </a:r>
            <a:r>
              <a:rPr lang="en-US" altLang="ko-KR" dirty="0"/>
              <a:t>guard </a:t>
            </a:r>
            <a:r>
              <a:rPr lang="ko-KR" altLang="en-US" dirty="0"/>
              <a:t>통과하는 것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altLang="ko-KR" dirty="0"/>
              <a:t>. fallback </a:t>
            </a:r>
            <a:r>
              <a:rPr lang="ko-KR" altLang="en-US" dirty="0"/>
              <a:t>규칙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altLang="ko-KR" dirty="0"/>
              <a:t>. </a:t>
            </a:r>
            <a:r>
              <a:rPr lang="ko-KR" altLang="en-US" dirty="0"/>
              <a:t>동기 </a:t>
            </a:r>
            <a:r>
              <a:rPr lang="en-US" altLang="ko-KR" dirty="0"/>
              <a:t>re-plan --&gt; </a:t>
            </a:r>
            <a:r>
              <a:rPr lang="ko-KR" altLang="en-US" dirty="0"/>
              <a:t>결과 직접 반환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(</a:t>
            </a:r>
            <a:r>
              <a:rPr lang="ko-KR" altLang="en-US" dirty="0"/>
              <a:t>비동기</a:t>
            </a:r>
            <a:r>
              <a:rPr lang="en-US" altLang="ko-KR" dirty="0"/>
              <a:t>)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</a:t>
            </a:r>
            <a:r>
              <a:rPr lang="en-US" altLang="ko-KR" dirty="0"/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en-US" altLang="ko-KR" dirty="0"/>
              <a:t> </a:t>
            </a:r>
            <a:r>
              <a:rPr lang="ko-KR" altLang="en-US" dirty="0"/>
              <a:t>갱신 </a:t>
            </a:r>
            <a:r>
              <a:rPr lang="en-US" altLang="ko-KR" dirty="0"/>
              <a:t>= </a:t>
            </a:r>
            <a:r>
              <a:rPr lang="ko-KR" altLang="en-US" dirty="0"/>
              <a:t>다음 </a:t>
            </a:r>
            <a:r>
              <a:rPr lang="ko-KR" altLang="en-US" dirty="0" err="1"/>
              <a:t>요청용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9726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쉬운 비유</a:t>
            </a:r>
            <a:r>
              <a:rPr lang="en-US" altLang="ko-KR" dirty="0"/>
              <a:t>: </a:t>
            </a:r>
            <a:r>
              <a:rPr lang="ko-KR" altLang="en-US" dirty="0" err="1"/>
              <a:t>네이게이션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</a:t>
            </a:r>
            <a:r>
              <a:rPr lang="ko-KR" altLang="en-US" dirty="0"/>
              <a:t>안</a:t>
            </a:r>
            <a:r>
              <a:rPr lang="en-US" altLang="ko-KR" dirty="0"/>
              <a:t>: </a:t>
            </a:r>
            <a:r>
              <a:rPr lang="ko-KR" altLang="en-US" dirty="0"/>
              <a:t>출발 직전에 경로 계산 </a:t>
            </a:r>
            <a:r>
              <a:rPr lang="en-US" altLang="ko-KR" dirty="0"/>
              <a:t>-&gt; </a:t>
            </a:r>
            <a:r>
              <a:rPr lang="ko-KR" altLang="en-US" dirty="0"/>
              <a:t>경로 계산 기다렸다가 출발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</a:t>
            </a:r>
            <a:r>
              <a:rPr lang="ko-KR" altLang="en-US" dirty="0"/>
              <a:t>안</a:t>
            </a:r>
            <a:r>
              <a:rPr lang="en-US" altLang="ko-KR" dirty="0"/>
              <a:t>: </a:t>
            </a:r>
            <a:r>
              <a:rPr lang="ko-KR" altLang="en-US" dirty="0"/>
              <a:t>미리 경로 계산 </a:t>
            </a:r>
            <a:r>
              <a:rPr lang="en-US" altLang="ko-KR" dirty="0"/>
              <a:t>-&gt; </a:t>
            </a:r>
            <a:r>
              <a:rPr lang="ko-KR" altLang="en-US" dirty="0"/>
              <a:t>그대로 출발 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2</a:t>
            </a:r>
            <a:r>
              <a:rPr lang="ko-KR" altLang="en-US" dirty="0"/>
              <a:t>안 단점</a:t>
            </a:r>
            <a:r>
              <a:rPr lang="en-US" altLang="ko-KR" dirty="0"/>
              <a:t>:</a:t>
            </a:r>
            <a:r>
              <a:rPr lang="en-US" altLang="ko-KR" baseline="0" dirty="0"/>
              <a:t> </a:t>
            </a:r>
            <a:r>
              <a:rPr lang="ko-KR" altLang="en-US" baseline="0" dirty="0"/>
              <a:t>가는 동안 정체 시 </a:t>
            </a:r>
            <a:r>
              <a:rPr lang="en-US" altLang="ko-KR" baseline="0" dirty="0"/>
              <a:t>-&gt; </a:t>
            </a:r>
            <a:r>
              <a:rPr lang="ko-KR" altLang="en-US" baseline="0" dirty="0"/>
              <a:t>다시 계산</a:t>
            </a:r>
            <a:endParaRPr lang="en-US" altLang="ko-KR" baseline="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상태 정보</a:t>
            </a:r>
            <a:r>
              <a:rPr lang="en-US" altLang="ko-KR" dirty="0"/>
              <a:t>: Prefill </a:t>
            </a:r>
            <a:r>
              <a:rPr lang="ko-KR" altLang="en-US" dirty="0"/>
              <a:t>노드의 대기 토큰 수와 </a:t>
            </a:r>
            <a:r>
              <a:rPr lang="en-US" altLang="ko-KR" dirty="0"/>
              <a:t>Decode </a:t>
            </a:r>
            <a:r>
              <a:rPr lang="ko-KR" altLang="en-US" dirty="0"/>
              <a:t>수</a:t>
            </a:r>
            <a:r>
              <a:rPr lang="en-US" altLang="ko-KR" dirty="0"/>
              <a:t>, Decode </a:t>
            </a:r>
            <a:r>
              <a:rPr lang="ko-KR" altLang="en-US" dirty="0"/>
              <a:t>노드의 </a:t>
            </a:r>
            <a:r>
              <a:rPr lang="en-US" altLang="ko-KR" dirty="0"/>
              <a:t>Tier </a:t>
            </a:r>
            <a:r>
              <a:rPr lang="ko-KR" altLang="en-US" dirty="0"/>
              <a:t>여유 용량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dirty="0"/>
              <a:t>History KV </a:t>
            </a:r>
            <a:r>
              <a:rPr lang="ko-KR" altLang="en-US" dirty="0"/>
              <a:t>위치를 저장하고</a:t>
            </a:r>
            <a:r>
              <a:rPr lang="en-US" altLang="ko-KR" dirty="0"/>
              <a:t>, </a:t>
            </a:r>
            <a:r>
              <a:rPr lang="ko-KR" altLang="en-US" dirty="0"/>
              <a:t>생성 시각도 함께 기록합니다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MISMATCH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en-US" altLang="ko-KR" dirty="0"/>
              <a:t>. ranked alt </a:t>
            </a:r>
            <a:r>
              <a:rPr lang="ko-KR" altLang="en-US" dirty="0"/>
              <a:t>중 </a:t>
            </a:r>
            <a:r>
              <a:rPr lang="en-US" altLang="ko-KR" dirty="0"/>
              <a:t>guard </a:t>
            </a:r>
            <a:r>
              <a:rPr lang="ko-KR" altLang="en-US" dirty="0"/>
              <a:t>통과하는 것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-US" altLang="ko-KR" dirty="0"/>
              <a:t>. fallback </a:t>
            </a:r>
            <a:r>
              <a:rPr lang="ko-KR" altLang="en-US" dirty="0"/>
              <a:t>규칙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en-US" altLang="ko-KR" dirty="0"/>
              <a:t>. </a:t>
            </a:r>
            <a:r>
              <a:rPr lang="ko-KR" altLang="en-US" dirty="0"/>
              <a:t>동기 </a:t>
            </a:r>
            <a:r>
              <a:rPr lang="en-US" altLang="ko-KR" dirty="0"/>
              <a:t>re-plan --&gt; </a:t>
            </a:r>
            <a:r>
              <a:rPr lang="ko-KR" altLang="en-US" dirty="0"/>
              <a:t>결과 직접 반환 </a:t>
            </a:r>
            <a:r>
              <a:rPr lang="en-US" altLang="ko-KR" dirty="0"/>
              <a:t>--&gt;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</a:t>
            </a:r>
            <a:r>
              <a:rPr lang="en-US" altLang="ko-KR" dirty="0"/>
              <a:t> | +-- (</a:t>
            </a:r>
            <a:r>
              <a:rPr lang="ko-KR" altLang="en-US" dirty="0"/>
              <a:t>비동기</a:t>
            </a:r>
            <a:r>
              <a:rPr lang="en-US" altLang="ko-KR" dirty="0"/>
              <a:t>)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</a:t>
            </a:r>
            <a:r>
              <a:rPr lang="en-US" altLang="ko-KR" dirty="0"/>
              <a:t> 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en-US" altLang="ko-KR" dirty="0"/>
              <a:t> </a:t>
            </a:r>
            <a:r>
              <a:rPr lang="ko-KR" altLang="en-US" dirty="0"/>
              <a:t>갱신 </a:t>
            </a:r>
            <a:r>
              <a:rPr lang="en-US" altLang="ko-KR" dirty="0"/>
              <a:t>= </a:t>
            </a:r>
            <a:r>
              <a:rPr lang="ko-KR" altLang="en-US" dirty="0"/>
              <a:t>다음 </a:t>
            </a:r>
            <a:r>
              <a:rPr lang="ko-KR" altLang="en-US" dirty="0" err="1"/>
              <a:t>요청용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614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 선택 이유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안은 사전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재계산량이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커져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저장본이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더 불어남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안의 </a:t>
            </a:r>
            <a:r>
              <a:rPr lang="en-US" altLang="ko-KR" dirty="0"/>
              <a:t>Performance ★★★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hit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때만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군이 실제 분포를 못 따라가면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(W/L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신규 패턴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hit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율이 떨어지고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장점과 제약이 동시에 무너짐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729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 선택 이유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안은 사전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재계산량이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커져 </a:t>
            </a:r>
            <a:r>
              <a:rPr lang="ko-KR" alt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저장본이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더 불어남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안의 </a:t>
            </a:r>
            <a:r>
              <a:rPr lang="en-US" altLang="ko-KR" dirty="0"/>
              <a:t>Performance ★★★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hit</a:t>
            </a:r>
            <a:r>
              <a:rPr lang="ko-KR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 때만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참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대표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Query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군이 실제 분포를 못 따라가면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(W/L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변화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신규 패턴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hit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율이 떨어지고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장점과 제약이 동시에 무너짐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614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050" dirty="0"/>
              <a:t>[DP4 </a:t>
            </a:r>
            <a:r>
              <a:rPr sz="1050" dirty="0" err="1"/>
              <a:t>설계</a:t>
            </a:r>
            <a:r>
              <a:rPr sz="1050" dirty="0"/>
              <a:t> - </a:t>
            </a:r>
            <a:r>
              <a:rPr sz="1050" dirty="0" err="1"/>
              <a:t>중앙</a:t>
            </a:r>
            <a:r>
              <a:rPr sz="1050" dirty="0"/>
              <a:t> </a:t>
            </a:r>
            <a:r>
              <a:rPr sz="1050" dirty="0" err="1"/>
              <a:t>직렬화</a:t>
            </a:r>
            <a:r>
              <a:rPr sz="1050" dirty="0"/>
              <a:t> vs </a:t>
            </a:r>
            <a:r>
              <a:rPr sz="1050" dirty="0" err="1"/>
              <a:t>분산</a:t>
            </a:r>
            <a:r>
              <a:rPr sz="1050" dirty="0"/>
              <a:t> 락]</a:t>
            </a:r>
          </a:p>
          <a:p>
            <a:r>
              <a:rPr sz="1050" dirty="0"/>
              <a:t>두 </a:t>
            </a:r>
            <a:r>
              <a:rPr sz="1050" dirty="0" err="1"/>
              <a:t>안은</a:t>
            </a:r>
            <a:r>
              <a:rPr sz="1050" dirty="0"/>
              <a:t> </a:t>
            </a:r>
            <a:r>
              <a:rPr sz="1050" dirty="0" err="1"/>
              <a:t>공통</a:t>
            </a:r>
            <a:r>
              <a:rPr sz="1050" dirty="0"/>
              <a:t> </a:t>
            </a:r>
            <a:r>
              <a:rPr sz="1050" dirty="0" err="1"/>
              <a:t>전제를</a:t>
            </a:r>
            <a:r>
              <a:rPr sz="1050" dirty="0"/>
              <a:t> </a:t>
            </a:r>
            <a:r>
              <a:rPr sz="1050" dirty="0" err="1"/>
              <a:t>공유합니다</a:t>
            </a:r>
            <a:r>
              <a:rPr sz="1050" dirty="0"/>
              <a:t>. </a:t>
            </a:r>
            <a:endParaRPr lang="en-US" sz="1050" dirty="0"/>
          </a:p>
          <a:p>
            <a:r>
              <a:rPr sz="1050" dirty="0"/>
              <a:t>KV </a:t>
            </a:r>
            <a:r>
              <a:rPr sz="1050" dirty="0" err="1"/>
              <a:t>블록은</a:t>
            </a:r>
            <a:r>
              <a:rPr sz="1050" dirty="0"/>
              <a:t> 한 번 </a:t>
            </a:r>
            <a:r>
              <a:rPr sz="1050" dirty="0" err="1"/>
              <a:t>쓰면</a:t>
            </a:r>
            <a:r>
              <a:rPr sz="1050" dirty="0"/>
              <a:t> </a:t>
            </a:r>
            <a:r>
              <a:rPr sz="1050" dirty="0" err="1"/>
              <a:t>바뀌지</a:t>
            </a:r>
            <a:r>
              <a:rPr sz="1050" dirty="0"/>
              <a:t> </a:t>
            </a:r>
            <a:r>
              <a:rPr sz="1050" dirty="0" err="1"/>
              <a:t>않고</a:t>
            </a:r>
            <a:r>
              <a:rPr sz="1050" dirty="0"/>
              <a:t> </a:t>
            </a:r>
            <a:r>
              <a:rPr sz="1050" dirty="0" err="1"/>
              <a:t>해시로</a:t>
            </a:r>
            <a:r>
              <a:rPr sz="1050" dirty="0"/>
              <a:t> </a:t>
            </a:r>
            <a:r>
              <a:rPr sz="1050" dirty="0" err="1"/>
              <a:t>식별되며</a:t>
            </a:r>
            <a:r>
              <a:rPr sz="1050" dirty="0"/>
              <a:t>, </a:t>
            </a:r>
            <a:r>
              <a:rPr sz="1050" dirty="0" err="1"/>
              <a:t>페이로드는</a:t>
            </a:r>
            <a:r>
              <a:rPr sz="1050" dirty="0"/>
              <a:t> GPU </a:t>
            </a:r>
            <a:r>
              <a:rPr sz="1050" dirty="0" err="1"/>
              <a:t>DMA가</a:t>
            </a:r>
            <a:r>
              <a:rPr sz="1050" dirty="0"/>
              <a:t> CPU </a:t>
            </a:r>
            <a:r>
              <a:rPr sz="1050" dirty="0" err="1"/>
              <a:t>캐시를</a:t>
            </a:r>
            <a:r>
              <a:rPr sz="1050" dirty="0"/>
              <a:t> </a:t>
            </a:r>
            <a:r>
              <a:rPr sz="1050" dirty="0" err="1"/>
              <a:t>우회하므로</a:t>
            </a:r>
            <a:r>
              <a:rPr sz="1050" dirty="0"/>
              <a:t> </a:t>
            </a:r>
            <a:r>
              <a:rPr sz="1050" dirty="0" err="1"/>
              <a:t>메타데이터를</a:t>
            </a:r>
            <a:r>
              <a:rPr sz="1050" dirty="0"/>
              <a:t> </a:t>
            </a:r>
            <a:r>
              <a:rPr sz="1050" dirty="0" err="1"/>
              <a:t>READY로</a:t>
            </a:r>
            <a:r>
              <a:rPr sz="1050" dirty="0"/>
              <a:t> </a:t>
            </a:r>
            <a:r>
              <a:rPr sz="1050" dirty="0" err="1"/>
              <a:t>publish하는</a:t>
            </a:r>
            <a:r>
              <a:rPr sz="1050" dirty="0"/>
              <a:t> </a:t>
            </a:r>
            <a:r>
              <a:rPr sz="1050" dirty="0" err="1"/>
              <a:t>시점을</a:t>
            </a:r>
            <a:r>
              <a:rPr sz="1050" dirty="0"/>
              <a:t> </a:t>
            </a:r>
            <a:r>
              <a:rPr sz="1050" dirty="0" err="1"/>
              <a:t>가시성</a:t>
            </a:r>
            <a:r>
              <a:rPr sz="1050" dirty="0"/>
              <a:t> </a:t>
            </a:r>
            <a:r>
              <a:rPr sz="1050" dirty="0" err="1"/>
              <a:t>경계로</a:t>
            </a:r>
            <a:r>
              <a:rPr sz="1050" dirty="0"/>
              <a:t> </a:t>
            </a:r>
            <a:r>
              <a:rPr sz="1050" dirty="0" err="1"/>
              <a:t>삼습니다</a:t>
            </a:r>
            <a:r>
              <a:rPr sz="1050" dirty="0"/>
              <a:t>. </a:t>
            </a:r>
            <a:r>
              <a:rPr sz="1050" dirty="0" err="1"/>
              <a:t>차이는</a:t>
            </a:r>
            <a:r>
              <a:rPr sz="1050" dirty="0"/>
              <a:t> </a:t>
            </a:r>
            <a:r>
              <a:rPr sz="1050" dirty="0" err="1"/>
              <a:t>메타데이터</a:t>
            </a:r>
            <a:r>
              <a:rPr sz="1050" dirty="0"/>
              <a:t>, 즉 prefix </a:t>
            </a:r>
            <a:r>
              <a:rPr sz="1050" dirty="0" err="1"/>
              <a:t>인덱스와</a:t>
            </a:r>
            <a:r>
              <a:rPr sz="1050" dirty="0"/>
              <a:t> </a:t>
            </a:r>
            <a:r>
              <a:rPr sz="1050" dirty="0" err="1"/>
              <a:t>refcount</a:t>
            </a:r>
            <a:r>
              <a:rPr sz="1050" dirty="0"/>
              <a:t>, </a:t>
            </a:r>
            <a:r>
              <a:rPr sz="1050" dirty="0" err="1"/>
              <a:t>할당기</a:t>
            </a:r>
            <a:r>
              <a:rPr sz="1050" dirty="0"/>
              <a:t>, </a:t>
            </a:r>
            <a:r>
              <a:rPr sz="1050" dirty="0" err="1"/>
              <a:t>LRU의</a:t>
            </a:r>
            <a:r>
              <a:rPr sz="1050" dirty="0"/>
              <a:t> </a:t>
            </a:r>
            <a:r>
              <a:rPr sz="1050" dirty="0" err="1"/>
              <a:t>일관성</a:t>
            </a:r>
            <a:r>
              <a:rPr sz="1050" dirty="0"/>
              <a:t> </a:t>
            </a:r>
            <a:r>
              <a:rPr sz="1050" dirty="0" err="1"/>
              <a:t>책임을</a:t>
            </a:r>
            <a:r>
              <a:rPr sz="1050" dirty="0"/>
              <a:t> </a:t>
            </a:r>
            <a:r>
              <a:rPr sz="1050" dirty="0" err="1"/>
              <a:t>누가</a:t>
            </a:r>
            <a:r>
              <a:rPr sz="1050" dirty="0"/>
              <a:t> </a:t>
            </a:r>
            <a:r>
              <a:rPr sz="1050" dirty="0" err="1"/>
              <a:t>지는가입니다</a:t>
            </a:r>
            <a:r>
              <a:rPr sz="1050" dirty="0"/>
              <a:t>.</a:t>
            </a:r>
            <a:endParaRPr lang="en-US" sz="1050" dirty="0"/>
          </a:p>
          <a:p>
            <a:endParaRPr sz="1050" dirty="0"/>
          </a:p>
          <a:p>
            <a:r>
              <a:rPr sz="1050" dirty="0"/>
              <a:t>C1은 </a:t>
            </a:r>
            <a:r>
              <a:rPr sz="1050" dirty="0" err="1"/>
              <a:t>메타데이터</a:t>
            </a:r>
            <a:r>
              <a:rPr sz="1050" dirty="0"/>
              <a:t> </a:t>
            </a:r>
            <a:r>
              <a:rPr sz="1050" dirty="0" err="1"/>
              <a:t>서버</a:t>
            </a:r>
            <a:r>
              <a:rPr sz="1050" dirty="0"/>
              <a:t> 한 </a:t>
            </a:r>
            <a:r>
              <a:rPr sz="1050" dirty="0" err="1"/>
              <a:t>곳이</a:t>
            </a:r>
            <a:r>
              <a:rPr sz="1050" dirty="0"/>
              <a:t> </a:t>
            </a:r>
            <a:r>
              <a:rPr sz="1050" dirty="0" err="1"/>
              <a:t>모든</a:t>
            </a:r>
            <a:r>
              <a:rPr sz="1050" dirty="0"/>
              <a:t> </a:t>
            </a:r>
            <a:r>
              <a:rPr sz="1050" dirty="0" err="1"/>
              <a:t>연산을</a:t>
            </a:r>
            <a:r>
              <a:rPr sz="1050" dirty="0"/>
              <a:t> </a:t>
            </a:r>
            <a:r>
              <a:rPr sz="1050" dirty="0" err="1"/>
              <a:t>직렬화하고</a:t>
            </a:r>
            <a:r>
              <a:rPr sz="1050" dirty="0"/>
              <a:t> </a:t>
            </a:r>
            <a:r>
              <a:rPr sz="1050" dirty="0" err="1"/>
              <a:t>노드는</a:t>
            </a:r>
            <a:r>
              <a:rPr sz="1050" dirty="0"/>
              <a:t> CXL </a:t>
            </a:r>
            <a:r>
              <a:rPr sz="1050" dirty="0" err="1"/>
              <a:t>슬롯</a:t>
            </a:r>
            <a:r>
              <a:rPr sz="1050" dirty="0"/>
              <a:t> </a:t>
            </a:r>
            <a:r>
              <a:rPr sz="1050" dirty="0" err="1"/>
              <a:t>기반</a:t>
            </a:r>
            <a:r>
              <a:rPr sz="1050" dirty="0"/>
              <a:t> </a:t>
            </a:r>
            <a:r>
              <a:rPr sz="1050" dirty="0" err="1"/>
              <a:t>RPC로</a:t>
            </a:r>
            <a:r>
              <a:rPr sz="1050" dirty="0"/>
              <a:t> </a:t>
            </a:r>
            <a:r>
              <a:rPr sz="1050" dirty="0" err="1"/>
              <a:t>요청합니다</a:t>
            </a:r>
            <a:r>
              <a:rPr sz="1050" dirty="0"/>
              <a:t>. </a:t>
            </a:r>
            <a:endParaRPr lang="en-US" sz="1050" dirty="0"/>
          </a:p>
          <a:p>
            <a:r>
              <a:rPr sz="1050" dirty="0" err="1"/>
              <a:t>Beluga가</a:t>
            </a:r>
            <a:r>
              <a:rPr sz="1050" dirty="0"/>
              <a:t> </a:t>
            </a:r>
            <a:r>
              <a:rPr sz="1050" dirty="0" err="1"/>
              <a:t>택한</a:t>
            </a:r>
            <a:r>
              <a:rPr sz="1050" dirty="0"/>
              <a:t> </a:t>
            </a:r>
            <a:r>
              <a:rPr sz="1050" dirty="0" err="1"/>
              <a:t>방식으로</a:t>
            </a:r>
            <a:r>
              <a:rPr sz="1050" dirty="0"/>
              <a:t> </a:t>
            </a:r>
            <a:r>
              <a:rPr sz="1050" dirty="0" err="1"/>
              <a:t>락이</a:t>
            </a:r>
            <a:r>
              <a:rPr sz="1050" dirty="0"/>
              <a:t> </a:t>
            </a:r>
            <a:r>
              <a:rPr sz="1050" dirty="0" err="1"/>
              <a:t>필요</a:t>
            </a:r>
            <a:r>
              <a:rPr sz="1050" dirty="0"/>
              <a:t> </a:t>
            </a:r>
            <a:r>
              <a:rPr sz="1050" dirty="0" err="1"/>
              <a:t>없지만</a:t>
            </a:r>
            <a:r>
              <a:rPr sz="1050" dirty="0"/>
              <a:t> </a:t>
            </a:r>
            <a:r>
              <a:rPr sz="1050" dirty="0" err="1"/>
              <a:t>서버가</a:t>
            </a:r>
            <a:r>
              <a:rPr sz="1050" dirty="0"/>
              <a:t> </a:t>
            </a:r>
            <a:r>
              <a:rPr sz="1050" dirty="0" err="1"/>
              <a:t>SPOF이자</a:t>
            </a:r>
            <a:r>
              <a:rPr sz="1050" dirty="0"/>
              <a:t> </a:t>
            </a:r>
            <a:r>
              <a:rPr sz="1050" dirty="0" err="1"/>
              <a:t>처리량</a:t>
            </a:r>
            <a:r>
              <a:rPr sz="1050" dirty="0"/>
              <a:t> </a:t>
            </a:r>
            <a:r>
              <a:rPr sz="1050" dirty="0" err="1"/>
              <a:t>상한입니다</a:t>
            </a:r>
            <a:r>
              <a:rPr sz="1050" dirty="0"/>
              <a:t>.</a:t>
            </a:r>
            <a:endParaRPr lang="en-US" sz="1050" dirty="0"/>
          </a:p>
          <a:p>
            <a:endParaRPr sz="1050" dirty="0"/>
          </a:p>
          <a:p>
            <a:r>
              <a:rPr sz="1050" dirty="0"/>
              <a:t>C2는 </a:t>
            </a:r>
            <a:r>
              <a:rPr sz="1050" dirty="0" err="1"/>
              <a:t>메타데이터를</a:t>
            </a:r>
            <a:r>
              <a:rPr sz="1050" dirty="0"/>
              <a:t> </a:t>
            </a:r>
            <a:r>
              <a:rPr sz="1050" dirty="0" err="1"/>
              <a:t>공유</a:t>
            </a:r>
            <a:r>
              <a:rPr sz="1050" dirty="0"/>
              <a:t> </a:t>
            </a:r>
            <a:r>
              <a:rPr sz="1050" dirty="0" err="1"/>
              <a:t>메모리에</a:t>
            </a:r>
            <a:r>
              <a:rPr sz="1050" dirty="0"/>
              <a:t> </a:t>
            </a:r>
            <a:r>
              <a:rPr sz="1050" dirty="0" err="1"/>
              <a:t>두고</a:t>
            </a:r>
            <a:r>
              <a:rPr sz="1050" dirty="0"/>
              <a:t> </a:t>
            </a:r>
            <a:r>
              <a:rPr sz="1050" dirty="0" err="1"/>
              <a:t>모든</a:t>
            </a:r>
            <a:r>
              <a:rPr sz="1050" dirty="0"/>
              <a:t> </a:t>
            </a:r>
            <a:r>
              <a:rPr sz="1050" dirty="0" err="1"/>
              <a:t>노드가</a:t>
            </a:r>
            <a:r>
              <a:rPr sz="1050" dirty="0"/>
              <a:t> 2단 </a:t>
            </a:r>
            <a:r>
              <a:rPr sz="1050" dirty="0" err="1"/>
              <a:t>락으로</a:t>
            </a:r>
            <a:r>
              <a:rPr sz="1050" dirty="0"/>
              <a:t> </a:t>
            </a:r>
            <a:r>
              <a:rPr sz="1050" dirty="0" err="1"/>
              <a:t>직접</a:t>
            </a:r>
            <a:r>
              <a:rPr sz="1050" dirty="0"/>
              <a:t> </a:t>
            </a:r>
            <a:r>
              <a:rPr sz="1050" dirty="0" err="1"/>
              <a:t>갱신합니다</a:t>
            </a:r>
            <a:r>
              <a:rPr sz="1050" dirty="0"/>
              <a:t>. </a:t>
            </a:r>
            <a:endParaRPr lang="en-US" sz="1050" dirty="0"/>
          </a:p>
          <a:p>
            <a:r>
              <a:rPr sz="1050" dirty="0" err="1"/>
              <a:t>TraCT가</a:t>
            </a:r>
            <a:r>
              <a:rPr sz="1050" dirty="0"/>
              <a:t> </a:t>
            </a:r>
            <a:r>
              <a:rPr sz="1050" dirty="0" err="1"/>
              <a:t>택한</a:t>
            </a:r>
            <a:r>
              <a:rPr sz="1050" dirty="0"/>
              <a:t> </a:t>
            </a:r>
            <a:r>
              <a:rPr sz="1050" dirty="0" err="1"/>
              <a:t>방식으로</a:t>
            </a:r>
            <a:r>
              <a:rPr sz="1050" dirty="0"/>
              <a:t> </a:t>
            </a:r>
            <a:r>
              <a:rPr sz="1050" dirty="0" err="1"/>
              <a:t>중앙</a:t>
            </a:r>
            <a:r>
              <a:rPr sz="1050" dirty="0"/>
              <a:t> </a:t>
            </a:r>
            <a:r>
              <a:rPr sz="1050" dirty="0" err="1"/>
              <a:t>서버가</a:t>
            </a:r>
            <a:r>
              <a:rPr sz="1050" dirty="0"/>
              <a:t> </a:t>
            </a:r>
            <a:r>
              <a:rPr sz="1050" dirty="0" err="1"/>
              <a:t>없지만</a:t>
            </a:r>
            <a:r>
              <a:rPr sz="1050" dirty="0"/>
              <a:t> 락 </a:t>
            </a:r>
            <a:r>
              <a:rPr sz="1050" dirty="0" err="1"/>
              <a:t>매니저의</a:t>
            </a:r>
            <a:r>
              <a:rPr sz="1050" dirty="0"/>
              <a:t> </a:t>
            </a:r>
            <a:r>
              <a:rPr sz="1050" dirty="0" err="1"/>
              <a:t>스캔</a:t>
            </a:r>
            <a:r>
              <a:rPr sz="1050" dirty="0"/>
              <a:t> </a:t>
            </a:r>
            <a:r>
              <a:rPr sz="1050" dirty="0" err="1"/>
              <a:t>비용이</a:t>
            </a:r>
            <a:r>
              <a:rPr sz="1050" dirty="0"/>
              <a:t> </a:t>
            </a:r>
            <a:r>
              <a:rPr sz="1050" dirty="0" err="1"/>
              <a:t>노드와</a:t>
            </a:r>
            <a:r>
              <a:rPr sz="1050" dirty="0"/>
              <a:t> </a:t>
            </a:r>
            <a:r>
              <a:rPr sz="1050" dirty="0" err="1"/>
              <a:t>슬롯</a:t>
            </a:r>
            <a:r>
              <a:rPr sz="1050" dirty="0"/>
              <a:t> </a:t>
            </a:r>
            <a:r>
              <a:rPr sz="1050" dirty="0" err="1"/>
              <a:t>수에</a:t>
            </a:r>
            <a:r>
              <a:rPr sz="1050" dirty="0"/>
              <a:t> </a:t>
            </a:r>
            <a:r>
              <a:rPr sz="1050" dirty="0" err="1"/>
              <a:t>비례하고</a:t>
            </a:r>
            <a:r>
              <a:rPr sz="1050" dirty="0"/>
              <a:t>, </a:t>
            </a:r>
            <a:r>
              <a:rPr sz="1050" dirty="0" err="1"/>
              <a:t>락을</a:t>
            </a:r>
            <a:r>
              <a:rPr sz="1050" dirty="0"/>
              <a:t> 쥔 </a:t>
            </a:r>
            <a:r>
              <a:rPr sz="1050" dirty="0" err="1"/>
              <a:t>노드가</a:t>
            </a:r>
            <a:r>
              <a:rPr sz="1050" dirty="0"/>
              <a:t> </a:t>
            </a:r>
            <a:r>
              <a:rPr sz="1050" dirty="0" err="1"/>
              <a:t>죽으면</a:t>
            </a:r>
            <a:r>
              <a:rPr sz="1050" dirty="0"/>
              <a:t> </a:t>
            </a:r>
            <a:r>
              <a:rPr sz="1050" dirty="0" err="1"/>
              <a:t>정체되며</a:t>
            </a:r>
            <a:r>
              <a:rPr sz="1050" dirty="0"/>
              <a:t>, </a:t>
            </a:r>
            <a:r>
              <a:rPr sz="1050" dirty="0" err="1"/>
              <a:t>clflush</a:t>
            </a:r>
            <a:r>
              <a:rPr sz="1050" dirty="0"/>
              <a:t> </a:t>
            </a:r>
            <a:r>
              <a:rPr sz="1050" dirty="0" err="1"/>
              <a:t>누락</a:t>
            </a:r>
            <a:r>
              <a:rPr sz="1050" dirty="0"/>
              <a:t> </a:t>
            </a:r>
            <a:r>
              <a:rPr sz="1050" dirty="0" err="1"/>
              <a:t>같은</a:t>
            </a:r>
            <a:r>
              <a:rPr sz="1050" dirty="0"/>
              <a:t> </a:t>
            </a:r>
            <a:r>
              <a:rPr sz="1050" dirty="0" err="1"/>
              <a:t>가시성</a:t>
            </a:r>
            <a:r>
              <a:rPr sz="1050" dirty="0"/>
              <a:t> </a:t>
            </a:r>
            <a:r>
              <a:rPr sz="1050" dirty="0" err="1"/>
              <a:t>버그</a:t>
            </a:r>
            <a:r>
              <a:rPr sz="1050" dirty="0"/>
              <a:t> </a:t>
            </a:r>
            <a:r>
              <a:rPr sz="1050" dirty="0" err="1"/>
              <a:t>위험이</a:t>
            </a:r>
            <a:r>
              <a:rPr sz="1050" dirty="0"/>
              <a:t> </a:t>
            </a:r>
            <a:r>
              <a:rPr sz="1050" dirty="0" err="1"/>
              <a:t>있습니다</a:t>
            </a:r>
            <a:r>
              <a:rPr sz="105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209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050" dirty="0"/>
              <a:t>[DP4 </a:t>
            </a:r>
            <a:r>
              <a:rPr sz="1050" dirty="0" err="1"/>
              <a:t>설계</a:t>
            </a:r>
            <a:r>
              <a:rPr sz="1050" dirty="0"/>
              <a:t> - </a:t>
            </a:r>
            <a:r>
              <a:rPr sz="1050" dirty="0" err="1"/>
              <a:t>중앙</a:t>
            </a:r>
            <a:r>
              <a:rPr sz="1050" dirty="0"/>
              <a:t> </a:t>
            </a:r>
            <a:r>
              <a:rPr sz="1050" dirty="0" err="1"/>
              <a:t>직렬화</a:t>
            </a:r>
            <a:r>
              <a:rPr sz="1050" dirty="0"/>
              <a:t> vs </a:t>
            </a:r>
            <a:r>
              <a:rPr sz="1050" dirty="0" err="1"/>
              <a:t>분산</a:t>
            </a:r>
            <a:r>
              <a:rPr sz="1050" dirty="0"/>
              <a:t> 락]</a:t>
            </a:r>
          </a:p>
          <a:p>
            <a:r>
              <a:rPr sz="1050" dirty="0"/>
              <a:t>두 </a:t>
            </a:r>
            <a:r>
              <a:rPr sz="1050" dirty="0" err="1"/>
              <a:t>안은</a:t>
            </a:r>
            <a:r>
              <a:rPr sz="1050" dirty="0"/>
              <a:t> </a:t>
            </a:r>
            <a:r>
              <a:rPr sz="1050" dirty="0" err="1"/>
              <a:t>공통</a:t>
            </a:r>
            <a:r>
              <a:rPr sz="1050" dirty="0"/>
              <a:t> </a:t>
            </a:r>
            <a:r>
              <a:rPr sz="1050" dirty="0" err="1"/>
              <a:t>전제를</a:t>
            </a:r>
            <a:r>
              <a:rPr sz="1050" dirty="0"/>
              <a:t> </a:t>
            </a:r>
            <a:r>
              <a:rPr sz="1050" dirty="0" err="1"/>
              <a:t>공유합니다</a:t>
            </a:r>
            <a:r>
              <a:rPr sz="1050" dirty="0"/>
              <a:t>. </a:t>
            </a:r>
            <a:endParaRPr lang="en-US" sz="1050" dirty="0"/>
          </a:p>
          <a:p>
            <a:r>
              <a:rPr sz="1050" dirty="0"/>
              <a:t>KV </a:t>
            </a:r>
            <a:r>
              <a:rPr sz="1050" dirty="0" err="1"/>
              <a:t>블록은</a:t>
            </a:r>
            <a:r>
              <a:rPr sz="1050" dirty="0"/>
              <a:t> 한 번 </a:t>
            </a:r>
            <a:r>
              <a:rPr sz="1050" dirty="0" err="1"/>
              <a:t>쓰면</a:t>
            </a:r>
            <a:r>
              <a:rPr sz="1050" dirty="0"/>
              <a:t> </a:t>
            </a:r>
            <a:r>
              <a:rPr sz="1050" dirty="0" err="1"/>
              <a:t>바뀌지</a:t>
            </a:r>
            <a:r>
              <a:rPr sz="1050" dirty="0"/>
              <a:t> </a:t>
            </a:r>
            <a:r>
              <a:rPr sz="1050" dirty="0" err="1"/>
              <a:t>않고</a:t>
            </a:r>
            <a:r>
              <a:rPr sz="1050" dirty="0"/>
              <a:t> </a:t>
            </a:r>
            <a:r>
              <a:rPr sz="1050" dirty="0" err="1"/>
              <a:t>해시로</a:t>
            </a:r>
            <a:r>
              <a:rPr sz="1050" dirty="0"/>
              <a:t> </a:t>
            </a:r>
            <a:r>
              <a:rPr sz="1050" dirty="0" err="1"/>
              <a:t>식별되며</a:t>
            </a:r>
            <a:r>
              <a:rPr sz="1050" dirty="0"/>
              <a:t>, </a:t>
            </a:r>
            <a:r>
              <a:rPr sz="1050" dirty="0" err="1"/>
              <a:t>페이로드는</a:t>
            </a:r>
            <a:r>
              <a:rPr sz="1050" dirty="0"/>
              <a:t> GPU </a:t>
            </a:r>
            <a:r>
              <a:rPr sz="1050" dirty="0" err="1"/>
              <a:t>DMA가</a:t>
            </a:r>
            <a:r>
              <a:rPr sz="1050" dirty="0"/>
              <a:t> CPU </a:t>
            </a:r>
            <a:r>
              <a:rPr sz="1050" dirty="0" err="1"/>
              <a:t>캐시를</a:t>
            </a:r>
            <a:r>
              <a:rPr sz="1050" dirty="0"/>
              <a:t> </a:t>
            </a:r>
            <a:r>
              <a:rPr sz="1050" dirty="0" err="1"/>
              <a:t>우회하므로</a:t>
            </a:r>
            <a:r>
              <a:rPr sz="1050" dirty="0"/>
              <a:t> </a:t>
            </a:r>
            <a:r>
              <a:rPr sz="1050" dirty="0" err="1"/>
              <a:t>메타데이터를</a:t>
            </a:r>
            <a:r>
              <a:rPr sz="1050" dirty="0"/>
              <a:t> </a:t>
            </a:r>
            <a:r>
              <a:rPr sz="1050" dirty="0" err="1"/>
              <a:t>READY로</a:t>
            </a:r>
            <a:r>
              <a:rPr sz="1050" dirty="0"/>
              <a:t> </a:t>
            </a:r>
            <a:r>
              <a:rPr sz="1050" dirty="0" err="1"/>
              <a:t>publish하는</a:t>
            </a:r>
            <a:r>
              <a:rPr sz="1050" dirty="0"/>
              <a:t> </a:t>
            </a:r>
            <a:r>
              <a:rPr sz="1050" dirty="0" err="1"/>
              <a:t>시점을</a:t>
            </a:r>
            <a:r>
              <a:rPr sz="1050" dirty="0"/>
              <a:t> </a:t>
            </a:r>
            <a:r>
              <a:rPr sz="1050" dirty="0" err="1"/>
              <a:t>가시성</a:t>
            </a:r>
            <a:r>
              <a:rPr sz="1050" dirty="0"/>
              <a:t> </a:t>
            </a:r>
            <a:r>
              <a:rPr sz="1050" dirty="0" err="1"/>
              <a:t>경계로</a:t>
            </a:r>
            <a:r>
              <a:rPr sz="1050" dirty="0"/>
              <a:t> </a:t>
            </a:r>
            <a:r>
              <a:rPr sz="1050" dirty="0" err="1"/>
              <a:t>삼습니다</a:t>
            </a:r>
            <a:r>
              <a:rPr sz="1050" dirty="0"/>
              <a:t>. </a:t>
            </a:r>
            <a:r>
              <a:rPr sz="1050" dirty="0" err="1"/>
              <a:t>차이는</a:t>
            </a:r>
            <a:r>
              <a:rPr sz="1050" dirty="0"/>
              <a:t> </a:t>
            </a:r>
            <a:r>
              <a:rPr sz="1050" dirty="0" err="1"/>
              <a:t>메타데이터</a:t>
            </a:r>
            <a:r>
              <a:rPr sz="1050" dirty="0"/>
              <a:t>, 즉 prefix </a:t>
            </a:r>
            <a:r>
              <a:rPr sz="1050" dirty="0" err="1"/>
              <a:t>인덱스와</a:t>
            </a:r>
            <a:r>
              <a:rPr sz="1050" dirty="0"/>
              <a:t> </a:t>
            </a:r>
            <a:r>
              <a:rPr sz="1050" dirty="0" err="1"/>
              <a:t>refcount</a:t>
            </a:r>
            <a:r>
              <a:rPr sz="1050" dirty="0"/>
              <a:t>, </a:t>
            </a:r>
            <a:r>
              <a:rPr sz="1050" dirty="0" err="1"/>
              <a:t>할당기</a:t>
            </a:r>
            <a:r>
              <a:rPr sz="1050" dirty="0"/>
              <a:t>, </a:t>
            </a:r>
            <a:r>
              <a:rPr sz="1050" dirty="0" err="1"/>
              <a:t>LRU의</a:t>
            </a:r>
            <a:r>
              <a:rPr sz="1050" dirty="0"/>
              <a:t> </a:t>
            </a:r>
            <a:r>
              <a:rPr sz="1050" dirty="0" err="1"/>
              <a:t>일관성</a:t>
            </a:r>
            <a:r>
              <a:rPr sz="1050" dirty="0"/>
              <a:t> </a:t>
            </a:r>
            <a:r>
              <a:rPr sz="1050" dirty="0" err="1"/>
              <a:t>책임을</a:t>
            </a:r>
            <a:r>
              <a:rPr sz="1050" dirty="0"/>
              <a:t> </a:t>
            </a:r>
            <a:r>
              <a:rPr sz="1050" dirty="0" err="1"/>
              <a:t>누가</a:t>
            </a:r>
            <a:r>
              <a:rPr sz="1050" dirty="0"/>
              <a:t> </a:t>
            </a:r>
            <a:r>
              <a:rPr sz="1050" dirty="0" err="1"/>
              <a:t>지는가입니다</a:t>
            </a:r>
            <a:r>
              <a:rPr sz="1050" dirty="0"/>
              <a:t>.</a:t>
            </a:r>
            <a:endParaRPr lang="en-US" sz="1050" dirty="0"/>
          </a:p>
          <a:p>
            <a:endParaRPr sz="1050" dirty="0"/>
          </a:p>
          <a:p>
            <a:r>
              <a:rPr sz="1050" dirty="0"/>
              <a:t>C1은 </a:t>
            </a:r>
            <a:r>
              <a:rPr sz="1050" dirty="0" err="1"/>
              <a:t>메타데이터</a:t>
            </a:r>
            <a:r>
              <a:rPr sz="1050" dirty="0"/>
              <a:t> </a:t>
            </a:r>
            <a:r>
              <a:rPr sz="1050" dirty="0" err="1"/>
              <a:t>서버</a:t>
            </a:r>
            <a:r>
              <a:rPr sz="1050" dirty="0"/>
              <a:t> 한 </a:t>
            </a:r>
            <a:r>
              <a:rPr sz="1050" dirty="0" err="1"/>
              <a:t>곳이</a:t>
            </a:r>
            <a:r>
              <a:rPr sz="1050" dirty="0"/>
              <a:t> </a:t>
            </a:r>
            <a:r>
              <a:rPr sz="1050" dirty="0" err="1"/>
              <a:t>모든</a:t>
            </a:r>
            <a:r>
              <a:rPr sz="1050" dirty="0"/>
              <a:t> </a:t>
            </a:r>
            <a:r>
              <a:rPr sz="1050" dirty="0" err="1"/>
              <a:t>연산을</a:t>
            </a:r>
            <a:r>
              <a:rPr sz="1050" dirty="0"/>
              <a:t> </a:t>
            </a:r>
            <a:r>
              <a:rPr sz="1050" dirty="0" err="1"/>
              <a:t>직렬화하고</a:t>
            </a:r>
            <a:r>
              <a:rPr sz="1050" dirty="0"/>
              <a:t> </a:t>
            </a:r>
            <a:r>
              <a:rPr sz="1050" dirty="0" err="1"/>
              <a:t>노드는</a:t>
            </a:r>
            <a:r>
              <a:rPr sz="1050" dirty="0"/>
              <a:t> CXL </a:t>
            </a:r>
            <a:r>
              <a:rPr sz="1050" dirty="0" err="1"/>
              <a:t>슬롯</a:t>
            </a:r>
            <a:r>
              <a:rPr sz="1050" dirty="0"/>
              <a:t> </a:t>
            </a:r>
            <a:r>
              <a:rPr sz="1050" dirty="0" err="1"/>
              <a:t>기반</a:t>
            </a:r>
            <a:r>
              <a:rPr sz="1050" dirty="0"/>
              <a:t> </a:t>
            </a:r>
            <a:r>
              <a:rPr sz="1050" dirty="0" err="1"/>
              <a:t>RPC로</a:t>
            </a:r>
            <a:r>
              <a:rPr sz="1050" dirty="0"/>
              <a:t> </a:t>
            </a:r>
            <a:r>
              <a:rPr sz="1050" dirty="0" err="1"/>
              <a:t>요청합니다</a:t>
            </a:r>
            <a:r>
              <a:rPr sz="1050" dirty="0"/>
              <a:t>. </a:t>
            </a:r>
            <a:endParaRPr lang="en-US" sz="1050" dirty="0"/>
          </a:p>
          <a:p>
            <a:r>
              <a:rPr sz="1050" dirty="0" err="1"/>
              <a:t>Beluga가</a:t>
            </a:r>
            <a:r>
              <a:rPr sz="1050" dirty="0"/>
              <a:t> </a:t>
            </a:r>
            <a:r>
              <a:rPr sz="1050" dirty="0" err="1"/>
              <a:t>택한</a:t>
            </a:r>
            <a:r>
              <a:rPr sz="1050" dirty="0"/>
              <a:t> </a:t>
            </a:r>
            <a:r>
              <a:rPr sz="1050" dirty="0" err="1"/>
              <a:t>방식으로</a:t>
            </a:r>
            <a:r>
              <a:rPr sz="1050" dirty="0"/>
              <a:t> </a:t>
            </a:r>
            <a:r>
              <a:rPr sz="1050" dirty="0" err="1"/>
              <a:t>락이</a:t>
            </a:r>
            <a:r>
              <a:rPr sz="1050" dirty="0"/>
              <a:t> </a:t>
            </a:r>
            <a:r>
              <a:rPr sz="1050" dirty="0" err="1"/>
              <a:t>필요</a:t>
            </a:r>
            <a:r>
              <a:rPr sz="1050" dirty="0"/>
              <a:t> </a:t>
            </a:r>
            <a:r>
              <a:rPr sz="1050" dirty="0" err="1"/>
              <a:t>없지만</a:t>
            </a:r>
            <a:r>
              <a:rPr sz="1050" dirty="0"/>
              <a:t> </a:t>
            </a:r>
            <a:r>
              <a:rPr sz="1050" dirty="0" err="1"/>
              <a:t>서버가</a:t>
            </a:r>
            <a:r>
              <a:rPr sz="1050" dirty="0"/>
              <a:t> </a:t>
            </a:r>
            <a:r>
              <a:rPr sz="1050" dirty="0" err="1"/>
              <a:t>SPOF이자</a:t>
            </a:r>
            <a:r>
              <a:rPr sz="1050" dirty="0"/>
              <a:t> </a:t>
            </a:r>
            <a:r>
              <a:rPr sz="1050" dirty="0" err="1"/>
              <a:t>처리량</a:t>
            </a:r>
            <a:r>
              <a:rPr sz="1050" dirty="0"/>
              <a:t> </a:t>
            </a:r>
            <a:r>
              <a:rPr sz="1050" dirty="0" err="1"/>
              <a:t>상한입니다</a:t>
            </a:r>
            <a:r>
              <a:rPr sz="1050" dirty="0"/>
              <a:t>.</a:t>
            </a:r>
            <a:endParaRPr lang="en-US" sz="1050" dirty="0"/>
          </a:p>
          <a:p>
            <a:endParaRPr sz="1050" dirty="0"/>
          </a:p>
          <a:p>
            <a:r>
              <a:rPr sz="1050" dirty="0"/>
              <a:t>C2는 </a:t>
            </a:r>
            <a:r>
              <a:rPr sz="1050" dirty="0" err="1"/>
              <a:t>메타데이터를</a:t>
            </a:r>
            <a:r>
              <a:rPr sz="1050" dirty="0"/>
              <a:t> </a:t>
            </a:r>
            <a:r>
              <a:rPr sz="1050" dirty="0" err="1"/>
              <a:t>공유</a:t>
            </a:r>
            <a:r>
              <a:rPr sz="1050" dirty="0"/>
              <a:t> </a:t>
            </a:r>
            <a:r>
              <a:rPr sz="1050" dirty="0" err="1"/>
              <a:t>메모리에</a:t>
            </a:r>
            <a:r>
              <a:rPr sz="1050" dirty="0"/>
              <a:t> </a:t>
            </a:r>
            <a:r>
              <a:rPr sz="1050" dirty="0" err="1"/>
              <a:t>두고</a:t>
            </a:r>
            <a:r>
              <a:rPr sz="1050" dirty="0"/>
              <a:t> </a:t>
            </a:r>
            <a:r>
              <a:rPr sz="1050" dirty="0" err="1"/>
              <a:t>모든</a:t>
            </a:r>
            <a:r>
              <a:rPr sz="1050" dirty="0"/>
              <a:t> </a:t>
            </a:r>
            <a:r>
              <a:rPr sz="1050" dirty="0" err="1"/>
              <a:t>노드가</a:t>
            </a:r>
            <a:r>
              <a:rPr sz="1050" dirty="0"/>
              <a:t> 2단 </a:t>
            </a:r>
            <a:r>
              <a:rPr sz="1050" dirty="0" err="1"/>
              <a:t>락으로</a:t>
            </a:r>
            <a:r>
              <a:rPr sz="1050" dirty="0"/>
              <a:t> </a:t>
            </a:r>
            <a:r>
              <a:rPr sz="1050" dirty="0" err="1"/>
              <a:t>직접</a:t>
            </a:r>
            <a:r>
              <a:rPr sz="1050" dirty="0"/>
              <a:t> </a:t>
            </a:r>
            <a:r>
              <a:rPr sz="1050" dirty="0" err="1"/>
              <a:t>갱신합니다</a:t>
            </a:r>
            <a:r>
              <a:rPr sz="1050" dirty="0"/>
              <a:t>. </a:t>
            </a:r>
            <a:endParaRPr lang="en-US" sz="1050" dirty="0"/>
          </a:p>
          <a:p>
            <a:r>
              <a:rPr sz="1050" dirty="0" err="1"/>
              <a:t>TraCT가</a:t>
            </a:r>
            <a:r>
              <a:rPr sz="1050" dirty="0"/>
              <a:t> </a:t>
            </a:r>
            <a:r>
              <a:rPr sz="1050" dirty="0" err="1"/>
              <a:t>택한</a:t>
            </a:r>
            <a:r>
              <a:rPr sz="1050" dirty="0"/>
              <a:t> </a:t>
            </a:r>
            <a:r>
              <a:rPr sz="1050" dirty="0" err="1"/>
              <a:t>방식으로</a:t>
            </a:r>
            <a:r>
              <a:rPr sz="1050" dirty="0"/>
              <a:t> </a:t>
            </a:r>
            <a:r>
              <a:rPr sz="1050" dirty="0" err="1"/>
              <a:t>중앙</a:t>
            </a:r>
            <a:r>
              <a:rPr sz="1050" dirty="0"/>
              <a:t> </a:t>
            </a:r>
            <a:r>
              <a:rPr sz="1050" dirty="0" err="1"/>
              <a:t>서버가</a:t>
            </a:r>
            <a:r>
              <a:rPr sz="1050" dirty="0"/>
              <a:t> </a:t>
            </a:r>
            <a:r>
              <a:rPr sz="1050" dirty="0" err="1"/>
              <a:t>없지만</a:t>
            </a:r>
            <a:r>
              <a:rPr sz="1050" dirty="0"/>
              <a:t> 락 </a:t>
            </a:r>
            <a:r>
              <a:rPr sz="1050" dirty="0" err="1"/>
              <a:t>매니저의</a:t>
            </a:r>
            <a:r>
              <a:rPr sz="1050" dirty="0"/>
              <a:t> </a:t>
            </a:r>
            <a:r>
              <a:rPr sz="1050" dirty="0" err="1"/>
              <a:t>스캔</a:t>
            </a:r>
            <a:r>
              <a:rPr sz="1050" dirty="0"/>
              <a:t> </a:t>
            </a:r>
            <a:r>
              <a:rPr sz="1050" dirty="0" err="1"/>
              <a:t>비용이</a:t>
            </a:r>
            <a:r>
              <a:rPr sz="1050" dirty="0"/>
              <a:t> </a:t>
            </a:r>
            <a:r>
              <a:rPr sz="1050" dirty="0" err="1"/>
              <a:t>노드와</a:t>
            </a:r>
            <a:r>
              <a:rPr sz="1050" dirty="0"/>
              <a:t> </a:t>
            </a:r>
            <a:r>
              <a:rPr sz="1050" dirty="0" err="1"/>
              <a:t>슬롯</a:t>
            </a:r>
            <a:r>
              <a:rPr sz="1050" dirty="0"/>
              <a:t> </a:t>
            </a:r>
            <a:r>
              <a:rPr sz="1050" dirty="0" err="1"/>
              <a:t>수에</a:t>
            </a:r>
            <a:r>
              <a:rPr sz="1050" dirty="0"/>
              <a:t> </a:t>
            </a:r>
            <a:r>
              <a:rPr sz="1050" dirty="0" err="1"/>
              <a:t>비례하고</a:t>
            </a:r>
            <a:r>
              <a:rPr sz="1050" dirty="0"/>
              <a:t>, </a:t>
            </a:r>
            <a:r>
              <a:rPr sz="1050" dirty="0" err="1"/>
              <a:t>락을</a:t>
            </a:r>
            <a:r>
              <a:rPr sz="1050" dirty="0"/>
              <a:t> 쥔 </a:t>
            </a:r>
            <a:r>
              <a:rPr sz="1050" dirty="0" err="1"/>
              <a:t>노드가</a:t>
            </a:r>
            <a:r>
              <a:rPr sz="1050" dirty="0"/>
              <a:t> </a:t>
            </a:r>
            <a:r>
              <a:rPr sz="1050" dirty="0" err="1"/>
              <a:t>죽으면</a:t>
            </a:r>
            <a:r>
              <a:rPr sz="1050" dirty="0"/>
              <a:t> </a:t>
            </a:r>
            <a:r>
              <a:rPr sz="1050" dirty="0" err="1"/>
              <a:t>정체되며</a:t>
            </a:r>
            <a:r>
              <a:rPr sz="1050" dirty="0"/>
              <a:t>, </a:t>
            </a:r>
            <a:r>
              <a:rPr sz="1050" dirty="0" err="1"/>
              <a:t>clflush</a:t>
            </a:r>
            <a:r>
              <a:rPr sz="1050" dirty="0"/>
              <a:t> </a:t>
            </a:r>
            <a:r>
              <a:rPr sz="1050" dirty="0" err="1"/>
              <a:t>누락</a:t>
            </a:r>
            <a:r>
              <a:rPr sz="1050" dirty="0"/>
              <a:t> </a:t>
            </a:r>
            <a:r>
              <a:rPr sz="1050" dirty="0" err="1"/>
              <a:t>같은</a:t>
            </a:r>
            <a:r>
              <a:rPr sz="1050" dirty="0"/>
              <a:t> </a:t>
            </a:r>
            <a:r>
              <a:rPr sz="1050" dirty="0" err="1"/>
              <a:t>가시성</a:t>
            </a:r>
            <a:r>
              <a:rPr sz="1050" dirty="0"/>
              <a:t> </a:t>
            </a:r>
            <a:r>
              <a:rPr sz="1050" dirty="0" err="1"/>
              <a:t>버그</a:t>
            </a:r>
            <a:r>
              <a:rPr sz="1050" dirty="0"/>
              <a:t> </a:t>
            </a:r>
            <a:r>
              <a:rPr sz="1050" dirty="0" err="1"/>
              <a:t>위험이</a:t>
            </a:r>
            <a:r>
              <a:rPr sz="1050" dirty="0"/>
              <a:t> </a:t>
            </a:r>
            <a:r>
              <a:rPr sz="1050" dirty="0" err="1"/>
              <a:t>있습니다</a:t>
            </a:r>
            <a:r>
              <a:rPr sz="1050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0124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핵심: 4개 DP 최종안(보완 설계 포함)을 반영한 전체 모듈 구성(구현/검증 단계용). 근거: 3p + 4~11p + doc-mk DP 문서. 의미: 테두리색=담당 DP, 노란 fill=신규/수정. 모듈 배치는 제안([C]).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핵심: 프로세스 경계(Client/EngineCore/Worker/Offline Analyzer/Metadata Server)와 connector 의미(call/event/data)를 구분. 근거: DP1~DP4 설계 + vLLM v1 프로세스 구조. 의미: Plan 생성은 critical path 밖, 검증·dispatch만 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핵심: 단일 노드(GPU 8장)와 멀티 노드(서버 2대+CXL 공유 풀+Metadata Server) 배포. 근거: project-context GC-1/2/9. 의미: 차세대 메모리는 시뮬레이션, 서버 간 PCIe 64GB/s 가정.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핵심: 요청 조율·실행 위치 결정(DP2) 클래스. 근거: DP2 아키텍처 문서 §4 + vLLM 클래스.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핵심: 데이터 이동·자원 관리(DP1) 클래스. 근거: dp1-vllm-uml.md. 의미: 판단·관측·실행 분리, Lease로 stale 보정.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핵심: KV 재사용(DP3)과 서버 간 공유(DP4) 클래스. 근거: DP3/DP6 문서, 8~11p.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UC 목록(Actor, 입·출력 시나리오, 참고 FR). 근거: 1p FR, Context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이 런타임의 사용자 관점 Use case. Actor는 Context View 기준. UC02~UC04(추론 실행·스케줄링·KV 관리)와 UC05~UC07(워크로드·환경 시나리오)은 UC01에 extend. DP/QA와 1:1 대응하지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핵심: UC01이 거치는 vLLM 기본 요청 경로. schedule() 안이 DP1~DP3의 확장점. 근거: vllm/v1/engine, core/sched.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핵심: DP1 상태 관측·이동 결정 분리 + Lease. 근거: 4~5p, dp1-vllm-uml.md. 의미: Lease 만료 Event가 재평가를 유발, 실패 시 대체 경로.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핵심: DP2 Plan(비동기)/Decision(critical path) 분리. 근거: DP2 문서 §9.2, 7p. 의미: mismatch 시 순위 후보 k 순차 조회, 소진 시 비동기 replan.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핵심: DP3 사전 분석 1회 + 서빙 시 Base 공유/Delta 할당. 근거: 8~9p. 의미: HBM 3.0L→1.3L은 N=3, ρ=0.15 가정 예시이며 실측이 아님.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핵심: DP4 중앙 Metadata Server(Sharding)+CXL 공유 풀. 근거: 10~11p. 의미: 실패·timeout은 재계산 fallback(QA-07).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해당 그림은 </a:t>
            </a:r>
            <a:r>
              <a:rPr lang="en-US" altLang="ko-KR" baseline="0" dirty="0"/>
              <a:t>DP</a:t>
            </a:r>
            <a:r>
              <a:rPr lang="ko-KR" altLang="en-US" baseline="0" dirty="0"/>
              <a:t>에서 설정된 최종 </a:t>
            </a:r>
            <a:r>
              <a:rPr lang="ko-KR" altLang="en-US" baseline="0" dirty="0" err="1"/>
              <a:t>설계안을</a:t>
            </a:r>
            <a:r>
              <a:rPr lang="ko-KR" altLang="en-US" baseline="0" dirty="0"/>
              <a:t> 모두 반영한 </a:t>
            </a:r>
            <a:r>
              <a:rPr lang="en-US" altLang="ko-KR" baseline="0" dirty="0"/>
              <a:t>Module view</a:t>
            </a:r>
            <a:r>
              <a:rPr lang="ko-KR" altLang="en-US" baseline="0" dirty="0"/>
              <a:t>를 나타냅니다</a:t>
            </a:r>
            <a:r>
              <a:rPr lang="en-US" altLang="ko-KR" baseline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aseline="0" dirty="0"/>
              <a:t>DP-01</a:t>
            </a:r>
            <a:r>
              <a:rPr lang="ko-KR" altLang="en-US" baseline="0" dirty="0"/>
              <a:t>에 따라 컴파일러 및 런타임 컴포넌트의 구조를 결정하였으며</a:t>
            </a:r>
            <a:r>
              <a:rPr lang="en-US" altLang="ko-KR" baseline="0" dirty="0"/>
              <a:t>, DP-02</a:t>
            </a:r>
            <a:r>
              <a:rPr lang="ko-KR" altLang="en-US" baseline="0" dirty="0"/>
              <a:t>를 통해 컴파일러와 런타임의 역할을 결정하고</a:t>
            </a:r>
            <a:r>
              <a:rPr lang="en-US" altLang="ko-KR" baseline="0" dirty="0"/>
              <a:t> </a:t>
            </a:r>
            <a:r>
              <a:rPr lang="ko-KR" altLang="en-US" baseline="0" dirty="0"/>
              <a:t>이에 따른 구조 설계를 진행하였습니다</a:t>
            </a:r>
            <a:r>
              <a:rPr lang="en-US" altLang="ko-KR" baseline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aseline="0" dirty="0"/>
              <a:t>DP-03</a:t>
            </a:r>
            <a:r>
              <a:rPr lang="ko-KR" altLang="en-US" baseline="0" dirty="0"/>
              <a:t>인 컴파일러 중간 표현의 최종 설계안에 따라 계층별 </a:t>
            </a:r>
            <a:r>
              <a:rPr lang="en-US" altLang="ko-KR" baseline="0" dirty="0"/>
              <a:t>IR</a:t>
            </a:r>
            <a:r>
              <a:rPr lang="ko-KR" altLang="en-US" baseline="0" dirty="0"/>
              <a:t>을 정의하고</a:t>
            </a:r>
            <a:r>
              <a:rPr lang="en-US" altLang="ko-KR" baseline="0" dirty="0"/>
              <a:t>, DP-03</a:t>
            </a:r>
            <a:r>
              <a:rPr lang="ko-KR" altLang="en-US" baseline="0" dirty="0"/>
              <a:t>의 단점으로 제시된 최적화 복잡도를 완화하기 위해</a:t>
            </a:r>
            <a:endParaRPr lang="en-US" altLang="ko-KR" baseline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우측과 같이 완전히 독립된 스케줄링 최적화 컴포넌트를 설계하여 다양한 최적화 기법을 연구 개발하여 적용할 수 있도록 하였습니다</a:t>
            </a:r>
            <a:r>
              <a:rPr lang="en-US" altLang="ko-KR" baseline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또한 </a:t>
            </a:r>
            <a:r>
              <a:rPr lang="en-US" altLang="ko-KR" baseline="0" dirty="0"/>
              <a:t>DP04</a:t>
            </a:r>
            <a:r>
              <a:rPr lang="ko-KR" altLang="en-US" baseline="0" dirty="0"/>
              <a:t>인 하드웨어 정보 구성과 관련하여 별도의 </a:t>
            </a:r>
            <a:r>
              <a:rPr lang="en-US" altLang="ko-KR" baseline="0" dirty="0"/>
              <a:t>HW Manager </a:t>
            </a:r>
            <a:r>
              <a:rPr lang="ko-KR" altLang="en-US" baseline="0" dirty="0"/>
              <a:t>컴포넌트를 설계에 추가하였으며</a:t>
            </a:r>
            <a:r>
              <a:rPr lang="en-US" altLang="ko-KR" baseline="0" dirty="0"/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마지막으로 </a:t>
            </a:r>
            <a:r>
              <a:rPr lang="en-US" altLang="ko-KR" baseline="0" dirty="0"/>
              <a:t>DP05</a:t>
            </a:r>
            <a:r>
              <a:rPr lang="ko-KR" altLang="en-US" baseline="0" dirty="0"/>
              <a:t>와 관련해서는 </a:t>
            </a:r>
            <a:r>
              <a:rPr lang="en-US" altLang="ko-KR" baseline="0" dirty="0"/>
              <a:t>master-slave </a:t>
            </a:r>
            <a:r>
              <a:rPr lang="ko-KR" altLang="en-US" baseline="0" dirty="0"/>
              <a:t>구조의 런타임 동작을 위해 컴파일러에서 바이너리를 생성해주는 부분이 수정되고</a:t>
            </a:r>
            <a:endParaRPr lang="en-US" altLang="ko-KR" baseline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런타임에서 </a:t>
            </a:r>
            <a:r>
              <a:rPr lang="en-US" altLang="ko-KR" baseline="0" dirty="0"/>
              <a:t>Distributed Runtime </a:t>
            </a:r>
            <a:r>
              <a:rPr lang="ko-KR" altLang="en-US" baseline="0" dirty="0"/>
              <a:t>컴포넌트가 새로 생겼습니다</a:t>
            </a:r>
            <a:r>
              <a:rPr lang="en-US" altLang="ko-KR" baseline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36472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앞서 설명 드린 </a:t>
            </a:r>
            <a:r>
              <a:rPr lang="en-US" altLang="ko-KR" dirty="0"/>
              <a:t>Stakeholder</a:t>
            </a:r>
            <a:r>
              <a:rPr lang="ko-KR" altLang="en-US" dirty="0"/>
              <a:t>로 부터 수집한 요구사항은 총 </a:t>
            </a:r>
            <a:r>
              <a:rPr lang="en-US" altLang="ko-KR" dirty="0"/>
              <a:t>54</a:t>
            </a:r>
            <a:r>
              <a:rPr lang="ko-KR" altLang="en-US" dirty="0"/>
              <a:t>건이며</a:t>
            </a:r>
            <a:r>
              <a:rPr lang="en-US" altLang="ko-KR" dirty="0"/>
              <a:t>, </a:t>
            </a:r>
            <a:r>
              <a:rPr lang="ko-KR" altLang="en-US" dirty="0"/>
              <a:t>이를 정제하는 과정을 거쳐 </a:t>
            </a:r>
            <a:r>
              <a:rPr lang="en-US" altLang="ko-KR" dirty="0"/>
              <a:t>22</a:t>
            </a:r>
            <a:r>
              <a:rPr lang="ko-KR" altLang="en-US" dirty="0"/>
              <a:t>건의 요구사항을 도출하였습니다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최종적으로 선정된 기능 요구사항은 총 </a:t>
            </a:r>
            <a:r>
              <a:rPr lang="en-US" altLang="ko-KR" dirty="0"/>
              <a:t>9</a:t>
            </a:r>
            <a:r>
              <a:rPr lang="ko-KR" altLang="en-US" dirty="0"/>
              <a:t>건이며</a:t>
            </a:r>
            <a:r>
              <a:rPr lang="en-US" altLang="ko-KR" dirty="0"/>
              <a:t>, </a:t>
            </a:r>
            <a:r>
              <a:rPr lang="ko-KR" altLang="en-US" dirty="0"/>
              <a:t>시스템 및 장치 지원</a:t>
            </a:r>
            <a:r>
              <a:rPr lang="en-US" altLang="ko-KR" dirty="0"/>
              <a:t>, </a:t>
            </a:r>
            <a:r>
              <a:rPr lang="ko-KR" altLang="en-US" dirty="0"/>
              <a:t>모델 지원</a:t>
            </a:r>
            <a:r>
              <a:rPr lang="en-US" altLang="ko-KR" dirty="0"/>
              <a:t>, Ondevice</a:t>
            </a:r>
            <a:r>
              <a:rPr lang="en-US" altLang="ko-KR" baseline="0" dirty="0"/>
              <a:t> </a:t>
            </a:r>
            <a:r>
              <a:rPr lang="ko-KR" altLang="en-US" baseline="0" dirty="0"/>
              <a:t>컴파일 등을 포함하고 있습니다</a:t>
            </a:r>
            <a:r>
              <a:rPr lang="en-US" altLang="ko-KR" baseline="0" dirty="0"/>
              <a:t>.</a:t>
            </a:r>
          </a:p>
          <a:p>
            <a:r>
              <a:rPr lang="ko-KR" altLang="en-US" baseline="0" dirty="0"/>
              <a:t>제약 사항으로는 핵심 </a:t>
            </a:r>
            <a:r>
              <a:rPr lang="en-US" altLang="ko-KR" baseline="0" dirty="0"/>
              <a:t>HW IP </a:t>
            </a:r>
            <a:r>
              <a:rPr lang="ko-KR" altLang="en-US" baseline="0" dirty="0"/>
              <a:t>정보를 컴파일러</a:t>
            </a:r>
            <a:r>
              <a:rPr lang="en-US" altLang="ko-KR" baseline="0" dirty="0"/>
              <a:t>/</a:t>
            </a:r>
            <a:r>
              <a:rPr lang="ko-KR" altLang="en-US" baseline="0" dirty="0"/>
              <a:t>런타임 사용자에게 노출시키지 않는 것이며</a:t>
            </a:r>
            <a:r>
              <a:rPr lang="en-US" altLang="ko-KR" baseline="0" dirty="0"/>
              <a:t>, </a:t>
            </a:r>
          </a:p>
          <a:p>
            <a:r>
              <a:rPr lang="ko-KR" altLang="en-US" baseline="0" dirty="0"/>
              <a:t>실제로 사업부 및 </a:t>
            </a:r>
            <a:r>
              <a:rPr lang="ko-KR" altLang="en-US" baseline="0" dirty="0" err="1"/>
              <a:t>고객사와</a:t>
            </a:r>
            <a:r>
              <a:rPr lang="ko-KR" altLang="en-US" baseline="0" dirty="0"/>
              <a:t> 직접 </a:t>
            </a:r>
            <a:r>
              <a:rPr lang="en-US" altLang="ko-KR" baseline="0" dirty="0"/>
              <a:t>Align</a:t>
            </a:r>
            <a:r>
              <a:rPr lang="ko-KR" altLang="en-US" baseline="0" dirty="0"/>
              <a:t>되어 진행되는 부분이 있어서 개발 일정을 준수해야 하는 것이 중요하기 때문에</a:t>
            </a:r>
            <a:endParaRPr lang="en-US" altLang="ko-KR" baseline="0" dirty="0"/>
          </a:p>
          <a:p>
            <a:r>
              <a:rPr lang="ko-KR" altLang="en-US" baseline="0" dirty="0"/>
              <a:t>총 </a:t>
            </a:r>
            <a:r>
              <a:rPr lang="en-US" altLang="ko-KR" baseline="0" dirty="0"/>
              <a:t>2</a:t>
            </a:r>
            <a:r>
              <a:rPr lang="ko-KR" altLang="en-US" baseline="0" dirty="0"/>
              <a:t>건의 제약 사항을 선정하였습니다</a:t>
            </a:r>
            <a:r>
              <a:rPr lang="en-US" altLang="ko-KR" baseline="0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08069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해당 그림은 </a:t>
            </a:r>
            <a:r>
              <a:rPr lang="en-US" altLang="ko-KR" baseline="0" dirty="0"/>
              <a:t>DP</a:t>
            </a:r>
            <a:r>
              <a:rPr lang="ko-KR" altLang="en-US" baseline="0" dirty="0"/>
              <a:t>에서 설정된 최종 </a:t>
            </a:r>
            <a:r>
              <a:rPr lang="ko-KR" altLang="en-US" baseline="0" dirty="0" err="1"/>
              <a:t>설계안을</a:t>
            </a:r>
            <a:r>
              <a:rPr lang="ko-KR" altLang="en-US" baseline="0" dirty="0"/>
              <a:t> 모두 반영한 </a:t>
            </a:r>
            <a:r>
              <a:rPr lang="en-US" altLang="ko-KR" baseline="0" dirty="0"/>
              <a:t>Module view</a:t>
            </a:r>
            <a:r>
              <a:rPr lang="ko-KR" altLang="en-US" baseline="0" dirty="0"/>
              <a:t>를 나타냅니다</a:t>
            </a:r>
            <a:r>
              <a:rPr lang="en-US" altLang="ko-KR" baseline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aseline="0" dirty="0"/>
              <a:t>DP-01</a:t>
            </a:r>
            <a:r>
              <a:rPr lang="ko-KR" altLang="en-US" baseline="0" dirty="0"/>
              <a:t>에 따라 컴파일러 및 런타임 컴포넌트의 구조를 결정하였으며</a:t>
            </a:r>
            <a:r>
              <a:rPr lang="en-US" altLang="ko-KR" baseline="0" dirty="0"/>
              <a:t>, DP-02</a:t>
            </a:r>
            <a:r>
              <a:rPr lang="ko-KR" altLang="en-US" baseline="0" dirty="0"/>
              <a:t>를 통해 컴파일러와 런타임의 역할을 결정하고</a:t>
            </a:r>
            <a:r>
              <a:rPr lang="en-US" altLang="ko-KR" baseline="0" dirty="0"/>
              <a:t> </a:t>
            </a:r>
            <a:r>
              <a:rPr lang="ko-KR" altLang="en-US" baseline="0" dirty="0"/>
              <a:t>이에 따른 구조 설계를 진행하였습니다</a:t>
            </a:r>
            <a:r>
              <a:rPr lang="en-US" altLang="ko-KR" baseline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aseline="0" dirty="0"/>
              <a:t>DP-03</a:t>
            </a:r>
            <a:r>
              <a:rPr lang="ko-KR" altLang="en-US" baseline="0" dirty="0"/>
              <a:t>인 컴파일러 중간 표현의 최종 설계안에 따라 계층별 </a:t>
            </a:r>
            <a:r>
              <a:rPr lang="en-US" altLang="ko-KR" baseline="0" dirty="0"/>
              <a:t>IR</a:t>
            </a:r>
            <a:r>
              <a:rPr lang="ko-KR" altLang="en-US" baseline="0" dirty="0"/>
              <a:t>을 정의하고</a:t>
            </a:r>
            <a:r>
              <a:rPr lang="en-US" altLang="ko-KR" baseline="0" dirty="0"/>
              <a:t>, DP-03</a:t>
            </a:r>
            <a:r>
              <a:rPr lang="ko-KR" altLang="en-US" baseline="0" dirty="0"/>
              <a:t>의 단점으로 제시된 최적화 복잡도를 완화하기 위해</a:t>
            </a:r>
            <a:endParaRPr lang="en-US" altLang="ko-KR" baseline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우측과 같이 완전히 독립된 스케줄링 최적화 컴포넌트를 설계하여 다양한 최적화 기법을 연구 개발하여 적용할 수 있도록 하였습니다</a:t>
            </a:r>
            <a:r>
              <a:rPr lang="en-US" altLang="ko-KR" baseline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또한 </a:t>
            </a:r>
            <a:r>
              <a:rPr lang="en-US" altLang="ko-KR" baseline="0" dirty="0"/>
              <a:t>DP04</a:t>
            </a:r>
            <a:r>
              <a:rPr lang="ko-KR" altLang="en-US" baseline="0" dirty="0"/>
              <a:t>인 하드웨어 정보 구성과 관련하여 별도의 </a:t>
            </a:r>
            <a:r>
              <a:rPr lang="en-US" altLang="ko-KR" baseline="0" dirty="0"/>
              <a:t>HW Manager </a:t>
            </a:r>
            <a:r>
              <a:rPr lang="ko-KR" altLang="en-US" baseline="0" dirty="0"/>
              <a:t>컴포넌트를 설계에 추가하였으며</a:t>
            </a:r>
            <a:r>
              <a:rPr lang="en-US" altLang="ko-KR" baseline="0" dirty="0"/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마지막으로 </a:t>
            </a:r>
            <a:r>
              <a:rPr lang="en-US" altLang="ko-KR" baseline="0" dirty="0"/>
              <a:t>DP05</a:t>
            </a:r>
            <a:r>
              <a:rPr lang="ko-KR" altLang="en-US" baseline="0" dirty="0"/>
              <a:t>와 관련해서는 </a:t>
            </a:r>
            <a:r>
              <a:rPr lang="en-US" altLang="ko-KR" baseline="0" dirty="0"/>
              <a:t>master-slave </a:t>
            </a:r>
            <a:r>
              <a:rPr lang="ko-KR" altLang="en-US" baseline="0" dirty="0"/>
              <a:t>구조의 런타임 동작을 위해 컴파일러에서 바이너리를 생성해주는 부분이 수정되고</a:t>
            </a:r>
            <a:endParaRPr lang="en-US" altLang="ko-KR" baseline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런타임에서 </a:t>
            </a:r>
            <a:r>
              <a:rPr lang="en-US" altLang="ko-KR" baseline="0" dirty="0"/>
              <a:t>Distributed Runtime </a:t>
            </a:r>
            <a:r>
              <a:rPr lang="ko-KR" altLang="en-US" baseline="0" dirty="0"/>
              <a:t>컴포넌트가 새로 생겼습니다</a:t>
            </a:r>
            <a:r>
              <a:rPr lang="en-US" altLang="ko-KR" baseline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36472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좌측 그림은 </a:t>
            </a:r>
            <a:r>
              <a:rPr lang="en-US" altLang="ko-KR" baseline="0" dirty="0"/>
              <a:t>Component &amp; Connector View</a:t>
            </a:r>
            <a:r>
              <a:rPr lang="ko-KR" altLang="en-US" baseline="0" dirty="0"/>
              <a:t>를 나타내고</a:t>
            </a:r>
            <a:r>
              <a:rPr lang="en-US" altLang="ko-KR" baseline="0" dirty="0"/>
              <a:t>, </a:t>
            </a:r>
            <a:r>
              <a:rPr lang="ko-KR" altLang="en-US" baseline="0" dirty="0"/>
              <a:t>우측에는 </a:t>
            </a:r>
            <a:r>
              <a:rPr lang="en-US" altLang="ko-KR" baseline="0" dirty="0"/>
              <a:t>Deployment view</a:t>
            </a:r>
            <a:r>
              <a:rPr lang="ko-KR" altLang="en-US" baseline="0" dirty="0"/>
              <a:t>를 나타내었습니다</a:t>
            </a:r>
            <a:r>
              <a:rPr lang="en-US" altLang="ko-KR" baseline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특히 </a:t>
            </a:r>
            <a:r>
              <a:rPr lang="en-US" altLang="ko-KR" baseline="0" dirty="0"/>
              <a:t>Deployment view</a:t>
            </a:r>
            <a:r>
              <a:rPr lang="ko-KR" altLang="en-US" baseline="0" dirty="0"/>
              <a:t>의 경우</a:t>
            </a:r>
            <a:r>
              <a:rPr lang="en-US" altLang="ko-KR" baseline="0" dirty="0"/>
              <a:t>, </a:t>
            </a:r>
            <a:r>
              <a:rPr lang="ko-KR" altLang="en-US" baseline="0" dirty="0"/>
              <a:t>하나의 컴파일러 및 런타임이 모델 학습을 위한 분산 </a:t>
            </a:r>
            <a:r>
              <a:rPr lang="en-US" altLang="ko-KR" baseline="0" dirty="0"/>
              <a:t>GPU </a:t>
            </a:r>
            <a:r>
              <a:rPr lang="ko-KR" altLang="en-US" baseline="0" dirty="0"/>
              <a:t>환경 및 </a:t>
            </a:r>
            <a:r>
              <a:rPr lang="en-US" altLang="ko-KR" baseline="0" dirty="0"/>
              <a:t>Ondevice </a:t>
            </a:r>
            <a:r>
              <a:rPr lang="ko-KR" altLang="en-US" baseline="0" dirty="0"/>
              <a:t>추론을 위한 모바일 환경에 </a:t>
            </a:r>
            <a:r>
              <a:rPr lang="en-US" altLang="ko-KR" baseline="0" dirty="0"/>
              <a:t>Deploy</a:t>
            </a:r>
            <a:r>
              <a:rPr lang="ko-KR" altLang="en-US" baseline="0" dirty="0"/>
              <a:t>가 되기 때문에</a:t>
            </a:r>
            <a:endParaRPr lang="en-US" altLang="ko-KR" baseline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각각을 구분하여 별도의 </a:t>
            </a:r>
            <a:r>
              <a:rPr lang="en-US" altLang="ko-KR" baseline="0" dirty="0"/>
              <a:t>Deployment view</a:t>
            </a:r>
            <a:r>
              <a:rPr lang="ko-KR" altLang="en-US" baseline="0" dirty="0"/>
              <a:t>로 그렸습니다</a:t>
            </a:r>
            <a:r>
              <a:rPr lang="en-US" altLang="ko-KR" baseline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91042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baseline="0" dirty="0"/>
              <a:t>모든 </a:t>
            </a:r>
            <a:r>
              <a:rPr lang="en-US" altLang="ko-KR" baseline="0" dirty="0"/>
              <a:t>UC </a:t>
            </a:r>
            <a:r>
              <a:rPr lang="ko-KR" altLang="en-US" baseline="0" dirty="0"/>
              <a:t>및 전체 </a:t>
            </a:r>
            <a:r>
              <a:rPr lang="ko-KR" altLang="en-US" baseline="0" dirty="0" err="1"/>
              <a:t>다이아그램</a:t>
            </a:r>
            <a:r>
              <a:rPr lang="ko-KR" altLang="en-US" baseline="0" dirty="0"/>
              <a:t> 다 백업으로 넣어</a:t>
            </a: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19165350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baseline="0" dirty="0"/>
              <a:t>모든 </a:t>
            </a:r>
            <a:r>
              <a:rPr lang="en-US" altLang="ko-KR" baseline="0" dirty="0"/>
              <a:t>UC </a:t>
            </a:r>
            <a:r>
              <a:rPr lang="ko-KR" altLang="en-US" baseline="0" dirty="0"/>
              <a:t>및 전체 </a:t>
            </a:r>
            <a:r>
              <a:rPr lang="ko-KR" altLang="en-US" baseline="0" dirty="0" err="1"/>
              <a:t>다이아그램</a:t>
            </a:r>
            <a:r>
              <a:rPr lang="ko-KR" altLang="en-US" baseline="0" dirty="0"/>
              <a:t> 다 백업으로 넣어</a:t>
            </a: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310082966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baseline="0" dirty="0"/>
              <a:t>모든 </a:t>
            </a:r>
            <a:r>
              <a:rPr lang="en-US" altLang="ko-KR" baseline="0" dirty="0"/>
              <a:t>UC </a:t>
            </a:r>
            <a:r>
              <a:rPr lang="ko-KR" altLang="en-US" baseline="0" dirty="0"/>
              <a:t>및 전체 </a:t>
            </a:r>
            <a:r>
              <a:rPr lang="ko-KR" altLang="en-US" baseline="0" dirty="0" err="1"/>
              <a:t>다이아그램</a:t>
            </a:r>
            <a:r>
              <a:rPr lang="ko-KR" altLang="en-US" baseline="0" dirty="0"/>
              <a:t> 다 백업으로 넣어</a:t>
            </a: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210639901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baseline="0" dirty="0"/>
              <a:t>모든 </a:t>
            </a:r>
            <a:r>
              <a:rPr lang="en-US" altLang="ko-KR" baseline="0" dirty="0"/>
              <a:t>UC </a:t>
            </a:r>
            <a:r>
              <a:rPr lang="ko-KR" altLang="en-US" baseline="0" dirty="0"/>
              <a:t>및 전체 </a:t>
            </a:r>
            <a:r>
              <a:rPr lang="ko-KR" altLang="en-US" baseline="0" dirty="0" err="1"/>
              <a:t>다이아그램</a:t>
            </a:r>
            <a:r>
              <a:rPr lang="ko-KR" altLang="en-US" baseline="0" dirty="0"/>
              <a:t> 다 백업으로 넣어</a:t>
            </a: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26139936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baseline="0" dirty="0"/>
              <a:t>모든 </a:t>
            </a:r>
            <a:r>
              <a:rPr lang="en-US" altLang="ko-KR" baseline="0" dirty="0"/>
              <a:t>UC </a:t>
            </a:r>
            <a:r>
              <a:rPr lang="ko-KR" altLang="en-US" baseline="0" dirty="0"/>
              <a:t>및 전체 </a:t>
            </a:r>
            <a:r>
              <a:rPr lang="ko-KR" altLang="en-US" baseline="0" dirty="0" err="1"/>
              <a:t>다이아그램</a:t>
            </a:r>
            <a:r>
              <a:rPr lang="ko-KR" altLang="en-US" baseline="0" dirty="0"/>
              <a:t> 다 백업으로 넣어</a:t>
            </a: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36118498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baseline="0" dirty="0"/>
              <a:t>모든 </a:t>
            </a:r>
            <a:r>
              <a:rPr lang="en-US" altLang="ko-KR" baseline="0" dirty="0"/>
              <a:t>UC </a:t>
            </a:r>
            <a:r>
              <a:rPr lang="ko-KR" altLang="en-US" baseline="0" dirty="0"/>
              <a:t>및 전체 </a:t>
            </a:r>
            <a:r>
              <a:rPr lang="ko-KR" altLang="en-US" baseline="0" dirty="0" err="1"/>
              <a:t>다이아그램</a:t>
            </a:r>
            <a:r>
              <a:rPr lang="ko-KR" altLang="en-US" baseline="0" dirty="0"/>
              <a:t> 다 백업으로 넣어</a:t>
            </a: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6177806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다음은 주요 품질 속성에 대한 검증입니다</a:t>
            </a:r>
            <a:r>
              <a:rPr lang="en-US" altLang="ko-KR" baseline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먼저 </a:t>
            </a:r>
            <a:r>
              <a:rPr lang="en-US" altLang="ko-KR" baseline="0" dirty="0"/>
              <a:t>QA-01 </a:t>
            </a:r>
            <a:r>
              <a:rPr lang="ko-KR" altLang="en-US" baseline="0" dirty="0"/>
              <a:t>신규 장치 지원 용이성의 경우</a:t>
            </a:r>
            <a:r>
              <a:rPr lang="en-US" altLang="ko-KR" baseline="0" dirty="0"/>
              <a:t>, </a:t>
            </a:r>
            <a:r>
              <a:rPr lang="ko-KR" altLang="en-US" baseline="0" dirty="0"/>
              <a:t>현재 저희가 필수 검증을 완료한 </a:t>
            </a:r>
            <a:r>
              <a:rPr lang="en-US" altLang="ko-KR" baseline="0" dirty="0"/>
              <a:t>S22 NPU</a:t>
            </a:r>
            <a:r>
              <a:rPr lang="ko-KR" altLang="en-US" baseline="0" dirty="0"/>
              <a:t>에 대한 구현을 기준으로 </a:t>
            </a:r>
            <a:r>
              <a:rPr lang="en-US" altLang="ko-KR" baseline="0" dirty="0"/>
              <a:t>S23 NPU</a:t>
            </a:r>
            <a:r>
              <a:rPr lang="ko-KR" altLang="en-US" baseline="0" dirty="0"/>
              <a:t>를 지원해야할 때에 신규로 개발되어야 하는 최적화 함수들을 따져보았습니다</a:t>
            </a:r>
            <a:r>
              <a:rPr lang="en-US" altLang="ko-KR" baseline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그랬을 때에 전체 구현이 필요한 기능 중 약 </a:t>
            </a:r>
            <a:r>
              <a:rPr lang="en-US" altLang="ko-KR" baseline="0" dirty="0"/>
              <a:t>28% </a:t>
            </a:r>
            <a:r>
              <a:rPr lang="ko-KR" altLang="en-US" baseline="0" dirty="0"/>
              <a:t>정도의 구현이 새로 필요하고 나머지 </a:t>
            </a:r>
            <a:r>
              <a:rPr lang="en-US" altLang="ko-KR" baseline="0" dirty="0"/>
              <a:t>72%</a:t>
            </a:r>
            <a:r>
              <a:rPr lang="ko-KR" altLang="en-US" baseline="0" dirty="0"/>
              <a:t>의 경우 </a:t>
            </a:r>
            <a:r>
              <a:rPr lang="en-US" altLang="ko-KR" baseline="0" dirty="0"/>
              <a:t>S22</a:t>
            </a:r>
            <a:r>
              <a:rPr lang="ko-KR" altLang="en-US" baseline="0" dirty="0"/>
              <a:t>에서 구현한 기능들이 그대로 사용 가능한 것으로 예상되었습니다</a:t>
            </a:r>
            <a:r>
              <a:rPr lang="en-US" altLang="ko-KR" baseline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aseline="0" dirty="0"/>
              <a:t>QA-02 </a:t>
            </a:r>
            <a:r>
              <a:rPr lang="ko-KR" altLang="en-US" baseline="0" dirty="0"/>
              <a:t>자원의 효율적 사용의 경우</a:t>
            </a:r>
            <a:r>
              <a:rPr lang="en-US" altLang="ko-KR" baseline="0" dirty="0"/>
              <a:t>, </a:t>
            </a:r>
            <a:r>
              <a:rPr lang="ko-KR" altLang="en-US" baseline="0" dirty="0"/>
              <a:t>동일한 뉴럴 네트워크를 기존 딥 러닝 학습 프레임워크에서 동작 시켰을 때와 컴파일러</a:t>
            </a:r>
            <a:r>
              <a:rPr lang="en-US" altLang="ko-KR" baseline="0" dirty="0"/>
              <a:t>/</a:t>
            </a:r>
            <a:r>
              <a:rPr lang="ko-KR" altLang="en-US" baseline="0" dirty="0"/>
              <a:t>런타임을 사용하여 동작 시켰을 때의 메모리 사용량을 비교하여 평가하였습니다</a:t>
            </a:r>
            <a:r>
              <a:rPr lang="en-US" altLang="ko-KR" baseline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기존 </a:t>
            </a:r>
            <a:r>
              <a:rPr lang="en-US" altLang="ko-KR" baseline="0" dirty="0"/>
              <a:t>PyTorch</a:t>
            </a:r>
            <a:r>
              <a:rPr lang="ko-KR" altLang="en-US" baseline="0" dirty="0"/>
              <a:t>의 경우 실행을 위해 필요한 메모리를 한번에 할당해서 사용하기 때문에 메모리 사용량이 높게 나왔지만</a:t>
            </a:r>
            <a:r>
              <a:rPr lang="en-US" altLang="ko-KR" baseline="0" dirty="0"/>
              <a:t>, </a:t>
            </a:r>
            <a:r>
              <a:rPr lang="ko-KR" altLang="en-US" baseline="0" dirty="0"/>
              <a:t>컴파일러의 경우 각 데이터의 </a:t>
            </a:r>
            <a:r>
              <a:rPr lang="en-US" altLang="ko-KR" baseline="0" dirty="0"/>
              <a:t>liveness </a:t>
            </a:r>
            <a:r>
              <a:rPr lang="ko-KR" altLang="en-US" baseline="0" dirty="0"/>
              <a:t>등을 계산해서 필요한 시점에 할당</a:t>
            </a:r>
            <a:r>
              <a:rPr lang="en-US" altLang="ko-KR" baseline="0" dirty="0"/>
              <a:t>/</a:t>
            </a:r>
            <a:r>
              <a:rPr lang="ko-KR" altLang="en-US" baseline="0" dirty="0"/>
              <a:t>해제할 수 있어</a:t>
            </a:r>
            <a:endParaRPr lang="en-US" altLang="ko-KR" baseline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그보다 훨씬 낮은 메모리 사용량을 보이는 것을 확인할 수 있었습니다</a:t>
            </a:r>
            <a:r>
              <a:rPr lang="en-US" altLang="ko-KR" baseline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aseline="0" dirty="0"/>
              <a:t>QA-03 Performance</a:t>
            </a:r>
            <a:r>
              <a:rPr lang="ko-KR" altLang="en-US" baseline="0" dirty="0"/>
              <a:t>의 경우에도</a:t>
            </a:r>
            <a:r>
              <a:rPr lang="en-US" altLang="ko-KR" baseline="0" dirty="0"/>
              <a:t> </a:t>
            </a:r>
            <a:r>
              <a:rPr lang="ko-KR" altLang="en-US" baseline="0" dirty="0"/>
              <a:t>동일한 하드웨어 상에서 </a:t>
            </a:r>
            <a:r>
              <a:rPr lang="en-US" altLang="ko-KR" baseline="0" dirty="0"/>
              <a:t>PyTorch </a:t>
            </a:r>
            <a:r>
              <a:rPr lang="ko-KR" altLang="en-US" baseline="0" dirty="0"/>
              <a:t>대비 약 두 배 정도 빠른 수행 시간을 확인할 수 있었습니다</a:t>
            </a:r>
            <a:r>
              <a:rPr lang="en-US" altLang="ko-KR" baseline="0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ko-KR" baseline="0" dirty="0"/>
              <a:t>QA-05 </a:t>
            </a:r>
            <a:r>
              <a:rPr lang="ko-KR" altLang="en-US" baseline="0" dirty="0"/>
              <a:t>프레임워크 </a:t>
            </a:r>
            <a:r>
              <a:rPr lang="ko-KR" altLang="en-US" baseline="0" dirty="0" err="1"/>
              <a:t>이식성의</a:t>
            </a:r>
            <a:r>
              <a:rPr lang="ko-KR" altLang="en-US" baseline="0" dirty="0"/>
              <a:t> 경우</a:t>
            </a:r>
            <a:r>
              <a:rPr lang="en-US" altLang="ko-KR" baseline="0" dirty="0"/>
              <a:t>, Tensorflow</a:t>
            </a:r>
            <a:r>
              <a:rPr lang="ko-KR" altLang="en-US" baseline="0" dirty="0"/>
              <a:t>와 같이 다른 딥 러닝 프레임워크에 적용 시 수정이 필요한 코드 부분을 도출하여 예상하였을 때 약 </a:t>
            </a:r>
            <a:r>
              <a:rPr lang="en-US" altLang="ko-KR" baseline="0" dirty="0"/>
              <a:t>1.5MM </a:t>
            </a:r>
            <a:r>
              <a:rPr lang="ko-KR" altLang="en-US" baseline="0" dirty="0"/>
              <a:t>정도 소요될 것으로 예상되었으며</a:t>
            </a:r>
            <a:r>
              <a:rPr lang="en-US" altLang="ko-KR" baseline="0" dirty="0"/>
              <a:t>,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baseline="0" dirty="0"/>
              <a:t>마지막으로 </a:t>
            </a:r>
            <a:r>
              <a:rPr lang="en-US" altLang="ko-KR" baseline="0" dirty="0"/>
              <a:t>QA-07 </a:t>
            </a:r>
            <a:r>
              <a:rPr lang="ko-KR" altLang="en-US" baseline="0" dirty="0"/>
              <a:t>코드 </a:t>
            </a:r>
            <a:r>
              <a:rPr lang="ko-KR" altLang="en-US" baseline="0" dirty="0" err="1"/>
              <a:t>재사용성의</a:t>
            </a:r>
            <a:r>
              <a:rPr lang="ko-KR" altLang="en-US" baseline="0" dirty="0"/>
              <a:t> 경우</a:t>
            </a:r>
            <a:r>
              <a:rPr lang="en-US" altLang="ko-KR" baseline="0" dirty="0"/>
              <a:t>, </a:t>
            </a:r>
            <a:r>
              <a:rPr lang="ko-KR" altLang="en-US" baseline="0" dirty="0"/>
              <a:t>현재 초기 구현을 완료한 </a:t>
            </a:r>
            <a:r>
              <a:rPr lang="en-US" altLang="ko-KR" baseline="0" dirty="0"/>
              <a:t>3</a:t>
            </a:r>
            <a:r>
              <a:rPr lang="ko-KR" altLang="en-US" baseline="0" dirty="0"/>
              <a:t>개의 타겟 시스템을 대상으로 최적화 함수 단위로 재사용성을 계산하였을 때 목표인 </a:t>
            </a:r>
            <a:r>
              <a:rPr lang="en-US" altLang="ko-KR" baseline="0" dirty="0"/>
              <a:t>70% </a:t>
            </a:r>
            <a:r>
              <a:rPr lang="ko-KR" altLang="en-US" baseline="0" dirty="0"/>
              <a:t>수준을 달성한 것으로 확인하였습니다</a:t>
            </a:r>
            <a:r>
              <a:rPr lang="en-US" altLang="ko-KR" baseline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28068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baseline="0" dirty="0"/>
              <a:t>모든 </a:t>
            </a:r>
            <a:r>
              <a:rPr lang="en-US" altLang="ko-KR" baseline="0" dirty="0"/>
              <a:t>UC </a:t>
            </a:r>
            <a:r>
              <a:rPr lang="ko-KR" altLang="en-US" baseline="0" dirty="0"/>
              <a:t>및 전체 </a:t>
            </a:r>
            <a:r>
              <a:rPr lang="ko-KR" altLang="en-US" baseline="0" dirty="0" err="1"/>
              <a:t>다이아그램</a:t>
            </a:r>
            <a:r>
              <a:rPr lang="ko-KR" altLang="en-US" baseline="0" dirty="0"/>
              <a:t> 다 백업으로 넣어</a:t>
            </a: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248360297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baseline="0" dirty="0"/>
              <a:t>모든 </a:t>
            </a:r>
            <a:r>
              <a:rPr lang="en-US" altLang="ko-KR" baseline="0" dirty="0"/>
              <a:t>UC </a:t>
            </a:r>
            <a:r>
              <a:rPr lang="ko-KR" altLang="en-US" baseline="0" dirty="0"/>
              <a:t>및 전체 </a:t>
            </a:r>
            <a:r>
              <a:rPr lang="ko-KR" altLang="en-US" baseline="0" dirty="0" err="1"/>
              <a:t>다이아그램</a:t>
            </a:r>
            <a:r>
              <a:rPr lang="ko-KR" altLang="en-US" baseline="0" dirty="0"/>
              <a:t> 다 백업으로 넣어</a:t>
            </a: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248331146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baseline="0" dirty="0"/>
              <a:t>모든 </a:t>
            </a:r>
            <a:r>
              <a:rPr lang="en-US" altLang="ko-KR" baseline="0" dirty="0"/>
              <a:t>UC </a:t>
            </a:r>
            <a:r>
              <a:rPr lang="ko-KR" altLang="en-US" baseline="0" dirty="0"/>
              <a:t>및 전체 </a:t>
            </a:r>
            <a:r>
              <a:rPr lang="ko-KR" altLang="en-US" baseline="0" dirty="0" err="1"/>
              <a:t>다이아그램</a:t>
            </a:r>
            <a:r>
              <a:rPr lang="ko-KR" altLang="en-US" baseline="0" dirty="0"/>
              <a:t> 다 백업으로 넣어</a:t>
            </a: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24327460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baseline="0" dirty="0"/>
              <a:t>모든 </a:t>
            </a:r>
            <a:r>
              <a:rPr lang="en-US" altLang="ko-KR" baseline="0" dirty="0"/>
              <a:t>UC </a:t>
            </a:r>
            <a:r>
              <a:rPr lang="ko-KR" altLang="en-US" baseline="0" dirty="0"/>
              <a:t>및 전체 </a:t>
            </a:r>
            <a:r>
              <a:rPr lang="ko-KR" altLang="en-US" baseline="0" dirty="0" err="1"/>
              <a:t>다이아그램</a:t>
            </a:r>
            <a:r>
              <a:rPr lang="ko-KR" altLang="en-US" baseline="0" dirty="0"/>
              <a:t> 다 백업으로 넣어</a:t>
            </a: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72772472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baseline="0" dirty="0"/>
              <a:t>모든 </a:t>
            </a:r>
            <a:r>
              <a:rPr lang="en-US" altLang="ko-KR" baseline="0" dirty="0"/>
              <a:t>UC </a:t>
            </a:r>
            <a:r>
              <a:rPr lang="ko-KR" altLang="en-US" baseline="0" dirty="0"/>
              <a:t>및 전체 </a:t>
            </a:r>
            <a:r>
              <a:rPr lang="ko-KR" altLang="en-US" baseline="0" dirty="0" err="1"/>
              <a:t>다이아그램</a:t>
            </a:r>
            <a:r>
              <a:rPr lang="ko-KR" altLang="en-US" baseline="0" dirty="0"/>
              <a:t> 다 백업으로 넣어</a:t>
            </a:r>
            <a:endParaRPr lang="en-US" altLang="ko-KR" baseline="0" dirty="0"/>
          </a:p>
        </p:txBody>
      </p:sp>
    </p:spTree>
    <p:extLst>
      <p:ext uri="{BB962C8B-B14F-4D97-AF65-F5344CB8AC3E}">
        <p14:creationId xmlns:p14="http://schemas.microsoft.com/office/powerpoint/2010/main" val="163625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DP1 비선정 1안(관측·결정 통합). 선정 2안과 같은 형식의 Class/Sequence. 근거: 4p, dp1-vllm-uml.md.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DP2 비선정 1안(Plan+Decision 동시). Cost 계산이 critical path에 포함. 근거: 6p, DP2 문서 §9.1.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DP3 비선정 1안(Pipe-and-Filter). 요청마다 체인 실행. 근거: 8p, DP3 문서 §3.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DP4 비선정 2안(락 기반 직접 접근). 근거: 10p, DP6 문서 §3.2.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QA 검증 요약. 모든 값은 이론 예상([C])과 중립 시뮬레이션([B+C])이며 실측이 아니다. 근거: doc-mk/QA-criteria-v4.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QA-01 처리량. 이론은 4개 DP 모두 2x 이상이나 중립 시뮬은 미달 — 조건부 이득.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QA-02 HBM. DP3만 이론상 20% 달성. DP1 Lease 보완 효과는 미검증.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QA-03 Tail latency. 이론은 모두 목표 초과, DP1 중립 시뮬 P99 r 1.22는 미달.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QA-04 확장성. DP2 2안·DP4 1안 이론 97%·99%. 시뮬 값은 해석 보류.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핵심: QA-05 변경 용이성. DP1만 측정(달성), DP2~DP4 미검증.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ADF5FB-2990-42D6-87F6-0339711CF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731425C-524F-4528-A2C6-2AC9BFE96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AC11B2-23AC-4568-8D90-6E440757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1D92-4DE6-44B2-B906-F57CF32A928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84141A-1FCB-4253-8D59-B668B17B4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8EC380-BF48-4449-81BA-937BB117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CE3F-615C-4A9E-9A05-D9520877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063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79C87-A0F3-40FA-BAF6-5AC4ECC38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FCDCCF-3972-4AE6-9247-439E7EA5D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CC695F-3069-4EF8-8862-CCCFC72A5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1D92-4DE6-44B2-B906-F57CF32A928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7D42B8-9A5C-4A7D-AE05-497319476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BB4124-BE76-4585-9AFB-B1EB0B7A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CE3F-615C-4A9E-9A05-D9520877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675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80006-75C4-4319-AAFA-A51AD1DF5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C31C72-B218-4CBA-8C41-4DE4C7896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C34A41-BE05-4283-B489-AD2D351B8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1D92-4DE6-44B2-B906-F57CF32A928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24AE9E-65C7-45DB-9A85-C5D6F7435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54A71E-0B8C-418F-9EB4-CF663C2B8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CE3F-615C-4A9E-9A05-D9520877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318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BD6CE4-0387-4886-9679-62514B689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048DF6-E042-4C40-B75D-370F63AB1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1438D7-3D7A-48B2-9DB6-93C3992E2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24322-8FB3-441B-816F-E81516A04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1D92-4DE6-44B2-B906-F57CF32A928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B5887A-1D61-4CB7-9895-FF608E06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D3DB8A-DE25-474E-A941-D5F6FCE63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CE3F-615C-4A9E-9A05-D9520877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6274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71621-8EE0-4EAE-8C20-36EC1A58D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F436C7-8D72-4E7C-AB79-3D41BAC28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4BE86CF-9066-4393-97EB-3F1A9724CB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478073-F55A-44F5-9EAC-A4AF90266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A1A993-37C9-4056-BAAE-09E141D2B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269CF5F-1D33-4340-8DF9-6BAE5D33B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1D92-4DE6-44B2-B906-F57CF32A928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0120BA8-17F8-4DB6-84A6-025BD14D7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BC44235-05DC-4E48-950C-2AF52633D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CE3F-615C-4A9E-9A05-D9520877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769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64AC7-B04E-4DC2-BCF1-42E39FCFC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C09AB40-02F3-4FED-9BB8-06EF29AA8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1D92-4DE6-44B2-B906-F57CF32A928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A94C25-9E32-4E87-A61E-19A8DBB24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468C104-8F6C-4336-BD6A-D420CE55C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CE3F-615C-4A9E-9A05-D9520877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703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5161CD-9D8A-4A47-B582-B008A09BC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1D92-4DE6-44B2-B906-F57CF32A928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2FC14F1-C009-460B-A69D-37D29A67C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13A546-45D9-4081-8486-B9A208C81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CE3F-615C-4A9E-9A05-D9520877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812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609842-36C6-40E2-B9CB-9B64E2469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DCFF72-D47F-4678-9C18-2B42F392E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54B377-4AAC-464B-A7BA-2A7855A7F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2690DE6-DF19-4EC2-9680-A9335AFB9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1D92-4DE6-44B2-B906-F57CF32A928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CF43E3-ECA1-4B99-96E5-4A7348ED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4CCB62-4BC5-40E8-B52C-2DC3FBD7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CE3F-615C-4A9E-9A05-D9520877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056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6D21C2-8F4A-433E-A75A-2C65070D0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D98D3D-E4D6-4FDD-850C-C157D0465D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CC50D7-3392-4836-A02E-3EDFB8260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C0AF2B-2494-4165-A0CB-C985BBCC6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1D92-4DE6-44B2-B906-F57CF32A928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776844-E118-42A4-8BB7-82573979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9CDB67-86A3-4B80-B43A-E1D9A5FB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CE3F-615C-4A9E-9A05-D9520877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306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134E3-7021-4CA6-867B-AE1F1D435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5952982-620B-4BE7-95AD-BE395750E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E0BD7-2A47-4737-A859-3F18AA83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1D92-4DE6-44B2-B906-F57CF32A928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AA265B-3B9A-4C4D-8941-91E328993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DC6660-2321-46D4-BF52-4D276DA3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CE3F-615C-4A9E-9A05-D9520877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643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8F7DA7-D282-4A5A-9C16-163090C62A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D12738-EFB1-44F0-92CF-ED689E567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DC8554-91BF-4AC7-8E47-2CAA705A5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81D92-4DE6-44B2-B906-F57CF32A928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C1441D-5757-42FC-897F-EBB6EAFB1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BCDEA1-B763-4AAD-8F10-4F75D0B9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F0CE3F-615C-4A9E-9A05-D9520877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854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설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7108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9" y="137379"/>
            <a:ext cx="621719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2" name="갈매기형 수장 21"/>
          <p:cNvSpPr/>
          <p:nvPr userDrawn="1"/>
        </p:nvSpPr>
        <p:spPr>
          <a:xfrm>
            <a:off x="6510272" y="137379"/>
            <a:ext cx="1031887" cy="357521"/>
          </a:xfrm>
          <a:prstGeom prst="chevron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과제 소개</a:t>
            </a:r>
          </a:p>
        </p:txBody>
      </p:sp>
      <p:sp>
        <p:nvSpPr>
          <p:cNvPr id="23" name="갈매기형 수장 22"/>
          <p:cNvSpPr/>
          <p:nvPr userDrawn="1"/>
        </p:nvSpPr>
        <p:spPr>
          <a:xfrm>
            <a:off x="7402754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요구사항</a:t>
            </a:r>
          </a:p>
        </p:txBody>
      </p:sp>
      <p:sp>
        <p:nvSpPr>
          <p:cNvPr id="25" name="갈매기형 수장 24"/>
          <p:cNvSpPr/>
          <p:nvPr userDrawn="1"/>
        </p:nvSpPr>
        <p:spPr>
          <a:xfrm>
            <a:off x="8301672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26" name="갈매기형 수장 25"/>
          <p:cNvSpPr/>
          <p:nvPr userDrawn="1"/>
        </p:nvSpPr>
        <p:spPr>
          <a:xfrm>
            <a:off x="9194153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구현</a:t>
            </a:r>
            <a:r>
              <a:rPr lang="en-US" altLang="ko-KR" sz="1000" b="1" dirty="0">
                <a:solidFill>
                  <a:schemeClr val="bg1"/>
                </a:solidFill>
              </a:rPr>
              <a:t>/</a:t>
            </a:r>
            <a:r>
              <a:rPr lang="ko-KR" altLang="en-US" sz="1000" b="1" dirty="0">
                <a:solidFill>
                  <a:schemeClr val="bg1"/>
                </a:solidFill>
              </a:rPr>
              <a:t>검증</a:t>
            </a:r>
          </a:p>
        </p:txBody>
      </p:sp>
      <p:sp>
        <p:nvSpPr>
          <p:cNvPr id="27" name="갈매기형 수장 26"/>
          <p:cNvSpPr/>
          <p:nvPr userDrawn="1"/>
        </p:nvSpPr>
        <p:spPr>
          <a:xfrm>
            <a:off x="10086636" y="137379"/>
            <a:ext cx="1031887" cy="357521"/>
          </a:xfrm>
          <a:prstGeom prst="chevron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r>
              <a:rPr lang="ko-KR" altLang="en-US" sz="1000" b="1" dirty="0">
                <a:solidFill>
                  <a:schemeClr val="bg1"/>
                </a:solidFill>
              </a:rPr>
              <a:t>결론</a:t>
            </a:r>
          </a:p>
        </p:txBody>
      </p:sp>
      <p:sp>
        <p:nvSpPr>
          <p:cNvPr id="28" name="직사각형 27"/>
          <p:cNvSpPr/>
          <p:nvPr userDrawn="1"/>
        </p:nvSpPr>
        <p:spPr>
          <a:xfrm>
            <a:off x="11118522" y="118329"/>
            <a:ext cx="953810" cy="4023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SAMSUNG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85000"/>
                  </a:schemeClr>
                </a:solidFill>
              </a:rPr>
              <a:t>Confidential</a:t>
            </a:r>
            <a:endParaRPr lang="ko-KR" altLang="en-US" sz="11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직사각형 28"/>
          <p:cNvSpPr/>
          <p:nvPr userDrawn="1"/>
        </p:nvSpPr>
        <p:spPr>
          <a:xfrm>
            <a:off x="10909598" y="137379"/>
            <a:ext cx="212127" cy="357521"/>
          </a:xfrm>
          <a:prstGeom prst="rect">
            <a:avLst/>
          </a:prstGeom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 userDrawn="1"/>
        </p:nvSpPr>
        <p:spPr>
          <a:xfrm>
            <a:off x="6507070" y="137379"/>
            <a:ext cx="212127" cy="35752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464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6" hasCustomPrompt="1"/>
          </p:nvPr>
        </p:nvSpPr>
        <p:spPr>
          <a:xfrm>
            <a:off x="295275" y="224684"/>
            <a:ext cx="7167035" cy="5260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baseline="0"/>
            </a:lvl1pPr>
          </a:lstStyle>
          <a:p>
            <a:pPr lvl="0"/>
            <a:r>
              <a:rPr lang="en-US" altLang="ko-KR" dirty="0"/>
              <a:t>Insert your main title</a:t>
            </a:r>
            <a:endParaRPr lang="ko-KR" altLang="en-US" dirty="0"/>
          </a:p>
        </p:txBody>
      </p:sp>
      <p:sp>
        <p:nvSpPr>
          <p:cNvPr id="7" name="직사각형 6"/>
          <p:cNvSpPr/>
          <p:nvPr userDrawn="1"/>
        </p:nvSpPr>
        <p:spPr>
          <a:xfrm>
            <a:off x="69851" y="851111"/>
            <a:ext cx="12037482" cy="4571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800"/>
          </a:p>
        </p:txBody>
      </p:sp>
      <p:pic>
        <p:nvPicPr>
          <p:cNvPr id="15" name="Picture 2" descr="I:\YISSUE\삼성\그래픽 모티브\아이콘\브랜딩4-1(아이콘)-13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51595" r="42041" b="26474"/>
          <a:stretch/>
        </p:blipFill>
        <p:spPr bwMode="auto">
          <a:xfrm flipH="1">
            <a:off x="0" y="6409267"/>
            <a:ext cx="1298960" cy="448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 userDrawn="1"/>
        </p:nvSpPr>
        <p:spPr>
          <a:xfrm>
            <a:off x="11322454" y="6534139"/>
            <a:ext cx="6719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200" b="0" i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Titillium" charset="0"/>
              </a:rPr>
              <a:pPr algn="ctr"/>
              <a:t>‹#›</a:t>
            </a:fld>
            <a:r>
              <a:rPr lang="en-US" sz="1200" b="0" i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Titillium" charset="0"/>
              </a:rPr>
              <a:t> / </a:t>
            </a:r>
            <a:r>
              <a:rPr lang="en-US" sz="1200" b="0" i="0" baseline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Titillium" charset="0"/>
              </a:rPr>
              <a:t>33</a:t>
            </a:r>
            <a:endParaRPr lang="en-MY" sz="2400" b="0" i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  <a:cs typeface="Titillium" charset="0"/>
            </a:endParaRPr>
          </a:p>
        </p:txBody>
      </p:sp>
      <p:sp>
        <p:nvSpPr>
          <p:cNvPr id="24" name="텍스트 개체 틀 4"/>
          <p:cNvSpPr>
            <a:spLocks noGrp="1"/>
          </p:cNvSpPr>
          <p:nvPr>
            <p:ph type="body" sz="quarter" idx="14" hasCustomPrompt="1"/>
          </p:nvPr>
        </p:nvSpPr>
        <p:spPr>
          <a:xfrm>
            <a:off x="902091" y="3667841"/>
            <a:ext cx="8228797" cy="890916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70000"/>
              </a:lnSpc>
              <a:buFont typeface="Arial" panose="020B0604020202020204" pitchFamily="34" charset="0"/>
              <a:buChar char="•"/>
              <a:defRPr b="0" baseline="0"/>
            </a:lvl1pPr>
          </a:lstStyle>
          <a:p>
            <a:pPr lvl="0"/>
            <a:r>
              <a:rPr lang="en-US" altLang="ko-KR"/>
              <a:t>text</a:t>
            </a:r>
          </a:p>
          <a:p>
            <a:pPr lvl="0"/>
            <a:r>
              <a:rPr lang="en-US" altLang="ko-KR"/>
              <a:t>text</a:t>
            </a:r>
            <a:endParaRPr lang="ko-KR" altLang="en-US"/>
          </a:p>
        </p:txBody>
      </p:sp>
      <p:sp>
        <p:nvSpPr>
          <p:cNvPr id="25" name="텍스트 개체 틀 4"/>
          <p:cNvSpPr>
            <a:spLocks noGrp="1"/>
          </p:cNvSpPr>
          <p:nvPr>
            <p:ph type="body" sz="quarter" idx="15" hasCustomPrompt="1"/>
          </p:nvPr>
        </p:nvSpPr>
        <p:spPr>
          <a:xfrm>
            <a:off x="296520" y="2982571"/>
            <a:ext cx="8834369" cy="351317"/>
          </a:xfrm>
          <a:prstGeom prst="rect">
            <a:avLst/>
          </a:prstGeom>
        </p:spPr>
        <p:txBody>
          <a:bodyPr/>
          <a:lstStyle>
            <a:lvl1pPr marL="265113" indent="-265113">
              <a:buFontTx/>
              <a:buBlip>
                <a:blip r:embed="rId3"/>
              </a:buBlip>
              <a:defRPr sz="2000" b="1" baseline="0"/>
            </a:lvl1pPr>
          </a:lstStyle>
          <a:p>
            <a:pPr lvl="0"/>
            <a:r>
              <a:rPr lang="en-US" altLang="ko-KR" dirty="0"/>
              <a:t>First Sub-heading</a:t>
            </a:r>
            <a:endParaRPr lang="ko-KR" altLang="en-US" dirty="0"/>
          </a:p>
        </p:txBody>
      </p:sp>
      <p:sp>
        <p:nvSpPr>
          <p:cNvPr id="26" name="텍스트 개체 틀 4"/>
          <p:cNvSpPr>
            <a:spLocks noGrp="1"/>
          </p:cNvSpPr>
          <p:nvPr>
            <p:ph type="body" sz="quarter" idx="13" hasCustomPrompt="1"/>
          </p:nvPr>
        </p:nvSpPr>
        <p:spPr>
          <a:xfrm>
            <a:off x="902091" y="1682475"/>
            <a:ext cx="8228797" cy="890916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70000"/>
              </a:lnSpc>
              <a:buFont typeface="Arial" panose="020B0604020202020204" pitchFamily="34" charset="0"/>
              <a:buChar char="•"/>
              <a:defRPr b="0" baseline="0"/>
            </a:lvl1pPr>
          </a:lstStyle>
          <a:p>
            <a:pPr lvl="0"/>
            <a:r>
              <a:rPr lang="en-US" altLang="ko-KR"/>
              <a:t>text</a:t>
            </a:r>
          </a:p>
          <a:p>
            <a:pPr lvl="0"/>
            <a:r>
              <a:rPr lang="en-US" altLang="ko-KR"/>
              <a:t>text</a:t>
            </a:r>
            <a:endParaRPr lang="ko-KR" altLang="en-US"/>
          </a:p>
        </p:txBody>
      </p:sp>
      <p:sp>
        <p:nvSpPr>
          <p:cNvPr id="27" name="텍스트 개체 틀 4"/>
          <p:cNvSpPr>
            <a:spLocks noGrp="1"/>
          </p:cNvSpPr>
          <p:nvPr>
            <p:ph type="body" sz="quarter" idx="12" hasCustomPrompt="1"/>
          </p:nvPr>
        </p:nvSpPr>
        <p:spPr>
          <a:xfrm>
            <a:off x="296520" y="997205"/>
            <a:ext cx="8834369" cy="351317"/>
          </a:xfrm>
          <a:prstGeom prst="rect">
            <a:avLst/>
          </a:prstGeom>
        </p:spPr>
        <p:txBody>
          <a:bodyPr/>
          <a:lstStyle>
            <a:lvl1pPr marL="265113" indent="-265113">
              <a:buFontTx/>
              <a:buBlip>
                <a:blip r:embed="rId3"/>
              </a:buBlip>
              <a:defRPr sz="2000" b="1" baseline="0"/>
            </a:lvl1pPr>
          </a:lstStyle>
          <a:p>
            <a:pPr lvl="0"/>
            <a:r>
              <a:rPr lang="en-US" altLang="ko-KR" dirty="0"/>
              <a:t>First Sub-heading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07384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요구사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49662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1C70E5E-3DD0-40C9-834A-9114ACBB7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A5FB5E-79D3-4765-A391-6966424B1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1CB2CC-A963-4AAF-8D2D-058EFDFF9F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81D92-4DE6-44B2-B906-F57CF32A9284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B93A88-6D85-4E4F-87C8-C7A1BF371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1B9CA-3AC9-471E-A0A0-1E93FA2EF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F0CE3F-615C-4A9E-9A05-D9520877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996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slide" Target="slide3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2.emf"/><Relationship Id="rId4" Type="http://schemas.openxmlformats.org/officeDocument/2006/relationships/image" Target="../media/image23.emf"/><Relationship Id="rId5" Type="http://schemas.openxmlformats.org/officeDocument/2006/relationships/image" Target="../media/image24.emf"/><Relationship Id="rId6" Type="http://schemas.openxmlformats.org/officeDocument/2006/relationships/image" Target="../media/image25.emf"/><Relationship Id="rId7" Type="http://schemas.openxmlformats.org/officeDocument/2006/relationships/image" Target="../media/image26.emf"/><Relationship Id="rId8" Type="http://schemas.openxmlformats.org/officeDocument/2006/relationships/slide" Target="slide39.xml"/><Relationship Id="rId9" Type="http://schemas.openxmlformats.org/officeDocument/2006/relationships/slide" Target="slide40.xml"/><Relationship Id="rId10" Type="http://schemas.openxmlformats.org/officeDocument/2006/relationships/slide" Target="slide41.xml"/><Relationship Id="rId11" Type="http://schemas.openxmlformats.org/officeDocument/2006/relationships/slide" Target="slide42.xml"/><Relationship Id="rId12" Type="http://schemas.openxmlformats.org/officeDocument/2006/relationships/slide" Target="slide4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Relationship Id="rId3" Type="http://schemas.openxmlformats.org/officeDocument/2006/relationships/slide" Target="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Relationship Id="rId3" Type="http://schemas.openxmlformats.org/officeDocument/2006/relationships/slide" Target="slide38.xml"/><Relationship Id="rId4" Type="http://schemas.openxmlformats.org/officeDocument/2006/relationships/image" Target="../media/image27.png"/><Relationship Id="rId5" Type="http://schemas.openxmlformats.org/officeDocument/2006/relationships/image" Target="../media/image28.jpe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Relationship Id="rId3" Type="http://schemas.openxmlformats.org/officeDocument/2006/relationships/slide" Target="slide38.xml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Relationship Id="rId3" Type="http://schemas.openxmlformats.org/officeDocument/2006/relationships/slide" Target="slide38.xml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slide" Target="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4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5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Relationship Id="rId4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7744" y="91440"/>
            <a:ext cx="11521440" cy="457200"/>
          </a:xfrm>
          <a:prstGeom prst="rect">
            <a:avLst/>
          </a:prstGeom>
          <a:noFill/>
        </p:spPr>
        <p:txBody>
          <a:bodyPr wrap="square" lIns="73152" tIns="27432" rIns="73152" bIns="27432" anchor="ctr">
            <a:spAutoFit/>
          </a:bodyPr>
          <a:lstStyle/>
          <a:p>
            <a:pPr algn="l"/>
            <a:r>
              <a:rPr sz="2200" b="1" i="0" dirty="0" err="1">
                <a:solidFill>
                  <a:srgbClr val="000000"/>
                </a:solidFill>
                <a:latin typeface="맑은 고딕"/>
              </a:rPr>
              <a:t>주요</a:t>
            </a:r>
            <a:r>
              <a:rPr sz="22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2200" b="1" i="0" dirty="0" err="1">
                <a:solidFill>
                  <a:srgbClr val="000000"/>
                </a:solidFill>
                <a:latin typeface="맑은 고딕"/>
              </a:rPr>
              <a:t>기능</a:t>
            </a:r>
            <a:r>
              <a:rPr sz="2200" b="1" i="0" dirty="0">
                <a:solidFill>
                  <a:srgbClr val="000000"/>
                </a:solidFill>
                <a:latin typeface="맑은 고딕"/>
              </a:rPr>
              <a:t> </a:t>
            </a:r>
            <a:r>
              <a:rPr sz="2200" b="1" i="0" dirty="0" err="1">
                <a:solidFill>
                  <a:srgbClr val="000000"/>
                </a:solidFill>
                <a:latin typeface="맑은 고딕"/>
              </a:rPr>
              <a:t>요구사항</a:t>
            </a:r>
            <a:r>
              <a:rPr sz="2200" b="1" i="0" dirty="0">
                <a:solidFill>
                  <a:srgbClr val="000000"/>
                </a:solidFill>
                <a:latin typeface="맑은 고딕"/>
              </a:rPr>
              <a:t> 및 </a:t>
            </a:r>
            <a:r>
              <a:rPr sz="2200" b="1" i="0" dirty="0" err="1">
                <a:solidFill>
                  <a:srgbClr val="000000"/>
                </a:solidFill>
                <a:latin typeface="맑은 고딕"/>
              </a:rPr>
              <a:t>제약사항</a:t>
            </a:r>
            <a:endParaRPr sz="2200" b="1" i="0" dirty="0">
              <a:solidFill>
                <a:srgbClr val="000000"/>
              </a:solidFill>
              <a:latin typeface="맑은 고딕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37744" y="873085"/>
            <a:ext cx="11713464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65175" y="1360639"/>
            <a:ext cx="11588157" cy="457200"/>
          </a:xfrm>
          <a:prstGeom prst="rect">
            <a:avLst/>
          </a:prstGeom>
          <a:solidFill>
            <a:srgbClr val="DEEBF6"/>
          </a:solidFill>
          <a:ln w="28575">
            <a:solidFill>
              <a:srgbClr val="1E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3503" y="1360639"/>
            <a:ext cx="457200" cy="45720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30936" y="1378927"/>
            <a:ext cx="420624" cy="42062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FR01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5" y="1890991"/>
            <a:ext cx="11588157" cy="457200"/>
          </a:xfrm>
          <a:prstGeom prst="rect">
            <a:avLst/>
          </a:prstGeom>
          <a:solidFill>
            <a:srgbClr val="DEEBF6"/>
          </a:solidFill>
          <a:ln w="28575">
            <a:solidFill>
              <a:srgbClr val="1E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503" y="1890991"/>
            <a:ext cx="457200" cy="45720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30936" y="1909279"/>
            <a:ext cx="420624" cy="42062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9575" y="1482231"/>
            <a:ext cx="6093291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US" altLang="ko-KR" sz="1100" b="1" dirty="0">
                <a:solidFill>
                  <a:srgbClr val="000000"/>
                </a:solidFill>
              </a:rPr>
              <a:t>LLM </a:t>
            </a:r>
            <a:r>
              <a:rPr lang="ko-KR" altLang="en-US" sz="1100" b="1" dirty="0">
                <a:solidFill>
                  <a:srgbClr val="000000"/>
                </a:solidFill>
              </a:rPr>
              <a:t>추론 요청을 수신하고</a:t>
            </a:r>
            <a:r>
              <a:rPr lang="en-US" altLang="ko-KR" sz="1100" b="1" dirty="0">
                <a:solidFill>
                  <a:srgbClr val="000000"/>
                </a:solidFill>
              </a:rPr>
              <a:t>, </a:t>
            </a:r>
            <a:r>
              <a:rPr lang="ko-KR" altLang="en-US" sz="1100" b="1" dirty="0" err="1">
                <a:solidFill>
                  <a:srgbClr val="000000"/>
                </a:solidFill>
              </a:rPr>
              <a:t>요청별</a:t>
            </a:r>
            <a:r>
              <a:rPr lang="ko-KR" altLang="en-US" sz="1100" b="1" dirty="0">
                <a:solidFill>
                  <a:srgbClr val="000000"/>
                </a:solidFill>
              </a:rPr>
              <a:t> 입력 및 실행 상태를 관리한다</a:t>
            </a:r>
            <a:r>
              <a:rPr lang="en-US" altLang="ko-KR" sz="1100" b="1" dirty="0">
                <a:solidFill>
                  <a:srgbClr val="000000"/>
                </a:solidFill>
              </a:rPr>
              <a:t>.</a:t>
            </a:r>
            <a:endParaRPr lang="ko-KR" altLang="en-US" sz="1100" b="1" i="0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65176" y="2421342"/>
            <a:ext cx="11588156" cy="457200"/>
          </a:xfrm>
          <a:prstGeom prst="rect">
            <a:avLst/>
          </a:prstGeom>
          <a:solidFill>
            <a:srgbClr val="DEEBF6"/>
          </a:solidFill>
          <a:ln w="28575">
            <a:solidFill>
              <a:srgbClr val="1E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3503" y="2421342"/>
            <a:ext cx="457200" cy="45720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30936" y="2439630"/>
            <a:ext cx="420624" cy="42062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" y="2951694"/>
            <a:ext cx="11588156" cy="457200"/>
          </a:xfrm>
          <a:prstGeom prst="rect">
            <a:avLst/>
          </a:prstGeom>
          <a:solidFill>
            <a:srgbClr val="DEEBF6"/>
          </a:solidFill>
          <a:ln w="28575">
            <a:solidFill>
              <a:srgbClr val="1E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3503" y="2951694"/>
            <a:ext cx="457200" cy="457200"/>
          </a:xfrm>
          <a:prstGeom prst="rect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0936" y="2969982"/>
            <a:ext cx="420624" cy="420624"/>
          </a:xfrm>
          <a:prstGeom prst="ellipse">
            <a:avLst/>
          </a:prstGeom>
          <a:solidFill>
            <a:srgbClr val="1E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FR04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9576" y="2015771"/>
            <a:ext cx="7265924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다중 요청의 실행 순서와 </a:t>
            </a:r>
            <a:r>
              <a:rPr lang="ko-KR" altLang="en-US" sz="1100" b="1" dirty="0" err="1">
                <a:solidFill>
                  <a:srgbClr val="000000"/>
                </a:solidFill>
              </a:rPr>
              <a:t>배칭을</a:t>
            </a:r>
            <a:r>
              <a:rPr lang="ko-KR" altLang="en-US" sz="1100" b="1" dirty="0">
                <a:solidFill>
                  <a:srgbClr val="000000"/>
                </a:solidFill>
              </a:rPr>
              <a:t> 결정하고</a:t>
            </a:r>
            <a:r>
              <a:rPr lang="en-US" altLang="ko-KR" sz="1100" b="1" dirty="0">
                <a:solidFill>
                  <a:srgbClr val="000000"/>
                </a:solidFill>
              </a:rPr>
              <a:t>, </a:t>
            </a:r>
            <a:r>
              <a:rPr lang="ko-KR" altLang="en-US" sz="1100" b="1" dirty="0">
                <a:solidFill>
                  <a:srgbClr val="000000"/>
                </a:solidFill>
              </a:rPr>
              <a:t>가용 연산 자원에 작업을 할당하여 실행 시점을 조정</a:t>
            </a:r>
            <a:r>
              <a:rPr lang="en-US" altLang="ko-KR" sz="1100" b="1" dirty="0">
                <a:solidFill>
                  <a:srgbClr val="000000"/>
                </a:solidFill>
              </a:rPr>
              <a:t>(</a:t>
            </a:r>
            <a:r>
              <a:rPr lang="ko-KR" altLang="en-US" sz="1100" b="1" dirty="0">
                <a:solidFill>
                  <a:srgbClr val="000000"/>
                </a:solidFill>
              </a:rPr>
              <a:t>스케줄링</a:t>
            </a:r>
            <a:r>
              <a:rPr lang="en-US" altLang="ko-KR" sz="1100" b="1" dirty="0">
                <a:solidFill>
                  <a:srgbClr val="000000"/>
                </a:solidFill>
              </a:rPr>
              <a:t>)</a:t>
            </a:r>
            <a:r>
              <a:rPr lang="ko-KR" altLang="en-US" sz="1100" b="1" dirty="0">
                <a:solidFill>
                  <a:srgbClr val="000000"/>
                </a:solidFill>
              </a:rPr>
              <a:t>한다</a:t>
            </a:r>
            <a:r>
              <a:rPr lang="en-US" altLang="ko-KR" sz="1100" b="1" dirty="0">
                <a:solidFill>
                  <a:srgbClr val="000000"/>
                </a:solidFill>
              </a:rPr>
              <a:t>.</a:t>
            </a:r>
            <a:endParaRPr lang="ko-KR" altLang="en-US" sz="1100" b="1" i="0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D39D4B0-244F-4FC9-B93F-DC6D352A79F4}"/>
              </a:ext>
            </a:extLst>
          </p:cNvPr>
          <p:cNvSpPr txBox="1"/>
          <p:nvPr/>
        </p:nvSpPr>
        <p:spPr>
          <a:xfrm>
            <a:off x="8144933" y="1460530"/>
            <a:ext cx="37083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/>
              <a:t>* </a:t>
            </a:r>
            <a:r>
              <a:rPr lang="ko-KR" altLang="en-US" sz="1100" dirty="0"/>
              <a:t>추론 요청 관리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8A3B323-AAEE-473A-AF1A-0D606D76FEB4}"/>
              </a:ext>
            </a:extLst>
          </p:cNvPr>
          <p:cNvSpPr txBox="1"/>
          <p:nvPr/>
        </p:nvSpPr>
        <p:spPr>
          <a:xfrm>
            <a:off x="5046133" y="1991636"/>
            <a:ext cx="68071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/>
              <a:t>* </a:t>
            </a:r>
            <a:r>
              <a:rPr lang="ko-KR" altLang="en-US" sz="1100" dirty="0"/>
              <a:t>추론 스케줄링</a:t>
            </a:r>
          </a:p>
        </p:txBody>
      </p:sp>
      <p:sp>
        <p:nvSpPr>
          <p:cNvPr id="79" name="Rectangle 45">
            <a:extLst>
              <a:ext uri="{FF2B5EF4-FFF2-40B4-BE49-F238E27FC236}">
                <a16:creationId xmlns:a16="http://schemas.microsoft.com/office/drawing/2014/main" id="{3FCA8F25-63F1-47C2-AF65-DF75850C1EA1}"/>
              </a:ext>
            </a:extLst>
          </p:cNvPr>
          <p:cNvSpPr/>
          <p:nvPr/>
        </p:nvSpPr>
        <p:spPr>
          <a:xfrm>
            <a:off x="218102" y="4813596"/>
            <a:ext cx="11615588" cy="480902"/>
          </a:xfrm>
          <a:prstGeom prst="rect">
            <a:avLst/>
          </a:prstGeom>
          <a:solidFill>
            <a:srgbClr val="E2EFD9"/>
          </a:solidFill>
          <a:ln w="28575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46">
            <a:extLst>
              <a:ext uri="{FF2B5EF4-FFF2-40B4-BE49-F238E27FC236}">
                <a16:creationId xmlns:a16="http://schemas.microsoft.com/office/drawing/2014/main" id="{D28FE1C4-816C-4972-B17F-633272FB8ED7}"/>
              </a:ext>
            </a:extLst>
          </p:cNvPr>
          <p:cNvSpPr/>
          <p:nvPr/>
        </p:nvSpPr>
        <p:spPr>
          <a:xfrm>
            <a:off x="556430" y="4813596"/>
            <a:ext cx="640080" cy="480902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47">
            <a:extLst>
              <a:ext uri="{FF2B5EF4-FFF2-40B4-BE49-F238E27FC236}">
                <a16:creationId xmlns:a16="http://schemas.microsoft.com/office/drawing/2014/main" id="{6441E98F-EA5F-4518-BA2F-8B9E7D52008A}"/>
              </a:ext>
            </a:extLst>
          </p:cNvPr>
          <p:cNvSpPr/>
          <p:nvPr/>
        </p:nvSpPr>
        <p:spPr>
          <a:xfrm>
            <a:off x="583862" y="4827336"/>
            <a:ext cx="603503" cy="453421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C01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D5A7070-27AE-4C35-BBA5-133CB01EB5CD}"/>
              </a:ext>
            </a:extLst>
          </p:cNvPr>
          <p:cNvSpPr txBox="1"/>
          <p:nvPr/>
        </p:nvSpPr>
        <p:spPr>
          <a:xfrm>
            <a:off x="1315381" y="4954789"/>
            <a:ext cx="7540751" cy="1985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US" altLang="ko-KR" sz="1050" b="1" dirty="0" err="1"/>
              <a:t>vLLM</a:t>
            </a:r>
            <a:r>
              <a:rPr lang="en-US" altLang="ko-KR" sz="1050" b="1" dirty="0"/>
              <a:t> </a:t>
            </a:r>
            <a:r>
              <a:rPr lang="ko-KR" altLang="en-US" sz="1050" b="1" dirty="0" err="1"/>
              <a:t>서빙</a:t>
            </a:r>
            <a:r>
              <a:rPr lang="ko-KR" altLang="en-US" sz="1050" b="1" dirty="0"/>
              <a:t> </a:t>
            </a:r>
            <a:r>
              <a:rPr lang="en-US" altLang="ko-KR" sz="1050" b="1" dirty="0"/>
              <a:t>Framework </a:t>
            </a:r>
            <a:r>
              <a:rPr lang="ko-KR" altLang="en-US" sz="1050" b="1" dirty="0"/>
              <a:t>기반으로 개발한다</a:t>
            </a:r>
            <a:r>
              <a:rPr lang="en-US" altLang="ko-KR" sz="1050" b="1" dirty="0"/>
              <a:t> </a:t>
            </a:r>
            <a:endParaRPr lang="en-US" altLang="ko-KR" sz="1050" b="1" i="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004FE08-1DEE-45B4-9CF1-EF975F110581}"/>
              </a:ext>
            </a:extLst>
          </p:cNvPr>
          <p:cNvSpPr txBox="1"/>
          <p:nvPr/>
        </p:nvSpPr>
        <p:spPr>
          <a:xfrm>
            <a:off x="197339" y="921031"/>
            <a:ext cx="1852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accent5">
                    <a:lumMod val="50000"/>
                  </a:schemeClr>
                </a:solidFill>
              </a:rPr>
              <a:t>기능 요구사항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646E41B-0C2D-4C16-B4E0-E14283A0EF12}"/>
              </a:ext>
            </a:extLst>
          </p:cNvPr>
          <p:cNvSpPr txBox="1"/>
          <p:nvPr/>
        </p:nvSpPr>
        <p:spPr>
          <a:xfrm>
            <a:off x="218102" y="4352692"/>
            <a:ext cx="1852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제약사항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03D20420-D68B-4666-B110-11317DEE246D}"/>
              </a:ext>
            </a:extLst>
          </p:cNvPr>
          <p:cNvSpPr txBox="1"/>
          <p:nvPr/>
        </p:nvSpPr>
        <p:spPr>
          <a:xfrm>
            <a:off x="1179576" y="2570535"/>
            <a:ext cx="6834124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US" altLang="ko-KR" sz="1100" b="1" dirty="0">
                <a:solidFill>
                  <a:srgbClr val="000000"/>
                </a:solidFill>
              </a:rPr>
              <a:t>LLM </a:t>
            </a:r>
            <a:r>
              <a:rPr lang="ko-KR" altLang="en-US" sz="1100" b="1" dirty="0">
                <a:solidFill>
                  <a:srgbClr val="000000"/>
                </a:solidFill>
              </a:rPr>
              <a:t>모델을 실행하여 입력에 대한</a:t>
            </a:r>
            <a:r>
              <a:rPr lang="en-US" altLang="ko-KR" sz="1100" b="1" dirty="0">
                <a:solidFill>
                  <a:srgbClr val="000000"/>
                </a:solidFill>
              </a:rPr>
              <a:t> </a:t>
            </a:r>
            <a:r>
              <a:rPr lang="ko-KR" altLang="en-US" sz="1100" b="1" dirty="0">
                <a:solidFill>
                  <a:srgbClr val="000000"/>
                </a:solidFill>
              </a:rPr>
              <a:t>연산을 수행하고 출력 토큰을 생성한다</a:t>
            </a:r>
            <a:r>
              <a:rPr lang="en-US" altLang="ko-KR" sz="1100" b="1" dirty="0">
                <a:solidFill>
                  <a:srgbClr val="000000"/>
                </a:solidFill>
              </a:rPr>
              <a:t>.</a:t>
            </a:r>
            <a:endParaRPr lang="ko-KR" altLang="en-US" sz="1100" b="1" i="0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1461643-C2FA-4E83-9270-39C3F56B508A}"/>
              </a:ext>
            </a:extLst>
          </p:cNvPr>
          <p:cNvSpPr txBox="1"/>
          <p:nvPr/>
        </p:nvSpPr>
        <p:spPr>
          <a:xfrm>
            <a:off x="5046133" y="2532478"/>
            <a:ext cx="68071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/>
              <a:t>* LLM </a:t>
            </a:r>
            <a:r>
              <a:rPr lang="ko-KR" altLang="en-US" sz="1100" dirty="0"/>
              <a:t>추론 실행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21E31D8-0D3C-4FBD-9B1A-AF55B77A1FD7}"/>
              </a:ext>
            </a:extLst>
          </p:cNvPr>
          <p:cNvSpPr txBox="1"/>
          <p:nvPr/>
        </p:nvSpPr>
        <p:spPr>
          <a:xfrm>
            <a:off x="1179576" y="3077572"/>
            <a:ext cx="484632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</a:rPr>
              <a:t>추론 과정에서 생성되는 </a:t>
            </a:r>
            <a:r>
              <a:rPr lang="en-US" altLang="ko-KR" sz="1100" b="1" dirty="0">
                <a:solidFill>
                  <a:srgbClr val="000000"/>
                </a:solidFill>
              </a:rPr>
              <a:t>KV </a:t>
            </a:r>
            <a:r>
              <a:rPr lang="ko-KR" altLang="en-US" sz="1100" b="1" dirty="0">
                <a:solidFill>
                  <a:srgbClr val="000000"/>
                </a:solidFill>
              </a:rPr>
              <a:t>캐시를 할당</a:t>
            </a:r>
            <a:r>
              <a:rPr lang="en-US" altLang="ko-KR" sz="1100" b="1" dirty="0">
                <a:solidFill>
                  <a:srgbClr val="000000"/>
                </a:solidFill>
              </a:rPr>
              <a:t>, </a:t>
            </a:r>
            <a:r>
              <a:rPr lang="ko-KR" altLang="en-US" sz="1100" b="1" dirty="0">
                <a:solidFill>
                  <a:srgbClr val="000000"/>
                </a:solidFill>
              </a:rPr>
              <a:t>저장</a:t>
            </a:r>
            <a:r>
              <a:rPr lang="en-US" altLang="ko-KR" sz="1100" b="1" dirty="0">
                <a:solidFill>
                  <a:srgbClr val="000000"/>
                </a:solidFill>
              </a:rPr>
              <a:t>, </a:t>
            </a:r>
            <a:r>
              <a:rPr lang="ko-KR" altLang="en-US" sz="1100" b="1" dirty="0">
                <a:solidFill>
                  <a:srgbClr val="000000"/>
                </a:solidFill>
              </a:rPr>
              <a:t>재사용 및 해제한다</a:t>
            </a:r>
            <a:r>
              <a:rPr lang="en-US" altLang="ko-KR" sz="1100" b="1" dirty="0">
                <a:solidFill>
                  <a:srgbClr val="000000"/>
                </a:solidFill>
              </a:rPr>
              <a:t>.</a:t>
            </a:r>
            <a:endParaRPr lang="ko-KR" altLang="en-US" sz="1100" b="1" i="0" dirty="0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E03050F-1B33-4E51-B626-E954EE61AD7F}"/>
              </a:ext>
            </a:extLst>
          </p:cNvPr>
          <p:cNvSpPr txBox="1"/>
          <p:nvPr/>
        </p:nvSpPr>
        <p:spPr>
          <a:xfrm>
            <a:off x="5046133" y="3058684"/>
            <a:ext cx="68071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/>
              <a:t>* KV </a:t>
            </a:r>
            <a:r>
              <a:rPr lang="ko-KR" altLang="en-US" sz="1100" dirty="0"/>
              <a:t>캐시 관리</a:t>
            </a:r>
            <a:endParaRPr lang="en-US" altLang="ko-KR" sz="1100" dirty="0"/>
          </a:p>
        </p:txBody>
      </p:sp>
      <p:sp>
        <p:nvSpPr>
          <p:cNvPr id="8" name="실행 단추: 앞으로 또는 다음 7">
            <a:hlinkClick r:id="" action="ppaction://noaction" highlightClick="1"/>
          </p:cNvPr>
          <p:cNvSpPr/>
          <p:nvPr/>
        </p:nvSpPr>
        <p:spPr>
          <a:xfrm>
            <a:off x="10302719" y="1000682"/>
            <a:ext cx="247357" cy="22556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실행 단추: 앞으로 또는 다음 54">
            <a:hlinkClick r:id="" action="ppaction://noaction" highlightClick="1"/>
          </p:cNvPr>
          <p:cNvSpPr/>
          <p:nvPr/>
        </p:nvSpPr>
        <p:spPr>
          <a:xfrm>
            <a:off x="11671292" y="999121"/>
            <a:ext cx="232287" cy="228736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9071569" y="1028401"/>
            <a:ext cx="1278043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50" b="0" i="0" dirty="0">
                <a:solidFill>
                  <a:srgbClr val="404040"/>
                </a:solidFill>
                <a:latin typeface="맑은 고딕"/>
                <a:ea typeface="맑은 고딕"/>
              </a:rPr>
              <a:t>기능 요구사항 전체 </a:t>
            </a:r>
            <a:endParaRPr sz="1050" b="0" i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735432" y="1028401"/>
            <a:ext cx="982791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050" b="0" i="0">
                <a:solidFill>
                  <a:srgbClr val="404040"/>
                </a:solidFill>
                <a:latin typeface="맑은 고딕"/>
                <a:ea typeface="맑은 고딕"/>
              </a:rPr>
              <a:t>요구사항 정제</a:t>
            </a:r>
            <a:endParaRPr sz="1050" b="0" i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81C0127-3DDD-4B91-8D00-013FC1325DD7}"/>
              </a:ext>
            </a:extLst>
          </p:cNvPr>
          <p:cNvSpPr txBox="1"/>
          <p:nvPr/>
        </p:nvSpPr>
        <p:spPr>
          <a:xfrm>
            <a:off x="5046133" y="4933589"/>
            <a:ext cx="68071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/>
              <a:t>* </a:t>
            </a:r>
            <a:r>
              <a:rPr lang="ko-KR" altLang="en-US" sz="1100" dirty="0"/>
              <a:t>개발 환경 </a:t>
            </a:r>
          </a:p>
        </p:txBody>
      </p:sp>
      <p:sp>
        <p:nvSpPr>
          <p:cNvPr id="50" name="Rectangle 45">
            <a:extLst>
              <a:ext uri="{FF2B5EF4-FFF2-40B4-BE49-F238E27FC236}">
                <a16:creationId xmlns:a16="http://schemas.microsoft.com/office/drawing/2014/main" id="{21BDE2AC-7258-4268-A7AD-C44418089B10}"/>
              </a:ext>
            </a:extLst>
          </p:cNvPr>
          <p:cNvSpPr/>
          <p:nvPr/>
        </p:nvSpPr>
        <p:spPr>
          <a:xfrm>
            <a:off x="218102" y="5393514"/>
            <a:ext cx="11615588" cy="480902"/>
          </a:xfrm>
          <a:prstGeom prst="rect">
            <a:avLst/>
          </a:prstGeom>
          <a:solidFill>
            <a:srgbClr val="E2EFD9"/>
          </a:solidFill>
          <a:ln w="28575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46">
            <a:extLst>
              <a:ext uri="{FF2B5EF4-FFF2-40B4-BE49-F238E27FC236}">
                <a16:creationId xmlns:a16="http://schemas.microsoft.com/office/drawing/2014/main" id="{24055539-83D1-4EB6-A5F6-D51297921A05}"/>
              </a:ext>
            </a:extLst>
          </p:cNvPr>
          <p:cNvSpPr/>
          <p:nvPr/>
        </p:nvSpPr>
        <p:spPr>
          <a:xfrm>
            <a:off x="556430" y="5393514"/>
            <a:ext cx="640080" cy="480902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47">
            <a:extLst>
              <a:ext uri="{FF2B5EF4-FFF2-40B4-BE49-F238E27FC236}">
                <a16:creationId xmlns:a16="http://schemas.microsoft.com/office/drawing/2014/main" id="{00FBCFC1-DC86-4DF0-A0F5-D033401BDB43}"/>
              </a:ext>
            </a:extLst>
          </p:cNvPr>
          <p:cNvSpPr/>
          <p:nvPr/>
        </p:nvSpPr>
        <p:spPr>
          <a:xfrm>
            <a:off x="583862" y="5407254"/>
            <a:ext cx="603503" cy="453421"/>
          </a:xfrm>
          <a:prstGeom prst="ellipse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 i="0" dirty="0">
                <a:solidFill>
                  <a:srgbClr val="FFFFFF"/>
                </a:solidFill>
                <a:latin typeface="맑은 고딕"/>
              </a:rPr>
              <a:t>C0</a:t>
            </a:r>
            <a:r>
              <a:rPr lang="en-US" sz="1100" b="1" i="0" dirty="0">
                <a:solidFill>
                  <a:srgbClr val="FFFFFF"/>
                </a:solidFill>
                <a:latin typeface="맑은 고딕"/>
              </a:rPr>
              <a:t>2</a:t>
            </a:r>
            <a:endParaRPr sz="1100" b="1" i="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687D3C-A50F-431C-A9DE-F1E7205F8F17}"/>
              </a:ext>
            </a:extLst>
          </p:cNvPr>
          <p:cNvSpPr txBox="1"/>
          <p:nvPr/>
        </p:nvSpPr>
        <p:spPr>
          <a:xfrm>
            <a:off x="1315381" y="5534707"/>
            <a:ext cx="7540751" cy="19851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r>
              <a:rPr lang="en-US" altLang="ko-KR" sz="1050" b="1" dirty="0"/>
              <a:t>LLM </a:t>
            </a:r>
            <a:r>
              <a:rPr lang="ko-KR" altLang="en-US" sz="1050" b="1" dirty="0"/>
              <a:t>모델의 추론 정확도 저하는 기본 대비 </a:t>
            </a:r>
            <a:r>
              <a:rPr lang="en-US" altLang="ko-KR" sz="1050" b="1" dirty="0"/>
              <a:t>1% </a:t>
            </a:r>
            <a:r>
              <a:rPr lang="ko-KR" altLang="en-US" sz="1050" b="1" dirty="0"/>
              <a:t>이내여야 한다</a:t>
            </a:r>
            <a:r>
              <a:rPr lang="en-US" altLang="ko-KR" sz="1050" b="1" dirty="0"/>
              <a:t>. </a:t>
            </a:r>
            <a:r>
              <a:rPr lang="ko-KR" altLang="en-US" sz="1050" b="1" i="0" dirty="0"/>
              <a:t> </a:t>
            </a:r>
            <a:endParaRPr lang="en-US" altLang="ko-KR" sz="1050" b="1" i="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831A06-B334-4FFE-82CD-1259EF6E0A64}"/>
              </a:ext>
            </a:extLst>
          </p:cNvPr>
          <p:cNvSpPr txBox="1"/>
          <p:nvPr/>
        </p:nvSpPr>
        <p:spPr>
          <a:xfrm>
            <a:off x="7272866" y="5513507"/>
            <a:ext cx="45804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100" dirty="0"/>
              <a:t>*</a:t>
            </a:r>
            <a:r>
              <a:rPr lang="ko-KR" altLang="en-US" sz="1100" dirty="0"/>
              <a:t> 추론 정확도 보장</a:t>
            </a:r>
          </a:p>
        </p:txBody>
      </p:sp>
    </p:spTree>
    <p:extLst>
      <p:ext uri="{BB962C8B-B14F-4D97-AF65-F5344CB8AC3E}">
        <p14:creationId xmlns:p14="http://schemas.microsoft.com/office/powerpoint/2010/main" val="167497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품질 요구사항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60781BA3-74B0-4E89-8351-A5B635C971DB}"/>
              </a:ext>
            </a:extLst>
          </p:cNvPr>
          <p:cNvSpPr/>
          <p:nvPr/>
        </p:nvSpPr>
        <p:spPr>
          <a:xfrm>
            <a:off x="169504" y="502504"/>
            <a:ext cx="117093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QAW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에서 도출된 품질 요구사항을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Utility Tree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를 통해 핵심 품질 속성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중요도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H,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난이도</a:t>
            </a:r>
            <a:r>
              <a:rPr lang="en-US" altLang="ko-KR" sz="16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M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이상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)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선정</a:t>
            </a:r>
            <a:endParaRPr lang="en-US" altLang="ko-KR" sz="1600" dirty="0">
              <a:latin typeface="+mj-ea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5E471B8-4DA3-43CA-8493-452011A4B916}"/>
              </a:ext>
            </a:extLst>
          </p:cNvPr>
          <p:cNvGraphicFramePr>
            <a:graphicFrameLocks noGrp="1"/>
          </p:cNvGraphicFramePr>
          <p:nvPr/>
        </p:nvGraphicFramePr>
        <p:xfrm>
          <a:off x="278859" y="996757"/>
          <a:ext cx="11709382" cy="376903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10593">
                  <a:extLst>
                    <a:ext uri="{9D8B030D-6E8A-4147-A177-3AD203B41FA5}">
                      <a16:colId xmlns:a16="http://schemas.microsoft.com/office/drawing/2014/main" val="138156465"/>
                    </a:ext>
                  </a:extLst>
                </a:gridCol>
                <a:gridCol w="1052270">
                  <a:extLst>
                    <a:ext uri="{9D8B030D-6E8A-4147-A177-3AD203B41FA5}">
                      <a16:colId xmlns:a16="http://schemas.microsoft.com/office/drawing/2014/main" val="4176869531"/>
                    </a:ext>
                  </a:extLst>
                </a:gridCol>
                <a:gridCol w="1529669">
                  <a:extLst>
                    <a:ext uri="{9D8B030D-6E8A-4147-A177-3AD203B41FA5}">
                      <a16:colId xmlns:a16="http://schemas.microsoft.com/office/drawing/2014/main" val="714743119"/>
                    </a:ext>
                  </a:extLst>
                </a:gridCol>
                <a:gridCol w="6942142">
                  <a:extLst>
                    <a:ext uri="{9D8B030D-6E8A-4147-A177-3AD203B41FA5}">
                      <a16:colId xmlns:a16="http://schemas.microsoft.com/office/drawing/2014/main" val="713779841"/>
                    </a:ext>
                  </a:extLst>
                </a:gridCol>
                <a:gridCol w="559320">
                  <a:extLst>
                    <a:ext uri="{9D8B030D-6E8A-4147-A177-3AD203B41FA5}">
                      <a16:colId xmlns:a16="http://schemas.microsoft.com/office/drawing/2014/main" val="4072428474"/>
                    </a:ext>
                  </a:extLst>
                </a:gridCol>
                <a:gridCol w="574713">
                  <a:extLst>
                    <a:ext uri="{9D8B030D-6E8A-4147-A177-3AD203B41FA5}">
                      <a16:colId xmlns:a16="http://schemas.microsoft.com/office/drawing/2014/main" val="2666804482"/>
                    </a:ext>
                  </a:extLst>
                </a:gridCol>
                <a:gridCol w="440675">
                  <a:extLst>
                    <a:ext uri="{9D8B030D-6E8A-4147-A177-3AD203B41FA5}">
                      <a16:colId xmlns:a16="http://schemas.microsoft.com/office/drawing/2014/main" val="2282568718"/>
                    </a:ext>
                  </a:extLst>
                </a:gridCol>
              </a:tblGrid>
              <a:tr h="42319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번호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>
                          <a:solidFill>
                            <a:schemeClr val="bg1"/>
                          </a:solidFill>
                        </a:rPr>
                        <a:t>QA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Refinement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>
                          <a:solidFill>
                            <a:schemeClr val="bg1"/>
                          </a:solidFill>
                        </a:rPr>
                        <a:t>중요도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난이도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우선순위</a:t>
                      </a:r>
                    </a:p>
                  </a:txBody>
                  <a:tcPr anchor="ctr">
                    <a:solidFill>
                      <a:srgbClr val="3B3B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44510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Performance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(Throughput)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서비스 수준 목표</a:t>
                      </a:r>
                      <a:r>
                        <a:rPr lang="en-US" altLang="ko-KR" sz="900" dirty="0"/>
                        <a:t>(SLO)</a:t>
                      </a:r>
                      <a:r>
                        <a:rPr lang="ko-KR" altLang="en-US" sz="900" dirty="0"/>
                        <a:t>를 만족하는 토큰 처리량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다수의 </a:t>
                      </a:r>
                      <a:r>
                        <a:rPr lang="en-US" altLang="ko-KR" sz="900" dirty="0"/>
                        <a:t>agent </a:t>
                      </a:r>
                      <a:r>
                        <a:rPr lang="ko-KR" altLang="en-US" sz="900" dirty="0"/>
                        <a:t>세션이 동시에 요청하는 상황에서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지정한 </a:t>
                      </a:r>
                      <a:r>
                        <a:rPr lang="en-US" altLang="ko-KR" sz="900" dirty="0"/>
                        <a:t>SLO*(Elapsed Time)</a:t>
                      </a:r>
                      <a:r>
                        <a:rPr lang="ko-KR" altLang="en-US" sz="900" dirty="0"/>
                        <a:t>를 만족하며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처리할 수 있는 최대 </a:t>
                      </a:r>
                      <a:r>
                        <a:rPr lang="ko-KR" altLang="en-US" sz="900" dirty="0" err="1"/>
                        <a:t>요청량이</a:t>
                      </a:r>
                      <a:r>
                        <a:rPr lang="ko-KR" altLang="en-US" sz="900" dirty="0"/>
                        <a:t> 기존 시스템</a:t>
                      </a:r>
                      <a:r>
                        <a:rPr lang="en-US" altLang="ko-KR" sz="900" dirty="0"/>
                        <a:t>(Baseline)</a:t>
                      </a:r>
                      <a:r>
                        <a:rPr lang="ko-KR" altLang="en-US" sz="900" dirty="0"/>
                        <a:t>보다 커야 한다</a:t>
                      </a:r>
                      <a:r>
                        <a:rPr lang="en-US" altLang="ko-KR" sz="900" dirty="0"/>
                        <a:t>. (*SLO: Service Level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Objective)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SLO </a:t>
                      </a:r>
                      <a:r>
                        <a:rPr lang="ko-KR" altLang="en-US" sz="900" b="1" dirty="0"/>
                        <a:t>만족 최대 처리량 </a:t>
                      </a:r>
                      <a:r>
                        <a:rPr lang="en-US" altLang="ko-KR" sz="900" b="1" dirty="0"/>
                        <a:t>≥ Baseline </a:t>
                      </a:r>
                      <a:r>
                        <a:rPr lang="ko-KR" altLang="en-US" sz="900" b="1" dirty="0"/>
                        <a:t>대비 증가율 </a:t>
                      </a:r>
                      <a:r>
                        <a:rPr lang="en-US" altLang="ko-KR" sz="900" b="1" dirty="0"/>
                        <a:t>2x (Stakeholder </a:t>
                      </a:r>
                      <a:r>
                        <a:rPr lang="ko-KR" altLang="en-US" sz="900" b="1" dirty="0"/>
                        <a:t>요구사항</a:t>
                      </a:r>
                      <a:r>
                        <a:rPr lang="en-US" altLang="ko-KR" sz="900" b="1" dirty="0"/>
                        <a:t>) </a:t>
                      </a:r>
                      <a:r>
                        <a:rPr lang="en-US" altLang="ko-KR" sz="700" b="1" dirty="0"/>
                        <a:t>(</a:t>
                      </a:r>
                      <a:r>
                        <a:rPr lang="ko-KR" altLang="en-US" sz="700" b="1" dirty="0"/>
                        <a:t>단</a:t>
                      </a:r>
                      <a:r>
                        <a:rPr lang="en-US" altLang="ko-KR" sz="700" b="1" dirty="0"/>
                        <a:t>, SLO: TTFT ≤ 2s, TPOT ≤ 50ms </a:t>
                      </a:r>
                      <a:r>
                        <a:rPr lang="ko-KR" altLang="en-US" sz="700" b="1" dirty="0"/>
                        <a:t>만족</a:t>
                      </a:r>
                      <a:r>
                        <a:rPr lang="en-US" altLang="ko-KR" sz="700" b="1" dirty="0"/>
                        <a:t>)</a:t>
                      </a:r>
                      <a:r>
                        <a:rPr lang="en-US" altLang="ko-KR" sz="900" b="1" dirty="0"/>
                        <a:t>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H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79193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Resource</a:t>
                      </a:r>
                      <a:r>
                        <a:rPr lang="en-US" sz="900" baseline="0" dirty="0"/>
                        <a:t> </a:t>
                      </a:r>
                    </a:p>
                    <a:p>
                      <a:r>
                        <a:rPr lang="en-US" sz="900" baseline="0" dirty="0"/>
                        <a:t>Efficiency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HBM </a:t>
                      </a:r>
                      <a:r>
                        <a:rPr lang="ko-KR" altLang="en-US" sz="900" dirty="0"/>
                        <a:t>점유율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동일한 성능 조건에서 </a:t>
                      </a:r>
                      <a:r>
                        <a:rPr lang="en-US" altLang="ko-KR" sz="900" dirty="0"/>
                        <a:t>HBM </a:t>
                      </a:r>
                      <a:r>
                        <a:rPr lang="ko-KR" altLang="en-US" sz="900" dirty="0"/>
                        <a:t>점유율이 </a:t>
                      </a:r>
                      <a:r>
                        <a:rPr lang="en-US" altLang="ko-KR" sz="900" dirty="0"/>
                        <a:t>Baseline</a:t>
                      </a:r>
                      <a:r>
                        <a:rPr lang="ko-KR" altLang="en-US" sz="900" dirty="0"/>
                        <a:t>보다 낮아야 한다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HBM </a:t>
                      </a:r>
                      <a:r>
                        <a:rPr lang="ko-KR" altLang="en-US" sz="900" b="1" dirty="0"/>
                        <a:t>점유율 </a:t>
                      </a:r>
                      <a:r>
                        <a:rPr lang="en-US" altLang="ko-KR" sz="900" b="1" dirty="0"/>
                        <a:t>&gt; Baseline </a:t>
                      </a:r>
                      <a:r>
                        <a:rPr lang="ko-KR" altLang="en-US" sz="900" b="1" dirty="0"/>
                        <a:t>대비 감소율 </a:t>
                      </a:r>
                      <a:r>
                        <a:rPr lang="en-US" altLang="ko-KR" sz="900" b="1" dirty="0"/>
                        <a:t>20% ] 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85534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Performance</a:t>
                      </a:r>
                    </a:p>
                    <a:p>
                      <a:r>
                        <a:rPr lang="en-US" sz="900" dirty="0"/>
                        <a:t>(Tail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/>
                        <a:t>Latency)</a:t>
                      </a:r>
                      <a:endParaRPr 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고부하 지연시간 </a:t>
                      </a:r>
                      <a:r>
                        <a:rPr lang="en-US" altLang="ko-KR" sz="900" dirty="0"/>
                        <a:t>(P99)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baseline="0" dirty="0"/>
                        <a:t>고부하 환경에서 최악 응답 지연</a:t>
                      </a:r>
                      <a:r>
                        <a:rPr lang="en-US" altLang="ko-KR" sz="900" b="0" baseline="0" dirty="0"/>
                        <a:t>(Tail Latency)</a:t>
                      </a:r>
                      <a:r>
                        <a:rPr lang="ko-KR" altLang="en-US" sz="900" b="0" baseline="0" dirty="0"/>
                        <a:t>을 </a:t>
                      </a:r>
                      <a:r>
                        <a:rPr lang="en-US" altLang="ko-KR" sz="900" b="0" baseline="0" dirty="0"/>
                        <a:t>baseline </a:t>
                      </a:r>
                      <a:r>
                        <a:rPr lang="ko-KR" altLang="en-US" sz="900" b="0" baseline="0" dirty="0"/>
                        <a:t>대비 개선해야 한다</a:t>
                      </a:r>
                      <a:r>
                        <a:rPr lang="en-US" altLang="ko-KR" sz="900" b="0" baseline="0" dirty="0"/>
                        <a:t>.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TTFT·TPOT(P99) ≥ Baseline </a:t>
                      </a:r>
                      <a:r>
                        <a:rPr lang="ko-KR" altLang="en-US" sz="900" b="1" dirty="0"/>
                        <a:t>대비 감소율 </a:t>
                      </a:r>
                      <a:r>
                        <a:rPr lang="en-US" altLang="ko-KR" sz="900" b="1" dirty="0"/>
                        <a:t>30% (</a:t>
                      </a:r>
                      <a:r>
                        <a:rPr lang="ko-KR" altLang="en-US" sz="900" b="1" dirty="0"/>
                        <a:t>사용자 체감 성능 개선 기준</a:t>
                      </a:r>
                      <a:r>
                        <a:rPr lang="en-US" altLang="ko-KR" sz="900" b="1" dirty="0"/>
                        <a:t>) </a:t>
                      </a:r>
                      <a:r>
                        <a:rPr lang="en-US" altLang="ko-KR" sz="700" b="1" dirty="0"/>
                        <a:t>(</a:t>
                      </a:r>
                      <a:r>
                        <a:rPr lang="ko-KR" altLang="en-US" sz="700" b="1" dirty="0"/>
                        <a:t>단</a:t>
                      </a:r>
                      <a:r>
                        <a:rPr lang="en-US" altLang="ko-KR" sz="700" b="1" dirty="0"/>
                        <a:t>, SLO: TTFT ≤ 2s, TPOT ≤ 50ms </a:t>
                      </a:r>
                      <a:r>
                        <a:rPr lang="ko-KR" altLang="en-US" sz="700" b="1" dirty="0"/>
                        <a:t>만족</a:t>
                      </a:r>
                      <a:r>
                        <a:rPr lang="en-US" altLang="ko-KR" sz="700" b="1" dirty="0"/>
                        <a:t>)</a:t>
                      </a:r>
                      <a:r>
                        <a:rPr lang="en-US" altLang="ko-KR" sz="600" b="1" dirty="0"/>
                        <a:t> </a:t>
                      </a:r>
                      <a:r>
                        <a:rPr lang="en-US" altLang="ko-KR" sz="900" b="1" dirty="0"/>
                        <a:t>]</a:t>
                      </a:r>
                      <a:endParaRPr lang="ko-KR" altLang="en-US" sz="9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(*TTFT: Time To First Token, **TPOT: Time Per Output Token)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80299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Scalability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확장성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늘어난 자원에 비례해 성능이 증가해야 한다 </a:t>
                      </a:r>
                      <a:endParaRPr lang="en-US" altLang="ko-KR" sz="900" dirty="0"/>
                    </a:p>
                    <a:p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Scaling Efficiency &gt; 80% 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200776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Modifiability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변경 용이성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새로운 메모리 </a:t>
                      </a:r>
                      <a:r>
                        <a:rPr lang="en-US" altLang="ko-KR" sz="900" dirty="0"/>
                        <a:t>tier, </a:t>
                      </a:r>
                      <a:r>
                        <a:rPr lang="ko-KR" altLang="en-US" sz="900" dirty="0"/>
                        <a:t>이동</a:t>
                      </a:r>
                      <a:r>
                        <a:rPr lang="en-US" altLang="ko-KR" sz="900" dirty="0"/>
                        <a:t>·</a:t>
                      </a:r>
                      <a:r>
                        <a:rPr lang="ko-KR" altLang="en-US" sz="900" dirty="0"/>
                        <a:t>배치 정책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데이터 객체 유형을 추가할 때 서빙 경로를 수정하지 않고 반영할 수 있어야 한다</a:t>
                      </a:r>
                      <a:r>
                        <a:rPr lang="en-US" altLang="ko-KR" sz="900" dirty="0"/>
                        <a:t>.</a:t>
                      </a:r>
                      <a:br>
                        <a:rPr lang="en-US" altLang="ko-KR" sz="900" dirty="0"/>
                      </a:br>
                      <a:r>
                        <a:rPr lang="en-US" altLang="ko-KR" sz="900" b="1" dirty="0"/>
                        <a:t>[</a:t>
                      </a:r>
                      <a:r>
                        <a:rPr lang="ko-KR" altLang="en-US" sz="900" b="1" dirty="0"/>
                        <a:t>측정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dirty="0"/>
                        <a:t>토큰 비용 </a:t>
                      </a:r>
                      <a:r>
                        <a:rPr lang="en-US" altLang="ko-KR" sz="900" b="1" dirty="0"/>
                        <a:t>&lt; [ ] </a:t>
                      </a:r>
                      <a:r>
                        <a:rPr lang="ko-KR" altLang="en-US" sz="900" b="1" dirty="0"/>
                        <a:t>개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공수 </a:t>
                      </a:r>
                      <a:r>
                        <a:rPr lang="en-US" altLang="ko-KR" sz="900" b="1" dirty="0"/>
                        <a:t>&lt; [ ] MM ]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5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74580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QA-07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Fault tolerance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전송</a:t>
                      </a:r>
                      <a:r>
                        <a:rPr lang="en-US" altLang="ko-KR" sz="900" dirty="0"/>
                        <a:t>·offload </a:t>
                      </a:r>
                      <a:r>
                        <a:rPr lang="ko-KR" altLang="en-US" sz="900" dirty="0"/>
                        <a:t>실패 대체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b="0" dirty="0"/>
                        <a:t>KV </a:t>
                      </a:r>
                      <a:r>
                        <a:rPr lang="ko-KR" altLang="en-US" sz="900" b="0" dirty="0"/>
                        <a:t>전송이나 </a:t>
                      </a:r>
                      <a:r>
                        <a:rPr lang="en-US" altLang="ko-KR" sz="900" b="0" dirty="0"/>
                        <a:t>offload</a:t>
                      </a:r>
                      <a:r>
                        <a:rPr lang="ko-KR" altLang="en-US" sz="900" b="0" dirty="0"/>
                        <a:t>가 실패하거나 시간 초과해도 재계산 등 대체 경로로 요청 처리를 이어가야 한다</a:t>
                      </a:r>
                      <a:r>
                        <a:rPr lang="en-US" altLang="ko-KR" sz="900" b="0" dirty="0"/>
                        <a:t>.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[</a:t>
                      </a:r>
                      <a:r>
                        <a:rPr lang="ko-KR" altLang="en-US" sz="900" b="0" dirty="0"/>
                        <a:t>측정</a:t>
                      </a:r>
                      <a:r>
                        <a:rPr lang="en-US" altLang="ko-KR" sz="900" b="0" dirty="0"/>
                        <a:t>: fallback </a:t>
                      </a:r>
                      <a:r>
                        <a:rPr lang="ko-KR" altLang="en-US" sz="900" b="0" dirty="0"/>
                        <a:t>성공률 </a:t>
                      </a:r>
                      <a:r>
                        <a:rPr lang="en-US" altLang="ko-KR" sz="900" b="0" dirty="0"/>
                        <a:t>&gt; 99.9 ]</a:t>
                      </a:r>
                      <a:endParaRPr lang="ko-KR" altLang="en-US" sz="9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H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6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210047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r>
                        <a:rPr lang="en-US" sz="900" dirty="0"/>
                        <a:t>QA-08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Adaptability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워크로드 변화 적응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0" dirty="0"/>
                        <a:t>입력 분포나 접근 패턴이 바뀌어도 접근 통계를 반영해 배치를 다시 맞추고 성능을 회복해야 한다</a:t>
                      </a:r>
                      <a:r>
                        <a:rPr lang="en-US" altLang="ko-KR" sz="900" b="0" dirty="0"/>
                        <a:t>.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[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측정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원인 파악 시간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&lt; 1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시간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개발자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인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결정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건 기준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+mn-lt"/>
                        </a:rPr>
                        <a:t>) ]</a:t>
                      </a:r>
                      <a:endParaRPr lang="ko-KR" altLang="en-US" sz="900" b="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M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900" dirty="0"/>
                        <a:t>7</a:t>
                      </a:r>
                      <a:endParaRPr lang="ko-KR" altLang="en-US" sz="900" dirty="0"/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771220"/>
                  </a:ext>
                </a:extLst>
              </a:tr>
            </a:tbl>
          </a:graphicData>
        </a:graphic>
      </p:graphicFrame>
      <p:sp>
        <p:nvSpPr>
          <p:cNvPr id="21" name="실행 단추: 앞으로 또는 다음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0D1EB79-0F10-4C29-8756-3FFD242915BE}"/>
              </a:ext>
            </a:extLst>
          </p:cNvPr>
          <p:cNvSpPr/>
          <p:nvPr/>
        </p:nvSpPr>
        <p:spPr>
          <a:xfrm>
            <a:off x="1692613" y="1128409"/>
            <a:ext cx="155642" cy="18158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실행 단추: 앞으로 또는 다음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1679849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실행 단추: 앞으로 또는 다음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2161183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실행 단추: 앞으로 또는 다음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2642517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실행 단추: 앞으로 또는 다음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3149425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실행 단추: 앞으로 또는 다음 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10169769" y="3565479"/>
            <a:ext cx="211016" cy="18170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실행 단추: 앞으로 또는 다음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B43A4CC6-3683-436B-940F-BD679BB1A116}"/>
              </a:ext>
            </a:extLst>
          </p:cNvPr>
          <p:cNvSpPr/>
          <p:nvPr/>
        </p:nvSpPr>
        <p:spPr>
          <a:xfrm>
            <a:off x="9553819" y="1750706"/>
            <a:ext cx="155331" cy="110851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841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242C599-BD36-4F5A-8843-1A0561C9867C}"/>
              </a:ext>
            </a:extLst>
          </p:cNvPr>
          <p:cNvSpPr/>
          <p:nvPr/>
        </p:nvSpPr>
        <p:spPr>
          <a:xfrm>
            <a:off x="1667523" y="2930967"/>
            <a:ext cx="6360041" cy="28069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Inference Engine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B1E269D-86BE-454D-95E7-7AB7335B5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Architecture </a:t>
            </a:r>
            <a:r>
              <a:rPr lang="ko-KR" altLang="en-US" dirty="0"/>
              <a:t>분석 </a:t>
            </a:r>
            <a:r>
              <a:rPr lang="en-US" altLang="ko-KR" dirty="0"/>
              <a:t>– Overall</a:t>
            </a:r>
            <a:r>
              <a:rPr lang="ko-KR" altLang="en-US" dirty="0"/>
              <a:t> </a:t>
            </a:r>
            <a:r>
              <a:rPr lang="en-US" altLang="ko-KR" dirty="0"/>
              <a:t>Architecture (Module View)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3987BE4-A66E-43CB-835D-E763AF31D81E}"/>
              </a:ext>
            </a:extLst>
          </p:cNvPr>
          <p:cNvSpPr/>
          <p:nvPr/>
        </p:nvSpPr>
        <p:spPr>
          <a:xfrm>
            <a:off x="356869" y="1301651"/>
            <a:ext cx="2403126" cy="2649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1100" b="1" dirty="0">
                <a:solidFill>
                  <a:schemeClr val="tx1"/>
                </a:solidFill>
              </a:rPr>
              <a:t>Memory-Centric AI Runtime</a:t>
            </a:r>
            <a:endParaRPr lang="ko-KR" altLang="en-US" sz="1100" b="1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2D98E46-4D0C-46AA-BA61-6FE6449A50A9}"/>
              </a:ext>
            </a:extLst>
          </p:cNvPr>
          <p:cNvSpPr/>
          <p:nvPr/>
        </p:nvSpPr>
        <p:spPr>
          <a:xfrm>
            <a:off x="356869" y="1566629"/>
            <a:ext cx="8888108" cy="439174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600" b="1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B69379A-E4C9-4712-8673-038D252E1590}"/>
              </a:ext>
            </a:extLst>
          </p:cNvPr>
          <p:cNvCxnSpPr>
            <a:cxnSpLocks/>
          </p:cNvCxnSpPr>
          <p:nvPr/>
        </p:nvCxnSpPr>
        <p:spPr>
          <a:xfrm>
            <a:off x="3682746" y="3917228"/>
            <a:ext cx="4592830" cy="807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27D6D7E5-4C5A-4F6F-99B5-9D7A4FC1F5C1}"/>
              </a:ext>
            </a:extLst>
          </p:cNvPr>
          <p:cNvCxnSpPr>
            <a:cxnSpLocks/>
          </p:cNvCxnSpPr>
          <p:nvPr/>
        </p:nvCxnSpPr>
        <p:spPr>
          <a:xfrm>
            <a:off x="6205987" y="4280616"/>
            <a:ext cx="2069589" cy="586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9F40B79-BC5C-4891-83AD-60166B46E7E1}"/>
              </a:ext>
            </a:extLst>
          </p:cNvPr>
          <p:cNvCxnSpPr>
            <a:cxnSpLocks/>
          </p:cNvCxnSpPr>
          <p:nvPr/>
        </p:nvCxnSpPr>
        <p:spPr>
          <a:xfrm>
            <a:off x="7582893" y="4656801"/>
            <a:ext cx="694144" cy="6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4DA1CFA-045E-4628-8869-1F56B7ECF57B}"/>
              </a:ext>
            </a:extLst>
          </p:cNvPr>
          <p:cNvSpPr/>
          <p:nvPr/>
        </p:nvSpPr>
        <p:spPr>
          <a:xfrm>
            <a:off x="4270980" y="3347272"/>
            <a:ext cx="1986013" cy="21617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Data Management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C911235-0C56-4AE4-9779-0F18111703B7}"/>
              </a:ext>
            </a:extLst>
          </p:cNvPr>
          <p:cNvSpPr/>
          <p:nvPr/>
        </p:nvSpPr>
        <p:spPr>
          <a:xfrm>
            <a:off x="6681597" y="3330310"/>
            <a:ext cx="996489" cy="219023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Resource Management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5F2A673-00A9-4622-8C5F-1F07A44E80DC}"/>
              </a:ext>
            </a:extLst>
          </p:cNvPr>
          <p:cNvSpPr/>
          <p:nvPr/>
        </p:nvSpPr>
        <p:spPr>
          <a:xfrm>
            <a:off x="6772763" y="3654331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Resource State Monitor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64AF095-3145-42B9-950F-8650F3231BF4}"/>
              </a:ext>
            </a:extLst>
          </p:cNvPr>
          <p:cNvSpPr/>
          <p:nvPr/>
        </p:nvSpPr>
        <p:spPr>
          <a:xfrm>
            <a:off x="6768370" y="4027387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Resource Analyzer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E7FDF7A-F68D-4C7C-B00C-F3972DD97D24}"/>
              </a:ext>
            </a:extLst>
          </p:cNvPr>
          <p:cNvSpPr/>
          <p:nvPr/>
        </p:nvSpPr>
        <p:spPr>
          <a:xfrm>
            <a:off x="6768370" y="4405012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Destination Tier Selector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627DCA7-A71D-4418-8B57-363A2C2B5AD6}"/>
              </a:ext>
            </a:extLst>
          </p:cNvPr>
          <p:cNvSpPr/>
          <p:nvPr/>
        </p:nvSpPr>
        <p:spPr>
          <a:xfrm>
            <a:off x="6768370" y="4774125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Telemetry Collector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2FC10B3-A64E-4BC5-A19B-135224951C91}"/>
              </a:ext>
            </a:extLst>
          </p:cNvPr>
          <p:cNvSpPr/>
          <p:nvPr/>
        </p:nvSpPr>
        <p:spPr>
          <a:xfrm>
            <a:off x="1747590" y="1888008"/>
            <a:ext cx="6005496" cy="7324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Request Orchestrator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9A34B3D-E9CF-4CCB-AAED-A317E0E9C59A}"/>
              </a:ext>
            </a:extLst>
          </p:cNvPr>
          <p:cNvSpPr/>
          <p:nvPr/>
        </p:nvSpPr>
        <p:spPr>
          <a:xfrm>
            <a:off x="6768370" y="5135613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Memory Registry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E6B93BB-A891-48C9-A089-337174B4C624}"/>
              </a:ext>
            </a:extLst>
          </p:cNvPr>
          <p:cNvSpPr/>
          <p:nvPr/>
        </p:nvSpPr>
        <p:spPr>
          <a:xfrm>
            <a:off x="1751950" y="3347433"/>
            <a:ext cx="979011" cy="21731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Generation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F53572B-A831-4841-B126-9C6E8F10F18B}"/>
              </a:ext>
            </a:extLst>
          </p:cNvPr>
          <p:cNvSpPr/>
          <p:nvPr/>
        </p:nvSpPr>
        <p:spPr>
          <a:xfrm>
            <a:off x="1832968" y="3650225"/>
            <a:ext cx="814552" cy="29689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Scheduler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9E0E5F2-21B7-428D-827E-E767EC5D2F39}"/>
              </a:ext>
            </a:extLst>
          </p:cNvPr>
          <p:cNvSpPr/>
          <p:nvPr/>
        </p:nvSpPr>
        <p:spPr>
          <a:xfrm>
            <a:off x="1832968" y="4029129"/>
            <a:ext cx="814552" cy="29689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Engine</a:t>
            </a:r>
            <a:r>
              <a:rPr lang="ko-KR" altLang="en-US" sz="700" b="1" dirty="0">
                <a:solidFill>
                  <a:schemeClr val="tx1"/>
                </a:solidFill>
              </a:rPr>
              <a:t> </a:t>
            </a:r>
            <a:r>
              <a:rPr lang="en-US" altLang="ko-KR" sz="700" b="1" dirty="0">
                <a:solidFill>
                  <a:schemeClr val="tx1"/>
                </a:solidFill>
              </a:rPr>
              <a:t>Core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6915685-ADC8-455E-9AA5-761416FE3281}"/>
              </a:ext>
            </a:extLst>
          </p:cNvPr>
          <p:cNvSpPr/>
          <p:nvPr/>
        </p:nvSpPr>
        <p:spPr>
          <a:xfrm>
            <a:off x="1832968" y="4393004"/>
            <a:ext cx="814552" cy="29689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Executor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58AB417-7C37-42AC-9CAC-DC3FD03FAD91}"/>
              </a:ext>
            </a:extLst>
          </p:cNvPr>
          <p:cNvSpPr/>
          <p:nvPr/>
        </p:nvSpPr>
        <p:spPr>
          <a:xfrm>
            <a:off x="1832968" y="4762325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Input/Output Processor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A41461A-A297-4D14-BBF2-4F2CEE376EEC}"/>
              </a:ext>
            </a:extLst>
          </p:cNvPr>
          <p:cNvSpPr/>
          <p:nvPr/>
        </p:nvSpPr>
        <p:spPr>
          <a:xfrm>
            <a:off x="8280551" y="1901437"/>
            <a:ext cx="864882" cy="38345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System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C14CD25-5690-4E8A-85BF-7D833CD6354B}"/>
              </a:ext>
            </a:extLst>
          </p:cNvPr>
          <p:cNvSpPr/>
          <p:nvPr/>
        </p:nvSpPr>
        <p:spPr>
          <a:xfrm>
            <a:off x="8339648" y="2222065"/>
            <a:ext cx="738196" cy="4015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Utility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07B3CB5E-589C-4FE1-ABDF-F8E54085D318}"/>
              </a:ext>
            </a:extLst>
          </p:cNvPr>
          <p:cNvSpPr/>
          <p:nvPr/>
        </p:nvSpPr>
        <p:spPr>
          <a:xfrm>
            <a:off x="8339648" y="2760528"/>
            <a:ext cx="738196" cy="4015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b="1" dirty="0">
                <a:solidFill>
                  <a:schemeClr val="tx1"/>
                </a:solidFill>
              </a:rPr>
              <a:t>Configuration</a:t>
            </a:r>
            <a:endParaRPr lang="ko-KR" altLang="en-US" sz="600" b="1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059C39C-6D34-4711-B6EA-B57CE7C4EF6E}"/>
              </a:ext>
            </a:extLst>
          </p:cNvPr>
          <p:cNvSpPr/>
          <p:nvPr/>
        </p:nvSpPr>
        <p:spPr>
          <a:xfrm>
            <a:off x="8339648" y="3298990"/>
            <a:ext cx="738196" cy="4015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Network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963D9356-2AA3-43E0-ACAF-ED3D8266C112}"/>
              </a:ext>
            </a:extLst>
          </p:cNvPr>
          <p:cNvSpPr/>
          <p:nvPr/>
        </p:nvSpPr>
        <p:spPr>
          <a:xfrm>
            <a:off x="8339648" y="3837454"/>
            <a:ext cx="738196" cy="4015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Memory Pool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50D8CD6-8959-4368-9774-18EC55010405}"/>
              </a:ext>
            </a:extLst>
          </p:cNvPr>
          <p:cNvSpPr/>
          <p:nvPr/>
        </p:nvSpPr>
        <p:spPr>
          <a:xfrm>
            <a:off x="8339648" y="4375918"/>
            <a:ext cx="738196" cy="4015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Shared Pool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A98FEDAF-10E6-43E3-88E5-782FE8E2F423}"/>
              </a:ext>
            </a:extLst>
          </p:cNvPr>
          <p:cNvCxnSpPr/>
          <p:nvPr/>
        </p:nvCxnSpPr>
        <p:spPr>
          <a:xfrm>
            <a:off x="7758571" y="2142212"/>
            <a:ext cx="510693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F2D9E731-D8BB-45F3-9793-2CA3B1EC07E5}"/>
              </a:ext>
            </a:extLst>
          </p:cNvPr>
          <p:cNvSpPr txBox="1"/>
          <p:nvPr/>
        </p:nvSpPr>
        <p:spPr>
          <a:xfrm>
            <a:off x="7796828" y="2012805"/>
            <a:ext cx="406877" cy="65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DCA96ED-4347-47C2-B946-D2E6A0EBA841}"/>
              </a:ext>
            </a:extLst>
          </p:cNvPr>
          <p:cNvSpPr/>
          <p:nvPr/>
        </p:nvSpPr>
        <p:spPr>
          <a:xfrm>
            <a:off x="437308" y="1888008"/>
            <a:ext cx="878833" cy="11350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Input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7F39DDD-41B3-4425-BAE2-5527B2EDBE63}"/>
              </a:ext>
            </a:extLst>
          </p:cNvPr>
          <p:cNvSpPr/>
          <p:nvPr/>
        </p:nvSpPr>
        <p:spPr>
          <a:xfrm>
            <a:off x="499336" y="2165392"/>
            <a:ext cx="757604" cy="3431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Query Hist-</a:t>
            </a:r>
            <a:r>
              <a:rPr lang="en-US" altLang="ko-KR" sz="700" b="1" dirty="0" err="1">
                <a:solidFill>
                  <a:schemeClr val="tx1"/>
                </a:solidFill>
              </a:rPr>
              <a:t>ory</a:t>
            </a:r>
            <a:r>
              <a:rPr lang="en-US" altLang="ko-KR" sz="700" b="1" dirty="0">
                <a:solidFill>
                  <a:schemeClr val="tx1"/>
                </a:solidFill>
              </a:rPr>
              <a:t> Manager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180BF17C-17D3-43A3-9CB6-B014F53CE8F4}"/>
              </a:ext>
            </a:extLst>
          </p:cNvPr>
          <p:cNvSpPr/>
          <p:nvPr/>
        </p:nvSpPr>
        <p:spPr>
          <a:xfrm>
            <a:off x="498707" y="2600586"/>
            <a:ext cx="755203" cy="3431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User Query Manager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A655CFDC-6628-4EC6-BDF2-B1EE855E2F07}"/>
              </a:ext>
            </a:extLst>
          </p:cNvPr>
          <p:cNvCxnSpPr/>
          <p:nvPr/>
        </p:nvCxnSpPr>
        <p:spPr>
          <a:xfrm flipH="1">
            <a:off x="1323526" y="2142212"/>
            <a:ext cx="42406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EA65D2F-022B-41A5-B18F-57A4B5469CF0}"/>
              </a:ext>
            </a:extLst>
          </p:cNvPr>
          <p:cNvSpPr txBox="1"/>
          <p:nvPr/>
        </p:nvSpPr>
        <p:spPr>
          <a:xfrm>
            <a:off x="1242922" y="1944671"/>
            <a:ext cx="582454" cy="16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62854A-2C05-485F-82E1-B2F491C43DE5}"/>
              </a:ext>
            </a:extLst>
          </p:cNvPr>
          <p:cNvSpPr txBox="1"/>
          <p:nvPr/>
        </p:nvSpPr>
        <p:spPr>
          <a:xfrm>
            <a:off x="7796828" y="3802778"/>
            <a:ext cx="406877" cy="65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01176E-BD38-42E4-8DD3-9F0729D676D9}"/>
              </a:ext>
            </a:extLst>
          </p:cNvPr>
          <p:cNvSpPr txBox="1"/>
          <p:nvPr/>
        </p:nvSpPr>
        <p:spPr>
          <a:xfrm>
            <a:off x="7796828" y="4153613"/>
            <a:ext cx="406877" cy="65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8C3069-92F2-4A89-A97C-44A23767F5D6}"/>
              </a:ext>
            </a:extLst>
          </p:cNvPr>
          <p:cNvSpPr txBox="1"/>
          <p:nvPr/>
        </p:nvSpPr>
        <p:spPr>
          <a:xfrm>
            <a:off x="7796828" y="4544664"/>
            <a:ext cx="406877" cy="65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E6A9138A-C182-47D9-B49C-7BF6607F944D}"/>
              </a:ext>
            </a:extLst>
          </p:cNvPr>
          <p:cNvSpPr/>
          <p:nvPr/>
        </p:nvSpPr>
        <p:spPr>
          <a:xfrm>
            <a:off x="3074901" y="2205566"/>
            <a:ext cx="1030973" cy="3068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Prefill/Decode </a:t>
            </a:r>
          </a:p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Execution Planner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D34F8860-FA35-4E68-A7A5-565A0A8599E6}"/>
              </a:ext>
            </a:extLst>
          </p:cNvPr>
          <p:cNvSpPr/>
          <p:nvPr/>
        </p:nvSpPr>
        <p:spPr>
          <a:xfrm>
            <a:off x="4265519" y="2205566"/>
            <a:ext cx="1030973" cy="3068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Router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B26147D-BBEE-433B-902B-6409A56B92B1}"/>
              </a:ext>
            </a:extLst>
          </p:cNvPr>
          <p:cNvSpPr/>
          <p:nvPr/>
        </p:nvSpPr>
        <p:spPr>
          <a:xfrm>
            <a:off x="6646755" y="2205566"/>
            <a:ext cx="1030973" cy="3068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Cost Evaluator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F5296705-1646-4329-A8F0-50B46937C6ED}"/>
              </a:ext>
            </a:extLst>
          </p:cNvPr>
          <p:cNvSpPr/>
          <p:nvPr/>
        </p:nvSpPr>
        <p:spPr>
          <a:xfrm>
            <a:off x="1884283" y="2205566"/>
            <a:ext cx="1030973" cy="3068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Request Scheduler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038F448B-A0E2-4E53-8F30-25709573E212}"/>
              </a:ext>
            </a:extLst>
          </p:cNvPr>
          <p:cNvSpPr/>
          <p:nvPr/>
        </p:nvSpPr>
        <p:spPr>
          <a:xfrm>
            <a:off x="437308" y="3568051"/>
            <a:ext cx="878833" cy="155063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KV Pool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6B473A58-D4E2-4FA0-9A7D-1F5A60EAD4AD}"/>
              </a:ext>
            </a:extLst>
          </p:cNvPr>
          <p:cNvSpPr/>
          <p:nvPr/>
        </p:nvSpPr>
        <p:spPr>
          <a:xfrm>
            <a:off x="504341" y="4270921"/>
            <a:ext cx="731306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Blending Manager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9A62AA52-D747-49F2-B3D2-58709970563E}"/>
              </a:ext>
            </a:extLst>
          </p:cNvPr>
          <p:cNvSpPr/>
          <p:nvPr/>
        </p:nvSpPr>
        <p:spPr>
          <a:xfrm>
            <a:off x="504341" y="3899394"/>
            <a:ext cx="731306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KV Compressor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BF7FF720-49D8-4157-83B3-99E2D081D465}"/>
              </a:ext>
            </a:extLst>
          </p:cNvPr>
          <p:cNvCxnSpPr/>
          <p:nvPr/>
        </p:nvCxnSpPr>
        <p:spPr>
          <a:xfrm flipH="1">
            <a:off x="1322451" y="5007940"/>
            <a:ext cx="425139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E66B868-FB5E-46E2-943A-191E289B584B}"/>
              </a:ext>
            </a:extLst>
          </p:cNvPr>
          <p:cNvSpPr txBox="1"/>
          <p:nvPr/>
        </p:nvSpPr>
        <p:spPr>
          <a:xfrm>
            <a:off x="1240480" y="4821851"/>
            <a:ext cx="582454" cy="16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6D5FAEA-73C8-4BA9-801D-7D0E25A8BE7B}"/>
              </a:ext>
            </a:extLst>
          </p:cNvPr>
          <p:cNvSpPr/>
          <p:nvPr/>
        </p:nvSpPr>
        <p:spPr>
          <a:xfrm>
            <a:off x="7024933" y="3261918"/>
            <a:ext cx="84591" cy="13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29322D6-4503-4175-965B-5579364D3384}"/>
              </a:ext>
            </a:extLst>
          </p:cNvPr>
          <p:cNvSpPr/>
          <p:nvPr/>
        </p:nvSpPr>
        <p:spPr>
          <a:xfrm>
            <a:off x="7157523" y="3261918"/>
            <a:ext cx="84591" cy="13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0DBE6106-25E3-4326-A986-EAF4BE6E78A8}"/>
              </a:ext>
            </a:extLst>
          </p:cNvPr>
          <p:cNvSpPr/>
          <p:nvPr/>
        </p:nvSpPr>
        <p:spPr>
          <a:xfrm>
            <a:off x="7282478" y="3261918"/>
            <a:ext cx="84591" cy="13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B9CB965B-AE01-4439-A4F1-5A258843335D}"/>
              </a:ext>
            </a:extLst>
          </p:cNvPr>
          <p:cNvSpPr/>
          <p:nvPr/>
        </p:nvSpPr>
        <p:spPr>
          <a:xfrm>
            <a:off x="2562928" y="3243335"/>
            <a:ext cx="84591" cy="13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ADF5CDF-6244-4721-95BF-5FEC8028BFE2}"/>
              </a:ext>
            </a:extLst>
          </p:cNvPr>
          <p:cNvSpPr/>
          <p:nvPr/>
        </p:nvSpPr>
        <p:spPr>
          <a:xfrm>
            <a:off x="6081618" y="3252625"/>
            <a:ext cx="84591" cy="13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cxnSp>
        <p:nvCxnSpPr>
          <p:cNvPr id="93" name="꺾인 연결선 197">
            <a:extLst>
              <a:ext uri="{FF2B5EF4-FFF2-40B4-BE49-F238E27FC236}">
                <a16:creationId xmlns:a16="http://schemas.microsoft.com/office/drawing/2014/main" id="{CEEC7ABF-C513-4E7C-B1A3-2B3DA29E9C6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908110" y="1016656"/>
            <a:ext cx="18583" cy="4624357"/>
          </a:xfrm>
          <a:prstGeom prst="bentConnector3">
            <a:avLst>
              <a:gd name="adj1" fmla="val -1230157"/>
            </a:avLst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199">
            <a:extLst>
              <a:ext uri="{FF2B5EF4-FFF2-40B4-BE49-F238E27FC236}">
                <a16:creationId xmlns:a16="http://schemas.microsoft.com/office/drawing/2014/main" id="{00CC0BBE-238A-475C-A8FF-5598CF09FA07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6256993" y="4425430"/>
            <a:ext cx="424604" cy="271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653B51CE-D02D-426C-B6EC-46CB1E98F0B3}"/>
              </a:ext>
            </a:extLst>
          </p:cNvPr>
          <p:cNvCxnSpPr>
            <a:cxnSpLocks/>
          </p:cNvCxnSpPr>
          <p:nvPr/>
        </p:nvCxnSpPr>
        <p:spPr>
          <a:xfrm>
            <a:off x="2240244" y="2500885"/>
            <a:ext cx="0" cy="79810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E6027C02-B8AC-44A0-82A5-1F7F8387E3FE}"/>
              </a:ext>
            </a:extLst>
          </p:cNvPr>
          <p:cNvCxnSpPr>
            <a:cxnSpLocks/>
          </p:cNvCxnSpPr>
          <p:nvPr/>
        </p:nvCxnSpPr>
        <p:spPr>
          <a:xfrm>
            <a:off x="4746756" y="2620426"/>
            <a:ext cx="0" cy="72629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6B3FC211-184A-450C-97B8-7A8BF87B61B2}"/>
              </a:ext>
            </a:extLst>
          </p:cNvPr>
          <p:cNvCxnSpPr>
            <a:cxnSpLocks/>
          </p:cNvCxnSpPr>
          <p:nvPr/>
        </p:nvCxnSpPr>
        <p:spPr>
          <a:xfrm>
            <a:off x="7389703" y="2620426"/>
            <a:ext cx="0" cy="71615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E785511F-19D2-468A-9DA5-2546B179A38E}"/>
              </a:ext>
            </a:extLst>
          </p:cNvPr>
          <p:cNvSpPr txBox="1"/>
          <p:nvPr/>
        </p:nvSpPr>
        <p:spPr>
          <a:xfrm>
            <a:off x="2116906" y="2739807"/>
            <a:ext cx="582454" cy="16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8FAA730-B10F-472F-A7FF-3051B63CDFF9}"/>
              </a:ext>
            </a:extLst>
          </p:cNvPr>
          <p:cNvSpPr txBox="1"/>
          <p:nvPr/>
        </p:nvSpPr>
        <p:spPr>
          <a:xfrm>
            <a:off x="4648553" y="2724836"/>
            <a:ext cx="582454" cy="16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5604597-0B51-4F3C-BF5A-A4E2B0C2FFAA}"/>
              </a:ext>
            </a:extLst>
          </p:cNvPr>
          <p:cNvSpPr txBox="1"/>
          <p:nvPr/>
        </p:nvSpPr>
        <p:spPr>
          <a:xfrm>
            <a:off x="7291666" y="2724836"/>
            <a:ext cx="582454" cy="16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4FE0B36-4E28-4210-A1E8-19D45FD7DA4C}"/>
              </a:ext>
            </a:extLst>
          </p:cNvPr>
          <p:cNvSpPr txBox="1"/>
          <p:nvPr/>
        </p:nvSpPr>
        <p:spPr>
          <a:xfrm>
            <a:off x="6163143" y="4273236"/>
            <a:ext cx="582454" cy="16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C7A508D8-0ABD-46EF-A3FA-BD746858CA1B}"/>
              </a:ext>
            </a:extLst>
          </p:cNvPr>
          <p:cNvSpPr txBox="1"/>
          <p:nvPr/>
        </p:nvSpPr>
        <p:spPr>
          <a:xfrm>
            <a:off x="5434831" y="2936421"/>
            <a:ext cx="582454" cy="16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A502D86-0F3C-4383-BF26-87810FC4643F}"/>
              </a:ext>
            </a:extLst>
          </p:cNvPr>
          <p:cNvSpPr txBox="1"/>
          <p:nvPr/>
        </p:nvSpPr>
        <p:spPr>
          <a:xfrm>
            <a:off x="3030921" y="2923901"/>
            <a:ext cx="540770" cy="16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86DB123-E533-43DE-ADB8-3C149A164B89}"/>
              </a:ext>
            </a:extLst>
          </p:cNvPr>
          <p:cNvSpPr txBox="1"/>
          <p:nvPr/>
        </p:nvSpPr>
        <p:spPr>
          <a:xfrm>
            <a:off x="4944109" y="2977659"/>
            <a:ext cx="582454" cy="16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076ABB55-4A68-49B9-B046-77372484C2DF}"/>
              </a:ext>
            </a:extLst>
          </p:cNvPr>
          <p:cNvSpPr/>
          <p:nvPr/>
        </p:nvSpPr>
        <p:spPr>
          <a:xfrm>
            <a:off x="8339648" y="4951974"/>
            <a:ext cx="738196" cy="40152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Debug Log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03E2C7D4-6C3F-45BF-8125-3A061A155C3E}"/>
              </a:ext>
            </a:extLst>
          </p:cNvPr>
          <p:cNvSpPr/>
          <p:nvPr/>
        </p:nvSpPr>
        <p:spPr>
          <a:xfrm>
            <a:off x="1832968" y="5135927"/>
            <a:ext cx="814552" cy="29689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Engine Core Client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6416B6B3-D518-4F05-96A2-1F7BAD5BFAB2}"/>
              </a:ext>
            </a:extLst>
          </p:cNvPr>
          <p:cNvSpPr/>
          <p:nvPr/>
        </p:nvSpPr>
        <p:spPr>
          <a:xfrm>
            <a:off x="437308" y="1755912"/>
            <a:ext cx="462049" cy="1307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26CCC084-9618-4794-8AD6-F546063948A0}"/>
              </a:ext>
            </a:extLst>
          </p:cNvPr>
          <p:cNvSpPr/>
          <p:nvPr/>
        </p:nvSpPr>
        <p:spPr>
          <a:xfrm>
            <a:off x="1747418" y="1755912"/>
            <a:ext cx="462049" cy="1307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234" name="직선 화살표 연결선 233">
            <a:extLst>
              <a:ext uri="{FF2B5EF4-FFF2-40B4-BE49-F238E27FC236}">
                <a16:creationId xmlns:a16="http://schemas.microsoft.com/office/drawing/2014/main" id="{540FF106-8E6A-4FA3-8B84-92434C6EC870}"/>
              </a:ext>
            </a:extLst>
          </p:cNvPr>
          <p:cNvCxnSpPr>
            <a:cxnSpLocks/>
            <a:stCxn id="33" idx="3"/>
            <a:endCxn id="15" idx="1"/>
          </p:cNvCxnSpPr>
          <p:nvPr/>
        </p:nvCxnSpPr>
        <p:spPr>
          <a:xfrm flipV="1">
            <a:off x="2730961" y="4428147"/>
            <a:ext cx="1540019" cy="584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9752EBAF-EA24-4AAC-92B2-711728D3919F}"/>
              </a:ext>
            </a:extLst>
          </p:cNvPr>
          <p:cNvSpPr/>
          <p:nvPr/>
        </p:nvSpPr>
        <p:spPr>
          <a:xfrm>
            <a:off x="8275573" y="1755912"/>
            <a:ext cx="462049" cy="1307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2F8423FF-2D99-486D-AE0A-C10476FE5EA2}"/>
              </a:ext>
            </a:extLst>
          </p:cNvPr>
          <p:cNvSpPr/>
          <p:nvPr/>
        </p:nvSpPr>
        <p:spPr>
          <a:xfrm>
            <a:off x="1752062" y="3216544"/>
            <a:ext cx="264443" cy="1307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0E035AFB-9309-4F8D-BC61-8EEC519A0615}"/>
              </a:ext>
            </a:extLst>
          </p:cNvPr>
          <p:cNvSpPr/>
          <p:nvPr/>
        </p:nvSpPr>
        <p:spPr>
          <a:xfrm>
            <a:off x="4272618" y="3215995"/>
            <a:ext cx="264443" cy="1307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2B5CBED5-03A8-4431-BC69-3B5CAE173667}"/>
              </a:ext>
            </a:extLst>
          </p:cNvPr>
          <p:cNvSpPr/>
          <p:nvPr/>
        </p:nvSpPr>
        <p:spPr>
          <a:xfrm>
            <a:off x="6681597" y="3205849"/>
            <a:ext cx="264443" cy="1307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79699B55-1870-4683-A3EF-B51DE9DD3037}"/>
              </a:ext>
            </a:extLst>
          </p:cNvPr>
          <p:cNvSpPr/>
          <p:nvPr/>
        </p:nvSpPr>
        <p:spPr>
          <a:xfrm>
            <a:off x="7578697" y="3246925"/>
            <a:ext cx="84591" cy="13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7" name="직사각형 126">
            <a:extLst>
              <a:ext uri="{FF2B5EF4-FFF2-40B4-BE49-F238E27FC236}">
                <a16:creationId xmlns:a16="http://schemas.microsoft.com/office/drawing/2014/main" id="{836E3607-6A09-4E13-AEAE-06128F9ECE7C}"/>
              </a:ext>
            </a:extLst>
          </p:cNvPr>
          <p:cNvSpPr/>
          <p:nvPr/>
        </p:nvSpPr>
        <p:spPr>
          <a:xfrm>
            <a:off x="434820" y="3427779"/>
            <a:ext cx="462049" cy="1307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29F98B32-5AEA-465F-ACF7-48DC7A79458B}"/>
              </a:ext>
            </a:extLst>
          </p:cNvPr>
          <p:cNvSpPr/>
          <p:nvPr/>
        </p:nvSpPr>
        <p:spPr>
          <a:xfrm>
            <a:off x="4392245" y="3678987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Data Migra-</a:t>
            </a:r>
            <a:r>
              <a:rPr lang="en-US" altLang="ko-KR" sz="700" b="1" dirty="0" err="1">
                <a:solidFill>
                  <a:schemeClr val="tx1"/>
                </a:solidFill>
              </a:rPr>
              <a:t>tion</a:t>
            </a:r>
            <a:r>
              <a:rPr lang="en-US" altLang="ko-KR" sz="700" b="1" dirty="0">
                <a:solidFill>
                  <a:schemeClr val="tx1"/>
                </a:solidFill>
              </a:rPr>
              <a:t> Scheduler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79" name="직사각형 178">
            <a:extLst>
              <a:ext uri="{FF2B5EF4-FFF2-40B4-BE49-F238E27FC236}">
                <a16:creationId xmlns:a16="http://schemas.microsoft.com/office/drawing/2014/main" id="{1DE578DF-0FF1-4DE3-B625-EF569A8BF066}"/>
              </a:ext>
            </a:extLst>
          </p:cNvPr>
          <p:cNvSpPr/>
          <p:nvPr/>
        </p:nvSpPr>
        <p:spPr>
          <a:xfrm>
            <a:off x="4392245" y="4405699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Expert</a:t>
            </a:r>
          </a:p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Manager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80" name="직사각형 179">
            <a:extLst>
              <a:ext uri="{FF2B5EF4-FFF2-40B4-BE49-F238E27FC236}">
                <a16:creationId xmlns:a16="http://schemas.microsoft.com/office/drawing/2014/main" id="{980AB048-A5FA-40DA-8F06-A7C654E32B79}"/>
              </a:ext>
            </a:extLst>
          </p:cNvPr>
          <p:cNvSpPr/>
          <p:nvPr/>
        </p:nvSpPr>
        <p:spPr>
          <a:xfrm>
            <a:off x="4392245" y="4041826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KV Cache Manager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81" name="직사각형 180">
            <a:extLst>
              <a:ext uri="{FF2B5EF4-FFF2-40B4-BE49-F238E27FC236}">
                <a16:creationId xmlns:a16="http://schemas.microsoft.com/office/drawing/2014/main" id="{F8D82D52-E8F2-402F-9020-4933BB66A8C9}"/>
              </a:ext>
            </a:extLst>
          </p:cNvPr>
          <p:cNvSpPr/>
          <p:nvPr/>
        </p:nvSpPr>
        <p:spPr>
          <a:xfrm>
            <a:off x="4392245" y="4770857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 err="1">
                <a:solidFill>
                  <a:schemeClr val="tx1"/>
                </a:solidFill>
              </a:rPr>
              <a:t>LoRA</a:t>
            </a:r>
            <a:r>
              <a:rPr lang="en-US" altLang="ko-KR" sz="700" b="1" dirty="0">
                <a:solidFill>
                  <a:schemeClr val="tx1"/>
                </a:solidFill>
              </a:rPr>
              <a:t> Manager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82" name="직사각형 181">
            <a:extLst>
              <a:ext uri="{FF2B5EF4-FFF2-40B4-BE49-F238E27FC236}">
                <a16:creationId xmlns:a16="http://schemas.microsoft.com/office/drawing/2014/main" id="{118482D7-2D66-4500-811B-B158D62013F3}"/>
              </a:ext>
            </a:extLst>
          </p:cNvPr>
          <p:cNvSpPr/>
          <p:nvPr/>
        </p:nvSpPr>
        <p:spPr>
          <a:xfrm>
            <a:off x="4392245" y="5132882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Data Object Registry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85" name="직사각형 184">
            <a:extLst>
              <a:ext uri="{FF2B5EF4-FFF2-40B4-BE49-F238E27FC236}">
                <a16:creationId xmlns:a16="http://schemas.microsoft.com/office/drawing/2014/main" id="{66A80510-5426-4FD3-898F-DE81168BF1B1}"/>
              </a:ext>
            </a:extLst>
          </p:cNvPr>
          <p:cNvSpPr/>
          <p:nvPr/>
        </p:nvSpPr>
        <p:spPr>
          <a:xfrm>
            <a:off x="5329726" y="3678987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Data Behavior Monitor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86" name="직사각형 185">
            <a:extLst>
              <a:ext uri="{FF2B5EF4-FFF2-40B4-BE49-F238E27FC236}">
                <a16:creationId xmlns:a16="http://schemas.microsoft.com/office/drawing/2014/main" id="{E2066CD4-4E11-4C94-ACCB-196EF0671AFD}"/>
              </a:ext>
            </a:extLst>
          </p:cNvPr>
          <p:cNvSpPr/>
          <p:nvPr/>
        </p:nvSpPr>
        <p:spPr>
          <a:xfrm>
            <a:off x="5329726" y="4405699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Behavior Predictor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87" name="직사각형 186">
            <a:extLst>
              <a:ext uri="{FF2B5EF4-FFF2-40B4-BE49-F238E27FC236}">
                <a16:creationId xmlns:a16="http://schemas.microsoft.com/office/drawing/2014/main" id="{8F5FA42E-0535-4FCB-B335-8A338E24A74E}"/>
              </a:ext>
            </a:extLst>
          </p:cNvPr>
          <p:cNvSpPr/>
          <p:nvPr/>
        </p:nvSpPr>
        <p:spPr>
          <a:xfrm>
            <a:off x="5329726" y="4041826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Behavior Analyzer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E39DB062-5571-42A5-AFFD-615F797A3513}"/>
              </a:ext>
            </a:extLst>
          </p:cNvPr>
          <p:cNvSpPr/>
          <p:nvPr/>
        </p:nvSpPr>
        <p:spPr>
          <a:xfrm>
            <a:off x="5329726" y="4770857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Data Migra-</a:t>
            </a:r>
            <a:r>
              <a:rPr lang="en-US" altLang="ko-KR" sz="700" b="1" dirty="0" err="1">
                <a:solidFill>
                  <a:schemeClr val="tx1"/>
                </a:solidFill>
              </a:rPr>
              <a:t>tion</a:t>
            </a:r>
            <a:r>
              <a:rPr lang="en-US" altLang="ko-KR" sz="700" b="1" dirty="0">
                <a:solidFill>
                  <a:schemeClr val="tx1"/>
                </a:solidFill>
              </a:rPr>
              <a:t> Selector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A1D1881B-A67C-4726-9931-E1DB7406F7B4}"/>
              </a:ext>
            </a:extLst>
          </p:cNvPr>
          <p:cNvSpPr/>
          <p:nvPr/>
        </p:nvSpPr>
        <p:spPr>
          <a:xfrm>
            <a:off x="5329726" y="5132882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Data Eviction Manager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207" name="직사각형 206">
            <a:extLst>
              <a:ext uri="{FF2B5EF4-FFF2-40B4-BE49-F238E27FC236}">
                <a16:creationId xmlns:a16="http://schemas.microsoft.com/office/drawing/2014/main" id="{B06E824E-1BF9-4B18-B22B-AC4A74455002}"/>
              </a:ext>
            </a:extLst>
          </p:cNvPr>
          <p:cNvSpPr/>
          <p:nvPr/>
        </p:nvSpPr>
        <p:spPr>
          <a:xfrm>
            <a:off x="7202749" y="3278963"/>
            <a:ext cx="84591" cy="13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518D7C32-08DD-4560-94CA-E3364A9B380E}"/>
              </a:ext>
            </a:extLst>
          </p:cNvPr>
          <p:cNvSpPr/>
          <p:nvPr/>
        </p:nvSpPr>
        <p:spPr>
          <a:xfrm>
            <a:off x="7336341" y="3261918"/>
            <a:ext cx="84591" cy="13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E2B7E17A-02A7-4463-AE3F-26ADCED44908}"/>
              </a:ext>
            </a:extLst>
          </p:cNvPr>
          <p:cNvSpPr/>
          <p:nvPr/>
        </p:nvSpPr>
        <p:spPr>
          <a:xfrm>
            <a:off x="7461296" y="3261918"/>
            <a:ext cx="84591" cy="13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C64F5E99-C08C-4E50-8068-C9B1DD456540}"/>
              </a:ext>
            </a:extLst>
          </p:cNvPr>
          <p:cNvSpPr/>
          <p:nvPr/>
        </p:nvSpPr>
        <p:spPr>
          <a:xfrm>
            <a:off x="7757515" y="3246925"/>
            <a:ext cx="84591" cy="136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cxnSp>
        <p:nvCxnSpPr>
          <p:cNvPr id="227" name="직선 화살표 연결선 226">
            <a:extLst>
              <a:ext uri="{FF2B5EF4-FFF2-40B4-BE49-F238E27FC236}">
                <a16:creationId xmlns:a16="http://schemas.microsoft.com/office/drawing/2014/main" id="{321731F0-8452-430F-BE28-0C5D36C09582}"/>
              </a:ext>
            </a:extLst>
          </p:cNvPr>
          <p:cNvCxnSpPr>
            <a:cxnSpLocks/>
            <a:endCxn id="61" idx="2"/>
          </p:cNvCxnSpPr>
          <p:nvPr/>
        </p:nvCxnSpPr>
        <p:spPr>
          <a:xfrm rot="10800000">
            <a:off x="876726" y="3023080"/>
            <a:ext cx="872797" cy="437947"/>
          </a:xfrm>
          <a:prstGeom prst="bentConnector2">
            <a:avLst/>
          </a:prstGeom>
          <a:ln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263D06B6-7D16-45FF-A1A9-C4444812C33E}"/>
              </a:ext>
            </a:extLst>
          </p:cNvPr>
          <p:cNvSpPr txBox="1"/>
          <p:nvPr/>
        </p:nvSpPr>
        <p:spPr>
          <a:xfrm>
            <a:off x="899357" y="3238716"/>
            <a:ext cx="582454" cy="16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8D4FD793-A991-421C-85A2-D68ADED0CA3E}"/>
              </a:ext>
            </a:extLst>
          </p:cNvPr>
          <p:cNvSpPr txBox="1"/>
          <p:nvPr/>
        </p:nvSpPr>
        <p:spPr>
          <a:xfrm>
            <a:off x="3735814" y="4269911"/>
            <a:ext cx="582454" cy="16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" dirty="0"/>
              <a:t>&lt;&lt;use&gt;&gt;</a:t>
            </a:r>
            <a:endParaRPr lang="ko-KR" altLang="en-US" sz="400" dirty="0"/>
          </a:p>
        </p:txBody>
      </p:sp>
      <p:sp>
        <p:nvSpPr>
          <p:cNvPr id="298" name="직사각형 297">
            <a:extLst>
              <a:ext uri="{FF2B5EF4-FFF2-40B4-BE49-F238E27FC236}">
                <a16:creationId xmlns:a16="http://schemas.microsoft.com/office/drawing/2014/main" id="{019E176B-54A8-4449-914D-977803BBA35C}"/>
              </a:ext>
            </a:extLst>
          </p:cNvPr>
          <p:cNvSpPr/>
          <p:nvPr/>
        </p:nvSpPr>
        <p:spPr>
          <a:xfrm>
            <a:off x="5501798" y="2205566"/>
            <a:ext cx="1030973" cy="3068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KV State Monitor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317" name="직사각형 316">
            <a:extLst>
              <a:ext uri="{FF2B5EF4-FFF2-40B4-BE49-F238E27FC236}">
                <a16:creationId xmlns:a16="http://schemas.microsoft.com/office/drawing/2014/main" id="{9EDF2630-A613-4E8E-A695-2BFF10D388FF}"/>
              </a:ext>
            </a:extLst>
          </p:cNvPr>
          <p:cNvSpPr/>
          <p:nvPr/>
        </p:nvSpPr>
        <p:spPr>
          <a:xfrm>
            <a:off x="2978360" y="3216544"/>
            <a:ext cx="264443" cy="1307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316" name="직사각형 315">
            <a:extLst>
              <a:ext uri="{FF2B5EF4-FFF2-40B4-BE49-F238E27FC236}">
                <a16:creationId xmlns:a16="http://schemas.microsoft.com/office/drawing/2014/main" id="{E8771830-0235-4208-9057-C78FD109F8F4}"/>
              </a:ext>
            </a:extLst>
          </p:cNvPr>
          <p:cNvSpPr/>
          <p:nvPr/>
        </p:nvSpPr>
        <p:spPr>
          <a:xfrm>
            <a:off x="2978248" y="3347433"/>
            <a:ext cx="979011" cy="21731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Compute Management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216" name="직사각형 215">
            <a:extLst>
              <a:ext uri="{FF2B5EF4-FFF2-40B4-BE49-F238E27FC236}">
                <a16:creationId xmlns:a16="http://schemas.microsoft.com/office/drawing/2014/main" id="{6E896632-A58A-43DA-877F-7667D80DD95A}"/>
              </a:ext>
            </a:extLst>
          </p:cNvPr>
          <p:cNvSpPr/>
          <p:nvPr/>
        </p:nvSpPr>
        <p:spPr>
          <a:xfrm>
            <a:off x="3082321" y="3675872"/>
            <a:ext cx="814552" cy="29689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Worker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217" name="직사각형 216">
            <a:extLst>
              <a:ext uri="{FF2B5EF4-FFF2-40B4-BE49-F238E27FC236}">
                <a16:creationId xmlns:a16="http://schemas.microsoft.com/office/drawing/2014/main" id="{C5EBD24D-B64A-4B7C-9D0C-815448032426}"/>
              </a:ext>
            </a:extLst>
          </p:cNvPr>
          <p:cNvSpPr/>
          <p:nvPr/>
        </p:nvSpPr>
        <p:spPr>
          <a:xfrm>
            <a:off x="3082321" y="4054776"/>
            <a:ext cx="814552" cy="29689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Model Runner</a:t>
            </a:r>
          </a:p>
        </p:txBody>
      </p:sp>
      <p:sp>
        <p:nvSpPr>
          <p:cNvPr id="218" name="직사각형 217">
            <a:extLst>
              <a:ext uri="{FF2B5EF4-FFF2-40B4-BE49-F238E27FC236}">
                <a16:creationId xmlns:a16="http://schemas.microsoft.com/office/drawing/2014/main" id="{6A687733-807F-423F-A595-B320D0B485E3}"/>
              </a:ext>
            </a:extLst>
          </p:cNvPr>
          <p:cNvSpPr/>
          <p:nvPr/>
        </p:nvSpPr>
        <p:spPr>
          <a:xfrm>
            <a:off x="3085372" y="4438037"/>
            <a:ext cx="814552" cy="29689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Model/Layers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EC19A98B-C198-496F-8F1B-377A9CFE8831}"/>
              </a:ext>
            </a:extLst>
          </p:cNvPr>
          <p:cNvSpPr/>
          <p:nvPr/>
        </p:nvSpPr>
        <p:spPr>
          <a:xfrm>
            <a:off x="3082321" y="4787972"/>
            <a:ext cx="814552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Attention Backend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583F557F-D47C-48C6-BE32-029454599704}"/>
              </a:ext>
            </a:extLst>
          </p:cNvPr>
          <p:cNvSpPr/>
          <p:nvPr/>
        </p:nvSpPr>
        <p:spPr>
          <a:xfrm>
            <a:off x="3082321" y="5161574"/>
            <a:ext cx="814552" cy="29689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Custom Operator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320" name="직사각형 319">
            <a:extLst>
              <a:ext uri="{FF2B5EF4-FFF2-40B4-BE49-F238E27FC236}">
                <a16:creationId xmlns:a16="http://schemas.microsoft.com/office/drawing/2014/main" id="{65FBDE47-ACC2-484F-A8A4-C64FB74ACB13}"/>
              </a:ext>
            </a:extLst>
          </p:cNvPr>
          <p:cNvSpPr/>
          <p:nvPr/>
        </p:nvSpPr>
        <p:spPr>
          <a:xfrm>
            <a:off x="4321477" y="3625954"/>
            <a:ext cx="3311330" cy="1970791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DCDC752D-254C-4A97-8DF2-CAD47C049929}"/>
              </a:ext>
            </a:extLst>
          </p:cNvPr>
          <p:cNvSpPr/>
          <p:nvPr/>
        </p:nvSpPr>
        <p:spPr>
          <a:xfrm>
            <a:off x="9580321" y="2540964"/>
            <a:ext cx="2109873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ko-KR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DP-2. </a:t>
            </a:r>
            <a:r>
              <a:rPr lang="ko-KR" altLang="en-US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연산 실행 위치 결정</a:t>
            </a:r>
            <a:endParaRPr lang="ko-KR" altLang="en-US" sz="1250" b="1" dirty="0"/>
          </a:p>
        </p:txBody>
      </p:sp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9CF5B1FE-9495-4451-9594-8F8B85242E82}"/>
              </a:ext>
            </a:extLst>
          </p:cNvPr>
          <p:cNvSpPr/>
          <p:nvPr/>
        </p:nvSpPr>
        <p:spPr>
          <a:xfrm>
            <a:off x="9580321" y="5185457"/>
            <a:ext cx="2217274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ko-KR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DP-4. </a:t>
            </a:r>
            <a:r>
              <a:rPr lang="ko-KR" altLang="en-US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서버 간 </a:t>
            </a:r>
            <a:r>
              <a:rPr lang="en-US" altLang="ko-KR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KV </a:t>
            </a:r>
            <a:r>
              <a:rPr lang="ko-KR" altLang="en-US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캐시 공유</a:t>
            </a:r>
            <a:endParaRPr lang="ko-KR" altLang="en-US" sz="1250" b="1" dirty="0"/>
          </a:p>
        </p:txBody>
      </p:sp>
      <p:sp>
        <p:nvSpPr>
          <p:cNvPr id="325" name="직사각형 324">
            <a:extLst>
              <a:ext uri="{FF2B5EF4-FFF2-40B4-BE49-F238E27FC236}">
                <a16:creationId xmlns:a16="http://schemas.microsoft.com/office/drawing/2014/main" id="{DABE46FD-C803-4916-A7EE-CF574B7B1A8D}"/>
              </a:ext>
            </a:extLst>
          </p:cNvPr>
          <p:cNvSpPr/>
          <p:nvPr/>
        </p:nvSpPr>
        <p:spPr>
          <a:xfrm>
            <a:off x="9580321" y="1183181"/>
            <a:ext cx="2250937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ko-KR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DP-1. </a:t>
            </a:r>
            <a:r>
              <a:rPr lang="en-US" altLang="ko-KR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Data</a:t>
            </a:r>
            <a:r>
              <a:rPr lang="ko-KR" altLang="en-US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en-US" altLang="ko-KR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Migration</a:t>
            </a:r>
            <a:r>
              <a:rPr lang="ko-KR" altLang="en-US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결정 </a:t>
            </a:r>
            <a:endParaRPr lang="ko-KR" altLang="en-US" sz="1250" b="1" dirty="0"/>
          </a:p>
        </p:txBody>
      </p:sp>
      <p:sp>
        <p:nvSpPr>
          <p:cNvPr id="326" name="직사각형 325">
            <a:extLst>
              <a:ext uri="{FF2B5EF4-FFF2-40B4-BE49-F238E27FC236}">
                <a16:creationId xmlns:a16="http://schemas.microsoft.com/office/drawing/2014/main" id="{1F5BBC27-AF31-4074-BFA3-D3BB76637572}"/>
              </a:ext>
            </a:extLst>
          </p:cNvPr>
          <p:cNvSpPr/>
          <p:nvPr/>
        </p:nvSpPr>
        <p:spPr>
          <a:xfrm>
            <a:off x="9443551" y="1258375"/>
            <a:ext cx="158966" cy="92027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EBF1A7DD-B698-4C3F-B0F7-FD6D9822FEEB}"/>
              </a:ext>
            </a:extLst>
          </p:cNvPr>
          <p:cNvSpPr/>
          <p:nvPr/>
        </p:nvSpPr>
        <p:spPr>
          <a:xfrm>
            <a:off x="9789799" y="1438410"/>
            <a:ext cx="1779654" cy="577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QA1. Throughput</a:t>
            </a:r>
          </a:p>
          <a:p>
            <a:r>
              <a:rPr lang="en-US" altLang="ko-KR" sz="10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QA2. Resource Efficiency</a:t>
            </a:r>
          </a:p>
          <a:p>
            <a:r>
              <a:rPr lang="en-US" altLang="ko-KR" sz="10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QA3. Modifiability </a:t>
            </a:r>
          </a:p>
        </p:txBody>
      </p: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EA8E4AB3-DEFD-4A79-B99F-08D8B5E2239F}"/>
              </a:ext>
            </a:extLst>
          </p:cNvPr>
          <p:cNvSpPr/>
          <p:nvPr/>
        </p:nvSpPr>
        <p:spPr>
          <a:xfrm>
            <a:off x="9789799" y="2796785"/>
            <a:ext cx="1779654" cy="577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QA1. Throughput</a:t>
            </a:r>
          </a:p>
          <a:p>
            <a:r>
              <a:rPr lang="en-US" altLang="ko-KR" sz="10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QA2. Resource Efficiency</a:t>
            </a:r>
          </a:p>
          <a:p>
            <a:r>
              <a:rPr lang="en-US" altLang="ko-KR" sz="10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QA4. Scalability</a:t>
            </a:r>
          </a:p>
        </p:txBody>
      </p:sp>
      <p:sp>
        <p:nvSpPr>
          <p:cNvPr id="334" name="직사각형 333">
            <a:extLst>
              <a:ext uri="{FF2B5EF4-FFF2-40B4-BE49-F238E27FC236}">
                <a16:creationId xmlns:a16="http://schemas.microsoft.com/office/drawing/2014/main" id="{1281D8CA-BE80-4341-821F-9E0FBE008879}"/>
              </a:ext>
            </a:extLst>
          </p:cNvPr>
          <p:cNvSpPr/>
          <p:nvPr/>
        </p:nvSpPr>
        <p:spPr>
          <a:xfrm>
            <a:off x="9443551" y="5246253"/>
            <a:ext cx="158966" cy="735995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5" name="직사각형 334">
            <a:extLst>
              <a:ext uri="{FF2B5EF4-FFF2-40B4-BE49-F238E27FC236}">
                <a16:creationId xmlns:a16="http://schemas.microsoft.com/office/drawing/2014/main" id="{73F9068F-D995-4FF3-9F53-6E31967EA48F}"/>
              </a:ext>
            </a:extLst>
          </p:cNvPr>
          <p:cNvSpPr/>
          <p:nvPr/>
        </p:nvSpPr>
        <p:spPr>
          <a:xfrm>
            <a:off x="9789799" y="5447705"/>
            <a:ext cx="1308371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QA1. Throughput</a:t>
            </a:r>
          </a:p>
          <a:p>
            <a:r>
              <a:rPr lang="en-US" altLang="ko-KR" sz="10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QA5. Scalability</a:t>
            </a:r>
          </a:p>
        </p:txBody>
      </p:sp>
      <p:sp>
        <p:nvSpPr>
          <p:cNvPr id="336" name="직사각형 335">
            <a:extLst>
              <a:ext uri="{FF2B5EF4-FFF2-40B4-BE49-F238E27FC236}">
                <a16:creationId xmlns:a16="http://schemas.microsoft.com/office/drawing/2014/main" id="{AE5B1FAE-5F5C-417C-9BB4-206CA55C7102}"/>
              </a:ext>
            </a:extLst>
          </p:cNvPr>
          <p:cNvSpPr/>
          <p:nvPr/>
        </p:nvSpPr>
        <p:spPr>
          <a:xfrm>
            <a:off x="9580321" y="3937315"/>
            <a:ext cx="1784463" cy="2846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ko-KR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DP-3. </a:t>
            </a:r>
            <a:r>
              <a:rPr lang="en-US" altLang="ko-KR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KV</a:t>
            </a:r>
            <a:r>
              <a:rPr lang="ko-KR" altLang="en-US" sz="12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 캐시 재사용</a:t>
            </a:r>
            <a:endParaRPr lang="ko-KR" altLang="en-US" sz="1250" b="1" dirty="0"/>
          </a:p>
        </p:txBody>
      </p:sp>
      <p:sp>
        <p:nvSpPr>
          <p:cNvPr id="337" name="직사각형 336">
            <a:extLst>
              <a:ext uri="{FF2B5EF4-FFF2-40B4-BE49-F238E27FC236}">
                <a16:creationId xmlns:a16="http://schemas.microsoft.com/office/drawing/2014/main" id="{208EA886-0989-42C4-8166-A549EF76B8C8}"/>
              </a:ext>
            </a:extLst>
          </p:cNvPr>
          <p:cNvSpPr/>
          <p:nvPr/>
        </p:nvSpPr>
        <p:spPr>
          <a:xfrm>
            <a:off x="9443551" y="3998112"/>
            <a:ext cx="158966" cy="727479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8" name="직사각형 337">
            <a:extLst>
              <a:ext uri="{FF2B5EF4-FFF2-40B4-BE49-F238E27FC236}">
                <a16:creationId xmlns:a16="http://schemas.microsoft.com/office/drawing/2014/main" id="{23AF7D03-F190-46E0-8280-EB1F259562B5}"/>
              </a:ext>
            </a:extLst>
          </p:cNvPr>
          <p:cNvSpPr/>
          <p:nvPr/>
        </p:nvSpPr>
        <p:spPr>
          <a:xfrm>
            <a:off x="9789799" y="4199563"/>
            <a:ext cx="2004075" cy="5770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QA1. Throughput</a:t>
            </a:r>
          </a:p>
          <a:p>
            <a:r>
              <a:rPr lang="en-US" altLang="ko-KR" sz="10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QA2. Resource Efficiency</a:t>
            </a:r>
          </a:p>
          <a:p>
            <a:r>
              <a:rPr lang="en-US" altLang="ko-KR" sz="1050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QA5. Functional Correctness</a:t>
            </a:r>
          </a:p>
        </p:txBody>
      </p:sp>
      <p:sp>
        <p:nvSpPr>
          <p:cNvPr id="340" name="직사각형 339">
            <a:extLst>
              <a:ext uri="{FF2B5EF4-FFF2-40B4-BE49-F238E27FC236}">
                <a16:creationId xmlns:a16="http://schemas.microsoft.com/office/drawing/2014/main" id="{D69D0FCC-FF8F-491B-9315-43C7CB65367D}"/>
              </a:ext>
            </a:extLst>
          </p:cNvPr>
          <p:cNvSpPr/>
          <p:nvPr/>
        </p:nvSpPr>
        <p:spPr>
          <a:xfrm>
            <a:off x="9443551" y="2564262"/>
            <a:ext cx="158966" cy="9202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5" name="직사각형 344">
            <a:extLst>
              <a:ext uri="{FF2B5EF4-FFF2-40B4-BE49-F238E27FC236}">
                <a16:creationId xmlns:a16="http://schemas.microsoft.com/office/drawing/2014/main" id="{DAA2D829-A8F0-4AA4-AC12-D22E2A7F96CF}"/>
              </a:ext>
            </a:extLst>
          </p:cNvPr>
          <p:cNvSpPr/>
          <p:nvPr/>
        </p:nvSpPr>
        <p:spPr>
          <a:xfrm>
            <a:off x="475643" y="3851589"/>
            <a:ext cx="800433" cy="756323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7" name="직사각형 346">
            <a:extLst>
              <a:ext uri="{FF2B5EF4-FFF2-40B4-BE49-F238E27FC236}">
                <a16:creationId xmlns:a16="http://schemas.microsoft.com/office/drawing/2014/main" id="{3F0CD0D6-203A-4775-A596-826544A8A24D}"/>
              </a:ext>
            </a:extLst>
          </p:cNvPr>
          <p:cNvSpPr/>
          <p:nvPr/>
        </p:nvSpPr>
        <p:spPr>
          <a:xfrm>
            <a:off x="1782222" y="4749985"/>
            <a:ext cx="2132637" cy="363158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8" name="직사각형 347">
            <a:extLst>
              <a:ext uri="{FF2B5EF4-FFF2-40B4-BE49-F238E27FC236}">
                <a16:creationId xmlns:a16="http://schemas.microsoft.com/office/drawing/2014/main" id="{4E0240E3-9BB8-45A1-901D-C7BBDD61D7A5}"/>
              </a:ext>
            </a:extLst>
          </p:cNvPr>
          <p:cNvSpPr/>
          <p:nvPr/>
        </p:nvSpPr>
        <p:spPr>
          <a:xfrm>
            <a:off x="472272" y="2113876"/>
            <a:ext cx="816203" cy="862360"/>
          </a:xfrm>
          <a:prstGeom prst="rect">
            <a:avLst/>
          </a:prstGeom>
          <a:noFill/>
          <a:ln w="28575">
            <a:solidFill>
              <a:srgbClr val="7030A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9" name="직사각형 348">
            <a:extLst>
              <a:ext uri="{FF2B5EF4-FFF2-40B4-BE49-F238E27FC236}">
                <a16:creationId xmlns:a16="http://schemas.microsoft.com/office/drawing/2014/main" id="{CF1A6EA5-52FC-408F-9AEE-45B9AE0F6533}"/>
              </a:ext>
            </a:extLst>
          </p:cNvPr>
          <p:cNvSpPr/>
          <p:nvPr/>
        </p:nvSpPr>
        <p:spPr>
          <a:xfrm>
            <a:off x="3014145" y="2126062"/>
            <a:ext cx="4716603" cy="42711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2" name="직사각형 351">
            <a:extLst>
              <a:ext uri="{FF2B5EF4-FFF2-40B4-BE49-F238E27FC236}">
                <a16:creationId xmlns:a16="http://schemas.microsoft.com/office/drawing/2014/main" id="{0C5C70F7-44D1-43D1-A8AF-4039F97A9E41}"/>
              </a:ext>
            </a:extLst>
          </p:cNvPr>
          <p:cNvSpPr/>
          <p:nvPr/>
        </p:nvSpPr>
        <p:spPr>
          <a:xfrm>
            <a:off x="6730524" y="3645269"/>
            <a:ext cx="973051" cy="332911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1" name="그룹 360">
            <a:extLst>
              <a:ext uri="{FF2B5EF4-FFF2-40B4-BE49-F238E27FC236}">
                <a16:creationId xmlns:a16="http://schemas.microsoft.com/office/drawing/2014/main" id="{06DA6039-4915-48F7-957C-53BD25C4DECF}"/>
              </a:ext>
            </a:extLst>
          </p:cNvPr>
          <p:cNvGrpSpPr/>
          <p:nvPr/>
        </p:nvGrpSpPr>
        <p:grpSpPr>
          <a:xfrm>
            <a:off x="397988" y="5150460"/>
            <a:ext cx="723464" cy="740401"/>
            <a:chOff x="430412" y="5447854"/>
            <a:chExt cx="723464" cy="740401"/>
          </a:xfrm>
        </p:grpSpPr>
        <p:sp>
          <p:nvSpPr>
            <p:cNvPr id="355" name="직사각형 354">
              <a:extLst>
                <a:ext uri="{FF2B5EF4-FFF2-40B4-BE49-F238E27FC236}">
                  <a16:creationId xmlns:a16="http://schemas.microsoft.com/office/drawing/2014/main" id="{B0887197-F49B-407F-901A-7A4FBA359060}"/>
                </a:ext>
              </a:extLst>
            </p:cNvPr>
            <p:cNvSpPr/>
            <p:nvPr/>
          </p:nvSpPr>
          <p:spPr>
            <a:xfrm>
              <a:off x="494022" y="5942887"/>
              <a:ext cx="604385" cy="24536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>
                  <a:solidFill>
                    <a:schemeClr val="tx1"/>
                  </a:solidFill>
                </a:rPr>
                <a:t>신규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/</a:t>
              </a:r>
              <a:r>
                <a:rPr lang="ko-KR" altLang="en-US" sz="700" b="1" dirty="0">
                  <a:solidFill>
                    <a:schemeClr val="tx1"/>
                  </a:solidFill>
                </a:rPr>
                <a:t>수정 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Module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356" name="직사각형 355">
              <a:extLst>
                <a:ext uri="{FF2B5EF4-FFF2-40B4-BE49-F238E27FC236}">
                  <a16:creationId xmlns:a16="http://schemas.microsoft.com/office/drawing/2014/main" id="{BFDBEC6B-6081-4054-B9CA-60DE32E87723}"/>
                </a:ext>
              </a:extLst>
            </p:cNvPr>
            <p:cNvSpPr/>
            <p:nvPr/>
          </p:nvSpPr>
          <p:spPr>
            <a:xfrm>
              <a:off x="494022" y="5655547"/>
              <a:ext cx="604385" cy="245368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>
                  <a:solidFill>
                    <a:schemeClr val="tx1"/>
                  </a:solidFill>
                </a:rPr>
                <a:t>기존 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Module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360" name="TextBox 359">
              <a:extLst>
                <a:ext uri="{FF2B5EF4-FFF2-40B4-BE49-F238E27FC236}">
                  <a16:creationId xmlns:a16="http://schemas.microsoft.com/office/drawing/2014/main" id="{D556D070-02D8-4D33-BFD9-7FFF7C31D0BB}"/>
                </a:ext>
              </a:extLst>
            </p:cNvPr>
            <p:cNvSpPr txBox="1"/>
            <p:nvPr/>
          </p:nvSpPr>
          <p:spPr>
            <a:xfrm>
              <a:off x="430412" y="5447854"/>
              <a:ext cx="72346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/>
                <a:t>Legend</a:t>
              </a:r>
              <a:endParaRPr lang="ko-KR" altLang="en-US" sz="800" b="1" dirty="0"/>
            </a:p>
          </p:txBody>
        </p:sp>
      </p:grpSp>
      <p:sp>
        <p:nvSpPr>
          <p:cNvPr id="363" name="직사각형 362">
            <a:extLst>
              <a:ext uri="{FF2B5EF4-FFF2-40B4-BE49-F238E27FC236}">
                <a16:creationId xmlns:a16="http://schemas.microsoft.com/office/drawing/2014/main" id="{AD051C3C-12D8-42BB-9F55-991CB6F616BC}"/>
              </a:ext>
            </a:extLst>
          </p:cNvPr>
          <p:cNvSpPr/>
          <p:nvPr/>
        </p:nvSpPr>
        <p:spPr>
          <a:xfrm>
            <a:off x="8315940" y="3243336"/>
            <a:ext cx="793194" cy="1608456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5" name="직사각형 364">
            <a:extLst>
              <a:ext uri="{FF2B5EF4-FFF2-40B4-BE49-F238E27FC236}">
                <a16:creationId xmlns:a16="http://schemas.microsoft.com/office/drawing/2014/main" id="{31F9289C-89E3-4569-8CB1-A50BCE19B7AD}"/>
              </a:ext>
            </a:extLst>
          </p:cNvPr>
          <p:cNvSpPr/>
          <p:nvPr/>
        </p:nvSpPr>
        <p:spPr>
          <a:xfrm>
            <a:off x="4350418" y="3982949"/>
            <a:ext cx="899880" cy="392969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8" name="직사각형 367">
            <a:extLst>
              <a:ext uri="{FF2B5EF4-FFF2-40B4-BE49-F238E27FC236}">
                <a16:creationId xmlns:a16="http://schemas.microsoft.com/office/drawing/2014/main" id="{E81D811F-D865-44DE-B588-B672A5ED15C9}"/>
              </a:ext>
            </a:extLst>
          </p:cNvPr>
          <p:cNvSpPr/>
          <p:nvPr/>
        </p:nvSpPr>
        <p:spPr>
          <a:xfrm>
            <a:off x="504341" y="4688629"/>
            <a:ext cx="731306" cy="2968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KV Index</a:t>
            </a:r>
          </a:p>
          <a:p>
            <a:pPr algn="ctr"/>
            <a:r>
              <a:rPr lang="en-US" altLang="ko-KR" sz="700" b="1" dirty="0">
                <a:solidFill>
                  <a:schemeClr val="tx1"/>
                </a:solidFill>
              </a:rPr>
              <a:t>Manager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369" name="직사각형 368">
            <a:extLst>
              <a:ext uri="{FF2B5EF4-FFF2-40B4-BE49-F238E27FC236}">
                <a16:creationId xmlns:a16="http://schemas.microsoft.com/office/drawing/2014/main" id="{C1ECC368-8C00-47A3-B150-B92406C5E7BE}"/>
              </a:ext>
            </a:extLst>
          </p:cNvPr>
          <p:cNvSpPr/>
          <p:nvPr/>
        </p:nvSpPr>
        <p:spPr>
          <a:xfrm>
            <a:off x="461216" y="4670621"/>
            <a:ext cx="818835" cy="362304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0" name="직사각형 369">
            <a:extLst>
              <a:ext uri="{FF2B5EF4-FFF2-40B4-BE49-F238E27FC236}">
                <a16:creationId xmlns:a16="http://schemas.microsoft.com/office/drawing/2014/main" id="{8BD2194C-80C8-4765-9FEB-D972CEECD1A7}"/>
              </a:ext>
            </a:extLst>
          </p:cNvPr>
          <p:cNvSpPr/>
          <p:nvPr/>
        </p:nvSpPr>
        <p:spPr>
          <a:xfrm>
            <a:off x="392299" y="4639683"/>
            <a:ext cx="939880" cy="448181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8BD2194C-80C8-4765-9FEB-D972CEECD1A7}"/>
              </a:ext>
            </a:extLst>
          </p:cNvPr>
          <p:cNvSpPr/>
          <p:nvPr/>
        </p:nvSpPr>
        <p:spPr>
          <a:xfrm>
            <a:off x="1785381" y="4358738"/>
            <a:ext cx="2129478" cy="1119917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97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분석 – Overall Architecture (Module View, 요약)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61872"/>
            <a:ext cx="9281160" cy="5230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377440" cy="246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Memory-Centric AI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326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전체 Overall Architecture – 패키지와 핵심 모듈 (상세 모듈은 설계/구현 단계의 Module View 참조)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1417320" cy="118872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502920" cy="9144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90472"/>
            <a:ext cx="14173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1828800"/>
            <a:ext cx="1280160" cy="320040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User Query Manager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2240280"/>
            <a:ext cx="1280160" cy="320040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Query History Manager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481328"/>
            <a:ext cx="6172200" cy="118872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920240" y="1389888"/>
            <a:ext cx="502920" cy="9144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0240" y="1490472"/>
            <a:ext cx="617220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Request Orchestrator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1874519"/>
            <a:ext cx="1097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Request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874519"/>
            <a:ext cx="1097280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Prefill/Decode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 Planner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874519"/>
            <a:ext cx="10972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Router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874519"/>
            <a:ext cx="1097280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State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Monitor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874519"/>
            <a:ext cx="1097280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 Evaluator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80360"/>
            <a:ext cx="1417320" cy="352044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2788920"/>
            <a:ext cx="502920" cy="9144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2889503"/>
            <a:ext cx="14173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Pool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" y="3291840"/>
            <a:ext cx="1280160" cy="594360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Compressor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" y="4160520"/>
            <a:ext cx="1280160" cy="594360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Blending Manager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" y="5029200"/>
            <a:ext cx="1280160" cy="594360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Index Manager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2880360"/>
            <a:ext cx="6172200" cy="352044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920240" y="2788920"/>
            <a:ext cx="502920" cy="9144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20240" y="2889503"/>
            <a:ext cx="617220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Inference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3200400"/>
            <a:ext cx="1097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011680" y="3108960"/>
            <a:ext cx="5029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011680" y="3209544"/>
            <a:ext cx="1097280" cy="2011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Generation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75688" y="3520440"/>
            <a:ext cx="96926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75688" y="4206240"/>
            <a:ext cx="96926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Engine 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75688" y="4892040"/>
            <a:ext cx="969264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5577840"/>
            <a:ext cx="96926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Input/Output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Processor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0" y="3200400"/>
            <a:ext cx="1097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00400" y="3108960"/>
            <a:ext cx="5029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0" y="3209544"/>
            <a:ext cx="1097280" cy="2011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Compute Management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64408" y="3520440"/>
            <a:ext cx="96926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64408" y="4206240"/>
            <a:ext cx="96926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 Runner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4408" y="4892040"/>
            <a:ext cx="969264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Attention Backend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64408" y="5577840"/>
            <a:ext cx="969264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Custom Operator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3200400"/>
            <a:ext cx="228600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89120" y="3108960"/>
            <a:ext cx="5029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89120" y="3209544"/>
            <a:ext cx="2286000" cy="2011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Management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53128" y="3520440"/>
            <a:ext cx="1005840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Migration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53128" y="4206240"/>
            <a:ext cx="1005840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Behavior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Monitor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453128" y="4892040"/>
            <a:ext cx="1005840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Eviction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Manager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53128" y="5577840"/>
            <a:ext cx="1005840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Object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Registry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77840" y="3520440"/>
            <a:ext cx="1033271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Cache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Manager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77840" y="4206240"/>
            <a:ext cx="1033271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Expert Manager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77840" y="4892040"/>
            <a:ext cx="1033271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LoRA Manager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577840" y="5577840"/>
            <a:ext cx="1033271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Metadata Client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3200400"/>
            <a:ext cx="126187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766560" y="3108960"/>
            <a:ext cx="5029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66560" y="3209544"/>
            <a:ext cx="1261872" cy="2011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Resource Mgmt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21424" y="3520440"/>
            <a:ext cx="1152144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Resource State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Monitor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21424" y="4206240"/>
            <a:ext cx="1152144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Resource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Analyzer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21424" y="4892040"/>
            <a:ext cx="1152144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Destination Tier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21424" y="5577840"/>
            <a:ext cx="1152144" cy="50292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Telemetry</a:t>
            </a:r>
          </a:p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Collector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11312" y="1481328"/>
            <a:ext cx="1234440" cy="4919472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211312" y="1389888"/>
            <a:ext cx="502920" cy="9144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11312" y="1490472"/>
            <a:ext cx="12344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System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75320" y="1810512"/>
            <a:ext cx="11064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Utility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75320" y="2286000"/>
            <a:ext cx="11064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Configuration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75320" y="2834640"/>
            <a:ext cx="1106424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Network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275320" y="3520440"/>
            <a:ext cx="1106424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Memory Pool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75320" y="4251960"/>
            <a:ext cx="1106424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Shared Pool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75320" y="5029200"/>
            <a:ext cx="1106424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Debug Log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097280" y="2670048"/>
            <a:ext cx="0" cy="210312"/>
          </a:xfrm>
          <a:prstGeom prst="line">
            <a:avLst/>
          </a:prstGeom>
          <a:ln w="1016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783080" y="2103120"/>
            <a:ext cx="137160" cy="0"/>
          </a:xfrm>
          <a:prstGeom prst="line">
            <a:avLst/>
          </a:prstGeom>
          <a:ln w="1016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937760" y="2670048"/>
            <a:ext cx="0" cy="210312"/>
          </a:xfrm>
          <a:prstGeom prst="line">
            <a:avLst/>
          </a:prstGeom>
          <a:ln w="1016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4719561" y="2692908"/>
            <a:ext cx="4363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&lt;&lt;use&gt;&gt;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092440" y="2103120"/>
            <a:ext cx="118872" cy="0"/>
          </a:xfrm>
          <a:prstGeom prst="line">
            <a:avLst/>
          </a:prstGeom>
          <a:ln w="1016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783080" y="4480560"/>
            <a:ext cx="137160" cy="0"/>
          </a:xfrm>
          <a:prstGeom prst="line">
            <a:avLst/>
          </a:prstGeom>
          <a:ln w="10160">
            <a:solidFill>
              <a:srgbClr val="595959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633461" y="4398264"/>
            <a:ext cx="4363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&lt;&lt;use&gt;&gt;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8028431" y="4754880"/>
            <a:ext cx="182881" cy="0"/>
          </a:xfrm>
          <a:prstGeom prst="line">
            <a:avLst/>
          </a:prstGeom>
          <a:ln w="10160">
            <a:solidFill>
              <a:srgbClr val="595959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901673" y="4672584"/>
            <a:ext cx="4363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&lt;&lt;use&gt;&gt;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738360" y="1188720"/>
            <a:ext cx="82296" cy="914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875520" y="1161288"/>
            <a:ext cx="219456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DP1. Data Migration 결정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QA1 Throughput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QA2 HBM 점유율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QA5 Modifiability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738360" y="2377440"/>
            <a:ext cx="82296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875520" y="2350008"/>
            <a:ext cx="219456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DP2. 연산 실행 위치 결정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QA1 Throughput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QA2 HBM 점유율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QA4 Scalability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738360" y="3566160"/>
            <a:ext cx="82296" cy="91440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9875520" y="3538728"/>
            <a:ext cx="219456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DP3. KV 캐시 재사용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QA1 Throughput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QA2 HBM 점유율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정확도(C02)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738360" y="4754880"/>
            <a:ext cx="82296" cy="91440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875520" y="4727448"/>
            <a:ext cx="219456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DP4. 서버 간 KV 캐시 공유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QA1 Throughput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QA3 고부하 지연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QA4 Scalability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784080" y="5989320"/>
            <a:ext cx="32004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기존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149840" y="5989320"/>
            <a:ext cx="548640" cy="201168"/>
          </a:xfrm>
          <a:prstGeom prst="rect">
            <a:avLst/>
          </a:prstGeom>
          <a:solidFill>
            <a:srgbClr val="FFF2CC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신규/수정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744200" y="5971032"/>
            <a:ext cx="12801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테두리 색 = 담당 DP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49035" y="1044054"/>
          <a:ext cx="11747501" cy="5376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2618081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591491">
                  <a:extLst>
                    <a:ext uri="{9D8B030D-6E8A-4147-A177-3AD203B41FA5}">
                      <a16:colId xmlns:a16="http://schemas.microsoft.com/office/drawing/2014/main" val="1488648967"/>
                    </a:ext>
                  </a:extLst>
                </a:gridCol>
                <a:gridCol w="1226482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2792524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1340394">
                  <a:extLst>
                    <a:ext uri="{9D8B030D-6E8A-4147-A177-3AD203B41FA5}">
                      <a16:colId xmlns:a16="http://schemas.microsoft.com/office/drawing/2014/main" val="4076489270"/>
                    </a:ext>
                  </a:extLst>
                </a:gridCol>
                <a:gridCol w="1303136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baseline="0" dirty="0"/>
                        <a:t>상태 관측과 이동 결정을 한 곳에서 </a:t>
                      </a: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dirty="0"/>
                        <a:t>상태 관측과 이동 결정을 분리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134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Threshold trigger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가 즉시 판단을 기동해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HBM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압박 구간이 짧음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(Q2) </a:t>
                      </a:r>
                      <a:endParaRPr lang="ko-KR" altLang="en-US" sz="1200" b="0" i="0" dirty="0">
                        <a:solidFill>
                          <a:srgbClr val="404040"/>
                        </a:solidFill>
                        <a:latin typeface="+mn-lt"/>
                        <a:ea typeface="맑은 고딕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Plane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간 인터페이스 호출이 없어 정책 수정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범위 제한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(Q4)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Data object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 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access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 특성에 맞게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fine-grained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이동 가능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다양한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workload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혼재 시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 behavior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특성 기반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migration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효과 증가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동일한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resource state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에서 서로 다른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access pattern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구분 한계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  <a:endParaRPr lang="en-US" altLang="ko-KR" sz="12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다양한 </a:t>
                      </a:r>
                      <a:r>
                        <a:rPr lang="en-US" altLang="ko-KR" sz="1200" dirty="0"/>
                        <a:t>workload </a:t>
                      </a:r>
                      <a:r>
                        <a:rPr lang="ko-KR" altLang="en-US" sz="1200" dirty="0"/>
                        <a:t>혼재 시 </a:t>
                      </a:r>
                      <a:r>
                        <a:rPr lang="en-US" altLang="ko-KR" sz="1200" dirty="0"/>
                        <a:t>resource pressure </a:t>
                      </a:r>
                      <a:r>
                        <a:rPr lang="ko-KR" altLang="en-US" sz="1200" dirty="0"/>
                        <a:t>대응 한계 증가 </a:t>
                      </a:r>
                      <a:r>
                        <a:rPr lang="en-US" altLang="ko-KR" sz="1200" dirty="0"/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Snapshot age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만큼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stale → HBM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확보 지연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(Q2)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Snapshot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스키마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,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Command Queue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인터페이스가 바뀌면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Resource,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Data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Plane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동반 수정 필요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(Q4)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541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</a:t>
                      </a: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 Resource Efficiency 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Q5. Modifiability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2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 Resource Efficiency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Q5. Modifiability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lang="ko-KR" altLang="en-US" sz="1200" strike="noStrike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200" strike="noStrike" dirty="0">
                        <a:solidFill>
                          <a:schemeClr val="accent5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b="0" dirty="0">
                        <a:solidFill>
                          <a:srgbClr val="0070C0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DP1. Data Migration</a:t>
            </a:r>
            <a:r>
              <a:rPr lang="ko-KR" altLang="en-US" dirty="0"/>
              <a:t> 결정 구조</a:t>
            </a:r>
            <a:r>
              <a:rPr lang="en-US" altLang="ko-KR" dirty="0"/>
              <a:t> - </a:t>
            </a:r>
            <a:r>
              <a:rPr lang="ko-KR" altLang="en-US" dirty="0"/>
              <a:t>설계</a:t>
            </a: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0" y="6597650"/>
            <a:ext cx="457200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5814" y="632567"/>
            <a:ext cx="8021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메모리 자원 상태와 데이터 특성을 고려한 데이터 이동</a:t>
            </a:r>
            <a:r>
              <a:rPr lang="en-US" altLang="ko-KR" sz="1400" b="1" dirty="0">
                <a:solidFill>
                  <a:schemeClr val="bg1"/>
                </a:solidFill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</a:rPr>
              <a:t>결정 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10024136" y="624622"/>
            <a:ext cx="910691" cy="13449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실행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11250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자원 상태에 우선한 이동 결정</a:t>
            </a:r>
            <a:r>
              <a:rPr lang="en-US" altLang="ko-KR" sz="1100" dirty="0"/>
              <a:t>“ 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34149" y="1383052"/>
            <a:ext cx="5448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데이터 특성에 우선한 이동 결정</a:t>
            </a:r>
            <a:r>
              <a:rPr lang="en-US" altLang="ko-KR" sz="1100" dirty="0"/>
              <a:t>”</a:t>
            </a:r>
            <a:endParaRPr lang="en-US" altLang="ko-KR" sz="1100" strike="sngStrike" dirty="0"/>
          </a:p>
        </p:txBody>
      </p:sp>
      <p:sp>
        <p:nvSpPr>
          <p:cNvPr id="86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8339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F4 KV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캐시 관리</a:t>
            </a:r>
          </a:p>
        </p:txBody>
      </p:sp>
      <p:sp>
        <p:nvSpPr>
          <p:cNvPr id="88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8617288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90" name="모서리가 둥근 직사각형 37">
            <a:extLst>
              <a:ext uri="{FF2B5EF4-FFF2-40B4-BE49-F238E27FC236}">
                <a16:creationId xmlns:a16="http://schemas.microsoft.com/office/drawing/2014/main" id="{63E127C8-1374-4049-8A7A-84E9B191F365}"/>
              </a:ext>
            </a:extLst>
          </p:cNvPr>
          <p:cNvSpPr/>
          <p:nvPr/>
        </p:nvSpPr>
        <p:spPr>
          <a:xfrm>
            <a:off x="9506874" y="821023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91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0396460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80BD5A-8E5D-4229-B9CD-EE7278C05436}"/>
              </a:ext>
            </a:extLst>
          </p:cNvPr>
          <p:cNvSpPr txBox="1"/>
          <p:nvPr/>
        </p:nvSpPr>
        <p:spPr>
          <a:xfrm>
            <a:off x="4617258" y="6563925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6.5</a:t>
            </a:r>
            <a:r>
              <a:rPr lang="ko-KR" altLang="en-US" sz="1200" dirty="0"/>
              <a:t>점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D91191D-072D-4CEC-A0E8-E3D891FF373D}"/>
              </a:ext>
            </a:extLst>
          </p:cNvPr>
          <p:cNvSpPr txBox="1"/>
          <p:nvPr/>
        </p:nvSpPr>
        <p:spPr>
          <a:xfrm>
            <a:off x="10016983" y="6578106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7</a:t>
            </a:r>
            <a:r>
              <a:rPr lang="ko-KR" altLang="en-US" sz="1200" dirty="0"/>
              <a:t>점</a:t>
            </a:r>
          </a:p>
        </p:txBody>
      </p:sp>
      <p:sp>
        <p:nvSpPr>
          <p:cNvPr id="4" name="실행 단추: 앞으로 또는 다음으로 이동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45EE784-4191-4924-833C-F4E4E1D195A6}"/>
              </a:ext>
            </a:extLst>
          </p:cNvPr>
          <p:cNvSpPr/>
          <p:nvPr/>
        </p:nvSpPr>
        <p:spPr>
          <a:xfrm>
            <a:off x="580860" y="6144357"/>
            <a:ext cx="199763" cy="17731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실행 단추: 앞으로 또는 다음 99">
            <a:hlinkClick r:id="" action="ppaction://noaction" highlightClick="1"/>
          </p:cNvPr>
          <p:cNvSpPr/>
          <p:nvPr/>
        </p:nvSpPr>
        <p:spPr>
          <a:xfrm>
            <a:off x="6115324" y="1095164"/>
            <a:ext cx="199762" cy="22422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실행 단추: 앞으로 또는 다음 101">
            <a:hlinkClick r:id="" action="ppaction://noaction" highlightClick="1"/>
          </p:cNvPr>
          <p:cNvSpPr/>
          <p:nvPr/>
        </p:nvSpPr>
        <p:spPr>
          <a:xfrm>
            <a:off x="11618261" y="1095164"/>
            <a:ext cx="199762" cy="22422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3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7876884" y="619129"/>
            <a:ext cx="1003759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C1 </a:t>
            </a:r>
            <a:r>
              <a:rPr lang="en-US" altLang="ko-KR" sz="700" dirty="0" err="1">
                <a:latin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</a:rPr>
              <a:t>개발 환경</a:t>
            </a:r>
          </a:p>
        </p:txBody>
      </p:sp>
      <p:sp>
        <p:nvSpPr>
          <p:cNvPr id="104" name="모서리가 둥근 직사각형 37">
            <a:extLst>
              <a:ext uri="{FF2B5EF4-FFF2-40B4-BE49-F238E27FC236}">
                <a16:creationId xmlns:a16="http://schemas.microsoft.com/office/drawing/2014/main" id="{849CB062-936D-4F72-BDB2-73AE9FDAA773}"/>
              </a:ext>
            </a:extLst>
          </p:cNvPr>
          <p:cNvSpPr/>
          <p:nvPr/>
        </p:nvSpPr>
        <p:spPr>
          <a:xfrm>
            <a:off x="11209965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Q5 </a:t>
            </a:r>
            <a:r>
              <a:rPr lang="ko-KR" altLang="en-US" sz="700" dirty="0" err="1">
                <a:latin typeface="맑은 고딕" panose="020B0503020000020004" pitchFamily="50" charset="-127"/>
              </a:rPr>
              <a:t>변경용이성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grpSp>
        <p:nvGrpSpPr>
          <p:cNvPr id="84" name="그룹 83"/>
          <p:cNvGrpSpPr/>
          <p:nvPr/>
        </p:nvGrpSpPr>
        <p:grpSpPr>
          <a:xfrm>
            <a:off x="6621854" y="1744599"/>
            <a:ext cx="5128953" cy="2685098"/>
            <a:chOff x="6236208" y="1758886"/>
            <a:chExt cx="5641848" cy="2685098"/>
          </a:xfrm>
        </p:grpSpPr>
        <p:sp>
          <p:nvSpPr>
            <p:cNvPr id="309" name="Rectangle 71"/>
            <p:cNvSpPr/>
            <p:nvPr/>
          </p:nvSpPr>
          <p:spPr>
            <a:xfrm>
              <a:off x="6236208" y="1758886"/>
              <a:ext cx="5641848" cy="819721"/>
            </a:xfrm>
            <a:prstGeom prst="rect">
              <a:avLst/>
            </a:prstGeom>
            <a:solidFill>
              <a:srgbClr val="DCE9F7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10" name="TextBox 309"/>
            <p:cNvSpPr txBox="1"/>
            <p:nvPr/>
          </p:nvSpPr>
          <p:spPr>
            <a:xfrm>
              <a:off x="6236208" y="1800440"/>
              <a:ext cx="5641848" cy="146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ko-KR" sz="950" b="1" i="0" dirty="0">
                  <a:solidFill>
                    <a:srgbClr val="1F4E79"/>
                  </a:solidFill>
                  <a:latin typeface="맑은 고딕"/>
                  <a:ea typeface="맑은 고딕"/>
                </a:rPr>
                <a:t>Control Plane</a:t>
              </a:r>
              <a:endParaRPr sz="950" b="1" i="0" dirty="0">
                <a:solidFill>
                  <a:srgbClr val="1F4E79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1" name="Rectangle 73"/>
            <p:cNvSpPr/>
            <p:nvPr/>
          </p:nvSpPr>
          <p:spPr>
            <a:xfrm>
              <a:off x="6345935" y="2011680"/>
              <a:ext cx="1449321" cy="457200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50" b="1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Decision Scheduler</a:t>
              </a:r>
            </a:p>
            <a:p>
              <a:pPr algn="ctr">
                <a:lnSpc>
                  <a:spcPct val="125000"/>
                </a:lnSpc>
              </a:pP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판단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주기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en-US"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독립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보유</a:t>
              </a:r>
              <a:endParaRPr sz="650" b="0" i="0" dirty="0">
                <a:solidFill>
                  <a:srgbClr val="7F5F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2" name="Rectangle 74"/>
            <p:cNvSpPr/>
            <p:nvPr/>
          </p:nvSpPr>
          <p:spPr>
            <a:xfrm>
              <a:off x="7968995" y="2011680"/>
              <a:ext cx="1046988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Trend Analyzer</a:t>
              </a:r>
            </a:p>
            <a:p>
              <a:pPr algn="ctr">
                <a:lnSpc>
                  <a:spcPct val="125000"/>
                </a:lnSpc>
              </a:pPr>
              <a:r>
                <a:rPr lang="ko-KR" altLang="en-US"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데이터</a:t>
              </a:r>
              <a:r>
                <a:rPr lang="en-US" altLang="ko-KR"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,</a:t>
              </a:r>
              <a:r>
                <a:rPr lang="ko-KR" altLang="en-US"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자원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추세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판단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3" name="Rectangle 75"/>
            <p:cNvSpPr/>
            <p:nvPr/>
          </p:nvSpPr>
          <p:spPr>
            <a:xfrm>
              <a:off x="9162288" y="2011680"/>
              <a:ext cx="128016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Affinity Mapper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데이터·메모리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적합도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14" name="Rectangle 76"/>
            <p:cNvSpPr/>
            <p:nvPr/>
          </p:nvSpPr>
          <p:spPr>
            <a:xfrm>
              <a:off x="10588752" y="2011680"/>
              <a:ext cx="1280160" cy="4572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9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Policy Engine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이동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명령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확정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315" name="Connector 77"/>
            <p:cNvCxnSpPr/>
            <p:nvPr/>
          </p:nvCxnSpPr>
          <p:spPr>
            <a:xfrm>
              <a:off x="7804402" y="2240280"/>
              <a:ext cx="164593" cy="0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6" name="Oval 78"/>
            <p:cNvSpPr/>
            <p:nvPr/>
          </p:nvSpPr>
          <p:spPr>
            <a:xfrm>
              <a:off x="7774975" y="2318004"/>
              <a:ext cx="155448" cy="155448"/>
            </a:xfrm>
            <a:prstGeom prst="ellipse">
              <a:avLst/>
            </a:prstGeom>
            <a:solidFill>
              <a:srgbClr val="BF8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 dirty="0">
                  <a:solidFill>
                    <a:srgbClr val="FFFFFF"/>
                  </a:solidFill>
                  <a:latin typeface="맑은 고딕"/>
                  <a:ea typeface="맑은 고딕"/>
                </a:rPr>
                <a:t>②</a:t>
              </a:r>
            </a:p>
          </p:txBody>
        </p:sp>
        <p:cxnSp>
          <p:nvCxnSpPr>
            <p:cNvPr id="317" name="Connector 79"/>
            <p:cNvCxnSpPr/>
            <p:nvPr/>
          </p:nvCxnSpPr>
          <p:spPr>
            <a:xfrm>
              <a:off x="9015984" y="2240280"/>
              <a:ext cx="146304" cy="0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Connector 80"/>
            <p:cNvCxnSpPr/>
            <p:nvPr/>
          </p:nvCxnSpPr>
          <p:spPr>
            <a:xfrm>
              <a:off x="10442448" y="2240280"/>
              <a:ext cx="146304" cy="0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Rectangle 81"/>
            <p:cNvSpPr/>
            <p:nvPr/>
          </p:nvSpPr>
          <p:spPr>
            <a:xfrm>
              <a:off x="6236208" y="2775204"/>
              <a:ext cx="2779776" cy="1266444"/>
            </a:xfrm>
            <a:prstGeom prst="rect">
              <a:avLst/>
            </a:prstGeom>
            <a:solidFill>
              <a:srgbClr val="DCE9F7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20" name="TextBox 319"/>
            <p:cNvSpPr txBox="1"/>
            <p:nvPr/>
          </p:nvSpPr>
          <p:spPr>
            <a:xfrm>
              <a:off x="6236208" y="2807263"/>
              <a:ext cx="2779776" cy="146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altLang="ko-KR" sz="950" b="1" i="0" dirty="0">
                  <a:solidFill>
                    <a:srgbClr val="1F4E79"/>
                  </a:solidFill>
                  <a:latin typeface="맑은 고딕"/>
                  <a:ea typeface="맑은 고딕"/>
                </a:rPr>
                <a:t>Resource Plane</a:t>
              </a:r>
              <a:endParaRPr sz="950" b="1" i="0" dirty="0">
                <a:solidFill>
                  <a:srgbClr val="1F4E79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21" name="Rectangle 83"/>
            <p:cNvSpPr/>
            <p:nvPr/>
          </p:nvSpPr>
          <p:spPr>
            <a:xfrm>
              <a:off x="6345936" y="3035808"/>
              <a:ext cx="2560320" cy="274320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State Snapshot Builder</a:t>
              </a:r>
            </a:p>
            <a:p>
              <a:pPr algn="ctr">
                <a:lnSpc>
                  <a:spcPct val="125000"/>
                </a:lnSpc>
              </a:pP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일관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복사본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생성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· object 수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비례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비용</a:t>
              </a:r>
              <a:endParaRPr sz="650" b="0" i="0" dirty="0">
                <a:solidFill>
                  <a:srgbClr val="7F5F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22" name="Rectangle 84"/>
            <p:cNvSpPr/>
            <p:nvPr/>
          </p:nvSpPr>
          <p:spPr>
            <a:xfrm>
              <a:off x="6345936" y="3364992"/>
              <a:ext cx="1225296" cy="256032"/>
            </a:xfrm>
            <a:prstGeom prst="rect">
              <a:avLst/>
            </a:prstGeom>
            <a:solidFill>
              <a:srgbClr val="D9D9D9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0" i="0">
                  <a:solidFill>
                    <a:srgbClr val="404040"/>
                  </a:solidFill>
                  <a:latin typeface="맑은 고딕"/>
                  <a:ea typeface="맑은 고딕"/>
                </a:rPr>
                <a:t>Telemetry Collector</a:t>
              </a:r>
            </a:p>
          </p:txBody>
        </p:sp>
        <p:sp>
          <p:nvSpPr>
            <p:cNvPr id="323" name="Rectangle 85"/>
            <p:cNvSpPr/>
            <p:nvPr/>
          </p:nvSpPr>
          <p:spPr>
            <a:xfrm>
              <a:off x="7680960" y="3364992"/>
              <a:ext cx="1225296" cy="2560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>
                  <a:solidFill>
                    <a:srgbClr val="404040"/>
                  </a:solidFill>
                  <a:latin typeface="맑은 고딕"/>
                  <a:ea typeface="맑은 고딕"/>
                </a:rPr>
                <a:t>State Monitor</a:t>
              </a:r>
            </a:p>
          </p:txBody>
        </p:sp>
        <p:sp>
          <p:nvSpPr>
            <p:cNvPr id="324" name="Rectangle 86"/>
            <p:cNvSpPr/>
            <p:nvPr/>
          </p:nvSpPr>
          <p:spPr>
            <a:xfrm>
              <a:off x="6345936" y="3675887"/>
              <a:ext cx="2560320" cy="2560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>
                  <a:solidFill>
                    <a:srgbClr val="404040"/>
                  </a:solidFill>
                  <a:latin typeface="맑은 고딕"/>
                  <a:ea typeface="맑은 고딕"/>
                </a:rPr>
                <a:t>Memory·Data Object Registry</a:t>
              </a:r>
            </a:p>
          </p:txBody>
        </p:sp>
        <p:cxnSp>
          <p:nvCxnSpPr>
            <p:cNvPr id="325" name="Connector 87"/>
            <p:cNvCxnSpPr/>
            <p:nvPr/>
          </p:nvCxnSpPr>
          <p:spPr>
            <a:xfrm flipV="1">
              <a:off x="6958584" y="3310128"/>
              <a:ext cx="0" cy="54864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Connector 88"/>
            <p:cNvCxnSpPr/>
            <p:nvPr/>
          </p:nvCxnSpPr>
          <p:spPr>
            <a:xfrm flipV="1">
              <a:off x="8293608" y="3310128"/>
              <a:ext cx="0" cy="54864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Connector 89"/>
            <p:cNvCxnSpPr/>
            <p:nvPr/>
          </p:nvCxnSpPr>
          <p:spPr>
            <a:xfrm flipV="1">
              <a:off x="7626096" y="3310128"/>
              <a:ext cx="0" cy="365759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Oval 90"/>
            <p:cNvSpPr/>
            <p:nvPr/>
          </p:nvSpPr>
          <p:spPr>
            <a:xfrm>
              <a:off x="7548371" y="3433572"/>
              <a:ext cx="155448" cy="155448"/>
            </a:xfrm>
            <a:prstGeom prst="ellipse">
              <a:avLst/>
            </a:prstGeom>
            <a:solidFill>
              <a:srgbClr val="BF8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 dirty="0">
                  <a:solidFill>
                    <a:srgbClr val="FFFFFF"/>
                  </a:solidFill>
                  <a:latin typeface="맑은 고딕"/>
                  <a:ea typeface="맑은 고딕"/>
                </a:rPr>
                <a:t>①</a:t>
              </a:r>
            </a:p>
          </p:txBody>
        </p:sp>
        <p:cxnSp>
          <p:nvCxnSpPr>
            <p:cNvPr id="329" name="Connector 91"/>
            <p:cNvCxnSpPr/>
            <p:nvPr/>
          </p:nvCxnSpPr>
          <p:spPr>
            <a:xfrm flipV="1">
              <a:off x="8686800" y="2468880"/>
              <a:ext cx="0" cy="566928"/>
            </a:xfrm>
            <a:prstGeom prst="line">
              <a:avLst/>
            </a:prstGeom>
            <a:ln w="12700">
              <a:solidFill>
                <a:srgbClr val="BF8F00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Oval 92"/>
            <p:cNvSpPr/>
            <p:nvPr/>
          </p:nvSpPr>
          <p:spPr>
            <a:xfrm>
              <a:off x="8773667" y="2647188"/>
              <a:ext cx="155448" cy="155448"/>
            </a:xfrm>
            <a:prstGeom prst="ellipse">
              <a:avLst/>
            </a:prstGeom>
            <a:solidFill>
              <a:srgbClr val="BF8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③</a:t>
              </a:r>
            </a:p>
          </p:txBody>
        </p:sp>
        <p:sp>
          <p:nvSpPr>
            <p:cNvPr id="331" name="Rectangle 93"/>
            <p:cNvSpPr/>
            <p:nvPr/>
          </p:nvSpPr>
          <p:spPr>
            <a:xfrm>
              <a:off x="9345168" y="2816352"/>
              <a:ext cx="2532888" cy="122529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32" name="TextBox 331"/>
            <p:cNvSpPr txBox="1"/>
            <p:nvPr/>
          </p:nvSpPr>
          <p:spPr>
            <a:xfrm>
              <a:off x="9345168" y="2852928"/>
              <a:ext cx="2532888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1F4E79"/>
                  </a:solidFill>
                  <a:latin typeface="맑은 고딕"/>
                  <a:ea typeface="맑은 고딕"/>
                </a:rPr>
                <a:t>Data Plane</a:t>
              </a:r>
            </a:p>
          </p:txBody>
        </p:sp>
        <p:sp>
          <p:nvSpPr>
            <p:cNvPr id="333" name="Rectangle 95"/>
            <p:cNvSpPr/>
            <p:nvPr/>
          </p:nvSpPr>
          <p:spPr>
            <a:xfrm>
              <a:off x="9454896" y="3035808"/>
              <a:ext cx="2313432" cy="292608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i="0">
                  <a:solidFill>
                    <a:srgbClr val="7F5F00"/>
                  </a:solidFill>
                  <a:latin typeface="맑은 고딕"/>
                  <a:ea typeface="맑은 고딕"/>
                </a:rPr>
                <a:t>Migration Command Queue</a:t>
              </a:r>
            </a:p>
            <a:p>
              <a:pPr algn="ctr">
                <a:lnSpc>
                  <a:spcPct val="125000"/>
                </a:lnSpc>
              </a:pPr>
              <a:r>
                <a:rPr sz="650" b="0" i="0">
                  <a:solidFill>
                    <a:srgbClr val="7F5F00"/>
                  </a:solidFill>
                  <a:latin typeface="맑은 고딕"/>
                  <a:ea typeface="맑은 고딕"/>
                </a:rPr>
                <a:t>비동기 판단 결과 버퍼 · 순서 보장</a:t>
              </a:r>
            </a:p>
          </p:txBody>
        </p:sp>
        <p:sp>
          <p:nvSpPr>
            <p:cNvPr id="334" name="Rectangle 96"/>
            <p:cNvSpPr/>
            <p:nvPr/>
          </p:nvSpPr>
          <p:spPr>
            <a:xfrm>
              <a:off x="9454896" y="3401568"/>
              <a:ext cx="2313432" cy="23774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50" b="0" i="0">
                  <a:solidFill>
                    <a:srgbClr val="404040"/>
                  </a:solidFill>
                  <a:latin typeface="맑은 고딕"/>
                  <a:ea typeface="맑은 고딕"/>
                </a:rPr>
                <a:t>Migration Executor</a:t>
              </a:r>
            </a:p>
          </p:txBody>
        </p:sp>
        <p:sp>
          <p:nvSpPr>
            <p:cNvPr id="335" name="Rectangle 97"/>
            <p:cNvSpPr/>
            <p:nvPr/>
          </p:nvSpPr>
          <p:spPr>
            <a:xfrm>
              <a:off x="9454896" y="3694176"/>
              <a:ext cx="2313432" cy="219456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1" i="0">
                  <a:solidFill>
                    <a:srgbClr val="FFFFFF"/>
                  </a:solidFill>
                  <a:latin typeface="맑은 고딕"/>
                  <a:ea typeface="맑은 고딕"/>
                </a:rPr>
                <a:t>Transfer Handler  (Background DMA)</a:t>
              </a:r>
            </a:p>
          </p:txBody>
        </p:sp>
        <p:cxnSp>
          <p:nvCxnSpPr>
            <p:cNvPr id="336" name="Connector 98"/>
            <p:cNvCxnSpPr/>
            <p:nvPr/>
          </p:nvCxnSpPr>
          <p:spPr>
            <a:xfrm>
              <a:off x="10616184" y="3328416"/>
              <a:ext cx="0" cy="73152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Oval 99"/>
            <p:cNvSpPr/>
            <p:nvPr/>
          </p:nvSpPr>
          <p:spPr>
            <a:xfrm>
              <a:off x="10703051" y="3287268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⑤</a:t>
              </a:r>
            </a:p>
          </p:txBody>
        </p:sp>
        <p:cxnSp>
          <p:nvCxnSpPr>
            <p:cNvPr id="338" name="Connector 100"/>
            <p:cNvCxnSpPr/>
            <p:nvPr/>
          </p:nvCxnSpPr>
          <p:spPr>
            <a:xfrm>
              <a:off x="10616184" y="3639312"/>
              <a:ext cx="0" cy="54864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9" name="Oval 101"/>
            <p:cNvSpPr/>
            <p:nvPr/>
          </p:nvSpPr>
          <p:spPr>
            <a:xfrm>
              <a:off x="10703051" y="3589020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⑥</a:t>
              </a:r>
            </a:p>
          </p:txBody>
        </p:sp>
        <p:cxnSp>
          <p:nvCxnSpPr>
            <p:cNvPr id="340" name="Connector 102"/>
            <p:cNvCxnSpPr/>
            <p:nvPr/>
          </p:nvCxnSpPr>
          <p:spPr>
            <a:xfrm>
              <a:off x="11228832" y="2468880"/>
              <a:ext cx="0" cy="566928"/>
            </a:xfrm>
            <a:prstGeom prst="line">
              <a:avLst/>
            </a:prstGeom>
            <a:ln w="12700">
              <a:solidFill>
                <a:srgbClr val="2E75B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1" name="Oval 103"/>
            <p:cNvSpPr/>
            <p:nvPr/>
          </p:nvSpPr>
          <p:spPr>
            <a:xfrm>
              <a:off x="11315700" y="2665476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④</a:t>
              </a:r>
            </a:p>
          </p:txBody>
        </p:sp>
        <p:cxnSp>
          <p:nvCxnSpPr>
            <p:cNvPr id="342" name="Connector 104"/>
            <p:cNvCxnSpPr/>
            <p:nvPr/>
          </p:nvCxnSpPr>
          <p:spPr>
            <a:xfrm flipH="1">
              <a:off x="9125712" y="3520440"/>
              <a:ext cx="329184" cy="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Connector 105"/>
            <p:cNvCxnSpPr/>
            <p:nvPr/>
          </p:nvCxnSpPr>
          <p:spPr>
            <a:xfrm>
              <a:off x="9125712" y="3520440"/>
              <a:ext cx="0" cy="59436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Connector 106"/>
            <p:cNvCxnSpPr/>
            <p:nvPr/>
          </p:nvCxnSpPr>
          <p:spPr>
            <a:xfrm flipH="1">
              <a:off x="6958584" y="4114800"/>
              <a:ext cx="2167128" cy="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Connector 107"/>
            <p:cNvCxnSpPr/>
            <p:nvPr/>
          </p:nvCxnSpPr>
          <p:spPr>
            <a:xfrm flipV="1">
              <a:off x="6958584" y="3931920"/>
              <a:ext cx="0" cy="18288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6" name="Oval 108"/>
            <p:cNvSpPr/>
            <p:nvPr/>
          </p:nvSpPr>
          <p:spPr>
            <a:xfrm>
              <a:off x="7968996" y="4037076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100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⑦</a:t>
              </a:r>
            </a:p>
          </p:txBody>
        </p:sp>
        <p:sp>
          <p:nvSpPr>
            <p:cNvPr id="347" name="Rectangle 109"/>
            <p:cNvSpPr/>
            <p:nvPr/>
          </p:nvSpPr>
          <p:spPr>
            <a:xfrm>
              <a:off x="6236208" y="4206240"/>
              <a:ext cx="5641848" cy="237744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50" b="1" i="0">
                  <a:solidFill>
                    <a:srgbClr val="FFFFFF"/>
                  </a:solidFill>
                  <a:latin typeface="맑은 고딕"/>
                  <a:ea typeface="맑은 고딕"/>
                </a:rPr>
                <a:t>Common Memory Backend Interface</a:t>
              </a:r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1408113" y="1686551"/>
            <a:ext cx="4919472" cy="2708716"/>
            <a:chOff x="2178826" y="3859237"/>
            <a:chExt cx="4919472" cy="2708716"/>
          </a:xfrm>
        </p:grpSpPr>
        <p:sp>
          <p:nvSpPr>
            <p:cNvPr id="357" name="Rectangle 37"/>
            <p:cNvSpPr/>
            <p:nvPr/>
          </p:nvSpPr>
          <p:spPr>
            <a:xfrm>
              <a:off x="2178826" y="3859237"/>
              <a:ext cx="3785615" cy="1904043"/>
            </a:xfrm>
            <a:prstGeom prst="rect">
              <a:avLst/>
            </a:prstGeom>
            <a:solidFill>
              <a:srgbClr val="DCE9F7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2178826" y="3872870"/>
              <a:ext cx="3785615" cy="146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950" b="1" dirty="0">
                  <a:solidFill>
                    <a:srgbClr val="1F4E79"/>
                  </a:solidFill>
                  <a:latin typeface="맑은 고딕"/>
                  <a:ea typeface="맑은 고딕"/>
                </a:rPr>
                <a:t>Resource + Control Plane</a:t>
              </a:r>
              <a:endParaRPr sz="950" b="1" i="0" dirty="0">
                <a:solidFill>
                  <a:srgbClr val="1F4E79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0" name="Rectangle 39"/>
            <p:cNvSpPr/>
            <p:nvPr/>
          </p:nvSpPr>
          <p:spPr>
            <a:xfrm>
              <a:off x="2288554" y="4099073"/>
              <a:ext cx="1133856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Trend Analyzer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자원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추세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판단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1" name="Rectangle 40"/>
            <p:cNvSpPr/>
            <p:nvPr/>
          </p:nvSpPr>
          <p:spPr>
            <a:xfrm>
              <a:off x="3532138" y="4099073"/>
              <a:ext cx="1133856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Affinity Mapper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데이터·메모리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적합도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2" name="Rectangle 41"/>
            <p:cNvSpPr/>
            <p:nvPr/>
          </p:nvSpPr>
          <p:spPr>
            <a:xfrm>
              <a:off x="4775722" y="4099073"/>
              <a:ext cx="1133856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Policy Engine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이동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명령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확정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363" name="Connector 42"/>
            <p:cNvCxnSpPr/>
            <p:nvPr/>
          </p:nvCxnSpPr>
          <p:spPr>
            <a:xfrm>
              <a:off x="3422410" y="4309385"/>
              <a:ext cx="109728" cy="0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Connector 43"/>
            <p:cNvCxnSpPr/>
            <p:nvPr/>
          </p:nvCxnSpPr>
          <p:spPr>
            <a:xfrm>
              <a:off x="4665994" y="4309385"/>
              <a:ext cx="109728" cy="0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Oval 44"/>
            <p:cNvSpPr/>
            <p:nvPr/>
          </p:nvSpPr>
          <p:spPr>
            <a:xfrm>
              <a:off x="3399550" y="4231661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②</a:t>
              </a:r>
            </a:p>
          </p:txBody>
        </p:sp>
        <p:sp>
          <p:nvSpPr>
            <p:cNvPr id="367" name="Rectangle 45"/>
            <p:cNvSpPr/>
            <p:nvPr/>
          </p:nvSpPr>
          <p:spPr>
            <a:xfrm>
              <a:off x="2288554" y="4629425"/>
              <a:ext cx="1133856" cy="310896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Threshold Trigger</a:t>
              </a:r>
            </a:p>
            <a:p>
              <a:pPr algn="ctr">
                <a:lnSpc>
                  <a:spcPct val="125000"/>
                </a:lnSpc>
              </a:pP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임계치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교차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시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판단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기동</a:t>
              </a:r>
              <a:endParaRPr sz="650" b="0" i="0" dirty="0">
                <a:solidFill>
                  <a:srgbClr val="7F5F00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368" name="Connector 46"/>
            <p:cNvCxnSpPr/>
            <p:nvPr/>
          </p:nvCxnSpPr>
          <p:spPr>
            <a:xfrm flipV="1">
              <a:off x="2855482" y="4519697"/>
              <a:ext cx="0" cy="109728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Oval 47"/>
            <p:cNvSpPr/>
            <p:nvPr/>
          </p:nvSpPr>
          <p:spPr>
            <a:xfrm>
              <a:off x="2942350" y="4496837"/>
              <a:ext cx="155448" cy="155448"/>
            </a:xfrm>
            <a:prstGeom prst="ellipse">
              <a:avLst/>
            </a:prstGeom>
            <a:solidFill>
              <a:srgbClr val="BF8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①</a:t>
              </a:r>
            </a:p>
          </p:txBody>
        </p:sp>
        <p:sp>
          <p:nvSpPr>
            <p:cNvPr id="370" name="Rectangle 48"/>
            <p:cNvSpPr/>
            <p:nvPr/>
          </p:nvSpPr>
          <p:spPr>
            <a:xfrm>
              <a:off x="2233690" y="4995185"/>
              <a:ext cx="2523744" cy="694944"/>
            </a:xfrm>
            <a:prstGeom prst="rect">
              <a:avLst/>
            </a:prstGeom>
            <a:noFill/>
            <a:ln w="12700">
              <a:solidFill>
                <a:srgbClr val="BF8F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71" name="Rectangle 49"/>
            <p:cNvSpPr/>
            <p:nvPr/>
          </p:nvSpPr>
          <p:spPr>
            <a:xfrm>
              <a:off x="2288554" y="5050049"/>
              <a:ext cx="1133856" cy="2560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>
                  <a:solidFill>
                    <a:srgbClr val="404040"/>
                  </a:solidFill>
                  <a:latin typeface="맑은 고딕"/>
                  <a:ea typeface="맑은 고딕"/>
                </a:rPr>
                <a:t>State Monitor</a:t>
              </a:r>
            </a:p>
          </p:txBody>
        </p:sp>
        <p:sp>
          <p:nvSpPr>
            <p:cNvPr id="372" name="Rectangle 50"/>
            <p:cNvSpPr/>
            <p:nvPr/>
          </p:nvSpPr>
          <p:spPr>
            <a:xfrm>
              <a:off x="2288554" y="5360945"/>
              <a:ext cx="1133856" cy="256032"/>
            </a:xfrm>
            <a:prstGeom prst="rect">
              <a:avLst/>
            </a:prstGeom>
            <a:solidFill>
              <a:srgbClr val="D9D9D9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>
                  <a:solidFill>
                    <a:srgbClr val="404040"/>
                  </a:solidFill>
                  <a:latin typeface="맑은 고딕"/>
                  <a:ea typeface="맑은 고딕"/>
                </a:rPr>
                <a:t>Telemetry Collector</a:t>
              </a:r>
            </a:p>
          </p:txBody>
        </p:sp>
        <p:sp>
          <p:nvSpPr>
            <p:cNvPr id="373" name="Rectangle 51"/>
            <p:cNvSpPr/>
            <p:nvPr/>
          </p:nvSpPr>
          <p:spPr>
            <a:xfrm>
              <a:off x="3550426" y="5104913"/>
              <a:ext cx="1133856" cy="3474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Memory·Data</a:t>
              </a:r>
              <a:endParaRPr sz="800" b="0" i="0" dirty="0">
                <a:solidFill>
                  <a:srgbClr val="404040"/>
                </a:solidFill>
                <a:latin typeface="맑은 고딕"/>
                <a:ea typeface="맑은 고딕"/>
              </a:endParaRPr>
            </a:p>
            <a:p>
              <a:pPr algn="ctr">
                <a:lnSpc>
                  <a:spcPct val="95000"/>
                </a:lnSpc>
              </a:pPr>
              <a:r>
                <a:rPr sz="800" b="0" i="0" dirty="0">
                  <a:solidFill>
                    <a:srgbClr val="404040"/>
                  </a:solidFill>
                  <a:latin typeface="맑은 고딕"/>
                  <a:ea typeface="맑은 고딕"/>
                </a:rPr>
                <a:t>Object Registry</a:t>
              </a:r>
            </a:p>
          </p:txBody>
        </p:sp>
        <p:sp>
          <p:nvSpPr>
            <p:cNvPr id="374" name="TextBox 373"/>
            <p:cNvSpPr txBox="1"/>
            <p:nvPr/>
          </p:nvSpPr>
          <p:spPr>
            <a:xfrm>
              <a:off x="3550426" y="5488961"/>
              <a:ext cx="1133856" cy="1371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20" b="1" i="0">
                  <a:solidFill>
                    <a:srgbClr val="7F5F00"/>
                  </a:solidFill>
                  <a:latin typeface="맑은 고딕"/>
                  <a:ea typeface="맑은 고딕"/>
                </a:rPr>
                <a:t>State Lock Manager</a:t>
              </a:r>
            </a:p>
          </p:txBody>
        </p:sp>
        <p:cxnSp>
          <p:nvCxnSpPr>
            <p:cNvPr id="375" name="Connector 53"/>
            <p:cNvCxnSpPr/>
            <p:nvPr/>
          </p:nvCxnSpPr>
          <p:spPr>
            <a:xfrm flipV="1">
              <a:off x="2855482" y="5306081"/>
              <a:ext cx="0" cy="54864"/>
            </a:xfrm>
            <a:prstGeom prst="line">
              <a:avLst/>
            </a:prstGeom>
            <a:ln w="1270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or 54"/>
            <p:cNvCxnSpPr/>
            <p:nvPr/>
          </p:nvCxnSpPr>
          <p:spPr>
            <a:xfrm flipV="1">
              <a:off x="2855482" y="4940321"/>
              <a:ext cx="0" cy="109728"/>
            </a:xfrm>
            <a:prstGeom prst="line">
              <a:avLst/>
            </a:prstGeom>
            <a:ln w="1270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or 55"/>
            <p:cNvCxnSpPr/>
            <p:nvPr/>
          </p:nvCxnSpPr>
          <p:spPr>
            <a:xfrm flipV="1">
              <a:off x="4117354" y="4519697"/>
              <a:ext cx="0" cy="585216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8" name="Oval 56"/>
            <p:cNvSpPr/>
            <p:nvPr/>
          </p:nvSpPr>
          <p:spPr>
            <a:xfrm>
              <a:off x="4204222" y="4734581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③</a:t>
              </a:r>
            </a:p>
          </p:txBody>
        </p:sp>
        <p:sp>
          <p:nvSpPr>
            <p:cNvPr id="379" name="Rectangle 57"/>
            <p:cNvSpPr/>
            <p:nvPr/>
          </p:nvSpPr>
          <p:spPr>
            <a:xfrm>
              <a:off x="4190506" y="5854721"/>
              <a:ext cx="2907792" cy="7132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80" name="TextBox 379"/>
            <p:cNvSpPr txBox="1"/>
            <p:nvPr/>
          </p:nvSpPr>
          <p:spPr>
            <a:xfrm>
              <a:off x="4190506" y="5891297"/>
              <a:ext cx="2907792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1F4E79"/>
                  </a:solidFill>
                  <a:latin typeface="맑은 고딕"/>
                  <a:ea typeface="맑은 고딕"/>
                </a:rPr>
                <a:t>Data Plane</a:t>
              </a:r>
            </a:p>
          </p:txBody>
        </p:sp>
        <p:sp>
          <p:nvSpPr>
            <p:cNvPr id="381" name="Rectangle 59"/>
            <p:cNvSpPr/>
            <p:nvPr/>
          </p:nvSpPr>
          <p:spPr>
            <a:xfrm>
              <a:off x="4300234" y="6092465"/>
              <a:ext cx="2688336" cy="228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50" b="0" i="0">
                  <a:solidFill>
                    <a:srgbClr val="404040"/>
                  </a:solidFill>
                  <a:latin typeface="맑은 고딕"/>
                  <a:ea typeface="맑은 고딕"/>
                </a:rPr>
                <a:t>Migration Executor</a:t>
              </a:r>
            </a:p>
          </p:txBody>
        </p:sp>
        <p:sp>
          <p:nvSpPr>
            <p:cNvPr id="382" name="Rectangle 60"/>
            <p:cNvSpPr/>
            <p:nvPr/>
          </p:nvSpPr>
          <p:spPr>
            <a:xfrm>
              <a:off x="4300234" y="6330209"/>
              <a:ext cx="2688336" cy="210312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1" i="0">
                  <a:solidFill>
                    <a:srgbClr val="FFFFFF"/>
                  </a:solidFill>
                  <a:latin typeface="맑은 고딕"/>
                  <a:ea typeface="맑은 고딕"/>
                </a:rPr>
                <a:t>Transfer Handler  (Background DMA)</a:t>
              </a:r>
            </a:p>
          </p:txBody>
        </p:sp>
        <p:cxnSp>
          <p:nvCxnSpPr>
            <p:cNvPr id="383" name="Connector 61"/>
            <p:cNvCxnSpPr/>
            <p:nvPr/>
          </p:nvCxnSpPr>
          <p:spPr>
            <a:xfrm>
              <a:off x="5644402" y="6321065"/>
              <a:ext cx="0" cy="9144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4" name="Oval 62"/>
            <p:cNvSpPr/>
            <p:nvPr/>
          </p:nvSpPr>
          <p:spPr>
            <a:xfrm>
              <a:off x="5731270" y="6252484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⑥</a:t>
              </a:r>
            </a:p>
          </p:txBody>
        </p:sp>
        <p:cxnSp>
          <p:nvCxnSpPr>
            <p:cNvPr id="385" name="Connector 63"/>
            <p:cNvCxnSpPr/>
            <p:nvPr/>
          </p:nvCxnSpPr>
          <p:spPr>
            <a:xfrm>
              <a:off x="5342650" y="4519697"/>
              <a:ext cx="0" cy="1335024"/>
            </a:xfrm>
            <a:prstGeom prst="line">
              <a:avLst/>
            </a:prstGeom>
            <a:ln w="12700">
              <a:solidFill>
                <a:srgbClr val="2E75B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6" name="Oval 64"/>
            <p:cNvSpPr/>
            <p:nvPr/>
          </p:nvSpPr>
          <p:spPr>
            <a:xfrm>
              <a:off x="5429518" y="5155205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④</a:t>
              </a:r>
            </a:p>
          </p:txBody>
        </p:sp>
        <p:cxnSp>
          <p:nvCxnSpPr>
            <p:cNvPr id="387" name="Connector 65"/>
            <p:cNvCxnSpPr/>
            <p:nvPr/>
          </p:nvCxnSpPr>
          <p:spPr>
            <a:xfrm flipH="1">
              <a:off x="4117354" y="6202193"/>
              <a:ext cx="182880" cy="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Connector 66"/>
            <p:cNvCxnSpPr/>
            <p:nvPr/>
          </p:nvCxnSpPr>
          <p:spPr>
            <a:xfrm flipV="1">
              <a:off x="4117354" y="5452385"/>
              <a:ext cx="0" cy="749808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Oval 67"/>
            <p:cNvSpPr/>
            <p:nvPr/>
          </p:nvSpPr>
          <p:spPr>
            <a:xfrm>
              <a:off x="3875038" y="5795284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⑤</a:t>
              </a:r>
            </a:p>
          </p:txBody>
        </p:sp>
        <p:sp>
          <p:nvSpPr>
            <p:cNvPr id="390" name="Rectangle 68"/>
            <p:cNvSpPr/>
            <p:nvPr/>
          </p:nvSpPr>
          <p:spPr>
            <a:xfrm>
              <a:off x="2178826" y="5982737"/>
              <a:ext cx="1920240" cy="237744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1" i="0">
                  <a:solidFill>
                    <a:srgbClr val="FFFFFF"/>
                  </a:solidFill>
                  <a:latin typeface="맑은 고딕"/>
                  <a:ea typeface="맑은 고딕"/>
                </a:rPr>
                <a:t>Common Memory Backend Interface</a:t>
              </a:r>
            </a:p>
          </p:txBody>
        </p:sp>
        <p:cxnSp>
          <p:nvCxnSpPr>
            <p:cNvPr id="391" name="Connector 69"/>
            <p:cNvCxnSpPr/>
            <p:nvPr/>
          </p:nvCxnSpPr>
          <p:spPr>
            <a:xfrm flipV="1">
              <a:off x="2855482" y="5616977"/>
              <a:ext cx="0" cy="36576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그룹 6"/>
          <p:cNvGrpSpPr/>
          <p:nvPr/>
        </p:nvGrpSpPr>
        <p:grpSpPr>
          <a:xfrm>
            <a:off x="311665" y="3341561"/>
            <a:ext cx="768096" cy="1115568"/>
            <a:chOff x="292545" y="3435232"/>
            <a:chExt cx="768096" cy="1115568"/>
          </a:xfrm>
        </p:grpSpPr>
        <p:sp>
          <p:nvSpPr>
            <p:cNvPr id="392" name="Rectangle 28"/>
            <p:cNvSpPr/>
            <p:nvPr/>
          </p:nvSpPr>
          <p:spPr>
            <a:xfrm>
              <a:off x="292545" y="3435232"/>
              <a:ext cx="768096" cy="1115568"/>
            </a:xfrm>
            <a:prstGeom prst="rect">
              <a:avLst/>
            </a:prstGeom>
            <a:noFill/>
            <a:ln w="9525">
              <a:solidFill>
                <a:srgbClr val="BFBFB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93" name="TextBox 392"/>
            <p:cNvSpPr txBox="1"/>
            <p:nvPr/>
          </p:nvSpPr>
          <p:spPr>
            <a:xfrm>
              <a:off x="319977" y="3480952"/>
              <a:ext cx="713232" cy="1463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00" b="1" i="0">
                  <a:solidFill>
                    <a:srgbClr val="404040"/>
                  </a:solidFill>
                  <a:latin typeface="맑은 고딕"/>
                  <a:ea typeface="맑은 고딕"/>
                </a:rPr>
                <a:t>Legend</a:t>
              </a:r>
            </a:p>
          </p:txBody>
        </p:sp>
        <p:sp>
          <p:nvSpPr>
            <p:cNvPr id="394" name="Rectangle 30"/>
            <p:cNvSpPr/>
            <p:nvPr/>
          </p:nvSpPr>
          <p:spPr>
            <a:xfrm>
              <a:off x="319977" y="3672976"/>
              <a:ext cx="713232" cy="1874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404040"/>
                  </a:solidFill>
                  <a:latin typeface="맑은 고딕"/>
                  <a:ea typeface="맑은 고딕"/>
                </a:rPr>
                <a:t>DP 설계 모듈</a:t>
              </a:r>
            </a:p>
          </p:txBody>
        </p:sp>
        <p:sp>
          <p:nvSpPr>
            <p:cNvPr id="395" name="Rectangle 31"/>
            <p:cNvSpPr/>
            <p:nvPr/>
          </p:nvSpPr>
          <p:spPr>
            <a:xfrm>
              <a:off x="319977" y="3887860"/>
              <a:ext cx="713232" cy="187452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7F5F00"/>
                  </a:solidFill>
                  <a:latin typeface="맑은 고딕"/>
                  <a:ea typeface="맑은 고딕"/>
                </a:rPr>
                <a:t>후보 특화 모듈</a:t>
              </a:r>
            </a:p>
          </p:txBody>
        </p:sp>
        <p:sp>
          <p:nvSpPr>
            <p:cNvPr id="396" name="Rectangle 32"/>
            <p:cNvSpPr/>
            <p:nvPr/>
          </p:nvSpPr>
          <p:spPr>
            <a:xfrm>
              <a:off x="319977" y="4102744"/>
              <a:ext cx="713232" cy="187452"/>
            </a:xfrm>
            <a:prstGeom prst="rect">
              <a:avLst/>
            </a:prstGeom>
            <a:solidFill>
              <a:srgbClr val="D9D9D9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404040"/>
                  </a:solidFill>
                  <a:latin typeface="맑은 고딕"/>
                  <a:ea typeface="맑은 고딕"/>
                </a:rPr>
                <a:t>공통 모듈</a:t>
              </a:r>
            </a:p>
          </p:txBody>
        </p:sp>
        <p:sp>
          <p:nvSpPr>
            <p:cNvPr id="397" name="Rectangle 33"/>
            <p:cNvSpPr/>
            <p:nvPr/>
          </p:nvSpPr>
          <p:spPr>
            <a:xfrm>
              <a:off x="319977" y="4317627"/>
              <a:ext cx="713232" cy="187452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FFFFFF"/>
                  </a:solidFill>
                  <a:latin typeface="맑은 고딕"/>
                  <a:ea typeface="맑은 고딕"/>
                </a:rPr>
                <a:t>Device SW I/F</a:t>
              </a: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7746999" y="6212308"/>
            <a:ext cx="29356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00FF"/>
                </a:solidFill>
              </a:rPr>
              <a:t>새 메모리 추가</a:t>
            </a:r>
            <a:r>
              <a:rPr lang="en-US" altLang="ko-KR" sz="800" dirty="0">
                <a:solidFill>
                  <a:srgbClr val="0000FF"/>
                </a:solidFill>
              </a:rPr>
              <a:t>, </a:t>
            </a:r>
            <a:r>
              <a:rPr lang="ko-KR" altLang="en-US" sz="800" dirty="0">
                <a:solidFill>
                  <a:srgbClr val="0000FF"/>
                </a:solidFill>
              </a:rPr>
              <a:t>이동 정책</a:t>
            </a:r>
            <a:r>
              <a:rPr lang="en-US" altLang="ko-KR" sz="800" dirty="0">
                <a:solidFill>
                  <a:srgbClr val="0000FF"/>
                </a:solidFill>
              </a:rPr>
              <a:t> </a:t>
            </a:r>
            <a:r>
              <a:rPr lang="ko-KR" altLang="en-US" sz="800" dirty="0">
                <a:solidFill>
                  <a:srgbClr val="0000FF"/>
                </a:solidFill>
              </a:rPr>
              <a:t>변경에 따른 변경 비용차 적음</a:t>
            </a:r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8958662" y="617897"/>
            <a:ext cx="1001760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F2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스케줄링</a:t>
            </a:r>
          </a:p>
        </p:txBody>
      </p:sp>
    </p:spTree>
    <p:extLst>
      <p:ext uri="{BB962C8B-B14F-4D97-AF65-F5344CB8AC3E}">
        <p14:creationId xmlns:p14="http://schemas.microsoft.com/office/powerpoint/2010/main" val="2715811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49035" y="1044054"/>
          <a:ext cx="11747501" cy="5376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4209572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226482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413291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1303136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baseline="0" dirty="0"/>
                        <a:t>상태 관측과 이동 결정을 한 곳에서 </a:t>
                      </a:r>
                      <a:endParaRPr kumimoji="0" lang="ko-KR" altLang="en-US" sz="105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>
                            <a:lumMod val="50000"/>
                          </a:prstClr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dirty="0"/>
                        <a:t>상태 관측과 이동 결정을 분리 </a:t>
                      </a:r>
                      <a:r>
                        <a:rPr lang="en-US" altLang="ko-KR" sz="1200" b="1" strike="noStrike" baseline="0" dirty="0"/>
                        <a:t>+ 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HBM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점유 기한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(Lease)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제어 </a:t>
                      </a:r>
                      <a:endParaRPr lang="ko-KR" altLang="en-US" sz="1200" b="1" strike="noStrike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134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Threshold trigger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가 즉시 판단을 기동해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HBM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압박 구간이 짧음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(Q2) </a:t>
                      </a:r>
                      <a:endParaRPr lang="ko-KR" altLang="en-US" sz="1200" b="0" i="0" dirty="0">
                        <a:solidFill>
                          <a:srgbClr val="404040"/>
                        </a:solidFill>
                        <a:latin typeface="+mn-lt"/>
                        <a:ea typeface="맑은 고딕"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Plane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간 인터페이스 호출이 없어 정책 수정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범위 제한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(Q4)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Data object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 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access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 특성에 맞게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fine-grained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이동 가능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다양한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workload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혼재 시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 behavior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특성 기반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migration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효과 증가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동일한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resource state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에서 서로 다른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access pattern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구분 한계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  <a:endParaRPr lang="en-US" altLang="ko-KR" sz="12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다양한 </a:t>
                      </a:r>
                      <a:r>
                        <a:rPr lang="en-US" altLang="ko-KR" sz="1200" dirty="0"/>
                        <a:t>workload </a:t>
                      </a:r>
                      <a:r>
                        <a:rPr lang="ko-KR" altLang="en-US" sz="1200" dirty="0"/>
                        <a:t>혼재 시 </a:t>
                      </a:r>
                      <a:r>
                        <a:rPr lang="en-US" altLang="ko-KR" sz="1200" dirty="0"/>
                        <a:t>resource pressure </a:t>
                      </a:r>
                      <a:r>
                        <a:rPr lang="ko-KR" altLang="en-US" sz="1200" dirty="0"/>
                        <a:t>대응 한계 증가 </a:t>
                      </a:r>
                      <a:r>
                        <a:rPr lang="en-US" altLang="ko-KR" sz="1200" dirty="0"/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Snapshot age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만큼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stale → HBM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확보 지연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(Q2)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 HBM stage-in </a:t>
                      </a:r>
                      <a:r>
                        <a:rPr lang="ko-KR" altLang="en-US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 </a:t>
                      </a:r>
                      <a:r>
                        <a:rPr lang="en-US" altLang="ko-KR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lease</a:t>
                      </a:r>
                      <a:r>
                        <a:rPr lang="ko-KR" altLang="en-US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를 부여하여 주기적 </a:t>
                      </a:r>
                      <a:r>
                        <a:rPr lang="en-US" altLang="ko-KR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migration </a:t>
                      </a:r>
                      <a:r>
                        <a:rPr lang="ko-KR" altLang="en-US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재평가</a:t>
                      </a:r>
                      <a:endParaRPr lang="en-US" altLang="ko-KR" sz="1200" b="0" strike="noStrike" baseline="0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 </a:t>
                      </a:r>
                      <a:r>
                        <a:rPr lang="ko-KR" altLang="en-US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최신 </a:t>
                      </a:r>
                      <a:r>
                        <a:rPr lang="en-US" altLang="ko-KR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behavior </a:t>
                      </a:r>
                      <a:r>
                        <a:rPr lang="ko-KR" altLang="en-US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기반으로 </a:t>
                      </a:r>
                      <a:r>
                        <a:rPr lang="en-US" altLang="ko-KR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lease </a:t>
                      </a:r>
                      <a:r>
                        <a:rPr lang="ko-KR" altLang="en-US" sz="1200" b="0" strike="noStrike" baseline="0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연장∙선별</a:t>
                      </a:r>
                      <a:r>
                        <a:rPr lang="ko-KR" altLang="en-US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demotion</a:t>
                      </a:r>
                      <a:r>
                        <a:rPr lang="ko-KR" altLang="en-US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하여 </a:t>
                      </a:r>
                      <a:r>
                        <a:rPr lang="en-US" altLang="ko-KR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HBM </a:t>
                      </a:r>
                      <a:r>
                        <a:rPr lang="ko-KR" altLang="en-US" sz="1200" b="0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점유율 제한</a:t>
                      </a:r>
                      <a:endParaRPr lang="en-US" altLang="ko-KR" sz="1200" b="0" i="0" dirty="0">
                        <a:solidFill>
                          <a:srgbClr val="404040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541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</a:t>
                      </a: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 Resource Efficiency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Q5. Modifiability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●◐○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2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 Resource Efficiency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Q5. Modifiability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r>
                        <a:rPr lang="ko-KR" altLang="en-US" sz="1200" strike="noStrike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en-US" altLang="ko-KR" sz="1200" strike="noStrike" dirty="0">
                        <a:solidFill>
                          <a:schemeClr val="accent5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b="0" dirty="0">
                        <a:solidFill>
                          <a:srgbClr val="0070C0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DP1. Data Migration</a:t>
            </a:r>
            <a:r>
              <a:rPr lang="ko-KR" altLang="en-US" dirty="0"/>
              <a:t> 결정 구조</a:t>
            </a:r>
            <a:r>
              <a:rPr lang="en-US" altLang="ko-KR" dirty="0"/>
              <a:t> - </a:t>
            </a:r>
            <a:r>
              <a:rPr lang="ko-KR" altLang="en-US" dirty="0">
                <a:solidFill>
                  <a:srgbClr val="FF0000"/>
                </a:solidFill>
              </a:rPr>
              <a:t>보완 설계</a:t>
            </a:r>
            <a:endParaRPr lang="ko-KR" altLang="en-US" dirty="0"/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0" y="6597650"/>
            <a:ext cx="457200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5814" y="632567"/>
            <a:ext cx="80214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메모리 자원 상태와 데이터 특성을 고려한 데이터 이동</a:t>
            </a:r>
            <a:r>
              <a:rPr lang="en-US" altLang="ko-KR" sz="1400" b="1" dirty="0">
                <a:solidFill>
                  <a:schemeClr val="bg1"/>
                </a:solidFill>
              </a:rPr>
              <a:t> </a:t>
            </a:r>
            <a:r>
              <a:rPr lang="ko-KR" altLang="en-US" sz="1400" b="1" dirty="0">
                <a:solidFill>
                  <a:schemeClr val="bg1"/>
                </a:solidFill>
              </a:rPr>
              <a:t>결정 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TextBox 1"/>
          <p:cNvSpPr txBox="1"/>
          <p:nvPr/>
        </p:nvSpPr>
        <p:spPr>
          <a:xfrm>
            <a:off x="1111250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자원 상태에 우선한 이동 결정</a:t>
            </a:r>
            <a:r>
              <a:rPr lang="en-US" altLang="ko-KR" sz="1100" dirty="0"/>
              <a:t>“ 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680BD5A-8E5D-4229-B9CD-EE7278C05436}"/>
              </a:ext>
            </a:extLst>
          </p:cNvPr>
          <p:cNvSpPr txBox="1"/>
          <p:nvPr/>
        </p:nvSpPr>
        <p:spPr>
          <a:xfrm>
            <a:off x="4617258" y="6563925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6.5</a:t>
            </a:r>
            <a:r>
              <a:rPr lang="ko-KR" altLang="en-US" sz="1200" dirty="0"/>
              <a:t>점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D91191D-072D-4CEC-A0E8-E3D891FF373D}"/>
              </a:ext>
            </a:extLst>
          </p:cNvPr>
          <p:cNvSpPr txBox="1"/>
          <p:nvPr/>
        </p:nvSpPr>
        <p:spPr>
          <a:xfrm>
            <a:off x="10016983" y="6578106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8</a:t>
            </a:r>
            <a:r>
              <a:rPr lang="ko-KR" altLang="en-US" sz="1200" dirty="0"/>
              <a:t>점</a:t>
            </a:r>
          </a:p>
        </p:txBody>
      </p:sp>
      <p:sp>
        <p:nvSpPr>
          <p:cNvPr id="4" name="실행 단추: 앞으로 또는 다음으로 이동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45EE784-4191-4924-833C-F4E4E1D195A6}"/>
              </a:ext>
            </a:extLst>
          </p:cNvPr>
          <p:cNvSpPr/>
          <p:nvPr/>
        </p:nvSpPr>
        <p:spPr>
          <a:xfrm>
            <a:off x="580860" y="6144357"/>
            <a:ext cx="199763" cy="17731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0" name="실행 단추: 앞으로 또는 다음 99">
            <a:hlinkClick r:id="" action="ppaction://noaction" highlightClick="1"/>
          </p:cNvPr>
          <p:cNvSpPr/>
          <p:nvPr/>
        </p:nvSpPr>
        <p:spPr>
          <a:xfrm>
            <a:off x="6115324" y="1095164"/>
            <a:ext cx="199762" cy="22422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실행 단추: 앞으로 또는 다음 101">
            <a:hlinkClick r:id="" action="ppaction://noaction" highlightClick="1"/>
          </p:cNvPr>
          <p:cNvSpPr/>
          <p:nvPr/>
        </p:nvSpPr>
        <p:spPr>
          <a:xfrm>
            <a:off x="11618261" y="1095164"/>
            <a:ext cx="199762" cy="22422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5" name="그룹 84"/>
          <p:cNvGrpSpPr/>
          <p:nvPr/>
        </p:nvGrpSpPr>
        <p:grpSpPr>
          <a:xfrm>
            <a:off x="1408113" y="1686551"/>
            <a:ext cx="4919472" cy="2708716"/>
            <a:chOff x="2178826" y="3859237"/>
            <a:chExt cx="4919472" cy="2708716"/>
          </a:xfrm>
        </p:grpSpPr>
        <p:sp>
          <p:nvSpPr>
            <p:cNvPr id="357" name="Rectangle 37"/>
            <p:cNvSpPr/>
            <p:nvPr/>
          </p:nvSpPr>
          <p:spPr>
            <a:xfrm>
              <a:off x="2178826" y="3859237"/>
              <a:ext cx="3785615" cy="1904043"/>
            </a:xfrm>
            <a:prstGeom prst="rect">
              <a:avLst/>
            </a:prstGeom>
            <a:solidFill>
              <a:srgbClr val="DCE9F7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58" name="TextBox 357"/>
            <p:cNvSpPr txBox="1"/>
            <p:nvPr/>
          </p:nvSpPr>
          <p:spPr>
            <a:xfrm>
              <a:off x="2178826" y="3872870"/>
              <a:ext cx="3785615" cy="14619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950" b="1" dirty="0">
                  <a:solidFill>
                    <a:srgbClr val="1F4E79"/>
                  </a:solidFill>
                  <a:latin typeface="맑은 고딕"/>
                  <a:ea typeface="맑은 고딕"/>
                </a:rPr>
                <a:t>Resource + Control Plane</a:t>
              </a:r>
              <a:endParaRPr sz="950" b="1" i="0" dirty="0">
                <a:solidFill>
                  <a:srgbClr val="1F4E79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0" name="Rectangle 39"/>
            <p:cNvSpPr/>
            <p:nvPr/>
          </p:nvSpPr>
          <p:spPr>
            <a:xfrm>
              <a:off x="2288554" y="4099073"/>
              <a:ext cx="1133856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Trend Analyzer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자원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추세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판단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1" name="Rectangle 40"/>
            <p:cNvSpPr/>
            <p:nvPr/>
          </p:nvSpPr>
          <p:spPr>
            <a:xfrm>
              <a:off x="3532138" y="4099073"/>
              <a:ext cx="1133856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Affinity Mapper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데이터·메모리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적합도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362" name="Rectangle 41"/>
            <p:cNvSpPr/>
            <p:nvPr/>
          </p:nvSpPr>
          <p:spPr>
            <a:xfrm>
              <a:off x="4775722" y="4099073"/>
              <a:ext cx="1133856" cy="4206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Policy Engine</a:t>
              </a:r>
            </a:p>
            <a:p>
              <a:pPr algn="ctr">
                <a:lnSpc>
                  <a:spcPct val="125000"/>
                </a:lnSpc>
              </a:pP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이동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명령</a:t>
              </a:r>
              <a:r>
                <a:rPr sz="700" dirty="0">
                  <a:solidFill>
                    <a:srgbClr val="404040"/>
                  </a:solidFill>
                  <a:latin typeface="맑은 고딕"/>
                  <a:ea typeface="맑은 고딕"/>
                </a:rPr>
                <a:t> </a:t>
              </a:r>
              <a:r>
                <a:rPr sz="70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확정</a:t>
              </a:r>
              <a:endParaRPr sz="70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363" name="Connector 42"/>
            <p:cNvCxnSpPr/>
            <p:nvPr/>
          </p:nvCxnSpPr>
          <p:spPr>
            <a:xfrm>
              <a:off x="3422410" y="4309385"/>
              <a:ext cx="109728" cy="0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Connector 43"/>
            <p:cNvCxnSpPr/>
            <p:nvPr/>
          </p:nvCxnSpPr>
          <p:spPr>
            <a:xfrm>
              <a:off x="4665994" y="4309385"/>
              <a:ext cx="109728" cy="0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5" name="Oval 44"/>
            <p:cNvSpPr/>
            <p:nvPr/>
          </p:nvSpPr>
          <p:spPr>
            <a:xfrm>
              <a:off x="3399550" y="4231661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②</a:t>
              </a:r>
            </a:p>
          </p:txBody>
        </p:sp>
        <p:sp>
          <p:nvSpPr>
            <p:cNvPr id="367" name="Rectangle 45"/>
            <p:cNvSpPr/>
            <p:nvPr/>
          </p:nvSpPr>
          <p:spPr>
            <a:xfrm>
              <a:off x="2288554" y="4629425"/>
              <a:ext cx="1133856" cy="310896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25000"/>
                </a:lnSpc>
              </a:pPr>
              <a:r>
                <a:rPr sz="800" b="1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Threshold Trigger</a:t>
              </a:r>
            </a:p>
            <a:p>
              <a:pPr algn="ctr">
                <a:lnSpc>
                  <a:spcPct val="125000"/>
                </a:lnSpc>
              </a:pP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임계치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교차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시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판단</a:t>
              </a:r>
              <a:r>
                <a:rPr sz="650" b="0" i="0" dirty="0">
                  <a:solidFill>
                    <a:srgbClr val="7F5F00"/>
                  </a:solidFill>
                  <a:latin typeface="맑은 고딕"/>
                  <a:ea typeface="맑은 고딕"/>
                </a:rPr>
                <a:t> </a:t>
              </a:r>
              <a:r>
                <a:rPr sz="650" b="0" i="0" dirty="0" err="1">
                  <a:solidFill>
                    <a:srgbClr val="7F5F00"/>
                  </a:solidFill>
                  <a:latin typeface="맑은 고딕"/>
                  <a:ea typeface="맑은 고딕"/>
                </a:rPr>
                <a:t>기동</a:t>
              </a:r>
              <a:endParaRPr sz="650" b="0" i="0" dirty="0">
                <a:solidFill>
                  <a:srgbClr val="7F5F00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368" name="Connector 46"/>
            <p:cNvCxnSpPr/>
            <p:nvPr/>
          </p:nvCxnSpPr>
          <p:spPr>
            <a:xfrm flipV="1">
              <a:off x="2855482" y="4519697"/>
              <a:ext cx="0" cy="109728"/>
            </a:xfrm>
            <a:prstGeom prst="line">
              <a:avLst/>
            </a:prstGeom>
            <a:ln w="12700">
              <a:solidFill>
                <a:srgbClr val="BF8F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Oval 47"/>
            <p:cNvSpPr/>
            <p:nvPr/>
          </p:nvSpPr>
          <p:spPr>
            <a:xfrm>
              <a:off x="2942350" y="4496837"/>
              <a:ext cx="155448" cy="155448"/>
            </a:xfrm>
            <a:prstGeom prst="ellipse">
              <a:avLst/>
            </a:prstGeom>
            <a:solidFill>
              <a:srgbClr val="BF8F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①</a:t>
              </a:r>
            </a:p>
          </p:txBody>
        </p:sp>
        <p:sp>
          <p:nvSpPr>
            <p:cNvPr id="370" name="Rectangle 48"/>
            <p:cNvSpPr/>
            <p:nvPr/>
          </p:nvSpPr>
          <p:spPr>
            <a:xfrm>
              <a:off x="2233690" y="4995185"/>
              <a:ext cx="2523744" cy="694944"/>
            </a:xfrm>
            <a:prstGeom prst="rect">
              <a:avLst/>
            </a:prstGeom>
            <a:noFill/>
            <a:ln w="12700">
              <a:solidFill>
                <a:srgbClr val="BF8F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71" name="Rectangle 49"/>
            <p:cNvSpPr/>
            <p:nvPr/>
          </p:nvSpPr>
          <p:spPr>
            <a:xfrm>
              <a:off x="2288554" y="5050049"/>
              <a:ext cx="1133856" cy="2560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>
                  <a:solidFill>
                    <a:srgbClr val="404040"/>
                  </a:solidFill>
                  <a:latin typeface="맑은 고딕"/>
                  <a:ea typeface="맑은 고딕"/>
                </a:rPr>
                <a:t>State Monitor</a:t>
              </a:r>
            </a:p>
          </p:txBody>
        </p:sp>
        <p:sp>
          <p:nvSpPr>
            <p:cNvPr id="372" name="Rectangle 50"/>
            <p:cNvSpPr/>
            <p:nvPr/>
          </p:nvSpPr>
          <p:spPr>
            <a:xfrm>
              <a:off x="2288554" y="5360945"/>
              <a:ext cx="1133856" cy="256032"/>
            </a:xfrm>
            <a:prstGeom prst="rect">
              <a:avLst/>
            </a:prstGeom>
            <a:solidFill>
              <a:srgbClr val="D9D9D9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>
                  <a:solidFill>
                    <a:srgbClr val="404040"/>
                  </a:solidFill>
                  <a:latin typeface="맑은 고딕"/>
                  <a:ea typeface="맑은 고딕"/>
                </a:rPr>
                <a:t>Telemetry Collector</a:t>
              </a:r>
            </a:p>
          </p:txBody>
        </p:sp>
        <p:sp>
          <p:nvSpPr>
            <p:cNvPr id="373" name="Rectangle 51"/>
            <p:cNvSpPr/>
            <p:nvPr/>
          </p:nvSpPr>
          <p:spPr>
            <a:xfrm>
              <a:off x="3550426" y="5104913"/>
              <a:ext cx="1133856" cy="3474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0" i="0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Memory·Data</a:t>
              </a:r>
              <a:endParaRPr sz="800" b="0" i="0" dirty="0">
                <a:solidFill>
                  <a:srgbClr val="404040"/>
                </a:solidFill>
                <a:latin typeface="맑은 고딕"/>
                <a:ea typeface="맑은 고딕"/>
              </a:endParaRPr>
            </a:p>
            <a:p>
              <a:pPr algn="ctr">
                <a:lnSpc>
                  <a:spcPct val="95000"/>
                </a:lnSpc>
              </a:pPr>
              <a:r>
                <a:rPr sz="800" b="0" i="0" dirty="0">
                  <a:solidFill>
                    <a:srgbClr val="404040"/>
                  </a:solidFill>
                  <a:latin typeface="맑은 고딕"/>
                  <a:ea typeface="맑은 고딕"/>
                </a:rPr>
                <a:t>Object Registry</a:t>
              </a:r>
            </a:p>
          </p:txBody>
        </p:sp>
        <p:sp>
          <p:nvSpPr>
            <p:cNvPr id="374" name="TextBox 373"/>
            <p:cNvSpPr txBox="1"/>
            <p:nvPr/>
          </p:nvSpPr>
          <p:spPr>
            <a:xfrm>
              <a:off x="3550426" y="5488961"/>
              <a:ext cx="1133856" cy="1371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20" b="1" i="0">
                  <a:solidFill>
                    <a:srgbClr val="7F5F00"/>
                  </a:solidFill>
                  <a:latin typeface="맑은 고딕"/>
                  <a:ea typeface="맑은 고딕"/>
                </a:rPr>
                <a:t>State Lock Manager</a:t>
              </a:r>
            </a:p>
          </p:txBody>
        </p:sp>
        <p:cxnSp>
          <p:nvCxnSpPr>
            <p:cNvPr id="375" name="Connector 53"/>
            <p:cNvCxnSpPr/>
            <p:nvPr/>
          </p:nvCxnSpPr>
          <p:spPr>
            <a:xfrm flipV="1">
              <a:off x="2855482" y="5306081"/>
              <a:ext cx="0" cy="54864"/>
            </a:xfrm>
            <a:prstGeom prst="line">
              <a:avLst/>
            </a:prstGeom>
            <a:ln w="1270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or 54"/>
            <p:cNvCxnSpPr/>
            <p:nvPr/>
          </p:nvCxnSpPr>
          <p:spPr>
            <a:xfrm flipV="1">
              <a:off x="2855482" y="4940321"/>
              <a:ext cx="0" cy="109728"/>
            </a:xfrm>
            <a:prstGeom prst="line">
              <a:avLst/>
            </a:prstGeom>
            <a:ln w="12700">
              <a:solidFill>
                <a:srgbClr val="7F7F7F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Connector 55"/>
            <p:cNvCxnSpPr/>
            <p:nvPr/>
          </p:nvCxnSpPr>
          <p:spPr>
            <a:xfrm flipV="1">
              <a:off x="4117354" y="4519697"/>
              <a:ext cx="0" cy="585216"/>
            </a:xfrm>
            <a:prstGeom prst="line">
              <a:avLst/>
            </a:prstGeom>
            <a:ln w="127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8" name="Oval 56"/>
            <p:cNvSpPr/>
            <p:nvPr/>
          </p:nvSpPr>
          <p:spPr>
            <a:xfrm>
              <a:off x="4204222" y="4734581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③</a:t>
              </a:r>
            </a:p>
          </p:txBody>
        </p:sp>
        <p:sp>
          <p:nvSpPr>
            <p:cNvPr id="379" name="Rectangle 57"/>
            <p:cNvSpPr/>
            <p:nvPr/>
          </p:nvSpPr>
          <p:spPr>
            <a:xfrm>
              <a:off x="4190506" y="5854721"/>
              <a:ext cx="2907792" cy="7132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380" name="TextBox 379"/>
            <p:cNvSpPr txBox="1"/>
            <p:nvPr/>
          </p:nvSpPr>
          <p:spPr>
            <a:xfrm>
              <a:off x="4190506" y="5891297"/>
              <a:ext cx="2907792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1F4E79"/>
                  </a:solidFill>
                  <a:latin typeface="맑은 고딕"/>
                  <a:ea typeface="맑은 고딕"/>
                </a:rPr>
                <a:t>Data Plane</a:t>
              </a:r>
            </a:p>
          </p:txBody>
        </p:sp>
        <p:sp>
          <p:nvSpPr>
            <p:cNvPr id="381" name="Rectangle 59"/>
            <p:cNvSpPr/>
            <p:nvPr/>
          </p:nvSpPr>
          <p:spPr>
            <a:xfrm>
              <a:off x="4300234" y="6092465"/>
              <a:ext cx="2688336" cy="228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50" b="0" i="0">
                  <a:solidFill>
                    <a:srgbClr val="404040"/>
                  </a:solidFill>
                  <a:latin typeface="맑은 고딕"/>
                  <a:ea typeface="맑은 고딕"/>
                </a:rPr>
                <a:t>Migration Executor</a:t>
              </a:r>
            </a:p>
          </p:txBody>
        </p:sp>
        <p:sp>
          <p:nvSpPr>
            <p:cNvPr id="382" name="Rectangle 60"/>
            <p:cNvSpPr/>
            <p:nvPr/>
          </p:nvSpPr>
          <p:spPr>
            <a:xfrm>
              <a:off x="4300234" y="6330209"/>
              <a:ext cx="2688336" cy="210312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1" i="0">
                  <a:solidFill>
                    <a:srgbClr val="FFFFFF"/>
                  </a:solidFill>
                  <a:latin typeface="맑은 고딕"/>
                  <a:ea typeface="맑은 고딕"/>
                </a:rPr>
                <a:t>Transfer Handler  (Background DMA)</a:t>
              </a:r>
            </a:p>
          </p:txBody>
        </p:sp>
        <p:cxnSp>
          <p:nvCxnSpPr>
            <p:cNvPr id="383" name="Connector 61"/>
            <p:cNvCxnSpPr/>
            <p:nvPr/>
          </p:nvCxnSpPr>
          <p:spPr>
            <a:xfrm>
              <a:off x="5644402" y="6321065"/>
              <a:ext cx="0" cy="9144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4" name="Oval 62"/>
            <p:cNvSpPr/>
            <p:nvPr/>
          </p:nvSpPr>
          <p:spPr>
            <a:xfrm>
              <a:off x="5731270" y="6252484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⑥</a:t>
              </a:r>
            </a:p>
          </p:txBody>
        </p:sp>
        <p:cxnSp>
          <p:nvCxnSpPr>
            <p:cNvPr id="385" name="Connector 63"/>
            <p:cNvCxnSpPr/>
            <p:nvPr/>
          </p:nvCxnSpPr>
          <p:spPr>
            <a:xfrm>
              <a:off x="5342650" y="4519697"/>
              <a:ext cx="0" cy="1335024"/>
            </a:xfrm>
            <a:prstGeom prst="line">
              <a:avLst/>
            </a:prstGeom>
            <a:ln w="12700">
              <a:solidFill>
                <a:srgbClr val="2E75B6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6" name="Oval 64"/>
            <p:cNvSpPr/>
            <p:nvPr/>
          </p:nvSpPr>
          <p:spPr>
            <a:xfrm>
              <a:off x="5429518" y="5155205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④</a:t>
              </a:r>
            </a:p>
          </p:txBody>
        </p:sp>
        <p:cxnSp>
          <p:nvCxnSpPr>
            <p:cNvPr id="387" name="Connector 65"/>
            <p:cNvCxnSpPr/>
            <p:nvPr/>
          </p:nvCxnSpPr>
          <p:spPr>
            <a:xfrm flipH="1">
              <a:off x="4117354" y="6202193"/>
              <a:ext cx="182880" cy="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Connector 66"/>
            <p:cNvCxnSpPr/>
            <p:nvPr/>
          </p:nvCxnSpPr>
          <p:spPr>
            <a:xfrm flipV="1">
              <a:off x="4117354" y="5452385"/>
              <a:ext cx="0" cy="749808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9" name="Oval 67"/>
            <p:cNvSpPr/>
            <p:nvPr/>
          </p:nvSpPr>
          <p:spPr>
            <a:xfrm>
              <a:off x="3875038" y="5795284"/>
              <a:ext cx="155448" cy="155448"/>
            </a:xfrm>
            <a:prstGeom prst="ellipse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50" b="1" i="0">
                  <a:solidFill>
                    <a:srgbClr val="FFFFFF"/>
                  </a:solidFill>
                  <a:latin typeface="맑은 고딕"/>
                  <a:ea typeface="맑은 고딕"/>
                </a:rPr>
                <a:t>⑤</a:t>
              </a:r>
            </a:p>
          </p:txBody>
        </p:sp>
        <p:sp>
          <p:nvSpPr>
            <p:cNvPr id="390" name="Rectangle 68"/>
            <p:cNvSpPr/>
            <p:nvPr/>
          </p:nvSpPr>
          <p:spPr>
            <a:xfrm>
              <a:off x="2178826" y="5982737"/>
              <a:ext cx="1920240" cy="237744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800" b="1" i="0">
                  <a:solidFill>
                    <a:srgbClr val="FFFFFF"/>
                  </a:solidFill>
                  <a:latin typeface="맑은 고딕"/>
                  <a:ea typeface="맑은 고딕"/>
                </a:rPr>
                <a:t>Common Memory Backend Interface</a:t>
              </a:r>
            </a:p>
          </p:txBody>
        </p:sp>
        <p:cxnSp>
          <p:nvCxnSpPr>
            <p:cNvPr id="391" name="Connector 69"/>
            <p:cNvCxnSpPr/>
            <p:nvPr/>
          </p:nvCxnSpPr>
          <p:spPr>
            <a:xfrm flipV="1">
              <a:off x="2855482" y="5616977"/>
              <a:ext cx="0" cy="365760"/>
            </a:xfrm>
            <a:prstGeom prst="line">
              <a:avLst/>
            </a:prstGeom>
            <a:ln w="12700">
              <a:solidFill>
                <a:srgbClr val="7F7F7F"/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Rectangle 71"/>
          <p:cNvSpPr/>
          <p:nvPr/>
        </p:nvSpPr>
        <p:spPr>
          <a:xfrm>
            <a:off x="6621854" y="1492132"/>
            <a:ext cx="5128953" cy="932688"/>
          </a:xfrm>
          <a:prstGeom prst="rect">
            <a:avLst/>
          </a:prstGeom>
          <a:solidFill>
            <a:srgbClr val="DCE9F7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6621854" y="1528708"/>
            <a:ext cx="5128953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F4E79"/>
                </a:solidFill>
                <a:latin typeface="맑은 고딕"/>
                <a:ea typeface="맑은 고딕"/>
              </a:rPr>
              <a:t>Control Plane</a:t>
            </a:r>
          </a:p>
        </p:txBody>
      </p:sp>
      <p:sp>
        <p:nvSpPr>
          <p:cNvPr id="114" name="Rectangle 73"/>
          <p:cNvSpPr/>
          <p:nvPr/>
        </p:nvSpPr>
        <p:spPr>
          <a:xfrm>
            <a:off x="6721606" y="1674917"/>
            <a:ext cx="1317565" cy="343501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850" b="1" i="0" dirty="0">
                <a:solidFill>
                  <a:srgbClr val="7F5F00"/>
                </a:solidFill>
                <a:latin typeface="맑은 고딕"/>
                <a:ea typeface="맑은 고딕"/>
              </a:rPr>
              <a:t>Decision Scheduler</a:t>
            </a:r>
          </a:p>
          <a:p>
            <a:pPr algn="ctr">
              <a:lnSpc>
                <a:spcPct val="125000"/>
              </a:lnSpc>
            </a:pPr>
            <a:r>
              <a:rPr sz="650" b="0" i="0" dirty="0" err="1">
                <a:solidFill>
                  <a:srgbClr val="7F5F00"/>
                </a:solidFill>
                <a:latin typeface="맑은 고딕"/>
                <a:ea typeface="맑은 고딕"/>
              </a:rPr>
              <a:t>판단</a:t>
            </a:r>
            <a:r>
              <a:rPr sz="650" b="0" i="0" dirty="0">
                <a:solidFill>
                  <a:srgbClr val="7F5F00"/>
                </a:solidFill>
                <a:latin typeface="맑은 고딕"/>
                <a:ea typeface="맑은 고딕"/>
              </a:rPr>
              <a:t> </a:t>
            </a:r>
            <a:r>
              <a:rPr sz="650" b="0" i="0" dirty="0" err="1">
                <a:solidFill>
                  <a:srgbClr val="7F5F00"/>
                </a:solidFill>
                <a:latin typeface="맑은 고딕"/>
                <a:ea typeface="맑은 고딕"/>
              </a:rPr>
              <a:t>주기</a:t>
            </a:r>
            <a:r>
              <a:rPr sz="650" b="0" i="0" dirty="0">
                <a:solidFill>
                  <a:srgbClr val="7F5F00"/>
                </a:solidFill>
                <a:latin typeface="맑은 고딕"/>
                <a:ea typeface="맑은 고딕"/>
              </a:rPr>
              <a:t> </a:t>
            </a:r>
            <a:r>
              <a:rPr lang="ko-KR" altLang="en-US" sz="650" b="0" i="0" dirty="0">
                <a:solidFill>
                  <a:srgbClr val="7F5F00"/>
                </a:solidFill>
                <a:latin typeface="맑은 고딕"/>
                <a:ea typeface="맑은 고딕"/>
              </a:rPr>
              <a:t>독립 </a:t>
            </a:r>
            <a:r>
              <a:rPr sz="650" b="0" i="0" dirty="0" err="1">
                <a:solidFill>
                  <a:srgbClr val="7F5F00"/>
                </a:solidFill>
                <a:latin typeface="맑은 고딕"/>
                <a:ea typeface="맑은 고딕"/>
              </a:rPr>
              <a:t>보유</a:t>
            </a:r>
            <a:endParaRPr sz="650" b="0" i="0" dirty="0">
              <a:solidFill>
                <a:srgbClr val="7F5F00"/>
              </a:solidFill>
              <a:latin typeface="맑은 고딕"/>
              <a:ea typeface="맑은 고딕"/>
            </a:endParaRPr>
          </a:p>
        </p:txBody>
      </p:sp>
      <p:sp>
        <p:nvSpPr>
          <p:cNvPr id="115" name="Rectangle 74"/>
          <p:cNvSpPr/>
          <p:nvPr/>
        </p:nvSpPr>
        <p:spPr>
          <a:xfrm>
            <a:off x="8197115" y="1752531"/>
            <a:ext cx="951807" cy="343501"/>
          </a:xfrm>
          <a:prstGeom prst="rect">
            <a:avLst/>
          </a:prstGeom>
          <a:solidFill>
            <a:schemeClr val="bg1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850" b="1" i="0" dirty="0">
                <a:solidFill>
                  <a:schemeClr val="tx1"/>
                </a:solidFill>
                <a:latin typeface="맑은 고딕"/>
                <a:ea typeface="맑은 고딕"/>
              </a:rPr>
              <a:t>Trend Analyzer</a:t>
            </a:r>
          </a:p>
          <a:p>
            <a:pPr algn="ctr">
              <a:lnSpc>
                <a:spcPct val="125000"/>
              </a:lnSpc>
            </a:pPr>
            <a:r>
              <a:rPr sz="68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자원</a:t>
            </a:r>
            <a:r>
              <a:rPr sz="680" b="0" i="0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sz="68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추세</a:t>
            </a:r>
            <a:r>
              <a:rPr sz="680" b="0" i="0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sz="68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판단</a:t>
            </a:r>
            <a:endParaRPr sz="680" b="0" i="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16" name="Rectangle 75"/>
          <p:cNvSpPr/>
          <p:nvPr/>
        </p:nvSpPr>
        <p:spPr>
          <a:xfrm>
            <a:off x="9281927" y="1752531"/>
            <a:ext cx="1163782" cy="343501"/>
          </a:xfrm>
          <a:prstGeom prst="rect">
            <a:avLst/>
          </a:prstGeom>
          <a:solidFill>
            <a:schemeClr val="bg1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850" b="1" i="0">
                <a:solidFill>
                  <a:schemeClr val="tx1"/>
                </a:solidFill>
                <a:latin typeface="맑은 고딕"/>
                <a:ea typeface="맑은 고딕"/>
              </a:rPr>
              <a:t>Affinity Mapper</a:t>
            </a:r>
          </a:p>
          <a:p>
            <a:pPr algn="ctr">
              <a:lnSpc>
                <a:spcPct val="125000"/>
              </a:lnSpc>
            </a:pPr>
            <a:r>
              <a:rPr sz="680" b="0" i="0">
                <a:solidFill>
                  <a:schemeClr val="tx1"/>
                </a:solidFill>
                <a:latin typeface="맑은 고딕"/>
                <a:ea typeface="맑은 고딕"/>
              </a:rPr>
              <a:t>데이터·메모리 적합도</a:t>
            </a:r>
          </a:p>
        </p:txBody>
      </p:sp>
      <p:sp>
        <p:nvSpPr>
          <p:cNvPr id="117" name="Rectangle 76"/>
          <p:cNvSpPr/>
          <p:nvPr/>
        </p:nvSpPr>
        <p:spPr>
          <a:xfrm>
            <a:off x="10578712" y="1667809"/>
            <a:ext cx="1163782" cy="647283"/>
          </a:xfrm>
          <a:prstGeom prst="rect">
            <a:avLst/>
          </a:prstGeom>
          <a:solidFill>
            <a:schemeClr val="bg1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t"/>
          <a:lstStyle/>
          <a:p>
            <a:pPr algn="ctr">
              <a:lnSpc>
                <a:spcPct val="125000"/>
              </a:lnSpc>
            </a:pPr>
            <a:r>
              <a:rPr sz="850" b="1" i="0" dirty="0">
                <a:solidFill>
                  <a:schemeClr val="tx1"/>
                </a:solidFill>
                <a:latin typeface="맑은 고딕"/>
                <a:ea typeface="맑은 고딕"/>
              </a:rPr>
              <a:t>Policy Engine</a:t>
            </a:r>
          </a:p>
          <a:p>
            <a:pPr algn="ctr">
              <a:lnSpc>
                <a:spcPct val="125000"/>
              </a:lnSpc>
            </a:pPr>
            <a:r>
              <a:rPr sz="68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이동</a:t>
            </a:r>
            <a:r>
              <a:rPr sz="680" b="0" i="0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sz="68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명령</a:t>
            </a:r>
            <a:r>
              <a:rPr sz="680" b="0" i="0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sz="68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확정</a:t>
            </a:r>
            <a:endParaRPr sz="680" b="0" i="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cxnSp>
        <p:nvCxnSpPr>
          <p:cNvPr id="118" name="Connector 77"/>
          <p:cNvCxnSpPr/>
          <p:nvPr/>
        </p:nvCxnSpPr>
        <p:spPr>
          <a:xfrm>
            <a:off x="8047485" y="1924281"/>
            <a:ext cx="149630" cy="0"/>
          </a:xfrm>
          <a:prstGeom prst="line">
            <a:avLst/>
          </a:prstGeom>
          <a:ln w="12700">
            <a:solidFill>
              <a:srgbClr val="BF8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79"/>
          <p:cNvCxnSpPr/>
          <p:nvPr/>
        </p:nvCxnSpPr>
        <p:spPr>
          <a:xfrm>
            <a:off x="9148923" y="1924281"/>
            <a:ext cx="133004" cy="0"/>
          </a:xfrm>
          <a:prstGeom prst="line">
            <a:avLst/>
          </a:prstGeom>
          <a:ln w="12700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80"/>
          <p:cNvCxnSpPr/>
          <p:nvPr/>
        </p:nvCxnSpPr>
        <p:spPr>
          <a:xfrm>
            <a:off x="10445709" y="1924281"/>
            <a:ext cx="133004" cy="0"/>
          </a:xfrm>
          <a:prstGeom prst="line">
            <a:avLst/>
          </a:prstGeom>
          <a:ln w="12700">
            <a:solidFill>
              <a:srgbClr val="2E75B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81"/>
          <p:cNvSpPr/>
          <p:nvPr/>
        </p:nvSpPr>
        <p:spPr>
          <a:xfrm>
            <a:off x="6621854" y="2662564"/>
            <a:ext cx="2527069" cy="1225296"/>
          </a:xfrm>
          <a:prstGeom prst="rect">
            <a:avLst/>
          </a:prstGeom>
          <a:solidFill>
            <a:srgbClr val="DCE9F7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6621854" y="2699140"/>
            <a:ext cx="2527069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F4E79"/>
                </a:solidFill>
                <a:latin typeface="맑은 고딕"/>
                <a:ea typeface="맑은 고딕"/>
              </a:rPr>
              <a:t>Resource Plane</a:t>
            </a:r>
          </a:p>
        </p:txBody>
      </p:sp>
      <p:sp>
        <p:nvSpPr>
          <p:cNvPr id="123" name="Rectangle 83"/>
          <p:cNvSpPr/>
          <p:nvPr/>
        </p:nvSpPr>
        <p:spPr>
          <a:xfrm>
            <a:off x="6721607" y="2882020"/>
            <a:ext cx="2327564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25000"/>
              </a:lnSpc>
            </a:pPr>
            <a:r>
              <a:rPr sz="800" b="1" i="0">
                <a:solidFill>
                  <a:srgbClr val="7F5F00"/>
                </a:solidFill>
                <a:latin typeface="맑은 고딕"/>
                <a:ea typeface="맑은 고딕"/>
              </a:rPr>
              <a:t>State Snapshot Builder</a:t>
            </a:r>
          </a:p>
          <a:p>
            <a:pPr algn="ctr">
              <a:lnSpc>
                <a:spcPct val="125000"/>
              </a:lnSpc>
            </a:pPr>
            <a:r>
              <a:rPr sz="650" b="0" i="0">
                <a:solidFill>
                  <a:srgbClr val="7F5F00"/>
                </a:solidFill>
                <a:latin typeface="맑은 고딕"/>
                <a:ea typeface="맑은 고딕"/>
              </a:rPr>
              <a:t>일관 복사본 생성 · object 수 비례 비용</a:t>
            </a:r>
          </a:p>
        </p:txBody>
      </p:sp>
      <p:sp>
        <p:nvSpPr>
          <p:cNvPr id="124" name="Rectangle 84"/>
          <p:cNvSpPr/>
          <p:nvPr/>
        </p:nvSpPr>
        <p:spPr>
          <a:xfrm>
            <a:off x="6721607" y="3211204"/>
            <a:ext cx="1113906" cy="256032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750" b="0" i="0">
                <a:solidFill>
                  <a:srgbClr val="404040"/>
                </a:solidFill>
                <a:latin typeface="맑은 고딕"/>
                <a:ea typeface="맑은 고딕"/>
              </a:rPr>
              <a:t>Telemetry Collector</a:t>
            </a:r>
          </a:p>
        </p:txBody>
      </p:sp>
      <p:sp>
        <p:nvSpPr>
          <p:cNvPr id="125" name="Rectangle 85"/>
          <p:cNvSpPr/>
          <p:nvPr/>
        </p:nvSpPr>
        <p:spPr>
          <a:xfrm>
            <a:off x="7935265" y="3211204"/>
            <a:ext cx="1113906" cy="256032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800" b="0" i="0">
                <a:solidFill>
                  <a:srgbClr val="404040"/>
                </a:solidFill>
                <a:latin typeface="맑은 고딕"/>
                <a:ea typeface="맑은 고딕"/>
              </a:rPr>
              <a:t>State Monitor</a:t>
            </a:r>
          </a:p>
        </p:txBody>
      </p:sp>
      <p:sp>
        <p:nvSpPr>
          <p:cNvPr id="126" name="Rectangle 86"/>
          <p:cNvSpPr/>
          <p:nvPr/>
        </p:nvSpPr>
        <p:spPr>
          <a:xfrm>
            <a:off x="6721607" y="3522098"/>
            <a:ext cx="2327564" cy="347473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t"/>
          <a:lstStyle/>
          <a:p>
            <a:pPr algn="ctr">
              <a:lnSpc>
                <a:spcPct val="95000"/>
              </a:lnSpc>
            </a:pPr>
            <a:r>
              <a:rPr sz="80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Memory·Data</a:t>
            </a:r>
            <a:r>
              <a:rPr sz="800" b="0" i="0" dirty="0">
                <a:solidFill>
                  <a:srgbClr val="404040"/>
                </a:solidFill>
                <a:latin typeface="맑은 고딕"/>
                <a:ea typeface="맑은 고딕"/>
              </a:rPr>
              <a:t> Object Registry</a:t>
            </a:r>
            <a:endParaRPr lang="en-US" sz="800" b="0" i="0" dirty="0">
              <a:solidFill>
                <a:srgbClr val="404040"/>
              </a:solidFill>
              <a:latin typeface="맑은 고딕"/>
              <a:ea typeface="맑은 고딕"/>
            </a:endParaRPr>
          </a:p>
          <a:p>
            <a:pPr algn="ctr">
              <a:lnSpc>
                <a:spcPct val="95000"/>
              </a:lnSpc>
            </a:pPr>
            <a:endParaRPr sz="800" b="0" i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cxnSp>
        <p:nvCxnSpPr>
          <p:cNvPr id="127" name="Connector 87"/>
          <p:cNvCxnSpPr/>
          <p:nvPr/>
        </p:nvCxnSpPr>
        <p:spPr>
          <a:xfrm flipV="1">
            <a:off x="7278559" y="3156340"/>
            <a:ext cx="0" cy="54864"/>
          </a:xfrm>
          <a:prstGeom prst="line">
            <a:avLst/>
          </a:prstGeom>
          <a:ln w="12700">
            <a:solidFill>
              <a:srgbClr val="BF8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88"/>
          <p:cNvCxnSpPr/>
          <p:nvPr/>
        </p:nvCxnSpPr>
        <p:spPr>
          <a:xfrm flipV="1">
            <a:off x="8492218" y="3156340"/>
            <a:ext cx="0" cy="54864"/>
          </a:xfrm>
          <a:prstGeom prst="line">
            <a:avLst/>
          </a:prstGeom>
          <a:ln w="12700">
            <a:solidFill>
              <a:srgbClr val="BF8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89"/>
          <p:cNvCxnSpPr/>
          <p:nvPr/>
        </p:nvCxnSpPr>
        <p:spPr>
          <a:xfrm flipV="1">
            <a:off x="7885389" y="3156340"/>
            <a:ext cx="0" cy="365759"/>
          </a:xfrm>
          <a:prstGeom prst="line">
            <a:avLst/>
          </a:prstGeom>
          <a:ln w="12700">
            <a:solidFill>
              <a:srgbClr val="BF8F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09"/>
          <p:cNvSpPr/>
          <p:nvPr/>
        </p:nvSpPr>
        <p:spPr>
          <a:xfrm>
            <a:off x="6621854" y="4052452"/>
            <a:ext cx="5128953" cy="237744"/>
          </a:xfrm>
          <a:prstGeom prst="rect">
            <a:avLst/>
          </a:prstGeom>
          <a:solidFill>
            <a:srgbClr val="59595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850" b="1" i="0">
                <a:solidFill>
                  <a:srgbClr val="FFFFFF"/>
                </a:solidFill>
                <a:latin typeface="맑은 고딕"/>
                <a:ea typeface="맑은 고딕"/>
              </a:rPr>
              <a:t>Common Memory Backend Interface</a:t>
            </a:r>
          </a:p>
        </p:txBody>
      </p:sp>
      <p:sp>
        <p:nvSpPr>
          <p:cNvPr id="131" name="KV Cache Manager">
            <a:extLst>
              <a:ext uri="{FF2B5EF4-FFF2-40B4-BE49-F238E27FC236}">
                <a16:creationId xmlns:a16="http://schemas.microsoft.com/office/drawing/2014/main" id="{B18B6AEF-CA0B-409D-820C-810CFB582295}"/>
              </a:ext>
            </a:extLst>
          </p:cNvPr>
          <p:cNvSpPr/>
          <p:nvPr/>
        </p:nvSpPr>
        <p:spPr>
          <a:xfrm>
            <a:off x="6841608" y="2175624"/>
            <a:ext cx="960355" cy="2065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Lease</a:t>
            </a:r>
            <a:r>
              <a:rPr lang="ko-KR" altLang="en-US" sz="900" b="1" dirty="0">
                <a:solidFill>
                  <a:schemeClr val="tx1"/>
                </a:solidFill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</a:rPr>
              <a:t>Timer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sp>
        <p:nvSpPr>
          <p:cNvPr id="132" name="KV Cache Manager">
            <a:extLst>
              <a:ext uri="{FF2B5EF4-FFF2-40B4-BE49-F238E27FC236}">
                <a16:creationId xmlns:a16="http://schemas.microsoft.com/office/drawing/2014/main" id="{0AC675B6-EBCF-4411-982A-606F1B39DD1C}"/>
              </a:ext>
            </a:extLst>
          </p:cNvPr>
          <p:cNvSpPr/>
          <p:nvPr/>
        </p:nvSpPr>
        <p:spPr>
          <a:xfrm>
            <a:off x="10637394" y="2014610"/>
            <a:ext cx="1056391" cy="2614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HBM Lease Granter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133" name="① Event">
            <a:extLst>
              <a:ext uri="{FF2B5EF4-FFF2-40B4-BE49-F238E27FC236}">
                <a16:creationId xmlns:a16="http://schemas.microsoft.com/office/drawing/2014/main" id="{AA6A60D7-3F4D-4197-A43E-5FBE2A7B70E4}"/>
              </a:ext>
            </a:extLst>
          </p:cNvPr>
          <p:cNvCxnSpPr>
            <a:cxnSpLocks/>
            <a:stCxn id="132" idx="1"/>
            <a:endCxn id="131" idx="3"/>
          </p:cNvCxnSpPr>
          <p:nvPr/>
        </p:nvCxnSpPr>
        <p:spPr>
          <a:xfrm rot="10800000" flipV="1">
            <a:off x="7801964" y="2145320"/>
            <a:ext cx="2835431" cy="133592"/>
          </a:xfrm>
          <a:prstGeom prst="bentConnector3">
            <a:avLst>
              <a:gd name="adj1" fmla="val 50000"/>
            </a:avLst>
          </a:prstGeom>
          <a:ln w="9525">
            <a:solidFill>
              <a:srgbClr val="FF0000"/>
            </a:solidFill>
            <a:prstDash val="dash"/>
            <a:tailEnd type="arrow"/>
          </a:ln>
        </p:spPr>
      </p:cxnSp>
      <p:cxnSp>
        <p:nvCxnSpPr>
          <p:cNvPr id="134" name="① Event">
            <a:extLst>
              <a:ext uri="{FF2B5EF4-FFF2-40B4-BE49-F238E27FC236}">
                <a16:creationId xmlns:a16="http://schemas.microsoft.com/office/drawing/2014/main" id="{393EDD8C-32BA-4528-8222-186C12CC2266}"/>
              </a:ext>
            </a:extLst>
          </p:cNvPr>
          <p:cNvCxnSpPr>
            <a:cxnSpLocks/>
            <a:endCxn id="135" idx="3"/>
          </p:cNvCxnSpPr>
          <p:nvPr/>
        </p:nvCxnSpPr>
        <p:spPr>
          <a:xfrm rot="10800000" flipV="1">
            <a:off x="8436224" y="2138122"/>
            <a:ext cx="2201179" cy="1633875"/>
          </a:xfrm>
          <a:prstGeom prst="bentConnector3">
            <a:avLst>
              <a:gd name="adj1" fmla="val 64713"/>
            </a:avLst>
          </a:prstGeom>
          <a:ln w="9525">
            <a:solidFill>
              <a:srgbClr val="FF0000"/>
            </a:solidFill>
            <a:prstDash val="dash"/>
            <a:tailEnd type="arrow"/>
          </a:ln>
        </p:spPr>
      </p:cxnSp>
      <p:sp>
        <p:nvSpPr>
          <p:cNvPr id="135" name="KV Cache Manager">
            <a:extLst>
              <a:ext uri="{FF2B5EF4-FFF2-40B4-BE49-F238E27FC236}">
                <a16:creationId xmlns:a16="http://schemas.microsoft.com/office/drawing/2014/main" id="{B18B6AEF-CA0B-409D-820C-810CFB582295}"/>
              </a:ext>
            </a:extLst>
          </p:cNvPr>
          <p:cNvSpPr/>
          <p:nvPr/>
        </p:nvSpPr>
        <p:spPr>
          <a:xfrm>
            <a:off x="7475868" y="3686636"/>
            <a:ext cx="960355" cy="1707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</a:rPr>
              <a:t>Metadata</a:t>
            </a:r>
            <a:endParaRPr lang="ko-KR" altLang="en-US" sz="900" b="1" dirty="0">
              <a:solidFill>
                <a:schemeClr val="tx1"/>
              </a:solidFill>
            </a:endParaRPr>
          </a:p>
        </p:txBody>
      </p:sp>
      <p:cxnSp>
        <p:nvCxnSpPr>
          <p:cNvPr id="136" name="① Event">
            <a:extLst>
              <a:ext uri="{FF2B5EF4-FFF2-40B4-BE49-F238E27FC236}">
                <a16:creationId xmlns:a16="http://schemas.microsoft.com/office/drawing/2014/main" id="{4612F9B8-78D5-4DE5-B2DC-45A405916D8A}"/>
              </a:ext>
            </a:extLst>
          </p:cNvPr>
          <p:cNvCxnSpPr>
            <a:cxnSpLocks/>
          </p:cNvCxnSpPr>
          <p:nvPr/>
        </p:nvCxnSpPr>
        <p:spPr>
          <a:xfrm flipH="1" flipV="1">
            <a:off x="7014297" y="2018259"/>
            <a:ext cx="2453" cy="166391"/>
          </a:xfrm>
          <a:prstGeom prst="straightConnector1">
            <a:avLst/>
          </a:prstGeom>
          <a:ln w="9525">
            <a:solidFill>
              <a:srgbClr val="FF0000"/>
            </a:solidFill>
            <a:prstDash val="dash"/>
            <a:tailEnd type="arrow"/>
          </a:ln>
        </p:spPr>
      </p:cxn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3471A210-CDF4-4BA3-84BD-F653298D9DEF}"/>
              </a:ext>
            </a:extLst>
          </p:cNvPr>
          <p:cNvSpPr/>
          <p:nvPr/>
        </p:nvSpPr>
        <p:spPr>
          <a:xfrm>
            <a:off x="7012988" y="2004682"/>
            <a:ext cx="1042191" cy="200055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r>
              <a:rPr lang="en-US" altLang="ko-KR" sz="700" dirty="0">
                <a:solidFill>
                  <a:srgbClr val="FF0000"/>
                </a:solidFill>
              </a:rPr>
              <a:t>Event (Lease Expired)</a:t>
            </a: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83407551-4922-4346-9CDE-2770BEA53886}"/>
              </a:ext>
            </a:extLst>
          </p:cNvPr>
          <p:cNvGrpSpPr/>
          <p:nvPr/>
        </p:nvGrpSpPr>
        <p:grpSpPr>
          <a:xfrm>
            <a:off x="10877540" y="3314931"/>
            <a:ext cx="886133" cy="491780"/>
            <a:chOff x="11056831" y="3583489"/>
            <a:chExt cx="886133" cy="491780"/>
          </a:xfrm>
        </p:grpSpPr>
        <p:sp>
          <p:nvSpPr>
            <p:cNvPr id="139" name="KV Cache Manager">
              <a:extLst>
                <a:ext uri="{FF2B5EF4-FFF2-40B4-BE49-F238E27FC236}">
                  <a16:creationId xmlns:a16="http://schemas.microsoft.com/office/drawing/2014/main" id="{98E078A6-320E-4FDE-982D-DB32947602AA}"/>
                </a:ext>
              </a:extLst>
            </p:cNvPr>
            <p:cNvSpPr/>
            <p:nvPr/>
          </p:nvSpPr>
          <p:spPr>
            <a:xfrm>
              <a:off x="11126972" y="3816949"/>
              <a:ext cx="784423" cy="19403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QA2 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보완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0B9F48D5-E468-4CDF-978E-9BCF5DF01EFF}"/>
                </a:ext>
              </a:extLst>
            </p:cNvPr>
            <p:cNvSpPr/>
            <p:nvPr/>
          </p:nvSpPr>
          <p:spPr>
            <a:xfrm>
              <a:off x="11056831" y="3583489"/>
              <a:ext cx="886133" cy="491780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Legend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41" name="Connector 91"/>
          <p:cNvCxnSpPr/>
          <p:nvPr/>
        </p:nvCxnSpPr>
        <p:spPr>
          <a:xfrm flipV="1">
            <a:off x="8721012" y="2111395"/>
            <a:ext cx="0" cy="731623"/>
          </a:xfrm>
          <a:prstGeom prst="line">
            <a:avLst/>
          </a:prstGeom>
          <a:ln w="12700">
            <a:solidFill>
              <a:srgbClr val="BF8F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6E2B7273-A609-42E8-9B1D-ED211C704AFC}"/>
              </a:ext>
            </a:extLst>
          </p:cNvPr>
          <p:cNvSpPr/>
          <p:nvPr/>
        </p:nvSpPr>
        <p:spPr>
          <a:xfrm>
            <a:off x="6584187" y="1044054"/>
            <a:ext cx="5510377" cy="581394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10024136" y="624622"/>
            <a:ext cx="910691" cy="13449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실행</a:t>
            </a:r>
          </a:p>
        </p:txBody>
      </p:sp>
      <p:sp>
        <p:nvSpPr>
          <p:cNvPr id="148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8339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F4 KV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캐시 관리</a:t>
            </a:r>
          </a:p>
        </p:txBody>
      </p:sp>
      <p:sp>
        <p:nvSpPr>
          <p:cNvPr id="149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8617288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150" name="모서리가 둥근 직사각형 37">
            <a:extLst>
              <a:ext uri="{FF2B5EF4-FFF2-40B4-BE49-F238E27FC236}">
                <a16:creationId xmlns:a16="http://schemas.microsoft.com/office/drawing/2014/main" id="{63E127C8-1374-4049-8A7A-84E9B191F365}"/>
              </a:ext>
            </a:extLst>
          </p:cNvPr>
          <p:cNvSpPr/>
          <p:nvPr/>
        </p:nvSpPr>
        <p:spPr>
          <a:xfrm>
            <a:off x="9506874" y="821023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151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0396460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 </a:t>
            </a:r>
          </a:p>
        </p:txBody>
      </p:sp>
      <p:sp>
        <p:nvSpPr>
          <p:cNvPr id="152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7876884" y="619129"/>
            <a:ext cx="1003759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C1 </a:t>
            </a:r>
            <a:r>
              <a:rPr lang="en-US" altLang="ko-KR" sz="700" dirty="0" err="1">
                <a:latin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</a:rPr>
              <a:t>개발 환경</a:t>
            </a:r>
          </a:p>
        </p:txBody>
      </p:sp>
      <p:sp>
        <p:nvSpPr>
          <p:cNvPr id="153" name="모서리가 둥근 직사각형 37">
            <a:extLst>
              <a:ext uri="{FF2B5EF4-FFF2-40B4-BE49-F238E27FC236}">
                <a16:creationId xmlns:a16="http://schemas.microsoft.com/office/drawing/2014/main" id="{849CB062-936D-4F72-BDB2-73AE9FDAA773}"/>
              </a:ext>
            </a:extLst>
          </p:cNvPr>
          <p:cNvSpPr/>
          <p:nvPr/>
        </p:nvSpPr>
        <p:spPr>
          <a:xfrm>
            <a:off x="11209965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Q5 </a:t>
            </a:r>
            <a:r>
              <a:rPr lang="ko-KR" altLang="en-US" sz="700" dirty="0" err="1">
                <a:latin typeface="맑은 고딕" panose="020B0503020000020004" pitchFamily="50" charset="-127"/>
              </a:rPr>
              <a:t>변경용이성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8958662" y="617897"/>
            <a:ext cx="1001760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F2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스케줄링</a:t>
            </a:r>
          </a:p>
        </p:txBody>
      </p:sp>
      <p:grpSp>
        <p:nvGrpSpPr>
          <p:cNvPr id="155" name="그룹 154"/>
          <p:cNvGrpSpPr/>
          <p:nvPr/>
        </p:nvGrpSpPr>
        <p:grpSpPr>
          <a:xfrm>
            <a:off x="311665" y="3341561"/>
            <a:ext cx="768096" cy="1115568"/>
            <a:chOff x="292545" y="3435232"/>
            <a:chExt cx="768096" cy="1115568"/>
          </a:xfrm>
        </p:grpSpPr>
        <p:sp>
          <p:nvSpPr>
            <p:cNvPr id="156" name="Rectangle 28"/>
            <p:cNvSpPr/>
            <p:nvPr/>
          </p:nvSpPr>
          <p:spPr>
            <a:xfrm>
              <a:off x="292545" y="3435232"/>
              <a:ext cx="768096" cy="1115568"/>
            </a:xfrm>
            <a:prstGeom prst="rect">
              <a:avLst/>
            </a:prstGeom>
            <a:noFill/>
            <a:ln w="9525">
              <a:solidFill>
                <a:srgbClr val="BFBFB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endParaRPr/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319977" y="3480952"/>
              <a:ext cx="713232" cy="14630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00" b="1" i="0">
                  <a:solidFill>
                    <a:srgbClr val="404040"/>
                  </a:solidFill>
                  <a:latin typeface="맑은 고딕"/>
                  <a:ea typeface="맑은 고딕"/>
                </a:rPr>
                <a:t>Legend</a:t>
              </a:r>
            </a:p>
          </p:txBody>
        </p:sp>
        <p:sp>
          <p:nvSpPr>
            <p:cNvPr id="158" name="Rectangle 30"/>
            <p:cNvSpPr/>
            <p:nvPr/>
          </p:nvSpPr>
          <p:spPr>
            <a:xfrm>
              <a:off x="319977" y="3672976"/>
              <a:ext cx="713232" cy="18745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404040"/>
                  </a:solidFill>
                  <a:latin typeface="맑은 고딕"/>
                  <a:ea typeface="맑은 고딕"/>
                </a:rPr>
                <a:t>DP 설계 모듈</a:t>
              </a:r>
            </a:p>
          </p:txBody>
        </p:sp>
        <p:sp>
          <p:nvSpPr>
            <p:cNvPr id="159" name="Rectangle 31"/>
            <p:cNvSpPr/>
            <p:nvPr/>
          </p:nvSpPr>
          <p:spPr>
            <a:xfrm>
              <a:off x="319977" y="3887860"/>
              <a:ext cx="713232" cy="187452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7F5F00"/>
                  </a:solidFill>
                  <a:latin typeface="맑은 고딕"/>
                  <a:ea typeface="맑은 고딕"/>
                </a:rPr>
                <a:t>후보 특화 모듈</a:t>
              </a:r>
            </a:p>
          </p:txBody>
        </p:sp>
        <p:sp>
          <p:nvSpPr>
            <p:cNvPr id="160" name="Rectangle 32"/>
            <p:cNvSpPr/>
            <p:nvPr/>
          </p:nvSpPr>
          <p:spPr>
            <a:xfrm>
              <a:off x="319977" y="4102744"/>
              <a:ext cx="713232" cy="187452"/>
            </a:xfrm>
            <a:prstGeom prst="rect">
              <a:avLst/>
            </a:prstGeom>
            <a:solidFill>
              <a:srgbClr val="D9D9D9"/>
            </a:solidFill>
            <a:ln w="9525">
              <a:solidFill>
                <a:srgbClr val="A6A6A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404040"/>
                  </a:solidFill>
                  <a:latin typeface="맑은 고딕"/>
                  <a:ea typeface="맑은 고딕"/>
                </a:rPr>
                <a:t>공통 모듈</a:t>
              </a:r>
            </a:p>
          </p:txBody>
        </p:sp>
        <p:sp>
          <p:nvSpPr>
            <p:cNvPr id="161" name="Rectangle 33"/>
            <p:cNvSpPr/>
            <p:nvPr/>
          </p:nvSpPr>
          <p:spPr>
            <a:xfrm>
              <a:off x="319977" y="4317627"/>
              <a:ext cx="713232" cy="187452"/>
            </a:xfrm>
            <a:prstGeom prst="rect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sz="700" b="0" i="0">
                  <a:solidFill>
                    <a:srgbClr val="FFFFFF"/>
                  </a:solidFill>
                  <a:latin typeface="맑은 고딕"/>
                  <a:ea typeface="맑은 고딕"/>
                </a:rPr>
                <a:t>Device SW I/F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001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304992" y="1061955"/>
          <a:ext cx="11759184" cy="55143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430358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137096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4466870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973810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dirty="0"/>
                        <a:t>스케줄링 시점 결정 </a:t>
                      </a:r>
                      <a:r>
                        <a:rPr lang="en-US" altLang="ko-KR" sz="105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(Plan + Decision</a:t>
                      </a:r>
                      <a:r>
                        <a:rPr lang="en-US" altLang="ko-KR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동시 구조</a:t>
                      </a:r>
                      <a:r>
                        <a:rPr lang="en-US" altLang="ko-KR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  <a:r>
                        <a:rPr lang="ko-KR" altLang="en-US" sz="105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/>
                        <a:t>사전 계획 결정 </a:t>
                      </a:r>
                      <a:r>
                        <a:rPr lang="en-US" altLang="ko-KR" sz="1050" b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(Plan, Decision </a:t>
                      </a:r>
                      <a:r>
                        <a:rPr lang="ko-KR" altLang="en-US" sz="1050" b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 구조</a:t>
                      </a:r>
                      <a:r>
                        <a:rPr lang="en-US" altLang="ko-KR" sz="1050" b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5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2723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실시간 부하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∙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리소스 상태를 반영하여 메모리 압력에 대응하기 유리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(Q2)</a:t>
                      </a:r>
                      <a:endParaRPr lang="ko-KR" altLang="en-US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계획 확정 후 즉시 실행하여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tail latency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완화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(Q3)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연산 위치 결정을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critical path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밖으로 분리하여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latency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절감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연산 자원 증가 시 계획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worker, batch evaluation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등으로 계획 컴포넌트를 독립 확장 가능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연산 위치에 인한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decision latency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가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critical path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 포함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자원 종류 증가 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monitoring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비용이 증가 해 스케줄링 병목 위험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대규모 고부하 시 계획·실행 상태 Mismatch로 Re-plan 발생 높음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(Q3)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</a:t>
                      </a: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Efficiency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Q1.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처리량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Q2. Resource Efficiency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57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DP2. </a:t>
            </a:r>
            <a:r>
              <a:rPr lang="ko-KR" altLang="en-US" dirty="0"/>
              <a:t>연산</a:t>
            </a:r>
            <a:r>
              <a:rPr lang="en-US" altLang="ko-KR" dirty="0"/>
              <a:t>(Prefill/Decode) </a:t>
            </a:r>
            <a:r>
              <a:rPr lang="ko-KR" altLang="en-US" dirty="0"/>
              <a:t>실행 위치 결정 구조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Cost </a:t>
            </a:r>
            <a:r>
              <a:rPr lang="ko-KR" altLang="en-US" sz="1400" b="1" dirty="0">
                <a:solidFill>
                  <a:schemeClr val="bg1"/>
                </a:solidFill>
              </a:rPr>
              <a:t>기반 연산 실행 위치의 결정 시점과 방식을 최적화하는 스케줄링 구조 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TextBox 1"/>
          <p:cNvSpPr txBox="1"/>
          <p:nvPr/>
        </p:nvSpPr>
        <p:spPr>
          <a:xfrm>
            <a:off x="1162983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스케줄링하는 시점에 연산 실행 위치 결정 </a:t>
            </a:r>
            <a:r>
              <a:rPr lang="en-US" altLang="ko-KR" sz="1100" dirty="0"/>
              <a:t>“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57051" y="1383052"/>
            <a:ext cx="4953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스케줄링 시점과 연산 실행 시점을 분리</a:t>
            </a:r>
            <a:r>
              <a:rPr lang="en-US" altLang="ko-KR" sz="1100" dirty="0"/>
              <a:t>”</a:t>
            </a:r>
          </a:p>
        </p:txBody>
      </p:sp>
      <p:sp>
        <p:nvSpPr>
          <p:cNvPr id="103" name="Shape 56">
            <a:extLst>
              <a:ext uri="{FF2B5EF4-FFF2-40B4-BE49-F238E27FC236}">
                <a16:creationId xmlns:a16="http://schemas.microsoft.com/office/drawing/2014/main" id="{33C7046D-072B-4A63-B8E3-E6FE269F4E83}"/>
              </a:ext>
            </a:extLst>
          </p:cNvPr>
          <p:cNvSpPr/>
          <p:nvPr/>
        </p:nvSpPr>
        <p:spPr>
          <a:xfrm>
            <a:off x="3872267" y="5221476"/>
            <a:ext cx="0" cy="0"/>
          </a:xfrm>
          <a:prstGeom prst="line">
            <a:avLst/>
          </a:prstGeom>
          <a:noFill/>
          <a:ln w="16510">
            <a:solidFill>
              <a:srgbClr val="4D7EA8"/>
            </a:solidFill>
            <a:prstDash val="solid"/>
            <a:headEnd type="none"/>
            <a:tailEnd type="none"/>
          </a:ln>
        </p:spPr>
      </p:sp>
      <p:sp>
        <p:nvSpPr>
          <p:cNvPr id="112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2862635" y="1853692"/>
            <a:ext cx="1411795" cy="292607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Scheduler</a:t>
            </a:r>
            <a:endParaRPr lang="ko-KR" altLang="en-US" sz="10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cxnSp>
        <p:nvCxnSpPr>
          <p:cNvPr id="193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12" idx="2"/>
            <a:endCxn id="144" idx="0"/>
          </p:cNvCxnSpPr>
          <p:nvPr/>
        </p:nvCxnSpPr>
        <p:spPr>
          <a:xfrm>
            <a:off x="3568533" y="2146299"/>
            <a:ext cx="1889" cy="289506"/>
          </a:xfrm>
          <a:prstGeom prst="straightConnector1">
            <a:avLst/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124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2394012" y="4212297"/>
            <a:ext cx="795864" cy="321525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CPU Worker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25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1434016" y="4212297"/>
            <a:ext cx="795864" cy="321525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GPU Worker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sp>
        <p:nvSpPr>
          <p:cNvPr id="126" name="Shape 31">
            <a:extLst>
              <a:ext uri="{FF2B5EF4-FFF2-40B4-BE49-F238E27FC236}">
                <a16:creationId xmlns:a16="http://schemas.microsoft.com/office/drawing/2014/main" id="{823D7D32-6771-4AA4-9581-77C6BEA03C53}"/>
              </a:ext>
            </a:extLst>
          </p:cNvPr>
          <p:cNvSpPr/>
          <p:nvPr/>
        </p:nvSpPr>
        <p:spPr>
          <a:xfrm>
            <a:off x="3337592" y="4212297"/>
            <a:ext cx="875450" cy="321525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CXL-PNM Worker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cxnSp>
        <p:nvCxnSpPr>
          <p:cNvPr id="128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51" idx="2"/>
            <a:endCxn id="125" idx="0"/>
          </p:cNvCxnSpPr>
          <p:nvPr/>
        </p:nvCxnSpPr>
        <p:spPr>
          <a:xfrm rot="5400000">
            <a:off x="2567161" y="3209036"/>
            <a:ext cx="268048" cy="1738474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33" name="직선 화살표 연결선 185">
            <a:extLst>
              <a:ext uri="{FF2B5EF4-FFF2-40B4-BE49-F238E27FC236}">
                <a16:creationId xmlns:a16="http://schemas.microsoft.com/office/drawing/2014/main" id="{D76D373A-AD73-4958-8644-743AF962871F}"/>
              </a:ext>
            </a:extLst>
          </p:cNvPr>
          <p:cNvCxnSpPr>
            <a:cxnSpLocks/>
            <a:stCxn id="151" idx="2"/>
            <a:endCxn id="126" idx="0"/>
          </p:cNvCxnSpPr>
          <p:nvPr/>
        </p:nvCxnSpPr>
        <p:spPr>
          <a:xfrm rot="16200000" flipH="1">
            <a:off x="3538845" y="3975825"/>
            <a:ext cx="268048" cy="204895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77" name="TextBox 76"/>
          <p:cNvSpPr txBox="1"/>
          <p:nvPr/>
        </p:nvSpPr>
        <p:spPr>
          <a:xfrm>
            <a:off x="4482797" y="3231336"/>
            <a:ext cx="16000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900" b="0" i="0" dirty="0">
                <a:solidFill>
                  <a:srgbClr val="808080"/>
                </a:solidFill>
                <a:latin typeface="맑은 고딕"/>
                <a:ea typeface="맑은 고딕"/>
              </a:rPr>
              <a:t>Cost </a:t>
            </a:r>
            <a:r>
              <a:rPr lang="ko-KR" altLang="en-US" sz="900" b="0" i="0" dirty="0">
                <a:solidFill>
                  <a:srgbClr val="808080"/>
                </a:solidFill>
                <a:latin typeface="맑은 고딕"/>
                <a:ea typeface="맑은 고딕"/>
              </a:rPr>
              <a:t>계산이</a:t>
            </a:r>
          </a:p>
          <a:p>
            <a:pPr algn="l">
              <a:lnSpc>
                <a:spcPct val="100000"/>
              </a:lnSpc>
            </a:pPr>
            <a:r>
              <a:rPr lang="en-US" altLang="ko-KR" sz="900" b="0" i="0" dirty="0">
                <a:solidFill>
                  <a:srgbClr val="808080"/>
                </a:solidFill>
                <a:latin typeface="맑은 고딕"/>
                <a:ea typeface="맑은 고딕"/>
              </a:rPr>
              <a:t>critical path  </a:t>
            </a:r>
            <a:r>
              <a:rPr lang="ko-KR" altLang="en-US" sz="900" b="0" i="0" dirty="0">
                <a:solidFill>
                  <a:srgbClr val="808080"/>
                </a:solidFill>
                <a:latin typeface="맑은 고딕"/>
                <a:ea typeface="맑은 고딕"/>
              </a:rPr>
              <a:t>내부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4B7B1EF-FC16-4E50-A15A-074EA647B636}"/>
              </a:ext>
            </a:extLst>
          </p:cNvPr>
          <p:cNvSpPr txBox="1"/>
          <p:nvPr/>
        </p:nvSpPr>
        <p:spPr>
          <a:xfrm>
            <a:off x="5999943" y="6524910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7</a:t>
            </a:r>
            <a:r>
              <a:rPr lang="ko-KR" altLang="en-US" sz="1200" dirty="0"/>
              <a:t>점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4A952AB-42E1-41D1-AF63-055E8135DA99}"/>
              </a:ext>
            </a:extLst>
          </p:cNvPr>
          <p:cNvSpPr txBox="1"/>
          <p:nvPr/>
        </p:nvSpPr>
        <p:spPr>
          <a:xfrm>
            <a:off x="11253522" y="6525007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7.5</a:t>
            </a:r>
            <a:r>
              <a:rPr lang="ko-KR" altLang="en-US" sz="1200" dirty="0"/>
              <a:t>점</a:t>
            </a:r>
          </a:p>
        </p:txBody>
      </p:sp>
      <p:sp>
        <p:nvSpPr>
          <p:cNvPr id="136" name="Shape 37">
            <a:extLst>
              <a:ext uri="{FF2B5EF4-FFF2-40B4-BE49-F238E27FC236}">
                <a16:creationId xmlns:a16="http://schemas.microsoft.com/office/drawing/2014/main" id="{7F2072DD-19B6-48CA-BD3D-876E8DDC9C60}"/>
              </a:ext>
            </a:extLst>
          </p:cNvPr>
          <p:cNvSpPr/>
          <p:nvPr/>
        </p:nvSpPr>
        <p:spPr>
          <a:xfrm>
            <a:off x="4737207" y="2129473"/>
            <a:ext cx="1262736" cy="32692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State Monitor</a:t>
            </a:r>
          </a:p>
        </p:txBody>
      </p:sp>
      <p:cxnSp>
        <p:nvCxnSpPr>
          <p:cNvPr id="143" name="직선 화살표 연결선 185">
            <a:extLst>
              <a:ext uri="{FF2B5EF4-FFF2-40B4-BE49-F238E27FC236}">
                <a16:creationId xmlns:a16="http://schemas.microsoft.com/office/drawing/2014/main" id="{BA0CBBE8-3F10-4B7D-B934-710047CDD61C}"/>
              </a:ext>
            </a:extLst>
          </p:cNvPr>
          <p:cNvCxnSpPr>
            <a:cxnSpLocks/>
            <a:stCxn id="144" idx="3"/>
            <a:endCxn id="136" idx="1"/>
          </p:cNvCxnSpPr>
          <p:nvPr/>
        </p:nvCxnSpPr>
        <p:spPr>
          <a:xfrm flipV="1">
            <a:off x="4324906" y="2292936"/>
            <a:ext cx="412301" cy="322679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44" name="Shape 37">
            <a:extLst>
              <a:ext uri="{FF2B5EF4-FFF2-40B4-BE49-F238E27FC236}">
                <a16:creationId xmlns:a16="http://schemas.microsoft.com/office/drawing/2014/main" id="{70E92FE8-4878-4154-BB88-F90E93B7B850}"/>
              </a:ext>
            </a:extLst>
          </p:cNvPr>
          <p:cNvSpPr/>
          <p:nvPr/>
        </p:nvSpPr>
        <p:spPr>
          <a:xfrm>
            <a:off x="2815938" y="2435805"/>
            <a:ext cx="1508968" cy="35961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Execution Planner</a:t>
            </a:r>
          </a:p>
          <a:p>
            <a:pPr algn="ctr"/>
            <a:r>
              <a:rPr lang="en-US" altLang="ko-KR" sz="900" b="1" dirty="0">
                <a:solidFill>
                  <a:srgbClr val="FF0000"/>
                </a:solidFill>
              </a:rPr>
              <a:t>(Plan)</a:t>
            </a:r>
          </a:p>
        </p:txBody>
      </p:sp>
      <p:sp>
        <p:nvSpPr>
          <p:cNvPr id="145" name="Shape 37">
            <a:extLst>
              <a:ext uri="{FF2B5EF4-FFF2-40B4-BE49-F238E27FC236}">
                <a16:creationId xmlns:a16="http://schemas.microsoft.com/office/drawing/2014/main" id="{7EA846FB-2BF9-4A17-B933-665E6BCC5A1E}"/>
              </a:ext>
            </a:extLst>
          </p:cNvPr>
          <p:cNvSpPr/>
          <p:nvPr/>
        </p:nvSpPr>
        <p:spPr>
          <a:xfrm>
            <a:off x="4737207" y="2582530"/>
            <a:ext cx="1262736" cy="32692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 State</a:t>
            </a:r>
          </a:p>
          <a:p>
            <a:pPr algn="ctr"/>
            <a:r>
              <a:rPr lang="en-US" altLang="ko-KR" sz="10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</a:t>
            </a:r>
            <a:endParaRPr lang="en-US" altLang="ko-KR" sz="10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cxnSp>
        <p:nvCxnSpPr>
          <p:cNvPr id="146" name="직선 화살표 연결선 185">
            <a:extLst>
              <a:ext uri="{FF2B5EF4-FFF2-40B4-BE49-F238E27FC236}">
                <a16:creationId xmlns:a16="http://schemas.microsoft.com/office/drawing/2014/main" id="{866738E6-B5E2-485B-BCC3-7AB7D686059C}"/>
              </a:ext>
            </a:extLst>
          </p:cNvPr>
          <p:cNvCxnSpPr>
            <a:cxnSpLocks/>
            <a:stCxn id="144" idx="3"/>
            <a:endCxn id="145" idx="1"/>
          </p:cNvCxnSpPr>
          <p:nvPr/>
        </p:nvCxnSpPr>
        <p:spPr>
          <a:xfrm>
            <a:off x="4324906" y="2615615"/>
            <a:ext cx="412301" cy="13037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49" name="Shape 37">
            <a:extLst>
              <a:ext uri="{FF2B5EF4-FFF2-40B4-BE49-F238E27FC236}">
                <a16:creationId xmlns:a16="http://schemas.microsoft.com/office/drawing/2014/main" id="{D29B8A49-AE77-46A5-BF3C-C5FFF88BE9D4}"/>
              </a:ext>
            </a:extLst>
          </p:cNvPr>
          <p:cNvSpPr/>
          <p:nvPr/>
        </p:nvSpPr>
        <p:spPr>
          <a:xfrm>
            <a:off x="2815938" y="3112583"/>
            <a:ext cx="1508968" cy="29720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Cost Evaluator</a:t>
            </a:r>
            <a:endParaRPr lang="en-US" altLang="ko-KR" sz="1000" b="1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cxnSp>
        <p:nvCxnSpPr>
          <p:cNvPr id="150" name="직선 화살표 연결선 185">
            <a:extLst>
              <a:ext uri="{FF2B5EF4-FFF2-40B4-BE49-F238E27FC236}">
                <a16:creationId xmlns:a16="http://schemas.microsoft.com/office/drawing/2014/main" id="{EFEBEDC4-80EE-4735-B71E-6C1DFDD6FCDC}"/>
              </a:ext>
            </a:extLst>
          </p:cNvPr>
          <p:cNvCxnSpPr>
            <a:cxnSpLocks/>
            <a:stCxn id="144" idx="2"/>
            <a:endCxn id="149" idx="0"/>
          </p:cNvCxnSpPr>
          <p:nvPr/>
        </p:nvCxnSpPr>
        <p:spPr>
          <a:xfrm>
            <a:off x="3570422" y="2795424"/>
            <a:ext cx="0" cy="317159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1" name="Shape 37">
            <a:extLst>
              <a:ext uri="{FF2B5EF4-FFF2-40B4-BE49-F238E27FC236}">
                <a16:creationId xmlns:a16="http://schemas.microsoft.com/office/drawing/2014/main" id="{1AFCAFB9-F8C0-41A8-8E3E-3B7ACC234BE6}"/>
              </a:ext>
            </a:extLst>
          </p:cNvPr>
          <p:cNvSpPr/>
          <p:nvPr/>
        </p:nvSpPr>
        <p:spPr>
          <a:xfrm>
            <a:off x="2815938" y="3584630"/>
            <a:ext cx="1508968" cy="359619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Execution Router</a:t>
            </a:r>
          </a:p>
          <a:p>
            <a:pPr algn="ctr"/>
            <a:r>
              <a:rPr lang="en-US" altLang="ko-KR" sz="9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</a:rPr>
              <a:t>(Decision)</a:t>
            </a:r>
          </a:p>
        </p:txBody>
      </p:sp>
      <p:cxnSp>
        <p:nvCxnSpPr>
          <p:cNvPr id="152" name="직선 화살표 연결선 185">
            <a:extLst>
              <a:ext uri="{FF2B5EF4-FFF2-40B4-BE49-F238E27FC236}">
                <a16:creationId xmlns:a16="http://schemas.microsoft.com/office/drawing/2014/main" id="{A5D1AF10-B4E4-4F84-8D33-8BACD09A70C2}"/>
              </a:ext>
            </a:extLst>
          </p:cNvPr>
          <p:cNvCxnSpPr>
            <a:cxnSpLocks/>
            <a:stCxn id="149" idx="2"/>
            <a:endCxn id="151" idx="0"/>
          </p:cNvCxnSpPr>
          <p:nvPr/>
        </p:nvCxnSpPr>
        <p:spPr>
          <a:xfrm>
            <a:off x="3570422" y="3409788"/>
            <a:ext cx="0" cy="174842"/>
          </a:xfrm>
          <a:prstGeom prst="straightConnector1">
            <a:avLst/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53" name="직선 화살표 연결선 185">
            <a:extLst>
              <a:ext uri="{FF2B5EF4-FFF2-40B4-BE49-F238E27FC236}">
                <a16:creationId xmlns:a16="http://schemas.microsoft.com/office/drawing/2014/main" id="{667011A0-7D9C-4D04-BD0D-206D0F921C23}"/>
              </a:ext>
            </a:extLst>
          </p:cNvPr>
          <p:cNvCxnSpPr>
            <a:cxnSpLocks/>
            <a:stCxn id="151" idx="2"/>
            <a:endCxn id="124" idx="0"/>
          </p:cNvCxnSpPr>
          <p:nvPr/>
        </p:nvCxnSpPr>
        <p:spPr>
          <a:xfrm rot="5400000">
            <a:off x="3047159" y="3689034"/>
            <a:ext cx="268048" cy="778478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solid"/>
            <a:headEnd type="none"/>
            <a:tailEnd type="triangle"/>
          </a:ln>
        </p:spPr>
      </p:cxnSp>
      <p:sp>
        <p:nvSpPr>
          <p:cNvPr id="155" name="Shape 31">
            <a:extLst>
              <a:ext uri="{FF2B5EF4-FFF2-40B4-BE49-F238E27FC236}">
                <a16:creationId xmlns:a16="http://schemas.microsoft.com/office/drawing/2014/main" id="{C0494BB5-740B-474B-8EDE-7DEE62853B08}"/>
              </a:ext>
            </a:extLst>
          </p:cNvPr>
          <p:cNvSpPr/>
          <p:nvPr/>
        </p:nvSpPr>
        <p:spPr>
          <a:xfrm>
            <a:off x="4393753" y="4212297"/>
            <a:ext cx="875450" cy="32152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New Device Worker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cxnSp>
        <p:nvCxnSpPr>
          <p:cNvPr id="157" name="직선 화살표 연결선 185">
            <a:extLst>
              <a:ext uri="{FF2B5EF4-FFF2-40B4-BE49-F238E27FC236}">
                <a16:creationId xmlns:a16="http://schemas.microsoft.com/office/drawing/2014/main" id="{D2EDFE24-B445-4346-8805-83EFFC8CB053}"/>
              </a:ext>
            </a:extLst>
          </p:cNvPr>
          <p:cNvCxnSpPr>
            <a:cxnSpLocks/>
            <a:stCxn id="151" idx="2"/>
            <a:endCxn id="155" idx="0"/>
          </p:cNvCxnSpPr>
          <p:nvPr/>
        </p:nvCxnSpPr>
        <p:spPr>
          <a:xfrm rot="16200000" flipH="1">
            <a:off x="4066926" y="3447745"/>
            <a:ext cx="268048" cy="1261056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888C91"/>
            </a:solidFill>
            <a:prstDash val="dash"/>
            <a:headEnd type="none"/>
            <a:tailEnd type="triangle"/>
          </a:ln>
        </p:spPr>
      </p:cxnSp>
      <p:sp>
        <p:nvSpPr>
          <p:cNvPr id="1271" name="C1 Critical path boundary"/>
          <p:cNvSpPr/>
          <p:nvPr/>
        </p:nvSpPr>
        <p:spPr>
          <a:xfrm>
            <a:off x="2695773" y="1800000"/>
            <a:ext cx="3420000" cy="2185000"/>
          </a:xfrm>
          <a:prstGeom prst="rect">
            <a:avLst/>
          </a:prstGeom>
          <a:noFill/>
          <a:ln w="12700">
            <a:solidFill>
              <a:srgbClr val="C76E31"/>
            </a:solidFill>
            <a:prstDash val="dash"/>
          </a:ln>
        </p:spPr>
        <p:txBody>
          <a:bodyPr rtlCol="0" anchor="ctr"/>
          <a:lstStyle/>
          <a:p>
            <a:pPr algn="ctr"/>
            <a:endParaRPr lang="en-US" altLang="ko-KR" sz="9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93" name="C1 Critical path label"/>
          <p:cNvSpPr/>
          <p:nvPr/>
        </p:nvSpPr>
        <p:spPr>
          <a:xfrm>
            <a:off x="4330000" y="1815000"/>
            <a:ext cx="1440000" cy="250000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pPr algn="ctr"/>
            <a:r>
              <a:rPr lang="en-US" altLang="ko-KR" sz="900" dirty="0">
                <a:solidFill>
                  <a:srgbClr val="FF0000"/>
                </a:solidFill>
              </a:rPr>
              <a:t>Plan + Decision</a:t>
            </a: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A2D3743-1992-478F-B82E-9DE9B085B94D}"/>
              </a:ext>
            </a:extLst>
          </p:cNvPr>
          <p:cNvGrpSpPr/>
          <p:nvPr/>
        </p:nvGrpSpPr>
        <p:grpSpPr>
          <a:xfrm>
            <a:off x="334761" y="3538083"/>
            <a:ext cx="822008" cy="1106192"/>
            <a:chOff x="269738" y="3554621"/>
            <a:chExt cx="822008" cy="1106192"/>
          </a:xfrm>
        </p:grpSpPr>
        <p:sp>
          <p:nvSpPr>
            <p:cNvPr id="131" name="KV Cache Manager">
              <a:extLst>
                <a:ext uri="{FF2B5EF4-FFF2-40B4-BE49-F238E27FC236}">
                  <a16:creationId xmlns:a16="http://schemas.microsoft.com/office/drawing/2014/main" id="{97729FA2-8208-495A-88B5-6AB9793CB4B9}"/>
                </a:ext>
              </a:extLst>
            </p:cNvPr>
            <p:cNvSpPr/>
            <p:nvPr/>
          </p:nvSpPr>
          <p:spPr>
            <a:xfrm>
              <a:off x="275753" y="3965871"/>
              <a:ext cx="784423" cy="1940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후보 특화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2" name="KV Cache Manager">
              <a:extLst>
                <a:ext uri="{FF2B5EF4-FFF2-40B4-BE49-F238E27FC236}">
                  <a16:creationId xmlns:a16="http://schemas.microsoft.com/office/drawing/2014/main" id="{5E4E7F90-5323-48ED-A793-E537EC85E83D}"/>
                </a:ext>
              </a:extLst>
            </p:cNvPr>
            <p:cNvSpPr/>
            <p:nvPr/>
          </p:nvSpPr>
          <p:spPr>
            <a:xfrm>
              <a:off x="275753" y="4186396"/>
              <a:ext cx="784423" cy="19403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공통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4" name="KV Cache Manager">
              <a:extLst>
                <a:ext uri="{FF2B5EF4-FFF2-40B4-BE49-F238E27FC236}">
                  <a16:creationId xmlns:a16="http://schemas.microsoft.com/office/drawing/2014/main" id="{F1372DCD-DBB8-422B-8D97-E7C565A45741}"/>
                </a:ext>
              </a:extLst>
            </p:cNvPr>
            <p:cNvSpPr/>
            <p:nvPr/>
          </p:nvSpPr>
          <p:spPr>
            <a:xfrm>
              <a:off x="275753" y="4404880"/>
              <a:ext cx="784423" cy="19403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</a:rPr>
                <a:t>타</a:t>
              </a:r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모듈</a:t>
              </a:r>
              <a:r>
                <a:rPr lang="en-US" altLang="ko-KR" sz="800" b="1" dirty="0">
                  <a:solidFill>
                    <a:schemeClr val="bg1"/>
                  </a:solidFill>
                </a:rPr>
                <a:t> I/F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33666AC1-1D1F-4D44-8ABD-9FC7C996F49A}"/>
                </a:ext>
              </a:extLst>
            </p:cNvPr>
            <p:cNvSpPr/>
            <p:nvPr/>
          </p:nvSpPr>
          <p:spPr>
            <a:xfrm>
              <a:off x="269738" y="3554621"/>
              <a:ext cx="822008" cy="1106192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t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Legend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7" name="KV Cache Manager">
              <a:extLst>
                <a:ext uri="{FF2B5EF4-FFF2-40B4-BE49-F238E27FC236}">
                  <a16:creationId xmlns:a16="http://schemas.microsoft.com/office/drawing/2014/main" id="{3DAC31F2-953F-4F50-9270-4AC41B0280B9}"/>
                </a:ext>
              </a:extLst>
            </p:cNvPr>
            <p:cNvSpPr/>
            <p:nvPr/>
          </p:nvSpPr>
          <p:spPr>
            <a:xfrm>
              <a:off x="275753" y="3750457"/>
              <a:ext cx="784423" cy="1940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DP 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설계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20" name="직선 화살표 연결선 185">
            <a:extLst>
              <a:ext uri="{FF2B5EF4-FFF2-40B4-BE49-F238E27FC236}">
                <a16:creationId xmlns:a16="http://schemas.microsoft.com/office/drawing/2014/main" id="{6B405AD3-50C7-4140-923C-39C9EC62E997}"/>
              </a:ext>
            </a:extLst>
          </p:cNvPr>
          <p:cNvCxnSpPr>
            <a:cxnSpLocks/>
            <a:stCxn id="149" idx="1"/>
            <a:endCxn id="123" idx="0"/>
          </p:cNvCxnSpPr>
          <p:nvPr/>
        </p:nvCxnSpPr>
        <p:spPr>
          <a:xfrm rot="10800000" flipV="1">
            <a:off x="1977484" y="3261185"/>
            <a:ext cx="838455" cy="122381"/>
          </a:xfrm>
          <a:prstGeom prst="bentConnector2">
            <a:avLst/>
          </a:prstGeom>
          <a:noFill/>
          <a:ln w="9525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23" name="KV Cache Manager">
            <a:extLst>
              <a:ext uri="{FF2B5EF4-FFF2-40B4-BE49-F238E27FC236}">
                <a16:creationId xmlns:a16="http://schemas.microsoft.com/office/drawing/2014/main" id="{AF50C5FD-82D2-49A4-BB8D-5B9CCB95E6F0}"/>
              </a:ext>
            </a:extLst>
          </p:cNvPr>
          <p:cNvSpPr/>
          <p:nvPr/>
        </p:nvSpPr>
        <p:spPr>
          <a:xfrm>
            <a:off x="1422351" y="3383567"/>
            <a:ext cx="1110263" cy="284090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Common Memory Backend Interface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grpSp>
        <p:nvGrpSpPr>
          <p:cNvPr id="2260" name="그룹 2259">
            <a:extLst>
              <a:ext uri="{FF2B5EF4-FFF2-40B4-BE49-F238E27FC236}">
                <a16:creationId xmlns:a16="http://schemas.microsoft.com/office/drawing/2014/main" id="{2D332D0F-0324-46B1-B1F2-8FDFA83DC440}"/>
              </a:ext>
            </a:extLst>
          </p:cNvPr>
          <p:cNvGrpSpPr/>
          <p:nvPr/>
        </p:nvGrpSpPr>
        <p:grpSpPr>
          <a:xfrm>
            <a:off x="6650290" y="1792641"/>
            <a:ext cx="5377940" cy="2718256"/>
            <a:chOff x="6650290" y="1836885"/>
            <a:chExt cx="5377940" cy="2718256"/>
          </a:xfrm>
        </p:grpSpPr>
        <p:sp>
          <p:nvSpPr>
            <p:cNvPr id="122" name="Shape 31">
              <a:extLst>
                <a:ext uri="{FF2B5EF4-FFF2-40B4-BE49-F238E27FC236}">
                  <a16:creationId xmlns:a16="http://schemas.microsoft.com/office/drawing/2014/main" id="{2CB8AAFC-DFAB-4056-A6EA-BB95D28E11E9}"/>
                </a:ext>
              </a:extLst>
            </p:cNvPr>
            <p:cNvSpPr/>
            <p:nvPr/>
          </p:nvSpPr>
          <p:spPr>
            <a:xfrm>
              <a:off x="6968158" y="2229906"/>
              <a:ext cx="1332516" cy="199855"/>
            </a:xfrm>
            <a:prstGeom prst="roundRect">
              <a:avLst>
                <a:gd name="adj" fmla="val 37674"/>
              </a:avLst>
            </a:prstGeom>
            <a:noFill/>
            <a:ln w="12700">
              <a:noFill/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Waiting Queue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sp>
          <p:nvSpPr>
            <p:cNvPr id="6" name="원통 5"/>
            <p:cNvSpPr/>
            <p:nvPr/>
          </p:nvSpPr>
          <p:spPr>
            <a:xfrm>
              <a:off x="7352643" y="4250503"/>
              <a:ext cx="1106485" cy="301105"/>
            </a:xfrm>
            <a:prstGeom prst="can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C76E3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Plan Cache</a:t>
              </a:r>
            </a:p>
          </p:txBody>
        </p:sp>
        <p:cxnSp>
          <p:nvCxnSpPr>
            <p:cNvPr id="164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5118" y="3976053"/>
              <a:ext cx="127" cy="242833"/>
            </a:xfrm>
            <a:prstGeom prst="straightConnector1">
              <a:avLst/>
            </a:prstGeom>
            <a:noFill/>
            <a:ln w="12700">
              <a:solidFill>
                <a:srgbClr val="C76E3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203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86" idx="2"/>
              <a:endCxn id="187" idx="0"/>
            </p:cNvCxnSpPr>
            <p:nvPr/>
          </p:nvCxnSpPr>
          <p:spPr>
            <a:xfrm flipH="1">
              <a:off x="10700123" y="2548568"/>
              <a:ext cx="1" cy="359667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6761966" y="1864405"/>
              <a:ext cx="2152357" cy="27145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rgbClr val="FF0000"/>
                  </a:solidFill>
                </a:rPr>
                <a:t>Plan - 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Critical path 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</a:rPr>
                <a:t>밖</a:t>
              </a:r>
              <a:endParaRPr lang="en-US" altLang="ko-KR" sz="900" dirty="0">
                <a:solidFill>
                  <a:srgbClr val="FF0000"/>
                </a:solidFill>
              </a:endParaRP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1F768021-5962-4FEE-86A6-9A65D654BAE1}"/>
                </a:ext>
              </a:extLst>
            </p:cNvPr>
            <p:cNvGrpSpPr/>
            <p:nvPr/>
          </p:nvGrpSpPr>
          <p:grpSpPr>
            <a:xfrm>
              <a:off x="10058398" y="2282562"/>
              <a:ext cx="1283450" cy="1629131"/>
              <a:chOff x="13158709" y="2383427"/>
              <a:chExt cx="1283450" cy="1629131"/>
            </a:xfrm>
          </p:grpSpPr>
          <p:sp>
            <p:nvSpPr>
              <p:cNvPr id="186" name="Shape 31">
                <a:extLst>
                  <a:ext uri="{FF2B5EF4-FFF2-40B4-BE49-F238E27FC236}">
                    <a16:creationId xmlns:a16="http://schemas.microsoft.com/office/drawing/2014/main" id="{2CB8AAFC-DFAB-4056-A6EA-BB95D28E11E9}"/>
                  </a:ext>
                </a:extLst>
              </p:cNvPr>
              <p:cNvSpPr/>
              <p:nvPr/>
            </p:nvSpPr>
            <p:spPr>
              <a:xfrm>
                <a:off x="13217048" y="2383427"/>
                <a:ext cx="1166773" cy="2660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Scheduler</a:t>
                </a:r>
                <a:endParaRPr lang="ko-KR" altLang="en-US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endParaRPr>
              </a:p>
            </p:txBody>
          </p:sp>
          <p:sp>
            <p:nvSpPr>
              <p:cNvPr id="187" name="Shape 31">
                <a:extLst>
                  <a:ext uri="{FF2B5EF4-FFF2-40B4-BE49-F238E27FC236}">
                    <a16:creationId xmlns:a16="http://schemas.microsoft.com/office/drawing/2014/main" id="{2CB8AAFC-DFAB-4056-A6EA-BB95D28E11E9}"/>
                  </a:ext>
                </a:extLst>
              </p:cNvPr>
              <p:cNvSpPr/>
              <p:nvPr/>
            </p:nvSpPr>
            <p:spPr>
              <a:xfrm>
                <a:off x="13158709" y="3009100"/>
                <a:ext cx="1283450" cy="32403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rgbClr val="C76E3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Plan Validator</a:t>
                </a:r>
              </a:p>
            </p:txBody>
          </p:sp>
          <p:sp>
            <p:nvSpPr>
              <p:cNvPr id="188" name="Shape 31">
                <a:extLst>
                  <a:ext uri="{FF2B5EF4-FFF2-40B4-BE49-F238E27FC236}">
                    <a16:creationId xmlns:a16="http://schemas.microsoft.com/office/drawing/2014/main" id="{2CB8AAFC-DFAB-4056-A6EA-BB95D28E11E9}"/>
                  </a:ext>
                </a:extLst>
              </p:cNvPr>
              <p:cNvSpPr/>
              <p:nvPr/>
            </p:nvSpPr>
            <p:spPr>
              <a:xfrm>
                <a:off x="13158709" y="3623097"/>
                <a:ext cx="1283450" cy="38946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Execution Router</a:t>
                </a:r>
              </a:p>
              <a:p>
                <a:pPr lvl="0" algn="ctr"/>
                <a:r>
                  <a:rPr lang="en-US" altLang="ko-KR" sz="900" b="1" dirty="0">
                    <a:solidFill>
                      <a:srgbClr val="FF0000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(Decision)</a:t>
                </a:r>
                <a:endParaRPr lang="ko-KR" altLang="en-US" sz="900" b="1" dirty="0">
                  <a:solidFill>
                    <a:srgbClr val="FF000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</p:txBody>
          </p:sp>
        </p:grpSp>
        <p:cxnSp>
          <p:nvCxnSpPr>
            <p:cNvPr id="100" name="직선 화살표 연결선 185">
              <a:extLst>
                <a:ext uri="{FF2B5EF4-FFF2-40B4-BE49-F238E27FC236}">
                  <a16:creationId xmlns:a16="http://schemas.microsoft.com/office/drawing/2014/main" id="{56498C45-0D93-4C3F-B12A-A34B786B2E88}"/>
                </a:ext>
              </a:extLst>
            </p:cNvPr>
            <p:cNvCxnSpPr>
              <a:cxnSpLocks/>
              <a:stCxn id="187" idx="2"/>
              <a:endCxn id="188" idx="0"/>
            </p:cNvCxnSpPr>
            <p:nvPr/>
          </p:nvCxnSpPr>
          <p:spPr>
            <a:xfrm>
              <a:off x="10700123" y="3232270"/>
              <a:ext cx="0" cy="289962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99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8164462" y="2717377"/>
              <a:ext cx="1893937" cy="259939"/>
            </a:xfrm>
            <a:prstGeom prst="bentConnector3">
              <a:avLst>
                <a:gd name="adj1" fmla="val 30143"/>
              </a:avLst>
            </a:prstGeom>
            <a:noFill/>
            <a:ln w="9525">
              <a:solidFill>
                <a:srgbClr val="C76E31"/>
              </a:solidFill>
              <a:prstDash val="dash"/>
              <a:headEnd type="none" w="med" len="med"/>
              <a:tailEnd type="triangle" w="med" len="med"/>
            </a:ln>
          </p:spPr>
        </p:cxnSp>
        <p:cxnSp>
          <p:nvCxnSpPr>
            <p:cNvPr id="140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88" idx="2"/>
              <a:endCxn id="192" idx="0"/>
            </p:cNvCxnSpPr>
            <p:nvPr/>
          </p:nvCxnSpPr>
          <p:spPr>
            <a:xfrm rot="5400000">
              <a:off x="10094192" y="3627684"/>
              <a:ext cx="321923" cy="889941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41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88" idx="2"/>
              <a:endCxn id="195" idx="0"/>
            </p:cNvCxnSpPr>
            <p:nvPr/>
          </p:nvCxnSpPr>
          <p:spPr>
            <a:xfrm rot="16200000" flipH="1">
              <a:off x="11038780" y="3573035"/>
              <a:ext cx="321923" cy="999237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48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88" idx="2"/>
              <a:endCxn id="191" idx="0"/>
            </p:cNvCxnSpPr>
            <p:nvPr/>
          </p:nvCxnSpPr>
          <p:spPr>
            <a:xfrm rot="5400000">
              <a:off x="10386001" y="3919493"/>
              <a:ext cx="321923" cy="306322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63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22" idx="2"/>
              <a:endCxn id="169" idx="0"/>
            </p:cNvCxnSpPr>
            <p:nvPr/>
          </p:nvCxnSpPr>
          <p:spPr>
            <a:xfrm>
              <a:off x="7634416" y="2429761"/>
              <a:ext cx="2" cy="231001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78" name="TextBox 77"/>
            <p:cNvSpPr txBox="1"/>
            <p:nvPr/>
          </p:nvSpPr>
          <p:spPr>
            <a:xfrm>
              <a:off x="8406016" y="2555570"/>
              <a:ext cx="827393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Async</a:t>
              </a:r>
              <a:r>
                <a:rPr lang="en-US"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 </a:t>
              </a:r>
              <a:r>
                <a:rPr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re-plan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9528263" y="1836885"/>
              <a:ext cx="2152357" cy="27145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rgbClr val="FF0000"/>
                  </a:solidFill>
                </a:rPr>
                <a:t>Decision - </a:t>
              </a:r>
              <a:r>
                <a:rPr lang="en-US" altLang="ko-KR" sz="900" dirty="0">
                  <a:solidFill>
                    <a:schemeClr val="bg1">
                      <a:lumMod val="50000"/>
                    </a:schemeClr>
                  </a:solidFill>
                </a:rPr>
                <a:t>Critical path </a:t>
              </a:r>
              <a:r>
                <a:rPr lang="ko-KR" altLang="en-US" sz="900" dirty="0">
                  <a:solidFill>
                    <a:schemeClr val="bg1">
                      <a:lumMod val="50000"/>
                    </a:schemeClr>
                  </a:solidFill>
                </a:rPr>
                <a:t>내</a:t>
              </a:r>
              <a:endParaRPr lang="en-US" altLang="ko-KR" sz="900" dirty="0">
                <a:solidFill>
                  <a:srgbClr val="FF0000"/>
                </a:solidFill>
              </a:endParaRPr>
            </a:p>
          </p:txBody>
        </p: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20247864-5FE1-4F69-9F2A-D6FA572B779B}"/>
                </a:ext>
              </a:extLst>
            </p:cNvPr>
            <p:cNvGrpSpPr/>
            <p:nvPr/>
          </p:nvGrpSpPr>
          <p:grpSpPr>
            <a:xfrm>
              <a:off x="6959257" y="2660762"/>
              <a:ext cx="2250800" cy="1353122"/>
              <a:chOff x="6334829" y="2532795"/>
              <a:chExt cx="3029193" cy="1637279"/>
            </a:xfrm>
          </p:grpSpPr>
          <p:sp>
            <p:nvSpPr>
              <p:cNvPr id="167" name="Shape 37">
                <a:extLst>
                  <a:ext uri="{FF2B5EF4-FFF2-40B4-BE49-F238E27FC236}">
                    <a16:creationId xmlns:a16="http://schemas.microsoft.com/office/drawing/2014/main" id="{90DAE390-C546-4459-96AF-4143F55DB1B8}"/>
                  </a:ext>
                </a:extLst>
              </p:cNvPr>
              <p:cNvSpPr/>
              <p:nvPr/>
            </p:nvSpPr>
            <p:spPr>
              <a:xfrm>
                <a:off x="8340414" y="2718034"/>
                <a:ext cx="1023608" cy="39558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KV State Monitor</a:t>
                </a:r>
              </a:p>
            </p:txBody>
          </p:sp>
          <p:cxnSp>
            <p:nvCxnSpPr>
              <p:cNvPr id="168" name="직선 화살표 연결선 185">
                <a:extLst>
                  <a:ext uri="{FF2B5EF4-FFF2-40B4-BE49-F238E27FC236}">
                    <a16:creationId xmlns:a16="http://schemas.microsoft.com/office/drawing/2014/main" id="{5147715F-B5AF-48FB-9317-FF7DCBEA214E}"/>
                  </a:ext>
                </a:extLst>
              </p:cNvPr>
              <p:cNvCxnSpPr>
                <a:cxnSpLocks/>
                <a:stCxn id="169" idx="3"/>
                <a:endCxn id="167" idx="1"/>
              </p:cNvCxnSpPr>
              <p:nvPr/>
            </p:nvCxnSpPr>
            <p:spPr>
              <a:xfrm>
                <a:off x="7929375" y="2750365"/>
                <a:ext cx="411039" cy="165459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169" name="Shape 37">
                <a:extLst>
                  <a:ext uri="{FF2B5EF4-FFF2-40B4-BE49-F238E27FC236}">
                    <a16:creationId xmlns:a16="http://schemas.microsoft.com/office/drawing/2014/main" id="{5A9E902C-C762-43E4-8FBB-2BC7D8D934DC}"/>
                  </a:ext>
                </a:extLst>
              </p:cNvPr>
              <p:cNvSpPr/>
              <p:nvPr/>
            </p:nvSpPr>
            <p:spPr>
              <a:xfrm>
                <a:off x="6557585" y="2532795"/>
                <a:ext cx="1371789" cy="43514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Execution Planner </a:t>
                </a:r>
                <a:r>
                  <a:rPr lang="en-US" altLang="ko-KR" sz="900" b="1" dirty="0">
                    <a:solidFill>
                      <a:srgbClr val="FF0000"/>
                    </a:solidFill>
                  </a:rPr>
                  <a:t>(Plan)</a:t>
                </a:r>
              </a:p>
            </p:txBody>
          </p:sp>
          <p:sp>
            <p:nvSpPr>
              <p:cNvPr id="170" name="Shape 37">
                <a:extLst>
                  <a:ext uri="{FF2B5EF4-FFF2-40B4-BE49-F238E27FC236}">
                    <a16:creationId xmlns:a16="http://schemas.microsoft.com/office/drawing/2014/main" id="{6CC00633-A2ED-4E85-98F5-915767F01623}"/>
                  </a:ext>
                </a:extLst>
              </p:cNvPr>
              <p:cNvSpPr/>
              <p:nvPr/>
            </p:nvSpPr>
            <p:spPr>
              <a:xfrm>
                <a:off x="8340407" y="3195654"/>
                <a:ext cx="1023610" cy="55548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Resource State</a:t>
                </a:r>
              </a:p>
              <a:p>
                <a:pPr algn="ctr"/>
                <a:r>
                  <a:rPr lang="en-US" altLang="ko-KR" sz="10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Monitor</a:t>
                </a:r>
              </a:p>
            </p:txBody>
          </p:sp>
          <p:cxnSp>
            <p:nvCxnSpPr>
              <p:cNvPr id="171" name="직선 화살표 연결선 185">
                <a:extLst>
                  <a:ext uri="{FF2B5EF4-FFF2-40B4-BE49-F238E27FC236}">
                    <a16:creationId xmlns:a16="http://schemas.microsoft.com/office/drawing/2014/main" id="{A10F8AFC-DE84-4F55-A9D7-1E2452D3B196}"/>
                  </a:ext>
                </a:extLst>
              </p:cNvPr>
              <p:cNvCxnSpPr>
                <a:cxnSpLocks/>
                <a:stCxn id="169" idx="3"/>
                <a:endCxn id="170" idx="1"/>
              </p:cNvCxnSpPr>
              <p:nvPr/>
            </p:nvCxnSpPr>
            <p:spPr>
              <a:xfrm>
                <a:off x="7929375" y="2750365"/>
                <a:ext cx="411032" cy="723032"/>
              </a:xfrm>
              <a:prstGeom prst="bentConnector3">
                <a:avLst>
                  <a:gd name="adj1" fmla="val 50000"/>
                </a:avLst>
              </a:prstGeom>
              <a:noFill/>
              <a:ln w="9525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172" name="Shape 37">
                <a:extLst>
                  <a:ext uri="{FF2B5EF4-FFF2-40B4-BE49-F238E27FC236}">
                    <a16:creationId xmlns:a16="http://schemas.microsoft.com/office/drawing/2014/main" id="{70B458B8-8383-4A34-B3D0-8FE89C2B733A}"/>
                  </a:ext>
                </a:extLst>
              </p:cNvPr>
              <p:cNvSpPr/>
              <p:nvPr/>
            </p:nvSpPr>
            <p:spPr>
              <a:xfrm>
                <a:off x="6561862" y="3253418"/>
                <a:ext cx="1371789" cy="35961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Cost Evaluator</a:t>
                </a:r>
              </a:p>
            </p:txBody>
          </p:sp>
          <p:cxnSp>
            <p:nvCxnSpPr>
              <p:cNvPr id="173" name="직선 화살표 연결선 185">
                <a:extLst>
                  <a:ext uri="{FF2B5EF4-FFF2-40B4-BE49-F238E27FC236}">
                    <a16:creationId xmlns:a16="http://schemas.microsoft.com/office/drawing/2014/main" id="{95D5E7CF-8934-4F6E-B767-D7C6E910F7F6}"/>
                  </a:ext>
                </a:extLst>
              </p:cNvPr>
              <p:cNvCxnSpPr>
                <a:cxnSpLocks/>
                <a:stCxn id="169" idx="2"/>
                <a:endCxn id="172" idx="0"/>
              </p:cNvCxnSpPr>
              <p:nvPr/>
            </p:nvCxnSpPr>
            <p:spPr>
              <a:xfrm>
                <a:off x="7243481" y="2967936"/>
                <a:ext cx="4277" cy="285483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174" name="Shape 37">
                <a:extLst>
                  <a:ext uri="{FF2B5EF4-FFF2-40B4-BE49-F238E27FC236}">
                    <a16:creationId xmlns:a16="http://schemas.microsoft.com/office/drawing/2014/main" id="{F35F2B03-9D6C-46EF-9020-017926F86EEA}"/>
                  </a:ext>
                </a:extLst>
              </p:cNvPr>
              <p:cNvSpPr/>
              <p:nvPr/>
            </p:nvSpPr>
            <p:spPr>
              <a:xfrm>
                <a:off x="6334829" y="3810455"/>
                <a:ext cx="1825852" cy="35961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rgbClr val="C76E3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Plan Publisher</a:t>
                </a:r>
              </a:p>
            </p:txBody>
          </p:sp>
          <p:cxnSp>
            <p:nvCxnSpPr>
              <p:cNvPr id="175" name="직선 화살표 연결선 185">
                <a:extLst>
                  <a:ext uri="{FF2B5EF4-FFF2-40B4-BE49-F238E27FC236}">
                    <a16:creationId xmlns:a16="http://schemas.microsoft.com/office/drawing/2014/main" id="{68BFF503-4C29-43B1-9353-9A83B9332F63}"/>
                  </a:ext>
                </a:extLst>
              </p:cNvPr>
              <p:cNvCxnSpPr>
                <a:cxnSpLocks/>
                <a:stCxn id="172" idx="2"/>
                <a:endCxn id="174" idx="0"/>
              </p:cNvCxnSpPr>
              <p:nvPr/>
            </p:nvCxnSpPr>
            <p:spPr>
              <a:xfrm flipH="1">
                <a:off x="7247755" y="3613036"/>
                <a:ext cx="3" cy="197419"/>
              </a:xfrm>
              <a:prstGeom prst="straightConnector1">
                <a:avLst/>
              </a:prstGeom>
              <a:noFill/>
              <a:ln w="11430">
                <a:solidFill>
                  <a:srgbClr val="888C91"/>
                </a:solidFill>
                <a:prstDash val="solid"/>
                <a:headEnd type="none"/>
                <a:tailEnd type="triangle"/>
              </a:ln>
            </p:spPr>
          </p:cxnSp>
        </p:grpSp>
        <p:sp>
          <p:nvSpPr>
            <p:cNvPr id="191" name="Shape 31">
              <a:extLst>
                <a:ext uri="{FF2B5EF4-FFF2-40B4-BE49-F238E27FC236}">
                  <a16:creationId xmlns:a16="http://schemas.microsoft.com/office/drawing/2014/main" id="{7AB93E39-C877-4F6E-91E3-4818D5AD8143}"/>
                </a:ext>
              </a:extLst>
            </p:cNvPr>
            <p:cNvSpPr/>
            <p:nvPr/>
          </p:nvSpPr>
          <p:spPr>
            <a:xfrm>
              <a:off x="10122008" y="4233616"/>
              <a:ext cx="543586" cy="32152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CPU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92" name="Shape 31">
              <a:extLst>
                <a:ext uri="{FF2B5EF4-FFF2-40B4-BE49-F238E27FC236}">
                  <a16:creationId xmlns:a16="http://schemas.microsoft.com/office/drawing/2014/main" id="{0FE145B6-CE91-4FE8-9E63-351A03D67391}"/>
                </a:ext>
              </a:extLst>
            </p:cNvPr>
            <p:cNvSpPr/>
            <p:nvPr/>
          </p:nvSpPr>
          <p:spPr>
            <a:xfrm>
              <a:off x="9538389" y="4233616"/>
              <a:ext cx="543586" cy="32152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GPU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94" name="Shape 31">
              <a:extLst>
                <a:ext uri="{FF2B5EF4-FFF2-40B4-BE49-F238E27FC236}">
                  <a16:creationId xmlns:a16="http://schemas.microsoft.com/office/drawing/2014/main" id="{9355122B-B076-4AD6-8266-92347533977C}"/>
                </a:ext>
              </a:extLst>
            </p:cNvPr>
            <p:cNvSpPr/>
            <p:nvPr/>
          </p:nvSpPr>
          <p:spPr>
            <a:xfrm>
              <a:off x="10723037" y="4233616"/>
              <a:ext cx="597945" cy="32152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CXL-PNM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95" name="Shape 31">
              <a:extLst>
                <a:ext uri="{FF2B5EF4-FFF2-40B4-BE49-F238E27FC236}">
                  <a16:creationId xmlns:a16="http://schemas.microsoft.com/office/drawing/2014/main" id="{5B34D1C2-0536-47F9-A4E3-D0D324ADCE23}"/>
                </a:ext>
              </a:extLst>
            </p:cNvPr>
            <p:cNvSpPr/>
            <p:nvPr/>
          </p:nvSpPr>
          <p:spPr>
            <a:xfrm>
              <a:off x="11370490" y="4233616"/>
              <a:ext cx="657740" cy="32152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New Device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196" name="직선 화살표 연결선 185">
              <a:extLst>
                <a:ext uri="{FF2B5EF4-FFF2-40B4-BE49-F238E27FC236}">
                  <a16:creationId xmlns:a16="http://schemas.microsoft.com/office/drawing/2014/main" id="{64718AD8-8AEE-402C-9432-118EAEC37816}"/>
                </a:ext>
              </a:extLst>
            </p:cNvPr>
            <p:cNvCxnSpPr>
              <a:cxnSpLocks/>
              <a:stCxn id="188" idx="2"/>
              <a:endCxn id="194" idx="0"/>
            </p:cNvCxnSpPr>
            <p:nvPr/>
          </p:nvCxnSpPr>
          <p:spPr>
            <a:xfrm rot="16200000" flipH="1">
              <a:off x="10700105" y="3911710"/>
              <a:ext cx="321923" cy="321887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3310" name="C2 freshness note"/>
            <p:cNvSpPr txBox="1"/>
            <p:nvPr/>
          </p:nvSpPr>
          <p:spPr>
            <a:xfrm>
              <a:off x="7679898" y="4028093"/>
              <a:ext cx="1452235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Execution</a:t>
              </a:r>
              <a:r>
                <a:rPr lang="ko-KR" alt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Plan</a:t>
              </a:r>
              <a:r>
                <a:rPr lang="ko-KR" alt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 및 </a:t>
              </a:r>
              <a:r>
                <a:rPr lang="ko-KR" altLang="en-US" sz="900" dirty="0">
                  <a:solidFill>
                    <a:srgbClr val="808080"/>
                  </a:solidFill>
                  <a:latin typeface="맑은 고딕"/>
                  <a:ea typeface="맑은 고딕"/>
                </a:rPr>
                <a:t>상태 저장</a:t>
              </a:r>
              <a:endParaRPr sz="900" b="0" i="0" dirty="0">
                <a:solidFill>
                  <a:srgbClr val="80808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0" name="C2 freshness note">
              <a:extLst>
                <a:ext uri="{FF2B5EF4-FFF2-40B4-BE49-F238E27FC236}">
                  <a16:creationId xmlns:a16="http://schemas.microsoft.com/office/drawing/2014/main" id="{127B7BA2-AF32-48BD-B4B6-6292B5DF4C0B}"/>
                </a:ext>
              </a:extLst>
            </p:cNvPr>
            <p:cNvSpPr txBox="1"/>
            <p:nvPr/>
          </p:nvSpPr>
          <p:spPr>
            <a:xfrm>
              <a:off x="10762871" y="3300036"/>
              <a:ext cx="542659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If match </a:t>
              </a:r>
              <a:endParaRPr sz="900" b="0" i="0" dirty="0">
                <a:solidFill>
                  <a:srgbClr val="80808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21A4406A-848C-40A9-8F3E-43EAB95C7998}"/>
                </a:ext>
              </a:extLst>
            </p:cNvPr>
            <p:cNvSpPr txBox="1"/>
            <p:nvPr/>
          </p:nvSpPr>
          <p:spPr>
            <a:xfrm>
              <a:off x="9528263" y="2716734"/>
              <a:ext cx="64008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If </a:t>
              </a:r>
              <a:r>
                <a:rPr lang="en-US" sz="900" dirty="0">
                  <a:solidFill>
                    <a:srgbClr val="C55A11"/>
                  </a:solidFill>
                  <a:latin typeface="맑은 고딕"/>
                  <a:ea typeface="맑은 고딕"/>
                </a:rPr>
                <a:t>m</a:t>
              </a:r>
              <a:r>
                <a:rPr lang="en-US" sz="900" b="0" i="0" dirty="0">
                  <a:solidFill>
                    <a:srgbClr val="C55A11"/>
                  </a:solidFill>
                  <a:latin typeface="맑은 고딕"/>
                  <a:ea typeface="맑은 고딕"/>
                </a:rPr>
                <a:t>ismatch</a:t>
              </a:r>
              <a:endParaRPr sz="900" b="0" i="0" dirty="0">
                <a:solidFill>
                  <a:srgbClr val="C55A1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62" name="Rectangle 9065">
              <a:extLst>
                <a:ext uri="{FF2B5EF4-FFF2-40B4-BE49-F238E27FC236}">
                  <a16:creationId xmlns:a16="http://schemas.microsoft.com/office/drawing/2014/main" id="{DC0FC1D3-B7E6-42CE-84E0-E28CE1ED44E9}"/>
                </a:ext>
              </a:extLst>
            </p:cNvPr>
            <p:cNvSpPr/>
            <p:nvPr/>
          </p:nvSpPr>
          <p:spPr>
            <a:xfrm>
              <a:off x="6650290" y="2283984"/>
              <a:ext cx="265546" cy="112170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lIns="36000" tIns="18000" rIns="36000" bIns="18000" rtlCol="0" anchor="ctr">
              <a:no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Common Memory</a:t>
              </a:r>
            </a:p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 Backend Interface</a:t>
              </a:r>
            </a:p>
          </p:txBody>
        </p:sp>
        <p:cxnSp>
          <p:nvCxnSpPr>
            <p:cNvPr id="177" name="직선 화살표 연결선 185">
              <a:extLst>
                <a:ext uri="{FF2B5EF4-FFF2-40B4-BE49-F238E27FC236}">
                  <a16:creationId xmlns:a16="http://schemas.microsoft.com/office/drawing/2014/main" id="{643E492D-CE08-4786-9B0D-A7E6F1A63A29}"/>
                </a:ext>
              </a:extLst>
            </p:cNvPr>
            <p:cNvCxnSpPr>
              <a:cxnSpLocks/>
              <a:stCxn id="162" idx="3"/>
              <a:endCxn id="169" idx="1"/>
            </p:cNvCxnSpPr>
            <p:nvPr/>
          </p:nvCxnSpPr>
          <p:spPr>
            <a:xfrm flipV="1">
              <a:off x="6915836" y="2840572"/>
              <a:ext cx="208937" cy="4265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</p:grpSp>
      <p:cxnSp>
        <p:nvCxnSpPr>
          <p:cNvPr id="14" name="직선 연결선 13"/>
          <p:cNvCxnSpPr/>
          <p:nvPr/>
        </p:nvCxnSpPr>
        <p:spPr>
          <a:xfrm>
            <a:off x="9348289" y="1809408"/>
            <a:ext cx="0" cy="2790583"/>
          </a:xfrm>
          <a:prstGeom prst="line">
            <a:avLst/>
          </a:prstGeom>
          <a:noFill/>
          <a:ln w="12700">
            <a:solidFill>
              <a:srgbClr val="C76E31"/>
            </a:solidFill>
            <a:prstDash val="dash"/>
          </a:ln>
        </p:spPr>
      </p:cxnSp>
      <p:sp>
        <p:nvSpPr>
          <p:cNvPr id="114" name="TextBox 113"/>
          <p:cNvSpPr txBox="1"/>
          <p:nvPr/>
        </p:nvSpPr>
        <p:spPr>
          <a:xfrm>
            <a:off x="8296768" y="5956025"/>
            <a:ext cx="2821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0000FF"/>
                </a:solidFill>
              </a:rPr>
              <a:t>Re-plan</a:t>
            </a:r>
            <a:r>
              <a:rPr lang="ko-KR" altLang="en-US" sz="800" dirty="0">
                <a:solidFill>
                  <a:srgbClr val="0000FF"/>
                </a:solidFill>
              </a:rPr>
              <a:t>으로 인한 메모리 압박 대응 지연의 영향이 적음</a:t>
            </a:r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10024136" y="624622"/>
            <a:ext cx="910691" cy="13449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F2 </a:t>
            </a:r>
            <a:r>
              <a:rPr lang="ko-KR" altLang="en-US" sz="700" dirty="0">
                <a:latin typeface="맑은 고딕" panose="020B0503020000020004" pitchFamily="50" charset="-127"/>
              </a:rPr>
              <a:t>추론 스케줄링</a:t>
            </a:r>
          </a:p>
        </p:txBody>
      </p:sp>
      <p:sp>
        <p:nvSpPr>
          <p:cNvPr id="116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8339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</a:rPr>
              <a:t>추론 실행</a:t>
            </a:r>
          </a:p>
        </p:txBody>
      </p:sp>
      <p:sp>
        <p:nvSpPr>
          <p:cNvPr id="117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8617288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118" name="모서리가 둥근 직사각형 37">
            <a:extLst>
              <a:ext uri="{FF2B5EF4-FFF2-40B4-BE49-F238E27FC236}">
                <a16:creationId xmlns:a16="http://schemas.microsoft.com/office/drawing/2014/main" id="{63E127C8-1374-4049-8A7A-84E9B191F365}"/>
              </a:ext>
            </a:extLst>
          </p:cNvPr>
          <p:cNvSpPr/>
          <p:nvPr/>
        </p:nvSpPr>
        <p:spPr>
          <a:xfrm>
            <a:off x="9506874" y="821023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119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0396460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 </a:t>
            </a:r>
          </a:p>
        </p:txBody>
      </p:sp>
      <p:sp>
        <p:nvSpPr>
          <p:cNvPr id="121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7876884" y="619129"/>
            <a:ext cx="1003759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C1 </a:t>
            </a:r>
            <a:r>
              <a:rPr lang="en-US" altLang="ko-KR" sz="700" dirty="0" err="1">
                <a:latin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</a:rPr>
              <a:t>개발 환경</a:t>
            </a:r>
          </a:p>
        </p:txBody>
      </p:sp>
      <p:sp>
        <p:nvSpPr>
          <p:cNvPr id="127" name="모서리가 둥근 직사각형 37">
            <a:extLst>
              <a:ext uri="{FF2B5EF4-FFF2-40B4-BE49-F238E27FC236}">
                <a16:creationId xmlns:a16="http://schemas.microsoft.com/office/drawing/2014/main" id="{849CB062-936D-4F72-BDB2-73AE9FDAA773}"/>
              </a:ext>
            </a:extLst>
          </p:cNvPr>
          <p:cNvSpPr/>
          <p:nvPr/>
        </p:nvSpPr>
        <p:spPr>
          <a:xfrm>
            <a:off x="11209965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Q4 </a:t>
            </a:r>
            <a:r>
              <a:rPr lang="ko-KR" altLang="en-US" sz="700" dirty="0">
                <a:latin typeface="맑은 고딕" panose="020B0503020000020004" pitchFamily="50" charset="-127"/>
              </a:rPr>
              <a:t>확장성</a:t>
            </a:r>
          </a:p>
        </p:txBody>
      </p:sp>
      <p:sp>
        <p:nvSpPr>
          <p:cNvPr id="129" name="모서리가 둥근 직사각형 128"/>
          <p:cNvSpPr/>
          <p:nvPr/>
        </p:nvSpPr>
        <p:spPr>
          <a:xfrm>
            <a:off x="8958662" y="617897"/>
            <a:ext cx="1001760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요청 관리</a:t>
            </a:r>
          </a:p>
        </p:txBody>
      </p:sp>
    </p:spTree>
    <p:extLst>
      <p:ext uri="{BB962C8B-B14F-4D97-AF65-F5344CB8AC3E}">
        <p14:creationId xmlns:p14="http://schemas.microsoft.com/office/powerpoint/2010/main" val="3177051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304992" y="1061955"/>
          <a:ext cx="11759184" cy="55864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393528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4905466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973810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217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 </a:t>
                      </a:r>
                      <a:r>
                        <a:rPr lang="ko-KR" altLang="en-US" sz="1200" b="1" strike="noStrike" dirty="0"/>
                        <a:t>스케줄링 시점 결정 </a:t>
                      </a:r>
                      <a:r>
                        <a:rPr lang="en-US" altLang="ko-KR" sz="105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(Plan + Decision</a:t>
                      </a:r>
                      <a:r>
                        <a:rPr lang="en-US" altLang="ko-KR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동시 구조</a:t>
                      </a:r>
                      <a:r>
                        <a:rPr lang="en-US" altLang="ko-KR" sz="1050" b="1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  <a:r>
                        <a:rPr lang="ko-KR" altLang="en-US" sz="1050" b="1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/>
                        <a:t>사전 계획 결정 </a:t>
                      </a:r>
                      <a:r>
                        <a:rPr lang="en-US" altLang="ko-KR" sz="1200" b="1" strike="noStrike" kern="1200" baseline="0" noProof="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맑은 고딕"/>
                          <a:cs typeface="+mn-cs"/>
                        </a:rPr>
                        <a:t>저비용 검증 </a:t>
                      </a:r>
                      <a:r>
                        <a:rPr lang="en-US" altLang="ko-KR" sz="1050" b="1" kern="1200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(Plan, Decision </a:t>
                      </a:r>
                      <a:r>
                        <a:rPr lang="ko-KR" altLang="en-US" sz="1050" b="1" kern="1200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분리 구조 </a:t>
                      </a:r>
                      <a:r>
                        <a:rPr lang="en-US" altLang="ko-KR" sz="1050" b="1" kern="1200" baseline="0" noProof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+ Feedback Control)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29279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실시간 부하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∙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리소스 상태를 반영하여 메모리 압력에 대응하기 유리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(Q2)</a:t>
                      </a:r>
                      <a:endParaRPr lang="ko-KR" altLang="en-US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계획 확정 후 즉시 실행하여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tail latency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완화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(Q3)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연산 위치 결정을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critical path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밖으로 분리하여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latency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절감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요청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∙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연산 자원 증가 시 계획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worker, batch evaluation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등으로 계획 컴포넌트를 독립 확장 가능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연산 위치에 대한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decision latency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가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critical path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 포함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자원 종류 증가 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monitoring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비용이 증가 해 스케줄링 병목 위험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대규모 고부하 시 계획·실행 상태 Mismatch로 Re-plan 발생 높음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(Q1) </a:t>
                      </a: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200"/>
                        </a:spcAft>
                        <a:buFont typeface="Arial" pitchFamily="34" charset="0"/>
                        <a:buAutoNum type="arabicPeriod"/>
                      </a:pP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여러 안을 계획해서 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Mismatch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시 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Cost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재계산 없이 순차적 구간 조회 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(k)</a:t>
                      </a: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200"/>
                        </a:spcAft>
                        <a:buFont typeface="Arial" pitchFamily="34" charset="0"/>
                        <a:buAutoNum type="arabicPeriod"/>
                      </a:pP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요청이 </a:t>
                      </a: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Queue</a:t>
                      </a:r>
                      <a:r>
                        <a:rPr lang="ko-KR" altLang="en-US" sz="1200" b="0" i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에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도착 즉시가 아니라 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head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로부터 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W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슬롯 안에 들어올 때 계획 </a:t>
                      </a:r>
                      <a:endParaRPr lang="en-US" altLang="ko-KR" sz="1200" dirty="0">
                        <a:solidFill>
                          <a:srgbClr val="FF0000"/>
                        </a:solidFill>
                        <a:latin typeface="+mn-lt"/>
                        <a:ea typeface="맑은 고딕"/>
                      </a:endParaRPr>
                    </a:p>
                    <a:p>
                      <a:pPr marL="228600" indent="-228600">
                        <a:lnSpc>
                          <a:spcPct val="100000"/>
                        </a:lnSpc>
                        <a:spcAft>
                          <a:spcPts val="200"/>
                        </a:spcAft>
                        <a:buFont typeface="Arial" pitchFamily="34" charset="0"/>
                        <a:buAutoNum type="arabicPeriod"/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L</a:t>
                      </a: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oad</a:t>
                      </a:r>
                      <a:r>
                        <a:rPr lang="ko-KR" altLang="en-US" sz="1200" b="0" i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↑ → </a:t>
                      </a:r>
                      <a:r>
                        <a:rPr lang="en-US" altLang="ko-KR" sz="1200" b="0" i="0" dirty="0" err="1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W↓k</a:t>
                      </a:r>
                      <a:r>
                        <a:rPr lang="ko-KR" altLang="en-US" sz="1200" b="0" i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↑</a:t>
                      </a: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200" b="0" i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계획을 짧고 넓게</a:t>
                      </a:r>
                      <a:r>
                        <a:rPr lang="en-US" altLang="ko-KR" sz="1200" b="0" i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), Load</a:t>
                      </a:r>
                      <a:r>
                        <a:rPr lang="ko-KR" altLang="en-US" sz="1200" b="0" i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↓ → </a:t>
                      </a:r>
                      <a:r>
                        <a:rPr lang="en-US" altLang="ko-KR" sz="1200" dirty="0" err="1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W↑k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↓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완전 사전 계획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)</a:t>
                      </a:r>
                      <a:endParaRPr lang="ko-KR" altLang="en-US" sz="1200" b="0" i="0" dirty="0">
                        <a:solidFill>
                          <a:srgbClr val="FF0000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</a:t>
                      </a: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Efficiency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  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Q1.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처리량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Q2. Resource Efficiency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◐</a:t>
                      </a:r>
                      <a:endParaRPr lang="en-US" altLang="ko-KR" sz="1200" b="0" dirty="0">
                        <a:solidFill>
                          <a:srgbClr val="FF0000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◐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●○○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DP2. </a:t>
            </a:r>
            <a:r>
              <a:rPr lang="ko-KR" altLang="en-US" dirty="0"/>
              <a:t>연산</a:t>
            </a:r>
            <a:r>
              <a:rPr lang="en-US" altLang="ko-KR" dirty="0"/>
              <a:t>(Prefill/Decode) </a:t>
            </a:r>
            <a:r>
              <a:rPr lang="ko-KR" altLang="en-US" dirty="0"/>
              <a:t>실행 위치 결정 구조 </a:t>
            </a:r>
            <a:r>
              <a:rPr lang="en-US" altLang="ko-KR" dirty="0"/>
              <a:t>- </a:t>
            </a:r>
            <a:r>
              <a:rPr lang="ko-KR" altLang="en-US" dirty="0">
                <a:solidFill>
                  <a:srgbClr val="FF0000"/>
                </a:solidFill>
              </a:rPr>
              <a:t>보완 설계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Cost </a:t>
            </a:r>
            <a:r>
              <a:rPr lang="ko-KR" altLang="en-US" sz="1400" b="1" dirty="0">
                <a:solidFill>
                  <a:schemeClr val="bg1"/>
                </a:solidFill>
              </a:rPr>
              <a:t>기반 연산 실행 위치의 결정 시점과 방식을 최적화하는 스케줄링 구조 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TextBox 1"/>
          <p:cNvSpPr txBox="1"/>
          <p:nvPr/>
        </p:nvSpPr>
        <p:spPr>
          <a:xfrm>
            <a:off x="1162983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스케줄링하는 시점에 연산 실행 위치 결정 </a:t>
            </a:r>
            <a:r>
              <a:rPr lang="en-US" altLang="ko-KR" sz="1100" dirty="0"/>
              <a:t>“</a:t>
            </a:r>
          </a:p>
        </p:txBody>
      </p:sp>
      <p:sp>
        <p:nvSpPr>
          <p:cNvPr id="103" name="Shape 56">
            <a:extLst>
              <a:ext uri="{FF2B5EF4-FFF2-40B4-BE49-F238E27FC236}">
                <a16:creationId xmlns:a16="http://schemas.microsoft.com/office/drawing/2014/main" id="{33C7046D-072B-4A63-B8E3-E6FE269F4E83}"/>
              </a:ext>
            </a:extLst>
          </p:cNvPr>
          <p:cNvSpPr/>
          <p:nvPr/>
        </p:nvSpPr>
        <p:spPr>
          <a:xfrm>
            <a:off x="3872267" y="5221476"/>
            <a:ext cx="0" cy="0"/>
          </a:xfrm>
          <a:prstGeom prst="line">
            <a:avLst/>
          </a:prstGeom>
          <a:noFill/>
          <a:ln w="16510">
            <a:solidFill>
              <a:srgbClr val="4D7EA8"/>
            </a:solidFill>
            <a:prstDash val="solid"/>
            <a:headEnd type="none"/>
            <a:tailEnd type="none"/>
          </a:ln>
        </p:spPr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4B7B1EF-FC16-4E50-A15A-074EA647B636}"/>
              </a:ext>
            </a:extLst>
          </p:cNvPr>
          <p:cNvSpPr txBox="1"/>
          <p:nvPr/>
        </p:nvSpPr>
        <p:spPr>
          <a:xfrm>
            <a:off x="4442239" y="6486392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7</a:t>
            </a:r>
            <a:r>
              <a:rPr lang="ko-KR" altLang="en-US" sz="1200" dirty="0"/>
              <a:t>점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4A952AB-42E1-41D1-AF63-055E8135DA99}"/>
              </a:ext>
            </a:extLst>
          </p:cNvPr>
          <p:cNvSpPr txBox="1"/>
          <p:nvPr/>
        </p:nvSpPr>
        <p:spPr>
          <a:xfrm>
            <a:off x="11270180" y="6532716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8</a:t>
            </a:r>
            <a:r>
              <a:rPr lang="ko-KR" altLang="en-US" sz="1200" dirty="0"/>
              <a:t>점</a:t>
            </a:r>
          </a:p>
        </p:txBody>
      </p:sp>
      <p:sp>
        <p:nvSpPr>
          <p:cNvPr id="108" name="실행 단추: 앞으로 또는 다음 107">
            <a:hlinkClick r:id="" action="ppaction://noaction" highlightClick="1"/>
          </p:cNvPr>
          <p:cNvSpPr/>
          <p:nvPr/>
        </p:nvSpPr>
        <p:spPr>
          <a:xfrm>
            <a:off x="11782688" y="1103765"/>
            <a:ext cx="199762" cy="224229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실행 단추: 앞으로 또는 다음으로 이동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D45EE784-4191-4924-833C-F4E4E1D195A6}"/>
              </a:ext>
            </a:extLst>
          </p:cNvPr>
          <p:cNvSpPr/>
          <p:nvPr/>
        </p:nvSpPr>
        <p:spPr>
          <a:xfrm>
            <a:off x="595779" y="6308977"/>
            <a:ext cx="203053" cy="180233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A2D3743-1992-478F-B82E-9DE9B085B94D}"/>
              </a:ext>
            </a:extLst>
          </p:cNvPr>
          <p:cNvGrpSpPr/>
          <p:nvPr/>
        </p:nvGrpSpPr>
        <p:grpSpPr>
          <a:xfrm>
            <a:off x="334761" y="3136866"/>
            <a:ext cx="822008" cy="1106192"/>
            <a:chOff x="269738" y="3554621"/>
            <a:chExt cx="822008" cy="1106192"/>
          </a:xfrm>
        </p:grpSpPr>
        <p:sp>
          <p:nvSpPr>
            <p:cNvPr id="131" name="KV Cache Manager">
              <a:extLst>
                <a:ext uri="{FF2B5EF4-FFF2-40B4-BE49-F238E27FC236}">
                  <a16:creationId xmlns:a16="http://schemas.microsoft.com/office/drawing/2014/main" id="{97729FA2-8208-495A-88B5-6AB9793CB4B9}"/>
                </a:ext>
              </a:extLst>
            </p:cNvPr>
            <p:cNvSpPr/>
            <p:nvPr/>
          </p:nvSpPr>
          <p:spPr>
            <a:xfrm>
              <a:off x="275753" y="3965871"/>
              <a:ext cx="784423" cy="1940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후보 특화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2" name="KV Cache Manager">
              <a:extLst>
                <a:ext uri="{FF2B5EF4-FFF2-40B4-BE49-F238E27FC236}">
                  <a16:creationId xmlns:a16="http://schemas.microsoft.com/office/drawing/2014/main" id="{5E4E7F90-5323-48ED-A793-E537EC85E83D}"/>
                </a:ext>
              </a:extLst>
            </p:cNvPr>
            <p:cNvSpPr/>
            <p:nvPr/>
          </p:nvSpPr>
          <p:spPr>
            <a:xfrm>
              <a:off x="275753" y="4186396"/>
              <a:ext cx="784423" cy="19403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공통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4" name="KV Cache Manager">
              <a:extLst>
                <a:ext uri="{FF2B5EF4-FFF2-40B4-BE49-F238E27FC236}">
                  <a16:creationId xmlns:a16="http://schemas.microsoft.com/office/drawing/2014/main" id="{F1372DCD-DBB8-422B-8D97-E7C565A45741}"/>
                </a:ext>
              </a:extLst>
            </p:cNvPr>
            <p:cNvSpPr/>
            <p:nvPr/>
          </p:nvSpPr>
          <p:spPr>
            <a:xfrm>
              <a:off x="275753" y="4404880"/>
              <a:ext cx="784423" cy="19403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bg1"/>
                  </a:solidFill>
                </a:rPr>
                <a:t>타</a:t>
              </a:r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모듈</a:t>
              </a:r>
              <a:r>
                <a:rPr lang="en-US" altLang="ko-KR" sz="800" b="1" dirty="0">
                  <a:solidFill>
                    <a:schemeClr val="bg1"/>
                  </a:solidFill>
                </a:rPr>
                <a:t> I/F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33666AC1-1D1F-4D44-8ABD-9FC7C996F49A}"/>
                </a:ext>
              </a:extLst>
            </p:cNvPr>
            <p:cNvSpPr/>
            <p:nvPr/>
          </p:nvSpPr>
          <p:spPr>
            <a:xfrm>
              <a:off x="269738" y="3554621"/>
              <a:ext cx="822008" cy="1106192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t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Legend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37" name="KV Cache Manager">
              <a:extLst>
                <a:ext uri="{FF2B5EF4-FFF2-40B4-BE49-F238E27FC236}">
                  <a16:creationId xmlns:a16="http://schemas.microsoft.com/office/drawing/2014/main" id="{3DAC31F2-953F-4F50-9270-4AC41B0280B9}"/>
                </a:ext>
              </a:extLst>
            </p:cNvPr>
            <p:cNvSpPr/>
            <p:nvPr/>
          </p:nvSpPr>
          <p:spPr>
            <a:xfrm>
              <a:off x="275753" y="3750457"/>
              <a:ext cx="784423" cy="1940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DP 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설계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6E2B7273-A609-42E8-9B1D-ED211C704AFC}"/>
              </a:ext>
            </a:extLst>
          </p:cNvPr>
          <p:cNvSpPr/>
          <p:nvPr/>
        </p:nvSpPr>
        <p:spPr>
          <a:xfrm>
            <a:off x="6125252" y="1053935"/>
            <a:ext cx="5989442" cy="57094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6236792" y="1589059"/>
            <a:ext cx="5760721" cy="2680725"/>
            <a:chOff x="6783687" y="1726402"/>
            <a:chExt cx="5237019" cy="2789573"/>
          </a:xfrm>
        </p:grpSpPr>
        <p:sp>
          <p:nvSpPr>
            <p:cNvPr id="116" name="Shape 31">
              <a:extLst>
                <a:ext uri="{FF2B5EF4-FFF2-40B4-BE49-F238E27FC236}">
                  <a16:creationId xmlns:a16="http://schemas.microsoft.com/office/drawing/2014/main" id="{76AB0CFB-9315-4F87-BDDA-11D011BB00D3}"/>
                </a:ext>
              </a:extLst>
            </p:cNvPr>
            <p:cNvSpPr/>
            <p:nvPr/>
          </p:nvSpPr>
          <p:spPr>
            <a:xfrm>
              <a:off x="7519638" y="2015366"/>
              <a:ext cx="1332516" cy="199855"/>
            </a:xfrm>
            <a:prstGeom prst="roundRect">
              <a:avLst>
                <a:gd name="adj" fmla="val 37674"/>
              </a:avLst>
            </a:prstGeom>
            <a:noFill/>
            <a:ln w="12700">
              <a:noFill/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Waiting Queue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sp>
          <p:nvSpPr>
            <p:cNvPr id="117" name="원통 5">
              <a:extLst>
                <a:ext uri="{FF2B5EF4-FFF2-40B4-BE49-F238E27FC236}">
                  <a16:creationId xmlns:a16="http://schemas.microsoft.com/office/drawing/2014/main" id="{607D3B1A-A13D-4B9F-A6DE-E266ED68AFC3}"/>
                </a:ext>
              </a:extLst>
            </p:cNvPr>
            <p:cNvSpPr/>
            <p:nvPr/>
          </p:nvSpPr>
          <p:spPr>
            <a:xfrm>
              <a:off x="7954418" y="3861869"/>
              <a:ext cx="1005895" cy="273732"/>
            </a:xfrm>
            <a:prstGeom prst="can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rgbClr val="C76E3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Plan Cache</a:t>
              </a:r>
            </a:p>
          </p:txBody>
        </p:sp>
        <p:cxnSp>
          <p:nvCxnSpPr>
            <p:cNvPr id="118" name="직선 화살표 연결선 185">
              <a:extLst>
                <a:ext uri="{FF2B5EF4-FFF2-40B4-BE49-F238E27FC236}">
                  <a16:creationId xmlns:a16="http://schemas.microsoft.com/office/drawing/2014/main" id="{7AFE4BD9-002D-4D76-9079-6287254D9F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598" y="3609825"/>
              <a:ext cx="127" cy="242833"/>
            </a:xfrm>
            <a:prstGeom prst="straightConnector1">
              <a:avLst/>
            </a:prstGeom>
            <a:noFill/>
            <a:ln w="12700">
              <a:solidFill>
                <a:srgbClr val="C76E31"/>
              </a:solidFill>
              <a:prstDash val="solid"/>
              <a:headEnd type="none" w="med" len="med"/>
              <a:tailEnd type="triangle" w="med" len="med"/>
            </a:ln>
          </p:spPr>
        </p:cxnSp>
        <p:cxnSp>
          <p:nvCxnSpPr>
            <p:cNvPr id="119" name="직선 화살표 연결선 185">
              <a:extLst>
                <a:ext uri="{FF2B5EF4-FFF2-40B4-BE49-F238E27FC236}">
                  <a16:creationId xmlns:a16="http://schemas.microsoft.com/office/drawing/2014/main" id="{73E7D81B-6FBE-4226-ADD7-0FFEA572F57E}"/>
                </a:ext>
              </a:extLst>
            </p:cNvPr>
            <p:cNvCxnSpPr>
              <a:cxnSpLocks/>
              <a:stCxn id="129" idx="2"/>
              <a:endCxn id="138" idx="0"/>
            </p:cNvCxnSpPr>
            <p:nvPr/>
          </p:nvCxnSpPr>
          <p:spPr>
            <a:xfrm flipH="1">
              <a:off x="10602968" y="2410565"/>
              <a:ext cx="1" cy="242828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3A6C8762-AA1E-48D6-AFE6-B4BC62313E1E}"/>
                </a:ext>
              </a:extLst>
            </p:cNvPr>
            <p:cNvSpPr/>
            <p:nvPr/>
          </p:nvSpPr>
          <p:spPr>
            <a:xfrm>
              <a:off x="7520870" y="1726402"/>
              <a:ext cx="1383184" cy="27145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rgbClr val="FF0000"/>
                  </a:solidFill>
                </a:rPr>
                <a:t>Plan</a:t>
              </a: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D9478518-0083-431B-895B-C1BB81DDE028}"/>
                </a:ext>
              </a:extLst>
            </p:cNvPr>
            <p:cNvGrpSpPr/>
            <p:nvPr/>
          </p:nvGrpSpPr>
          <p:grpSpPr>
            <a:xfrm>
              <a:off x="9748834" y="2144559"/>
              <a:ext cx="1708273" cy="2126181"/>
              <a:chOff x="12508587" y="2383427"/>
              <a:chExt cx="1879100" cy="2126181"/>
            </a:xfrm>
          </p:grpSpPr>
          <p:sp>
            <p:nvSpPr>
              <p:cNvPr id="129" name="Shape 31">
                <a:extLst>
                  <a:ext uri="{FF2B5EF4-FFF2-40B4-BE49-F238E27FC236}">
                    <a16:creationId xmlns:a16="http://schemas.microsoft.com/office/drawing/2014/main" id="{F355C5E5-D60B-4572-9D91-2061BF7DD83A}"/>
                  </a:ext>
                </a:extLst>
              </p:cNvPr>
              <p:cNvSpPr/>
              <p:nvPr/>
            </p:nvSpPr>
            <p:spPr>
              <a:xfrm>
                <a:off x="12864748" y="2383427"/>
                <a:ext cx="1166773" cy="26600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Scheduler</a:t>
                </a:r>
                <a:endParaRPr lang="ko-KR" altLang="en-US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endParaRPr>
              </a:p>
            </p:txBody>
          </p:sp>
          <p:sp>
            <p:nvSpPr>
              <p:cNvPr id="138" name="Shape 31">
                <a:extLst>
                  <a:ext uri="{FF2B5EF4-FFF2-40B4-BE49-F238E27FC236}">
                    <a16:creationId xmlns:a16="http://schemas.microsoft.com/office/drawing/2014/main" id="{535199C9-9527-4091-AD95-AB60C112E9D7}"/>
                  </a:ext>
                </a:extLst>
              </p:cNvPr>
              <p:cNvSpPr/>
              <p:nvPr/>
            </p:nvSpPr>
            <p:spPr>
              <a:xfrm>
                <a:off x="12508587" y="2892261"/>
                <a:ext cx="1879100" cy="96297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rgbClr val="C76E31"/>
                </a:solidFill>
                <a:prstDash val="solid"/>
              </a:ln>
            </p:spPr>
            <p:txBody>
              <a:bodyPr anchor="t"/>
              <a:lstStyle/>
              <a:p>
                <a:pPr algn="ctr"/>
                <a:r>
                  <a:rPr lang="en-US" altLang="ko-KR" sz="9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  <a:cs typeface="Malgun Gothic" pitchFamily="34" charset="-120"/>
                  </a:rPr>
                  <a:t>Plan Lookup Validator</a:t>
                </a:r>
                <a:endParaRPr lang="ko-KR" altLang="en-US" sz="9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endParaRPr>
              </a:p>
            </p:txBody>
          </p:sp>
          <p:sp>
            <p:nvSpPr>
              <p:cNvPr id="139" name="Shape 31">
                <a:extLst>
                  <a:ext uri="{FF2B5EF4-FFF2-40B4-BE49-F238E27FC236}">
                    <a16:creationId xmlns:a16="http://schemas.microsoft.com/office/drawing/2014/main" id="{BD56F8F3-399D-40F7-9849-206895CDE16B}"/>
                  </a:ext>
                </a:extLst>
              </p:cNvPr>
              <p:cNvSpPr/>
              <p:nvPr/>
            </p:nvSpPr>
            <p:spPr>
              <a:xfrm>
                <a:off x="12806409" y="4243602"/>
                <a:ext cx="1283450" cy="26600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10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Execution Router</a:t>
                </a:r>
                <a:endParaRPr lang="ko-KR" altLang="en-US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endParaRPr>
              </a:p>
            </p:txBody>
          </p:sp>
        </p:grpSp>
        <p:cxnSp>
          <p:nvCxnSpPr>
            <p:cNvPr id="142" name="직선 화살표 연결선 185">
              <a:extLst>
                <a:ext uri="{FF2B5EF4-FFF2-40B4-BE49-F238E27FC236}">
                  <a16:creationId xmlns:a16="http://schemas.microsoft.com/office/drawing/2014/main" id="{03ABB882-11D6-4845-A2A5-4FDFAA1E6339}"/>
                </a:ext>
              </a:extLst>
            </p:cNvPr>
            <p:cNvCxnSpPr>
              <a:cxnSpLocks/>
              <a:stCxn id="138" idx="2"/>
              <a:endCxn id="139" idx="0"/>
            </p:cNvCxnSpPr>
            <p:nvPr/>
          </p:nvCxnSpPr>
          <p:spPr>
            <a:xfrm>
              <a:off x="10602968" y="3616365"/>
              <a:ext cx="0" cy="388369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47" name="직선 화살표 연결선 185">
              <a:extLst>
                <a:ext uri="{FF2B5EF4-FFF2-40B4-BE49-F238E27FC236}">
                  <a16:creationId xmlns:a16="http://schemas.microsoft.com/office/drawing/2014/main" id="{0B056F2D-FE29-4725-A3F3-CA2EBC006FB4}"/>
                </a:ext>
              </a:extLst>
            </p:cNvPr>
            <p:cNvCxnSpPr>
              <a:cxnSpLocks/>
            </p:cNvCxnSpPr>
            <p:nvPr/>
          </p:nvCxnSpPr>
          <p:spPr>
            <a:xfrm>
              <a:off x="7923737" y="2215221"/>
              <a:ext cx="2" cy="201448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362F8D9F-BDB3-4426-BE60-50824CFD8181}"/>
                </a:ext>
              </a:extLst>
            </p:cNvPr>
            <p:cNvSpPr/>
            <p:nvPr/>
          </p:nvSpPr>
          <p:spPr>
            <a:xfrm>
              <a:off x="9763641" y="1763109"/>
              <a:ext cx="1746648" cy="271459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rgbClr val="FF0000"/>
                  </a:solidFill>
                </a:rPr>
                <a:t>Decision</a:t>
              </a:r>
            </a:p>
          </p:txBody>
        </p:sp>
        <p:grpSp>
          <p:nvGrpSpPr>
            <p:cNvPr id="156" name="그룹 155">
              <a:extLst>
                <a:ext uri="{FF2B5EF4-FFF2-40B4-BE49-F238E27FC236}">
                  <a16:creationId xmlns:a16="http://schemas.microsoft.com/office/drawing/2014/main" id="{66104227-632F-4532-A15F-A94E4AD0E570}"/>
                </a:ext>
              </a:extLst>
            </p:cNvPr>
            <p:cNvGrpSpPr/>
            <p:nvPr/>
          </p:nvGrpSpPr>
          <p:grpSpPr>
            <a:xfrm>
              <a:off x="7507561" y="2416669"/>
              <a:ext cx="1359852" cy="1199696"/>
              <a:chOff x="6330553" y="2404429"/>
              <a:chExt cx="1830129" cy="1451634"/>
            </a:xfrm>
          </p:grpSpPr>
          <p:sp>
            <p:nvSpPr>
              <p:cNvPr id="158" name="Shape 37">
                <a:extLst>
                  <a:ext uri="{FF2B5EF4-FFF2-40B4-BE49-F238E27FC236}">
                    <a16:creationId xmlns:a16="http://schemas.microsoft.com/office/drawing/2014/main" id="{4BEDC545-66DD-4655-A68A-E3E610279C82}"/>
                  </a:ext>
                </a:extLst>
              </p:cNvPr>
              <p:cNvSpPr/>
              <p:nvPr/>
            </p:nvSpPr>
            <p:spPr>
              <a:xfrm>
                <a:off x="6330553" y="2404429"/>
                <a:ext cx="1825852" cy="39558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9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Prefill/Decode Execution Planner</a:t>
                </a:r>
              </a:p>
            </p:txBody>
          </p:sp>
          <p:sp>
            <p:nvSpPr>
              <p:cNvPr id="159" name="Shape 37">
                <a:extLst>
                  <a:ext uri="{FF2B5EF4-FFF2-40B4-BE49-F238E27FC236}">
                    <a16:creationId xmlns:a16="http://schemas.microsoft.com/office/drawing/2014/main" id="{3B719E66-F236-4D8A-A4DD-359F1145DC18}"/>
                  </a:ext>
                </a:extLst>
              </p:cNvPr>
              <p:cNvSpPr/>
              <p:nvPr/>
            </p:nvSpPr>
            <p:spPr>
              <a:xfrm>
                <a:off x="6561862" y="2908105"/>
                <a:ext cx="1371789" cy="27018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chemeClr val="tx1"/>
                </a:solidFill>
                <a:prstDash val="solid"/>
              </a:ln>
            </p:spPr>
            <p:txBody>
              <a:bodyPr anchor="ctr"/>
              <a:lstStyle/>
              <a:p>
                <a:pPr algn="ctr"/>
                <a:r>
                  <a:rPr lang="en-US" altLang="ko-KR" sz="9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Cost Evaluator</a:t>
                </a:r>
              </a:p>
            </p:txBody>
          </p:sp>
          <p:cxnSp>
            <p:nvCxnSpPr>
              <p:cNvPr id="160" name="직선 화살표 연결선 185">
                <a:extLst>
                  <a:ext uri="{FF2B5EF4-FFF2-40B4-BE49-F238E27FC236}">
                    <a16:creationId xmlns:a16="http://schemas.microsoft.com/office/drawing/2014/main" id="{7DF56018-1135-4C31-BF01-C43F9DB53B8F}"/>
                  </a:ext>
                </a:extLst>
              </p:cNvPr>
              <p:cNvCxnSpPr>
                <a:cxnSpLocks/>
                <a:stCxn id="158" idx="2"/>
                <a:endCxn id="159" idx="0"/>
              </p:cNvCxnSpPr>
              <p:nvPr/>
            </p:nvCxnSpPr>
            <p:spPr>
              <a:xfrm>
                <a:off x="7243479" y="2800011"/>
                <a:ext cx="4278" cy="10809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cxnSp>
          <p:sp>
            <p:nvSpPr>
              <p:cNvPr id="161" name="Shape 37">
                <a:extLst>
                  <a:ext uri="{FF2B5EF4-FFF2-40B4-BE49-F238E27FC236}">
                    <a16:creationId xmlns:a16="http://schemas.microsoft.com/office/drawing/2014/main" id="{2A62CB42-EEB8-43B7-BCDD-BC501C1BDA1F}"/>
                  </a:ext>
                </a:extLst>
              </p:cNvPr>
              <p:cNvSpPr/>
              <p:nvPr/>
            </p:nvSpPr>
            <p:spPr>
              <a:xfrm>
                <a:off x="6334829" y="3329544"/>
                <a:ext cx="1825853" cy="526519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rgbClr val="C76E31"/>
                </a:solidFill>
                <a:prstDash val="solid"/>
              </a:ln>
            </p:spPr>
            <p:txBody>
              <a:bodyPr anchor="t"/>
              <a:lstStyle/>
              <a:p>
                <a:pPr algn="ctr"/>
                <a:r>
                  <a:rPr lang="en-US" altLang="ko-KR" sz="9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Plan</a:t>
                </a:r>
                <a:r>
                  <a:rPr lang="ko-KR" altLang="en-US" sz="9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 </a:t>
                </a:r>
                <a:r>
                  <a:rPr lang="en-US" altLang="ko-KR" sz="900" b="1" dirty="0">
                    <a:solidFill>
                      <a:srgbClr val="1A1A1A"/>
                    </a:solidFill>
                    <a:latin typeface="Malgun Gothic" pitchFamily="34" charset="0"/>
                    <a:ea typeface="Malgun Gothic" pitchFamily="34" charset="-122"/>
                  </a:rPr>
                  <a:t>Publisher</a:t>
                </a:r>
              </a:p>
            </p:txBody>
          </p:sp>
          <p:cxnSp>
            <p:nvCxnSpPr>
              <p:cNvPr id="165" name="직선 화살표 연결선 185">
                <a:extLst>
                  <a:ext uri="{FF2B5EF4-FFF2-40B4-BE49-F238E27FC236}">
                    <a16:creationId xmlns:a16="http://schemas.microsoft.com/office/drawing/2014/main" id="{2D8BFBA6-054C-465C-BB99-DA2EF692189C}"/>
                  </a:ext>
                </a:extLst>
              </p:cNvPr>
              <p:cNvCxnSpPr>
                <a:cxnSpLocks/>
                <a:stCxn id="159" idx="2"/>
                <a:endCxn id="161" idx="0"/>
              </p:cNvCxnSpPr>
              <p:nvPr/>
            </p:nvCxnSpPr>
            <p:spPr>
              <a:xfrm flipH="1">
                <a:off x="7247756" y="3178293"/>
                <a:ext cx="1" cy="151251"/>
              </a:xfrm>
              <a:prstGeom prst="straightConnector1">
                <a:avLst/>
              </a:prstGeom>
              <a:noFill/>
              <a:ln w="11430">
                <a:solidFill>
                  <a:srgbClr val="888C91"/>
                </a:solidFill>
                <a:prstDash val="solid"/>
                <a:headEnd type="none"/>
                <a:tailEnd type="triangle"/>
              </a:ln>
            </p:spPr>
          </p:cxnSp>
        </p:grpSp>
        <p:sp>
          <p:nvSpPr>
            <p:cNvPr id="166" name="C2 freshness note">
              <a:extLst>
                <a:ext uri="{FF2B5EF4-FFF2-40B4-BE49-F238E27FC236}">
                  <a16:creationId xmlns:a16="http://schemas.microsoft.com/office/drawing/2014/main" id="{6CDBB823-D88F-4179-AF8F-A7BA5D43B7BC}"/>
                </a:ext>
              </a:extLst>
            </p:cNvPr>
            <p:cNvSpPr txBox="1"/>
            <p:nvPr/>
          </p:nvSpPr>
          <p:spPr>
            <a:xfrm>
              <a:off x="8231378" y="3680819"/>
              <a:ext cx="1452235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Execution</a:t>
              </a:r>
              <a:r>
                <a:rPr lang="ko-KR" alt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 </a:t>
              </a:r>
              <a:r>
                <a:rPr lang="en-US" altLang="ko-KR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Plan</a:t>
              </a:r>
              <a:r>
                <a:rPr lang="ko-KR" alt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 및 </a:t>
              </a:r>
              <a:r>
                <a:rPr lang="ko-KR" altLang="en-US" sz="900" dirty="0">
                  <a:solidFill>
                    <a:srgbClr val="808080"/>
                  </a:solidFill>
                  <a:latin typeface="맑은 고딕"/>
                  <a:ea typeface="맑은 고딕"/>
                </a:rPr>
                <a:t>상태 저장</a:t>
              </a:r>
              <a:endParaRPr sz="900" b="0" i="0" dirty="0">
                <a:solidFill>
                  <a:srgbClr val="80808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76" name="C2 freshness note">
              <a:extLst>
                <a:ext uri="{FF2B5EF4-FFF2-40B4-BE49-F238E27FC236}">
                  <a16:creationId xmlns:a16="http://schemas.microsoft.com/office/drawing/2014/main" id="{1BC6499B-FF93-4BF7-AC46-B40964266EDA}"/>
                </a:ext>
              </a:extLst>
            </p:cNvPr>
            <p:cNvSpPr txBox="1"/>
            <p:nvPr/>
          </p:nvSpPr>
          <p:spPr>
            <a:xfrm>
              <a:off x="10720148" y="3720694"/>
              <a:ext cx="493326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If match </a:t>
              </a:r>
              <a:endParaRPr sz="900" b="0" i="0" dirty="0">
                <a:solidFill>
                  <a:srgbClr val="80808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78" name="Rectangle 72">
              <a:extLst>
                <a:ext uri="{FF2B5EF4-FFF2-40B4-BE49-F238E27FC236}">
                  <a16:creationId xmlns:a16="http://schemas.microsoft.com/office/drawing/2014/main" id="{B1580EF9-18C1-4398-A6A7-79BDE5FB0E99}"/>
                </a:ext>
              </a:extLst>
            </p:cNvPr>
            <p:cNvSpPr/>
            <p:nvPr/>
          </p:nvSpPr>
          <p:spPr>
            <a:xfrm>
              <a:off x="6783687" y="1980022"/>
              <a:ext cx="687999" cy="29260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BF8F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95000"/>
                </a:lnSpc>
              </a:pPr>
              <a:r>
                <a:rPr lang="ko-KR" altLang="en-US" sz="900" b="1" dirty="0">
                  <a:solidFill>
                    <a:schemeClr val="tx1"/>
                  </a:solidFill>
                  <a:latin typeface="맑은 고딕"/>
                  <a:ea typeface="맑은 고딕"/>
                </a:rPr>
                <a:t>②</a:t>
              </a:r>
              <a:r>
                <a:rPr sz="900" b="1" i="0" dirty="0">
                  <a:solidFill>
                    <a:schemeClr val="tx1"/>
                  </a:solidFill>
                  <a:latin typeface="맑은 고딕"/>
                  <a:ea typeface="맑은 고딕"/>
                </a:rPr>
                <a:t> </a:t>
              </a:r>
              <a:r>
                <a:rPr lang="en-US" sz="900" b="1" i="0" dirty="0">
                  <a:solidFill>
                    <a:schemeClr val="tx1"/>
                  </a:solidFill>
                  <a:latin typeface="맑은 고딕"/>
                  <a:ea typeface="맑은 고딕"/>
                </a:rPr>
                <a:t>Plan age </a:t>
              </a:r>
              <a:r>
                <a:rPr lang="ko-KR" altLang="en-US" sz="900" b="1" i="0" dirty="0">
                  <a:solidFill>
                    <a:schemeClr val="tx1"/>
                  </a:solidFill>
                  <a:latin typeface="맑은 고딕"/>
                  <a:ea typeface="맑은 고딕"/>
                </a:rPr>
                <a:t>조절</a:t>
              </a:r>
              <a:endParaRPr sz="900" b="1" i="0" dirty="0">
                <a:solidFill>
                  <a:schemeClr val="tx1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179" name="Connector 73">
              <a:extLst>
                <a:ext uri="{FF2B5EF4-FFF2-40B4-BE49-F238E27FC236}">
                  <a16:creationId xmlns:a16="http://schemas.microsoft.com/office/drawing/2014/main" id="{36B8346B-263D-4054-9586-665ED38BBD97}"/>
                </a:ext>
              </a:extLst>
            </p:cNvPr>
            <p:cNvCxnSpPr>
              <a:cxnSpLocks/>
              <a:stCxn id="178" idx="3"/>
            </p:cNvCxnSpPr>
            <p:nvPr/>
          </p:nvCxnSpPr>
          <p:spPr>
            <a:xfrm>
              <a:off x="7471686" y="2126327"/>
              <a:ext cx="249313" cy="0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3836ECBB-F50B-4462-AF0B-785DCB30583C}"/>
                </a:ext>
              </a:extLst>
            </p:cNvPr>
            <p:cNvSpPr txBox="1"/>
            <p:nvPr/>
          </p:nvSpPr>
          <p:spPr>
            <a:xfrm>
              <a:off x="8012029" y="2236805"/>
              <a:ext cx="1704411" cy="1292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>
                <a:lnSpc>
                  <a:spcPct val="105000"/>
                </a:lnSpc>
              </a:pPr>
              <a:r>
                <a:rPr lang="en-US" altLang="ko-KR" sz="800" dirty="0">
                  <a:solidFill>
                    <a:srgbClr val="FF0000"/>
                  </a:solidFill>
                  <a:ea typeface="맑은 고딕"/>
                </a:rPr>
                <a:t>plan age ≤ W × </a:t>
              </a:r>
              <a:r>
                <a:rPr lang="ko-KR" altLang="en-US" sz="800" dirty="0">
                  <a:solidFill>
                    <a:srgbClr val="FF0000"/>
                  </a:solidFill>
                  <a:ea typeface="맑은 고딕"/>
                </a:rPr>
                <a:t>평균 </a:t>
              </a:r>
              <a:r>
                <a:rPr lang="ko-KR" altLang="en-US" sz="800" dirty="0" err="1">
                  <a:solidFill>
                    <a:srgbClr val="FF0000"/>
                  </a:solidFill>
                  <a:ea typeface="맑은 고딕"/>
                </a:rPr>
                <a:t>서비스시간</a:t>
              </a:r>
              <a:endParaRPr sz="650" b="0" i="0" dirty="0">
                <a:solidFill>
                  <a:srgbClr val="FF000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81" name="Rectangle 90">
              <a:extLst>
                <a:ext uri="{FF2B5EF4-FFF2-40B4-BE49-F238E27FC236}">
                  <a16:creationId xmlns:a16="http://schemas.microsoft.com/office/drawing/2014/main" id="{393AF082-229B-4EA1-B973-529F7E5939CD}"/>
                </a:ext>
              </a:extLst>
            </p:cNvPr>
            <p:cNvSpPr/>
            <p:nvPr/>
          </p:nvSpPr>
          <p:spPr>
            <a:xfrm>
              <a:off x="7397563" y="4243058"/>
              <a:ext cx="2194560" cy="26298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5482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altLang="en-US" sz="900" b="1" dirty="0">
                  <a:solidFill>
                    <a:schemeClr val="tx1"/>
                  </a:solidFill>
                  <a:latin typeface="맑은 고딕"/>
                  <a:ea typeface="맑은 고딕"/>
                </a:rPr>
                <a:t>③</a:t>
              </a:r>
              <a:r>
                <a:rPr sz="900" b="1" i="0" dirty="0">
                  <a:solidFill>
                    <a:schemeClr val="tx1"/>
                  </a:solidFill>
                  <a:latin typeface="맑은 고딕"/>
                  <a:ea typeface="맑은 고딕"/>
                </a:rPr>
                <a:t> </a:t>
              </a:r>
              <a:r>
                <a:rPr lang="en-US" sz="900" b="1" dirty="0">
                  <a:solidFill>
                    <a:schemeClr val="tx1"/>
                  </a:solidFill>
                  <a:latin typeface="맑은 고딕"/>
                  <a:ea typeface="맑은 고딕"/>
                </a:rPr>
                <a:t>Load</a:t>
              </a:r>
              <a:r>
                <a:rPr lang="ko-KR" altLang="en-US" sz="900" b="1" dirty="0">
                  <a:solidFill>
                    <a:schemeClr val="tx1"/>
                  </a:solidFill>
                  <a:latin typeface="맑은 고딕"/>
                  <a:ea typeface="맑은 고딕"/>
                </a:rPr>
                <a:t>에 따라 </a:t>
              </a:r>
              <a:r>
                <a:rPr lang="en-US" altLang="ko-KR" sz="900" b="1" dirty="0">
                  <a:solidFill>
                    <a:schemeClr val="tx1"/>
                  </a:solidFill>
                  <a:latin typeface="맑은 고딕"/>
                  <a:ea typeface="맑은 고딕"/>
                </a:rPr>
                <a:t>plan age, </a:t>
              </a:r>
              <a:r>
                <a:rPr lang="ko-KR" altLang="en-US" sz="900" b="1" dirty="0">
                  <a:solidFill>
                    <a:schemeClr val="tx1"/>
                  </a:solidFill>
                  <a:latin typeface="맑은 고딕"/>
                  <a:ea typeface="맑은 고딕"/>
                </a:rPr>
                <a:t>구간 조절</a:t>
              </a:r>
              <a:endParaRPr sz="900" b="1" i="0" dirty="0">
                <a:solidFill>
                  <a:schemeClr val="tx1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182" name="Connector 91">
              <a:extLst>
                <a:ext uri="{FF2B5EF4-FFF2-40B4-BE49-F238E27FC236}">
                  <a16:creationId xmlns:a16="http://schemas.microsoft.com/office/drawing/2014/main" id="{CA4C1222-DD39-4CB4-9CC3-03ED0A73CB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6343" y="3586363"/>
              <a:ext cx="0" cy="660487"/>
            </a:xfrm>
            <a:prstGeom prst="line">
              <a:avLst/>
            </a:prstGeom>
            <a:ln w="12700">
              <a:solidFill>
                <a:schemeClr val="accent6">
                  <a:lumMod val="75000"/>
                </a:schemeClr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Rectangle 99">
              <a:extLst>
                <a:ext uri="{FF2B5EF4-FFF2-40B4-BE49-F238E27FC236}">
                  <a16:creationId xmlns:a16="http://schemas.microsoft.com/office/drawing/2014/main" id="{DEC58700-628A-46D6-8DB4-59853C5D7B6E}"/>
                </a:ext>
              </a:extLst>
            </p:cNvPr>
            <p:cNvSpPr/>
            <p:nvPr/>
          </p:nvSpPr>
          <p:spPr>
            <a:xfrm>
              <a:off x="9840834" y="2926911"/>
              <a:ext cx="1493409" cy="54391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50000"/>
                </a:lnSpc>
              </a:pPr>
              <a:r>
                <a:rPr sz="800" b="1" i="0" dirty="0">
                  <a:solidFill>
                    <a:srgbClr val="404040"/>
                  </a:solidFill>
                  <a:latin typeface="맑은 고딕"/>
                  <a:ea typeface="맑은 고딕"/>
                </a:rPr>
                <a:t>① </a:t>
              </a:r>
              <a:r>
                <a:rPr lang="en-US" sz="800" b="1" i="0" dirty="0">
                  <a:solidFill>
                    <a:srgbClr val="404040"/>
                  </a:solidFill>
                  <a:latin typeface="맑은 고딕"/>
                  <a:ea typeface="맑은 고딕"/>
                </a:rPr>
                <a:t>Mismatch </a:t>
              </a:r>
              <a:r>
                <a:rPr lang="ko-KR" altLang="en-US" sz="800" b="1" i="0" dirty="0">
                  <a:solidFill>
                    <a:srgbClr val="404040"/>
                  </a:solidFill>
                  <a:latin typeface="맑은 고딕"/>
                  <a:ea typeface="맑은 고딕"/>
                </a:rPr>
                <a:t>시 구간</a:t>
              </a:r>
              <a:r>
                <a:rPr lang="en-US" altLang="ko-KR" sz="800" b="1" i="0" dirty="0">
                  <a:solidFill>
                    <a:srgbClr val="404040"/>
                  </a:solidFill>
                  <a:latin typeface="맑은 고딕"/>
                  <a:ea typeface="맑은 고딕"/>
                </a:rPr>
                <a:t>(</a:t>
              </a:r>
              <a:r>
                <a:rPr lang="en-US" altLang="ko-KR"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k)</a:t>
              </a:r>
              <a:r>
                <a:rPr lang="ko-KR" altLang="en-US" sz="800" b="1" i="0" dirty="0">
                  <a:solidFill>
                    <a:srgbClr val="404040"/>
                  </a:solidFill>
                  <a:latin typeface="맑은 고딕"/>
                  <a:ea typeface="맑은 고딕"/>
                </a:rPr>
                <a:t> 조회</a:t>
              </a:r>
              <a:endParaRPr lang="en-US" altLang="ko-KR" sz="800" b="1" dirty="0">
                <a:solidFill>
                  <a:srgbClr val="404040"/>
                </a:solidFill>
                <a:latin typeface="맑은 고딕"/>
                <a:ea typeface="맑은 고딕"/>
              </a:endParaRPr>
            </a:p>
            <a:p>
              <a:pPr algn="ctr">
                <a:lnSpc>
                  <a:spcPct val="150000"/>
                </a:lnSpc>
              </a:pPr>
              <a:r>
                <a:rPr lang="en-US" altLang="ko-KR"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1</a:t>
              </a:r>
              <a:r>
                <a:rPr lang="ko-KR" altLang="en-US"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순위 </a:t>
              </a:r>
              <a:r>
                <a:rPr lang="en-US" altLang="ko-KR"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fail → 2</a:t>
              </a:r>
              <a:r>
                <a:rPr lang="ko-KR" altLang="en-US"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순위 선택</a:t>
              </a:r>
            </a:p>
          </p:txBody>
        </p:sp>
        <p:sp>
          <p:nvSpPr>
            <p:cNvPr id="184" name="Rectangle 99">
              <a:extLst>
                <a:ext uri="{FF2B5EF4-FFF2-40B4-BE49-F238E27FC236}">
                  <a16:creationId xmlns:a16="http://schemas.microsoft.com/office/drawing/2014/main" id="{AC7EA8DB-BC4B-4D91-B691-7CA48A2BFA88}"/>
                </a:ext>
              </a:extLst>
            </p:cNvPr>
            <p:cNvSpPr/>
            <p:nvPr/>
          </p:nvSpPr>
          <p:spPr>
            <a:xfrm>
              <a:off x="7705229" y="3373532"/>
              <a:ext cx="973633" cy="16799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Plan </a:t>
              </a:r>
              <a:r>
                <a:rPr lang="ko-KR" altLang="en-US" sz="800" b="1" dirty="0">
                  <a:solidFill>
                    <a:srgbClr val="404040"/>
                  </a:solidFill>
                  <a:latin typeface="맑은 고딕"/>
                  <a:ea typeface="맑은 고딕"/>
                </a:rPr>
                <a:t>구간 가변</a:t>
              </a:r>
            </a:p>
          </p:txBody>
        </p: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010BE734-ED4C-4304-B91C-30745AE9AA7F}"/>
                </a:ext>
              </a:extLst>
            </p:cNvPr>
            <p:cNvGrpSpPr/>
            <p:nvPr/>
          </p:nvGrpSpPr>
          <p:grpSpPr>
            <a:xfrm>
              <a:off x="11288365" y="4027657"/>
              <a:ext cx="732341" cy="488318"/>
              <a:chOff x="11056831" y="3583489"/>
              <a:chExt cx="886133" cy="488318"/>
            </a:xfrm>
          </p:grpSpPr>
          <p:sp>
            <p:nvSpPr>
              <p:cNvPr id="189" name="KV Cache Manager">
                <a:extLst>
                  <a:ext uri="{FF2B5EF4-FFF2-40B4-BE49-F238E27FC236}">
                    <a16:creationId xmlns:a16="http://schemas.microsoft.com/office/drawing/2014/main" id="{7193BC83-981B-478E-BB00-B0CCD220C611}"/>
                  </a:ext>
                </a:extLst>
              </p:cNvPr>
              <p:cNvSpPr/>
              <p:nvPr/>
            </p:nvSpPr>
            <p:spPr>
              <a:xfrm>
                <a:off x="11126972" y="3816949"/>
                <a:ext cx="784423" cy="194036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18000" rIns="36000" bIns="18000" rtlCol="0" anchor="ctr">
                <a:noAutofit/>
              </a:bodyPr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QA2 </a:t>
                </a:r>
                <a:r>
                  <a:rPr lang="ko-KR" altLang="en-US" sz="800" b="1" dirty="0">
                    <a:solidFill>
                      <a:schemeClr val="tx1"/>
                    </a:solidFill>
                  </a:rPr>
                  <a:t>보완</a:t>
                </a:r>
                <a:endParaRPr lang="en-US" altLang="ko-KR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0" name="직사각형 189">
                <a:extLst>
                  <a:ext uri="{FF2B5EF4-FFF2-40B4-BE49-F238E27FC236}">
                    <a16:creationId xmlns:a16="http://schemas.microsoft.com/office/drawing/2014/main" id="{C84C114C-72C6-4726-8195-A62CCA108A92}"/>
                  </a:ext>
                </a:extLst>
              </p:cNvPr>
              <p:cNvSpPr/>
              <p:nvPr/>
            </p:nvSpPr>
            <p:spPr>
              <a:xfrm>
                <a:off x="11056831" y="3583489"/>
                <a:ext cx="886133" cy="488318"/>
              </a:xfrm>
              <a:prstGeom prst="rect">
                <a:avLst/>
              </a:prstGeom>
              <a:noFill/>
              <a:ln w="19050"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Legend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97" name="직선 연결선 196"/>
            <p:cNvCxnSpPr/>
            <p:nvPr/>
          </p:nvCxnSpPr>
          <p:spPr>
            <a:xfrm>
              <a:off x="9628991" y="1977996"/>
              <a:ext cx="0" cy="2536897"/>
            </a:xfrm>
            <a:prstGeom prst="line">
              <a:avLst/>
            </a:prstGeom>
            <a:noFill/>
            <a:ln w="12700">
              <a:solidFill>
                <a:srgbClr val="C76E31"/>
              </a:solidFill>
              <a:prstDash val="dash"/>
            </a:ln>
          </p:spPr>
        </p:cxnSp>
      </p:grpSp>
      <p:grpSp>
        <p:nvGrpSpPr>
          <p:cNvPr id="4" name="그룹 3"/>
          <p:cNvGrpSpPr/>
          <p:nvPr/>
        </p:nvGrpSpPr>
        <p:grpSpPr>
          <a:xfrm>
            <a:off x="1513665" y="1714715"/>
            <a:ext cx="4266747" cy="2485293"/>
            <a:chOff x="1422351" y="1800000"/>
            <a:chExt cx="4693422" cy="2733822"/>
          </a:xfrm>
        </p:grpSpPr>
        <p:sp>
          <p:nvSpPr>
            <p:cNvPr id="112" name="Shape 31">
              <a:extLst>
                <a:ext uri="{FF2B5EF4-FFF2-40B4-BE49-F238E27FC236}">
                  <a16:creationId xmlns:a16="http://schemas.microsoft.com/office/drawing/2014/main" id="{823D7D32-6771-4AA4-9581-77C6BEA03C53}"/>
                </a:ext>
              </a:extLst>
            </p:cNvPr>
            <p:cNvSpPr/>
            <p:nvPr/>
          </p:nvSpPr>
          <p:spPr>
            <a:xfrm>
              <a:off x="2862635" y="1853692"/>
              <a:ext cx="1411795" cy="2926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Scheduler</a:t>
              </a:r>
              <a:endParaRPr lang="ko-KR" altLang="en-US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cxnSp>
          <p:nvCxnSpPr>
            <p:cNvPr id="193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12" idx="2"/>
              <a:endCxn id="144" idx="0"/>
            </p:cNvCxnSpPr>
            <p:nvPr/>
          </p:nvCxnSpPr>
          <p:spPr>
            <a:xfrm>
              <a:off x="3568533" y="2146299"/>
              <a:ext cx="1889" cy="289506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124" name="Shape 31">
              <a:extLst>
                <a:ext uri="{FF2B5EF4-FFF2-40B4-BE49-F238E27FC236}">
                  <a16:creationId xmlns:a16="http://schemas.microsoft.com/office/drawing/2014/main" id="{823D7D32-6771-4AA4-9581-77C6BEA03C53}"/>
                </a:ext>
              </a:extLst>
            </p:cNvPr>
            <p:cNvSpPr/>
            <p:nvPr/>
          </p:nvSpPr>
          <p:spPr>
            <a:xfrm>
              <a:off x="2394012" y="4212297"/>
              <a:ext cx="795864" cy="32152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CPU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25" name="Shape 31">
              <a:extLst>
                <a:ext uri="{FF2B5EF4-FFF2-40B4-BE49-F238E27FC236}">
                  <a16:creationId xmlns:a16="http://schemas.microsoft.com/office/drawing/2014/main" id="{823D7D32-6771-4AA4-9581-77C6BEA03C53}"/>
                </a:ext>
              </a:extLst>
            </p:cNvPr>
            <p:cNvSpPr/>
            <p:nvPr/>
          </p:nvSpPr>
          <p:spPr>
            <a:xfrm>
              <a:off x="1434016" y="4212297"/>
              <a:ext cx="795864" cy="32152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GPU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26" name="Shape 31">
              <a:extLst>
                <a:ext uri="{FF2B5EF4-FFF2-40B4-BE49-F238E27FC236}">
                  <a16:creationId xmlns:a16="http://schemas.microsoft.com/office/drawing/2014/main" id="{823D7D32-6771-4AA4-9581-77C6BEA03C53}"/>
                </a:ext>
              </a:extLst>
            </p:cNvPr>
            <p:cNvSpPr/>
            <p:nvPr/>
          </p:nvSpPr>
          <p:spPr>
            <a:xfrm>
              <a:off x="3337592" y="4212297"/>
              <a:ext cx="875450" cy="321525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CXL-PNM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128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51" idx="2"/>
              <a:endCxn id="125" idx="0"/>
            </p:cNvCxnSpPr>
            <p:nvPr/>
          </p:nvCxnSpPr>
          <p:spPr>
            <a:xfrm rot="5400000">
              <a:off x="2567161" y="3209036"/>
              <a:ext cx="268048" cy="1738474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33" name="직선 화살표 연결선 185">
              <a:extLst>
                <a:ext uri="{FF2B5EF4-FFF2-40B4-BE49-F238E27FC236}">
                  <a16:creationId xmlns:a16="http://schemas.microsoft.com/office/drawing/2014/main" id="{D76D373A-AD73-4958-8644-743AF962871F}"/>
                </a:ext>
              </a:extLst>
            </p:cNvPr>
            <p:cNvCxnSpPr>
              <a:cxnSpLocks/>
              <a:stCxn id="151" idx="2"/>
              <a:endCxn id="126" idx="0"/>
            </p:cNvCxnSpPr>
            <p:nvPr/>
          </p:nvCxnSpPr>
          <p:spPr>
            <a:xfrm rot="16200000" flipH="1">
              <a:off x="3538845" y="3975825"/>
              <a:ext cx="268048" cy="204895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77" name="TextBox 76"/>
            <p:cNvSpPr txBox="1"/>
            <p:nvPr/>
          </p:nvSpPr>
          <p:spPr>
            <a:xfrm>
              <a:off x="4482797" y="3231336"/>
              <a:ext cx="1600000" cy="2769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Cost </a:t>
              </a:r>
              <a:r>
                <a:rPr lang="ko-KR" alt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계산이</a:t>
              </a:r>
            </a:p>
            <a:p>
              <a:pPr algn="l">
                <a:lnSpc>
                  <a:spcPct val="100000"/>
                </a:lnSpc>
              </a:pPr>
              <a:r>
                <a:rPr lang="en-US" altLang="ko-KR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critical path  </a:t>
              </a:r>
              <a:r>
                <a:rPr lang="ko-KR" altLang="en-US" sz="9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내부</a:t>
              </a:r>
            </a:p>
          </p:txBody>
        </p:sp>
        <p:sp>
          <p:nvSpPr>
            <p:cNvPr id="136" name="Shape 37">
              <a:extLst>
                <a:ext uri="{FF2B5EF4-FFF2-40B4-BE49-F238E27FC236}">
                  <a16:creationId xmlns:a16="http://schemas.microsoft.com/office/drawing/2014/main" id="{7F2072DD-19B6-48CA-BD3D-876E8DDC9C60}"/>
                </a:ext>
              </a:extLst>
            </p:cNvPr>
            <p:cNvSpPr/>
            <p:nvPr/>
          </p:nvSpPr>
          <p:spPr>
            <a:xfrm>
              <a:off x="4737207" y="2129473"/>
              <a:ext cx="1262736" cy="32692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KV State Monitor</a:t>
              </a:r>
            </a:p>
          </p:txBody>
        </p:sp>
        <p:cxnSp>
          <p:nvCxnSpPr>
            <p:cNvPr id="143" name="직선 화살표 연결선 185">
              <a:extLst>
                <a:ext uri="{FF2B5EF4-FFF2-40B4-BE49-F238E27FC236}">
                  <a16:creationId xmlns:a16="http://schemas.microsoft.com/office/drawing/2014/main" id="{BA0CBBE8-3F10-4B7D-B934-710047CDD61C}"/>
                </a:ext>
              </a:extLst>
            </p:cNvPr>
            <p:cNvCxnSpPr>
              <a:cxnSpLocks/>
              <a:stCxn id="144" idx="3"/>
              <a:endCxn id="136" idx="1"/>
            </p:cNvCxnSpPr>
            <p:nvPr/>
          </p:nvCxnSpPr>
          <p:spPr>
            <a:xfrm flipV="1">
              <a:off x="4324906" y="2292936"/>
              <a:ext cx="412301" cy="322679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144" name="Shape 37">
              <a:extLst>
                <a:ext uri="{FF2B5EF4-FFF2-40B4-BE49-F238E27FC236}">
                  <a16:creationId xmlns:a16="http://schemas.microsoft.com/office/drawing/2014/main" id="{70E92FE8-4878-4154-BB88-F90E93B7B850}"/>
                </a:ext>
              </a:extLst>
            </p:cNvPr>
            <p:cNvSpPr/>
            <p:nvPr/>
          </p:nvSpPr>
          <p:spPr>
            <a:xfrm>
              <a:off x="2815938" y="2435805"/>
              <a:ext cx="1508968" cy="3596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Execution Planner</a:t>
              </a:r>
            </a:p>
            <a:p>
              <a:pPr algn="ctr"/>
              <a:r>
                <a:rPr lang="en-US" altLang="ko-KR" sz="900" b="1" dirty="0">
                  <a:solidFill>
                    <a:srgbClr val="FF0000"/>
                  </a:solidFill>
                </a:rPr>
                <a:t>(Plan)</a:t>
              </a:r>
            </a:p>
          </p:txBody>
        </p:sp>
        <p:sp>
          <p:nvSpPr>
            <p:cNvPr id="145" name="Shape 37">
              <a:extLst>
                <a:ext uri="{FF2B5EF4-FFF2-40B4-BE49-F238E27FC236}">
                  <a16:creationId xmlns:a16="http://schemas.microsoft.com/office/drawing/2014/main" id="{7EA846FB-2BF9-4A17-B933-665E6BCC5A1E}"/>
                </a:ext>
              </a:extLst>
            </p:cNvPr>
            <p:cNvSpPr/>
            <p:nvPr/>
          </p:nvSpPr>
          <p:spPr>
            <a:xfrm>
              <a:off x="4737207" y="2582530"/>
              <a:ext cx="1262736" cy="32692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Resource State</a:t>
              </a:r>
            </a:p>
            <a:p>
              <a:pPr algn="ctr"/>
              <a:r>
                <a:rPr lang="en-US" altLang="ko-KR" sz="100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Monitor</a:t>
              </a:r>
              <a:endParaRPr lang="en-US" altLang="ko-KR" sz="1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endParaRPr>
            </a:p>
          </p:txBody>
        </p:sp>
        <p:cxnSp>
          <p:nvCxnSpPr>
            <p:cNvPr id="146" name="직선 화살표 연결선 185">
              <a:extLst>
                <a:ext uri="{FF2B5EF4-FFF2-40B4-BE49-F238E27FC236}">
                  <a16:creationId xmlns:a16="http://schemas.microsoft.com/office/drawing/2014/main" id="{866738E6-B5E2-485B-BCC3-7AB7D686059C}"/>
                </a:ext>
              </a:extLst>
            </p:cNvPr>
            <p:cNvCxnSpPr>
              <a:cxnSpLocks/>
              <a:stCxn id="144" idx="3"/>
              <a:endCxn id="145" idx="1"/>
            </p:cNvCxnSpPr>
            <p:nvPr/>
          </p:nvCxnSpPr>
          <p:spPr>
            <a:xfrm>
              <a:off x="4324906" y="2615615"/>
              <a:ext cx="412301" cy="130378"/>
            </a:xfrm>
            <a:prstGeom prst="bent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149" name="Shape 37">
              <a:extLst>
                <a:ext uri="{FF2B5EF4-FFF2-40B4-BE49-F238E27FC236}">
                  <a16:creationId xmlns:a16="http://schemas.microsoft.com/office/drawing/2014/main" id="{D29B8A49-AE77-46A5-BF3C-C5FFF88BE9D4}"/>
                </a:ext>
              </a:extLst>
            </p:cNvPr>
            <p:cNvSpPr/>
            <p:nvPr/>
          </p:nvSpPr>
          <p:spPr>
            <a:xfrm>
              <a:off x="2815938" y="3112583"/>
              <a:ext cx="1508968" cy="29720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Cost Evaluator</a:t>
              </a:r>
              <a:endParaRPr lang="en-US" altLang="ko-KR" sz="1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cxnSp>
          <p:nvCxnSpPr>
            <p:cNvPr id="150" name="직선 화살표 연결선 185">
              <a:extLst>
                <a:ext uri="{FF2B5EF4-FFF2-40B4-BE49-F238E27FC236}">
                  <a16:creationId xmlns:a16="http://schemas.microsoft.com/office/drawing/2014/main" id="{EFEBEDC4-80EE-4735-B71E-6C1DFDD6FCDC}"/>
                </a:ext>
              </a:extLst>
            </p:cNvPr>
            <p:cNvCxnSpPr>
              <a:cxnSpLocks/>
              <a:stCxn id="144" idx="2"/>
              <a:endCxn id="149" idx="0"/>
            </p:cNvCxnSpPr>
            <p:nvPr/>
          </p:nvCxnSpPr>
          <p:spPr>
            <a:xfrm>
              <a:off x="3570422" y="2795424"/>
              <a:ext cx="0" cy="31715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151" name="Shape 37">
              <a:extLst>
                <a:ext uri="{FF2B5EF4-FFF2-40B4-BE49-F238E27FC236}">
                  <a16:creationId xmlns:a16="http://schemas.microsoft.com/office/drawing/2014/main" id="{1AFCAFB9-F8C0-41A8-8E3E-3B7ACC234BE6}"/>
                </a:ext>
              </a:extLst>
            </p:cNvPr>
            <p:cNvSpPr/>
            <p:nvPr/>
          </p:nvSpPr>
          <p:spPr>
            <a:xfrm>
              <a:off x="2815938" y="3584630"/>
              <a:ext cx="1508968" cy="35961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  <a:prstDash val="solid"/>
            </a:ln>
          </p:spPr>
          <p:txBody>
            <a:bodyPr anchor="ctr"/>
            <a:lstStyle/>
            <a:p>
              <a:pPr algn="ctr"/>
              <a:r>
                <a:rPr lang="en-US" altLang="ko-KR" sz="1000" b="1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Execution Router</a:t>
              </a:r>
            </a:p>
            <a:p>
              <a:pPr algn="ctr"/>
              <a:r>
                <a:rPr lang="en-US" altLang="ko-KR" sz="900" b="1" dirty="0">
                  <a:solidFill>
                    <a:srgbClr val="FF0000"/>
                  </a:solidFill>
                  <a:latin typeface="Malgun Gothic" pitchFamily="34" charset="0"/>
                  <a:ea typeface="Malgun Gothic" pitchFamily="34" charset="-122"/>
                </a:rPr>
                <a:t>(Decision)</a:t>
              </a:r>
            </a:p>
          </p:txBody>
        </p:sp>
        <p:cxnSp>
          <p:nvCxnSpPr>
            <p:cNvPr id="152" name="직선 화살표 연결선 185">
              <a:extLst>
                <a:ext uri="{FF2B5EF4-FFF2-40B4-BE49-F238E27FC236}">
                  <a16:creationId xmlns:a16="http://schemas.microsoft.com/office/drawing/2014/main" id="{A5D1AF10-B4E4-4F84-8D33-8BACD09A70C2}"/>
                </a:ext>
              </a:extLst>
            </p:cNvPr>
            <p:cNvCxnSpPr>
              <a:cxnSpLocks/>
              <a:stCxn id="149" idx="2"/>
              <a:endCxn id="151" idx="0"/>
            </p:cNvCxnSpPr>
            <p:nvPr/>
          </p:nvCxnSpPr>
          <p:spPr>
            <a:xfrm>
              <a:off x="3570422" y="3409788"/>
              <a:ext cx="0" cy="174842"/>
            </a:xfrm>
            <a:prstGeom prst="straightConnector1">
              <a:avLst/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cxnSp>
          <p:nvCxnSpPr>
            <p:cNvPr id="153" name="직선 화살표 연결선 185">
              <a:extLst>
                <a:ext uri="{FF2B5EF4-FFF2-40B4-BE49-F238E27FC236}">
                  <a16:creationId xmlns:a16="http://schemas.microsoft.com/office/drawing/2014/main" id="{667011A0-7D9C-4D04-BD0D-206D0F921C23}"/>
                </a:ext>
              </a:extLst>
            </p:cNvPr>
            <p:cNvCxnSpPr>
              <a:cxnSpLocks/>
              <a:stCxn id="151" idx="2"/>
              <a:endCxn id="124" idx="0"/>
            </p:cNvCxnSpPr>
            <p:nvPr/>
          </p:nvCxnSpPr>
          <p:spPr>
            <a:xfrm rot="5400000">
              <a:off x="3047159" y="3689034"/>
              <a:ext cx="268048" cy="778478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solid"/>
              <a:headEnd type="none"/>
              <a:tailEnd type="triangle"/>
            </a:ln>
          </p:spPr>
        </p:cxnSp>
        <p:sp>
          <p:nvSpPr>
            <p:cNvPr id="155" name="Shape 31">
              <a:extLst>
                <a:ext uri="{FF2B5EF4-FFF2-40B4-BE49-F238E27FC236}">
                  <a16:creationId xmlns:a16="http://schemas.microsoft.com/office/drawing/2014/main" id="{C0494BB5-740B-474B-8EDE-7DEE62853B08}"/>
                </a:ext>
              </a:extLst>
            </p:cNvPr>
            <p:cNvSpPr/>
            <p:nvPr/>
          </p:nvSpPr>
          <p:spPr>
            <a:xfrm>
              <a:off x="4393753" y="4212297"/>
              <a:ext cx="875450" cy="321525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dirty="0">
                  <a:solidFill>
                    <a:schemeClr val="bg1"/>
                  </a:solidFill>
                </a:rPr>
                <a:t>New Device Worker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cxnSp>
          <p:nvCxnSpPr>
            <p:cNvPr id="157" name="직선 화살표 연결선 185">
              <a:extLst>
                <a:ext uri="{FF2B5EF4-FFF2-40B4-BE49-F238E27FC236}">
                  <a16:creationId xmlns:a16="http://schemas.microsoft.com/office/drawing/2014/main" id="{D2EDFE24-B445-4346-8805-83EFFC8CB053}"/>
                </a:ext>
              </a:extLst>
            </p:cNvPr>
            <p:cNvCxnSpPr>
              <a:cxnSpLocks/>
              <a:stCxn id="151" idx="2"/>
              <a:endCxn id="155" idx="0"/>
            </p:cNvCxnSpPr>
            <p:nvPr/>
          </p:nvCxnSpPr>
          <p:spPr>
            <a:xfrm rot="16200000" flipH="1">
              <a:off x="4066926" y="3447745"/>
              <a:ext cx="268048" cy="1261056"/>
            </a:xfrm>
            <a:prstGeom prst="bentConnector3">
              <a:avLst>
                <a:gd name="adj1" fmla="val 50000"/>
              </a:avLst>
            </a:prstGeom>
            <a:noFill/>
            <a:ln w="11430">
              <a:solidFill>
                <a:srgbClr val="888C91"/>
              </a:solidFill>
              <a:prstDash val="dash"/>
              <a:headEnd type="none"/>
              <a:tailEnd type="triangle"/>
            </a:ln>
          </p:spPr>
        </p:cxnSp>
        <p:sp>
          <p:nvSpPr>
            <p:cNvPr id="1271" name="C1 Critical path boundary"/>
            <p:cNvSpPr/>
            <p:nvPr/>
          </p:nvSpPr>
          <p:spPr>
            <a:xfrm>
              <a:off x="2695773" y="1800000"/>
              <a:ext cx="3420000" cy="2185000"/>
            </a:xfrm>
            <a:prstGeom prst="rect">
              <a:avLst/>
            </a:prstGeom>
            <a:noFill/>
            <a:ln w="12700">
              <a:solidFill>
                <a:srgbClr val="C76E31"/>
              </a:solidFill>
              <a:prstDash val="dash"/>
            </a:ln>
          </p:spPr>
          <p:txBody>
            <a:bodyPr rtlCol="0" anchor="ctr"/>
            <a:lstStyle/>
            <a:p>
              <a:pPr algn="ctr"/>
              <a:endParaRPr lang="en-US" altLang="ko-KR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293" name="C1 Critical path label"/>
            <p:cNvSpPr/>
            <p:nvPr/>
          </p:nvSpPr>
          <p:spPr>
            <a:xfrm>
              <a:off x="4330000" y="1815000"/>
              <a:ext cx="1440000" cy="250000"/>
            </a:xfrm>
            <a:prstGeom prst="rect">
              <a:avLst/>
            </a:prstGeom>
            <a:noFill/>
            <a:ln w="12700">
              <a:noFill/>
              <a:prstDash val="dash"/>
            </a:ln>
          </p:spPr>
          <p:txBody>
            <a:bodyPr rtlCol="0" anchor="ctr"/>
            <a:lstStyle/>
            <a:p>
              <a:pPr algn="ctr"/>
              <a:r>
                <a:rPr lang="en-US" altLang="ko-KR" sz="900" dirty="0">
                  <a:solidFill>
                    <a:srgbClr val="FF0000"/>
                  </a:solidFill>
                </a:rPr>
                <a:t>Plan + Decision</a:t>
              </a:r>
            </a:p>
          </p:txBody>
        </p:sp>
        <p:cxnSp>
          <p:nvCxnSpPr>
            <p:cNvPr id="120" name="직선 화살표 연결선 185">
              <a:extLst>
                <a:ext uri="{FF2B5EF4-FFF2-40B4-BE49-F238E27FC236}">
                  <a16:creationId xmlns:a16="http://schemas.microsoft.com/office/drawing/2014/main" id="{6B405AD3-50C7-4140-923C-39C9EC62E997}"/>
                </a:ext>
              </a:extLst>
            </p:cNvPr>
            <p:cNvCxnSpPr>
              <a:cxnSpLocks/>
              <a:stCxn id="149" idx="1"/>
              <a:endCxn id="123" idx="0"/>
            </p:cNvCxnSpPr>
            <p:nvPr/>
          </p:nvCxnSpPr>
          <p:spPr>
            <a:xfrm rot="10800000" flipV="1">
              <a:off x="1977484" y="3261185"/>
              <a:ext cx="838455" cy="122381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cxnSp>
        <p:sp>
          <p:nvSpPr>
            <p:cNvPr id="123" name="KV Cache Manager">
              <a:extLst>
                <a:ext uri="{FF2B5EF4-FFF2-40B4-BE49-F238E27FC236}">
                  <a16:creationId xmlns:a16="http://schemas.microsoft.com/office/drawing/2014/main" id="{AF50C5FD-82D2-49A4-BB8D-5B9CCB95E6F0}"/>
                </a:ext>
              </a:extLst>
            </p:cNvPr>
            <p:cNvSpPr/>
            <p:nvPr/>
          </p:nvSpPr>
          <p:spPr>
            <a:xfrm>
              <a:off x="1422351" y="3383568"/>
              <a:ext cx="1110263" cy="46576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900" dirty="0">
                  <a:solidFill>
                    <a:schemeClr val="bg1"/>
                  </a:solidFill>
                </a:rPr>
                <a:t>Common Memory Backend Interface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</p:grpSp>
      <p:sp>
        <p:nvSpPr>
          <p:cNvPr id="198" name="모서리가 둥근 직사각형 197"/>
          <p:cNvSpPr/>
          <p:nvPr/>
        </p:nvSpPr>
        <p:spPr>
          <a:xfrm>
            <a:off x="10024136" y="624622"/>
            <a:ext cx="910691" cy="13449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F2 </a:t>
            </a:r>
            <a:r>
              <a:rPr lang="ko-KR" altLang="en-US" sz="700" dirty="0">
                <a:latin typeface="맑은 고딕" panose="020B0503020000020004" pitchFamily="50" charset="-127"/>
              </a:rPr>
              <a:t>추론 스케줄링</a:t>
            </a:r>
          </a:p>
        </p:txBody>
      </p:sp>
      <p:sp>
        <p:nvSpPr>
          <p:cNvPr id="199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8339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</a:rPr>
              <a:t>추론 실행</a:t>
            </a:r>
          </a:p>
        </p:txBody>
      </p:sp>
      <p:sp>
        <p:nvSpPr>
          <p:cNvPr id="200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8617288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201" name="모서리가 둥근 직사각형 37">
            <a:extLst>
              <a:ext uri="{FF2B5EF4-FFF2-40B4-BE49-F238E27FC236}">
                <a16:creationId xmlns:a16="http://schemas.microsoft.com/office/drawing/2014/main" id="{63E127C8-1374-4049-8A7A-84E9B191F365}"/>
              </a:ext>
            </a:extLst>
          </p:cNvPr>
          <p:cNvSpPr/>
          <p:nvPr/>
        </p:nvSpPr>
        <p:spPr>
          <a:xfrm>
            <a:off x="9506874" y="821023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202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0396460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 </a:t>
            </a:r>
          </a:p>
        </p:txBody>
      </p:sp>
      <p:sp>
        <p:nvSpPr>
          <p:cNvPr id="204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7876884" y="619129"/>
            <a:ext cx="1003759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C1 </a:t>
            </a:r>
            <a:r>
              <a:rPr lang="en-US" altLang="ko-KR" sz="700" dirty="0" err="1">
                <a:latin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</a:rPr>
              <a:t>개발 환경</a:t>
            </a:r>
          </a:p>
        </p:txBody>
      </p:sp>
      <p:sp>
        <p:nvSpPr>
          <p:cNvPr id="205" name="모서리가 둥근 직사각형 37">
            <a:extLst>
              <a:ext uri="{FF2B5EF4-FFF2-40B4-BE49-F238E27FC236}">
                <a16:creationId xmlns:a16="http://schemas.microsoft.com/office/drawing/2014/main" id="{849CB062-936D-4F72-BDB2-73AE9FDAA773}"/>
              </a:ext>
            </a:extLst>
          </p:cNvPr>
          <p:cNvSpPr/>
          <p:nvPr/>
        </p:nvSpPr>
        <p:spPr>
          <a:xfrm>
            <a:off x="11209965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Q4 </a:t>
            </a:r>
            <a:r>
              <a:rPr lang="ko-KR" altLang="en-US" sz="700" dirty="0">
                <a:latin typeface="맑은 고딕" panose="020B0503020000020004" pitchFamily="50" charset="-127"/>
              </a:rPr>
              <a:t>확장성</a:t>
            </a:r>
          </a:p>
        </p:txBody>
      </p:sp>
      <p:sp>
        <p:nvSpPr>
          <p:cNvPr id="206" name="모서리가 둥근 직사각형 205"/>
          <p:cNvSpPr/>
          <p:nvPr/>
        </p:nvSpPr>
        <p:spPr>
          <a:xfrm>
            <a:off x="8958662" y="617897"/>
            <a:ext cx="1001760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요청 관리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184584" y="1397170"/>
            <a:ext cx="6263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00"/>
            </a:lvl1pPr>
          </a:lstStyle>
          <a:p>
            <a:r>
              <a:rPr dirty="0"/>
              <a:t>“</a:t>
            </a:r>
            <a:r>
              <a:rPr lang="ko-KR" altLang="en-US" dirty="0"/>
              <a:t>계획의 구간을 확장하고</a:t>
            </a:r>
            <a:r>
              <a:rPr lang="en-US" altLang="ko-KR" dirty="0"/>
              <a:t>, Queue</a:t>
            </a:r>
            <a:r>
              <a:rPr lang="ko-KR" altLang="en-US" dirty="0"/>
              <a:t>의 크기를 보고 계획 시점을 조율</a:t>
            </a:r>
            <a:r>
              <a:rPr lang="en-US" altLang="ko-KR" dirty="0"/>
              <a:t>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56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34949" y="1032440"/>
          <a:ext cx="11759184" cy="53699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415847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282206">
                  <a:extLst>
                    <a:ext uri="{9D8B030D-6E8A-4147-A177-3AD203B41FA5}">
                      <a16:colId xmlns:a16="http://schemas.microsoft.com/office/drawing/2014/main" val="4114062400"/>
                    </a:ext>
                  </a:extLst>
                </a:gridCol>
                <a:gridCol w="427949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1161182">
                  <a:extLst>
                    <a:ext uri="{9D8B030D-6E8A-4147-A177-3AD203B41FA5}">
                      <a16:colId xmlns:a16="http://schemas.microsoft.com/office/drawing/2014/main" val="2026705357"/>
                    </a:ext>
                  </a:extLst>
                </a:gridCol>
              </a:tblGrid>
              <a:tr h="358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(1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Pipe-and-Filter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ko-KR" altLang="en-US" sz="1200" b="1" baseline="0" dirty="0"/>
                        <a:t>구조</a:t>
                      </a:r>
                      <a:r>
                        <a:rPr lang="en-US" altLang="ko-KR" sz="1200" b="1" baseline="0" dirty="0"/>
                        <a:t>: </a:t>
                      </a:r>
                      <a:r>
                        <a:rPr lang="ko-KR" altLang="en-US" sz="1200" b="1" baseline="0" dirty="0" err="1">
                          <a:solidFill>
                            <a:srgbClr val="0066FF"/>
                          </a:solidFill>
                        </a:rPr>
                        <a:t>요청마다</a:t>
                      </a:r>
                      <a:r>
                        <a:rPr lang="ko-KR" altLang="en-US" sz="1200" b="1" baseline="0" dirty="0">
                          <a:solidFill>
                            <a:srgbClr val="0066FF"/>
                          </a:solidFill>
                        </a:rPr>
                        <a:t> 전체 체인 실행</a:t>
                      </a:r>
                      <a:endParaRPr lang="en-US" altLang="ko-KR" sz="1050" b="1" kern="1200" baseline="0" dirty="0">
                        <a:solidFill>
                          <a:srgbClr val="0066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(2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Shared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en-US" altLang="ko-KR" sz="1200" b="1" dirty="0"/>
                        <a:t>Repository </a:t>
                      </a:r>
                      <a:r>
                        <a:rPr lang="ko-KR" altLang="en-US" sz="1200" b="1" dirty="0"/>
                        <a:t>구조</a:t>
                      </a:r>
                      <a:r>
                        <a:rPr lang="en-US" altLang="ko-KR" sz="1200" b="1" dirty="0"/>
                        <a:t>: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ko-KR" altLang="en-US" sz="1200" b="1" baseline="0" dirty="0">
                          <a:solidFill>
                            <a:schemeClr val="accent2"/>
                          </a:solidFill>
                        </a:rPr>
                        <a:t>분석 </a:t>
                      </a:r>
                      <a:r>
                        <a:rPr lang="en-US" altLang="ko-KR" sz="1200" b="1" baseline="0" dirty="0">
                          <a:solidFill>
                            <a:schemeClr val="accent2"/>
                          </a:solidFill>
                        </a:rPr>
                        <a:t>1</a:t>
                      </a:r>
                      <a:r>
                        <a:rPr lang="ko-KR" altLang="en-US" sz="1200" b="1" baseline="0" dirty="0">
                          <a:solidFill>
                            <a:schemeClr val="accent2"/>
                          </a:solidFill>
                        </a:rPr>
                        <a:t>회 </a:t>
                      </a:r>
                      <a:r>
                        <a:rPr lang="en-US" altLang="ko-KR" sz="1200" b="1" baseline="0" dirty="0">
                          <a:solidFill>
                            <a:schemeClr val="accent2"/>
                          </a:solidFill>
                        </a:rPr>
                        <a:t>+ </a:t>
                      </a:r>
                      <a:r>
                        <a:rPr lang="ko-KR" altLang="en-US" sz="1200" b="1" baseline="0" dirty="0" err="1">
                          <a:solidFill>
                            <a:schemeClr val="accent2"/>
                          </a:solidFill>
                        </a:rPr>
                        <a:t>요청마다</a:t>
                      </a:r>
                      <a:r>
                        <a:rPr lang="ko-KR" altLang="en-US" sz="1200" b="1" baseline="0" dirty="0">
                          <a:solidFill>
                            <a:schemeClr val="accent2"/>
                          </a:solidFill>
                        </a:rPr>
                        <a:t> 조회 </a:t>
                      </a:r>
                      <a:endParaRPr lang="ko-KR" altLang="en-US" sz="12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2573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474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입력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에 맞게 재사용할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KV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캐시만 보유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(Q2)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baseline="0" dirty="0">
                          <a:effectLst/>
                        </a:rPr>
                        <a:t>Filter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별 병렬 실행으로 요청 간 경합을 분산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사전에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재계산 위치를 결정하므로 </a:t>
                      </a:r>
                      <a:r>
                        <a:rPr lang="ko-KR" altLang="en-US" sz="1200" b="0" i="0" dirty="0" err="1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서빙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경로 절감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,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처리량 유리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Critical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path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가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SR 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조회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1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회 뿐 </a:t>
                      </a:r>
                      <a:r>
                        <a:rPr lang="ko-KR" altLang="en-US" sz="1200" strike="noStrike" baseline="0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부하가 올라도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tail latency 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평탄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(Q3)</a:t>
                      </a:r>
                      <a:endParaRPr lang="en-US" altLang="ko-KR" sz="1200" b="0" i="0" dirty="0">
                        <a:solidFill>
                          <a:srgbClr val="40404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5724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effectLst/>
                        </a:rPr>
                        <a:t>동일한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의 요청이 들어오는 경우 전체 체인을 재실행하는 중복 계산 발생 우려</a:t>
                      </a:r>
                      <a:r>
                        <a:rPr lang="en-US" altLang="ko-KR" sz="1200" strike="noStrike" baseline="0" dirty="0">
                          <a:effectLst/>
                        </a:rPr>
                        <a:t>,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처리량 불리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(Q1)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effectLst/>
                        </a:rPr>
                        <a:t>고부하 시 체인 지연이 </a:t>
                      </a:r>
                      <a:r>
                        <a:rPr lang="ko-KR" altLang="en-US" sz="1200" strike="noStrike" baseline="0" dirty="0" err="1">
                          <a:effectLst/>
                        </a:rPr>
                        <a:t>큐잉과</a:t>
                      </a:r>
                      <a:r>
                        <a:rPr lang="ko-KR" altLang="en-US" sz="1200" strike="noStrike" baseline="0" dirty="0">
                          <a:effectLst/>
                        </a:rPr>
                        <a:t> 겹쳐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tail latency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발산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재사용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KV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캐시 및 재계산 위치를 사전에 보유 </a:t>
                      </a:r>
                      <a:r>
                        <a:rPr lang="ko-KR" altLang="en-US" sz="1200" strike="noStrike" baseline="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→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메모리 점유 증가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(Q2)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</a:t>
                      </a: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Efficiency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○○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(tokens/second)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Q2. Resource Efficiency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(HBM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사용량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GB)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●●◐</a:t>
                      </a:r>
                      <a:endParaRPr lang="en-US" altLang="ko-KR" sz="1200" strike="noStrike" dirty="0">
                        <a:solidFill>
                          <a:schemeClr val="accent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●●◐</a:t>
                      </a:r>
                      <a:endParaRPr lang="en-US" altLang="ko-KR" sz="1200" strike="noStrike" dirty="0">
                        <a:solidFill>
                          <a:schemeClr val="accent5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DP3. KV </a:t>
            </a:r>
            <a:r>
              <a:rPr lang="ko-KR" altLang="en-US" dirty="0"/>
              <a:t>캐시 재사용 구조 </a:t>
            </a:r>
            <a:r>
              <a:rPr lang="en-US" altLang="ko-KR" dirty="0"/>
              <a:t>– </a:t>
            </a:r>
            <a:r>
              <a:rPr lang="ko-KR" altLang="en-US" dirty="0"/>
              <a:t>설계 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9114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KV </a:t>
            </a:r>
            <a:r>
              <a:rPr lang="ko-KR" altLang="en-US" sz="1400" b="1" dirty="0" err="1">
                <a:solidFill>
                  <a:schemeClr val="bg1"/>
                </a:solidFill>
              </a:rPr>
              <a:t>재사용률을</a:t>
            </a:r>
            <a:r>
              <a:rPr lang="ko-KR" altLang="en-US" sz="1400" b="1" dirty="0">
                <a:solidFill>
                  <a:schemeClr val="bg1"/>
                </a:solidFill>
              </a:rPr>
              <a:t> 높이기 위한 재계산 대상 선정 시점과 방식을 최적화하는 구조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37" name="TextBox 136"/>
          <p:cNvSpPr txBox="1"/>
          <p:nvPr/>
        </p:nvSpPr>
        <p:spPr>
          <a:xfrm>
            <a:off x="1111250" y="1430748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 err="1"/>
              <a:t>요청마다</a:t>
            </a:r>
            <a:r>
              <a:rPr lang="ko-KR" altLang="en-US" sz="1100" dirty="0"/>
              <a:t> 입력되는 </a:t>
            </a:r>
            <a:r>
              <a:rPr lang="en-US" altLang="ko-KR" sz="1100" dirty="0"/>
              <a:t>Query</a:t>
            </a:r>
            <a:r>
              <a:rPr lang="ko-KR" altLang="en-US" sz="1100" dirty="0"/>
              <a:t>에 맞게 재사용</a:t>
            </a:r>
            <a:r>
              <a:rPr lang="en-US" altLang="ko-KR" sz="1100" dirty="0"/>
              <a:t>/</a:t>
            </a:r>
            <a:r>
              <a:rPr lang="ko-KR" altLang="en-US" sz="1100" dirty="0"/>
              <a:t>재계산 토큰 위치를 선정하는 구조</a:t>
            </a:r>
            <a:r>
              <a:rPr lang="en-US" altLang="ko-KR" sz="1100" dirty="0"/>
              <a:t>＂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34149" y="1416420"/>
            <a:ext cx="514332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사전에 재사용</a:t>
            </a:r>
            <a:r>
              <a:rPr lang="en-US" altLang="ko-KR" sz="1100" dirty="0"/>
              <a:t>/</a:t>
            </a:r>
            <a:r>
              <a:rPr lang="ko-KR" altLang="en-US" sz="1100" dirty="0"/>
              <a:t>재계산 토큰 위치를 선정하고</a:t>
            </a:r>
            <a:r>
              <a:rPr lang="en-US" altLang="ko-KR" sz="1100" dirty="0"/>
              <a:t>, </a:t>
            </a:r>
            <a:r>
              <a:rPr lang="ko-KR" altLang="en-US" sz="1100" dirty="0"/>
              <a:t>요청은 이를 활용</a:t>
            </a:r>
            <a:r>
              <a:rPr lang="en-US" altLang="ko-KR" sz="1100" dirty="0"/>
              <a:t>＂</a:t>
            </a:r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EDBAE0C-74A5-43A7-8D12-CE3C549C093E}"/>
              </a:ext>
            </a:extLst>
          </p:cNvPr>
          <p:cNvSpPr txBox="1"/>
          <p:nvPr/>
        </p:nvSpPr>
        <p:spPr>
          <a:xfrm>
            <a:off x="4711271" y="6397263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</a:t>
            </a:r>
            <a:r>
              <a:rPr lang="ko-KR" altLang="en-US" sz="1200" dirty="0"/>
              <a:t>점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E497195-BDD1-47C1-A342-40321C4585CB}"/>
              </a:ext>
            </a:extLst>
          </p:cNvPr>
          <p:cNvSpPr txBox="1"/>
          <p:nvPr/>
        </p:nvSpPr>
        <p:spPr>
          <a:xfrm>
            <a:off x="10204983" y="6418143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7</a:t>
            </a:r>
            <a:r>
              <a:rPr lang="ko-KR" altLang="en-US" sz="1200" dirty="0"/>
              <a:t>점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92849" y="2077239"/>
            <a:ext cx="420518" cy="1902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000" b="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sz="1000" b="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4" name="Rectangle 19"/>
          <p:cNvSpPr/>
          <p:nvPr/>
        </p:nvSpPr>
        <p:spPr>
          <a:xfrm>
            <a:off x="1611630" y="2004178"/>
            <a:ext cx="660317" cy="3239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유사도 계산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05" name="Connector 20"/>
          <p:cNvCxnSpPr/>
          <p:nvPr/>
        </p:nvCxnSpPr>
        <p:spPr>
          <a:xfrm>
            <a:off x="2271947" y="2166143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Rectangle 21"/>
          <p:cNvSpPr/>
          <p:nvPr/>
        </p:nvSpPr>
        <p:spPr>
          <a:xfrm>
            <a:off x="2445714" y="2004178"/>
            <a:ext cx="660317" cy="323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재사용 토큰 선정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07" name="Connector 22"/>
          <p:cNvCxnSpPr/>
          <p:nvPr/>
        </p:nvCxnSpPr>
        <p:spPr>
          <a:xfrm>
            <a:off x="3106033" y="2166143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 23"/>
          <p:cNvSpPr/>
          <p:nvPr/>
        </p:nvSpPr>
        <p:spPr>
          <a:xfrm>
            <a:off x="3279801" y="2004178"/>
            <a:ext cx="660317" cy="323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토큰 선정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15" name="Connector 24"/>
          <p:cNvCxnSpPr/>
          <p:nvPr/>
        </p:nvCxnSpPr>
        <p:spPr>
          <a:xfrm>
            <a:off x="3940118" y="2166143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ectangle 25"/>
          <p:cNvSpPr/>
          <p:nvPr/>
        </p:nvSpPr>
        <p:spPr>
          <a:xfrm>
            <a:off x="4113885" y="2004177"/>
            <a:ext cx="660317" cy="3239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선택적 </a:t>
            </a:r>
            <a:endParaRPr lang="en-US" altLang="ko-KR"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재계산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192849" y="2567182"/>
            <a:ext cx="420518" cy="1902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00" b="1" dirty="0">
                <a:solidFill>
                  <a:srgbClr val="595959"/>
                </a:solidFill>
                <a:ea typeface="맑은 고딕"/>
                <a:cs typeface="맑은 고딕"/>
              </a:rPr>
              <a:t>요청</a:t>
            </a:r>
            <a:r>
              <a:rPr lang="en-US" altLang="ko-KR" sz="1000" b="1" dirty="0">
                <a:solidFill>
                  <a:srgbClr val="595959"/>
                </a:solidFill>
                <a:ea typeface="맑은 고딕"/>
                <a:cs typeface="맑은 고딕"/>
              </a:rPr>
              <a:t>2</a:t>
            </a:r>
            <a:endParaRPr lang="ko-KR" altLang="en-US" sz="1000" b="1" dirty="0">
              <a:solidFill>
                <a:srgbClr val="595959"/>
              </a:solidFill>
              <a:ea typeface="맑은 고딕"/>
              <a:cs typeface="맑은 고딕"/>
            </a:endParaRPr>
          </a:p>
        </p:txBody>
      </p:sp>
      <p:sp>
        <p:nvSpPr>
          <p:cNvPr id="120" name="Rectangle 27"/>
          <p:cNvSpPr/>
          <p:nvPr/>
        </p:nvSpPr>
        <p:spPr>
          <a:xfrm>
            <a:off x="2444860" y="2494121"/>
            <a:ext cx="660317" cy="32393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유사도 계산</a:t>
            </a:r>
          </a:p>
        </p:txBody>
      </p:sp>
      <p:cxnSp>
        <p:nvCxnSpPr>
          <p:cNvPr id="132" name="Connector 28"/>
          <p:cNvCxnSpPr/>
          <p:nvPr/>
        </p:nvCxnSpPr>
        <p:spPr>
          <a:xfrm>
            <a:off x="3105177" y="2656087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ctangle 29"/>
          <p:cNvSpPr/>
          <p:nvPr/>
        </p:nvSpPr>
        <p:spPr>
          <a:xfrm>
            <a:off x="3278944" y="2494121"/>
            <a:ext cx="660317" cy="323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재사용 토큰 선정</a:t>
            </a:r>
          </a:p>
        </p:txBody>
      </p:sp>
      <p:cxnSp>
        <p:nvCxnSpPr>
          <p:cNvPr id="136" name="Connector 30"/>
          <p:cNvCxnSpPr/>
          <p:nvPr/>
        </p:nvCxnSpPr>
        <p:spPr>
          <a:xfrm>
            <a:off x="3939263" y="2656087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31"/>
          <p:cNvSpPr/>
          <p:nvPr/>
        </p:nvSpPr>
        <p:spPr>
          <a:xfrm>
            <a:off x="4113031" y="2494121"/>
            <a:ext cx="660317" cy="323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 토큰 선정</a:t>
            </a:r>
          </a:p>
        </p:txBody>
      </p:sp>
      <p:cxnSp>
        <p:nvCxnSpPr>
          <p:cNvPr id="145" name="Connector 32"/>
          <p:cNvCxnSpPr/>
          <p:nvPr/>
        </p:nvCxnSpPr>
        <p:spPr>
          <a:xfrm>
            <a:off x="4773348" y="2656087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Rectangle 33"/>
          <p:cNvSpPr/>
          <p:nvPr/>
        </p:nvSpPr>
        <p:spPr>
          <a:xfrm>
            <a:off x="4947115" y="2494121"/>
            <a:ext cx="660317" cy="3239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선택적 </a:t>
            </a:r>
          </a:p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재계산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192849" y="3057126"/>
            <a:ext cx="420518" cy="1902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00" b="1" dirty="0">
                <a:solidFill>
                  <a:srgbClr val="595959"/>
                </a:solidFill>
                <a:ea typeface="맑은 고딕"/>
                <a:cs typeface="맑은 고딕"/>
              </a:rPr>
              <a:t>요청</a:t>
            </a:r>
            <a:r>
              <a:rPr lang="en-US" altLang="ko-KR" sz="1000" b="1" dirty="0">
                <a:solidFill>
                  <a:srgbClr val="595959"/>
                </a:solidFill>
                <a:ea typeface="맑은 고딕"/>
                <a:cs typeface="맑은 고딕"/>
              </a:rPr>
              <a:t>3</a:t>
            </a:r>
            <a:endParaRPr lang="ko-KR" altLang="en-US" sz="1000" b="1" dirty="0">
              <a:solidFill>
                <a:srgbClr val="595959"/>
              </a:solidFill>
              <a:ea typeface="맑은 고딕"/>
              <a:cs typeface="맑은 고딕"/>
            </a:endParaRPr>
          </a:p>
        </p:txBody>
      </p:sp>
      <p:sp>
        <p:nvSpPr>
          <p:cNvPr id="150" name="Rectangle 35"/>
          <p:cNvSpPr/>
          <p:nvPr/>
        </p:nvSpPr>
        <p:spPr>
          <a:xfrm>
            <a:off x="3272288" y="2984064"/>
            <a:ext cx="660317" cy="32393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유사도 계산</a:t>
            </a:r>
          </a:p>
        </p:txBody>
      </p:sp>
      <p:cxnSp>
        <p:nvCxnSpPr>
          <p:cNvPr id="153" name="Connector 36"/>
          <p:cNvCxnSpPr/>
          <p:nvPr/>
        </p:nvCxnSpPr>
        <p:spPr>
          <a:xfrm>
            <a:off x="3932605" y="3146030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Rectangle 37"/>
          <p:cNvSpPr/>
          <p:nvPr/>
        </p:nvSpPr>
        <p:spPr>
          <a:xfrm>
            <a:off x="4106372" y="2984064"/>
            <a:ext cx="660317" cy="323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재사용 토큰 선정</a:t>
            </a:r>
          </a:p>
        </p:txBody>
      </p:sp>
      <p:cxnSp>
        <p:nvCxnSpPr>
          <p:cNvPr id="155" name="Connector 38"/>
          <p:cNvCxnSpPr/>
          <p:nvPr/>
        </p:nvCxnSpPr>
        <p:spPr>
          <a:xfrm>
            <a:off x="4766691" y="3146030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Rectangle 39"/>
          <p:cNvSpPr/>
          <p:nvPr/>
        </p:nvSpPr>
        <p:spPr>
          <a:xfrm>
            <a:off x="4940459" y="2984064"/>
            <a:ext cx="660317" cy="323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 토큰 선정</a:t>
            </a:r>
          </a:p>
        </p:txBody>
      </p:sp>
      <p:cxnSp>
        <p:nvCxnSpPr>
          <p:cNvPr id="158" name="Connector 40"/>
          <p:cNvCxnSpPr/>
          <p:nvPr/>
        </p:nvCxnSpPr>
        <p:spPr>
          <a:xfrm>
            <a:off x="5600776" y="3146030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41"/>
          <p:cNvSpPr/>
          <p:nvPr/>
        </p:nvSpPr>
        <p:spPr>
          <a:xfrm>
            <a:off x="5774543" y="2984065"/>
            <a:ext cx="660317" cy="3239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선택적 </a:t>
            </a:r>
          </a:p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재계산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308831" y="1718927"/>
            <a:ext cx="1503466" cy="18620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요청마다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분석</a:t>
            </a:r>
            <a:r>
              <a:rPr lang="en-US"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3단계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반복</a:t>
            </a:r>
            <a:endParaRPr sz="850" b="1" dirty="0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6703766" y="2047236"/>
            <a:ext cx="410082" cy="24343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사전</a:t>
            </a:r>
          </a:p>
        </p:txBody>
      </p:sp>
      <p:sp>
        <p:nvSpPr>
          <p:cNvPr id="164" name="Rectangle 45"/>
          <p:cNvSpPr/>
          <p:nvPr/>
        </p:nvSpPr>
        <p:spPr>
          <a:xfrm>
            <a:off x="7113848" y="2006664"/>
            <a:ext cx="671043" cy="324578"/>
          </a:xfrm>
          <a:prstGeom prst="rect">
            <a:avLst/>
          </a:prstGeom>
          <a:solidFill>
            <a:srgbClr val="FBE5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대표 쿼리 추출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65" name="Connector 46"/>
          <p:cNvCxnSpPr/>
          <p:nvPr/>
        </p:nvCxnSpPr>
        <p:spPr>
          <a:xfrm>
            <a:off x="7784891" y="2168953"/>
            <a:ext cx="186401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Rectangle 47"/>
          <p:cNvSpPr/>
          <p:nvPr/>
        </p:nvSpPr>
        <p:spPr>
          <a:xfrm>
            <a:off x="7971291" y="2006664"/>
            <a:ext cx="671043" cy="324578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유사도 계산</a:t>
            </a:r>
          </a:p>
        </p:txBody>
      </p:sp>
      <p:cxnSp>
        <p:nvCxnSpPr>
          <p:cNvPr id="167" name="Connector 48"/>
          <p:cNvCxnSpPr/>
          <p:nvPr/>
        </p:nvCxnSpPr>
        <p:spPr>
          <a:xfrm>
            <a:off x="8642334" y="2168953"/>
            <a:ext cx="186401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ctangle 49"/>
          <p:cNvSpPr/>
          <p:nvPr/>
        </p:nvSpPr>
        <p:spPr>
          <a:xfrm>
            <a:off x="8828734" y="2006664"/>
            <a:ext cx="671043" cy="3245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재사용 토큰 선정</a:t>
            </a:r>
          </a:p>
        </p:txBody>
      </p:sp>
      <p:cxnSp>
        <p:nvCxnSpPr>
          <p:cNvPr id="169" name="Connector 50"/>
          <p:cNvCxnSpPr/>
          <p:nvPr/>
        </p:nvCxnSpPr>
        <p:spPr>
          <a:xfrm>
            <a:off x="9499777" y="2168953"/>
            <a:ext cx="186401" cy="0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Rectangle 51"/>
          <p:cNvSpPr/>
          <p:nvPr/>
        </p:nvSpPr>
        <p:spPr>
          <a:xfrm>
            <a:off x="9686178" y="2006664"/>
            <a:ext cx="671043" cy="3245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 토큰 선정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460723" y="2342034"/>
            <a:ext cx="560312" cy="1708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dirty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write 1회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10520935" y="1801680"/>
            <a:ext cx="1473198" cy="18620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서빙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경로에는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SR만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남음</a:t>
            </a:r>
            <a:endParaRPr sz="850" b="1" dirty="0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실행 단추: 앞으로 또는 다음 15">
            <a:hlinkClick r:id="" action="ppaction://noaction" highlightClick="1"/>
          </p:cNvPr>
          <p:cNvSpPr/>
          <p:nvPr/>
        </p:nvSpPr>
        <p:spPr>
          <a:xfrm>
            <a:off x="561954" y="3168086"/>
            <a:ext cx="213360" cy="18435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Rectangle 51"/>
          <p:cNvSpPr/>
          <p:nvPr/>
        </p:nvSpPr>
        <p:spPr>
          <a:xfrm>
            <a:off x="11215449" y="2005839"/>
            <a:ext cx="671043" cy="3245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lang="en-US" altLang="ko-KR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1: SR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8" name="Rectangle 51"/>
          <p:cNvSpPr/>
          <p:nvPr/>
        </p:nvSpPr>
        <p:spPr>
          <a:xfrm>
            <a:off x="11215449" y="2449551"/>
            <a:ext cx="671043" cy="3245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lang="en-US" altLang="ko-KR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2: SR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Rectangle 51"/>
          <p:cNvSpPr/>
          <p:nvPr/>
        </p:nvSpPr>
        <p:spPr>
          <a:xfrm>
            <a:off x="11215449" y="2896448"/>
            <a:ext cx="671043" cy="3245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lang="en-US" altLang="ko-KR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3: SR</a:t>
            </a:r>
            <a:endParaRPr sz="9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6" name="Rectangle 52"/>
          <p:cNvSpPr/>
          <p:nvPr/>
        </p:nvSpPr>
        <p:spPr>
          <a:xfrm>
            <a:off x="8691026" y="2544126"/>
            <a:ext cx="1836041" cy="355375"/>
          </a:xfrm>
          <a:prstGeom prst="rect">
            <a:avLst/>
          </a:prstGeom>
          <a:solidFill>
            <a:schemeClr val="bg1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Shared </a:t>
            </a:r>
            <a:r>
              <a:rPr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Repository </a:t>
            </a:r>
            <a:endParaRPr lang="en-US"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Aft>
                <a:spcPts val="200"/>
              </a:spcAft>
            </a:pP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재사용 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KV 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캐시</a:t>
            </a:r>
            <a:r>
              <a:rPr lang="en-US" altLang="ko-KR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, </a:t>
            </a:r>
            <a:r>
              <a:rPr sz="700" b="1" dirty="0" err="1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재계산</a:t>
            </a:r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 토큰 </a:t>
            </a:r>
            <a:r>
              <a:rPr sz="700" b="1" dirty="0" err="1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위치</a:t>
            </a:r>
            <a:r>
              <a:rPr lang="en-US"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700" b="1" dirty="0">
                <a:solidFill>
                  <a:schemeClr val="bg1">
                    <a:lumMod val="50000"/>
                  </a:schemeClr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cxnSp>
        <p:nvCxnSpPr>
          <p:cNvPr id="99" name="Connector 50"/>
          <p:cNvCxnSpPr/>
          <p:nvPr/>
        </p:nvCxnSpPr>
        <p:spPr>
          <a:xfrm flipH="1">
            <a:off x="10019099" y="2331242"/>
            <a:ext cx="2602" cy="222995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60"/>
          <p:cNvCxnSpPr/>
          <p:nvPr/>
        </p:nvCxnSpPr>
        <p:spPr>
          <a:xfrm flipV="1">
            <a:off x="10550687" y="2193542"/>
            <a:ext cx="570978" cy="397681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60"/>
          <p:cNvCxnSpPr/>
          <p:nvPr/>
        </p:nvCxnSpPr>
        <p:spPr>
          <a:xfrm flipV="1">
            <a:off x="10596254" y="2677120"/>
            <a:ext cx="535628" cy="37890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60"/>
          <p:cNvCxnSpPr/>
          <p:nvPr/>
        </p:nvCxnSpPr>
        <p:spPr>
          <a:xfrm>
            <a:off x="10556860" y="2781919"/>
            <a:ext cx="550948" cy="275207"/>
          </a:xfrm>
          <a:prstGeom prst="straightConnector1">
            <a:avLst/>
          </a:prstGeom>
          <a:ln w="19050">
            <a:solidFill>
              <a:srgbClr val="C55A1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10520935" y="2095565"/>
            <a:ext cx="501541" cy="17081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 dirty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read × N</a:t>
            </a:r>
          </a:p>
        </p:txBody>
      </p:sp>
      <p:sp>
        <p:nvSpPr>
          <p:cNvPr id="128" name="Rectangle 55"/>
          <p:cNvSpPr/>
          <p:nvPr/>
        </p:nvSpPr>
        <p:spPr>
          <a:xfrm>
            <a:off x="7726026" y="2550682"/>
            <a:ext cx="662975" cy="339501"/>
          </a:xfrm>
          <a:prstGeom prst="rect">
            <a:avLst/>
          </a:prstGeom>
          <a:solidFill>
            <a:srgbClr val="F0D8FA"/>
          </a:solidFill>
          <a:ln w="15240">
            <a:solidFill>
              <a:schemeClr val="bg1">
                <a:lumMod val="5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en-US" altLang="ko-KR" sz="800" dirty="0">
                <a:solidFill>
                  <a:schemeClr val="tx1"/>
                </a:solidFill>
                <a:ea typeface="맑은 고딕"/>
                <a:cs typeface="맑은 고딕"/>
              </a:rPr>
              <a:t>Validator</a:t>
            </a:r>
            <a:endParaRPr sz="800" b="1" dirty="0">
              <a:solidFill>
                <a:schemeClr val="tx1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29" name="Connector 46"/>
          <p:cNvCxnSpPr>
            <a:stCxn id="128" idx="3"/>
            <a:endCxn id="96" idx="1"/>
          </p:cNvCxnSpPr>
          <p:nvPr/>
        </p:nvCxnSpPr>
        <p:spPr>
          <a:xfrm>
            <a:off x="8389001" y="2720433"/>
            <a:ext cx="302025" cy="1381"/>
          </a:xfrm>
          <a:prstGeom prst="line">
            <a:avLst/>
          </a:prstGeom>
          <a:ln w="19050">
            <a:solidFill>
              <a:srgbClr val="C55A1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" name="그룹 3"/>
          <p:cNvGrpSpPr/>
          <p:nvPr/>
        </p:nvGrpSpPr>
        <p:grpSpPr>
          <a:xfrm>
            <a:off x="1390821" y="3556351"/>
            <a:ext cx="10286655" cy="885231"/>
            <a:chOff x="1190992" y="3862952"/>
            <a:chExt cx="10286655" cy="885231"/>
          </a:xfrm>
        </p:grpSpPr>
        <p:sp>
          <p:nvSpPr>
            <p:cNvPr id="15" name="직사각형 14"/>
            <p:cNvSpPr/>
            <p:nvPr/>
          </p:nvSpPr>
          <p:spPr>
            <a:xfrm>
              <a:off x="1190992" y="3862952"/>
              <a:ext cx="10286655" cy="8852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1887027" y="3952198"/>
              <a:ext cx="3149522" cy="31444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>
                <a:spcAft>
                  <a:spcPts val="100"/>
                </a:spcAft>
              </a:pPr>
              <a:r>
                <a:rPr lang="ko-KR" altLang="en-US" sz="800" b="1" dirty="0">
                  <a:latin typeface="맑은 고딕"/>
                  <a:ea typeface="맑은 고딕"/>
                  <a:cs typeface="맑은 고딕"/>
                </a:rPr>
                <a:t>유사도 계산</a:t>
              </a:r>
              <a:r>
                <a:rPr lang="en-US" sz="800" b="1" dirty="0">
                  <a:latin typeface="맑은 고딕"/>
                  <a:ea typeface="맑은 고딕"/>
                  <a:cs typeface="맑은 고딕"/>
                </a:rPr>
                <a:t>: Query</a:t>
              </a:r>
              <a:r>
                <a:rPr lang="ko-KR" altLang="en-US" sz="800" b="1" dirty="0">
                  <a:latin typeface="맑은 고딕"/>
                  <a:ea typeface="맑은 고딕"/>
                  <a:cs typeface="맑은 고딕"/>
                </a:rPr>
                <a:t>와 </a:t>
              </a:r>
              <a:r>
                <a:rPr lang="en-US" altLang="ko-KR" sz="800" b="1" dirty="0">
                  <a:latin typeface="맑은 고딕"/>
                  <a:ea typeface="맑은 고딕"/>
                  <a:cs typeface="맑은 고딕"/>
                </a:rPr>
                <a:t>KV </a:t>
              </a:r>
              <a:r>
                <a:rPr lang="ko-KR" altLang="en-US" sz="800" b="1" dirty="0">
                  <a:latin typeface="맑은 고딕"/>
                  <a:ea typeface="맑은 고딕"/>
                  <a:cs typeface="맑은 고딕"/>
                </a:rPr>
                <a:t>캐시 간의 </a:t>
              </a:r>
              <a:r>
                <a:rPr lang="ko-KR" altLang="en-US" sz="800" b="1" dirty="0" err="1">
                  <a:latin typeface="맑은 고딕"/>
                  <a:ea typeface="맑은 고딕"/>
                  <a:cs typeface="맑은 고딕"/>
                </a:rPr>
                <a:t>유사도를</a:t>
              </a:r>
              <a:r>
                <a:rPr lang="ko-KR" altLang="en-US" sz="800" b="1" dirty="0">
                  <a:latin typeface="맑은 고딕"/>
                  <a:ea typeface="맑은 고딕"/>
                  <a:cs typeface="맑은 고딕"/>
                </a:rPr>
                <a:t> 계산</a:t>
              </a:r>
              <a:endParaRPr lang="en-US" altLang="ko-KR" sz="800" b="1" dirty="0">
                <a:latin typeface="맑은 고딕"/>
                <a:ea typeface="맑은 고딕"/>
                <a:cs typeface="맑은 고딕"/>
              </a:endParaRPr>
            </a:p>
            <a:p>
              <a:pPr>
                <a:spcAft>
                  <a:spcPts val="100"/>
                </a:spcAft>
              </a:pPr>
              <a:r>
                <a:rPr lang="en-US" altLang="ko-KR" sz="800" b="1" dirty="0">
                  <a:latin typeface="맑은 고딕"/>
                  <a:ea typeface="맑은 고딕"/>
                  <a:cs typeface="맑은 고딕"/>
                </a:rPr>
                <a:t>(</a:t>
              </a:r>
              <a:r>
                <a:rPr lang="en-US" sz="800" b="1" dirty="0">
                  <a:latin typeface="맑은 고딕"/>
                  <a:ea typeface="맑은 고딕"/>
                  <a:cs typeface="맑은 고딕"/>
                </a:rPr>
                <a:t>Attention Manager)</a:t>
              </a:r>
              <a:endParaRPr sz="800" b="0" dirty="0"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302" name="TextBox 301"/>
            <p:cNvSpPr txBox="1"/>
            <p:nvPr/>
          </p:nvSpPr>
          <p:spPr>
            <a:xfrm>
              <a:off x="1887027" y="4353852"/>
              <a:ext cx="3149522" cy="31444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>
                <a:spcAft>
                  <a:spcPts val="100"/>
                </a:spcAft>
              </a:pPr>
              <a:r>
                <a:rPr lang="ko-KR" altLang="en-US" sz="800" b="1" dirty="0">
                  <a:ea typeface="맑은 고딕"/>
                  <a:cs typeface="맑은 고딕"/>
                </a:rPr>
                <a:t>재사용 토큰 선정</a:t>
              </a:r>
              <a:r>
                <a:rPr lang="en-US" altLang="ko-KR" sz="800" b="1" dirty="0">
                  <a:ea typeface="맑은 고딕"/>
                  <a:cs typeface="맑은 고딕"/>
                </a:rPr>
                <a:t>: </a:t>
              </a:r>
              <a:r>
                <a:rPr lang="ko-KR" altLang="en-US" sz="800" b="1" dirty="0">
                  <a:ea typeface="맑은 고딕"/>
                  <a:cs typeface="맑은 고딕"/>
                </a:rPr>
                <a:t>유사도 점수로 재사용할 토큰 선정 </a:t>
              </a:r>
              <a:endParaRPr lang="en-US" altLang="ko-KR" sz="800" b="1" dirty="0">
                <a:ea typeface="맑은 고딕"/>
                <a:cs typeface="맑은 고딕"/>
              </a:endParaRPr>
            </a:p>
            <a:p>
              <a:pPr>
                <a:spcAft>
                  <a:spcPts val="100"/>
                </a:spcAft>
              </a:pPr>
              <a:r>
                <a:rPr lang="en-US" altLang="ko-KR" sz="800" b="1" dirty="0">
                  <a:ea typeface="맑은 고딕"/>
                  <a:cs typeface="맑은 고딕"/>
                </a:rPr>
                <a:t>(KV Sampler)</a:t>
              </a:r>
            </a:p>
          </p:txBody>
        </p:sp>
        <p:sp>
          <p:nvSpPr>
            <p:cNvPr id="303" name="TextBox 302"/>
            <p:cNvSpPr txBox="1"/>
            <p:nvPr/>
          </p:nvSpPr>
          <p:spPr>
            <a:xfrm>
              <a:off x="5093777" y="3954047"/>
              <a:ext cx="3149522" cy="3144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 lvl="0">
                <a:spcAft>
                  <a:spcPts val="100"/>
                </a:spcAft>
              </a:pPr>
              <a:r>
                <a:rPr lang="ko-KR" altLang="en-US" sz="800" b="1" dirty="0" err="1">
                  <a:solidFill>
                    <a:prstClr val="black"/>
                  </a:solidFill>
                  <a:ea typeface="맑은 고딕"/>
                  <a:cs typeface="맑은 고딕"/>
                </a:rPr>
                <a:t>재연산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 토큰 선정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: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재계산할 토큰 선정</a:t>
              </a:r>
              <a:endParaRPr lang="en-US" altLang="ko-KR" sz="800" b="1" dirty="0">
                <a:solidFill>
                  <a:prstClr val="black"/>
                </a:solidFill>
                <a:ea typeface="맑은 고딕"/>
                <a:cs typeface="맑은 고딕"/>
              </a:endParaRPr>
            </a:p>
            <a:p>
              <a:pPr lvl="0">
                <a:spcAft>
                  <a:spcPts val="100"/>
                </a:spcAft>
              </a:pP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(</a:t>
              </a:r>
              <a:r>
                <a:rPr lang="en-US" altLang="ko-KR" sz="800" b="1" dirty="0" err="1">
                  <a:solidFill>
                    <a:prstClr val="black"/>
                  </a:solidFill>
                  <a:ea typeface="맑은 고딕"/>
                  <a:cs typeface="맑은 고딕"/>
                </a:rPr>
                <a:t>Recompute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-Token Selector)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5093777" y="4366396"/>
              <a:ext cx="3149522" cy="3162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>
                <a:spcAft>
                  <a:spcPts val="100"/>
                </a:spcAft>
              </a:pPr>
              <a:r>
                <a:rPr lang="ko-KR" altLang="en-US" sz="800" b="1" dirty="0">
                  <a:ea typeface="맑은 고딕"/>
                  <a:cs typeface="맑은 고딕"/>
                </a:rPr>
                <a:t>선택적 재계산</a:t>
              </a:r>
              <a:r>
                <a:rPr lang="en-US" altLang="ko-KR" sz="800" b="1" dirty="0">
                  <a:ea typeface="맑은 고딕"/>
                  <a:cs typeface="맑은 고딕"/>
                </a:rPr>
                <a:t>: </a:t>
              </a:r>
              <a:r>
                <a:rPr lang="ko-KR" altLang="en-US" sz="800" b="1" dirty="0">
                  <a:ea typeface="맑은 고딕"/>
                  <a:cs typeface="맑은 고딕"/>
                </a:rPr>
                <a:t>선정한 토큰만 재계산</a:t>
              </a:r>
              <a:endParaRPr lang="en-US" altLang="ko-KR" sz="800" b="1" dirty="0">
                <a:ea typeface="맑은 고딕"/>
                <a:cs typeface="맑은 고딕"/>
              </a:endParaRPr>
            </a:p>
            <a:p>
              <a:pPr>
                <a:spcAft>
                  <a:spcPts val="100"/>
                </a:spcAft>
              </a:pPr>
              <a:r>
                <a:rPr lang="en-US" altLang="ko-KR" sz="800" b="1" dirty="0">
                  <a:ea typeface="맑은 고딕"/>
                  <a:cs typeface="맑은 고딕"/>
                </a:rPr>
                <a:t>(Selective </a:t>
              </a:r>
              <a:r>
                <a:rPr lang="en-US" altLang="ko-KR" sz="800" b="1" dirty="0" err="1">
                  <a:ea typeface="맑은 고딕"/>
                  <a:cs typeface="맑은 고딕"/>
                </a:rPr>
                <a:t>Recomputer</a:t>
              </a:r>
              <a:r>
                <a:rPr lang="en-US" altLang="ko-KR" sz="800" b="1" dirty="0">
                  <a:ea typeface="맑은 고딕"/>
                  <a:cs typeface="맑은 고딕"/>
                </a:rPr>
                <a:t>)</a:t>
              </a:r>
              <a:endParaRPr lang="en-US" altLang="ko-KR" sz="800" dirty="0">
                <a:ea typeface="맑은 고딕"/>
                <a:cs typeface="맑은 고딕"/>
              </a:endParaRP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8352247" y="3952198"/>
              <a:ext cx="2863202" cy="3144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 lvl="0">
                <a:spcAft>
                  <a:spcPts val="100"/>
                </a:spcAft>
              </a:pP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대표 쿼리 추출 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: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워크로드 별 대표 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Query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추출 </a:t>
              </a:r>
              <a:endParaRPr lang="en-US" altLang="ko-KR" sz="800" b="1" dirty="0">
                <a:solidFill>
                  <a:prstClr val="black"/>
                </a:solidFill>
                <a:ea typeface="맑은 고딕"/>
                <a:cs typeface="맑은 고딕"/>
              </a:endParaRPr>
            </a:p>
            <a:p>
              <a:pPr lvl="0">
                <a:spcAft>
                  <a:spcPts val="100"/>
                </a:spcAft>
              </a:pP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(Query Sampler)</a:t>
              </a: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1238713" y="4256303"/>
              <a:ext cx="587020" cy="230832"/>
            </a:xfrm>
            <a:prstGeom prst="rect">
              <a:avLst/>
            </a:prstGeom>
          </p:spPr>
          <p:txBody>
            <a:bodyPr wrap="none" anchor="ctr">
              <a:spAutoFit/>
            </a:bodyPr>
            <a:lstStyle/>
            <a:p>
              <a:r>
                <a:rPr lang="en-US" altLang="ko-KR" sz="900" b="1" dirty="0">
                  <a:solidFill>
                    <a:prstClr val="black"/>
                  </a:solidFill>
                </a:rPr>
                <a:t>Legend</a:t>
              </a:r>
              <a:endParaRPr lang="ko-KR" altLang="en-US" sz="2000" dirty="0"/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8352247" y="4360264"/>
              <a:ext cx="2863202" cy="301621"/>
            </a:xfrm>
            <a:prstGeom prst="rect">
              <a:avLst/>
            </a:prstGeom>
            <a:solidFill>
              <a:srgbClr val="F0D8FA"/>
            </a:solidFill>
          </p:spPr>
          <p:txBody>
            <a:bodyPr wrap="square" lIns="45720" tIns="27432" rIns="45720" bIns="27432" anchor="ctr">
              <a:spAutoFit/>
            </a:bodyPr>
            <a:lstStyle/>
            <a:p>
              <a:pPr lvl="0">
                <a:spcAft>
                  <a:spcPts val="100"/>
                </a:spcAft>
              </a:pP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Validator: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사전에 계산한 재계산 토큰 위치를 업데이트 함으로써 </a:t>
              </a:r>
              <a:r>
                <a:rPr lang="en-US" altLang="ko-KR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stale </a:t>
              </a:r>
              <a:r>
                <a:rPr lang="ko-KR" altLang="en-US" sz="800" b="1" dirty="0">
                  <a:solidFill>
                    <a:prstClr val="black"/>
                  </a:solidFill>
                  <a:ea typeface="맑은 고딕"/>
                  <a:cs typeface="맑은 고딕"/>
                </a:rPr>
                <a:t>정보 보완</a:t>
              </a:r>
              <a:endParaRPr lang="en-US" altLang="ko-KR" sz="800" b="1" dirty="0">
                <a:solidFill>
                  <a:prstClr val="black"/>
                </a:solidFill>
                <a:ea typeface="맑은 고딕"/>
                <a:cs typeface="맑은 고딕"/>
              </a:endParaRPr>
            </a:p>
          </p:txBody>
        </p:sp>
      </p:grpSp>
      <p:sp>
        <p:nvSpPr>
          <p:cNvPr id="78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7784892" y="619129"/>
            <a:ext cx="1095752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C2 </a:t>
            </a:r>
            <a:r>
              <a:rPr lang="ko-KR" altLang="en-US" sz="700" dirty="0">
                <a:latin typeface="맑은 고딕" panose="020B0503020000020004" pitchFamily="50" charset="-127"/>
              </a:rPr>
              <a:t>추론 정확도 보장</a:t>
            </a:r>
          </a:p>
        </p:txBody>
      </p:sp>
      <p:sp>
        <p:nvSpPr>
          <p:cNvPr id="82" name="모서리가 둥근 직사각형 81"/>
          <p:cNvSpPr/>
          <p:nvPr/>
        </p:nvSpPr>
        <p:spPr>
          <a:xfrm>
            <a:off x="10024136" y="624622"/>
            <a:ext cx="910691" cy="13449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실행</a:t>
            </a:r>
          </a:p>
        </p:txBody>
      </p:sp>
      <p:sp>
        <p:nvSpPr>
          <p:cNvPr id="83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8339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F4 KV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캐시 관리</a:t>
            </a:r>
          </a:p>
        </p:txBody>
      </p:sp>
      <p:sp>
        <p:nvSpPr>
          <p:cNvPr id="84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9430793" y="808072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85" name="모서리가 둥근 직사각형 37">
            <a:extLst>
              <a:ext uri="{FF2B5EF4-FFF2-40B4-BE49-F238E27FC236}">
                <a16:creationId xmlns:a16="http://schemas.microsoft.com/office/drawing/2014/main" id="{63E127C8-1374-4049-8A7A-84E9B191F365}"/>
              </a:ext>
            </a:extLst>
          </p:cNvPr>
          <p:cNvSpPr/>
          <p:nvPr/>
        </p:nvSpPr>
        <p:spPr>
          <a:xfrm>
            <a:off x="10320379" y="815469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86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1209965" y="808072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</a:t>
            </a:r>
          </a:p>
        </p:txBody>
      </p:sp>
      <p:sp>
        <p:nvSpPr>
          <p:cNvPr id="88" name="모서리가 둥근 직사각형 87"/>
          <p:cNvSpPr/>
          <p:nvPr/>
        </p:nvSpPr>
        <p:spPr>
          <a:xfrm>
            <a:off x="8958662" y="617897"/>
            <a:ext cx="1001760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F2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스케줄링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583025" y="1946905"/>
            <a:ext cx="2387054" cy="4187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/>
          <p:cNvSpPr/>
          <p:nvPr/>
        </p:nvSpPr>
        <p:spPr>
          <a:xfrm>
            <a:off x="7917970" y="1954240"/>
            <a:ext cx="2519397" cy="4187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직사각형 89"/>
          <p:cNvSpPr/>
          <p:nvPr/>
        </p:nvSpPr>
        <p:spPr>
          <a:xfrm>
            <a:off x="2397518" y="2426770"/>
            <a:ext cx="2387054" cy="4187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직사각형 90"/>
          <p:cNvSpPr/>
          <p:nvPr/>
        </p:nvSpPr>
        <p:spPr>
          <a:xfrm>
            <a:off x="3241867" y="2937037"/>
            <a:ext cx="2387054" cy="418755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615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34948" y="1054901"/>
          <a:ext cx="11759184" cy="56217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7824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4158474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282206">
                  <a:extLst>
                    <a:ext uri="{9D8B030D-6E8A-4147-A177-3AD203B41FA5}">
                      <a16:colId xmlns:a16="http://schemas.microsoft.com/office/drawing/2014/main" val="4114062400"/>
                    </a:ext>
                  </a:extLst>
                </a:gridCol>
                <a:gridCol w="427949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1161182">
                  <a:extLst>
                    <a:ext uri="{9D8B030D-6E8A-4147-A177-3AD203B41FA5}">
                      <a16:colId xmlns:a16="http://schemas.microsoft.com/office/drawing/2014/main" val="2026705357"/>
                    </a:ext>
                  </a:extLst>
                </a:gridCol>
              </a:tblGrid>
              <a:tr h="358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(1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Pipe-and-Filter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ko-KR" altLang="en-US" sz="1200" b="1" baseline="0" dirty="0"/>
                        <a:t>구조</a:t>
                      </a:r>
                      <a:r>
                        <a:rPr lang="en-US" altLang="ko-KR" sz="1200" b="1" baseline="0" dirty="0"/>
                        <a:t>: </a:t>
                      </a:r>
                      <a:r>
                        <a:rPr lang="ko-KR" altLang="en-US" sz="1200" b="1" baseline="0" dirty="0" err="1">
                          <a:solidFill>
                            <a:srgbClr val="0066FF"/>
                          </a:solidFill>
                        </a:rPr>
                        <a:t>요청마다</a:t>
                      </a:r>
                      <a:r>
                        <a:rPr lang="ko-KR" altLang="en-US" sz="1200" b="1" baseline="0" dirty="0">
                          <a:solidFill>
                            <a:srgbClr val="0066FF"/>
                          </a:solidFill>
                        </a:rPr>
                        <a:t> 전체 체인 실행</a:t>
                      </a:r>
                      <a:endParaRPr lang="en-US" altLang="ko-KR" sz="1050" b="1" kern="1200" baseline="0" dirty="0">
                        <a:solidFill>
                          <a:srgbClr val="0066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(2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Shared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en-US" altLang="ko-KR" sz="1200" b="1" dirty="0"/>
                        <a:t>Repository </a:t>
                      </a:r>
                      <a:r>
                        <a:rPr lang="ko-KR" altLang="en-US" sz="1200" b="1" dirty="0"/>
                        <a:t>구조</a:t>
                      </a:r>
                      <a:r>
                        <a:rPr lang="en-US" altLang="ko-KR" sz="1200" b="1" dirty="0"/>
                        <a:t>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+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</a:rPr>
                        <a:t> Base 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</a:rPr>
                        <a:t>공유</a:t>
                      </a:r>
                      <a:r>
                        <a:rPr lang="en-US" altLang="ko-KR" sz="1200" b="1" baseline="0" dirty="0">
                          <a:solidFill>
                            <a:srgbClr val="FF0000"/>
                          </a:solidFill>
                        </a:rPr>
                        <a:t>, Delta</a:t>
                      </a:r>
                      <a:r>
                        <a:rPr lang="ko-KR" altLang="en-US" sz="1200" b="1" baseline="0" dirty="0">
                          <a:solidFill>
                            <a:srgbClr val="FF0000"/>
                          </a:solidFill>
                        </a:rPr>
                        <a:t>만 할당</a:t>
                      </a:r>
                      <a:endParaRPr lang="ko-KR" altLang="en-US" sz="1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5091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474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요청이 끝나면 재계산 위치를 소멸하여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Stale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데이터 발생 방지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(Q2)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baseline="0" dirty="0">
                          <a:effectLst/>
                        </a:rPr>
                        <a:t>Filter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별 병렬 실행으로 요청 간 경합을 분산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사전에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재계산 위치를 결정하므로 </a:t>
                      </a:r>
                      <a:r>
                        <a:rPr lang="ko-KR" altLang="en-US" sz="1200" b="0" i="0" dirty="0" err="1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서빙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경로 절감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, </a:t>
                      </a:r>
                      <a:r>
                        <a:rPr lang="ko-KR" altLang="en-US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처리량 유리 </a:t>
                      </a: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="0" i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Critical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path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가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SR 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조회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1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회 뿐 </a:t>
                      </a:r>
                      <a:r>
                        <a:rPr lang="ko-KR" altLang="en-US" sz="1200" strike="noStrike" baseline="0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→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 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부하가 올라도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tail latency </a:t>
                      </a:r>
                      <a:r>
                        <a:rPr lang="ko-KR" altLang="en-US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평탄 </a:t>
                      </a:r>
                      <a:r>
                        <a:rPr lang="en-US" altLang="ko-KR" sz="1200" b="0" i="0" baseline="0" dirty="0">
                          <a:solidFill>
                            <a:srgbClr val="404040"/>
                          </a:solidFill>
                          <a:latin typeface="+mn-lt"/>
                          <a:ea typeface="맑은 고딕"/>
                        </a:rPr>
                        <a:t>(Q3)</a:t>
                      </a:r>
                      <a:endParaRPr lang="en-US" altLang="ko-KR" sz="1200" b="0" i="0" dirty="0">
                        <a:solidFill>
                          <a:srgbClr val="404040"/>
                        </a:solidFill>
                        <a:latin typeface="+mn-lt"/>
                        <a:ea typeface="맑은 고딕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5724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effectLst/>
                        </a:rPr>
                        <a:t>동일한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의 요청이 들어오는 경우 전체 체인을 재실행하는 중복 계산 발생 우려</a:t>
                      </a:r>
                      <a:r>
                        <a:rPr lang="en-US" altLang="ko-KR" sz="1200" strike="noStrike" baseline="0" dirty="0">
                          <a:effectLst/>
                        </a:rPr>
                        <a:t>,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처리량 불리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(Q1)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effectLst/>
                        </a:rPr>
                        <a:t>고부하 시 체인 지연이 </a:t>
                      </a:r>
                      <a:r>
                        <a:rPr lang="ko-KR" altLang="en-US" sz="1200" strike="noStrike" baseline="0" dirty="0" err="1">
                          <a:effectLst/>
                        </a:rPr>
                        <a:t>큐잉과</a:t>
                      </a:r>
                      <a:r>
                        <a:rPr lang="ko-KR" altLang="en-US" sz="1200" strike="noStrike" baseline="0" dirty="0">
                          <a:effectLst/>
                        </a:rPr>
                        <a:t> 겹쳐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tail latency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발산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effectLst/>
                        </a:rPr>
                        <a:t>대표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Query</a:t>
                      </a:r>
                      <a:r>
                        <a:rPr lang="en-US" altLang="ko-KR" sz="1200" strike="noStrike" baseline="0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200" strike="noStrike" baseline="0" dirty="0"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및 </a:t>
                      </a:r>
                      <a:r>
                        <a:rPr lang="ko-KR" altLang="en-US" sz="1200" strike="noStrike" baseline="0" dirty="0">
                          <a:effectLst/>
                        </a:rPr>
                        <a:t>재계산 위치를 별도 저장하므로 메모리 </a:t>
                      </a:r>
                      <a:r>
                        <a:rPr lang="ko-KR" altLang="en-US" sz="1200" strike="noStrike" baseline="0" dirty="0" err="1">
                          <a:effectLst/>
                        </a:rPr>
                        <a:t>점유량</a:t>
                      </a:r>
                      <a:r>
                        <a:rPr lang="ko-KR" altLang="en-US" sz="1200" strike="noStrike" baseline="0" dirty="0">
                          <a:effectLst/>
                        </a:rPr>
                        <a:t> 증가 </a:t>
                      </a:r>
                      <a:r>
                        <a:rPr lang="en-US" altLang="ko-KR" sz="1200" strike="noStrike" baseline="0" dirty="0">
                          <a:effectLst/>
                        </a:rPr>
                        <a:t>(Q2)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</a:rPr>
                        <a:t>-&gt; 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</a:rPr>
                        <a:t>공통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</a:rPr>
                        <a:t>KV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</a:rPr>
                        <a:t>는 요청 간 공유하고 요청 별로 새로 쓰는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</a:rPr>
                        <a:t>KV(Delta)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</a:rPr>
                        <a:t>만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</a:rPr>
                        <a:t>Append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</a:rPr>
                        <a:t>하게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</a:rPr>
                        <a:t>Layout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</a:rPr>
                        <a:t>을 조절하여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</a:rPr>
                        <a:t>HBM </a:t>
                      </a:r>
                      <a:r>
                        <a:rPr lang="ko-KR" altLang="en-US" sz="1200" strike="noStrike" baseline="0" dirty="0" err="1">
                          <a:solidFill>
                            <a:srgbClr val="FF0000"/>
                          </a:solidFill>
                          <a:effectLst/>
                        </a:rPr>
                        <a:t>점유량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</a:rPr>
                        <a:t> 제어 </a:t>
                      </a:r>
                      <a:endParaRPr lang="en-US" altLang="ko-KR" sz="1200" strike="noStrike" baseline="0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Q2.</a:t>
                      </a:r>
                      <a:r>
                        <a:rPr lang="en-US" altLang="ko-KR" sz="1200" b="0" strike="noStrike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Efficiency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○○</a:t>
                      </a:r>
                      <a:endParaRPr lang="en-US" altLang="ko-KR" sz="1200" b="0" dirty="0">
                        <a:solidFill>
                          <a:schemeClr val="accent5"/>
                        </a:solidFill>
                        <a:latin typeface="+mn-lt"/>
                        <a:ea typeface="맑은 고딕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 </a:t>
                      </a:r>
                      <a:r>
                        <a:rPr lang="en-US" altLang="ko-KR" sz="1000" b="0" strike="noStrike" dirty="0">
                          <a:solidFill>
                            <a:schemeClr val="tx1"/>
                          </a:solidFill>
                        </a:rPr>
                        <a:t>(tokens/second)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Q2. Resource Efficiency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(HBM 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사용량 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GB)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●●◐</a:t>
                      </a:r>
                      <a:endParaRPr lang="en-US" altLang="ko-KR" sz="1200" strike="noStrike" dirty="0">
                        <a:solidFill>
                          <a:schemeClr val="accent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</a:t>
                      </a:r>
                      <a:r>
                        <a:rPr lang="en-US" altLang="ko-KR" sz="120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accent5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●●◐</a:t>
                      </a:r>
                      <a:endParaRPr lang="en-US" altLang="ko-KR" sz="1200" strike="noStrike" dirty="0">
                        <a:solidFill>
                          <a:schemeClr val="accent5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57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DP3. KV </a:t>
            </a:r>
            <a:r>
              <a:rPr lang="ko-KR" altLang="en-US" dirty="0"/>
              <a:t>캐시 재사용 구조 </a:t>
            </a:r>
            <a:r>
              <a:rPr lang="en-US" altLang="ko-KR" dirty="0"/>
              <a:t>– </a:t>
            </a:r>
            <a:r>
              <a:rPr lang="ko-KR" altLang="en-US" dirty="0">
                <a:solidFill>
                  <a:srgbClr val="FF0000"/>
                </a:solidFill>
              </a:rPr>
              <a:t>보완 설계 </a:t>
            </a:r>
            <a:endParaRPr lang="ko-KR" altLang="en-US" strike="sngStrike" dirty="0">
              <a:solidFill>
                <a:srgbClr val="FF000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91149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</a:rPr>
              <a:t>KV </a:t>
            </a:r>
            <a:r>
              <a:rPr lang="ko-KR" altLang="en-US" sz="1400" b="1" dirty="0" err="1">
                <a:solidFill>
                  <a:schemeClr val="bg1"/>
                </a:solidFill>
              </a:rPr>
              <a:t>재사용률을</a:t>
            </a:r>
            <a:r>
              <a:rPr lang="ko-KR" altLang="en-US" sz="1400" b="1" dirty="0">
                <a:solidFill>
                  <a:schemeClr val="bg1"/>
                </a:solidFill>
              </a:rPr>
              <a:t> 높이기 위한 재계산 대상 선정 시점과 방식을 최적화하는 구조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37" name="TextBox 136"/>
          <p:cNvSpPr txBox="1"/>
          <p:nvPr/>
        </p:nvSpPr>
        <p:spPr>
          <a:xfrm>
            <a:off x="1111250" y="1430748"/>
            <a:ext cx="54228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 err="1"/>
              <a:t>요청마다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서빙</a:t>
            </a:r>
            <a:r>
              <a:rPr lang="ko-KR" altLang="en-US" sz="1100" dirty="0"/>
              <a:t> 경로 내에서 재계산 대상 토큰을 동적으로 선정하고</a:t>
            </a:r>
            <a:r>
              <a:rPr lang="en-US" altLang="ko-KR" sz="1100" dirty="0"/>
              <a:t>, </a:t>
            </a:r>
            <a:r>
              <a:rPr lang="ko-KR" altLang="en-US" sz="1100" dirty="0"/>
              <a:t>선택적 재계산을 수행하는 구조</a:t>
            </a:r>
            <a:r>
              <a:rPr lang="en-US" altLang="ko-KR" sz="1100" dirty="0"/>
              <a:t>＂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34149" y="1416420"/>
            <a:ext cx="55435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ko-KR" altLang="en-US" sz="1100" dirty="0"/>
              <a:t>재사용 </a:t>
            </a:r>
            <a:r>
              <a:rPr lang="en-US" altLang="ko-KR" sz="1100" dirty="0"/>
              <a:t>KV</a:t>
            </a:r>
            <a:r>
              <a:rPr lang="ko-KR" altLang="en-US" sz="1100" dirty="0"/>
              <a:t>는 요청 간 공유</a:t>
            </a:r>
            <a:r>
              <a:rPr lang="en-US" altLang="ko-KR" sz="1100" dirty="0"/>
              <a:t>(Base)</a:t>
            </a:r>
            <a:r>
              <a:rPr lang="ko-KR" altLang="en-US" sz="1100" dirty="0"/>
              <a:t>하고 </a:t>
            </a:r>
            <a:r>
              <a:rPr lang="ko-KR" altLang="en-US" sz="1100" dirty="0" err="1"/>
              <a:t>재계산분만</a:t>
            </a:r>
            <a:r>
              <a:rPr lang="ko-KR" altLang="en-US" sz="1100" dirty="0"/>
              <a:t> </a:t>
            </a:r>
            <a:r>
              <a:rPr lang="ko-KR" altLang="en-US" sz="1100" dirty="0" err="1"/>
              <a:t>요청별</a:t>
            </a:r>
            <a:r>
              <a:rPr lang="en-US" altLang="ko-KR" sz="1100" dirty="0"/>
              <a:t>(Delta)</a:t>
            </a:r>
            <a:r>
              <a:rPr lang="ko-KR" altLang="en-US" sz="1100" dirty="0"/>
              <a:t>로 두며 </a:t>
            </a:r>
            <a:r>
              <a:rPr lang="en-US" altLang="ko-KR" sz="1100" dirty="0"/>
              <a:t>HBM </a:t>
            </a:r>
            <a:r>
              <a:rPr lang="ko-KR" altLang="en-US" sz="1100" dirty="0"/>
              <a:t>예산을 입장 전에 계산</a:t>
            </a:r>
            <a:r>
              <a:rPr lang="en-US" altLang="ko-KR" sz="1100" dirty="0"/>
              <a:t>”</a:t>
            </a:r>
            <a:endParaRPr lang="ko-KR" altLang="en-US" sz="1100" dirty="0"/>
          </a:p>
        </p:txBody>
      </p:sp>
      <p:sp>
        <p:nvSpPr>
          <p:cNvPr id="239" name="TextBox 238">
            <a:extLst>
              <a:ext uri="{FF2B5EF4-FFF2-40B4-BE49-F238E27FC236}">
                <a16:creationId xmlns:a16="http://schemas.microsoft.com/office/drawing/2014/main" id="{5EDBAE0C-74A5-43A7-8D12-CE3C549C093E}"/>
              </a:ext>
            </a:extLst>
          </p:cNvPr>
          <p:cNvSpPr txBox="1"/>
          <p:nvPr/>
        </p:nvSpPr>
        <p:spPr>
          <a:xfrm>
            <a:off x="4738649" y="6339481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</a:t>
            </a:r>
            <a:r>
              <a:rPr lang="ko-KR" altLang="en-US" sz="1200" dirty="0"/>
              <a:t>점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8E497195-BDD1-47C1-A342-40321C4585CB}"/>
              </a:ext>
            </a:extLst>
          </p:cNvPr>
          <p:cNvSpPr txBox="1"/>
          <p:nvPr/>
        </p:nvSpPr>
        <p:spPr>
          <a:xfrm>
            <a:off x="10045624" y="6302750"/>
            <a:ext cx="6319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8</a:t>
            </a:r>
            <a:r>
              <a:rPr lang="ko-KR" altLang="en-US" sz="1200" dirty="0">
                <a:solidFill>
                  <a:srgbClr val="FF0000"/>
                </a:solidFill>
              </a:rPr>
              <a:t>점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6663658" y="1846644"/>
            <a:ext cx="5155915" cy="1618145"/>
            <a:chOff x="320040" y="1783080"/>
            <a:chExt cx="6400800" cy="2606040"/>
          </a:xfrm>
        </p:grpSpPr>
        <p:sp>
          <p:nvSpPr>
            <p:cNvPr id="70" name="Rectangle 17"/>
            <p:cNvSpPr/>
            <p:nvPr/>
          </p:nvSpPr>
          <p:spPr>
            <a:xfrm>
              <a:off x="411480" y="1928537"/>
              <a:ext cx="2834640" cy="608533"/>
            </a:xfrm>
            <a:prstGeom prst="rect">
              <a:avLst/>
            </a:prstGeom>
            <a:solidFill>
              <a:srgbClr val="FBE5D6"/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>
                <a:spcAft>
                  <a:spcPts val="0"/>
                </a:spcAft>
              </a:pPr>
              <a:r>
                <a:rPr sz="85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Offline Analyzer (</a:t>
              </a:r>
              <a:r>
                <a:rPr sz="85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사전</a:t>
              </a:r>
              <a:r>
                <a:rPr sz="85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)</a:t>
              </a:r>
            </a:p>
            <a:p>
              <a:pPr algn="ctr">
                <a:spcAft>
                  <a:spcPts val="0"/>
                </a:spcAft>
              </a:pPr>
              <a:r>
                <a:rPr sz="7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대표</a:t>
              </a:r>
              <a:r>
                <a:rPr sz="70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 Query → </a:t>
              </a:r>
              <a:r>
                <a:rPr sz="7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재계산</a:t>
              </a:r>
              <a:r>
                <a:rPr sz="70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7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위치</a:t>
              </a:r>
              <a:r>
                <a:rPr sz="70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7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선정</a:t>
              </a:r>
              <a:endParaRPr sz="7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71" name="Rectangle 18"/>
            <p:cNvSpPr/>
            <p:nvPr/>
          </p:nvSpPr>
          <p:spPr>
            <a:xfrm>
              <a:off x="320040" y="3017520"/>
              <a:ext cx="3154680" cy="1005840"/>
            </a:xfrm>
            <a:prstGeom prst="rect">
              <a:avLst/>
            </a:prstGeom>
            <a:solidFill>
              <a:srgbClr val="F7FAFD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365760" y="3026665"/>
              <a:ext cx="2743200" cy="2874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45720" tIns="27432" rIns="45720" bIns="27432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800" b="1" dirty="0">
                  <a:solidFill>
                    <a:srgbClr val="404040"/>
                  </a:solidFill>
                  <a:latin typeface="맑은 고딕"/>
                  <a:ea typeface="맑은 고딕"/>
                  <a:cs typeface="맑은 고딕"/>
                </a:rPr>
                <a:t>KV Repository</a:t>
              </a:r>
            </a:p>
          </p:txBody>
        </p:sp>
        <p:sp>
          <p:nvSpPr>
            <p:cNvPr id="73" name="Rectangle 20"/>
            <p:cNvSpPr/>
            <p:nvPr/>
          </p:nvSpPr>
          <p:spPr>
            <a:xfrm>
              <a:off x="411480" y="3383280"/>
              <a:ext cx="1371600" cy="457200"/>
            </a:xfrm>
            <a:prstGeom prst="rect">
              <a:avLst/>
            </a:prstGeom>
            <a:solidFill>
              <a:srgbClr val="F0F1F3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>
                <a:spcAft>
                  <a:spcPts val="0"/>
                </a:spcAft>
              </a:pPr>
              <a:r>
                <a:rPr sz="85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Context KV</a:t>
              </a:r>
            </a:p>
          </p:txBody>
        </p:sp>
        <p:sp>
          <p:nvSpPr>
            <p:cNvPr id="74" name="Rectangle 21"/>
            <p:cNvSpPr/>
            <p:nvPr/>
          </p:nvSpPr>
          <p:spPr>
            <a:xfrm>
              <a:off x="1965960" y="3383280"/>
              <a:ext cx="1417320" cy="457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>
                <a:spcAft>
                  <a:spcPts val="0"/>
                </a:spcAft>
              </a:pPr>
              <a:r>
                <a:rPr sz="85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Plan Store</a:t>
              </a:r>
            </a:p>
            <a:p>
              <a:pPr algn="ctr">
                <a:spcAft>
                  <a:spcPts val="0"/>
                </a:spcAft>
              </a:pPr>
              <a:r>
                <a:rPr sz="7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재계산</a:t>
              </a:r>
              <a:r>
                <a:rPr sz="70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7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위치</a:t>
              </a:r>
              <a:endParaRPr sz="7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cxnSp>
          <p:nvCxnSpPr>
            <p:cNvPr id="75" name="Connector 22"/>
            <p:cNvCxnSpPr/>
            <p:nvPr/>
          </p:nvCxnSpPr>
          <p:spPr>
            <a:xfrm>
              <a:off x="2651760" y="2513693"/>
              <a:ext cx="0" cy="869587"/>
            </a:xfrm>
            <a:prstGeom prst="line">
              <a:avLst/>
            </a:prstGeom>
            <a:ln w="9525">
              <a:solidFill>
                <a:srgbClr val="C55A11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TextBox 75"/>
            <p:cNvSpPr txBox="1"/>
            <p:nvPr/>
          </p:nvSpPr>
          <p:spPr>
            <a:xfrm>
              <a:off x="2697480" y="2697480"/>
              <a:ext cx="640080" cy="1828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45720" tIns="27432" rIns="45720" bIns="27432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750" b="0">
                  <a:solidFill>
                    <a:srgbClr val="C55A11"/>
                  </a:solidFill>
                  <a:latin typeface="맑은 고딕"/>
                  <a:ea typeface="맑은 고딕"/>
                  <a:cs typeface="맑은 고딕"/>
                </a:rPr>
                <a:t>write</a:t>
              </a:r>
            </a:p>
          </p:txBody>
        </p:sp>
        <p:sp>
          <p:nvSpPr>
            <p:cNvPr id="79" name="Rectangle 26"/>
            <p:cNvSpPr/>
            <p:nvPr/>
          </p:nvSpPr>
          <p:spPr>
            <a:xfrm>
              <a:off x="3886200" y="1783080"/>
              <a:ext cx="2834640" cy="2606040"/>
            </a:xfrm>
            <a:prstGeom prst="rect">
              <a:avLst/>
            </a:prstGeom>
            <a:solidFill>
              <a:srgbClr val="FEF4EC"/>
            </a:solidFill>
            <a:ln w="952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3931920" y="1792224"/>
              <a:ext cx="2743200" cy="2874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45720" tIns="27432" rIns="45720" bIns="27432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800" b="1" dirty="0" err="1">
                  <a:solidFill>
                    <a:srgbClr val="C55A11"/>
                  </a:solidFill>
                  <a:latin typeface="맑은 고딕"/>
                  <a:ea typeface="맑은 고딕"/>
                  <a:cs typeface="맑은 고딕"/>
                </a:rPr>
                <a:t>서빙</a:t>
              </a:r>
              <a:r>
                <a:rPr sz="800" b="1" dirty="0">
                  <a:solidFill>
                    <a:srgbClr val="C55A11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800" b="1" dirty="0" err="1">
                  <a:solidFill>
                    <a:srgbClr val="C55A11"/>
                  </a:solidFill>
                  <a:latin typeface="맑은 고딕"/>
                  <a:ea typeface="맑은 고딕"/>
                  <a:cs typeface="맑은 고딕"/>
                </a:rPr>
                <a:t>경로</a:t>
              </a:r>
              <a:r>
                <a:rPr sz="800" b="1" dirty="0">
                  <a:solidFill>
                    <a:srgbClr val="C55A11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</a:p>
          </p:txBody>
        </p:sp>
        <p:sp>
          <p:nvSpPr>
            <p:cNvPr id="82" name="Rectangle 28"/>
            <p:cNvSpPr/>
            <p:nvPr/>
          </p:nvSpPr>
          <p:spPr>
            <a:xfrm>
              <a:off x="4023360" y="2128520"/>
              <a:ext cx="2560320" cy="390650"/>
            </a:xfrm>
            <a:prstGeom prst="rect">
              <a:avLst/>
            </a:prstGeom>
            <a:solidFill>
              <a:srgbClr val="F0F1F3"/>
            </a:solidFill>
            <a:ln w="9525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>
                <a:spcAft>
                  <a:spcPts val="0"/>
                </a:spcAft>
              </a:pPr>
              <a:r>
                <a:rPr sz="90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Selective </a:t>
              </a:r>
              <a:r>
                <a:rPr sz="9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Recomputer</a:t>
              </a:r>
              <a:endParaRPr lang="en-US"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83" name="Rectangle 29"/>
            <p:cNvSpPr/>
            <p:nvPr/>
          </p:nvSpPr>
          <p:spPr>
            <a:xfrm>
              <a:off x="4023360" y="2858094"/>
              <a:ext cx="2560320" cy="519446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9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>
                <a:spcAft>
                  <a:spcPts val="0"/>
                </a:spcAft>
              </a:pPr>
              <a:r>
                <a:rPr sz="85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KV Layout Manager</a:t>
              </a:r>
            </a:p>
            <a:p>
              <a:pPr algn="ctr">
                <a:spcAft>
                  <a:spcPts val="0"/>
                </a:spcAft>
              </a:pPr>
              <a:r>
                <a:rPr sz="70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Base </a:t>
              </a:r>
              <a:r>
                <a:rPr sz="7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공유</a:t>
              </a:r>
              <a:r>
                <a:rPr sz="70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 (</a:t>
              </a:r>
              <a:r>
                <a:rPr sz="7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refcount</a:t>
              </a:r>
              <a:r>
                <a:rPr sz="70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) + Delta </a:t>
              </a:r>
              <a:r>
                <a:rPr sz="7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요청별</a:t>
              </a:r>
              <a:r>
                <a:rPr sz="70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7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할당</a:t>
              </a:r>
              <a:endParaRPr sz="7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sp>
          <p:nvSpPr>
            <p:cNvPr id="84" name="Rectangle 30"/>
            <p:cNvSpPr/>
            <p:nvPr/>
          </p:nvSpPr>
          <p:spPr>
            <a:xfrm>
              <a:off x="4023360" y="3790187"/>
              <a:ext cx="2560320" cy="502921"/>
            </a:xfrm>
            <a:prstGeom prst="rect">
              <a:avLst/>
            </a:prstGeom>
            <a:solidFill>
              <a:srgbClr val="FFF2CC"/>
            </a:solidFill>
            <a:ln w="9525">
              <a:solidFill>
                <a:srgbClr val="BF9000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27432" rIns="27432" bIns="27432" rtlCol="0" anchor="ctr"/>
            <a:lstStyle/>
            <a:p>
              <a:pPr algn="ctr">
                <a:spcAft>
                  <a:spcPts val="0"/>
                </a:spcAft>
              </a:pPr>
              <a:r>
                <a:rPr sz="85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Plan-aware Admission Controller</a:t>
              </a:r>
            </a:p>
            <a:p>
              <a:pPr algn="ctr">
                <a:spcAft>
                  <a:spcPts val="0"/>
                </a:spcAft>
              </a:pPr>
              <a:r>
                <a:rPr sz="7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plan으로</a:t>
              </a:r>
              <a:r>
                <a:rPr sz="70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7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요청별</a:t>
              </a:r>
              <a:r>
                <a:rPr sz="70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 HBM </a:t>
              </a:r>
              <a:r>
                <a:rPr sz="7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소요</a:t>
              </a:r>
              <a:r>
                <a:rPr sz="70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  <a:r>
                <a:rPr sz="700" b="1" dirty="0" err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계산</a:t>
              </a:r>
              <a:r>
                <a:rPr sz="700" b="1" dirty="0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 </a:t>
              </a:r>
            </a:p>
          </p:txBody>
        </p:sp>
        <p:cxnSp>
          <p:nvCxnSpPr>
            <p:cNvPr id="85" name="Connector 31"/>
            <p:cNvCxnSpPr/>
            <p:nvPr/>
          </p:nvCxnSpPr>
          <p:spPr>
            <a:xfrm flipV="1">
              <a:off x="5303520" y="3406142"/>
              <a:ext cx="0" cy="320037"/>
            </a:xfrm>
            <a:prstGeom prst="line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or 32"/>
            <p:cNvCxnSpPr/>
            <p:nvPr/>
          </p:nvCxnSpPr>
          <p:spPr>
            <a:xfrm flipV="1">
              <a:off x="5303520" y="2553018"/>
              <a:ext cx="0" cy="228601"/>
            </a:xfrm>
            <a:prstGeom prst="line">
              <a:avLst/>
            </a:prstGeom>
            <a:ln w="9525">
              <a:solidFill>
                <a:srgbClr val="595959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TextBox 86"/>
            <p:cNvSpPr txBox="1"/>
            <p:nvPr/>
          </p:nvSpPr>
          <p:spPr>
            <a:xfrm>
              <a:off x="5349240" y="3496027"/>
              <a:ext cx="1280160" cy="1828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45720" tIns="27432" rIns="45720" bIns="27432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750" b="0" dirty="0">
                  <a:solidFill>
                    <a:srgbClr val="595959"/>
                  </a:solidFill>
                  <a:latin typeface="맑은 고딕"/>
                  <a:ea typeface="맑은 고딕"/>
                  <a:cs typeface="맑은 고딕"/>
                </a:rPr>
                <a:t>admit</a:t>
              </a: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5349240" y="2577203"/>
              <a:ext cx="1280160" cy="1828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45720" tIns="27432" rIns="45720" bIns="27432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750" b="0" dirty="0">
                  <a:solidFill>
                    <a:srgbClr val="595959"/>
                  </a:solidFill>
                  <a:latin typeface="맑은 고딕"/>
                  <a:ea typeface="맑은 고딕"/>
                  <a:cs typeface="맑은 고딕"/>
                </a:rPr>
                <a:t>Delta </a:t>
              </a:r>
              <a:r>
                <a:rPr sz="750" b="0" dirty="0" err="1">
                  <a:solidFill>
                    <a:srgbClr val="595959"/>
                  </a:solidFill>
                  <a:latin typeface="맑은 고딕"/>
                  <a:ea typeface="맑은 고딕"/>
                  <a:cs typeface="맑은 고딕"/>
                </a:rPr>
                <a:t>할당</a:t>
              </a:r>
              <a:endParaRPr sz="750" b="0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endParaRPr>
            </a:p>
          </p:txBody>
        </p:sp>
        <p:cxnSp>
          <p:nvCxnSpPr>
            <p:cNvPr id="89" name="Connector 35"/>
            <p:cNvCxnSpPr/>
            <p:nvPr/>
          </p:nvCxnSpPr>
          <p:spPr>
            <a:xfrm>
              <a:off x="3383280" y="3703319"/>
              <a:ext cx="640079" cy="251335"/>
            </a:xfrm>
            <a:prstGeom prst="line">
              <a:avLst/>
            </a:prstGeom>
            <a:ln w="9525">
              <a:solidFill>
                <a:srgbClr val="C55A1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/>
            <p:cNvSpPr txBox="1"/>
            <p:nvPr/>
          </p:nvSpPr>
          <p:spPr>
            <a:xfrm>
              <a:off x="3456432" y="3474720"/>
              <a:ext cx="457200" cy="1828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45720" tIns="27432" rIns="45720" bIns="27432" anchor="t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sz="700" b="0">
                  <a:solidFill>
                    <a:srgbClr val="C55A11"/>
                  </a:solidFill>
                  <a:latin typeface="맑은 고딕"/>
                  <a:ea typeface="맑은 고딕"/>
                  <a:cs typeface="맑은 고딕"/>
                </a:rPr>
                <a:t>plan</a:t>
              </a:r>
            </a:p>
          </p:txBody>
        </p:sp>
        <p:cxnSp>
          <p:nvCxnSpPr>
            <p:cNvPr id="91" name="Connector 37"/>
            <p:cNvCxnSpPr/>
            <p:nvPr/>
          </p:nvCxnSpPr>
          <p:spPr>
            <a:xfrm flipV="1">
              <a:off x="3474720" y="3017520"/>
              <a:ext cx="548640" cy="91440"/>
            </a:xfrm>
            <a:prstGeom prst="line">
              <a:avLst/>
            </a:prstGeom>
            <a:ln w="9525">
              <a:solidFill>
                <a:srgbClr val="7F7F7F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TextBox 91"/>
            <p:cNvSpPr txBox="1"/>
            <p:nvPr/>
          </p:nvSpPr>
          <p:spPr>
            <a:xfrm>
              <a:off x="3456432" y="2834640"/>
              <a:ext cx="457200" cy="1828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45720" tIns="27432" rIns="45720" bIns="27432" anchor="t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sz="700" b="0">
                  <a:solidFill>
                    <a:srgbClr val="595959"/>
                  </a:solidFill>
                  <a:latin typeface="맑은 고딕"/>
                  <a:ea typeface="맑은 고딕"/>
                  <a:cs typeface="맑은 고딕"/>
                </a:rPr>
                <a:t>Base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6847294" y="3808443"/>
            <a:ext cx="5074920" cy="700777"/>
            <a:chOff x="6847294" y="3507797"/>
            <a:chExt cx="5074920" cy="1241469"/>
          </a:xfrm>
        </p:grpSpPr>
        <p:sp>
          <p:nvSpPr>
            <p:cNvPr id="93" name="TextBox 92"/>
            <p:cNvSpPr txBox="1"/>
            <p:nvPr/>
          </p:nvSpPr>
          <p:spPr>
            <a:xfrm>
              <a:off x="6847294" y="3887257"/>
              <a:ext cx="822960" cy="27432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900" b="1">
                  <a:solidFill>
                    <a:srgbClr val="595959"/>
                  </a:solidFill>
                  <a:latin typeface="맑은 고딕"/>
                  <a:ea typeface="맑은 고딕"/>
                  <a:cs typeface="맑은 고딕"/>
                </a:rPr>
                <a:t>보완 전</a:t>
              </a:r>
            </a:p>
          </p:txBody>
        </p:sp>
        <p:sp>
          <p:nvSpPr>
            <p:cNvPr id="94" name="Rectangle 41"/>
            <p:cNvSpPr/>
            <p:nvPr/>
          </p:nvSpPr>
          <p:spPr>
            <a:xfrm>
              <a:off x="7715974" y="3782049"/>
              <a:ext cx="1049274" cy="365760"/>
            </a:xfrm>
            <a:prstGeom prst="rect">
              <a:avLst/>
            </a:prstGeom>
            <a:solidFill>
              <a:srgbClr val="F0F1F3"/>
            </a:solidFill>
            <a:ln w="10160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27432" rIns="0" bIns="27432" rtlCol="0" anchor="ctr"/>
            <a:lstStyle/>
            <a:p>
              <a:pPr algn="ctr">
                <a:spcAft>
                  <a:spcPts val="200"/>
                </a:spcAft>
              </a:pPr>
              <a:r>
                <a:rPr sz="800" b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Base</a:t>
              </a:r>
            </a:p>
          </p:txBody>
        </p:sp>
        <p:sp>
          <p:nvSpPr>
            <p:cNvPr id="95" name="Rectangle 42"/>
            <p:cNvSpPr/>
            <p:nvPr/>
          </p:nvSpPr>
          <p:spPr>
            <a:xfrm>
              <a:off x="8765248" y="3782049"/>
              <a:ext cx="185166" cy="365760"/>
            </a:xfrm>
            <a:prstGeom prst="rect">
              <a:avLst/>
            </a:prstGeom>
            <a:solidFill>
              <a:srgbClr val="FBE5D6"/>
            </a:solidFill>
            <a:ln w="1016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27432" rIns="0" bIns="27432" rtlCol="0" anchor="ctr"/>
            <a:lstStyle/>
            <a:p>
              <a:pPr algn="ctr">
                <a:spcAft>
                  <a:spcPts val="200"/>
                </a:spcAft>
              </a:pPr>
              <a:endParaRPr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7715974" y="3507797"/>
              <a:ext cx="1234440" cy="288981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sz="700" b="0" dirty="0">
                  <a:solidFill>
                    <a:srgbClr val="595959"/>
                  </a:solidFill>
                  <a:latin typeface="맑은 고딕"/>
                  <a:ea typeface="맑은 고딕"/>
                  <a:cs typeface="맑은 고딕"/>
                </a:rPr>
                <a:t>R1 (</a:t>
              </a:r>
              <a:r>
                <a:rPr sz="700" b="0" dirty="0" err="1">
                  <a:solidFill>
                    <a:srgbClr val="595959"/>
                  </a:solidFill>
                  <a:latin typeface="맑은 고딕"/>
                  <a:ea typeface="맑은 고딕"/>
                  <a:cs typeface="맑은 고딕"/>
                </a:rPr>
                <a:t>전체</a:t>
              </a:r>
              <a:r>
                <a:rPr sz="700" b="0" dirty="0">
                  <a:solidFill>
                    <a:srgbClr val="595959"/>
                  </a:solidFill>
                  <a:latin typeface="맑은 고딕"/>
                  <a:ea typeface="맑은 고딕"/>
                  <a:cs typeface="맑은 고딕"/>
                </a:rPr>
                <a:t> L </a:t>
              </a:r>
              <a:r>
                <a:rPr sz="700" b="0" dirty="0" err="1">
                  <a:solidFill>
                    <a:srgbClr val="595959"/>
                  </a:solidFill>
                  <a:latin typeface="맑은 고딕"/>
                  <a:ea typeface="맑은 고딕"/>
                  <a:cs typeface="맑은 고딕"/>
                </a:rPr>
                <a:t>복사</a:t>
              </a:r>
              <a:r>
                <a:rPr sz="700" b="0" dirty="0">
                  <a:solidFill>
                    <a:srgbClr val="595959"/>
                  </a:solidFill>
                  <a:latin typeface="맑은 고딕"/>
                  <a:ea typeface="맑은 고딕"/>
                  <a:cs typeface="맑은 고딕"/>
                </a:rPr>
                <a:t>)</a:t>
              </a:r>
            </a:p>
          </p:txBody>
        </p:sp>
        <p:sp>
          <p:nvSpPr>
            <p:cNvPr id="97" name="Rectangle 44"/>
            <p:cNvSpPr/>
            <p:nvPr/>
          </p:nvSpPr>
          <p:spPr>
            <a:xfrm>
              <a:off x="8950414" y="3782049"/>
              <a:ext cx="1049274" cy="365760"/>
            </a:xfrm>
            <a:prstGeom prst="rect">
              <a:avLst/>
            </a:prstGeom>
            <a:solidFill>
              <a:srgbClr val="F0F1F3"/>
            </a:solidFill>
            <a:ln w="10160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27432" rIns="0" bIns="27432" rtlCol="0" anchor="ctr"/>
            <a:lstStyle/>
            <a:p>
              <a:pPr algn="ctr">
                <a:spcAft>
                  <a:spcPts val="200"/>
                </a:spcAft>
              </a:pPr>
              <a:r>
                <a:rPr sz="800" b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Base</a:t>
              </a:r>
            </a:p>
          </p:txBody>
        </p:sp>
        <p:sp>
          <p:nvSpPr>
            <p:cNvPr id="98" name="Rectangle 45"/>
            <p:cNvSpPr/>
            <p:nvPr/>
          </p:nvSpPr>
          <p:spPr>
            <a:xfrm>
              <a:off x="9999688" y="3782049"/>
              <a:ext cx="185166" cy="365760"/>
            </a:xfrm>
            <a:prstGeom prst="rect">
              <a:avLst/>
            </a:prstGeom>
            <a:solidFill>
              <a:srgbClr val="FBE5D6"/>
            </a:solidFill>
            <a:ln w="1016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27432" rIns="0" bIns="27432" rtlCol="0" anchor="ctr"/>
            <a:lstStyle/>
            <a:p>
              <a:pPr algn="ctr">
                <a:spcAft>
                  <a:spcPts val="200"/>
                </a:spcAft>
              </a:pPr>
              <a:endParaRPr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8950414" y="3507797"/>
              <a:ext cx="1234440" cy="288981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sz="700" b="0">
                  <a:solidFill>
                    <a:srgbClr val="595959"/>
                  </a:solidFill>
                  <a:latin typeface="맑은 고딕"/>
                  <a:ea typeface="맑은 고딕"/>
                  <a:cs typeface="맑은 고딕"/>
                </a:rPr>
                <a:t>R2 (전체 L 복사)</a:t>
              </a:r>
            </a:p>
          </p:txBody>
        </p:sp>
        <p:sp>
          <p:nvSpPr>
            <p:cNvPr id="100" name="Rectangle 47"/>
            <p:cNvSpPr/>
            <p:nvPr/>
          </p:nvSpPr>
          <p:spPr>
            <a:xfrm>
              <a:off x="10184854" y="3782049"/>
              <a:ext cx="1049274" cy="365760"/>
            </a:xfrm>
            <a:prstGeom prst="rect">
              <a:avLst/>
            </a:prstGeom>
            <a:solidFill>
              <a:srgbClr val="F0F1F3"/>
            </a:solidFill>
            <a:ln w="10160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27432" rIns="0" bIns="27432" rtlCol="0" anchor="ctr"/>
            <a:lstStyle/>
            <a:p>
              <a:pPr algn="ctr">
                <a:spcAft>
                  <a:spcPts val="200"/>
                </a:spcAft>
              </a:pPr>
              <a:r>
                <a:rPr sz="800" b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Base</a:t>
              </a:r>
            </a:p>
          </p:txBody>
        </p:sp>
        <p:sp>
          <p:nvSpPr>
            <p:cNvPr id="101" name="Rectangle 48"/>
            <p:cNvSpPr/>
            <p:nvPr/>
          </p:nvSpPr>
          <p:spPr>
            <a:xfrm>
              <a:off x="11234128" y="3782049"/>
              <a:ext cx="185166" cy="365760"/>
            </a:xfrm>
            <a:prstGeom prst="rect">
              <a:avLst/>
            </a:prstGeom>
            <a:solidFill>
              <a:srgbClr val="FBE5D6"/>
            </a:solidFill>
            <a:ln w="1016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27432" rIns="0" bIns="27432" rtlCol="0" anchor="ctr"/>
            <a:lstStyle/>
            <a:p>
              <a:pPr algn="ctr">
                <a:spcAft>
                  <a:spcPts val="200"/>
                </a:spcAft>
              </a:pPr>
              <a:endParaRPr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0184854" y="3507797"/>
              <a:ext cx="1234440" cy="288981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sz="700" b="0">
                  <a:solidFill>
                    <a:srgbClr val="595959"/>
                  </a:solidFill>
                  <a:latin typeface="맑은 고딕"/>
                  <a:ea typeface="맑은 고딕"/>
                  <a:cs typeface="맑은 고딕"/>
                </a:rPr>
                <a:t>R3 (전체 L 복사)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11465014" y="3827769"/>
              <a:ext cx="457200" cy="27432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950" b="1">
                  <a:solidFill>
                    <a:srgbClr val="FF0000"/>
                  </a:solidFill>
                  <a:latin typeface="맑은 고딕"/>
                  <a:ea typeface="맑은 고딕"/>
                  <a:cs typeface="맑은 고딕"/>
                </a:rPr>
                <a:t>3.0 L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6847294" y="4474946"/>
              <a:ext cx="822960" cy="27432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900" b="1" dirty="0" err="1">
                  <a:solidFill>
                    <a:srgbClr val="C55A11"/>
                  </a:solidFill>
                  <a:latin typeface="맑은 고딕"/>
                  <a:ea typeface="맑은 고딕"/>
                  <a:cs typeface="맑은 고딕"/>
                </a:rPr>
                <a:t>보완</a:t>
              </a:r>
              <a:r>
                <a:rPr sz="900" b="1" dirty="0">
                  <a:solidFill>
                    <a:srgbClr val="C55A11"/>
                  </a:solidFill>
                  <a:latin typeface="맑은 고딕"/>
                  <a:ea typeface="맑은 고딕"/>
                  <a:cs typeface="맑은 고딕"/>
                </a:rPr>
                <a:t> 후</a:t>
              </a:r>
            </a:p>
          </p:txBody>
        </p:sp>
        <p:sp>
          <p:nvSpPr>
            <p:cNvPr id="110" name="Rectangle 52"/>
            <p:cNvSpPr/>
            <p:nvPr/>
          </p:nvSpPr>
          <p:spPr>
            <a:xfrm>
              <a:off x="7715974" y="4377956"/>
              <a:ext cx="1049274" cy="365760"/>
            </a:xfrm>
            <a:prstGeom prst="rect">
              <a:avLst/>
            </a:prstGeom>
            <a:solidFill>
              <a:srgbClr val="F0F1F3"/>
            </a:solidFill>
            <a:ln w="10160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27432" rIns="0" bIns="27432" rtlCol="0" anchor="ctr"/>
            <a:lstStyle/>
            <a:p>
              <a:pPr algn="ctr">
                <a:spcAft>
                  <a:spcPts val="200"/>
                </a:spcAft>
              </a:pPr>
              <a:r>
                <a:rPr sz="800" b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Base (공유 ×3)</a:t>
              </a:r>
            </a:p>
          </p:txBody>
        </p:sp>
        <p:sp>
          <p:nvSpPr>
            <p:cNvPr id="111" name="Rectangle 53"/>
            <p:cNvSpPr/>
            <p:nvPr/>
          </p:nvSpPr>
          <p:spPr>
            <a:xfrm>
              <a:off x="8765248" y="4377956"/>
              <a:ext cx="185166" cy="365760"/>
            </a:xfrm>
            <a:prstGeom prst="rect">
              <a:avLst/>
            </a:prstGeom>
            <a:solidFill>
              <a:srgbClr val="FBE5D6"/>
            </a:solidFill>
            <a:ln w="1016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27432" rIns="0" bIns="27432" rtlCol="0" anchor="ctr"/>
            <a:lstStyle/>
            <a:p>
              <a:pPr algn="ctr">
                <a:spcAft>
                  <a:spcPts val="200"/>
                </a:spcAft>
              </a:pPr>
              <a:r>
                <a:rPr sz="650" b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d1</a:t>
              </a:r>
            </a:p>
          </p:txBody>
        </p:sp>
        <p:sp>
          <p:nvSpPr>
            <p:cNvPr id="112" name="Rectangle 54"/>
            <p:cNvSpPr/>
            <p:nvPr/>
          </p:nvSpPr>
          <p:spPr>
            <a:xfrm>
              <a:off x="8950414" y="4377956"/>
              <a:ext cx="185166" cy="365760"/>
            </a:xfrm>
            <a:prstGeom prst="rect">
              <a:avLst/>
            </a:prstGeom>
            <a:solidFill>
              <a:srgbClr val="FBE5D6"/>
            </a:solidFill>
            <a:ln w="1016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27432" rIns="0" bIns="27432" rtlCol="0" anchor="ctr"/>
            <a:lstStyle/>
            <a:p>
              <a:pPr algn="ctr">
                <a:spcAft>
                  <a:spcPts val="200"/>
                </a:spcAft>
              </a:pPr>
              <a:r>
                <a:rPr sz="650" b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d2</a:t>
              </a:r>
            </a:p>
          </p:txBody>
        </p:sp>
        <p:sp>
          <p:nvSpPr>
            <p:cNvPr id="114" name="Rectangle 55"/>
            <p:cNvSpPr/>
            <p:nvPr/>
          </p:nvSpPr>
          <p:spPr>
            <a:xfrm>
              <a:off x="9135580" y="4377956"/>
              <a:ext cx="185166" cy="365760"/>
            </a:xfrm>
            <a:prstGeom prst="rect">
              <a:avLst/>
            </a:prstGeom>
            <a:solidFill>
              <a:srgbClr val="FBE5D6"/>
            </a:solidFill>
            <a:ln w="1016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27432" rIns="0" bIns="27432" rtlCol="0" anchor="ctr"/>
            <a:lstStyle/>
            <a:p>
              <a:pPr algn="ctr">
                <a:spcAft>
                  <a:spcPts val="200"/>
                </a:spcAft>
              </a:pPr>
              <a:r>
                <a:rPr sz="650" b="1">
                  <a:solidFill>
                    <a:srgbClr val="000000"/>
                  </a:solidFill>
                  <a:latin typeface="맑은 고딕"/>
                  <a:ea typeface="맑은 고딕"/>
                  <a:cs typeface="맑은 고딕"/>
                </a:rPr>
                <a:t>d3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8765248" y="4135201"/>
              <a:ext cx="1371600" cy="288981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700" b="0" dirty="0">
                  <a:solidFill>
                    <a:srgbClr val="C55A11"/>
                  </a:solidFill>
                  <a:latin typeface="맑은 고딕"/>
                  <a:ea typeface="맑은 고딕"/>
                  <a:cs typeface="맑은 고딕"/>
                </a:rPr>
                <a:t>Delta (</a:t>
              </a:r>
              <a:r>
                <a:rPr sz="700" b="0" dirty="0" err="1">
                  <a:solidFill>
                    <a:srgbClr val="C55A11"/>
                  </a:solidFill>
                  <a:latin typeface="맑은 고딕"/>
                  <a:ea typeface="맑은 고딕"/>
                  <a:cs typeface="맑은 고딕"/>
                </a:rPr>
                <a:t>요청별</a:t>
              </a:r>
              <a:r>
                <a:rPr sz="700" b="0" dirty="0">
                  <a:solidFill>
                    <a:srgbClr val="C55A11"/>
                  </a:solidFill>
                  <a:latin typeface="맑은 고딕"/>
                  <a:ea typeface="맑은 고딕"/>
                  <a:cs typeface="맑은 고딕"/>
                </a:rPr>
                <a:t>)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9407614" y="4423676"/>
              <a:ext cx="731520" cy="274320"/>
            </a:xfrm>
            <a:prstGeom prst="rect">
              <a:avLst/>
            </a:prstGeom>
            <a:noFill/>
          </p:spPr>
          <p:txBody>
            <a:bodyPr wrap="square" lIns="45720" tIns="27432" rIns="45720" bIns="27432" anchor="t">
              <a:spAutoFit/>
            </a:bodyPr>
            <a:lstStyle/>
            <a:p>
              <a:pPr algn="l">
                <a:spcAft>
                  <a:spcPts val="200"/>
                </a:spcAft>
              </a:pPr>
              <a:r>
                <a:rPr sz="950" b="1">
                  <a:solidFill>
                    <a:srgbClr val="FF0000"/>
                  </a:solidFill>
                  <a:latin typeface="맑은 고딕"/>
                  <a:ea typeface="맑은 고딕"/>
                  <a:cs typeface="맑은 고딕"/>
                </a:rPr>
                <a:t>1.3 L</a:t>
              </a:r>
            </a:p>
          </p:txBody>
        </p:sp>
      </p:grp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4E780B97-B2C1-448F-BF73-FB8F18044673}"/>
              </a:ext>
            </a:extLst>
          </p:cNvPr>
          <p:cNvSpPr/>
          <p:nvPr/>
        </p:nvSpPr>
        <p:spPr>
          <a:xfrm>
            <a:off x="6514419" y="1037703"/>
            <a:ext cx="5492576" cy="56075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Rectangle 39"/>
          <p:cNvSpPr/>
          <p:nvPr/>
        </p:nvSpPr>
        <p:spPr>
          <a:xfrm>
            <a:off x="6755917" y="3621597"/>
            <a:ext cx="5029200" cy="181686"/>
          </a:xfrm>
          <a:prstGeom prst="rect">
            <a:avLst/>
          </a:prstGeom>
          <a:solidFill>
            <a:srgbClr val="F2F2F2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 </a:t>
            </a:r>
            <a:r>
              <a:rPr sz="9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레이아웃</a:t>
            </a:r>
            <a:r>
              <a:rPr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(</a:t>
            </a:r>
            <a:r>
              <a:rPr sz="9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동시</a:t>
            </a:r>
            <a:r>
              <a:rPr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N=3, ρ=0.15 </a:t>
            </a:r>
            <a:r>
              <a:rPr sz="9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가정</a:t>
            </a:r>
            <a:r>
              <a:rPr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9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예시</a:t>
            </a:r>
            <a:r>
              <a:rPr sz="9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)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6790473" y="4534699"/>
            <a:ext cx="4580015" cy="379591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spcAft>
                <a:spcPts val="200"/>
              </a:spcAft>
            </a:pPr>
            <a:r>
              <a:rPr lang="en-US" altLang="ko-KR" sz="850" b="1" dirty="0">
                <a:solidFill>
                  <a:srgbClr val="404040"/>
                </a:solidFill>
                <a:ea typeface="맑은 고딕"/>
                <a:cs typeface="맑은 고딕"/>
              </a:rPr>
              <a:t>HBM = (1−ρ)·L + </a:t>
            </a:r>
            <a:r>
              <a:rPr lang="en-US" altLang="ko-KR" sz="850" b="1" dirty="0" err="1">
                <a:solidFill>
                  <a:srgbClr val="404040"/>
                </a:solidFill>
                <a:ea typeface="맑은 고딕"/>
                <a:cs typeface="맑은 고딕"/>
              </a:rPr>
              <a:t>N·ρ·L</a:t>
            </a:r>
            <a:r>
              <a:rPr lang="ko-KR" altLang="en-US" sz="850" b="1" dirty="0">
                <a:solidFill>
                  <a:srgbClr val="404040"/>
                </a:solidFill>
                <a:ea typeface="맑은 고딕"/>
                <a:cs typeface="맑은 고딕"/>
              </a:rPr>
              <a:t>  </a:t>
            </a:r>
            <a:r>
              <a:rPr lang="en-US" altLang="ko-KR" sz="850" b="1" dirty="0">
                <a:solidFill>
                  <a:srgbClr val="404040"/>
                </a:solidFill>
                <a:ea typeface="맑은 고딕"/>
                <a:cs typeface="맑은 고딕"/>
              </a:rPr>
              <a:t>vs  N·L  → N=3, ρ=0.15</a:t>
            </a:r>
            <a:r>
              <a:rPr lang="ko-KR" altLang="en-US" sz="850" b="1" dirty="0">
                <a:solidFill>
                  <a:srgbClr val="404040"/>
                </a:solidFill>
                <a:ea typeface="맑은 고딕"/>
                <a:cs typeface="맑은 고딕"/>
              </a:rPr>
              <a:t>에서 </a:t>
            </a:r>
            <a:r>
              <a:rPr lang="en-US" altLang="ko-KR" sz="850" b="1" dirty="0">
                <a:solidFill>
                  <a:srgbClr val="404040"/>
                </a:solidFill>
                <a:ea typeface="맑은 고딕"/>
                <a:cs typeface="맑은 고딕"/>
              </a:rPr>
              <a:t>3.0 L → 1.3 L (−57%)</a:t>
            </a:r>
          </a:p>
          <a:p>
            <a:pPr lvl="0">
              <a:spcAft>
                <a:spcPts val="200"/>
              </a:spcAft>
            </a:pPr>
            <a:r>
              <a:rPr lang="en-US" altLang="ko-KR" sz="850" dirty="0">
                <a:solidFill>
                  <a:srgbClr val="595959"/>
                </a:solidFill>
                <a:ea typeface="맑은 고딕"/>
                <a:cs typeface="맑은 고딕"/>
              </a:rPr>
              <a:t>N</a:t>
            </a:r>
            <a:r>
              <a:rPr lang="ko-KR" altLang="en-US" sz="850" dirty="0">
                <a:solidFill>
                  <a:srgbClr val="595959"/>
                </a:solidFill>
                <a:ea typeface="맑은 고딕"/>
                <a:cs typeface="맑은 고딕"/>
              </a:rPr>
              <a:t>이 커질수록 요청당 </a:t>
            </a:r>
            <a:r>
              <a:rPr lang="en-US" altLang="ko-KR" sz="850" dirty="0" err="1">
                <a:solidFill>
                  <a:srgbClr val="595959"/>
                </a:solidFill>
                <a:ea typeface="맑은 고딕"/>
                <a:cs typeface="맑은 고딕"/>
              </a:rPr>
              <a:t>ρ·L</a:t>
            </a:r>
            <a:r>
              <a:rPr lang="ko-KR" altLang="en-US" sz="850" dirty="0">
                <a:solidFill>
                  <a:srgbClr val="595959"/>
                </a:solidFill>
                <a:ea typeface="맑은 고딕"/>
                <a:cs typeface="맑은 고딕"/>
              </a:rPr>
              <a:t>에 수렴</a:t>
            </a:r>
            <a:r>
              <a:rPr lang="en-US" altLang="ko-KR" sz="850" dirty="0">
                <a:solidFill>
                  <a:srgbClr val="595959"/>
                </a:solidFill>
                <a:ea typeface="맑은 고딕"/>
                <a:cs typeface="맑은 고딕"/>
              </a:rPr>
              <a:t>. </a:t>
            </a:r>
            <a:r>
              <a:rPr lang="ko-KR" altLang="en-US" sz="850" dirty="0">
                <a:solidFill>
                  <a:srgbClr val="595959"/>
                </a:solidFill>
                <a:ea typeface="맑은 고딕"/>
                <a:cs typeface="맑은 고딕"/>
              </a:rPr>
              <a:t>재사용이 분산돼 </a:t>
            </a:r>
            <a:r>
              <a:rPr lang="en-US" altLang="ko-KR" sz="850" dirty="0">
                <a:solidFill>
                  <a:srgbClr val="595959"/>
                </a:solidFill>
                <a:ea typeface="맑은 고딕"/>
                <a:cs typeface="맑은 고딕"/>
              </a:rPr>
              <a:t>N≈1</a:t>
            </a:r>
            <a:r>
              <a:rPr lang="ko-KR" altLang="en-US" sz="850" dirty="0">
                <a:solidFill>
                  <a:srgbClr val="595959"/>
                </a:solidFill>
                <a:ea typeface="맑은 고딕"/>
                <a:cs typeface="맑은 고딕"/>
              </a:rPr>
              <a:t>이면 이득 없음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192849" y="2332514"/>
            <a:ext cx="420518" cy="1902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ko-KR" altLang="en-US" sz="1000" b="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요청</a:t>
            </a:r>
            <a:r>
              <a:rPr sz="1000" b="1" dirty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30" name="Rectangle 19"/>
          <p:cNvSpPr/>
          <p:nvPr/>
        </p:nvSpPr>
        <p:spPr>
          <a:xfrm>
            <a:off x="1611630" y="2259453"/>
            <a:ext cx="660317" cy="3239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유사도 계산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31" name="Connector 20"/>
          <p:cNvCxnSpPr/>
          <p:nvPr/>
        </p:nvCxnSpPr>
        <p:spPr>
          <a:xfrm>
            <a:off x="2271947" y="2421418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Rectangle 21"/>
          <p:cNvSpPr/>
          <p:nvPr/>
        </p:nvSpPr>
        <p:spPr>
          <a:xfrm>
            <a:off x="2445714" y="2259453"/>
            <a:ext cx="660317" cy="323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재사용 토큰 선정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35" name="Connector 22"/>
          <p:cNvCxnSpPr/>
          <p:nvPr/>
        </p:nvCxnSpPr>
        <p:spPr>
          <a:xfrm>
            <a:off x="3106033" y="2421418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23"/>
          <p:cNvSpPr/>
          <p:nvPr/>
        </p:nvSpPr>
        <p:spPr>
          <a:xfrm>
            <a:off x="3279801" y="2259453"/>
            <a:ext cx="660317" cy="323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토큰 선정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140" name="Connector 24"/>
          <p:cNvCxnSpPr/>
          <p:nvPr/>
        </p:nvCxnSpPr>
        <p:spPr>
          <a:xfrm>
            <a:off x="3940118" y="2421418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Rectangle 25"/>
          <p:cNvSpPr/>
          <p:nvPr/>
        </p:nvSpPr>
        <p:spPr>
          <a:xfrm>
            <a:off x="4113885" y="2259452"/>
            <a:ext cx="660317" cy="3239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선택적 </a:t>
            </a:r>
            <a:endParaRPr lang="en-US" altLang="ko-KR"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재계산</a:t>
            </a:r>
            <a:endParaRPr sz="800" b="1" dirty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1192849" y="2822457"/>
            <a:ext cx="420518" cy="1902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00" b="1" dirty="0">
                <a:solidFill>
                  <a:srgbClr val="595959"/>
                </a:solidFill>
                <a:ea typeface="맑은 고딕"/>
                <a:cs typeface="맑은 고딕"/>
              </a:rPr>
              <a:t>요청</a:t>
            </a:r>
            <a:r>
              <a:rPr lang="en-US" altLang="ko-KR" sz="1000" b="1" dirty="0">
                <a:solidFill>
                  <a:srgbClr val="595959"/>
                </a:solidFill>
                <a:ea typeface="맑은 고딕"/>
                <a:cs typeface="맑은 고딕"/>
              </a:rPr>
              <a:t>2</a:t>
            </a:r>
            <a:endParaRPr lang="ko-KR" altLang="en-US" sz="1000" b="1" dirty="0">
              <a:solidFill>
                <a:srgbClr val="595959"/>
              </a:solidFill>
              <a:ea typeface="맑은 고딕"/>
              <a:cs typeface="맑은 고딕"/>
            </a:endParaRPr>
          </a:p>
        </p:txBody>
      </p:sp>
      <p:sp>
        <p:nvSpPr>
          <p:cNvPr id="143" name="Rectangle 27"/>
          <p:cNvSpPr/>
          <p:nvPr/>
        </p:nvSpPr>
        <p:spPr>
          <a:xfrm>
            <a:off x="2444860" y="2749396"/>
            <a:ext cx="660317" cy="32393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유사도 계산</a:t>
            </a:r>
          </a:p>
        </p:txBody>
      </p:sp>
      <p:cxnSp>
        <p:nvCxnSpPr>
          <p:cNvPr id="146" name="Connector 28"/>
          <p:cNvCxnSpPr/>
          <p:nvPr/>
        </p:nvCxnSpPr>
        <p:spPr>
          <a:xfrm>
            <a:off x="3105177" y="2911362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9" name="Rectangle 29"/>
          <p:cNvSpPr/>
          <p:nvPr/>
        </p:nvSpPr>
        <p:spPr>
          <a:xfrm>
            <a:off x="3278944" y="2749396"/>
            <a:ext cx="660317" cy="323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재사용 토큰 선정</a:t>
            </a:r>
          </a:p>
        </p:txBody>
      </p:sp>
      <p:cxnSp>
        <p:nvCxnSpPr>
          <p:cNvPr id="151" name="Connector 30"/>
          <p:cNvCxnSpPr/>
          <p:nvPr/>
        </p:nvCxnSpPr>
        <p:spPr>
          <a:xfrm>
            <a:off x="3939263" y="2911362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ectangle 31"/>
          <p:cNvSpPr/>
          <p:nvPr/>
        </p:nvSpPr>
        <p:spPr>
          <a:xfrm>
            <a:off x="4113031" y="2749396"/>
            <a:ext cx="660317" cy="323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 토큰 선정</a:t>
            </a:r>
          </a:p>
        </p:txBody>
      </p:sp>
      <p:cxnSp>
        <p:nvCxnSpPr>
          <p:cNvPr id="156" name="Connector 32"/>
          <p:cNvCxnSpPr/>
          <p:nvPr/>
        </p:nvCxnSpPr>
        <p:spPr>
          <a:xfrm>
            <a:off x="4773348" y="2911362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ectangle 33"/>
          <p:cNvSpPr/>
          <p:nvPr/>
        </p:nvSpPr>
        <p:spPr>
          <a:xfrm>
            <a:off x="4947115" y="2749396"/>
            <a:ext cx="660317" cy="3239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선택적 </a:t>
            </a:r>
          </a:p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재계산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92849" y="3312401"/>
            <a:ext cx="420518" cy="1902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spcAft>
                <a:spcPts val="200"/>
              </a:spcAft>
            </a:pPr>
            <a:r>
              <a:rPr lang="ko-KR" altLang="en-US" sz="1000" b="1" dirty="0">
                <a:solidFill>
                  <a:srgbClr val="595959"/>
                </a:solidFill>
                <a:ea typeface="맑은 고딕"/>
                <a:cs typeface="맑은 고딕"/>
              </a:rPr>
              <a:t>요청</a:t>
            </a:r>
            <a:r>
              <a:rPr lang="en-US" altLang="ko-KR" sz="1000" b="1" dirty="0">
                <a:solidFill>
                  <a:srgbClr val="595959"/>
                </a:solidFill>
                <a:ea typeface="맑은 고딕"/>
                <a:cs typeface="맑은 고딕"/>
              </a:rPr>
              <a:t>3</a:t>
            </a:r>
            <a:endParaRPr lang="ko-KR" altLang="en-US" sz="1000" b="1" dirty="0">
              <a:solidFill>
                <a:srgbClr val="595959"/>
              </a:solidFill>
              <a:ea typeface="맑은 고딕"/>
              <a:cs typeface="맑은 고딕"/>
            </a:endParaRPr>
          </a:p>
        </p:txBody>
      </p:sp>
      <p:sp>
        <p:nvSpPr>
          <p:cNvPr id="163" name="Rectangle 35"/>
          <p:cNvSpPr/>
          <p:nvPr/>
        </p:nvSpPr>
        <p:spPr>
          <a:xfrm>
            <a:off x="3272288" y="3239339"/>
            <a:ext cx="660317" cy="323930"/>
          </a:xfrm>
          <a:prstGeom prst="rect">
            <a:avLst/>
          </a:prstGeom>
          <a:solidFill>
            <a:srgbClr val="F0F1F3"/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유사도 계산</a:t>
            </a:r>
          </a:p>
        </p:txBody>
      </p:sp>
      <p:cxnSp>
        <p:nvCxnSpPr>
          <p:cNvPr id="164" name="Connector 36"/>
          <p:cNvCxnSpPr/>
          <p:nvPr/>
        </p:nvCxnSpPr>
        <p:spPr>
          <a:xfrm>
            <a:off x="3932605" y="3401305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ectangle 37"/>
          <p:cNvSpPr/>
          <p:nvPr/>
        </p:nvSpPr>
        <p:spPr>
          <a:xfrm>
            <a:off x="4106372" y="3239339"/>
            <a:ext cx="660317" cy="3239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재사용 토큰 선정</a:t>
            </a:r>
          </a:p>
        </p:txBody>
      </p:sp>
      <p:cxnSp>
        <p:nvCxnSpPr>
          <p:cNvPr id="166" name="Connector 38"/>
          <p:cNvCxnSpPr/>
          <p:nvPr/>
        </p:nvCxnSpPr>
        <p:spPr>
          <a:xfrm>
            <a:off x="4766691" y="3401305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ectangle 39"/>
          <p:cNvSpPr/>
          <p:nvPr/>
        </p:nvSpPr>
        <p:spPr>
          <a:xfrm>
            <a:off x="4940459" y="3239339"/>
            <a:ext cx="660317" cy="3239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 err="1">
                <a:solidFill>
                  <a:srgbClr val="000000"/>
                </a:solidFill>
                <a:ea typeface="맑은 고딕"/>
                <a:cs typeface="맑은 고딕"/>
              </a:rPr>
              <a:t>재연산</a:t>
            </a: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 토큰 선정</a:t>
            </a:r>
          </a:p>
        </p:txBody>
      </p:sp>
      <p:cxnSp>
        <p:nvCxnSpPr>
          <p:cNvPr id="168" name="Connector 40"/>
          <p:cNvCxnSpPr/>
          <p:nvPr/>
        </p:nvCxnSpPr>
        <p:spPr>
          <a:xfrm>
            <a:off x="5600776" y="3401305"/>
            <a:ext cx="173768" cy="0"/>
          </a:xfrm>
          <a:prstGeom prst="line">
            <a:avLst/>
          </a:prstGeom>
          <a:ln w="28575">
            <a:solidFill>
              <a:srgbClr val="2E75B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Rectangle 41"/>
          <p:cNvSpPr/>
          <p:nvPr/>
        </p:nvSpPr>
        <p:spPr>
          <a:xfrm>
            <a:off x="5774543" y="3239340"/>
            <a:ext cx="660317" cy="3239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524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선택적 </a:t>
            </a:r>
          </a:p>
          <a:p>
            <a:pPr lvl="0" algn="ctr">
              <a:spcAft>
                <a:spcPts val="200"/>
              </a:spcAft>
            </a:pPr>
            <a:r>
              <a:rPr lang="ko-KR" altLang="en-US" sz="800" b="1" dirty="0">
                <a:solidFill>
                  <a:srgbClr val="000000"/>
                </a:solidFill>
                <a:ea typeface="맑은 고딕"/>
                <a:cs typeface="맑은 고딕"/>
              </a:rPr>
              <a:t>재계산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271552" y="1944788"/>
            <a:ext cx="1503466" cy="18620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요청마다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분석</a:t>
            </a:r>
            <a:r>
              <a:rPr lang="en-US"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850" b="1" dirty="0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3단계 </a:t>
            </a:r>
            <a:r>
              <a:rPr sz="850" b="1" dirty="0" err="1">
                <a:solidFill>
                  <a:srgbClr val="FF0000"/>
                </a:solidFill>
                <a:latin typeface="맑은 고딕"/>
                <a:ea typeface="맑은 고딕"/>
                <a:cs typeface="맑은 고딕"/>
              </a:rPr>
              <a:t>반복</a:t>
            </a:r>
            <a:endParaRPr sz="850" b="1" dirty="0">
              <a:solidFill>
                <a:srgbClr val="FF000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1" name="실행 단추: 앞으로 또는 다음 170">
            <a:hlinkClick r:id="" action="ppaction://noaction" highlightClick="1"/>
          </p:cNvPr>
          <p:cNvSpPr/>
          <p:nvPr/>
        </p:nvSpPr>
        <p:spPr>
          <a:xfrm>
            <a:off x="569407" y="3283938"/>
            <a:ext cx="213360" cy="18435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KV Cache Manager">
            <a:extLst>
              <a:ext uri="{FF2B5EF4-FFF2-40B4-BE49-F238E27FC236}">
                <a16:creationId xmlns:a16="http://schemas.microsoft.com/office/drawing/2014/main" id="{7193BC83-981B-478E-BB00-B0CCD220C611}"/>
              </a:ext>
            </a:extLst>
          </p:cNvPr>
          <p:cNvSpPr/>
          <p:nvPr/>
        </p:nvSpPr>
        <p:spPr>
          <a:xfrm>
            <a:off x="11185692" y="4590767"/>
            <a:ext cx="713111" cy="1864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18000" rIns="36000" bIns="18000" rtlCol="0" anchor="ctr">
            <a:noAutofit/>
          </a:bodyPr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QA2 </a:t>
            </a:r>
            <a:r>
              <a:rPr lang="ko-KR" altLang="en-US" sz="800" b="1" dirty="0">
                <a:solidFill>
                  <a:schemeClr val="tx1"/>
                </a:solidFill>
              </a:rPr>
              <a:t>보완</a:t>
            </a:r>
            <a:endParaRPr lang="en-US" altLang="ko-KR" sz="800" b="1" dirty="0">
              <a:solidFill>
                <a:schemeClr val="tx1"/>
              </a:solidFill>
            </a:endParaRP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C84C114C-72C6-4726-8195-A62CCA108A92}"/>
              </a:ext>
            </a:extLst>
          </p:cNvPr>
          <p:cNvSpPr/>
          <p:nvPr/>
        </p:nvSpPr>
        <p:spPr>
          <a:xfrm>
            <a:off x="11121927" y="4366417"/>
            <a:ext cx="805575" cy="469264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</a:rPr>
              <a:t>Legend</a:t>
            </a:r>
            <a:endParaRPr lang="ko-KR" altLang="en-US" sz="800" b="1" dirty="0">
              <a:solidFill>
                <a:schemeClr val="tx1"/>
              </a:solidFill>
            </a:endParaRPr>
          </a:p>
        </p:txBody>
      </p:sp>
      <p:sp>
        <p:nvSpPr>
          <p:cNvPr id="133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7784892" y="619129"/>
            <a:ext cx="1095752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C2 </a:t>
            </a:r>
            <a:r>
              <a:rPr lang="ko-KR" altLang="en-US" sz="700" dirty="0">
                <a:latin typeface="맑은 고딕" panose="020B0503020000020004" pitchFamily="50" charset="-127"/>
              </a:rPr>
              <a:t>추론 정확도 보장</a:t>
            </a:r>
          </a:p>
        </p:txBody>
      </p:sp>
      <p:sp>
        <p:nvSpPr>
          <p:cNvPr id="136" name="모서리가 둥근 직사각형 135"/>
          <p:cNvSpPr/>
          <p:nvPr/>
        </p:nvSpPr>
        <p:spPr>
          <a:xfrm>
            <a:off x="10024136" y="624622"/>
            <a:ext cx="910691" cy="13449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실행</a:t>
            </a:r>
          </a:p>
        </p:txBody>
      </p:sp>
      <p:sp>
        <p:nvSpPr>
          <p:cNvPr id="144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8339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F4 KV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캐시 관리</a:t>
            </a:r>
          </a:p>
        </p:txBody>
      </p:sp>
      <p:sp>
        <p:nvSpPr>
          <p:cNvPr id="145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9430793" y="808072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147" name="모서리가 둥근 직사각형 37">
            <a:extLst>
              <a:ext uri="{FF2B5EF4-FFF2-40B4-BE49-F238E27FC236}">
                <a16:creationId xmlns:a16="http://schemas.microsoft.com/office/drawing/2014/main" id="{63E127C8-1374-4049-8A7A-84E9B191F365}"/>
              </a:ext>
            </a:extLst>
          </p:cNvPr>
          <p:cNvSpPr/>
          <p:nvPr/>
        </p:nvSpPr>
        <p:spPr>
          <a:xfrm>
            <a:off x="10320379" y="815469"/>
            <a:ext cx="836886" cy="147945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Q2 HBM </a:t>
            </a:r>
            <a:r>
              <a:rPr lang="ko-KR" altLang="en-US" sz="700" dirty="0">
                <a:latin typeface="맑은 고딕" panose="020B0503020000020004" pitchFamily="50" charset="-127"/>
              </a:rPr>
              <a:t>점유율</a:t>
            </a:r>
          </a:p>
        </p:txBody>
      </p:sp>
      <p:sp>
        <p:nvSpPr>
          <p:cNvPr id="148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1209965" y="808072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8958662" y="617897"/>
            <a:ext cx="1001760" cy="14794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F2 </a:t>
            </a:r>
            <a:r>
              <a:rPr lang="ko-KR" altLang="en-US" sz="7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추론 스케줄링</a:t>
            </a:r>
          </a:p>
        </p:txBody>
      </p:sp>
      <p:sp>
        <p:nvSpPr>
          <p:cNvPr id="6" name="실행 단추: 앞으로 또는 다음 5">
            <a:hlinkClick r:id="" action="ppaction://noaction" highlightClick="1"/>
          </p:cNvPr>
          <p:cNvSpPr/>
          <p:nvPr/>
        </p:nvSpPr>
        <p:spPr>
          <a:xfrm>
            <a:off x="11370488" y="1162050"/>
            <a:ext cx="230962" cy="18415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437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34949" y="1032440"/>
          <a:ext cx="11747501" cy="5447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4382236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053818">
                  <a:extLst>
                    <a:ext uri="{9D8B030D-6E8A-4147-A177-3AD203B41FA5}">
                      <a16:colId xmlns:a16="http://schemas.microsoft.com/office/drawing/2014/main" val="4114062400"/>
                    </a:ext>
                  </a:extLst>
                </a:gridCol>
                <a:gridCol w="448818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947866">
                  <a:extLst>
                    <a:ext uri="{9D8B030D-6E8A-4147-A177-3AD203B41FA5}">
                      <a16:colId xmlns:a16="http://schemas.microsoft.com/office/drawing/2014/main" val="2026705357"/>
                    </a:ext>
                  </a:extLst>
                </a:gridCol>
              </a:tblGrid>
              <a:tr h="358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(1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</a:t>
                      </a:r>
                      <a:r>
                        <a:rPr lang="ko-KR" altLang="en-US" sz="1200" b="1" dirty="0"/>
                        <a:t>중앙 서버 중재 구조 </a:t>
                      </a:r>
                      <a:endParaRPr lang="ko-KR" altLang="en-US" sz="105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(2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락 </a:t>
                      </a:r>
                      <a:r>
                        <a:rPr lang="ko-KR" altLang="en-US" sz="1200" b="1" dirty="0"/>
                        <a:t>기반 직접 접근 </a:t>
                      </a:r>
                      <a:r>
                        <a:rPr lang="en-US" altLang="ko-KR" sz="1200" b="1" dirty="0" err="1"/>
                        <a:t>구조</a:t>
                      </a:r>
                      <a:endParaRPr lang="en-US" altLang="ko-KR" sz="105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5176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47401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중앙에서 동기화를 일괄 처리하여 요청당 동기화 오버헤드가 작음 </a:t>
                      </a:r>
                      <a:r>
                        <a:rPr lang="en-US" altLang="ko-KR" sz="1200" dirty="0"/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중앙에서 요청 순서와 동시 처리량을 제어하여 경합 관리에 유리 </a:t>
                      </a:r>
                      <a:r>
                        <a:rPr lang="en-US" altLang="ko-KR" sz="1200" dirty="0"/>
                        <a:t>(Q3)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중앙 병목은 회피 및 분산 병렬 처리에 유리</a:t>
                      </a:r>
                      <a:r>
                        <a:rPr lang="en-US" altLang="ko-KR" sz="1200" dirty="0"/>
                        <a:t>(Q1,</a:t>
                      </a:r>
                      <a:r>
                        <a:rPr lang="en-US" altLang="ko-KR" sz="1200" baseline="0" dirty="0"/>
                        <a:t> Q3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 err="1"/>
                        <a:t>노드별</a:t>
                      </a:r>
                      <a:r>
                        <a:rPr lang="ko-KR" altLang="en-US" sz="1200" dirty="0"/>
                        <a:t> 분산 처리로 </a:t>
                      </a:r>
                      <a:r>
                        <a:rPr lang="ko-KR" altLang="en-US" sz="1200" dirty="0" err="1"/>
                        <a:t>병렬성</a:t>
                      </a:r>
                      <a:r>
                        <a:rPr lang="ko-KR" altLang="en-US" sz="1200" dirty="0"/>
                        <a:t> 확보 및 수평 확장에 유리 </a:t>
                      </a:r>
                      <a:r>
                        <a:rPr lang="en-US" altLang="ko-KR" sz="1200" dirty="0"/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고부하 시 서버 집중에 따른 병목 가능 </a:t>
                      </a:r>
                      <a:r>
                        <a:rPr lang="en-US" altLang="ko-KR" sz="1200" dirty="0"/>
                        <a:t>(</a:t>
                      </a:r>
                      <a:r>
                        <a:rPr lang="en-US" altLang="ko-KR" sz="1200" baseline="0" dirty="0"/>
                        <a:t>Q3) </a:t>
                      </a:r>
                      <a:endParaRPr lang="en-US" altLang="ko-KR" sz="12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노드 증가 시 중앙 서버의 처리 용량이 확장 한계로 작용</a:t>
                      </a:r>
                      <a:r>
                        <a:rPr lang="en-US" altLang="ko-KR" sz="1200" dirty="0"/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 err="1"/>
                        <a:t>락</a:t>
                      </a:r>
                      <a:r>
                        <a:rPr lang="ko-KR" altLang="en-US" sz="1200" dirty="0"/>
                        <a:t> 획득 및 공유 데이터 접근에 따른 동기화 오버헤드 발생</a:t>
                      </a:r>
                      <a:r>
                        <a:rPr lang="en-US" altLang="ko-KR" sz="1200" baseline="0" dirty="0"/>
                        <a:t> 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고부하 시 </a:t>
                      </a:r>
                      <a:r>
                        <a:rPr lang="ko-KR" altLang="en-US" sz="1200" dirty="0" err="1"/>
                        <a:t>락</a:t>
                      </a:r>
                      <a:r>
                        <a:rPr lang="ko-KR" altLang="en-US" sz="1200" dirty="0"/>
                        <a:t> 경합 및 대기시간 증가로 지연 편차 확대 </a:t>
                      </a:r>
                      <a:r>
                        <a:rPr lang="en-US" altLang="ko-KR" sz="1200" dirty="0"/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4048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200" b="0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●●◐</a:t>
                      </a:r>
                      <a:endParaRPr lang="en-US" altLang="ko-KR" sz="1200" b="0" dirty="0">
                        <a:solidFill>
                          <a:srgbClr val="0066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vl="0"/>
                      <a:r>
                        <a:rPr lang="ko-KR" altLang="en-US" sz="1200" b="0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b="0" dirty="0">
                        <a:solidFill>
                          <a:srgbClr val="0066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vl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Q1.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처리량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ko-KR" altLang="en-US" sz="1200" strike="noStrike" dirty="0">
                        <a:solidFill>
                          <a:srgbClr val="0066FF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●◐○</a:t>
                      </a:r>
                      <a:endParaRPr lang="ko-KR" altLang="en-US" sz="1200" strike="noStrike" dirty="0">
                        <a:solidFill>
                          <a:srgbClr val="0066FF"/>
                        </a:solidFill>
                      </a:endParaRPr>
                    </a:p>
                    <a:p>
                      <a:pPr lvl="0"/>
                      <a:r>
                        <a:rPr lang="ko-KR" altLang="en-US" sz="1200" b="0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endParaRPr lang="en-US" altLang="ko-KR" sz="1200" b="0" dirty="0">
                        <a:solidFill>
                          <a:srgbClr val="0066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182" name="Rectangle 181"/>
          <p:cNvSpPr/>
          <p:nvPr/>
        </p:nvSpPr>
        <p:spPr>
          <a:xfrm>
            <a:off x="8269663" y="2029256"/>
            <a:ext cx="1874519" cy="1532336"/>
          </a:xfrm>
          <a:prstGeom prst="rect">
            <a:avLst/>
          </a:prstGeom>
          <a:solidFill>
            <a:schemeClr val="bg1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8269663" y="2029256"/>
            <a:ext cx="1415491" cy="17373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r>
              <a:rPr lang="ko-KR" altLang="en-US" sz="700" b="1" dirty="0">
                <a:solidFill>
                  <a:srgbClr val="FFFFFF"/>
                </a:solidFill>
                <a:ea typeface="맑은 고딕"/>
              </a:rPr>
              <a:t>공유 메모리 풀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361103" y="2349296"/>
            <a:ext cx="1691640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공유 데이터 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8361103" y="2733344"/>
            <a:ext cx="1691640" cy="3812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900" b="1" dirty="0">
                <a:solidFill>
                  <a:schemeClr val="tx1"/>
                </a:solidFill>
                <a:ea typeface="맑은 고딕"/>
              </a:rPr>
              <a:t>공유 메타데이터</a:t>
            </a: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해시 테이블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· allocator · LRU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361103" y="3195993"/>
            <a:ext cx="169164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전역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 락 </a:t>
            </a:r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배열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 (</a:t>
            </a:r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노드별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슬롯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DP4. </a:t>
            </a:r>
            <a:r>
              <a:rPr lang="en-US" altLang="ko-KR" dirty="0" err="1"/>
              <a:t>서버</a:t>
            </a:r>
            <a:r>
              <a:rPr lang="en-US" altLang="ko-KR" dirty="0"/>
              <a:t> 간 KV </a:t>
            </a:r>
            <a:r>
              <a:rPr lang="ko-KR" altLang="en-US" dirty="0"/>
              <a:t>캐시 </a:t>
            </a:r>
            <a:r>
              <a:rPr lang="en-US" altLang="ko-KR" dirty="0" err="1"/>
              <a:t>공유</a:t>
            </a:r>
            <a:r>
              <a:rPr lang="en-US" altLang="ko-KR" dirty="0"/>
              <a:t> </a:t>
            </a:r>
            <a:r>
              <a:rPr lang="en-US" altLang="ko-KR" dirty="0" err="1"/>
              <a:t>구조</a:t>
            </a:r>
            <a:r>
              <a:rPr lang="en-US" altLang="ko-KR" dirty="0"/>
              <a:t> – </a:t>
            </a:r>
            <a:r>
              <a:rPr lang="ko-KR" altLang="en-US" dirty="0"/>
              <a:t>설계</a:t>
            </a:r>
            <a:endParaRPr lang="ko-KR" altLang="en-US" strike="sngStrike" dirty="0"/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940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공유 </a:t>
            </a:r>
            <a:r>
              <a:rPr lang="en-US" altLang="ko-KR" sz="1400" b="1" dirty="0">
                <a:solidFill>
                  <a:schemeClr val="bg1"/>
                </a:solidFill>
              </a:rPr>
              <a:t>KV </a:t>
            </a:r>
            <a:r>
              <a:rPr lang="ko-KR" altLang="en-US" sz="1400" b="1" dirty="0">
                <a:solidFill>
                  <a:schemeClr val="bg1"/>
                </a:solidFill>
              </a:rPr>
              <a:t>캐시의 데이터 정합성을 보장하면서 동기화 방식을 최적화하는 구조 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37" name="TextBox 136"/>
          <p:cNvSpPr txBox="1"/>
          <p:nvPr/>
        </p:nvSpPr>
        <p:spPr>
          <a:xfrm>
            <a:off x="1111250" y="1430748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“메타데이터 서버가 </a:t>
            </a:r>
            <a:r>
              <a:rPr lang="en-US" altLang="ko-KR" sz="1100" dirty="0" err="1"/>
              <a:t>모든</a:t>
            </a:r>
            <a:r>
              <a:rPr lang="en-US" altLang="ko-KR" sz="1100" dirty="0"/>
              <a:t> </a:t>
            </a:r>
            <a:r>
              <a:rPr lang="en-US" altLang="ko-KR" sz="1100" dirty="0" err="1"/>
              <a:t>갱신을</a:t>
            </a:r>
            <a:r>
              <a:rPr lang="en-US" altLang="ko-KR" sz="1100" dirty="0"/>
              <a:t> </a:t>
            </a:r>
            <a:r>
              <a:rPr lang="ko-KR" altLang="en-US" sz="1100" dirty="0"/>
              <a:t>관리</a:t>
            </a:r>
            <a:r>
              <a:rPr lang="en-US" altLang="ko-KR" sz="1100" dirty="0" err="1"/>
              <a:t>하고</a:t>
            </a:r>
            <a:r>
              <a:rPr lang="en-US" altLang="ko-KR" sz="1100" dirty="0"/>
              <a:t>, </a:t>
            </a:r>
            <a:r>
              <a:rPr lang="ko-KR" altLang="en-US" sz="1100" dirty="0"/>
              <a:t>각 </a:t>
            </a:r>
            <a:r>
              <a:rPr lang="en-US" altLang="ko-KR" sz="1100" dirty="0" err="1"/>
              <a:t>노드</a:t>
            </a:r>
            <a:r>
              <a:rPr lang="en-US" altLang="ko-KR" sz="1100" dirty="0"/>
              <a:t>(Client)</a:t>
            </a:r>
            <a:r>
              <a:rPr lang="ko-KR" altLang="en-US" sz="1100" dirty="0"/>
              <a:t>가 서버에 </a:t>
            </a:r>
            <a:r>
              <a:rPr lang="en-US" altLang="ko-KR" sz="1100" dirty="0" err="1"/>
              <a:t>요청</a:t>
            </a:r>
            <a:r>
              <a:rPr lang="en-US" altLang="ko-KR" sz="1100" dirty="0"/>
              <a:t>”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34149" y="1416420"/>
            <a:ext cx="5543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“메타데이터를 공유 메모리에 두고 모든 </a:t>
            </a:r>
            <a:r>
              <a:rPr lang="en-US" altLang="ko-KR" sz="1100" dirty="0" err="1"/>
              <a:t>노드가</a:t>
            </a:r>
            <a:r>
              <a:rPr lang="en-US" altLang="ko-KR" sz="1100" dirty="0"/>
              <a:t> </a:t>
            </a:r>
            <a:r>
              <a:rPr lang="en-US" altLang="ko-KR" sz="1100" dirty="0" err="1"/>
              <a:t>락으로</a:t>
            </a:r>
            <a:r>
              <a:rPr lang="en-US" altLang="ko-KR" sz="1100" dirty="0"/>
              <a:t> </a:t>
            </a:r>
            <a:r>
              <a:rPr lang="en-US" altLang="ko-KR" sz="1100" dirty="0" err="1"/>
              <a:t>직접</a:t>
            </a:r>
            <a:r>
              <a:rPr lang="en-US" altLang="ko-KR" sz="1100" dirty="0"/>
              <a:t> </a:t>
            </a:r>
            <a:r>
              <a:rPr lang="en-US" altLang="ko-KR" sz="1100" dirty="0" err="1"/>
              <a:t>갱신</a:t>
            </a:r>
            <a:r>
              <a:rPr lang="en-US" altLang="ko-KR" sz="1100" dirty="0"/>
              <a:t>”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261872" y="2120695"/>
            <a:ext cx="1417320" cy="2000031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261872" y="2120695"/>
            <a:ext cx="1161620" cy="18321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pPr algn="l"/>
            <a:r>
              <a:rPr sz="700" b="1" i="0" dirty="0">
                <a:solidFill>
                  <a:schemeClr val="tx1"/>
                </a:solidFill>
                <a:latin typeface="맑은 고딕"/>
                <a:ea typeface="맑은 고딕"/>
              </a:rPr>
              <a:t>«node» P </a:t>
            </a:r>
            <a:r>
              <a:rPr sz="700" b="1" i="0" dirty="0" err="1">
                <a:solidFill>
                  <a:schemeClr val="tx1"/>
                </a:solidFill>
                <a:latin typeface="맑은 고딕"/>
                <a:ea typeface="맑은 고딕"/>
              </a:rPr>
              <a:t>노드</a:t>
            </a:r>
            <a:r>
              <a:rPr lang="en-US" sz="700" b="1" i="0" dirty="0">
                <a:solidFill>
                  <a:schemeClr val="tx1"/>
                </a:solidFill>
                <a:latin typeface="맑은 고딕"/>
                <a:ea typeface="맑은 고딕"/>
              </a:rPr>
              <a:t> (Client)</a:t>
            </a:r>
            <a:endParaRPr sz="700" b="1" i="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42" name="Rectangle 141"/>
          <p:cNvSpPr/>
          <p:nvPr/>
        </p:nvSpPr>
        <p:spPr>
          <a:xfrm>
            <a:off x="1371600" y="2440496"/>
            <a:ext cx="1188720" cy="27480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Migration Executor</a:t>
            </a:r>
            <a:endParaRPr sz="800" dirty="0">
              <a:solidFill>
                <a:srgbClr val="1A1A1A"/>
              </a:solidFill>
              <a:latin typeface="Malgun Gothic" pitchFamily="34" charset="0"/>
              <a:ea typeface="Malgun Gothic" pitchFamily="34" charset="-122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4979855" y="2120696"/>
            <a:ext cx="1417320" cy="200003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 dirty="0"/>
          </a:p>
        </p:txBody>
      </p:sp>
      <p:sp>
        <p:nvSpPr>
          <p:cNvPr id="147" name="Rectangle 146"/>
          <p:cNvSpPr/>
          <p:nvPr/>
        </p:nvSpPr>
        <p:spPr>
          <a:xfrm>
            <a:off x="4979854" y="2120696"/>
            <a:ext cx="1096691" cy="18321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r>
              <a:rPr sz="700" b="1" dirty="0">
                <a:solidFill>
                  <a:schemeClr val="tx1"/>
                </a:solidFill>
                <a:latin typeface="맑은 고딕"/>
                <a:ea typeface="맑은 고딕"/>
              </a:rPr>
              <a:t>«node» D </a:t>
            </a:r>
            <a:r>
              <a:rPr sz="700" b="1" dirty="0" err="1">
                <a:solidFill>
                  <a:schemeClr val="tx1"/>
                </a:solidFill>
                <a:latin typeface="맑은 고딕"/>
                <a:ea typeface="맑은 고딕"/>
              </a:rPr>
              <a:t>노드</a:t>
            </a:r>
            <a:r>
              <a:rPr lang="en-US" sz="700" b="1" dirty="0">
                <a:solidFill>
                  <a:schemeClr val="tx1"/>
                </a:solidFill>
                <a:latin typeface="맑은 고딕"/>
                <a:ea typeface="맑은 고딕"/>
              </a:rPr>
              <a:t> (Client)</a:t>
            </a:r>
            <a:endParaRPr sz="700" b="1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5089583" y="2440496"/>
            <a:ext cx="1188720" cy="27480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Migration Executor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019667" y="2029255"/>
            <a:ext cx="1704108" cy="1532337"/>
          </a:xfrm>
          <a:prstGeom prst="rect">
            <a:avLst/>
          </a:prstGeom>
          <a:solidFill>
            <a:schemeClr val="bg1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3017852" y="2029256"/>
            <a:ext cx="1286810" cy="17373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pPr algn="l"/>
            <a:r>
              <a:rPr lang="ko-KR" altLang="en-US" sz="700" b="1" i="0" dirty="0">
                <a:solidFill>
                  <a:srgbClr val="FFFFFF"/>
                </a:solidFill>
                <a:latin typeface="맑은 고딕"/>
                <a:ea typeface="맑은 고딕"/>
              </a:rPr>
              <a:t>공유 메모리 풀</a:t>
            </a:r>
            <a:endParaRPr sz="70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4" name="Rectangle 153"/>
          <p:cNvSpPr/>
          <p:nvPr/>
        </p:nvSpPr>
        <p:spPr>
          <a:xfrm>
            <a:off x="3124504" y="2373264"/>
            <a:ext cx="1537855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ko-KR" altLang="en-US" sz="900" dirty="0">
                <a:solidFill>
                  <a:schemeClr val="tx1"/>
                </a:solidFill>
              </a:rPr>
              <a:t>공유 데이터 </a:t>
            </a:r>
            <a:endParaRPr lang="en-US" altLang="ko-KR" sz="900" dirty="0">
              <a:solidFill>
                <a:schemeClr val="tx1"/>
              </a:solidFill>
            </a:endParaRPr>
          </a:p>
        </p:txBody>
      </p:sp>
      <p:sp>
        <p:nvSpPr>
          <p:cNvPr id="156" name="Rectangle 155"/>
          <p:cNvSpPr/>
          <p:nvPr/>
        </p:nvSpPr>
        <p:spPr>
          <a:xfrm>
            <a:off x="3044952" y="3850388"/>
            <a:ext cx="1691640" cy="4278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27432" bIns="18288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900" b="1" dirty="0">
                <a:solidFill>
                  <a:schemeClr val="tx1"/>
                </a:solidFill>
                <a:ea typeface="맑은 고딕"/>
              </a:rPr>
              <a:t>메타데이터 </a:t>
            </a:r>
            <a:r>
              <a:rPr lang="en-US" altLang="ko-KR" sz="900" b="1" dirty="0">
                <a:solidFill>
                  <a:schemeClr val="tx1"/>
                </a:solidFill>
                <a:ea typeface="맑은 고딕"/>
              </a:rPr>
              <a:t>Server</a:t>
            </a: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해시 테이블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· allocator · LRU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2549632" y="3344010"/>
            <a:ext cx="458759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Oval 159"/>
          <p:cNvSpPr/>
          <p:nvPr/>
        </p:nvSpPr>
        <p:spPr>
          <a:xfrm>
            <a:off x="2701812" y="324303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161" name="Connector 160"/>
          <p:cNvCxnSpPr/>
          <p:nvPr/>
        </p:nvCxnSpPr>
        <p:spPr>
          <a:xfrm flipH="1">
            <a:off x="4621340" y="3285858"/>
            <a:ext cx="47434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Oval 161"/>
          <p:cNvSpPr/>
          <p:nvPr/>
        </p:nvSpPr>
        <p:spPr>
          <a:xfrm>
            <a:off x="4778047" y="3188562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70" name="Rectangle 169"/>
          <p:cNvSpPr/>
          <p:nvPr/>
        </p:nvSpPr>
        <p:spPr>
          <a:xfrm>
            <a:off x="6675120" y="2120696"/>
            <a:ext cx="1417320" cy="187972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6675120" y="2120696"/>
            <a:ext cx="822960" cy="17373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r>
              <a:rPr sz="700" b="1">
                <a:solidFill>
                  <a:schemeClr val="tx1"/>
                </a:solidFill>
                <a:latin typeface="맑은 고딕"/>
                <a:ea typeface="맑은 고딕"/>
              </a:rPr>
              <a:t>«node» P 노드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784848" y="2440496"/>
            <a:ext cx="1188720" cy="27480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Migration Executor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0332720" y="2120696"/>
            <a:ext cx="1417320" cy="182154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332720" y="2120696"/>
            <a:ext cx="822960" cy="17373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r>
              <a:rPr sz="700" b="1">
                <a:solidFill>
                  <a:schemeClr val="tx1"/>
                </a:solidFill>
                <a:latin typeface="맑은 고딕"/>
                <a:ea typeface="맑은 고딕"/>
              </a:rPr>
              <a:t>«node» D 노드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0442448" y="2440496"/>
            <a:ext cx="1188720" cy="27480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Migration Executor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8327898" y="3851498"/>
            <a:ext cx="1737360" cy="438382"/>
            <a:chOff x="8412480" y="3948814"/>
            <a:chExt cx="1737360" cy="482220"/>
          </a:xfrm>
        </p:grpSpPr>
        <p:sp>
          <p:nvSpPr>
            <p:cNvPr id="187" name="Rectangle 186"/>
            <p:cNvSpPr/>
            <p:nvPr/>
          </p:nvSpPr>
          <p:spPr>
            <a:xfrm>
              <a:off x="8458200" y="3948814"/>
              <a:ext cx="1691640" cy="482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18288" rIns="27432" bIns="18288" rtlCol="0" anchor="ctr"/>
            <a:lstStyle/>
            <a:p>
              <a:pPr lvl="0" algn="ctr" defTabSz="457200" latinLnBrk="0">
                <a:lnSpc>
                  <a:spcPct val="150000"/>
                </a:lnSpc>
              </a:pPr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락</a:t>
              </a:r>
              <a:r>
                <a:rPr lang="ko-KR" altLang="en-US" sz="900" b="1" dirty="0">
                  <a:solidFill>
                    <a:schemeClr val="tx1"/>
                  </a:solidFill>
                  <a:ea typeface="맑은 고딕"/>
                </a:rPr>
                <a:t> 매니저 스레드</a:t>
              </a:r>
              <a:endParaRPr lang="en-US" altLang="ko-KR" sz="900" b="1" dirty="0">
                <a:solidFill>
                  <a:schemeClr val="tx1"/>
                </a:solidFill>
                <a:ea typeface="맑은 고딕"/>
              </a:endParaRPr>
            </a:p>
            <a:p>
              <a:pPr lvl="0" algn="ctr"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슬롯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scan → LOCKED grant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8412480" y="4003678"/>
              <a:ext cx="91440" cy="50292"/>
            </a:xfrm>
            <a:prstGeom prst="rect">
              <a:avLst/>
            </a:prstGeom>
            <a:solidFill>
              <a:srgbClr val="FDECEA"/>
            </a:solidFill>
            <a:ln w="95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endParaRPr dirty="0"/>
            </a:p>
          </p:txBody>
        </p:sp>
      </p:grpSp>
      <p:cxnSp>
        <p:nvCxnSpPr>
          <p:cNvPr id="190" name="Connector 189"/>
          <p:cNvCxnSpPr/>
          <p:nvPr/>
        </p:nvCxnSpPr>
        <p:spPr>
          <a:xfrm>
            <a:off x="7986148" y="2541320"/>
            <a:ext cx="372604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8092440" y="246359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192" name="Connector 191"/>
          <p:cNvCxnSpPr/>
          <p:nvPr/>
        </p:nvCxnSpPr>
        <p:spPr>
          <a:xfrm flipH="1">
            <a:off x="10063089" y="2605795"/>
            <a:ext cx="35638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Oval 192"/>
          <p:cNvSpPr/>
          <p:nvPr/>
        </p:nvSpPr>
        <p:spPr>
          <a:xfrm>
            <a:off x="10163555" y="2411486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r>
              <a:rPr lang="en-US"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0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194" name="Connector 193"/>
          <p:cNvCxnSpPr/>
          <p:nvPr/>
        </p:nvCxnSpPr>
        <p:spPr>
          <a:xfrm>
            <a:off x="7962138" y="3254552"/>
            <a:ext cx="36576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8067294" y="317682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cxnSp>
        <p:nvCxnSpPr>
          <p:cNvPr id="196" name="Connector 195"/>
          <p:cNvCxnSpPr/>
          <p:nvPr/>
        </p:nvCxnSpPr>
        <p:spPr>
          <a:xfrm flipH="1">
            <a:off x="10063089" y="3286920"/>
            <a:ext cx="35638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10163555" y="3102462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04" name="C1 slot-server link"/>
          <p:cNvCxnSpPr/>
          <p:nvPr/>
        </p:nvCxnSpPr>
        <p:spPr>
          <a:xfrm>
            <a:off x="3890772" y="3573688"/>
            <a:ext cx="0" cy="236681"/>
          </a:xfrm>
          <a:prstGeom prst="line">
            <a:avLst/>
          </a:prstGeom>
          <a:ln w="15875">
            <a:solidFill>
              <a:srgbClr val="2F559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C1 link label"/>
          <p:cNvSpPr txBox="1"/>
          <p:nvPr/>
        </p:nvSpPr>
        <p:spPr>
          <a:xfrm>
            <a:off x="3981451" y="3630728"/>
            <a:ext cx="880000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650" dirty="0">
                <a:solidFill>
                  <a:srgbClr val="404040"/>
                </a:solidFill>
                <a:latin typeface="맑은 고딕"/>
                <a:ea typeface="맑은 고딕"/>
              </a:rPr>
              <a:t>Polling</a:t>
            </a:r>
            <a:endParaRPr sz="650" b="0" i="0" dirty="0">
              <a:solidFill>
                <a:srgbClr val="404040"/>
              </a:solidFill>
              <a:latin typeface="맑은 고딕"/>
              <a:ea typeface="맑은 고딕"/>
            </a:endParaRPr>
          </a:p>
        </p:txBody>
      </p:sp>
      <p:cxnSp>
        <p:nvCxnSpPr>
          <p:cNvPr id="206" name="C2 lock-manager link"/>
          <p:cNvCxnSpPr/>
          <p:nvPr/>
        </p:nvCxnSpPr>
        <p:spPr>
          <a:xfrm>
            <a:off x="9304020" y="3556764"/>
            <a:ext cx="0" cy="248704"/>
          </a:xfrm>
          <a:prstGeom prst="line">
            <a:avLst/>
          </a:prstGeom>
          <a:ln w="15875">
            <a:solidFill>
              <a:srgbClr val="2F559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C2 link label"/>
          <p:cNvSpPr txBox="1"/>
          <p:nvPr/>
        </p:nvSpPr>
        <p:spPr>
          <a:xfrm>
            <a:off x="9360000" y="3618501"/>
            <a:ext cx="880000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슬롯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 scan</a:t>
            </a:r>
            <a:r>
              <a:rPr lang="en-US"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dirty="0" err="1">
                <a:solidFill>
                  <a:srgbClr val="404040"/>
                </a:solidFill>
                <a:latin typeface="맑은 고딕"/>
                <a:ea typeface="맑은 고딕"/>
              </a:rPr>
              <a:t>락</a:t>
            </a:r>
            <a:r>
              <a:rPr lang="ko-KR" altLang="en-US" sz="65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grant</a:t>
            </a:r>
          </a:p>
        </p:txBody>
      </p:sp>
      <p:sp>
        <p:nvSpPr>
          <p:cNvPr id="130" name="Rectangle 35"/>
          <p:cNvSpPr/>
          <p:nvPr/>
        </p:nvSpPr>
        <p:spPr>
          <a:xfrm>
            <a:off x="1368310" y="2966024"/>
            <a:ext cx="1147156" cy="6016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 defTabSz="457200" latinLnBrk="0">
              <a:lnSpc>
                <a:spcPct val="150000"/>
              </a:lnSpc>
            </a:pPr>
            <a:r>
              <a:rPr sz="900" b="1" dirty="0">
                <a:solidFill>
                  <a:schemeClr val="tx1"/>
                </a:solidFill>
                <a:latin typeface="맑은 고딕"/>
                <a:ea typeface="맑은 고딕"/>
              </a:rPr>
              <a:t>Client Library</a:t>
            </a: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요청 쓰기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/ 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응답 읽기</a:t>
            </a:r>
          </a:p>
        </p:txBody>
      </p:sp>
      <p:sp>
        <p:nvSpPr>
          <p:cNvPr id="132" name="Rectangle 35"/>
          <p:cNvSpPr/>
          <p:nvPr/>
        </p:nvSpPr>
        <p:spPr>
          <a:xfrm>
            <a:off x="5090865" y="2966024"/>
            <a:ext cx="1147156" cy="6016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 defTabSz="457200" latinLnBrk="0">
              <a:lnSpc>
                <a:spcPct val="150000"/>
              </a:lnSpc>
            </a:pPr>
            <a:r>
              <a:rPr sz="900" b="1" dirty="0">
                <a:solidFill>
                  <a:schemeClr val="tx1"/>
                </a:solidFill>
                <a:latin typeface="맑은 고딕"/>
                <a:ea typeface="맑은 고딕"/>
              </a:rPr>
              <a:t>Client Library</a:t>
            </a: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요청 쓰기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 / 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응답 읽기</a:t>
            </a:r>
          </a:p>
        </p:txBody>
      </p:sp>
      <p:sp>
        <p:nvSpPr>
          <p:cNvPr id="135" name="Rectangle 37"/>
          <p:cNvSpPr/>
          <p:nvPr/>
        </p:nvSpPr>
        <p:spPr>
          <a:xfrm>
            <a:off x="1399032" y="3719744"/>
            <a:ext cx="1078992" cy="274320"/>
          </a:xfrm>
          <a:prstGeom prst="rect">
            <a:avLst/>
          </a:prstGeom>
          <a:noFill/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5000"/>
              </a:lnSpc>
            </a:pPr>
            <a:r>
              <a:rPr sz="800" b="0" i="0" dirty="0">
                <a:solidFill>
                  <a:srgbClr val="808080"/>
                </a:solidFill>
                <a:latin typeface="맑은 고딕"/>
                <a:ea typeface="맑은 고딕"/>
              </a:rPr>
              <a:t>락 </a:t>
            </a:r>
            <a:r>
              <a:rPr sz="800" b="0" i="0" dirty="0" err="1">
                <a:solidFill>
                  <a:srgbClr val="808080"/>
                </a:solidFill>
                <a:latin typeface="맑은 고딕"/>
                <a:ea typeface="맑은 고딕"/>
              </a:rPr>
              <a:t>불필요</a:t>
            </a:r>
            <a:endParaRPr sz="800" b="0" i="0" dirty="0">
              <a:solidFill>
                <a:srgbClr val="808080"/>
              </a:solidFill>
              <a:latin typeface="맑은 고딕"/>
              <a:ea typeface="맑은 고딕"/>
            </a:endParaRPr>
          </a:p>
        </p:txBody>
      </p:sp>
      <p:sp>
        <p:nvSpPr>
          <p:cNvPr id="136" name="Rectangle 37"/>
          <p:cNvSpPr/>
          <p:nvPr/>
        </p:nvSpPr>
        <p:spPr>
          <a:xfrm>
            <a:off x="5118493" y="3726096"/>
            <a:ext cx="1078992" cy="274320"/>
          </a:xfrm>
          <a:prstGeom prst="rect">
            <a:avLst/>
          </a:prstGeom>
          <a:noFill/>
          <a:ln w="9525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05000"/>
              </a:lnSpc>
            </a:pPr>
            <a:r>
              <a:rPr sz="800" b="0" i="0" dirty="0">
                <a:solidFill>
                  <a:srgbClr val="808080"/>
                </a:solidFill>
                <a:latin typeface="맑은 고딕"/>
                <a:ea typeface="맑은 고딕"/>
              </a:rPr>
              <a:t>락 </a:t>
            </a:r>
            <a:r>
              <a:rPr sz="800" b="0" i="0" dirty="0" err="1">
                <a:solidFill>
                  <a:srgbClr val="808080"/>
                </a:solidFill>
                <a:latin typeface="맑은 고딕"/>
                <a:ea typeface="맑은 고딕"/>
              </a:rPr>
              <a:t>불필요</a:t>
            </a:r>
            <a:endParaRPr sz="800" b="0" i="0" dirty="0">
              <a:solidFill>
                <a:srgbClr val="808080"/>
              </a:solidFill>
              <a:latin typeface="맑은 고딕"/>
              <a:ea typeface="맑은 고딕"/>
            </a:endParaRPr>
          </a:p>
        </p:txBody>
      </p:sp>
      <p:sp>
        <p:nvSpPr>
          <p:cNvPr id="208" name="Rectangle 35"/>
          <p:cNvSpPr/>
          <p:nvPr/>
        </p:nvSpPr>
        <p:spPr>
          <a:xfrm>
            <a:off x="6784848" y="2865932"/>
            <a:ext cx="1147156" cy="5552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lvl="0" algn="ctr" defTabSz="457200" latinLnBrk="0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ea typeface="맑은 고딕"/>
              </a:rPr>
              <a:t>Client Library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로컬 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락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 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  <a:p>
            <a:pPr lvl="0" algn="ctr"/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메타데이터 직접 갱신</a:t>
            </a:r>
          </a:p>
        </p:txBody>
      </p:sp>
      <p:sp>
        <p:nvSpPr>
          <p:cNvPr id="209" name="Rectangle 35"/>
          <p:cNvSpPr/>
          <p:nvPr/>
        </p:nvSpPr>
        <p:spPr>
          <a:xfrm>
            <a:off x="10447020" y="2865932"/>
            <a:ext cx="1147156" cy="5425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lvl="0" algn="ctr" defTabSz="457200" latinLnBrk="0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ea typeface="맑은 고딕"/>
              </a:rPr>
              <a:t>Client Library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로컬 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락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 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  <a:p>
            <a:pPr lvl="0" algn="ctr"/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메타데이터 직접 갱신</a:t>
            </a:r>
          </a:p>
        </p:txBody>
      </p:sp>
      <p:sp>
        <p:nvSpPr>
          <p:cNvPr id="211" name="Rectangle 77"/>
          <p:cNvSpPr/>
          <p:nvPr/>
        </p:nvSpPr>
        <p:spPr>
          <a:xfrm>
            <a:off x="6784848" y="3591783"/>
            <a:ext cx="1152144" cy="274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노드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로컬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락 (DRAM)</a:t>
            </a:r>
          </a:p>
        </p:txBody>
      </p:sp>
      <p:sp>
        <p:nvSpPr>
          <p:cNvPr id="212" name="Rectangle 84"/>
          <p:cNvSpPr/>
          <p:nvPr/>
        </p:nvSpPr>
        <p:spPr>
          <a:xfrm>
            <a:off x="10423398" y="3591783"/>
            <a:ext cx="1152144" cy="274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노드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로컬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락 (DRAM)</a:t>
            </a:r>
          </a:p>
        </p:txBody>
      </p:sp>
      <p:sp>
        <p:nvSpPr>
          <p:cNvPr id="213" name="Rectangle 48"/>
          <p:cNvSpPr/>
          <p:nvPr/>
        </p:nvSpPr>
        <p:spPr>
          <a:xfrm>
            <a:off x="3110754" y="2891678"/>
            <a:ext cx="1511405" cy="5199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150000"/>
              </a:lnSpc>
            </a:pPr>
            <a:r>
              <a:rPr sz="900" b="1" i="0" dirty="0" err="1">
                <a:solidFill>
                  <a:schemeClr val="tx1"/>
                </a:solidFill>
                <a:latin typeface="맑은 고딕"/>
                <a:ea typeface="맑은 고딕"/>
              </a:rPr>
              <a:t>요청</a:t>
            </a:r>
            <a:r>
              <a:rPr sz="900" b="1" i="0" dirty="0">
                <a:solidFill>
                  <a:schemeClr val="tx1"/>
                </a:solidFill>
                <a:latin typeface="맑은 고딕"/>
                <a:ea typeface="맑은 고딕"/>
              </a:rPr>
              <a:t> / </a:t>
            </a:r>
            <a:r>
              <a:rPr sz="900" b="1" dirty="0" err="1">
                <a:solidFill>
                  <a:schemeClr val="tx1"/>
                </a:solidFill>
                <a:ea typeface="맑은 고딕"/>
              </a:rPr>
              <a:t>응답</a:t>
            </a:r>
            <a:r>
              <a:rPr sz="900" b="1" i="0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sz="900" b="1" i="0" dirty="0" err="1">
                <a:solidFill>
                  <a:schemeClr val="tx1"/>
                </a:solidFill>
                <a:latin typeface="맑은 고딕"/>
                <a:ea typeface="맑은 고딕"/>
              </a:rPr>
              <a:t>슬롯</a:t>
            </a:r>
            <a:r>
              <a:rPr lang="en-US" sz="900" b="1" i="0" dirty="0">
                <a:solidFill>
                  <a:schemeClr val="tx1"/>
                </a:solidFill>
                <a:latin typeface="맑은 고딕"/>
                <a:ea typeface="맑은 고딕"/>
              </a:rPr>
              <a:t> (</a:t>
            </a:r>
            <a:r>
              <a:rPr lang="en-US" sz="900" b="1" dirty="0">
                <a:solidFill>
                  <a:schemeClr val="tx1"/>
                </a:solidFill>
                <a:latin typeface="맑은 고딕"/>
                <a:ea typeface="맑은 고딕"/>
              </a:rPr>
              <a:t>RPC)</a:t>
            </a:r>
            <a:endParaRPr sz="900" b="1" i="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sp>
        <p:nvSpPr>
          <p:cNvPr id="214" name="Oval 159"/>
          <p:cNvSpPr/>
          <p:nvPr/>
        </p:nvSpPr>
        <p:spPr>
          <a:xfrm>
            <a:off x="3667251" y="3625044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17" name="Connector 158"/>
          <p:cNvCxnSpPr/>
          <p:nvPr/>
        </p:nvCxnSpPr>
        <p:spPr>
          <a:xfrm>
            <a:off x="2542776" y="3078856"/>
            <a:ext cx="458759" cy="0"/>
          </a:xfrm>
          <a:prstGeom prst="line">
            <a:avLst/>
          </a:prstGeom>
          <a:ln w="15875">
            <a:solidFill>
              <a:srgbClr val="2F5597"/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Oval 159"/>
          <p:cNvSpPr/>
          <p:nvPr/>
        </p:nvSpPr>
        <p:spPr>
          <a:xfrm>
            <a:off x="2699716" y="2977884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21" name="Connector 158"/>
          <p:cNvCxnSpPr/>
          <p:nvPr/>
        </p:nvCxnSpPr>
        <p:spPr>
          <a:xfrm>
            <a:off x="2574036" y="2519568"/>
            <a:ext cx="458759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Oval 159"/>
          <p:cNvSpPr/>
          <p:nvPr/>
        </p:nvSpPr>
        <p:spPr>
          <a:xfrm>
            <a:off x="2716149" y="2427509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24" name="Connector 158"/>
          <p:cNvCxnSpPr/>
          <p:nvPr/>
        </p:nvCxnSpPr>
        <p:spPr>
          <a:xfrm>
            <a:off x="4629714" y="3046260"/>
            <a:ext cx="458759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Oval 159"/>
          <p:cNvSpPr/>
          <p:nvPr/>
        </p:nvSpPr>
        <p:spPr>
          <a:xfrm>
            <a:off x="4781894" y="2945288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26" name="Oval 159"/>
          <p:cNvSpPr/>
          <p:nvPr/>
        </p:nvSpPr>
        <p:spPr>
          <a:xfrm>
            <a:off x="3465443" y="3622817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27" name="Connector 158"/>
          <p:cNvCxnSpPr/>
          <p:nvPr/>
        </p:nvCxnSpPr>
        <p:spPr>
          <a:xfrm>
            <a:off x="4647136" y="2519568"/>
            <a:ext cx="417054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Oval 159"/>
          <p:cNvSpPr/>
          <p:nvPr/>
        </p:nvSpPr>
        <p:spPr>
          <a:xfrm>
            <a:off x="4796974" y="2427509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29" name="Connector 189"/>
          <p:cNvCxnSpPr/>
          <p:nvPr/>
        </p:nvCxnSpPr>
        <p:spPr>
          <a:xfrm>
            <a:off x="7379970" y="3424292"/>
            <a:ext cx="0" cy="16921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Oval 190"/>
          <p:cNvSpPr/>
          <p:nvPr/>
        </p:nvSpPr>
        <p:spPr>
          <a:xfrm>
            <a:off x="7412712" y="3423957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33" name="Oval 196"/>
          <p:cNvSpPr/>
          <p:nvPr/>
        </p:nvSpPr>
        <p:spPr>
          <a:xfrm>
            <a:off x="9089291" y="360208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34" name="Connector 189"/>
          <p:cNvCxnSpPr/>
          <p:nvPr/>
        </p:nvCxnSpPr>
        <p:spPr>
          <a:xfrm>
            <a:off x="10982024" y="3430701"/>
            <a:ext cx="0" cy="156047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Oval 190"/>
          <p:cNvSpPr/>
          <p:nvPr/>
        </p:nvSpPr>
        <p:spPr>
          <a:xfrm>
            <a:off x="11014766" y="3408484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36" name="Connector 189"/>
          <p:cNvCxnSpPr/>
          <p:nvPr/>
        </p:nvCxnSpPr>
        <p:spPr>
          <a:xfrm>
            <a:off x="7986148" y="2989000"/>
            <a:ext cx="372604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Oval 190"/>
          <p:cNvSpPr/>
          <p:nvPr/>
        </p:nvSpPr>
        <p:spPr>
          <a:xfrm>
            <a:off x="8092440" y="291127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38" name="Connector 195"/>
          <p:cNvCxnSpPr/>
          <p:nvPr/>
        </p:nvCxnSpPr>
        <p:spPr>
          <a:xfrm flipH="1">
            <a:off x="10086022" y="3004943"/>
            <a:ext cx="35638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Oval 196"/>
          <p:cNvSpPr/>
          <p:nvPr/>
        </p:nvSpPr>
        <p:spPr>
          <a:xfrm>
            <a:off x="10163555" y="2818422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40" name="Oval 196"/>
          <p:cNvSpPr/>
          <p:nvPr/>
        </p:nvSpPr>
        <p:spPr>
          <a:xfrm>
            <a:off x="8887483" y="3602088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grpSp>
        <p:nvGrpSpPr>
          <p:cNvPr id="241" name="그룹 240">
            <a:extLst>
              <a:ext uri="{FF2B5EF4-FFF2-40B4-BE49-F238E27FC236}">
                <a16:creationId xmlns:a16="http://schemas.microsoft.com/office/drawing/2014/main" id="{40FF77C7-CD72-4303-A0A9-900338825FA2}"/>
              </a:ext>
            </a:extLst>
          </p:cNvPr>
          <p:cNvGrpSpPr/>
          <p:nvPr/>
        </p:nvGrpSpPr>
        <p:grpSpPr>
          <a:xfrm>
            <a:off x="2313776" y="4381265"/>
            <a:ext cx="1009528" cy="100027"/>
            <a:chOff x="600198" y="4114184"/>
            <a:chExt cx="1009528" cy="100027"/>
          </a:xfrm>
        </p:grpSpPr>
        <p:cxnSp>
          <p:nvCxnSpPr>
            <p:cNvPr id="242" name="직선 연결선 241">
              <a:extLst>
                <a:ext uri="{FF2B5EF4-FFF2-40B4-BE49-F238E27FC236}">
                  <a16:creationId xmlns:a16="http://schemas.microsoft.com/office/drawing/2014/main" id="{C75AE133-513C-45E3-9E7B-6069A974A67F}"/>
                </a:ext>
              </a:extLst>
            </p:cNvPr>
            <p:cNvCxnSpPr>
              <a:cxnSpLocks/>
            </p:cNvCxnSpPr>
            <p:nvPr/>
          </p:nvCxnSpPr>
          <p:spPr>
            <a:xfrm>
              <a:off x="600198" y="4165600"/>
              <a:ext cx="220540" cy="0"/>
            </a:xfrm>
            <a:prstGeom prst="line">
              <a:avLst/>
            </a:prstGeom>
            <a:ln w="15875">
              <a:solidFill>
                <a:schemeClr val="accent1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845A2BA6-EB2E-4418-8FBA-780692D561CD}"/>
                </a:ext>
              </a:extLst>
            </p:cNvPr>
            <p:cNvSpPr txBox="1"/>
            <p:nvPr/>
          </p:nvSpPr>
          <p:spPr>
            <a:xfrm>
              <a:off x="848224" y="4114184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수신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247D65F3-C7FD-460C-BED7-DDB7768C9266}"/>
              </a:ext>
            </a:extLst>
          </p:cNvPr>
          <p:cNvGrpSpPr/>
          <p:nvPr/>
        </p:nvGrpSpPr>
        <p:grpSpPr>
          <a:xfrm>
            <a:off x="1276762" y="4381265"/>
            <a:ext cx="1009528" cy="100027"/>
            <a:chOff x="2473452" y="4689663"/>
            <a:chExt cx="1009528" cy="100027"/>
          </a:xfrm>
        </p:grpSpPr>
        <p:cxnSp>
          <p:nvCxnSpPr>
            <p:cNvPr id="245" name="직선 연결선 244">
              <a:extLst>
                <a:ext uri="{FF2B5EF4-FFF2-40B4-BE49-F238E27FC236}">
                  <a16:creationId xmlns:a16="http://schemas.microsoft.com/office/drawing/2014/main" id="{5D0520ED-D227-40CF-AAB3-288BD89B50F6}"/>
                </a:ext>
              </a:extLst>
            </p:cNvPr>
            <p:cNvCxnSpPr>
              <a:cxnSpLocks/>
            </p:cNvCxnSpPr>
            <p:nvPr/>
          </p:nvCxnSpPr>
          <p:spPr>
            <a:xfrm>
              <a:off x="2473452" y="4741079"/>
              <a:ext cx="220540" cy="0"/>
            </a:xfrm>
            <a:prstGeom prst="line">
              <a:avLst/>
            </a:prstGeom>
            <a:ln w="158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7FD259B9-EACC-4FCC-BE58-27DC7157A5BA}"/>
                </a:ext>
              </a:extLst>
            </p:cNvPr>
            <p:cNvSpPr txBox="1"/>
            <p:nvPr/>
          </p:nvSpPr>
          <p:spPr>
            <a:xfrm>
              <a:off x="2721478" y="4689663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송신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40FF77C7-CD72-4303-A0A9-900338825FA2}"/>
              </a:ext>
            </a:extLst>
          </p:cNvPr>
          <p:cNvGrpSpPr/>
          <p:nvPr/>
        </p:nvGrpSpPr>
        <p:grpSpPr>
          <a:xfrm>
            <a:off x="7655936" y="4381265"/>
            <a:ext cx="1009528" cy="100027"/>
            <a:chOff x="600198" y="4114184"/>
            <a:chExt cx="1009528" cy="100027"/>
          </a:xfrm>
        </p:grpSpPr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C75AE133-513C-45E3-9E7B-6069A974A67F}"/>
                </a:ext>
              </a:extLst>
            </p:cNvPr>
            <p:cNvCxnSpPr>
              <a:cxnSpLocks/>
            </p:cNvCxnSpPr>
            <p:nvPr/>
          </p:nvCxnSpPr>
          <p:spPr>
            <a:xfrm>
              <a:off x="600198" y="4165600"/>
              <a:ext cx="220540" cy="0"/>
            </a:xfrm>
            <a:prstGeom prst="line">
              <a:avLst/>
            </a:prstGeom>
            <a:ln w="15875">
              <a:solidFill>
                <a:schemeClr val="accent1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845A2BA6-EB2E-4418-8FBA-780692D561CD}"/>
                </a:ext>
              </a:extLst>
            </p:cNvPr>
            <p:cNvSpPr txBox="1"/>
            <p:nvPr/>
          </p:nvSpPr>
          <p:spPr>
            <a:xfrm>
              <a:off x="848224" y="4114184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수신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247D65F3-C7FD-460C-BED7-DDB7768C9266}"/>
              </a:ext>
            </a:extLst>
          </p:cNvPr>
          <p:cNvGrpSpPr/>
          <p:nvPr/>
        </p:nvGrpSpPr>
        <p:grpSpPr>
          <a:xfrm>
            <a:off x="6618922" y="4381265"/>
            <a:ext cx="1009528" cy="100027"/>
            <a:chOff x="2473452" y="4689663"/>
            <a:chExt cx="1009528" cy="100027"/>
          </a:xfrm>
        </p:grpSpPr>
        <p:cxnSp>
          <p:nvCxnSpPr>
            <p:cNvPr id="251" name="직선 연결선 250">
              <a:extLst>
                <a:ext uri="{FF2B5EF4-FFF2-40B4-BE49-F238E27FC236}">
                  <a16:creationId xmlns:a16="http://schemas.microsoft.com/office/drawing/2014/main" id="{5D0520ED-D227-40CF-AAB3-288BD89B50F6}"/>
                </a:ext>
              </a:extLst>
            </p:cNvPr>
            <p:cNvCxnSpPr>
              <a:cxnSpLocks/>
            </p:cNvCxnSpPr>
            <p:nvPr/>
          </p:nvCxnSpPr>
          <p:spPr>
            <a:xfrm>
              <a:off x="2473452" y="4741079"/>
              <a:ext cx="220540" cy="0"/>
            </a:xfrm>
            <a:prstGeom prst="line">
              <a:avLst/>
            </a:prstGeom>
            <a:ln w="158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7FD259B9-EACC-4FCC-BE58-27DC7157A5BA}"/>
                </a:ext>
              </a:extLst>
            </p:cNvPr>
            <p:cNvSpPr txBox="1"/>
            <p:nvPr/>
          </p:nvSpPr>
          <p:spPr>
            <a:xfrm>
              <a:off x="2721478" y="4689663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송신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B43D3EF8-B471-48F1-9D45-16F7D655739A}"/>
              </a:ext>
            </a:extLst>
          </p:cNvPr>
          <p:cNvSpPr txBox="1"/>
          <p:nvPr/>
        </p:nvSpPr>
        <p:spPr>
          <a:xfrm>
            <a:off x="4855663" y="6490017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6.5</a:t>
            </a:r>
            <a:r>
              <a:rPr lang="ko-KR" altLang="en-US" sz="1200" dirty="0"/>
              <a:t>점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8DC1248-6E5A-4524-B4E0-6696C64CA357}"/>
              </a:ext>
            </a:extLst>
          </p:cNvPr>
          <p:cNvSpPr txBox="1"/>
          <p:nvPr/>
        </p:nvSpPr>
        <p:spPr>
          <a:xfrm>
            <a:off x="10103519" y="6492491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6.5</a:t>
            </a:r>
            <a:r>
              <a:rPr lang="ko-KR" altLang="en-US" sz="1200" dirty="0"/>
              <a:t>점</a:t>
            </a: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A69AFFBD-B15E-4345-BC17-2CBDA6C5882F}"/>
              </a:ext>
            </a:extLst>
          </p:cNvPr>
          <p:cNvGrpSpPr/>
          <p:nvPr/>
        </p:nvGrpSpPr>
        <p:grpSpPr>
          <a:xfrm>
            <a:off x="265124" y="3729542"/>
            <a:ext cx="822008" cy="868736"/>
            <a:chOff x="269738" y="3554621"/>
            <a:chExt cx="822008" cy="868736"/>
          </a:xfrm>
        </p:grpSpPr>
        <p:sp>
          <p:nvSpPr>
            <p:cNvPr id="125" name="KV Cache Manager">
              <a:extLst>
                <a:ext uri="{FF2B5EF4-FFF2-40B4-BE49-F238E27FC236}">
                  <a16:creationId xmlns:a16="http://schemas.microsoft.com/office/drawing/2014/main" id="{6C761331-2BCA-4B25-8B1F-1540F95D53B4}"/>
                </a:ext>
              </a:extLst>
            </p:cNvPr>
            <p:cNvSpPr/>
            <p:nvPr/>
          </p:nvSpPr>
          <p:spPr>
            <a:xfrm>
              <a:off x="275753" y="3965871"/>
              <a:ext cx="784423" cy="1940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후보 특화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" name="KV Cache Manager">
              <a:extLst>
                <a:ext uri="{FF2B5EF4-FFF2-40B4-BE49-F238E27FC236}">
                  <a16:creationId xmlns:a16="http://schemas.microsoft.com/office/drawing/2014/main" id="{50A34A3F-254D-4A8E-AFBB-2D33544166EF}"/>
                </a:ext>
              </a:extLst>
            </p:cNvPr>
            <p:cNvSpPr/>
            <p:nvPr/>
          </p:nvSpPr>
          <p:spPr>
            <a:xfrm>
              <a:off x="275753" y="4186396"/>
              <a:ext cx="784423" cy="19403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공통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39937169-9026-48D9-88B9-68810CA154C4}"/>
                </a:ext>
              </a:extLst>
            </p:cNvPr>
            <p:cNvSpPr/>
            <p:nvPr/>
          </p:nvSpPr>
          <p:spPr>
            <a:xfrm>
              <a:off x="269738" y="3554621"/>
              <a:ext cx="822008" cy="86873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t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Legend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9" name="KV Cache Manager">
              <a:extLst>
                <a:ext uri="{FF2B5EF4-FFF2-40B4-BE49-F238E27FC236}">
                  <a16:creationId xmlns:a16="http://schemas.microsoft.com/office/drawing/2014/main" id="{A05D98C4-4FFA-431C-A8CA-46BD263987A4}"/>
                </a:ext>
              </a:extLst>
            </p:cNvPr>
            <p:cNvSpPr/>
            <p:nvPr/>
          </p:nvSpPr>
          <p:spPr>
            <a:xfrm>
              <a:off x="275753" y="3750457"/>
              <a:ext cx="784423" cy="1940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DP 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설계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19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9930631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</a:rPr>
              <a:t>추론 실행</a:t>
            </a:r>
          </a:p>
        </p:txBody>
      </p:sp>
      <p:sp>
        <p:nvSpPr>
          <p:cNvPr id="120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9509777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127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0396460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 </a:t>
            </a:r>
          </a:p>
        </p:txBody>
      </p:sp>
      <p:sp>
        <p:nvSpPr>
          <p:cNvPr id="131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8858120" y="619129"/>
            <a:ext cx="1003759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C1 </a:t>
            </a:r>
            <a:r>
              <a:rPr lang="en-US" altLang="ko-KR" sz="700" dirty="0" err="1">
                <a:latin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</a:rPr>
              <a:t>개발 환경</a:t>
            </a:r>
          </a:p>
        </p:txBody>
      </p:sp>
      <p:sp>
        <p:nvSpPr>
          <p:cNvPr id="133" name="모서리가 둥근 직사각형 37">
            <a:extLst>
              <a:ext uri="{FF2B5EF4-FFF2-40B4-BE49-F238E27FC236}">
                <a16:creationId xmlns:a16="http://schemas.microsoft.com/office/drawing/2014/main" id="{849CB062-936D-4F72-BDB2-73AE9FDAA773}"/>
              </a:ext>
            </a:extLst>
          </p:cNvPr>
          <p:cNvSpPr/>
          <p:nvPr/>
        </p:nvSpPr>
        <p:spPr>
          <a:xfrm>
            <a:off x="11209965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Q4 </a:t>
            </a:r>
            <a:r>
              <a:rPr lang="ko-KR" altLang="en-US" sz="700" dirty="0">
                <a:latin typeface="맑은 고딕" panose="020B0503020000020004" pitchFamily="50" charset="-127"/>
              </a:rPr>
              <a:t>확장성</a:t>
            </a:r>
          </a:p>
        </p:txBody>
      </p:sp>
      <p:sp>
        <p:nvSpPr>
          <p:cNvPr id="134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9507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F4 KV </a:t>
            </a:r>
            <a:r>
              <a:rPr lang="ko-KR" altLang="en-US" sz="700" dirty="0">
                <a:latin typeface="맑은 고딕" panose="020B0503020000020004" pitchFamily="50" charset="-127"/>
              </a:rPr>
              <a:t>캐시 관리</a:t>
            </a:r>
          </a:p>
        </p:txBody>
      </p:sp>
    </p:spTree>
    <p:extLst>
      <p:ext uri="{BB962C8B-B14F-4D97-AF65-F5344CB8AC3E}">
        <p14:creationId xmlns:p14="http://schemas.microsoft.com/office/powerpoint/2010/main" val="5949071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34949" y="1032440"/>
          <a:ext cx="11747501" cy="55256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4382236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1053818">
                  <a:extLst>
                    <a:ext uri="{9D8B030D-6E8A-4147-A177-3AD203B41FA5}">
                      <a16:colId xmlns:a16="http://schemas.microsoft.com/office/drawing/2014/main" val="4114062400"/>
                    </a:ext>
                  </a:extLst>
                </a:gridCol>
                <a:gridCol w="448818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947866">
                  <a:extLst>
                    <a:ext uri="{9D8B030D-6E8A-4147-A177-3AD203B41FA5}">
                      <a16:colId xmlns:a16="http://schemas.microsoft.com/office/drawing/2014/main" val="2026705357"/>
                    </a:ext>
                  </a:extLst>
                </a:gridCol>
              </a:tblGrid>
              <a:tr h="3584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(1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</a:t>
                      </a:r>
                      <a:r>
                        <a:rPr lang="ko-KR" altLang="en-US" sz="1200" b="1" dirty="0"/>
                        <a:t>중앙 서버 중재 구조 </a:t>
                      </a:r>
                      <a:r>
                        <a:rPr lang="en-US" altLang="ko-KR" sz="1200" b="1" baseline="0" dirty="0"/>
                        <a:t>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</a:rPr>
                        <a:t>+ </a:t>
                      </a:r>
                      <a:r>
                        <a:rPr lang="en-US" altLang="ko-KR" sz="1200" b="1" dirty="0" err="1">
                          <a:solidFill>
                            <a:srgbClr val="FF0000"/>
                          </a:solidFill>
                        </a:rPr>
                        <a:t>Sharding</a:t>
                      </a:r>
                      <a:r>
                        <a:rPr lang="ko-KR" altLang="en-US" sz="1200" b="1" dirty="0">
                          <a:solidFill>
                            <a:srgbClr val="FF0000"/>
                          </a:solidFill>
                        </a:rPr>
                        <a:t> 구조 </a:t>
                      </a:r>
                      <a:endParaRPr lang="ko-KR" altLang="en-US" sz="105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(2</a:t>
                      </a:r>
                      <a:r>
                        <a:rPr lang="ko-KR" altLang="en-US" sz="1200" b="1" dirty="0"/>
                        <a:t>안</a:t>
                      </a:r>
                      <a:r>
                        <a:rPr lang="en-US" altLang="ko-KR" sz="1200" b="1" dirty="0"/>
                        <a:t>) 락 </a:t>
                      </a:r>
                      <a:r>
                        <a:rPr lang="ko-KR" altLang="en-US" sz="1200" b="1" dirty="0"/>
                        <a:t>기반 직접 접근 </a:t>
                      </a:r>
                      <a:r>
                        <a:rPr lang="en-US" altLang="ko-KR" sz="1200" b="1" dirty="0" err="1"/>
                        <a:t>구조</a:t>
                      </a:r>
                      <a:endParaRPr lang="en-US" altLang="ko-KR" sz="1050" b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4299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b="1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중앙에서 동기화를 일괄 처리하여 요청당 동기화 오버헤드가 작음 </a:t>
                      </a:r>
                      <a:r>
                        <a:rPr lang="en-US" altLang="ko-KR" sz="1200" dirty="0"/>
                        <a:t>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중앙에서 요청 순서와 동시 처리량을 제어하여 경합 관리에 유리 </a:t>
                      </a:r>
                      <a:r>
                        <a:rPr lang="en-US" altLang="ko-KR" sz="1200" dirty="0"/>
                        <a:t>(Q3)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중앙 병목은 회피 및 분산 병렬 처리에 유리</a:t>
                      </a:r>
                      <a:r>
                        <a:rPr lang="en-US" altLang="ko-KR" sz="1200" dirty="0"/>
                        <a:t>(Q1,</a:t>
                      </a:r>
                      <a:r>
                        <a:rPr lang="en-US" altLang="ko-KR" sz="1200" baseline="0" dirty="0"/>
                        <a:t> Q3</a:t>
                      </a:r>
                      <a:r>
                        <a:rPr lang="en-US" altLang="ko-KR" sz="1200" dirty="0"/>
                        <a:t>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 err="1"/>
                        <a:t>노드별</a:t>
                      </a:r>
                      <a:r>
                        <a:rPr lang="ko-KR" altLang="en-US" sz="1200" dirty="0"/>
                        <a:t> 분산 처리로 </a:t>
                      </a:r>
                      <a:r>
                        <a:rPr lang="ko-KR" altLang="en-US" sz="1200" dirty="0" err="1"/>
                        <a:t>병렬성</a:t>
                      </a:r>
                      <a:r>
                        <a:rPr lang="ko-KR" altLang="en-US" sz="1200" dirty="0"/>
                        <a:t> 확보 및 수평 확장에 유리 </a:t>
                      </a:r>
                      <a:r>
                        <a:rPr lang="en-US" altLang="ko-KR" sz="1200" dirty="0"/>
                        <a:t>(Q5)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304399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노드 증가 시 중앙 서버의 처리 용량이 확장 한계로 작용</a:t>
                      </a:r>
                      <a:r>
                        <a:rPr lang="en-US" altLang="ko-KR" sz="1200" dirty="0"/>
                        <a:t>(Q5)</a:t>
                      </a:r>
                    </a:p>
                    <a:p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1.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메타데이터 요청의 병렬 처리로 서버 처리량 증가</a:t>
                      </a:r>
                    </a:p>
                    <a:p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2. 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</a:rPr>
                        <a:t>중앙 관리 인터페이스를 유지하면서 노드 확장성 개선</a:t>
                      </a:r>
                      <a:endParaRPr lang="en-US" altLang="ko-KR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 err="1"/>
                        <a:t>락</a:t>
                      </a:r>
                      <a:r>
                        <a:rPr lang="ko-KR" altLang="en-US" sz="1200" dirty="0"/>
                        <a:t> 획득 및 공유 데이터 접근에 따른 동기화 오버헤드 발생</a:t>
                      </a:r>
                      <a:r>
                        <a:rPr lang="en-US" altLang="ko-KR" sz="1200" baseline="0" dirty="0"/>
                        <a:t> (Q1)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dirty="0"/>
                        <a:t>고부하 시 </a:t>
                      </a:r>
                      <a:r>
                        <a:rPr lang="ko-KR" altLang="en-US" sz="1200" dirty="0" err="1"/>
                        <a:t>락</a:t>
                      </a:r>
                      <a:r>
                        <a:rPr lang="ko-KR" altLang="en-US" sz="1200" dirty="0"/>
                        <a:t> 경합 및 대기시간 증가로 지연 편차 확대 </a:t>
                      </a:r>
                      <a:r>
                        <a:rPr lang="en-US" altLang="ko-KR" sz="1200" dirty="0"/>
                        <a:t>(Q3)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142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None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Q1. 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 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lang="en-US" altLang="ko-KR" sz="1000" b="0" strike="noStrike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ko-KR" altLang="en-US" sz="1200" b="0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●●◐</a:t>
                      </a:r>
                      <a:endParaRPr lang="en-US" altLang="ko-KR" sz="1200" b="0" dirty="0">
                        <a:solidFill>
                          <a:srgbClr val="0066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vl="0"/>
                      <a:r>
                        <a:rPr lang="ko-KR" altLang="en-US" sz="1200" b="0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en-US" altLang="ko-KR" sz="1200" b="0" dirty="0">
                        <a:solidFill>
                          <a:srgbClr val="0066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lvl="0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</a:t>
                      </a:r>
                      <a:endParaRPr lang="en-US" altLang="ko-KR" sz="1200" b="0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Q1.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처리량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Q3. Performance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고부하 지연시간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Q4. Scalability 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●●○</a:t>
                      </a:r>
                      <a:endParaRPr lang="ko-KR" altLang="en-US" sz="1200" strike="noStrike" dirty="0">
                        <a:solidFill>
                          <a:srgbClr val="0066FF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●◐○</a:t>
                      </a:r>
                      <a:endParaRPr lang="ko-KR" altLang="en-US" sz="1200" strike="noStrike" dirty="0">
                        <a:solidFill>
                          <a:srgbClr val="0066FF"/>
                        </a:solidFill>
                      </a:endParaRPr>
                    </a:p>
                    <a:p>
                      <a:pPr lvl="0"/>
                      <a:r>
                        <a:rPr lang="ko-KR" altLang="en-US" sz="1200" b="0" dirty="0">
                          <a:solidFill>
                            <a:srgbClr val="0066FF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●●●</a:t>
                      </a:r>
                      <a:endParaRPr lang="en-US" altLang="ko-KR" sz="1200" b="0" dirty="0">
                        <a:solidFill>
                          <a:srgbClr val="0066FF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182" name="Rectangle 181"/>
          <p:cNvSpPr/>
          <p:nvPr/>
        </p:nvSpPr>
        <p:spPr>
          <a:xfrm>
            <a:off x="8269663" y="2029256"/>
            <a:ext cx="1874519" cy="1532336"/>
          </a:xfrm>
          <a:prstGeom prst="rect">
            <a:avLst/>
          </a:prstGeom>
          <a:solidFill>
            <a:schemeClr val="bg1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8269663" y="2029256"/>
            <a:ext cx="1415491" cy="173736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pPr algn="l"/>
            <a:r>
              <a:rPr sz="700" b="1" i="0" dirty="0">
                <a:solidFill>
                  <a:srgbClr val="FFFFFF"/>
                </a:solidFill>
                <a:latin typeface="맑은 고딕"/>
                <a:ea typeface="맑은 고딕"/>
              </a:rPr>
              <a:t>«store» CXL </a:t>
            </a:r>
            <a:r>
              <a:rPr sz="700" b="1" i="0" dirty="0" err="1">
                <a:solidFill>
                  <a:srgbClr val="FFFFFF"/>
                </a:solidFill>
                <a:latin typeface="맑은 고딕"/>
                <a:ea typeface="맑은 고딕"/>
              </a:rPr>
              <a:t>공유</a:t>
            </a:r>
            <a:r>
              <a:rPr sz="700" b="1" i="0" dirty="0">
                <a:solidFill>
                  <a:srgbClr val="FFFFFF"/>
                </a:solidFill>
                <a:latin typeface="맑은 고딕"/>
                <a:ea typeface="맑은 고딕"/>
              </a:rPr>
              <a:t> 풀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361103" y="2349296"/>
            <a:ext cx="1691640" cy="29260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ea typeface="맑은 고딕"/>
              </a:rPr>
              <a:t>공유 데이터</a:t>
            </a:r>
            <a:endParaRPr lang="en-US" altLang="ko-KR" sz="800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85" name="Rectangle 184"/>
          <p:cNvSpPr/>
          <p:nvPr/>
        </p:nvSpPr>
        <p:spPr>
          <a:xfrm>
            <a:off x="8361103" y="2733344"/>
            <a:ext cx="1691640" cy="38120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900" b="1" dirty="0">
                <a:solidFill>
                  <a:schemeClr val="tx1"/>
                </a:solidFill>
                <a:ea typeface="맑은 고딕"/>
              </a:rPr>
              <a:t>공유 메타데이터</a:t>
            </a:r>
          </a:p>
          <a:p>
            <a:pPr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해시 테이블 </a:t>
            </a:r>
            <a:r>
              <a:rPr lang="en-US" altLang="ko-KR" sz="700" dirty="0">
                <a:solidFill>
                  <a:schemeClr val="tx1"/>
                </a:solidFill>
                <a:ea typeface="맑은 고딕"/>
              </a:rPr>
              <a:t>· allocator · LRU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8361103" y="3195993"/>
            <a:ext cx="1691640" cy="2743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전역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 락 </a:t>
            </a:r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배열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 (</a:t>
            </a:r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노드별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sz="800" b="0" i="0" dirty="0" err="1">
                <a:solidFill>
                  <a:schemeClr val="tx1"/>
                </a:solidFill>
                <a:latin typeface="맑은 고딕"/>
                <a:ea typeface="맑은 고딕"/>
              </a:rPr>
              <a:t>슬롯</a:t>
            </a:r>
            <a:r>
              <a:rPr sz="800" b="0" i="0" dirty="0">
                <a:solidFill>
                  <a:schemeClr val="tx1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DP4. </a:t>
            </a:r>
            <a:r>
              <a:rPr lang="en-US" altLang="ko-KR" dirty="0" err="1"/>
              <a:t>서버</a:t>
            </a:r>
            <a:r>
              <a:rPr lang="en-US" altLang="ko-KR" dirty="0"/>
              <a:t> 간 KV </a:t>
            </a:r>
            <a:r>
              <a:rPr lang="ko-KR" altLang="en-US" dirty="0"/>
              <a:t>캐시 </a:t>
            </a:r>
            <a:r>
              <a:rPr lang="en-US" altLang="ko-KR" dirty="0" err="1"/>
              <a:t>공유</a:t>
            </a:r>
            <a:r>
              <a:rPr lang="en-US" altLang="ko-KR" dirty="0"/>
              <a:t> </a:t>
            </a:r>
            <a:r>
              <a:rPr lang="en-US" altLang="ko-KR" dirty="0" err="1"/>
              <a:t>구조</a:t>
            </a:r>
            <a:r>
              <a:rPr lang="en-US" altLang="ko-KR" dirty="0"/>
              <a:t> – </a:t>
            </a:r>
            <a:r>
              <a:rPr lang="ko-KR" altLang="en-US" dirty="0">
                <a:solidFill>
                  <a:srgbClr val="FF0000"/>
                </a:solidFill>
              </a:rPr>
              <a:t>보완 설계</a:t>
            </a:r>
            <a:endParaRPr lang="ko-KR" altLang="en-US" strike="sngStrike" dirty="0">
              <a:solidFill>
                <a:srgbClr val="FF000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9405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bg1"/>
                </a:solidFill>
              </a:rPr>
              <a:t>공유 </a:t>
            </a:r>
            <a:r>
              <a:rPr lang="en-US" altLang="ko-KR" sz="1400" b="1" dirty="0">
                <a:solidFill>
                  <a:schemeClr val="bg1"/>
                </a:solidFill>
              </a:rPr>
              <a:t>KV </a:t>
            </a:r>
            <a:r>
              <a:rPr lang="ko-KR" altLang="en-US" sz="1400" b="1" dirty="0">
                <a:solidFill>
                  <a:schemeClr val="bg1"/>
                </a:solidFill>
              </a:rPr>
              <a:t>캐시의 데이터 정합성을 보장하면서 동기화 방식을 최적화하는 구조 </a:t>
            </a:r>
            <a:endParaRPr lang="en-US" altLang="ko-KR" sz="1400" b="1" dirty="0">
              <a:solidFill>
                <a:schemeClr val="bg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37" name="TextBox 136"/>
          <p:cNvSpPr txBox="1"/>
          <p:nvPr/>
        </p:nvSpPr>
        <p:spPr>
          <a:xfrm>
            <a:off x="1111250" y="1430748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“KV </a:t>
            </a:r>
            <a:r>
              <a:rPr lang="ko-KR" altLang="en-US" sz="1100" dirty="0"/>
              <a:t>해시 기반 </a:t>
            </a:r>
            <a:r>
              <a:rPr lang="en-US" altLang="ko-KR" sz="1100" dirty="0"/>
              <a:t>Metadata </a:t>
            </a:r>
            <a:r>
              <a:rPr lang="en-US" altLang="ko-KR" sz="1100" dirty="0" err="1"/>
              <a:t>Sharding</a:t>
            </a:r>
            <a:r>
              <a:rPr lang="en-US" altLang="ko-KR" sz="1100" dirty="0"/>
              <a:t> </a:t>
            </a:r>
            <a:r>
              <a:rPr lang="ko-KR" altLang="en-US" sz="1100" dirty="0"/>
              <a:t>및 </a:t>
            </a:r>
            <a:r>
              <a:rPr lang="en-US" altLang="ko-KR" sz="1100" dirty="0"/>
              <a:t>Shard</a:t>
            </a:r>
            <a:r>
              <a:rPr lang="ko-KR" altLang="en-US" sz="1100" dirty="0"/>
              <a:t>별 독립 </a:t>
            </a:r>
            <a:r>
              <a:rPr lang="en-US" altLang="ko-KR" sz="1100" dirty="0"/>
              <a:t>Worker </a:t>
            </a:r>
            <a:r>
              <a:rPr lang="ko-KR" altLang="en-US" sz="1100" dirty="0"/>
              <a:t>구성</a:t>
            </a:r>
            <a:r>
              <a:rPr lang="en-US" altLang="ko-KR" sz="1100" dirty="0"/>
              <a:t> ”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34149" y="1416420"/>
            <a:ext cx="5543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“메타데이터를 공유 메모리에 두고 모든 노드가 2단 락으로 </a:t>
            </a:r>
            <a:r>
              <a:rPr lang="en-US" altLang="ko-KR" sz="1100" dirty="0" err="1"/>
              <a:t>직접</a:t>
            </a:r>
            <a:r>
              <a:rPr lang="en-US" altLang="ko-KR" sz="1100" dirty="0"/>
              <a:t> </a:t>
            </a:r>
            <a:r>
              <a:rPr lang="en-US" altLang="ko-KR" sz="1100" dirty="0" err="1"/>
              <a:t>갱신</a:t>
            </a:r>
            <a:r>
              <a:rPr lang="en-US" altLang="ko-KR" sz="1100" dirty="0"/>
              <a:t>”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675120" y="2120696"/>
            <a:ext cx="1417320" cy="187972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6675120" y="2120696"/>
            <a:ext cx="822960" cy="17373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r>
              <a:rPr sz="700" b="1">
                <a:solidFill>
                  <a:schemeClr val="tx1"/>
                </a:solidFill>
                <a:latin typeface="맑은 고딕"/>
                <a:ea typeface="맑은 고딕"/>
              </a:rPr>
              <a:t>«node» P 노드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784848" y="2440496"/>
            <a:ext cx="1188720" cy="27480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Migration Executor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10332720" y="2120696"/>
            <a:ext cx="1417320" cy="182154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0332720" y="2120696"/>
            <a:ext cx="822960" cy="173736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0" rIns="18288" bIns="0" rtlCol="0" anchor="ctr"/>
          <a:lstStyle/>
          <a:p>
            <a:r>
              <a:rPr sz="700" b="1">
                <a:solidFill>
                  <a:schemeClr val="tx1"/>
                </a:solidFill>
                <a:latin typeface="맑은 고딕"/>
                <a:ea typeface="맑은 고딕"/>
              </a:rPr>
              <a:t>«node» D 노드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0442448" y="2440496"/>
            <a:ext cx="1188720" cy="27480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Migration Executor</a:t>
            </a:r>
          </a:p>
        </p:txBody>
      </p:sp>
      <p:grpSp>
        <p:nvGrpSpPr>
          <p:cNvPr id="44" name="그룹 43"/>
          <p:cNvGrpSpPr/>
          <p:nvPr/>
        </p:nvGrpSpPr>
        <p:grpSpPr>
          <a:xfrm>
            <a:off x="8327898" y="3851498"/>
            <a:ext cx="1737360" cy="438382"/>
            <a:chOff x="8412480" y="3948814"/>
            <a:chExt cx="1737360" cy="482220"/>
          </a:xfrm>
        </p:grpSpPr>
        <p:sp>
          <p:nvSpPr>
            <p:cNvPr id="187" name="Rectangle 186"/>
            <p:cNvSpPr/>
            <p:nvPr/>
          </p:nvSpPr>
          <p:spPr>
            <a:xfrm>
              <a:off x="8458200" y="3948814"/>
              <a:ext cx="1691640" cy="48222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64008" tIns="18288" rIns="27432" bIns="18288" rtlCol="0" anchor="ctr"/>
            <a:lstStyle/>
            <a:p>
              <a:pPr lvl="0" algn="ctr" defTabSz="457200" latinLnBrk="0">
                <a:lnSpc>
                  <a:spcPct val="150000"/>
                </a:lnSpc>
              </a:pPr>
              <a:r>
                <a:rPr lang="ko-KR" altLang="en-US" sz="900" b="1" dirty="0" err="1">
                  <a:solidFill>
                    <a:schemeClr val="tx1"/>
                  </a:solidFill>
                  <a:ea typeface="맑은 고딕"/>
                </a:rPr>
                <a:t>락</a:t>
              </a:r>
              <a:r>
                <a:rPr lang="ko-KR" altLang="en-US" sz="900" b="1" dirty="0">
                  <a:solidFill>
                    <a:schemeClr val="tx1"/>
                  </a:solidFill>
                  <a:ea typeface="맑은 고딕"/>
                </a:rPr>
                <a:t> 매니저 스레드</a:t>
              </a:r>
              <a:endParaRPr lang="en-US" altLang="ko-KR" sz="900" b="1" dirty="0">
                <a:solidFill>
                  <a:schemeClr val="tx1"/>
                </a:solidFill>
                <a:ea typeface="맑은 고딕"/>
              </a:endParaRPr>
            </a:p>
            <a:p>
              <a:pPr lvl="0" algn="ctr" defTabSz="457200" latinLnBrk="0">
                <a:lnSpc>
                  <a:spcPct val="15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슬롯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scan → LOCKED grant</a:t>
              </a:r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8412480" y="4003678"/>
              <a:ext cx="91440" cy="50292"/>
            </a:xfrm>
            <a:prstGeom prst="rect">
              <a:avLst/>
            </a:prstGeom>
            <a:solidFill>
              <a:srgbClr val="FDECEA"/>
            </a:solidFill>
            <a:ln w="95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endParaRPr dirty="0"/>
            </a:p>
          </p:txBody>
        </p:sp>
      </p:grpSp>
      <p:cxnSp>
        <p:nvCxnSpPr>
          <p:cNvPr id="190" name="Connector 189"/>
          <p:cNvCxnSpPr/>
          <p:nvPr/>
        </p:nvCxnSpPr>
        <p:spPr>
          <a:xfrm>
            <a:off x="7986148" y="2541320"/>
            <a:ext cx="372604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8092440" y="246359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192" name="Connector 191"/>
          <p:cNvCxnSpPr/>
          <p:nvPr/>
        </p:nvCxnSpPr>
        <p:spPr>
          <a:xfrm flipH="1">
            <a:off x="10063089" y="2605795"/>
            <a:ext cx="35638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Oval 192"/>
          <p:cNvSpPr/>
          <p:nvPr/>
        </p:nvSpPr>
        <p:spPr>
          <a:xfrm>
            <a:off x="10163555" y="2411486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r>
              <a:rPr lang="en-US"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0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194" name="Connector 193"/>
          <p:cNvCxnSpPr/>
          <p:nvPr/>
        </p:nvCxnSpPr>
        <p:spPr>
          <a:xfrm>
            <a:off x="7962138" y="3254552"/>
            <a:ext cx="365760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Oval 194"/>
          <p:cNvSpPr/>
          <p:nvPr/>
        </p:nvSpPr>
        <p:spPr>
          <a:xfrm>
            <a:off x="8067294" y="317682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cxnSp>
        <p:nvCxnSpPr>
          <p:cNvPr id="196" name="Connector 195"/>
          <p:cNvCxnSpPr/>
          <p:nvPr/>
        </p:nvCxnSpPr>
        <p:spPr>
          <a:xfrm flipH="1">
            <a:off x="10063089" y="3286920"/>
            <a:ext cx="35638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Oval 196"/>
          <p:cNvSpPr/>
          <p:nvPr/>
        </p:nvSpPr>
        <p:spPr>
          <a:xfrm>
            <a:off x="10163555" y="3102462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06" name="C2 lock-manager link"/>
          <p:cNvCxnSpPr/>
          <p:nvPr/>
        </p:nvCxnSpPr>
        <p:spPr>
          <a:xfrm>
            <a:off x="9304020" y="3556764"/>
            <a:ext cx="0" cy="248704"/>
          </a:xfrm>
          <a:prstGeom prst="line">
            <a:avLst/>
          </a:prstGeom>
          <a:ln w="15875">
            <a:solidFill>
              <a:srgbClr val="2F559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C2 link label"/>
          <p:cNvSpPr txBox="1"/>
          <p:nvPr/>
        </p:nvSpPr>
        <p:spPr>
          <a:xfrm>
            <a:off x="9360000" y="3618501"/>
            <a:ext cx="880000" cy="1000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50" b="0" i="0" dirty="0" err="1">
                <a:solidFill>
                  <a:srgbClr val="404040"/>
                </a:solidFill>
                <a:latin typeface="맑은 고딕"/>
                <a:ea typeface="맑은 고딕"/>
              </a:rPr>
              <a:t>슬롯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 scan</a:t>
            </a:r>
            <a:r>
              <a:rPr lang="en-US"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, </a:t>
            </a:r>
            <a:r>
              <a:rPr lang="ko-KR" altLang="en-US" sz="650" dirty="0" err="1">
                <a:solidFill>
                  <a:srgbClr val="404040"/>
                </a:solidFill>
                <a:latin typeface="맑은 고딕"/>
                <a:ea typeface="맑은 고딕"/>
              </a:rPr>
              <a:t>락</a:t>
            </a:r>
            <a:r>
              <a:rPr lang="ko-KR" altLang="en-US" sz="65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650" b="0" i="0" dirty="0">
                <a:solidFill>
                  <a:srgbClr val="404040"/>
                </a:solidFill>
                <a:latin typeface="맑은 고딕"/>
                <a:ea typeface="맑은 고딕"/>
              </a:rPr>
              <a:t>grant</a:t>
            </a:r>
          </a:p>
        </p:txBody>
      </p:sp>
      <p:sp>
        <p:nvSpPr>
          <p:cNvPr id="208" name="Rectangle 35"/>
          <p:cNvSpPr/>
          <p:nvPr/>
        </p:nvSpPr>
        <p:spPr>
          <a:xfrm>
            <a:off x="6784848" y="2865932"/>
            <a:ext cx="1147156" cy="5552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lvl="0" algn="ctr" defTabSz="457200" latinLnBrk="0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ea typeface="맑은 고딕"/>
              </a:rPr>
              <a:t>Client Library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로컬 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락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 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  <a:p>
            <a:pPr lvl="0" algn="ctr"/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메타데이터 직접 갱신</a:t>
            </a:r>
          </a:p>
        </p:txBody>
      </p:sp>
      <p:sp>
        <p:nvSpPr>
          <p:cNvPr id="209" name="Rectangle 35"/>
          <p:cNvSpPr/>
          <p:nvPr/>
        </p:nvSpPr>
        <p:spPr>
          <a:xfrm>
            <a:off x="10447020" y="2865932"/>
            <a:ext cx="1147156" cy="5425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lvl="0" algn="ctr" defTabSz="457200" latinLnBrk="0">
              <a:lnSpc>
                <a:spcPct val="150000"/>
              </a:lnSpc>
            </a:pPr>
            <a:r>
              <a:rPr lang="en-US" altLang="ko-KR" sz="900" b="1" dirty="0">
                <a:solidFill>
                  <a:schemeClr val="tx1"/>
                </a:solidFill>
                <a:ea typeface="맑은 고딕"/>
              </a:rPr>
              <a:t>Client Library</a:t>
            </a:r>
          </a:p>
          <a:p>
            <a:pPr lvl="0" algn="ctr">
              <a:lnSpc>
                <a:spcPct val="150000"/>
              </a:lnSpc>
            </a:pP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로컬 </a:t>
            </a:r>
            <a:r>
              <a:rPr lang="ko-KR" altLang="en-US" sz="700" dirty="0" err="1">
                <a:solidFill>
                  <a:schemeClr val="tx1"/>
                </a:solidFill>
                <a:ea typeface="맑은 고딕"/>
              </a:rPr>
              <a:t>락</a:t>
            </a:r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 </a:t>
            </a:r>
            <a:endParaRPr lang="en-US" altLang="ko-KR" sz="700" dirty="0">
              <a:solidFill>
                <a:schemeClr val="tx1"/>
              </a:solidFill>
              <a:ea typeface="맑은 고딕"/>
            </a:endParaRPr>
          </a:p>
          <a:p>
            <a:pPr lvl="0" algn="ctr"/>
            <a:r>
              <a:rPr lang="ko-KR" altLang="en-US" sz="700" dirty="0">
                <a:solidFill>
                  <a:schemeClr val="tx1"/>
                </a:solidFill>
                <a:ea typeface="맑은 고딕"/>
              </a:rPr>
              <a:t>메타데이터 직접 갱신</a:t>
            </a:r>
          </a:p>
        </p:txBody>
      </p:sp>
      <p:sp>
        <p:nvSpPr>
          <p:cNvPr id="211" name="Rectangle 77"/>
          <p:cNvSpPr/>
          <p:nvPr/>
        </p:nvSpPr>
        <p:spPr>
          <a:xfrm>
            <a:off x="6784848" y="3591783"/>
            <a:ext cx="1152144" cy="274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노드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로컬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락 (DRAM)</a:t>
            </a:r>
          </a:p>
        </p:txBody>
      </p:sp>
      <p:sp>
        <p:nvSpPr>
          <p:cNvPr id="212" name="Rectangle 84"/>
          <p:cNvSpPr/>
          <p:nvPr/>
        </p:nvSpPr>
        <p:spPr>
          <a:xfrm>
            <a:off x="10423398" y="3591783"/>
            <a:ext cx="1152144" cy="27432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0" rIns="27432" bIns="0" rtlCol="0" anchor="ctr"/>
          <a:lstStyle/>
          <a:p>
            <a:pPr algn="ctr">
              <a:lnSpc>
                <a:spcPct val="95000"/>
              </a:lnSpc>
            </a:pP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노드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</a:t>
            </a:r>
            <a:r>
              <a:rPr sz="800" i="0" dirty="0" err="1">
                <a:solidFill>
                  <a:srgbClr val="404040"/>
                </a:solidFill>
                <a:latin typeface="맑은 고딕"/>
                <a:ea typeface="맑은 고딕"/>
              </a:rPr>
              <a:t>로컬</a:t>
            </a:r>
            <a:r>
              <a:rPr sz="800" i="0" dirty="0">
                <a:solidFill>
                  <a:srgbClr val="404040"/>
                </a:solidFill>
                <a:latin typeface="맑은 고딕"/>
                <a:ea typeface="맑은 고딕"/>
              </a:rPr>
              <a:t> 락 (DRAM)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0A9BCA1-FAEA-4612-92CB-05CCBDD3F489}"/>
              </a:ext>
            </a:extLst>
          </p:cNvPr>
          <p:cNvGrpSpPr/>
          <p:nvPr/>
        </p:nvGrpSpPr>
        <p:grpSpPr>
          <a:xfrm>
            <a:off x="1448656" y="1847396"/>
            <a:ext cx="4668457" cy="1771105"/>
            <a:chOff x="1261872" y="2029255"/>
            <a:chExt cx="5135303" cy="2143037"/>
          </a:xfrm>
        </p:grpSpPr>
        <p:sp>
          <p:nvSpPr>
            <p:cNvPr id="140" name="Rectangle 139"/>
            <p:cNvSpPr/>
            <p:nvPr/>
          </p:nvSpPr>
          <p:spPr>
            <a:xfrm>
              <a:off x="1261872" y="2120695"/>
              <a:ext cx="1417320" cy="200003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endParaRPr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1261872" y="2120696"/>
              <a:ext cx="822960" cy="1737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18288" bIns="0" rtlCol="0" anchor="ctr"/>
            <a:lstStyle/>
            <a:p>
              <a:pPr algn="l"/>
              <a:r>
                <a:rPr sz="700" b="1" i="0" dirty="0">
                  <a:solidFill>
                    <a:schemeClr val="tx1"/>
                  </a:solidFill>
                  <a:latin typeface="맑은 고딕"/>
                  <a:ea typeface="맑은 고딕"/>
                </a:rPr>
                <a:t>«node» P </a:t>
              </a:r>
              <a:r>
                <a:rPr sz="700" b="1" i="0" dirty="0" err="1">
                  <a:solidFill>
                    <a:schemeClr val="tx1"/>
                  </a:solidFill>
                  <a:latin typeface="맑은 고딕"/>
                  <a:ea typeface="맑은 고딕"/>
                </a:rPr>
                <a:t>노드</a:t>
              </a:r>
              <a:endParaRPr sz="700" b="1" i="0" dirty="0">
                <a:solidFill>
                  <a:schemeClr val="tx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1371600" y="2440496"/>
              <a:ext cx="1188720" cy="2748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Migration Executor</a:t>
              </a:r>
              <a:endParaRPr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endParaRPr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4979855" y="2120696"/>
              <a:ext cx="1417320" cy="200003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endParaRPr dirty="0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4979855" y="2120696"/>
              <a:ext cx="822960" cy="1737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18288" bIns="0" rtlCol="0" anchor="ctr"/>
            <a:lstStyle/>
            <a:p>
              <a:r>
                <a:rPr sz="700" b="1" dirty="0">
                  <a:solidFill>
                    <a:schemeClr val="tx1"/>
                  </a:solidFill>
                  <a:latin typeface="맑은 고딕"/>
                  <a:ea typeface="맑은 고딕"/>
                </a:rPr>
                <a:t>«node» D </a:t>
              </a:r>
              <a:r>
                <a:rPr sz="700" b="1" dirty="0" err="1">
                  <a:solidFill>
                    <a:schemeClr val="tx1"/>
                  </a:solidFill>
                  <a:latin typeface="맑은 고딕"/>
                  <a:ea typeface="맑은 고딕"/>
                </a:rPr>
                <a:t>노드</a:t>
              </a:r>
              <a:endParaRPr sz="700" b="1" dirty="0">
                <a:solidFill>
                  <a:schemeClr val="tx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5089583" y="2440496"/>
              <a:ext cx="1188720" cy="27480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Migration Executor</a:t>
              </a:r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3019667" y="2029255"/>
              <a:ext cx="1704108" cy="1532337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endParaRPr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3017852" y="2029256"/>
              <a:ext cx="1286810" cy="173736"/>
            </a:xfrm>
            <a:prstGeom prst="rect">
              <a:avLst/>
            </a:prstGeom>
            <a:solidFill>
              <a:srgbClr val="C55A11"/>
            </a:solidFill>
            <a:ln w="12700">
              <a:solidFill>
                <a:srgbClr val="C55A1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18288" bIns="0" rtlCol="0" anchor="ctr"/>
            <a:lstStyle/>
            <a:p>
              <a:pPr algn="l"/>
              <a:r>
                <a:rPr sz="700" b="1" i="0" dirty="0">
                  <a:solidFill>
                    <a:srgbClr val="FFFFFF"/>
                  </a:solidFill>
                  <a:latin typeface="맑은 고딕"/>
                  <a:ea typeface="맑은 고딕"/>
                </a:rPr>
                <a:t>«store» CXL </a:t>
              </a:r>
              <a:r>
                <a:rPr sz="700" b="1" i="0" dirty="0" err="1">
                  <a:solidFill>
                    <a:srgbClr val="FFFFFF"/>
                  </a:solidFill>
                  <a:latin typeface="맑은 고딕"/>
                  <a:ea typeface="맑은 고딕"/>
                </a:rPr>
                <a:t>공유</a:t>
              </a:r>
              <a:r>
                <a:rPr sz="700" b="1" i="0" dirty="0">
                  <a:solidFill>
                    <a:srgbClr val="FFFFFF"/>
                  </a:solidFill>
                  <a:latin typeface="맑은 고딕"/>
                  <a:ea typeface="맑은 고딕"/>
                </a:rPr>
                <a:t> 풀</a:t>
              </a:r>
              <a:r>
                <a:rPr lang="en-US" sz="700" b="1" i="0" dirty="0">
                  <a:solidFill>
                    <a:srgbClr val="FFFFFF"/>
                  </a:solidFill>
                  <a:latin typeface="맑은 고딕"/>
                  <a:ea typeface="맑은 고딕"/>
                </a:rPr>
                <a:t> </a:t>
              </a:r>
              <a:endParaRPr sz="700" b="1" i="0" dirty="0">
                <a:solidFill>
                  <a:srgbClr val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3124504" y="2373264"/>
              <a:ext cx="1537855" cy="2926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576" tIns="18288" rIns="36576" bIns="18288"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  <a:latin typeface="맑은 고딕"/>
                  <a:ea typeface="맑은 고딕"/>
                </a:rPr>
                <a:t>공유 데이터</a:t>
              </a:r>
              <a:endParaRPr sz="800" dirty="0">
                <a:solidFill>
                  <a:schemeClr val="tx1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159" name="Connector 158"/>
            <p:cNvCxnSpPr/>
            <p:nvPr/>
          </p:nvCxnSpPr>
          <p:spPr>
            <a:xfrm>
              <a:off x="2549632" y="3344010"/>
              <a:ext cx="458759" cy="0"/>
            </a:xfrm>
            <a:prstGeom prst="line">
              <a:avLst/>
            </a:prstGeom>
            <a:ln w="15875">
              <a:solidFill>
                <a:srgbClr val="2F559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Oval 159"/>
            <p:cNvSpPr/>
            <p:nvPr/>
          </p:nvSpPr>
          <p:spPr>
            <a:xfrm>
              <a:off x="2701812" y="3243038"/>
              <a:ext cx="155448" cy="155448"/>
            </a:xfrm>
            <a:prstGeom prst="ellipse">
              <a:avLst/>
            </a:prstGeom>
            <a:solidFill>
              <a:srgbClr val="2F5597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650" b="1" i="0" dirty="0">
                  <a:solidFill>
                    <a:srgbClr val="FFFFFF"/>
                  </a:solidFill>
                  <a:latin typeface="맑은 고딕"/>
                  <a:ea typeface="맑은 고딕"/>
                </a:rPr>
                <a:t>1</a:t>
              </a:r>
            </a:p>
          </p:txBody>
        </p:sp>
        <p:cxnSp>
          <p:nvCxnSpPr>
            <p:cNvPr id="161" name="Connector 160"/>
            <p:cNvCxnSpPr/>
            <p:nvPr/>
          </p:nvCxnSpPr>
          <p:spPr>
            <a:xfrm flipH="1">
              <a:off x="4621340" y="3285858"/>
              <a:ext cx="474344" cy="0"/>
            </a:xfrm>
            <a:prstGeom prst="line">
              <a:avLst/>
            </a:prstGeom>
            <a:ln w="158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Oval 161"/>
            <p:cNvSpPr/>
            <p:nvPr/>
          </p:nvSpPr>
          <p:spPr>
            <a:xfrm>
              <a:off x="4778047" y="3188562"/>
              <a:ext cx="155448" cy="15544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  <a:latin typeface="맑은 고딕"/>
                  <a:ea typeface="맑은 고딕"/>
                </a:rPr>
                <a:t>4</a:t>
              </a:r>
              <a:endParaRPr sz="650" b="1" i="0" dirty="0">
                <a:solidFill>
                  <a:srgbClr val="FFFFFF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204" name="C1 slot-server link"/>
            <p:cNvCxnSpPr>
              <a:cxnSpLocks/>
            </p:cNvCxnSpPr>
            <p:nvPr/>
          </p:nvCxnSpPr>
          <p:spPr>
            <a:xfrm>
              <a:off x="3890772" y="3573688"/>
              <a:ext cx="0" cy="598604"/>
            </a:xfrm>
            <a:prstGeom prst="line">
              <a:avLst/>
            </a:prstGeom>
            <a:ln w="15875">
              <a:solidFill>
                <a:srgbClr val="2F5597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C1 link label"/>
            <p:cNvSpPr txBox="1"/>
            <p:nvPr/>
          </p:nvSpPr>
          <p:spPr>
            <a:xfrm>
              <a:off x="3981451" y="3630728"/>
              <a:ext cx="880000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en-US" sz="650" dirty="0">
                  <a:solidFill>
                    <a:srgbClr val="404040"/>
                  </a:solidFill>
                  <a:latin typeface="맑은 고딕"/>
                  <a:ea typeface="맑은 고딕"/>
                </a:rPr>
                <a:t>Polling</a:t>
              </a:r>
              <a:endParaRPr sz="650" b="0" i="0" dirty="0">
                <a:solidFill>
                  <a:srgbClr val="40404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0" name="Rectangle 35"/>
            <p:cNvSpPr/>
            <p:nvPr/>
          </p:nvSpPr>
          <p:spPr>
            <a:xfrm>
              <a:off x="1368310" y="2966024"/>
              <a:ext cx="1147156" cy="60167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 defTabSz="457200" latinLnBrk="0">
                <a:lnSpc>
                  <a:spcPct val="150000"/>
                </a:lnSpc>
              </a:pPr>
              <a:r>
                <a:rPr sz="900" b="1" dirty="0">
                  <a:solidFill>
                    <a:schemeClr val="tx1"/>
                  </a:solidFill>
                  <a:latin typeface="맑은 고딕"/>
                  <a:ea typeface="맑은 고딕"/>
                </a:rPr>
                <a:t>Client Library</a:t>
              </a:r>
            </a:p>
            <a:p>
              <a:pPr algn="ctr">
                <a:lnSpc>
                  <a:spcPct val="15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 쓰기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캐시 우회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응답 읽기</a:t>
              </a:r>
            </a:p>
          </p:txBody>
        </p:sp>
        <p:sp>
          <p:nvSpPr>
            <p:cNvPr id="132" name="Rectangle 35"/>
            <p:cNvSpPr/>
            <p:nvPr/>
          </p:nvSpPr>
          <p:spPr>
            <a:xfrm>
              <a:off x="5090865" y="2966024"/>
              <a:ext cx="1147156" cy="60167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 defTabSz="457200" latinLnBrk="0">
                <a:lnSpc>
                  <a:spcPct val="150000"/>
                </a:lnSpc>
              </a:pPr>
              <a:r>
                <a:rPr sz="900" b="1" dirty="0">
                  <a:solidFill>
                    <a:schemeClr val="tx1"/>
                  </a:solidFill>
                  <a:latin typeface="맑은 고딕"/>
                  <a:ea typeface="맑은 고딕"/>
                </a:rPr>
                <a:t>Client Library</a:t>
              </a:r>
            </a:p>
            <a:p>
              <a:pPr algn="ctr">
                <a:lnSpc>
                  <a:spcPct val="150000"/>
                </a:lnSpc>
              </a:pP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요청 쓰기 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캐시 우회</a:t>
              </a:r>
              <a:r>
                <a:rPr lang="en-US" altLang="ko-KR" sz="700" dirty="0">
                  <a:solidFill>
                    <a:schemeClr val="tx1"/>
                  </a:solidFill>
                  <a:ea typeface="맑은 고딕"/>
                </a:rPr>
                <a:t>)</a:t>
              </a:r>
            </a:p>
            <a:p>
              <a:pPr algn="ctr"/>
              <a:r>
                <a:rPr lang="ko-KR" altLang="en-US" sz="700" dirty="0">
                  <a:solidFill>
                    <a:schemeClr val="tx1"/>
                  </a:solidFill>
                  <a:ea typeface="맑은 고딕"/>
                </a:rPr>
                <a:t>응답 읽기</a:t>
              </a:r>
            </a:p>
          </p:txBody>
        </p:sp>
        <p:sp>
          <p:nvSpPr>
            <p:cNvPr id="135" name="Rectangle 37"/>
            <p:cNvSpPr/>
            <p:nvPr/>
          </p:nvSpPr>
          <p:spPr>
            <a:xfrm>
              <a:off x="1399032" y="3719744"/>
              <a:ext cx="1078992" cy="274320"/>
            </a:xfrm>
            <a:prstGeom prst="rect">
              <a:avLst/>
            </a:prstGeom>
            <a:noFill/>
            <a:ln w="9525">
              <a:solidFill>
                <a:srgbClr val="BFBFB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05000"/>
                </a:lnSpc>
              </a:pPr>
              <a:r>
                <a:rPr sz="8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락 </a:t>
              </a:r>
              <a:r>
                <a:rPr sz="800" b="0" i="0" dirty="0" err="1">
                  <a:solidFill>
                    <a:srgbClr val="808080"/>
                  </a:solidFill>
                  <a:latin typeface="맑은 고딕"/>
                  <a:ea typeface="맑은 고딕"/>
                </a:rPr>
                <a:t>불필요</a:t>
              </a:r>
              <a:endParaRPr sz="800" b="0" i="0" dirty="0">
                <a:solidFill>
                  <a:srgbClr val="80808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36" name="Rectangle 37"/>
            <p:cNvSpPr/>
            <p:nvPr/>
          </p:nvSpPr>
          <p:spPr>
            <a:xfrm>
              <a:off x="5118493" y="3726096"/>
              <a:ext cx="1078992" cy="274320"/>
            </a:xfrm>
            <a:prstGeom prst="rect">
              <a:avLst/>
            </a:prstGeom>
            <a:noFill/>
            <a:ln w="9525">
              <a:solidFill>
                <a:srgbClr val="BFBFBF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05000"/>
                </a:lnSpc>
              </a:pPr>
              <a:r>
                <a:rPr sz="800" b="0" i="0" dirty="0">
                  <a:solidFill>
                    <a:srgbClr val="808080"/>
                  </a:solidFill>
                  <a:latin typeface="맑은 고딕"/>
                  <a:ea typeface="맑은 고딕"/>
                </a:rPr>
                <a:t>락 </a:t>
              </a:r>
              <a:r>
                <a:rPr sz="800" b="0" i="0" dirty="0" err="1">
                  <a:solidFill>
                    <a:srgbClr val="808080"/>
                  </a:solidFill>
                  <a:latin typeface="맑은 고딕"/>
                  <a:ea typeface="맑은 고딕"/>
                </a:rPr>
                <a:t>불필요</a:t>
              </a:r>
              <a:endParaRPr sz="800" b="0" i="0" dirty="0">
                <a:solidFill>
                  <a:srgbClr val="808080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13" name="Rectangle 48"/>
            <p:cNvSpPr/>
            <p:nvPr/>
          </p:nvSpPr>
          <p:spPr>
            <a:xfrm>
              <a:off x="3110754" y="2891678"/>
              <a:ext cx="1511405" cy="5199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0" rIns="27432" bIns="0" rtlCol="0" anchor="ctr"/>
            <a:lstStyle/>
            <a:p>
              <a:pPr algn="ctr">
                <a:lnSpc>
                  <a:spcPct val="150000"/>
                </a:lnSpc>
              </a:pPr>
              <a:r>
                <a:rPr sz="900" b="1" i="0" dirty="0" err="1">
                  <a:solidFill>
                    <a:schemeClr val="tx1"/>
                  </a:solidFill>
                  <a:latin typeface="맑은 고딕"/>
                  <a:ea typeface="맑은 고딕"/>
                </a:rPr>
                <a:t>요청</a:t>
              </a:r>
              <a:r>
                <a:rPr sz="900" b="1" i="0" dirty="0">
                  <a:solidFill>
                    <a:schemeClr val="tx1"/>
                  </a:solidFill>
                  <a:latin typeface="맑은 고딕"/>
                  <a:ea typeface="맑은 고딕"/>
                </a:rPr>
                <a:t> / </a:t>
              </a:r>
              <a:r>
                <a:rPr sz="900" b="1" dirty="0" err="1">
                  <a:solidFill>
                    <a:schemeClr val="tx1"/>
                  </a:solidFill>
                  <a:ea typeface="맑은 고딕"/>
                </a:rPr>
                <a:t>응답</a:t>
              </a:r>
              <a:r>
                <a:rPr sz="900" b="1" i="0" dirty="0">
                  <a:solidFill>
                    <a:schemeClr val="tx1"/>
                  </a:solidFill>
                  <a:latin typeface="맑은 고딕"/>
                  <a:ea typeface="맑은 고딕"/>
                </a:rPr>
                <a:t> </a:t>
              </a:r>
              <a:r>
                <a:rPr sz="900" b="1" i="0" dirty="0" err="1">
                  <a:solidFill>
                    <a:schemeClr val="tx1"/>
                  </a:solidFill>
                  <a:latin typeface="맑은 고딕"/>
                  <a:ea typeface="맑은 고딕"/>
                </a:rPr>
                <a:t>슬롯</a:t>
              </a:r>
              <a:r>
                <a:rPr lang="en-US" sz="900" b="1" i="0" dirty="0">
                  <a:solidFill>
                    <a:schemeClr val="tx1"/>
                  </a:solidFill>
                  <a:latin typeface="맑은 고딕"/>
                  <a:ea typeface="맑은 고딕"/>
                </a:rPr>
                <a:t> (</a:t>
              </a:r>
              <a:r>
                <a:rPr lang="en-US" sz="900" b="1" dirty="0">
                  <a:solidFill>
                    <a:schemeClr val="tx1"/>
                  </a:solidFill>
                  <a:latin typeface="맑은 고딕"/>
                  <a:ea typeface="맑은 고딕"/>
                </a:rPr>
                <a:t>RPC)</a:t>
              </a:r>
              <a:endParaRPr sz="900" b="1" i="0" dirty="0">
                <a:solidFill>
                  <a:schemeClr val="tx1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14" name="Oval 159"/>
            <p:cNvSpPr/>
            <p:nvPr/>
          </p:nvSpPr>
          <p:spPr>
            <a:xfrm>
              <a:off x="3667251" y="3625044"/>
              <a:ext cx="155448" cy="155448"/>
            </a:xfrm>
            <a:prstGeom prst="ellipse">
              <a:avLst/>
            </a:prstGeom>
            <a:solidFill>
              <a:srgbClr val="2F5597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  <a:latin typeface="맑은 고딕"/>
                  <a:ea typeface="맑은 고딕"/>
                </a:rPr>
                <a:t>2</a:t>
              </a:r>
              <a:endParaRPr sz="650" b="1" i="0" dirty="0">
                <a:solidFill>
                  <a:srgbClr val="FFFFFF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217" name="Connector 158"/>
            <p:cNvCxnSpPr/>
            <p:nvPr/>
          </p:nvCxnSpPr>
          <p:spPr>
            <a:xfrm>
              <a:off x="2542776" y="3078856"/>
              <a:ext cx="458759" cy="0"/>
            </a:xfrm>
            <a:prstGeom prst="line">
              <a:avLst/>
            </a:prstGeom>
            <a:ln w="15875">
              <a:solidFill>
                <a:srgbClr val="2F5597"/>
              </a:solidFill>
              <a:headEnd type="triangl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8" name="Oval 159"/>
            <p:cNvSpPr/>
            <p:nvPr/>
          </p:nvSpPr>
          <p:spPr>
            <a:xfrm>
              <a:off x="2699716" y="2977884"/>
              <a:ext cx="155448" cy="155448"/>
            </a:xfrm>
            <a:prstGeom prst="ellipse">
              <a:avLst/>
            </a:prstGeom>
            <a:solidFill>
              <a:srgbClr val="2F5597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  <a:latin typeface="맑은 고딕"/>
                  <a:ea typeface="맑은 고딕"/>
                </a:rPr>
                <a:t>3</a:t>
              </a:r>
              <a:endParaRPr sz="650" b="1" i="0" dirty="0">
                <a:solidFill>
                  <a:srgbClr val="FFFFFF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221" name="Connector 158"/>
            <p:cNvCxnSpPr/>
            <p:nvPr/>
          </p:nvCxnSpPr>
          <p:spPr>
            <a:xfrm>
              <a:off x="2574036" y="2519568"/>
              <a:ext cx="458759" cy="0"/>
            </a:xfrm>
            <a:prstGeom prst="line">
              <a:avLst/>
            </a:prstGeom>
            <a:ln w="15875">
              <a:solidFill>
                <a:srgbClr val="2F5597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Oval 159"/>
            <p:cNvSpPr/>
            <p:nvPr/>
          </p:nvSpPr>
          <p:spPr>
            <a:xfrm>
              <a:off x="2716149" y="2427509"/>
              <a:ext cx="155448" cy="155448"/>
            </a:xfrm>
            <a:prstGeom prst="ellipse">
              <a:avLst/>
            </a:prstGeom>
            <a:solidFill>
              <a:srgbClr val="2F5597"/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  <a:latin typeface="맑은 고딕"/>
                  <a:ea typeface="맑은 고딕"/>
                </a:rPr>
                <a:t>4</a:t>
              </a:r>
              <a:endParaRPr sz="650" b="1" i="0" dirty="0">
                <a:solidFill>
                  <a:srgbClr val="FFFFFF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224" name="Connector 158"/>
            <p:cNvCxnSpPr/>
            <p:nvPr/>
          </p:nvCxnSpPr>
          <p:spPr>
            <a:xfrm>
              <a:off x="4629714" y="3046260"/>
              <a:ext cx="458759" cy="0"/>
            </a:xfrm>
            <a:prstGeom prst="line">
              <a:avLst/>
            </a:prstGeom>
            <a:ln w="158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Oval 159"/>
            <p:cNvSpPr/>
            <p:nvPr/>
          </p:nvSpPr>
          <p:spPr>
            <a:xfrm>
              <a:off x="4781894" y="2945288"/>
              <a:ext cx="155448" cy="15544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  <a:latin typeface="맑은 고딕"/>
                  <a:ea typeface="맑은 고딕"/>
                </a:rPr>
                <a:t>6</a:t>
              </a:r>
              <a:endParaRPr sz="650" b="1" i="0" dirty="0">
                <a:solidFill>
                  <a:srgbClr val="FFFFFF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226" name="Oval 159"/>
            <p:cNvSpPr/>
            <p:nvPr/>
          </p:nvSpPr>
          <p:spPr>
            <a:xfrm>
              <a:off x="3465443" y="3622817"/>
              <a:ext cx="155448" cy="15544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  <a:latin typeface="맑은 고딕"/>
                  <a:ea typeface="맑은 고딕"/>
                </a:rPr>
                <a:t>5</a:t>
              </a:r>
              <a:endParaRPr sz="650" b="1" i="0" dirty="0">
                <a:solidFill>
                  <a:srgbClr val="FFFFFF"/>
                </a:solidFill>
                <a:latin typeface="맑은 고딕"/>
                <a:ea typeface="맑은 고딕"/>
              </a:endParaRPr>
            </a:p>
          </p:txBody>
        </p:sp>
        <p:cxnSp>
          <p:nvCxnSpPr>
            <p:cNvPr id="227" name="Connector 158"/>
            <p:cNvCxnSpPr/>
            <p:nvPr/>
          </p:nvCxnSpPr>
          <p:spPr>
            <a:xfrm>
              <a:off x="4647136" y="2519568"/>
              <a:ext cx="417054" cy="0"/>
            </a:xfrm>
            <a:prstGeom prst="line">
              <a:avLst/>
            </a:prstGeom>
            <a:ln w="15875">
              <a:solidFill>
                <a:schemeClr val="accent1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8" name="Oval 159"/>
            <p:cNvSpPr/>
            <p:nvPr/>
          </p:nvSpPr>
          <p:spPr>
            <a:xfrm>
              <a:off x="4796974" y="2427509"/>
              <a:ext cx="155448" cy="155448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lang="en-US" sz="650" b="1" dirty="0">
                  <a:solidFill>
                    <a:srgbClr val="FFFFFF"/>
                  </a:solidFill>
                  <a:latin typeface="맑은 고딕"/>
                  <a:ea typeface="맑은 고딕"/>
                </a:rPr>
                <a:t>7</a:t>
              </a:r>
              <a:endParaRPr sz="650" b="1" i="0" dirty="0">
                <a:solidFill>
                  <a:srgbClr val="FFFFFF"/>
                </a:solidFill>
                <a:latin typeface="맑은 고딕"/>
                <a:ea typeface="맑은 고딕"/>
              </a:endParaRPr>
            </a:p>
          </p:txBody>
        </p:sp>
      </p:grpSp>
      <p:cxnSp>
        <p:nvCxnSpPr>
          <p:cNvPr id="229" name="Connector 189"/>
          <p:cNvCxnSpPr/>
          <p:nvPr/>
        </p:nvCxnSpPr>
        <p:spPr>
          <a:xfrm>
            <a:off x="7379970" y="3424292"/>
            <a:ext cx="0" cy="16921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Oval 190"/>
          <p:cNvSpPr/>
          <p:nvPr/>
        </p:nvSpPr>
        <p:spPr>
          <a:xfrm>
            <a:off x="7412712" y="3423957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33" name="Oval 196"/>
          <p:cNvSpPr/>
          <p:nvPr/>
        </p:nvSpPr>
        <p:spPr>
          <a:xfrm>
            <a:off x="9089291" y="3602088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34" name="Connector 189"/>
          <p:cNvCxnSpPr/>
          <p:nvPr/>
        </p:nvCxnSpPr>
        <p:spPr>
          <a:xfrm>
            <a:off x="10982024" y="3430701"/>
            <a:ext cx="0" cy="156047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Oval 190"/>
          <p:cNvSpPr/>
          <p:nvPr/>
        </p:nvSpPr>
        <p:spPr>
          <a:xfrm>
            <a:off x="11014766" y="3408484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36" name="Connector 189"/>
          <p:cNvCxnSpPr/>
          <p:nvPr/>
        </p:nvCxnSpPr>
        <p:spPr>
          <a:xfrm>
            <a:off x="7986148" y="2989000"/>
            <a:ext cx="372604" cy="0"/>
          </a:xfrm>
          <a:prstGeom prst="line">
            <a:avLst/>
          </a:prstGeom>
          <a:ln w="15875">
            <a:solidFill>
              <a:srgbClr val="2F559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Oval 190"/>
          <p:cNvSpPr/>
          <p:nvPr/>
        </p:nvSpPr>
        <p:spPr>
          <a:xfrm>
            <a:off x="8092440" y="2911276"/>
            <a:ext cx="155448" cy="155448"/>
          </a:xfrm>
          <a:prstGeom prst="ellipse">
            <a:avLst/>
          </a:prstGeom>
          <a:solidFill>
            <a:srgbClr val="2F5597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cxnSp>
        <p:nvCxnSpPr>
          <p:cNvPr id="238" name="Connector 195"/>
          <p:cNvCxnSpPr/>
          <p:nvPr/>
        </p:nvCxnSpPr>
        <p:spPr>
          <a:xfrm flipH="1">
            <a:off x="10063089" y="3002880"/>
            <a:ext cx="356382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Oval 196"/>
          <p:cNvSpPr/>
          <p:nvPr/>
        </p:nvSpPr>
        <p:spPr>
          <a:xfrm>
            <a:off x="10163555" y="2818422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i="0" dirty="0">
                <a:solidFill>
                  <a:srgbClr val="FFFFFF"/>
                </a:solidFill>
                <a:latin typeface="맑은 고딕"/>
                <a:ea typeface="맑은 고딕"/>
              </a:rPr>
              <a:t>9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40" name="Oval 196"/>
          <p:cNvSpPr/>
          <p:nvPr/>
        </p:nvSpPr>
        <p:spPr>
          <a:xfrm>
            <a:off x="8887483" y="3602088"/>
            <a:ext cx="155448" cy="15544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650" b="1" dirty="0">
                <a:solidFill>
                  <a:srgbClr val="FFFFFF"/>
                </a:solidFill>
                <a:latin typeface="맑은 고딕"/>
                <a:ea typeface="맑은 고딕"/>
              </a:rPr>
              <a:t>7</a:t>
            </a:r>
            <a:endParaRPr sz="650" b="1" i="0" dirty="0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grpSp>
        <p:nvGrpSpPr>
          <p:cNvPr id="241" name="그룹 240">
            <a:extLst>
              <a:ext uri="{FF2B5EF4-FFF2-40B4-BE49-F238E27FC236}">
                <a16:creationId xmlns:a16="http://schemas.microsoft.com/office/drawing/2014/main" id="{40FF77C7-CD72-4303-A0A9-900338825FA2}"/>
              </a:ext>
            </a:extLst>
          </p:cNvPr>
          <p:cNvGrpSpPr/>
          <p:nvPr/>
        </p:nvGrpSpPr>
        <p:grpSpPr>
          <a:xfrm>
            <a:off x="1255880" y="4222474"/>
            <a:ext cx="1009528" cy="100027"/>
            <a:chOff x="600198" y="4114184"/>
            <a:chExt cx="1009528" cy="100027"/>
          </a:xfrm>
        </p:grpSpPr>
        <p:cxnSp>
          <p:nvCxnSpPr>
            <p:cNvPr id="242" name="직선 연결선 241">
              <a:extLst>
                <a:ext uri="{FF2B5EF4-FFF2-40B4-BE49-F238E27FC236}">
                  <a16:creationId xmlns:a16="http://schemas.microsoft.com/office/drawing/2014/main" id="{C75AE133-513C-45E3-9E7B-6069A974A67F}"/>
                </a:ext>
              </a:extLst>
            </p:cNvPr>
            <p:cNvCxnSpPr>
              <a:cxnSpLocks/>
            </p:cNvCxnSpPr>
            <p:nvPr/>
          </p:nvCxnSpPr>
          <p:spPr>
            <a:xfrm>
              <a:off x="600198" y="4165600"/>
              <a:ext cx="220540" cy="0"/>
            </a:xfrm>
            <a:prstGeom prst="line">
              <a:avLst/>
            </a:prstGeom>
            <a:ln w="15875">
              <a:solidFill>
                <a:schemeClr val="accent1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3" name="TextBox 242">
              <a:extLst>
                <a:ext uri="{FF2B5EF4-FFF2-40B4-BE49-F238E27FC236}">
                  <a16:creationId xmlns:a16="http://schemas.microsoft.com/office/drawing/2014/main" id="{845A2BA6-EB2E-4418-8FBA-780692D561CD}"/>
                </a:ext>
              </a:extLst>
            </p:cNvPr>
            <p:cNvSpPr txBox="1"/>
            <p:nvPr/>
          </p:nvSpPr>
          <p:spPr>
            <a:xfrm>
              <a:off x="848224" y="4114184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수신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247D65F3-C7FD-460C-BED7-DDB7768C9266}"/>
              </a:ext>
            </a:extLst>
          </p:cNvPr>
          <p:cNvGrpSpPr/>
          <p:nvPr/>
        </p:nvGrpSpPr>
        <p:grpSpPr>
          <a:xfrm>
            <a:off x="1250169" y="4010261"/>
            <a:ext cx="1009528" cy="100027"/>
            <a:chOff x="2473452" y="4689663"/>
            <a:chExt cx="1009528" cy="100027"/>
          </a:xfrm>
        </p:grpSpPr>
        <p:cxnSp>
          <p:nvCxnSpPr>
            <p:cNvPr id="245" name="직선 연결선 244">
              <a:extLst>
                <a:ext uri="{FF2B5EF4-FFF2-40B4-BE49-F238E27FC236}">
                  <a16:creationId xmlns:a16="http://schemas.microsoft.com/office/drawing/2014/main" id="{5D0520ED-D227-40CF-AAB3-288BD89B50F6}"/>
                </a:ext>
              </a:extLst>
            </p:cNvPr>
            <p:cNvCxnSpPr>
              <a:cxnSpLocks/>
            </p:cNvCxnSpPr>
            <p:nvPr/>
          </p:nvCxnSpPr>
          <p:spPr>
            <a:xfrm>
              <a:off x="2473452" y="4741079"/>
              <a:ext cx="220540" cy="0"/>
            </a:xfrm>
            <a:prstGeom prst="line">
              <a:avLst/>
            </a:prstGeom>
            <a:ln w="158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7FD259B9-EACC-4FCC-BE58-27DC7157A5BA}"/>
                </a:ext>
              </a:extLst>
            </p:cNvPr>
            <p:cNvSpPr txBox="1"/>
            <p:nvPr/>
          </p:nvSpPr>
          <p:spPr>
            <a:xfrm>
              <a:off x="2721478" y="4689663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송신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40FF77C7-CD72-4303-A0A9-900338825FA2}"/>
              </a:ext>
            </a:extLst>
          </p:cNvPr>
          <p:cNvGrpSpPr/>
          <p:nvPr/>
        </p:nvGrpSpPr>
        <p:grpSpPr>
          <a:xfrm>
            <a:off x="7655936" y="4381265"/>
            <a:ext cx="1009528" cy="100027"/>
            <a:chOff x="600198" y="4114184"/>
            <a:chExt cx="1009528" cy="100027"/>
          </a:xfrm>
        </p:grpSpPr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C75AE133-513C-45E3-9E7B-6069A974A67F}"/>
                </a:ext>
              </a:extLst>
            </p:cNvPr>
            <p:cNvCxnSpPr>
              <a:cxnSpLocks/>
            </p:cNvCxnSpPr>
            <p:nvPr/>
          </p:nvCxnSpPr>
          <p:spPr>
            <a:xfrm>
              <a:off x="600198" y="4165600"/>
              <a:ext cx="220540" cy="0"/>
            </a:xfrm>
            <a:prstGeom prst="line">
              <a:avLst/>
            </a:prstGeom>
            <a:ln w="15875">
              <a:solidFill>
                <a:schemeClr val="accent1">
                  <a:lumMod val="60000"/>
                  <a:lumOff val="40000"/>
                </a:schemeClr>
              </a:solidFill>
              <a:prstDash val="solid"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845A2BA6-EB2E-4418-8FBA-780692D561CD}"/>
                </a:ext>
              </a:extLst>
            </p:cNvPr>
            <p:cNvSpPr txBox="1"/>
            <p:nvPr/>
          </p:nvSpPr>
          <p:spPr>
            <a:xfrm>
              <a:off x="848224" y="4114184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수신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247D65F3-C7FD-460C-BED7-DDB7768C9266}"/>
              </a:ext>
            </a:extLst>
          </p:cNvPr>
          <p:cNvGrpSpPr/>
          <p:nvPr/>
        </p:nvGrpSpPr>
        <p:grpSpPr>
          <a:xfrm>
            <a:off x="6618922" y="4381265"/>
            <a:ext cx="1009528" cy="100027"/>
            <a:chOff x="2473452" y="4689663"/>
            <a:chExt cx="1009528" cy="100027"/>
          </a:xfrm>
        </p:grpSpPr>
        <p:cxnSp>
          <p:nvCxnSpPr>
            <p:cNvPr id="251" name="직선 연결선 250">
              <a:extLst>
                <a:ext uri="{FF2B5EF4-FFF2-40B4-BE49-F238E27FC236}">
                  <a16:creationId xmlns:a16="http://schemas.microsoft.com/office/drawing/2014/main" id="{5D0520ED-D227-40CF-AAB3-288BD89B50F6}"/>
                </a:ext>
              </a:extLst>
            </p:cNvPr>
            <p:cNvCxnSpPr>
              <a:cxnSpLocks/>
            </p:cNvCxnSpPr>
            <p:nvPr/>
          </p:nvCxnSpPr>
          <p:spPr>
            <a:xfrm>
              <a:off x="2473452" y="4741079"/>
              <a:ext cx="220540" cy="0"/>
            </a:xfrm>
            <a:prstGeom prst="line">
              <a:avLst/>
            </a:prstGeom>
            <a:ln w="15875">
              <a:solidFill>
                <a:srgbClr val="2F5597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7FD259B9-EACC-4FCC-BE58-27DC7157A5BA}"/>
                </a:ext>
              </a:extLst>
            </p:cNvPr>
            <p:cNvSpPr txBox="1"/>
            <p:nvPr/>
          </p:nvSpPr>
          <p:spPr>
            <a:xfrm>
              <a:off x="2721478" y="4689663"/>
              <a:ext cx="761502" cy="10002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lang="ko-KR" altLang="en-US" sz="650" b="0" i="0" dirty="0">
                  <a:solidFill>
                    <a:srgbClr val="7F7F7F"/>
                  </a:solidFill>
                  <a:latin typeface="맑은 고딕"/>
                  <a:ea typeface="맑은 고딕"/>
                </a:rPr>
                <a:t>데이터 송신</a:t>
              </a:r>
              <a:endParaRPr sz="650" b="0" i="0" dirty="0">
                <a:solidFill>
                  <a:srgbClr val="7F7F7F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AB71E37E-1E20-4358-BCBA-5681E2D81FAD}"/>
              </a:ext>
            </a:extLst>
          </p:cNvPr>
          <p:cNvSpPr/>
          <p:nvPr/>
        </p:nvSpPr>
        <p:spPr>
          <a:xfrm>
            <a:off x="1081944" y="1048899"/>
            <a:ext cx="5492576" cy="56149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43D3EF8-B471-48F1-9D45-16F7D655739A}"/>
              </a:ext>
            </a:extLst>
          </p:cNvPr>
          <p:cNvSpPr txBox="1"/>
          <p:nvPr/>
        </p:nvSpPr>
        <p:spPr>
          <a:xfrm>
            <a:off x="4680249" y="6373748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7.5</a:t>
            </a:r>
            <a:r>
              <a:rPr lang="ko-KR" altLang="en-US" sz="1200" dirty="0"/>
              <a:t>점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8DC1248-6E5A-4524-B4E0-6696C64CA357}"/>
              </a:ext>
            </a:extLst>
          </p:cNvPr>
          <p:cNvSpPr txBox="1"/>
          <p:nvPr/>
        </p:nvSpPr>
        <p:spPr>
          <a:xfrm>
            <a:off x="10103519" y="6351518"/>
            <a:ext cx="7505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총</a:t>
            </a:r>
            <a:r>
              <a:rPr lang="en-US" altLang="ko-KR" sz="1200" dirty="0"/>
              <a:t> 6.5</a:t>
            </a:r>
            <a:r>
              <a:rPr lang="ko-KR" altLang="en-US" sz="1200" dirty="0"/>
              <a:t>점</a:t>
            </a:r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A69AFFBD-B15E-4345-BC17-2CBDA6C5882F}"/>
              </a:ext>
            </a:extLst>
          </p:cNvPr>
          <p:cNvGrpSpPr/>
          <p:nvPr/>
        </p:nvGrpSpPr>
        <p:grpSpPr>
          <a:xfrm>
            <a:off x="265124" y="3729542"/>
            <a:ext cx="822008" cy="868736"/>
            <a:chOff x="269738" y="3554621"/>
            <a:chExt cx="822008" cy="868736"/>
          </a:xfrm>
        </p:grpSpPr>
        <p:sp>
          <p:nvSpPr>
            <p:cNvPr id="125" name="KV Cache Manager">
              <a:extLst>
                <a:ext uri="{FF2B5EF4-FFF2-40B4-BE49-F238E27FC236}">
                  <a16:creationId xmlns:a16="http://schemas.microsoft.com/office/drawing/2014/main" id="{6C761331-2BCA-4B25-8B1F-1540F95D53B4}"/>
                </a:ext>
              </a:extLst>
            </p:cNvPr>
            <p:cNvSpPr/>
            <p:nvPr/>
          </p:nvSpPr>
          <p:spPr>
            <a:xfrm>
              <a:off x="275753" y="3965871"/>
              <a:ext cx="784423" cy="1940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후보 특화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6" name="KV Cache Manager">
              <a:extLst>
                <a:ext uri="{FF2B5EF4-FFF2-40B4-BE49-F238E27FC236}">
                  <a16:creationId xmlns:a16="http://schemas.microsoft.com/office/drawing/2014/main" id="{50A34A3F-254D-4A8E-AFBB-2D33544166EF}"/>
                </a:ext>
              </a:extLst>
            </p:cNvPr>
            <p:cNvSpPr/>
            <p:nvPr/>
          </p:nvSpPr>
          <p:spPr>
            <a:xfrm>
              <a:off x="275753" y="4186396"/>
              <a:ext cx="784423" cy="19403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</a:rPr>
                <a:t>공통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39937169-9026-48D9-88B9-68810CA154C4}"/>
                </a:ext>
              </a:extLst>
            </p:cNvPr>
            <p:cNvSpPr/>
            <p:nvPr/>
          </p:nvSpPr>
          <p:spPr>
            <a:xfrm>
              <a:off x="269738" y="3554621"/>
              <a:ext cx="822008" cy="868736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rtlCol="0" anchor="t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Legend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29" name="KV Cache Manager">
              <a:extLst>
                <a:ext uri="{FF2B5EF4-FFF2-40B4-BE49-F238E27FC236}">
                  <a16:creationId xmlns:a16="http://schemas.microsoft.com/office/drawing/2014/main" id="{A05D98C4-4FFA-431C-A8CA-46BD263987A4}"/>
                </a:ext>
              </a:extLst>
            </p:cNvPr>
            <p:cNvSpPr/>
            <p:nvPr/>
          </p:nvSpPr>
          <p:spPr>
            <a:xfrm>
              <a:off x="275753" y="3750457"/>
              <a:ext cx="784423" cy="1940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DP 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설계 모듈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7DD5F2C-51E6-4D74-83EF-A4160F72D0A7}"/>
              </a:ext>
            </a:extLst>
          </p:cNvPr>
          <p:cNvGrpSpPr/>
          <p:nvPr/>
        </p:nvGrpSpPr>
        <p:grpSpPr>
          <a:xfrm>
            <a:off x="2279209" y="3673870"/>
            <a:ext cx="3027586" cy="1114973"/>
            <a:chOff x="7360920" y="3300984"/>
            <a:chExt cx="3977639" cy="1407513"/>
          </a:xfrm>
        </p:grpSpPr>
        <p:sp>
          <p:nvSpPr>
            <p:cNvPr id="107" name="Rectangle 323">
              <a:extLst>
                <a:ext uri="{FF2B5EF4-FFF2-40B4-BE49-F238E27FC236}">
                  <a16:creationId xmlns:a16="http://schemas.microsoft.com/office/drawing/2014/main" id="{F3EF4309-C200-4C7D-A2E0-E20290214D3B}"/>
                </a:ext>
              </a:extLst>
            </p:cNvPr>
            <p:cNvSpPr/>
            <p:nvPr/>
          </p:nvSpPr>
          <p:spPr>
            <a:xfrm>
              <a:off x="7360920" y="3300984"/>
              <a:ext cx="3977639" cy="118941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25F9BE9-7BDB-4B08-86A4-D6EEB192A0F4}"/>
                </a:ext>
              </a:extLst>
            </p:cNvPr>
            <p:cNvSpPr txBox="1"/>
            <p:nvPr/>
          </p:nvSpPr>
          <p:spPr>
            <a:xfrm>
              <a:off x="7389801" y="3308854"/>
              <a:ext cx="3938257" cy="21079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lIns="32004" tIns="10972" rIns="32004" bIns="10972" anchor="ctr">
              <a:noAutofit/>
            </a:bodyPr>
            <a:lstStyle/>
            <a:p>
              <a:pPr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19" b="1" i="0" dirty="0">
                  <a:latin typeface="맑은 고딕"/>
                </a:rPr>
                <a:t>Central Metadata Service</a:t>
              </a:r>
            </a:p>
          </p:txBody>
        </p:sp>
        <p:sp>
          <p:nvSpPr>
            <p:cNvPr id="110" name="Rectangle 326">
              <a:extLst>
                <a:ext uri="{FF2B5EF4-FFF2-40B4-BE49-F238E27FC236}">
                  <a16:creationId xmlns:a16="http://schemas.microsoft.com/office/drawing/2014/main" id="{DDE1E66E-F345-4106-907C-07940FC245C6}"/>
                </a:ext>
              </a:extLst>
            </p:cNvPr>
            <p:cNvSpPr/>
            <p:nvPr/>
          </p:nvSpPr>
          <p:spPr>
            <a:xfrm>
              <a:off x="7443216" y="3593592"/>
              <a:ext cx="3822192" cy="246888"/>
            </a:xfrm>
            <a:prstGeom prst="rect">
              <a:avLst/>
            </a:prstGeom>
            <a:solidFill>
              <a:schemeClr val="bg1"/>
            </a:solidFill>
            <a:ln w="11430">
              <a:solidFill>
                <a:srgbClr val="888C9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2004" tIns="10972" rIns="32004" bIns="10972" rtlCol="0" anchor="ctr">
              <a:noAutofit/>
            </a:bodyPr>
            <a:lstStyle/>
            <a:p>
              <a:pPr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 i="0" dirty="0">
                  <a:solidFill>
                    <a:srgbClr val="1C1C1C"/>
                  </a:solidFill>
                  <a:latin typeface="맑은 고딕"/>
                </a:rPr>
                <a:t>Shard Router  |  hash(</a:t>
              </a:r>
              <a:r>
                <a:rPr lang="en-US" sz="900" i="0" dirty="0">
                  <a:solidFill>
                    <a:srgbClr val="1C1C1C"/>
                  </a:solidFill>
                  <a:latin typeface="맑은 고딕"/>
                </a:rPr>
                <a:t>Data Object ID</a:t>
              </a:r>
              <a:r>
                <a:rPr sz="900" i="0" dirty="0">
                  <a:solidFill>
                    <a:srgbClr val="1C1C1C"/>
                  </a:solidFill>
                  <a:latin typeface="맑은 고딕"/>
                </a:rPr>
                <a:t>) → Worker</a:t>
              </a:r>
            </a:p>
          </p:txBody>
        </p:sp>
        <p:sp>
          <p:nvSpPr>
            <p:cNvPr id="111" name="Rectangle 327">
              <a:extLst>
                <a:ext uri="{FF2B5EF4-FFF2-40B4-BE49-F238E27FC236}">
                  <a16:creationId xmlns:a16="http://schemas.microsoft.com/office/drawing/2014/main" id="{20542A6F-E606-48F9-9328-78C58F84D5E8}"/>
                </a:ext>
              </a:extLst>
            </p:cNvPr>
            <p:cNvSpPr/>
            <p:nvPr/>
          </p:nvSpPr>
          <p:spPr>
            <a:xfrm>
              <a:off x="7498079" y="4023360"/>
              <a:ext cx="1170432" cy="411480"/>
            </a:xfrm>
            <a:prstGeom prst="rect">
              <a:avLst/>
            </a:prstGeom>
            <a:solidFill>
              <a:schemeClr val="bg1"/>
            </a:solidFill>
            <a:ln w="1016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746786E-0A9A-486C-9581-CE210FB844D6}"/>
                </a:ext>
              </a:extLst>
            </p:cNvPr>
            <p:cNvSpPr txBox="1"/>
            <p:nvPr/>
          </p:nvSpPr>
          <p:spPr>
            <a:xfrm>
              <a:off x="7498079" y="4041648"/>
              <a:ext cx="1170432" cy="164592"/>
            </a:xfrm>
            <a:prstGeom prst="rect">
              <a:avLst/>
            </a:prstGeom>
            <a:noFill/>
          </p:spPr>
          <p:txBody>
            <a:bodyPr wrap="square" lIns="32004" tIns="10972" rIns="32004" bIns="10972" anchor="ctr">
              <a:noAutofit/>
            </a:bodyPr>
            <a:lstStyle/>
            <a:p>
              <a:pPr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 dirty="0">
                  <a:solidFill>
                    <a:srgbClr val="1C1C1C"/>
                  </a:solidFill>
                  <a:latin typeface="맑은 고딕"/>
                </a:rPr>
                <a:t>Worker 0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EF307C70-7FFF-42E0-A240-365C21BA9626}"/>
                </a:ext>
              </a:extLst>
            </p:cNvPr>
            <p:cNvSpPr txBox="1"/>
            <p:nvPr/>
          </p:nvSpPr>
          <p:spPr>
            <a:xfrm>
              <a:off x="7498079" y="4242816"/>
              <a:ext cx="1170432" cy="146304"/>
            </a:xfrm>
            <a:prstGeom prst="rect">
              <a:avLst/>
            </a:prstGeom>
            <a:noFill/>
          </p:spPr>
          <p:txBody>
            <a:bodyPr wrap="square" lIns="32004" tIns="10972" rIns="32004" bIns="10972" anchor="ctr">
              <a:noAutofit/>
            </a:bodyPr>
            <a:lstStyle/>
            <a:p>
              <a:pPr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40" b="0" i="0" dirty="0">
                  <a:solidFill>
                    <a:srgbClr val="373737"/>
                  </a:solidFill>
                  <a:latin typeface="맑은 고딕"/>
                </a:rPr>
                <a:t>Shard S0 · LRU</a:t>
              </a:r>
            </a:p>
          </p:txBody>
        </p:sp>
        <p:sp>
          <p:nvSpPr>
            <p:cNvPr id="114" name="Rectangle 330">
              <a:extLst>
                <a:ext uri="{FF2B5EF4-FFF2-40B4-BE49-F238E27FC236}">
                  <a16:creationId xmlns:a16="http://schemas.microsoft.com/office/drawing/2014/main" id="{5C372C1C-0123-47D4-A750-C3F0E0BCEB87}"/>
                </a:ext>
              </a:extLst>
            </p:cNvPr>
            <p:cNvSpPr/>
            <p:nvPr/>
          </p:nvSpPr>
          <p:spPr>
            <a:xfrm>
              <a:off x="8769096" y="4023360"/>
              <a:ext cx="1170432" cy="411480"/>
            </a:xfrm>
            <a:prstGeom prst="rect">
              <a:avLst/>
            </a:prstGeom>
            <a:solidFill>
              <a:schemeClr val="bg1"/>
            </a:solidFill>
            <a:ln w="1016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0CCE53D9-4E12-4163-BA6A-EE177F9A9AA6}"/>
                </a:ext>
              </a:extLst>
            </p:cNvPr>
            <p:cNvSpPr txBox="1"/>
            <p:nvPr/>
          </p:nvSpPr>
          <p:spPr>
            <a:xfrm>
              <a:off x="8769096" y="4041648"/>
              <a:ext cx="1170432" cy="164592"/>
            </a:xfrm>
            <a:prstGeom prst="rect">
              <a:avLst/>
            </a:prstGeom>
            <a:noFill/>
          </p:spPr>
          <p:txBody>
            <a:bodyPr wrap="square" lIns="32004" tIns="10972" rIns="32004" bIns="10972" anchor="ctr">
              <a:noAutofit/>
            </a:bodyPr>
            <a:lstStyle/>
            <a:p>
              <a:pPr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1C1C1C"/>
                  </a:solidFill>
                  <a:latin typeface="맑은 고딕"/>
                </a:rPr>
                <a:t>Worker 1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34D97CF-8C50-4A89-AC10-66F126BAAB27}"/>
                </a:ext>
              </a:extLst>
            </p:cNvPr>
            <p:cNvSpPr txBox="1"/>
            <p:nvPr/>
          </p:nvSpPr>
          <p:spPr>
            <a:xfrm>
              <a:off x="8769096" y="4242816"/>
              <a:ext cx="1170432" cy="146304"/>
            </a:xfrm>
            <a:prstGeom prst="rect">
              <a:avLst/>
            </a:prstGeom>
            <a:noFill/>
          </p:spPr>
          <p:txBody>
            <a:bodyPr wrap="square" lIns="32004" tIns="10972" rIns="32004" bIns="10972" anchor="ctr">
              <a:noAutofit/>
            </a:bodyPr>
            <a:lstStyle/>
            <a:p>
              <a:pPr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40" b="0" i="0">
                  <a:solidFill>
                    <a:srgbClr val="373737"/>
                  </a:solidFill>
                  <a:latin typeface="맑은 고딕"/>
                </a:rPr>
                <a:t>Shard S1 · LRU</a:t>
              </a:r>
            </a:p>
          </p:txBody>
        </p:sp>
        <p:sp>
          <p:nvSpPr>
            <p:cNvPr id="117" name="Rectangle 333">
              <a:extLst>
                <a:ext uri="{FF2B5EF4-FFF2-40B4-BE49-F238E27FC236}">
                  <a16:creationId xmlns:a16="http://schemas.microsoft.com/office/drawing/2014/main" id="{3478BB35-EDD9-4AF8-B638-6F739C780025}"/>
                </a:ext>
              </a:extLst>
            </p:cNvPr>
            <p:cNvSpPr/>
            <p:nvPr/>
          </p:nvSpPr>
          <p:spPr>
            <a:xfrm>
              <a:off x="10040112" y="4023360"/>
              <a:ext cx="1170432" cy="411480"/>
            </a:xfrm>
            <a:prstGeom prst="rect">
              <a:avLst/>
            </a:prstGeom>
            <a:solidFill>
              <a:schemeClr val="bg1"/>
            </a:solidFill>
            <a:ln w="10160">
              <a:solidFill>
                <a:srgbClr val="1C1C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A476709-D627-400C-AD76-E4C93A32EBE2}"/>
                </a:ext>
              </a:extLst>
            </p:cNvPr>
            <p:cNvSpPr txBox="1"/>
            <p:nvPr/>
          </p:nvSpPr>
          <p:spPr>
            <a:xfrm>
              <a:off x="10040112" y="4041648"/>
              <a:ext cx="1170432" cy="164592"/>
            </a:xfrm>
            <a:prstGeom prst="rect">
              <a:avLst/>
            </a:prstGeom>
            <a:noFill/>
          </p:spPr>
          <p:txBody>
            <a:bodyPr wrap="square" lIns="32004" tIns="10972" rIns="32004" bIns="10972" anchor="ctr">
              <a:noAutofit/>
            </a:bodyPr>
            <a:lstStyle/>
            <a:p>
              <a:pPr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60" b="1" i="0">
                  <a:solidFill>
                    <a:srgbClr val="1C1C1C"/>
                  </a:solidFill>
                  <a:latin typeface="맑은 고딕"/>
                </a:rPr>
                <a:t>Worker 2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30905E6-94BD-4C11-BE84-78501AF0A6AB}"/>
                </a:ext>
              </a:extLst>
            </p:cNvPr>
            <p:cNvSpPr txBox="1"/>
            <p:nvPr/>
          </p:nvSpPr>
          <p:spPr>
            <a:xfrm>
              <a:off x="10040112" y="4242816"/>
              <a:ext cx="1170432" cy="146304"/>
            </a:xfrm>
            <a:prstGeom prst="rect">
              <a:avLst/>
            </a:prstGeom>
            <a:noFill/>
          </p:spPr>
          <p:txBody>
            <a:bodyPr wrap="square" lIns="32004" tIns="10972" rIns="32004" bIns="10972" anchor="ctr">
              <a:noAutofit/>
            </a:bodyPr>
            <a:lstStyle/>
            <a:p>
              <a:pPr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40" b="0" i="0" dirty="0">
                  <a:solidFill>
                    <a:srgbClr val="373737"/>
                  </a:solidFill>
                  <a:latin typeface="맑은 고딕"/>
                </a:rPr>
                <a:t>Shard S2 · LRU</a:t>
              </a:r>
            </a:p>
          </p:txBody>
        </p:sp>
        <p:cxnSp>
          <p:nvCxnSpPr>
            <p:cNvPr id="127" name="Connector 337">
              <a:extLst>
                <a:ext uri="{FF2B5EF4-FFF2-40B4-BE49-F238E27FC236}">
                  <a16:creationId xmlns:a16="http://schemas.microsoft.com/office/drawing/2014/main" id="{E4A9BD72-EC30-4BA7-8048-5E9667C4236B}"/>
                </a:ext>
              </a:extLst>
            </p:cNvPr>
            <p:cNvCxnSpPr/>
            <p:nvPr/>
          </p:nvCxnSpPr>
          <p:spPr>
            <a:xfrm>
              <a:off x="9317736" y="3840480"/>
              <a:ext cx="0" cy="91440"/>
            </a:xfrm>
            <a:prstGeom prst="line">
              <a:avLst/>
            </a:prstGeom>
            <a:ln w="16510">
              <a:solidFill>
                <a:srgbClr val="2D57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 338">
              <a:extLst>
                <a:ext uri="{FF2B5EF4-FFF2-40B4-BE49-F238E27FC236}">
                  <a16:creationId xmlns:a16="http://schemas.microsoft.com/office/drawing/2014/main" id="{FC0EE07D-7E24-4865-8965-B09EEEEF11F7}"/>
                </a:ext>
              </a:extLst>
            </p:cNvPr>
            <p:cNvCxnSpPr/>
            <p:nvPr/>
          </p:nvCxnSpPr>
          <p:spPr>
            <a:xfrm>
              <a:off x="8074152" y="3931920"/>
              <a:ext cx="2523744" cy="0"/>
            </a:xfrm>
            <a:prstGeom prst="line">
              <a:avLst/>
            </a:prstGeom>
            <a:ln w="15875">
              <a:solidFill>
                <a:srgbClr val="2D579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or 339">
              <a:extLst>
                <a:ext uri="{FF2B5EF4-FFF2-40B4-BE49-F238E27FC236}">
                  <a16:creationId xmlns:a16="http://schemas.microsoft.com/office/drawing/2014/main" id="{0E26A8A2-AA32-472C-BFEB-3E8765219CFD}"/>
                </a:ext>
              </a:extLst>
            </p:cNvPr>
            <p:cNvCxnSpPr/>
            <p:nvPr/>
          </p:nvCxnSpPr>
          <p:spPr>
            <a:xfrm>
              <a:off x="8083296" y="3931920"/>
              <a:ext cx="0" cy="91440"/>
            </a:xfrm>
            <a:prstGeom prst="line">
              <a:avLst/>
            </a:prstGeom>
            <a:ln w="15875">
              <a:solidFill>
                <a:srgbClr val="2D5794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or 340">
              <a:extLst>
                <a:ext uri="{FF2B5EF4-FFF2-40B4-BE49-F238E27FC236}">
                  <a16:creationId xmlns:a16="http://schemas.microsoft.com/office/drawing/2014/main" id="{0E952D8A-2E31-4377-9C4D-B444607E7A66}"/>
                </a:ext>
              </a:extLst>
            </p:cNvPr>
            <p:cNvCxnSpPr/>
            <p:nvPr/>
          </p:nvCxnSpPr>
          <p:spPr>
            <a:xfrm>
              <a:off x="9354312" y="3931920"/>
              <a:ext cx="0" cy="91440"/>
            </a:xfrm>
            <a:prstGeom prst="line">
              <a:avLst/>
            </a:prstGeom>
            <a:ln w="15875">
              <a:solidFill>
                <a:srgbClr val="2D5794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or 341">
              <a:extLst>
                <a:ext uri="{FF2B5EF4-FFF2-40B4-BE49-F238E27FC236}">
                  <a16:creationId xmlns:a16="http://schemas.microsoft.com/office/drawing/2014/main" id="{23FDAB63-4F84-4566-8E6A-C291A10BA8ED}"/>
                </a:ext>
              </a:extLst>
            </p:cNvPr>
            <p:cNvCxnSpPr/>
            <p:nvPr/>
          </p:nvCxnSpPr>
          <p:spPr>
            <a:xfrm>
              <a:off x="10625328" y="3931920"/>
              <a:ext cx="0" cy="91440"/>
            </a:xfrm>
            <a:prstGeom prst="line">
              <a:avLst/>
            </a:prstGeom>
            <a:ln w="15875">
              <a:solidFill>
                <a:srgbClr val="2D5794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747C3D2-2124-4271-B457-FF6FCE5D8717}"/>
                </a:ext>
              </a:extLst>
            </p:cNvPr>
            <p:cNvSpPr txBox="1"/>
            <p:nvPr/>
          </p:nvSpPr>
          <p:spPr>
            <a:xfrm>
              <a:off x="7413267" y="4553049"/>
              <a:ext cx="3749039" cy="155448"/>
            </a:xfrm>
            <a:prstGeom prst="rect">
              <a:avLst/>
            </a:prstGeom>
            <a:noFill/>
          </p:spPr>
          <p:txBody>
            <a:bodyPr wrap="square" lIns="32004" tIns="10972" rIns="32004" bIns="10972" anchor="ctr">
              <a:noAutofit/>
            </a:bodyPr>
            <a:lstStyle/>
            <a:p>
              <a:pPr algn="ctr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810" b="1" dirty="0">
                  <a:solidFill>
                    <a:srgbClr val="2D5794"/>
                  </a:solidFill>
                  <a:latin typeface="맑은 고딕"/>
                </a:rPr>
                <a:t>Shard </a:t>
              </a:r>
              <a:r>
                <a:rPr sz="810" b="1" i="0" dirty="0">
                  <a:solidFill>
                    <a:srgbClr val="2D5794"/>
                  </a:solidFill>
                  <a:latin typeface="맑은 고딕"/>
                </a:rPr>
                <a:t>별 Metadata / Allocator / LRU </a:t>
              </a:r>
              <a:r>
                <a:rPr sz="810" b="1" i="0" dirty="0" err="1">
                  <a:solidFill>
                    <a:srgbClr val="2D5794"/>
                  </a:solidFill>
                  <a:latin typeface="맑은 고딕"/>
                </a:rPr>
                <a:t>독립</a:t>
              </a:r>
              <a:r>
                <a:rPr sz="810" b="1" i="0" dirty="0">
                  <a:solidFill>
                    <a:srgbClr val="2D5794"/>
                  </a:solidFill>
                  <a:latin typeface="맑은 고딕"/>
                </a:rPr>
                <a:t> </a:t>
              </a:r>
              <a:r>
                <a:rPr sz="810" b="1" i="0" dirty="0" err="1">
                  <a:solidFill>
                    <a:srgbClr val="2D5794"/>
                  </a:solidFill>
                  <a:latin typeface="맑은 고딕"/>
                </a:rPr>
                <a:t>관리</a:t>
              </a:r>
              <a:endParaRPr sz="810" b="1" i="0" dirty="0">
                <a:solidFill>
                  <a:srgbClr val="2D5794"/>
                </a:solidFill>
                <a:latin typeface="맑은 고딕"/>
              </a:endParaRPr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7B264FE8-2CB7-4D4E-92C7-8C589E53BFE5}"/>
              </a:ext>
            </a:extLst>
          </p:cNvPr>
          <p:cNvGrpSpPr/>
          <p:nvPr/>
        </p:nvGrpSpPr>
        <p:grpSpPr>
          <a:xfrm>
            <a:off x="5634885" y="4080458"/>
            <a:ext cx="805575" cy="488318"/>
            <a:chOff x="11056831" y="3583489"/>
            <a:chExt cx="886133" cy="488318"/>
          </a:xfrm>
        </p:grpSpPr>
        <p:sp>
          <p:nvSpPr>
            <p:cNvPr id="155" name="KV Cache Manager">
              <a:extLst>
                <a:ext uri="{FF2B5EF4-FFF2-40B4-BE49-F238E27FC236}">
                  <a16:creationId xmlns:a16="http://schemas.microsoft.com/office/drawing/2014/main" id="{F89BBB6F-0E43-46F5-B240-620E3C4C25D4}"/>
                </a:ext>
              </a:extLst>
            </p:cNvPr>
            <p:cNvSpPr/>
            <p:nvPr/>
          </p:nvSpPr>
          <p:spPr>
            <a:xfrm>
              <a:off x="11126972" y="3816949"/>
              <a:ext cx="784423" cy="19403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18000" rIns="36000" bIns="18000" rtlCol="0" anchor="ctr">
              <a:noAutofit/>
            </a:bodyPr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QA4 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보완</a:t>
              </a:r>
              <a:endParaRPr lang="en-US" altLang="ko-KR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EC34CC24-7BF3-4713-95E8-2A090762D893}"/>
                </a:ext>
              </a:extLst>
            </p:cNvPr>
            <p:cNvSpPr/>
            <p:nvPr/>
          </p:nvSpPr>
          <p:spPr>
            <a:xfrm>
              <a:off x="11056831" y="3583489"/>
              <a:ext cx="886133" cy="488318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Legend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64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9930631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F3 LLM </a:t>
            </a:r>
            <a:r>
              <a:rPr lang="ko-KR" altLang="en-US" sz="700" dirty="0">
                <a:latin typeface="맑은 고딕" panose="020B0503020000020004" pitchFamily="50" charset="-127"/>
              </a:rPr>
              <a:t>추론 실행</a:t>
            </a:r>
          </a:p>
        </p:txBody>
      </p:sp>
      <p:sp>
        <p:nvSpPr>
          <p:cNvPr id="165" name="모서리가 둥근 직사각형 37">
            <a:extLst>
              <a:ext uri="{FF2B5EF4-FFF2-40B4-BE49-F238E27FC236}">
                <a16:creationId xmlns:a16="http://schemas.microsoft.com/office/drawing/2014/main" id="{E99FD0CC-4F44-40AB-8E8E-E5E878FDD956}"/>
              </a:ext>
            </a:extLst>
          </p:cNvPr>
          <p:cNvSpPr/>
          <p:nvPr/>
        </p:nvSpPr>
        <p:spPr>
          <a:xfrm>
            <a:off x="9509777" y="813626"/>
            <a:ext cx="836886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Q1 Throughput</a:t>
            </a:r>
            <a:endParaRPr lang="ko-KR" altLang="en-US" sz="700" dirty="0">
              <a:latin typeface="맑은 고딕" panose="020B0503020000020004" pitchFamily="50" charset="-127"/>
            </a:endParaRPr>
          </a:p>
        </p:txBody>
      </p:sp>
      <p:sp>
        <p:nvSpPr>
          <p:cNvPr id="167" name="모서리가 둥근 직사각형 37">
            <a:extLst>
              <a:ext uri="{FF2B5EF4-FFF2-40B4-BE49-F238E27FC236}">
                <a16:creationId xmlns:a16="http://schemas.microsoft.com/office/drawing/2014/main" id="{8B476E63-C72E-465A-98C8-0CB6FC0C7249}"/>
              </a:ext>
            </a:extLst>
          </p:cNvPr>
          <p:cNvSpPr/>
          <p:nvPr/>
        </p:nvSpPr>
        <p:spPr>
          <a:xfrm>
            <a:off x="10396460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Q3 </a:t>
            </a:r>
            <a:r>
              <a:rPr lang="ko-KR" altLang="en-US" sz="700" dirty="0">
                <a:latin typeface="맑은 고딕" panose="020B0503020000020004" pitchFamily="50" charset="-127"/>
              </a:rPr>
              <a:t>고부하 성능 </a:t>
            </a:r>
          </a:p>
        </p:txBody>
      </p:sp>
      <p:sp>
        <p:nvSpPr>
          <p:cNvPr id="168" name="모서리가 둥근 직사각형 37">
            <a:extLst>
              <a:ext uri="{FF2B5EF4-FFF2-40B4-BE49-F238E27FC236}">
                <a16:creationId xmlns:a16="http://schemas.microsoft.com/office/drawing/2014/main" id="{476B6E1C-7561-417D-A669-4DEFCE610223}"/>
              </a:ext>
            </a:extLst>
          </p:cNvPr>
          <p:cNvSpPr/>
          <p:nvPr/>
        </p:nvSpPr>
        <p:spPr>
          <a:xfrm>
            <a:off x="8858120" y="619129"/>
            <a:ext cx="1003759" cy="162739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C1 </a:t>
            </a:r>
            <a:r>
              <a:rPr lang="en-US" altLang="ko-KR" sz="700" dirty="0" err="1">
                <a:latin typeface="맑은 고딕" panose="020B0503020000020004" pitchFamily="50" charset="-127"/>
              </a:rPr>
              <a:t>vLLM</a:t>
            </a:r>
            <a:r>
              <a:rPr lang="en-US" altLang="ko-KR" sz="700" dirty="0">
                <a:latin typeface="맑은 고딕" panose="020B0503020000020004" pitchFamily="50" charset="-127"/>
              </a:rPr>
              <a:t> </a:t>
            </a:r>
            <a:r>
              <a:rPr lang="ko-KR" altLang="en-US" sz="700" dirty="0">
                <a:latin typeface="맑은 고딕" panose="020B0503020000020004" pitchFamily="50" charset="-127"/>
              </a:rPr>
              <a:t>개발 환경</a:t>
            </a:r>
          </a:p>
        </p:txBody>
      </p:sp>
      <p:sp>
        <p:nvSpPr>
          <p:cNvPr id="169" name="모서리가 둥근 직사각형 37">
            <a:extLst>
              <a:ext uri="{FF2B5EF4-FFF2-40B4-BE49-F238E27FC236}">
                <a16:creationId xmlns:a16="http://schemas.microsoft.com/office/drawing/2014/main" id="{849CB062-936D-4F72-BDB2-73AE9FDAA773}"/>
              </a:ext>
            </a:extLst>
          </p:cNvPr>
          <p:cNvSpPr/>
          <p:nvPr/>
        </p:nvSpPr>
        <p:spPr>
          <a:xfrm>
            <a:off x="11209965" y="813626"/>
            <a:ext cx="760805" cy="162739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Q4 </a:t>
            </a:r>
            <a:r>
              <a:rPr lang="ko-KR" altLang="en-US" sz="700" dirty="0">
                <a:latin typeface="맑은 고딕" panose="020B0503020000020004" pitchFamily="50" charset="-127"/>
              </a:rPr>
              <a:t>확장성</a:t>
            </a:r>
          </a:p>
        </p:txBody>
      </p:sp>
      <p:sp>
        <p:nvSpPr>
          <p:cNvPr id="173" name="모서리가 둥근 직사각형 37">
            <a:extLst>
              <a:ext uri="{FF2B5EF4-FFF2-40B4-BE49-F238E27FC236}">
                <a16:creationId xmlns:a16="http://schemas.microsoft.com/office/drawing/2014/main" id="{824F5705-7E02-467A-970F-D2A9FCD95DC7}"/>
              </a:ext>
            </a:extLst>
          </p:cNvPr>
          <p:cNvSpPr/>
          <p:nvPr/>
        </p:nvSpPr>
        <p:spPr>
          <a:xfrm>
            <a:off x="10995070" y="621146"/>
            <a:ext cx="987380" cy="151465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latin typeface="맑은 고딕" panose="020B0503020000020004" pitchFamily="50" charset="-127"/>
              </a:rPr>
              <a:t>F4 KV </a:t>
            </a:r>
            <a:r>
              <a:rPr lang="ko-KR" altLang="en-US" sz="700" dirty="0">
                <a:latin typeface="맑은 고딕" panose="020B0503020000020004" pitchFamily="50" charset="-127"/>
              </a:rPr>
              <a:t>캐시 관리</a:t>
            </a:r>
          </a:p>
        </p:txBody>
      </p:sp>
    </p:spTree>
    <p:extLst>
      <p:ext uri="{BB962C8B-B14F-4D97-AF65-F5344CB8AC3E}">
        <p14:creationId xmlns:p14="http://schemas.microsoft.com/office/powerpoint/2010/main" val="3040208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E3FF83-D207-4F53-BD88-4C2902AA3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Reference</a:t>
            </a:r>
            <a:endParaRPr lang="ko-KR" altLang="en-US" dirty="0"/>
          </a:p>
        </p:txBody>
      </p:sp>
      <p:sp>
        <p:nvSpPr>
          <p:cNvPr id="43" name="제목 1">
            <a:extLst>
              <a:ext uri="{FF2B5EF4-FFF2-40B4-BE49-F238E27FC236}">
                <a16:creationId xmlns:a16="http://schemas.microsoft.com/office/drawing/2014/main" id="{926C5D1D-3080-453C-A6B4-7CA4F97C390A}"/>
              </a:ext>
            </a:extLst>
          </p:cNvPr>
          <p:cNvSpPr txBox="1">
            <a:spLocks/>
          </p:cNvSpPr>
          <p:nvPr/>
        </p:nvSpPr>
        <p:spPr>
          <a:xfrm>
            <a:off x="234947" y="1017912"/>
            <a:ext cx="11228919" cy="31476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/>
              <a:t>해야 할 것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전체 </a:t>
            </a:r>
            <a:r>
              <a:rPr lang="en-US" altLang="ko-KR" dirty="0"/>
              <a:t>module view – 14p </a:t>
            </a:r>
            <a:r>
              <a:rPr lang="ko-KR" altLang="en-US" dirty="0"/>
              <a:t>참조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전체 </a:t>
            </a:r>
            <a:r>
              <a:rPr lang="en-US" altLang="ko-KR" dirty="0"/>
              <a:t>C&amp;C view, </a:t>
            </a:r>
            <a:r>
              <a:rPr lang="ko-KR" altLang="en-US" dirty="0"/>
              <a:t>전체 </a:t>
            </a:r>
            <a:r>
              <a:rPr lang="en-US" altLang="ko-KR" dirty="0"/>
              <a:t>Deployment view </a:t>
            </a:r>
            <a:r>
              <a:rPr lang="ko-KR" altLang="en-US" dirty="0"/>
              <a:t>그릴 것 </a:t>
            </a:r>
            <a:r>
              <a:rPr lang="en-US" altLang="ko-KR" dirty="0"/>
              <a:t>– 16p </a:t>
            </a:r>
            <a:r>
              <a:rPr lang="ko-KR" altLang="en-US" dirty="0"/>
              <a:t>참조 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전체 </a:t>
            </a:r>
            <a:r>
              <a:rPr lang="en-US" altLang="ko-KR" dirty="0"/>
              <a:t>class diagram </a:t>
            </a:r>
            <a:r>
              <a:rPr lang="ko-KR" altLang="en-US" dirty="0"/>
              <a:t>그릴 것 </a:t>
            </a:r>
            <a:r>
              <a:rPr lang="en-US" altLang="ko-KR" dirty="0"/>
              <a:t>– 18p </a:t>
            </a:r>
            <a:r>
              <a:rPr lang="ko-KR" altLang="en-US" dirty="0"/>
              <a:t>참조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 과제의 </a:t>
            </a:r>
            <a:r>
              <a:rPr lang="en-US" altLang="ko-KR" dirty="0"/>
              <a:t>Use case </a:t>
            </a:r>
            <a:r>
              <a:rPr lang="ko-KR" altLang="en-US" dirty="0"/>
              <a:t>뽑기 </a:t>
            </a:r>
            <a:r>
              <a:rPr lang="en-US" altLang="ko-KR" dirty="0"/>
              <a:t>– </a:t>
            </a:r>
            <a:r>
              <a:rPr lang="ko-KR" altLang="en-US" dirty="0"/>
              <a:t>기능 요구사항</a:t>
            </a:r>
            <a:r>
              <a:rPr lang="en-US" altLang="ko-KR" dirty="0"/>
              <a:t>(1p), </a:t>
            </a:r>
            <a:r>
              <a:rPr lang="ko-KR" altLang="en-US" dirty="0"/>
              <a:t>품질 요구사항</a:t>
            </a:r>
            <a:r>
              <a:rPr lang="en-US" altLang="ko-KR" dirty="0"/>
              <a:t>(2p), UC Reference 15p </a:t>
            </a:r>
            <a:r>
              <a:rPr lang="ko-KR" altLang="en-US" dirty="0"/>
              <a:t>우측 참조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UC</a:t>
            </a:r>
            <a:r>
              <a:rPr lang="ko-KR" altLang="en-US" dirty="0"/>
              <a:t>별 </a:t>
            </a:r>
            <a:r>
              <a:rPr lang="en-US" altLang="ko-KR" dirty="0"/>
              <a:t>class diagram, sequence diagram </a:t>
            </a:r>
            <a:r>
              <a:rPr lang="ko-KR" altLang="en-US" dirty="0"/>
              <a:t>뽑기 </a:t>
            </a:r>
            <a:r>
              <a:rPr lang="en-US" altLang="ko-KR" dirty="0"/>
              <a:t>– 19~23p  </a:t>
            </a:r>
            <a:r>
              <a:rPr lang="ko-KR" altLang="en-US" dirty="0"/>
              <a:t>참고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976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최종 구조 설계 – Module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61872"/>
            <a:ext cx="9281160" cy="5230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2377440" cy="246888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Memory-Centric AI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"/>
            <a:ext cx="932688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최종 설계(DP1 2안+Lease · DP2 2안+Plan 보완 · DP3 2안+Base/Delta · DP4 1안+Sharding) 기준 전체 모듈 구성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81328"/>
            <a:ext cx="1417320" cy="109728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389888"/>
            <a:ext cx="502920" cy="9144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90472"/>
            <a:ext cx="14173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" y="1755648"/>
            <a:ext cx="1280160" cy="237744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Query Sampler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2029968"/>
            <a:ext cx="1280160" cy="237744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User Query Manager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2304288"/>
            <a:ext cx="1280160" cy="237744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Query History Manager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1481328"/>
            <a:ext cx="6172200" cy="109728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20240" y="1389888"/>
            <a:ext cx="502920" cy="9144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20240" y="1490472"/>
            <a:ext cx="617220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Request Orchestrator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4248" y="1737360"/>
            <a:ext cx="95097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Request Scheduler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99232" y="1737360"/>
            <a:ext cx="950976" cy="347472"/>
          </a:xfrm>
          <a:prstGeom prst="rect">
            <a:avLst/>
          </a:prstGeom>
          <a:solidFill>
            <a:srgbClr val="FFF2CC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Prefill/Decode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 Planner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14216" y="1737360"/>
            <a:ext cx="950976" cy="347472"/>
          </a:xfrm>
          <a:prstGeom prst="rect">
            <a:avLst/>
          </a:prstGeom>
          <a:solidFill>
            <a:srgbClr val="FFF2CC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 Evaluator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737360"/>
            <a:ext cx="950976" cy="347472"/>
          </a:xfrm>
          <a:prstGeom prst="rect">
            <a:avLst/>
          </a:prstGeom>
          <a:solidFill>
            <a:srgbClr val="FFF2CC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State Monitor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4184" y="1737360"/>
            <a:ext cx="950976" cy="347472"/>
          </a:xfrm>
          <a:prstGeom prst="rect">
            <a:avLst/>
          </a:prstGeom>
          <a:solidFill>
            <a:srgbClr val="FFF2CC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 Cache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59168" y="1737360"/>
            <a:ext cx="950976" cy="347472"/>
          </a:xfrm>
          <a:prstGeom prst="rect">
            <a:avLst/>
          </a:prstGeom>
          <a:solidFill>
            <a:srgbClr val="FFF2CC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 Publisher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84248" y="2148840"/>
            <a:ext cx="950976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Router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99232" y="2148840"/>
            <a:ext cx="950976" cy="347472"/>
          </a:xfrm>
          <a:prstGeom prst="rect">
            <a:avLst/>
          </a:prstGeom>
          <a:solidFill>
            <a:srgbClr val="FFF2CC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 Router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(Decision)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14216" y="2148840"/>
            <a:ext cx="950976" cy="347472"/>
          </a:xfrm>
          <a:prstGeom prst="rect">
            <a:avLst/>
          </a:prstGeom>
          <a:solidFill>
            <a:srgbClr val="FFF2CC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 Lookup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Validator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2148840"/>
            <a:ext cx="950976" cy="347472"/>
          </a:xfrm>
          <a:prstGeom prst="rect">
            <a:avLst/>
          </a:prstGeom>
          <a:solidFill>
            <a:srgbClr val="FFF2CC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Resource State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Monitor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4184" y="2148840"/>
            <a:ext cx="950976" cy="347472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Admission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Controller (DP3)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788920"/>
            <a:ext cx="1417320" cy="361188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2697479"/>
            <a:ext cx="502920" cy="9144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2798063"/>
            <a:ext cx="14173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Pool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" y="3063240"/>
            <a:ext cx="1280160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Offline Analyzer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(대표 Query → 재계산 위치)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" y="3538728"/>
            <a:ext cx="1280160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 Store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(재계산 위치)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" y="4014216"/>
            <a:ext cx="1280160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Layout Manager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(Base 공유 + Delta)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" y="4489704"/>
            <a:ext cx="1280160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Recompute-Token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" y="4965192"/>
            <a:ext cx="1280160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Sampler /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Compressor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" y="5440680"/>
            <a:ext cx="1280160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Blending Manager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" y="5916168"/>
            <a:ext cx="1280160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Index Manager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20240" y="2788920"/>
            <a:ext cx="6172200" cy="361188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920240" y="2697479"/>
            <a:ext cx="502920" cy="9144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920240" y="2798063"/>
            <a:ext cx="617220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Inference Engine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11680" y="3108960"/>
            <a:ext cx="1097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011680" y="3017520"/>
            <a:ext cx="5029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011680" y="3118103"/>
            <a:ext cx="1097280" cy="2011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Generation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75688" y="3383280"/>
            <a:ext cx="969264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75688" y="3931920"/>
            <a:ext cx="96926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Engine Core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75688" y="4480560"/>
            <a:ext cx="969264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75688" y="5029200"/>
            <a:ext cx="96926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Input/Output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Processor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5577840"/>
            <a:ext cx="969264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Engine Core Client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3108960"/>
            <a:ext cx="10972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00400" y="3017520"/>
            <a:ext cx="5029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00400" y="3118103"/>
            <a:ext cx="1097280" cy="2011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Compute Management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64408" y="3383280"/>
            <a:ext cx="96926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64408" y="3840480"/>
            <a:ext cx="96926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 Runner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64408" y="4297680"/>
            <a:ext cx="96926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Model/Layers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64408" y="4754880"/>
            <a:ext cx="969264" cy="384048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Attention Backend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(+Attention Manager)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64408" y="5212080"/>
            <a:ext cx="969264" cy="384048"/>
          </a:xfrm>
          <a:prstGeom prst="rect">
            <a:avLst/>
          </a:prstGeom>
          <a:solidFill>
            <a:srgbClr val="FFF2CC"/>
          </a:solidFill>
          <a:ln w="222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64408" y="5669280"/>
            <a:ext cx="969264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Custom Operator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89120" y="3108960"/>
            <a:ext cx="2286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389120" y="3017520"/>
            <a:ext cx="5029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389120" y="3118103"/>
            <a:ext cx="2286000" cy="2011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Management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53128" y="3383280"/>
            <a:ext cx="1005840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Decision Scheduler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53128" y="3858768"/>
            <a:ext cx="1005840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Trend Analyzer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53128" y="4334256"/>
            <a:ext cx="1005840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Affinity Mapper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453128" y="4809744"/>
            <a:ext cx="1005840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Policy Engine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453128" y="5285232"/>
            <a:ext cx="1005840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Command Queue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53128" y="5760720"/>
            <a:ext cx="1005840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 Executor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577840" y="3383280"/>
            <a:ext cx="1033271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Object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Registry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577840" y="3858768"/>
            <a:ext cx="1033271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Cache Manager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77840" y="4334256"/>
            <a:ext cx="1033271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Eviction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Manager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77840" y="4809744"/>
            <a:ext cx="103327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Expert Manager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577840" y="5285232"/>
            <a:ext cx="1033271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LoRA Manager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77840" y="5760720"/>
            <a:ext cx="1033271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Metadata Client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(Client Library)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766560" y="3108960"/>
            <a:ext cx="126187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766560" y="3017520"/>
            <a:ext cx="502920" cy="91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766560" y="3118103"/>
            <a:ext cx="1261872" cy="20116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Resource Mgmt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21424" y="3383280"/>
            <a:ext cx="1152144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Resource State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Monitor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21424" y="3858768"/>
            <a:ext cx="1152144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State Snapshot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Builder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21424" y="4334256"/>
            <a:ext cx="1152144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Telemetry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Collector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821424" y="4809744"/>
            <a:ext cx="1152144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Memory Registry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21424" y="5285232"/>
            <a:ext cx="1152144" cy="411480"/>
          </a:xfrm>
          <a:prstGeom prst="rect">
            <a:avLst/>
          </a:prstGeom>
          <a:solidFill>
            <a:srgbClr val="FFF2CC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Lease Timer /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 Lease Granter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821424" y="5760720"/>
            <a:ext cx="1152144" cy="411480"/>
          </a:xfrm>
          <a:prstGeom prst="rect">
            <a:avLst/>
          </a:prstGeom>
          <a:solidFill>
            <a:srgbClr val="FFF2CC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Common Memory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Backend I/F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11312" y="1481328"/>
            <a:ext cx="1234440" cy="4919472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211312" y="1389888"/>
            <a:ext cx="502920" cy="91440"/>
          </a:xfrm>
          <a:prstGeom prst="rect">
            <a:avLst/>
          </a:prstGeom>
          <a:solidFill>
            <a:srgbClr val="DEEBF7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11312" y="1490472"/>
            <a:ext cx="12344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System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75320" y="1783080"/>
            <a:ext cx="110642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Utility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75320" y="2194560"/>
            <a:ext cx="110642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Configuration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275320" y="2606040"/>
            <a:ext cx="1106424" cy="457200"/>
          </a:xfrm>
          <a:prstGeom prst="rect">
            <a:avLst/>
          </a:prstGeom>
          <a:solidFill>
            <a:srgbClr val="FFFFFF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Network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(NIXL / PCIe)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275320" y="3200400"/>
            <a:ext cx="1106424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Memory Pool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(HBM·DRAM·CXL·SSD)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75320" y="3840480"/>
            <a:ext cx="1106424" cy="548640"/>
          </a:xfrm>
          <a:prstGeom prst="rect">
            <a:avLst/>
          </a:prstGeom>
          <a:solidFill>
            <a:srgbClr val="FFFFFF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Shared Pool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(CXL, non-coherent)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75320" y="4526280"/>
            <a:ext cx="1106424" cy="777240"/>
          </a:xfrm>
          <a:prstGeom prst="rect">
            <a:avLst/>
          </a:prstGeom>
          <a:solidFill>
            <a:srgbClr val="FFF2CC"/>
          </a:solidFill>
          <a:ln w="222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Metadata Server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(Shard Router +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 Worker 0..n)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275320" y="5486400"/>
            <a:ext cx="110642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Debug Log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097280" y="2578608"/>
            <a:ext cx="0" cy="210312"/>
          </a:xfrm>
          <a:prstGeom prst="line">
            <a:avLst/>
          </a:prstGeom>
          <a:ln w="1016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783080" y="2011680"/>
            <a:ext cx="137160" cy="0"/>
          </a:xfrm>
          <a:prstGeom prst="line">
            <a:avLst/>
          </a:prstGeom>
          <a:ln w="1016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937760" y="2578608"/>
            <a:ext cx="0" cy="210312"/>
          </a:xfrm>
          <a:prstGeom prst="line">
            <a:avLst/>
          </a:prstGeom>
          <a:ln w="1016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4719561" y="2601468"/>
            <a:ext cx="4363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&lt;&lt;use&gt;&gt;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8092440" y="2011680"/>
            <a:ext cx="118872" cy="0"/>
          </a:xfrm>
          <a:prstGeom prst="line">
            <a:avLst/>
          </a:prstGeom>
          <a:ln w="1016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1783080" y="4206240"/>
            <a:ext cx="137160" cy="0"/>
          </a:xfrm>
          <a:prstGeom prst="line">
            <a:avLst/>
          </a:prstGeom>
          <a:ln w="10160">
            <a:solidFill>
              <a:srgbClr val="595959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1633461" y="4123944"/>
            <a:ext cx="4363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&lt;&lt;use&gt;&gt;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8028431" y="4754880"/>
            <a:ext cx="182881" cy="0"/>
          </a:xfrm>
          <a:prstGeom prst="line">
            <a:avLst/>
          </a:prstGeom>
          <a:ln w="10160">
            <a:solidFill>
              <a:srgbClr val="595959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7901673" y="4672584"/>
            <a:ext cx="4363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&lt;&lt;use&gt;&gt;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738360" y="1188720"/>
            <a:ext cx="82296" cy="10058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9875520" y="1161288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DP1. Data Migration 결정</a:t>
            </a:r>
          </a:p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2안 상태·이동 결정 분리 + Lease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Q1 Throughput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Q2 HBM 점유율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Q5 Modifiability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738360" y="2377440"/>
            <a:ext cx="82296" cy="10058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875520" y="2350008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DP2. 연산 실행 위치 결정</a:t>
            </a:r>
          </a:p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2안 Plan/Decision 분리 + Feedback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Q1 Throughput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Q2 HBM 점유율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Q4 Scalability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738360" y="3566160"/>
            <a:ext cx="82296" cy="100584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9875520" y="3538728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DP3. KV 캐시 재사용</a:t>
            </a:r>
          </a:p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2안 Shared Repository + Base/Delta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Q1 Throughput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Q2 HBM 점유율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정확도(C02)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738360" y="4754880"/>
            <a:ext cx="82296" cy="100584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9875520" y="4727448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DP4. 서버 간 KV 캐시 공유</a:t>
            </a:r>
          </a:p>
          <a:p>
            <a:pPr algn="l">
              <a:spcAft>
                <a:spcPts val="200"/>
              </a:spcAft>
            </a:pPr>
            <a:r>
              <a:rPr sz="7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1안 중앙 Metadata Server + Sharding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Q1 Throughput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Q3 고부하 지연</a:t>
            </a:r>
          </a:p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Q4 Scalability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784080" y="5943600"/>
            <a:ext cx="32004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0149840" y="5943600"/>
            <a:ext cx="548640" cy="201168"/>
          </a:xfrm>
          <a:prstGeom prst="rect">
            <a:avLst/>
          </a:prstGeom>
          <a:solidFill>
            <a:srgbClr val="FFF2CC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신규/수정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744200" y="5925312"/>
            <a:ext cx="12801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테두리 색 = 담당 DP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738360" y="6199632"/>
            <a:ext cx="22860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※ 4~11p 보완 설계 + doc-mk DP 문서에서 정리. 모듈 배치는 제안([C])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최종 구조 설계 – C&amp;C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463040" cy="3657600"/>
          </a:xfrm>
          <a:prstGeom prst="rect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1463040" cy="201168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«process» Client / API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188720"/>
            <a:ext cx="4572000" cy="3657600"/>
          </a:xfrm>
          <a:prstGeom prst="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011680" y="1188720"/>
            <a:ext cx="4572000" cy="201168"/>
          </a:xfrm>
          <a:prstGeom prst="rect">
            <a:avLst/>
          </a:prstGeom>
          <a:solidFill>
            <a:srgbClr val="2E75B6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«process» EngineCore (scheduler process)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2103120" cy="3657600"/>
          </a:xfrm>
          <a:prstGeom prst="rect">
            <a:avLst/>
          </a:prstGeom>
          <a:solidFill>
            <a:srgbClr val="E2F0D9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0" y="1188720"/>
            <a:ext cx="2103120" cy="201168"/>
          </a:xfrm>
          <a:prstGeom prst="rect">
            <a:avLst/>
          </a:prstGeom>
          <a:solidFill>
            <a:srgbClr val="548235"/>
          </a:solidFill>
          <a:ln w="1016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«process» Worker × N (GPU별)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1188720"/>
            <a:ext cx="2743200" cy="1783080"/>
          </a:xfrm>
          <a:prstGeom prst="rect">
            <a:avLst/>
          </a:prstGeom>
          <a:solidFill>
            <a:srgbClr val="FBE5D6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235440" y="1188720"/>
            <a:ext cx="2743200" cy="201168"/>
          </a:xfrm>
          <a:prstGeom prst="rect">
            <a:avLst/>
          </a:prstGeom>
          <a:solidFill>
            <a:srgbClr val="C55A11"/>
          </a:solidFill>
          <a:ln w="1016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«process» Offline Analyzer (DP3, batch)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3108960"/>
            <a:ext cx="2743200" cy="1737360"/>
          </a:xfrm>
          <a:prstGeom prst="rect">
            <a:avLst/>
          </a:prstGeom>
          <a:solidFill>
            <a:srgbClr val="EDE2F6"/>
          </a:solidFill>
          <a:ln w="1270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235440" y="3108960"/>
            <a:ext cx="2743200" cy="201168"/>
          </a:xfrm>
          <a:prstGeom prst="rect">
            <a:avLst/>
          </a:prstGeom>
          <a:solidFill>
            <a:srgbClr val="7030A0"/>
          </a:solidFill>
          <a:ln w="1016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«process» Metadata Server (DP4)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120640"/>
            <a:ext cx="11704320" cy="1325880"/>
          </a:xfrm>
          <a:prstGeom prst="rect">
            <a:avLst/>
          </a:prstGeom>
          <a:solidFill>
            <a:srgbClr val="F0F1F3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320" y="5120640"/>
            <a:ext cx="11704320" cy="201168"/>
          </a:xfrm>
          <a:prstGeom prst="rect">
            <a:avLst/>
          </a:prstGeom>
          <a:solidFill>
            <a:srgbClr val="595959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Memory Backend (Common Memory Backend Interface)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1508760"/>
            <a:ext cx="11887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Agent / LLM Client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81328" y="1536192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2194560"/>
            <a:ext cx="118872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Input/Output Processor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(AsyncLLM)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2221991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2971800"/>
            <a:ext cx="11887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Engine Core Client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(ZMQ)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81328" y="2999232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103120" y="1508760"/>
            <a:ext cx="13716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schedule()/update_from_output()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5848" y="153619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11880" y="1508760"/>
            <a:ext cx="13716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 Lookup Validator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64608" y="153619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120640" y="1508760"/>
            <a:ext cx="13716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 Router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(Decision)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73368" y="153619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103120" y="2103120"/>
            <a:ext cx="13716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Cache Manager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+ KV Layout Manager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5848" y="2130551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11880" y="2103120"/>
            <a:ext cx="13716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 Publisher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+ Plan Cache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64608" y="2130551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120640" y="2103120"/>
            <a:ext cx="13716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 Planner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(Plan, async thread)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3368" y="2130551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103120" y="2697480"/>
            <a:ext cx="13716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Admission Controller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(plan-aware, DP3)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55848" y="272491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11880" y="2697480"/>
            <a:ext cx="13716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Decision Scheduler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+ Trend Analyzer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64608" y="272491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120640" y="2697480"/>
            <a:ext cx="13716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 Evaluator +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Resource/KV State Monitor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73368" y="272491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103120" y="3291840"/>
            <a:ext cx="13716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Affinity Mapper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+ Policy Engine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55848" y="331927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11880" y="3291840"/>
            <a:ext cx="13716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State Snapshot Builder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+ Telemetry Collector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64608" y="331927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120640" y="3291840"/>
            <a:ext cx="13716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 Object Registry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+ Lease Timer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73368" y="331927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103120" y="4023360"/>
            <a:ext cx="288036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DP1 Connector (KVConnectorBase_V1) — scheduler role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864607" y="405079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120640" y="4023360"/>
            <a:ext cx="13716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 Command Queue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(비동기 buffer)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73368" y="405079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995160" y="1508760"/>
            <a:ext cx="1828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Executor → Worker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execute_model / sample_tokens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05088" y="1536192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995160" y="2057400"/>
            <a:ext cx="18288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 Runner / Model Layers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05088" y="2084831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995160" y="2606040"/>
            <a:ext cx="1828800" cy="384048"/>
          </a:xfrm>
          <a:prstGeom prst="rect">
            <a:avLst/>
          </a:prstGeom>
          <a:solidFill>
            <a:srgbClr val="FFF2CC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Attention Backend +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 Recomputer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05088" y="263347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95160" y="3154680"/>
            <a:ext cx="1828800" cy="384048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 Executor +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 Handler (DMA)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705088" y="318211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995160" y="3703320"/>
            <a:ext cx="1828800" cy="384048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DP1 Connector — worker role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705088" y="373075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995160" y="4251960"/>
            <a:ext cx="1828800" cy="457200"/>
          </a:xfrm>
          <a:prstGeom prst="rect">
            <a:avLst/>
          </a:prstGeom>
          <a:solidFill>
            <a:srgbClr val="FFF2CC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Metadata Client (Client Library)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+ Memory Backend Adapter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05088" y="427939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9372600" y="1481328"/>
            <a:ext cx="2468880" cy="347472"/>
          </a:xfrm>
          <a:prstGeom prst="rect">
            <a:avLst/>
          </a:prstGeom>
          <a:solidFill>
            <a:srgbClr val="FFF2CC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Query Sampler → Attention Manager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722607" y="1508760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372600" y="1901952"/>
            <a:ext cx="2468880" cy="347472"/>
          </a:xfrm>
          <a:prstGeom prst="rect">
            <a:avLst/>
          </a:prstGeom>
          <a:solidFill>
            <a:srgbClr val="FFF2CC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Sampler / Recompute-Token Selector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722607" y="1929384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9372600" y="2414016"/>
            <a:ext cx="2468880" cy="384048"/>
          </a:xfrm>
          <a:prstGeom prst="rect">
            <a:avLst/>
          </a:prstGeom>
          <a:solidFill>
            <a:srgbClr val="FFF2CC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«datastore» Plan Store (write 1회)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722607" y="2441448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9372600" y="3429000"/>
            <a:ext cx="2468880" cy="329184"/>
          </a:xfrm>
          <a:prstGeom prst="rect">
            <a:avLst/>
          </a:prstGeom>
          <a:solidFill>
            <a:srgbClr val="FFF2CC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 Router: hash(Data Object ID) → Worker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722607" y="345643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372600" y="3886200"/>
            <a:ext cx="777240" cy="411480"/>
          </a:xfrm>
          <a:prstGeom prst="rect">
            <a:avLst/>
          </a:prstGeom>
          <a:solidFill>
            <a:srgbClr val="FFF2CC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Worker 0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 S0·LRU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30967" y="391363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241280" y="3886200"/>
            <a:ext cx="777240" cy="411480"/>
          </a:xfrm>
          <a:prstGeom prst="rect">
            <a:avLst/>
          </a:prstGeom>
          <a:solidFill>
            <a:srgbClr val="FFF2CC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Worker 1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 S1·LRU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899647" y="391363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1109960" y="3886200"/>
            <a:ext cx="777240" cy="411480"/>
          </a:xfrm>
          <a:prstGeom prst="rect">
            <a:avLst/>
          </a:prstGeom>
          <a:solidFill>
            <a:srgbClr val="FFF2CC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Worker 2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 S2·LRU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768328" y="391363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9372600" y="4389120"/>
            <a:ext cx="2468880" cy="347472"/>
          </a:xfrm>
          <a:prstGeom prst="rect">
            <a:avLst/>
          </a:prstGeom>
          <a:solidFill>
            <a:srgbClr val="FFF2CC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Shard별 Metadata / Allocator / LRU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722607" y="441655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457200" y="5669280"/>
            <a:ext cx="2011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(KV Pool)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350008" y="5696712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2743200" y="5669280"/>
            <a:ext cx="2011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DRAM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(CPU offload)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36008" y="5696712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5029200" y="5669280"/>
            <a:ext cx="2011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SSD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22008" y="5696712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315200" y="5669280"/>
            <a:ext cx="20116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CXL-PNM / ScHBM / HBF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(시뮬레이션)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208007" y="5696712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9601200" y="5669280"/>
            <a:ext cx="201168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CXL 공유 풀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(서버 간)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1494007" y="5696712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8" name="Connector 87"/>
          <p:cNvCxnSpPr/>
          <p:nvPr/>
        </p:nvCxnSpPr>
        <p:spPr>
          <a:xfrm>
            <a:off x="1005840" y="1965960"/>
            <a:ext cx="0" cy="228600"/>
          </a:xfrm>
          <a:prstGeom prst="line">
            <a:avLst/>
          </a:prstGeom>
          <a:ln w="12700">
            <a:solidFill>
              <a:srgbClr val="7F7F7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126083" y="1984248"/>
            <a:ext cx="308152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HTTP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005840" y="2743200"/>
            <a:ext cx="0" cy="228600"/>
          </a:xfrm>
          <a:prstGeom prst="line">
            <a:avLst/>
          </a:prstGeom>
          <a:ln w="12700">
            <a:solidFill>
              <a:srgbClr val="7F7F7F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600200" y="3200400"/>
            <a:ext cx="411480" cy="0"/>
          </a:xfrm>
          <a:prstGeom prst="line">
            <a:avLst/>
          </a:prstGeom>
          <a:ln w="12700">
            <a:solidFill>
              <a:srgbClr val="2E75B6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1668665" y="2999232"/>
            <a:ext cx="265404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ZMQ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3474720" y="1737360"/>
            <a:ext cx="137160" cy="0"/>
          </a:xfrm>
          <a:prstGeom prst="line">
            <a:avLst/>
          </a:prstGeom>
          <a:ln w="12700">
            <a:solidFill>
              <a:srgbClr val="7F7F7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983480" y="1737360"/>
            <a:ext cx="137160" cy="0"/>
          </a:xfrm>
          <a:prstGeom prst="line">
            <a:avLst/>
          </a:prstGeom>
          <a:ln w="12700">
            <a:solidFill>
              <a:srgbClr val="7F7F7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788920" y="1965960"/>
            <a:ext cx="0" cy="137160"/>
          </a:xfrm>
          <a:prstGeom prst="line">
            <a:avLst/>
          </a:prstGeom>
          <a:ln w="12700">
            <a:solidFill>
              <a:srgbClr val="7F7F7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2788920" y="2560320"/>
            <a:ext cx="0" cy="137160"/>
          </a:xfrm>
          <a:prstGeom prst="line">
            <a:avLst/>
          </a:prstGeom>
          <a:ln w="12700">
            <a:solidFill>
              <a:srgbClr val="7F7F7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297680" y="1965960"/>
            <a:ext cx="0" cy="137160"/>
          </a:xfrm>
          <a:prstGeom prst="line">
            <a:avLst/>
          </a:prstGeom>
          <a:ln w="12700">
            <a:solidFill>
              <a:srgbClr val="7F7F7F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H="1">
            <a:off x="4983480" y="2331720"/>
            <a:ext cx="137160" cy="0"/>
          </a:xfrm>
          <a:prstGeom prst="line">
            <a:avLst/>
          </a:prstGeom>
          <a:ln w="12700">
            <a:solidFill>
              <a:srgbClr val="7F7F7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806440" y="2560320"/>
            <a:ext cx="0" cy="137160"/>
          </a:xfrm>
          <a:prstGeom prst="line">
            <a:avLst/>
          </a:prstGeom>
          <a:ln w="12700">
            <a:solidFill>
              <a:srgbClr val="7F7F7F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297680" y="3154680"/>
            <a:ext cx="0" cy="137160"/>
          </a:xfrm>
          <a:prstGeom prst="line">
            <a:avLst/>
          </a:prstGeom>
          <a:ln w="12700">
            <a:solidFill>
              <a:srgbClr val="7F7F7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H="1">
            <a:off x="3474720" y="2926080"/>
            <a:ext cx="137160" cy="0"/>
          </a:xfrm>
          <a:prstGeom prst="line">
            <a:avLst/>
          </a:prstGeom>
          <a:ln w="12700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H="1">
            <a:off x="3474720" y="3520440"/>
            <a:ext cx="137160" cy="0"/>
          </a:xfrm>
          <a:prstGeom prst="line">
            <a:avLst/>
          </a:prstGeom>
          <a:ln w="12700">
            <a:solidFill>
              <a:srgbClr val="7F7F7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4983480" y="3520440"/>
            <a:ext cx="137160" cy="0"/>
          </a:xfrm>
          <a:prstGeom prst="line">
            <a:avLst/>
          </a:prstGeom>
          <a:ln w="12700">
            <a:solidFill>
              <a:srgbClr val="7F7F7F"/>
            </a:solidFill>
            <a:prstDash val="dash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2788920" y="3749039"/>
            <a:ext cx="0" cy="274321"/>
          </a:xfrm>
          <a:prstGeom prst="line">
            <a:avLst/>
          </a:prstGeom>
          <a:ln w="12700">
            <a:solidFill>
              <a:srgbClr val="7F7F7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2834639" y="3749039"/>
            <a:ext cx="82296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migration intent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4983479" y="4251960"/>
            <a:ext cx="137161" cy="0"/>
          </a:xfrm>
          <a:prstGeom prst="line">
            <a:avLst/>
          </a:prstGeom>
          <a:ln w="12700">
            <a:solidFill>
              <a:srgbClr val="2E75B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6492240" y="1700784"/>
            <a:ext cx="502920" cy="36576"/>
          </a:xfrm>
          <a:prstGeom prst="line">
            <a:avLst/>
          </a:prstGeom>
          <a:ln w="1651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6492240" y="3895344"/>
            <a:ext cx="502920" cy="356616"/>
          </a:xfrm>
          <a:prstGeom prst="line">
            <a:avLst/>
          </a:prstGeom>
          <a:ln w="13970">
            <a:solidFill>
              <a:srgbClr val="2E75B6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909560" y="1892807"/>
            <a:ext cx="0" cy="164593"/>
          </a:xfrm>
          <a:prstGeom prst="line">
            <a:avLst/>
          </a:prstGeom>
          <a:ln w="12700">
            <a:solidFill>
              <a:srgbClr val="7F7F7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909560" y="2441448"/>
            <a:ext cx="0" cy="164592"/>
          </a:xfrm>
          <a:prstGeom prst="line">
            <a:avLst/>
          </a:prstGeom>
          <a:ln w="12700">
            <a:solidFill>
              <a:srgbClr val="7F7F7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909560" y="2990088"/>
            <a:ext cx="0" cy="164592"/>
          </a:xfrm>
          <a:prstGeom prst="line">
            <a:avLst/>
          </a:prstGeom>
          <a:ln w="12700">
            <a:solidFill>
              <a:srgbClr val="7F7F7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909560" y="3538728"/>
            <a:ext cx="0" cy="164592"/>
          </a:xfrm>
          <a:prstGeom prst="line">
            <a:avLst/>
          </a:prstGeom>
          <a:ln w="12700">
            <a:solidFill>
              <a:srgbClr val="2E75B6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909560" y="4087368"/>
            <a:ext cx="0" cy="164592"/>
          </a:xfrm>
          <a:prstGeom prst="line">
            <a:avLst/>
          </a:prstGeom>
          <a:ln w="15240">
            <a:solidFill>
              <a:srgbClr val="C55A11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H="1">
            <a:off x="8823960" y="2606040"/>
            <a:ext cx="548640" cy="192024"/>
          </a:xfrm>
          <a:prstGeom prst="line">
            <a:avLst/>
          </a:prstGeom>
          <a:ln w="13970">
            <a:solidFill>
              <a:srgbClr val="7030A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8842248" y="2414016"/>
            <a:ext cx="54864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7030A0"/>
                </a:solidFill>
                <a:latin typeface="맑은 고딕"/>
                <a:ea typeface="맑은 고딕"/>
                <a:cs typeface="맑은 고딕"/>
              </a:rPr>
              <a:t>재계산 위치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10607040" y="2286000"/>
            <a:ext cx="0" cy="128016"/>
          </a:xfrm>
          <a:prstGeom prst="line">
            <a:avLst/>
          </a:prstGeom>
          <a:ln w="12700">
            <a:solidFill>
              <a:srgbClr val="7030A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8823960" y="4480560"/>
            <a:ext cx="548640" cy="0"/>
          </a:xfrm>
          <a:prstGeom prst="line">
            <a:avLst/>
          </a:prstGeom>
          <a:ln w="16510">
            <a:solidFill>
              <a:srgbClr val="548235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8942832" y="4297680"/>
            <a:ext cx="36576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RPC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7909560" y="4709160"/>
            <a:ext cx="0" cy="960120"/>
          </a:xfrm>
          <a:prstGeom prst="line">
            <a:avLst/>
          </a:prstGeom>
          <a:ln w="16510">
            <a:solidFill>
              <a:srgbClr val="C55A1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8092440" y="4983480"/>
            <a:ext cx="91440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data (DMA / NIXL)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10607040" y="4846320"/>
            <a:ext cx="0" cy="822960"/>
          </a:xfrm>
          <a:prstGeom prst="line">
            <a:avLst/>
          </a:prstGeom>
          <a:ln w="16510">
            <a:solidFill>
              <a:srgbClr val="548235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0835640" y="4901184"/>
            <a:ext cx="82296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load/store (CXL)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274320" y="3566160"/>
            <a:ext cx="169164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Legend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━▶ call / 동기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┅▶ event / 비동기</a:t>
            </a:r>
          </a:p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EngineCore→Worker: collective_rpc (shm MQ)</a:t>
            </a:r>
          </a:p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scheduler↔worker: KVConnectorMetadata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━▶ data flow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노란 fill = 신규/수정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테두리색 = 담당 DP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최종 구조 설계 – Deployment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1) 단일 노드 Deployment (GPU 8장 서버, 평가: SYS-H100 / SYS-B200)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486400" cy="4937760"/>
          </a:xfrm>
          <a:prstGeom prst="rect">
            <a:avLst/>
          </a:prstGeom>
          <a:solidFill>
            <a:srgbClr val="F2F2F2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52160" y="1389888"/>
            <a:ext cx="64008" cy="49377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5486400" cy="64008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44168"/>
            <a:ext cx="54864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«device» GPU Server (Node)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2240280" cy="1600200"/>
          </a:xfrm>
          <a:prstGeom prst="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43200" y="1755648"/>
            <a:ext cx="64008" cy="16002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2240280" cy="64008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709928"/>
            <a:ext cx="224028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«execution environment» Host CPU / DRAM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1965960"/>
            <a:ext cx="20574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«executable» API Server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(Input/Output Processor)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2888" y="1993391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4360" y="2423160"/>
            <a:ext cx="2057400" cy="411480"/>
          </a:xfrm>
          <a:prstGeom prst="rect">
            <a:avLst/>
          </a:prstGeom>
          <a:solidFill>
            <a:srgbClr val="FFF2C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«executable» EngineCore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(Scheduler · Planner · DP1 Control)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32888" y="2450591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2880360"/>
            <a:ext cx="205740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DRAM tier (CPU offload KV)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32888" y="2907791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26080" y="1691640"/>
            <a:ext cx="2834640" cy="3154680"/>
          </a:xfrm>
          <a:prstGeom prst="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60720" y="1755648"/>
            <a:ext cx="64008" cy="315468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926080" y="1627632"/>
            <a:ext cx="2834640" cy="64008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26080" y="1709928"/>
            <a:ext cx="2834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«device» GPU 0..7 (HBM)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1965960"/>
            <a:ext cx="2651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«executable» Worker (per GPU)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 Runner · Attention Backend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50407" y="1993391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017520" y="2423160"/>
            <a:ext cx="2651760" cy="365760"/>
          </a:xfrm>
          <a:prstGeom prst="rect">
            <a:avLst/>
          </a:prstGeom>
          <a:solidFill>
            <a:srgbClr val="FFF2CC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 Recomputer · KV Layout (Base/Delta)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50407" y="2450591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017520" y="2880360"/>
            <a:ext cx="2651760" cy="365760"/>
          </a:xfrm>
          <a:prstGeom prst="rect">
            <a:avLst/>
          </a:prstGeom>
          <a:solidFill>
            <a:srgbClr val="FFF2CC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 Executor · Transfer Handler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50407" y="2907791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017520" y="3337560"/>
            <a:ext cx="2651760" cy="365760"/>
          </a:xfrm>
          <a:prstGeom prst="rect">
            <a:avLst/>
          </a:prstGeom>
          <a:solidFill>
            <a:srgbClr val="FFF2CC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«store» HBM KV Pool (Base shared + Delta)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0407" y="3364991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017520" y="3794760"/>
            <a:ext cx="2651760" cy="320040"/>
          </a:xfrm>
          <a:prstGeom prst="rect">
            <a:avLst/>
          </a:prstGeom>
          <a:solidFill>
            <a:srgbClr val="FFF2CC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 Store 사본(read-only) + Plan cache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50407" y="382219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" y="3520440"/>
            <a:ext cx="224028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0" y="3584448"/>
            <a:ext cx="64008" cy="128016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3456432"/>
            <a:ext cx="2240280" cy="64008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3538728"/>
            <a:ext cx="224028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«device» Storage / Next-gen Memory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3794760"/>
            <a:ext cx="205740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NVMe SSD (실장)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32888" y="3822192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4114800"/>
            <a:ext cx="2057400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CXL-PNM / ScHBM / HBF (시뮬레이션)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32888" y="414223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94360" y="4434840"/>
            <a:ext cx="2057400" cy="274320"/>
          </a:xfrm>
          <a:prstGeom prst="rect">
            <a:avLst/>
          </a:prstGeom>
          <a:solidFill>
            <a:srgbClr val="FFF2CC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PIM / SSD-PIM (시뮬레이션)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32888" y="446227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42"/>
          <p:cNvCxnSpPr/>
          <p:nvPr/>
        </p:nvCxnSpPr>
        <p:spPr>
          <a:xfrm>
            <a:off x="2743200" y="2606040"/>
            <a:ext cx="182880" cy="0"/>
          </a:xfrm>
          <a:prstGeom prst="line">
            <a:avLst/>
          </a:prstGeom>
          <a:ln w="12700">
            <a:solidFill>
              <a:srgbClr val="7F7F7F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616441" y="2395728"/>
            <a:ext cx="4363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shm/ZMQ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0" y="4983480"/>
            <a:ext cx="283464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BFBFB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017520" y="5029200"/>
            <a:ext cx="26517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연결: GPU↔Host PCIe 64GB/s (GC-9)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GPU↔DRAM↔차세대 메모리 전송은 DP1 Migration Executor가 수행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device runtime 오버헤드는 범위 밖(GC-2), 차세대 메모리 성능은 시뮬레이션(GC-1)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937760"/>
            <a:ext cx="2286000" cy="11887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배포 단위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vLLM 프로세스: API Server / EngineCore / Worker×N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DP 모듈은 EngineCore·Worker 프로세스 내부에 plug-in (C01)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Offline Analyzer는 배치 job (서빙 외)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685800"/>
            <a:ext cx="576072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2) 멀티 노드 Deployment (GPU 서버 2대 + CXL 공유 풀 + Metadata Server)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1325880"/>
            <a:ext cx="2606040" cy="2286000"/>
          </a:xfrm>
          <a:prstGeom prst="rect">
            <a:avLst/>
          </a:prstGeom>
          <a:solidFill>
            <a:srgbClr val="F2F2F2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8961120" y="1389888"/>
            <a:ext cx="64008" cy="22860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355080" y="1261872"/>
            <a:ext cx="2606040" cy="64008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55080" y="1344168"/>
            <a:ext cx="26060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«device» GPU Server A (P 노드)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46520" y="1691640"/>
            <a:ext cx="2423160" cy="365760"/>
          </a:xfrm>
          <a:prstGeom prst="rect">
            <a:avLst/>
          </a:prstGeom>
          <a:solidFill>
            <a:srgbClr val="FFF2C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«executable» EngineCore + Worker×8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(DP1~DP3 모듈)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750807" y="171907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6446520" y="2148840"/>
            <a:ext cx="2423160" cy="320040"/>
          </a:xfrm>
          <a:prstGeom prst="rect">
            <a:avLst/>
          </a:prstGeom>
          <a:solidFill>
            <a:srgbClr val="FFF2CC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 Executor + Metadata Client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750807" y="217627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446520" y="2560320"/>
            <a:ext cx="24231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 / DRAM / SSD (노드 로컬)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750807" y="2587751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446520" y="2971800"/>
            <a:ext cx="2423160" cy="320040"/>
          </a:xfrm>
          <a:prstGeom prst="rect">
            <a:avLst/>
          </a:prstGeom>
          <a:solidFill>
            <a:srgbClr val="FFF2CC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«artifact» Plan Store 사본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50807" y="299923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372600" y="1325880"/>
            <a:ext cx="2606040" cy="2286000"/>
          </a:xfrm>
          <a:prstGeom prst="rect">
            <a:avLst/>
          </a:prstGeom>
          <a:solidFill>
            <a:srgbClr val="F2F2F2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1978640" y="1389888"/>
            <a:ext cx="64008" cy="2286000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9372600" y="1261872"/>
            <a:ext cx="2606040" cy="64008"/>
          </a:xfrm>
          <a:prstGeom prst="rect">
            <a:avLst/>
          </a:prstGeom>
          <a:solidFill>
            <a:srgbClr val="D9D9D9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372600" y="1344168"/>
            <a:ext cx="26060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«device» GPU Server B (D 노드)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64040" y="1691640"/>
            <a:ext cx="2423160" cy="365760"/>
          </a:xfrm>
          <a:prstGeom prst="rect">
            <a:avLst/>
          </a:prstGeom>
          <a:solidFill>
            <a:srgbClr val="FFF2C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«executable» EngineCore + Worker×8</a:t>
            </a:r>
          </a:p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(DP1~DP3 모듈)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768328" y="171907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464040" y="2148840"/>
            <a:ext cx="2423160" cy="320040"/>
          </a:xfrm>
          <a:prstGeom prst="rect">
            <a:avLst/>
          </a:prstGeom>
          <a:solidFill>
            <a:srgbClr val="FFF2CC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 Executor + Metadata Client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768328" y="217627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464040" y="2560320"/>
            <a:ext cx="24231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 / DRAM / SSD (노드 로컬)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768328" y="2587751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9464040" y="2971800"/>
            <a:ext cx="2423160" cy="320040"/>
          </a:xfrm>
          <a:prstGeom prst="rect">
            <a:avLst/>
          </a:prstGeom>
          <a:solidFill>
            <a:srgbClr val="FFF2CC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«artifact» Plan Store 사본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1768328" y="299923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355080" y="4572000"/>
            <a:ext cx="2606040" cy="1691640"/>
          </a:xfrm>
          <a:prstGeom prst="rect">
            <a:avLst/>
          </a:prstGeom>
          <a:solidFill>
            <a:srgbClr val="E2F0D9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8961120" y="4636008"/>
            <a:ext cx="64008" cy="1691640"/>
          </a:xfrm>
          <a:prstGeom prst="rect">
            <a:avLst/>
          </a:prstGeom>
          <a:solidFill>
            <a:srgbClr val="D9D9D9"/>
          </a:solidFill>
          <a:ln w="95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6355080" y="4507992"/>
            <a:ext cx="2606040" cy="64008"/>
          </a:xfrm>
          <a:prstGeom prst="rect">
            <a:avLst/>
          </a:prstGeom>
          <a:solidFill>
            <a:srgbClr val="D9D9D9"/>
          </a:solidFill>
          <a:ln w="952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355080" y="4590288"/>
            <a:ext cx="26060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«device» CXL Shared Memory Pool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446520" y="4892040"/>
            <a:ext cx="242316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공유 KV 데이터 (non-coherent)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750807" y="4919472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6446520" y="5303520"/>
            <a:ext cx="2423160" cy="320040"/>
          </a:xfrm>
          <a:prstGeom prst="rect">
            <a:avLst/>
          </a:prstGeom>
          <a:solidFill>
            <a:srgbClr val="FFF2CC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 / 응답 슬롯 (RPC, 캐시 우회)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750807" y="533095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6446520" y="5715000"/>
            <a:ext cx="24231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※ 캐시 우회 write / polling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750807" y="5742432"/>
            <a:ext cx="91440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9372600" y="4572000"/>
            <a:ext cx="2606040" cy="1691640"/>
          </a:xfrm>
          <a:prstGeom prst="rect">
            <a:avLst/>
          </a:prstGeom>
          <a:solidFill>
            <a:srgbClr val="EDE2F6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978640" y="4636008"/>
            <a:ext cx="64008" cy="1691640"/>
          </a:xfrm>
          <a:prstGeom prst="rect">
            <a:avLst/>
          </a:prstGeom>
          <a:solidFill>
            <a:srgbClr val="D9D9D9"/>
          </a:solidFill>
          <a:ln w="95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9372600" y="4507992"/>
            <a:ext cx="2606040" cy="64008"/>
          </a:xfrm>
          <a:prstGeom prst="rect">
            <a:avLst/>
          </a:prstGeom>
          <a:solidFill>
            <a:srgbClr val="D9D9D9"/>
          </a:solidFill>
          <a:ln w="952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372600" y="4590288"/>
            <a:ext cx="26060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«server» Metadata Server (DP4)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64040" y="4892040"/>
            <a:ext cx="2423160" cy="320040"/>
          </a:xfrm>
          <a:prstGeom prst="rect">
            <a:avLst/>
          </a:prstGeom>
          <a:solidFill>
            <a:srgbClr val="FFF2CC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 Router (hash → Worker)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768328" y="491947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9464040" y="5303520"/>
            <a:ext cx="2423160" cy="320040"/>
          </a:xfrm>
          <a:prstGeom prst="rect">
            <a:avLst/>
          </a:prstGeom>
          <a:solidFill>
            <a:srgbClr val="FFF2CC"/>
          </a:solidFill>
          <a:ln w="1905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 Worker 0..n (Metadata·Allocator·LRU)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768328" y="533095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9464040" y="5715000"/>
            <a:ext cx="2423160" cy="365760"/>
          </a:xfrm>
          <a:prstGeom prst="rect">
            <a:avLst/>
          </a:prstGeom>
          <a:solidFill>
            <a:srgbClr val="FFF2CC"/>
          </a:solidFill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Offline Analyzer (batch, 별도 job)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1768328" y="5742432"/>
            <a:ext cx="91440" cy="73152"/>
          </a:xfrm>
          <a:prstGeom prst="rect">
            <a:avLst/>
          </a:prstGeom>
          <a:solidFill>
            <a:srgbClr val="FFF2CC"/>
          </a:solidFill>
          <a:ln w="635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3" name="Connector 92"/>
          <p:cNvCxnSpPr/>
          <p:nvPr/>
        </p:nvCxnSpPr>
        <p:spPr>
          <a:xfrm>
            <a:off x="8961120" y="2331720"/>
            <a:ext cx="411480" cy="0"/>
          </a:xfrm>
          <a:prstGeom prst="line">
            <a:avLst/>
          </a:prstGeom>
          <a:ln w="15240">
            <a:solidFill>
              <a:srgbClr val="C55A11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8988552" y="2057400"/>
            <a:ext cx="36576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PCIe</a:t>
            </a:r>
          </a:p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C55A11"/>
                </a:solidFill>
                <a:latin typeface="맑은 고딕"/>
                <a:ea typeface="맑은 고딕"/>
                <a:cs typeface="맑은 고딕"/>
              </a:rPr>
              <a:t>64GB/s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680960" y="3611880"/>
            <a:ext cx="0" cy="960120"/>
          </a:xfrm>
          <a:prstGeom prst="line">
            <a:avLst/>
          </a:prstGeom>
          <a:ln w="15240">
            <a:solidFill>
              <a:srgbClr val="548235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680960" y="4023360"/>
            <a:ext cx="82296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load/store (CXL)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0698480" y="3611880"/>
            <a:ext cx="0" cy="960120"/>
          </a:xfrm>
          <a:prstGeom prst="line">
            <a:avLst/>
          </a:prstGeom>
          <a:ln w="15240">
            <a:solidFill>
              <a:srgbClr val="548235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744200" y="4023360"/>
            <a:ext cx="82296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0">
                <a:solidFill>
                  <a:srgbClr val="548235"/>
                </a:solidFill>
                <a:latin typeface="맑은 고딕"/>
                <a:ea typeface="맑은 고딕"/>
                <a:cs typeface="맑은 고딕"/>
              </a:rPr>
              <a:t>RPC (메타데이터)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8961120" y="5394960"/>
            <a:ext cx="411480" cy="0"/>
          </a:xfrm>
          <a:prstGeom prst="line">
            <a:avLst/>
          </a:prstGeom>
          <a:ln w="12700">
            <a:solidFill>
              <a:srgbClr val="548235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8321040" y="3611880"/>
            <a:ext cx="1920240" cy="960120"/>
          </a:xfrm>
          <a:prstGeom prst="line">
            <a:avLst/>
          </a:prstGeom>
          <a:ln w="12700">
            <a:solidFill>
              <a:srgbClr val="548235"/>
            </a:solidFill>
            <a:prstDash val="dash"/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6355080" y="3703320"/>
            <a:ext cx="1280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GC-9: 서버 간 PCIe 64GB/s</a:t>
            </a:r>
          </a:p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(RDMA/NIC 종류 미확인)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최종 구조 설계 – 전체 Class Diagram (1/3) 요청 조율·실행 위치 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" y="621792"/>
            <a:ext cx="81381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Request Orchestrator + Inference Engine — DP2: 사전 계획(Plan) + 저비용 검증(Decision)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5156" y="667512"/>
            <a:ext cx="361188" cy="246888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187451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EngineCore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1874519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scheduler: Scheduler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model_executor: Executor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33118"/>
            <a:ext cx="1874519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step() / step_with_batch_queue()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add_request(request)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18872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1371600"/>
            <a:ext cx="1874519" cy="477316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kv_cache_manager: KVCacheManager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kv_connector: KVConnectorBase_V1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planner: ExecutionPlanner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plan_validator: PlanLookupValidator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1848916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schedule(): SchedulerOutput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update_from_output(...)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0055" y="118872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5" y="1371600"/>
            <a:ext cx="1874519" cy="477316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scheduled_new_reqs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scheduled_cached_reqs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kv_connector_metadata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execution_plans: list[ExecutionPlan]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0055" y="1848916"/>
            <a:ext cx="1874519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0063" y="1188720"/>
            <a:ext cx="1874519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«abstract»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3" y="1463040"/>
            <a:ext cx="1874519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70063" y="1508760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execute_model(SchedulerOutput)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collective_rpc(method, args)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20072" y="1188720"/>
            <a:ext cx="187451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20072" y="1371600"/>
            <a:ext cx="1874519" cy="15361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model_runner: GPUModelRunner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20072" y="1525219"/>
            <a:ext cx="1874519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execute_model(...)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sample_tokens(...)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51460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ExecutionPlanner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97480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cost_evaluator: CostEvaluator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publisher: PlanPublisher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958998"/>
            <a:ext cx="1874519" cy="369417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plan(ctx): ExecutionPlan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replan(ctx, state): ExecutionPlan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plan_window(W, k)  // 구간 조회 폭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251460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PlanLookupValidator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269748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max_plan_age: W × avg_service_time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0048" y="2851099"/>
            <a:ext cx="1874519" cy="369417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lookup(request_id): ExecutionPlan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validate(plan, state): bool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next_candidate(plan, 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0055" y="251460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ExecutionPlan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0055" y="2697480"/>
            <a:ext cx="1874519" cy="585216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prefill_resource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decode_start_resource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candidates: list (1순위..k)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data_moves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planned_at: timestamp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0055" y="3282696"/>
            <a:ext cx="1874519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70063" y="251460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ExecutionRouter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70063" y="269748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workers: dict[resource_id, Worker]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70063" y="2851099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dispatch(plan, SchedulerOutput)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fallback(plan)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720072" y="2514600"/>
            <a:ext cx="187451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GPUModelRunner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20072" y="2697480"/>
            <a:ext cx="1874519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720072" y="2743200"/>
            <a:ext cx="1874519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execute_model(scheduler_output)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sample_tokens(grammar_output)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384048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CostEvaluator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02336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model: ExecutionCostModel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176979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evaluate(ctx, candidates, snapshot)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evaluate_batch(ctxs, ...)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70048" y="384048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ExecutionPlanCache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70048" y="402336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entries: dict[request_id, ExecutionPlan]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70048" y="4176979"/>
            <a:ext cx="1874519" cy="369417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put(plan)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get(request_id)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invalidate(request_id)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20072" y="3840480"/>
            <a:ext cx="1874519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«abstract»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AttentionBackend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720072" y="4114800"/>
            <a:ext cx="1874519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9720072" y="4160520"/>
            <a:ext cx="1874519" cy="15361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forward(layer, q, k, v, ...)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166360"/>
            <a:ext cx="1874519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«interface»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ExecutionCostModel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440680"/>
            <a:ext cx="1874519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20040" y="5486400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estimate(ctx, cand, snap): CostEstimate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compute·memory·transfer·queue cost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70048" y="516636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ResourceStateMonitor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70048" y="5349240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telemetry: TelemetryCollector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kv_state: KVStateMonitor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70048" y="5610758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snapshot(): RuntimeStateSnapshot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update(telemetry)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0055" y="516636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PlanPublisher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0055" y="534924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cache: ExecutionPlanCache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0055" y="5502859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publish(plan)  // async write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194560" y="1541678"/>
            <a:ext cx="475488" cy="107899"/>
          </a:xfrm>
          <a:prstGeom prst="line">
            <a:avLst/>
          </a:prstGeom>
          <a:ln w="11430">
            <a:solidFill>
              <a:srgbClr val="595959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270455" y="1522476"/>
            <a:ext cx="3236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owns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4544568" y="1541678"/>
            <a:ext cx="475487" cy="10789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527194" y="1522476"/>
            <a:ext cx="510235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produces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244584" y="1479499"/>
            <a:ext cx="475488" cy="822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9343796" y="1410462"/>
            <a:ext cx="277063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rpc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0657332" y="1786737"/>
            <a:ext cx="0" cy="727863"/>
          </a:xfrm>
          <a:prstGeom prst="line">
            <a:avLst/>
          </a:prstGeom>
          <a:ln w="11430">
            <a:solidFill>
              <a:srgbClr val="595959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657332" y="3004718"/>
            <a:ext cx="0" cy="835762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10425531" y="3349447"/>
            <a:ext cx="46360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forward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3419856" y="2110435"/>
            <a:ext cx="0" cy="404165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164738" y="2239365"/>
            <a:ext cx="510235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validate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2194560" y="2867558"/>
            <a:ext cx="475488" cy="5395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223820" y="2821381"/>
            <a:ext cx="416966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replan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3419856" y="3220516"/>
            <a:ext cx="0" cy="619964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211372" y="3457346"/>
            <a:ext cx="416966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lookup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257300" y="3328415"/>
            <a:ext cx="0" cy="512065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002182" y="3511296"/>
            <a:ext cx="510235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evaluate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257300" y="4438497"/>
            <a:ext cx="0" cy="727863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095451" y="4729276"/>
            <a:ext cx="3236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uses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194560" y="5457139"/>
            <a:ext cx="475488" cy="62179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177186" y="5415076"/>
            <a:ext cx="510235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snapshot</a:t>
            </a:r>
          </a:p>
        </p:txBody>
      </p:sp>
      <p:cxnSp>
        <p:nvCxnSpPr>
          <p:cNvPr id="77" name="Connector 76"/>
          <p:cNvCxnSpPr/>
          <p:nvPr/>
        </p:nvCxnSpPr>
        <p:spPr>
          <a:xfrm flipH="1" flipV="1">
            <a:off x="4169663" y="4546396"/>
            <a:ext cx="1412749" cy="619964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4737506" y="4783226"/>
            <a:ext cx="277063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put</a:t>
            </a:r>
          </a:p>
        </p:txBody>
      </p:sp>
      <p:cxnSp>
        <p:nvCxnSpPr>
          <p:cNvPr id="79" name="Connector 78"/>
          <p:cNvCxnSpPr/>
          <p:nvPr/>
        </p:nvCxnSpPr>
        <p:spPr>
          <a:xfrm flipV="1">
            <a:off x="4357116" y="3328416"/>
            <a:ext cx="1037843" cy="512064"/>
          </a:xfrm>
          <a:prstGeom prst="line">
            <a:avLst/>
          </a:prstGeom>
          <a:ln w="11430">
            <a:solidFill>
              <a:srgbClr val="595959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667554" y="3511296"/>
            <a:ext cx="416966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stores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957315" y="1894636"/>
            <a:ext cx="0" cy="619964"/>
          </a:xfrm>
          <a:prstGeom prst="line">
            <a:avLst/>
          </a:prstGeom>
          <a:ln w="11430">
            <a:solidFill>
              <a:srgbClr val="595959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538977" y="2131466"/>
            <a:ext cx="836676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execution_plans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6894575" y="2813608"/>
            <a:ext cx="475488" cy="10790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877202" y="2794406"/>
            <a:ext cx="510235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consumes</a:t>
            </a:r>
          </a:p>
        </p:txBody>
      </p:sp>
      <p:cxnSp>
        <p:nvCxnSpPr>
          <p:cNvPr id="85" name="Connector 84"/>
          <p:cNvCxnSpPr/>
          <p:nvPr/>
        </p:nvCxnSpPr>
        <p:spPr>
          <a:xfrm flipV="1">
            <a:off x="8119871" y="1786737"/>
            <a:ext cx="2162557" cy="727863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8946032" y="2077516"/>
            <a:ext cx="510235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dispatch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0055" y="3931920"/>
            <a:ext cx="45720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기존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522975" y="3931920"/>
            <a:ext cx="685800" cy="201168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신규/수정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020055" y="4160520"/>
            <a:ext cx="274320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◇━ 구성(composition)   ━▶ 연관/호출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┅▶ 의존(use / event)   ▷ 구현·상속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노란 fill = 이 과제에서 신규 또는 수정하는 클래스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70063" y="5166360"/>
            <a:ext cx="4480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읽는 법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Scheduler는 비용 모델 구현을 import하지 않고 ExecutionPlanner만 호출(의존 규칙 1)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ExecutionCostModel은 순수 추정(Worker/Executor 호출 금지), Executor는 plan만 소비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Plan 생성은 critical path 밖, Validator+Router만 critical path 안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Scheduler → KVCacheManager 호출은 (2/3)에서 이어짐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70063" y="6126480"/>
            <a:ext cx="44805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근거: doc-mk/DP2/vllm-cost-model-prefill-decode-execution-planning-architecture.md §3~§9, 슬라이드 6~7p. vLLM 클래스는 vllm/v1/{engine/core.py, core/sched/scheduler.py, executor/abstract.py, worker/gpu_worker.py} 기준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최종 구조 설계 – 전체 Class Diagram (2/3) 데이터 이동·자원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" y="621792"/>
            <a:ext cx="81381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Data / Resource Management — DP1: 상태 관측·이동 결정 분리 + Lease 제어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35156" y="667512"/>
            <a:ext cx="361188" cy="246888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1874519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1874519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417320"/>
            <a:ext cx="1874519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schedule()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update_from_output(...)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70048" y="1188720"/>
            <a:ext cx="1874519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«KVConnectorBase_V1»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DP1Connector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1463040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event_sink: MigrationEventSink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coordinator: MigrationCoordinator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70048" y="1724558"/>
            <a:ext cx="1874519" cy="369417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get_num_new_matched_tokens()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build_connector_meta(...)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update_connector_output(...)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0055" y="118872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KVCacheManager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0055" y="137160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block_pool: BlockPool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0055" y="1525219"/>
            <a:ext cx="1874519" cy="369417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get_computed_blocks(request)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allocate_slots(...)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evict_blocks(block_ids)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70063" y="118872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BlockPool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3" y="1371600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cached_block_hash_to_block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free_block_queue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70063" y="1633118"/>
            <a:ext cx="1874519" cy="369417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get_usage()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get_new_blocks(n)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insert_prefetched_blocks(...)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1460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DecisionScheduler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697480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period: 판단 주기(독립 보유)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event_queue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58998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on_event(MigrationEvent)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tick(): snapshot 요청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70048" y="251460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TrendAnalyzer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269748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window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70048" y="2851099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analyze(snapshot): ResourceState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자원 추세 + 데이터 접근 추세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0055" y="251460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AffinityMapper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0055" y="269748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hints: AffinityHint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0055" y="2851099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map(object, state): candidate tiers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데이터·메모리 적합도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70063" y="251460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PolicyEngine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70063" y="269748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budget: MigrationBudget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70063" y="2851099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decide(state, cands): list[Decision]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20072" y="251460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MigrationCommandQueue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20072" y="269748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commands: ordered buffer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20072" y="2851099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enqueue(decision)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dequeue(): MigrationCommand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84048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StateSnapshotBuilder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023360"/>
            <a:ext cx="1874519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0040" y="4069080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build(): ResourceSnapshot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일관 복사본, object 수 비례 비용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384048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HbmLeaseGranter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70048" y="402336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default_lease: duration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70048" y="4176979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grant(object, tier=HBM)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extend(object, behavior)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0055" y="384048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DataObjectRegistry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0055" y="402336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records: dict[object_id, ObjectRecord]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0055" y="4176979"/>
            <a:ext cx="1874519" cy="369417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add / remove / get(object_id)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move(object_id, tier)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drop_to_replica(object_id)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70063" y="384048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LeaseTimer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70063" y="402336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deadlines: heap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70063" y="4176979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arm(object, ttl)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on_expire(): Event(Lease Expired)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20072" y="384048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MigrationExecutor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20072" y="402336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handlers: TransferHandlerRegistry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720072" y="4176979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execute(command)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poll_completed(): list[Result]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516636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ResourceStateMonitor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534924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usage per tier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502859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observe(): usage, bw_util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670048" y="5166360"/>
            <a:ext cx="1874519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TelemetryCollector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670048" y="534924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sources: BlockPool, SchedulerStats, ...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70048" y="5502859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collect(): MemoryTelemetry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0055" y="5166360"/>
            <a:ext cx="1874519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«interface»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MemoryBackend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0055" y="5440680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descriptor: MemoryDescriptor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capacity, bw, latency, capability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0055" y="5702198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export_async / import_async(...)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telemetry(): MemoryTelemetry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70063" y="5166360"/>
            <a:ext cx="1874519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«OffloadingHandler»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TransferHandler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370063" y="5440680"/>
            <a:ext cx="1874519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src_medium, dst_medium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70063" y="5594299"/>
            <a:ext cx="1874519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transfer_async(job_id, spec): bool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get_finished(): list[Result]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194560" y="1433779"/>
            <a:ext cx="475488" cy="20756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293772" y="1464411"/>
            <a:ext cx="277063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API</a:t>
            </a:r>
          </a:p>
        </p:txBody>
      </p:sp>
      <p:cxnSp>
        <p:nvCxnSpPr>
          <p:cNvPr id="64" name="Connector 63"/>
          <p:cNvCxnSpPr/>
          <p:nvPr/>
        </p:nvCxnSpPr>
        <p:spPr>
          <a:xfrm flipV="1">
            <a:off x="4544568" y="1541678"/>
            <a:ext cx="475487" cy="9967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597146" y="1518361"/>
            <a:ext cx="370332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evict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894575" y="1541678"/>
            <a:ext cx="475488" cy="53950"/>
          </a:xfrm>
          <a:prstGeom prst="line">
            <a:avLst/>
          </a:prstGeom>
          <a:ln w="11430">
            <a:solidFill>
              <a:srgbClr val="595959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1444751" y="2093976"/>
            <a:ext cx="1787652" cy="420624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153411" y="2231136"/>
            <a:ext cx="370332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event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2194560" y="2813608"/>
            <a:ext cx="475488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544568" y="2813608"/>
            <a:ext cx="475487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94575" y="2759659"/>
            <a:ext cx="475488" cy="5394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244584" y="2759659"/>
            <a:ext cx="475488" cy="5394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9250527" y="2713482"/>
            <a:ext cx="46360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enqueue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257300" y="3220516"/>
            <a:ext cx="0" cy="619964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1002182" y="3457346"/>
            <a:ext cx="510235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snapshot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144767" y="3112617"/>
            <a:ext cx="0" cy="727863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959601" y="3403396"/>
            <a:ext cx="370332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query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4544568" y="4139488"/>
            <a:ext cx="475487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597146" y="4093311"/>
            <a:ext cx="370332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grant</a:t>
            </a:r>
          </a:p>
        </p:txBody>
      </p:sp>
      <p:cxnSp>
        <p:nvCxnSpPr>
          <p:cNvPr id="80" name="Connector 79"/>
          <p:cNvCxnSpPr/>
          <p:nvPr/>
        </p:nvCxnSpPr>
        <p:spPr>
          <a:xfrm flipV="1">
            <a:off x="6894575" y="4139488"/>
            <a:ext cx="475488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993788" y="4093311"/>
            <a:ext cx="277063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arm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10657332" y="3112617"/>
            <a:ext cx="0" cy="727863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0425531" y="3403396"/>
            <a:ext cx="46360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dequeue</a:t>
            </a:r>
          </a:p>
        </p:txBody>
      </p:sp>
      <p:cxnSp>
        <p:nvCxnSpPr>
          <p:cNvPr id="84" name="Connector 83"/>
          <p:cNvCxnSpPr/>
          <p:nvPr/>
        </p:nvCxnSpPr>
        <p:spPr>
          <a:xfrm flipH="1">
            <a:off x="8307323" y="4438497"/>
            <a:ext cx="1975105" cy="727863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9039758" y="4729276"/>
            <a:ext cx="510235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dispatch</a:t>
            </a:r>
          </a:p>
        </p:txBody>
      </p:sp>
      <p:cxnSp>
        <p:nvCxnSpPr>
          <p:cNvPr id="86" name="Connector 85"/>
          <p:cNvCxnSpPr/>
          <p:nvPr/>
        </p:nvCxnSpPr>
        <p:spPr>
          <a:xfrm flipV="1">
            <a:off x="1257300" y="4330598"/>
            <a:ext cx="0" cy="835762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072134" y="4675327"/>
            <a:ext cx="370332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usage</a:t>
            </a:r>
          </a:p>
        </p:txBody>
      </p:sp>
      <p:cxnSp>
        <p:nvCxnSpPr>
          <p:cNvPr id="88" name="Connector 87"/>
          <p:cNvCxnSpPr/>
          <p:nvPr/>
        </p:nvCxnSpPr>
        <p:spPr>
          <a:xfrm flipH="1" flipV="1">
            <a:off x="1819655" y="4330598"/>
            <a:ext cx="1412748" cy="835762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44568" y="5411419"/>
            <a:ext cx="475487" cy="153619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6894575" y="5511088"/>
            <a:ext cx="475488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6993788" y="5464911"/>
            <a:ext cx="277063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I/O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720072" y="1188720"/>
            <a:ext cx="246888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흐름 요약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① TelemetryCollector → StateSnapshotBuilder ② DecisionScheduler 주기 tick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③ Trend→Affinity→Policy → CommandQueue ④ MigrationExecutor→TransferHandler→MemoryBackend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⑤ LeaseTimer 만료 Event → DecisionScheduler 재평가(lease 연장/선별 demotion)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• Experts/LoRA는 Registry에 같은 방식으로 등록(Phase 1은 KV 한정)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720072" y="5257800"/>
            <a:ext cx="45720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222992" y="5257800"/>
            <a:ext cx="685800" cy="201168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신규/수정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20072" y="5486400"/>
            <a:ext cx="173736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◇━ 구성   ━▶ 연관·호출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┅▶ 의존(use/event)  ▷ 구현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720072" y="6035040"/>
            <a:ext cx="246888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근거: doc-mk/DP1/dp1-vllm-uml.md §1.3·§3, 슬라이드 4~5p. vllm/v1/core/{block_pool,kv_cache_manager}.py, vllm/v1/kv_offload/*, kv_connector/v1/base.py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최종 구조 설계 – 전체 Class Diagram (3/3) KV 재사용·공유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7863840" cy="274320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DP3. KV 캐시 재사용 (사전 분석 1회 + 요청마다 조회)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685800"/>
            <a:ext cx="3657600" cy="274320"/>
          </a:xfrm>
          <a:prstGeom prst="rect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DP4. 서버 간 KV 캐시 공유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QuerySampler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workloads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2521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sample(workload): representative queries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4288" y="118872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AttentionManager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288" y="1371600"/>
            <a:ext cx="160020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04288" y="1417320"/>
            <a:ext cx="1600200" cy="15361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score(query, context_kv): scores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118872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KVSampler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137160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88536" y="141732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select_reuse(scores): token_ids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3" y="118872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RecomputeTokenSelector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72783" y="137160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72783" y="141732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select(scores): recompute_positions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51460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OfflineAnalyzer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69748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sampler / attn / kv_sampler / selector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85109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analyze(workload): ReusePlan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사전 1회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3" y="2514600"/>
            <a:ext cx="1600200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«repository»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PlanStore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72783" y="2788920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plans: dict[context_id, ReusePlan]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context_kv: KV Repository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2783" y="3050438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write(plan)  // 1회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read(context_id): ReusePlan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84048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PlanAwareAdmissionController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02336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hbm_budget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17697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required_hbm(plan): bytes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admit(request): bool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04288" y="384048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KVLayoutManager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04288" y="4023360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base_refcount: dict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delta_alloc: per request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04288" y="4284878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share_base(context_id)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allocate_delta(request, ρ)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88536" y="384048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SelectiveRecomputer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88536" y="4023360"/>
            <a:ext cx="160020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88536" y="4069080"/>
            <a:ext cx="1600200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recompute(tokens, base+delta)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blending과 같은 동작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72783" y="384048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Validator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72783" y="402336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stale 기준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2783" y="417697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validate(plan, result)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update(plan)  // stale 보완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1920240" y="1379829"/>
            <a:ext cx="384048" cy="5395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927098" y="1333652"/>
            <a:ext cx="370332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query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904487" y="1379829"/>
            <a:ext cx="384049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888028" y="1306677"/>
            <a:ext cx="416966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scores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888736" y="1379829"/>
            <a:ext cx="384047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120140" y="1678838"/>
            <a:ext cx="0" cy="835762"/>
          </a:xfrm>
          <a:prstGeom prst="line">
            <a:avLst/>
          </a:prstGeom>
          <a:ln w="11430">
            <a:solidFill>
              <a:srgbClr val="595959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58291" y="2023567"/>
            <a:ext cx="3236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uses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072883" y="1570939"/>
            <a:ext cx="0" cy="943661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887718" y="1969617"/>
            <a:ext cx="370332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write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92923" y="3311956"/>
            <a:ext cx="0" cy="528524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184440" y="3503066"/>
            <a:ext cx="416966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update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920240" y="4139488"/>
            <a:ext cx="384048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927098" y="4093311"/>
            <a:ext cx="370332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Delta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3904487" y="4085539"/>
            <a:ext cx="384049" cy="10789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981297" y="4066336"/>
            <a:ext cx="230428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KV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888736" y="4085539"/>
            <a:ext cx="384047" cy="5394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965545" y="4039362"/>
            <a:ext cx="230428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결과</a:t>
            </a:r>
          </a:p>
        </p:txBody>
      </p:sp>
      <p:cxnSp>
        <p:nvCxnSpPr>
          <p:cNvPr id="53" name="Connector 52"/>
          <p:cNvCxnSpPr/>
          <p:nvPr/>
        </p:nvCxnSpPr>
        <p:spPr>
          <a:xfrm flipH="1">
            <a:off x="5568696" y="3311956"/>
            <a:ext cx="1024127" cy="528524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802325" y="3503066"/>
            <a:ext cx="556869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read plan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58568" y="2560320"/>
            <a:ext cx="3749039" cy="1143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서빙 경로: Scheduler → (admit) → KVLayoutManager → SelectiveRecomputer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조회는 PlanStore read 1회뿐 → tail latency 평탄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공통 KV는 Base로 공유(refcount), 요청별 Delta만 Append → HBM 3.0L→1.3L (N=3, ρ=0.15 가정)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Validator가 stale 재계산 위치를 갱신 (정확도 C02 보호)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1188720"/>
            <a:ext cx="169164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MigrationExecutor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1371600"/>
            <a:ext cx="169164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client: MetadataClient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12480" y="1525219"/>
            <a:ext cx="169164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execute(command)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데이터 송·수신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241280" y="1188720"/>
            <a:ext cx="169164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MetadataClient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41280" y="1371600"/>
            <a:ext cx="169164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slot: request/response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server_addr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41280" y="1633118"/>
            <a:ext cx="169164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request(op, key): Response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캐시 우회 write, polling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12480" y="2514600"/>
            <a:ext cx="1691640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«store»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CxlSharedPool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12480" y="2788920"/>
            <a:ext cx="169164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kv_data (non-coherent)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12480" y="2942539"/>
            <a:ext cx="169164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read(addr, n)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write(addr, n)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241280" y="2514600"/>
            <a:ext cx="169164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ShardRouter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241280" y="2697480"/>
            <a:ext cx="169164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workers: list[ShardWorker]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41280" y="2851099"/>
            <a:ext cx="169164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route(object_id): ShardWorker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hash(Data Object ID)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41280" y="3840480"/>
            <a:ext cx="169164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ShardWorker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241280" y="4023360"/>
            <a:ext cx="169164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shard: MetadataShard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241280" y="4176979"/>
            <a:ext cx="169164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lookup / insert / evict(key)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독립 처리 스레드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41280" y="5166360"/>
            <a:ext cx="169164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MetadataShard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241280" y="5349240"/>
            <a:ext cx="1691640" cy="369417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hash_table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allocator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lru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241280" y="5718657"/>
            <a:ext cx="169164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 / put / free(key)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0104119" y="1487728"/>
            <a:ext cx="137161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1087100" y="1894636"/>
            <a:ext cx="0" cy="619964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0948568" y="2131466"/>
            <a:ext cx="277063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RPC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1087100" y="3112617"/>
            <a:ext cx="0" cy="727863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10925251" y="3403396"/>
            <a:ext cx="3236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hash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11087100" y="4438497"/>
            <a:ext cx="0" cy="727863"/>
          </a:xfrm>
          <a:prstGeom prst="line">
            <a:avLst/>
          </a:prstGeom>
          <a:ln w="11430">
            <a:solidFill>
              <a:srgbClr val="595959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9258300" y="1786737"/>
            <a:ext cx="0" cy="727863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9096451" y="2077516"/>
            <a:ext cx="3236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data</a:t>
            </a:r>
          </a:p>
        </p:txBody>
      </p:sp>
      <p:cxnSp>
        <p:nvCxnSpPr>
          <p:cNvPr id="82" name="Connector 81"/>
          <p:cNvCxnSpPr/>
          <p:nvPr/>
        </p:nvCxnSpPr>
        <p:spPr>
          <a:xfrm flipH="1" flipV="1">
            <a:off x="9258300" y="3204057"/>
            <a:ext cx="1321307" cy="636423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9757105" y="3449116"/>
            <a:ext cx="3236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addr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12480" y="5257800"/>
            <a:ext cx="457200" cy="201168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기존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915400" y="5257800"/>
            <a:ext cx="685800" cy="201168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신규/수정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412480" y="5486400"/>
            <a:ext cx="173736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◇━ 구성   ━▶ 연관·호출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┅▶ 의존(use/event)  ▷ 구현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0040" y="5212080"/>
            <a:ext cx="3749039" cy="1234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읽는 법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사전(Offline): OfflineAnalyzer가 대표 Query로 재사용/재계산 토큰을 선정해 PlanStore에 1회 기록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DP4: 메타데이터 요청은 hash(Data Object ID)로 Shard Worker에 분산, 데이터는 CXL 공유 풀에 직접 read/write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실패/timeout 시 재계산 fallback(QA-07) — 시퀀스는 DP4 상세(p.26) 참조</a:t>
            </a:r>
          </a:p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근거: doc-mk/DP3/dp3-*.md, doc-mk/DP6/dp4-inter-node-kv-sharing-structure-draft.md, 슬라이드 8~11p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요청 처리 기본 경로 – Class / Sequence (vLLM 기준선)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" y="621792"/>
            <a:ext cx="81381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요청 처리 기본 경로 (vLLM 기준선)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66576" y="667512"/>
            <a:ext cx="429768" cy="246888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000232" y="667512"/>
            <a:ext cx="429768" cy="246888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33888" y="667512"/>
            <a:ext cx="429768" cy="246888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67544" y="667512"/>
            <a:ext cx="429768" cy="246888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09728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Class Diagram: 요청 처리 기본 경로 (vLLM 기준선)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Sequence Diagram: 요청 처리 기본 경로 (vLLM 기준선)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71600"/>
            <a:ext cx="566928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585216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50876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AsyncLLM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691639"/>
            <a:ext cx="1600200" cy="369417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input_processor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output_processor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engine_core: EngineCoreClient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061057"/>
            <a:ext cx="1600200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generate(prompt, params)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add_request(...)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67712" y="150876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InputProcessor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7712" y="1691639"/>
            <a:ext cx="160020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267712" y="1737360"/>
            <a:ext cx="1600200" cy="15361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process_inputs(...): EngineCoreRequest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9663" y="150876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OutputProcessor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9663" y="1691639"/>
            <a:ext cx="1600200" cy="15361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request_states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9663" y="1845259"/>
            <a:ext cx="1600200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add_request(...)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process_outputs(...)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971800"/>
            <a:ext cx="1600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«AsyncMPClient»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EngineCoreClient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46120"/>
            <a:ext cx="160020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291839"/>
            <a:ext cx="1600200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add_request_async(request)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get_output_async()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67712" y="297180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EngineCore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67712" y="3154680"/>
            <a:ext cx="1600200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model_executor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67712" y="3416198"/>
            <a:ext cx="1600200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step()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add_request(request)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9663" y="297180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9663" y="315468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kv_cache_manager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9663" y="330829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schedule(): SchedulerOutput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update_from_output(...)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34840"/>
            <a:ext cx="16002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«abstract»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709159"/>
            <a:ext cx="160020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5760" y="4754879"/>
            <a:ext cx="1600200" cy="15361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execute_model(SchedulerOutput)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67712" y="443484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67712" y="4617720"/>
            <a:ext cx="1600200" cy="15361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model_runner: GPUModelRunner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67712" y="4771339"/>
            <a:ext cx="1600200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execute_model(...)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sample_tokens(...)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9663" y="443484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KVCacheManager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9663" y="4617720"/>
            <a:ext cx="1600200" cy="15361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block_pool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9663" y="4771339"/>
            <a:ext cx="1600200" cy="369417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get_computed_blocks(request)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allocate_slots(...)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free(request)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1965960" y="1699869"/>
            <a:ext cx="301752" cy="215798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165860" y="2322576"/>
            <a:ext cx="0" cy="649224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004011" y="2574036"/>
            <a:ext cx="3236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uses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965960" y="3262579"/>
            <a:ext cx="301752" cy="6217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67912" y="3270808"/>
            <a:ext cx="301751" cy="53950"/>
          </a:xfrm>
          <a:prstGeom prst="line">
            <a:avLst/>
          </a:prstGeom>
          <a:ln w="11430">
            <a:solidFill>
              <a:srgbClr val="595959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969764" y="3569817"/>
            <a:ext cx="0" cy="865023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784598" y="3929176"/>
            <a:ext cx="370332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alloc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1645920" y="3677716"/>
            <a:ext cx="941832" cy="757124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954987" y="3983126"/>
            <a:ext cx="3236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exec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965960" y="4671669"/>
            <a:ext cx="301752" cy="6217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65760" y="5806440"/>
            <a:ext cx="54864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기존 vLLM v1 경로. 노란색 Scheduler는 DP2(Plan 검증)·DP3(Admission)·DP1(Connector)이 schedule() 안에서 호출되는 확장점</a:t>
            </a:r>
          </a:p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• 근거: vllm/v1/engine/{async_llm,core,core_client}.py, core/sched/scheduler.py, executor/abstract.py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08776" y="1463040"/>
            <a:ext cx="749808" cy="310896"/>
          </a:xfrm>
          <a:prstGeom prst="rect">
            <a:avLst/>
          </a:prstGeom>
          <a:solidFill>
            <a:srgbClr val="F2F2F2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Client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583680" y="1773936"/>
            <a:ext cx="0" cy="438912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7031736" y="1463040"/>
            <a:ext cx="749808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AsyncLLM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(+I/O Proc)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406640" y="1773936"/>
            <a:ext cx="0" cy="438912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7854696" y="1463040"/>
            <a:ext cx="749808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EngineCore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Client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229600" y="1773936"/>
            <a:ext cx="0" cy="438912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8677656" y="1463040"/>
            <a:ext cx="749808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EngineCore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052560" y="1773936"/>
            <a:ext cx="0" cy="438912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950061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875520" y="1773936"/>
            <a:ext cx="0" cy="438912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10323576" y="1463040"/>
            <a:ext cx="749808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KVCache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Manager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698480" y="1773936"/>
            <a:ext cx="0" cy="438912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1146536" y="1463040"/>
            <a:ext cx="749808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Executor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→ Worker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1521440" y="1773936"/>
            <a:ext cx="0" cy="4389120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8706916" y="3296412"/>
            <a:ext cx="3160166" cy="1837944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706916" y="3296412"/>
            <a:ext cx="1005840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18288" rIns="27432" bIns="18288" rtlCol="0" anchor="ctr"/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loop: engine step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583680" y="2103120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368796" y="1947672"/>
            <a:ext cx="1252728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generate(prompt, params)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7406640" y="2290572"/>
            <a:ext cx="256031" cy="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662671" y="2290572"/>
            <a:ext cx="0" cy="164592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7406640" y="2455164"/>
            <a:ext cx="256031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699248" y="2253996"/>
            <a:ext cx="1645920" cy="182880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process_inputs()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406640" y="2715768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236333" y="2560320"/>
            <a:ext cx="1163574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add_request_async(req)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8229600" y="2976372"/>
            <a:ext cx="822960" cy="0"/>
          </a:xfrm>
          <a:prstGeom prst="line">
            <a:avLst/>
          </a:prstGeom>
          <a:ln w="11430">
            <a:solidFill>
              <a:srgbClr val="2E75B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8059292" y="2820924"/>
            <a:ext cx="1163574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ZMQ: EngineCoreRequest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052560" y="3236976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9015984" y="3081528"/>
            <a:ext cx="896112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add_request(req)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052560" y="3717036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9052560" y="3561588"/>
            <a:ext cx="82296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schedule()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875520" y="3977640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9393174" y="3822192"/>
            <a:ext cx="1787651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get_computed_blocks / allocate_slots</a:t>
            </a:r>
          </a:p>
        </p:txBody>
      </p:sp>
      <p:cxnSp>
        <p:nvCxnSpPr>
          <p:cNvPr id="85" name="Connector 84"/>
          <p:cNvCxnSpPr/>
          <p:nvPr/>
        </p:nvCxnSpPr>
        <p:spPr>
          <a:xfrm flipH="1">
            <a:off x="9052560" y="4238244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038272" y="4082796"/>
            <a:ext cx="851534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SchedulerOutput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052560" y="4498848"/>
            <a:ext cx="246888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9052559" y="4343400"/>
            <a:ext cx="246888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execute_model(output)</a:t>
            </a:r>
          </a:p>
        </p:txBody>
      </p:sp>
      <p:cxnSp>
        <p:nvCxnSpPr>
          <p:cNvPr id="89" name="Connector 88"/>
          <p:cNvCxnSpPr/>
          <p:nvPr/>
        </p:nvCxnSpPr>
        <p:spPr>
          <a:xfrm flipH="1">
            <a:off x="9052560" y="4759452"/>
            <a:ext cx="246888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9052559" y="4604004"/>
            <a:ext cx="246888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ModelRunnerOutput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9052560" y="5020056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926830" y="4864608"/>
            <a:ext cx="107442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update_from_output()</a:t>
            </a:r>
          </a:p>
        </p:txBody>
      </p:sp>
      <p:cxnSp>
        <p:nvCxnSpPr>
          <p:cNvPr id="93" name="Connector 92"/>
          <p:cNvCxnSpPr/>
          <p:nvPr/>
        </p:nvCxnSpPr>
        <p:spPr>
          <a:xfrm flipH="1">
            <a:off x="8229600" y="5390388"/>
            <a:ext cx="822960" cy="0"/>
          </a:xfrm>
          <a:prstGeom prst="line">
            <a:avLst/>
          </a:prstGeom>
          <a:ln w="11430">
            <a:solidFill>
              <a:srgbClr val="2E75B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8059292" y="5234940"/>
            <a:ext cx="1163574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ZMQ: EngineCoreOutputs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7406640" y="5577840"/>
            <a:ext cx="256031" cy="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7662671" y="5577840"/>
            <a:ext cx="0" cy="164592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H="1">
            <a:off x="7406640" y="5742432"/>
            <a:ext cx="256031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7699248" y="5541264"/>
            <a:ext cx="1645920" cy="182880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process_outputs() / detokenize</a:t>
            </a:r>
          </a:p>
        </p:txBody>
      </p:sp>
      <p:cxnSp>
        <p:nvCxnSpPr>
          <p:cNvPr id="99" name="Connector 98"/>
          <p:cNvCxnSpPr/>
          <p:nvPr/>
        </p:nvCxnSpPr>
        <p:spPr>
          <a:xfrm flipH="1">
            <a:off x="6583680" y="6003036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6457950" y="5847588"/>
            <a:ext cx="107442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stream RequestOutput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DP1 Data Migration 결정 – 선정안(2안) Class /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" y="621792"/>
            <a:ext cx="81381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DP1. Data Migration 결정 (분리 + Lease)  —  선정안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97996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63072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8147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3223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79" y="667512"/>
            <a:ext cx="429768" cy="246888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9728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Class Diagram: DP1. Data Migration 결정 (분리 + Lease)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Sequence Diagram: DP1. Data Migration 결정 (분리 + Lease)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566928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585216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146304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DecisionScheduler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459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1691640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on_event(event)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tick()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7712" y="146304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TrendAnalyzer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16459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67712" y="169164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analyze(snapshot)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9663" y="146304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AffinityMapper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9663" y="16459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69663" y="169164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map(object, state)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0604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TelemetryCollector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7889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283464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collect(): MemoryTelemetry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67712" y="260604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StateSnapshotBuilder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67712" y="27889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267712" y="283464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build(): ResourceSnapshot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9663" y="260604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PolicyEngine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9663" y="27889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69663" y="283464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decide(...): list[Decision]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9663" y="3749039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MigrationCommandQueue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9663" y="39319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69663" y="39776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enqueue / dequeue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67712" y="3749039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MigrationExecutor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67712" y="39319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267712" y="39776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execute(command)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749039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DataObjectRegistry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39319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397763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move(object, tier)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drop_to_replica(obj)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67712" y="489204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TransferHandler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67712" y="50749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267712" y="5120640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transfer_async(job, spec)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get_finished()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9663" y="4892040"/>
            <a:ext cx="1600200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«interface»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MemoryBackend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69663" y="5166359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4169663" y="521207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export_async / import_async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89204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LeaseTimer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0749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65760" y="5120640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arm(object, ttl)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on_expire(): Event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1965960" y="1654149"/>
            <a:ext cx="301752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867912" y="1654149"/>
            <a:ext cx="301751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65860" y="1953158"/>
            <a:ext cx="0" cy="652882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65960" y="2797149"/>
            <a:ext cx="301752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969764" y="1845259"/>
            <a:ext cx="0" cy="760781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969764" y="2988259"/>
            <a:ext cx="0" cy="76078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737963" y="3295497"/>
            <a:ext cx="46360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enqueue</a:t>
            </a:r>
          </a:p>
        </p:txBody>
      </p:sp>
      <p:cxnSp>
        <p:nvCxnSpPr>
          <p:cNvPr id="59" name="Connector 58"/>
          <p:cNvCxnSpPr/>
          <p:nvPr/>
        </p:nvCxnSpPr>
        <p:spPr>
          <a:xfrm flipH="1">
            <a:off x="3867912" y="3940149"/>
            <a:ext cx="301751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1965960" y="3940149"/>
            <a:ext cx="301752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3067812" y="4131259"/>
            <a:ext cx="0" cy="760781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812694" y="4438497"/>
            <a:ext cx="510235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dispatch</a:t>
            </a:r>
          </a:p>
        </p:txBody>
      </p:sp>
      <p:cxnSp>
        <p:nvCxnSpPr>
          <p:cNvPr id="63" name="Connector 62"/>
          <p:cNvCxnSpPr/>
          <p:nvPr/>
        </p:nvCxnSpPr>
        <p:spPr>
          <a:xfrm flipV="1">
            <a:off x="3867912" y="5128869"/>
            <a:ext cx="301751" cy="823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165860" y="4239158"/>
            <a:ext cx="0" cy="652882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1027328" y="4492447"/>
            <a:ext cx="277063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arm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65760" y="6126480"/>
            <a:ext cx="548640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• Lease 만료 Event → DecisionScheduler 재평가 (stale 보정). 근거: 슬라이드 4~5p, doc-mk/DP1/dp1-vllm-uml.md §4b·§4c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0877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Telemetry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Collector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583680" y="1773936"/>
            <a:ext cx="0" cy="431139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703173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Decision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406640" y="1773936"/>
            <a:ext cx="0" cy="431139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785469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Trend→Affinity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→Policy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8229600" y="1773936"/>
            <a:ext cx="0" cy="431139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867765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Command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Queue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9052560" y="1773936"/>
            <a:ext cx="0" cy="431139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950061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Executor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9875520" y="1773936"/>
            <a:ext cx="0" cy="431139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1032357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Memory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Backend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0698480" y="1773936"/>
            <a:ext cx="0" cy="431139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1114653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Registry /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LeaseTimer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1521440" y="1773936"/>
            <a:ext cx="0" cy="431139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9529876" y="4338828"/>
            <a:ext cx="2337206" cy="1330452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9529876" y="4338828"/>
            <a:ext cx="502920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18288" rIns="27432" bIns="18288" rtlCol="0" anchor="ctr"/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alt: 성공 / 실패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6583680" y="2103120"/>
            <a:ext cx="822960" cy="0"/>
          </a:xfrm>
          <a:prstGeom prst="line">
            <a:avLst/>
          </a:prstGeom>
          <a:ln w="11430">
            <a:solidFill>
              <a:srgbClr val="2E75B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6391084" y="1947672"/>
            <a:ext cx="120815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event (usage↑ / access)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406640" y="2290572"/>
            <a:ext cx="256031" cy="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7662671" y="2290572"/>
            <a:ext cx="0" cy="164592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7406640" y="2455164"/>
            <a:ext cx="256031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7699248" y="2253996"/>
            <a:ext cx="1645920" cy="182880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tick (독립 판단 주기)</a:t>
            </a:r>
          </a:p>
        </p:txBody>
      </p:sp>
      <p:cxnSp>
        <p:nvCxnSpPr>
          <p:cNvPr id="89" name="Connector 88"/>
          <p:cNvCxnSpPr/>
          <p:nvPr/>
        </p:nvCxnSpPr>
        <p:spPr>
          <a:xfrm flipH="1">
            <a:off x="6583680" y="2715768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583680" y="2560320"/>
            <a:ext cx="822959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build snapshot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6583680" y="2976372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6547104" y="2820924"/>
            <a:ext cx="896112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ResourceSnapshot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7406640" y="3236976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7236333" y="3081528"/>
            <a:ext cx="1163574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analyze → map → decide</a:t>
            </a:r>
          </a:p>
        </p:txBody>
      </p:sp>
      <p:cxnSp>
        <p:nvCxnSpPr>
          <p:cNvPr id="95" name="Connector 94"/>
          <p:cNvCxnSpPr/>
          <p:nvPr/>
        </p:nvCxnSpPr>
        <p:spPr>
          <a:xfrm flipH="1">
            <a:off x="7406640" y="3497580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7303198" y="3342132"/>
            <a:ext cx="1029843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MigrationDecision[]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406640" y="3758184"/>
            <a:ext cx="1645920" cy="0"/>
          </a:xfrm>
          <a:prstGeom prst="line">
            <a:avLst/>
          </a:prstGeom>
          <a:ln w="11430">
            <a:solidFill>
              <a:srgbClr val="2E75B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7406640" y="3602736"/>
            <a:ext cx="164592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enqueue(decision)</a:t>
            </a:r>
          </a:p>
        </p:txBody>
      </p:sp>
      <p:cxnSp>
        <p:nvCxnSpPr>
          <p:cNvPr id="99" name="Connector 98"/>
          <p:cNvCxnSpPr/>
          <p:nvPr/>
        </p:nvCxnSpPr>
        <p:spPr>
          <a:xfrm flipH="1">
            <a:off x="9052560" y="4018788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9052560" y="3863340"/>
            <a:ext cx="82296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dequeue()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9875520" y="4279392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9616059" y="4123944"/>
            <a:ext cx="1341881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transfer_async(job)  [DMA]</a:t>
            </a:r>
          </a:p>
        </p:txBody>
      </p:sp>
      <p:cxnSp>
        <p:nvCxnSpPr>
          <p:cNvPr id="103" name="Connector 102"/>
          <p:cNvCxnSpPr/>
          <p:nvPr/>
        </p:nvCxnSpPr>
        <p:spPr>
          <a:xfrm flipH="1">
            <a:off x="9875520" y="4759452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9682924" y="4604004"/>
            <a:ext cx="120815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TransferResult(success)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9875520" y="5020056"/>
            <a:ext cx="164592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9875520" y="4864608"/>
            <a:ext cx="164592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move(object, tier) + arm lease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9529876" y="5170932"/>
            <a:ext cx="2337207" cy="0"/>
          </a:xfrm>
          <a:prstGeom prst="line">
            <a:avLst/>
          </a:prstGeom>
          <a:ln w="9525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9557308" y="5170932"/>
            <a:ext cx="146304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실패 / timeout → 대체 경로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9875520" y="5390388"/>
            <a:ext cx="256032" cy="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131552" y="5390388"/>
            <a:ext cx="0" cy="164592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H="1">
            <a:off x="9875520" y="5554980"/>
            <a:ext cx="256032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0168128" y="5353812"/>
            <a:ext cx="1645920" cy="182880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rollback, 재계산 경로</a:t>
            </a:r>
          </a:p>
        </p:txBody>
      </p:sp>
      <p:cxnSp>
        <p:nvCxnSpPr>
          <p:cNvPr id="113" name="Connector 112"/>
          <p:cNvCxnSpPr/>
          <p:nvPr/>
        </p:nvCxnSpPr>
        <p:spPr>
          <a:xfrm flipH="1">
            <a:off x="7406640" y="5925312"/>
            <a:ext cx="4114800" cy="0"/>
          </a:xfrm>
          <a:prstGeom prst="line">
            <a:avLst/>
          </a:prstGeom>
          <a:ln w="11430">
            <a:solidFill>
              <a:srgbClr val="2E75B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7406640" y="5769864"/>
            <a:ext cx="411480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Event(Lease Expired) → 재평가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DP2 연산 실행 위치 결정 – 선정안(2안) Class /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" y="621792"/>
            <a:ext cx="81381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DP2. 연산 실행 위치 결정 (Plan/Decision 분리)  —  선정안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97996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63072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8147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61803" y="667512"/>
            <a:ext cx="429768" cy="246888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95459" y="667512"/>
            <a:ext cx="429768" cy="246888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9728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Class Diagram: DP2. 연산 실행 위치 결정 (Plan/Decision 분리)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Sequence Diagram: DP2. 연산 실행 위치 결정 (Plan/Decision 분리)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566928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585216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9163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planner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plan_validator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53158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schedule(): SchedulerOutput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7712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PlanLookupValidator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16916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max_plan_age = W·t̄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7712" y="1845259"/>
            <a:ext cx="1600200" cy="369417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lookup(request_id)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validate(plan, state)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next_candidate(plan, k)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9663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ExecutionPlanCache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9663" y="16916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entries: dict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9663" y="184525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put(plan)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get(request_id)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ExecutionPlanner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108960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evaluator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publisher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370478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plan(ctx): ExecutionPlan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replan(ctx, state)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9663" y="292608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PlanPublisher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9663" y="310896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69663" y="315468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publish(plan)  // async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67712" y="292608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ExecutionPlan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67712" y="3108960"/>
            <a:ext cx="1600200" cy="369417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prefill_resource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decode_start_resource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candidates (1순위..k)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67712" y="3478377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5760" y="434340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CostEvaluator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52628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model: ExecutionCostModel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67989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evaluate(ctx, cands, snap)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67712" y="434340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ResourceStateMonitor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67712" y="452628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267712" y="457200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snapshot(): RuntimeState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9663" y="434340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ExecutionRouter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9663" y="452628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9663" y="467989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dispatch(plan, output)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fallback(plan)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965960" y="1807768"/>
            <a:ext cx="301752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867912" y="1807768"/>
            <a:ext cx="301751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965960" y="3225088"/>
            <a:ext cx="301752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969764" y="2106777"/>
            <a:ext cx="0" cy="819303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831232" y="2443276"/>
            <a:ext cx="277063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put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165860" y="3631996"/>
            <a:ext cx="0" cy="711404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004011" y="3914546"/>
            <a:ext cx="3236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eval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1965960" y="4534509"/>
            <a:ext cx="301752" cy="5395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645920" y="2214676"/>
            <a:ext cx="941832" cy="711404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908352" y="2497226"/>
            <a:ext cx="416966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replan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067812" y="3524097"/>
            <a:ext cx="1421891" cy="819303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65760" y="5806440"/>
            <a:ext cx="54864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Plan 생성은 critical path 밖(비동기), Validator·Router만 critical path 안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Mismatch 시 Cost 재계산 없이 순위 후보 k를 순차 조회, Load↑ → plan 구간 W↓ k↑ (7p 보완)</a:t>
            </a:r>
          </a:p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• 근거: doc-mk/DP2/vllm-cost-model-...-architecture.md §4, §9.2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08776" y="1463040"/>
            <a:ext cx="749808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EngineCore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583680" y="1773936"/>
            <a:ext cx="0" cy="4809744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703173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Planner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406640" y="1773936"/>
            <a:ext cx="0" cy="4809744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85469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CostEval /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StateMonitor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229600" y="1773936"/>
            <a:ext cx="0" cy="4809744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867765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Cache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052560" y="1773936"/>
            <a:ext cx="0" cy="4809744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950061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875520" y="1773936"/>
            <a:ext cx="0" cy="4809744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032357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PlanLookup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Validator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698480" y="1773936"/>
            <a:ext cx="0" cy="4809744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1114653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Router→Worker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1521440" y="1773936"/>
            <a:ext cx="0" cy="4809744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6238036" y="1901952"/>
            <a:ext cx="3160166" cy="1316736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238036" y="1901952"/>
            <a:ext cx="502920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18288" rIns="27432" bIns="18288" rtlCol="0" anchor="ctr"/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async: plan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38036" y="3273552"/>
            <a:ext cx="5629046" cy="3154680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238036" y="3273552"/>
            <a:ext cx="502920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18288" rIns="27432" bIns="18288" rtlCol="0" anchor="ctr"/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critical path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583680" y="2322576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457950" y="2167128"/>
            <a:ext cx="107442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plan(ctx)  [waiting]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7406640" y="2583180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7214044" y="2427732"/>
            <a:ext cx="120815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snapshot() + estimate()</a:t>
            </a:r>
          </a:p>
        </p:txBody>
      </p:sp>
      <p:cxnSp>
        <p:nvCxnSpPr>
          <p:cNvPr id="77" name="Connector 76"/>
          <p:cNvCxnSpPr/>
          <p:nvPr/>
        </p:nvCxnSpPr>
        <p:spPr>
          <a:xfrm flipH="1">
            <a:off x="7406640" y="2843784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370064" y="2688336"/>
            <a:ext cx="896112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CostEstimate × k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7406640" y="3104388"/>
            <a:ext cx="1645920" cy="0"/>
          </a:xfrm>
          <a:prstGeom prst="line">
            <a:avLst/>
          </a:prstGeom>
          <a:ln w="11430">
            <a:solidFill>
              <a:srgbClr val="2E75B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406640" y="2948940"/>
            <a:ext cx="164592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publish(ranked plan)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6583680" y="3694176"/>
            <a:ext cx="329184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583679" y="3538728"/>
            <a:ext cx="329184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schedule()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875520" y="3954780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9526905" y="3799332"/>
            <a:ext cx="1520189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lookup + validate(plan, state)</a:t>
            </a:r>
          </a:p>
        </p:txBody>
      </p:sp>
      <p:cxnSp>
        <p:nvCxnSpPr>
          <p:cNvPr id="85" name="Connector 84"/>
          <p:cNvCxnSpPr/>
          <p:nvPr/>
        </p:nvCxnSpPr>
        <p:spPr>
          <a:xfrm flipH="1">
            <a:off x="9052560" y="4215384"/>
            <a:ext cx="164592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9052560" y="4059936"/>
            <a:ext cx="1645919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get(request_id)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052560" y="4475988"/>
            <a:ext cx="164592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9052560" y="4320540"/>
            <a:ext cx="1645919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ExecutionPlan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238036" y="4626864"/>
            <a:ext cx="5629047" cy="0"/>
          </a:xfrm>
          <a:prstGeom prst="line">
            <a:avLst/>
          </a:prstGeom>
          <a:ln w="9525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265468" y="4626864"/>
            <a:ext cx="146304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alt match / mismatch</a:t>
            </a:r>
          </a:p>
        </p:txBody>
      </p:sp>
      <p:cxnSp>
        <p:nvCxnSpPr>
          <p:cNvPr id="91" name="Connector 90"/>
          <p:cNvCxnSpPr/>
          <p:nvPr/>
        </p:nvCxnSpPr>
        <p:spPr>
          <a:xfrm flipH="1">
            <a:off x="9875520" y="4919472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9838944" y="4764024"/>
            <a:ext cx="896112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match → 1순위 plan</a:t>
            </a:r>
          </a:p>
        </p:txBody>
      </p:sp>
      <p:cxnSp>
        <p:nvCxnSpPr>
          <p:cNvPr id="93" name="Connector 92"/>
          <p:cNvCxnSpPr/>
          <p:nvPr/>
        </p:nvCxnSpPr>
        <p:spPr>
          <a:xfrm flipH="1">
            <a:off x="10442448" y="5106924"/>
            <a:ext cx="256032" cy="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442448" y="5106924"/>
            <a:ext cx="0" cy="164592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10442448" y="5271516"/>
            <a:ext cx="256032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8759951" y="5070348"/>
            <a:ext cx="1645920" cy="182880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mismatch → next_candidate(k)</a:t>
            </a:r>
          </a:p>
        </p:txBody>
      </p:sp>
      <p:cxnSp>
        <p:nvCxnSpPr>
          <p:cNvPr id="97" name="Connector 96"/>
          <p:cNvCxnSpPr/>
          <p:nvPr/>
        </p:nvCxnSpPr>
        <p:spPr>
          <a:xfrm flipH="1">
            <a:off x="7406640" y="5532120"/>
            <a:ext cx="2468880" cy="0"/>
          </a:xfrm>
          <a:prstGeom prst="line">
            <a:avLst/>
          </a:prstGeom>
          <a:ln w="11430">
            <a:solidFill>
              <a:srgbClr val="2E75B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7406639" y="5376672"/>
            <a:ext cx="246888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async replan (k 소진 시)</a:t>
            </a:r>
          </a:p>
        </p:txBody>
      </p:sp>
      <p:cxnSp>
        <p:nvCxnSpPr>
          <p:cNvPr id="99" name="Connector 98"/>
          <p:cNvCxnSpPr/>
          <p:nvPr/>
        </p:nvCxnSpPr>
        <p:spPr>
          <a:xfrm flipH="1">
            <a:off x="6583680" y="5792724"/>
            <a:ext cx="329184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6583679" y="5637276"/>
            <a:ext cx="329184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SchedulerOutput + plan</a:t>
            </a:r>
          </a:p>
        </p:txBody>
      </p:sp>
      <p:cxnSp>
        <p:nvCxnSpPr>
          <p:cNvPr id="101" name="Connector 100"/>
          <p:cNvCxnSpPr/>
          <p:nvPr/>
        </p:nvCxnSpPr>
        <p:spPr>
          <a:xfrm>
            <a:off x="6583680" y="6053328"/>
            <a:ext cx="49377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583679" y="5897880"/>
            <a:ext cx="493776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dispatch(plan)</a:t>
            </a:r>
          </a:p>
        </p:txBody>
      </p:sp>
      <p:cxnSp>
        <p:nvCxnSpPr>
          <p:cNvPr id="103" name="Connector 102"/>
          <p:cNvCxnSpPr/>
          <p:nvPr/>
        </p:nvCxnSpPr>
        <p:spPr>
          <a:xfrm flipH="1">
            <a:off x="6583680" y="6313932"/>
            <a:ext cx="49377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6583679" y="6158484"/>
            <a:ext cx="493776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ModelRunnerOutput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DP3 KV 캐시 재사용 – 선정안(2안) Class /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" y="621792"/>
            <a:ext cx="81381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DP3. KV 캐시 재사용 (Repository + Base/Delta)  —  선정안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97996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63072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8147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30383" y="667512"/>
            <a:ext cx="361188" cy="246888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39" y="667512"/>
            <a:ext cx="429768" cy="246888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9728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Class Diagram: DP3. KV 캐시 재사용 (Repository + Base/Delta)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Sequence Diagram: DP3. KV 캐시 재사용 (Repository + Base/Delta)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566928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585216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OfflineAnalyzer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916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sampler, attention, selector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4525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analyze(workload): ReusePlan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7712" y="1508760"/>
            <a:ext cx="1600200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«repository»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PlanStore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1783080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plans: dict[context_id]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context_kv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7712" y="2044598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write(plan)  // 1회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read(context_id)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9663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Validator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9663" y="1691639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69663" y="1737360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validate(plan, result)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update(plan)  // stale 보완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2608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10896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admission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26257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schedule(): SchedulerOutput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67712" y="292608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PlanAwareAdmissionController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67712" y="310896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hbm_budget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67712" y="326257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required_hbm(plan)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admit(request): bool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9663" y="292608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KVLayoutManager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9663" y="3108960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base_refcount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delta per request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9663" y="3370478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share_base(context_id)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allocate_delta(req, ρ)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34340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SelectiveRecomputer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526280"/>
            <a:ext cx="160020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4572000"/>
            <a:ext cx="1600200" cy="15361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recompute(tokens, base+delta)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67712" y="434340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KVCacheManager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67712" y="4526280"/>
            <a:ext cx="1600200" cy="15361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block_pool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67712" y="4679899"/>
            <a:ext cx="1600200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allocate_slots(...)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free(request)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9663" y="434340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BlockPool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9663" y="4526280"/>
            <a:ext cx="1600200" cy="15361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ref_cnt per block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69663" y="4679899"/>
            <a:ext cx="1600200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get_new_blocks(n)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free_blocks(...)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965960" y="1753819"/>
            <a:ext cx="301752" cy="15361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867912" y="1753819"/>
            <a:ext cx="301751" cy="153619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965960" y="3171139"/>
            <a:ext cx="301752" cy="5394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867912" y="3225088"/>
            <a:ext cx="301751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067812" y="2306116"/>
            <a:ext cx="0" cy="619964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05963" y="2542946"/>
            <a:ext cx="3236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plan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3547872" y="3631996"/>
            <a:ext cx="941831" cy="711404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833622" y="3914546"/>
            <a:ext cx="370332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alloc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867912" y="4642408"/>
            <a:ext cx="301751" cy="0"/>
          </a:xfrm>
          <a:prstGeom prst="line">
            <a:avLst/>
          </a:prstGeom>
          <a:ln w="11430">
            <a:solidFill>
              <a:srgbClr val="595959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65860" y="3416198"/>
            <a:ext cx="0" cy="927202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27328" y="3806647"/>
            <a:ext cx="277063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run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" y="5806440"/>
            <a:ext cx="54864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사전: 대표 Query로 재사용/재계산 위치를 PlanStore에 1회 기록. 서빙: PlanStore 조회 1회 + Base 공유(refcount) + Delta만 할당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HBM = (1−ρ)·L + N·ρ·L vs N·L  (N=3, ρ=0.15 가정 시 3.0L → 1.3L) — 가정 예시, 실측 아님</a:t>
            </a:r>
          </a:p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• 근거: 슬라이드 8~9p, doc-mk/DP3/dp3-kv-compression-reuse-structure-draft.md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0877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Offline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Analyzer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583680" y="1773936"/>
            <a:ext cx="0" cy="419709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703173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PlanStore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406640" y="1773936"/>
            <a:ext cx="0" cy="419709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785469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229600" y="1773936"/>
            <a:ext cx="0" cy="419709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867765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Admission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Controller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052560" y="1773936"/>
            <a:ext cx="0" cy="419709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950061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KVLayout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Manager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9875520" y="1773936"/>
            <a:ext cx="0" cy="419709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0323576" y="1463040"/>
            <a:ext cx="749808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Recomputer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698480" y="1773936"/>
            <a:ext cx="0" cy="419709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1114653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Validator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1521440" y="1773936"/>
            <a:ext cx="0" cy="419709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6238036" y="1901952"/>
            <a:ext cx="1514246" cy="886967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6238036" y="1901952"/>
            <a:ext cx="1005840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18288" rIns="27432" bIns="18288" rtlCol="0" anchor="ctr"/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사전 (offline, 1회)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060996" y="2843784"/>
            <a:ext cx="4806086" cy="2971800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060996" y="2843784"/>
            <a:ext cx="502920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18288" rIns="27432" bIns="18288" rtlCol="0" anchor="ctr"/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서빙 (요청마다)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583680" y="2249424"/>
            <a:ext cx="256032" cy="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839712" y="2249424"/>
            <a:ext cx="0" cy="164591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6583680" y="2414015"/>
            <a:ext cx="256032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876288" y="2212848"/>
            <a:ext cx="1645920" cy="182880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대표 Query → 재계산 위치 선정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583680" y="2674620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583680" y="2519172"/>
            <a:ext cx="822959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write(plan)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7406640" y="3264408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370064" y="3108960"/>
            <a:ext cx="896112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read(context_id)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7406640" y="3525012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7406640" y="3369564"/>
            <a:ext cx="82296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ReusePlan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8229600" y="3785616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8103869" y="3630168"/>
            <a:ext cx="107442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admit(request, plan)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9052560" y="3973068"/>
            <a:ext cx="256032" cy="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308592" y="3973068"/>
            <a:ext cx="0" cy="164592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9052560" y="4137660"/>
            <a:ext cx="256032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9345168" y="3936492"/>
            <a:ext cx="1645920" cy="182880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required_hbm(plan)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052560" y="4398264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770810" y="4242816"/>
            <a:ext cx="1386459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share_base / allocate_delta</a:t>
            </a:r>
          </a:p>
        </p:txBody>
      </p:sp>
      <p:cxnSp>
        <p:nvCxnSpPr>
          <p:cNvPr id="91" name="Connector 90"/>
          <p:cNvCxnSpPr/>
          <p:nvPr/>
        </p:nvCxnSpPr>
        <p:spPr>
          <a:xfrm flipH="1">
            <a:off x="9052560" y="4658868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8748522" y="4503420"/>
            <a:ext cx="1431036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Base refcount↑, Delta blocks</a:t>
            </a:r>
          </a:p>
        </p:txBody>
      </p:sp>
      <p:cxnSp>
        <p:nvCxnSpPr>
          <p:cNvPr id="93" name="Connector 92"/>
          <p:cNvCxnSpPr/>
          <p:nvPr/>
        </p:nvCxnSpPr>
        <p:spPr>
          <a:xfrm flipH="1">
            <a:off x="8229600" y="4919472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8229600" y="4764024"/>
            <a:ext cx="82296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admit / defer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8229600" y="5180076"/>
            <a:ext cx="246888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8229600" y="5024628"/>
            <a:ext cx="2468879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recompute(plan tokens)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10698480" y="5440680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10528173" y="5285232"/>
            <a:ext cx="1163574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validate(plan, result)</a:t>
            </a:r>
          </a:p>
        </p:txBody>
      </p:sp>
      <p:cxnSp>
        <p:nvCxnSpPr>
          <p:cNvPr id="99" name="Connector 98"/>
          <p:cNvCxnSpPr/>
          <p:nvPr/>
        </p:nvCxnSpPr>
        <p:spPr>
          <a:xfrm flipH="1">
            <a:off x="7406640" y="5701284"/>
            <a:ext cx="4114800" cy="0"/>
          </a:xfrm>
          <a:prstGeom prst="line">
            <a:avLst/>
          </a:prstGeom>
          <a:ln w="11430">
            <a:solidFill>
              <a:srgbClr val="2E75B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7406640" y="5545836"/>
            <a:ext cx="411480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update(plan)  // stale 보완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DP4 서버 간 KV 캐시 공유 – 선정안(1안) Class /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" y="621792"/>
            <a:ext cx="8138160" cy="32918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DP4. 서버 간 KV 캐시 공유 (Sharding)  —  선정안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97996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63072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8147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3223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79" y="667512"/>
            <a:ext cx="429768" cy="246888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18288" rIns="0" bIns="18288" rtlCol="0" anchor="ctr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9728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Class Diagram: DP4. 서버 간 KV 캐시 공유 (Sharding)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Sequence Diagram: DP4. 서버 간 KV 캐시 공유 (Sharding)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566928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585216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MigrationExecutor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916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client: MetadataClient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4525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execute(command)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7712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MetadataClient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169163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server_addr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slot: request/response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7712" y="1953158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request(op, key): Response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캐시 우회, polling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926080"/>
            <a:ext cx="1600200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«store»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CxlSharedPool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20040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kv_data (non-coherent)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5401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read(addr, n)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write(addr, 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67712" y="292608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ShardRouter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67712" y="310896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67712" y="326257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route(object_id): ShardWorker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hash(Data Object ID)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67712" y="434340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ShardWorker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67712" y="452628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shard: MetadataShard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67712" y="467989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lookup / insert / evict(key)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9663" y="434340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MetadataShard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9663" y="4526280"/>
            <a:ext cx="1600200" cy="369417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hash_table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allocator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lru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9663" y="4895697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 / put / free(key)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9663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FallbackPolicy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9663" y="16916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timeout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9663" y="184525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18288" rIns="36576" bIns="18288" rtlCol="0" anchor="t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on_failure(request): recompute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65960" y="1753819"/>
            <a:ext cx="301752" cy="10789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3867912" y="1753819"/>
            <a:ext cx="301751" cy="107899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067812" y="2214676"/>
            <a:ext cx="0" cy="711404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929280" y="2497226"/>
            <a:ext cx="277063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RPC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067812" y="3524097"/>
            <a:ext cx="0" cy="819303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905963" y="3860596"/>
            <a:ext cx="3236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hash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867912" y="4588459"/>
            <a:ext cx="301751" cy="107899"/>
          </a:xfrm>
          <a:prstGeom prst="line">
            <a:avLst/>
          </a:prstGeom>
          <a:ln w="11430">
            <a:solidFill>
              <a:srgbClr val="595959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65860" y="1998878"/>
            <a:ext cx="0" cy="927202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04011" y="2389327"/>
            <a:ext cx="323697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5806440"/>
            <a:ext cx="54864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메타데이터는 hash(Data Object ID)로 Shard Worker에 분산, 데이터는 CXL 공유 풀에 직접 read/write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실패·timeout 시 재계산으로 대체(QA-07). 서버 간 대역폭 상한은 PCIe 64GB/s(GC-9)</a:t>
            </a:r>
          </a:p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• 근거: 슬라이드 10~11p, doc-mk/DP6/dp4-inter-node-kv-sharing-structure-draft.md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08776" y="1463040"/>
            <a:ext cx="88696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 노드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Executor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652260" y="1773936"/>
            <a:ext cx="0" cy="437997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168895" y="1463040"/>
            <a:ext cx="88696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Metadata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Client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612379" y="1773936"/>
            <a:ext cx="0" cy="437997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129016" y="1463040"/>
            <a:ext cx="88696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Router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572500" y="1773936"/>
            <a:ext cx="0" cy="437997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9089136" y="1463040"/>
            <a:ext cx="88696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Shard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Worker k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532620" y="1773936"/>
            <a:ext cx="0" cy="437997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10049256" y="1463040"/>
            <a:ext cx="886968" cy="310896"/>
          </a:xfrm>
          <a:prstGeom prst="rect">
            <a:avLst/>
          </a:prstGeom>
          <a:solidFill>
            <a:srgbClr val="DEEBF7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CXL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공유 풀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492740" y="1773936"/>
            <a:ext cx="0" cy="437997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11009376" y="1463040"/>
            <a:ext cx="88696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 노드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Executor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1452860" y="1773936"/>
            <a:ext cx="0" cy="4379976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6249009" y="1901952"/>
            <a:ext cx="4646980" cy="2189988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249009" y="1901952"/>
            <a:ext cx="502920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18288" rIns="27432" bIns="18288" rtlCol="0" anchor="ctr"/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put (P 노드)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169249" y="4146804"/>
            <a:ext cx="3686860" cy="1851660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169249" y="4146804"/>
            <a:ext cx="502920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7432" tIns="18288" rIns="27432" bIns="18288" rtlCol="0" anchor="ctr"/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 (D 노드)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652260" y="2322576"/>
            <a:ext cx="960119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595109" y="2167128"/>
            <a:ext cx="107442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put(block_key, size)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7612379" y="2583180"/>
            <a:ext cx="960121" cy="0"/>
          </a:xfrm>
          <a:prstGeom prst="line">
            <a:avLst/>
          </a:prstGeom>
          <a:ln w="11430">
            <a:solidFill>
              <a:srgbClr val="2E75B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354633" y="2427732"/>
            <a:ext cx="1475612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RPC: alloc(key)  [slot write]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572500" y="2843784"/>
            <a:ext cx="96012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515350" y="2688336"/>
            <a:ext cx="107442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hash(key) → worker k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532620" y="3031236"/>
            <a:ext cx="256032" cy="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788652" y="3031236"/>
            <a:ext cx="0" cy="164592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9532620" y="3195828"/>
            <a:ext cx="256032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825228" y="2994660"/>
            <a:ext cx="1645920" cy="182880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allocate + LRU/metadata 갱신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7612379" y="3456432"/>
            <a:ext cx="1920241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612379" y="3300984"/>
            <a:ext cx="192024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addr, version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652260" y="3717036"/>
            <a:ext cx="384048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652259" y="3561588"/>
            <a:ext cx="384048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write KV data (캐시 우회)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7612379" y="3977640"/>
            <a:ext cx="1920241" cy="0"/>
          </a:xfrm>
          <a:prstGeom prst="line">
            <a:avLst/>
          </a:prstGeom>
          <a:ln w="11430">
            <a:solidFill>
              <a:srgbClr val="2E75B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7612379" y="3822192"/>
            <a:ext cx="192024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commit(key)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8572500" y="4567428"/>
            <a:ext cx="28803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8572500" y="4411980"/>
            <a:ext cx="288036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lookup(key)  [Client Library]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8572500" y="4828032"/>
            <a:ext cx="96012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8572500" y="4672584"/>
            <a:ext cx="96012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route(hash)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532620" y="5088636"/>
            <a:ext cx="192024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9532620" y="4933188"/>
            <a:ext cx="1920239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addr, version</a:t>
            </a:r>
          </a:p>
        </p:txBody>
      </p:sp>
      <p:cxnSp>
        <p:nvCxnSpPr>
          <p:cNvPr id="85" name="Connector 84"/>
          <p:cNvCxnSpPr/>
          <p:nvPr/>
        </p:nvCxnSpPr>
        <p:spPr>
          <a:xfrm flipH="1">
            <a:off x="10492740" y="5349240"/>
            <a:ext cx="96012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0435590" y="5193792"/>
            <a:ext cx="1074420" cy="155448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read KV data (캐시 우회)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8169249" y="5500116"/>
            <a:ext cx="3686861" cy="0"/>
          </a:xfrm>
          <a:prstGeom prst="line">
            <a:avLst/>
          </a:prstGeom>
          <a:ln w="9525">
            <a:solidFill>
              <a:srgbClr val="59595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196681" y="5500116"/>
            <a:ext cx="1463040" cy="146304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timeout / 실패 (QA-07)</a:t>
            </a:r>
          </a:p>
        </p:txBody>
      </p:sp>
      <p:cxnSp>
        <p:nvCxnSpPr>
          <p:cNvPr id="89" name="Connector 88"/>
          <p:cNvCxnSpPr/>
          <p:nvPr/>
        </p:nvCxnSpPr>
        <p:spPr>
          <a:xfrm flipH="1">
            <a:off x="11196828" y="5719572"/>
            <a:ext cx="256032" cy="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1196828" y="5719572"/>
            <a:ext cx="0" cy="164592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1196828" y="5884164"/>
            <a:ext cx="256032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9514332" y="5682996"/>
            <a:ext cx="1645920" cy="182880"/>
          </a:xfrm>
          <a:prstGeom prst="rect">
            <a:avLst/>
          </a:prstGeom>
          <a:noFill/>
        </p:spPr>
        <p:txBody>
          <a:bodyPr wrap="none" lIns="0" tIns="18288" rIns="0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재계산 fallback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직사각형 122"/>
          <p:cNvSpPr/>
          <p:nvPr/>
        </p:nvSpPr>
        <p:spPr>
          <a:xfrm>
            <a:off x="183590" y="1255491"/>
            <a:ext cx="11795050" cy="55415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/>
          <p:cNvGrpSpPr/>
          <p:nvPr/>
        </p:nvGrpSpPr>
        <p:grpSpPr>
          <a:xfrm>
            <a:off x="5850067" y="102872"/>
            <a:ext cx="6221469" cy="201686"/>
            <a:chOff x="3253771" y="153288"/>
            <a:chExt cx="5655881" cy="166683"/>
          </a:xfrm>
        </p:grpSpPr>
        <p:sp>
          <p:nvSpPr>
            <p:cNvPr id="21" name="자유형 20"/>
            <p:cNvSpPr/>
            <p:nvPr/>
          </p:nvSpPr>
          <p:spPr>
            <a:xfrm>
              <a:off x="3253771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>
                  <a:solidFill>
                    <a:schemeClr val="tx1"/>
                  </a:solidFill>
                </a:rPr>
                <a:t>과제 개요</a:t>
              </a:r>
            </a:p>
          </p:txBody>
        </p:sp>
        <p:sp>
          <p:nvSpPr>
            <p:cNvPr id="22" name="자유형 21"/>
            <p:cNvSpPr/>
            <p:nvPr/>
          </p:nvSpPr>
          <p:spPr>
            <a:xfrm>
              <a:off x="4196418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3" name="자유형 22"/>
            <p:cNvSpPr/>
            <p:nvPr/>
          </p:nvSpPr>
          <p:spPr>
            <a:xfrm>
              <a:off x="4453504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요구사항</a:t>
              </a:r>
            </a:p>
          </p:txBody>
        </p:sp>
        <p:sp>
          <p:nvSpPr>
            <p:cNvPr id="24" name="자유형 23"/>
            <p:cNvSpPr/>
            <p:nvPr/>
          </p:nvSpPr>
          <p:spPr>
            <a:xfrm>
              <a:off x="5396151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5" name="자유형 24"/>
            <p:cNvSpPr/>
            <p:nvPr/>
          </p:nvSpPr>
          <p:spPr>
            <a:xfrm>
              <a:off x="5653236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b="1" dirty="0"/>
                <a:t>설계</a:t>
              </a:r>
            </a:p>
          </p:txBody>
        </p:sp>
        <p:sp>
          <p:nvSpPr>
            <p:cNvPr id="26" name="자유형 25"/>
            <p:cNvSpPr/>
            <p:nvPr/>
          </p:nvSpPr>
          <p:spPr>
            <a:xfrm>
              <a:off x="6595883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7" name="자유형 26"/>
            <p:cNvSpPr/>
            <p:nvPr/>
          </p:nvSpPr>
          <p:spPr>
            <a:xfrm>
              <a:off x="6852969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검증</a:t>
              </a:r>
            </a:p>
          </p:txBody>
        </p:sp>
        <p:sp>
          <p:nvSpPr>
            <p:cNvPr id="28" name="자유형 27"/>
            <p:cNvSpPr/>
            <p:nvPr/>
          </p:nvSpPr>
          <p:spPr>
            <a:xfrm>
              <a:off x="7795616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9" name="자유형 28"/>
            <p:cNvSpPr/>
            <p:nvPr/>
          </p:nvSpPr>
          <p:spPr>
            <a:xfrm>
              <a:off x="8052701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결론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201714" y="175494"/>
            <a:ext cx="50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최종 구조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</a:rPr>
              <a:t>설계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1348073" y="1313319"/>
            <a:ext cx="9319927" cy="5415915"/>
            <a:chOff x="1294733" y="1016139"/>
            <a:chExt cx="9957522" cy="5786429"/>
          </a:xfrm>
        </p:grpSpPr>
        <p:sp>
          <p:nvSpPr>
            <p:cNvPr id="15" name="직사각형 14"/>
            <p:cNvSpPr/>
            <p:nvPr/>
          </p:nvSpPr>
          <p:spPr>
            <a:xfrm>
              <a:off x="1400274" y="1280772"/>
              <a:ext cx="5227704" cy="235595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401779" y="1131412"/>
              <a:ext cx="532578" cy="1490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1400274" y="4007492"/>
              <a:ext cx="5227704" cy="27146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97451" y="1319429"/>
              <a:ext cx="884080" cy="2301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latinLnBrk="1"/>
              <a:r>
                <a:rPr lang="en-US" altLang="ko-KR" sz="800" b="1" dirty="0">
                  <a:solidFill>
                    <a:prstClr val="black"/>
                  </a:solidFill>
                  <a:latin typeface="맑은 고딕" panose="020F0502020204030204"/>
                </a:rPr>
                <a:t>NN Compiler</a:t>
              </a:r>
              <a:endParaRPr lang="ko-KR" altLang="en-US" sz="8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397451" y="4021301"/>
              <a:ext cx="851538" cy="2301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latinLnBrk="1"/>
              <a:r>
                <a:rPr lang="en-US" altLang="ko-KR" sz="800" b="1" dirty="0">
                  <a:solidFill>
                    <a:prstClr val="black"/>
                  </a:solidFill>
                  <a:latin typeface="맑은 고딕" panose="020F0502020204030204"/>
                </a:rPr>
                <a:t>NN Runtime</a:t>
              </a:r>
              <a:endParaRPr lang="ko-KR" altLang="en-US" sz="8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554376" y="1637262"/>
              <a:ext cx="853491" cy="32053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User interface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401779" y="3858396"/>
              <a:ext cx="532578" cy="14909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2732998" y="1504364"/>
              <a:ext cx="3716645" cy="4591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2732998" y="1435211"/>
              <a:ext cx="218254" cy="6915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71100" y="1639713"/>
              <a:ext cx="651157" cy="2137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Front-end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741211" y="1604860"/>
              <a:ext cx="725559" cy="29617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Model parser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4556090" y="1604859"/>
              <a:ext cx="725558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Model convertor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450470" y="1604859"/>
              <a:ext cx="725558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Backward generator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732998" y="2112653"/>
              <a:ext cx="3716645" cy="80928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2732997" y="2043499"/>
              <a:ext cx="218254" cy="6915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834277" y="2240159"/>
              <a:ext cx="724802" cy="2137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Middle-end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741211" y="2213148"/>
              <a:ext cx="725559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Graph dialect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4551573" y="2213148"/>
              <a:ext cx="768796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Memory dialect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5450470" y="2213147"/>
              <a:ext cx="725558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Transform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2732997" y="3057657"/>
              <a:ext cx="3716645" cy="4591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2732996" y="2988503"/>
              <a:ext cx="218254" cy="6915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886511" y="3185327"/>
              <a:ext cx="620329" cy="2137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Back-end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3660354" y="3158152"/>
              <a:ext cx="806415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Target</a:t>
              </a:r>
              <a:r>
                <a:rPr kumimoji="0" lang="en-US" altLang="ko-KR" sz="700" b="0" i="0" u="none" strike="noStrike" kern="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binary generator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505608" y="3158152"/>
              <a:ext cx="902052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Runtime binary generator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5450470" y="3158150"/>
              <a:ext cx="725558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Binary exporter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1557130" y="2142316"/>
              <a:ext cx="853491" cy="32053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Cmd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-line parser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2732998" y="4229363"/>
              <a:ext cx="3716645" cy="45919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2732998" y="4160208"/>
              <a:ext cx="218254" cy="6915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896791" y="4370508"/>
              <a:ext cx="599777" cy="2137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Interface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741211" y="4329858"/>
              <a:ext cx="725559" cy="29617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</a:rPr>
                <a:t>User</a:t>
              </a:r>
              <a:r>
                <a:rPr lang="ko-KR" altLang="en-US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APIs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552818" y="4329857"/>
              <a:ext cx="725559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Binary parser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5364423" y="4329856"/>
              <a:ext cx="725559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NN builder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2732998" y="5492388"/>
              <a:ext cx="3716645" cy="45919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2732997" y="5423235"/>
              <a:ext cx="218254" cy="6915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874525" y="5634305"/>
              <a:ext cx="644306" cy="2137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Scheduler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3572702" y="5592884"/>
              <a:ext cx="633271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Resource allocator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4271432" y="5592883"/>
              <a:ext cx="676509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Scheduler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5013400" y="5592882"/>
              <a:ext cx="673764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Executor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2732997" y="6100677"/>
              <a:ext cx="3716645" cy="45919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2732996" y="6031524"/>
              <a:ext cx="218254" cy="6915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845409" y="6238051"/>
              <a:ext cx="702536" cy="2137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User driver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3741210" y="6201171"/>
              <a:ext cx="725559" cy="29617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GPU driver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4552817" y="6201171"/>
              <a:ext cx="768796" cy="29617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NPU driver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5407660" y="6201171"/>
              <a:ext cx="725559" cy="29617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PIM driver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1545245" y="4360036"/>
              <a:ext cx="828093" cy="32053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Debugger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1547999" y="4865091"/>
              <a:ext cx="828093" cy="32053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Profiler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9" name="직선 화살표 연결선 128"/>
            <p:cNvCxnSpPr>
              <a:stCxn id="15" idx="2"/>
              <a:endCxn id="17" idx="0"/>
            </p:cNvCxnSpPr>
            <p:nvPr/>
          </p:nvCxnSpPr>
          <p:spPr>
            <a:xfrm>
              <a:off x="4014126" y="3636729"/>
              <a:ext cx="0" cy="370763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0" name="TextBox 129"/>
            <p:cNvSpPr txBox="1"/>
            <p:nvPr/>
          </p:nvSpPr>
          <p:spPr>
            <a:xfrm>
              <a:off x="4014126" y="3700938"/>
              <a:ext cx="152405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&lt;&lt;executable binary&gt;&gt;</a:t>
              </a:r>
              <a:endParaRPr lang="ko-KR" altLang="en-US" sz="900" dirty="0"/>
            </a:p>
          </p:txBody>
        </p:sp>
        <p:sp>
          <p:nvSpPr>
            <p:cNvPr id="170" name="모서리가 둥근 직사각형 169"/>
            <p:cNvSpPr/>
            <p:nvPr/>
          </p:nvSpPr>
          <p:spPr>
            <a:xfrm>
              <a:off x="7648271" y="4806265"/>
              <a:ext cx="2836993" cy="7127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171" name="그룹 170"/>
            <p:cNvGrpSpPr/>
            <p:nvPr/>
          </p:nvGrpSpPr>
          <p:grpSpPr>
            <a:xfrm>
              <a:off x="8334687" y="4856004"/>
              <a:ext cx="847753" cy="270769"/>
              <a:chOff x="2111193" y="2886144"/>
              <a:chExt cx="721426" cy="377318"/>
            </a:xfrm>
          </p:grpSpPr>
          <p:sp>
            <p:nvSpPr>
              <p:cNvPr id="172" name="직사각형 171"/>
              <p:cNvSpPr/>
              <p:nvPr/>
            </p:nvSpPr>
            <p:spPr>
              <a:xfrm>
                <a:off x="2111193" y="2989088"/>
                <a:ext cx="721426" cy="27437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7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F0502020204030204"/>
                    <a:ea typeface="맑은 고딕" panose="020B0503020000020004" pitchFamily="50" charset="-127"/>
                  </a:rPr>
                  <a:t>추가</a:t>
                </a:r>
                <a:r>
                  <a:rPr lang="en-US" altLang="ko-KR" sz="7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F0502020204030204"/>
                    <a:ea typeface="맑은 고딕" panose="020B0503020000020004" pitchFamily="50" charset="-127"/>
                  </a:rPr>
                  <a:t>Package</a:t>
                </a:r>
                <a:endPara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3" name="직사각형 172"/>
              <p:cNvSpPr/>
              <p:nvPr/>
            </p:nvSpPr>
            <p:spPr>
              <a:xfrm>
                <a:off x="2111193" y="2886144"/>
                <a:ext cx="259674" cy="10265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74" name="직사각형 173"/>
            <p:cNvSpPr/>
            <p:nvPr/>
          </p:nvSpPr>
          <p:spPr>
            <a:xfrm>
              <a:off x="8332768" y="5216167"/>
              <a:ext cx="847754" cy="1968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F0502020204030204"/>
                  <a:ea typeface="맑은 고딕" panose="020B0503020000020004" pitchFamily="50" charset="-127"/>
                </a:rPr>
                <a:t>추가 </a:t>
              </a:r>
              <a:r>
                <a:rPr lang="en-US" altLang="ko-KR" sz="7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F0502020204030204"/>
                  <a:ea typeface="맑은 고딕" panose="020B0503020000020004" pitchFamily="50" charset="-127"/>
                </a:rPr>
                <a:t>Module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7619210" y="5012756"/>
              <a:ext cx="723088" cy="2712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Legends:</a:t>
              </a:r>
              <a:endPara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9" name="직사각형 178"/>
            <p:cNvSpPr/>
            <p:nvPr/>
          </p:nvSpPr>
          <p:spPr>
            <a:xfrm>
              <a:off x="3741211" y="2570541"/>
              <a:ext cx="725559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Schedule dialect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0" name="직사각형 179"/>
            <p:cNvSpPr/>
            <p:nvPr/>
          </p:nvSpPr>
          <p:spPr>
            <a:xfrm>
              <a:off x="5450470" y="2566913"/>
              <a:ext cx="725558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Optimizer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1" name="직사각형 180"/>
            <p:cNvSpPr/>
            <p:nvPr/>
          </p:nvSpPr>
          <p:spPr>
            <a:xfrm>
              <a:off x="4551573" y="2571904"/>
              <a:ext cx="768796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Target dialect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2" name="직사각형 181"/>
            <p:cNvSpPr/>
            <p:nvPr/>
          </p:nvSpPr>
          <p:spPr>
            <a:xfrm>
              <a:off x="1566370" y="2626028"/>
              <a:ext cx="893012" cy="89082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3" name="직사각형 182"/>
            <p:cNvSpPr/>
            <p:nvPr/>
          </p:nvSpPr>
          <p:spPr>
            <a:xfrm>
              <a:off x="1566368" y="2556874"/>
              <a:ext cx="218254" cy="6915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617354" y="2811914"/>
              <a:ext cx="802427" cy="18448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HW extractor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4" name="직사각형 183"/>
            <p:cNvSpPr/>
            <p:nvPr/>
          </p:nvSpPr>
          <p:spPr>
            <a:xfrm>
              <a:off x="1617354" y="3056106"/>
              <a:ext cx="802427" cy="18448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HW info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5" name="직사각형 184"/>
            <p:cNvSpPr/>
            <p:nvPr/>
          </p:nvSpPr>
          <p:spPr>
            <a:xfrm>
              <a:off x="1617354" y="3300298"/>
              <a:ext cx="802427" cy="18448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HW interface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1566368" y="2604176"/>
              <a:ext cx="83869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HW Manager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192" name="직사각형 191"/>
            <p:cNvSpPr/>
            <p:nvPr/>
          </p:nvSpPr>
          <p:spPr>
            <a:xfrm>
              <a:off x="2732998" y="4852090"/>
              <a:ext cx="3716645" cy="45919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3" name="직사각형 192"/>
            <p:cNvSpPr/>
            <p:nvPr/>
          </p:nvSpPr>
          <p:spPr>
            <a:xfrm>
              <a:off x="2732998" y="4782935"/>
              <a:ext cx="218254" cy="6915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2727631" y="4917511"/>
              <a:ext cx="9327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Distributed Runtime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195" name="직사각형 194"/>
            <p:cNvSpPr/>
            <p:nvPr/>
          </p:nvSpPr>
          <p:spPr>
            <a:xfrm>
              <a:off x="3741211" y="4952585"/>
              <a:ext cx="669495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</a:rPr>
                <a:t>Manager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96" name="직사각형 195"/>
            <p:cNvSpPr/>
            <p:nvPr/>
          </p:nvSpPr>
          <p:spPr>
            <a:xfrm>
              <a:off x="4487017" y="4952584"/>
              <a:ext cx="867671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Communicator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97" name="직사각형 196"/>
            <p:cNvSpPr/>
            <p:nvPr/>
          </p:nvSpPr>
          <p:spPr>
            <a:xfrm>
              <a:off x="5430999" y="4952583"/>
              <a:ext cx="811605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Synchronizer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8" name="직사각형 197"/>
            <p:cNvSpPr/>
            <p:nvPr/>
          </p:nvSpPr>
          <p:spPr>
            <a:xfrm>
              <a:off x="5752623" y="5592882"/>
              <a:ext cx="633866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System monitor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99" name="그룹 198"/>
            <p:cNvGrpSpPr/>
            <p:nvPr/>
          </p:nvGrpSpPr>
          <p:grpSpPr>
            <a:xfrm>
              <a:off x="9419635" y="4858377"/>
              <a:ext cx="847754" cy="270342"/>
              <a:chOff x="2111193" y="2886739"/>
              <a:chExt cx="721427" cy="376723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200" name="직사각형 199"/>
              <p:cNvSpPr/>
              <p:nvPr/>
            </p:nvSpPr>
            <p:spPr>
              <a:xfrm>
                <a:off x="2111193" y="2989088"/>
                <a:ext cx="721427" cy="274374"/>
              </a:xfrm>
              <a:prstGeom prst="rect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7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F0502020204030204"/>
                    <a:ea typeface="맑은 고딕" panose="020B0503020000020004" pitchFamily="50" charset="-127"/>
                  </a:rPr>
                  <a:t>변경 </a:t>
                </a:r>
                <a:r>
                  <a:rPr lang="en-US" altLang="ko-KR" sz="7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F0502020204030204"/>
                    <a:ea typeface="맑은 고딕" panose="020B0503020000020004" pitchFamily="50" charset="-127"/>
                  </a:rPr>
                  <a:t>Package</a:t>
                </a:r>
                <a:endPara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1" name="직사각형 200"/>
              <p:cNvSpPr/>
              <p:nvPr/>
            </p:nvSpPr>
            <p:spPr>
              <a:xfrm>
                <a:off x="2111614" y="2886739"/>
                <a:ext cx="259674" cy="102651"/>
              </a:xfrm>
              <a:prstGeom prst="rect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202" name="직사각형 201"/>
            <p:cNvSpPr/>
            <p:nvPr/>
          </p:nvSpPr>
          <p:spPr>
            <a:xfrm>
              <a:off x="9419635" y="5214908"/>
              <a:ext cx="847754" cy="19689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F0502020204030204"/>
                  <a:ea typeface="맑은 고딕" panose="020B0503020000020004" pitchFamily="50" charset="-127"/>
                </a:rPr>
                <a:t>변경 </a:t>
              </a:r>
              <a:r>
                <a:rPr lang="en-US" altLang="ko-KR" sz="7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F0502020204030204"/>
                  <a:ea typeface="맑은 고딕" panose="020B0503020000020004" pitchFamily="50" charset="-127"/>
                </a:rPr>
                <a:t>Module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03" name="직사각형 202"/>
            <p:cNvSpPr/>
            <p:nvPr/>
          </p:nvSpPr>
          <p:spPr>
            <a:xfrm>
              <a:off x="7207961" y="1665344"/>
              <a:ext cx="3897619" cy="25689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4" name="직사각형 203"/>
            <p:cNvSpPr/>
            <p:nvPr/>
          </p:nvSpPr>
          <p:spPr>
            <a:xfrm>
              <a:off x="7209466" y="1515984"/>
              <a:ext cx="532578" cy="1490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7205138" y="1704001"/>
              <a:ext cx="94929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latinLnBrk="1"/>
              <a:r>
                <a:rPr lang="en-US" altLang="ko-KR" sz="800" b="1" dirty="0">
                  <a:solidFill>
                    <a:prstClr val="black"/>
                  </a:solidFill>
                  <a:latin typeface="맑은 고딕" panose="020F0502020204030204"/>
                </a:rPr>
                <a:t>NN Optimizer</a:t>
              </a:r>
              <a:endParaRPr lang="ko-KR" altLang="en-US" sz="8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206" name="직사각형 205"/>
            <p:cNvSpPr/>
            <p:nvPr/>
          </p:nvSpPr>
          <p:spPr>
            <a:xfrm>
              <a:off x="7401638" y="2013249"/>
              <a:ext cx="725559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IR loader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07" name="직사각형 206"/>
            <p:cNvSpPr/>
            <p:nvPr/>
          </p:nvSpPr>
          <p:spPr>
            <a:xfrm>
              <a:off x="8219075" y="2013249"/>
              <a:ext cx="725559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HW loader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08" name="직사각형 207"/>
            <p:cNvSpPr/>
            <p:nvPr/>
          </p:nvSpPr>
          <p:spPr>
            <a:xfrm>
              <a:off x="7398019" y="2596983"/>
              <a:ext cx="3455728" cy="5883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9" name="직사각형 208"/>
            <p:cNvSpPr/>
            <p:nvPr/>
          </p:nvSpPr>
          <p:spPr>
            <a:xfrm>
              <a:off x="7399523" y="2457146"/>
              <a:ext cx="420759" cy="14105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7378803" y="2771588"/>
              <a:ext cx="72648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latinLnBrk="1"/>
              <a:r>
                <a:rPr lang="en-US" altLang="ko-KR" sz="800" b="1" dirty="0">
                  <a:solidFill>
                    <a:prstClr val="black"/>
                  </a:solidFill>
                  <a:latin typeface="맑은 고딕" panose="020F0502020204030204"/>
                </a:rPr>
                <a:t>Optimizer</a:t>
              </a:r>
              <a:endParaRPr lang="ko-KR" altLang="en-US" sz="8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211" name="직사각형 210"/>
            <p:cNvSpPr/>
            <p:nvPr/>
          </p:nvSpPr>
          <p:spPr>
            <a:xfrm>
              <a:off x="8151423" y="2741178"/>
              <a:ext cx="725559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Meta-heuristic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12" name="직사각형 211"/>
            <p:cNvSpPr/>
            <p:nvPr/>
          </p:nvSpPr>
          <p:spPr>
            <a:xfrm>
              <a:off x="8944634" y="2741178"/>
              <a:ext cx="863292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Linear programming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13" name="직사각형 212"/>
            <p:cNvSpPr/>
            <p:nvPr/>
          </p:nvSpPr>
          <p:spPr>
            <a:xfrm>
              <a:off x="9875578" y="2745492"/>
              <a:ext cx="863292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Deep learning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14" name="직사각형 213"/>
            <p:cNvSpPr/>
            <p:nvPr/>
          </p:nvSpPr>
          <p:spPr>
            <a:xfrm>
              <a:off x="7398019" y="3444189"/>
              <a:ext cx="3455728" cy="5883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5" name="직사각형 214"/>
            <p:cNvSpPr/>
            <p:nvPr/>
          </p:nvSpPr>
          <p:spPr>
            <a:xfrm>
              <a:off x="7399523" y="3301971"/>
              <a:ext cx="420759" cy="14105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7378803" y="3554141"/>
              <a:ext cx="961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latinLnBrk="1"/>
              <a:r>
                <a:rPr lang="en-US" altLang="ko-KR" sz="800" b="1" dirty="0">
                  <a:solidFill>
                    <a:prstClr val="black"/>
                  </a:solidFill>
                  <a:latin typeface="맑은 고딕" panose="020F0502020204030204"/>
                </a:rPr>
                <a:t>Performance Estimator</a:t>
              </a:r>
              <a:endParaRPr lang="ko-KR" altLang="en-US" sz="8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217" name="직사각형 216"/>
            <p:cNvSpPr/>
            <p:nvPr/>
          </p:nvSpPr>
          <p:spPr>
            <a:xfrm>
              <a:off x="8406902" y="3588384"/>
              <a:ext cx="725559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System builder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18" name="직사각형 217"/>
            <p:cNvSpPr/>
            <p:nvPr/>
          </p:nvSpPr>
          <p:spPr>
            <a:xfrm>
              <a:off x="9200388" y="3588384"/>
              <a:ext cx="740886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Cost model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19" name="직사각형 218"/>
            <p:cNvSpPr/>
            <p:nvPr/>
          </p:nvSpPr>
          <p:spPr>
            <a:xfrm>
              <a:off x="9997984" y="3592698"/>
              <a:ext cx="740886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Executor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220" name="직선 화살표 연결선 219"/>
            <p:cNvCxnSpPr>
              <a:stCxn id="180" idx="3"/>
            </p:cNvCxnSpPr>
            <p:nvPr/>
          </p:nvCxnSpPr>
          <p:spPr>
            <a:xfrm>
              <a:off x="6176028" y="2714999"/>
              <a:ext cx="1045874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1" name="TextBox 220"/>
            <p:cNvSpPr txBox="1"/>
            <p:nvPr/>
          </p:nvSpPr>
          <p:spPr>
            <a:xfrm>
              <a:off x="6585238" y="2469970"/>
              <a:ext cx="63269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&lt;&lt;use&gt;&gt;</a:t>
              </a:r>
              <a:endParaRPr lang="ko-KR" altLang="en-US" sz="900" dirty="0"/>
            </a:p>
          </p:txBody>
        </p:sp>
        <p:sp>
          <p:nvSpPr>
            <p:cNvPr id="222" name="직사각형 221"/>
            <p:cNvSpPr/>
            <p:nvPr/>
          </p:nvSpPr>
          <p:spPr>
            <a:xfrm>
              <a:off x="1520152" y="3554834"/>
              <a:ext cx="1874942" cy="205138"/>
            </a:xfrm>
            <a:prstGeom prst="rect">
              <a:avLst/>
            </a:prstGeom>
            <a:solidFill>
              <a:srgbClr val="F024C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DP-04. </a:t>
              </a:r>
              <a:r>
                <a:rPr lang="ko-KR" altLang="en-US" sz="1000" b="1" dirty="0"/>
                <a:t>하드웨어 정보 구성</a:t>
              </a:r>
            </a:p>
          </p:txBody>
        </p:sp>
        <p:sp>
          <p:nvSpPr>
            <p:cNvPr id="223" name="직사각형 222"/>
            <p:cNvSpPr/>
            <p:nvPr/>
          </p:nvSpPr>
          <p:spPr>
            <a:xfrm>
              <a:off x="1537246" y="2511883"/>
              <a:ext cx="943918" cy="1042257"/>
            </a:xfrm>
            <a:prstGeom prst="rect">
              <a:avLst/>
            </a:prstGeom>
            <a:noFill/>
            <a:ln w="28575">
              <a:solidFill>
                <a:srgbClr val="F024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25" name="직사각형 224"/>
            <p:cNvSpPr/>
            <p:nvPr/>
          </p:nvSpPr>
          <p:spPr>
            <a:xfrm>
              <a:off x="3598103" y="2149212"/>
              <a:ext cx="2671883" cy="827834"/>
            </a:xfrm>
            <a:prstGeom prst="rect">
              <a:avLst/>
            </a:prstGeom>
            <a:noFill/>
            <a:ln w="28575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26" name="직사각형 225"/>
            <p:cNvSpPr/>
            <p:nvPr/>
          </p:nvSpPr>
          <p:spPr>
            <a:xfrm>
              <a:off x="4487016" y="1541596"/>
              <a:ext cx="1782969" cy="474327"/>
            </a:xfrm>
            <a:prstGeom prst="rect">
              <a:avLst/>
            </a:prstGeom>
            <a:noFill/>
            <a:ln w="28575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24" name="직사각형 223"/>
            <p:cNvSpPr/>
            <p:nvPr/>
          </p:nvSpPr>
          <p:spPr>
            <a:xfrm>
              <a:off x="3585054" y="1952568"/>
              <a:ext cx="2059980" cy="205138"/>
            </a:xfrm>
            <a:prstGeom prst="rect">
              <a:avLst/>
            </a:prstGeom>
            <a:solidFill>
              <a:srgbClr val="FF99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DP-03. </a:t>
              </a:r>
              <a:r>
                <a:rPr lang="ko-KR" altLang="en-US" sz="1000" b="1" dirty="0"/>
                <a:t>컴파일러 중간 표현 구조 </a:t>
              </a:r>
            </a:p>
          </p:txBody>
        </p:sp>
        <p:sp>
          <p:nvSpPr>
            <p:cNvPr id="228" name="직사각형 227"/>
            <p:cNvSpPr/>
            <p:nvPr/>
          </p:nvSpPr>
          <p:spPr>
            <a:xfrm>
              <a:off x="3598103" y="3085476"/>
              <a:ext cx="897742" cy="452685"/>
            </a:xfrm>
            <a:prstGeom prst="rect">
              <a:avLst/>
            </a:prstGeom>
            <a:noFill/>
            <a:ln w="28575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29" name="직사각형 228"/>
            <p:cNvSpPr/>
            <p:nvPr/>
          </p:nvSpPr>
          <p:spPr>
            <a:xfrm>
              <a:off x="5416513" y="2522945"/>
              <a:ext cx="796695" cy="38561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0" name="직사각형 229"/>
            <p:cNvSpPr/>
            <p:nvPr/>
          </p:nvSpPr>
          <p:spPr>
            <a:xfrm>
              <a:off x="7182131" y="1491918"/>
              <a:ext cx="3994563" cy="2837937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3" name="직사각형 232"/>
            <p:cNvSpPr/>
            <p:nvPr/>
          </p:nvSpPr>
          <p:spPr>
            <a:xfrm>
              <a:off x="7124099" y="1422533"/>
              <a:ext cx="4128156" cy="2998785"/>
            </a:xfrm>
            <a:prstGeom prst="rect">
              <a:avLst/>
            </a:prstGeom>
            <a:noFill/>
            <a:ln w="28575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4" name="직사각형 233"/>
            <p:cNvSpPr/>
            <p:nvPr/>
          </p:nvSpPr>
          <p:spPr>
            <a:xfrm>
              <a:off x="2668128" y="4085681"/>
              <a:ext cx="3877132" cy="1265568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1" name="직사각형 230"/>
            <p:cNvSpPr/>
            <p:nvPr/>
          </p:nvSpPr>
          <p:spPr>
            <a:xfrm>
              <a:off x="2668127" y="5368587"/>
              <a:ext cx="3877132" cy="630847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2" name="직사각형 231"/>
            <p:cNvSpPr/>
            <p:nvPr/>
          </p:nvSpPr>
          <p:spPr>
            <a:xfrm>
              <a:off x="2656255" y="5155711"/>
              <a:ext cx="1934602" cy="205138"/>
            </a:xfrm>
            <a:prstGeom prst="rect">
              <a:avLst/>
            </a:prstGeom>
            <a:solidFill>
              <a:srgbClr val="00B05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DP-02. </a:t>
              </a:r>
              <a:r>
                <a:rPr lang="ko-KR" altLang="en-US" sz="1000" b="1" dirty="0"/>
                <a:t>스케줄링 최적화 시점</a:t>
              </a:r>
            </a:p>
          </p:txBody>
        </p:sp>
        <p:sp>
          <p:nvSpPr>
            <p:cNvPr id="235" name="직사각형 234"/>
            <p:cNvSpPr/>
            <p:nvPr/>
          </p:nvSpPr>
          <p:spPr>
            <a:xfrm>
              <a:off x="4070837" y="3516850"/>
              <a:ext cx="2144113" cy="205138"/>
            </a:xfrm>
            <a:prstGeom prst="rect">
              <a:avLst/>
            </a:prstGeom>
            <a:solidFill>
              <a:srgbClr val="7030A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DP-05. </a:t>
              </a:r>
              <a:r>
                <a:rPr lang="ko-KR" altLang="en-US" sz="1000" b="1" dirty="0"/>
                <a:t>분산 서버 간의 동작 구조</a:t>
              </a:r>
            </a:p>
          </p:txBody>
        </p:sp>
        <p:sp>
          <p:nvSpPr>
            <p:cNvPr id="236" name="직사각형 235"/>
            <p:cNvSpPr/>
            <p:nvPr/>
          </p:nvSpPr>
          <p:spPr>
            <a:xfrm>
              <a:off x="4495844" y="3088568"/>
              <a:ext cx="1707311" cy="449593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7" name="직사각형 236"/>
            <p:cNvSpPr/>
            <p:nvPr/>
          </p:nvSpPr>
          <p:spPr>
            <a:xfrm>
              <a:off x="1294733" y="1016139"/>
              <a:ext cx="5425261" cy="5786429"/>
            </a:xfrm>
            <a:prstGeom prst="rect">
              <a:avLst/>
            </a:prstGeom>
            <a:noFill/>
            <a:ln w="28575">
              <a:solidFill>
                <a:srgbClr val="00A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8" name="직사각형 237"/>
            <p:cNvSpPr/>
            <p:nvPr/>
          </p:nvSpPr>
          <p:spPr>
            <a:xfrm>
              <a:off x="4423943" y="1016139"/>
              <a:ext cx="2296051" cy="232053"/>
            </a:xfrm>
            <a:prstGeom prst="rect">
              <a:avLst/>
            </a:prstGeom>
            <a:solidFill>
              <a:srgbClr val="00ACEB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DP-01. </a:t>
              </a:r>
              <a:r>
                <a:rPr lang="ko-KR" altLang="en-US" sz="1000" b="1" dirty="0"/>
                <a:t>프레임워크에서의 실행 구조</a:t>
              </a:r>
            </a:p>
          </p:txBody>
        </p:sp>
      </p:grpSp>
      <p:sp>
        <p:nvSpPr>
          <p:cNvPr id="124" name="양쪽 모서리가 잘린 사각형 123"/>
          <p:cNvSpPr/>
          <p:nvPr/>
        </p:nvSpPr>
        <p:spPr>
          <a:xfrm>
            <a:off x="172028" y="978039"/>
            <a:ext cx="11817436" cy="297258"/>
          </a:xfrm>
          <a:prstGeom prst="snip2SameRect">
            <a:avLst/>
          </a:prstGeom>
          <a:solidFill>
            <a:srgbClr val="335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Module View</a:t>
            </a:r>
          </a:p>
        </p:txBody>
      </p:sp>
    </p:spTree>
    <p:extLst>
      <p:ext uri="{BB962C8B-B14F-4D97-AF65-F5344CB8AC3E}">
        <p14:creationId xmlns:p14="http://schemas.microsoft.com/office/powerpoint/2010/main" val="28534309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105295" cy="365125"/>
          </a:xfrm>
        </p:spPr>
        <p:txBody>
          <a:bodyPr/>
          <a:lstStyle/>
          <a:p>
            <a:r>
              <a:rPr lang="ko-KR" altLang="en-US" dirty="0"/>
              <a:t>최종 설계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67587"/>
            <a:ext cx="5695950" cy="5070412"/>
          </a:xfrm>
          <a:prstGeom prst="rect">
            <a:avLst/>
          </a:prstGeom>
        </p:spPr>
      </p:pic>
      <p:sp>
        <p:nvSpPr>
          <p:cNvPr id="35" name="직사각형 34"/>
          <p:cNvSpPr/>
          <p:nvPr/>
        </p:nvSpPr>
        <p:spPr>
          <a:xfrm>
            <a:off x="234950" y="1149351"/>
            <a:ext cx="5839280" cy="534669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6144080" y="1149351"/>
            <a:ext cx="5839280" cy="534669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234949" y="621645"/>
            <a:ext cx="5839281" cy="469655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</a:rPr>
              <a:t>      최종 구조설계 </a:t>
            </a:r>
            <a:r>
              <a:rPr lang="en-US" altLang="ko-KR" sz="1600" dirty="0">
                <a:solidFill>
                  <a:schemeClr val="tx1"/>
                </a:solidFill>
              </a:rPr>
              <a:t>– Module View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38" name="타원 37"/>
          <p:cNvSpPr/>
          <p:nvPr/>
        </p:nvSpPr>
        <p:spPr>
          <a:xfrm>
            <a:off x="463391" y="779591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144079" y="621645"/>
            <a:ext cx="5839281" cy="469654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5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</a:rPr>
              <a:t>      최종 구조설계 </a:t>
            </a:r>
            <a:r>
              <a:rPr lang="en-US" altLang="ko-KR" sz="1600" dirty="0">
                <a:solidFill>
                  <a:schemeClr val="tx1"/>
                </a:solidFill>
              </a:rPr>
              <a:t>– C&amp;C View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6372521" y="779591"/>
            <a:ext cx="153762" cy="153762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>
              <a:ln>
                <a:solidFill>
                  <a:schemeClr val="tx1"/>
                </a:solidFill>
              </a:ln>
              <a:effectLst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799" y="1515711"/>
            <a:ext cx="5730694" cy="4922288"/>
          </a:xfrm>
          <a:prstGeom prst="rect">
            <a:avLst/>
          </a:prstGeom>
        </p:spPr>
      </p:pic>
      <p:sp>
        <p:nvSpPr>
          <p:cNvPr id="1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cxnSp>
        <p:nvCxnSpPr>
          <p:cNvPr id="13" name="직선 연결선 12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737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460451" y="2076076"/>
            <a:ext cx="5807344" cy="327030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60451" y="5728819"/>
            <a:ext cx="5807344" cy="92598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6450676" y="2000250"/>
            <a:ext cx="5439776" cy="46545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5" name="표 24"/>
          <p:cNvGraphicFramePr>
            <a:graphicFrameLocks noGrp="1"/>
          </p:cNvGraphicFramePr>
          <p:nvPr/>
        </p:nvGraphicFramePr>
        <p:xfrm>
          <a:off x="520908" y="2152952"/>
          <a:ext cx="5679867" cy="357903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7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32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19575">
                  <a:extLst>
                    <a:ext uri="{9D8B030D-6E8A-4147-A177-3AD203B41FA5}">
                      <a16:colId xmlns:a16="http://schemas.microsoft.com/office/drawing/2014/main" val="1473006135"/>
                    </a:ext>
                  </a:extLst>
                </a:gridCol>
              </a:tblGrid>
              <a:tr h="28719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기능 요구사항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7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FR-01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시스템 지원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임베디드 시스템과 대규모 서버 시스템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에서 딥 러닝 모델을 실행하기 위한 바이너리를 생성할 수 있어야 하고</a:t>
                      </a: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이를 시스템 상에서 동작 시킬 수 있어야 한다</a:t>
                      </a: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6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FR-02</a:t>
                      </a:r>
                      <a:endParaRPr lang="ko-KR" altLang="en-US" sz="900" b="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9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연산 장치 지원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NPU, PIM, GPU </a:t>
                      </a:r>
                      <a:r>
                        <a:rPr lang="ko-KR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등 다양한 하드웨어 가속기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에서 실행 가능한 바이너리를 생성할 수 있어야 한다</a:t>
                      </a: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1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FR-03</a:t>
                      </a:r>
                      <a:endParaRPr lang="ko-KR" altLang="en-US" sz="900" b="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9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장치 간 연동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서로 다른 연산 장치를 사용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해서 딥 러닝 모델을 실행할 수 있어야 한다</a:t>
                      </a: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FR-04</a:t>
                      </a:r>
                      <a:endParaRPr lang="ko-KR" altLang="en-US" sz="900" b="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9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모델 지원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CNN, RNN 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및</a:t>
                      </a: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Transformer 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기반 대규모 언어 모델 등 여러 </a:t>
                      </a:r>
                      <a:r>
                        <a:rPr lang="ko-KR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다양한 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ko-KR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응용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을 지원할 수 있어야 한다</a:t>
                      </a: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159070"/>
                  </a:ext>
                </a:extLst>
              </a:tr>
              <a:tr h="3216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FR-05</a:t>
                      </a:r>
                      <a:endParaRPr lang="ko-KR" altLang="en-US" sz="900" b="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9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Ondevice </a:t>
                      </a:r>
                      <a:r>
                        <a:rPr lang="ko-KR" sz="9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컴파일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딥 러닝 모델을 </a:t>
                      </a:r>
                      <a:r>
                        <a:rPr lang="ko-KR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실제로 실행할 시스템 상에서 컴파일을 수행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하고 바로 실행할 수 있어야 한다</a:t>
                      </a: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1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FR-06</a:t>
                      </a:r>
                      <a:endParaRPr lang="ko-KR" altLang="en-US" sz="900" b="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9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학습</a:t>
                      </a:r>
                      <a:r>
                        <a:rPr lang="en-US" sz="9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9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추론 지원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딥 러닝 모델의 </a:t>
                      </a:r>
                      <a:r>
                        <a:rPr lang="ko-KR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학습과 추론을 위한 바이너리를 생성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할 수 있어야 한다</a:t>
                      </a: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365506"/>
                  </a:ext>
                </a:extLst>
              </a:tr>
              <a:tr h="3496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/>
                        <a:t>FR</a:t>
                      </a:r>
                      <a:r>
                        <a:rPr lang="en-US" altLang="ko-KR" sz="900" dirty="0"/>
                        <a:t>-0</a:t>
                      </a:r>
                      <a:r>
                        <a:rPr lang="en-US" altLang="ko-KR" sz="900" b="0" dirty="0"/>
                        <a:t>7</a:t>
                      </a:r>
                      <a:endParaRPr lang="ko-KR" altLang="en-US" sz="900" b="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9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병렬</a:t>
                      </a:r>
                      <a:r>
                        <a:rPr lang="en-US" sz="9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9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분산 처리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두 개 이상의 연산 장치 또는 서버 노드를 동시에 활용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하여 딥 러닝 모델을 실행할 수 있어야 한다</a:t>
                      </a: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007937"/>
                  </a:ext>
                </a:extLst>
              </a:tr>
              <a:tr h="3142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/>
                        <a:t>FR</a:t>
                      </a:r>
                      <a:r>
                        <a:rPr lang="en-US" altLang="ko-KR" sz="900" dirty="0"/>
                        <a:t>-0</a:t>
                      </a:r>
                      <a:r>
                        <a:rPr lang="en-US" altLang="ko-KR" sz="900" b="0" dirty="0"/>
                        <a:t>8</a:t>
                      </a:r>
                      <a:endParaRPr lang="ko-KR" altLang="en-US" sz="900" b="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9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메모리 관리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딥 러닝 모델 실행을 위해 필요한 메모리 크기보다 연산 장치의 </a:t>
                      </a:r>
                      <a:r>
                        <a:rPr lang="ko-KR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메모리가 작은 경우에도 모델을 실행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할 수 있어야 한다</a:t>
                      </a: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5575705"/>
                  </a:ext>
                </a:extLst>
              </a:tr>
              <a:tr h="2871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0" dirty="0"/>
                        <a:t>FR</a:t>
                      </a:r>
                      <a:r>
                        <a:rPr lang="en-US" altLang="ko-KR" sz="900" dirty="0"/>
                        <a:t>-0</a:t>
                      </a:r>
                      <a:r>
                        <a:rPr lang="en-US" altLang="ko-KR" sz="900" b="0" dirty="0"/>
                        <a:t>9</a:t>
                      </a:r>
                      <a:endParaRPr lang="ko-KR" altLang="en-US" sz="900" b="0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9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다중 응용 실행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두 개 이상의 딥 러닝 모델을 동시에 실행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할 수 있어야 한다</a:t>
                      </a: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1564876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/>
        </p:nvGraphicFramePr>
        <p:xfrm>
          <a:off x="556055" y="5860545"/>
          <a:ext cx="5616135" cy="960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2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4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9590">
                  <a:extLst>
                    <a:ext uri="{9D8B030D-6E8A-4147-A177-3AD203B41FA5}">
                      <a16:colId xmlns:a16="http://schemas.microsoft.com/office/drawing/2014/main" val="3939805216"/>
                    </a:ext>
                  </a:extLst>
                </a:gridCol>
              </a:tblGrid>
              <a:tr h="2216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번호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제약 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13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</a:rPr>
                        <a:t>설명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5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6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C-01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보안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당사 </a:t>
                      </a:r>
                      <a:r>
                        <a:rPr lang="ko-KR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핵심 </a:t>
                      </a:r>
                      <a:r>
                        <a:rPr lang="en-US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HW IP </a:t>
                      </a:r>
                      <a:r>
                        <a:rPr lang="ko-KR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정보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가 컴파일러</a:t>
                      </a: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런타임 사용자에게 노출되지 않아야 한다</a:t>
                      </a: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6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C-02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9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일정 준수</a:t>
                      </a: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목표한 </a:t>
                      </a:r>
                      <a:r>
                        <a:rPr lang="ko-KR" sz="900" b="1" dirty="0">
                          <a:solidFill>
                            <a:srgbClr val="0070C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개발 일정을 준수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해야한다</a:t>
                      </a:r>
                      <a:r>
                        <a:rPr lang="en-US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" name="직사각형 26"/>
          <p:cNvSpPr/>
          <p:nvPr/>
        </p:nvSpPr>
        <p:spPr>
          <a:xfrm>
            <a:off x="169504" y="902881"/>
            <a:ext cx="11709383" cy="87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Blip>
                <a:blip r:embed="rId3"/>
              </a:buBlip>
            </a:pPr>
            <a:r>
              <a:rPr lang="ko-KR" altLang="en-US" b="1" dirty="0">
                <a:latin typeface="+mj-ea"/>
              </a:rPr>
              <a:t>수집한 요구사항 </a:t>
            </a:r>
            <a:r>
              <a:rPr lang="en-US" altLang="ko-KR" b="1" dirty="0">
                <a:latin typeface="+mj-ea"/>
              </a:rPr>
              <a:t>54</a:t>
            </a:r>
            <a:r>
              <a:rPr lang="ko-KR" altLang="en-US" b="1" dirty="0">
                <a:latin typeface="+mj-ea"/>
              </a:rPr>
              <a:t>건 → </a:t>
            </a:r>
            <a:r>
              <a:rPr lang="ko-KR" altLang="en-US" b="1" dirty="0">
                <a:solidFill>
                  <a:srgbClr val="0070C0"/>
                </a:solidFill>
                <a:latin typeface="+mj-ea"/>
              </a:rPr>
              <a:t>정제 요구사항 </a:t>
            </a:r>
            <a:r>
              <a:rPr lang="en-US" altLang="ko-KR" b="1" dirty="0">
                <a:solidFill>
                  <a:srgbClr val="0070C0"/>
                </a:solidFill>
                <a:latin typeface="+mj-ea"/>
              </a:rPr>
              <a:t>22</a:t>
            </a:r>
            <a:r>
              <a:rPr lang="ko-KR" altLang="en-US" b="1" dirty="0">
                <a:solidFill>
                  <a:srgbClr val="0070C0"/>
                </a:solidFill>
                <a:latin typeface="+mj-ea"/>
              </a:rPr>
              <a:t>건 </a:t>
            </a:r>
            <a:r>
              <a:rPr lang="ko-KR" altLang="en-US" b="1" dirty="0">
                <a:latin typeface="+mj-ea"/>
              </a:rPr>
              <a:t>분석</a:t>
            </a:r>
            <a:endParaRPr lang="en-US" altLang="ko-KR" b="1" dirty="0">
              <a:latin typeface="+mj-ea"/>
            </a:endParaRPr>
          </a:p>
          <a:p>
            <a:pPr marL="742950" lvl="1" indent="-285750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+mj-ea"/>
              </a:rPr>
              <a:t>기능 요구 사항 </a:t>
            </a:r>
            <a:r>
              <a:rPr lang="en-US" altLang="ko-KR" sz="1600" dirty="0">
                <a:latin typeface="+mj-ea"/>
              </a:rPr>
              <a:t>9</a:t>
            </a:r>
            <a:r>
              <a:rPr lang="ko-KR" altLang="en-US" sz="1600" dirty="0">
                <a:latin typeface="+mj-ea"/>
              </a:rPr>
              <a:t>건</a:t>
            </a:r>
            <a:r>
              <a:rPr lang="en-US" altLang="ko-KR" sz="1600" dirty="0">
                <a:latin typeface="+mj-ea"/>
              </a:rPr>
              <a:t>, </a:t>
            </a:r>
            <a:r>
              <a:rPr lang="ko-KR" altLang="en-US" sz="1600" dirty="0">
                <a:latin typeface="+mj-ea"/>
              </a:rPr>
              <a:t>품질 요구 사항 </a:t>
            </a:r>
            <a:r>
              <a:rPr lang="en-US" altLang="ko-KR" sz="1600" dirty="0">
                <a:latin typeface="+mj-ea"/>
              </a:rPr>
              <a:t>11</a:t>
            </a:r>
            <a:r>
              <a:rPr lang="ko-KR" altLang="en-US" sz="1600" dirty="0">
                <a:latin typeface="+mj-ea"/>
              </a:rPr>
              <a:t>건</a:t>
            </a:r>
            <a:r>
              <a:rPr lang="en-US" altLang="ko-KR" sz="1600" dirty="0">
                <a:latin typeface="+mj-ea"/>
              </a:rPr>
              <a:t>, </a:t>
            </a:r>
            <a:r>
              <a:rPr lang="ko-KR" altLang="en-US" sz="1600" dirty="0">
                <a:latin typeface="+mj-ea"/>
              </a:rPr>
              <a:t>제약 사항 </a:t>
            </a:r>
            <a:r>
              <a:rPr lang="en-US" altLang="ko-KR" sz="1600" dirty="0">
                <a:latin typeface="+mj-ea"/>
              </a:rPr>
              <a:t>2</a:t>
            </a:r>
            <a:r>
              <a:rPr lang="ko-KR" altLang="en-US" sz="1600" dirty="0">
                <a:latin typeface="+mj-ea"/>
              </a:rPr>
              <a:t>건 도출</a:t>
            </a:r>
            <a:r>
              <a:rPr lang="en-US" altLang="ko-KR" sz="1600" dirty="0">
                <a:latin typeface="+mj-ea"/>
              </a:rPr>
              <a:t> 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5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/>
          <p:cNvGrpSpPr/>
          <p:nvPr/>
        </p:nvGrpSpPr>
        <p:grpSpPr>
          <a:xfrm>
            <a:off x="5850067" y="102872"/>
            <a:ext cx="6221469" cy="201686"/>
            <a:chOff x="3253771" y="153288"/>
            <a:chExt cx="5655881" cy="166683"/>
          </a:xfrm>
        </p:grpSpPr>
        <p:sp>
          <p:nvSpPr>
            <p:cNvPr id="30" name="자유형 29"/>
            <p:cNvSpPr/>
            <p:nvPr/>
          </p:nvSpPr>
          <p:spPr>
            <a:xfrm>
              <a:off x="3253771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>
                  <a:solidFill>
                    <a:schemeClr val="tx1"/>
                  </a:solidFill>
                </a:rPr>
                <a:t>과제 개요</a:t>
              </a:r>
            </a:p>
          </p:txBody>
        </p:sp>
        <p:sp>
          <p:nvSpPr>
            <p:cNvPr id="31" name="자유형 30"/>
            <p:cNvSpPr/>
            <p:nvPr/>
          </p:nvSpPr>
          <p:spPr>
            <a:xfrm>
              <a:off x="4196418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32" name="자유형 31"/>
            <p:cNvSpPr/>
            <p:nvPr/>
          </p:nvSpPr>
          <p:spPr>
            <a:xfrm>
              <a:off x="4453504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b="1" dirty="0"/>
                <a:t>요구사항</a:t>
              </a:r>
            </a:p>
          </p:txBody>
        </p:sp>
        <p:sp>
          <p:nvSpPr>
            <p:cNvPr id="33" name="자유형 32"/>
            <p:cNvSpPr/>
            <p:nvPr/>
          </p:nvSpPr>
          <p:spPr>
            <a:xfrm>
              <a:off x="5396151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34" name="자유형 33"/>
            <p:cNvSpPr/>
            <p:nvPr/>
          </p:nvSpPr>
          <p:spPr>
            <a:xfrm>
              <a:off x="5653236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설계</a:t>
              </a:r>
            </a:p>
          </p:txBody>
        </p:sp>
        <p:sp>
          <p:nvSpPr>
            <p:cNvPr id="35" name="자유형 34"/>
            <p:cNvSpPr/>
            <p:nvPr/>
          </p:nvSpPr>
          <p:spPr>
            <a:xfrm>
              <a:off x="6595883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36" name="자유형 35"/>
            <p:cNvSpPr/>
            <p:nvPr/>
          </p:nvSpPr>
          <p:spPr>
            <a:xfrm>
              <a:off x="6852969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검증</a:t>
              </a:r>
            </a:p>
          </p:txBody>
        </p:sp>
        <p:sp>
          <p:nvSpPr>
            <p:cNvPr id="37" name="자유형 36"/>
            <p:cNvSpPr/>
            <p:nvPr/>
          </p:nvSpPr>
          <p:spPr>
            <a:xfrm>
              <a:off x="7795616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38" name="자유형 37"/>
            <p:cNvSpPr/>
            <p:nvPr/>
          </p:nvSpPr>
          <p:spPr>
            <a:xfrm>
              <a:off x="8052701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결론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201714" y="175494"/>
            <a:ext cx="50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요구사항 정제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410" y="2179094"/>
            <a:ext cx="5364048" cy="4372690"/>
          </a:xfrm>
          <a:prstGeom prst="rect">
            <a:avLst/>
          </a:prstGeom>
        </p:spPr>
      </p:pic>
      <p:sp>
        <p:nvSpPr>
          <p:cNvPr id="11" name="양쪽 모서리가 잘린 사각형 10"/>
          <p:cNvSpPr/>
          <p:nvPr/>
        </p:nvSpPr>
        <p:spPr>
          <a:xfrm>
            <a:off x="6445914" y="1775768"/>
            <a:ext cx="5439773" cy="300310"/>
          </a:xfrm>
          <a:prstGeom prst="snip2Same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+mj-ea"/>
              </a:rPr>
              <a:t>Use-case diagram</a:t>
            </a:r>
          </a:p>
        </p:txBody>
      </p:sp>
      <p:sp>
        <p:nvSpPr>
          <p:cNvPr id="9" name="양쪽 모서리가 잘린 사각형 8"/>
          <p:cNvSpPr/>
          <p:nvPr/>
        </p:nvSpPr>
        <p:spPr>
          <a:xfrm>
            <a:off x="448887" y="5454832"/>
            <a:ext cx="5818908" cy="297258"/>
          </a:xfrm>
          <a:prstGeom prst="snip2Same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+mj-ea"/>
              </a:rPr>
              <a:t>제약사항</a:t>
            </a:r>
            <a:endParaRPr lang="en-US" altLang="ko-KR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7" name="양쪽 모서리가 잘린 사각형 6"/>
          <p:cNvSpPr/>
          <p:nvPr/>
        </p:nvSpPr>
        <p:spPr>
          <a:xfrm>
            <a:off x="448887" y="1798624"/>
            <a:ext cx="5826051" cy="297258"/>
          </a:xfrm>
          <a:prstGeom prst="snip2Same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+mj-ea"/>
              </a:rPr>
              <a:t>기능 요구사항</a:t>
            </a:r>
            <a:endParaRPr lang="en-US" altLang="ko-KR" sz="1400" b="1" dirty="0">
              <a:solidFill>
                <a:schemeClr val="bg1"/>
              </a:solidFill>
              <a:latin typeface="+mj-ea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1687672" y="540638"/>
            <a:ext cx="350701" cy="304648"/>
            <a:chOff x="4333458" y="997205"/>
            <a:chExt cx="421422" cy="366082"/>
          </a:xfrm>
        </p:grpSpPr>
        <p:sp>
          <p:nvSpPr>
            <p:cNvPr id="40" name="직사각형 39">
              <a:hlinkClick r:id="" action="ppaction://noaction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이등변 삼각형 40">
              <a:hlinkClick r:id="" action="ppaction://noaction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2" name="TextBox 41"/>
          <p:cNvSpPr txBox="1"/>
          <p:nvPr/>
        </p:nvSpPr>
        <p:spPr>
          <a:xfrm>
            <a:off x="10005801" y="562958"/>
            <a:ext cx="17171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solidFill>
                  <a:schemeClr val="bg1"/>
                </a:solidFill>
              </a:rPr>
              <a:t>전체 수집된 요구사항 </a:t>
            </a:r>
            <a:r>
              <a:rPr lang="en-US" altLang="ko-KR" sz="1200" b="1" dirty="0">
                <a:solidFill>
                  <a:schemeClr val="bg1"/>
                </a:solidFill>
              </a:rPr>
              <a:t>: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4840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직사각형 122"/>
          <p:cNvSpPr/>
          <p:nvPr/>
        </p:nvSpPr>
        <p:spPr>
          <a:xfrm>
            <a:off x="183590" y="1255491"/>
            <a:ext cx="11795050" cy="55415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/>
          <p:cNvGrpSpPr/>
          <p:nvPr/>
        </p:nvGrpSpPr>
        <p:grpSpPr>
          <a:xfrm>
            <a:off x="5850067" y="102872"/>
            <a:ext cx="6221469" cy="201686"/>
            <a:chOff x="3253771" y="153288"/>
            <a:chExt cx="5655881" cy="166683"/>
          </a:xfrm>
        </p:grpSpPr>
        <p:sp>
          <p:nvSpPr>
            <p:cNvPr id="21" name="자유형 20"/>
            <p:cNvSpPr/>
            <p:nvPr/>
          </p:nvSpPr>
          <p:spPr>
            <a:xfrm>
              <a:off x="3253771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>
                  <a:solidFill>
                    <a:schemeClr val="tx1"/>
                  </a:solidFill>
                </a:rPr>
                <a:t>과제 개요</a:t>
              </a:r>
            </a:p>
          </p:txBody>
        </p:sp>
        <p:sp>
          <p:nvSpPr>
            <p:cNvPr id="22" name="자유형 21"/>
            <p:cNvSpPr/>
            <p:nvPr/>
          </p:nvSpPr>
          <p:spPr>
            <a:xfrm>
              <a:off x="4196418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3" name="자유형 22"/>
            <p:cNvSpPr/>
            <p:nvPr/>
          </p:nvSpPr>
          <p:spPr>
            <a:xfrm>
              <a:off x="4453504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요구사항</a:t>
              </a:r>
            </a:p>
          </p:txBody>
        </p:sp>
        <p:sp>
          <p:nvSpPr>
            <p:cNvPr id="24" name="자유형 23"/>
            <p:cNvSpPr/>
            <p:nvPr/>
          </p:nvSpPr>
          <p:spPr>
            <a:xfrm>
              <a:off x="5396151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5" name="자유형 24"/>
            <p:cNvSpPr/>
            <p:nvPr/>
          </p:nvSpPr>
          <p:spPr>
            <a:xfrm>
              <a:off x="5653236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b="1" dirty="0"/>
                <a:t>설계</a:t>
              </a:r>
            </a:p>
          </p:txBody>
        </p:sp>
        <p:sp>
          <p:nvSpPr>
            <p:cNvPr id="26" name="자유형 25"/>
            <p:cNvSpPr/>
            <p:nvPr/>
          </p:nvSpPr>
          <p:spPr>
            <a:xfrm>
              <a:off x="6595883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7" name="자유형 26"/>
            <p:cNvSpPr/>
            <p:nvPr/>
          </p:nvSpPr>
          <p:spPr>
            <a:xfrm>
              <a:off x="6852969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검증</a:t>
              </a:r>
            </a:p>
          </p:txBody>
        </p:sp>
        <p:sp>
          <p:nvSpPr>
            <p:cNvPr id="28" name="자유형 27"/>
            <p:cNvSpPr/>
            <p:nvPr/>
          </p:nvSpPr>
          <p:spPr>
            <a:xfrm>
              <a:off x="7795616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9" name="자유형 28"/>
            <p:cNvSpPr/>
            <p:nvPr/>
          </p:nvSpPr>
          <p:spPr>
            <a:xfrm>
              <a:off x="8052701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결론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201714" y="175494"/>
            <a:ext cx="50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최종 구조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</a:rPr>
              <a:t>설계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1348073" y="1313319"/>
            <a:ext cx="9319927" cy="5415915"/>
            <a:chOff x="1294733" y="1016139"/>
            <a:chExt cx="9957522" cy="5786429"/>
          </a:xfrm>
        </p:grpSpPr>
        <p:sp>
          <p:nvSpPr>
            <p:cNvPr id="15" name="직사각형 14"/>
            <p:cNvSpPr/>
            <p:nvPr/>
          </p:nvSpPr>
          <p:spPr>
            <a:xfrm>
              <a:off x="1400274" y="1280772"/>
              <a:ext cx="5227704" cy="235595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401779" y="1131412"/>
              <a:ext cx="532578" cy="149095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1400274" y="4007492"/>
              <a:ext cx="5227704" cy="271464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97451" y="1319429"/>
              <a:ext cx="884080" cy="2301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latinLnBrk="1"/>
              <a:r>
                <a:rPr lang="en-US" altLang="ko-KR" sz="800" b="1" dirty="0">
                  <a:solidFill>
                    <a:prstClr val="black"/>
                  </a:solidFill>
                  <a:latin typeface="맑은 고딕" panose="020F0502020204030204"/>
                </a:rPr>
                <a:t>NN Compiler</a:t>
              </a:r>
              <a:endParaRPr lang="ko-KR" altLang="en-US" sz="8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397451" y="4021301"/>
              <a:ext cx="851538" cy="2301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latinLnBrk="1"/>
              <a:r>
                <a:rPr lang="en-US" altLang="ko-KR" sz="800" b="1" dirty="0">
                  <a:solidFill>
                    <a:prstClr val="black"/>
                  </a:solidFill>
                  <a:latin typeface="맑은 고딕" panose="020F0502020204030204"/>
                </a:rPr>
                <a:t>NN Runtime</a:t>
              </a:r>
              <a:endParaRPr lang="ko-KR" altLang="en-US" sz="8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1554376" y="1637262"/>
              <a:ext cx="853491" cy="32053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User interface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1401779" y="3858396"/>
              <a:ext cx="532578" cy="14909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2732998" y="1504364"/>
              <a:ext cx="3716645" cy="4591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2732998" y="1435211"/>
              <a:ext cx="218254" cy="6915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871100" y="1639713"/>
              <a:ext cx="651157" cy="2137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Front-end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3741211" y="1604860"/>
              <a:ext cx="725559" cy="29617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Model parser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4556090" y="1604859"/>
              <a:ext cx="725558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Model convertor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5450470" y="1604859"/>
              <a:ext cx="725558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Backward generator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732998" y="2112653"/>
              <a:ext cx="3716645" cy="809289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2732997" y="2043499"/>
              <a:ext cx="218254" cy="6915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834277" y="2240159"/>
              <a:ext cx="724802" cy="2137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Middle-end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3741211" y="2213148"/>
              <a:ext cx="725559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Graph dialect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45" name="직사각형 44"/>
            <p:cNvSpPr/>
            <p:nvPr/>
          </p:nvSpPr>
          <p:spPr>
            <a:xfrm>
              <a:off x="4551573" y="2213148"/>
              <a:ext cx="768796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Memory dialect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5450470" y="2213147"/>
              <a:ext cx="725558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Transform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2732997" y="3057657"/>
              <a:ext cx="3716645" cy="45919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2732996" y="2988503"/>
              <a:ext cx="218254" cy="6915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886511" y="3185327"/>
              <a:ext cx="620329" cy="2137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Back-end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3660354" y="3158152"/>
              <a:ext cx="806415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Target</a:t>
              </a:r>
              <a:r>
                <a:rPr kumimoji="0" lang="en-US" altLang="ko-KR" sz="700" b="0" i="0" u="none" strike="noStrike" kern="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 binary generator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505608" y="3158152"/>
              <a:ext cx="902052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Runtime binary generator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5450470" y="3158150"/>
              <a:ext cx="725558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Binary exporter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1557130" y="2142316"/>
              <a:ext cx="853491" cy="32053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Cmd</a:t>
              </a: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-line parser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2732998" y="4229363"/>
              <a:ext cx="3716645" cy="45919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2732998" y="4160208"/>
              <a:ext cx="218254" cy="6915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896791" y="4370508"/>
              <a:ext cx="599777" cy="2137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Interface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741211" y="4329858"/>
              <a:ext cx="725559" cy="29617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</a:rPr>
                <a:t>User</a:t>
              </a:r>
              <a:r>
                <a:rPr lang="ko-KR" altLang="en-US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APIs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552818" y="4329857"/>
              <a:ext cx="725559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Binary parser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5364423" y="4329856"/>
              <a:ext cx="725559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NN builder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2732998" y="5492388"/>
              <a:ext cx="3716645" cy="45919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2732997" y="5423235"/>
              <a:ext cx="218254" cy="6915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874525" y="5634305"/>
              <a:ext cx="644306" cy="2137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Scheduler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3572702" y="5592884"/>
              <a:ext cx="633271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Resource allocator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4271432" y="5592883"/>
              <a:ext cx="676509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Scheduler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5013400" y="5592882"/>
              <a:ext cx="673764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Executor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7" name="직사각형 66"/>
            <p:cNvSpPr/>
            <p:nvPr/>
          </p:nvSpPr>
          <p:spPr>
            <a:xfrm>
              <a:off x="2732997" y="6100677"/>
              <a:ext cx="3716645" cy="45919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8" name="직사각형 67"/>
            <p:cNvSpPr/>
            <p:nvPr/>
          </p:nvSpPr>
          <p:spPr>
            <a:xfrm>
              <a:off x="2732996" y="6031524"/>
              <a:ext cx="218254" cy="6915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845409" y="6238051"/>
              <a:ext cx="702536" cy="2137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User driver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3741210" y="6201171"/>
              <a:ext cx="725559" cy="29617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GPU driver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4552817" y="6201171"/>
              <a:ext cx="768796" cy="29617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NPU driver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2" name="직사각형 71"/>
            <p:cNvSpPr/>
            <p:nvPr/>
          </p:nvSpPr>
          <p:spPr>
            <a:xfrm>
              <a:off x="5407660" y="6201171"/>
              <a:ext cx="725559" cy="296171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PIM driver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1545245" y="4360036"/>
              <a:ext cx="828093" cy="32053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Debugger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1547999" y="4865091"/>
              <a:ext cx="828093" cy="320530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Profiler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9" name="직선 화살표 연결선 128"/>
            <p:cNvCxnSpPr>
              <a:stCxn id="15" idx="2"/>
              <a:endCxn id="17" idx="0"/>
            </p:cNvCxnSpPr>
            <p:nvPr/>
          </p:nvCxnSpPr>
          <p:spPr>
            <a:xfrm>
              <a:off x="4014126" y="3636729"/>
              <a:ext cx="0" cy="370763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0" name="TextBox 129"/>
            <p:cNvSpPr txBox="1"/>
            <p:nvPr/>
          </p:nvSpPr>
          <p:spPr>
            <a:xfrm>
              <a:off x="4014126" y="3700938"/>
              <a:ext cx="152405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&lt;&lt;executable binary&gt;&gt;</a:t>
              </a:r>
              <a:endParaRPr lang="ko-KR" altLang="en-US" sz="900" dirty="0"/>
            </a:p>
          </p:txBody>
        </p:sp>
        <p:sp>
          <p:nvSpPr>
            <p:cNvPr id="170" name="모서리가 둥근 직사각형 169"/>
            <p:cNvSpPr/>
            <p:nvPr/>
          </p:nvSpPr>
          <p:spPr>
            <a:xfrm>
              <a:off x="7648271" y="4806265"/>
              <a:ext cx="2836993" cy="7127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tx1">
                  <a:lumMod val="75000"/>
                  <a:lumOff val="25000"/>
                </a:schemeClr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grpSp>
          <p:nvGrpSpPr>
            <p:cNvPr id="171" name="그룹 170"/>
            <p:cNvGrpSpPr/>
            <p:nvPr/>
          </p:nvGrpSpPr>
          <p:grpSpPr>
            <a:xfrm>
              <a:off x="8334687" y="4856004"/>
              <a:ext cx="847753" cy="270769"/>
              <a:chOff x="2111193" y="2886144"/>
              <a:chExt cx="721426" cy="377318"/>
            </a:xfrm>
          </p:grpSpPr>
          <p:sp>
            <p:nvSpPr>
              <p:cNvPr id="172" name="직사각형 171"/>
              <p:cNvSpPr/>
              <p:nvPr/>
            </p:nvSpPr>
            <p:spPr>
              <a:xfrm>
                <a:off x="2111193" y="2989088"/>
                <a:ext cx="721426" cy="27437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7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F0502020204030204"/>
                    <a:ea typeface="맑은 고딕" panose="020B0503020000020004" pitchFamily="50" charset="-127"/>
                  </a:rPr>
                  <a:t>추가</a:t>
                </a:r>
                <a:r>
                  <a:rPr lang="en-US" altLang="ko-KR" sz="7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F0502020204030204"/>
                    <a:ea typeface="맑은 고딕" panose="020B0503020000020004" pitchFamily="50" charset="-127"/>
                  </a:rPr>
                  <a:t>Package</a:t>
                </a:r>
                <a:endPara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73" name="직사각형 172"/>
              <p:cNvSpPr/>
              <p:nvPr/>
            </p:nvSpPr>
            <p:spPr>
              <a:xfrm>
                <a:off x="2111193" y="2886144"/>
                <a:ext cx="259674" cy="102651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74" name="직사각형 173"/>
            <p:cNvSpPr/>
            <p:nvPr/>
          </p:nvSpPr>
          <p:spPr>
            <a:xfrm>
              <a:off x="8332768" y="5216167"/>
              <a:ext cx="847754" cy="1968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F0502020204030204"/>
                  <a:ea typeface="맑은 고딕" panose="020B0503020000020004" pitchFamily="50" charset="-127"/>
                </a:rPr>
                <a:t>추가 </a:t>
              </a:r>
              <a:r>
                <a:rPr lang="en-US" altLang="ko-KR" sz="7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F0502020204030204"/>
                  <a:ea typeface="맑은 고딕" panose="020B0503020000020004" pitchFamily="50" charset="-127"/>
                </a:rPr>
                <a:t>Module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7619210" y="5012756"/>
              <a:ext cx="723088" cy="2712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Legends:</a:t>
              </a:r>
              <a:endParaRPr lang="ko-KR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79" name="직사각형 178"/>
            <p:cNvSpPr/>
            <p:nvPr/>
          </p:nvSpPr>
          <p:spPr>
            <a:xfrm>
              <a:off x="3741211" y="2570541"/>
              <a:ext cx="725559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Schedule dialect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0" name="직사각형 179"/>
            <p:cNvSpPr/>
            <p:nvPr/>
          </p:nvSpPr>
          <p:spPr>
            <a:xfrm>
              <a:off x="5450470" y="2566913"/>
              <a:ext cx="725558" cy="296171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Optimizer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1" name="직사각형 180"/>
            <p:cNvSpPr/>
            <p:nvPr/>
          </p:nvSpPr>
          <p:spPr>
            <a:xfrm>
              <a:off x="4551573" y="2571904"/>
              <a:ext cx="768796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Target dialect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2" name="직사각형 181"/>
            <p:cNvSpPr/>
            <p:nvPr/>
          </p:nvSpPr>
          <p:spPr>
            <a:xfrm>
              <a:off x="1566370" y="2626028"/>
              <a:ext cx="893012" cy="89082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3" name="직사각형 182"/>
            <p:cNvSpPr/>
            <p:nvPr/>
          </p:nvSpPr>
          <p:spPr>
            <a:xfrm>
              <a:off x="1566368" y="2556874"/>
              <a:ext cx="218254" cy="6915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1617354" y="2811914"/>
              <a:ext cx="802427" cy="18448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HW extractor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4" name="직사각형 183"/>
            <p:cNvSpPr/>
            <p:nvPr/>
          </p:nvSpPr>
          <p:spPr>
            <a:xfrm>
              <a:off x="1617354" y="3056106"/>
              <a:ext cx="802427" cy="18448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HW info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5" name="직사각형 184"/>
            <p:cNvSpPr/>
            <p:nvPr/>
          </p:nvSpPr>
          <p:spPr>
            <a:xfrm>
              <a:off x="1617354" y="3300298"/>
              <a:ext cx="802427" cy="18448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HW interface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1566368" y="2604176"/>
              <a:ext cx="83869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HW Manager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192" name="직사각형 191"/>
            <p:cNvSpPr/>
            <p:nvPr/>
          </p:nvSpPr>
          <p:spPr>
            <a:xfrm>
              <a:off x="2732998" y="4852090"/>
              <a:ext cx="3716645" cy="45919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3" name="직사각형 192"/>
            <p:cNvSpPr/>
            <p:nvPr/>
          </p:nvSpPr>
          <p:spPr>
            <a:xfrm>
              <a:off x="2732998" y="4782935"/>
              <a:ext cx="218254" cy="6915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2727631" y="4917511"/>
              <a:ext cx="9327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latinLnBrk="1"/>
              <a:r>
                <a:rPr lang="en-US" altLang="ko-KR" sz="700" b="1" dirty="0">
                  <a:solidFill>
                    <a:prstClr val="black"/>
                  </a:solidFill>
                  <a:latin typeface="맑은 고딕" panose="020F0502020204030204"/>
                </a:rPr>
                <a:t>Distributed Runtime</a:t>
              </a:r>
              <a:endParaRPr lang="ko-KR" altLang="en-US" sz="7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195" name="직사각형 194"/>
            <p:cNvSpPr/>
            <p:nvPr/>
          </p:nvSpPr>
          <p:spPr>
            <a:xfrm>
              <a:off x="3741211" y="4952585"/>
              <a:ext cx="669495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</a:rPr>
                <a:t>Manager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96" name="직사각형 195"/>
            <p:cNvSpPr/>
            <p:nvPr/>
          </p:nvSpPr>
          <p:spPr>
            <a:xfrm>
              <a:off x="4487017" y="4952584"/>
              <a:ext cx="867671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Communicator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197" name="직사각형 196"/>
            <p:cNvSpPr/>
            <p:nvPr/>
          </p:nvSpPr>
          <p:spPr>
            <a:xfrm>
              <a:off x="5430999" y="4952583"/>
              <a:ext cx="811605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Synchronizer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8" name="직사각형 197"/>
            <p:cNvSpPr/>
            <p:nvPr/>
          </p:nvSpPr>
          <p:spPr>
            <a:xfrm>
              <a:off x="5752623" y="5592882"/>
              <a:ext cx="633866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rPr>
                <a:t>System monitor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99" name="그룹 198"/>
            <p:cNvGrpSpPr/>
            <p:nvPr/>
          </p:nvGrpSpPr>
          <p:grpSpPr>
            <a:xfrm>
              <a:off x="9419635" y="4858377"/>
              <a:ext cx="847754" cy="270342"/>
              <a:chOff x="2111193" y="2886739"/>
              <a:chExt cx="721427" cy="376723"/>
            </a:xfrm>
            <a:solidFill>
              <a:schemeClr val="accent2">
                <a:lumMod val="20000"/>
                <a:lumOff val="80000"/>
              </a:schemeClr>
            </a:solidFill>
          </p:grpSpPr>
          <p:sp>
            <p:nvSpPr>
              <p:cNvPr id="200" name="직사각형 199"/>
              <p:cNvSpPr/>
              <p:nvPr/>
            </p:nvSpPr>
            <p:spPr>
              <a:xfrm>
                <a:off x="2111193" y="2989088"/>
                <a:ext cx="721427" cy="274374"/>
              </a:xfrm>
              <a:prstGeom prst="rect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7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F0502020204030204"/>
                    <a:ea typeface="맑은 고딕" panose="020B0503020000020004" pitchFamily="50" charset="-127"/>
                  </a:rPr>
                  <a:t>변경 </a:t>
                </a:r>
                <a:r>
                  <a:rPr lang="en-US" altLang="ko-KR" sz="700" b="1" kern="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" panose="020F0502020204030204"/>
                    <a:ea typeface="맑은 고딕" panose="020B0503020000020004" pitchFamily="50" charset="-127"/>
                  </a:rPr>
                  <a:t>Package</a:t>
                </a:r>
                <a:endParaRPr kumimoji="0" lang="ko-KR" altLang="en-US" sz="7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01" name="직사각형 200"/>
              <p:cNvSpPr/>
              <p:nvPr/>
            </p:nvSpPr>
            <p:spPr>
              <a:xfrm>
                <a:off x="2111614" y="2886739"/>
                <a:ext cx="259674" cy="102651"/>
              </a:xfrm>
              <a:prstGeom prst="rect">
                <a:avLst/>
              </a:prstGeom>
              <a:grp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6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F0502020204030204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202" name="직사각형 201"/>
            <p:cNvSpPr/>
            <p:nvPr/>
          </p:nvSpPr>
          <p:spPr>
            <a:xfrm>
              <a:off x="9419635" y="5214908"/>
              <a:ext cx="847754" cy="19689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F0502020204030204"/>
                  <a:ea typeface="맑은 고딕" panose="020B0503020000020004" pitchFamily="50" charset="-127"/>
                </a:rPr>
                <a:t>변경 </a:t>
              </a:r>
              <a:r>
                <a:rPr lang="en-US" altLang="ko-KR" sz="700" b="1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F0502020204030204"/>
                  <a:ea typeface="맑은 고딕" panose="020B0503020000020004" pitchFamily="50" charset="-127"/>
                </a:rPr>
                <a:t>Module</a:t>
              </a:r>
              <a:endParaRPr kumimoji="0" lang="ko-KR" altLang="en-US" sz="7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03" name="직사각형 202"/>
            <p:cNvSpPr/>
            <p:nvPr/>
          </p:nvSpPr>
          <p:spPr>
            <a:xfrm>
              <a:off x="7207961" y="1665344"/>
              <a:ext cx="3897619" cy="256894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4" name="직사각형 203"/>
            <p:cNvSpPr/>
            <p:nvPr/>
          </p:nvSpPr>
          <p:spPr>
            <a:xfrm>
              <a:off x="7209466" y="1515984"/>
              <a:ext cx="532578" cy="1490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5" name="TextBox 204"/>
            <p:cNvSpPr txBox="1"/>
            <p:nvPr/>
          </p:nvSpPr>
          <p:spPr>
            <a:xfrm>
              <a:off x="7205138" y="1704001"/>
              <a:ext cx="94929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latinLnBrk="1"/>
              <a:r>
                <a:rPr lang="en-US" altLang="ko-KR" sz="800" b="1" dirty="0">
                  <a:solidFill>
                    <a:prstClr val="black"/>
                  </a:solidFill>
                  <a:latin typeface="맑은 고딕" panose="020F0502020204030204"/>
                </a:rPr>
                <a:t>NN Optimizer</a:t>
              </a:r>
              <a:endParaRPr lang="ko-KR" altLang="en-US" sz="8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206" name="직사각형 205"/>
            <p:cNvSpPr/>
            <p:nvPr/>
          </p:nvSpPr>
          <p:spPr>
            <a:xfrm>
              <a:off x="7401638" y="2013249"/>
              <a:ext cx="725559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IR loader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07" name="직사각형 206"/>
            <p:cNvSpPr/>
            <p:nvPr/>
          </p:nvSpPr>
          <p:spPr>
            <a:xfrm>
              <a:off x="8219075" y="2013249"/>
              <a:ext cx="725559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HW loader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08" name="직사각형 207"/>
            <p:cNvSpPr/>
            <p:nvPr/>
          </p:nvSpPr>
          <p:spPr>
            <a:xfrm>
              <a:off x="7398019" y="2596983"/>
              <a:ext cx="3455728" cy="5883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9" name="직사각형 208"/>
            <p:cNvSpPr/>
            <p:nvPr/>
          </p:nvSpPr>
          <p:spPr>
            <a:xfrm>
              <a:off x="7399523" y="2457146"/>
              <a:ext cx="420759" cy="14105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7378803" y="2771588"/>
              <a:ext cx="72648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914400" latinLnBrk="1"/>
              <a:r>
                <a:rPr lang="en-US" altLang="ko-KR" sz="800" b="1" dirty="0">
                  <a:solidFill>
                    <a:prstClr val="black"/>
                  </a:solidFill>
                  <a:latin typeface="맑은 고딕" panose="020F0502020204030204"/>
                </a:rPr>
                <a:t>Optimizer</a:t>
              </a:r>
              <a:endParaRPr lang="ko-KR" altLang="en-US" sz="8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211" name="직사각형 210"/>
            <p:cNvSpPr/>
            <p:nvPr/>
          </p:nvSpPr>
          <p:spPr>
            <a:xfrm>
              <a:off x="8151423" y="2741178"/>
              <a:ext cx="725559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Meta-heuristic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12" name="직사각형 211"/>
            <p:cNvSpPr/>
            <p:nvPr/>
          </p:nvSpPr>
          <p:spPr>
            <a:xfrm>
              <a:off x="8944634" y="2741178"/>
              <a:ext cx="863292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Linear programming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13" name="직사각형 212"/>
            <p:cNvSpPr/>
            <p:nvPr/>
          </p:nvSpPr>
          <p:spPr>
            <a:xfrm>
              <a:off x="9875578" y="2745492"/>
              <a:ext cx="863292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Deep learning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14" name="직사각형 213"/>
            <p:cNvSpPr/>
            <p:nvPr/>
          </p:nvSpPr>
          <p:spPr>
            <a:xfrm>
              <a:off x="7398019" y="3444189"/>
              <a:ext cx="3455728" cy="58834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5" name="직사각형 214"/>
            <p:cNvSpPr/>
            <p:nvPr/>
          </p:nvSpPr>
          <p:spPr>
            <a:xfrm>
              <a:off x="7399523" y="3301971"/>
              <a:ext cx="420759" cy="14105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7378803" y="3554141"/>
              <a:ext cx="9619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latinLnBrk="1"/>
              <a:r>
                <a:rPr lang="en-US" altLang="ko-KR" sz="800" b="1" dirty="0">
                  <a:solidFill>
                    <a:prstClr val="black"/>
                  </a:solidFill>
                  <a:latin typeface="맑은 고딕" panose="020F0502020204030204"/>
                </a:rPr>
                <a:t>Performance Estimator</a:t>
              </a:r>
              <a:endParaRPr lang="ko-KR" altLang="en-US" sz="800" b="1" dirty="0">
                <a:solidFill>
                  <a:prstClr val="black"/>
                </a:solidFill>
                <a:latin typeface="맑은 고딕" panose="020F0502020204030204"/>
              </a:endParaRPr>
            </a:p>
          </p:txBody>
        </p:sp>
        <p:sp>
          <p:nvSpPr>
            <p:cNvPr id="217" name="직사각형 216"/>
            <p:cNvSpPr/>
            <p:nvPr/>
          </p:nvSpPr>
          <p:spPr>
            <a:xfrm>
              <a:off x="8406902" y="3588384"/>
              <a:ext cx="725559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System builder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18" name="직사각형 217"/>
            <p:cNvSpPr/>
            <p:nvPr/>
          </p:nvSpPr>
          <p:spPr>
            <a:xfrm>
              <a:off x="9200388" y="3588384"/>
              <a:ext cx="740886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Cost model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sp>
          <p:nvSpPr>
            <p:cNvPr id="219" name="직사각형 218"/>
            <p:cNvSpPr/>
            <p:nvPr/>
          </p:nvSpPr>
          <p:spPr>
            <a:xfrm>
              <a:off x="9997984" y="3592698"/>
              <a:ext cx="740886" cy="296171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 cap="flat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  <a:latin typeface="맑은 고딕" panose="020F0502020204030204"/>
                  <a:ea typeface="맑은 고딕" panose="020B0503020000020004" pitchFamily="50" charset="-127"/>
                </a:rPr>
                <a:t>Executor</a:t>
              </a:r>
              <a:endPara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endParaRPr>
            </a:p>
          </p:txBody>
        </p:sp>
        <p:cxnSp>
          <p:nvCxnSpPr>
            <p:cNvPr id="220" name="직선 화살표 연결선 219"/>
            <p:cNvCxnSpPr>
              <a:stCxn id="180" idx="3"/>
            </p:cNvCxnSpPr>
            <p:nvPr/>
          </p:nvCxnSpPr>
          <p:spPr>
            <a:xfrm>
              <a:off x="6176028" y="2714999"/>
              <a:ext cx="1045874" cy="0"/>
            </a:xfrm>
            <a:prstGeom prst="straightConnector1">
              <a:avLst/>
            </a:prstGeom>
            <a:ln>
              <a:prstDash val="dash"/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1" name="TextBox 220"/>
            <p:cNvSpPr txBox="1"/>
            <p:nvPr/>
          </p:nvSpPr>
          <p:spPr>
            <a:xfrm>
              <a:off x="6585238" y="2469970"/>
              <a:ext cx="63269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dirty="0"/>
                <a:t>&lt;&lt;use&gt;&gt;</a:t>
              </a:r>
              <a:endParaRPr lang="ko-KR" altLang="en-US" sz="900" dirty="0"/>
            </a:p>
          </p:txBody>
        </p:sp>
        <p:sp>
          <p:nvSpPr>
            <p:cNvPr id="222" name="직사각형 221"/>
            <p:cNvSpPr/>
            <p:nvPr/>
          </p:nvSpPr>
          <p:spPr>
            <a:xfrm>
              <a:off x="1520152" y="3554834"/>
              <a:ext cx="1874942" cy="205138"/>
            </a:xfrm>
            <a:prstGeom prst="rect">
              <a:avLst/>
            </a:prstGeom>
            <a:solidFill>
              <a:srgbClr val="F024C9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DP-04. </a:t>
              </a:r>
              <a:r>
                <a:rPr lang="ko-KR" altLang="en-US" sz="1000" b="1" dirty="0"/>
                <a:t>하드웨어 정보 구성</a:t>
              </a:r>
            </a:p>
          </p:txBody>
        </p:sp>
        <p:sp>
          <p:nvSpPr>
            <p:cNvPr id="223" name="직사각형 222"/>
            <p:cNvSpPr/>
            <p:nvPr/>
          </p:nvSpPr>
          <p:spPr>
            <a:xfrm>
              <a:off x="1537246" y="2511883"/>
              <a:ext cx="943918" cy="1042257"/>
            </a:xfrm>
            <a:prstGeom prst="rect">
              <a:avLst/>
            </a:prstGeom>
            <a:noFill/>
            <a:ln w="28575">
              <a:solidFill>
                <a:srgbClr val="F024C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25" name="직사각형 224"/>
            <p:cNvSpPr/>
            <p:nvPr/>
          </p:nvSpPr>
          <p:spPr>
            <a:xfrm>
              <a:off x="3598103" y="2149212"/>
              <a:ext cx="2671883" cy="827834"/>
            </a:xfrm>
            <a:prstGeom prst="rect">
              <a:avLst/>
            </a:prstGeom>
            <a:noFill/>
            <a:ln w="28575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26" name="직사각형 225"/>
            <p:cNvSpPr/>
            <p:nvPr/>
          </p:nvSpPr>
          <p:spPr>
            <a:xfrm>
              <a:off x="4487016" y="1541596"/>
              <a:ext cx="1782969" cy="474327"/>
            </a:xfrm>
            <a:prstGeom prst="rect">
              <a:avLst/>
            </a:prstGeom>
            <a:noFill/>
            <a:ln w="28575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24" name="직사각형 223"/>
            <p:cNvSpPr/>
            <p:nvPr/>
          </p:nvSpPr>
          <p:spPr>
            <a:xfrm>
              <a:off x="3585054" y="1952568"/>
              <a:ext cx="2059980" cy="205138"/>
            </a:xfrm>
            <a:prstGeom prst="rect">
              <a:avLst/>
            </a:prstGeom>
            <a:solidFill>
              <a:srgbClr val="FF990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DP-03. </a:t>
              </a:r>
              <a:r>
                <a:rPr lang="ko-KR" altLang="en-US" sz="1000" b="1" dirty="0"/>
                <a:t>컴파일러 중간 표현 구조 </a:t>
              </a:r>
            </a:p>
          </p:txBody>
        </p:sp>
        <p:sp>
          <p:nvSpPr>
            <p:cNvPr id="228" name="직사각형 227"/>
            <p:cNvSpPr/>
            <p:nvPr/>
          </p:nvSpPr>
          <p:spPr>
            <a:xfrm>
              <a:off x="3598103" y="3085476"/>
              <a:ext cx="897742" cy="452685"/>
            </a:xfrm>
            <a:prstGeom prst="rect">
              <a:avLst/>
            </a:prstGeom>
            <a:noFill/>
            <a:ln w="28575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29" name="직사각형 228"/>
            <p:cNvSpPr/>
            <p:nvPr/>
          </p:nvSpPr>
          <p:spPr>
            <a:xfrm>
              <a:off x="5416513" y="2522945"/>
              <a:ext cx="796695" cy="385616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0" name="직사각형 229"/>
            <p:cNvSpPr/>
            <p:nvPr/>
          </p:nvSpPr>
          <p:spPr>
            <a:xfrm>
              <a:off x="7182131" y="1491918"/>
              <a:ext cx="3994563" cy="2837937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3" name="직사각형 232"/>
            <p:cNvSpPr/>
            <p:nvPr/>
          </p:nvSpPr>
          <p:spPr>
            <a:xfrm>
              <a:off x="7124099" y="1422533"/>
              <a:ext cx="4128156" cy="2998785"/>
            </a:xfrm>
            <a:prstGeom prst="rect">
              <a:avLst/>
            </a:prstGeom>
            <a:noFill/>
            <a:ln w="28575">
              <a:solidFill>
                <a:srgbClr val="FF99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4" name="직사각형 233"/>
            <p:cNvSpPr/>
            <p:nvPr/>
          </p:nvSpPr>
          <p:spPr>
            <a:xfrm>
              <a:off x="2668128" y="4085681"/>
              <a:ext cx="3877132" cy="1265568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1" name="직사각형 230"/>
            <p:cNvSpPr/>
            <p:nvPr/>
          </p:nvSpPr>
          <p:spPr>
            <a:xfrm>
              <a:off x="2668127" y="5368587"/>
              <a:ext cx="3877132" cy="630847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2" name="직사각형 231"/>
            <p:cNvSpPr/>
            <p:nvPr/>
          </p:nvSpPr>
          <p:spPr>
            <a:xfrm>
              <a:off x="2656255" y="5155711"/>
              <a:ext cx="1934602" cy="205138"/>
            </a:xfrm>
            <a:prstGeom prst="rect">
              <a:avLst/>
            </a:prstGeom>
            <a:solidFill>
              <a:srgbClr val="00B05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DP-02. </a:t>
              </a:r>
              <a:r>
                <a:rPr lang="ko-KR" altLang="en-US" sz="1000" b="1" dirty="0"/>
                <a:t>스케줄링 최적화 시점</a:t>
              </a:r>
            </a:p>
          </p:txBody>
        </p:sp>
        <p:sp>
          <p:nvSpPr>
            <p:cNvPr id="235" name="직사각형 234"/>
            <p:cNvSpPr/>
            <p:nvPr/>
          </p:nvSpPr>
          <p:spPr>
            <a:xfrm>
              <a:off x="4070837" y="3516850"/>
              <a:ext cx="2144113" cy="205138"/>
            </a:xfrm>
            <a:prstGeom prst="rect">
              <a:avLst/>
            </a:prstGeom>
            <a:solidFill>
              <a:srgbClr val="7030A0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DP-05. </a:t>
              </a:r>
              <a:r>
                <a:rPr lang="ko-KR" altLang="en-US" sz="1000" b="1" dirty="0"/>
                <a:t>분산 서버 간의 동작 구조</a:t>
              </a:r>
            </a:p>
          </p:txBody>
        </p:sp>
        <p:sp>
          <p:nvSpPr>
            <p:cNvPr id="236" name="직사각형 235"/>
            <p:cNvSpPr/>
            <p:nvPr/>
          </p:nvSpPr>
          <p:spPr>
            <a:xfrm>
              <a:off x="4495844" y="3088568"/>
              <a:ext cx="1707311" cy="449593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7" name="직사각형 236"/>
            <p:cNvSpPr/>
            <p:nvPr/>
          </p:nvSpPr>
          <p:spPr>
            <a:xfrm>
              <a:off x="1294733" y="1016139"/>
              <a:ext cx="5425261" cy="5786429"/>
            </a:xfrm>
            <a:prstGeom prst="rect">
              <a:avLst/>
            </a:prstGeom>
            <a:noFill/>
            <a:ln w="28575">
              <a:solidFill>
                <a:srgbClr val="00ACE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238" name="직사각형 237"/>
            <p:cNvSpPr/>
            <p:nvPr/>
          </p:nvSpPr>
          <p:spPr>
            <a:xfrm>
              <a:off x="4423943" y="1016139"/>
              <a:ext cx="2296051" cy="232053"/>
            </a:xfrm>
            <a:prstGeom prst="rect">
              <a:avLst/>
            </a:prstGeom>
            <a:solidFill>
              <a:srgbClr val="00ACEB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/>
                <a:t>DP-01. </a:t>
              </a:r>
              <a:r>
                <a:rPr lang="ko-KR" altLang="en-US" sz="1000" b="1" dirty="0"/>
                <a:t>프레임워크에서의 실행 구조</a:t>
              </a:r>
            </a:p>
          </p:txBody>
        </p:sp>
      </p:grpSp>
      <p:sp>
        <p:nvSpPr>
          <p:cNvPr id="124" name="양쪽 모서리가 잘린 사각형 123"/>
          <p:cNvSpPr/>
          <p:nvPr/>
        </p:nvSpPr>
        <p:spPr>
          <a:xfrm>
            <a:off x="172028" y="978039"/>
            <a:ext cx="11817436" cy="297258"/>
          </a:xfrm>
          <a:prstGeom prst="snip2SameRect">
            <a:avLst/>
          </a:prstGeom>
          <a:solidFill>
            <a:srgbClr val="335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Module View</a:t>
            </a:r>
          </a:p>
        </p:txBody>
      </p:sp>
    </p:spTree>
    <p:extLst>
      <p:ext uri="{BB962C8B-B14F-4D97-AF65-F5344CB8AC3E}">
        <p14:creationId xmlns:p14="http://schemas.microsoft.com/office/powerpoint/2010/main" val="3314860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직사각형 141"/>
          <p:cNvSpPr/>
          <p:nvPr/>
        </p:nvSpPr>
        <p:spPr>
          <a:xfrm>
            <a:off x="7370717" y="4602481"/>
            <a:ext cx="4700819" cy="196596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5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/>
          <p:cNvGrpSpPr/>
          <p:nvPr/>
        </p:nvGrpSpPr>
        <p:grpSpPr>
          <a:xfrm>
            <a:off x="5850067" y="102872"/>
            <a:ext cx="6221469" cy="201686"/>
            <a:chOff x="3253771" y="153288"/>
            <a:chExt cx="5655881" cy="166683"/>
          </a:xfrm>
        </p:grpSpPr>
        <p:sp>
          <p:nvSpPr>
            <p:cNvPr id="21" name="자유형 20"/>
            <p:cNvSpPr/>
            <p:nvPr/>
          </p:nvSpPr>
          <p:spPr>
            <a:xfrm>
              <a:off x="3253771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>
                  <a:solidFill>
                    <a:schemeClr val="tx1"/>
                  </a:solidFill>
                </a:rPr>
                <a:t>과제 개요</a:t>
              </a:r>
            </a:p>
          </p:txBody>
        </p:sp>
        <p:sp>
          <p:nvSpPr>
            <p:cNvPr id="22" name="자유형 21"/>
            <p:cNvSpPr/>
            <p:nvPr/>
          </p:nvSpPr>
          <p:spPr>
            <a:xfrm>
              <a:off x="4196418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3" name="자유형 22"/>
            <p:cNvSpPr/>
            <p:nvPr/>
          </p:nvSpPr>
          <p:spPr>
            <a:xfrm>
              <a:off x="4453504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요구사항</a:t>
              </a:r>
            </a:p>
          </p:txBody>
        </p:sp>
        <p:sp>
          <p:nvSpPr>
            <p:cNvPr id="24" name="자유형 23"/>
            <p:cNvSpPr/>
            <p:nvPr/>
          </p:nvSpPr>
          <p:spPr>
            <a:xfrm>
              <a:off x="5396151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5" name="자유형 24"/>
            <p:cNvSpPr/>
            <p:nvPr/>
          </p:nvSpPr>
          <p:spPr>
            <a:xfrm>
              <a:off x="5653236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b="1" dirty="0"/>
                <a:t>설계</a:t>
              </a:r>
            </a:p>
          </p:txBody>
        </p:sp>
        <p:sp>
          <p:nvSpPr>
            <p:cNvPr id="26" name="자유형 25"/>
            <p:cNvSpPr/>
            <p:nvPr/>
          </p:nvSpPr>
          <p:spPr>
            <a:xfrm>
              <a:off x="6595883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7" name="자유형 26"/>
            <p:cNvSpPr/>
            <p:nvPr/>
          </p:nvSpPr>
          <p:spPr>
            <a:xfrm>
              <a:off x="6852969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검증</a:t>
              </a:r>
            </a:p>
          </p:txBody>
        </p:sp>
        <p:sp>
          <p:nvSpPr>
            <p:cNvPr id="28" name="자유형 27"/>
            <p:cNvSpPr/>
            <p:nvPr/>
          </p:nvSpPr>
          <p:spPr>
            <a:xfrm>
              <a:off x="7795616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9" name="자유형 28"/>
            <p:cNvSpPr/>
            <p:nvPr/>
          </p:nvSpPr>
          <p:spPr>
            <a:xfrm>
              <a:off x="8052701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결론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201714" y="175494"/>
            <a:ext cx="50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최종 구조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130249" y="1293591"/>
            <a:ext cx="7108395" cy="52748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양쪽 모서리가 잘린 사각형 123"/>
          <p:cNvSpPr/>
          <p:nvPr/>
        </p:nvSpPr>
        <p:spPr>
          <a:xfrm>
            <a:off x="118688" y="1016139"/>
            <a:ext cx="7121886" cy="297258"/>
          </a:xfrm>
          <a:prstGeom prst="snip2Same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Component &amp; Connector View</a:t>
            </a:r>
          </a:p>
        </p:txBody>
      </p:sp>
      <p:sp>
        <p:nvSpPr>
          <p:cNvPr id="125" name="직사각형 124"/>
          <p:cNvSpPr/>
          <p:nvPr/>
        </p:nvSpPr>
        <p:spPr>
          <a:xfrm>
            <a:off x="7370717" y="1293591"/>
            <a:ext cx="4700819" cy="326316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양쪽 모서리가 잘린 사각형 125"/>
          <p:cNvSpPr/>
          <p:nvPr/>
        </p:nvSpPr>
        <p:spPr>
          <a:xfrm>
            <a:off x="7368788" y="1016139"/>
            <a:ext cx="4702748" cy="297258"/>
          </a:xfrm>
          <a:prstGeom prst="snip2Same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Deployment View</a:t>
            </a:r>
          </a:p>
        </p:txBody>
      </p:sp>
      <p:pic>
        <p:nvPicPr>
          <p:cNvPr id="137" name="그림 13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19" y="1590849"/>
            <a:ext cx="7066325" cy="4595959"/>
          </a:xfrm>
          <a:prstGeom prst="rect">
            <a:avLst/>
          </a:prstGeom>
        </p:spPr>
      </p:pic>
      <p:pic>
        <p:nvPicPr>
          <p:cNvPr id="138" name="그림 137" descr="C:\Users\hw7884.jung\AppData\Local\Microsoft\Windows\INetCache\Content.MSO\FF7AEBED.tmp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5871" y="1359117"/>
            <a:ext cx="2876098" cy="3140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그림 138" descr="C:\Users\hw7884.jung\AppData\Local\Microsoft\Windows\INetCache\Content.MSO\25473889.tmp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1244" y="4648834"/>
            <a:ext cx="3149121" cy="187769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TextBox 139"/>
          <p:cNvSpPr txBox="1"/>
          <p:nvPr/>
        </p:nvSpPr>
        <p:spPr>
          <a:xfrm>
            <a:off x="7325365" y="2712924"/>
            <a:ext cx="13288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ko-KR" sz="1000" b="1" dirty="0"/>
              <a:t>1) </a:t>
            </a:r>
            <a:r>
              <a:rPr lang="ko-KR" altLang="en-US" sz="1000" b="1" dirty="0"/>
              <a:t>딥 러닝 학습 서버 </a:t>
            </a:r>
            <a:r>
              <a:rPr lang="en-US" altLang="ko-KR" sz="1000" b="1" dirty="0"/>
              <a:t>Deployment View</a:t>
            </a:r>
            <a:endParaRPr lang="ko-KR" altLang="en-US" sz="1000" b="1" dirty="0"/>
          </a:p>
        </p:txBody>
      </p:sp>
      <p:sp>
        <p:nvSpPr>
          <p:cNvPr id="141" name="TextBox 140"/>
          <p:cNvSpPr txBox="1"/>
          <p:nvPr/>
        </p:nvSpPr>
        <p:spPr>
          <a:xfrm>
            <a:off x="7306315" y="5392422"/>
            <a:ext cx="15350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ko-KR" sz="1000" b="1" dirty="0"/>
              <a:t>2) </a:t>
            </a:r>
            <a:r>
              <a:rPr lang="en-US" altLang="ko-KR" sz="1000" b="1" dirty="0" err="1"/>
              <a:t>Ondevice</a:t>
            </a:r>
            <a:r>
              <a:rPr lang="en-US" altLang="ko-KR" sz="1000" b="1" dirty="0"/>
              <a:t> </a:t>
            </a:r>
            <a:r>
              <a:rPr lang="ko-KR" altLang="en-US" sz="1000" b="1" dirty="0"/>
              <a:t>추론 시스템 </a:t>
            </a:r>
            <a:r>
              <a:rPr lang="en-US" altLang="ko-KR" sz="1000" b="1" dirty="0"/>
              <a:t>Deployment View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38109455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01714" y="175494"/>
            <a:ext cx="50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최종 구조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</a:rPr>
              <a:t>설계</a:t>
            </a:r>
          </a:p>
        </p:txBody>
      </p:sp>
      <p:grpSp>
        <p:nvGrpSpPr>
          <p:cNvPr id="33" name="그룹 32"/>
          <p:cNvGrpSpPr/>
          <p:nvPr/>
        </p:nvGrpSpPr>
        <p:grpSpPr>
          <a:xfrm>
            <a:off x="11678204" y="512314"/>
            <a:ext cx="350701" cy="304648"/>
            <a:chOff x="4333458" y="997205"/>
            <a:chExt cx="421422" cy="366082"/>
          </a:xfrm>
        </p:grpSpPr>
        <p:sp>
          <p:nvSpPr>
            <p:cNvPr id="34" name="직사각형 33">
              <a:hlinkClick r:id="" action="ppaction://noaction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이등변 삼각형 34">
              <a:hlinkClick r:id="" action="ppaction://noaction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189874" y="539963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Back: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pic>
        <p:nvPicPr>
          <p:cNvPr id="37" name="그림 36" descr="C:\Users\hw7884.jung\AppData\Local\Microsoft\Windows\INetCache\Content.MSO\AC53B071.tmp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403"/>
          <a:stretch/>
        </p:blipFill>
        <p:spPr bwMode="auto">
          <a:xfrm>
            <a:off x="1781652" y="996254"/>
            <a:ext cx="4197985" cy="581608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8" name="그림 37" descr="C:\Users\hw7884.jung\AppData\Local\Microsoft\Windows\INetCache\Content.MSO\54772A2B.tmp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30"/>
          <a:stretch/>
        </p:blipFill>
        <p:spPr bwMode="auto">
          <a:xfrm>
            <a:off x="7878127" y="996254"/>
            <a:ext cx="3211513" cy="570338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2438" y="996254"/>
            <a:ext cx="1579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/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1. Compiler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전체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Class diagram</a:t>
            </a:r>
            <a:endParaRPr lang="ko-KR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98189" y="996254"/>
            <a:ext cx="15799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/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2. Runtime </a:t>
            </a:r>
            <a:r>
              <a:rPr lang="ko-KR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전체 </a:t>
            </a:r>
            <a:r>
              <a:rPr lang="en-US" altLang="ko-KR" sz="1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Class diagram</a:t>
            </a:r>
            <a:endParaRPr lang="ko-KR" alt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314459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5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01714" y="175494"/>
            <a:ext cx="50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최종 구조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130249" y="1293591"/>
            <a:ext cx="6041951" cy="52748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양쪽 모서리가 잘린 사각형 123"/>
          <p:cNvSpPr/>
          <p:nvPr/>
        </p:nvSpPr>
        <p:spPr>
          <a:xfrm>
            <a:off x="118688" y="1016139"/>
            <a:ext cx="6053418" cy="297258"/>
          </a:xfrm>
          <a:prstGeom prst="snip2Same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Class Diagram: UC01 </a:t>
            </a:r>
            <a:r>
              <a:rPr lang="ko-KR" altLang="en-US" sz="1400" b="1" dirty="0">
                <a:solidFill>
                  <a:schemeClr val="bg1"/>
                </a:solidFill>
                <a:latin typeface="+mj-ea"/>
              </a:rPr>
              <a:t>모델 변환</a:t>
            </a:r>
            <a:endParaRPr lang="en-US" altLang="ko-KR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6347460" y="1293591"/>
            <a:ext cx="5724076" cy="52748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양쪽 모서리가 잘린 사각형 125"/>
          <p:cNvSpPr/>
          <p:nvPr/>
        </p:nvSpPr>
        <p:spPr>
          <a:xfrm>
            <a:off x="6336596" y="1016139"/>
            <a:ext cx="5734939" cy="297258"/>
          </a:xfrm>
          <a:prstGeom prst="snip2Same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Sequence Diagram: UC01 </a:t>
            </a:r>
            <a:r>
              <a:rPr lang="ko-KR" altLang="en-US" sz="1400" b="1" dirty="0">
                <a:solidFill>
                  <a:schemeClr val="bg1"/>
                </a:solidFill>
                <a:latin typeface="+mj-ea"/>
              </a:rPr>
              <a:t>모델 변환</a:t>
            </a:r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 </a:t>
            </a:r>
          </a:p>
        </p:txBody>
      </p:sp>
      <p:pic>
        <p:nvPicPr>
          <p:cNvPr id="33" name="그림 32"/>
          <p:cNvPicPr/>
          <p:nvPr/>
        </p:nvPicPr>
        <p:blipFill rotWithShape="1">
          <a:blip r:embed="rId3"/>
          <a:srcRect l="1324" t="7922" r="3962" b="7562"/>
          <a:stretch/>
        </p:blipFill>
        <p:spPr bwMode="auto">
          <a:xfrm>
            <a:off x="182528" y="2209800"/>
            <a:ext cx="5951478" cy="293126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4" name="그림 13"/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09"/>
          <a:stretch/>
        </p:blipFill>
        <p:spPr bwMode="auto">
          <a:xfrm>
            <a:off x="6587865" y="2011997"/>
            <a:ext cx="5232400" cy="354520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5" name="그룹 14"/>
          <p:cNvGrpSpPr/>
          <p:nvPr/>
        </p:nvGrpSpPr>
        <p:grpSpPr>
          <a:xfrm>
            <a:off x="11678204" y="512314"/>
            <a:ext cx="350701" cy="304648"/>
            <a:chOff x="4333458" y="997205"/>
            <a:chExt cx="421422" cy="366082"/>
          </a:xfrm>
        </p:grpSpPr>
        <p:sp>
          <p:nvSpPr>
            <p:cNvPr id="16" name="직사각형 15">
              <a:hlinkClick r:id="" action="ppaction://noaction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이등변 삼각형 16">
              <a:hlinkClick r:id="" action="ppaction://noaction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11189874" y="539963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Back: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0758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01714" y="175494"/>
            <a:ext cx="50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최종 구조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130249" y="1293591"/>
            <a:ext cx="6041951" cy="52748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양쪽 모서리가 잘린 사각형 123"/>
          <p:cNvSpPr/>
          <p:nvPr/>
        </p:nvSpPr>
        <p:spPr>
          <a:xfrm>
            <a:off x="118688" y="1016139"/>
            <a:ext cx="6053418" cy="297258"/>
          </a:xfrm>
          <a:prstGeom prst="snip2SameRect">
            <a:avLst/>
          </a:prstGeom>
          <a:solidFill>
            <a:srgbClr val="335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Class Diagram: UC02 </a:t>
            </a:r>
            <a:r>
              <a:rPr lang="ko-KR" altLang="en-US" sz="1400" b="1" dirty="0">
                <a:solidFill>
                  <a:schemeClr val="bg1"/>
                </a:solidFill>
                <a:latin typeface="+mj-ea"/>
              </a:rPr>
              <a:t>모델 컴파일</a:t>
            </a:r>
            <a:endParaRPr lang="en-US" altLang="ko-KR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6347460" y="1293591"/>
            <a:ext cx="5724076" cy="52748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양쪽 모서리가 잘린 사각형 125"/>
          <p:cNvSpPr/>
          <p:nvPr/>
        </p:nvSpPr>
        <p:spPr>
          <a:xfrm>
            <a:off x="6336596" y="1016139"/>
            <a:ext cx="5734939" cy="297258"/>
          </a:xfrm>
          <a:prstGeom prst="snip2SameRect">
            <a:avLst/>
          </a:prstGeom>
          <a:solidFill>
            <a:srgbClr val="335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Sequence Diagram: UC02 </a:t>
            </a:r>
            <a:r>
              <a:rPr lang="ko-KR" altLang="en-US" sz="1400" b="1" dirty="0">
                <a:solidFill>
                  <a:schemeClr val="bg1"/>
                </a:solidFill>
                <a:latin typeface="+mj-ea"/>
              </a:rPr>
              <a:t>모델 컴파일</a:t>
            </a:r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 </a:t>
            </a:r>
          </a:p>
        </p:txBody>
      </p:sp>
      <p:pic>
        <p:nvPicPr>
          <p:cNvPr id="38" name="그림 37"/>
          <p:cNvPicPr/>
          <p:nvPr/>
        </p:nvPicPr>
        <p:blipFill>
          <a:blip r:embed="rId3"/>
          <a:stretch>
            <a:fillRect/>
          </a:stretch>
        </p:blipFill>
        <p:spPr>
          <a:xfrm>
            <a:off x="1248404" y="1402913"/>
            <a:ext cx="4161796" cy="2643303"/>
          </a:xfrm>
          <a:prstGeom prst="rect">
            <a:avLst/>
          </a:prstGeom>
        </p:spPr>
      </p:pic>
      <p:pic>
        <p:nvPicPr>
          <p:cNvPr id="39" name="그림 38"/>
          <p:cNvPicPr/>
          <p:nvPr/>
        </p:nvPicPr>
        <p:blipFill>
          <a:blip r:embed="rId4"/>
          <a:stretch>
            <a:fillRect/>
          </a:stretch>
        </p:blipFill>
        <p:spPr>
          <a:xfrm>
            <a:off x="1132674" y="4135732"/>
            <a:ext cx="4025446" cy="2342511"/>
          </a:xfrm>
          <a:prstGeom prst="rect">
            <a:avLst/>
          </a:prstGeom>
        </p:spPr>
      </p:pic>
      <p:pic>
        <p:nvPicPr>
          <p:cNvPr id="40" name="그림 39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140" y="1453231"/>
            <a:ext cx="5149849" cy="5038254"/>
          </a:xfrm>
          <a:prstGeom prst="rect">
            <a:avLst/>
          </a:prstGeom>
        </p:spPr>
      </p:pic>
      <p:grpSp>
        <p:nvGrpSpPr>
          <p:cNvPr id="41" name="그룹 40"/>
          <p:cNvGrpSpPr/>
          <p:nvPr/>
        </p:nvGrpSpPr>
        <p:grpSpPr>
          <a:xfrm>
            <a:off x="11678204" y="512314"/>
            <a:ext cx="350701" cy="304648"/>
            <a:chOff x="4333458" y="997205"/>
            <a:chExt cx="421422" cy="366082"/>
          </a:xfrm>
        </p:grpSpPr>
        <p:sp>
          <p:nvSpPr>
            <p:cNvPr id="42" name="직사각형 41">
              <a:hlinkClick r:id="" action="ppaction://noaction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이등변 삼각형 42">
              <a:hlinkClick r:id="" action="ppaction://noaction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11189874" y="539963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Back: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9460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5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01714" y="175494"/>
            <a:ext cx="50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최종 구조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130249" y="1293591"/>
            <a:ext cx="6041951" cy="52748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양쪽 모서리가 잘린 사각형 123"/>
          <p:cNvSpPr/>
          <p:nvPr/>
        </p:nvSpPr>
        <p:spPr>
          <a:xfrm>
            <a:off x="118688" y="1016139"/>
            <a:ext cx="6053418" cy="297258"/>
          </a:xfrm>
          <a:prstGeom prst="snip2Same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Class Diagram: UC05 </a:t>
            </a:r>
            <a:r>
              <a:rPr lang="ko-KR" altLang="en-US" sz="1400" b="1" dirty="0">
                <a:solidFill>
                  <a:schemeClr val="bg1"/>
                </a:solidFill>
                <a:latin typeface="+mj-ea"/>
              </a:rPr>
              <a:t>모델 실행</a:t>
            </a:r>
            <a:endParaRPr lang="en-US" altLang="ko-KR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6347460" y="1293591"/>
            <a:ext cx="5724076" cy="52748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양쪽 모서리가 잘린 사각형 125"/>
          <p:cNvSpPr/>
          <p:nvPr/>
        </p:nvSpPr>
        <p:spPr>
          <a:xfrm>
            <a:off x="6336596" y="1016139"/>
            <a:ext cx="5734939" cy="297258"/>
          </a:xfrm>
          <a:prstGeom prst="snip2Same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Sequence Diagram: UC05 </a:t>
            </a:r>
            <a:r>
              <a:rPr lang="ko-KR" altLang="en-US" sz="1400" b="1" dirty="0">
                <a:solidFill>
                  <a:schemeClr val="bg1"/>
                </a:solidFill>
                <a:latin typeface="+mj-ea"/>
              </a:rPr>
              <a:t>모델 실행</a:t>
            </a:r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 </a:t>
            </a:r>
          </a:p>
        </p:txBody>
      </p:sp>
      <p:pic>
        <p:nvPicPr>
          <p:cNvPr id="31" name="그림 3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6809" y="1402913"/>
            <a:ext cx="4934512" cy="5011959"/>
          </a:xfrm>
          <a:prstGeom prst="rect">
            <a:avLst/>
          </a:prstGeom>
        </p:spPr>
      </p:pic>
      <p:pic>
        <p:nvPicPr>
          <p:cNvPr id="32" name="그림 31"/>
          <p:cNvPicPr/>
          <p:nvPr/>
        </p:nvPicPr>
        <p:blipFill>
          <a:blip r:embed="rId4"/>
          <a:stretch>
            <a:fillRect/>
          </a:stretch>
        </p:blipFill>
        <p:spPr>
          <a:xfrm>
            <a:off x="410209" y="1453586"/>
            <a:ext cx="5490657" cy="4961286"/>
          </a:xfrm>
          <a:prstGeom prst="rect">
            <a:avLst/>
          </a:prstGeom>
        </p:spPr>
      </p:pic>
      <p:grpSp>
        <p:nvGrpSpPr>
          <p:cNvPr id="33" name="그룹 32"/>
          <p:cNvGrpSpPr/>
          <p:nvPr/>
        </p:nvGrpSpPr>
        <p:grpSpPr>
          <a:xfrm>
            <a:off x="11678204" y="512314"/>
            <a:ext cx="350701" cy="304648"/>
            <a:chOff x="4333458" y="997205"/>
            <a:chExt cx="421422" cy="366082"/>
          </a:xfrm>
        </p:grpSpPr>
        <p:sp>
          <p:nvSpPr>
            <p:cNvPr id="34" name="직사각형 33">
              <a:hlinkClick r:id="" action="ppaction://noaction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이등변 삼각형 34">
              <a:hlinkClick r:id="" action="ppaction://noaction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1189874" y="539963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Back: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4684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01714" y="175494"/>
            <a:ext cx="50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최종 구조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130249" y="1293591"/>
            <a:ext cx="6041951" cy="52748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양쪽 모서리가 잘린 사각형 123"/>
          <p:cNvSpPr/>
          <p:nvPr/>
        </p:nvSpPr>
        <p:spPr>
          <a:xfrm>
            <a:off x="118688" y="1016139"/>
            <a:ext cx="6053418" cy="297258"/>
          </a:xfrm>
          <a:prstGeom prst="snip2SameRect">
            <a:avLst/>
          </a:prstGeom>
          <a:solidFill>
            <a:srgbClr val="335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Class Diagram: UC09 </a:t>
            </a:r>
            <a:r>
              <a:rPr lang="ko-KR" altLang="en-US" sz="1400" b="1" dirty="0">
                <a:solidFill>
                  <a:schemeClr val="bg1"/>
                </a:solidFill>
                <a:latin typeface="+mj-ea"/>
              </a:rPr>
              <a:t>다중 서버 실행</a:t>
            </a:r>
            <a:endParaRPr lang="en-US" altLang="ko-KR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6347460" y="1293591"/>
            <a:ext cx="5724076" cy="52748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양쪽 모서리가 잘린 사각형 125"/>
          <p:cNvSpPr/>
          <p:nvPr/>
        </p:nvSpPr>
        <p:spPr>
          <a:xfrm>
            <a:off x="6336596" y="1016139"/>
            <a:ext cx="5734939" cy="297258"/>
          </a:xfrm>
          <a:prstGeom prst="snip2SameRect">
            <a:avLst/>
          </a:prstGeom>
          <a:solidFill>
            <a:srgbClr val="335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Sequence Diagram: UC09 </a:t>
            </a:r>
            <a:r>
              <a:rPr lang="ko-KR" altLang="en-US" sz="1400" b="1" dirty="0">
                <a:solidFill>
                  <a:schemeClr val="bg1"/>
                </a:solidFill>
                <a:latin typeface="+mj-ea"/>
              </a:rPr>
              <a:t>다중 서버 실행</a:t>
            </a:r>
            <a:endParaRPr lang="en-US" altLang="ko-KR" sz="1400" b="1" dirty="0">
              <a:solidFill>
                <a:schemeClr val="bg1"/>
              </a:solidFill>
              <a:latin typeface="+mj-ea"/>
            </a:endParaRPr>
          </a:p>
        </p:txBody>
      </p:sp>
      <p:pic>
        <p:nvPicPr>
          <p:cNvPr id="15" name="그림 14"/>
          <p:cNvPicPr/>
          <p:nvPr/>
        </p:nvPicPr>
        <p:blipFill>
          <a:blip r:embed="rId3"/>
          <a:stretch>
            <a:fillRect/>
          </a:stretch>
        </p:blipFill>
        <p:spPr>
          <a:xfrm>
            <a:off x="590550" y="2545426"/>
            <a:ext cx="5295900" cy="1990725"/>
          </a:xfrm>
          <a:prstGeom prst="rect">
            <a:avLst/>
          </a:prstGeom>
        </p:spPr>
      </p:pic>
      <p:pic>
        <p:nvPicPr>
          <p:cNvPr id="16" name="그림 15" descr="C:\Users\hw7884.jung\AppData\Local\Microsoft\Windows\INetCache\Content.MSO\62CF0055.tmp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793" y="1845729"/>
            <a:ext cx="5394544" cy="417057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그룹 16"/>
          <p:cNvGrpSpPr/>
          <p:nvPr/>
        </p:nvGrpSpPr>
        <p:grpSpPr>
          <a:xfrm>
            <a:off x="11678204" y="512314"/>
            <a:ext cx="350701" cy="304648"/>
            <a:chOff x="4333458" y="997205"/>
            <a:chExt cx="421422" cy="366082"/>
          </a:xfrm>
        </p:grpSpPr>
        <p:sp>
          <p:nvSpPr>
            <p:cNvPr id="18" name="직사각형 17">
              <a:hlinkClick r:id="" action="ppaction://noaction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이등변 삼각형 19">
              <a:hlinkClick r:id="" action="ppaction://noaction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11189874" y="539963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Back: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9119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5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01714" y="175494"/>
            <a:ext cx="50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최종 구조</a:t>
            </a:r>
            <a:r>
              <a:rPr lang="en-US" altLang="ko-KR" sz="3200" b="1" dirty="0">
                <a:solidFill>
                  <a:schemeClr val="bg1"/>
                </a:solidFill>
              </a:rPr>
              <a:t> </a:t>
            </a:r>
            <a:r>
              <a:rPr lang="ko-KR" altLang="en-US" sz="3200" b="1" dirty="0">
                <a:solidFill>
                  <a:schemeClr val="bg1"/>
                </a:solidFill>
              </a:rPr>
              <a:t>설계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130249" y="1293591"/>
            <a:ext cx="6041951" cy="52748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양쪽 모서리가 잘린 사각형 123"/>
          <p:cNvSpPr/>
          <p:nvPr/>
        </p:nvSpPr>
        <p:spPr>
          <a:xfrm>
            <a:off x="118688" y="1016139"/>
            <a:ext cx="6053418" cy="297258"/>
          </a:xfrm>
          <a:prstGeom prst="snip2Same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Class Diagram: UC10 </a:t>
            </a:r>
            <a:r>
              <a:rPr lang="ko-KR" altLang="en-US" sz="1400" b="1" dirty="0">
                <a:solidFill>
                  <a:schemeClr val="bg1"/>
                </a:solidFill>
                <a:latin typeface="+mj-ea"/>
              </a:rPr>
              <a:t>데이터 오프로딩</a:t>
            </a:r>
            <a:endParaRPr lang="en-US" altLang="ko-KR" sz="1400" b="1" dirty="0">
              <a:solidFill>
                <a:schemeClr val="bg1"/>
              </a:solidFill>
              <a:latin typeface="+mj-ea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6347460" y="1293591"/>
            <a:ext cx="5724076" cy="52748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양쪽 모서리가 잘린 사각형 125"/>
          <p:cNvSpPr/>
          <p:nvPr/>
        </p:nvSpPr>
        <p:spPr>
          <a:xfrm>
            <a:off x="6336596" y="1016139"/>
            <a:ext cx="5734939" cy="297258"/>
          </a:xfrm>
          <a:prstGeom prst="snip2Same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solidFill>
                  <a:schemeClr val="bg1"/>
                </a:solidFill>
                <a:latin typeface="+mj-ea"/>
              </a:rPr>
              <a:t>Sequence Diagram: UC10 </a:t>
            </a:r>
            <a:r>
              <a:rPr lang="ko-KR" altLang="en-US" sz="1400" b="1" dirty="0">
                <a:solidFill>
                  <a:schemeClr val="bg1"/>
                </a:solidFill>
                <a:latin typeface="+mj-ea"/>
              </a:rPr>
              <a:t>데이터 오프로딩</a:t>
            </a:r>
            <a:endParaRPr lang="en-US" altLang="ko-KR" sz="1400" b="1" dirty="0">
              <a:solidFill>
                <a:schemeClr val="bg1"/>
              </a:solidFill>
              <a:latin typeface="+mj-ea"/>
            </a:endParaRPr>
          </a:p>
        </p:txBody>
      </p:sp>
      <p:pic>
        <p:nvPicPr>
          <p:cNvPr id="14" name="그림 13"/>
          <p:cNvPicPr/>
          <p:nvPr/>
        </p:nvPicPr>
        <p:blipFill>
          <a:blip r:embed="rId3"/>
          <a:stretch>
            <a:fillRect/>
          </a:stretch>
        </p:blipFill>
        <p:spPr>
          <a:xfrm>
            <a:off x="795972" y="2558732"/>
            <a:ext cx="5139055" cy="2324735"/>
          </a:xfrm>
          <a:prstGeom prst="rect">
            <a:avLst/>
          </a:prstGeom>
        </p:spPr>
      </p:pic>
      <p:pic>
        <p:nvPicPr>
          <p:cNvPr id="17" name="그림 16" descr="C:\Users\hw7884.jung\AppData\Local\Microsoft\Windows\INetCache\Content.MSO\D17BE50B.tmp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750" y="1416268"/>
            <a:ext cx="4948016" cy="50332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그룹 17"/>
          <p:cNvGrpSpPr/>
          <p:nvPr/>
        </p:nvGrpSpPr>
        <p:grpSpPr>
          <a:xfrm>
            <a:off x="11678204" y="512314"/>
            <a:ext cx="350701" cy="304648"/>
            <a:chOff x="4333458" y="997205"/>
            <a:chExt cx="421422" cy="366082"/>
          </a:xfrm>
        </p:grpSpPr>
        <p:sp>
          <p:nvSpPr>
            <p:cNvPr id="20" name="직사각형 19">
              <a:hlinkClick r:id="" action="ppaction://noaction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이등변 삼각형 20">
              <a:hlinkClick r:id="" action="ppaction://noaction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1189874" y="539963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Back: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8014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/>
          <p:cNvGrpSpPr/>
          <p:nvPr/>
        </p:nvGrpSpPr>
        <p:grpSpPr>
          <a:xfrm>
            <a:off x="5850067" y="102872"/>
            <a:ext cx="6221469" cy="201686"/>
            <a:chOff x="3253771" y="153288"/>
            <a:chExt cx="5655881" cy="166683"/>
          </a:xfrm>
        </p:grpSpPr>
        <p:sp>
          <p:nvSpPr>
            <p:cNvPr id="21" name="자유형 20"/>
            <p:cNvSpPr/>
            <p:nvPr/>
          </p:nvSpPr>
          <p:spPr>
            <a:xfrm>
              <a:off x="3253771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>
                  <a:solidFill>
                    <a:schemeClr val="tx1"/>
                  </a:solidFill>
                </a:rPr>
                <a:t>과제 개요</a:t>
              </a:r>
            </a:p>
          </p:txBody>
        </p:sp>
        <p:sp>
          <p:nvSpPr>
            <p:cNvPr id="22" name="자유형 21"/>
            <p:cNvSpPr/>
            <p:nvPr/>
          </p:nvSpPr>
          <p:spPr>
            <a:xfrm>
              <a:off x="4196418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3" name="자유형 22"/>
            <p:cNvSpPr/>
            <p:nvPr/>
          </p:nvSpPr>
          <p:spPr>
            <a:xfrm>
              <a:off x="4453504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요구사항</a:t>
              </a:r>
            </a:p>
          </p:txBody>
        </p:sp>
        <p:sp>
          <p:nvSpPr>
            <p:cNvPr id="24" name="자유형 23"/>
            <p:cNvSpPr/>
            <p:nvPr/>
          </p:nvSpPr>
          <p:spPr>
            <a:xfrm>
              <a:off x="5396151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5" name="자유형 24"/>
            <p:cNvSpPr/>
            <p:nvPr/>
          </p:nvSpPr>
          <p:spPr>
            <a:xfrm>
              <a:off x="5653236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설계</a:t>
              </a:r>
            </a:p>
          </p:txBody>
        </p:sp>
        <p:sp>
          <p:nvSpPr>
            <p:cNvPr id="26" name="자유형 25"/>
            <p:cNvSpPr/>
            <p:nvPr/>
          </p:nvSpPr>
          <p:spPr>
            <a:xfrm>
              <a:off x="6595883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7" name="자유형 26"/>
            <p:cNvSpPr/>
            <p:nvPr/>
          </p:nvSpPr>
          <p:spPr>
            <a:xfrm>
              <a:off x="6852969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b="1" dirty="0"/>
                <a:t>검증</a:t>
              </a:r>
            </a:p>
          </p:txBody>
        </p:sp>
        <p:sp>
          <p:nvSpPr>
            <p:cNvPr id="28" name="자유형 27"/>
            <p:cNvSpPr/>
            <p:nvPr/>
          </p:nvSpPr>
          <p:spPr>
            <a:xfrm>
              <a:off x="7795616" y="153288"/>
              <a:ext cx="181673" cy="166683"/>
            </a:xfrm>
            <a:custGeom>
              <a:avLst/>
              <a:gdLst>
                <a:gd name="connsiteX0" fmla="*/ 0 w 181673"/>
                <a:gd name="connsiteY0" fmla="*/ 33337 h 166683"/>
                <a:gd name="connsiteX1" fmla="*/ 98332 w 181673"/>
                <a:gd name="connsiteY1" fmla="*/ 33337 h 166683"/>
                <a:gd name="connsiteX2" fmla="*/ 98332 w 181673"/>
                <a:gd name="connsiteY2" fmla="*/ 0 h 166683"/>
                <a:gd name="connsiteX3" fmla="*/ 181673 w 181673"/>
                <a:gd name="connsiteY3" fmla="*/ 83342 h 166683"/>
                <a:gd name="connsiteX4" fmla="*/ 98332 w 181673"/>
                <a:gd name="connsiteY4" fmla="*/ 166683 h 166683"/>
                <a:gd name="connsiteX5" fmla="*/ 98332 w 181673"/>
                <a:gd name="connsiteY5" fmla="*/ 133346 h 166683"/>
                <a:gd name="connsiteX6" fmla="*/ 0 w 181673"/>
                <a:gd name="connsiteY6" fmla="*/ 133346 h 166683"/>
                <a:gd name="connsiteX7" fmla="*/ 0 w 181673"/>
                <a:gd name="connsiteY7" fmla="*/ 33337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673" h="166683">
                  <a:moveTo>
                    <a:pt x="0" y="33337"/>
                  </a:moveTo>
                  <a:lnTo>
                    <a:pt x="98332" y="33337"/>
                  </a:lnTo>
                  <a:lnTo>
                    <a:pt x="98332" y="0"/>
                  </a:lnTo>
                  <a:lnTo>
                    <a:pt x="181673" y="83342"/>
                  </a:lnTo>
                  <a:lnTo>
                    <a:pt x="98332" y="166683"/>
                  </a:lnTo>
                  <a:lnTo>
                    <a:pt x="98332" y="133346"/>
                  </a:lnTo>
                  <a:lnTo>
                    <a:pt x="0" y="133346"/>
                  </a:lnTo>
                  <a:lnTo>
                    <a:pt x="0" y="3333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33337" rIns="50005" bIns="33337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ko-KR" altLang="en-US" sz="1000"/>
            </a:p>
          </p:txBody>
        </p:sp>
        <p:sp>
          <p:nvSpPr>
            <p:cNvPr id="29" name="자유형 28"/>
            <p:cNvSpPr/>
            <p:nvPr/>
          </p:nvSpPr>
          <p:spPr>
            <a:xfrm>
              <a:off x="8052701" y="153288"/>
              <a:ext cx="856951" cy="166683"/>
            </a:xfrm>
            <a:custGeom>
              <a:avLst/>
              <a:gdLst>
                <a:gd name="connsiteX0" fmla="*/ 0 w 856951"/>
                <a:gd name="connsiteY0" fmla="*/ 16668 h 166683"/>
                <a:gd name="connsiteX1" fmla="*/ 16668 w 856951"/>
                <a:gd name="connsiteY1" fmla="*/ 0 h 166683"/>
                <a:gd name="connsiteX2" fmla="*/ 840283 w 856951"/>
                <a:gd name="connsiteY2" fmla="*/ 0 h 166683"/>
                <a:gd name="connsiteX3" fmla="*/ 856951 w 856951"/>
                <a:gd name="connsiteY3" fmla="*/ 16668 h 166683"/>
                <a:gd name="connsiteX4" fmla="*/ 856951 w 856951"/>
                <a:gd name="connsiteY4" fmla="*/ 150015 h 166683"/>
                <a:gd name="connsiteX5" fmla="*/ 840283 w 856951"/>
                <a:gd name="connsiteY5" fmla="*/ 166683 h 166683"/>
                <a:gd name="connsiteX6" fmla="*/ 16668 w 856951"/>
                <a:gd name="connsiteY6" fmla="*/ 166683 h 166683"/>
                <a:gd name="connsiteX7" fmla="*/ 0 w 856951"/>
                <a:gd name="connsiteY7" fmla="*/ 150015 h 166683"/>
                <a:gd name="connsiteX8" fmla="*/ 0 w 856951"/>
                <a:gd name="connsiteY8" fmla="*/ 16668 h 166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56951" h="166683">
                  <a:moveTo>
                    <a:pt x="0" y="16668"/>
                  </a:moveTo>
                  <a:cubicBezTo>
                    <a:pt x="0" y="7463"/>
                    <a:pt x="7463" y="0"/>
                    <a:pt x="16668" y="0"/>
                  </a:cubicBezTo>
                  <a:lnTo>
                    <a:pt x="840283" y="0"/>
                  </a:lnTo>
                  <a:cubicBezTo>
                    <a:pt x="849488" y="0"/>
                    <a:pt x="856951" y="7463"/>
                    <a:pt x="856951" y="16668"/>
                  </a:cubicBezTo>
                  <a:lnTo>
                    <a:pt x="856951" y="150015"/>
                  </a:lnTo>
                  <a:cubicBezTo>
                    <a:pt x="856951" y="159220"/>
                    <a:pt x="849488" y="166683"/>
                    <a:pt x="840283" y="166683"/>
                  </a:cubicBezTo>
                  <a:lnTo>
                    <a:pt x="16668" y="166683"/>
                  </a:lnTo>
                  <a:cubicBezTo>
                    <a:pt x="7463" y="166683"/>
                    <a:pt x="0" y="159220"/>
                    <a:pt x="0" y="150015"/>
                  </a:cubicBezTo>
                  <a:lnTo>
                    <a:pt x="0" y="16668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3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5362" tIns="35362" rIns="35362" bIns="35362" numCol="1" spcCol="1270" anchor="ctr" anchorCtr="0">
              <a:noAutofit/>
            </a:bodyPr>
            <a:lstStyle/>
            <a:p>
              <a:pPr algn="ctr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ko-KR" altLang="en-US" sz="1000" dirty="0"/>
                <a:t>결론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201714" y="175494"/>
            <a:ext cx="50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주요 품질 속성 검증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263524" y="1084013"/>
          <a:ext cx="11664951" cy="27029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8650">
                  <a:extLst>
                    <a:ext uri="{9D8B030D-6E8A-4147-A177-3AD203B41FA5}">
                      <a16:colId xmlns:a16="http://schemas.microsoft.com/office/drawing/2014/main" val="4089835722"/>
                    </a:ext>
                  </a:extLst>
                </a:gridCol>
                <a:gridCol w="984250">
                  <a:extLst>
                    <a:ext uri="{9D8B030D-6E8A-4147-A177-3AD203B41FA5}">
                      <a16:colId xmlns:a16="http://schemas.microsoft.com/office/drawing/2014/main" val="3065141028"/>
                    </a:ext>
                  </a:extLst>
                </a:gridCol>
                <a:gridCol w="4495458">
                  <a:extLst>
                    <a:ext uri="{9D8B030D-6E8A-4147-A177-3AD203B41FA5}">
                      <a16:colId xmlns:a16="http://schemas.microsoft.com/office/drawing/2014/main" val="3620191119"/>
                    </a:ext>
                  </a:extLst>
                </a:gridCol>
                <a:gridCol w="4296118">
                  <a:extLst>
                    <a:ext uri="{9D8B030D-6E8A-4147-A177-3AD203B41FA5}">
                      <a16:colId xmlns:a16="http://schemas.microsoft.com/office/drawing/2014/main" val="3962959966"/>
                    </a:ext>
                  </a:extLst>
                </a:gridCol>
                <a:gridCol w="1260475">
                  <a:extLst>
                    <a:ext uri="{9D8B030D-6E8A-4147-A177-3AD203B41FA5}">
                      <a16:colId xmlns:a16="http://schemas.microsoft.com/office/drawing/2014/main" val="2645636074"/>
                    </a:ext>
                  </a:extLst>
                </a:gridCol>
              </a:tblGrid>
              <a:tr h="2797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항목</a:t>
                      </a:r>
                    </a:p>
                  </a:txBody>
                  <a:tcPr anchor="ctr">
                    <a:solidFill>
                      <a:srgbClr val="33513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속성</a:t>
                      </a:r>
                    </a:p>
                  </a:txBody>
                  <a:tcPr anchor="ctr">
                    <a:solidFill>
                      <a:srgbClr val="33513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내용</a:t>
                      </a:r>
                    </a:p>
                  </a:txBody>
                  <a:tcPr anchor="ctr">
                    <a:solidFill>
                      <a:srgbClr val="33513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bg1"/>
                          </a:solidFill>
                        </a:rPr>
                        <a:t>Response</a:t>
                      </a:r>
                      <a:r>
                        <a:rPr lang="en-US" altLang="ko-KR" sz="1200" b="1" baseline="0" dirty="0">
                          <a:solidFill>
                            <a:schemeClr val="bg1"/>
                          </a:solidFill>
                        </a:rPr>
                        <a:t> Measure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33513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결과</a:t>
                      </a:r>
                    </a:p>
                  </a:txBody>
                  <a:tcPr anchor="ctr">
                    <a:solidFill>
                      <a:srgbClr val="335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1671522"/>
                  </a:ext>
                </a:extLst>
              </a:tr>
              <a:tr h="3843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QA-01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Extensibility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100" dirty="0"/>
                        <a:t>새로운 세대의 하드웨어 장치 또는 다른 구성을 가지는 하드웨어를 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지원하기 위해 필요한 컴파일러의 변경 사항이 최소화 되어야 한다</a:t>
                      </a:r>
                      <a:r>
                        <a:rPr lang="en-US" altLang="ko-KR" sz="1100" dirty="0"/>
                        <a:t>.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100" dirty="0"/>
                        <a:t>[</a:t>
                      </a:r>
                      <a:r>
                        <a:rPr lang="ko-KR" altLang="en-US" sz="1100" dirty="0"/>
                        <a:t>신규 장치 지원 시 컴파일러의 기능 추가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변경이 전체 기능의 </a:t>
                      </a:r>
                      <a:r>
                        <a:rPr lang="en-US" altLang="ko-KR" sz="1100" dirty="0"/>
                        <a:t>40%</a:t>
                      </a:r>
                      <a:r>
                        <a:rPr lang="ko-KR" altLang="en-US" sz="1100" dirty="0"/>
                        <a:t>이하</a:t>
                      </a:r>
                      <a:r>
                        <a:rPr lang="en-US" altLang="ko-KR" sz="1100" dirty="0"/>
                        <a:t>]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solidFill>
                            <a:srgbClr val="0070C0"/>
                          </a:solidFill>
                        </a:rPr>
                        <a:t>Success</a:t>
                      </a:r>
                      <a:endParaRPr lang="ko-KR" altLang="en-US" sz="12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583436"/>
                  </a:ext>
                </a:extLst>
              </a:tr>
              <a:tr h="3843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QA-02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Efficiency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100" dirty="0"/>
                        <a:t>동일한 뉴럴 네트워크를 수행할 때 필요한 자원의 양을 최소화 할 수 </a:t>
                      </a:r>
                      <a:br>
                        <a:rPr lang="en-US" altLang="ko-KR" sz="1100" dirty="0"/>
                      </a:br>
                      <a:r>
                        <a:rPr lang="ko-KR" altLang="en-US" sz="1100" dirty="0"/>
                        <a:t>있어야 한다</a:t>
                      </a:r>
                      <a:r>
                        <a:rPr lang="en-US" altLang="ko-KR" sz="1100" dirty="0"/>
                        <a:t>.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100" dirty="0"/>
                        <a:t>[</a:t>
                      </a:r>
                      <a:r>
                        <a:rPr lang="ko-KR" altLang="en-US" sz="1100" dirty="0"/>
                        <a:t>통합 딥 러닝 컴파일러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런타임 사용시 메모리 사용량 </a:t>
                      </a:r>
                      <a:r>
                        <a:rPr lang="en-US" altLang="ko-KR" sz="1100" dirty="0"/>
                        <a:t>&lt; </a:t>
                      </a:r>
                      <a:r>
                        <a:rPr lang="ko-KR" altLang="en-US" sz="1100" dirty="0"/>
                        <a:t>기존 프레임 워크에서의 메모리 사용량</a:t>
                      </a:r>
                      <a:r>
                        <a:rPr lang="en-US" altLang="ko-KR" sz="1100" dirty="0"/>
                        <a:t>]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solidFill>
                            <a:srgbClr val="0070C0"/>
                          </a:solidFill>
                        </a:rPr>
                        <a:t>Success</a:t>
                      </a:r>
                      <a:endParaRPr lang="ko-KR" altLang="en-US" sz="12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505996"/>
                  </a:ext>
                </a:extLst>
              </a:tr>
              <a:tr h="3843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QA-03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Performance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100" dirty="0"/>
                        <a:t>주어진 딥 러닝 모델에 대해 컴파일러를 통해 성능 최적화를 수행하여 바이너리를 생성하고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이를 런타임을 통해 실행하여 타겟 장치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시스템 상에서 추론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학습 성능을 향상시킨다</a:t>
                      </a:r>
                      <a:r>
                        <a:rPr lang="en-US" altLang="ko-KR" sz="1100" dirty="0"/>
                        <a:t>.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100" dirty="0"/>
                        <a:t>[</a:t>
                      </a:r>
                      <a:r>
                        <a:rPr lang="ko-KR" altLang="en-US" sz="1100" dirty="0"/>
                        <a:t>통합 딥 러닝 컴파일러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런타임 사용시 실행 시간</a:t>
                      </a:r>
                      <a:r>
                        <a:rPr lang="en-US" altLang="ko-KR" sz="1100" dirty="0"/>
                        <a:t>(</a:t>
                      </a: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) &lt; </a:t>
                      </a:r>
                      <a:r>
                        <a:rPr lang="ko-KR" altLang="en-US" sz="1100" dirty="0"/>
                        <a:t>기존 프레임워크 사용시 실행 시간</a:t>
                      </a:r>
                      <a:r>
                        <a:rPr lang="en-US" altLang="ko-KR" sz="1100" dirty="0"/>
                        <a:t>(</a:t>
                      </a:r>
                      <a:r>
                        <a:rPr lang="en-US" altLang="ko-KR" sz="1100" dirty="0" err="1"/>
                        <a:t>ms</a:t>
                      </a:r>
                      <a:r>
                        <a:rPr lang="en-US" altLang="ko-KR" sz="1100" dirty="0"/>
                        <a:t>)]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solidFill>
                            <a:srgbClr val="0070C0"/>
                          </a:solidFill>
                        </a:rPr>
                        <a:t>Success</a:t>
                      </a:r>
                      <a:endParaRPr lang="ko-KR" altLang="en-US" sz="12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733149"/>
                  </a:ext>
                </a:extLst>
              </a:tr>
              <a:tr h="3843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QA-05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Portability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100" dirty="0" err="1"/>
                        <a:t>TensorFlow</a:t>
                      </a:r>
                      <a:r>
                        <a:rPr lang="en-US" altLang="ko-KR" sz="1100" dirty="0"/>
                        <a:t>, </a:t>
                      </a:r>
                      <a:r>
                        <a:rPr lang="en-US" altLang="ko-KR" sz="1100" dirty="0" err="1"/>
                        <a:t>PyTorch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등 딥 러닝 프레임워크에 이식이 쉽고 기존 사용자 경험을 크게 해치지 않아야 한다</a:t>
                      </a:r>
                      <a:r>
                        <a:rPr lang="en-US" altLang="ko-KR" sz="1100" dirty="0"/>
                        <a:t>.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100" dirty="0"/>
                        <a:t>[</a:t>
                      </a:r>
                      <a:r>
                        <a:rPr lang="ko-KR" altLang="en-US" sz="1100" dirty="0"/>
                        <a:t>프레임워크 코드 수정에 드는 </a:t>
                      </a:r>
                      <a:r>
                        <a:rPr lang="en-US" altLang="ko-KR" sz="1100" dirty="0"/>
                        <a:t>MM &lt; 2MM]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solidFill>
                            <a:srgbClr val="0070C0"/>
                          </a:solidFill>
                        </a:rPr>
                        <a:t>Success</a:t>
                      </a:r>
                      <a:endParaRPr lang="ko-KR" altLang="en-US" sz="12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975892"/>
                  </a:ext>
                </a:extLst>
              </a:tr>
              <a:tr h="38431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QA-07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Reusability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ko-KR" altLang="en-US" sz="1100" dirty="0"/>
                        <a:t>동일한 모델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기능을 서로 다른 타겟에 대해 컴파일 및 실행할 때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실제 실행되는 코드가 최대한 같아야 한다</a:t>
                      </a:r>
                      <a:r>
                        <a:rPr lang="en-US" altLang="ko-KR" sz="1100" dirty="0"/>
                        <a:t>.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100" dirty="0"/>
                        <a:t>[</a:t>
                      </a:r>
                      <a:r>
                        <a:rPr lang="ko-KR" altLang="en-US" sz="1100" dirty="0"/>
                        <a:t>타겟 장치 간 구현의 </a:t>
                      </a:r>
                      <a:r>
                        <a:rPr lang="ko-KR" altLang="en-US" sz="1100" dirty="0" err="1"/>
                        <a:t>재사용성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&gt; 70%]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>
                          <a:solidFill>
                            <a:srgbClr val="0070C0"/>
                          </a:solidFill>
                        </a:rPr>
                        <a:t>Success</a:t>
                      </a:r>
                      <a:endParaRPr lang="ko-KR" altLang="en-US" sz="1200" b="1" dirty="0">
                        <a:solidFill>
                          <a:srgbClr val="0070C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725448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81" y="3839547"/>
            <a:ext cx="2150763" cy="1978152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rcRect l="2478" r="8726"/>
          <a:stretch/>
        </p:blipFill>
        <p:spPr>
          <a:xfrm>
            <a:off x="2480677" y="3834213"/>
            <a:ext cx="2621280" cy="151818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5"/>
          <a:srcRect r="8664"/>
          <a:stretch/>
        </p:blipFill>
        <p:spPr>
          <a:xfrm>
            <a:off x="5101957" y="3839547"/>
            <a:ext cx="2639236" cy="194134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6"/>
          <a:srcRect l="1388" r="3197"/>
          <a:stretch/>
        </p:blipFill>
        <p:spPr>
          <a:xfrm>
            <a:off x="7829283" y="3834213"/>
            <a:ext cx="1935956" cy="287315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6899" y="3834213"/>
            <a:ext cx="2119884" cy="2112055"/>
          </a:xfrm>
          <a:prstGeom prst="rect">
            <a:avLst/>
          </a:prstGeom>
        </p:spPr>
      </p:pic>
      <p:grpSp>
        <p:nvGrpSpPr>
          <p:cNvPr id="31" name="그룹 30"/>
          <p:cNvGrpSpPr/>
          <p:nvPr/>
        </p:nvGrpSpPr>
        <p:grpSpPr>
          <a:xfrm>
            <a:off x="230272" y="5923364"/>
            <a:ext cx="2030253" cy="483375"/>
            <a:chOff x="297779" y="1315264"/>
            <a:chExt cx="2030253" cy="483375"/>
          </a:xfrm>
        </p:grpSpPr>
        <p:sp>
          <p:nvSpPr>
            <p:cNvPr id="32" name="직사각형 31"/>
            <p:cNvSpPr/>
            <p:nvPr/>
          </p:nvSpPr>
          <p:spPr>
            <a:xfrm>
              <a:off x="726072" y="1364446"/>
              <a:ext cx="1601960" cy="37130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rgbClr val="333F50"/>
                  </a:solidFill>
                </a:rPr>
                <a:t>신규 </a:t>
              </a:r>
              <a:r>
                <a:rPr lang="en-US" altLang="ko-KR" sz="1000" b="1" dirty="0">
                  <a:solidFill>
                    <a:srgbClr val="333F50"/>
                  </a:solidFill>
                </a:rPr>
                <a:t>NPU </a:t>
              </a:r>
              <a:r>
                <a:rPr lang="ko-KR" altLang="en-US" sz="1000" b="1" dirty="0">
                  <a:solidFill>
                    <a:srgbClr val="333F50"/>
                  </a:solidFill>
                </a:rPr>
                <a:t>지원 시 예상 코드 </a:t>
              </a:r>
              <a:r>
                <a:rPr lang="ko-KR" altLang="en-US" sz="1000" b="1" dirty="0" err="1">
                  <a:solidFill>
                    <a:srgbClr val="333F50"/>
                  </a:solidFill>
                </a:rPr>
                <a:t>변화량</a:t>
              </a:r>
              <a:r>
                <a:rPr lang="ko-KR" altLang="en-US" sz="1000" b="1" dirty="0">
                  <a:solidFill>
                    <a:srgbClr val="333F50"/>
                  </a:solidFill>
                </a:rPr>
                <a:t> </a:t>
              </a:r>
              <a:r>
                <a:rPr lang="en-US" altLang="ko-KR" sz="1000" b="1" dirty="0">
                  <a:solidFill>
                    <a:srgbClr val="C00000"/>
                  </a:solidFill>
                </a:rPr>
                <a:t>28% &lt; 40%</a:t>
              </a:r>
              <a:endParaRPr lang="ko-KR" altLang="en-US" sz="1000" b="1" dirty="0">
                <a:solidFill>
                  <a:srgbClr val="C00000"/>
                </a:solidFill>
              </a:endParaRPr>
            </a:p>
          </p:txBody>
        </p:sp>
        <p:sp>
          <p:nvSpPr>
            <p:cNvPr id="33" name="타원 32"/>
            <p:cNvSpPr/>
            <p:nvPr/>
          </p:nvSpPr>
          <p:spPr>
            <a:xfrm>
              <a:off x="349602" y="1315264"/>
              <a:ext cx="483375" cy="483375"/>
            </a:xfrm>
            <a:prstGeom prst="ellipse">
              <a:avLst/>
            </a:prstGeom>
            <a:solidFill>
              <a:srgbClr val="333F50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97779" y="1407025"/>
              <a:ext cx="5870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QA-01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2636995" y="5911936"/>
            <a:ext cx="2030253" cy="483375"/>
            <a:chOff x="297779" y="1315264"/>
            <a:chExt cx="2030253" cy="483375"/>
          </a:xfrm>
        </p:grpSpPr>
        <p:sp>
          <p:nvSpPr>
            <p:cNvPr id="36" name="직사각형 35"/>
            <p:cNvSpPr/>
            <p:nvPr/>
          </p:nvSpPr>
          <p:spPr>
            <a:xfrm>
              <a:off x="726072" y="1364446"/>
              <a:ext cx="1601960" cy="37130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rgbClr val="333F50"/>
                  </a:solidFill>
                </a:rPr>
                <a:t>메모리 사용량</a:t>
              </a:r>
              <a:endParaRPr lang="en-US" altLang="ko-KR" sz="1000" b="1" dirty="0">
                <a:solidFill>
                  <a:srgbClr val="333F50"/>
                </a:solidFill>
              </a:endParaRPr>
            </a:p>
            <a:p>
              <a:pPr algn="ctr"/>
              <a:r>
                <a:rPr lang="en-US" altLang="ko-KR" sz="1000" b="1" dirty="0">
                  <a:solidFill>
                    <a:srgbClr val="C00000"/>
                  </a:solidFill>
                </a:rPr>
                <a:t>360MB &lt; </a:t>
              </a:r>
              <a:r>
                <a:rPr lang="en-US" altLang="ko-KR" sz="1000" b="1" dirty="0" err="1">
                  <a:solidFill>
                    <a:srgbClr val="C00000"/>
                  </a:solidFill>
                </a:rPr>
                <a:t>PyTorch</a:t>
              </a:r>
              <a:r>
                <a:rPr lang="ko-KR" altLang="en-US" sz="1000" b="1" dirty="0">
                  <a:solidFill>
                    <a:srgbClr val="C00000"/>
                  </a:solidFill>
                </a:rPr>
                <a:t> </a:t>
              </a:r>
              <a:r>
                <a:rPr lang="en-US" altLang="ko-KR" sz="1000" b="1" dirty="0">
                  <a:solidFill>
                    <a:srgbClr val="C00000"/>
                  </a:solidFill>
                </a:rPr>
                <a:t>2.7GB</a:t>
              </a:r>
              <a:endParaRPr lang="ko-KR" altLang="en-US" sz="1000" b="1" dirty="0">
                <a:solidFill>
                  <a:srgbClr val="C00000"/>
                </a:solidFill>
              </a:endParaRPr>
            </a:p>
          </p:txBody>
        </p:sp>
        <p:sp>
          <p:nvSpPr>
            <p:cNvPr id="37" name="타원 36"/>
            <p:cNvSpPr/>
            <p:nvPr/>
          </p:nvSpPr>
          <p:spPr>
            <a:xfrm>
              <a:off x="349602" y="1315264"/>
              <a:ext cx="483375" cy="483375"/>
            </a:xfrm>
            <a:prstGeom prst="ellipse">
              <a:avLst/>
            </a:prstGeom>
            <a:solidFill>
              <a:srgbClr val="333F50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97779" y="1407025"/>
              <a:ext cx="5870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QA-02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5233656" y="5923363"/>
            <a:ext cx="2030253" cy="483375"/>
            <a:chOff x="297779" y="1315264"/>
            <a:chExt cx="2030253" cy="483375"/>
          </a:xfrm>
        </p:grpSpPr>
        <p:sp>
          <p:nvSpPr>
            <p:cNvPr id="40" name="직사각형 39"/>
            <p:cNvSpPr/>
            <p:nvPr/>
          </p:nvSpPr>
          <p:spPr>
            <a:xfrm>
              <a:off x="726072" y="1364446"/>
              <a:ext cx="1601960" cy="37130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rgbClr val="333F50"/>
                  </a:solidFill>
                </a:rPr>
                <a:t>ResNet-50 </a:t>
              </a:r>
              <a:r>
                <a:rPr lang="ko-KR" altLang="en-US" sz="1000" b="1" dirty="0">
                  <a:solidFill>
                    <a:srgbClr val="333F50"/>
                  </a:solidFill>
                </a:rPr>
                <a:t>성능</a:t>
              </a:r>
              <a:endParaRPr lang="en-US" altLang="ko-KR" sz="1000" b="1" dirty="0">
                <a:solidFill>
                  <a:srgbClr val="333F50"/>
                </a:solidFill>
              </a:endParaRPr>
            </a:p>
            <a:p>
              <a:pPr algn="ctr"/>
              <a:r>
                <a:rPr lang="en-US" altLang="ko-KR" sz="1000" b="1" dirty="0">
                  <a:solidFill>
                    <a:srgbClr val="C00000"/>
                  </a:solidFill>
                </a:rPr>
                <a:t>58ms &lt; </a:t>
              </a:r>
              <a:r>
                <a:rPr lang="en-US" altLang="ko-KR" sz="1000" b="1" dirty="0" err="1">
                  <a:solidFill>
                    <a:srgbClr val="C00000"/>
                  </a:solidFill>
                </a:rPr>
                <a:t>PyTorch</a:t>
              </a:r>
              <a:r>
                <a:rPr lang="ko-KR" altLang="en-US" sz="1000" b="1" dirty="0">
                  <a:solidFill>
                    <a:srgbClr val="C00000"/>
                  </a:solidFill>
                </a:rPr>
                <a:t> </a:t>
              </a:r>
              <a:r>
                <a:rPr lang="en-US" altLang="ko-KR" sz="1000" b="1" dirty="0">
                  <a:solidFill>
                    <a:srgbClr val="C00000"/>
                  </a:solidFill>
                </a:rPr>
                <a:t>121ms</a:t>
              </a:r>
              <a:endParaRPr lang="ko-KR" altLang="en-US" sz="1000" b="1" dirty="0">
                <a:solidFill>
                  <a:srgbClr val="C00000"/>
                </a:solidFill>
              </a:endParaRPr>
            </a:p>
          </p:txBody>
        </p:sp>
        <p:sp>
          <p:nvSpPr>
            <p:cNvPr id="41" name="타원 40"/>
            <p:cNvSpPr/>
            <p:nvPr/>
          </p:nvSpPr>
          <p:spPr>
            <a:xfrm>
              <a:off x="349602" y="1315264"/>
              <a:ext cx="483375" cy="483375"/>
            </a:xfrm>
            <a:prstGeom prst="ellipse">
              <a:avLst/>
            </a:prstGeom>
            <a:solidFill>
              <a:srgbClr val="333F50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97779" y="1407025"/>
              <a:ext cx="5870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QA-03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3" name="그룹 42"/>
          <p:cNvGrpSpPr/>
          <p:nvPr/>
        </p:nvGrpSpPr>
        <p:grpSpPr>
          <a:xfrm>
            <a:off x="9893657" y="5923362"/>
            <a:ext cx="2030253" cy="483375"/>
            <a:chOff x="297779" y="1315264"/>
            <a:chExt cx="2030253" cy="483375"/>
          </a:xfrm>
        </p:grpSpPr>
        <p:sp>
          <p:nvSpPr>
            <p:cNvPr id="44" name="직사각형 43"/>
            <p:cNvSpPr/>
            <p:nvPr/>
          </p:nvSpPr>
          <p:spPr>
            <a:xfrm>
              <a:off x="726072" y="1364446"/>
              <a:ext cx="1601960" cy="37130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rgbClr val="333F50"/>
                  </a:solidFill>
                </a:rPr>
                <a:t>타겟 간 코드 </a:t>
              </a:r>
              <a:r>
                <a:rPr lang="ko-KR" altLang="en-US" sz="1000" b="1" dirty="0" err="1">
                  <a:solidFill>
                    <a:srgbClr val="333F50"/>
                  </a:solidFill>
                </a:rPr>
                <a:t>재사용성</a:t>
              </a:r>
              <a:endParaRPr lang="en-US" altLang="ko-KR" sz="1000" b="1" dirty="0">
                <a:solidFill>
                  <a:srgbClr val="333F50"/>
                </a:solidFill>
              </a:endParaRPr>
            </a:p>
            <a:p>
              <a:pPr algn="ctr"/>
              <a:r>
                <a:rPr lang="en-US" altLang="ko-KR" sz="1000" b="1" dirty="0">
                  <a:solidFill>
                    <a:srgbClr val="C00000"/>
                  </a:solidFill>
                </a:rPr>
                <a:t>70% &gt;= 70%</a:t>
              </a:r>
              <a:endParaRPr lang="ko-KR" altLang="en-US" sz="1000" b="1" dirty="0">
                <a:solidFill>
                  <a:srgbClr val="C00000"/>
                </a:solidFill>
              </a:endParaRPr>
            </a:p>
          </p:txBody>
        </p:sp>
        <p:sp>
          <p:nvSpPr>
            <p:cNvPr id="45" name="타원 44"/>
            <p:cNvSpPr/>
            <p:nvPr/>
          </p:nvSpPr>
          <p:spPr>
            <a:xfrm>
              <a:off x="349602" y="1315264"/>
              <a:ext cx="483375" cy="483375"/>
            </a:xfrm>
            <a:prstGeom prst="ellipse">
              <a:avLst/>
            </a:prstGeom>
            <a:solidFill>
              <a:srgbClr val="333F50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97779" y="1407025"/>
              <a:ext cx="5870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QA-07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1" name="모서리가 둥근 직사각형 50"/>
          <p:cNvSpPr/>
          <p:nvPr/>
        </p:nvSpPr>
        <p:spPr>
          <a:xfrm>
            <a:off x="155171" y="3768436"/>
            <a:ext cx="2291886" cy="2800003"/>
          </a:xfrm>
          <a:prstGeom prst="roundRect">
            <a:avLst>
              <a:gd name="adj" fmla="val 2369"/>
            </a:avLst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모서리가 둥근 직사각형 51"/>
          <p:cNvSpPr/>
          <p:nvPr/>
        </p:nvSpPr>
        <p:spPr>
          <a:xfrm>
            <a:off x="2498880" y="3768435"/>
            <a:ext cx="2598266" cy="2800003"/>
          </a:xfrm>
          <a:prstGeom prst="roundRect">
            <a:avLst>
              <a:gd name="adj" fmla="val 2369"/>
            </a:avLst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모서리가 둥근 직사각형 52"/>
          <p:cNvSpPr/>
          <p:nvPr/>
        </p:nvSpPr>
        <p:spPr>
          <a:xfrm>
            <a:off x="5134933" y="3768436"/>
            <a:ext cx="2598266" cy="2800003"/>
          </a:xfrm>
          <a:prstGeom prst="roundRect">
            <a:avLst>
              <a:gd name="adj" fmla="val 2369"/>
            </a:avLst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모서리가 둥근 직사각형 53"/>
          <p:cNvSpPr/>
          <p:nvPr/>
        </p:nvSpPr>
        <p:spPr>
          <a:xfrm>
            <a:off x="7765767" y="3768434"/>
            <a:ext cx="2043418" cy="3014751"/>
          </a:xfrm>
          <a:prstGeom prst="roundRect">
            <a:avLst>
              <a:gd name="adj" fmla="val 2369"/>
            </a:avLst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/>
          <p:cNvGrpSpPr/>
          <p:nvPr/>
        </p:nvGrpSpPr>
        <p:grpSpPr>
          <a:xfrm>
            <a:off x="7676177" y="5923364"/>
            <a:ext cx="2109337" cy="483375"/>
            <a:chOff x="297779" y="1315264"/>
            <a:chExt cx="2109337" cy="483375"/>
          </a:xfrm>
          <a:solidFill>
            <a:schemeClr val="bg1"/>
          </a:solidFill>
        </p:grpSpPr>
        <p:sp>
          <p:nvSpPr>
            <p:cNvPr id="48" name="직사각형 47"/>
            <p:cNvSpPr/>
            <p:nvPr/>
          </p:nvSpPr>
          <p:spPr>
            <a:xfrm>
              <a:off x="726071" y="1364446"/>
              <a:ext cx="1681045" cy="371302"/>
            </a:xfrm>
            <a:prstGeom prst="rect">
              <a:avLst/>
            </a:prstGeom>
            <a:grpFill/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rgbClr val="333F50"/>
                  </a:solidFill>
                </a:rPr>
                <a:t>프레임워크 이식 소요 </a:t>
              </a:r>
              <a:r>
                <a:rPr lang="en-US" altLang="ko-KR" sz="1000" b="1" dirty="0">
                  <a:solidFill>
                    <a:srgbClr val="333F50"/>
                  </a:solidFill>
                </a:rPr>
                <a:t>MM</a:t>
              </a:r>
            </a:p>
            <a:p>
              <a:pPr algn="ctr"/>
              <a:r>
                <a:rPr lang="en-US" altLang="ko-KR" sz="1000" b="1" dirty="0">
                  <a:solidFill>
                    <a:srgbClr val="C00000"/>
                  </a:solidFill>
                </a:rPr>
                <a:t>1.5 MM &lt; 2 MM</a:t>
              </a:r>
              <a:endParaRPr lang="ko-KR" altLang="en-US" sz="1000" b="1" dirty="0">
                <a:solidFill>
                  <a:srgbClr val="C00000"/>
                </a:solidFill>
              </a:endParaRPr>
            </a:p>
          </p:txBody>
        </p:sp>
        <p:sp>
          <p:nvSpPr>
            <p:cNvPr id="49" name="타원 48"/>
            <p:cNvSpPr/>
            <p:nvPr/>
          </p:nvSpPr>
          <p:spPr>
            <a:xfrm>
              <a:off x="349602" y="1315264"/>
              <a:ext cx="483375" cy="483375"/>
            </a:xfrm>
            <a:prstGeom prst="ellipse">
              <a:avLst/>
            </a:prstGeom>
            <a:solidFill>
              <a:srgbClr val="333F50"/>
            </a:solidFill>
            <a:ln>
              <a:solidFill>
                <a:srgbClr val="333F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97779" y="1407025"/>
              <a:ext cx="58702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bg1"/>
                  </a:solidFill>
                </a:rPr>
                <a:t>QA-05</a:t>
              </a:r>
              <a:endParaRPr lang="ko-KR" altLang="en-US" sz="12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5" name="모서리가 둥근 직사각형 54"/>
          <p:cNvSpPr/>
          <p:nvPr/>
        </p:nvSpPr>
        <p:spPr>
          <a:xfrm>
            <a:off x="9850020" y="3766990"/>
            <a:ext cx="2221516" cy="2800003"/>
          </a:xfrm>
          <a:prstGeom prst="roundRect">
            <a:avLst>
              <a:gd name="adj" fmla="val 2369"/>
            </a:avLst>
          </a:pr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6" name="그룹 55"/>
          <p:cNvGrpSpPr/>
          <p:nvPr/>
        </p:nvGrpSpPr>
        <p:grpSpPr>
          <a:xfrm>
            <a:off x="11424862" y="1411705"/>
            <a:ext cx="350701" cy="304648"/>
            <a:chOff x="4333458" y="997205"/>
            <a:chExt cx="421422" cy="366082"/>
          </a:xfrm>
        </p:grpSpPr>
        <p:sp>
          <p:nvSpPr>
            <p:cNvPr id="57" name="직사각형 56">
              <a:hlinkClick r:id="rId8" action="ppaction://hlinksldjump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이등변 삼각형 57">
              <a:hlinkClick r:id="rId8" action="ppaction://hlinksldjump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11433210" y="1853157"/>
            <a:ext cx="350701" cy="304648"/>
            <a:chOff x="4333458" y="997205"/>
            <a:chExt cx="421422" cy="366082"/>
          </a:xfrm>
        </p:grpSpPr>
        <p:sp>
          <p:nvSpPr>
            <p:cNvPr id="60" name="직사각형 59">
              <a:hlinkClick r:id="rId9" action="ppaction://hlinksldjump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이등변 삼각형 60">
              <a:hlinkClick r:id="rId9" action="ppaction://hlinksldjump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2" name="그룹 61"/>
          <p:cNvGrpSpPr/>
          <p:nvPr/>
        </p:nvGrpSpPr>
        <p:grpSpPr>
          <a:xfrm>
            <a:off x="11424861" y="2356381"/>
            <a:ext cx="350701" cy="304648"/>
            <a:chOff x="4333458" y="997205"/>
            <a:chExt cx="421422" cy="366082"/>
          </a:xfrm>
        </p:grpSpPr>
        <p:sp>
          <p:nvSpPr>
            <p:cNvPr id="63" name="직사각형 62">
              <a:hlinkClick r:id="rId10" action="ppaction://hlinksldjump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이등변 삼각형 63">
              <a:hlinkClick r:id="rId10" action="ppaction://hlinksldjump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11441558" y="2858385"/>
            <a:ext cx="350701" cy="304648"/>
            <a:chOff x="4333458" y="997205"/>
            <a:chExt cx="421422" cy="366082"/>
          </a:xfrm>
        </p:grpSpPr>
        <p:sp>
          <p:nvSpPr>
            <p:cNvPr id="66" name="직사각형 65">
              <a:hlinkClick r:id="rId11" action="ppaction://hlinksldjump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이등변 삼각형 66">
              <a:hlinkClick r:id="rId11" action="ppaction://hlinksldjump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8" name="그룹 67"/>
          <p:cNvGrpSpPr/>
          <p:nvPr/>
        </p:nvGrpSpPr>
        <p:grpSpPr>
          <a:xfrm>
            <a:off x="11441557" y="3308160"/>
            <a:ext cx="350701" cy="304648"/>
            <a:chOff x="4333458" y="997205"/>
            <a:chExt cx="421422" cy="366082"/>
          </a:xfrm>
        </p:grpSpPr>
        <p:sp>
          <p:nvSpPr>
            <p:cNvPr id="69" name="직사각형 68">
              <a:hlinkClick r:id="rId12" action="ppaction://hlinksldjump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이등변 삼각형 69">
              <a:hlinkClick r:id="rId12" action="ppaction://hlinksldjump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23669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01714" y="175494"/>
            <a:ext cx="50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주요 품질 속성 검증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5898061" y="1716991"/>
          <a:ext cx="6071991" cy="4748770"/>
        </p:xfrm>
        <a:graphic>
          <a:graphicData uri="http://schemas.openxmlformats.org/drawingml/2006/table">
            <a:tbl>
              <a:tblPr firstRow="1" firstCol="1" bandRow="1"/>
              <a:tblGrid>
                <a:gridCol w="1797050">
                  <a:extLst>
                    <a:ext uri="{9D8B030D-6E8A-4147-A177-3AD203B41FA5}">
                      <a16:colId xmlns:a16="http://schemas.microsoft.com/office/drawing/2014/main" val="2339537477"/>
                    </a:ext>
                  </a:extLst>
                </a:gridCol>
                <a:gridCol w="2856473">
                  <a:extLst>
                    <a:ext uri="{9D8B030D-6E8A-4147-A177-3AD203B41FA5}">
                      <a16:colId xmlns:a16="http://schemas.microsoft.com/office/drawing/2014/main" val="3750427543"/>
                    </a:ext>
                  </a:extLst>
                </a:gridCol>
                <a:gridCol w="1418468">
                  <a:extLst>
                    <a:ext uri="{9D8B030D-6E8A-4147-A177-3AD203B41FA5}">
                      <a16:colId xmlns:a16="http://schemas.microsoft.com/office/drawing/2014/main" val="3578017701"/>
                    </a:ext>
                  </a:extLst>
                </a:gridCol>
              </a:tblGrid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Pass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S22 </a:t>
                      </a:r>
                      <a:r>
                        <a:rPr lang="ko-KR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구현 내용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S23 </a:t>
                      </a:r>
                      <a:r>
                        <a:rPr lang="ko-KR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적용 가능 여부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868689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TransformGraph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Layer fusion/fission/conversion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등 수행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467913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ExtractFunctionInput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NN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input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을 식별하고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read op 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추가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4756344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ShapeInference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데이터의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Shape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을 결정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964024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AnalyzeTilingCandidates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Tiling 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정책을 결정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0790654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ApplyTiling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Tiling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정책에 따라 실제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Tiling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을 수행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165611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AnalyzeDataFlow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데이터 흐름을 분석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069150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AnalyzeExecutionOrder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레이어의 실행 순서를 결정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8588138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BuildSchedule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스케줄링 결과를 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IR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 반영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968813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RemoveScheduleWrapper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최적화가 끝난 스케줄 정보를 정리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988284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TransformSchedule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Parallelize, Prefetch, Reorder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등을 수행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16266"/>
                  </a:ext>
                </a:extLst>
              </a:tr>
              <a:tr h="3288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DevicePlacement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MAA, CU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등 각 연산 별로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NPU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내에서 실제로 동작할 연산기를 결정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5496910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UDLC2NPU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GraphIR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NPU IR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로 변환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△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378379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ExportNPU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NPU IR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을 외부로 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Export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△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225717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AllocatePsums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Partial sum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을 위해 필요한 공간을 계산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△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509561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CalculateCFIFOSize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05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Const</a:t>
                      </a: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FIFO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위해 필요한 데이터 크기 계산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△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4417525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CalculateCFIFOSBurst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Const FIFO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제어를 위해 필요한 계산 수행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△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7590029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MarkMemoryRegion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데이터 별 속성을</a:t>
                      </a: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Mark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789440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AllocateMemoryObjects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각 데이터 별로 필요한 메모리를 할당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1925457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ScheduleMemoryAccesses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Double buffering, data reuse </a:t>
                      </a: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관련 정책 결정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563204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ControlCU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CU</a:t>
                      </a:r>
                      <a:r>
                        <a:rPr lang="ko-KR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를 제어하기 위한 명령어를 생성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99172"/>
                  </a:ext>
                </a:extLst>
              </a:tr>
              <a:tr h="21047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TransformDataFormat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ko-KR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데이터의 레이아웃을 변경하는 동작을 수행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8339796"/>
                  </a:ext>
                </a:extLst>
              </a:tr>
            </a:tbl>
          </a:graphicData>
        </a:graphic>
      </p:graphicFrame>
      <p:grpSp>
        <p:nvGrpSpPr>
          <p:cNvPr id="16" name="그룹 15"/>
          <p:cNvGrpSpPr/>
          <p:nvPr/>
        </p:nvGrpSpPr>
        <p:grpSpPr>
          <a:xfrm>
            <a:off x="11678204" y="512314"/>
            <a:ext cx="350701" cy="304648"/>
            <a:chOff x="4333458" y="997205"/>
            <a:chExt cx="421422" cy="366082"/>
          </a:xfrm>
        </p:grpSpPr>
        <p:sp>
          <p:nvSpPr>
            <p:cNvPr id="23" name="직사각형 22">
              <a:hlinkClick r:id="rId3" action="ppaction://hlinksldjump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이등변 삼각형 23">
              <a:hlinkClick r:id="rId3" action="ppaction://hlinksldjump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1189874" y="539963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Back: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8611" y="1039892"/>
            <a:ext cx="4620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ko-KR" b="1" dirty="0"/>
              <a:t>QA-01. [Extensibility] </a:t>
            </a:r>
            <a:r>
              <a:rPr lang="ko-KR" altLang="ko-KR" b="1" dirty="0"/>
              <a:t>신규 장치 지원 용이성</a:t>
            </a:r>
            <a:r>
              <a:rPr lang="en-US" altLang="ko-KR" b="1" dirty="0"/>
              <a:t> </a:t>
            </a:r>
            <a:endParaRPr lang="ko-KR" altLang="ko-KR" b="1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298611" y="1535849"/>
          <a:ext cx="5126829" cy="4908317"/>
        </p:xfrm>
        <a:graphic>
          <a:graphicData uri="http://schemas.openxmlformats.org/drawingml/2006/table">
            <a:tbl>
              <a:tblPr firstRow="1" firstCol="1" bandRow="1"/>
              <a:tblGrid>
                <a:gridCol w="1088229">
                  <a:extLst>
                    <a:ext uri="{9D8B030D-6E8A-4147-A177-3AD203B41FA5}">
                      <a16:colId xmlns:a16="http://schemas.microsoft.com/office/drawing/2014/main" val="209908524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10985395"/>
                    </a:ext>
                  </a:extLst>
                </a:gridCol>
              </a:tblGrid>
              <a:tr h="10619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Description</a:t>
                      </a:r>
                      <a:endParaRPr lang="ko-KR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새로운 세대의 하드웨어 장치 또는 다른 구성을 가지는 하드웨어를 지원하기 위해 필요한 컴파일러의 변경 사항이 최소화 되어야 한다</a:t>
                      </a:r>
                      <a:r>
                        <a:rPr lang="en-GB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6400627"/>
                  </a:ext>
                </a:extLst>
              </a:tr>
              <a:tr h="5309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Source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HW </a:t>
                      </a:r>
                      <a:r>
                        <a:rPr 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개발자</a:t>
                      </a:r>
                      <a:endParaRPr lang="ko-KR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940709"/>
                  </a:ext>
                </a:extLst>
              </a:tr>
              <a:tr h="6603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Stimulus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새로운 세대의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HW 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지원 요청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or 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다른 구성을 가지는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HW 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지원 요청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898386"/>
                  </a:ext>
                </a:extLst>
              </a:tr>
              <a:tr h="5309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Artifact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Compiler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6124848"/>
                  </a:ext>
                </a:extLst>
              </a:tr>
              <a:tr h="5309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Environment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Design, Development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9883611"/>
                  </a:ext>
                </a:extLst>
              </a:tr>
              <a:tr h="5309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Response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신규 하드웨어를 위한 실행 가능한 파일을 생성한다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268059"/>
                  </a:ext>
                </a:extLst>
              </a:tr>
              <a:tr h="106198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Response</a:t>
                      </a:r>
                      <a:b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</a:b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Measure</a:t>
                      </a:r>
                      <a:endParaRPr lang="ko-KR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altLang="en-US" sz="1200" b="1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신규 장치 지원 시 컴파일러의 기능 추가</a:t>
                      </a:r>
                      <a:r>
                        <a:rPr lang="en-US" altLang="ko-KR" sz="1200" b="1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200" b="1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변경이 전체 기능의 </a:t>
                      </a:r>
                      <a:r>
                        <a:rPr lang="en-US" altLang="ko-KR" sz="1200" b="1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40%</a:t>
                      </a:r>
                      <a:r>
                        <a:rPr lang="ko-KR" altLang="en-US" sz="1200" b="1" dirty="0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이하</a:t>
                      </a: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]</a:t>
                      </a:r>
                      <a:endParaRPr lang="ko-KR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244500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773301" y="1362908"/>
            <a:ext cx="49536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*. S23 NPU </a:t>
            </a:r>
            <a:r>
              <a:rPr lang="ko-KR" altLang="en-US" sz="1400" b="1" dirty="0"/>
              <a:t>신규 장치 지원 시 새로 개발이 필요한 최적화 기능 </a:t>
            </a:r>
            <a:endParaRPr lang="ko-KR" altLang="ko-KR" sz="1400" b="1" dirty="0"/>
          </a:p>
        </p:txBody>
      </p:sp>
      <p:sp>
        <p:nvSpPr>
          <p:cNvPr id="8" name="직사각형 7"/>
          <p:cNvSpPr/>
          <p:nvPr/>
        </p:nvSpPr>
        <p:spPr>
          <a:xfrm>
            <a:off x="5911025" y="6512067"/>
            <a:ext cx="525656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GB" altLang="ko-KR" sz="9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(O: </a:t>
            </a:r>
            <a:r>
              <a:rPr lang="ko-KR" altLang="ko-KR" sz="9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수정 없이 바로 적용 가능</a:t>
            </a:r>
            <a:r>
              <a:rPr lang="en-GB" altLang="ko-KR" sz="9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△</a:t>
            </a:r>
            <a:r>
              <a:rPr lang="en-GB" altLang="ko-KR" sz="9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: </a:t>
            </a:r>
            <a:r>
              <a:rPr lang="ko-KR" altLang="ko-KR" sz="9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약간의 수정으로 재사용 가능</a:t>
            </a:r>
            <a:r>
              <a:rPr lang="en-GB" altLang="ko-KR" sz="9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, X: </a:t>
            </a:r>
            <a:r>
              <a:rPr lang="ko-KR" altLang="ko-KR" sz="9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많은 수정 필요 </a:t>
            </a:r>
            <a:r>
              <a:rPr lang="en-GB" altLang="ko-KR" sz="9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or </a:t>
            </a:r>
            <a:r>
              <a:rPr lang="ko-KR" altLang="ko-KR" sz="9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재사용 불가</a:t>
            </a:r>
            <a:r>
              <a:rPr lang="en-GB" altLang="ko-KR" sz="9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  <a:endParaRPr lang="ko-KR" altLang="ko-KR" sz="1050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8800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5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01714" y="175494"/>
            <a:ext cx="6746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주요 품질 속성 검증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11678204" y="512314"/>
            <a:ext cx="350701" cy="304648"/>
            <a:chOff x="4333458" y="997205"/>
            <a:chExt cx="421422" cy="366082"/>
          </a:xfrm>
        </p:grpSpPr>
        <p:sp>
          <p:nvSpPr>
            <p:cNvPr id="20" name="직사각형 19">
              <a:hlinkClick r:id="rId3" action="ppaction://hlinksldjump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이등변 삼각형 20">
              <a:hlinkClick r:id="rId3" action="ppaction://hlinksldjump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1189874" y="539963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Back: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6154455" y="2100576"/>
          <a:ext cx="5378320" cy="3858766"/>
        </p:xfrm>
        <a:graphic>
          <a:graphicData uri="http://schemas.openxmlformats.org/drawingml/2006/table">
            <a:tbl>
              <a:tblPr firstRow="1" firstCol="1" bandRow="1"/>
              <a:tblGrid>
                <a:gridCol w="1138091">
                  <a:extLst>
                    <a:ext uri="{9D8B030D-6E8A-4147-A177-3AD203B41FA5}">
                      <a16:colId xmlns:a16="http://schemas.microsoft.com/office/drawing/2014/main" val="1314469163"/>
                    </a:ext>
                  </a:extLst>
                </a:gridCol>
                <a:gridCol w="4240229">
                  <a:extLst>
                    <a:ext uri="{9D8B030D-6E8A-4147-A177-3AD203B41FA5}">
                      <a16:colId xmlns:a16="http://schemas.microsoft.com/office/drawing/2014/main" val="2404283915"/>
                    </a:ext>
                  </a:extLst>
                </a:gridCol>
              </a:tblGrid>
              <a:tr h="192010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PyTorch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(2,739MB)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737249"/>
                  </a:ext>
                </a:extLst>
              </a:tr>
              <a:tr h="19386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UDLC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(359MB)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6448010"/>
                  </a:ext>
                </a:extLst>
              </a:tr>
            </a:tbl>
          </a:graphicData>
        </a:graphic>
      </p:graphicFrame>
      <p:pic>
        <p:nvPicPr>
          <p:cNvPr id="2055" name="그림 147" descr="ResNet50-PyTorch_PeakMem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746"/>
          <a:stretch>
            <a:fillRect/>
          </a:stretch>
        </p:blipFill>
        <p:spPr bwMode="auto">
          <a:xfrm>
            <a:off x="7443205" y="2334517"/>
            <a:ext cx="3952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그림 148" descr="ResNet50-UDLC_PeakMe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189" r="15321"/>
          <a:stretch>
            <a:fillRect/>
          </a:stretch>
        </p:blipFill>
        <p:spPr bwMode="auto">
          <a:xfrm>
            <a:off x="7433680" y="4236201"/>
            <a:ext cx="3962400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직사각형 16"/>
          <p:cNvSpPr/>
          <p:nvPr/>
        </p:nvSpPr>
        <p:spPr>
          <a:xfrm>
            <a:off x="8486912" y="5616701"/>
            <a:ext cx="593905" cy="1301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9585909" y="3028762"/>
            <a:ext cx="389989" cy="8999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298611" y="1617072"/>
          <a:ext cx="5218269" cy="4783727"/>
        </p:xfrm>
        <a:graphic>
          <a:graphicData uri="http://schemas.openxmlformats.org/drawingml/2006/table">
            <a:tbl>
              <a:tblPr firstRow="1" firstCol="1" bandRow="1"/>
              <a:tblGrid>
                <a:gridCol w="1327900">
                  <a:extLst>
                    <a:ext uri="{9D8B030D-6E8A-4147-A177-3AD203B41FA5}">
                      <a16:colId xmlns:a16="http://schemas.microsoft.com/office/drawing/2014/main" val="837430762"/>
                    </a:ext>
                  </a:extLst>
                </a:gridCol>
                <a:gridCol w="3890369">
                  <a:extLst>
                    <a:ext uri="{9D8B030D-6E8A-4147-A177-3AD203B41FA5}">
                      <a16:colId xmlns:a16="http://schemas.microsoft.com/office/drawing/2014/main" val="4089588454"/>
                    </a:ext>
                  </a:extLst>
                </a:gridCol>
              </a:tblGrid>
              <a:tr h="10630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Description</a:t>
                      </a:r>
                      <a:endParaRPr lang="ko-KR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동일한 뉴럴 네트워크를 수행할 때 필요한 자원의 양을 최소화할 수 있어야 한다</a:t>
                      </a:r>
                      <a:r>
                        <a:rPr lang="en-GB" sz="1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804637"/>
                  </a:ext>
                </a:extLst>
              </a:tr>
              <a:tr h="5315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Source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HW 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개발자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시스템 개발자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504548"/>
                  </a:ext>
                </a:extLst>
              </a:tr>
              <a:tr h="5315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Stimulus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뉴럴 네트워크의 실행 요청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664588"/>
                  </a:ext>
                </a:extLst>
              </a:tr>
              <a:tr h="5315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Artifact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Compiler, Runtime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01549"/>
                  </a:ext>
                </a:extLst>
              </a:tr>
              <a:tr h="5315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Environment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Design, Development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681952"/>
                  </a:ext>
                </a:extLst>
              </a:tr>
              <a:tr h="53152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Response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최소의 메모리 사용량 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(Peak memory footprint)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로 실행이 된다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4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357743"/>
                  </a:ext>
                </a:extLst>
              </a:tr>
              <a:tr h="106305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Response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Measure</a:t>
                      </a:r>
                      <a:endParaRPr lang="ko-KR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통합 딥 러닝 컴파일러</a:t>
                      </a: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런타임 사용시 메모리 사용량</a:t>
                      </a: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&lt; </a:t>
                      </a:r>
                      <a:r>
                        <a:rPr lang="ko-KR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기존 프레임 워크에서의 메모리 사용량</a:t>
                      </a: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]</a:t>
                      </a:r>
                      <a:endParaRPr lang="ko-KR" sz="14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2603016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201714" y="1080503"/>
            <a:ext cx="4193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spcAft>
                <a:spcPts val="0"/>
              </a:spcAft>
              <a:tabLst>
                <a:tab pos="5429250" algn="l"/>
              </a:tabLst>
            </a:pPr>
            <a:r>
              <a:rPr lang="en-GB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QA-02. [Efficiency] </a:t>
            </a:r>
            <a:r>
              <a:rPr lang="ko-KR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자원의 효율적인 사용</a:t>
            </a:r>
            <a:endParaRPr lang="ko-KR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62852" y="1734221"/>
            <a:ext cx="5899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*. GPU </a:t>
            </a:r>
            <a:r>
              <a:rPr lang="ko-KR" altLang="en-US" sz="1400" b="1" dirty="0"/>
              <a:t>서버 상에서 </a:t>
            </a:r>
            <a:r>
              <a:rPr lang="en-US" altLang="ko-KR" sz="1400" b="1" dirty="0"/>
              <a:t>ResNet-50</a:t>
            </a:r>
            <a:r>
              <a:rPr lang="ko-KR" altLang="en-US" sz="1400" b="1" dirty="0"/>
              <a:t> 추론 시</a:t>
            </a:r>
            <a:r>
              <a:rPr lang="en-US" altLang="ko-KR" sz="1400" b="1" dirty="0"/>
              <a:t>, PyTorch</a:t>
            </a:r>
            <a:r>
              <a:rPr lang="ko-KR" altLang="en-US" sz="1400" b="1" dirty="0"/>
              <a:t>와 </a:t>
            </a:r>
            <a:r>
              <a:rPr lang="en-US" altLang="ko-KR" sz="1400" b="1" dirty="0"/>
              <a:t>UDLC </a:t>
            </a:r>
            <a:r>
              <a:rPr lang="ko-KR" altLang="en-US" sz="1400" b="1" dirty="0"/>
              <a:t>메모리 사용량 비교</a:t>
            </a:r>
            <a:endParaRPr lang="ko-KR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3217554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01714" y="175494"/>
            <a:ext cx="51430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주요 품질 속성 검증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11678204" y="512314"/>
            <a:ext cx="350701" cy="304648"/>
            <a:chOff x="4333458" y="997205"/>
            <a:chExt cx="421422" cy="366082"/>
          </a:xfrm>
        </p:grpSpPr>
        <p:sp>
          <p:nvSpPr>
            <p:cNvPr id="20" name="직사각형 19">
              <a:hlinkClick r:id="rId3" action="ppaction://hlinksldjump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이등변 삼각형 20">
              <a:hlinkClick r:id="rId3" action="ppaction://hlinksldjump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1189874" y="539963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Back: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/>
        </p:nvGraphicFramePr>
        <p:xfrm>
          <a:off x="6250094" y="3390900"/>
          <a:ext cx="5339926" cy="3181081"/>
        </p:xfrm>
        <a:graphic>
          <a:graphicData uri="http://schemas.openxmlformats.org/drawingml/2006/table">
            <a:tbl>
              <a:tblPr firstRow="1" firstCol="1" bandRow="1"/>
              <a:tblGrid>
                <a:gridCol w="1192679">
                  <a:extLst>
                    <a:ext uri="{9D8B030D-6E8A-4147-A177-3AD203B41FA5}">
                      <a16:colId xmlns:a16="http://schemas.microsoft.com/office/drawing/2014/main" val="1314469163"/>
                    </a:ext>
                  </a:extLst>
                </a:gridCol>
                <a:gridCol w="4147247">
                  <a:extLst>
                    <a:ext uri="{9D8B030D-6E8A-4147-A177-3AD203B41FA5}">
                      <a16:colId xmlns:a16="http://schemas.microsoft.com/office/drawing/2014/main" val="2404283915"/>
                    </a:ext>
                  </a:extLst>
                </a:gridCol>
              </a:tblGrid>
              <a:tr h="151939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PyTorch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(121.6ms)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737249"/>
                  </a:ext>
                </a:extLst>
              </a:tr>
              <a:tr h="166168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UDLC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(57.9ms)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6448010"/>
                  </a:ext>
                </a:extLst>
              </a:tr>
            </a:tbl>
          </a:graphicData>
        </a:graphic>
      </p:graphicFrame>
      <p:pic>
        <p:nvPicPr>
          <p:cNvPr id="26" name="그림 25"/>
          <p:cNvPicPr/>
          <p:nvPr/>
        </p:nvPicPr>
        <p:blipFill rotWithShape="1">
          <a:blip r:embed="rId4"/>
          <a:srcRect l="25479" b="36894"/>
          <a:stretch/>
        </p:blipFill>
        <p:spPr bwMode="auto">
          <a:xfrm>
            <a:off x="7794869" y="3446080"/>
            <a:ext cx="3418158" cy="13992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7" name="그림 26"/>
          <p:cNvPicPr/>
          <p:nvPr/>
        </p:nvPicPr>
        <p:blipFill rotWithShape="1">
          <a:blip r:embed="rId5"/>
          <a:srcRect b="38324"/>
          <a:stretch/>
        </p:blipFill>
        <p:spPr bwMode="auto">
          <a:xfrm>
            <a:off x="7779629" y="4950960"/>
            <a:ext cx="3330331" cy="15710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6250094" y="1350963"/>
          <a:ext cx="5636290" cy="16331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46608">
                  <a:extLst>
                    <a:ext uri="{9D8B030D-6E8A-4147-A177-3AD203B41FA5}">
                      <a16:colId xmlns:a16="http://schemas.microsoft.com/office/drawing/2014/main" val="3487053695"/>
                    </a:ext>
                  </a:extLst>
                </a:gridCol>
                <a:gridCol w="2989682">
                  <a:extLst>
                    <a:ext uri="{9D8B030D-6E8A-4147-A177-3AD203B41FA5}">
                      <a16:colId xmlns:a16="http://schemas.microsoft.com/office/drawing/2014/main" val="2395278049"/>
                    </a:ext>
                  </a:extLst>
                </a:gridCol>
              </a:tblGrid>
              <a:tr h="2538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050" b="1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기존 </a:t>
                      </a:r>
                      <a:r>
                        <a:rPr lang="en-GB" altLang="ko-KR" sz="1050" b="1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NPU Compiler</a:t>
                      </a:r>
                      <a:r>
                        <a:rPr lang="ko-KR" altLang="ko-KR" sz="1050" b="1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 </a:t>
                      </a:r>
                      <a:r>
                        <a:rPr lang="en-GB" altLang="ko-KR" sz="1050" b="1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Binary </a:t>
                      </a:r>
                      <a:r>
                        <a:rPr lang="ko-KR" altLang="ko-KR" sz="1050" b="1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실행 결과</a:t>
                      </a:r>
                      <a:endParaRPr lang="ko-KR" altLang="en-US" sz="1050" b="1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050" b="1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신규 </a:t>
                      </a:r>
                      <a:r>
                        <a:rPr lang="en-GB" altLang="ko-KR" sz="1050" b="1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Compiler</a:t>
                      </a:r>
                      <a:r>
                        <a:rPr lang="ko-KR" altLang="ko-KR" sz="1050" b="1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의 </a:t>
                      </a:r>
                      <a:r>
                        <a:rPr lang="en-GB" altLang="ko-KR" sz="1050" b="1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Binary </a:t>
                      </a:r>
                      <a:r>
                        <a:rPr lang="ko-KR" altLang="ko-KR" sz="1050" b="1" kern="120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실행 결과</a:t>
                      </a:r>
                      <a:endParaRPr lang="ko-KR" altLang="en-US" sz="1050" b="1" kern="120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1140730"/>
                  </a:ext>
                </a:extLst>
              </a:tr>
              <a:tr h="137922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382742"/>
                  </a:ext>
                </a:extLst>
              </a:tr>
            </a:tbl>
          </a:graphicData>
        </a:graphic>
      </p:graphicFrame>
      <p:pic>
        <p:nvPicPr>
          <p:cNvPr id="31" name="그림 30"/>
          <p:cNvPicPr/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44" r="57608"/>
          <a:stretch/>
        </p:blipFill>
        <p:spPr bwMode="auto">
          <a:xfrm>
            <a:off x="6349126" y="1660494"/>
            <a:ext cx="2342789" cy="12576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32" name="그림 31"/>
          <p:cNvPicPr/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903" r="61089"/>
          <a:stretch/>
        </p:blipFill>
        <p:spPr bwMode="auto">
          <a:xfrm>
            <a:off x="8971490" y="1660494"/>
            <a:ext cx="2760673" cy="12545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3" name="직사각형 32"/>
          <p:cNvSpPr/>
          <p:nvPr/>
        </p:nvSpPr>
        <p:spPr>
          <a:xfrm>
            <a:off x="7348361" y="2645840"/>
            <a:ext cx="368525" cy="1301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10141806" y="2606509"/>
            <a:ext cx="368525" cy="13017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graphicFrame>
        <p:nvGraphicFramePr>
          <p:cNvPr id="35" name="표 34"/>
          <p:cNvGraphicFramePr>
            <a:graphicFrameLocks noGrp="1"/>
          </p:cNvGraphicFramePr>
          <p:nvPr/>
        </p:nvGraphicFramePr>
        <p:xfrm>
          <a:off x="298611" y="1617072"/>
          <a:ext cx="5370669" cy="4904955"/>
        </p:xfrm>
        <a:graphic>
          <a:graphicData uri="http://schemas.openxmlformats.org/drawingml/2006/table">
            <a:tbl>
              <a:tblPr firstRow="1" firstCol="1" bandRow="1"/>
              <a:tblGrid>
                <a:gridCol w="1327900">
                  <a:extLst>
                    <a:ext uri="{9D8B030D-6E8A-4147-A177-3AD203B41FA5}">
                      <a16:colId xmlns:a16="http://schemas.microsoft.com/office/drawing/2014/main" val="837430762"/>
                    </a:ext>
                  </a:extLst>
                </a:gridCol>
                <a:gridCol w="4042769">
                  <a:extLst>
                    <a:ext uri="{9D8B030D-6E8A-4147-A177-3AD203B41FA5}">
                      <a16:colId xmlns:a16="http://schemas.microsoft.com/office/drawing/2014/main" val="4089588454"/>
                    </a:ext>
                  </a:extLst>
                </a:gridCol>
              </a:tblGrid>
              <a:tr h="10899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Description</a:t>
                      </a:r>
                      <a:endParaRPr lang="ko-KR" sz="12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주어진 딥 러닝 모델에 대해 컴파일러를 통해 성능 최적화를 수행하여 바이너리를 생성하고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이를 런타임을 통해 실행하여 타겟 장치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시스템 상에서 추론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학습 성능을 향상시킨다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804637"/>
                  </a:ext>
                </a:extLst>
              </a:tr>
              <a:tr h="5449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Source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딥 러닝 모델 개발자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응용 개발자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504548"/>
                  </a:ext>
                </a:extLst>
              </a:tr>
              <a:tr h="5449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Stimulus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딥 러닝 모델에 대한 추론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학습 요청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664588"/>
                  </a:ext>
                </a:extLst>
              </a:tr>
              <a:tr h="5449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Artifact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Compiler, Runtime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01549"/>
                  </a:ext>
                </a:extLst>
              </a:tr>
              <a:tr h="5449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Environment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서버 또는 모바일 장치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681952"/>
                  </a:ext>
                </a:extLst>
              </a:tr>
              <a:tr h="54499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Response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주어진 장치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시스템의 자원을 최대한 활용하여 추론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학습 시간을 최소화 한다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357743"/>
                  </a:ext>
                </a:extLst>
              </a:tr>
              <a:tr h="10899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Response</a:t>
                      </a:r>
                      <a:b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</a:b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Measure</a:t>
                      </a:r>
                      <a:endParaRPr lang="ko-KR" sz="12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통합 딥 러닝 컴파일러</a:t>
                      </a: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런타임 사용시 성능</a:t>
                      </a: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&gt; </a:t>
                      </a:r>
                      <a:r>
                        <a:rPr lang="ko-KR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기존 프레임워크 성능</a:t>
                      </a: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]</a:t>
                      </a:r>
                      <a:endParaRPr lang="ko-KR" sz="12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2603016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01872" y="1079006"/>
            <a:ext cx="4385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spcAft>
                <a:spcPts val="0"/>
              </a:spcAft>
              <a:tabLst>
                <a:tab pos="5429250" algn="l"/>
              </a:tabLst>
            </a:pP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QA-03. [Performance] </a:t>
            </a:r>
            <a:r>
              <a:rPr lang="ko-KR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빠른 추론</a:t>
            </a: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ko-KR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학습 시간</a:t>
            </a:r>
            <a:endParaRPr lang="ko-KR" altLang="ko-KR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61200" y="1033436"/>
            <a:ext cx="5739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*. S22 NPU</a:t>
            </a:r>
            <a:r>
              <a:rPr lang="ko-KR" altLang="en-US" sz="1400" b="1" dirty="0"/>
              <a:t>에서 </a:t>
            </a:r>
            <a:r>
              <a:rPr lang="en-US" altLang="ko-KR" sz="1400" b="1" dirty="0"/>
              <a:t>ResNet-50</a:t>
            </a:r>
            <a:r>
              <a:rPr lang="ko-KR" altLang="en-US" sz="1400" b="1" dirty="0"/>
              <a:t> 추론 시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기존 </a:t>
            </a:r>
            <a:r>
              <a:rPr lang="en-US" altLang="ko-KR" sz="1400" b="1" dirty="0"/>
              <a:t>NPU </a:t>
            </a:r>
            <a:r>
              <a:rPr lang="ko-KR" altLang="en-US" sz="1400" b="1" dirty="0"/>
              <a:t>컴파일러와 </a:t>
            </a:r>
            <a:r>
              <a:rPr lang="en-US" altLang="ko-KR" sz="1400" b="1" dirty="0"/>
              <a:t>UDLC </a:t>
            </a:r>
            <a:r>
              <a:rPr lang="ko-KR" altLang="en-US" sz="1400" b="1" dirty="0"/>
              <a:t>성능 비교</a:t>
            </a:r>
            <a:endParaRPr lang="ko-KR" altLang="ko-KR" sz="140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6147988" y="3070640"/>
            <a:ext cx="53203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*. </a:t>
            </a:r>
            <a:r>
              <a:rPr lang="ko-KR" altLang="en-US" sz="1400" b="1" dirty="0"/>
              <a:t>분산 </a:t>
            </a:r>
            <a:r>
              <a:rPr lang="en-US" altLang="ko-KR" sz="1400" b="1" dirty="0"/>
              <a:t>GPU </a:t>
            </a:r>
            <a:r>
              <a:rPr lang="ko-KR" altLang="en-US" sz="1400" b="1" dirty="0"/>
              <a:t>서버에서 </a:t>
            </a:r>
            <a:r>
              <a:rPr lang="en-US" altLang="ko-KR" sz="1400" b="1" dirty="0"/>
              <a:t>ResNet-50</a:t>
            </a:r>
            <a:r>
              <a:rPr lang="ko-KR" altLang="en-US" sz="1400" b="1" dirty="0"/>
              <a:t> 추론 시</a:t>
            </a:r>
            <a:r>
              <a:rPr lang="en-US" altLang="ko-KR" sz="1400" b="1" dirty="0"/>
              <a:t>, PyTorch</a:t>
            </a:r>
            <a:r>
              <a:rPr lang="ko-KR" altLang="en-US" sz="1400" b="1" dirty="0"/>
              <a:t>와 </a:t>
            </a:r>
            <a:r>
              <a:rPr lang="en-US" altLang="ko-KR" sz="1400" b="1" dirty="0"/>
              <a:t>UDLC </a:t>
            </a:r>
            <a:r>
              <a:rPr lang="ko-KR" altLang="en-US" sz="1400" b="1" dirty="0"/>
              <a:t>성능 비교</a:t>
            </a:r>
            <a:endParaRPr lang="ko-KR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5509141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5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01714" y="175494"/>
            <a:ext cx="50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주요 품질 속성 검증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11678204" y="512314"/>
            <a:ext cx="350701" cy="304648"/>
            <a:chOff x="4333458" y="997205"/>
            <a:chExt cx="421422" cy="366082"/>
          </a:xfrm>
        </p:grpSpPr>
        <p:sp>
          <p:nvSpPr>
            <p:cNvPr id="20" name="직사각형 19">
              <a:hlinkClick r:id="rId3" action="ppaction://hlinksldjump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이등변 삼각형 20">
              <a:hlinkClick r:id="rId3" action="ppaction://hlinksldjump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1189874" y="539963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Back: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5695154" y="1617072"/>
          <a:ext cx="6274898" cy="4963804"/>
        </p:xfrm>
        <a:graphic>
          <a:graphicData uri="http://schemas.openxmlformats.org/drawingml/2006/table">
            <a:tbl>
              <a:tblPr firstRow="1" firstCol="1" bandRow="1"/>
              <a:tblGrid>
                <a:gridCol w="849297">
                  <a:extLst>
                    <a:ext uri="{9D8B030D-6E8A-4147-A177-3AD203B41FA5}">
                      <a16:colId xmlns:a16="http://schemas.microsoft.com/office/drawing/2014/main" val="1899573260"/>
                    </a:ext>
                  </a:extLst>
                </a:gridCol>
                <a:gridCol w="2172829">
                  <a:extLst>
                    <a:ext uri="{9D8B030D-6E8A-4147-A177-3AD203B41FA5}">
                      <a16:colId xmlns:a16="http://schemas.microsoft.com/office/drawing/2014/main" val="3186994825"/>
                    </a:ext>
                  </a:extLst>
                </a:gridCol>
                <a:gridCol w="3252772">
                  <a:extLst>
                    <a:ext uri="{9D8B030D-6E8A-4147-A177-3AD203B41FA5}">
                      <a16:colId xmlns:a16="http://schemas.microsoft.com/office/drawing/2014/main" val="1073210617"/>
                    </a:ext>
                  </a:extLst>
                </a:gridCol>
              </a:tblGrid>
              <a:tr h="27946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8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1. Front-end </a:t>
                      </a:r>
                      <a:r>
                        <a:rPr lang="ko-KR" sz="8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수정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8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: 1 MM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1-1. ModelBuilder.cpp (Model parser module): </a:t>
                      </a:r>
                      <a:r>
                        <a:rPr lang="en-GB" sz="9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85 lines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1-2. TorchScriptToUDLC.cpp (Model converter module): </a:t>
                      </a:r>
                      <a:r>
                        <a:rPr lang="en-GB" sz="9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52 lines</a:t>
                      </a: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GB" altLang="ko-KR" sz="900" b="1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1-3. Operator 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추가</a:t>
                      </a:r>
                      <a:r>
                        <a:rPr lang="en-GB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단순 변환을 수행하는 코드로 다른 입력 포맷을 위해 </a:t>
                      </a:r>
                      <a:r>
                        <a:rPr lang="ko-KR" sz="90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기구현된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 코드를 참고하여 어렵지 않게 이식 가능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930883"/>
                  </a:ext>
                </a:extLst>
              </a:tr>
              <a:tr h="21691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8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2. User </a:t>
                      </a:r>
                      <a:br>
                        <a:rPr lang="en-GB" sz="8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</a:br>
                      <a:r>
                        <a:rPr lang="en-GB" sz="8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interface </a:t>
                      </a:r>
                      <a:r>
                        <a:rPr lang="ko-KR" sz="8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수정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8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: 0.5 MM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 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GB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2-1. 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사용자 코드에서 수정이 필요한 부분은</a:t>
                      </a:r>
                      <a:r>
                        <a:rPr lang="en-GB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모델을 정의하는 부분에서는 수정이 필요한 부분이 없으며</a:t>
                      </a:r>
                      <a:r>
                        <a:rPr lang="en-GB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위와 같이 명시적으로 컴파일러를 호출하여 바이너리를 생성하고</a:t>
                      </a:r>
                      <a:r>
                        <a:rPr lang="en-GB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이를 </a:t>
                      </a:r>
                      <a:r>
                        <a:rPr lang="en-GB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runtime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에 전달해서 실행하는 코드만 추가되면 된다</a:t>
                      </a:r>
                      <a:r>
                        <a:rPr lang="en-GB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ko-KR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딥 러닝 프레임워크의 환경에 맞춰 컴파일러 및 런타임을 라이브러리화 하는 작업만 이루어지면 바로 이식이 가능하다고 판단된다</a:t>
                      </a:r>
                      <a:r>
                        <a:rPr lang="en-GB" sz="9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9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767074"/>
                  </a:ext>
                </a:extLst>
              </a:tr>
            </a:tbl>
          </a:graphicData>
        </a:graphic>
      </p:graphicFrame>
      <p:pic>
        <p:nvPicPr>
          <p:cNvPr id="4106" name="그림 70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7"/>
          <a:stretch/>
        </p:blipFill>
        <p:spPr bwMode="auto">
          <a:xfrm>
            <a:off x="8732624" y="1617072"/>
            <a:ext cx="3214044" cy="1271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그림 71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557" b="37886"/>
          <a:stretch/>
        </p:blipFill>
        <p:spPr bwMode="auto">
          <a:xfrm>
            <a:off x="8732624" y="2836689"/>
            <a:ext cx="3214044" cy="155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그림 8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484" y="4477135"/>
            <a:ext cx="2246010" cy="199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직사각형 25"/>
          <p:cNvSpPr/>
          <p:nvPr/>
        </p:nvSpPr>
        <p:spPr>
          <a:xfrm>
            <a:off x="9147195" y="4798762"/>
            <a:ext cx="1973402" cy="138113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9249408" y="6301709"/>
            <a:ext cx="1618212" cy="147637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/>
          </a:p>
        </p:txBody>
      </p:sp>
      <p:graphicFrame>
        <p:nvGraphicFramePr>
          <p:cNvPr id="28" name="표 27"/>
          <p:cNvGraphicFramePr>
            <a:graphicFrameLocks noGrp="1"/>
          </p:cNvGraphicFramePr>
          <p:nvPr/>
        </p:nvGraphicFramePr>
        <p:xfrm>
          <a:off x="298611" y="1617072"/>
          <a:ext cx="5173462" cy="4963806"/>
        </p:xfrm>
        <a:graphic>
          <a:graphicData uri="http://schemas.openxmlformats.org/drawingml/2006/table">
            <a:tbl>
              <a:tblPr firstRow="1" firstCol="1" bandRow="1"/>
              <a:tblGrid>
                <a:gridCol w="1327900">
                  <a:extLst>
                    <a:ext uri="{9D8B030D-6E8A-4147-A177-3AD203B41FA5}">
                      <a16:colId xmlns:a16="http://schemas.microsoft.com/office/drawing/2014/main" val="837430762"/>
                    </a:ext>
                  </a:extLst>
                </a:gridCol>
                <a:gridCol w="3845562">
                  <a:extLst>
                    <a:ext uri="{9D8B030D-6E8A-4147-A177-3AD203B41FA5}">
                      <a16:colId xmlns:a16="http://schemas.microsoft.com/office/drawing/2014/main" val="4089588454"/>
                    </a:ext>
                  </a:extLst>
                </a:gridCol>
              </a:tblGrid>
              <a:tr h="11030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Description</a:t>
                      </a:r>
                      <a:endParaRPr lang="ko-KR" sz="12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TensorFlow, PyTorch 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등 딥 러닝 프레임워크에 이식이 쉽고 기존 사용자 경험을 크게 해치지 않아야 한다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804637"/>
                  </a:ext>
                </a:extLst>
              </a:tr>
              <a:tr h="551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Source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사용자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504548"/>
                  </a:ext>
                </a:extLst>
              </a:tr>
              <a:tr h="551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Stimulus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추론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학습 수행을 위한 딥 러닝 프레임워크 사용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6664588"/>
                  </a:ext>
                </a:extLst>
              </a:tr>
              <a:tr h="551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Artifact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Compiler, Runtime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301549"/>
                  </a:ext>
                </a:extLst>
              </a:tr>
              <a:tr h="551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Environment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딥 러닝 프레임워크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6681952"/>
                  </a:ext>
                </a:extLst>
              </a:tr>
              <a:tr h="5515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Response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사용자가 기존의 딥 러닝 프레임워크를 사용하는 데에 어려움이 없다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357743"/>
                  </a:ext>
                </a:extLst>
              </a:tr>
              <a:tr h="110306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Response</a:t>
                      </a:r>
                      <a:b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</a:b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Measure</a:t>
                      </a:r>
                      <a:endParaRPr lang="ko-KR" sz="12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프레임워크 코드 수정에 드는 </a:t>
                      </a: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MM &lt; 2MM]</a:t>
                      </a:r>
                      <a:endParaRPr lang="ko-KR" sz="12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2603016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223160" y="1079006"/>
            <a:ext cx="434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spcAft>
                <a:spcPts val="0"/>
              </a:spcAft>
              <a:tabLst>
                <a:tab pos="5429250" algn="l"/>
              </a:tabLst>
            </a:pPr>
            <a:r>
              <a:rPr lang="en-GB" altLang="ko-KR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QA-05. [Portability] </a:t>
            </a:r>
            <a:r>
              <a:rPr lang="ko-KR" altLang="ko-KR" b="1" dirty="0">
                <a:latin typeface="맑은 고딕" panose="020B0503020000020004" pitchFamily="50" charset="-127"/>
                <a:cs typeface="Times New Roman" panose="02020603050405020304" pitchFamily="18" charset="0"/>
              </a:rPr>
              <a:t>프레임워크 이식성</a:t>
            </a:r>
            <a:endParaRPr lang="ko-KR" altLang="ko-KR" dirty="0"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547253" y="1287906"/>
            <a:ext cx="56573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*. </a:t>
            </a:r>
            <a:r>
              <a:rPr lang="ko-KR" altLang="en-US" sz="1400" b="1" dirty="0"/>
              <a:t>새로운 딥 러닝 프레임워크 지원 시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수정이 필요한 코드에 대한 평가</a:t>
            </a:r>
            <a:endParaRPr lang="ko-KR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18281340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0" y="0"/>
            <a:ext cx="12192000" cy="913267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201714" y="175494"/>
            <a:ext cx="50152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b="1" dirty="0">
                <a:solidFill>
                  <a:schemeClr val="bg1"/>
                </a:solidFill>
              </a:rPr>
              <a:t>주요 품질 속성 검증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11678204" y="512314"/>
            <a:ext cx="350701" cy="304648"/>
            <a:chOff x="4333458" y="997205"/>
            <a:chExt cx="421422" cy="366082"/>
          </a:xfrm>
        </p:grpSpPr>
        <p:sp>
          <p:nvSpPr>
            <p:cNvPr id="23" name="직사각형 22">
              <a:hlinkClick r:id="rId3" action="ppaction://hlinksldjump"/>
            </p:cNvPr>
            <p:cNvSpPr/>
            <p:nvPr/>
          </p:nvSpPr>
          <p:spPr>
            <a:xfrm>
              <a:off x="4333458" y="997205"/>
              <a:ext cx="421422" cy="366082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 w="38100" h="38100"/>
              <a:bevelB w="38100" h="381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이등변 삼각형 23">
              <a:hlinkClick r:id="rId3" action="ppaction://hlinksldjump"/>
            </p:cNvPr>
            <p:cNvSpPr/>
            <p:nvPr/>
          </p:nvSpPr>
          <p:spPr>
            <a:xfrm rot="5400000">
              <a:off x="4435390" y="1050291"/>
              <a:ext cx="237624" cy="259913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2700" h="12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11189874" y="539963"/>
            <a:ext cx="526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Back: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5829300" y="1722129"/>
          <a:ext cx="5924455" cy="4896000"/>
        </p:xfrm>
        <a:graphic>
          <a:graphicData uri="http://schemas.openxmlformats.org/drawingml/2006/table">
            <a:tbl>
              <a:tblPr firstRow="1" firstCol="1" bandRow="1"/>
              <a:tblGrid>
                <a:gridCol w="1749029">
                  <a:extLst>
                    <a:ext uri="{9D8B030D-6E8A-4147-A177-3AD203B41FA5}">
                      <a16:colId xmlns:a16="http://schemas.microsoft.com/office/drawing/2014/main" val="1197380984"/>
                    </a:ext>
                  </a:extLst>
                </a:gridCol>
                <a:gridCol w="1043708">
                  <a:extLst>
                    <a:ext uri="{9D8B030D-6E8A-4147-A177-3AD203B41FA5}">
                      <a16:colId xmlns:a16="http://schemas.microsoft.com/office/drawing/2014/main" val="3139363981"/>
                    </a:ext>
                  </a:extLst>
                </a:gridCol>
                <a:gridCol w="1043708">
                  <a:extLst>
                    <a:ext uri="{9D8B030D-6E8A-4147-A177-3AD203B41FA5}">
                      <a16:colId xmlns:a16="http://schemas.microsoft.com/office/drawing/2014/main" val="576806548"/>
                    </a:ext>
                  </a:extLst>
                </a:gridCol>
                <a:gridCol w="1043708">
                  <a:extLst>
                    <a:ext uri="{9D8B030D-6E8A-4147-A177-3AD203B41FA5}">
                      <a16:colId xmlns:a16="http://schemas.microsoft.com/office/drawing/2014/main" val="267592356"/>
                    </a:ext>
                  </a:extLst>
                </a:gridCol>
                <a:gridCol w="1044302">
                  <a:extLst>
                    <a:ext uri="{9D8B030D-6E8A-4147-A177-3AD203B41FA5}">
                      <a16:colId xmlns:a16="http://schemas.microsoft.com/office/drawing/2014/main" val="1779563847"/>
                    </a:ext>
                  </a:extLst>
                </a:gridCol>
              </a:tblGrid>
              <a:tr h="3916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Pass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NPU </a:t>
                      </a:r>
                      <a:r>
                        <a:rPr lang="ko-KR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사용 </a:t>
                      </a:r>
                      <a:br>
                        <a:rPr lang="en-US" altLang="ko-KR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</a:br>
                      <a:r>
                        <a:rPr lang="ko-KR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여부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HBM-PIM </a:t>
                      </a:r>
                      <a:br>
                        <a:rPr lang="en-GB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</a:br>
                      <a:r>
                        <a:rPr lang="ko-KR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사용 여부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분산 </a:t>
                      </a: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GPU </a:t>
                      </a:r>
                      <a:r>
                        <a:rPr lang="ko-KR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사용 여부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재사용 가능 </a:t>
                      </a:r>
                      <a:br>
                        <a:rPr lang="en-US" altLang="ko-KR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</a:br>
                      <a:r>
                        <a:rPr lang="ko-KR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여부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973814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TransformGraph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3155922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ExtractFunctionInput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060749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ShapeInference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2542511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AnalyzeTilingCandidates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9782699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ApplyTiling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953159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AnalyzeDataFlow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8372898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AnalyzeExecutionOrder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1956950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BuildSchedule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121143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RemoveScheduleWrapper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1236371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TransformSchedule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3198340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DevicePlacement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676292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UDLC2NPU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103455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UDLC2PIM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671188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UDLC2GPU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787985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ExportNPU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310131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AllocatePsums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670134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CalculateCFIFOSize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656412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CalculateCFIFOSBurst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2712503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MarkMemoryRegion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884122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AllocateMemoryObjects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6265851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ScheduleMemoryAccesses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51836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 err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ControlCU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X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8133"/>
                  </a:ext>
                </a:extLst>
              </a:tr>
              <a:tr h="19584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TransformDataFormat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05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O</a:t>
                      </a:r>
                      <a:endParaRPr lang="ko-KR" sz="1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64517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98611" y="1039892"/>
            <a:ext cx="5698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QA-07. [Reusability] </a:t>
            </a:r>
            <a:r>
              <a:rPr lang="ko-KR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타겟 장치</a:t>
            </a:r>
            <a:r>
              <a:rPr lang="en-US" altLang="ko-KR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ko-KR" altLang="en-US" b="1" dirty="0">
                <a:latin typeface="Calibri" panose="020F0502020204030204" pitchFamily="34" charset="0"/>
                <a:cs typeface="Calibri" panose="020F0502020204030204" pitchFamily="34" charset="0"/>
              </a:rPr>
              <a:t>시스템 간 코드 재사용성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/>
        </p:nvGraphicFramePr>
        <p:xfrm>
          <a:off x="298611" y="1535847"/>
          <a:ext cx="5035389" cy="5082280"/>
        </p:xfrm>
        <a:graphic>
          <a:graphicData uri="http://schemas.openxmlformats.org/drawingml/2006/table">
            <a:tbl>
              <a:tblPr firstRow="1" firstCol="1" bandRow="1"/>
              <a:tblGrid>
                <a:gridCol w="1088229">
                  <a:extLst>
                    <a:ext uri="{9D8B030D-6E8A-4147-A177-3AD203B41FA5}">
                      <a16:colId xmlns:a16="http://schemas.microsoft.com/office/drawing/2014/main" val="2099085241"/>
                    </a:ext>
                  </a:extLst>
                </a:gridCol>
                <a:gridCol w="3947160">
                  <a:extLst>
                    <a:ext uri="{9D8B030D-6E8A-4147-A177-3AD203B41FA5}">
                      <a16:colId xmlns:a16="http://schemas.microsoft.com/office/drawing/2014/main" val="10985395"/>
                    </a:ext>
                  </a:extLst>
                </a:gridCol>
              </a:tblGrid>
              <a:tr h="109962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Description</a:t>
                      </a:r>
                      <a:endParaRPr lang="ko-KR" sz="12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동일한 모델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기능을 서로 다른 타겟에 대해 컴파일 및 실행할 때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실제로 실행되는 코드가 최대한 같아야 한다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6400627"/>
                  </a:ext>
                </a:extLst>
              </a:tr>
              <a:tr h="5498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Source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개발자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7940709"/>
                  </a:ext>
                </a:extLst>
              </a:tr>
              <a:tr h="6837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Stimulus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타겟 장치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시스템을 위한 컴파일러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런타임 설계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0898386"/>
                  </a:ext>
                </a:extLst>
              </a:tr>
              <a:tr h="5498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Artifact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Compiler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6124848"/>
                  </a:ext>
                </a:extLst>
              </a:tr>
              <a:tr h="5498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Environment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Design, Development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9883611"/>
                  </a:ext>
                </a:extLst>
              </a:tr>
              <a:tr h="54981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Response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기존에 있었던 기능은 새롭게 작성하지 않고 타겟 장치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시스템을 지원한다</a:t>
                      </a:r>
                      <a:r>
                        <a:rPr lang="en-GB" sz="12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.</a:t>
                      </a:r>
                      <a:endParaRPr lang="ko-KR" sz="12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9268059"/>
                  </a:ext>
                </a:extLst>
              </a:tr>
              <a:tr h="109962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Response</a:t>
                      </a:r>
                      <a:b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</a:b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Measure</a:t>
                      </a:r>
                      <a:endParaRPr lang="ko-KR" sz="12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ko-KR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타겟 장치 간 구현의 재사용성 </a:t>
                      </a:r>
                      <a:r>
                        <a:rPr lang="en-GB" sz="1200" b="1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&gt; 70%]</a:t>
                      </a:r>
                      <a:endParaRPr lang="ko-KR" sz="12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12445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773301" y="1409224"/>
            <a:ext cx="31133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*. </a:t>
            </a:r>
            <a:r>
              <a:rPr lang="ko-KR" altLang="en-US" sz="1400" b="1" dirty="0"/>
              <a:t>타겟 장치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시스템 간 코드 재사용성</a:t>
            </a:r>
            <a:endParaRPr lang="ko-KR" altLang="ko-KR" sz="1400" b="1" dirty="0"/>
          </a:p>
        </p:txBody>
      </p:sp>
    </p:spTree>
    <p:extLst>
      <p:ext uri="{BB962C8B-B14F-4D97-AF65-F5344CB8AC3E}">
        <p14:creationId xmlns:p14="http://schemas.microsoft.com/office/powerpoint/2010/main" val="3156291056"/>
      </p:ext>
    </p:extLst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도출 – Use-case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1170432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Memory-Centric Runtime Framework의 Use-case diagram (Actor는 Context View 기준)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1097280"/>
            <a:ext cx="6492240" cy="5349240"/>
          </a:xfrm>
          <a:prstGeom prst="rect">
            <a:avLst/>
          </a:prstGeom>
          <a:solidFill>
            <a:srgbClr val="FFFFFF"/>
          </a:solidFill>
          <a:ln w="1587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34640" y="1115568"/>
            <a:ext cx="6492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&lt;&lt;System&gt;&gt; Memory-Centric Runtime Framework</a:t>
            </a:r>
          </a:p>
        </p:txBody>
      </p:sp>
      <p:sp>
        <p:nvSpPr>
          <p:cNvPr id="7" name="Oval 6"/>
          <p:cNvSpPr/>
          <p:nvPr/>
        </p:nvSpPr>
        <p:spPr>
          <a:xfrm>
            <a:off x="1289304" y="201168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371600" y="2176272"/>
            <a:ext cx="0" cy="219456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34440" y="2267712"/>
            <a:ext cx="274320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261872" y="2395728"/>
            <a:ext cx="109728" cy="18288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2395728"/>
            <a:ext cx="109728" cy="18288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259689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Application /</a:t>
            </a:r>
          </a:p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Agent Framework</a:t>
            </a:r>
          </a:p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(사용자)</a:t>
            </a:r>
          </a:p>
        </p:txBody>
      </p:sp>
      <p:sp>
        <p:nvSpPr>
          <p:cNvPr id="13" name="Oval 12"/>
          <p:cNvSpPr/>
          <p:nvPr/>
        </p:nvSpPr>
        <p:spPr>
          <a:xfrm>
            <a:off x="1289304" y="470916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1371600" y="4873752"/>
            <a:ext cx="0" cy="219456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234440" y="4965192"/>
            <a:ext cx="274320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261872" y="5093208"/>
            <a:ext cx="109728" cy="18288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71600" y="5093208"/>
            <a:ext cx="109728" cy="18288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5294376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시스템 제공자</a:t>
            </a:r>
          </a:p>
        </p:txBody>
      </p:sp>
      <p:sp>
        <p:nvSpPr>
          <p:cNvPr id="19" name="Oval 18"/>
          <p:cNvSpPr/>
          <p:nvPr/>
        </p:nvSpPr>
        <p:spPr>
          <a:xfrm>
            <a:off x="1289304" y="5577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371600" y="5742431"/>
            <a:ext cx="0" cy="219457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34440" y="5833872"/>
            <a:ext cx="274320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261872" y="5961888"/>
            <a:ext cx="109728" cy="18288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371600" y="5961888"/>
            <a:ext cx="109728" cy="18288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6163055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Device 제공자</a:t>
            </a:r>
          </a:p>
        </p:txBody>
      </p:sp>
      <p:sp>
        <p:nvSpPr>
          <p:cNvPr id="25" name="Oval 24"/>
          <p:cNvSpPr/>
          <p:nvPr/>
        </p:nvSpPr>
        <p:spPr>
          <a:xfrm>
            <a:off x="10616184" y="51206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10698480" y="5285231"/>
            <a:ext cx="0" cy="219457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561319" y="5376672"/>
            <a:ext cx="274321" cy="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0588752" y="5504688"/>
            <a:ext cx="109728" cy="18288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698480" y="5504688"/>
            <a:ext cx="109727" cy="182880"/>
          </a:xfrm>
          <a:prstGeom prst="line">
            <a:avLst/>
          </a:prstGeom>
          <a:ln w="127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58400" y="5705855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서비스 제공자</a:t>
            </a:r>
          </a:p>
        </p:txBody>
      </p:sp>
      <p:sp>
        <p:nvSpPr>
          <p:cNvPr id="31" name="Oval 30"/>
          <p:cNvSpPr/>
          <p:nvPr/>
        </p:nvSpPr>
        <p:spPr>
          <a:xfrm>
            <a:off x="3337560" y="2720339"/>
            <a:ext cx="2103120" cy="594360"/>
          </a:xfrm>
          <a:prstGeom prst="ellipse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UC01 LLM 추론 요청</a:t>
            </a:r>
          </a:p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(스트리밍 응답)</a:t>
            </a:r>
          </a:p>
        </p:txBody>
      </p:sp>
      <p:sp>
        <p:nvSpPr>
          <p:cNvPr id="32" name="Oval 31"/>
          <p:cNvSpPr/>
          <p:nvPr/>
        </p:nvSpPr>
        <p:spPr>
          <a:xfrm>
            <a:off x="6812280" y="1371600"/>
            <a:ext cx="192024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UC02 LLM 추론 실행</a:t>
            </a:r>
          </a:p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(출력 토큰 생성)</a:t>
            </a:r>
          </a:p>
        </p:txBody>
      </p:sp>
      <p:sp>
        <p:nvSpPr>
          <p:cNvPr id="33" name="Oval 32"/>
          <p:cNvSpPr/>
          <p:nvPr/>
        </p:nvSpPr>
        <p:spPr>
          <a:xfrm>
            <a:off x="6812280" y="1965960"/>
            <a:ext cx="192024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UC03 요청 스케줄링</a:t>
            </a:r>
          </a:p>
        </p:txBody>
      </p:sp>
      <p:sp>
        <p:nvSpPr>
          <p:cNvPr id="34" name="Oval 33"/>
          <p:cNvSpPr/>
          <p:nvPr/>
        </p:nvSpPr>
        <p:spPr>
          <a:xfrm>
            <a:off x="6812280" y="2560320"/>
            <a:ext cx="192024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UC04 KV 캐시 생성·</a:t>
            </a:r>
          </a:p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할당·해제</a:t>
            </a:r>
          </a:p>
        </p:txBody>
      </p:sp>
      <p:sp>
        <p:nvSpPr>
          <p:cNvPr id="35" name="Oval 34"/>
          <p:cNvSpPr/>
          <p:nvPr/>
        </p:nvSpPr>
        <p:spPr>
          <a:xfrm>
            <a:off x="6812280" y="3154680"/>
            <a:ext cx="192024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UC05 멀티턴·Agent</a:t>
            </a:r>
          </a:p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세션 이어가기</a:t>
            </a:r>
          </a:p>
        </p:txBody>
      </p:sp>
      <p:sp>
        <p:nvSpPr>
          <p:cNvPr id="36" name="Oval 35"/>
          <p:cNvSpPr/>
          <p:nvPr/>
        </p:nvSpPr>
        <p:spPr>
          <a:xfrm>
            <a:off x="6812280" y="3749039"/>
            <a:ext cx="192024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UC06 장문·RAG</a:t>
            </a:r>
          </a:p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컨텍스트 요청</a:t>
            </a:r>
          </a:p>
        </p:txBody>
      </p:sp>
      <p:sp>
        <p:nvSpPr>
          <p:cNvPr id="37" name="Oval 36"/>
          <p:cNvSpPr/>
          <p:nvPr/>
        </p:nvSpPr>
        <p:spPr>
          <a:xfrm>
            <a:off x="6812280" y="4343400"/>
            <a:ext cx="192024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UC07 다중 서버에서</a:t>
            </a:r>
          </a:p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 처리</a:t>
            </a:r>
          </a:p>
        </p:txBody>
      </p:sp>
      <p:sp>
        <p:nvSpPr>
          <p:cNvPr id="38" name="Oval 37"/>
          <p:cNvSpPr/>
          <p:nvPr/>
        </p:nvSpPr>
        <p:spPr>
          <a:xfrm>
            <a:off x="3337560" y="4937760"/>
            <a:ext cx="1920240" cy="45720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UC08 시스템 구성</a:t>
            </a:r>
          </a:p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정보 반영</a:t>
            </a:r>
          </a:p>
        </p:txBody>
      </p:sp>
      <p:sp>
        <p:nvSpPr>
          <p:cNvPr id="39" name="Oval 38"/>
          <p:cNvSpPr/>
          <p:nvPr/>
        </p:nvSpPr>
        <p:spPr>
          <a:xfrm>
            <a:off x="6812280" y="5029200"/>
            <a:ext cx="1920240" cy="45720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UC09 SLO·정책·자원 구성</a:t>
            </a:r>
          </a:p>
        </p:txBody>
      </p:sp>
      <p:sp>
        <p:nvSpPr>
          <p:cNvPr id="40" name="Oval 39"/>
          <p:cNvSpPr/>
          <p:nvPr/>
        </p:nvSpPr>
        <p:spPr>
          <a:xfrm>
            <a:off x="3337560" y="5623560"/>
            <a:ext cx="1920240" cy="45720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UC10 Device 연동</a:t>
            </a:r>
          </a:p>
        </p:txBody>
      </p:sp>
      <p:sp>
        <p:nvSpPr>
          <p:cNvPr id="41" name="Oval 40"/>
          <p:cNvSpPr/>
          <p:nvPr/>
        </p:nvSpPr>
        <p:spPr>
          <a:xfrm>
            <a:off x="6812280" y="5715000"/>
            <a:ext cx="1920240" cy="457200"/>
          </a:xfrm>
          <a:prstGeom prst="ellipse">
            <a:avLst/>
          </a:prstGeom>
          <a:solidFill>
            <a:srgbClr val="F2F2F2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UC11 상태·성능 모니터링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5394960" y="1600200"/>
            <a:ext cx="1417320" cy="1062989"/>
          </a:xfrm>
          <a:prstGeom prst="line">
            <a:avLst/>
          </a:prstGeom>
          <a:ln w="1016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5394960" y="2194560"/>
            <a:ext cx="1417320" cy="617219"/>
          </a:xfrm>
          <a:prstGeom prst="line">
            <a:avLst/>
          </a:prstGeom>
          <a:ln w="1016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394960" y="2788920"/>
            <a:ext cx="1417320" cy="171450"/>
          </a:xfrm>
          <a:prstGeom prst="line">
            <a:avLst/>
          </a:prstGeom>
          <a:ln w="1016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5394960" y="3108960"/>
            <a:ext cx="1417320" cy="274320"/>
          </a:xfrm>
          <a:prstGeom prst="line">
            <a:avLst/>
          </a:prstGeom>
          <a:ln w="1016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 flipV="1">
            <a:off x="5394960" y="3257550"/>
            <a:ext cx="1417320" cy="720089"/>
          </a:xfrm>
          <a:prstGeom prst="line">
            <a:avLst/>
          </a:prstGeom>
          <a:ln w="1016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5394960" y="3406139"/>
            <a:ext cx="1417320" cy="1165861"/>
          </a:xfrm>
          <a:prstGeom prst="line">
            <a:avLst/>
          </a:prstGeom>
          <a:ln w="1016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115507" y="2057400"/>
            <a:ext cx="479145" cy="146304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550" b="0" i="1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«extend»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645920" y="2468880"/>
            <a:ext cx="1691640" cy="54864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645920" y="5029200"/>
            <a:ext cx="1691640" cy="13716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1645920" y="5852160"/>
            <a:ext cx="1691640" cy="4572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8732520" y="5257800"/>
            <a:ext cx="1691640" cy="22860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8732520" y="5486400"/>
            <a:ext cx="1691640" cy="45720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464040" y="1188720"/>
            <a:ext cx="256032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Actor (Context View)</a:t>
            </a:r>
          </a:p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AI Application / Agent Framework(사용자): Query·Context·요청 ID를 보내고 생성 토큰을 받음</a:t>
            </a:r>
          </a:p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서비스 제공자: SLO·정책·자원 구성을 주고 성능 지표·Health 이벤트·오류를 받음</a:t>
            </a:r>
          </a:p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시스템 제공자: Compute/Memory/네트워크 구성 정보를 주고 시스템 구성 정보를 받음</a:t>
            </a:r>
          </a:p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Device 제공자: Device Runtime/Driver·Emulation API·HW 스펙을 제공</a:t>
            </a:r>
          </a:p>
          <a:p>
            <a:pPr algn="l">
              <a:spcAft>
                <a:spcPts val="0"/>
              </a:spcAft>
            </a:pPr>
            <a:r>
              <a:rPr sz="4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UC02~UC04는 FR02~FR04(추론 실행·스케줄링·KV 관리), UC05~UC07은 워크로드·환경에 따른 시나리오. 모두 UC01(LLM 추론 요청)에 extend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도출 – UC 목록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46888" y="731520"/>
          <a:ext cx="11704320" cy="5303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8640"/>
                <a:gridCol w="2103120"/>
                <a:gridCol w="2286000"/>
                <a:gridCol w="5760720"/>
                <a:gridCol w="100584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이름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Actor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시나리오 (입력 → 출력)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참고 FR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UC01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추론 요청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Application / Agent Framework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Query·Context·요청 ID를 보내면 런타임이 요청을 접수하고 상태를 관리하며 생성 토큰을 스트리밍으로 돌려준다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FR01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UC02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추론 실행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(UC01 확장)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요청별 입력에 대해 LLM 모델을 실행해 연산을 수행하고 출력 토큰을 생성한다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FR03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UC03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스케줄링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(UC01 확장)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요청의 실행 순서와 배칭을 정하고, 가용 연산 자원에 작업을 할당해 실행 시점을 조정한다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FR02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UC04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캐시 생성·할당·해제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(UC01 확장)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중 생성되는 KV 캐시를 할당·저장하고, 재사용 가능한 KV를 찾아 쓰며, 요청이 끝나면 해제한다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FR04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UC05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멀티턴·Agent 세션 이어가기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Application / Agent Framework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이전 턴 대화와 tool 호출 결과가 붙은 후속 요청을 보낸다. 이전 컨텍스트의 KV 캐시를 재사용해 prefill 비용을 줄이고, tool 응답 대기 동안 세션 상태를 유지한다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FR01, FR04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UC06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장문·RAG 컨텍스트 요청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Application / Agent Framework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수만 토큰 이상의 문서·검색 결과가 붙은 요청을 보낸다. 긴 컨텍스트의 KV 캐시가 GPU 메모리를 압박해도 요청이 처리되어야 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FR03, FR04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UC07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다중 서버에서 요청 처리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Application / Agent Framework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여러 서버로 구성된 환경에서 요청을 받아 서버 중 하나에서 처리하고, 필요하면 다른 서버에 있는 KV 캐시를 가져와 사용한다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FR02, FR04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UC08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구성 정보 반영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제공자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Compute/Memory/네트워크 구성 정보를 받아 메모리 계층과 연산 자원 구성을 인식하고, 인식한 시스템 구성 정보를 돌려준다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UC09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SLO·정책·자원 구성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제공자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SLO·정책·자원 구성을 입력해 런타임을 구성·기동하고 운영 중에도 변경한다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C01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UC10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Device 연동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Device 제공자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Device Runtime/Driver, Emulation API, HW 스펙을 받아 차세대 메모리·연산 가능 메모리를 사용 가능한 자원으로 등록·호출한다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UC11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상태·성능 모니터링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제공자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지표, Health 이벤트, 오류를 받아 런타임 상태를 확인한다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46888" y="6144768"/>
            <a:ext cx="11704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Actor와 입·출력은 Context View(Overall System) 기준. UC는 DP/QA와 1:1로 대응하지 않으며, DP는 각 UC 수행 중 발생하는 결정 문제를 설계한 것이다. '참고 FR'은 1p의 FR 중 관련된 것(참고용)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DP1 Data Migration 결정 – 비선정안(1안) Class /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621792"/>
            <a:ext cx="81381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DP1. 비선정 1안: 상태 관측·이동 결정 통합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97996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63072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8147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3223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79" y="667512"/>
            <a:ext cx="429768" cy="246888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9728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Class Diagram: DP1. 비선정 1안: 상태 관측·이동 결정 통합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Sequence Diagram: DP1. 비선정 1안: 상태 관측·이동 결정 통합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566928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585216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TelemetryCollector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91639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173736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collect(): MemoryTelemetry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7712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StateMonitor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16916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usage per tier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7712" y="184525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observe(): usage, bw_util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9663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ThresholdTrigger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9663" y="16916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watermark_high/low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9663" y="184525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on_usage(usage)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임계치 교차 시 판단 기동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4320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StateLockManager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92608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07969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acquire(state)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release()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67712" y="274320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TrendAnalyzer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67712" y="292608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67712" y="297180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analyze(state): ResourceState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9663" y="274320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AffinityMapper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9663" y="292608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hints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69663" y="307969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map(object, state)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977639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PolicyEngine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1605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20624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decide(...): list[Decision]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69663" y="3977639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DataObjectRegistry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69663" y="41605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9663" y="4206240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move(object, tier)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get(object_id)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67712" y="3977639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MigrationExecutor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67712" y="41605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267712" y="420624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execute(command)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69663" y="5212080"/>
            <a:ext cx="1600200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«interface»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MemoryBackend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9663" y="548640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69663" y="553212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export_async / import_async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67712" y="5212080"/>
            <a:ext cx="1600200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«OffloadingHandler»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TransferHandler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67712" y="548640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267712" y="553212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transfer_async(job, spec)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965960" y="1699869"/>
            <a:ext cx="301752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867912" y="1753819"/>
            <a:ext cx="301751" cy="5394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1645920" y="2106777"/>
            <a:ext cx="2843783" cy="636423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969764" y="2106777"/>
            <a:ext cx="0" cy="636423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3867912" y="2934309"/>
            <a:ext cx="301751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65860" y="3341217"/>
            <a:ext cx="0" cy="636422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965960" y="4168749"/>
            <a:ext cx="301752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867912" y="4168749"/>
            <a:ext cx="301751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3067812" y="4359859"/>
            <a:ext cx="0" cy="852221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867912" y="5448909"/>
            <a:ext cx="301751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65760" y="5806440"/>
            <a:ext cx="5486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관측(Resource)과 결정(Control)이 한 Plane. Threshold trigger가 즉시 판단을 기동, State Lock으로 일관 상태를 잡고 동기 처리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약점: 같은 resource state에서 data access pattern을 구분하기 어려움, 판단이 Plane 안에서 직렬화</a:t>
            </a:r>
          </a:p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• 근거: 슬라이드 4p 1안, doc-mk/DP1/dp1-vllm-uml.md §4b·§4c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0877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State Monitor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+ Telemetry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583680" y="1773936"/>
            <a:ext cx="0" cy="351586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703173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Threshold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Trigger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406640" y="1773936"/>
            <a:ext cx="0" cy="351586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785469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State Lock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Manager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229600" y="1773936"/>
            <a:ext cx="0" cy="351586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867765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Trend→Affinity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→Policy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9052560" y="1773936"/>
            <a:ext cx="0" cy="351586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950061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Executor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875520" y="1773936"/>
            <a:ext cx="0" cy="351586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 69"/>
          <p:cNvSpPr/>
          <p:nvPr/>
        </p:nvSpPr>
        <p:spPr>
          <a:xfrm>
            <a:off x="1032357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Memory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Backend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0698480" y="1773936"/>
            <a:ext cx="0" cy="351586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1114653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Registry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1521440" y="1773936"/>
            <a:ext cx="0" cy="351586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7060996" y="3035808"/>
            <a:ext cx="2337206" cy="795528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60996" y="3035808"/>
            <a:ext cx="1188720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18288" bIns="18288"/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동기 판단 (같은 Plane)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583680" y="2103120"/>
            <a:ext cx="822960" cy="0"/>
          </a:xfrm>
          <a:prstGeom prst="line">
            <a:avLst/>
          </a:prstGeom>
          <a:ln w="11430">
            <a:solidFill>
              <a:srgbClr val="2E75B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391084" y="1947672"/>
            <a:ext cx="120815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event (usage↑ / access)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406640" y="2290572"/>
            <a:ext cx="256031" cy="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62671" y="2290572"/>
            <a:ext cx="0" cy="164592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7406640" y="2455164"/>
            <a:ext cx="256031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7699248" y="2253996"/>
            <a:ext cx="1645920" cy="182880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임계치 교차 → 판단 기동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406640" y="2715768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7406640" y="2560320"/>
            <a:ext cx="82296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acquire(state)</a:t>
            </a:r>
          </a:p>
        </p:txBody>
      </p:sp>
      <p:cxnSp>
        <p:nvCxnSpPr>
          <p:cNvPr id="84" name="Connector 83"/>
          <p:cNvCxnSpPr/>
          <p:nvPr/>
        </p:nvCxnSpPr>
        <p:spPr>
          <a:xfrm flipH="1">
            <a:off x="7406640" y="2976372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7406640" y="2820924"/>
            <a:ext cx="82296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locked (일관 상태)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7406640" y="3456432"/>
            <a:ext cx="164592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7406640" y="3300984"/>
            <a:ext cx="164592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analyze → map → decide</a:t>
            </a:r>
          </a:p>
        </p:txBody>
      </p:sp>
      <p:cxnSp>
        <p:nvCxnSpPr>
          <p:cNvPr id="88" name="Connector 87"/>
          <p:cNvCxnSpPr/>
          <p:nvPr/>
        </p:nvCxnSpPr>
        <p:spPr>
          <a:xfrm flipH="1">
            <a:off x="7406640" y="3717036"/>
            <a:ext cx="164592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7406640" y="3561588"/>
            <a:ext cx="164592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MigrationDecision[]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7406640" y="4087368"/>
            <a:ext cx="246888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7406639" y="3931920"/>
            <a:ext cx="246888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execute(command)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9875520" y="4347972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9616059" y="4192524"/>
            <a:ext cx="1341881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transfer_async(job)  [DMA]</a:t>
            </a:r>
          </a:p>
        </p:txBody>
      </p:sp>
      <p:cxnSp>
        <p:nvCxnSpPr>
          <p:cNvPr id="94" name="Connector 93"/>
          <p:cNvCxnSpPr/>
          <p:nvPr/>
        </p:nvCxnSpPr>
        <p:spPr>
          <a:xfrm flipH="1">
            <a:off x="9875520" y="4608576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875520" y="4453128"/>
            <a:ext cx="822959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TransferResult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9875520" y="4869180"/>
            <a:ext cx="164592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9875520" y="4713732"/>
            <a:ext cx="164592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move(object, tier)</a:t>
            </a:r>
          </a:p>
        </p:txBody>
      </p:sp>
      <p:cxnSp>
        <p:nvCxnSpPr>
          <p:cNvPr id="98" name="Connector 97"/>
          <p:cNvCxnSpPr/>
          <p:nvPr/>
        </p:nvCxnSpPr>
        <p:spPr>
          <a:xfrm flipH="1">
            <a:off x="8229600" y="5129784"/>
            <a:ext cx="164592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8229600" y="4974336"/>
            <a:ext cx="164592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release()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DP2 연산 실행 위치 결정 – 비선정안(1안) Class /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621792"/>
            <a:ext cx="81381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DP2. 비선정 1안: 스케줄링 시점 결정 (Plan+Decision 동시)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97996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63072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8147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61803" y="667512"/>
            <a:ext cx="429768" cy="246888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95459" y="667512"/>
            <a:ext cx="429768" cy="246888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9728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Class Diagram: DP2. 비선정 1안: 스케줄링 시점 결정 (Plan+Decision 동시)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Sequence Diagram: DP2. 비선정 1안: 스케줄링 시점 결정 (Plan+Decision 동시)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566928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585216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916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4525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schedule(): SchedulerOutput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7712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ExecutionPlanner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169163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evaluator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router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7712" y="1953158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plan_batch(ctxs): list[Plan]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스케줄링 시점에 계산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9663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ExecutionPlan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9663" y="1691639"/>
            <a:ext cx="1600200" cy="369417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prefill_resource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decode_start_resource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data_moves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9663" y="2061057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67712" y="283464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CostEvaluator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67712" y="301752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67712" y="31711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evaluate(ctx, cands, snap)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9663" y="2834640"/>
            <a:ext cx="1600200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«interface»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ExecutionCostModel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69663" y="310896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69663" y="315468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estimate(ctx, cand, snap)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83464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ResourceStateMonitor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0175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06324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snapshot(): RuntimeState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6052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KVStateMonitor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4340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38912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kv_location(request_id)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67712" y="416052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ExecutionRouter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67712" y="434340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67712" y="449701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dispatch(plan, output)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9663" y="416052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9663" y="4343400"/>
            <a:ext cx="160020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69663" y="4389120"/>
            <a:ext cx="1600200" cy="15361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execute_model(...)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965960" y="1753819"/>
            <a:ext cx="301752" cy="10789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3867912" y="1807768"/>
            <a:ext cx="301751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067812" y="2214676"/>
            <a:ext cx="0" cy="619964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867912" y="3071469"/>
            <a:ext cx="301751" cy="823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 flipV="1">
            <a:off x="1965960" y="3025749"/>
            <a:ext cx="301752" cy="5395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165860" y="3216859"/>
            <a:ext cx="0" cy="943661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3547872" y="2106777"/>
            <a:ext cx="941831" cy="2053743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867912" y="4351629"/>
            <a:ext cx="301751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5760" y="5577840"/>
            <a:ext cx="54864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Plan Cache·Validator 없음. schedule() 안에서 최신 상태로 Cost를 계산하고 바로 dispatch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장점: 실시간 부하·자원 상태 반영. 약점: Cost 계산이 critical path에 포함, 자원 종류 증가 시 monitoring 비용 증가</a:t>
            </a:r>
          </a:p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• 근거: 슬라이드 6p 1안, doc-mk/DP2/...-architecture.md §9.1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08776" y="1463040"/>
            <a:ext cx="1078992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EngineCore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748272" y="1773936"/>
            <a:ext cx="0" cy="3255264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360920" y="1463040"/>
            <a:ext cx="1078992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900416" y="1773936"/>
            <a:ext cx="0" cy="3255264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8513064" y="1463040"/>
            <a:ext cx="1078992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Planner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052560" y="1773936"/>
            <a:ext cx="0" cy="3255264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9665208" y="1463040"/>
            <a:ext cx="1078992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CostEval /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StateMonitor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0204704" y="1773936"/>
            <a:ext cx="0" cy="3255264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10817352" y="1463040"/>
            <a:ext cx="1078992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Router→Worker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1356848" y="1773936"/>
            <a:ext cx="0" cy="3255264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7416515" y="2514600"/>
            <a:ext cx="3272088" cy="1316736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16515" y="2514600"/>
            <a:ext cx="1874519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18288" bIns="18288"/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critical path (Cost 계산 포함)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748272" y="2103120"/>
            <a:ext cx="1152144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748271" y="1947672"/>
            <a:ext cx="1152144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schedule()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900416" y="2290572"/>
            <a:ext cx="256032" cy="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8156448" y="2290572"/>
            <a:ext cx="0" cy="164592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>
            <a:off x="7900416" y="2455164"/>
            <a:ext cx="256032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193024" y="2253996"/>
            <a:ext cx="1645920" cy="182880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request 선택 + token budget 확정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900416" y="2935224"/>
            <a:ext cx="1152144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900416" y="2779776"/>
            <a:ext cx="1152143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plan_batch(ctxs)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9052560" y="3195828"/>
            <a:ext cx="1152144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868537" y="3040380"/>
            <a:ext cx="1520189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latest snapshot() + estimate()</a:t>
            </a:r>
          </a:p>
        </p:txBody>
      </p:sp>
      <p:cxnSp>
        <p:nvCxnSpPr>
          <p:cNvPr id="74" name="Connector 73"/>
          <p:cNvCxnSpPr/>
          <p:nvPr/>
        </p:nvCxnSpPr>
        <p:spPr>
          <a:xfrm flipH="1">
            <a:off x="9052560" y="3456432"/>
            <a:ext cx="1152144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052560" y="3300984"/>
            <a:ext cx="1152143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CostEstimate × n</a:t>
            </a:r>
          </a:p>
        </p:txBody>
      </p:sp>
      <p:cxnSp>
        <p:nvCxnSpPr>
          <p:cNvPr id="76" name="Connector 75"/>
          <p:cNvCxnSpPr/>
          <p:nvPr/>
        </p:nvCxnSpPr>
        <p:spPr>
          <a:xfrm flipH="1">
            <a:off x="7900416" y="3717036"/>
            <a:ext cx="1152144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7900416" y="3561588"/>
            <a:ext cx="1152143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ExecutionPlan[]</a:t>
            </a:r>
          </a:p>
        </p:txBody>
      </p:sp>
      <p:cxnSp>
        <p:nvCxnSpPr>
          <p:cNvPr id="78" name="Connector 77"/>
          <p:cNvCxnSpPr/>
          <p:nvPr/>
        </p:nvCxnSpPr>
        <p:spPr>
          <a:xfrm flipH="1">
            <a:off x="6748272" y="4087368"/>
            <a:ext cx="1152144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720268" y="3931920"/>
            <a:ext cx="120815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SchedulerOutput + plans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748272" y="4347972"/>
            <a:ext cx="4608576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748272" y="4192524"/>
            <a:ext cx="4608576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dispatch(plans)</a:t>
            </a:r>
          </a:p>
        </p:txBody>
      </p:sp>
      <p:cxnSp>
        <p:nvCxnSpPr>
          <p:cNvPr id="82" name="Connector 81"/>
          <p:cNvCxnSpPr/>
          <p:nvPr/>
        </p:nvCxnSpPr>
        <p:spPr>
          <a:xfrm flipH="1">
            <a:off x="6748272" y="4608576"/>
            <a:ext cx="4608576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748272" y="4453128"/>
            <a:ext cx="4608576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ModelRunnerOutput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748272" y="4869180"/>
            <a:ext cx="1152144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748271" y="4713732"/>
            <a:ext cx="1152144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update_from_output()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DP3 KV 캐시 재사용 – 비선정안(1안) Class /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621792"/>
            <a:ext cx="81381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DP3. 비선정 1안: Pipe-and-Filter (요청마다 체인 실행)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97996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63072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8147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30383" y="667512"/>
            <a:ext cx="361188" cy="246888"/>
          </a:xfrm>
          <a:prstGeom prst="round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64039" y="667512"/>
            <a:ext cx="429768" cy="246888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9728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Class Diagram: DP3. 비선정 1안: Pipe-and-Filter (요청마다 체인 실행)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Sequence Diagram: DP3. 비선정 1안: Pipe-and-Filter (요청마다 체인 실행)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566928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585216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916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reuse_pipeline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4525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schedule(): SchedulerOutput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7712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ReusePipeline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16916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filters: list[Filter]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7712" y="184525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run(request): ReuseResult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요청마다 체인 실행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9663" y="1508760"/>
            <a:ext cx="1600200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«interface»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Filter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9663" y="178308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69663" y="182880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process(in): out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3464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AttentionManager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017520"/>
            <a:ext cx="160020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063240"/>
            <a:ext cx="1600200" cy="15361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similarity(query, context_kv)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67712" y="283464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KVSampler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67712" y="30175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67712" y="306324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select_reuse(scores)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9663" y="283464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RecomputeTokenSelector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9663" y="30175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69663" y="306324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select(scores)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6052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SelectiveRecomputer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43400"/>
            <a:ext cx="160020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389120"/>
            <a:ext cx="1600200" cy="153619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recompute(tokens)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67712" y="4160520"/>
            <a:ext cx="160020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KVCacheManager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67712" y="4343400"/>
            <a:ext cx="1600200" cy="45720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67712" y="4389120"/>
            <a:ext cx="1600200" cy="261518"/>
          </a:xfrm>
          <a:prstGeom prst="rect">
            <a:avLst/>
          </a:prstGeom>
          <a:solidFill>
            <a:srgbClr val="FFFFFF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allocate_slots(...)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free(request)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965960" y="1753819"/>
            <a:ext cx="301752" cy="5394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867912" y="1745589"/>
            <a:ext cx="301751" cy="62179"/>
          </a:xfrm>
          <a:prstGeom prst="line">
            <a:avLst/>
          </a:prstGeom>
          <a:ln w="11430">
            <a:solidFill>
              <a:srgbClr val="595959"/>
            </a:solidFill>
            <a:head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969764" y="1982419"/>
            <a:ext cx="0" cy="852221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3867912" y="3025749"/>
            <a:ext cx="301751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1965960" y="3025749"/>
            <a:ext cx="301752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65860" y="3216859"/>
            <a:ext cx="0" cy="943661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965960" y="4351629"/>
            <a:ext cx="301752" cy="5395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65760" y="5486400"/>
            <a:ext cx="54864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3개 filter(유사도 계산 → 재사용 토큰 선정 → 재연산 토큰 선정) + 선택적 재계산을 요청마다 반복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재사용 대상은 요청 종료 시 소멸 → stale 위험 낮음, 입력 Query에 맞는 KV만 보유(HBM 유리)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약점: 동일 Query도 체인 재실행(중복 계산), 고부하 시 체인 지연이 큐잉과 겹쳐 tail latency 증가</a:t>
            </a:r>
          </a:p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• 근거: 슬라이드 8p 1안, doc-mk/DP3/dp3-kv-compression-reuse-structure-draft.md §3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0877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Scheduler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583680" y="1773936"/>
            <a:ext cx="0" cy="351586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703173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Reuse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Pipeline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406640" y="1773936"/>
            <a:ext cx="0" cy="351586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7854696" y="1463040"/>
            <a:ext cx="749808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Attention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Manager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229600" y="1773936"/>
            <a:ext cx="0" cy="351586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867765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Sampler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052560" y="1773936"/>
            <a:ext cx="0" cy="351586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9500616" y="1463040"/>
            <a:ext cx="74980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TokenSelector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875520" y="1773936"/>
            <a:ext cx="0" cy="351586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10323576" y="1463040"/>
            <a:ext cx="749808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Selective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Recomputer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0698480" y="1773936"/>
            <a:ext cx="0" cy="351586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11146536" y="1463040"/>
            <a:ext cx="749808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KVCache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Manager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1521440" y="1773936"/>
            <a:ext cx="0" cy="351586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6238036" y="1901952"/>
            <a:ext cx="5629046" cy="3232404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38036" y="1901952"/>
            <a:ext cx="1668780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18288" bIns="18288"/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loop: 요청마다 반복 (요청 1..N)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583680" y="2322576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583680" y="2167128"/>
            <a:ext cx="822959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run(request)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406640" y="2583180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080313" y="2427732"/>
            <a:ext cx="1475612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similarity(query, context KV)</a:t>
            </a:r>
          </a:p>
        </p:txBody>
      </p:sp>
      <p:cxnSp>
        <p:nvCxnSpPr>
          <p:cNvPr id="68" name="Connector 67"/>
          <p:cNvCxnSpPr/>
          <p:nvPr/>
        </p:nvCxnSpPr>
        <p:spPr>
          <a:xfrm flipH="1">
            <a:off x="7406640" y="2843784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7406640" y="2688336"/>
            <a:ext cx="82296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scores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7406640" y="3104388"/>
            <a:ext cx="164592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7406640" y="2948940"/>
            <a:ext cx="164592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select_reuse(scores)</a:t>
            </a:r>
          </a:p>
        </p:txBody>
      </p:sp>
      <p:cxnSp>
        <p:nvCxnSpPr>
          <p:cNvPr id="72" name="Connector 71"/>
          <p:cNvCxnSpPr/>
          <p:nvPr/>
        </p:nvCxnSpPr>
        <p:spPr>
          <a:xfrm flipH="1">
            <a:off x="7406640" y="3364992"/>
            <a:ext cx="164592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406640" y="3209544"/>
            <a:ext cx="164592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reuse token_ids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406640" y="3625596"/>
            <a:ext cx="246888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406639" y="3470148"/>
            <a:ext cx="246888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select(scores)</a:t>
            </a:r>
          </a:p>
        </p:txBody>
      </p:sp>
      <p:cxnSp>
        <p:nvCxnSpPr>
          <p:cNvPr id="76" name="Connector 75"/>
          <p:cNvCxnSpPr/>
          <p:nvPr/>
        </p:nvCxnSpPr>
        <p:spPr>
          <a:xfrm flipH="1">
            <a:off x="7406640" y="3886200"/>
            <a:ext cx="246888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7406639" y="3730752"/>
            <a:ext cx="246888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 positions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406640" y="4146804"/>
            <a:ext cx="329184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7406639" y="3991356"/>
            <a:ext cx="3291839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recompute(tokens)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0698480" y="4407408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10461307" y="4251960"/>
            <a:ext cx="1297305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allocate_slots / write KV</a:t>
            </a:r>
          </a:p>
        </p:txBody>
      </p:sp>
      <p:cxnSp>
        <p:nvCxnSpPr>
          <p:cNvPr id="82" name="Connector 81"/>
          <p:cNvCxnSpPr/>
          <p:nvPr/>
        </p:nvCxnSpPr>
        <p:spPr>
          <a:xfrm flipH="1">
            <a:off x="6583680" y="4668012"/>
            <a:ext cx="822960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413373" y="4512564"/>
            <a:ext cx="1163574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reused KV + recomputed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7406640" y="4855464"/>
            <a:ext cx="256031" cy="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662671" y="4855464"/>
            <a:ext cx="0" cy="164592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7406640" y="5020056"/>
            <a:ext cx="256031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7699248" y="4818888"/>
            <a:ext cx="1645920" cy="182880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 종료 시 재계산 위치 소멸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DP4 서버 간 KV 캐시 공유 – 비선정안(2안) Class /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594360"/>
            <a:ext cx="11750040" cy="393192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" y="676656"/>
            <a:ext cx="64008" cy="2194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" y="621792"/>
            <a:ext cx="813816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DP4. 비선정 2안: 락 기반 직접 접근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97996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63072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28147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93223" y="667512"/>
            <a:ext cx="498348" cy="246888"/>
          </a:xfrm>
          <a:prstGeom prst="roundRect">
            <a:avLst/>
          </a:prstGeom>
          <a:solidFill>
            <a:srgbClr val="833C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79" y="667512"/>
            <a:ext cx="429768" cy="246888"/>
          </a:xfrm>
          <a:prstGeom prst="roundRect">
            <a:avLst/>
          </a:prstGeom>
          <a:solidFill>
            <a:srgbClr val="20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FR04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09728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Class Diagram: DP4. 비선정 2안: 락 기반 직접 접근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97280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Sequence Diagram: DP4. 비선정 2안: 락 기반 직접 접근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371600"/>
            <a:ext cx="566928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371600"/>
            <a:ext cx="5852160" cy="507492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MigrationExecutor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6916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client: ClientLibrary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84525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execute(command)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67712" y="150876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ClientLibrary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1691639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node_local_lock (DRAM)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67712" y="184525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put / get / pin(key)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// 락 획득 후 메타데이터 직접 갱신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9663" y="1508760"/>
            <a:ext cx="1600200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«shared»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GlobalLockArray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9663" y="178308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slots[node]: I / W / 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9663" y="193669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request(node)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grant(node)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9663" y="283464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LockManagerThread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69663" y="301752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69663" y="306324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scan(): slot → LOCKED grant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67712" y="2834640"/>
            <a:ext cx="1600200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«shared»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SharedMetadata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67712" y="3108960"/>
            <a:ext cx="1600200" cy="369417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hash_table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refcount, LRU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allocator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67712" y="3478377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lookup / insert / evict(key)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834640"/>
            <a:ext cx="1600200" cy="27432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60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«store»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CxlSharedPool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08960"/>
            <a:ext cx="1600200" cy="153619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kv_data (non-coherent)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262579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read(addr, n)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write(addr, 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4160520"/>
            <a:ext cx="1600200" cy="182880"/>
          </a:xfrm>
          <a:prstGeom prst="rect">
            <a:avLst/>
          </a:prstGeom>
          <a:solidFill>
            <a:srgbClr val="FFF2CC"/>
          </a:solidFill>
          <a:ln w="127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18288" bIns="18288"/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FlushPolicy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43400"/>
            <a:ext cx="1600200" cy="4572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389120"/>
            <a:ext cx="1600200" cy="261518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36576" rIns="36576" tIns="18288" bIns="18288"/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clflush 후 read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write 후 clflush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65960" y="1753819"/>
            <a:ext cx="301752" cy="53949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67912" y="1807768"/>
            <a:ext cx="301751" cy="4572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4969764" y="2198217"/>
            <a:ext cx="0" cy="636423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067812" y="2106777"/>
            <a:ext cx="0" cy="727863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65860" y="1998878"/>
            <a:ext cx="0" cy="835762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65860" y="3524097"/>
            <a:ext cx="0" cy="636423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65760" y="5394960"/>
            <a:ext cx="54864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서버 없이 모든 노드가 CXL 공유 메모리의 메타데이터를 2단 락(노드 로컬 락 + 전역 락 배열)으로 직접 갱신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장점: 중앙 병목 없음, 노드별 분산 처리로 수평 확장에 유리</a:t>
            </a:r>
          </a:p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약점: 락 획득·flush 오버헤드, 고부하 시 락 경합으로 지연 편차 확대, 락 보유 노드 장애 시 락 고착 위험</a:t>
            </a:r>
          </a:p>
          <a:p>
            <a:pPr algn="l">
              <a:spcAft>
                <a:spcPts val="0"/>
              </a:spcAft>
            </a:pPr>
            <a:r>
              <a:rPr sz="6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• 근거: 슬라이드 10p 2안, doc-mk/DP6/dp4-inter-node-kv-sharing-structure-draft.md §3.2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08776" y="1463040"/>
            <a:ext cx="88696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 노드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Executor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652260" y="1773936"/>
            <a:ext cx="0" cy="367588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168895" y="1463040"/>
            <a:ext cx="88696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Client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Library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612379" y="1773936"/>
            <a:ext cx="0" cy="367588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129016" y="1463040"/>
            <a:ext cx="88696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Global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Lock Array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572500" y="1773936"/>
            <a:ext cx="0" cy="367588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9089136" y="1463040"/>
            <a:ext cx="88696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Lock Manager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Thread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532620" y="1773936"/>
            <a:ext cx="0" cy="367588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10049256" y="1463040"/>
            <a:ext cx="886968" cy="310896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Shared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Metadata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492740" y="1773936"/>
            <a:ext cx="0" cy="367588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11009376" y="1463040"/>
            <a:ext cx="886968" cy="310896"/>
          </a:xfrm>
          <a:prstGeom prst="rect">
            <a:avLst/>
          </a:prstGeom>
          <a:solidFill>
            <a:srgbClr val="DEEBF7"/>
          </a:solidFill>
          <a:ln w="1016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CXL</a:t>
            </a:r>
          </a:p>
          <a:p>
            <a:pPr algn="ctr">
              <a:spcAft>
                <a:spcPts val="0"/>
              </a:spcAft>
            </a:pPr>
            <a:r>
              <a:rPr sz="65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KV 데이터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452860" y="1773936"/>
            <a:ext cx="0" cy="3675888"/>
          </a:xfrm>
          <a:prstGeom prst="line">
            <a:avLst/>
          </a:prstGeom>
          <a:ln w="9525">
            <a:solidFill>
              <a:srgbClr val="BFBFB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7209129" y="3557016"/>
            <a:ext cx="3686860" cy="534924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209129" y="3557016"/>
            <a:ext cx="1188720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18288" bIns="18288"/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critical section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49009" y="4668012"/>
            <a:ext cx="5607100" cy="626363"/>
          </a:xfrm>
          <a:prstGeom prst="rect">
            <a:avLst/>
          </a:prstGeom>
          <a:noFill/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249009" y="4668012"/>
            <a:ext cx="1051560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7432" rIns="27432" tIns="18288" bIns="18288"/>
          <a:lstStyle/>
          <a:p>
            <a:pPr algn="l">
              <a:spcAft>
                <a:spcPts val="0"/>
              </a:spcAft>
            </a:pPr>
            <a:r>
              <a:rPr sz="6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alt: 락 timeout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652260" y="2103120"/>
            <a:ext cx="960119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595109" y="1947672"/>
            <a:ext cx="107442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put(block_key, size)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612379" y="2290572"/>
            <a:ext cx="256032" cy="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868411" y="2290572"/>
            <a:ext cx="0" cy="164592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>
            <a:off x="7612379" y="2455164"/>
            <a:ext cx="256032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7904988" y="2253996"/>
            <a:ext cx="1645920" cy="182880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노드 로컬 락 획득 (DRAM)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612379" y="2715768"/>
            <a:ext cx="960121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443787" y="2560320"/>
            <a:ext cx="1297305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slot = WAITING  [ntstore]</a:t>
            </a:r>
          </a:p>
        </p:txBody>
      </p:sp>
      <p:cxnSp>
        <p:nvCxnSpPr>
          <p:cNvPr id="68" name="Connector 67"/>
          <p:cNvCxnSpPr/>
          <p:nvPr/>
        </p:nvCxnSpPr>
        <p:spPr>
          <a:xfrm flipH="1">
            <a:off x="8572500" y="2976372"/>
            <a:ext cx="96012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8515350" y="2820924"/>
            <a:ext cx="107442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scan slots (polling)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8572500" y="3236976"/>
            <a:ext cx="960120" cy="0"/>
          </a:xfrm>
          <a:prstGeom prst="line">
            <a:avLst/>
          </a:prstGeom>
          <a:ln w="11430">
            <a:solidFill>
              <a:srgbClr val="2E75B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537638" y="3081528"/>
            <a:ext cx="1029843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2E75B6"/>
                </a:solidFill>
                <a:latin typeface="맑은 고딕"/>
                <a:ea typeface="맑은 고딕"/>
                <a:cs typeface="맑은 고딕"/>
              </a:rPr>
              <a:t>grant LOCKED (한 노드)</a:t>
            </a:r>
          </a:p>
        </p:txBody>
      </p:sp>
      <p:cxnSp>
        <p:nvCxnSpPr>
          <p:cNvPr id="72" name="Connector 71"/>
          <p:cNvCxnSpPr/>
          <p:nvPr/>
        </p:nvCxnSpPr>
        <p:spPr>
          <a:xfrm flipH="1">
            <a:off x="7612379" y="3497580"/>
            <a:ext cx="960121" cy="0"/>
          </a:xfrm>
          <a:prstGeom prst="line">
            <a:avLst/>
          </a:prstGeom>
          <a:ln w="11430">
            <a:solidFill>
              <a:srgbClr val="595959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7577518" y="3342132"/>
            <a:ext cx="1029843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LOCKED 확인 (polling)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612379" y="3977640"/>
            <a:ext cx="2880361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612379" y="3822192"/>
            <a:ext cx="288036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clflush → alloc / LRU 갱신 → flush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612379" y="4347972"/>
            <a:ext cx="960121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7532941" y="4192524"/>
            <a:ext cx="1118997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slot = IDLE (release)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652260" y="4608576"/>
            <a:ext cx="4800600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652260" y="4453128"/>
            <a:ext cx="4800600" cy="155448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write KV data (DMA)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6652260" y="5015484"/>
            <a:ext cx="256032" cy="0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908292" y="5015484"/>
            <a:ext cx="0" cy="164592"/>
          </a:xfrm>
          <a:prstGeom prst="line">
            <a:avLst/>
          </a:prstGeom>
          <a:ln w="1143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6652260" y="5180076"/>
            <a:ext cx="256032" cy="0"/>
          </a:xfrm>
          <a:prstGeom prst="line">
            <a:avLst/>
          </a:prstGeom>
          <a:ln w="11430">
            <a:solidFill>
              <a:srgbClr val="59595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6944868" y="4978908"/>
            <a:ext cx="1645920" cy="182880"/>
          </a:xfrm>
          <a:prstGeom prst="rect">
            <a:avLst/>
          </a:prstGeom>
          <a:noFill/>
        </p:spPr>
        <p:txBody>
          <a:bodyPr wrap="none" anchor="t" lIns="0" rIns="0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재계산 fallback (QA-07)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품질 속성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0" y="73152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7991856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6" name="Chevron 5"/>
          <p:cNvSpPr/>
          <p:nvPr/>
        </p:nvSpPr>
        <p:spPr>
          <a:xfrm>
            <a:off x="8787384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7" name="Chevron 6"/>
          <p:cNvSpPr/>
          <p:nvPr/>
        </p:nvSpPr>
        <p:spPr>
          <a:xfrm>
            <a:off x="9582912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8" name="Chevron 7"/>
          <p:cNvSpPr/>
          <p:nvPr/>
        </p:nvSpPr>
        <p:spPr>
          <a:xfrm>
            <a:off x="10378440" y="137160"/>
            <a:ext cx="868680" cy="356616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9" name="Chevron 8"/>
          <p:cNvSpPr/>
          <p:nvPr/>
        </p:nvSpPr>
        <p:spPr>
          <a:xfrm>
            <a:off x="11173968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74320" y="731520"/>
          <a:ext cx="11704320" cy="27889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1828800"/>
                <a:gridCol w="4206240"/>
                <a:gridCol w="3017520"/>
                <a:gridCol w="2011680"/>
              </a:tblGrid>
              <a:tr h="274320"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속성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 Measure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(검증 상태)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QA-01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Performance (Throughput)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다수 agent 세션이 동시에 요청할 때 SLO를 만족하는 최대 처리량이 Baseline보다 커야 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[SLO 만족 최대 처리량 ≥ Baseline 대비 2x]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 예상 (이론 [C])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QA-02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Resource Efficiency (HBM)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동일한 성능 조건에서 HBM 점유율이 Baseline보다 낮아야 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[HBM 점유율 감소율 ≥ 20%]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미달 예상 (이론 [C])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QA-03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Performance (Tail Latency)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고부하 환경에서 최악 응답 지연(P99)을 Baseline 대비 개선해야 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[TTFT·TPOT(P99) 감소율 ≥ 30%, SLO TTFT ≤ 2s, TPOT ≤ 50ms]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 예상 (이론 [C])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QA-04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Scalability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늘어난 자원에 비례해 성능이 증가해야 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[Scaling Efficiency &gt; 80%]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 예상 (이론 [C])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E2F0D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QA-05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Modifiability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 메모리 tier·이동/배치 정책·데이터 객체 유형을 서빙 경로 수정 없이 추가할 수 있어야 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[변경 module ≤ 5 AND M/M ≤ 1.0]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DP1만 측정 (달성), 나머지 미측정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3886200"/>
            <a:ext cx="224028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처리량 R (이론)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DP1 ×2.47 · DP2 ×3.61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DP3 ×3.36 · DP4 ×3.09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≥ 2.0 (경쟁 기술 B1 ×2.35)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5102352"/>
            <a:ext cx="777240" cy="219456"/>
          </a:xfrm>
          <a:prstGeom prst="rect">
            <a:avLst/>
          </a:prstGeom>
          <a:solidFill>
            <a:srgbClr val="833C0B"/>
          </a:solidFill>
          <a:ln w="10160">
            <a:solidFill>
              <a:srgbClr val="833C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33472" y="3886200"/>
            <a:ext cx="224028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HBM 감소 (이론)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DP3 −25% 달성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DP1 −5% · DP2 −8% 미달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20% (Lease 보완 미반영)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64991" y="5102352"/>
            <a:ext cx="777240" cy="219456"/>
          </a:xfrm>
          <a:prstGeom prst="rect">
            <a:avLst/>
          </a:prstGeom>
          <a:solidFill>
            <a:srgbClr val="833C0B"/>
          </a:solidFill>
          <a:ln w="10160">
            <a:solidFill>
              <a:srgbClr val="833C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2624" y="3886200"/>
            <a:ext cx="224028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P99 개선 r (이론)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DP1 2.14 · DP2 2.35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DP3 2.76 · DP4 3.36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≥ 1.43 (B1 2.10)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24144" y="5102352"/>
            <a:ext cx="777240" cy="219456"/>
          </a:xfrm>
          <a:prstGeom prst="rect">
            <a:avLst/>
          </a:prstGeom>
          <a:solidFill>
            <a:srgbClr val="833C0B"/>
          </a:solidFill>
          <a:ln w="10160">
            <a:solidFill>
              <a:srgbClr val="833C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51776" y="3886200"/>
            <a:ext cx="224028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SE(N=16) (이론)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DP2 97% · DP4 99%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&gt; 80%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(DP1·DP3는 단일 노드, 해당 없음)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83296" y="5102352"/>
            <a:ext cx="777240" cy="219456"/>
          </a:xfrm>
          <a:prstGeom prst="rect">
            <a:avLst/>
          </a:prstGeom>
          <a:solidFill>
            <a:srgbClr val="833C0B"/>
          </a:solidFill>
          <a:ln w="10160">
            <a:solidFill>
              <a:srgbClr val="833C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10928" y="3886200"/>
            <a:ext cx="224028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변경 module · M/M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DP1 2.5개 · 0.51 MM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≤ 5 · 1.0</a:t>
            </a:r>
          </a:p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(DP2~DP4 미측정)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42448" y="5102352"/>
            <a:ext cx="777240" cy="219456"/>
          </a:xfrm>
          <a:prstGeom prst="rect">
            <a:avLst/>
          </a:prstGeom>
          <a:solidFill>
            <a:srgbClr val="833C0B"/>
          </a:solidFill>
          <a:ln w="10160">
            <a:solidFill>
              <a:srgbClr val="833C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486400"/>
            <a:ext cx="1170432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 상태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위 값은 구현·실측 전의 이론 예상값([C], doc-mk/QA-criteria-v4/theory_model.py, 후보 파라미터는 가정)과 기존 중립 벤치마크 시뮬레이션([B+C])이다. 실측([A])이 아니므로 '달성 예상'은 달성 확정이 아니다.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이론 시나리오 'Agent KV Fleet'은 KV가 HBM·DRAM을 넘고 재사용할 history가 있는 구간만 겨냥한다. 이 조건이 아닌 구간의 이득은 주장하지 않는다.</a:t>
            </a:r>
          </a:p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원본 QA 표(2p)에서 QA-05의 토큰 비용·공수 기준은 비어 있어, 이 장표는 QA-criteria-v4의 module·M/M 기준(≤5·≤1.0)을 제안값으로 사용했다. QA-06은 번호만 비어 있어 제외.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품질 속성 검증 – QA-01 Throughput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0" y="73152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7991856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6" name="Chevron 5"/>
          <p:cNvSpPr/>
          <p:nvPr/>
        </p:nvSpPr>
        <p:spPr>
          <a:xfrm>
            <a:off x="8787384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7" name="Chevron 6"/>
          <p:cNvSpPr/>
          <p:nvPr/>
        </p:nvSpPr>
        <p:spPr>
          <a:xfrm>
            <a:off x="9582912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8" name="Chevron 7"/>
          <p:cNvSpPr/>
          <p:nvPr/>
        </p:nvSpPr>
        <p:spPr>
          <a:xfrm>
            <a:off x="10378440" y="137160"/>
            <a:ext cx="868680" cy="356616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9" name="Chevron 8"/>
          <p:cNvSpPr/>
          <p:nvPr/>
        </p:nvSpPr>
        <p:spPr>
          <a:xfrm>
            <a:off x="11173968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85800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QA-01. [Throughput] 이론 예상값 [C]  vs  Response Measure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1005840"/>
          <a:ext cx="585216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3749039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 [B+C] — 기존 중립 벤치마크 (새 시나리오 아님)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4069080"/>
          <a:ext cx="5852160" cy="10607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2468880"/>
                <a:gridCol w="182880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시뮬레이션 값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 Measure 대비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DP1 2안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 ×1.42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미달 (&lt; 2.0)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DP2 2안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 ×1.66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미달 (&lt; 2.0)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DP4 1안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 ×0.70 (RDMA 대비)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이득 없음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4320" y="5221224"/>
            <a:ext cx="5852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중립 벤치마크: 8K 입력·batch 32·메모리 압박 없음 (H100+B200). 이론 시나리오(Agent KV Fleet)와 조건이 달라 직접 비교 불가. DP3 시뮬은 별도 문서(DP3 results).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68580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QA-01 품질 시나리오 (6-element)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09360" y="1005840"/>
          <a:ext cx="5669280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443484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Description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다수 agent 세션이 동시에 요청할 때, SLO를 만족하며 처리할 수 있는 최대 요청량이 Baseline보다 커야 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Source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 / LLM Client (다수 세션)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Stimulus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다수 agent 세션의 동시 multi-turn 요청 (open-loop)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Artifact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Memory-Centric Runtime (Request Orchestrator, Inference Engine)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Environment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운전, 8-GPU 노드(SYS-H100), Agent KV Fleet 시나리오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SLO(TTFT P99 ≤ 2s, TPOT P99 ≤ 50ms)를 만족하는 최대 goodput을 처리한다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 Measure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[R = Max SLO goodput ÷ Baseline(B0, GPU-only) ≥ 2x]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309360" y="406908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해석과 한계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70832"/>
            <a:ext cx="5669280" cy="20573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이론 예상: 4개 DP 선정안 모두 목표(2.0x)를 넘는다(×2.47~3.61). 단 경쟁 기술(단순 offload, B1)도 ×2.35라서 B0 대비 달성이 곧 경쟁 우위는 아니다(별 ★1~1.5 수준).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이 값은 설계 가정 파라미터 기반 [C]이며 구현 측정이 아니다. DP별 B0 범위가 달라(DP2·DP4는 4노드) 막대끼리의 크기 비교는 참고용이다.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압박 없는 중립 시뮬레이션에서는 DP1 ×1.42, DP2 ×1.66으로 목표 미달이고 DP4는 ×0.70이다. 즉 이득은 KV가 HBM·DRAM을 넘고 재사용 history가 있는 조건에서만 기대된다.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다음 단계: Agent KV Fleet 시나리오를 시뮬레이터에서 실행해 이론값을 [B+C]로 대체, 이후 실측 [A].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172200"/>
            <a:ext cx="5852160" cy="292608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 상태: 이론 예상 [C] 달성 / 시뮬레이션 [B+C] 조건부 — 실측 전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품질 속성 검증 – QA-02 Resource Efficiency (HBM)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0" y="73152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7991856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6" name="Chevron 5"/>
          <p:cNvSpPr/>
          <p:nvPr/>
        </p:nvSpPr>
        <p:spPr>
          <a:xfrm>
            <a:off x="8787384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7" name="Chevron 6"/>
          <p:cNvSpPr/>
          <p:nvPr/>
        </p:nvSpPr>
        <p:spPr>
          <a:xfrm>
            <a:off x="9582912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8" name="Chevron 7"/>
          <p:cNvSpPr/>
          <p:nvPr/>
        </p:nvSpPr>
        <p:spPr>
          <a:xfrm>
            <a:off x="10378440" y="137160"/>
            <a:ext cx="868680" cy="356616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9" name="Chevron 8"/>
          <p:cNvSpPr/>
          <p:nvPr/>
        </p:nvSpPr>
        <p:spPr>
          <a:xfrm>
            <a:off x="11173968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85800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QA-02. [Resource Efficiency (HBM)] 이론 예상값 [C]  vs  Response Measure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1005840"/>
          <a:ext cx="585216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3749039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 [B+C] — 기존 중립 벤치마크 (새 시나리오 아님)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4069080"/>
          <a:ext cx="5852160" cy="786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2468880"/>
                <a:gridCol w="182880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시뮬레이션 값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 Measure 대비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DP1 2안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HBM −21%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 (≥ 20%)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DP2 2안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HBM −5%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미달 (&lt; 20%)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4320" y="4946903"/>
            <a:ext cx="5852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중립 벤치마크(압박 없음). DP3·DP4 값은 기존 시뮬 표에 없음. 이론 값과 시뮬 값이 DP1에서 크게 다른 것은 후보 파라미터(watermark, prefetch) 가정 차이.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68580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QA-02 품질 시나리오 (6-element)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09360" y="1005840"/>
          <a:ext cx="5669280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443484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Description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동일한 성능 조건에서 HBM 점유율이 Baseline보다 낮아야 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Source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 / LLM Client (다수 세션)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Stimulus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세션 수 증가로 KV 캐시가 HBM 용량을 압박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Artifact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 Cache Manager, Data Management, Resource Management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Environment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운전, 8-GPU 노드(SYS-H100), HBM KV 풀 ≈ 425 GiB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KV를 DRAM/CXL/SSD로 이동·재사용해 HBM 사용량을 줄인다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 Measure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[HBM 사용량 감소율 ≥ 20% (B0 대비)]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309360" y="406908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해석과 한계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70832"/>
            <a:ext cx="5669280" cy="20573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이론 예상: DP3 2안(−25%)만 목표를 넘고, DP1 2안(−5%)과 DP2 2안(−8%)은 미달이다. 경쟁 기술 B1은 HBM을 캐시로 채워 0%.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DP1 선정안의 HBM Lease 보완(점유 기한 제어)은 이론 모델에 반영되지 않았다. 중립 시뮬레이션에서는 DP1 2안이 −21%로 목표를 넘지만, 이 수치도 Lease 구현 전 값이다.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DP2·DP4는 HBM 절감이 주 목적이 아니라(DP2: 자원 선택, DP4: 서버 간 공유) 이 QA의 기여가 작다.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다음 단계: Lease 보완 후 재시뮬레이션하고, DP1·DP3 결합 시 HBM 감소량을 같은 시나리오에서 측정.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172200"/>
            <a:ext cx="5852160" cy="292608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 상태: 이론 예상 [C] 일부 미달 (DP1·DP2) — 보완 효과 미검증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품질 속성 검증 – QA-03 Tail Latency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0" y="73152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7991856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6" name="Chevron 5"/>
          <p:cNvSpPr/>
          <p:nvPr/>
        </p:nvSpPr>
        <p:spPr>
          <a:xfrm>
            <a:off x="8787384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7" name="Chevron 6"/>
          <p:cNvSpPr/>
          <p:nvPr/>
        </p:nvSpPr>
        <p:spPr>
          <a:xfrm>
            <a:off x="9582912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8" name="Chevron 7"/>
          <p:cNvSpPr/>
          <p:nvPr/>
        </p:nvSpPr>
        <p:spPr>
          <a:xfrm>
            <a:off x="10378440" y="137160"/>
            <a:ext cx="868680" cy="356616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9" name="Chevron 8"/>
          <p:cNvSpPr/>
          <p:nvPr/>
        </p:nvSpPr>
        <p:spPr>
          <a:xfrm>
            <a:off x="11173968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85800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QA-03. [Tail Latency] 이론 예상값 [C]  vs  Response Measure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1005840"/>
          <a:ext cx="585216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3749039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 [B+C] — 기존 중립 벤치마크 (새 시나리오 아님)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4069080"/>
          <a:ext cx="5852160" cy="10607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2468880"/>
                <a:gridCol w="182880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시뮬레이션 값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 Measure 대비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DP1 2안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P99 r 1.22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미달 (&lt; 1.43)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DP2 2안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TTFT 1,015 ms (r 미산출)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보류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DP4 1안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TTFT 4,205 ms (own-peak)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판정 보류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4320" y="5221224"/>
            <a:ext cx="5852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중립 벤치마크: 부하 조건이 이론 시나리오(B0 포화 부하의 90%)와 다르다. DP2·DP4는 r이 아닌 절대 TTFT만 있어 목표와 직접 비교 불가.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68580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QA-03 품질 시나리오 (6-element)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09360" y="1005840"/>
          <a:ext cx="5669280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443484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Description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고부하 환경에서 최악 응답 지연(Tail Latency)을 Baseline 대비 개선해야 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Source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Agent / LLM Client (다수 세션)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Stimulus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B0 포화 부하의 90%에서 요청 도착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Artifact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Request Orchestrator, Inference Engine, Data Management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Environment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운전(고부하), 8-GPU 노드, TTFT P99 ≤ 2s, TPOT P99 ≤ 50ms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대기·복원·재계산 지연을 줄여 TTFT·TPOT P99를 개선한다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 Measure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[r = √(TTFT·TPOT P99 개선) ≥ 1.43 (감소 30%), SLO 만족]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309360" y="406908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해석과 한계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70832"/>
            <a:ext cx="5669280" cy="20573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이론 예상: 4개 DP 모두 목표(r 1.43)를 넘는다(2.14~3.36). 경쟁 기술 B1도 r 2.10이라 DP1·DP2의 우위는 작다(B1 대비 +2~12%).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이론 모델은 큐잉을 1/(1−ρ)로 근사하고 연속 배칭·chunked prefill 세부를 반영하지 않는다. 꼬리(P99) 쌍별 점검은 아직 없다.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중립 시뮬레이션에서 DP1 2안의 P99 r은 1.22로 목표 미달이다. 고부하 꼬리는 이동 간섭과 snapshot stale에 민감할 수 있어 시나리오 확장 후 재확인이 필요하다.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다음 단계: P99를 시나리오별로 쌍별 점검, Baseline보다 나쁜 쌍이 있으면 원인 분석.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172200"/>
            <a:ext cx="5852160" cy="292608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 상태: 이론 예상 [C] 달성 / 시뮬레이션 [B+C] DP1 미달 — 실측 전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품질 속성 검증 – QA-04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0" y="73152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7991856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6" name="Chevron 5"/>
          <p:cNvSpPr/>
          <p:nvPr/>
        </p:nvSpPr>
        <p:spPr>
          <a:xfrm>
            <a:off x="8787384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7" name="Chevron 6"/>
          <p:cNvSpPr/>
          <p:nvPr/>
        </p:nvSpPr>
        <p:spPr>
          <a:xfrm>
            <a:off x="9582912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8" name="Chevron 7"/>
          <p:cNvSpPr/>
          <p:nvPr/>
        </p:nvSpPr>
        <p:spPr>
          <a:xfrm>
            <a:off x="10378440" y="137160"/>
            <a:ext cx="868680" cy="356616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9" name="Chevron 8"/>
          <p:cNvSpPr/>
          <p:nvPr/>
        </p:nvSpPr>
        <p:spPr>
          <a:xfrm>
            <a:off x="11173968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85800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QA-04. [Scalability] 이론 예상값 [C]  vs  Response Measure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1005840"/>
          <a:ext cx="585216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274320" y="3749039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 [B+C] — 기존 중립 벤치마크 (새 시나리오 아님)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74320" y="4069080"/>
          <a:ext cx="5852160" cy="7863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2468880"/>
                <a:gridCol w="182880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시뮬레이션 값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 Measure 대비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DP2 2안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η(32) = 0.56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해석 보류 (정의 상이)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DP4 1안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SE(16) = 1.26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해석 보류 (100% 초과)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4320" y="4946903"/>
            <a:ext cx="5852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중립 벤치마크 값. DP4의 SE 1.26은 100%를 넘어 모델 한계로 보이며 확장성 증거로 쓰지 않는다. DP1·DP3는 단일 노드 설계라 이 QA 대상이 아니다.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68580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QA-04 품질 시나리오 (6-element)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309360" y="1005840"/>
          <a:ext cx="5669280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443484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Description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늘어난 자원(노드)에 비례해 성능이 증가해야 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Source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제공자 (자원 증설)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Stimulus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노드 수를 2에서 16으로 증설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Artifact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Request Orchestrator (DP2), Metadata Server·Shard (DP4)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Environment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운전, 멀티 노드 (노드 간 PCIe 64GB/s, CXL 공유 풀)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증설한 노드만큼 goodput이 증가한다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 Measure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[Scaling Efficiency SE(N=16) &gt; 80%]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309360" y="406908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해석과 한계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70832"/>
            <a:ext cx="5669280" cy="20573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이론 예상: DP2 2안(97%)과 DP4 1안(99%, Sharding 포함)이 목표를 넘는다. 비선정안은 DP2 1안 38%(Cost 계산이 critical path에 포함, 모니터링 비용 증가)로 목표 미달이라 선택 근거가 된다.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SE는 노드 독립 구성(B1)이 98%로 이미 높아 확장성 자체가 경쟁 우위는 아니다. 우리 설계의 요건은 조율 계층을 두고도 손실을 5% 이내로 유지하는 것이다.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제어 평면 비용(RPC 7 µs)과 shard 수는 가정값이다. 실제 서버 간 대역폭은 PCIe 64GB/s 상한(GC-9)을 넘는 이득을 요구하지 않는다.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다음 단계: N=2/4/8/16 sweep을 시뮬레이터에서 실행하고 SE 곡선을 보고.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172200"/>
            <a:ext cx="5852160" cy="292608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 상태: 이론 예상 [C] 달성 — 시뮬레이션 값은 해석 보류, 실측 전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주요 품질 속성 검증 – QA-05 Modifiability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" y="6583680"/>
            <a:ext cx="54864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0" y="73152"/>
            <a:ext cx="4206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evron 4"/>
          <p:cNvSpPr/>
          <p:nvPr/>
        </p:nvSpPr>
        <p:spPr>
          <a:xfrm>
            <a:off x="7991856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과제 소개</a:t>
            </a:r>
          </a:p>
        </p:txBody>
      </p:sp>
      <p:sp>
        <p:nvSpPr>
          <p:cNvPr id="6" name="Chevron 5"/>
          <p:cNvSpPr/>
          <p:nvPr/>
        </p:nvSpPr>
        <p:spPr>
          <a:xfrm>
            <a:off x="8787384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</a:t>
            </a:r>
          </a:p>
        </p:txBody>
      </p:sp>
      <p:sp>
        <p:nvSpPr>
          <p:cNvPr id="7" name="Chevron 6"/>
          <p:cNvSpPr/>
          <p:nvPr/>
        </p:nvSpPr>
        <p:spPr>
          <a:xfrm>
            <a:off x="9582912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8" name="Chevron 7"/>
          <p:cNvSpPr/>
          <p:nvPr/>
        </p:nvSpPr>
        <p:spPr>
          <a:xfrm>
            <a:off x="10378440" y="137160"/>
            <a:ext cx="868680" cy="356616"/>
          </a:xfrm>
          <a:prstGeom prst="chevron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구현/검증</a:t>
            </a:r>
          </a:p>
        </p:txBody>
      </p:sp>
      <p:sp>
        <p:nvSpPr>
          <p:cNvPr id="9" name="Chevron 8"/>
          <p:cNvSpPr/>
          <p:nvPr/>
        </p:nvSpPr>
        <p:spPr>
          <a:xfrm>
            <a:off x="11173968" y="137160"/>
            <a:ext cx="868680" cy="356616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685800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QA-05. [Modifiability] 이론 예상값 [C]  vs  Response Measure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1005840"/>
          <a:ext cx="2880360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3246120" y="1005840"/>
          <a:ext cx="2880360" cy="2697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3749039"/>
            <a:ext cx="585216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시뮬레이션 [B+C] — 기존 중립 벤치마크 (새 시나리오 아님)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74320" y="4069080"/>
          <a:ext cx="5852160" cy="10607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54480"/>
                <a:gridCol w="2468880"/>
                <a:gridCol w="182880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후보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시뮬레이션 값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 Measure 대비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DP1 1안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1.75 module · 0.38 MM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DP1 2안 (선정)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2.5 module · 0.51 MM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달성 (≤ 5 · 1.0)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DP2~DP4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미측정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미검증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274320" y="5221224"/>
            <a:ext cx="5852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0" i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기존 DP1 구현 측정(변경 시나리오 4종 기준) [B+C]. 새 기준의 변경 시나리오 3종(S1 새 tier, S2 정책 교체, S3 vLLM upstream 갱신)으로 다시 재야 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68580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QA-05 품질 시나리오 (6-element)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09360" y="1005840"/>
          <a:ext cx="5669280" cy="29260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234440"/>
                <a:gridCol w="4434840"/>
              </a:tblGrid>
              <a:tr h="237744"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5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Description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 메모리 tier·이동/배치 정책·데이터 객체 유형을 추가할 때 서빙 경로를 수정하지 않고 반영할 수 있어야 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Source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Runtime 개발자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Stimulus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 메모리 tier 추가 / 이동 정책 교체 / vLLM upstream 갱신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Artifact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Common Memory Backend Interface, Policy Engine, DP1 Connector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Environment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시점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서빙 경로(Scheduler, Worker 실행 경로) 수정 없이 모듈 추가·교체로 반영한다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Response Measure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[변경 module ≤ 5 AND 개발 공수 ≤ 1.0 MM (시나리오 평균)]</a:t>
                      </a:r>
                    </a:p>
                  </a:txBody>
                  <a:tcPr marL="45720" marR="45720" marT="18288" marB="18288" anchor="ctr">
                    <a:lnL w="6350">
                      <a:solidFill>
                        <a:srgbClr val="BFBFBF"/>
                      </a:solidFill>
                    </a:lnL>
                    <a:lnR w="6350">
                      <a:solidFill>
                        <a:srgbClr val="BFBFBF"/>
                      </a:solidFill>
                    </a:lnR>
                    <a:lnT w="6350">
                      <a:solidFill>
                        <a:srgbClr val="BFBFBF"/>
                      </a:solidFill>
                    </a:lnT>
                    <a:lnB w="635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6309360" y="4069080"/>
            <a:ext cx="5669280" cy="27432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검증 해석과 한계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370832"/>
            <a:ext cx="5669280" cy="205739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DP1은 선정안(2안, 2.5 module · 0.51 MM)과 비선정안(1안, 1.75 · 0.38) 모두 목표를 만족한다. 선정안이 더 많은 module(분리 구조)을 쓰지만 목표 안이다.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DP2~DP4는 변경 시나리오를 아직 측정하지 않았다(DP4는 후보 module 목록만 사전 등록). 이 QA의 검증 근거가 없다.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공수 환산은 가정 상수(40 LOC/일, 3일/module 등)이며 실제 에이전트 세션 측정이 아니다. 원본 QA 표(2p)의 기준이 비어 있어 이 값은 제안 기준이다.</a:t>
            </a:r>
          </a:p>
          <a:p>
            <a:pPr algn="l">
              <a:spcAft>
                <a:spcPts val="300"/>
              </a:spcAft>
            </a:pPr>
            <a:r>
              <a:rPr sz="750" b="0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다음 단계: S1~S3를 DP1~DP4 모두에 대해 구현·측정하고 사전 등록 규칙으로 별 판정.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6172200"/>
            <a:ext cx="5852160" cy="292608"/>
          </a:xfrm>
          <a:prstGeom prst="rect">
            <a:avLst/>
          </a:prstGeom>
          <a:solidFill>
            <a:srgbClr val="FFF2CC"/>
          </a:solidFill>
          <a:ln w="1016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 상태: DP1 측정 [B+C] 달성 / DP2~DP4 미검증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13442</Words>
  <Application>Microsoft Office PowerPoint</Application>
  <PresentationFormat>와이드스크린</PresentationFormat>
  <Paragraphs>2851</Paragraphs>
  <Slides>43</Slides>
  <Notes>41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0" baseType="lpstr">
      <vt:lpstr>Mona Sans VF</vt:lpstr>
      <vt:lpstr>Malgun Gothic</vt:lpstr>
      <vt:lpstr>Malgun Gothic</vt:lpstr>
      <vt:lpstr>Arial</vt:lpstr>
      <vt:lpstr>Calibri</vt:lpstr>
      <vt:lpstr>Wingdings</vt:lpstr>
      <vt:lpstr>Office 테마</vt:lpstr>
      <vt:lpstr>PowerPoint 프레젠테이션</vt:lpstr>
      <vt:lpstr>품질 요구사항</vt:lpstr>
      <vt:lpstr>Architecture 분석 – Overall Architecture (Module View)</vt:lpstr>
      <vt:lpstr>Architecture 분석 – Overall Architecture (Module View, 요약)</vt:lpstr>
      <vt:lpstr>DP1. Data Migration 결정 구조 - 설계</vt:lpstr>
      <vt:lpstr>DP1. Data Migration 결정 구조 - 보완 설계</vt:lpstr>
      <vt:lpstr>DP2. 연산(Prefill/Decode) 실행 위치 결정 구조 - 설계</vt:lpstr>
      <vt:lpstr>DP2. 연산(Prefill/Decode) 실행 위치 결정 구조 - 보완 설계</vt:lpstr>
      <vt:lpstr>DP3. KV 캐시 재사용 구조 – 설계 </vt:lpstr>
      <vt:lpstr>DP3. KV 캐시 재사용 구조 – 보완 설계 </vt:lpstr>
      <vt:lpstr>DP4. 서버 간 KV 캐시 공유 구조 – 설계</vt:lpstr>
      <vt:lpstr>DP4. 서버 간 KV 캐시 공유 구조 – 보완 설계</vt:lpstr>
      <vt:lpstr>Reference</vt:lpstr>
      <vt:lpstr>최종 구조 설계 – Module View</vt:lpstr>
      <vt:lpstr>최종 구조 설계 – C&amp;C View</vt:lpstr>
      <vt:lpstr>최종 구조 설계 – Deployment View</vt:lpstr>
      <vt:lpstr>최종 구조 설계 – 전체 Class Diagram (1/3) 요청 조율·실행 위치 결정</vt:lpstr>
      <vt:lpstr>최종 구조 설계 – 전체 Class Diagram (2/3) 데이터 이동·자원 관리</vt:lpstr>
      <vt:lpstr>최종 구조 설계 – 전체 Class Diagram (3/3) KV 재사용·공유</vt:lpstr>
      <vt:lpstr>Use Case 도출 – Use-case Diagram</vt:lpstr>
      <vt:lpstr>Use Case 도출 – UC 목록</vt:lpstr>
      <vt:lpstr>요청 처리 기본 경로 – Class / Sequence (vLLM 기준선)</vt:lpstr>
      <vt:lpstr>DP1 Data Migration 결정 – Class / Sequence</vt:lpstr>
      <vt:lpstr>DP2 연산 실행 위치 결정 – Class / Sequence</vt:lpstr>
      <vt:lpstr>DP3 KV 캐시 재사용 – Class / Sequence</vt:lpstr>
      <vt:lpstr>DP4 서버 간 KV 캐시 공유 – Class / Sequence</vt:lpstr>
      <vt:lpstr>PowerPoint 프레젠테이션</vt:lpstr>
      <vt:lpstr>최종 설계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Myeong Woo Kim</dc:creator>
  <cp:lastModifiedBy>Myeong Woo Kim</cp:lastModifiedBy>
  <cp:revision>2</cp:revision>
  <dcterms:created xsi:type="dcterms:W3CDTF">2026-10-24T03:07:30Z</dcterms:created>
  <dcterms:modified xsi:type="dcterms:W3CDTF">2026-10-25T16:51:03Z</dcterms:modified>
</cp:coreProperties>
</file>
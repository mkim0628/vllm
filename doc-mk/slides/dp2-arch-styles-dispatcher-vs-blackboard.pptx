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7"/>
    <p:sldId id="257" r:id="rId8"/>
    <p:sldId id="258" r:id="rId9"/>
    <p:sldId id="259"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a:solidFill>
                  <a:srgbClr val="404040"/>
                </a:solidFill>
                <a:latin typeface="맑은 고딕"/>
                <a:ea typeface="맑은 고딕"/>
                <a:cs typeface="맑은 고딕"/>
              </a:rPr>
              <a:t>128~256K History 재개: 동시 세션 수 대비 SLO goodput</a:t>
            </a:r>
          </a:p>
        </c:rich>
      </c:tx>
      <c:layout/>
      <c:overlay val="0"/>
    </c:title>
    <c:autoTitleDeleted val="0"/>
    <c:plotArea>
      <c:lineChart>
        <c:grouping val="standard"/>
        <c:varyColors val="0"/>
        <c:ser>
          <c:idx val="0"/>
          <c:order val="0"/>
          <c:tx>
            <c:strRef>
              <c:f>Sheet1!$B$1</c:f>
              <c:strCache>
                <c:ptCount val="1"/>
                <c:pt idx="0">
                  <c:v>Baseline-GPU-local goodput (tok/s)</c:v>
                </c:pt>
              </c:strCache>
            </c:strRef>
          </c:tx>
          <c:spPr>
            <a:ln w="25400">
              <a:solidFill>
                <a:srgbClr val="FF0000"/>
              </a:solidFill>
            </a:ln>
          </c:spPr>
          <c:cat>
            <c:strRef>
              <c:f>Sheet1!$A$2:$A$10</c:f>
              <c:strCache>
                <c:ptCount val="9"/>
                <c:pt idx="0">
                  <c:v>1</c:v>
                </c:pt>
                <c:pt idx="1">
                  <c:v>2</c:v>
                </c:pt>
                <c:pt idx="2">
                  <c:v>3</c:v>
                </c:pt>
                <c:pt idx="3">
                  <c:v>4</c:v>
                </c:pt>
                <c:pt idx="4">
                  <c:v>6</c:v>
                </c:pt>
                <c:pt idx="5">
                  <c:v>8</c:v>
                </c:pt>
                <c:pt idx="6">
                  <c:v>12</c:v>
                </c:pt>
                <c:pt idx="7">
                  <c:v>16</c:v>
                </c:pt>
                <c:pt idx="8">
                  <c:v>24</c:v>
                </c:pt>
              </c:strCache>
            </c:strRef>
          </c:cat>
          <c:val>
            <c:numRef>
              <c:f>Sheet1!$B$2:$B$10</c:f>
              <c:numCache>
                <c:formatCode>General</c:formatCode>
                <c:ptCount val="9"/>
                <c:pt idx="0">
                  <c:v>22.3</c:v>
                </c:pt>
                <c:pt idx="1">
                  <c:v>45.0</c:v>
                </c:pt>
                <c:pt idx="2">
                  <c:v>69.7</c:v>
                </c:pt>
                <c:pt idx="3">
                  <c:v>83.4</c:v>
                </c:pt>
                <c:pt idx="4">
                  <c:v>59.5</c:v>
                </c:pt>
                <c:pt idx="5">
                  <c:v>35.3</c:v>
                </c:pt>
                <c:pt idx="6">
                  <c:v>9.0</c:v>
                </c:pt>
                <c:pt idx="7">
                  <c:v>2.2</c:v>
                </c:pt>
                <c:pt idx="8">
                  <c:v>1.3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00"/>
            </a:pPr>
          </a:p>
        </c:txPr>
        <c:crossAx val="2140495176"/>
        <c:crosses val="autoZero"/>
        <c:auto val="1"/>
        <c:lblAlgn val="ctr"/>
        <c:lblOffset val="100"/>
        <c:noMultiLvlLbl val="0"/>
      </c:catAx>
      <c:valAx>
        <c:axId val="2140495176"/>
        <c:scaling/>
        <c:delete val="0"/>
        <c:axPos val="l"/>
        <c:majorTickMark val="out"/>
        <c:minorTickMark val="none"/>
        <c:tickLblPos val="nextTo"/>
        <c:txPr>
          <a:bodyPr/>
          <a:lstStyle/>
          <a:p>
            <a:pPr>
              <a:defRPr sz="8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FDB59D-6851-4087-A360-1717CD539FDC}" type="datetimeFigureOut">
              <a:rPr lang="ko-KR" altLang="en-US" smtClean="0"/>
              <a:t>2026-10-10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D42F9D-A517-472D-B53C-0A9BC49CDB65}" type="slidenum">
              <a:rPr lang="ko-KR" altLang="en-US" smtClean="0"/>
              <a:t>‹#›</a:t>
            </a:fld>
            <a:endParaRPr lang="ko-KR" altLang="en-US"/>
          </a:p>
        </p:txBody>
      </p:sp>
    </p:spTree>
    <p:extLst>
      <p:ext uri="{BB962C8B-B14F-4D97-AF65-F5344CB8AC3E}">
        <p14:creationId xmlns:p14="http://schemas.microsoft.com/office/powerpoint/2010/main" val="43600162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attention은 GPU에서 KV를 끌어와 실행(GPU_STAGE)하거나 KV가 있는 Tier에서 q를 보내 실행(IN_SITU)할 수 있다.</a:t>
            </a:r>
          </a:p>
          <a:p>
            <a:r>
              <a:t>근거: Decode는 연산 강도가 낮아 메모리 대역폭이 큰 Tier에서 유리하고, Prefill은 Tq가 커 GPU가 유리하다. 이동 비용은 KV 크기와 읽는 횟수로 가른다.</a:t>
            </a:r>
          </a:p>
          <a:p>
            <a:r>
              <a:t>수치(43GB, 0.67 s)는 가정(Llama-3.1-70B, PCIe 64 GB/s)을 둔 추정이며 실측이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HBM이 병목이면 모든 attention을 GPU에서 실행하는 As-Is는 부하가 늘수록 처리량이 급락한다. Turn 시작 시 실행 위치를 정하는 구조가 필요하다.</a:t>
            </a:r>
          </a:p>
          <a:p>
            <a:r>
              <a:t>근거: 왼쪽 그래프는 Baseline-GPU-local의 동시 세션 수 대비 goodput이다(시뮬레이션). 일정 부하 이후 swap-in과 축출이 늘어 급락한다.</a:t>
            </a:r>
          </a:p>
          <a:p>
            <a:r>
              <a:t>연결: 이 결정을 누가 어떤 정보로 하느냐가 설계 쟁점이며, 다음 장에서 두 아키텍처 스타일을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같은 결정(Turn 시작 시 KV 구간별 실행 위치)을 중앙 Dispatcher 구조와 Blackboard 구조로 구현해 비교한다. 두 구조의 차이는 결정 권한이 중앙 1곳인가 분산인가, 제어 흐름이 command인가 보드 상태 변화 event인가다.</a:t>
            </a:r>
          </a:p>
          <a:p>
            <a:r>
              <a:t>근거: Tradeoff 행은 Baseline-GPU-local 대비 시뮬레이션 값이다(별 경계는 사전 등록). 출처는 results/2026-10-10_dp2-arch-styles.md.</a:t>
            </a:r>
          </a:p>
          <a:p>
            <a:r>
              <a:t>선택의 의미: 별 합계로 선택하고, 선택된 구조의 낮은 QA는 다음 장의 보완 설계로 올린다.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평가에서 선택된 1안 Dispatcher는 TTFT와 HBM에서 이득을 주지만 TPOT 꼬리가 Baseline보다 크고(P99 x1.34, SLO 이내), Cost 추정 오차가 커지면 이득이 사라진다. 보완은 Dispatcher의 중앙 선택은 두고 Tier 쪽에 live 거부권을 더하는 Hybrid C다. 이 보완은 아직 구현하지 않았고 효과는 수치로 주장하지 않는다.</a:t>
            </a:r>
          </a:p>
          <a:p/>
          <a:p>
            <a:r>
              <a:t>왜 처음부터 C를 후보로 두지 않았는가: 처음에는 구조가 다른 두 극단을 같은 simulator에서 같은 기준으로 재야 했다. 혼합 구조는 어느 부분이 어느 스타일에서 왔는지 분리할 수 없어서, 혼합안이 좋게 나오더라도 그 이득이 Dispatcher의 Cost 모델에서 오는지 Blackboard의 live 측정에서 오는지 알 수 없다. 또 혼합은 component와 인터페이스가 늘어 변경 용이성(Q4)에서 손해를 보는 것이 구조적으로 예상되므로, 그 손해를 감수할 만큼 이득이 있는지 보려면 각 스타일의 장단이 먼저 측정되어 있어야 한다.</a:t>
            </a:r>
          </a:p>
          <a:p/>
          <a:p>
            <a:r>
              <a:t>그리고 어떤 부분을 빌려 와야 하는지는 측정 전에는 알 수 없었다. 이번 평가에서 Dispatcher의 약점이 TPOT 꼬리와 추정 오차 의존이라는 것이 데이터로 확인되었고, 같은 평가에서 Blackboard의 live 측정이 telemetry 지연에 둔감하다는 것(stale telemetry 시나리오 B200에서 x1.36 승)과 Blackboard의 약점이 cost 신호 부재라는 것도 확인되었다. 그래서 C는 Blackboard 전체가 아니라 admission 거부권이라는 일부만 빌린다. 만약 처음부터 "둘을 섞자"고 했다면 Blackboard의 규칙 집합 전체를 끌어와 B가 보인 Baseline 수준의 한계까지 같이 들여왔을 가능성이 크다.</a:t>
            </a:r>
          </a:p>
          <a:p/>
          <a:p>
            <a:r>
              <a:t>한계: 이 서술은 평가 후에 정리한 이유이며, C의 효과는 검증되지 않았다. Blackboard 변형(cost 신호를 board에 넣은 형태)이 오히려 더 나을 수 있고 그것도 평가하지 않았다. 출처: results/2026-10-10_dp2-arch-styles.md, loop-log.md 3.6.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766F1F-6FFF-438E-978E-7F50C6A9E636}"/>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DAFAFD0-1F82-4A9B-B3F6-99224804EA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D2A504BB-6AAA-4233-A0A1-1975C91FEA4C}"/>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AE792343-8259-4E59-9F61-74C15CCDDC4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1CB83A2-9524-4B3A-B3C6-D4F79B0E8BB3}"/>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64031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E669E3-A266-4BEB-8BBA-CE42A5B6659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CE1CA8F-9445-4D8B-A0A0-34714CBAC16D}"/>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82E6160-1C4D-4559-89D9-A35150A3582B}"/>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5B2329A2-229C-4CBB-AC58-12A0F0ACAC1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241D84D-6A9B-449E-843F-67D8BA66FBB1}"/>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872596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076C279-BE8E-4A58-8F27-8C25650DED1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4392A46-7FFF-4D6F-AA6E-D59A61223D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46685FA-9578-48E3-9E09-D095C1DFA2E5}"/>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2AA1F830-4CCD-4D6C-BCCB-003C05CFE7D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80742D8-AAC9-4467-8546-CC9D64B5949C}"/>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433598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44B4E56-0A82-416C-92D9-654BF5C9D24E}"/>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FB22FE0-D66C-416D-A771-4B8A78E1DB6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70BDFEE8-FEDA-40B6-AD92-F654C3C947F8}"/>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47C12402-8087-4755-8681-5AB4A554CB75}"/>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6" name="바닥글 개체 틀 5">
            <a:extLst>
              <a:ext uri="{FF2B5EF4-FFF2-40B4-BE49-F238E27FC236}">
                <a16:creationId xmlns:a16="http://schemas.microsoft.com/office/drawing/2014/main" id="{FB6EB7B6-16FD-43F7-AD81-6AE05331273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7884AA5-2DBF-4023-90B7-AAC1D13205A3}"/>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488268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92D15B-0C0F-4390-875E-1590EE8F0FD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5B713CE4-54D4-472C-AF86-5304C461B5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0EF3848C-49A2-46AD-B69D-6770C2A44318}"/>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90F7C98F-4810-4F56-8535-9FA72E9AD6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D491211-BEE3-4FEF-980E-6C26F74438DF}"/>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8E8F1097-25B6-4C35-9EDA-0A1B99A7AF6E}"/>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8" name="바닥글 개체 틀 7">
            <a:extLst>
              <a:ext uri="{FF2B5EF4-FFF2-40B4-BE49-F238E27FC236}">
                <a16:creationId xmlns:a16="http://schemas.microsoft.com/office/drawing/2014/main" id="{11967B94-09AA-40C9-A6E7-C49079CAA9A0}"/>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E44706B7-77D3-4F97-B3C3-87F6F63E48FB}"/>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975102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7E3900A-A75F-4F93-AE6D-F58DCEBA40E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09FA1503-70FC-402A-9BEA-A7A4CBD5F324}"/>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4" name="바닥글 개체 틀 3">
            <a:extLst>
              <a:ext uri="{FF2B5EF4-FFF2-40B4-BE49-F238E27FC236}">
                <a16:creationId xmlns:a16="http://schemas.microsoft.com/office/drawing/2014/main" id="{AD8CE03B-7743-434D-93C2-5D3CF40D6E07}"/>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E3E11778-A95C-403D-A5C5-03429AA1E58E}"/>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158204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879B79F9-D3BF-4383-9A2B-6720ED16C1D7}"/>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3" name="바닥글 개체 틀 2">
            <a:extLst>
              <a:ext uri="{FF2B5EF4-FFF2-40B4-BE49-F238E27FC236}">
                <a16:creationId xmlns:a16="http://schemas.microsoft.com/office/drawing/2014/main" id="{9791CDC1-1BD2-4CEC-AF70-F1035E05EE88}"/>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066BE70D-7B66-4208-B021-AB8D7CB4D757}"/>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423693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71A4DB-6070-458A-B403-89620438738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3CEFAD1F-018C-4CD8-A320-CCA387166D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290798B4-57C3-44B4-A8C2-A1110A1433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6382C16-FF45-4304-A19A-EF629B4740F6}"/>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6" name="바닥글 개체 틀 5">
            <a:extLst>
              <a:ext uri="{FF2B5EF4-FFF2-40B4-BE49-F238E27FC236}">
                <a16:creationId xmlns:a16="http://schemas.microsoft.com/office/drawing/2014/main" id="{9BB56C59-F03D-40C5-A062-6C1D08EA6FB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B5D1989-7D2D-483E-8B76-675B71A799C6}"/>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694681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F80EA15-1B37-4FC8-A267-BD814C73A41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A6C1A13-FB13-43ED-9A16-DE43BD615F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C750587-5197-4793-84A9-1FCE8E0FE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2A05951-2B75-4A9C-9D31-DA984C7D0BA0}"/>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6" name="바닥글 개체 틀 5">
            <a:extLst>
              <a:ext uri="{FF2B5EF4-FFF2-40B4-BE49-F238E27FC236}">
                <a16:creationId xmlns:a16="http://schemas.microsoft.com/office/drawing/2014/main" id="{893DFFFB-CB82-44B7-ADD5-6C06FFCA99B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DFC3ACB5-7C5F-4763-A545-1E091D9CF56F}"/>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31381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8F7E99-E266-4394-AC3C-C81C0AA01FE5}"/>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B903C54-E094-4214-B922-CFC0A756130D}"/>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C66B284-4B0D-4115-B089-AA26C33B4436}"/>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08850256-F467-447D-9263-C7183DD65B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83367B8-E91F-4EFF-904D-A125138D3603}"/>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2447184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2E4CC87E-C30F-4874-9B17-340763F05AF7}"/>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B237634-FD61-4D11-A5FB-707E825ADF3E}"/>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9D80697-7563-4134-9650-BD8DE52FAD6B}"/>
              </a:ext>
            </a:extLst>
          </p:cNvPr>
          <p:cNvSpPr>
            <a:spLocks noGrp="1"/>
          </p:cNvSpPr>
          <p:nvPr>
            <p:ph type="dt" sz="half" idx="10"/>
          </p:nvPr>
        </p:nvSpPr>
        <p:spPr/>
        <p:txBody>
          <a:body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B7795852-3BEA-4032-BF3B-1DBB06E399D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EE3DC6E-6854-4E11-B4EC-45C9A22F9932}"/>
              </a:ext>
            </a:extLst>
          </p:cNvPr>
          <p:cNvSpPr>
            <a:spLocks noGrp="1"/>
          </p:cNvSpPr>
          <p:nvPr>
            <p:ph type="sldNum" sz="quarter" idx="12"/>
          </p:nvPr>
        </p:nvSpPr>
        <p:spPr/>
        <p:txBody>
          <a:body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4090528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cxnSp>
        <p:nvCxnSpPr>
          <p:cNvPr id="12" name="직선 연결선 11"/>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5"/>
          <p:cNvSpPr>
            <a:spLocks noGrp="1"/>
          </p:cNvSpPr>
          <p:nvPr>
            <p:ph type="sldNum" sz="quarter" idx="4"/>
          </p:nvPr>
        </p:nvSpPr>
        <p:spPr>
          <a:xfrm>
            <a:off x="5620080" y="6597650"/>
            <a:ext cx="456466" cy="209550"/>
          </a:xfrm>
          <a:prstGeom prst="rect">
            <a:avLst/>
          </a:prstGeom>
        </p:spPr>
        <p:txBody>
          <a:bodyPr vert="horz" lIns="91440" tIns="45720" rIns="91440" bIns="45720" rtlCol="0" anchor="ctr"/>
          <a:lstStyle>
            <a:lvl1pPr algn="r">
              <a:defRPr sz="1200">
                <a:solidFill>
                  <a:schemeClr val="tx1">
                    <a:tint val="75000"/>
                  </a:schemeClr>
                </a:solidFill>
              </a:defRPr>
            </a:lvl1pPr>
          </a:lstStyle>
          <a:p>
            <a:fld id="{7F889C64-266A-4D07-AD8F-5B592E61CCE1}" type="slidenum">
              <a:rPr lang="ko-KR" altLang="en-US" smtClean="0"/>
              <a:pPr/>
              <a:t>‹#›</a:t>
            </a:fld>
            <a:endParaRPr lang="ko-KR" altLang="en-US" dirty="0"/>
          </a:p>
        </p:txBody>
      </p:sp>
      <p:cxnSp>
        <p:nvCxnSpPr>
          <p:cNvPr id="20" name="직선 연결선 19"/>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제목 개체 틀 1"/>
          <p:cNvSpPr>
            <a:spLocks noGrp="1"/>
          </p:cNvSpPr>
          <p:nvPr>
            <p:ph type="title"/>
          </p:nvPr>
        </p:nvSpPr>
        <p:spPr>
          <a:xfrm>
            <a:off x="234948" y="137379"/>
            <a:ext cx="7655985" cy="365125"/>
          </a:xfrm>
          <a:prstGeom prst="rect">
            <a:avLst/>
          </a:prstGeom>
        </p:spPr>
        <p:txBody>
          <a:bodyPr vert="horz" lIns="91440" tIns="45720" rIns="91440" bIns="45720" rtlCol="0" anchor="ctr">
            <a:noAutofit/>
          </a:bodyPr>
          <a:lstStyle>
            <a:lvl1pPr>
              <a:defRPr sz="1800" b="1"/>
            </a:lvl1pPr>
          </a:lstStyle>
          <a:p>
            <a:r>
              <a:rPr lang="ko-KR" altLang="en-US" dirty="0"/>
              <a:t>마스터 제목 스타일 편집</a:t>
            </a:r>
          </a:p>
        </p:txBody>
      </p:sp>
      <p:sp>
        <p:nvSpPr>
          <p:cNvPr id="2" name="TextBox 1"/>
          <p:cNvSpPr txBox="1"/>
          <p:nvPr userDrawn="1"/>
        </p:nvSpPr>
        <p:spPr>
          <a:xfrm>
            <a:off x="5975555" y="6563925"/>
            <a:ext cx="470643" cy="276999"/>
          </a:xfrm>
          <a:prstGeom prst="rect">
            <a:avLst/>
          </a:prstGeom>
          <a:noFill/>
        </p:spPr>
        <p:txBody>
          <a:bodyPr wrap="square" rtlCol="0">
            <a:spAutoFit/>
          </a:bodyPr>
          <a:lstStyle/>
          <a:p>
            <a:r>
              <a:rPr lang="en-US" altLang="ko-KR" sz="1200" dirty="0">
                <a:solidFill>
                  <a:schemeClr val="bg1">
                    <a:lumMod val="50000"/>
                  </a:schemeClr>
                </a:solidFill>
              </a:rPr>
              <a:t>/ 4</a:t>
            </a:r>
            <a:endParaRPr lang="ko-KR" altLang="en-US" sz="1200" dirty="0">
              <a:solidFill>
                <a:schemeClr val="bg1">
                  <a:lumMod val="50000"/>
                </a:schemeClr>
              </a:solidFill>
            </a:endParaRPr>
          </a:p>
        </p:txBody>
      </p:sp>
    </p:spTree>
    <p:extLst>
      <p:ext uri="{BB962C8B-B14F-4D97-AF65-F5344CB8AC3E}">
        <p14:creationId xmlns:p14="http://schemas.microsoft.com/office/powerpoint/2010/main" val="24276406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0AD665B-95C3-4399-9C37-9DABDB1E5A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0A6DC265-2495-45CB-94D5-2A0095D35D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1E49F97-8660-4B82-B92F-E281762879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88268F-BED8-44AD-B530-9127EA8013B5}" type="datetimeFigureOut">
              <a:rPr lang="ko-KR" altLang="en-US" smtClean="0"/>
              <a:t>2026-10-10</a:t>
            </a:fld>
            <a:endParaRPr lang="ko-KR" altLang="en-US"/>
          </a:p>
        </p:txBody>
      </p:sp>
      <p:sp>
        <p:nvSpPr>
          <p:cNvPr id="5" name="바닥글 개체 틀 4">
            <a:extLst>
              <a:ext uri="{FF2B5EF4-FFF2-40B4-BE49-F238E27FC236}">
                <a16:creationId xmlns:a16="http://schemas.microsoft.com/office/drawing/2014/main" id="{D78CD36A-B7E4-4EBB-BD2C-7A89014F80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A89CF50-AAA0-498B-83B2-83B855385D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DB3628-4F54-4F9C-AC44-2CC595CFF671}" type="slidenum">
              <a:rPr lang="ko-KR" altLang="en-US" smtClean="0"/>
              <a:t>‹#›</a:t>
            </a:fld>
            <a:endParaRPr lang="ko-KR" altLang="en-US"/>
          </a:p>
        </p:txBody>
      </p:sp>
    </p:spTree>
    <p:extLst>
      <p:ext uri="{BB962C8B-B14F-4D97-AF65-F5344CB8AC3E}">
        <p14:creationId xmlns:p14="http://schemas.microsoft.com/office/powerpoint/2010/main" val="115890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DP2. 노드 내 Attention 실행 위치 결정 구조 - 배경 (1/2) 사전 지식</a:t>
            </a:r>
          </a:p>
        </p:txBody>
      </p:sp>
      <p:sp>
        <p:nvSpPr>
          <p:cNvPr id="3" name="Chevron 2"/>
          <p:cNvSpPr/>
          <p:nvPr/>
        </p:nvSpPr>
        <p:spPr>
          <a:xfrm>
            <a:off x="752276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667512"/>
            <a:ext cx="11612880" cy="914400"/>
          </a:xfrm>
          <a:prstGeom prst="rect">
            <a:avLst/>
          </a:prstGeom>
          <a:noFill/>
        </p:spPr>
        <p:txBody>
          <a:bodyPr wrap="square" anchor="t" lIns="45720" rIns="45720" tIns="27432" bIns="27432">
            <a:spAutoFit/>
          </a:bodyPr>
          <a:lstStyle/>
          <a:p>
            <a:pPr algn="l">
              <a:spcAft>
                <a:spcPts val="300"/>
              </a:spcAft>
            </a:pPr>
            <a:r>
              <a:rPr sz="1200" b="0">
                <a:solidFill>
                  <a:srgbClr val="404040"/>
                </a:solidFill>
                <a:latin typeface="맑은 고딕"/>
                <a:ea typeface="맑은 고딕"/>
                <a:cs typeface="맑은 고딕"/>
              </a:rPr>
              <a:t>- LLM 추론의 attention은 KV(Key/Value) 캐시를 읽어 계산하며, 이기종 메모리 서버에서는 KV가 HBM 외에 HBF, DRAM, SSD, 연산 가능 메모리(ScHBM, CXL-PNM)에 나뉘어 놓임</a:t>
            </a:r>
          </a:p>
          <a:p>
            <a:pPr algn="l">
              <a:spcAft>
                <a:spcPts val="300"/>
              </a:spcAft>
            </a:pPr>
            <a:r>
              <a:rPr sz="1200" b="0">
                <a:solidFill>
                  <a:srgbClr val="404040"/>
                </a:solidFill>
                <a:latin typeface="맑은 고딕"/>
                <a:ea typeface="맑은 고딕"/>
                <a:cs typeface="맑은 고딕"/>
              </a:rPr>
              <a:t>- 연산은 항상 GPU에서 시작하고(QKV 투영, FFN), 옮길 수 있는 것은 attention뿐: 같은 attention을 두 가지 방식으로 실행할 수 있음</a:t>
            </a:r>
          </a:p>
          <a:p>
            <a:pPr algn="l">
              <a:spcAft>
                <a:spcPts val="300"/>
              </a:spcAft>
            </a:pPr>
            <a:r>
              <a:rPr sz="1200" b="0">
                <a:solidFill>
                  <a:srgbClr val="404040"/>
                </a:solidFill>
                <a:latin typeface="맑은 고딕"/>
                <a:ea typeface="맑은 고딕"/>
                <a:cs typeface="맑은 고딕"/>
              </a:rPr>
              <a:t>- 어느 쪽이 유리한지는 새로 처리할 토큰 수(Tq), KV를 읽는 횟수, HBM 여유에 따라 달라짐</a:t>
            </a:r>
          </a:p>
        </p:txBody>
      </p:sp>
      <p:sp>
        <p:nvSpPr>
          <p:cNvPr id="11" name="Rectangle 10"/>
          <p:cNvSpPr/>
          <p:nvPr/>
        </p:nvSpPr>
        <p:spPr>
          <a:xfrm>
            <a:off x="347472" y="1874519"/>
            <a:ext cx="5760720" cy="361188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216151" y="1719072"/>
            <a:ext cx="402336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① 한 노드 안에서 attention을 실행하는 두 방식</a:t>
            </a:r>
          </a:p>
        </p:txBody>
      </p:sp>
      <p:sp>
        <p:nvSpPr>
          <p:cNvPr id="13" name="Rectangle 12"/>
          <p:cNvSpPr/>
          <p:nvPr/>
        </p:nvSpPr>
        <p:spPr>
          <a:xfrm>
            <a:off x="548640" y="2194560"/>
            <a:ext cx="5349240" cy="3154680"/>
          </a:xfrm>
          <a:prstGeom prst="rect">
            <a:avLst/>
          </a:prstGeom>
          <a:solidFill>
            <a:srgbClr val="F0F1F3"/>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212848"/>
            <a:ext cx="1463040" cy="228600"/>
          </a:xfrm>
          <a:prstGeom prst="rect">
            <a:avLst/>
          </a:prstGeom>
          <a:noFill/>
        </p:spPr>
        <p:txBody>
          <a:bodyPr wrap="square" anchor="t" lIns="45720" rIns="45720" tIns="27432" bIns="27432">
            <a:spAutoFit/>
          </a:bodyPr>
          <a:lstStyle/>
          <a:p>
            <a:pPr algn="l">
              <a:spcAft>
                <a:spcPts val="200"/>
              </a:spcAft>
            </a:pPr>
            <a:r>
              <a:rPr sz="900" b="1">
                <a:solidFill>
                  <a:srgbClr val="595959"/>
                </a:solidFill>
                <a:latin typeface="맑은 고딕"/>
                <a:ea typeface="맑은 고딕"/>
                <a:cs typeface="맑은 고딕"/>
              </a:rPr>
              <a:t>서버 노드 (TP8)</a:t>
            </a:r>
          </a:p>
        </p:txBody>
      </p:sp>
      <p:sp>
        <p:nvSpPr>
          <p:cNvPr id="15" name="Rectangle 14"/>
          <p:cNvSpPr/>
          <p:nvPr/>
        </p:nvSpPr>
        <p:spPr>
          <a:xfrm>
            <a:off x="731520" y="2606040"/>
            <a:ext cx="1828800" cy="2011680"/>
          </a:xfrm>
          <a:prstGeom prst="rect">
            <a:avLst/>
          </a:prstGeom>
          <a:solidFill>
            <a:srgbClr val="DEEBF7"/>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200" b="1">
                <a:solidFill>
                  <a:srgbClr val="000000"/>
                </a:solidFill>
                <a:latin typeface="맑은 고딕"/>
                <a:ea typeface="맑은 고딕"/>
                <a:cs typeface="맑은 고딕"/>
              </a:rPr>
              <a:t>GPU</a:t>
            </a:r>
          </a:p>
          <a:p>
            <a:pPr algn="ctr">
              <a:spcAft>
                <a:spcPts val="200"/>
              </a:spcAft>
            </a:pPr>
            <a:r>
              <a:rPr sz="900" b="0">
                <a:solidFill>
                  <a:srgbClr val="000000"/>
                </a:solidFill>
                <a:latin typeface="맑은 고딕"/>
                <a:ea typeface="맑은 고딕"/>
                <a:cs typeface="맑은 고딕"/>
              </a:rPr>
              <a:t>HBM (KV 상주)</a:t>
            </a:r>
          </a:p>
          <a:p>
            <a:pPr algn="ctr">
              <a:spcAft>
                <a:spcPts val="200"/>
              </a:spcAft>
            </a:pPr>
            <a:r>
              <a:rPr sz="900" b="0">
                <a:solidFill>
                  <a:srgbClr val="000000"/>
                </a:solidFill>
                <a:latin typeface="맑은 고딕"/>
                <a:ea typeface="맑은 고딕"/>
                <a:cs typeface="맑은 고딕"/>
              </a:rPr>
              <a:t>QKV 투영 · FFN</a:t>
            </a:r>
          </a:p>
          <a:p>
            <a:pPr algn="ctr">
              <a:spcAft>
                <a:spcPts val="200"/>
              </a:spcAft>
            </a:pPr>
            <a:r>
              <a:rPr sz="900" b="0">
                <a:solidFill>
                  <a:srgbClr val="FF0000"/>
                </a:solidFill>
                <a:latin typeface="맑은 고딕"/>
                <a:ea typeface="맑은 고딕"/>
                <a:cs typeface="맑은 고딕"/>
              </a:rPr>
              <a:t>→ 항상 GPU</a:t>
            </a:r>
          </a:p>
        </p:txBody>
      </p:sp>
      <p:sp>
        <p:nvSpPr>
          <p:cNvPr id="16" name="Rectangle 15"/>
          <p:cNvSpPr/>
          <p:nvPr/>
        </p:nvSpPr>
        <p:spPr>
          <a:xfrm>
            <a:off x="731520" y="4709160"/>
            <a:ext cx="1828800" cy="457200"/>
          </a:xfrm>
          <a:prstGeom prst="rect">
            <a:avLst/>
          </a:prstGeom>
          <a:solidFill>
            <a:srgbClr val="FFFFFF"/>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000" b="1">
                <a:solidFill>
                  <a:srgbClr val="000000"/>
                </a:solidFill>
                <a:latin typeface="맑은 고딕"/>
                <a:ea typeface="맑은 고딕"/>
                <a:cs typeface="맑은 고딕"/>
              </a:rPr>
              <a:t>GPU attention</a:t>
            </a:r>
          </a:p>
        </p:txBody>
      </p:sp>
      <p:sp>
        <p:nvSpPr>
          <p:cNvPr id="17" name="Rectangle 16"/>
          <p:cNvSpPr/>
          <p:nvPr/>
        </p:nvSpPr>
        <p:spPr>
          <a:xfrm>
            <a:off x="3931920" y="2560320"/>
            <a:ext cx="1828800" cy="420624"/>
          </a:xfrm>
          <a:prstGeom prst="rect">
            <a:avLst/>
          </a:prstGeom>
          <a:solidFill>
            <a:srgbClr val="E2F0D9"/>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950" b="1">
                <a:solidFill>
                  <a:srgbClr val="000000"/>
                </a:solidFill>
                <a:latin typeface="맑은 고딕"/>
                <a:ea typeface="맑은 고딕"/>
                <a:cs typeface="맑은 고딕"/>
              </a:rPr>
              <a:t>ScHBM  (연산 가능)</a:t>
            </a:r>
          </a:p>
        </p:txBody>
      </p:sp>
      <p:sp>
        <p:nvSpPr>
          <p:cNvPr id="18" name="Rectangle 17"/>
          <p:cNvSpPr/>
          <p:nvPr/>
        </p:nvSpPr>
        <p:spPr>
          <a:xfrm>
            <a:off x="3931920" y="3090672"/>
            <a:ext cx="1828800" cy="420624"/>
          </a:xfrm>
          <a:prstGeom prst="rect">
            <a:avLst/>
          </a:prstGeom>
          <a:solidFill>
            <a:srgbClr val="E2F0D9"/>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950" b="1">
                <a:solidFill>
                  <a:srgbClr val="000000"/>
                </a:solidFill>
                <a:latin typeface="맑은 고딕"/>
                <a:ea typeface="맑은 고딕"/>
                <a:cs typeface="맑은 고딕"/>
              </a:rPr>
              <a:t>CXL-PNM  (연산 가능)</a:t>
            </a:r>
          </a:p>
        </p:txBody>
      </p:sp>
      <p:sp>
        <p:nvSpPr>
          <p:cNvPr id="19" name="Rectangle 18"/>
          <p:cNvSpPr/>
          <p:nvPr/>
        </p:nvSpPr>
        <p:spPr>
          <a:xfrm>
            <a:off x="3931920" y="3621024"/>
            <a:ext cx="1828800" cy="420624"/>
          </a:xfrm>
          <a:prstGeom prst="rect">
            <a:avLst/>
          </a:prstGeom>
          <a:solidFill>
            <a:srgbClr val="FBE5D6"/>
          </a:solidFill>
          <a:ln w="1016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950" b="1">
                <a:solidFill>
                  <a:srgbClr val="000000"/>
                </a:solidFill>
                <a:latin typeface="맑은 고딕"/>
                <a:ea typeface="맑은 고딕"/>
                <a:cs typeface="맑은 고딕"/>
              </a:rPr>
              <a:t>HBF  (GPU 직접 읽기)</a:t>
            </a:r>
          </a:p>
        </p:txBody>
      </p:sp>
      <p:sp>
        <p:nvSpPr>
          <p:cNvPr id="20" name="Rectangle 19"/>
          <p:cNvSpPr/>
          <p:nvPr/>
        </p:nvSpPr>
        <p:spPr>
          <a:xfrm>
            <a:off x="3931920" y="4151375"/>
            <a:ext cx="1828800" cy="420624"/>
          </a:xfrm>
          <a:prstGeom prst="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950" b="1">
                <a:solidFill>
                  <a:srgbClr val="000000"/>
                </a:solidFill>
                <a:latin typeface="맑은 고딕"/>
                <a:ea typeface="맑은 고딕"/>
                <a:cs typeface="맑은 고딕"/>
              </a:rPr>
              <a:t>DRAM</a:t>
            </a:r>
          </a:p>
        </p:txBody>
      </p:sp>
      <p:sp>
        <p:nvSpPr>
          <p:cNvPr id="21" name="Rectangle 20"/>
          <p:cNvSpPr/>
          <p:nvPr/>
        </p:nvSpPr>
        <p:spPr>
          <a:xfrm>
            <a:off x="3931920" y="4681727"/>
            <a:ext cx="1828800" cy="420624"/>
          </a:xfrm>
          <a:prstGeom prst="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950" b="1">
                <a:solidFill>
                  <a:srgbClr val="000000"/>
                </a:solidFill>
                <a:latin typeface="맑은 고딕"/>
                <a:ea typeface="맑은 고딕"/>
                <a:cs typeface="맑은 고딕"/>
              </a:rPr>
              <a:t>SSD-PIM</a:t>
            </a:r>
          </a:p>
        </p:txBody>
      </p:sp>
      <p:cxnSp>
        <p:nvCxnSpPr>
          <p:cNvPr id="22" name="Connector 21"/>
          <p:cNvCxnSpPr/>
          <p:nvPr/>
        </p:nvCxnSpPr>
        <p:spPr>
          <a:xfrm flipH="1" flipV="1">
            <a:off x="2560320" y="3246120"/>
            <a:ext cx="1371600" cy="265176"/>
          </a:xfrm>
          <a:prstGeom prst="line">
            <a:avLst/>
          </a:prstGeom>
          <a:ln w="25400">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560320" y="3310128"/>
            <a:ext cx="1371600" cy="457200"/>
          </a:xfrm>
          <a:prstGeom prst="rect">
            <a:avLst/>
          </a:prstGeom>
          <a:noFill/>
        </p:spPr>
        <p:txBody>
          <a:bodyPr wrap="square" anchor="t" lIns="45720" rIns="45720" tIns="27432" bIns="27432">
            <a:spAutoFit/>
          </a:bodyPr>
          <a:lstStyle/>
          <a:p>
            <a:pPr algn="l">
              <a:spcAft>
                <a:spcPts val="200"/>
              </a:spcAft>
            </a:pPr>
            <a:r>
              <a:rPr sz="950" b="1">
                <a:solidFill>
                  <a:srgbClr val="C55A11"/>
                </a:solidFill>
                <a:latin typeface="맑은 고딕"/>
                <a:ea typeface="맑은 고딕"/>
                <a:cs typeface="맑은 고딕"/>
              </a:rPr>
              <a:t>① GPU_STAGE</a:t>
            </a:r>
          </a:p>
          <a:p>
            <a:pPr algn="l">
              <a:spcAft>
                <a:spcPts val="200"/>
              </a:spcAft>
            </a:pPr>
            <a:r>
              <a:rPr sz="850" b="0">
                <a:solidFill>
                  <a:srgbClr val="C55A11"/>
                </a:solidFill>
                <a:latin typeface="맑은 고딕"/>
                <a:ea typeface="맑은 고딕"/>
                <a:cs typeface="맑은 고딕"/>
              </a:rPr>
              <a:t>KV를 HBM으로 이동</a:t>
            </a:r>
          </a:p>
        </p:txBody>
      </p:sp>
      <p:cxnSp>
        <p:nvCxnSpPr>
          <p:cNvPr id="24" name="Connector 23"/>
          <p:cNvCxnSpPr/>
          <p:nvPr/>
        </p:nvCxnSpPr>
        <p:spPr>
          <a:xfrm>
            <a:off x="2560320" y="2743200"/>
            <a:ext cx="1371600" cy="0"/>
          </a:xfrm>
          <a:prstGeom prst="line">
            <a:avLst/>
          </a:prstGeom>
          <a:ln w="25400">
            <a:solidFill>
              <a:srgbClr val="548235"/>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560320" y="2907792"/>
            <a:ext cx="1371600" cy="0"/>
          </a:xfrm>
          <a:prstGeom prst="line">
            <a:avLst/>
          </a:prstGeom>
          <a:ln w="25400">
            <a:solidFill>
              <a:srgbClr val="548235"/>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395728" y="2212848"/>
            <a:ext cx="1600200" cy="548640"/>
          </a:xfrm>
          <a:prstGeom prst="rect">
            <a:avLst/>
          </a:prstGeom>
          <a:noFill/>
        </p:spPr>
        <p:txBody>
          <a:bodyPr wrap="square" anchor="t" lIns="45720" rIns="45720" tIns="27432" bIns="27432">
            <a:spAutoFit/>
          </a:bodyPr>
          <a:lstStyle/>
          <a:p>
            <a:pPr algn="l">
              <a:spcAft>
                <a:spcPts val="0"/>
              </a:spcAft>
            </a:pPr>
            <a:r>
              <a:rPr sz="950" b="1">
                <a:solidFill>
                  <a:srgbClr val="548235"/>
                </a:solidFill>
                <a:latin typeface="맑은 고딕"/>
                <a:ea typeface="맑은 고딕"/>
                <a:cs typeface="맑은 고딕"/>
              </a:rPr>
              <a:t>② IN_SITU</a:t>
            </a:r>
          </a:p>
          <a:p>
            <a:pPr algn="l">
              <a:spcAft>
                <a:spcPts val="0"/>
              </a:spcAft>
            </a:pPr>
            <a:r>
              <a:rPr sz="800" b="0">
                <a:solidFill>
                  <a:srgbClr val="548235"/>
                </a:solidFill>
                <a:latin typeface="맑은 고딕"/>
                <a:ea typeface="맑은 고딕"/>
                <a:cs typeface="맑은 고딕"/>
              </a:rPr>
              <a:t>q 전송 → Tier에서 실행</a:t>
            </a:r>
          </a:p>
          <a:p>
            <a:pPr algn="l">
              <a:spcAft>
                <a:spcPts val="0"/>
              </a:spcAft>
            </a:pPr>
            <a:r>
              <a:rPr sz="800" b="0">
                <a:solidFill>
                  <a:srgbClr val="548235"/>
                </a:solidFill>
                <a:latin typeface="맑은 고딕"/>
                <a:ea typeface="맑은 고딕"/>
                <a:cs typeface="맑은 고딕"/>
              </a:rPr>
              <a:t>→ (m,l,o) 반환</a:t>
            </a:r>
          </a:p>
        </p:txBody>
      </p:sp>
      <p:sp>
        <p:nvSpPr>
          <p:cNvPr id="27" name="TextBox 26"/>
          <p:cNvSpPr txBox="1"/>
          <p:nvPr/>
        </p:nvSpPr>
        <p:spPr>
          <a:xfrm>
            <a:off x="566928" y="5349240"/>
            <a:ext cx="5394960" cy="365760"/>
          </a:xfrm>
          <a:prstGeom prst="rect">
            <a:avLst/>
          </a:prstGeom>
          <a:noFill/>
        </p:spPr>
        <p:txBody>
          <a:bodyPr wrap="square" anchor="t" lIns="45720" rIns="45720" tIns="27432" bIns="27432">
            <a:spAutoFit/>
          </a:bodyPr>
          <a:lstStyle/>
          <a:p>
            <a:pPr algn="l">
              <a:spcAft>
                <a:spcPts val="200"/>
              </a:spcAft>
            </a:pPr>
            <a:r>
              <a:rPr sz="850" b="0">
                <a:solidFill>
                  <a:srgbClr val="7F7F7F"/>
                </a:solidFill>
                <a:latin typeface="맑은 고딕"/>
                <a:ea typeface="맑은 고딕"/>
                <a:cs typeface="맑은 고딕"/>
              </a:rPr>
              <a:t>두 결과는 log-sum-exp로 병합. 병합 kernel은 주어진 것으로 가정(GC-5, 확인 필요)</a:t>
            </a:r>
          </a:p>
        </p:txBody>
      </p:sp>
      <p:sp>
        <p:nvSpPr>
          <p:cNvPr id="28" name="Rectangle 27"/>
          <p:cNvSpPr/>
          <p:nvPr/>
        </p:nvSpPr>
        <p:spPr>
          <a:xfrm>
            <a:off x="6309360" y="1874519"/>
            <a:ext cx="5486400" cy="361188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680960" y="1719072"/>
            <a:ext cx="274320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② 무엇이 이동 비용을 가르나</a:t>
            </a:r>
          </a:p>
        </p:txBody>
      </p:sp>
      <p:graphicFrame>
        <p:nvGraphicFramePr>
          <p:cNvPr id="30" name="Table 29"/>
          <p:cNvGraphicFramePr>
            <a:graphicFrameLocks noGrp="1"/>
          </p:cNvGraphicFramePr>
          <p:nvPr/>
        </p:nvGraphicFramePr>
        <p:xfrm>
          <a:off x="6400800" y="2148840"/>
          <a:ext cx="5303519" cy="2377440"/>
        </p:xfrm>
        <a:graphic>
          <a:graphicData uri="http://schemas.openxmlformats.org/drawingml/2006/table">
            <a:tbl>
              <a:tblPr firstRow="0" bandRow="0">
                <a:tableStyleId>{2D5ABB26-0587-4C30-8999-92F81FD0307C}</a:tableStyleId>
              </a:tblPr>
              <a:tblGrid>
                <a:gridCol w="1508760"/>
                <a:gridCol w="1874519"/>
                <a:gridCol w="1920240"/>
              </a:tblGrid>
              <a:tr h="274320">
                <a:tc>
                  <a:txBody>
                    <a:bodyPr wrap="square"/>
                    <a:lstStyle/>
                    <a:p>
                      <a:pPr algn="ctr">
                        <a:spcAft>
                          <a:spcPts val="100"/>
                        </a:spcAft>
                      </a:pPr>
                      <a:r>
                        <a:rPr sz="1000" b="0">
                          <a:solidFill>
                            <a:srgbClr val="7F7F7F"/>
                          </a:solidFill>
                          <a:latin typeface="맑은 고딕"/>
                          <a:ea typeface="맑은 고딕"/>
                          <a:cs typeface="맑은 고딕"/>
                        </a:rPr>
                        <a:t>구분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1000" b="1">
                          <a:solidFill>
                            <a:srgbClr val="7F7F7F"/>
                          </a:solidFill>
                          <a:latin typeface="맑은 고딕"/>
                          <a:ea typeface="맑은 고딕"/>
                          <a:cs typeface="맑은 고딕"/>
                        </a:rPr>
                        <a:t>Prefill 쪽 (Tq 큼)</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1000" b="1">
                          <a:solidFill>
                            <a:srgbClr val="7F7F7F"/>
                          </a:solidFill>
                          <a:latin typeface="맑은 고딕"/>
                          <a:ea typeface="맑은 고딕"/>
                          <a:cs typeface="맑은 고딕"/>
                        </a:rPr>
                        <a:t>Decode 쪽 (Tq = 1)</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02920">
                <a:tc>
                  <a:txBody>
                    <a:bodyPr wrap="square"/>
                    <a:lstStyle/>
                    <a:p>
                      <a:pPr algn="ctr">
                        <a:spcAft>
                          <a:spcPts val="100"/>
                        </a:spcAft>
                      </a:pPr>
                      <a:r>
                        <a:rPr sz="900" b="0">
                          <a:solidFill>
                            <a:srgbClr val="7F7F7F"/>
                          </a:solidFill>
                          <a:latin typeface="맑은 고딕"/>
                          <a:ea typeface="맑은 고딕"/>
                          <a:cs typeface="맑은 고딕"/>
                        </a:rPr>
                        <a:t>attention 연산 강도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약 Tq × 8 FLOP/byte (compute-bound)</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약 8 FLOP/byte (memory-bound)</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65760">
                <a:tc>
                  <a:txBody>
                    <a:bodyPr wrap="square"/>
                    <a:lstStyle/>
                    <a:p>
                      <a:pPr algn="ctr">
                        <a:spcAft>
                          <a:spcPts val="100"/>
                        </a:spcAft>
                      </a:pPr>
                      <a:r>
                        <a:rPr sz="900" b="0">
                          <a:solidFill>
                            <a:srgbClr val="7F7F7F"/>
                          </a:solidFill>
                          <a:latin typeface="맑은 고딕"/>
                          <a:ea typeface="맑은 고딕"/>
                          <a:cs typeface="맑은 고딕"/>
                        </a:rPr>
                        <a:t>KV를 읽는 횟수</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1회</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출력 길이만큼 반복</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85800">
                <a:tc>
                  <a:txBody>
                    <a:bodyPr wrap="square"/>
                    <a:lstStyle/>
                    <a:p>
                      <a:pPr algn="ctr">
                        <a:spcAft>
                          <a:spcPts val="100"/>
                        </a:spcAft>
                      </a:pPr>
                      <a:r>
                        <a:rPr sz="900" b="0">
                          <a:solidFill>
                            <a:srgbClr val="7F7F7F"/>
                          </a:solidFill>
                          <a:latin typeface="맑은 고딕"/>
                          <a:ea typeface="맑은 고딕"/>
                          <a:cs typeface="맑은 고딕"/>
                        </a:rPr>
                        <a:t>제자리(IN_SITU) 실행</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FLOPs가 커 불리 (Tq가 클 때 연산 가능 메모리가 GPU를 못 따라감)</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대역폭이 큰 Tier에서 유리</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gn="ctr">
                        <a:spcAft>
                          <a:spcPts val="100"/>
                        </a:spcAft>
                      </a:pPr>
                      <a:r>
                        <a:rPr sz="900" b="0">
                          <a:solidFill>
                            <a:srgbClr val="7F7F7F"/>
                          </a:solidFill>
                          <a:latin typeface="맑은 고딕"/>
                          <a:ea typeface="맑은 고딕"/>
                          <a:cs typeface="맑은 고딕"/>
                        </a:rPr>
                        <a:t>끌어오기(GPU_STAGE)</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한 번 이동하면 끝</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이동 비용을 반복 횟수로 상각해야 함</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31" name="TextBox 30"/>
          <p:cNvSpPr txBox="1"/>
          <p:nvPr/>
        </p:nvSpPr>
        <p:spPr>
          <a:xfrm>
            <a:off x="6400800" y="4846320"/>
            <a:ext cx="5303520" cy="594360"/>
          </a:xfrm>
          <a:prstGeom prst="rect">
            <a:avLst/>
          </a:prstGeom>
          <a:noFill/>
        </p:spPr>
        <p:txBody>
          <a:bodyPr wrap="square" anchor="t" lIns="45720" rIns="45720" tIns="27432" bIns="27432">
            <a:spAutoFit/>
          </a:bodyPr>
          <a:lstStyle/>
          <a:p>
            <a:pPr algn="l">
              <a:spcAft>
                <a:spcPts val="200"/>
              </a:spcAft>
            </a:pPr>
            <a:r>
              <a:rPr sz="950" b="0">
                <a:solidFill>
                  <a:srgbClr val="FF0000"/>
                </a:solidFill>
                <a:latin typeface="맑은 고딕"/>
                <a:ea typeface="맑은 고딕"/>
                <a:cs typeface="맑은 고딕"/>
              </a:rPr>
              <a:t>128K 컨텍스트 KV ≈ 43GB → PCIe 64 GB/s에서 ≈ 0.67 s  [추정: Llama-3.1-70B, GQA 8, 80 layer]</a:t>
            </a:r>
          </a:p>
          <a:p>
            <a:pPr algn="l">
              <a:spcAft>
                <a:spcPts val="200"/>
              </a:spcAft>
            </a:pPr>
            <a:r>
              <a:rPr sz="950" b="0">
                <a:solidFill>
                  <a:srgbClr val="404040"/>
                </a:solidFill>
                <a:latin typeface="맑은 고딕"/>
                <a:ea typeface="맑은 고딕"/>
                <a:cs typeface="맑은 고딕"/>
              </a:rPr>
              <a:t>동시 요청이 많으면 이 이동이 HBM 용량·쓰기 대역폭·링크를 함께 소모함</a:t>
            </a:r>
          </a:p>
        </p:txBody>
      </p:sp>
      <p:sp>
        <p:nvSpPr>
          <p:cNvPr id="32" name="Right Arrow 31"/>
          <p:cNvSpPr/>
          <p:nvPr/>
        </p:nvSpPr>
        <p:spPr>
          <a:xfrm>
            <a:off x="283464" y="5669280"/>
            <a:ext cx="411480" cy="274320"/>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650992"/>
            <a:ext cx="11155680" cy="310896"/>
          </a:xfrm>
          <a:prstGeom prst="rect">
            <a:avLst/>
          </a:prstGeom>
          <a:noFill/>
        </p:spPr>
        <p:txBody>
          <a:bodyPr wrap="square" anchor="ctr" lIns="45720" rIns="45720" tIns="27432" bIns="27432">
            <a:spAutoFit/>
          </a:bodyPr>
          <a:lstStyle/>
          <a:p>
            <a:pPr algn="l">
              <a:spcAft>
                <a:spcPts val="200"/>
              </a:spcAft>
            </a:pPr>
            <a:r>
              <a:rPr sz="1200" b="1">
                <a:solidFill>
                  <a:srgbClr val="0066FF"/>
                </a:solidFill>
                <a:latin typeface="맑은 고딕"/>
                <a:ea typeface="맑은 고딕"/>
                <a:cs typeface="맑은 고딕"/>
              </a:rPr>
              <a:t>KV를 HBM으로 끌어올지(GPU_STAGE), KV가 있는 곳에서 실행할지(IN_SITU)는 Tq, 재사용 횟수, HBM 여유가 가름</a:t>
            </a:r>
          </a:p>
        </p:txBody>
      </p:sp>
      <p:sp>
        <p:nvSpPr>
          <p:cNvPr id="34" name="TextBox 33"/>
          <p:cNvSpPr txBox="1"/>
          <p:nvPr/>
        </p:nvSpPr>
        <p:spPr>
          <a:xfrm>
            <a:off x="384048" y="5980176"/>
            <a:ext cx="11430000" cy="548640"/>
          </a:xfrm>
          <a:prstGeom prst="rect">
            <a:avLst/>
          </a:prstGeom>
          <a:noFill/>
        </p:spPr>
        <p:txBody>
          <a:bodyPr wrap="square" anchor="t" lIns="45720" rIns="45720" tIns="27432" bIns="27432">
            <a:spAutoFit/>
          </a:bodyPr>
          <a:lstStyle/>
          <a:p>
            <a:pPr algn="l">
              <a:spcAft>
                <a:spcPts val="100"/>
              </a:spcAft>
            </a:pPr>
            <a:r>
              <a:rPr sz="1100" b="1">
                <a:solidFill>
                  <a:srgbClr val="000000"/>
                </a:solidFill>
                <a:latin typeface="맑은 고딕"/>
                <a:ea typeface="맑은 고딕"/>
                <a:cs typeface="맑은 고딕"/>
              </a:rPr>
              <a:t>수치는 가정을 붙인 추정이며 시뮬레이션 기반(GC-1). 지원 연산은 attention 계열뿐(GC-5)</a:t>
            </a:r>
          </a:p>
        </p:txBody>
      </p:sp>
      <p:sp>
        <p:nvSpPr>
          <p:cNvPr id="35" name="TextBox 34"/>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DP2. 노드 내 Attention 실행 위치 결정 구조 - 배경 (2/2)</a:t>
            </a:r>
          </a:p>
        </p:txBody>
      </p:sp>
      <p:sp>
        <p:nvSpPr>
          <p:cNvPr id="3" name="Chevron 2"/>
          <p:cNvSpPr/>
          <p:nvPr/>
        </p:nvSpPr>
        <p:spPr>
          <a:xfrm>
            <a:off x="752276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 y="667512"/>
            <a:ext cx="11612880" cy="914400"/>
          </a:xfrm>
          <a:prstGeom prst="rect">
            <a:avLst/>
          </a:prstGeom>
          <a:noFill/>
        </p:spPr>
        <p:txBody>
          <a:bodyPr wrap="square" anchor="t" lIns="45720" rIns="45720" tIns="27432" bIns="27432">
            <a:spAutoFit/>
          </a:bodyPr>
          <a:lstStyle/>
          <a:p>
            <a:pPr algn="l">
              <a:spcAft>
                <a:spcPts val="300"/>
              </a:spcAft>
            </a:pPr>
            <a:r>
              <a:rPr sz="1200" b="0">
                <a:solidFill>
                  <a:srgbClr val="404040"/>
                </a:solidFill>
                <a:latin typeface="맑은 고딕"/>
                <a:ea typeface="맑은 고딕"/>
                <a:cs typeface="맑은 고딕"/>
              </a:rPr>
              <a:t>- 멀티턴 agent는 세션마다 긴 History KV를 남기고, 같은 서버에 동시 요청이 몰리면 HBM이 병목이 됨 (HBM Pressure)</a:t>
            </a:r>
          </a:p>
          <a:p>
            <a:pPr algn="l">
              <a:spcAft>
                <a:spcPts val="300"/>
              </a:spcAft>
            </a:pPr>
            <a:r>
              <a:rPr sz="1200" b="0">
                <a:solidFill>
                  <a:srgbClr val="404040"/>
                </a:solidFill>
                <a:latin typeface="맑은 고딕"/>
                <a:ea typeface="맑은 고딕"/>
                <a:cs typeface="맑은 고딕"/>
              </a:rPr>
              <a:t>- 모든 attention을 GPU(HBM)에서 하는 As-Is는 KV를 HBM으로 끌어오느라 다른 세션을 축출하고 링크를 소모함 → 부하가 늘수록 처리량이 급락</a:t>
            </a:r>
          </a:p>
          <a:p>
            <a:pPr algn="l">
              <a:spcAft>
                <a:spcPts val="300"/>
              </a:spcAft>
            </a:pPr>
            <a:r>
              <a:rPr sz="1200" b="0">
                <a:solidFill>
                  <a:srgbClr val="404040"/>
                </a:solidFill>
                <a:latin typeface="맑은 고딕"/>
                <a:ea typeface="맑은 고딕"/>
                <a:cs typeface="맑은 고딕"/>
              </a:rPr>
              <a:t>- 연산 가능 메모리는 HBM과 병렬로 attention을 할 수 있어, KV가 있는 곳에서 실행하면 HBM 점유와 이동을 함께 줄일 수 있음</a:t>
            </a:r>
          </a:p>
        </p:txBody>
      </p:sp>
      <p:sp>
        <p:nvSpPr>
          <p:cNvPr id="11" name="Rectangle 10"/>
          <p:cNvSpPr/>
          <p:nvPr/>
        </p:nvSpPr>
        <p:spPr>
          <a:xfrm>
            <a:off x="347472" y="1874519"/>
            <a:ext cx="5760720" cy="361188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81912" y="1719072"/>
            <a:ext cx="329184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As-Is: 모든 attention을 GPU(HBM)에서</a:t>
            </a:r>
          </a:p>
        </p:txBody>
      </p:sp>
      <p:graphicFrame>
        <p:nvGraphicFramePr>
          <p:cNvPr id="13" name="Chart 12"/>
          <p:cNvGraphicFramePr>
            <a:graphicFrameLocks noGrp="1"/>
          </p:cNvGraphicFramePr>
          <p:nvPr/>
        </p:nvGraphicFramePr>
        <p:xfrm>
          <a:off x="502920" y="2194560"/>
          <a:ext cx="3429000" cy="2743200"/>
        </p:xfrm>
        <a:graphic>
          <a:graphicData uri="http://schemas.openxmlformats.org/drawingml/2006/chart">
            <c:chart xmlns:c="http://schemas.openxmlformats.org/drawingml/2006/chart" r:id="rId2"/>
          </a:graphicData>
        </a:graphic>
      </p:graphicFrame>
      <p:sp>
        <p:nvSpPr>
          <p:cNvPr id="14" name="TextBox 13"/>
          <p:cNvSpPr txBox="1"/>
          <p:nvPr/>
        </p:nvSpPr>
        <p:spPr>
          <a:xfrm>
            <a:off x="4023360" y="2286000"/>
            <a:ext cx="2011680" cy="2651760"/>
          </a:xfrm>
          <a:prstGeom prst="rect">
            <a:avLst/>
          </a:prstGeom>
          <a:noFill/>
        </p:spPr>
        <p:txBody>
          <a:bodyPr wrap="square" anchor="t" lIns="45720" rIns="45720" tIns="27432" bIns="27432">
            <a:spAutoFit/>
          </a:bodyPr>
          <a:lstStyle/>
          <a:p>
            <a:pPr algn="l">
              <a:spcAft>
                <a:spcPts val="200"/>
              </a:spcAft>
            </a:pPr>
            <a:r>
              <a:rPr sz="1000" b="1">
                <a:solidFill>
                  <a:srgbClr val="FF0000"/>
                </a:solidFill>
                <a:latin typeface="맑은 고딕"/>
                <a:ea typeface="맑은 고딕"/>
                <a:cs typeface="맑은 고딕"/>
              </a:rPr>
              <a:t>HBM 부족 시</a:t>
            </a:r>
          </a:p>
          <a:p>
            <a:pPr algn="l">
              <a:spcAft>
                <a:spcPts val="200"/>
              </a:spcAft>
            </a:pPr>
            <a:r>
              <a:rPr sz="950" b="0">
                <a:solidFill>
                  <a:srgbClr val="404040"/>
                </a:solidFill>
                <a:latin typeface="맑은 고딕"/>
                <a:ea typeface="맑은 고딕"/>
                <a:cs typeface="맑은 고딕"/>
              </a:rPr>
              <a:t>idle 세션 축출(demotion)</a:t>
            </a:r>
          </a:p>
          <a:p>
            <a:pPr algn="l">
              <a:spcAft>
                <a:spcPts val="200"/>
              </a:spcAft>
            </a:pPr>
            <a:r>
              <a:rPr sz="950" b="0">
                <a:solidFill>
                  <a:srgbClr val="404040"/>
                </a:solidFill>
                <a:latin typeface="맑은 고딕"/>
                <a:ea typeface="맑은 고딕"/>
                <a:cs typeface="맑은 고딕"/>
              </a:rPr>
              <a:t>History swap-in 반복</a:t>
            </a:r>
          </a:p>
          <a:p>
            <a:pPr algn="l">
              <a:spcAft>
                <a:spcPts val="200"/>
              </a:spcAft>
            </a:pPr>
            <a:r>
              <a:rPr sz="950" b="0">
                <a:solidFill>
                  <a:srgbClr val="404040"/>
                </a:solidFill>
                <a:latin typeface="맑은 고딕"/>
                <a:ea typeface="맑은 고딕"/>
                <a:cs typeface="맑은 고딕"/>
              </a:rPr>
              <a:t>링크·HBM 쓰기 소모</a:t>
            </a:r>
          </a:p>
          <a:p>
            <a:pPr algn="l">
              <a:spcAft>
                <a:spcPts val="200"/>
              </a:spcAft>
            </a:pPr>
            <a:r>
              <a:rPr sz="950" b="0">
                <a:solidFill>
                  <a:srgbClr val="404040"/>
                </a:solidFill>
                <a:latin typeface="맑은 고딕"/>
                <a:ea typeface="맑은 고딕"/>
                <a:cs typeface="맑은 고딕"/>
              </a:rPr>
              <a:t>→ 일정 부하 이후 goodput 급락</a:t>
            </a:r>
          </a:p>
          <a:p>
            <a:pPr algn="l">
              <a:spcAft>
                <a:spcPts val="200"/>
              </a:spcAft>
            </a:pPr>
            <a:r>
              <a:rPr sz="800" b="0">
                <a:solidFill>
                  <a:srgbClr val="7F7F7F"/>
                </a:solidFill>
                <a:latin typeface="맑은 고딕"/>
                <a:ea typeface="맑은 고딕"/>
                <a:cs typeface="맑은 고딕"/>
              </a:rPr>
              <a:t>SYS-H100, 1 노드 기준 (Baseline 제어 실행, seed 11/23 평균)</a:t>
            </a:r>
          </a:p>
        </p:txBody>
      </p:sp>
      <p:sp>
        <p:nvSpPr>
          <p:cNvPr id="15" name="TextBox 14"/>
          <p:cNvSpPr txBox="1"/>
          <p:nvPr/>
        </p:nvSpPr>
        <p:spPr>
          <a:xfrm>
            <a:off x="502920" y="4983480"/>
            <a:ext cx="5394960" cy="457200"/>
          </a:xfrm>
          <a:prstGeom prst="rect">
            <a:avLst/>
          </a:prstGeom>
          <a:noFill/>
        </p:spPr>
        <p:txBody>
          <a:bodyPr wrap="square" anchor="t" lIns="45720" rIns="45720" tIns="27432" bIns="27432">
            <a:spAutoFit/>
          </a:bodyPr>
          <a:lstStyle/>
          <a:p>
            <a:pPr algn="l">
              <a:spcAft>
                <a:spcPts val="200"/>
              </a:spcAft>
            </a:pPr>
            <a:r>
              <a:rPr sz="800" b="0">
                <a:solidFill>
                  <a:srgbClr val="7F7F7F"/>
                </a:solidFill>
                <a:latin typeface="맑은 고딕"/>
                <a:ea typeface="맑은 고딕"/>
                <a:cs typeface="맑은 고딕"/>
              </a:rPr>
              <a:t>출처: results/data/arch/control_baseline.json (시뮬레이션 [B+C])</a:t>
            </a:r>
          </a:p>
        </p:txBody>
      </p:sp>
      <p:sp>
        <p:nvSpPr>
          <p:cNvPr id="16" name="Rectangle 15"/>
          <p:cNvSpPr/>
          <p:nvPr/>
        </p:nvSpPr>
        <p:spPr>
          <a:xfrm>
            <a:off x="6309360" y="1874519"/>
            <a:ext cx="5486400" cy="361188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49440" y="1719072"/>
            <a:ext cx="420624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To-Be: Turn 시작 시 KV 구간별 실행 위치 결정</a:t>
            </a:r>
          </a:p>
        </p:txBody>
      </p:sp>
      <p:sp>
        <p:nvSpPr>
          <p:cNvPr id="18" name="Rectangle 17"/>
          <p:cNvSpPr/>
          <p:nvPr/>
        </p:nvSpPr>
        <p:spPr>
          <a:xfrm>
            <a:off x="6492240" y="2240280"/>
            <a:ext cx="2011680" cy="731520"/>
          </a:xfrm>
          <a:prstGeom prst="rect">
            <a:avLst/>
          </a:prstGeom>
          <a:solidFill>
            <a:srgbClr val="F0F1F3"/>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000" b="1">
                <a:solidFill>
                  <a:srgbClr val="000000"/>
                </a:solidFill>
                <a:latin typeface="맑은 고딕"/>
                <a:ea typeface="맑은 고딕"/>
                <a:cs typeface="맑은 고딕"/>
              </a:rPr>
              <a:t>Turn 시작</a:t>
            </a:r>
          </a:p>
          <a:p>
            <a:pPr algn="ctr">
              <a:spcAft>
                <a:spcPts val="200"/>
              </a:spcAft>
            </a:pPr>
            <a:r>
              <a:rPr sz="850" b="0">
                <a:solidFill>
                  <a:srgbClr val="000000"/>
                </a:solidFill>
                <a:latin typeface="맑은 고딕"/>
                <a:ea typeface="맑은 고딕"/>
                <a:cs typeface="맑은 고딕"/>
              </a:rPr>
              <a:t>요청 + KV 위치 (DP1 배치)</a:t>
            </a:r>
          </a:p>
        </p:txBody>
      </p:sp>
      <p:sp>
        <p:nvSpPr>
          <p:cNvPr id="19" name="Rectangle 18"/>
          <p:cNvSpPr/>
          <p:nvPr/>
        </p:nvSpPr>
        <p:spPr>
          <a:xfrm>
            <a:off x="9052560" y="2194560"/>
            <a:ext cx="2560320" cy="822960"/>
          </a:xfrm>
          <a:prstGeom prst="rect">
            <a:avLst/>
          </a:prstGeom>
          <a:solidFill>
            <a:srgbClr val="DEEBF7"/>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100" b="1">
                <a:solidFill>
                  <a:srgbClr val="2E75B6"/>
                </a:solidFill>
                <a:latin typeface="맑은 고딕"/>
                <a:ea typeface="맑은 고딕"/>
                <a:cs typeface="맑은 고딕"/>
              </a:rPr>
              <a:t>실행 위치 결정</a:t>
            </a:r>
          </a:p>
          <a:p>
            <a:pPr algn="ctr">
              <a:spcAft>
                <a:spcPts val="200"/>
              </a:spcAft>
            </a:pPr>
            <a:r>
              <a:rPr sz="950" b="0">
                <a:solidFill>
                  <a:srgbClr val="000000"/>
                </a:solidFill>
                <a:latin typeface="맑은 고딕"/>
                <a:ea typeface="맑은 고딕"/>
                <a:cs typeface="맑은 고딕"/>
              </a:rPr>
              <a:t>GPU_STAGE | IN_SITU(tier)</a:t>
            </a:r>
          </a:p>
          <a:p>
            <a:pPr algn="ctr">
              <a:spcAft>
                <a:spcPts val="200"/>
              </a:spcAft>
            </a:pPr>
            <a:r>
              <a:rPr sz="850" b="0">
                <a:solidFill>
                  <a:srgbClr val="FF0000"/>
                </a:solidFill>
                <a:latin typeface="맑은 고딕"/>
                <a:ea typeface="맑은 고딕"/>
                <a:cs typeface="맑은 고딕"/>
              </a:rPr>
              <a:t>결정 구조가 설계 대상</a:t>
            </a:r>
          </a:p>
        </p:txBody>
      </p:sp>
      <p:cxnSp>
        <p:nvCxnSpPr>
          <p:cNvPr id="20" name="Connector 19"/>
          <p:cNvCxnSpPr/>
          <p:nvPr/>
        </p:nvCxnSpPr>
        <p:spPr>
          <a:xfrm>
            <a:off x="8503920" y="2606040"/>
            <a:ext cx="548640" cy="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492240" y="3383280"/>
            <a:ext cx="2468880" cy="822960"/>
          </a:xfrm>
          <a:prstGeom prst="rect">
            <a:avLst/>
          </a:prstGeom>
          <a:solidFill>
            <a:srgbClr val="FBE5D6"/>
          </a:solidFill>
          <a:ln w="1016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000" b="1">
                <a:solidFill>
                  <a:srgbClr val="C55A11"/>
                </a:solidFill>
                <a:latin typeface="맑은 고딕"/>
                <a:ea typeface="맑은 고딕"/>
                <a:cs typeface="맑은 고딕"/>
              </a:rPr>
              <a:t>GPU_STAGE</a:t>
            </a:r>
          </a:p>
          <a:p>
            <a:pPr algn="ctr">
              <a:spcAft>
                <a:spcPts val="200"/>
              </a:spcAft>
            </a:pPr>
            <a:r>
              <a:rPr sz="850" b="0">
                <a:solidFill>
                  <a:srgbClr val="000000"/>
                </a:solidFill>
                <a:latin typeface="맑은 고딕"/>
                <a:ea typeface="맑은 고딕"/>
                <a:cs typeface="맑은 고딕"/>
              </a:rPr>
              <a:t>HBM에서 실행: 빠르지만 HBM·링크 소모</a:t>
            </a:r>
          </a:p>
        </p:txBody>
      </p:sp>
      <p:sp>
        <p:nvSpPr>
          <p:cNvPr id="22" name="Rectangle 21"/>
          <p:cNvSpPr/>
          <p:nvPr/>
        </p:nvSpPr>
        <p:spPr>
          <a:xfrm>
            <a:off x="9144000" y="3383280"/>
            <a:ext cx="2468880" cy="822960"/>
          </a:xfrm>
          <a:prstGeom prst="rect">
            <a:avLst/>
          </a:prstGeom>
          <a:solidFill>
            <a:srgbClr val="E2F0D9"/>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200"/>
              </a:spcAft>
            </a:pPr>
            <a:r>
              <a:rPr sz="1000" b="1">
                <a:solidFill>
                  <a:srgbClr val="548235"/>
                </a:solidFill>
                <a:latin typeface="맑은 고딕"/>
                <a:ea typeface="맑은 고딕"/>
                <a:cs typeface="맑은 고딕"/>
              </a:rPr>
              <a:t>IN_SITU</a:t>
            </a:r>
          </a:p>
          <a:p>
            <a:pPr algn="ctr">
              <a:spcAft>
                <a:spcPts val="200"/>
              </a:spcAft>
            </a:pPr>
            <a:r>
              <a:rPr sz="850" b="0">
                <a:solidFill>
                  <a:srgbClr val="000000"/>
                </a:solidFill>
                <a:latin typeface="맑은 고딕"/>
                <a:ea typeface="맑은 고딕"/>
                <a:cs typeface="맑은 고딕"/>
              </a:rPr>
              <a:t>KV 쪽에서 실행: HBM 점유·이동 절감</a:t>
            </a:r>
          </a:p>
        </p:txBody>
      </p:sp>
      <p:cxnSp>
        <p:nvCxnSpPr>
          <p:cNvPr id="23" name="Connector 22"/>
          <p:cNvCxnSpPr/>
          <p:nvPr/>
        </p:nvCxnSpPr>
        <p:spPr>
          <a:xfrm flipH="1">
            <a:off x="7726679" y="3017520"/>
            <a:ext cx="2514601" cy="365760"/>
          </a:xfrm>
          <a:prstGeom prst="line">
            <a:avLst/>
          </a:prstGeom>
          <a:ln w="19050">
            <a:solidFill>
              <a:srgbClr val="C55A1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332720" y="3017520"/>
            <a:ext cx="45720" cy="365760"/>
          </a:xfrm>
          <a:prstGeom prst="line">
            <a:avLst/>
          </a:prstGeom>
          <a:ln w="19050">
            <a:solidFill>
              <a:srgbClr val="548235"/>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25" name="Table 24"/>
          <p:cNvGraphicFramePr>
            <a:graphicFrameLocks noGrp="1"/>
          </p:cNvGraphicFramePr>
          <p:nvPr/>
        </p:nvGraphicFramePr>
        <p:xfrm>
          <a:off x="6492240" y="4434840"/>
          <a:ext cx="5120640" cy="822960"/>
        </p:xfrm>
        <a:graphic>
          <a:graphicData uri="http://schemas.openxmlformats.org/drawingml/2006/table">
            <a:tbl>
              <a:tblPr firstRow="0" bandRow="0">
                <a:tableStyleId>{2D5ABB26-0587-4C30-8999-92F81FD0307C}</a:tableStyleId>
              </a:tblPr>
              <a:tblGrid>
                <a:gridCol w="1097280"/>
                <a:gridCol w="2011680"/>
                <a:gridCol w="2011680"/>
              </a:tblGrid>
              <a:tr h="274320">
                <a:tc>
                  <a:txBody>
                    <a:bodyPr wrap="square"/>
                    <a:lstStyle/>
                    <a:p>
                      <a:pPr algn="ctr">
                        <a:spcAft>
                          <a:spcPts val="100"/>
                        </a:spcAft>
                      </a:pPr>
                      <a:r>
                        <a:rPr sz="950" b="0">
                          <a:solidFill>
                            <a:srgbClr val="7F7F7F"/>
                          </a:solidFill>
                          <a:latin typeface="맑은 고딕"/>
                          <a:ea typeface="맑은 고딕"/>
                          <a:cs typeface="맑은 고딕"/>
                        </a:rPr>
                        <a:t>QA</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950" b="1">
                          <a:solidFill>
                            <a:srgbClr val="7F7F7F"/>
                          </a:solidFill>
                          <a:latin typeface="맑은 고딕"/>
                          <a:ea typeface="맑은 고딕"/>
                          <a:cs typeface="맑은 고딕"/>
                        </a:rPr>
                        <a:t>좋아지는 것</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950" b="1">
                          <a:solidFill>
                            <a:srgbClr val="7F7F7F"/>
                          </a:solidFill>
                          <a:latin typeface="맑은 고딕"/>
                          <a:ea typeface="맑은 고딕"/>
                          <a:cs typeface="맑은 고딕"/>
                        </a:rPr>
                        <a:t>지켜야 할 것</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274320">
                <a:tc>
                  <a:txBody>
                    <a:bodyPr wrap="square"/>
                    <a:lstStyle/>
                    <a:p>
                      <a:pPr algn="ctr">
                        <a:spcAft>
                          <a:spcPts val="100"/>
                        </a:spcAft>
                      </a:pPr>
                      <a:r>
                        <a:rPr sz="900" b="0">
                          <a:solidFill>
                            <a:srgbClr val="7F7F7F"/>
                          </a:solidFill>
                          <a:latin typeface="맑은 고딕"/>
                          <a:ea typeface="맑은 고딕"/>
                          <a:cs typeface="맑은 고딕"/>
                        </a:rPr>
                        <a:t>Q1 처리량</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HBM·링크 병목 해소</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SLO 만족 goodput</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274320">
                <a:tc>
                  <a:txBody>
                    <a:bodyPr wrap="square"/>
                    <a:lstStyle/>
                    <a:p>
                      <a:pPr algn="ctr">
                        <a:spcAft>
                          <a:spcPts val="100"/>
                        </a:spcAft>
                      </a:pPr>
                      <a:r>
                        <a:rPr sz="900" b="0">
                          <a:solidFill>
                            <a:srgbClr val="7F7F7F"/>
                          </a:solidFill>
                          <a:latin typeface="맑은 고딕"/>
                          <a:ea typeface="맑은 고딕"/>
                          <a:cs typeface="맑은 고딕"/>
                        </a:rPr>
                        <a:t>Q3 HBM 점유</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KV를 HBM 밖에서 실행</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같은 성능 조건(iso-load)</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26" name="Right Arrow 25"/>
          <p:cNvSpPr/>
          <p:nvPr/>
        </p:nvSpPr>
        <p:spPr>
          <a:xfrm>
            <a:off x="283464" y="5623560"/>
            <a:ext cx="411480" cy="274320"/>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605272"/>
            <a:ext cx="11155680" cy="310896"/>
          </a:xfrm>
          <a:prstGeom prst="rect">
            <a:avLst/>
          </a:prstGeom>
          <a:noFill/>
        </p:spPr>
        <p:txBody>
          <a:bodyPr wrap="square" anchor="ctr" lIns="45720" rIns="45720" tIns="27432" bIns="27432">
            <a:spAutoFit/>
          </a:bodyPr>
          <a:lstStyle/>
          <a:p>
            <a:pPr algn="l">
              <a:spcAft>
                <a:spcPts val="200"/>
              </a:spcAft>
            </a:pPr>
            <a:r>
              <a:rPr sz="1200" b="1">
                <a:solidFill>
                  <a:srgbClr val="0066FF"/>
                </a:solidFill>
                <a:latin typeface="맑은 고딕"/>
                <a:ea typeface="맑은 고딕"/>
                <a:cs typeface="맑은 고딕"/>
              </a:rPr>
              <a:t>Turn 시작 시 KV 구간별 attention 실행 위치를 HBM 기회비용까지 고려해 결정하는 구조 설계 필요</a:t>
            </a:r>
          </a:p>
        </p:txBody>
      </p:sp>
      <p:sp>
        <p:nvSpPr>
          <p:cNvPr id="28" name="TextBox 27"/>
          <p:cNvSpPr txBox="1"/>
          <p:nvPr/>
        </p:nvSpPr>
        <p:spPr>
          <a:xfrm>
            <a:off x="384048" y="5934456"/>
            <a:ext cx="11430000" cy="548640"/>
          </a:xfrm>
          <a:prstGeom prst="rect">
            <a:avLst/>
          </a:prstGeom>
          <a:noFill/>
        </p:spPr>
        <p:txBody>
          <a:bodyPr wrap="square" anchor="t" lIns="45720" rIns="45720" tIns="27432" bIns="27432">
            <a:spAutoFit/>
          </a:bodyPr>
          <a:lstStyle/>
          <a:p>
            <a:pPr algn="l">
              <a:spcAft>
                <a:spcPts val="100"/>
              </a:spcAft>
            </a:pPr>
            <a:r>
              <a:rPr sz="1100" b="1">
                <a:solidFill>
                  <a:srgbClr val="000000"/>
                </a:solidFill>
                <a:latin typeface="맑은 고딕"/>
                <a:ea typeface="맑은 고딕"/>
                <a:cs typeface="맑은 고딕"/>
              </a:rPr>
              <a:t>설계 쟁점 1. 처리량(Q1)·지연(Q2)·HBM 점유(Q3)를 함께 만족하는 attention 실행 위치 결정 (변경 용이성 Q4 포함)</a:t>
            </a:r>
          </a:p>
          <a:p>
            <a:pPr algn="l">
              <a:spcAft>
                <a:spcPts val="100"/>
              </a:spcAft>
            </a:pPr>
            <a:r>
              <a:rPr sz="1100" b="1">
                <a:solidFill>
                  <a:srgbClr val="000000"/>
                </a:solidFill>
                <a:latin typeface="맑은 고딕"/>
                <a:ea typeface="맑은 고딕"/>
                <a:cs typeface="맑은 고딕"/>
              </a:rPr>
              <a:t>설계 쟁점 2. 누가, 어떤 정보로 결정하는가: 중앙 Dispatcher 구조 대 Blackboard 구조의 아키텍처 선택</a:t>
            </a:r>
          </a:p>
        </p:txBody>
      </p:sp>
      <p:sp>
        <p:nvSpPr>
          <p:cNvPr id="29" name="TextBox 28"/>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DP2. 노드 내 Attention 실행 위치 결정 구조 - 설계</a:t>
            </a:r>
          </a:p>
        </p:txBody>
      </p:sp>
      <p:sp>
        <p:nvSpPr>
          <p:cNvPr id="3" name="Chevron 2"/>
          <p:cNvSpPr/>
          <p:nvPr/>
        </p:nvSpPr>
        <p:spPr>
          <a:xfrm>
            <a:off x="752276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7744" y="594360"/>
            <a:ext cx="11750040" cy="39319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676656"/>
            <a:ext cx="64008"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 y="621792"/>
            <a:ext cx="7589520" cy="329184"/>
          </a:xfrm>
          <a:prstGeom prst="rect">
            <a:avLst/>
          </a:prstGeom>
          <a:noFill/>
        </p:spPr>
        <p:txBody>
          <a:bodyPr wrap="square" anchor="ctr" lIns="45720" rIns="45720" tIns="27432" bIns="27432">
            <a:spAutoFit/>
          </a:bodyPr>
          <a:lstStyle/>
          <a:p>
            <a:pPr algn="l">
              <a:spcAft>
                <a:spcPts val="200"/>
              </a:spcAft>
            </a:pPr>
            <a:r>
              <a:rPr sz="1400" b="1">
                <a:solidFill>
                  <a:srgbClr val="FFFFFF"/>
                </a:solidFill>
                <a:latin typeface="맑은 고딕"/>
                <a:ea typeface="맑은 고딕"/>
                <a:cs typeface="맑은 고딕"/>
              </a:rPr>
              <a:t>Turn 시작 시 KV 구간별 attention 실행 위치를 누가 어떤 구조로 정할 것인가</a:t>
            </a:r>
          </a:p>
        </p:txBody>
      </p:sp>
      <p:sp>
        <p:nvSpPr>
          <p:cNvPr id="13" name="Rounded Rectangle 12"/>
          <p:cNvSpPr/>
          <p:nvPr/>
        </p:nvSpPr>
        <p:spPr>
          <a:xfrm>
            <a:off x="11146536" y="630936"/>
            <a:ext cx="713232" cy="320040"/>
          </a:xfrm>
          <a:prstGeom prst="round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C2</a:t>
            </a:r>
          </a:p>
        </p:txBody>
      </p:sp>
      <p:sp>
        <p:nvSpPr>
          <p:cNvPr id="14" name="Rounded Rectangle 13"/>
          <p:cNvSpPr/>
          <p:nvPr/>
        </p:nvSpPr>
        <p:spPr>
          <a:xfrm>
            <a:off x="10396728" y="630936"/>
            <a:ext cx="713232" cy="320040"/>
          </a:xfrm>
          <a:prstGeom prst="round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C1</a:t>
            </a:r>
          </a:p>
        </p:txBody>
      </p:sp>
      <p:sp>
        <p:nvSpPr>
          <p:cNvPr id="15" name="Rounded Rectangle 14"/>
          <p:cNvSpPr/>
          <p:nvPr/>
        </p:nvSpPr>
        <p:spPr>
          <a:xfrm>
            <a:off x="9646919"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Q4</a:t>
            </a:r>
          </a:p>
        </p:txBody>
      </p:sp>
      <p:sp>
        <p:nvSpPr>
          <p:cNvPr id="16" name="Rounded Rectangle 15"/>
          <p:cNvSpPr/>
          <p:nvPr/>
        </p:nvSpPr>
        <p:spPr>
          <a:xfrm>
            <a:off x="8897111"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Q3</a:t>
            </a:r>
          </a:p>
        </p:txBody>
      </p:sp>
      <p:sp>
        <p:nvSpPr>
          <p:cNvPr id="17" name="Rounded Rectangle 16"/>
          <p:cNvSpPr/>
          <p:nvPr/>
        </p:nvSpPr>
        <p:spPr>
          <a:xfrm>
            <a:off x="8147303"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Q2</a:t>
            </a:r>
          </a:p>
        </p:txBody>
      </p:sp>
      <p:sp>
        <p:nvSpPr>
          <p:cNvPr id="18" name="Rounded Rectangle 17"/>
          <p:cNvSpPr/>
          <p:nvPr/>
        </p:nvSpPr>
        <p:spPr>
          <a:xfrm>
            <a:off x="7397495"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Q1</a:t>
            </a:r>
          </a:p>
        </p:txBody>
      </p:sp>
      <p:graphicFrame>
        <p:nvGraphicFramePr>
          <p:cNvPr id="19" name="Table 18"/>
          <p:cNvGraphicFramePr>
            <a:graphicFrameLocks noGrp="1"/>
          </p:cNvGraphicFramePr>
          <p:nvPr/>
        </p:nvGraphicFramePr>
        <p:xfrm>
          <a:off x="246888" y="1042415"/>
          <a:ext cx="11750040" cy="5120640"/>
        </p:xfrm>
        <a:graphic>
          <a:graphicData uri="http://schemas.openxmlformats.org/drawingml/2006/table">
            <a:tbl>
              <a:tblPr firstRow="0" bandRow="0">
                <a:tableStyleId>{2D5ABB26-0587-4C30-8999-92F81FD0307C}</a:tableStyleId>
              </a:tblPr>
              <a:tblGrid>
                <a:gridCol w="822960"/>
                <a:gridCol w="3200400"/>
                <a:gridCol w="2240280"/>
                <a:gridCol w="3246120"/>
                <a:gridCol w="2240280"/>
              </a:tblGrid>
              <a:tr h="320040">
                <a:tc>
                  <a:txBody>
                    <a:bodyPr wrap="square"/>
                    <a:lstStyle/>
                    <a:p>
                      <a:pPr algn="ctr">
                        <a:spcAft>
                          <a:spcPts val="100"/>
                        </a:spcAft>
                      </a:pPr>
                      <a:r>
                        <a:rPr sz="1050" b="0">
                          <a:solidFill>
                            <a:srgbClr val="7F7F7F"/>
                          </a:solidFill>
                          <a:latin typeface="맑은 고딕"/>
                          <a:ea typeface="맑은 고딕"/>
                          <a:cs typeface="맑은 고딕"/>
                        </a:rPr>
                        <a:t>설계 안</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gridSpan="2">
                  <a:txBody>
                    <a:bodyPr wrap="square"/>
                    <a:lstStyle/>
                    <a:p>
                      <a:pPr algn="ctr">
                        <a:spcAft>
                          <a:spcPts val="100"/>
                        </a:spcAft>
                      </a:pPr>
                      <a:r>
                        <a:rPr sz="1050" b="1">
                          <a:solidFill>
                            <a:srgbClr val="7F7F7F"/>
                          </a:solidFill>
                          <a:latin typeface="맑은 고딕"/>
                          <a:ea typeface="맑은 고딕"/>
                          <a:cs typeface="맑은 고딕"/>
                        </a:rPr>
                        <a:t>(1안) 중앙 Dispatcher 구조 </a:t>
                      </a:r>
                      <a:r>
                        <a:rPr sz="1050" b="1">
                          <a:solidFill>
                            <a:srgbClr val="7F7F7F"/>
                          </a:solidFill>
                          <a:latin typeface="맑은 고딕"/>
                          <a:ea typeface="맑은 고딕"/>
                          <a:cs typeface="맑은 고딕"/>
                        </a:rPr>
                        <a:t>[Master–Worker]</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hMerge="1">
                  <a:txBody>
                    <a:bodyPr wrap="square"/>
                    <a:lstStyle/>
                    <a:p>
                      <a:pPr algn="ctr">
                        <a:spcAft>
                          <a:spcPts val="100"/>
                        </a:spcAft>
                      </a:pPr>
                      <a:r>
                        <a:rPr sz="1050" b="1">
                          <a:solidFill>
                            <a:srgbClr val="7F7F7F"/>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gridSpan="2">
                  <a:txBody>
                    <a:bodyPr wrap="square"/>
                    <a:lstStyle/>
                    <a:p>
                      <a:pPr algn="ctr">
                        <a:spcAft>
                          <a:spcPts val="100"/>
                        </a:spcAft>
                      </a:pPr>
                      <a:r>
                        <a:rPr sz="1050" b="1">
                          <a:solidFill>
                            <a:srgbClr val="7F7F7F"/>
                          </a:solidFill>
                          <a:latin typeface="맑은 고딕"/>
                          <a:ea typeface="맑은 고딕"/>
                          <a:cs typeface="맑은 고딕"/>
                        </a:rPr>
                        <a:t>(2안) Blackboard 구조 </a:t>
                      </a:r>
                      <a:r>
                        <a:rPr sz="1050" b="1">
                          <a:solidFill>
                            <a:srgbClr val="7F7F7F"/>
                          </a:solidFill>
                          <a:latin typeface="맑은 고딕"/>
                          <a:ea typeface="맑은 고딕"/>
                          <a:cs typeface="맑은 고딕"/>
                        </a:rPr>
                        <a:t>[공유 저장소 + 자율 Knowledge Source]</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hMerge="1">
                  <a:txBody>
                    <a:bodyPr wrap="square"/>
                    <a:lstStyle/>
                    <a:p>
                      <a:pPr algn="ctr">
                        <a:spcAft>
                          <a:spcPts val="100"/>
                        </a:spcAft>
                      </a:pPr>
                      <a:r>
                        <a:rPr sz="1050" b="1">
                          <a:solidFill>
                            <a:srgbClr val="7F7F7F"/>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2377440">
                <a:tc>
                  <a:txBody>
                    <a:bodyPr wrap="square"/>
                    <a:lstStyle/>
                    <a:p>
                      <a:pPr algn="ctr">
                        <a:spcAft>
                          <a:spcPts val="100"/>
                        </a:spcAft>
                      </a:pPr>
                      <a:r>
                        <a:rPr sz="950" b="0">
                          <a:solidFill>
                            <a:srgbClr val="7F7F7F"/>
                          </a:solidFill>
                          <a:latin typeface="맑은 고딕"/>
                          <a:ea typeface="맑은 고딕"/>
                          <a:cs typeface="맑은 고딕"/>
                        </a:rPr>
                        <a:t>구조</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gridSpan="2">
                  <a:txBody>
                    <a:bodyPr wrap="square"/>
                    <a:lstStyle/>
                    <a:p>
                      <a:pPr>
                        <a:spcAft>
                          <a:spcPts val="100"/>
                        </a:spcAft>
                      </a:pPr>
                      <a:r>
                        <a:rPr sz="950" b="0">
                          <a:solidFill>
                            <a:srgbClr val="000000"/>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hMerge="1">
                  <a:txBody>
                    <a:bodyPr wrap="square"/>
                    <a:lstStyle/>
                    <a:p>
                      <a:pPr>
                        <a:spcAft>
                          <a:spcPts val="100"/>
                        </a:spcAft>
                      </a:pPr>
                      <a:r>
                        <a:rPr sz="950" b="0">
                          <a:solidFill>
                            <a:srgbClr val="000000"/>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gridSpan="2">
                  <a:txBody>
                    <a:bodyPr wrap="square"/>
                    <a:lstStyle/>
                    <a:p>
                      <a:pPr>
                        <a:spcAft>
                          <a:spcPts val="100"/>
                        </a:spcAft>
                      </a:pPr>
                      <a:r>
                        <a:rPr sz="950" b="0">
                          <a:solidFill>
                            <a:srgbClr val="000000"/>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hMerge="1">
                  <a:txBody>
                    <a:bodyPr wrap="square"/>
                    <a:lstStyle/>
                    <a:p>
                      <a:pPr>
                        <a:spcAft>
                          <a:spcPts val="100"/>
                        </a:spcAft>
                      </a:pPr>
                      <a:r>
                        <a:rPr sz="950" b="0">
                          <a:solidFill>
                            <a:srgbClr val="000000"/>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548640">
                <a:tc>
                  <a:txBody>
                    <a:bodyPr wrap="square"/>
                    <a:lstStyle/>
                    <a:p>
                      <a:pPr algn="ctr">
                        <a:spcAft>
                          <a:spcPts val="100"/>
                        </a:spcAft>
                      </a:pPr>
                      <a:r>
                        <a:rPr sz="950" b="0">
                          <a:solidFill>
                            <a:srgbClr val="7F7F7F"/>
                          </a:solidFill>
                          <a:latin typeface="맑은 고딕"/>
                          <a:ea typeface="맑은 고딕"/>
                          <a:cs typeface="맑은 고딕"/>
                        </a:rPr>
                        <a:t>장점</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gridSpan="2">
                  <a:txBody>
                    <a:bodyPr wrap="square"/>
                    <a:lstStyle/>
                    <a:p>
                      <a:pPr>
                        <a:spcAft>
                          <a:spcPts val="100"/>
                        </a:spcAft>
                      </a:pPr>
                      <a:r>
                        <a:rPr sz="950" b="0">
                          <a:solidFill>
                            <a:srgbClr val="000000"/>
                          </a:solidFill>
                          <a:latin typeface="맑은 고딕"/>
                          <a:ea typeface="맑은 고딕"/>
                          <a:cs typeface="맑은 고딕"/>
                        </a:rPr>
                        <a:t>• 중앙에서 전역 Cost를 계산해 처리량·HBM을 함께 최적화</a:t>
                      </a:r>
                    </a:p>
                    <a:p>
                      <a:pPr>
                        <a:spcAft>
                          <a:spcPts val="100"/>
                        </a:spcAft>
                      </a:pPr>
                      <a:r>
                        <a:rPr sz="950" b="0">
                          <a:solidFill>
                            <a:srgbClr val="000000"/>
                          </a:solidFill>
                          <a:latin typeface="맑은 고딕"/>
                          <a:ea typeface="맑은 고딕"/>
                          <a:cs typeface="맑은 고딕"/>
                        </a:rPr>
                        <a:t>• 결정·정책 변경 지점이 한 곳 (Cost, Selector)</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hMerge="1">
                  <a:txBody>
                    <a:bodyPr wrap="square"/>
                    <a:lstStyle/>
                    <a:p>
                      <a:pPr>
                        <a:spcAft>
                          <a:spcPts val="100"/>
                        </a:spcAft>
                      </a:pPr>
                      <a:r>
                        <a:rPr sz="950" b="0">
                          <a:solidFill>
                            <a:srgbClr val="000000"/>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gridSpan="2">
                  <a:txBody>
                    <a:bodyPr wrap="square"/>
                    <a:lstStyle/>
                    <a:p>
                      <a:pPr>
                        <a:spcAft>
                          <a:spcPts val="100"/>
                        </a:spcAft>
                      </a:pPr>
                      <a:r>
                        <a:rPr sz="950" b="0">
                          <a:solidFill>
                            <a:srgbClr val="000000"/>
                          </a:solidFill>
                          <a:latin typeface="맑은 고딕"/>
                          <a:ea typeface="맑은 고딕"/>
                          <a:cs typeface="맑은 고딕"/>
                        </a:rPr>
                        <a:t>• 측정값 기반 로컬 판단, 중앙 결정 비용 없음</a:t>
                      </a:r>
                    </a:p>
                    <a:p>
                      <a:pPr>
                        <a:spcAft>
                          <a:spcPts val="100"/>
                        </a:spcAft>
                      </a:pPr>
                      <a:r>
                        <a:rPr sz="950" b="0">
                          <a:solidFill>
                            <a:srgbClr val="000000"/>
                          </a:solidFill>
                          <a:latin typeface="맑은 고딕"/>
                          <a:ea typeface="맑은 고딕"/>
                          <a:cs typeface="맑은 고딕"/>
                        </a:rPr>
                        <a:t>• 신규 Tier는 agent 추가로 국소 확장</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hMerge="1">
                  <a:txBody>
                    <a:bodyPr wrap="square"/>
                    <a:lstStyle/>
                    <a:p>
                      <a:pPr>
                        <a:spcAft>
                          <a:spcPts val="100"/>
                        </a:spcAft>
                      </a:pPr>
                      <a:r>
                        <a:rPr sz="950" b="0">
                          <a:solidFill>
                            <a:srgbClr val="000000"/>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685800">
                <a:tc>
                  <a:txBody>
                    <a:bodyPr wrap="square"/>
                    <a:lstStyle/>
                    <a:p>
                      <a:pPr algn="ctr">
                        <a:spcAft>
                          <a:spcPts val="100"/>
                        </a:spcAft>
                      </a:pPr>
                      <a:r>
                        <a:rPr sz="950" b="0">
                          <a:solidFill>
                            <a:srgbClr val="7F7F7F"/>
                          </a:solidFill>
                          <a:latin typeface="맑은 고딕"/>
                          <a:ea typeface="맑은 고딕"/>
                          <a:cs typeface="맑은 고딕"/>
                        </a:rPr>
                        <a:t>단점</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gridSpan="2">
                  <a:txBody>
                    <a:bodyPr wrap="square"/>
                    <a:lstStyle/>
                    <a:p>
                      <a:pPr>
                        <a:spcAft>
                          <a:spcPts val="100"/>
                        </a:spcAft>
                      </a:pPr>
                      <a:r>
                        <a:rPr sz="950" b="0">
                          <a:solidFill>
                            <a:srgbClr val="FF0000"/>
                          </a:solidFill>
                          <a:latin typeface="맑은 고딕"/>
                          <a:ea typeface="맑은 고딕"/>
                          <a:cs typeface="맑은 고딕"/>
                        </a:rPr>
                        <a:t>• snapshot 지연·예측 오차에 의존, 자기 dispatch 기록 필요(herding)</a:t>
                      </a:r>
                    </a:p>
                    <a:p>
                      <a:pPr>
                        <a:spcAft>
                          <a:spcPts val="100"/>
                        </a:spcAft>
                      </a:pPr>
                      <a:r>
                        <a:rPr sz="950" b="0">
                          <a:solidFill>
                            <a:srgbClr val="000000"/>
                          </a:solidFill>
                          <a:latin typeface="맑은 고딕"/>
                          <a:ea typeface="맑은 고딕"/>
                          <a:cs typeface="맑은 고딕"/>
                        </a:rPr>
                        <a:t>• Dispatcher가 단일 결정 지점(장애·직렬화)</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hMerge="1">
                  <a:txBody>
                    <a:bodyPr wrap="square"/>
                    <a:lstStyle/>
                    <a:p>
                      <a:pPr>
                        <a:spcAft>
                          <a:spcPts val="100"/>
                        </a:spcAft>
                      </a:pPr>
                      <a:r>
                        <a:rPr sz="950" b="0">
                          <a:solidFill>
                            <a:srgbClr val="000000"/>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gridSpan="2">
                  <a:txBody>
                    <a:bodyPr wrap="square"/>
                    <a:lstStyle/>
                    <a:p>
                      <a:pPr>
                        <a:spcAft>
                          <a:spcPts val="100"/>
                        </a:spcAft>
                      </a:pPr>
                      <a:r>
                        <a:rPr sz="950" b="0">
                          <a:solidFill>
                            <a:srgbClr val="FF0000"/>
                          </a:solidFill>
                          <a:latin typeface="맑은 고딕"/>
                          <a:ea typeface="맑은 고딕"/>
                          <a:cs typeface="맑은 고딕"/>
                        </a:rPr>
                        <a:t>• 전역 목적이 없어 규칙 집합이 곧 정책 (임계치 보정 필요)</a:t>
                      </a:r>
                    </a:p>
                    <a:p>
                      <a:pPr>
                        <a:spcAft>
                          <a:spcPts val="100"/>
                        </a:spcAft>
                      </a:pPr>
                      <a:r>
                        <a:rPr sz="950" b="0">
                          <a:solidFill>
                            <a:srgbClr val="000000"/>
                          </a:solidFill>
                          <a:latin typeface="맑은 고딕"/>
                          <a:ea typeface="맑은 고딕"/>
                          <a:cs typeface="맑은 고딕"/>
                        </a:rPr>
                        <a:t>• 게시→claim 홉, claim 재시도 비용</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hMerge="1">
                  <a:txBody>
                    <a:bodyPr wrap="square"/>
                    <a:lstStyle/>
                    <a:p>
                      <a:pPr>
                        <a:spcAft>
                          <a:spcPts val="100"/>
                        </a:spcAft>
                      </a:pPr>
                      <a:r>
                        <a:rPr sz="950" b="0">
                          <a:solidFill>
                            <a:srgbClr val="000000"/>
                          </a:solidFill>
                          <a:latin typeface="맑은 고딕"/>
                          <a:ea typeface="맑은 고딕"/>
                          <a:cs typeface="맑은 고딕"/>
                        </a:rPr>
                        <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1188720">
                <a:tc>
                  <a:txBody>
                    <a:bodyPr wrap="square"/>
                    <a:lstStyle/>
                    <a:p>
                      <a:pPr algn="ctr">
                        <a:spcAft>
                          <a:spcPts val="100"/>
                        </a:spcAft>
                      </a:pPr>
                      <a:r>
                        <a:rPr sz="950" b="0">
                          <a:solidFill>
                            <a:srgbClr val="7F7F7F"/>
                          </a:solidFill>
                          <a:latin typeface="맑은 고딕"/>
                          <a:ea typeface="맑은 고딕"/>
                          <a:cs typeface="맑은 고딕"/>
                        </a:rPr>
                        <a:t>Tradeoff
(시뮬레이션
[B+C])</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1">
                          <a:solidFill>
                            <a:srgbClr val="000000"/>
                          </a:solidFill>
                          <a:latin typeface="맑은 고딕"/>
                          <a:ea typeface="맑은 고딕"/>
                          <a:cs typeface="맑은 고딕"/>
                        </a:rPr>
                        <a:t>Q1 ★★  goodput x1.07</a:t>
                      </a:r>
                    </a:p>
                    <a:p>
                      <a:pPr>
                        <a:spcAft>
                          <a:spcPts val="100"/>
                        </a:spcAft>
                      </a:pPr>
                      <a:r>
                        <a:rPr sz="950" b="1">
                          <a:solidFill>
                            <a:srgbClr val="000000"/>
                          </a:solidFill>
                          <a:latin typeface="맑은 고딕"/>
                          <a:ea typeface="맑은 고딕"/>
                          <a:cs typeface="맑은 고딕"/>
                        </a:rPr>
                        <a:t>Q2 ★★  개선 x1.11 (TTFT·TPOT P99 x0.57·x1.34)</a:t>
                      </a:r>
                    </a:p>
                    <a:p>
                      <a:pPr>
                        <a:spcAft>
                          <a:spcPts val="100"/>
                        </a:spcAft>
                      </a:pPr>
                      <a:r>
                        <a:rPr sz="950" b="1">
                          <a:solidFill>
                            <a:srgbClr val="000000"/>
                          </a:solidFill>
                          <a:latin typeface="맑은 고딕"/>
                          <a:ea typeface="맑은 고딕"/>
                          <a:cs typeface="맑은 고딕"/>
                        </a:rPr>
                        <a:t>Q3 ★★ x0.94 HBM 점유 (낮을수록 좋음)</a:t>
                      </a:r>
                    </a:p>
                    <a:p>
                      <a:pPr>
                        <a:spcAft>
                          <a:spcPts val="100"/>
                        </a:spcAft>
                      </a:pPr>
                      <a:r>
                        <a:rPr sz="950" b="1">
                          <a:solidFill>
                            <a:srgbClr val="000000"/>
                          </a:solidFill>
                          <a:latin typeface="맑은 고딕"/>
                          <a:ea typeface="맑은 고딕"/>
                          <a:cs typeface="맑은 고딕"/>
                        </a:rPr>
                        <a:t>Q4 ★★★  1.75 module / 0.31 MM</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1">
                          <a:solidFill>
                            <a:srgbClr val="FF0000"/>
                          </a:solidFill>
                          <a:latin typeface="맑은 고딕"/>
                          <a:ea typeface="맑은 고딕"/>
                          <a:cs typeface="맑은 고딕"/>
                        </a:rPr>
                        <a:t>합계 ★ 9 / 12</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1">
                          <a:solidFill>
                            <a:srgbClr val="000000"/>
                          </a:solidFill>
                          <a:latin typeface="맑은 고딕"/>
                          <a:ea typeface="맑은 고딕"/>
                          <a:cs typeface="맑은 고딕"/>
                        </a:rPr>
                        <a:t>Q1 ★★  goodput x1.00</a:t>
                      </a:r>
                    </a:p>
                    <a:p>
                      <a:pPr>
                        <a:spcAft>
                          <a:spcPts val="100"/>
                        </a:spcAft>
                      </a:pPr>
                      <a:r>
                        <a:rPr sz="950" b="1">
                          <a:solidFill>
                            <a:srgbClr val="000000"/>
                          </a:solidFill>
                          <a:latin typeface="맑은 고딕"/>
                          <a:ea typeface="맑은 고딕"/>
                          <a:cs typeface="맑은 고딕"/>
                        </a:rPr>
                        <a:t>Q2 ★  개선 x0.95 (TTFT·TPOT P99 x1.15·x1.05)</a:t>
                      </a:r>
                    </a:p>
                    <a:p>
                      <a:pPr>
                        <a:spcAft>
                          <a:spcPts val="100"/>
                        </a:spcAft>
                      </a:pPr>
                      <a:r>
                        <a:rPr sz="950" b="1">
                          <a:solidFill>
                            <a:srgbClr val="000000"/>
                          </a:solidFill>
                          <a:latin typeface="맑은 고딕"/>
                          <a:ea typeface="맑은 고딕"/>
                          <a:cs typeface="맑은 고딕"/>
                        </a:rPr>
                        <a:t>Q3 ★★ x1.05 HBM 점유 (낮을수록 좋음)</a:t>
                      </a:r>
                    </a:p>
                    <a:p>
                      <a:pPr>
                        <a:spcAft>
                          <a:spcPts val="100"/>
                        </a:spcAft>
                      </a:pPr>
                      <a:r>
                        <a:rPr sz="950" b="1">
                          <a:solidFill>
                            <a:srgbClr val="000000"/>
                          </a:solidFill>
                          <a:latin typeface="맑은 고딕"/>
                          <a:ea typeface="맑은 고딕"/>
                          <a:cs typeface="맑은 고딕"/>
                        </a:rPr>
                        <a:t>Q4 ★★★  1.25 module / 0.22 MM</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1000" b="1">
                          <a:solidFill>
                            <a:srgbClr val="FF0000"/>
                          </a:solidFill>
                          <a:latin typeface="맑은 고딕"/>
                          <a:ea typeface="맑은 고딕"/>
                          <a:cs typeface="맑은 고딕"/>
                        </a:rPr>
                        <a:t>합계 ★ 8 / 12</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20" name="Rectangle 19"/>
          <p:cNvSpPr/>
          <p:nvPr/>
        </p:nvSpPr>
        <p:spPr>
          <a:xfrm>
            <a:off x="1115568" y="2103120"/>
            <a:ext cx="914400" cy="640080"/>
          </a:xfrm>
          <a:prstGeom prst="rect">
            <a:avLst/>
          </a:prstGeom>
          <a:solidFill>
            <a:srgbClr val="F0F1F3"/>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00" b="1">
                <a:solidFill>
                  <a:srgbClr val="000000"/>
                </a:solidFill>
                <a:latin typeface="맑은 고딕"/>
                <a:ea typeface="맑은 고딕"/>
                <a:cs typeface="맑은 고딕"/>
              </a:rPr>
              <a:t>«client»
vLLM Scheduler</a:t>
            </a:r>
          </a:p>
        </p:txBody>
      </p:sp>
      <p:sp>
        <p:nvSpPr>
          <p:cNvPr id="21" name="Rectangle 20"/>
          <p:cNvSpPr/>
          <p:nvPr/>
        </p:nvSpPr>
        <p:spPr>
          <a:xfrm>
            <a:off x="2441448" y="1417320"/>
            <a:ext cx="2331720" cy="2011680"/>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41448" y="1417320"/>
            <a:ext cx="2331720" cy="219456"/>
          </a:xfrm>
          <a:prstGeom prst="rect">
            <a:avLst/>
          </a:prstGeom>
          <a:solidFill>
            <a:srgbClr val="2E75B6"/>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1">
                <a:solidFill>
                  <a:srgbClr val="FFFFFF"/>
                </a:solidFill>
                <a:latin typeface="맑은 고딕"/>
                <a:ea typeface="맑은 고딕"/>
                <a:cs typeface="맑은 고딕"/>
              </a:rPr>
              <a:t>«component» Dispatcher (중앙 Planner)</a:t>
            </a:r>
          </a:p>
        </p:txBody>
      </p:sp>
      <p:sp>
        <p:nvSpPr>
          <p:cNvPr id="23" name="Rectangle 22"/>
          <p:cNvSpPr/>
          <p:nvPr/>
        </p:nvSpPr>
        <p:spPr>
          <a:xfrm>
            <a:off x="2532888" y="1709928"/>
            <a:ext cx="2148840" cy="502920"/>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1">
                <a:solidFill>
                  <a:srgbClr val="000000"/>
                </a:solidFill>
                <a:latin typeface="맑은 고딕"/>
                <a:ea typeface="맑은 고딕"/>
                <a:cs typeface="맑은 고딕"/>
              </a:rPr>
              <a:t>State Repository</a:t>
            </a:r>
          </a:p>
          <a:p>
            <a:pPr algn="ctr">
              <a:spcAft>
                <a:spcPts val="0"/>
              </a:spcAft>
            </a:pPr>
            <a:r>
              <a:rPr sz="750" b="0">
                <a:solidFill>
                  <a:srgbClr val="595959"/>
                </a:solidFill>
                <a:latin typeface="맑은 고딕"/>
                <a:ea typeface="맑은 고딕"/>
                <a:cs typeface="맑은 고딕"/>
              </a:rPr>
              <a:t>snapshot(50ms) + 자기 dispatch 기록</a:t>
            </a:r>
          </a:p>
        </p:txBody>
      </p:sp>
      <p:sp>
        <p:nvSpPr>
          <p:cNvPr id="24" name="Rectangle 23"/>
          <p:cNvSpPr/>
          <p:nvPr/>
        </p:nvSpPr>
        <p:spPr>
          <a:xfrm>
            <a:off x="2532888" y="2304288"/>
            <a:ext cx="2148840" cy="502920"/>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1">
                <a:solidFill>
                  <a:srgbClr val="000000"/>
                </a:solidFill>
                <a:latin typeface="맑은 고딕"/>
                <a:ea typeface="맑은 고딕"/>
                <a:cs typeface="맑은 고딕"/>
              </a:rPr>
              <a:t>Cost Evaluator → Selector</a:t>
            </a:r>
          </a:p>
          <a:p>
            <a:pPr algn="ctr">
              <a:spcAft>
                <a:spcPts val="0"/>
              </a:spcAft>
            </a:pPr>
            <a:r>
              <a:rPr sz="750" b="0">
                <a:solidFill>
                  <a:srgbClr val="595959"/>
                </a:solidFill>
                <a:latin typeface="맑은 고딕"/>
                <a:ea typeface="맑은 고딕"/>
                <a:cs typeface="맑은 고딕"/>
              </a:rPr>
              <a:t>argmin Cost (+ λ_HBM 항)</a:t>
            </a:r>
          </a:p>
        </p:txBody>
      </p:sp>
      <p:sp>
        <p:nvSpPr>
          <p:cNvPr id="25" name="Rectangle 24"/>
          <p:cNvSpPr/>
          <p:nvPr/>
        </p:nvSpPr>
        <p:spPr>
          <a:xfrm>
            <a:off x="2532888" y="2898648"/>
            <a:ext cx="2148840" cy="457200"/>
          </a:xfrm>
          <a:prstGeom prst="rect">
            <a:avLst/>
          </a:prstGeom>
          <a:solidFill>
            <a:srgbClr val="FFF2CC"/>
          </a:solidFill>
          <a:ln w="1016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1">
                <a:solidFill>
                  <a:srgbClr val="000000"/>
                </a:solidFill>
                <a:latin typeface="맑은 고딕"/>
                <a:ea typeface="맑은 고딕"/>
                <a:cs typeface="맑은 고딕"/>
              </a:rPr>
              <a:t>ExecutionPlan</a:t>
            </a:r>
          </a:p>
          <a:p>
            <a:pPr algn="ctr">
              <a:spcAft>
                <a:spcPts val="0"/>
              </a:spcAft>
            </a:pPr>
            <a:r>
              <a:rPr sz="750" b="0">
                <a:solidFill>
                  <a:srgbClr val="595959"/>
                </a:solidFill>
                <a:latin typeface="맑은 고딕"/>
                <a:ea typeface="맑은 고딕"/>
                <a:cs typeface="맑은 고딕"/>
              </a:rPr>
              <a:t>[(req, seg) → GPU_STAGE | IN_SITU(tier)]</a:t>
            </a:r>
          </a:p>
        </p:txBody>
      </p:sp>
      <p:sp>
        <p:nvSpPr>
          <p:cNvPr id="26" name="Rectangle 25"/>
          <p:cNvSpPr/>
          <p:nvPr/>
        </p:nvSpPr>
        <p:spPr>
          <a:xfrm>
            <a:off x="5138928" y="1691640"/>
            <a:ext cx="1325880" cy="594360"/>
          </a:xfrm>
          <a:prstGeom prst="rect">
            <a:avLst/>
          </a:prstGeom>
          <a:solidFill>
            <a:srgbClr val="F0F1F3"/>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00" b="1">
                <a:solidFill>
                  <a:srgbClr val="000000"/>
                </a:solidFill>
                <a:latin typeface="맑은 고딕"/>
                <a:ea typeface="맑은 고딕"/>
                <a:cs typeface="맑은 고딕"/>
              </a:rPr>
              <a:t>«worker» GPU Worker</a:t>
            </a:r>
          </a:p>
        </p:txBody>
      </p:sp>
      <p:sp>
        <p:nvSpPr>
          <p:cNvPr id="27" name="Rectangle 26"/>
          <p:cNvSpPr/>
          <p:nvPr/>
        </p:nvSpPr>
        <p:spPr>
          <a:xfrm>
            <a:off x="5138928" y="2560320"/>
            <a:ext cx="1325880" cy="685800"/>
          </a:xfrm>
          <a:prstGeom prst="rect">
            <a:avLst/>
          </a:prstGeom>
          <a:solidFill>
            <a:srgbClr val="E2F0D9"/>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00" b="1">
                <a:solidFill>
                  <a:srgbClr val="000000"/>
                </a:solidFill>
                <a:latin typeface="맑은 고딕"/>
                <a:ea typeface="맑은 고딕"/>
                <a:cs typeface="맑은 고딕"/>
              </a:rPr>
              <a:t>«worker» Tier Worker</a:t>
            </a:r>
          </a:p>
          <a:p>
            <a:pPr algn="ctr">
              <a:spcAft>
                <a:spcPts val="0"/>
              </a:spcAft>
            </a:pPr>
            <a:r>
              <a:rPr sz="750" b="0">
                <a:solidFill>
                  <a:srgbClr val="595959"/>
                </a:solidFill>
                <a:latin typeface="맑은 고딕"/>
                <a:ea typeface="맑은 고딕"/>
                <a:cs typeface="맑은 고딕"/>
              </a:rPr>
              <a:t>ScHBM · CXL-PNM</a:t>
            </a:r>
          </a:p>
        </p:txBody>
      </p:sp>
      <p:cxnSp>
        <p:nvCxnSpPr>
          <p:cNvPr id="28" name="Connector 27"/>
          <p:cNvCxnSpPr/>
          <p:nvPr/>
        </p:nvCxnSpPr>
        <p:spPr>
          <a:xfrm>
            <a:off x="2029967" y="2423160"/>
            <a:ext cx="411481"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572768" y="2130552"/>
            <a:ext cx="822960" cy="274320"/>
          </a:xfrm>
          <a:prstGeom prst="rect">
            <a:avLst/>
          </a:prstGeom>
          <a:noFill/>
        </p:spPr>
        <p:txBody>
          <a:bodyPr wrap="square" anchor="t" lIns="45720" rIns="45720" tIns="27432" bIns="27432">
            <a:spAutoFit/>
          </a:bodyPr>
          <a:lstStyle/>
          <a:p>
            <a:pPr algn="l">
              <a:spcAft>
                <a:spcPts val="200"/>
              </a:spcAft>
            </a:pPr>
            <a:r>
              <a:rPr sz="750" b="0">
                <a:solidFill>
                  <a:srgbClr val="FF0000"/>
                </a:solidFill>
                <a:latin typeface="맑은 고딕"/>
                <a:ea typeface="맑은 고딕"/>
                <a:cs typeface="맑은 고딕"/>
              </a:rPr>
              <a:t>① assign()</a:t>
            </a:r>
          </a:p>
        </p:txBody>
      </p:sp>
      <p:cxnSp>
        <p:nvCxnSpPr>
          <p:cNvPr id="30" name="Connector 29"/>
          <p:cNvCxnSpPr/>
          <p:nvPr/>
        </p:nvCxnSpPr>
        <p:spPr>
          <a:xfrm flipV="1">
            <a:off x="4773168" y="1984248"/>
            <a:ext cx="365760" cy="118872"/>
          </a:xfrm>
          <a:prstGeom prst="line">
            <a:avLst/>
          </a:prstGeom>
          <a:ln w="19050">
            <a:solidFill>
              <a:srgbClr val="2E75B6"/>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773168" y="2926080"/>
            <a:ext cx="365760" cy="45720"/>
          </a:xfrm>
          <a:prstGeom prst="line">
            <a:avLst/>
          </a:prstGeom>
          <a:ln w="19050">
            <a:solidFill>
              <a:srgbClr val="2E75B6"/>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727448" y="2331720"/>
            <a:ext cx="731520" cy="274320"/>
          </a:xfrm>
          <a:prstGeom prst="rect">
            <a:avLst/>
          </a:prstGeom>
          <a:noFill/>
        </p:spPr>
        <p:txBody>
          <a:bodyPr wrap="square" anchor="t" lIns="45720" rIns="45720" tIns="27432" bIns="27432">
            <a:spAutoFit/>
          </a:bodyPr>
          <a:lstStyle/>
          <a:p>
            <a:pPr algn="l">
              <a:spcAft>
                <a:spcPts val="200"/>
              </a:spcAft>
            </a:pPr>
            <a:r>
              <a:rPr sz="750" b="0">
                <a:solidFill>
                  <a:srgbClr val="FF0000"/>
                </a:solidFill>
                <a:latin typeface="맑은 고딕"/>
                <a:ea typeface="맑은 고딕"/>
                <a:cs typeface="맑은 고딕"/>
              </a:rPr>
              <a:t>② plan(cmd)</a:t>
            </a:r>
          </a:p>
        </p:txBody>
      </p:sp>
      <p:cxnSp>
        <p:nvCxnSpPr>
          <p:cNvPr id="33" name="Connector 32"/>
          <p:cNvCxnSpPr/>
          <p:nvPr/>
        </p:nvCxnSpPr>
        <p:spPr>
          <a:xfrm flipH="1" flipV="1">
            <a:off x="4773168" y="1828800"/>
            <a:ext cx="365760" cy="457200"/>
          </a:xfrm>
          <a:prstGeom prst="line">
            <a:avLst/>
          </a:prstGeom>
          <a:ln w="12700">
            <a:solidFill>
              <a:srgbClr val="7F7F7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727448" y="1399032"/>
            <a:ext cx="1737360" cy="274320"/>
          </a:xfrm>
          <a:prstGeom prst="rect">
            <a:avLst/>
          </a:prstGeom>
          <a:noFill/>
        </p:spPr>
        <p:txBody>
          <a:bodyPr wrap="square" anchor="t" lIns="45720" rIns="45720" tIns="27432" bIns="27432">
            <a:spAutoFit/>
          </a:bodyPr>
          <a:lstStyle/>
          <a:p>
            <a:pPr algn="l">
              <a:spcAft>
                <a:spcPts val="200"/>
              </a:spcAft>
            </a:pPr>
            <a:r>
              <a:rPr sz="750" b="0">
                <a:solidFill>
                  <a:srgbClr val="7F7F7F"/>
                </a:solidFill>
                <a:latin typeface="맑은 고딕"/>
                <a:ea typeface="맑은 고딕"/>
                <a:cs typeface="맑은 고딕"/>
              </a:rPr>
              <a:t>③ 상태 보고(telemetry)</a:t>
            </a:r>
          </a:p>
        </p:txBody>
      </p:sp>
      <p:sp>
        <p:nvSpPr>
          <p:cNvPr id="35" name="TextBox 34"/>
          <p:cNvSpPr txBox="1"/>
          <p:nvPr/>
        </p:nvSpPr>
        <p:spPr>
          <a:xfrm>
            <a:off x="1115568" y="3429000"/>
            <a:ext cx="5303520" cy="228600"/>
          </a:xfrm>
          <a:prstGeom prst="rect">
            <a:avLst/>
          </a:prstGeom>
          <a:noFill/>
        </p:spPr>
        <p:txBody>
          <a:bodyPr wrap="square" anchor="t" lIns="45720" rIns="45720" tIns="27432" bIns="27432">
            <a:spAutoFit/>
          </a:bodyPr>
          <a:lstStyle/>
          <a:p>
            <a:pPr algn="l">
              <a:spcAft>
                <a:spcPts val="200"/>
              </a:spcAft>
            </a:pPr>
            <a:r>
              <a:rPr sz="800" b="1">
                <a:solidFill>
                  <a:srgbClr val="2E75B6"/>
                </a:solidFill>
                <a:latin typeface="맑은 고딕"/>
                <a:ea typeface="맑은 고딕"/>
                <a:cs typeface="맑은 고딕"/>
              </a:rPr>
              <a:t>스타일: Master–Worker. 제어 흐름 = 중앙 → 작업자(command), 결정 권한 1곳</a:t>
            </a:r>
          </a:p>
        </p:txBody>
      </p:sp>
      <p:sp>
        <p:nvSpPr>
          <p:cNvPr id="36" name="Rectangle 35"/>
          <p:cNvSpPr/>
          <p:nvPr/>
        </p:nvSpPr>
        <p:spPr>
          <a:xfrm>
            <a:off x="6556248" y="1920240"/>
            <a:ext cx="914400" cy="640080"/>
          </a:xfrm>
          <a:prstGeom prst="rect">
            <a:avLst/>
          </a:prstGeom>
          <a:solidFill>
            <a:srgbClr val="F0F1F3"/>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00" b="1">
                <a:solidFill>
                  <a:srgbClr val="000000"/>
                </a:solidFill>
                <a:latin typeface="맑은 고딕"/>
                <a:ea typeface="맑은 고딕"/>
                <a:cs typeface="맑은 고딕"/>
              </a:rPr>
              <a:t>«source»
Poster (Thin Scheduler)</a:t>
            </a:r>
          </a:p>
        </p:txBody>
      </p:sp>
      <p:sp>
        <p:nvSpPr>
          <p:cNvPr id="37" name="Rectangle 36"/>
          <p:cNvSpPr/>
          <p:nvPr/>
        </p:nvSpPr>
        <p:spPr>
          <a:xfrm>
            <a:off x="7744968" y="1417320"/>
            <a:ext cx="1920240" cy="2011680"/>
          </a:xfrm>
          <a:prstGeom prst="rect">
            <a:avLst/>
          </a:prstGeom>
          <a:solidFill>
            <a:srgbClr val="E2F0D9"/>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44968" y="1417320"/>
            <a:ext cx="1920240" cy="219456"/>
          </a:xfrm>
          <a:prstGeom prst="rect">
            <a:avLst/>
          </a:prstGeom>
          <a:solidFill>
            <a:srgbClr val="548235"/>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1">
                <a:solidFill>
                  <a:srgbClr val="FFFFFF"/>
                </a:solidFill>
                <a:latin typeface="맑은 고딕"/>
                <a:ea typeface="맑은 고딕"/>
                <a:cs typeface="맑은 고딕"/>
              </a:rPr>
              <a:t>«blackboard» 공유 저장소</a:t>
            </a:r>
          </a:p>
        </p:txBody>
      </p:sp>
      <p:sp>
        <p:nvSpPr>
          <p:cNvPr id="39" name="Rectangle 38"/>
          <p:cNvSpPr/>
          <p:nvPr/>
        </p:nvSpPr>
        <p:spPr>
          <a:xfrm>
            <a:off x="7836408" y="1737360"/>
            <a:ext cx="1737360" cy="685800"/>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1">
                <a:solidFill>
                  <a:srgbClr val="000000"/>
                </a:solidFill>
                <a:latin typeface="맑은 고딕"/>
                <a:ea typeface="맑은 고딕"/>
                <a:cs typeface="맑은 고딕"/>
              </a:rPr>
              <a:t>Task Board</a:t>
            </a:r>
          </a:p>
          <a:p>
            <a:pPr algn="ctr">
              <a:spcAft>
                <a:spcPts val="0"/>
              </a:spcAft>
            </a:pPr>
            <a:r>
              <a:rPr sz="750" b="0">
                <a:solidFill>
                  <a:srgbClr val="595959"/>
                </a:solidFill>
                <a:latin typeface="맑은 고딕"/>
                <a:ea typeface="맑은 고딕"/>
                <a:cs typeface="맑은 고딕"/>
              </a:rPr>
              <a:t>Task: posted → claimed → done</a:t>
            </a:r>
          </a:p>
        </p:txBody>
      </p:sp>
      <p:sp>
        <p:nvSpPr>
          <p:cNvPr id="40" name="Rectangle 39"/>
          <p:cNvSpPr/>
          <p:nvPr/>
        </p:nvSpPr>
        <p:spPr>
          <a:xfrm>
            <a:off x="7836408" y="2560320"/>
            <a:ext cx="1737360" cy="777240"/>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1">
                <a:solidFill>
                  <a:srgbClr val="000000"/>
                </a:solidFill>
                <a:latin typeface="맑은 고딕"/>
                <a:ea typeface="맑은 고딕"/>
                <a:cs typeface="맑은 고딕"/>
              </a:rPr>
              <a:t>Resource Facts</a:t>
            </a:r>
          </a:p>
          <a:p>
            <a:pPr algn="ctr">
              <a:spcAft>
                <a:spcPts val="0"/>
              </a:spcAft>
            </a:pPr>
            <a:r>
              <a:rPr sz="750" b="0">
                <a:solidFill>
                  <a:srgbClr val="595959"/>
                </a:solidFill>
                <a:latin typeface="맑은 고딕"/>
                <a:ea typeface="맑은 고딕"/>
                <a:cs typeface="맑은 고딕"/>
              </a:rPr>
              <a:t>Tier 점유 · 큐 · claim backlog</a:t>
            </a:r>
          </a:p>
        </p:txBody>
      </p:sp>
      <p:sp>
        <p:nvSpPr>
          <p:cNvPr id="41" name="Rectangle 40"/>
          <p:cNvSpPr/>
          <p:nvPr/>
        </p:nvSpPr>
        <p:spPr>
          <a:xfrm>
            <a:off x="9985248" y="1417320"/>
            <a:ext cx="1874519" cy="566928"/>
          </a:xfrm>
          <a:prstGeom prst="rect">
            <a:avLst/>
          </a:prstGeom>
          <a:solidFill>
            <a:srgbClr val="E2F0D9"/>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750" b="1">
                <a:solidFill>
                  <a:srgbClr val="000000"/>
                </a:solidFill>
                <a:latin typeface="맑은 고딕"/>
                <a:ea typeface="맑은 고딕"/>
                <a:cs typeface="맑은 고딕"/>
              </a:rPr>
              <a:t>«knowledge source» Tier Admission Agent</a:t>
            </a:r>
          </a:p>
          <a:p>
            <a:pPr algn="ctr">
              <a:spcAft>
                <a:spcPts val="0"/>
              </a:spcAft>
            </a:pPr>
            <a:r>
              <a:rPr sz="750" b="0">
                <a:solidFill>
                  <a:srgbClr val="595959"/>
                </a:solidFill>
                <a:latin typeface="맑은 고딕"/>
                <a:ea typeface="맑은 고딕"/>
                <a:cs typeface="맑은 고딕"/>
              </a:rPr>
              <a:t>ScHBM · CXL-PNM, ×N</a:t>
            </a:r>
          </a:p>
        </p:txBody>
      </p:sp>
      <p:sp>
        <p:nvSpPr>
          <p:cNvPr id="42" name="Rectangle 41"/>
          <p:cNvSpPr/>
          <p:nvPr/>
        </p:nvSpPr>
        <p:spPr>
          <a:xfrm>
            <a:off x="9985248" y="2130552"/>
            <a:ext cx="1874519" cy="566928"/>
          </a:xfrm>
          <a:prstGeom prst="rect">
            <a:avLst/>
          </a:prstGeom>
          <a:solidFill>
            <a:srgbClr val="FFF2CC"/>
          </a:solidFill>
          <a:ln w="1016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750" b="1">
                <a:solidFill>
                  <a:srgbClr val="000000"/>
                </a:solidFill>
                <a:latin typeface="맑은 고딕"/>
                <a:ea typeface="맑은 고딕"/>
                <a:cs typeface="맑은 고딕"/>
              </a:rPr>
              <a:t>«knowledge source» HBM Budget Admission</a:t>
            </a:r>
          </a:p>
        </p:txBody>
      </p:sp>
      <p:sp>
        <p:nvSpPr>
          <p:cNvPr id="43" name="Rectangle 42"/>
          <p:cNvSpPr/>
          <p:nvPr/>
        </p:nvSpPr>
        <p:spPr>
          <a:xfrm>
            <a:off x="9985248" y="2843784"/>
            <a:ext cx="1874519" cy="566928"/>
          </a:xfrm>
          <a:prstGeom prst="rect">
            <a:avLst/>
          </a:prstGeom>
          <a:solidFill>
            <a:srgbClr val="F0F1F3"/>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750" b="1">
                <a:solidFill>
                  <a:srgbClr val="000000"/>
                </a:solidFill>
                <a:latin typeface="맑은 고딕"/>
                <a:ea typeface="맑은 고딕"/>
                <a:cs typeface="맑은 고딕"/>
              </a:rPr>
              <a:t>«knowledge source» GPU Worker</a:t>
            </a:r>
          </a:p>
          <a:p>
            <a:pPr algn="ctr">
              <a:spcAft>
                <a:spcPts val="0"/>
              </a:spcAft>
            </a:pPr>
            <a:r>
              <a:rPr sz="750" b="0">
                <a:solidFill>
                  <a:srgbClr val="595959"/>
                </a:solidFill>
                <a:latin typeface="맑은 고딕"/>
                <a:ea typeface="맑은 고딕"/>
                <a:cs typeface="맑은 고딕"/>
              </a:rPr>
              <a:t>staging · GPU attention</a:t>
            </a:r>
          </a:p>
        </p:txBody>
      </p:sp>
      <p:cxnSp>
        <p:nvCxnSpPr>
          <p:cNvPr id="44" name="Connector 43"/>
          <p:cNvCxnSpPr/>
          <p:nvPr/>
        </p:nvCxnSpPr>
        <p:spPr>
          <a:xfrm>
            <a:off x="7470648" y="2194560"/>
            <a:ext cx="27432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556248" y="1691640"/>
            <a:ext cx="1188720" cy="274320"/>
          </a:xfrm>
          <a:prstGeom prst="rect">
            <a:avLst/>
          </a:prstGeom>
          <a:noFill/>
        </p:spPr>
        <p:txBody>
          <a:bodyPr wrap="square" anchor="t" lIns="45720" rIns="45720" tIns="27432" bIns="27432">
            <a:spAutoFit/>
          </a:bodyPr>
          <a:lstStyle/>
          <a:p>
            <a:pPr algn="l">
              <a:spcAft>
                <a:spcPts val="200"/>
              </a:spcAft>
            </a:pPr>
            <a:r>
              <a:rPr sz="750" b="0">
                <a:solidFill>
                  <a:srgbClr val="FF0000"/>
                </a:solidFill>
                <a:latin typeface="맑은 고딕"/>
                <a:ea typeface="맑은 고딕"/>
                <a:cs typeface="맑은 고딕"/>
              </a:rPr>
              <a:t>① publish(Task)</a:t>
            </a:r>
          </a:p>
        </p:txBody>
      </p:sp>
      <p:cxnSp>
        <p:nvCxnSpPr>
          <p:cNvPr id="46" name="Connector 45"/>
          <p:cNvCxnSpPr/>
          <p:nvPr/>
        </p:nvCxnSpPr>
        <p:spPr>
          <a:xfrm>
            <a:off x="9665208" y="1700784"/>
            <a:ext cx="320040" cy="0"/>
          </a:xfrm>
          <a:prstGeom prst="line">
            <a:avLst/>
          </a:prstGeom>
          <a:ln w="15875">
            <a:solidFill>
              <a:srgbClr val="548235"/>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665208" y="2414016"/>
            <a:ext cx="320040" cy="0"/>
          </a:xfrm>
          <a:prstGeom prst="line">
            <a:avLst/>
          </a:prstGeom>
          <a:ln w="15875">
            <a:solidFill>
              <a:srgbClr val="548235"/>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665208" y="3127248"/>
            <a:ext cx="320040" cy="0"/>
          </a:xfrm>
          <a:prstGeom prst="line">
            <a:avLst/>
          </a:prstGeom>
          <a:ln w="15875">
            <a:solidFill>
              <a:srgbClr val="548235"/>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299448" y="3429000"/>
            <a:ext cx="2560320" cy="274320"/>
          </a:xfrm>
          <a:prstGeom prst="rect">
            <a:avLst/>
          </a:prstGeom>
          <a:noFill/>
        </p:spPr>
        <p:txBody>
          <a:bodyPr wrap="square" anchor="t" lIns="45720" rIns="45720" tIns="27432" bIns="27432">
            <a:spAutoFit/>
          </a:bodyPr>
          <a:lstStyle/>
          <a:p>
            <a:pPr algn="l">
              <a:spcAft>
                <a:spcPts val="200"/>
              </a:spcAft>
            </a:pPr>
            <a:r>
              <a:rPr sz="750" b="0">
                <a:solidFill>
                  <a:srgbClr val="FF0000"/>
                </a:solidFill>
                <a:latin typeface="맑은 고딕"/>
                <a:ea typeface="맑은 고딕"/>
                <a:cs typeface="맑은 고딕"/>
              </a:rPr>
              <a:t>② subscribe(event)·claim·write facts</a:t>
            </a:r>
          </a:p>
        </p:txBody>
      </p:sp>
      <p:sp>
        <p:nvSpPr>
          <p:cNvPr id="50" name="TextBox 49"/>
          <p:cNvSpPr txBox="1"/>
          <p:nvPr/>
        </p:nvSpPr>
        <p:spPr>
          <a:xfrm>
            <a:off x="6556248" y="3429000"/>
            <a:ext cx="2926080" cy="228600"/>
          </a:xfrm>
          <a:prstGeom prst="rect">
            <a:avLst/>
          </a:prstGeom>
          <a:noFill/>
        </p:spPr>
        <p:txBody>
          <a:bodyPr wrap="square" anchor="t" lIns="45720" rIns="45720" tIns="27432" bIns="27432">
            <a:spAutoFit/>
          </a:bodyPr>
          <a:lstStyle/>
          <a:p>
            <a:pPr algn="l">
              <a:spcAft>
                <a:spcPts val="200"/>
              </a:spcAft>
            </a:pPr>
            <a:r>
              <a:rPr sz="800" b="1">
                <a:solidFill>
                  <a:srgbClr val="548235"/>
                </a:solidFill>
                <a:latin typeface="맑은 고딕"/>
                <a:ea typeface="맑은 고딕"/>
                <a:cs typeface="맑은 고딕"/>
              </a:rPr>
              <a:t>스타일: Blackboard. 제어 = 보드 event, 결정 KS 분산</a:t>
            </a:r>
          </a:p>
        </p:txBody>
      </p:sp>
      <p:sp>
        <p:nvSpPr>
          <p:cNvPr id="51" name="TextBox 50"/>
          <p:cNvSpPr txBox="1"/>
          <p:nvPr/>
        </p:nvSpPr>
        <p:spPr>
          <a:xfrm>
            <a:off x="246888" y="6309360"/>
            <a:ext cx="11704320" cy="274320"/>
          </a:xfrm>
          <a:prstGeom prst="rect">
            <a:avLst/>
          </a:prstGeom>
          <a:noFill/>
        </p:spPr>
        <p:txBody>
          <a:bodyPr wrap="square" anchor="t" lIns="45720" rIns="45720" tIns="27432" bIns="27432">
            <a:spAutoFit/>
          </a:bodyPr>
          <a:lstStyle/>
          <a:p>
            <a:pPr algn="l">
              <a:spcAft>
                <a:spcPts val="200"/>
              </a:spcAft>
            </a:pPr>
            <a:r>
              <a:rPr sz="800" b="0">
                <a:solidFill>
                  <a:srgbClr val="7F7F7F"/>
                </a:solidFill>
                <a:latin typeface="맑은 고딕"/>
                <a:ea typeface="맑은 고딕"/>
                <a:cs typeface="맑은 고딕"/>
              </a:rPr>
              <a:t>평가: 기준 doc-mk/Evaluation/DP2/arch-styles-plan.md(사전 등록), 결과 results/2026-10-10_dp2-arch-styles.md. 모든 값은 시뮬레이션 [B+C], Baseline-GPU-local 대비 (SYS-H100 + SYS-B200 통합)</a:t>
            </a:r>
          </a:p>
        </p:txBody>
      </p:sp>
      <p:sp>
        <p:nvSpPr>
          <p:cNvPr id="52" name="TextBox 51"/>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DP2. 노드 내 Attention 실행 위치 결정 구조 - 보완 설계</a:t>
            </a:r>
          </a:p>
        </p:txBody>
      </p:sp>
      <p:sp>
        <p:nvSpPr>
          <p:cNvPr id="3" name="Chevron 2"/>
          <p:cNvSpPr/>
          <p:nvPr/>
        </p:nvSpPr>
        <p:spPr>
          <a:xfrm>
            <a:off x="7522768"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과제 소개</a:t>
            </a:r>
          </a:p>
        </p:txBody>
      </p:sp>
      <p:sp>
        <p:nvSpPr>
          <p:cNvPr id="4" name="Chevron 3"/>
          <p:cNvSpPr/>
          <p:nvPr/>
        </p:nvSpPr>
        <p:spPr>
          <a:xfrm>
            <a:off x="8415223"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요구사항</a:t>
            </a:r>
          </a:p>
        </p:txBody>
      </p:sp>
      <p:sp>
        <p:nvSpPr>
          <p:cNvPr id="5" name="Chevron 4"/>
          <p:cNvSpPr/>
          <p:nvPr/>
        </p:nvSpPr>
        <p:spPr>
          <a:xfrm>
            <a:off x="9314078" y="137160"/>
            <a:ext cx="1031443" cy="357530"/>
          </a:xfrm>
          <a:prstGeom prst="chevron">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설계</a:t>
            </a:r>
          </a:p>
        </p:txBody>
      </p:sp>
      <p:sp>
        <p:nvSpPr>
          <p:cNvPr id="6" name="Chevron 5"/>
          <p:cNvSpPr/>
          <p:nvPr/>
        </p:nvSpPr>
        <p:spPr>
          <a:xfrm>
            <a:off x="10206532" y="137160"/>
            <a:ext cx="1031443"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구현/검증</a:t>
            </a:r>
          </a:p>
        </p:txBody>
      </p:sp>
      <p:sp>
        <p:nvSpPr>
          <p:cNvPr id="7" name="Chevron 6"/>
          <p:cNvSpPr/>
          <p:nvPr/>
        </p:nvSpPr>
        <p:spPr>
          <a:xfrm>
            <a:off x="11105388" y="137160"/>
            <a:ext cx="892454" cy="35753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1000" b="1">
                <a:solidFill>
                  <a:srgbClr val="FFFFFF"/>
                </a:solidFill>
                <a:latin typeface="맑은 고딕"/>
                <a:ea typeface="맑은 고딕"/>
                <a:cs typeface="맑은 고딕"/>
              </a:rPr>
              <a:t>결론</a:t>
            </a:r>
          </a:p>
        </p:txBody>
      </p:sp>
      <p:sp>
        <p:nvSpPr>
          <p:cNvPr id="8" name="Rectangle 7"/>
          <p:cNvSpPr/>
          <p:nvPr/>
        </p:nvSpPr>
        <p:spPr>
          <a:xfrm>
            <a:off x="752916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89359" y="137160"/>
            <a:ext cx="212140" cy="35753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7744" y="594360"/>
            <a:ext cx="11750040" cy="39319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676656"/>
            <a:ext cx="64008"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 y="621792"/>
            <a:ext cx="7589520" cy="329184"/>
          </a:xfrm>
          <a:prstGeom prst="rect">
            <a:avLst/>
          </a:prstGeom>
          <a:noFill/>
        </p:spPr>
        <p:txBody>
          <a:bodyPr wrap="square" anchor="ctr" lIns="45720" rIns="45720" tIns="27432" bIns="27432">
            <a:spAutoFit/>
          </a:bodyPr>
          <a:lstStyle/>
          <a:p>
            <a:pPr algn="l">
              <a:spcAft>
                <a:spcPts val="200"/>
              </a:spcAft>
            </a:pPr>
            <a:r>
              <a:rPr sz="1400" b="1">
                <a:solidFill>
                  <a:srgbClr val="FFFFFF"/>
                </a:solidFill>
                <a:latin typeface="맑은 고딕"/>
                <a:ea typeface="맑은 고딕"/>
                <a:cs typeface="맑은 고딕"/>
              </a:rPr>
              <a:t>선택: 1안 Dispatcher (별 9 vs 8) - 낮은 QA(Q2 TPOT 꼬리)를 Hybrid C로 보완</a:t>
            </a:r>
          </a:p>
        </p:txBody>
      </p:sp>
      <p:sp>
        <p:nvSpPr>
          <p:cNvPr id="13" name="Rounded Rectangle 12"/>
          <p:cNvSpPr/>
          <p:nvPr/>
        </p:nvSpPr>
        <p:spPr>
          <a:xfrm>
            <a:off x="11146536" y="630936"/>
            <a:ext cx="713232" cy="320040"/>
          </a:xfrm>
          <a:prstGeom prst="round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C1</a:t>
            </a:r>
          </a:p>
        </p:txBody>
      </p:sp>
      <p:sp>
        <p:nvSpPr>
          <p:cNvPr id="14" name="Rounded Rectangle 13"/>
          <p:cNvSpPr/>
          <p:nvPr/>
        </p:nvSpPr>
        <p:spPr>
          <a:xfrm>
            <a:off x="10396728"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Q4</a:t>
            </a:r>
          </a:p>
        </p:txBody>
      </p:sp>
      <p:sp>
        <p:nvSpPr>
          <p:cNvPr id="15" name="Rounded Rectangle 14"/>
          <p:cNvSpPr/>
          <p:nvPr/>
        </p:nvSpPr>
        <p:spPr>
          <a:xfrm>
            <a:off x="9646919" y="630936"/>
            <a:ext cx="713232" cy="320040"/>
          </a:xfrm>
          <a:prstGeom prst="roundRect">
            <a:avLst/>
          </a:prstGeom>
          <a:solidFill>
            <a:srgbClr val="833C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200"/>
              </a:spcAft>
            </a:pPr>
            <a:r>
              <a:rPr sz="900" b="1">
                <a:solidFill>
                  <a:srgbClr val="FFFFFF"/>
                </a:solidFill>
                <a:latin typeface="맑은 고딕"/>
                <a:ea typeface="맑은 고딕"/>
                <a:cs typeface="맑은 고딕"/>
              </a:rPr>
              <a:t>Q2</a:t>
            </a:r>
          </a:p>
        </p:txBody>
      </p:sp>
      <p:sp>
        <p:nvSpPr>
          <p:cNvPr id="16" name="Rectangle 15"/>
          <p:cNvSpPr/>
          <p:nvPr/>
        </p:nvSpPr>
        <p:spPr>
          <a:xfrm>
            <a:off x="347472" y="1325880"/>
            <a:ext cx="4114800" cy="251460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216152" y="1170432"/>
            <a:ext cx="237744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선택 구조(1안)의 평가</a:t>
            </a:r>
          </a:p>
        </p:txBody>
      </p:sp>
      <p:graphicFrame>
        <p:nvGraphicFramePr>
          <p:cNvPr id="18" name="Table 17"/>
          <p:cNvGraphicFramePr>
            <a:graphicFrameLocks noGrp="1"/>
          </p:cNvGraphicFramePr>
          <p:nvPr/>
        </p:nvGraphicFramePr>
        <p:xfrm>
          <a:off x="475488" y="1554480"/>
          <a:ext cx="3840480" cy="1481328"/>
        </p:xfrm>
        <a:graphic>
          <a:graphicData uri="http://schemas.openxmlformats.org/drawingml/2006/table">
            <a:tbl>
              <a:tblPr firstRow="0" bandRow="0">
                <a:tableStyleId>{2D5ABB26-0587-4C30-8999-92F81FD0307C}</a:tableStyleId>
              </a:tblPr>
              <a:tblGrid>
                <a:gridCol w="914400"/>
                <a:gridCol w="2926080"/>
              </a:tblGrid>
              <a:tr h="274320">
                <a:tc>
                  <a:txBody>
                    <a:bodyPr wrap="square"/>
                    <a:lstStyle/>
                    <a:p>
                      <a:pPr algn="ctr">
                        <a:spcAft>
                          <a:spcPts val="100"/>
                        </a:spcAft>
                      </a:pPr>
                      <a:r>
                        <a:rPr sz="1000" b="0">
                          <a:solidFill>
                            <a:srgbClr val="7F7F7F"/>
                          </a:solidFill>
                          <a:latin typeface="맑은 고딕"/>
                          <a:ea typeface="맑은 고딕"/>
                          <a:cs typeface="맑은 고딕"/>
                        </a:rPr>
                        <a:t>QA</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1000" b="1">
                          <a:solidFill>
                            <a:srgbClr val="7F7F7F"/>
                          </a:solidFill>
                          <a:latin typeface="맑은 고딕"/>
                          <a:ea typeface="맑은 고딕"/>
                          <a:cs typeface="맑은 고딕"/>
                        </a:rPr>
                        <a:t>Baseline 대비 [B+C]</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01752">
                <a:tc>
                  <a:txBody>
                    <a:bodyPr wrap="square"/>
                    <a:lstStyle/>
                    <a:p>
                      <a:pPr algn="ctr">
                        <a:spcAft>
                          <a:spcPts val="100"/>
                        </a:spcAft>
                      </a:pPr>
                      <a:r>
                        <a:rPr sz="950" b="0">
                          <a:solidFill>
                            <a:srgbClr val="7F7F7F"/>
                          </a:solidFill>
                          <a:latin typeface="맑은 고딕"/>
                          <a:ea typeface="맑은 고딕"/>
                          <a:cs typeface="맑은 고딕"/>
                        </a:rPr>
                        <a:t>Q1</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  goodput x1.07</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01752">
                <a:tc>
                  <a:txBody>
                    <a:bodyPr wrap="square"/>
                    <a:lstStyle/>
                    <a:p>
                      <a:pPr algn="ctr">
                        <a:spcAft>
                          <a:spcPts val="100"/>
                        </a:spcAft>
                      </a:pPr>
                      <a:r>
                        <a:rPr sz="950" b="0">
                          <a:solidFill>
                            <a:srgbClr val="7F7F7F"/>
                          </a:solidFill>
                          <a:latin typeface="맑은 고딕"/>
                          <a:ea typeface="맑은 고딕"/>
                          <a:cs typeface="맑은 고딕"/>
                        </a:rPr>
                        <a:t>Q2</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  TTFT P99 x0.57 / </a:t>
                      </a:r>
                      <a:r>
                        <a:rPr sz="950" b="1">
                          <a:solidFill>
                            <a:srgbClr val="FF0000"/>
                          </a:solidFill>
                          <a:latin typeface="맑은 고딕"/>
                          <a:ea typeface="맑은 고딕"/>
                          <a:cs typeface="맑은 고딕"/>
                        </a:rPr>
                        <a:t>TPOT P99 x1.34</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01752">
                <a:tc>
                  <a:txBody>
                    <a:bodyPr wrap="square"/>
                    <a:lstStyle/>
                    <a:p>
                      <a:pPr algn="ctr">
                        <a:spcAft>
                          <a:spcPts val="100"/>
                        </a:spcAft>
                      </a:pPr>
                      <a:r>
                        <a:rPr sz="950" b="0">
                          <a:solidFill>
                            <a:srgbClr val="7F7F7F"/>
                          </a:solidFill>
                          <a:latin typeface="맑은 고딕"/>
                          <a:ea typeface="맑은 고딕"/>
                          <a:cs typeface="맑은 고딕"/>
                        </a:rPr>
                        <a:t>Q3</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  HBM 점유 x0.94</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301752">
                <a:tc>
                  <a:txBody>
                    <a:bodyPr wrap="square"/>
                    <a:lstStyle/>
                    <a:p>
                      <a:pPr algn="ctr">
                        <a:spcAft>
                          <a:spcPts val="100"/>
                        </a:spcAft>
                      </a:pPr>
                      <a:r>
                        <a:rPr sz="950" b="0">
                          <a:solidFill>
                            <a:srgbClr val="7F7F7F"/>
                          </a:solidFill>
                          <a:latin typeface="맑은 고딕"/>
                          <a:ea typeface="맑은 고딕"/>
                          <a:cs typeface="맑은 고딕"/>
                        </a:rPr>
                        <a:t>Q4</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50" b="0">
                          <a:solidFill>
                            <a:srgbClr val="000000"/>
                          </a:solidFill>
                          <a:latin typeface="맑은 고딕"/>
                          <a:ea typeface="맑은 고딕"/>
                          <a:cs typeface="맑은 고딕"/>
                        </a:rPr>
                        <a:t>★★★  1.75 module / 0.31 MM</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19" name="TextBox 18"/>
          <p:cNvSpPr txBox="1"/>
          <p:nvPr/>
        </p:nvSpPr>
        <p:spPr>
          <a:xfrm>
            <a:off x="475488" y="3200400"/>
            <a:ext cx="3931920" cy="548640"/>
          </a:xfrm>
          <a:prstGeom prst="rect">
            <a:avLst/>
          </a:prstGeom>
          <a:noFill/>
        </p:spPr>
        <p:txBody>
          <a:bodyPr wrap="square" anchor="t" lIns="45720" rIns="45720" tIns="27432" bIns="27432">
            <a:spAutoFit/>
          </a:bodyPr>
          <a:lstStyle/>
          <a:p>
            <a:pPr algn="l">
              <a:spcAft>
                <a:spcPts val="200"/>
              </a:spcAft>
            </a:pPr>
            <a:r>
              <a:rPr sz="850" b="0">
                <a:solidFill>
                  <a:srgbClr val="FF0000"/>
                </a:solidFill>
                <a:latin typeface="맑은 고딕"/>
                <a:ea typeface="맑은 고딕"/>
                <a:cs typeface="맑은 고딕"/>
              </a:rPr>
              <a:t>TPOT P99 19.5 ms는 SLO(50 ms) 이내이나 Baseline보다 큼. Cost 추정 오차 sigma 0.4에서 goodput x0.91</a:t>
            </a:r>
          </a:p>
        </p:txBody>
      </p:sp>
      <p:sp>
        <p:nvSpPr>
          <p:cNvPr id="20" name="Rectangle 19"/>
          <p:cNvSpPr/>
          <p:nvPr/>
        </p:nvSpPr>
        <p:spPr>
          <a:xfrm>
            <a:off x="4663440" y="1325880"/>
            <a:ext cx="7132320" cy="2514600"/>
          </a:xfrm>
          <a:prstGeom prst="rect">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26479" y="1170432"/>
            <a:ext cx="4206240" cy="310896"/>
          </a:xfrm>
          <a:prstGeom prst="roundRect">
            <a:avLst/>
          </a:prstGeom>
          <a:solidFill>
            <a:srgbClr val="F2F2F2"/>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1200" b="1">
                <a:solidFill>
                  <a:srgbClr val="000000"/>
                </a:solidFill>
                <a:latin typeface="맑은 고딕"/>
                <a:ea typeface="맑은 고딕"/>
                <a:cs typeface="맑은 고딕"/>
              </a:rPr>
              <a:t>보완 구조: Hybrid C = 중앙 선택 + Tier 로컬 거부권</a:t>
            </a:r>
          </a:p>
        </p:txBody>
      </p:sp>
      <p:sp>
        <p:nvSpPr>
          <p:cNvPr id="22" name="Rectangle 21"/>
          <p:cNvSpPr/>
          <p:nvPr/>
        </p:nvSpPr>
        <p:spPr>
          <a:xfrm>
            <a:off x="4800600" y="1783080"/>
            <a:ext cx="1097280" cy="685800"/>
          </a:xfrm>
          <a:prstGeom prst="rect">
            <a:avLst/>
          </a:prstGeom>
          <a:solidFill>
            <a:srgbClr val="F0F1F3"/>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1">
                <a:solidFill>
                  <a:srgbClr val="000000"/>
                </a:solidFill>
                <a:latin typeface="맑은 고딕"/>
                <a:ea typeface="맑은 고딕"/>
                <a:cs typeface="맑은 고딕"/>
              </a:rPr>
              <a:t>«client»
Scheduler</a:t>
            </a:r>
          </a:p>
        </p:txBody>
      </p:sp>
      <p:sp>
        <p:nvSpPr>
          <p:cNvPr id="23" name="Rectangle 22"/>
          <p:cNvSpPr/>
          <p:nvPr/>
        </p:nvSpPr>
        <p:spPr>
          <a:xfrm>
            <a:off x="6172200" y="1554480"/>
            <a:ext cx="2240280" cy="1965960"/>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1554480"/>
            <a:ext cx="2240280" cy="219456"/>
          </a:xfrm>
          <a:prstGeom prst="rect">
            <a:avLst/>
          </a:prstGeom>
          <a:solidFill>
            <a:srgbClr val="2E75B6"/>
          </a:solidFill>
          <a:ln w="1016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1">
                <a:solidFill>
                  <a:srgbClr val="FFFFFF"/>
                </a:solidFill>
                <a:latin typeface="맑은 고딕"/>
                <a:ea typeface="맑은 고딕"/>
                <a:cs typeface="맑은 고딕"/>
              </a:rPr>
              <a:t>«component» Dispatcher (유지)</a:t>
            </a:r>
          </a:p>
        </p:txBody>
      </p:sp>
      <p:sp>
        <p:nvSpPr>
          <p:cNvPr id="25" name="Rectangle 24"/>
          <p:cNvSpPr/>
          <p:nvPr/>
        </p:nvSpPr>
        <p:spPr>
          <a:xfrm>
            <a:off x="6263640" y="1828800"/>
            <a:ext cx="2057400" cy="457200"/>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1">
                <a:solidFill>
                  <a:srgbClr val="000000"/>
                </a:solidFill>
                <a:latin typeface="맑은 고딕"/>
                <a:ea typeface="맑은 고딕"/>
                <a:cs typeface="맑은 고딕"/>
              </a:rPr>
              <a:t>Cost Evaluator → Selector</a:t>
            </a:r>
          </a:p>
          <a:p>
            <a:pPr algn="ctr">
              <a:spcAft>
                <a:spcPts val="0"/>
              </a:spcAft>
            </a:pPr>
            <a:r>
              <a:rPr sz="750" b="0">
                <a:solidFill>
                  <a:srgbClr val="595959"/>
                </a:solidFill>
                <a:latin typeface="맑은 고딕"/>
                <a:ea typeface="맑은 고딕"/>
                <a:cs typeface="맑은 고딕"/>
              </a:rPr>
              <a:t>후보 순위 산출 (argmin Cost)</a:t>
            </a:r>
          </a:p>
        </p:txBody>
      </p:sp>
      <p:sp>
        <p:nvSpPr>
          <p:cNvPr id="26" name="Rectangle 25"/>
          <p:cNvSpPr/>
          <p:nvPr/>
        </p:nvSpPr>
        <p:spPr>
          <a:xfrm>
            <a:off x="6263640" y="2395728"/>
            <a:ext cx="2057400" cy="457200"/>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1">
                <a:solidFill>
                  <a:srgbClr val="000000"/>
                </a:solidFill>
                <a:latin typeface="맑은 고딕"/>
                <a:ea typeface="맑은 고딕"/>
                <a:cs typeface="맑은 고딕"/>
              </a:rPr>
              <a:t>State Repository</a:t>
            </a:r>
          </a:p>
          <a:p>
            <a:pPr algn="ctr">
              <a:spcAft>
                <a:spcPts val="0"/>
              </a:spcAft>
            </a:pPr>
            <a:r>
              <a:rPr sz="750" b="0">
                <a:solidFill>
                  <a:srgbClr val="595959"/>
                </a:solidFill>
                <a:latin typeface="맑은 고딕"/>
                <a:ea typeface="맑은 고딕"/>
                <a:cs typeface="맑은 고딕"/>
              </a:rPr>
              <a:t>snapshot + 자기 dispatch 기록</a:t>
            </a:r>
          </a:p>
        </p:txBody>
      </p:sp>
      <p:sp>
        <p:nvSpPr>
          <p:cNvPr id="27" name="Rectangle 26"/>
          <p:cNvSpPr/>
          <p:nvPr/>
        </p:nvSpPr>
        <p:spPr>
          <a:xfrm>
            <a:off x="6263640" y="2962656"/>
            <a:ext cx="2057400" cy="457200"/>
          </a:xfrm>
          <a:prstGeom prst="rect">
            <a:avLst/>
          </a:prstGeom>
          <a:solidFill>
            <a:srgbClr val="FFF2CC"/>
          </a:solidFill>
          <a:ln w="1016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1">
                <a:solidFill>
                  <a:srgbClr val="000000"/>
                </a:solidFill>
                <a:latin typeface="맑은 고딕"/>
                <a:ea typeface="맑은 고딕"/>
                <a:cs typeface="맑은 고딕"/>
              </a:rPr>
              <a:t>재계획 요청 수신</a:t>
            </a:r>
          </a:p>
          <a:p>
            <a:pPr algn="ctr">
              <a:spcAft>
                <a:spcPts val="0"/>
              </a:spcAft>
            </a:pPr>
            <a:r>
              <a:rPr sz="750" b="0">
                <a:solidFill>
                  <a:srgbClr val="595959"/>
                </a:solidFill>
                <a:latin typeface="맑은 고딕"/>
                <a:ea typeface="맑은 고딕"/>
                <a:cs typeface="맑은 고딕"/>
              </a:rPr>
              <a:t>거부 시 다음 후보로</a:t>
            </a:r>
          </a:p>
        </p:txBody>
      </p:sp>
      <p:sp>
        <p:nvSpPr>
          <p:cNvPr id="28" name="Rectangle 27"/>
          <p:cNvSpPr/>
          <p:nvPr/>
        </p:nvSpPr>
        <p:spPr>
          <a:xfrm>
            <a:off x="8823960" y="1554480"/>
            <a:ext cx="2834640" cy="1965960"/>
          </a:xfrm>
          <a:prstGeom prst="rect">
            <a:avLst/>
          </a:prstGeom>
          <a:solidFill>
            <a:srgbClr val="E2F0D9"/>
          </a:solidFill>
          <a:ln w="1270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23960" y="1554480"/>
            <a:ext cx="2834640" cy="219456"/>
          </a:xfrm>
          <a:prstGeom prst="rect">
            <a:avLst/>
          </a:prstGeom>
          <a:solidFill>
            <a:srgbClr val="548235"/>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200"/>
              </a:spcAft>
            </a:pPr>
            <a:r>
              <a:rPr sz="800" b="1">
                <a:solidFill>
                  <a:srgbClr val="FFFFFF"/>
                </a:solidFill>
                <a:latin typeface="맑은 고딕"/>
                <a:ea typeface="맑은 고딕"/>
                <a:cs typeface="맑은 고딕"/>
              </a:rPr>
              <a:t>«knowledge source» Tier Guard (신규, 로컬)</a:t>
            </a:r>
          </a:p>
        </p:txBody>
      </p:sp>
      <p:sp>
        <p:nvSpPr>
          <p:cNvPr id="30" name="Rectangle 29"/>
          <p:cNvSpPr/>
          <p:nvPr/>
        </p:nvSpPr>
        <p:spPr>
          <a:xfrm>
            <a:off x="8915400" y="1828800"/>
            <a:ext cx="2651760" cy="566928"/>
          </a:xfrm>
          <a:prstGeom prst="rect">
            <a:avLst/>
          </a:prstGeom>
          <a:solidFill>
            <a:srgbClr val="FFFFFF"/>
          </a:solidFill>
          <a:ln w="1016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1">
                <a:solidFill>
                  <a:srgbClr val="000000"/>
                </a:solidFill>
                <a:latin typeface="맑은 고딕"/>
                <a:ea typeface="맑은 고딕"/>
                <a:cs typeface="맑은 고딕"/>
              </a:rPr>
              <a:t>live admission 검사</a:t>
            </a:r>
          </a:p>
          <a:p>
            <a:pPr algn="ctr">
              <a:spcAft>
                <a:spcPts val="0"/>
              </a:spcAft>
            </a:pPr>
            <a:r>
              <a:rPr sz="750" b="0">
                <a:solidFill>
                  <a:srgbClr val="595959"/>
                </a:solidFill>
                <a:latin typeface="맑은 고딕"/>
                <a:ea typeface="맑은 고딕"/>
                <a:cs typeface="맑은 고딕"/>
              </a:rPr>
              <a:t>노드 iteration 시간 + claim backlog &lt;= 한도</a:t>
            </a:r>
          </a:p>
        </p:txBody>
      </p:sp>
      <p:sp>
        <p:nvSpPr>
          <p:cNvPr id="31" name="Rectangle 30"/>
          <p:cNvSpPr/>
          <p:nvPr/>
        </p:nvSpPr>
        <p:spPr>
          <a:xfrm>
            <a:off x="8915400" y="2505456"/>
            <a:ext cx="2651760" cy="457200"/>
          </a:xfrm>
          <a:prstGeom prst="rect">
            <a:avLst/>
          </a:prstGeom>
          <a:solidFill>
            <a:srgbClr val="FFFFFF"/>
          </a:solidFill>
          <a:ln w="1016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50" b="1">
                <a:solidFill>
                  <a:srgbClr val="000000"/>
                </a:solidFill>
                <a:latin typeface="맑은 고딕"/>
                <a:ea typeface="맑은 고딕"/>
                <a:cs typeface="맑은 고딕"/>
              </a:rPr>
              <a:t>Tier Worker</a:t>
            </a:r>
          </a:p>
          <a:p>
            <a:pPr algn="ctr">
              <a:spcAft>
                <a:spcPts val="0"/>
              </a:spcAft>
            </a:pPr>
            <a:r>
              <a:rPr sz="750" b="0">
                <a:solidFill>
                  <a:srgbClr val="595959"/>
                </a:solidFill>
                <a:latin typeface="맑은 고딕"/>
                <a:ea typeface="맑은 고딕"/>
                <a:cs typeface="맑은 고딕"/>
              </a:rPr>
              <a:t>ScHBM · CXL-PNM · HBF</a:t>
            </a:r>
          </a:p>
        </p:txBody>
      </p:sp>
      <p:sp>
        <p:nvSpPr>
          <p:cNvPr id="32" name="Rectangle 31"/>
          <p:cNvSpPr/>
          <p:nvPr/>
        </p:nvSpPr>
        <p:spPr>
          <a:xfrm>
            <a:off x="8915400" y="3035808"/>
            <a:ext cx="2651760" cy="384048"/>
          </a:xfrm>
          <a:prstGeom prst="rect">
            <a:avLst/>
          </a:prstGeom>
          <a:solidFill>
            <a:srgbClr val="F0F1F3"/>
          </a:solidFill>
          <a:ln w="1016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pPr>
            <a:r>
              <a:rPr sz="800" b="1">
                <a:solidFill>
                  <a:srgbClr val="000000"/>
                </a:solidFill>
                <a:latin typeface="맑은 고딕"/>
                <a:ea typeface="맑은 고딕"/>
                <a:cs typeface="맑은 고딕"/>
              </a:rPr>
              <a:t>GPU Worker</a:t>
            </a:r>
          </a:p>
        </p:txBody>
      </p:sp>
      <p:cxnSp>
        <p:nvCxnSpPr>
          <p:cNvPr id="33" name="Connector 32"/>
          <p:cNvCxnSpPr/>
          <p:nvPr/>
        </p:nvCxnSpPr>
        <p:spPr>
          <a:xfrm>
            <a:off x="5897880" y="2103120"/>
            <a:ext cx="27432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412480" y="2103120"/>
            <a:ext cx="411480" cy="0"/>
          </a:xfrm>
          <a:prstGeom prst="line">
            <a:avLst/>
          </a:prstGeom>
          <a:ln w="19050">
            <a:solidFill>
              <a:srgbClr val="2E75B6"/>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229600" y="1810512"/>
            <a:ext cx="822960" cy="274320"/>
          </a:xfrm>
          <a:prstGeom prst="rect">
            <a:avLst/>
          </a:prstGeom>
          <a:noFill/>
        </p:spPr>
        <p:txBody>
          <a:bodyPr wrap="square" anchor="t" lIns="45720" rIns="45720" tIns="27432" bIns="27432">
            <a:spAutoFit/>
          </a:bodyPr>
          <a:lstStyle/>
          <a:p>
            <a:pPr algn="l">
              <a:spcAft>
                <a:spcPts val="200"/>
              </a:spcAft>
            </a:pPr>
            <a:r>
              <a:rPr sz="750" b="0">
                <a:solidFill>
                  <a:srgbClr val="FF0000"/>
                </a:solidFill>
                <a:latin typeface="맑은 고딕"/>
                <a:ea typeface="맑은 고딕"/>
                <a:cs typeface="맑은 고딕"/>
              </a:rPr>
              <a:t>① plan(cmd)</a:t>
            </a:r>
          </a:p>
        </p:txBody>
      </p:sp>
      <p:cxnSp>
        <p:nvCxnSpPr>
          <p:cNvPr id="36" name="Connector 35"/>
          <p:cNvCxnSpPr/>
          <p:nvPr/>
        </p:nvCxnSpPr>
        <p:spPr>
          <a:xfrm flipH="1">
            <a:off x="8412480" y="3200400"/>
            <a:ext cx="411480" cy="0"/>
          </a:xfrm>
          <a:prstGeom prst="line">
            <a:avLst/>
          </a:prstGeom>
          <a:ln w="15875">
            <a:solidFill>
              <a:srgbClr val="FF00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229600" y="3291840"/>
            <a:ext cx="1188720" cy="256032"/>
          </a:xfrm>
          <a:prstGeom prst="rect">
            <a:avLst/>
          </a:prstGeom>
          <a:noFill/>
        </p:spPr>
        <p:txBody>
          <a:bodyPr wrap="square" anchor="t" lIns="45720" rIns="45720" tIns="27432" bIns="27432">
            <a:spAutoFit/>
          </a:bodyPr>
          <a:lstStyle/>
          <a:p>
            <a:pPr algn="l">
              <a:spcAft>
                <a:spcPts val="200"/>
              </a:spcAft>
            </a:pPr>
            <a:r>
              <a:rPr sz="750" b="0">
                <a:solidFill>
                  <a:srgbClr val="FF0000"/>
                </a:solidFill>
                <a:latin typeface="맑은 고딕"/>
                <a:ea typeface="맑은 고딕"/>
                <a:cs typeface="맑은 고딕"/>
              </a:rPr>
              <a:t>② veto(reason)</a:t>
            </a:r>
          </a:p>
        </p:txBody>
      </p:sp>
      <p:sp>
        <p:nvSpPr>
          <p:cNvPr id="38" name="TextBox 37"/>
          <p:cNvSpPr txBox="1"/>
          <p:nvPr/>
        </p:nvSpPr>
        <p:spPr>
          <a:xfrm>
            <a:off x="4754880" y="3547872"/>
            <a:ext cx="6858000" cy="274320"/>
          </a:xfrm>
          <a:prstGeom prst="rect">
            <a:avLst/>
          </a:prstGeom>
          <a:noFill/>
        </p:spPr>
        <p:txBody>
          <a:bodyPr wrap="square" anchor="t" lIns="45720" rIns="45720" tIns="27432" bIns="27432">
            <a:spAutoFit/>
          </a:bodyPr>
          <a:lstStyle/>
          <a:p>
            <a:pPr algn="l">
              <a:spcAft>
                <a:spcPts val="200"/>
              </a:spcAft>
            </a:pPr>
            <a:r>
              <a:rPr sz="800" b="1">
                <a:solidFill>
                  <a:srgbClr val="548235"/>
                </a:solidFill>
                <a:latin typeface="맑은 고딕"/>
                <a:ea typeface="맑은 고딕"/>
                <a:cs typeface="맑은 고딕"/>
              </a:rPr>
              <a:t>스타일: Dispatcher의 결정 권한은 유지, 거부권만 Tier로 분산 (Blackboard의 live 측정 차용)</a:t>
            </a:r>
          </a:p>
        </p:txBody>
      </p:sp>
      <p:graphicFrame>
        <p:nvGraphicFramePr>
          <p:cNvPr id="39" name="Table 38"/>
          <p:cNvGraphicFramePr>
            <a:graphicFrameLocks noGrp="1"/>
          </p:cNvGraphicFramePr>
          <p:nvPr/>
        </p:nvGraphicFramePr>
        <p:xfrm>
          <a:off x="347472" y="4114800"/>
          <a:ext cx="11750040" cy="1627632"/>
        </p:xfrm>
        <a:graphic>
          <a:graphicData uri="http://schemas.openxmlformats.org/drawingml/2006/table">
            <a:tbl>
              <a:tblPr firstRow="0" bandRow="0">
                <a:tableStyleId>{2D5ABB26-0587-4C30-8999-92F81FD0307C}</a:tableStyleId>
              </a:tblPr>
              <a:tblGrid>
                <a:gridCol w="3566160"/>
                <a:gridCol w="6035040"/>
                <a:gridCol w="2148840"/>
              </a:tblGrid>
              <a:tr h="256032">
                <a:tc>
                  <a:txBody>
                    <a:bodyPr wrap="square"/>
                    <a:lstStyle/>
                    <a:p>
                      <a:pPr algn="ctr">
                        <a:spcAft>
                          <a:spcPts val="100"/>
                        </a:spcAft>
                      </a:pPr>
                      <a:r>
                        <a:rPr sz="1000" b="0">
                          <a:solidFill>
                            <a:srgbClr val="7F7F7F"/>
                          </a:solidFill>
                          <a:latin typeface="맑은 고딕"/>
                          <a:ea typeface="맑은 고딕"/>
                          <a:cs typeface="맑은 고딕"/>
                        </a:rPr>
                        <a:t>약점 (근거)</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1000" b="1">
                          <a:solidFill>
                            <a:srgbClr val="7F7F7F"/>
                          </a:solidFill>
                          <a:latin typeface="맑은 고딕"/>
                          <a:ea typeface="맑은 고딕"/>
                          <a:cs typeface="맑은 고딕"/>
                        </a:rPr>
                        <a:t>보완 택틱</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lgn="ctr">
                        <a:spcAft>
                          <a:spcPts val="100"/>
                        </a:spcAft>
                      </a:pPr>
                      <a:r>
                        <a:rPr sz="1000" b="1">
                          <a:solidFill>
                            <a:srgbClr val="7F7F7F"/>
                          </a:solidFill>
                          <a:latin typeface="맑은 고딕"/>
                          <a:ea typeface="맑은 고딕"/>
                          <a:cs typeface="맑은 고딕"/>
                        </a:rPr>
                        <a:t>검증 상태</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7200">
                <a:tc>
                  <a:txBody>
                    <a:bodyPr wrap="square"/>
                    <a:lstStyle/>
                    <a:p>
                      <a:pPr algn="l">
                        <a:spcAft>
                          <a:spcPts val="100"/>
                        </a:spcAft>
                      </a:pPr>
                      <a:r>
                        <a:rPr sz="900" b="1">
                          <a:solidFill>
                            <a:srgbClr val="7F7F7F"/>
                          </a:solidFill>
                          <a:latin typeface="맑은 고딕"/>
                          <a:ea typeface="맑은 고딕"/>
                          <a:cs typeface="맑은 고딕"/>
                        </a:rPr>
                        <a:t>TPOT 꼬리 P99 x1.34</a:t>
                      </a:r>
                    </a:p>
                    <a:p>
                      <a:pPr algn="l">
                        <a:spcAft>
                          <a:spcPts val="100"/>
                        </a:spcAft>
                      </a:pPr>
                      <a:r>
                        <a:rPr sz="850" b="0">
                          <a:solidFill>
                            <a:srgbClr val="7F7F7F"/>
                          </a:solidFill>
                          <a:latin typeface="맑은 고딕"/>
                          <a:ea typeface="맑은 고딕"/>
                          <a:cs typeface="맑은 고딕"/>
                        </a:rPr>
                        <a:t>snapshot 사이 부하 미반영</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Tier Guard가 live 측정값으로 거부, 거부되면 Dispatcher가 다음 후보 선택 (결정은 중앙, 거부는 로컬)</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[C] 논증, 미구현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7200">
                <a:tc>
                  <a:txBody>
                    <a:bodyPr wrap="square"/>
                    <a:lstStyle/>
                    <a:p>
                      <a:pPr algn="l">
                        <a:spcAft>
                          <a:spcPts val="100"/>
                        </a:spcAft>
                      </a:pPr>
                      <a:r>
                        <a:rPr sz="900" b="1">
                          <a:solidFill>
                            <a:srgbClr val="7F7F7F"/>
                          </a:solidFill>
                          <a:latin typeface="맑은 고딕"/>
                          <a:ea typeface="맑은 고딕"/>
                          <a:cs typeface="맑은 고딕"/>
                        </a:rPr>
                        <a:t>Cost 추정 오차 의존 (sigma 0.4: x0.91)</a:t>
                      </a:r>
                    </a:p>
                    <a:p>
                      <a:pPr algn="l">
                        <a:spcAft>
                          <a:spcPts val="100"/>
                        </a:spcAft>
                      </a:pPr>
                      <a:r>
                        <a:rPr sz="850" b="0">
                          <a:solidFill>
                            <a:srgbClr val="7F7F7F"/>
                          </a:solidFill>
                          <a:latin typeface="맑은 고딕"/>
                          <a:ea typeface="맑은 고딕"/>
                          <a:cs typeface="맑은 고딕"/>
                        </a:rPr>
                        <a:t>오추정 비용에 상한 없음</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오추정이 SLO를 넘기 전에 Guard가 상한 역할 (오차 보정과 별개로 최악 경계)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[C] 논증, 미구현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r h="457200">
                <a:tc>
                  <a:txBody>
                    <a:bodyPr wrap="square"/>
                    <a:lstStyle/>
                    <a:p>
                      <a:pPr algn="l">
                        <a:spcAft>
                          <a:spcPts val="100"/>
                        </a:spcAft>
                      </a:pPr>
                      <a:r>
                        <a:rPr sz="900" b="1">
                          <a:solidFill>
                            <a:srgbClr val="7F7F7F"/>
                          </a:solidFill>
                          <a:latin typeface="맑은 고딕"/>
                          <a:ea typeface="맑은 고딕"/>
                          <a:cs typeface="맑은 고딕"/>
                        </a:rPr>
                        <a:t>변경 시 3 module (S4 telemetry 신호)</a:t>
                      </a:r>
                    </a:p>
                    <a:p>
                      <a:pPr algn="l">
                        <a:spcAft>
                          <a:spcPts val="100"/>
                        </a:spcAft>
                      </a:pPr>
                      <a:r>
                        <a:rPr sz="850" b="0">
                          <a:solidFill>
                            <a:srgbClr val="7F7F7F"/>
                          </a:solidFill>
                          <a:latin typeface="맑은 고딕"/>
                          <a:ea typeface="맑은 고딕"/>
                          <a:cs typeface="맑은 고딕"/>
                        </a:rPr>
                        <a:t>Tier 상태가 중앙에 있음</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Tier 상태·한도를 Tier Guard가 소유해 신호 추가가 Guard 1곳에 국소화되는지 확인</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c>
                  <a:txBody>
                    <a:bodyPr wrap="square"/>
                    <a:lstStyle/>
                    <a:p>
                      <a:pPr>
                        <a:spcAft>
                          <a:spcPts val="100"/>
                        </a:spcAft>
                      </a:pPr>
                      <a:r>
                        <a:rPr sz="900" b="0">
                          <a:solidFill>
                            <a:srgbClr val="000000"/>
                          </a:solidFill>
                          <a:latin typeface="맑은 고딕"/>
                          <a:ea typeface="맑은 고딕"/>
                          <a:cs typeface="맑은 고딕"/>
                        </a:rPr>
                        <a:t>[C] 가설, 미구현</a:t>
                      </a:r>
                    </a:p>
                  </a:txBody>
                  <a:tcPr marL="64008" marR="64008" marT="27432" marB="27432" anchor="ctr">
                    <a:lnL w="6350">
                      <a:solidFill>
                        <a:srgbClr val="BFBFBF"/>
                      </a:solidFill>
                    </a:lnL>
                    <a:lnR w="6350">
                      <a:solidFill>
                        <a:srgbClr val="BFBFBF"/>
                      </a:solidFill>
                    </a:lnR>
                    <a:lnT w="6350">
                      <a:solidFill>
                        <a:srgbClr val="BFBFBF"/>
                      </a:solidFill>
                    </a:lnT>
                    <a:lnB w="6350">
                      <a:solidFill>
                        <a:srgbClr val="BFBFBF"/>
                      </a:solidFill>
                    </a:lnB>
                    <a:solidFill>
                      <a:srgbClr val="FFFFFF"/>
                    </a:solidFill>
                  </a:tcPr>
                </a:tc>
              </a:tr>
            </a:tbl>
          </a:graphicData>
        </a:graphic>
      </p:graphicFrame>
      <p:sp>
        <p:nvSpPr>
          <p:cNvPr id="40" name="Right Arrow 39"/>
          <p:cNvSpPr/>
          <p:nvPr/>
        </p:nvSpPr>
        <p:spPr>
          <a:xfrm>
            <a:off x="283464" y="5897880"/>
            <a:ext cx="411480" cy="274320"/>
          </a:xfrm>
          <a:prstGeom prst="rightArrow">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879592"/>
            <a:ext cx="11155680" cy="310896"/>
          </a:xfrm>
          <a:prstGeom prst="rect">
            <a:avLst/>
          </a:prstGeom>
          <a:noFill/>
        </p:spPr>
        <p:txBody>
          <a:bodyPr wrap="square" anchor="ctr" lIns="45720" rIns="45720" tIns="27432" bIns="27432">
            <a:spAutoFit/>
          </a:bodyPr>
          <a:lstStyle/>
          <a:p>
            <a:pPr algn="l">
              <a:spcAft>
                <a:spcPts val="200"/>
              </a:spcAft>
            </a:pPr>
            <a:r>
              <a:rPr sz="1200" b="1">
                <a:solidFill>
                  <a:srgbClr val="0066FF"/>
                </a:solidFill>
                <a:latin typeface="맑은 고딕"/>
                <a:ea typeface="맑은 고딕"/>
                <a:cs typeface="맑은 고딕"/>
              </a:rPr>
              <a:t>중앙 Dispatcher의 선택은 유지하고, Tier 쪽 live 거부권을 더해 TPOT 꼬리와 추정 오차의 최악 경계를 둔다 (Hybrid C)</a:t>
            </a:r>
          </a:p>
        </p:txBody>
      </p:sp>
      <p:sp>
        <p:nvSpPr>
          <p:cNvPr id="42" name="TextBox 41"/>
          <p:cNvSpPr txBox="1"/>
          <p:nvPr/>
        </p:nvSpPr>
        <p:spPr>
          <a:xfrm>
            <a:off x="384048" y="6208776"/>
            <a:ext cx="11430000" cy="548640"/>
          </a:xfrm>
          <a:prstGeom prst="rect">
            <a:avLst/>
          </a:prstGeom>
          <a:noFill/>
        </p:spPr>
        <p:txBody>
          <a:bodyPr wrap="square" anchor="t" lIns="45720" rIns="45720" tIns="27432" bIns="27432">
            <a:spAutoFit/>
          </a:bodyPr>
          <a:lstStyle/>
          <a:p>
            <a:pPr algn="l">
              <a:spcAft>
                <a:spcPts val="100"/>
              </a:spcAft>
            </a:pPr>
            <a:r>
              <a:rPr sz="1100" b="1">
                <a:solidFill>
                  <a:srgbClr val="000000"/>
                </a:solidFill>
                <a:latin typeface="맑은 고딕"/>
                <a:ea typeface="맑은 고딕"/>
                <a:cs typeface="맑은 고딕"/>
              </a:rPr>
              <a:t>미구현 택틱의 효과 수치는 주장하지 않음. 다음 단계: C 구현 후 같은 benchmark(Baseline-regression)로 평가</a:t>
            </a:r>
          </a:p>
        </p:txBody>
      </p:sp>
      <p:sp>
        <p:nvSpPr>
          <p:cNvPr id="43" name="TextBox 42"/>
          <p:cNvSpPr txBox="1"/>
          <p:nvPr/>
        </p:nvSpPr>
        <p:spPr>
          <a:xfrm>
            <a:off x="5349240" y="6583680"/>
            <a:ext cx="621792" cy="237744"/>
          </a:xfrm>
          <a:prstGeom prst="rect">
            <a:avLst/>
          </a:prstGeom>
          <a:noFill/>
        </p:spPr>
        <p:txBody>
          <a:bodyPr wrap="square" anchor="t" lIns="45720" rIns="45720" tIns="27432" bIns="27432">
            <a:spAutoFit/>
          </a:bodyPr>
          <a:lstStyle/>
          <a:p>
            <a:pPr algn="r">
              <a:spcAft>
                <a:spcPts val="200"/>
              </a:spcAft>
            </a:pPr>
            <a:r>
              <a:rPr sz="1000" b="0">
                <a:solidFill>
                  <a:srgbClr val="7F7F7F"/>
                </a:solidFill>
                <a:latin typeface="맑은 고딕"/>
                <a:ea typeface="맑은 고딕"/>
                <a:cs typeface="맑은 고딕"/>
              </a:rPr>
              <a:t>4</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5707</Words>
  <Application>Microsoft Office PowerPoint</Application>
  <PresentationFormat>와이드스크린</PresentationFormat>
  <Paragraphs>852</Paragraphs>
  <Slides>10</Slides>
  <Notes>10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10</vt:i4>
      </vt:variant>
    </vt:vector>
  </HeadingPairs>
  <TitlesOfParts>
    <vt:vector size="16" baseType="lpstr">
      <vt:lpstr>Samsung Sharp Sans Bold</vt:lpstr>
      <vt:lpstr>맑은 고딕</vt:lpstr>
      <vt:lpstr>맑은 고딕</vt:lpstr>
      <vt:lpstr>Arial</vt:lpstr>
      <vt:lpstr>Wingdings</vt:lpstr>
      <vt:lpstr>Office 테마</vt:lpstr>
      <vt:lpstr>DP1. 이기종 메모리 기반 Data Migration 결정 구조 - 배경</vt:lpstr>
      <vt:lpstr>DP1. 이기종 메모리 기반 Data Migration 결정 구조 - 배경</vt:lpstr>
      <vt:lpstr>DP1. 이기종 메모리 기반 Data Migration 결정 구조 - 설계</vt:lpstr>
      <vt:lpstr>DP1. 이기종 메모리 기반 Data Migration 결정 구조 - 설계</vt:lpstr>
      <vt:lpstr>DP2. 이기종 메모리 환경의 Prefill/Decode 실행 위치 결정 구조 - 사전 지식</vt:lpstr>
      <vt:lpstr>DP2. 이기종 메모리 환경의 Prefill/Decode 실행 위치 결정 구조 - 배경</vt:lpstr>
      <vt:lpstr>DP2. 이기종 메모리 환경의 Prefill/Decode 실행 위치 결정 구조 - 설계</vt:lpstr>
      <vt:lpstr>DP4. 요청 조율 구조 (Orchestration) - 배경</vt:lpstr>
      <vt:lpstr>DP4. 여러 서버를 묶는 요청 조율 구조 - 배경</vt:lpstr>
      <vt:lpstr>DP4. 요청 조율 계층 (Orchestration) 설계 - 구조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DP1. 이기종 메모리 기반 Data Migration 결정 구조 - 배경</dc:title>
  <dc:creator>Myeong Woo Kim</dc:creator>
  <cp:lastModifiedBy>Myeong Woo Kim</cp:lastModifiedBy>
  <cp:revision>1</cp:revision>
  <dcterms:created xsi:type="dcterms:W3CDTF">2026-10-10T04:25:41Z</dcterms:created>
  <dcterms:modified xsi:type="dcterms:W3CDTF">2026-10-10T04:26:54Z</dcterms:modified>
</cp:coreProperties>
</file>
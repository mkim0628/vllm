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7"/>
    <p:sldId id="257" r:id="rId8"/>
    <p:sldId id="258" r:id="rId9"/>
    <p:sldId id="259"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3" d="100"/>
          <a:sy n="113" d="100"/>
        </p:scale>
        <p:origin x="510"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FDB59D-6851-4087-A360-1717CD539FDC}" type="datetimeFigureOut">
              <a:rPr lang="ko-KR" altLang="en-US" smtClean="0"/>
              <a:t>2026-10-10</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1D42F9D-A517-472D-B53C-0A9BC49CDB65}" type="slidenum">
              <a:rPr lang="ko-KR" altLang="en-US" smtClean="0"/>
              <a:t>‹#›</a:t>
            </a:fld>
            <a:endParaRPr lang="ko-KR" altLang="en-US"/>
          </a:p>
        </p:txBody>
      </p:sp>
    </p:spTree>
    <p:extLst>
      <p:ext uri="{BB962C8B-B14F-4D97-AF65-F5344CB8AC3E}">
        <p14:creationId xmlns:p14="http://schemas.microsoft.com/office/powerpoint/2010/main" val="43600162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두 안은 같은 모듈 집합을 쓰고, 결정 로직(Analyzer, Mapper, Policy Engine)의 소속만 다르다. 1안은 상태 소유자인 Resource Manager 안에, 2안은 Control에 둔다.</a:t>
            </a:r>
          </a:p>
          <a:p>
            <a:r>
              <a:t>근거: 소속이 바뀌면 호출 경계가 바뀐다(로컬 호출 vs snapshot query). 그 결과 결정 경로 hop, 상태 stale, 정책 변경 시 수정 모듈, 서비스 확장 단위가 달라진다.</a:t>
            </a:r>
          </a:p>
          <a:p>
            <a:r>
              <a:t>선택의 의미: 신호 종류(자원 상태 vs data 행동)는 정책 플러그인으로 내려 두 안에서 같게 둔다. 평가 전이라 선택은 표시하지 않았다.</a:t>
            </a:r>
          </a:p>
          <a:p>
            <a:r>
              <a:t>출처: doc-mk/DP1/dp1-ai-data-migration-decision-architecture.md, Requirements/DP1-requirements.md FR-05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두 안은 Analyzer, Mapper, Policy Engine 세 모듈의 소속만 다르다. 나머지 모듈과 Data Plane, Backend I/F는 동일하다.</a:t>
            </a:r>
          </a:p>
          <a:p>
            <a:r>
              <a:t>근거: 소속을 상태 소유 측에 둘지 분리할지는 데이터 지역성과 관심사 분리 사이의 전형적인 선택이다.</a:t>
            </a:r>
          </a:p>
          <a:p>
            <a:r>
              <a:t>선택의 의미: 신호 종류는 정책 플러그인이라 비교에서 고정한다. 구조 차이는 호출 경계, 정책 변경 파급, 서비스 확장 단위로 측정한다.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같은 정책에서 결정 로직의 소속만 바꿔 QA를 본다.</a:t>
            </a:r>
          </a:p>
          <a:p>
            <a:r>
              <a:t>근거: Q1은 결정 경로 hop, Q2는 stale window, Q3은 정책 변경 시 수정 모듈 수, Q4는 N 증가 시 지연 증가율로 환산한다. 숫자는 아직 없고 모두 가설·추정이다.</a:t>
            </a:r>
          </a:p>
          <a:p>
            <a:r>
              <a:t>선택의 의미: Q1은 결정이 비동기라 차이가 작을 수 있어 Q2~Q4가 변별력의 중심이다. 시뮬레이션 [B+C] 전에는 우열을 단정하지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원안 2안의 보완(Lease, Behavior adapter)을 결정 위치 구조(판단은 Control, 상태는 Resource Manager)에 맞춰 배치했다.</a:t>
            </a:r>
          </a:p>
          <a:p>
            <a:r>
              <a:t>근거: HBM Lease Granter는 판단이므로 Policy Engine 안(Control)에 둔다. Lease Timer는 상태 소유 측(Resource Manager)에서 만료 event를 push해 Control의 Registry 폴링을 없앤다. Behavior Feature Adapter는 Resource Manager의 조회 경계에 두어 Control이 보는 snapshot 스키마를 workload와 무관하게 고정한다. 이는 결정 위치 2안(Control 분리)의 약점이던 query 스키마 유지 비용을 줄인다.</a:t>
            </a:r>
          </a:p>
          <a:p>
            <a:r>
              <a:t>선택의 의미: 배치는 제안이며 vLLM 코드 대응은 확인이 필요하다. 별점은 구조 변경 후 재평가가 필요해 비웠다.</a:t>
            </a:r>
          </a:p>
          <a:p>
            <a:r>
              <a:t>출처: 사용자 보완 설계 슬라이드(2안 + 보완), doc-mk/DP1/dp1-ai-data-migration-decision-architecture.md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8766F1F-6FFF-438E-978E-7F50C6A9E636}"/>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3DAFAFD0-1F82-4A9B-B3F6-99224804EA1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D2A504BB-6AAA-4233-A0A1-1975C91FEA4C}"/>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AE792343-8259-4E59-9F61-74C15CCDDC4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1CB83A2-9524-4B3A-B3C6-D4F79B0E8BB3}"/>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64031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BE669E3-A266-4BEB-8BBA-CE42A5B66594}"/>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5CE1CA8F-9445-4D8B-A0A0-34714CBAC16D}"/>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982E6160-1C4D-4559-89D9-A35150A3582B}"/>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5B2329A2-229C-4CBB-AC58-12A0F0ACAC1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241D84D-6A9B-449E-843F-67D8BA66FBB1}"/>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8725964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076C279-BE8E-4A58-8F27-8C25650DED12}"/>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4392A46-7FFF-4D6F-AA6E-D59A61223DC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046685FA-9578-48E3-9E09-D095C1DFA2E5}"/>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2AA1F830-4CCD-4D6C-BCCB-003C05CFE7D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80742D8-AAC9-4467-8546-CC9D64B5949C}"/>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14335984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44B4E56-0A82-416C-92D9-654BF5C9D24E}"/>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EFB22FE0-D66C-416D-A771-4B8A78E1DB68}"/>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70BDFEE8-FEDA-40B6-AD92-F654C3C947F8}"/>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47C12402-8087-4755-8681-5AB4A554CB75}"/>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6" name="바닥글 개체 틀 5">
            <a:extLst>
              <a:ext uri="{FF2B5EF4-FFF2-40B4-BE49-F238E27FC236}">
                <a16:creationId xmlns:a16="http://schemas.microsoft.com/office/drawing/2014/main" id="{FB6EB7B6-16FD-43F7-AD81-6AE05331273C}"/>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7884AA5-2DBF-4023-90B7-AAC1D13205A3}"/>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488268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592D15B-0C0F-4390-875E-1590EE8F0FDA}"/>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5B713CE4-54D4-472C-AF86-5304C461B5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0EF3848C-49A2-46AD-B69D-6770C2A44318}"/>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90F7C98F-4810-4F56-8535-9FA72E9AD6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5D491211-BEE3-4FEF-980E-6C26F74438DF}"/>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8E8F1097-25B6-4C35-9EDA-0A1B99A7AF6E}"/>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8" name="바닥글 개체 틀 7">
            <a:extLst>
              <a:ext uri="{FF2B5EF4-FFF2-40B4-BE49-F238E27FC236}">
                <a16:creationId xmlns:a16="http://schemas.microsoft.com/office/drawing/2014/main" id="{11967B94-09AA-40C9-A6E7-C49079CAA9A0}"/>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E44706B7-77D3-4F97-B3C3-87F6F63E48FB}"/>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9751027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7E3900A-A75F-4F93-AE6D-F58DCEBA40E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09FA1503-70FC-402A-9BEA-A7A4CBD5F324}"/>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4" name="바닥글 개체 틀 3">
            <a:extLst>
              <a:ext uri="{FF2B5EF4-FFF2-40B4-BE49-F238E27FC236}">
                <a16:creationId xmlns:a16="http://schemas.microsoft.com/office/drawing/2014/main" id="{AD8CE03B-7743-434D-93C2-5D3CF40D6E07}"/>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E3E11778-A95C-403D-A5C5-03429AA1E58E}"/>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1582045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879B79F9-D3BF-4383-9A2B-6720ED16C1D7}"/>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3" name="바닥글 개체 틀 2">
            <a:extLst>
              <a:ext uri="{FF2B5EF4-FFF2-40B4-BE49-F238E27FC236}">
                <a16:creationId xmlns:a16="http://schemas.microsoft.com/office/drawing/2014/main" id="{9791CDC1-1BD2-4CEC-AF70-F1035E05EE88}"/>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066BE70D-7B66-4208-B021-AB8D7CB4D757}"/>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4236938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71A4DB-6070-458A-B403-89620438738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3CEFAD1F-018C-4CD8-A320-CCA387166D5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290798B4-57C3-44B4-A8C2-A1110A1433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6382C16-FF45-4304-A19A-EF629B4740F6}"/>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6" name="바닥글 개체 틀 5">
            <a:extLst>
              <a:ext uri="{FF2B5EF4-FFF2-40B4-BE49-F238E27FC236}">
                <a16:creationId xmlns:a16="http://schemas.microsoft.com/office/drawing/2014/main" id="{9BB56C59-F03D-40C5-A062-6C1D08EA6FB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B5D1989-7D2D-483E-8B76-675B71A799C6}"/>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16946810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F80EA15-1B37-4FC8-A267-BD814C73A41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7A6C1A13-FB13-43ED-9A16-DE43BD615F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BC750587-5197-4793-84A9-1FCE8E0FECC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02A05951-2B75-4A9C-9D31-DA984C7D0BA0}"/>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6" name="바닥글 개체 틀 5">
            <a:extLst>
              <a:ext uri="{FF2B5EF4-FFF2-40B4-BE49-F238E27FC236}">
                <a16:creationId xmlns:a16="http://schemas.microsoft.com/office/drawing/2014/main" id="{893DFFFB-CB82-44B7-ADD5-6C06FFCA99BF}"/>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DFC3ACB5-7C5F-4763-A545-1E091D9CF56F}"/>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1313819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48F7E99-E266-4394-AC3C-C81C0AA01FE5}"/>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CB903C54-E094-4214-B922-CFC0A756130D}"/>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C66B284-4B0D-4115-B089-AA26C33B4436}"/>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08850256-F467-447D-9263-C7183DD65B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83367B8-E91F-4EFF-904D-A125138D3603}"/>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24471840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2E4CC87E-C30F-4874-9B17-340763F05AF7}"/>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DB237634-FD61-4D11-A5FB-707E825ADF3E}"/>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9D80697-7563-4134-9650-BD8DE52FAD6B}"/>
              </a:ext>
            </a:extLst>
          </p:cNvPr>
          <p:cNvSpPr>
            <a:spLocks noGrp="1"/>
          </p:cNvSpPr>
          <p:nvPr>
            <p:ph type="dt" sz="half" idx="10"/>
          </p:nvPr>
        </p:nvSpPr>
        <p:spPr/>
        <p:txBody>
          <a:body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B7795852-3BEA-4032-BF3B-1DBB06E399D4}"/>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CEE3DC6E-6854-4E11-B4EC-45C9A22F9932}"/>
              </a:ext>
            </a:extLst>
          </p:cNvPr>
          <p:cNvSpPr>
            <a:spLocks noGrp="1"/>
          </p:cNvSpPr>
          <p:nvPr>
            <p:ph type="sldNum" sz="quarter" idx="12"/>
          </p:nvPr>
        </p:nvSpPr>
        <p:spPr/>
        <p:txBody>
          <a:body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40905289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제목 및 내용">
    <p:spTree>
      <p:nvGrpSpPr>
        <p:cNvPr id="1" name=""/>
        <p:cNvGrpSpPr/>
        <p:nvPr/>
      </p:nvGrpSpPr>
      <p:grpSpPr>
        <a:xfrm>
          <a:off x="0" y="0"/>
          <a:ext cx="0" cy="0"/>
          <a:chOff x="0" y="0"/>
          <a:chExt cx="0" cy="0"/>
        </a:xfrm>
      </p:grpSpPr>
      <p:cxnSp>
        <p:nvCxnSpPr>
          <p:cNvPr id="12" name="직선 연결선 11"/>
          <p:cNvCxnSpPr/>
          <p:nvPr userDrawn="1"/>
        </p:nvCxnSpPr>
        <p:spPr>
          <a:xfrm>
            <a:off x="234950" y="654050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슬라이드 번호 개체 틀 5"/>
          <p:cNvSpPr>
            <a:spLocks noGrp="1"/>
          </p:cNvSpPr>
          <p:nvPr>
            <p:ph type="sldNum" sz="quarter" idx="4"/>
          </p:nvPr>
        </p:nvSpPr>
        <p:spPr>
          <a:xfrm>
            <a:off x="5620080" y="6597650"/>
            <a:ext cx="456466" cy="209550"/>
          </a:xfrm>
          <a:prstGeom prst="rect">
            <a:avLst/>
          </a:prstGeom>
        </p:spPr>
        <p:txBody>
          <a:bodyPr vert="horz" lIns="91440" tIns="45720" rIns="91440" bIns="45720" rtlCol="0" anchor="ctr"/>
          <a:lstStyle>
            <a:lvl1pPr algn="r">
              <a:defRPr sz="1200">
                <a:solidFill>
                  <a:schemeClr val="tx1">
                    <a:tint val="75000"/>
                  </a:schemeClr>
                </a:solidFill>
              </a:defRPr>
            </a:lvl1pPr>
          </a:lstStyle>
          <a:p>
            <a:fld id="{7F889C64-266A-4D07-AD8F-5B592E61CCE1}" type="slidenum">
              <a:rPr lang="ko-KR" altLang="en-US" smtClean="0"/>
              <a:pPr/>
              <a:t>‹#›</a:t>
            </a:fld>
            <a:endParaRPr lang="ko-KR" altLang="en-US" dirty="0"/>
          </a:p>
        </p:txBody>
      </p:sp>
      <p:cxnSp>
        <p:nvCxnSpPr>
          <p:cNvPr id="20" name="직선 연결선 19"/>
          <p:cNvCxnSpPr/>
          <p:nvPr userDrawn="1"/>
        </p:nvCxnSpPr>
        <p:spPr>
          <a:xfrm>
            <a:off x="234950" y="539750"/>
            <a:ext cx="1176655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1" name="제목 개체 틀 1"/>
          <p:cNvSpPr>
            <a:spLocks noGrp="1"/>
          </p:cNvSpPr>
          <p:nvPr>
            <p:ph type="title"/>
          </p:nvPr>
        </p:nvSpPr>
        <p:spPr>
          <a:xfrm>
            <a:off x="234948" y="137379"/>
            <a:ext cx="7655985" cy="365125"/>
          </a:xfrm>
          <a:prstGeom prst="rect">
            <a:avLst/>
          </a:prstGeom>
        </p:spPr>
        <p:txBody>
          <a:bodyPr vert="horz" lIns="91440" tIns="45720" rIns="91440" bIns="45720" rtlCol="0" anchor="ctr">
            <a:noAutofit/>
          </a:bodyPr>
          <a:lstStyle>
            <a:lvl1pPr>
              <a:defRPr sz="1800" b="1"/>
            </a:lvl1pPr>
          </a:lstStyle>
          <a:p>
            <a:r>
              <a:rPr lang="ko-KR" altLang="en-US" dirty="0"/>
              <a:t>마스터 제목 스타일 편집</a:t>
            </a:r>
          </a:p>
        </p:txBody>
      </p:sp>
      <p:sp>
        <p:nvSpPr>
          <p:cNvPr id="2" name="TextBox 1"/>
          <p:cNvSpPr txBox="1"/>
          <p:nvPr userDrawn="1"/>
        </p:nvSpPr>
        <p:spPr>
          <a:xfrm>
            <a:off x="5975555" y="6563925"/>
            <a:ext cx="470643" cy="276999"/>
          </a:xfrm>
          <a:prstGeom prst="rect">
            <a:avLst/>
          </a:prstGeom>
          <a:noFill/>
        </p:spPr>
        <p:txBody>
          <a:bodyPr wrap="square" rtlCol="0">
            <a:spAutoFit/>
          </a:bodyPr>
          <a:lstStyle/>
          <a:p>
            <a:r>
              <a:rPr lang="en-US" altLang="ko-KR" sz="1200" dirty="0">
                <a:solidFill>
                  <a:schemeClr val="bg1">
                    <a:lumMod val="50000"/>
                  </a:schemeClr>
                </a:solidFill>
              </a:rPr>
              <a:t>/ 4</a:t>
            </a:r>
            <a:endParaRPr lang="ko-KR" altLang="en-US" sz="1200" dirty="0">
              <a:solidFill>
                <a:schemeClr val="bg1">
                  <a:lumMod val="50000"/>
                </a:schemeClr>
              </a:solidFill>
            </a:endParaRPr>
          </a:p>
        </p:txBody>
      </p:sp>
    </p:spTree>
    <p:extLst>
      <p:ext uri="{BB962C8B-B14F-4D97-AF65-F5344CB8AC3E}">
        <p14:creationId xmlns:p14="http://schemas.microsoft.com/office/powerpoint/2010/main" val="24276406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0AD665B-95C3-4399-9C37-9DABDB1E5A2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0A6DC265-2495-45CB-94D5-2A0095D35DF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1E49F97-8660-4B82-B92F-E281762879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E88268F-BED8-44AD-B530-9127EA8013B5}" type="datetimeFigureOut">
              <a:rPr lang="ko-KR" altLang="en-US" smtClean="0"/>
              <a:t>2026-10-10</a:t>
            </a:fld>
            <a:endParaRPr lang="ko-KR" altLang="en-US"/>
          </a:p>
        </p:txBody>
      </p:sp>
      <p:sp>
        <p:nvSpPr>
          <p:cNvPr id="5" name="바닥글 개체 틀 4">
            <a:extLst>
              <a:ext uri="{FF2B5EF4-FFF2-40B4-BE49-F238E27FC236}">
                <a16:creationId xmlns:a16="http://schemas.microsoft.com/office/drawing/2014/main" id="{D78CD36A-B7E4-4EBB-BD2C-7A89014F80D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A89CF50-AAA0-498B-83B2-83B855385DE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1DB3628-4F54-4F9C-AC44-2CC595CFF671}" type="slidenum">
              <a:rPr lang="ko-KR" altLang="en-US" smtClean="0"/>
              <a:t>‹#›</a:t>
            </a:fld>
            <a:endParaRPr lang="ko-KR" altLang="en-US"/>
          </a:p>
        </p:txBody>
      </p:sp>
    </p:spTree>
    <p:extLst>
      <p:ext uri="{BB962C8B-B14F-4D97-AF65-F5344CB8AC3E}">
        <p14:creationId xmlns:p14="http://schemas.microsoft.com/office/powerpoint/2010/main" val="1158907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DP1. Data Migration 결정 구조 -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 y="621792"/>
            <a:ext cx="7589520" cy="329184"/>
          </a:xfrm>
          <a:prstGeom prst="rect">
            <a:avLst/>
          </a:prstGeom>
          <a:noFill/>
        </p:spPr>
        <p:txBody>
          <a:bodyPr wrap="square" anchor="ctr" lIns="45720" rIns="45720" tIns="27432" bIns="27432">
            <a:spAutoFit/>
          </a:bodyPr>
          <a:lstStyle/>
          <a:p>
            <a:pPr algn="l">
              <a:spcAft>
                <a:spcPts val="200"/>
              </a:spcAft>
            </a:pPr>
            <a:r>
              <a:rPr sz="1400" b="1">
                <a:solidFill>
                  <a:srgbClr val="FFFFFF"/>
                </a:solidFill>
                <a:latin typeface="맑은 고딕"/>
                <a:ea typeface="맑은 고딕"/>
                <a:cs typeface="맑은 고딕"/>
              </a:rPr>
              <a:t>결정 로직을 어디에 둘 것인가</a:t>
            </a:r>
          </a:p>
        </p:txBody>
      </p:sp>
      <p:sp>
        <p:nvSpPr>
          <p:cNvPr id="13" name="Rounded Rectangle 12"/>
          <p:cNvSpPr/>
          <p:nvPr/>
        </p:nvSpPr>
        <p:spPr>
          <a:xfrm>
            <a:off x="11146536"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Q4</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Q3</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Q2</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Q1</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F2</a:t>
            </a:r>
          </a:p>
        </p:txBody>
      </p:sp>
      <p:sp>
        <p:nvSpPr>
          <p:cNvPr id="18" name="Rounded Rectangle 17"/>
          <p:cNvSpPr/>
          <p:nvPr/>
        </p:nvSpPr>
        <p:spPr>
          <a:xfrm>
            <a:off x="7397495"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F1</a:t>
            </a:r>
          </a:p>
        </p:txBody>
      </p:sp>
      <p:sp>
        <p:nvSpPr>
          <p:cNvPr id="19" name="Rounded Rectangle 18"/>
          <p:cNvSpPr/>
          <p:nvPr/>
        </p:nvSpPr>
        <p:spPr>
          <a:xfrm>
            <a:off x="6647687"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C2</a:t>
            </a:r>
          </a:p>
        </p:txBody>
      </p:sp>
      <p:graphicFrame>
        <p:nvGraphicFramePr>
          <p:cNvPr id="20" name="Table 19"/>
          <p:cNvGraphicFramePr>
            <a:graphicFrameLocks noGrp="1"/>
          </p:cNvGraphicFramePr>
          <p:nvPr/>
        </p:nvGraphicFramePr>
        <p:xfrm>
          <a:off x="246888" y="1042415"/>
          <a:ext cx="11740896" cy="5193792"/>
        </p:xfrm>
        <a:graphic>
          <a:graphicData uri="http://schemas.openxmlformats.org/drawingml/2006/table">
            <a:tbl>
              <a:tblPr firstRow="0" bandRow="0">
                <a:tableStyleId>{2D5ABB26-0587-4C30-8999-92F81FD0307C}</a:tableStyleId>
              </a:tblPr>
              <a:tblGrid>
                <a:gridCol w="731520"/>
                <a:gridCol w="5504688"/>
                <a:gridCol w="5504688"/>
              </a:tblGrid>
              <a:tr h="502920">
                <a:tc>
                  <a:txBody>
                    <a:bodyPr wrap="square"/>
                    <a:lstStyle/>
                    <a:p>
                      <a:pPr algn="ctr">
                        <a:spcAft>
                          <a:spcPts val="100"/>
                        </a:spcAft>
                      </a:pPr>
                      <a:r>
                        <a:rPr sz="1100" b="0">
                          <a:solidFill>
                            <a:srgbClr val="7F7F7F"/>
                          </a:solidFill>
                          <a:latin typeface="맑은 고딕"/>
                          <a:ea typeface="맑은 고딕"/>
                          <a:cs typeface="맑은 고딕"/>
                        </a:rPr>
                        <a:t>설계 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1100" b="1">
                          <a:solidFill>
                            <a:srgbClr val="7F7F7F"/>
                          </a:solidFill>
                          <a:latin typeface="맑은 고딕"/>
                          <a:ea typeface="맑은 고딕"/>
                          <a:cs typeface="맑은 고딕"/>
                        </a:rPr>
                        <a:t>(1안) 결정 로직을 상태 소유 측에 함께 둠 </a:t>
                      </a:r>
                      <a:r>
                        <a:rPr sz="1100" b="1">
                          <a:solidFill>
                            <a:srgbClr val="7F7F7F"/>
                          </a:solidFill>
                          <a:latin typeface="맑은 고딕"/>
                          <a:ea typeface="맑은 고딕"/>
                          <a:cs typeface="맑은 고딕"/>
                        </a:rPr>
                        <a:t>(Resource Manager 내장)</a:t>
                      </a:r>
                    </a:p>
                    <a:p>
                      <a:pPr algn="ctr">
                        <a:spcAft>
                          <a:spcPts val="100"/>
                        </a:spcAft>
                      </a:pPr>
                      <a:r>
                        <a:rPr sz="950" b="1">
                          <a:solidFill>
                            <a:srgbClr val="7F7F7F"/>
                          </a:solidFill>
                          <a:latin typeface="맑은 고딕"/>
                          <a:ea typeface="맑은 고딕"/>
                          <a:cs typeface="맑은 고딕"/>
                        </a:rPr>
                        <a:t>Control은 트리거·budget만, 판단은 상태 옆에서 로컬 호출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1100" b="1">
                          <a:solidFill>
                            <a:srgbClr val="7F7F7F"/>
                          </a:solidFill>
                          <a:latin typeface="맑은 고딕"/>
                          <a:ea typeface="맑은 고딕"/>
                          <a:cs typeface="맑은 고딕"/>
                        </a:rPr>
                        <a:t>(2안) 결정 로직을 Control에 분리 </a:t>
                      </a:r>
                      <a:r>
                        <a:rPr sz="1100" b="1">
                          <a:solidFill>
                            <a:srgbClr val="7F7F7F"/>
                          </a:solidFill>
                          <a:latin typeface="맑은 고딕"/>
                          <a:ea typeface="맑은 고딕"/>
                          <a:cs typeface="맑은 고딕"/>
                        </a:rPr>
                        <a:t>(상태와 판단 분리)</a:t>
                      </a:r>
                    </a:p>
                    <a:p>
                      <a:pPr algn="ctr">
                        <a:spcAft>
                          <a:spcPts val="100"/>
                        </a:spcAft>
                      </a:pPr>
                      <a:r>
                        <a:rPr sz="950" b="1">
                          <a:solidFill>
                            <a:srgbClr val="7F7F7F"/>
                          </a:solidFill>
                          <a:latin typeface="맑은 고딕"/>
                          <a:ea typeface="맑은 고딕"/>
                          <a:cs typeface="맑은 고딕"/>
                        </a:rPr>
                        <a:t>Resource Manager는 상태·관측만, Control이 snapshot을 조회해 판단</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834640">
                <a:tc>
                  <a:txBody>
                    <a:bodyPr wrap="square"/>
                    <a:lstStyle/>
                    <a:p>
                      <a:pPr algn="ctr">
                        <a:spcAft>
                          <a:spcPts val="100"/>
                        </a:spcAft>
                      </a:pPr>
                      <a:r>
                        <a:rPr sz="1000" b="0">
                          <a:solidFill>
                            <a:srgbClr val="7F7F7F"/>
                          </a:solidFill>
                          <a:latin typeface="맑은 고딕"/>
                          <a:ea typeface="맑은 고딕"/>
                          <a:cs typeface="맑은 고딕"/>
                        </a:rPr>
                        <a:t>구조</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786384">
                <a:tc>
                  <a:txBody>
                    <a:bodyPr wrap="square"/>
                    <a:lstStyle/>
                    <a:p>
                      <a:pPr algn="ctr">
                        <a:spcAft>
                          <a:spcPts val="100"/>
                        </a:spcAft>
                      </a:pPr>
                      <a:r>
                        <a:rPr sz="1000" b="0">
                          <a:solidFill>
                            <a:srgbClr val="7F7F7F"/>
                          </a:solidFill>
                          <a:latin typeface="맑은 고딕"/>
                          <a:ea typeface="맑은 고딕"/>
                          <a:cs typeface="맑은 고딕"/>
                        </a:rPr>
                        <a:t>장점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 상태 조회가 로컬 호출 → snapshot 복사·hop 없음, 상태 변화에 즉시 반영 (Q1·Q2)</a:t>
                      </a:r>
                    </a:p>
                    <a:p>
                      <a:pPr>
                        <a:spcAft>
                          <a:spcPts val="100"/>
                        </a:spcAft>
                      </a:pPr>
                      <a:r>
                        <a:rPr sz="1000" b="0">
                          <a:solidFill>
                            <a:srgbClr val="000000"/>
                          </a:solidFill>
                          <a:latin typeface="맑은 고딕"/>
                          <a:ea typeface="맑은 고딕"/>
                          <a:cs typeface="맑은 고딕"/>
                        </a:rPr>
                        <a:t>• Control↔Manager 간 query 인터페이스 불필요, 구성 단순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 판단 부하와 상태 갱신·수집 경로가 분리 → 판단이 길어도 commit 반영이 막히지 않고, 판단 스레드를 서빙 코어와 분리 배치 가능 (Q1)</a:t>
                      </a:r>
                    </a:p>
                    <a:p>
                      <a:pPr>
                        <a:spcAft>
                          <a:spcPts val="100"/>
                        </a:spcAft>
                      </a:pPr>
                      <a:r>
                        <a:rPr sz="1000" b="0">
                          <a:solidFill>
                            <a:srgbClr val="000000"/>
                          </a:solidFill>
                          <a:latin typeface="맑은 고딕"/>
                          <a:ea typeface="맑은 고딕"/>
                          <a:cs typeface="맑은 고딕"/>
                        </a:rPr>
                        <a:t>• 정책 교체·추가가 Control에 국소화, 상태 서비스는 불변 (Q3)</a:t>
                      </a:r>
                    </a:p>
                    <a:p>
                      <a:pPr>
                        <a:spcAft>
                          <a:spcPts val="100"/>
                        </a:spcAft>
                      </a:pPr>
                      <a:r>
                        <a:rPr sz="1000" b="0">
                          <a:solidFill>
                            <a:srgbClr val="000000"/>
                          </a:solidFill>
                          <a:latin typeface="맑은 고딕"/>
                          <a:ea typeface="맑은 고딕"/>
                          <a:cs typeface="맑은 고딕"/>
                        </a:rPr>
                        <a:t>• 판단과 상태를 따로 확장·교체 가능 (Q4)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20">
                <a:tc>
                  <a:txBody>
                    <a:bodyPr wrap="square"/>
                    <a:lstStyle/>
                    <a:p>
                      <a:pPr algn="ctr">
                        <a:spcAft>
                          <a:spcPts val="100"/>
                        </a:spcAft>
                      </a:pPr>
                      <a:r>
                        <a:rPr sz="1000" b="0">
                          <a:solidFill>
                            <a:srgbClr val="7F7F7F"/>
                          </a:solidFill>
                          <a:latin typeface="맑은 고딕"/>
                          <a:ea typeface="맑은 고딕"/>
                          <a:cs typeface="맑은 고딕"/>
                        </a:rPr>
                        <a:t>단점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FF0000"/>
                          </a:solidFill>
                          <a:latin typeface="맑은 고딕"/>
                          <a:ea typeface="맑은 고딕"/>
                          <a:cs typeface="맑은 고딕"/>
                        </a:rPr>
                        <a:t>• 정책 변경이 상태 서비스 수정으로 이어져 변경 영향 큼 (Q3)</a:t>
                      </a:r>
                    </a:p>
                    <a:p>
                      <a:pPr>
                        <a:spcAft>
                          <a:spcPts val="100"/>
                        </a:spcAft>
                      </a:pPr>
                      <a:r>
                        <a:rPr sz="1000" b="0">
                          <a:solidFill>
                            <a:srgbClr val="FF0000"/>
                          </a:solidFill>
                          <a:latin typeface="맑은 고딕"/>
                          <a:ea typeface="맑은 고딕"/>
                          <a:cs typeface="맑은 고딕"/>
                        </a:rPr>
                        <a:t>• 상태 저장과 판단이 한 서비스에 결합 → tier·object 수 증가 시 단일 병목 (Q4)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FF0000"/>
                          </a:solidFill>
                          <a:latin typeface="맑은 고딕"/>
                          <a:ea typeface="맑은 고딕"/>
                          <a:cs typeface="맑은 고딕"/>
                        </a:rPr>
                        <a:t>• snapshot 조회 hop과 snapshot age만큼 stale (Q1·Q2)</a:t>
                      </a:r>
                    </a:p>
                    <a:p>
                      <a:pPr>
                        <a:spcAft>
                          <a:spcPts val="100"/>
                        </a:spcAft>
                      </a:pPr>
                      <a:r>
                        <a:rPr sz="1000" b="0">
                          <a:solidFill>
                            <a:srgbClr val="FF0000"/>
                          </a:solidFill>
                          <a:latin typeface="맑은 고딕"/>
                          <a:ea typeface="맑은 고딕"/>
                          <a:cs typeface="맑은 고딕"/>
                        </a:rPr>
                        <a:t>• query 스키마(인터페이스) 설계·유지 비용</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66928">
                <a:tc>
                  <a:txBody>
                    <a:bodyPr wrap="square"/>
                    <a:lstStyle/>
                    <a:p>
                      <a:pPr algn="ctr">
                        <a:spcAft>
                          <a:spcPts val="100"/>
                        </a:spcAft>
                      </a:pPr>
                      <a:r>
                        <a:rPr sz="1000" b="0">
                          <a:solidFill>
                            <a:srgbClr val="7F7F7F"/>
                          </a:solidFill>
                          <a:latin typeface="맑은 고딕"/>
                          <a:ea typeface="맑은 고딕"/>
                          <a:cs typeface="맑은 고딕"/>
                        </a:rPr>
                        <a:t>Tradeoff</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Q1 결정 경로 hop: 적음  ·  Q2 stale: 거의 없음</a:t>
                      </a:r>
                    </a:p>
                    <a:p>
                      <a:pPr>
                        <a:spcAft>
                          <a:spcPts val="100"/>
                        </a:spcAft>
                      </a:pPr>
                      <a:r>
                        <a:rPr sz="900" b="0">
                          <a:solidFill>
                            <a:srgbClr val="000000"/>
                          </a:solidFill>
                          <a:latin typeface="맑은 고딕"/>
                          <a:ea typeface="맑은 고딕"/>
                          <a:cs typeface="맑은 고딕"/>
                        </a:rPr>
                        <a:t>Q3 정책 변경 시 수정 모듈: 많음  ·  Q4 단일 서비스 병목 가능</a:t>
                      </a:r>
                    </a:p>
                    <a:p>
                      <a:pPr>
                        <a:spcAft>
                          <a:spcPts val="100"/>
                        </a:spcAft>
                      </a:pPr>
                      <a:r>
                        <a:rPr sz="850" b="0">
                          <a:solidFill>
                            <a:srgbClr val="7F7F7F"/>
                          </a:solidFill>
                          <a:latin typeface="맑은 고딕"/>
                          <a:ea typeface="맑은 고딕"/>
                          <a:cs typeface="맑은 고딕"/>
                        </a:rPr>
                        <a:t>※ 모두 평가 전 가설. 별점·총점은 임계값 통합 후 부여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Q1 결정 hop +1이나 판단·갱신 경로 분리  ·  Q2 stale: snapshot age만큼</a:t>
                      </a:r>
                    </a:p>
                    <a:p>
                      <a:pPr>
                        <a:spcAft>
                          <a:spcPts val="100"/>
                        </a:spcAft>
                      </a:pPr>
                      <a:r>
                        <a:rPr sz="900" b="0">
                          <a:solidFill>
                            <a:srgbClr val="000000"/>
                          </a:solidFill>
                          <a:latin typeface="맑은 고딕"/>
                          <a:ea typeface="맑은 고딕"/>
                          <a:cs typeface="맑은 고딕"/>
                        </a:rPr>
                        <a:t>Q3 정책 변경 시 수정 모듈: Control에 국소화  ·  Q4 분리 확장 가능</a:t>
                      </a:r>
                    </a:p>
                    <a:p>
                      <a:pPr>
                        <a:spcAft>
                          <a:spcPts val="100"/>
                        </a:spcAft>
                      </a:pPr>
                      <a:r>
                        <a:rPr sz="850" b="0">
                          <a:solidFill>
                            <a:srgbClr val="7F7F7F"/>
                          </a:solidFill>
                          <a:latin typeface="맑은 고딕"/>
                          <a:ea typeface="맑은 고딕"/>
                          <a:cs typeface="맑은 고딕"/>
                        </a:rPr>
                        <a:t>※ 모두 평가 전 가설. 별점·총점은 임계값 통합 후 부여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21" name="Rectangle 20"/>
          <p:cNvSpPr/>
          <p:nvPr/>
        </p:nvSpPr>
        <p:spPr>
          <a:xfrm>
            <a:off x="1069848" y="1563624"/>
            <a:ext cx="5303520" cy="64008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69848" y="1563624"/>
            <a:ext cx="5303520"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Control Plane  (Trigger · Budget)</a:t>
            </a:r>
          </a:p>
        </p:txBody>
      </p:sp>
      <p:sp>
        <p:nvSpPr>
          <p:cNvPr id="23" name="Rectangle 22"/>
          <p:cNvSpPr/>
          <p:nvPr/>
        </p:nvSpPr>
        <p:spPr>
          <a:xfrm>
            <a:off x="2578608" y="1828800"/>
            <a:ext cx="1097280" cy="34747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Migration
Scheduler</a:t>
            </a:r>
          </a:p>
        </p:txBody>
      </p:sp>
      <p:sp>
        <p:nvSpPr>
          <p:cNvPr id="24" name="TextBox 23"/>
          <p:cNvSpPr txBox="1"/>
          <p:nvPr/>
        </p:nvSpPr>
        <p:spPr>
          <a:xfrm>
            <a:off x="3995928" y="1837943"/>
            <a:ext cx="2331720" cy="347472"/>
          </a:xfrm>
          <a:prstGeom prst="rect">
            <a:avLst/>
          </a:prstGeom>
          <a:noFill/>
        </p:spPr>
        <p:txBody>
          <a:bodyPr wrap="square" anchor="t" lIns="45720" rIns="45720" tIns="27432" bIns="27432">
            <a:spAutoFit/>
          </a:bodyPr>
          <a:lstStyle/>
          <a:p>
            <a:pPr algn="l">
              <a:spcAft>
                <a:spcPts val="200"/>
              </a:spcAft>
            </a:pPr>
            <a:r>
              <a:rPr sz="800" b="0">
                <a:solidFill>
                  <a:srgbClr val="7F7F7F"/>
                </a:solidFill>
                <a:latin typeface="맑은 고딕"/>
                <a:ea typeface="맑은 고딕"/>
                <a:cs typeface="맑은 고딕"/>
              </a:rPr>
              <a:t>결정 로직 없음: 트리거 · 우선순위 · budget만</a:t>
            </a:r>
          </a:p>
        </p:txBody>
      </p:sp>
      <p:sp>
        <p:nvSpPr>
          <p:cNvPr id="25" name="Rectangle 24"/>
          <p:cNvSpPr/>
          <p:nvPr/>
        </p:nvSpPr>
        <p:spPr>
          <a:xfrm>
            <a:off x="1069848" y="2258568"/>
            <a:ext cx="5303520" cy="1207008"/>
          </a:xfrm>
          <a:prstGeom prst="rect">
            <a:avLst/>
          </a:prstGeom>
          <a:solidFill>
            <a:srgbClr val="F0F1F3"/>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69848" y="2258568"/>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Resource Manager  (상태 + 결정)</a:t>
            </a:r>
          </a:p>
        </p:txBody>
      </p:sp>
      <p:sp>
        <p:nvSpPr>
          <p:cNvPr id="27" name="Rectangle 26"/>
          <p:cNvSpPr/>
          <p:nvPr/>
        </p:nvSpPr>
        <p:spPr>
          <a:xfrm>
            <a:off x="2578608" y="2532888"/>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Trend
Analyzer</a:t>
            </a:r>
          </a:p>
        </p:txBody>
      </p:sp>
      <p:sp>
        <p:nvSpPr>
          <p:cNvPr id="28" name="Rectangle 27"/>
          <p:cNvSpPr/>
          <p:nvPr/>
        </p:nvSpPr>
        <p:spPr>
          <a:xfrm>
            <a:off x="3858768" y="2532888"/>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Affinity
Mapper</a:t>
            </a:r>
          </a:p>
        </p:txBody>
      </p:sp>
      <p:sp>
        <p:nvSpPr>
          <p:cNvPr id="29" name="Rectangle 28"/>
          <p:cNvSpPr/>
          <p:nvPr/>
        </p:nvSpPr>
        <p:spPr>
          <a:xfrm>
            <a:off x="5138928" y="2532888"/>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Policy
Engine</a:t>
            </a:r>
          </a:p>
        </p:txBody>
      </p:sp>
      <p:sp>
        <p:nvSpPr>
          <p:cNvPr id="30" name="Rectangle 29"/>
          <p:cNvSpPr/>
          <p:nvPr/>
        </p:nvSpPr>
        <p:spPr>
          <a:xfrm>
            <a:off x="1298448" y="3099815"/>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Telemetry
Collector</a:t>
            </a:r>
          </a:p>
        </p:txBody>
      </p:sp>
      <p:sp>
        <p:nvSpPr>
          <p:cNvPr id="31" name="Rectangle 30"/>
          <p:cNvSpPr/>
          <p:nvPr/>
        </p:nvSpPr>
        <p:spPr>
          <a:xfrm>
            <a:off x="2578608" y="3099815"/>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State
Monitor</a:t>
            </a:r>
          </a:p>
        </p:txBody>
      </p:sp>
      <p:sp>
        <p:nvSpPr>
          <p:cNvPr id="32" name="Rectangle 31"/>
          <p:cNvSpPr/>
          <p:nvPr/>
        </p:nvSpPr>
        <p:spPr>
          <a:xfrm>
            <a:off x="3858768" y="3099815"/>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Memory·Data
Object Registry</a:t>
            </a:r>
          </a:p>
        </p:txBody>
      </p:sp>
      <p:cxnSp>
        <p:nvCxnSpPr>
          <p:cNvPr id="33" name="Connector 32"/>
          <p:cNvCxnSpPr/>
          <p:nvPr/>
        </p:nvCxnSpPr>
        <p:spPr>
          <a:xfrm>
            <a:off x="2395728" y="3255263"/>
            <a:ext cx="182880" cy="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675887" y="2724912"/>
            <a:ext cx="182881"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956048" y="2724912"/>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3127248" y="2203704"/>
            <a:ext cx="0" cy="329184"/>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3127248" y="2916936"/>
            <a:ext cx="0" cy="182879"/>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4407408" y="2916936"/>
            <a:ext cx="0" cy="182879"/>
          </a:xfrm>
          <a:prstGeom prst="line">
            <a:avLst/>
          </a:prstGeom>
          <a:ln w="12700">
            <a:solidFill>
              <a:srgbClr val="7F7F7F"/>
            </a:solidFill>
            <a:tailEnd type="triangle"/>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3721608" y="1911095"/>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1</a:t>
            </a:r>
          </a:p>
        </p:txBody>
      </p:sp>
      <p:sp>
        <p:nvSpPr>
          <p:cNvPr id="40" name="Oval 39"/>
          <p:cNvSpPr/>
          <p:nvPr/>
        </p:nvSpPr>
        <p:spPr>
          <a:xfrm>
            <a:off x="3182112" y="2907791"/>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2</a:t>
            </a:r>
          </a:p>
        </p:txBody>
      </p:sp>
      <p:sp>
        <p:nvSpPr>
          <p:cNvPr id="41" name="Oval 40"/>
          <p:cNvSpPr/>
          <p:nvPr/>
        </p:nvSpPr>
        <p:spPr>
          <a:xfrm>
            <a:off x="3675887" y="2514600"/>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3</a:t>
            </a:r>
          </a:p>
        </p:txBody>
      </p:sp>
      <p:sp>
        <p:nvSpPr>
          <p:cNvPr id="42" name="Oval 41"/>
          <p:cNvSpPr/>
          <p:nvPr/>
        </p:nvSpPr>
        <p:spPr>
          <a:xfrm>
            <a:off x="5742432" y="311810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4</a:t>
            </a:r>
          </a:p>
        </p:txBody>
      </p:sp>
      <p:sp>
        <p:nvSpPr>
          <p:cNvPr id="43" name="Oval 42"/>
          <p:cNvSpPr/>
          <p:nvPr/>
        </p:nvSpPr>
        <p:spPr>
          <a:xfrm>
            <a:off x="4462272" y="33924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5</a:t>
            </a:r>
          </a:p>
        </p:txBody>
      </p:sp>
      <p:sp>
        <p:nvSpPr>
          <p:cNvPr id="44" name="Rectangle 43"/>
          <p:cNvSpPr/>
          <p:nvPr/>
        </p:nvSpPr>
        <p:spPr>
          <a:xfrm>
            <a:off x="1069848" y="3529584"/>
            <a:ext cx="5303520" cy="566928"/>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069848" y="3529584"/>
            <a:ext cx="5303520"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Data Plane  (Mechanism · 실행)</a:t>
            </a:r>
          </a:p>
        </p:txBody>
      </p:sp>
      <p:sp>
        <p:nvSpPr>
          <p:cNvPr id="46" name="Rectangle 45"/>
          <p:cNvSpPr/>
          <p:nvPr/>
        </p:nvSpPr>
        <p:spPr>
          <a:xfrm>
            <a:off x="2578608" y="3785616"/>
            <a:ext cx="146304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Transfer Handler</a:t>
            </a:r>
          </a:p>
        </p:txBody>
      </p:sp>
      <p:sp>
        <p:nvSpPr>
          <p:cNvPr id="47" name="Rectangle 46"/>
          <p:cNvSpPr/>
          <p:nvPr/>
        </p:nvSpPr>
        <p:spPr>
          <a:xfrm>
            <a:off x="4224528" y="3785616"/>
            <a:ext cx="201168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Migration Executor</a:t>
            </a:r>
          </a:p>
        </p:txBody>
      </p:sp>
      <p:cxnSp>
        <p:nvCxnSpPr>
          <p:cNvPr id="48" name="Connector 47"/>
          <p:cNvCxnSpPr/>
          <p:nvPr/>
        </p:nvCxnSpPr>
        <p:spPr>
          <a:xfrm flipH="1">
            <a:off x="4041648" y="3986783"/>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4041648" y="3776472"/>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6</a:t>
            </a:r>
          </a:p>
        </p:txBody>
      </p:sp>
      <p:sp>
        <p:nvSpPr>
          <p:cNvPr id="50" name="Rectangle 49"/>
          <p:cNvSpPr/>
          <p:nvPr/>
        </p:nvSpPr>
        <p:spPr>
          <a:xfrm>
            <a:off x="1069848" y="4123944"/>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750" b="1">
                <a:solidFill>
                  <a:srgbClr val="FFFFFF"/>
                </a:solidFill>
                <a:latin typeface="맑은 고딕"/>
                <a:ea typeface="맑은 고딕"/>
                <a:cs typeface="맑은 고딕"/>
              </a:rPr>
              <a:t>Common Memory Backend Interface  (공통 하부 계층, Device SW I/F)</a:t>
            </a:r>
          </a:p>
        </p:txBody>
      </p:sp>
      <p:cxnSp>
        <p:nvCxnSpPr>
          <p:cNvPr id="51" name="Connector 50"/>
          <p:cNvCxnSpPr/>
          <p:nvPr/>
        </p:nvCxnSpPr>
        <p:spPr>
          <a:xfrm>
            <a:off x="3310128" y="4041648"/>
            <a:ext cx="0" cy="82296"/>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687568" y="2916936"/>
            <a:ext cx="0" cy="868680"/>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4407408" y="3410712"/>
            <a:ext cx="0" cy="374904"/>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6574536" y="1563624"/>
            <a:ext cx="5303520" cy="804672"/>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574536" y="1563624"/>
            <a:ext cx="5303520"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Control Plane  (Policy · 결정)</a:t>
            </a:r>
          </a:p>
        </p:txBody>
      </p:sp>
      <p:sp>
        <p:nvSpPr>
          <p:cNvPr id="56" name="Rectangle 55"/>
          <p:cNvSpPr/>
          <p:nvPr/>
        </p:nvSpPr>
        <p:spPr>
          <a:xfrm>
            <a:off x="6803136" y="1874519"/>
            <a:ext cx="1097280" cy="384048"/>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Migration
Scheduler</a:t>
            </a:r>
          </a:p>
        </p:txBody>
      </p:sp>
      <p:sp>
        <p:nvSpPr>
          <p:cNvPr id="57" name="Rectangle 56"/>
          <p:cNvSpPr/>
          <p:nvPr/>
        </p:nvSpPr>
        <p:spPr>
          <a:xfrm>
            <a:off x="8083296" y="1874519"/>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Trend
Analyzer</a:t>
            </a:r>
          </a:p>
        </p:txBody>
      </p:sp>
      <p:sp>
        <p:nvSpPr>
          <p:cNvPr id="58" name="Rectangle 57"/>
          <p:cNvSpPr/>
          <p:nvPr/>
        </p:nvSpPr>
        <p:spPr>
          <a:xfrm>
            <a:off x="9363456" y="1874519"/>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Affinity
Mapper</a:t>
            </a:r>
          </a:p>
        </p:txBody>
      </p:sp>
      <p:sp>
        <p:nvSpPr>
          <p:cNvPr id="59" name="Rectangle 58"/>
          <p:cNvSpPr/>
          <p:nvPr/>
        </p:nvSpPr>
        <p:spPr>
          <a:xfrm>
            <a:off x="10643616" y="1874519"/>
            <a:ext cx="1097280" cy="384048"/>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Policy
Engine</a:t>
            </a:r>
          </a:p>
        </p:txBody>
      </p:sp>
      <p:cxnSp>
        <p:nvCxnSpPr>
          <p:cNvPr id="60" name="Connector 59"/>
          <p:cNvCxnSpPr/>
          <p:nvPr/>
        </p:nvCxnSpPr>
        <p:spPr>
          <a:xfrm>
            <a:off x="7900415" y="2066543"/>
            <a:ext cx="182881" cy="0"/>
          </a:xfrm>
          <a:prstGeom prst="line">
            <a:avLst/>
          </a:prstGeom>
          <a:ln w="12700">
            <a:solidFill>
              <a:srgbClr val="595959"/>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9180576" y="2066543"/>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460736" y="2066543"/>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7900416" y="1837943"/>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1</a:t>
            </a:r>
          </a:p>
        </p:txBody>
      </p:sp>
      <p:sp>
        <p:nvSpPr>
          <p:cNvPr id="64" name="Oval 63"/>
          <p:cNvSpPr/>
          <p:nvPr/>
        </p:nvSpPr>
        <p:spPr>
          <a:xfrm>
            <a:off x="9180576" y="1837943"/>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3</a:t>
            </a:r>
          </a:p>
        </p:txBody>
      </p:sp>
      <p:sp>
        <p:nvSpPr>
          <p:cNvPr id="65" name="Rectangle 64"/>
          <p:cNvSpPr/>
          <p:nvPr/>
        </p:nvSpPr>
        <p:spPr>
          <a:xfrm>
            <a:off x="6574536" y="2642615"/>
            <a:ext cx="5303520" cy="749808"/>
          </a:xfrm>
          <a:prstGeom prst="rect">
            <a:avLst/>
          </a:prstGeom>
          <a:solidFill>
            <a:srgbClr val="F0F1F3"/>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574536" y="2642615"/>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Resource Manager  (상태·관측)</a:t>
            </a:r>
          </a:p>
        </p:txBody>
      </p:sp>
      <p:sp>
        <p:nvSpPr>
          <p:cNvPr id="67" name="Rectangle 66"/>
          <p:cNvSpPr/>
          <p:nvPr/>
        </p:nvSpPr>
        <p:spPr>
          <a:xfrm>
            <a:off x="6803136" y="2935224"/>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Telemetry
Collector</a:t>
            </a:r>
          </a:p>
        </p:txBody>
      </p:sp>
      <p:sp>
        <p:nvSpPr>
          <p:cNvPr id="68" name="Rectangle 67"/>
          <p:cNvSpPr/>
          <p:nvPr/>
        </p:nvSpPr>
        <p:spPr>
          <a:xfrm>
            <a:off x="8083296" y="2935224"/>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State
Monitor</a:t>
            </a:r>
          </a:p>
        </p:txBody>
      </p:sp>
      <p:sp>
        <p:nvSpPr>
          <p:cNvPr id="69" name="Rectangle 68"/>
          <p:cNvSpPr/>
          <p:nvPr/>
        </p:nvSpPr>
        <p:spPr>
          <a:xfrm>
            <a:off x="9363456" y="2935224"/>
            <a:ext cx="1097280" cy="310896"/>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Memory·Data
Object Registry</a:t>
            </a:r>
          </a:p>
        </p:txBody>
      </p:sp>
      <p:cxnSp>
        <p:nvCxnSpPr>
          <p:cNvPr id="70" name="Connector 69"/>
          <p:cNvCxnSpPr/>
          <p:nvPr/>
        </p:nvCxnSpPr>
        <p:spPr>
          <a:xfrm>
            <a:off x="7900415" y="3090672"/>
            <a:ext cx="182881" cy="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631936" y="2258568"/>
            <a:ext cx="0" cy="676656"/>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V="1">
            <a:off x="9912096" y="2258568"/>
            <a:ext cx="0" cy="676656"/>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8723376" y="2386584"/>
            <a:ext cx="1097280" cy="201168"/>
          </a:xfrm>
          <a:prstGeom prst="rect">
            <a:avLst/>
          </a:prstGeom>
          <a:noFill/>
        </p:spPr>
        <p:txBody>
          <a:bodyPr wrap="square" anchor="t" lIns="45720" rIns="45720" tIns="27432" bIns="27432">
            <a:spAutoFit/>
          </a:bodyPr>
          <a:lstStyle/>
          <a:p>
            <a:pPr algn="l">
              <a:spcAft>
                <a:spcPts val="200"/>
              </a:spcAft>
            </a:pPr>
            <a:r>
              <a:rPr sz="700" b="0">
                <a:solidFill>
                  <a:srgbClr val="7F7F7F"/>
                </a:solidFill>
                <a:latin typeface="맑은 고딕"/>
                <a:ea typeface="맑은 고딕"/>
                <a:cs typeface="맑은 고딕"/>
              </a:rPr>
              <a:t>snapshot query</a:t>
            </a:r>
          </a:p>
        </p:txBody>
      </p:sp>
      <p:sp>
        <p:nvSpPr>
          <p:cNvPr id="74" name="Oval 73"/>
          <p:cNvSpPr/>
          <p:nvPr/>
        </p:nvSpPr>
        <p:spPr>
          <a:xfrm>
            <a:off x="868680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2</a:t>
            </a:r>
          </a:p>
        </p:txBody>
      </p:sp>
      <p:sp>
        <p:nvSpPr>
          <p:cNvPr id="75" name="Oval 74"/>
          <p:cNvSpPr/>
          <p:nvPr/>
        </p:nvSpPr>
        <p:spPr>
          <a:xfrm>
            <a:off x="1124712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4</a:t>
            </a:r>
          </a:p>
        </p:txBody>
      </p:sp>
      <p:sp>
        <p:nvSpPr>
          <p:cNvPr id="76" name="Oval 75"/>
          <p:cNvSpPr/>
          <p:nvPr/>
        </p:nvSpPr>
        <p:spPr>
          <a:xfrm>
            <a:off x="9966959" y="33924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5</a:t>
            </a:r>
          </a:p>
        </p:txBody>
      </p:sp>
      <p:sp>
        <p:nvSpPr>
          <p:cNvPr id="77" name="Rectangle 76"/>
          <p:cNvSpPr/>
          <p:nvPr/>
        </p:nvSpPr>
        <p:spPr>
          <a:xfrm>
            <a:off x="6574536" y="3529584"/>
            <a:ext cx="5303520" cy="566928"/>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574536" y="3529584"/>
            <a:ext cx="5303520"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Data Plane  (Mechanism · 실행)</a:t>
            </a:r>
          </a:p>
        </p:txBody>
      </p:sp>
      <p:sp>
        <p:nvSpPr>
          <p:cNvPr id="79" name="Rectangle 78"/>
          <p:cNvSpPr/>
          <p:nvPr/>
        </p:nvSpPr>
        <p:spPr>
          <a:xfrm>
            <a:off x="8083296" y="3785616"/>
            <a:ext cx="146304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Transfer Handler</a:t>
            </a:r>
          </a:p>
        </p:txBody>
      </p:sp>
      <p:sp>
        <p:nvSpPr>
          <p:cNvPr id="80" name="Rectangle 79"/>
          <p:cNvSpPr/>
          <p:nvPr/>
        </p:nvSpPr>
        <p:spPr>
          <a:xfrm>
            <a:off x="9729216" y="3785616"/>
            <a:ext cx="201168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Migration Executor</a:t>
            </a:r>
          </a:p>
        </p:txBody>
      </p:sp>
      <p:cxnSp>
        <p:nvCxnSpPr>
          <p:cNvPr id="81" name="Connector 80"/>
          <p:cNvCxnSpPr/>
          <p:nvPr/>
        </p:nvCxnSpPr>
        <p:spPr>
          <a:xfrm flipH="1">
            <a:off x="9546336" y="3986783"/>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82" name="Oval 81"/>
          <p:cNvSpPr/>
          <p:nvPr/>
        </p:nvSpPr>
        <p:spPr>
          <a:xfrm>
            <a:off x="9546336" y="3776472"/>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6</a:t>
            </a:r>
          </a:p>
        </p:txBody>
      </p:sp>
      <p:sp>
        <p:nvSpPr>
          <p:cNvPr id="83" name="Rectangle 82"/>
          <p:cNvSpPr/>
          <p:nvPr/>
        </p:nvSpPr>
        <p:spPr>
          <a:xfrm>
            <a:off x="6574536" y="4123944"/>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750" b="1">
                <a:solidFill>
                  <a:srgbClr val="FFFFFF"/>
                </a:solidFill>
                <a:latin typeface="맑은 고딕"/>
                <a:ea typeface="맑은 고딕"/>
                <a:cs typeface="맑은 고딕"/>
              </a:rPr>
              <a:t>Common Memory Backend Interface  (공통 하부 계층, Device SW I/F)</a:t>
            </a:r>
          </a:p>
        </p:txBody>
      </p:sp>
      <p:cxnSp>
        <p:nvCxnSpPr>
          <p:cNvPr id="84" name="Connector 83"/>
          <p:cNvCxnSpPr/>
          <p:nvPr/>
        </p:nvCxnSpPr>
        <p:spPr>
          <a:xfrm>
            <a:off x="8814816" y="4041648"/>
            <a:ext cx="0" cy="82296"/>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11192255" y="2258568"/>
            <a:ext cx="0" cy="1527048"/>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9912096" y="3246120"/>
            <a:ext cx="0" cy="539496"/>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384048" y="6217920"/>
            <a:ext cx="11430000" cy="310896"/>
          </a:xfrm>
          <a:prstGeom prst="rect">
            <a:avLst/>
          </a:prstGeom>
          <a:noFill/>
        </p:spPr>
        <p:txBody>
          <a:bodyPr wrap="square" anchor="t" lIns="45720" rIns="45720" tIns="27432" bIns="27432">
            <a:spAutoFit/>
          </a:bodyPr>
          <a:lstStyle/>
          <a:p>
            <a:pPr algn="l">
              <a:spcAft>
                <a:spcPts val="0"/>
              </a:spcAft>
            </a:pPr>
            <a:r>
              <a:rPr sz="750" b="0">
                <a:solidFill>
                  <a:srgbClr val="595959"/>
                </a:solidFill>
                <a:latin typeface="맑은 고딕"/>
                <a:ea typeface="맑은 고딕"/>
                <a:cs typeface="맑은 고딕"/>
              </a:rPr>
              <a:t>① 평가 cycle 시작  ② 상태 조회(1안 로컬 호출 / 2안 snapshot query)  ③ 판단(Analyzer → Mapper → Policy)  ④ MigrationIntent 발행  ⑤ commit 결과 갱신  ⑥ 이동 실행</a:t>
            </a:r>
          </a:p>
          <a:p>
            <a:pPr algn="l">
              <a:spcAft>
                <a:spcPts val="0"/>
              </a:spcAft>
            </a:pPr>
            <a:r>
              <a:rPr sz="750" b="0">
                <a:solidFill>
                  <a:srgbClr val="595959"/>
                </a:solidFill>
                <a:latin typeface="맑은 고딕"/>
                <a:ea typeface="맑은 고딕"/>
                <a:cs typeface="맑은 고딕"/>
              </a:rPr>
              <a:t>노랑 = 결정 로직 모듈(소속이 두 안을 가름) · 점선 = 비동기/조회 · 신호(자원 상태/data 행동)는 정책 플러그인으로 공통 | C2 신규 Device SW · F1 tier 간 복사 · F2 이동 스케줄링 · Q1 Throughput · Q2 HBM 점유율 · Q3 변경용이성 · Q4 확장성</a:t>
            </a:r>
          </a:p>
        </p:txBody>
      </p:sp>
      <p:sp>
        <p:nvSpPr>
          <p:cNvPr id="88" name="TextBox 87"/>
          <p:cNvSpPr txBox="1"/>
          <p:nvPr/>
        </p:nvSpPr>
        <p:spPr>
          <a:xfrm>
            <a:off x="5349240" y="6583680"/>
            <a:ext cx="621792" cy="237744"/>
          </a:xfrm>
          <a:prstGeom prst="rect">
            <a:avLst/>
          </a:prstGeom>
          <a:noFill/>
        </p:spPr>
        <p:txBody>
          <a:bodyPr wrap="square" anchor="t" lIns="45720" rIns="45720" tIns="27432" bIns="27432">
            <a:spAutoFit/>
          </a:bodyPr>
          <a:lstStyle/>
          <a:p>
            <a:pPr algn="r">
              <a:spcAft>
                <a:spcPts val="200"/>
              </a:spcAft>
            </a:pPr>
            <a:r>
              <a:rPr sz="1000" b="0">
                <a:solidFill>
                  <a:srgbClr val="7F7F7F"/>
                </a:solidFill>
                <a:latin typeface="맑은 고딕"/>
                <a:ea typeface="맑은 고딕"/>
                <a:cs typeface="맑은 고딕"/>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DP1. Data Migration 결정 구조 -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 y="621792"/>
            <a:ext cx="7589520" cy="329184"/>
          </a:xfrm>
          <a:prstGeom prst="rect">
            <a:avLst/>
          </a:prstGeom>
          <a:noFill/>
        </p:spPr>
        <p:txBody>
          <a:bodyPr wrap="square" anchor="ctr" lIns="45720" rIns="45720" tIns="27432" bIns="27432">
            <a:spAutoFit/>
          </a:bodyPr>
          <a:lstStyle/>
          <a:p>
            <a:pPr algn="l">
              <a:spcAft>
                <a:spcPts val="200"/>
              </a:spcAft>
            </a:pPr>
            <a:r>
              <a:rPr sz="1400" b="1">
                <a:solidFill>
                  <a:srgbClr val="FFFFFF"/>
                </a:solidFill>
                <a:latin typeface="맑은 고딕"/>
                <a:ea typeface="맑은 고딕"/>
                <a:cs typeface="맑은 고딕"/>
              </a:rPr>
              <a:t>모듈 소속 비교와 비교 원칙</a:t>
            </a:r>
          </a:p>
        </p:txBody>
      </p:sp>
      <p:sp>
        <p:nvSpPr>
          <p:cNvPr id="13" name="Rounded Rectangle 12"/>
          <p:cNvSpPr/>
          <p:nvPr/>
        </p:nvSpPr>
        <p:spPr>
          <a:xfrm>
            <a:off x="11146536"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Q4</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Q3</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Q2</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Q1</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F2</a:t>
            </a:r>
          </a:p>
        </p:txBody>
      </p:sp>
      <p:sp>
        <p:nvSpPr>
          <p:cNvPr id="18" name="Rounded Rectangle 17"/>
          <p:cNvSpPr/>
          <p:nvPr/>
        </p:nvSpPr>
        <p:spPr>
          <a:xfrm>
            <a:off x="7397495"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F1</a:t>
            </a:r>
          </a:p>
        </p:txBody>
      </p:sp>
      <p:sp>
        <p:nvSpPr>
          <p:cNvPr id="19" name="Rounded Rectangle 18"/>
          <p:cNvSpPr/>
          <p:nvPr/>
        </p:nvSpPr>
        <p:spPr>
          <a:xfrm>
            <a:off x="6647687"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C2</a:t>
            </a:r>
          </a:p>
        </p:txBody>
      </p:sp>
      <p:graphicFrame>
        <p:nvGraphicFramePr>
          <p:cNvPr id="20" name="Table 19"/>
          <p:cNvGraphicFramePr>
            <a:graphicFrameLocks noGrp="1"/>
          </p:cNvGraphicFramePr>
          <p:nvPr/>
        </p:nvGraphicFramePr>
        <p:xfrm>
          <a:off x="246888" y="1097280"/>
          <a:ext cx="11750040" cy="3968496"/>
        </p:xfrm>
        <a:graphic>
          <a:graphicData uri="http://schemas.openxmlformats.org/drawingml/2006/table">
            <a:tbl>
              <a:tblPr firstRow="0" bandRow="0">
                <a:tableStyleId>{2D5ABB26-0587-4C30-8999-92F81FD0307C}</a:tableStyleId>
              </a:tblPr>
              <a:tblGrid>
                <a:gridCol w="2377440"/>
                <a:gridCol w="3108960"/>
                <a:gridCol w="3108960"/>
                <a:gridCol w="3154680"/>
              </a:tblGrid>
              <a:tr h="310896">
                <a:tc>
                  <a:txBody>
                    <a:bodyPr wrap="square"/>
                    <a:lstStyle/>
                    <a:p>
                      <a:pPr algn="ctr">
                        <a:spcAft>
                          <a:spcPts val="100"/>
                        </a:spcAft>
                      </a:pPr>
                      <a:r>
                        <a:rPr sz="1100" b="0">
                          <a:solidFill>
                            <a:srgbClr val="7F7F7F"/>
                          </a:solidFill>
                          <a:latin typeface="맑은 고딕"/>
                          <a:ea typeface="맑은 고딕"/>
                          <a:cs typeface="맑은 고딕"/>
                        </a:rPr>
                        <a:t>모듈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gn="ctr">
                        <a:spcAft>
                          <a:spcPts val="100"/>
                        </a:spcAft>
                      </a:pPr>
                      <a:r>
                        <a:rPr sz="1100" b="1">
                          <a:solidFill>
                            <a:srgbClr val="7F7F7F"/>
                          </a:solidFill>
                          <a:latin typeface="맑은 고딕"/>
                          <a:ea typeface="맑은 고딕"/>
                          <a:cs typeface="맑은 고딕"/>
                        </a:rPr>
                        <a:t>1안 (Resource Manager 내장)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gn="ctr">
                        <a:spcAft>
                          <a:spcPts val="100"/>
                        </a:spcAft>
                      </a:pPr>
                      <a:r>
                        <a:rPr sz="1100" b="1">
                          <a:solidFill>
                            <a:srgbClr val="7F7F7F"/>
                          </a:solidFill>
                          <a:latin typeface="맑은 고딕"/>
                          <a:ea typeface="맑은 고딕"/>
                          <a:cs typeface="맑은 고딕"/>
                        </a:rPr>
                        <a:t>2안 (Control 분리)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gn="ctr">
                        <a:spcAft>
                          <a:spcPts val="100"/>
                        </a:spcAft>
                      </a:pPr>
                      <a:r>
                        <a:rPr sz="1100" b="1">
                          <a:solidFill>
                            <a:srgbClr val="7F7F7F"/>
                          </a:solidFill>
                          <a:latin typeface="맑은 고딕"/>
                          <a:ea typeface="맑은 고딕"/>
                          <a:cs typeface="맑은 고딕"/>
                        </a:rPr>
                        <a:t>비고</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57200">
                <a:tc>
                  <a:txBody>
                    <a:bodyPr wrap="square"/>
                    <a:lstStyle/>
                    <a:p>
                      <a:pPr algn="ctr">
                        <a:spcAft>
                          <a:spcPts val="100"/>
                        </a:spcAft>
                      </a:pPr>
                      <a:r>
                        <a:rPr sz="1000" b="0">
                          <a:solidFill>
                            <a:srgbClr val="7F7F7F"/>
                          </a:solidFill>
                          <a:latin typeface="맑은 고딕"/>
                          <a:ea typeface="맑은 고딕"/>
                          <a:cs typeface="맑은 고딕"/>
                        </a:rPr>
                        <a:t>Migration Scheduler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Control (트리거·budget만)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Control (트리거 + 평가 cycle 구동)</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event 기반 비동기 진입점은 공통</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ctr">
                        <a:spcAft>
                          <a:spcPts val="100"/>
                        </a:spcAft>
                      </a:pPr>
                      <a:r>
                        <a:rPr sz="1000" b="0">
                          <a:solidFill>
                            <a:srgbClr val="7F7F7F"/>
                          </a:solidFill>
                          <a:latin typeface="맑은 고딕"/>
                          <a:ea typeface="맑은 고딕"/>
                          <a:cs typeface="맑은 고딕"/>
                        </a:rPr>
                        <a:t>Trend Analyzer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Resource Manager 내부 (결정부)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spcAft>
                          <a:spcPts val="100"/>
                        </a:spcAft>
                      </a:pPr>
                      <a:r>
                        <a:rPr sz="1000" b="0">
                          <a:solidFill>
                            <a:srgbClr val="000000"/>
                          </a:solidFill>
                          <a:latin typeface="맑은 고딕"/>
                          <a:ea typeface="맑은 고딕"/>
                          <a:cs typeface="맑은 고딕"/>
                        </a:rPr>
                        <a:t>Control</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spcAft>
                          <a:spcPts val="100"/>
                        </a:spcAft>
                      </a:pPr>
                      <a:r>
                        <a:rPr sz="1000" b="0">
                          <a:solidFill>
                            <a:srgbClr val="000000"/>
                          </a:solidFill>
                          <a:latin typeface="맑은 고딕"/>
                          <a:ea typeface="맑은 고딕"/>
                          <a:cs typeface="맑은 고딕"/>
                        </a:rPr>
                        <a:t>소속이 바뀌는 모듈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ctr">
                        <a:spcAft>
                          <a:spcPts val="100"/>
                        </a:spcAft>
                      </a:pPr>
                      <a:r>
                        <a:rPr sz="1000" b="0">
                          <a:solidFill>
                            <a:srgbClr val="7F7F7F"/>
                          </a:solidFill>
                          <a:latin typeface="맑은 고딕"/>
                          <a:ea typeface="맑은 고딕"/>
                          <a:cs typeface="맑은 고딕"/>
                        </a:rPr>
                        <a:t>Affinity Mapper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Resource Manager 내부 (결정부)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spcAft>
                          <a:spcPts val="100"/>
                        </a:spcAft>
                      </a:pPr>
                      <a:r>
                        <a:rPr sz="1000" b="0">
                          <a:solidFill>
                            <a:srgbClr val="000000"/>
                          </a:solidFill>
                          <a:latin typeface="맑은 고딕"/>
                          <a:ea typeface="맑은 고딕"/>
                          <a:cs typeface="맑은 고딕"/>
                        </a:rPr>
                        <a:t>Control</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spcAft>
                          <a:spcPts val="100"/>
                        </a:spcAft>
                      </a:pPr>
                      <a:r>
                        <a:rPr sz="1000" b="0">
                          <a:solidFill>
                            <a:srgbClr val="000000"/>
                          </a:solidFill>
                          <a:latin typeface="맑은 고딕"/>
                          <a:ea typeface="맑은 고딕"/>
                          <a:cs typeface="맑은 고딕"/>
                        </a:rPr>
                        <a:t>소속이 바뀌는 모듈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ctr">
                        <a:spcAft>
                          <a:spcPts val="100"/>
                        </a:spcAft>
                      </a:pPr>
                      <a:r>
                        <a:rPr sz="1000" b="0">
                          <a:solidFill>
                            <a:srgbClr val="7F7F7F"/>
                          </a:solidFill>
                          <a:latin typeface="맑은 고딕"/>
                          <a:ea typeface="맑은 고딕"/>
                          <a:cs typeface="맑은 고딕"/>
                        </a:rPr>
                        <a:t>Policy Engine</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Resource Manager 내부 (결정부)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spcAft>
                          <a:spcPts val="100"/>
                        </a:spcAft>
                      </a:pPr>
                      <a:r>
                        <a:rPr sz="1000" b="0">
                          <a:solidFill>
                            <a:srgbClr val="000000"/>
                          </a:solidFill>
                          <a:latin typeface="맑은 고딕"/>
                          <a:ea typeface="맑은 고딕"/>
                          <a:cs typeface="맑은 고딕"/>
                        </a:rPr>
                        <a:t>Control</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2CC"/>
                    </a:solidFill>
                  </a:tcPr>
                </a:tc>
                <a:tc>
                  <a:txBody>
                    <a:bodyPr wrap="square"/>
                    <a:lstStyle/>
                    <a:p>
                      <a:pPr>
                        <a:spcAft>
                          <a:spcPts val="100"/>
                        </a:spcAft>
                      </a:pPr>
                      <a:r>
                        <a:rPr sz="1000" b="0">
                          <a:solidFill>
                            <a:srgbClr val="000000"/>
                          </a:solidFill>
                          <a:latin typeface="맑은 고딕"/>
                          <a:ea typeface="맑은 고딕"/>
                          <a:cs typeface="맑은 고딕"/>
                        </a:rPr>
                        <a:t>소속이 바뀌는 모듈. Intent 발행 지점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ctr">
                        <a:spcAft>
                          <a:spcPts val="100"/>
                        </a:spcAft>
                      </a:pPr>
                      <a:r>
                        <a:rPr sz="1000" b="0">
                          <a:solidFill>
                            <a:srgbClr val="7F7F7F"/>
                          </a:solidFill>
                          <a:latin typeface="맑은 고딕"/>
                          <a:ea typeface="맑은 고딕"/>
                          <a:cs typeface="맑은 고딕"/>
                        </a:rPr>
                        <a:t>State Monitor · Telemetry Collector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Resource Manager (상태부)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Resource Manager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수집은 서빙 경로 밖 주기 경로 (FR-05)</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ctr">
                        <a:spcAft>
                          <a:spcPts val="100"/>
                        </a:spcAft>
                      </a:pPr>
                      <a:r>
                        <a:rPr sz="1000" b="0">
                          <a:solidFill>
                            <a:srgbClr val="7F7F7F"/>
                          </a:solidFill>
                          <a:latin typeface="맑은 고딕"/>
                          <a:ea typeface="맑은 고딕"/>
                          <a:cs typeface="맑은 고딕"/>
                        </a:rPr>
                        <a:t>Memory · Data Object Registry</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Resource Manager (상태부)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Resource Manager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위치의 단일 진실 (FR-04)</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ctr">
                        <a:spcAft>
                          <a:spcPts val="100"/>
                        </a:spcAft>
                      </a:pPr>
                      <a:r>
                        <a:rPr sz="1000" b="0">
                          <a:solidFill>
                            <a:srgbClr val="7F7F7F"/>
                          </a:solidFill>
                          <a:latin typeface="맑은 고딕"/>
                          <a:ea typeface="맑은 고딕"/>
                          <a:cs typeface="맑은 고딕"/>
                        </a:rPr>
                        <a:t>Migration Executor · Transfer Handler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Data Plane</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Data Plane</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공통. 실행은 background DMA</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57200">
                <a:tc>
                  <a:txBody>
                    <a:bodyPr wrap="square"/>
                    <a:lstStyle/>
                    <a:p>
                      <a:pPr algn="ctr">
                        <a:spcAft>
                          <a:spcPts val="100"/>
                        </a:spcAft>
                      </a:pPr>
                      <a:r>
                        <a:rPr sz="1000" b="0">
                          <a:solidFill>
                            <a:srgbClr val="7F7F7F"/>
                          </a:solidFill>
                          <a:latin typeface="맑은 고딕"/>
                          <a:ea typeface="맑은 고딕"/>
                          <a:cs typeface="맑은 고딕"/>
                        </a:rPr>
                        <a:t>Common Memory Backend I/F</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1000" b="0">
                          <a:solidFill>
                            <a:srgbClr val="000000"/>
                          </a:solidFill>
                          <a:latin typeface="맑은 고딕"/>
                          <a:ea typeface="맑은 고딕"/>
                          <a:cs typeface="맑은 고딕"/>
                        </a:rPr>
                        <a:t>공통 하부 계층</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공통 하부 계층</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신규 Device SW 편입 지점 (C2)</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21" name="Rectangle 20"/>
          <p:cNvSpPr/>
          <p:nvPr/>
        </p:nvSpPr>
        <p:spPr>
          <a:xfrm>
            <a:off x="347472" y="5394960"/>
            <a:ext cx="11402568" cy="1051560"/>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05756" y="5239512"/>
            <a:ext cx="228600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1200" b="1">
                <a:solidFill>
                  <a:srgbClr val="000000"/>
                </a:solidFill>
                <a:latin typeface="맑은 고딕"/>
                <a:ea typeface="맑은 고딕"/>
                <a:cs typeface="맑은 고딕"/>
              </a:rPr>
              <a:t>비교 원칙과 예상 질문</a:t>
            </a:r>
          </a:p>
        </p:txBody>
      </p:sp>
      <p:sp>
        <p:nvSpPr>
          <p:cNvPr id="23" name="TextBox 22"/>
          <p:cNvSpPr txBox="1"/>
          <p:nvPr/>
        </p:nvSpPr>
        <p:spPr>
          <a:xfrm>
            <a:off x="457200" y="5596128"/>
            <a:ext cx="11247120" cy="868680"/>
          </a:xfrm>
          <a:prstGeom prst="rect">
            <a:avLst/>
          </a:prstGeom>
          <a:noFill/>
        </p:spPr>
        <p:txBody>
          <a:bodyPr wrap="square" anchor="t" lIns="45720" rIns="45720" tIns="27432" bIns="27432">
            <a:spAutoFit/>
          </a:bodyPr>
          <a:lstStyle/>
          <a:p>
            <a:pPr algn="l">
              <a:spcAft>
                <a:spcPts val="200"/>
              </a:spcAft>
            </a:pPr>
            <a:r>
              <a:rPr sz="1000" b="1">
                <a:solidFill>
                  <a:srgbClr val="0066FF"/>
                </a:solidFill>
                <a:latin typeface="맑은 고딕"/>
                <a:ea typeface="맑은 고딕"/>
                <a:cs typeface="맑은 고딕"/>
              </a:rPr>
              <a:t>바뀌는 변수는 하나: 결정 로직의 소속 (그에 따른 호출 경계: 로컬 호출 vs snapshot query)</a:t>
            </a:r>
          </a:p>
          <a:p>
            <a:pPr algn="l">
              <a:spcAft>
                <a:spcPts val="200"/>
              </a:spcAft>
            </a:pPr>
            <a:r>
              <a:rPr sz="950" b="0">
                <a:solidFill>
                  <a:srgbClr val="000000"/>
                </a:solidFill>
                <a:latin typeface="맑은 고딕"/>
                <a:ea typeface="맑은 고딕"/>
                <a:cs typeface="맑은 고딕"/>
              </a:rPr>
              <a:t>Q. '결국 정책 차이 아닌가?'  A. 신호(자원 상태 / data 행동)는 정책 플러그인으로 두 안에 공통. 같은 정책(iso-policy)을 두 구조에 올려 결정 경로 hop, 수정 모듈 수, 지연 증가율로 비교</a:t>
            </a:r>
          </a:p>
          <a:p>
            <a:pPr algn="l">
              <a:spcAft>
                <a:spcPts val="200"/>
              </a:spcAft>
            </a:pPr>
            <a:r>
              <a:rPr sz="950" b="0">
                <a:solidFill>
                  <a:srgbClr val="000000"/>
                </a:solidFill>
                <a:latin typeface="맑은 고딕"/>
                <a:ea typeface="맑은 고딕"/>
                <a:cs typeface="맑은 고딕"/>
              </a:rPr>
              <a:t>Q. '1안은 Resource Manager가 상태와 판단을 함께 갖는데 이름이 맞는가?'  A. 상태 소유자가 판단까지 하는 co-location 안이라 (상태 + 결정)으로 표기. 이 결합이 곧 비교 변수</a:t>
            </a:r>
          </a:p>
        </p:txBody>
      </p:sp>
      <p:sp>
        <p:nvSpPr>
          <p:cNvPr id="24" name="TextBox 23"/>
          <p:cNvSpPr txBox="1"/>
          <p:nvPr/>
        </p:nvSpPr>
        <p:spPr>
          <a:xfrm>
            <a:off x="5349240" y="6583680"/>
            <a:ext cx="621792" cy="237744"/>
          </a:xfrm>
          <a:prstGeom prst="rect">
            <a:avLst/>
          </a:prstGeom>
          <a:noFill/>
        </p:spPr>
        <p:txBody>
          <a:bodyPr wrap="square" anchor="t" lIns="45720" rIns="45720" tIns="27432" bIns="27432">
            <a:spAutoFit/>
          </a:bodyPr>
          <a:lstStyle/>
          <a:p>
            <a:pPr algn="r">
              <a:spcAft>
                <a:spcPts val="200"/>
              </a:spcAft>
            </a:pPr>
            <a:r>
              <a:rPr sz="1000" b="0">
                <a:solidFill>
                  <a:srgbClr val="7F7F7F"/>
                </a:solidFill>
                <a:latin typeface="맑은 고딕"/>
                <a:ea typeface="맑은 고딕"/>
                <a:cs typeface="맑은 고딕"/>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DP1. Data Migration 결정 구조 -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 y="621792"/>
            <a:ext cx="7589520" cy="329184"/>
          </a:xfrm>
          <a:prstGeom prst="rect">
            <a:avLst/>
          </a:prstGeom>
          <a:noFill/>
        </p:spPr>
        <p:txBody>
          <a:bodyPr wrap="square" anchor="ctr" lIns="45720" rIns="45720" tIns="27432" bIns="27432">
            <a:spAutoFit/>
          </a:bodyPr>
          <a:lstStyle/>
          <a:p>
            <a:pPr algn="l">
              <a:spcAft>
                <a:spcPts val="200"/>
              </a:spcAft>
            </a:pPr>
            <a:r>
              <a:rPr sz="1400" b="1">
                <a:solidFill>
                  <a:srgbClr val="FFFFFF"/>
                </a:solidFill>
                <a:latin typeface="맑은 고딕"/>
                <a:ea typeface="맑은 고딕"/>
                <a:cs typeface="맑은 고딕"/>
              </a:rPr>
              <a:t>QA별 구조적 측정 근거 (정책은 고정, 소속만 변경)</a:t>
            </a:r>
          </a:p>
        </p:txBody>
      </p:sp>
      <p:sp>
        <p:nvSpPr>
          <p:cNvPr id="13" name="Rounded Rectangle 12"/>
          <p:cNvSpPr/>
          <p:nvPr/>
        </p:nvSpPr>
        <p:spPr>
          <a:xfrm>
            <a:off x="11146536"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Q4</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Q3</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Q2</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Q1</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F2</a:t>
            </a:r>
          </a:p>
        </p:txBody>
      </p:sp>
      <p:sp>
        <p:nvSpPr>
          <p:cNvPr id="18" name="Rounded Rectangle 17"/>
          <p:cNvSpPr/>
          <p:nvPr/>
        </p:nvSpPr>
        <p:spPr>
          <a:xfrm>
            <a:off x="7397495"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F1</a:t>
            </a:r>
          </a:p>
        </p:txBody>
      </p:sp>
      <p:sp>
        <p:nvSpPr>
          <p:cNvPr id="19" name="Rounded Rectangle 18"/>
          <p:cNvSpPr/>
          <p:nvPr/>
        </p:nvSpPr>
        <p:spPr>
          <a:xfrm>
            <a:off x="6647687"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C2</a:t>
            </a:r>
          </a:p>
        </p:txBody>
      </p:sp>
      <p:graphicFrame>
        <p:nvGraphicFramePr>
          <p:cNvPr id="20" name="Table 19"/>
          <p:cNvGraphicFramePr>
            <a:graphicFrameLocks noGrp="1"/>
          </p:cNvGraphicFramePr>
          <p:nvPr/>
        </p:nvGraphicFramePr>
        <p:xfrm>
          <a:off x="246888" y="1097280"/>
          <a:ext cx="11750040" cy="4462272"/>
        </p:xfrm>
        <a:graphic>
          <a:graphicData uri="http://schemas.openxmlformats.org/drawingml/2006/table">
            <a:tbl>
              <a:tblPr firstRow="0" bandRow="0">
                <a:tableStyleId>{2D5ABB26-0587-4C30-8999-92F81FD0307C}</a:tableStyleId>
              </a:tblPr>
              <a:tblGrid>
                <a:gridCol w="914400"/>
                <a:gridCol w="3017520"/>
                <a:gridCol w="2468880"/>
                <a:gridCol w="2468880"/>
                <a:gridCol w="2880360"/>
              </a:tblGrid>
              <a:tr h="365760">
                <a:tc>
                  <a:txBody>
                    <a:bodyPr wrap="square"/>
                    <a:lstStyle/>
                    <a:p>
                      <a:pPr algn="ctr">
                        <a:spcAft>
                          <a:spcPts val="100"/>
                        </a:spcAft>
                      </a:pPr>
                      <a:r>
                        <a:rPr sz="1050" b="0">
                          <a:solidFill>
                            <a:srgbClr val="7F7F7F"/>
                          </a:solidFill>
                          <a:latin typeface="맑은 고딕"/>
                          <a:ea typeface="맑은 고딕"/>
                          <a:cs typeface="맑은 고딕"/>
                        </a:rPr>
                        <a:t>QA</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gn="ctr">
                        <a:spcAft>
                          <a:spcPts val="100"/>
                        </a:spcAft>
                      </a:pPr>
                      <a:r>
                        <a:rPr sz="1050" b="1">
                          <a:solidFill>
                            <a:srgbClr val="7F7F7F"/>
                          </a:solidFill>
                          <a:latin typeface="맑은 고딕"/>
                          <a:ea typeface="맑은 고딕"/>
                          <a:cs typeface="맑은 고딕"/>
                        </a:rPr>
                        <a:t>구조 요인과 지표 (단위)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gn="ctr">
                        <a:spcAft>
                          <a:spcPts val="100"/>
                        </a:spcAft>
                      </a:pPr>
                      <a:r>
                        <a:rPr sz="1050" b="1">
                          <a:solidFill>
                            <a:srgbClr val="7F7F7F"/>
                          </a:solidFill>
                          <a:latin typeface="맑은 고딕"/>
                          <a:ea typeface="맑은 고딕"/>
                          <a:cs typeface="맑은 고딕"/>
                        </a:rPr>
                        <a:t>1안 Resource Manager 내장</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gn="ctr">
                        <a:spcAft>
                          <a:spcPts val="100"/>
                        </a:spcAft>
                      </a:pPr>
                      <a:r>
                        <a:rPr sz="1050" b="1">
                          <a:solidFill>
                            <a:srgbClr val="7F7F7F"/>
                          </a:solidFill>
                          <a:latin typeface="맑은 고딕"/>
                          <a:ea typeface="맑은 고딕"/>
                          <a:cs typeface="맑은 고딕"/>
                        </a:rPr>
                        <a:t>2안 Control 분리</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lgn="ctr">
                        <a:spcAft>
                          <a:spcPts val="100"/>
                        </a:spcAft>
                      </a:pPr>
                      <a:r>
                        <a:rPr sz="1050" b="1">
                          <a:solidFill>
                            <a:srgbClr val="7F7F7F"/>
                          </a:solidFill>
                          <a:latin typeface="맑은 고딕"/>
                          <a:ea typeface="맑은 고딕"/>
                          <a:cs typeface="맑은 고딕"/>
                        </a:rPr>
                        <a:t>검증 방법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1024128">
                <a:tc>
                  <a:txBody>
                    <a:bodyPr wrap="square"/>
                    <a:lstStyle/>
                    <a:p>
                      <a:pPr algn="ctr">
                        <a:spcAft>
                          <a:spcPts val="100"/>
                        </a:spcAft>
                      </a:pPr>
                      <a:r>
                        <a:rPr sz="950" b="0">
                          <a:solidFill>
                            <a:srgbClr val="7F7F7F"/>
                          </a:solidFill>
                          <a:latin typeface="맑은 고딕"/>
                          <a:ea typeface="맑은 고딕"/>
                          <a:cs typeface="맑은 고딕"/>
                        </a:rPr>
                        <a:t>Q1
Throughput</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900" b="0">
                          <a:solidFill>
                            <a:srgbClr val="000000"/>
                          </a:solidFill>
                          <a:latin typeface="맑은 고딕"/>
                          <a:ea typeface="맑은 고딕"/>
                          <a:cs typeface="맑은 고딕"/>
                        </a:rPr>
                        <a:t>결정 경로 hop 수와 event→Intent 지연 (μs), 판단 부하 시 commit→Registry 반영 지연 P99 (ms). 결정은 비동기라 forward 밖이므로 Goodput 차이는 작을 수 있음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조회가 로컬 호출, hop 0. 단 긴 판단 연산이 같은 서비스의 commit 반영·수집을 지연(head-of-line blocking)시킬 수 있음</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snapshot query hop +1. 대신 판단 부하와 상태 갱신 경로가 분리되어 commit 반영 지연 없음, 판단 스레드의 서빙 코어 간섭 격리</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결정 비용 sweep (0.1 / 1 / 10 ms)</a:t>
                      </a:r>
                    </a:p>
                    <a:p>
                      <a:pPr>
                        <a:spcAft>
                          <a:spcPts val="100"/>
                        </a:spcAft>
                      </a:pPr>
                      <a:r>
                        <a:rPr sz="850" b="0">
                          <a:solidFill>
                            <a:srgbClr val="7F7F7F"/>
                          </a:solidFill>
                          <a:latin typeface="맑은 고딕"/>
                          <a:ea typeface="맑은 고딕"/>
                          <a:cs typeface="맑은 고딕"/>
                        </a:rPr>
                        <a:t>[B+C 예정]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1024128">
                <a:tc>
                  <a:txBody>
                    <a:bodyPr wrap="square"/>
                    <a:lstStyle/>
                    <a:p>
                      <a:pPr algn="ctr">
                        <a:spcAft>
                          <a:spcPts val="100"/>
                        </a:spcAft>
                      </a:pPr>
                      <a:r>
                        <a:rPr sz="950" b="0">
                          <a:solidFill>
                            <a:srgbClr val="7F7F7F"/>
                          </a:solidFill>
                          <a:latin typeface="맑은 고딕"/>
                          <a:ea typeface="맑은 고딕"/>
                          <a:cs typeface="맑은 고딕"/>
                        </a:rPr>
                        <a:t>Q2
HBM 점유율</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900" b="0">
                          <a:solidFill>
                            <a:srgbClr val="000000"/>
                          </a:solidFill>
                          <a:latin typeface="맑은 고딕"/>
                          <a:ea typeface="맑은 고딕"/>
                          <a:cs typeface="맑은 고딕"/>
                        </a:rPr>
                        <a:t>stale window: 압력 발생 → demote 시작 (ms), HBM peak overshoot (GB). 낮을수록 좋음</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상태를 직접 읽어 stale ≈ 0</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snapshot age(FR-05 허용 age)만큼 stale</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압력 step 입력 시 overshoot 측정, snapshot age sweep</a:t>
                      </a:r>
                    </a:p>
                    <a:p>
                      <a:pPr>
                        <a:spcAft>
                          <a:spcPts val="100"/>
                        </a:spcAft>
                      </a:pPr>
                      <a:r>
                        <a:rPr sz="850" b="0">
                          <a:solidFill>
                            <a:srgbClr val="7F7F7F"/>
                          </a:solidFill>
                          <a:latin typeface="맑은 고딕"/>
                          <a:ea typeface="맑은 고딕"/>
                          <a:cs typeface="맑은 고딕"/>
                        </a:rPr>
                        <a:t>[B+C 예정]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1024128">
                <a:tc>
                  <a:txBody>
                    <a:bodyPr wrap="square"/>
                    <a:lstStyle/>
                    <a:p>
                      <a:pPr algn="ctr">
                        <a:spcAft>
                          <a:spcPts val="100"/>
                        </a:spcAft>
                      </a:pPr>
                      <a:r>
                        <a:rPr sz="950" b="0">
                          <a:solidFill>
                            <a:srgbClr val="7F7F7F"/>
                          </a:solidFill>
                          <a:latin typeface="맑은 고딕"/>
                          <a:ea typeface="맑은 고딕"/>
                          <a:cs typeface="맑은 고딕"/>
                        </a:rPr>
                        <a:t>Q3
변경용이성</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900" b="0">
                          <a:solidFill>
                            <a:srgbClr val="000000"/>
                          </a:solidFill>
                          <a:latin typeface="맑은 고딕"/>
                          <a:ea typeface="맑은 고딕"/>
                          <a:cs typeface="맑은 고딕"/>
                        </a:rPr>
                        <a:t>신규·변경 정책 반영 시 수정 모듈 수 (개)와 재배포 단위. 정책 추가 시나리오(예: 신호 교체) 기준</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정책이 상태 서비스(Resource Manager) 안에 있어 정책 변경 시 상태 서비스 수정·재배포</a:t>
                      </a:r>
                    </a:p>
                    <a:p>
                      <a:pPr>
                        <a:spcAft>
                          <a:spcPts val="100"/>
                        </a:spcAft>
                      </a:pPr>
                      <a:r>
                        <a:rPr sz="850" b="0">
                          <a:solidFill>
                            <a:srgbClr val="7F7F7F"/>
                          </a:solidFill>
                          <a:latin typeface="맑은 고딕"/>
                          <a:ea typeface="맑은 고딕"/>
                          <a:cs typeface="맑은 고딕"/>
                        </a:rPr>
                        <a:t>[추정]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Control 내 Analyzer·Mapper·Policy Engine만 수정, 상태 서비스 불변</a:t>
                      </a:r>
                    </a:p>
                    <a:p>
                      <a:pPr>
                        <a:spcAft>
                          <a:spcPts val="100"/>
                        </a:spcAft>
                      </a:pPr>
                      <a:r>
                        <a:rPr sz="850" b="0">
                          <a:solidFill>
                            <a:srgbClr val="7F7F7F"/>
                          </a:solidFill>
                          <a:latin typeface="맑은 고딕"/>
                          <a:ea typeface="맑은 고딕"/>
                          <a:cs typeface="맑은 고딕"/>
                        </a:rPr>
                        <a:t>[추정]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정책 교체 시나리오를 두 구조에 적용해 diff 모듈 수 집계</a:t>
                      </a:r>
                    </a:p>
                    <a:p>
                      <a:pPr>
                        <a:spcAft>
                          <a:spcPts val="100"/>
                        </a:spcAft>
                      </a:pPr>
                      <a:r>
                        <a:rPr sz="850" b="0">
                          <a:solidFill>
                            <a:srgbClr val="7F7F7F"/>
                          </a:solidFill>
                          <a:latin typeface="맑은 고딕"/>
                          <a:ea typeface="맑은 고딕"/>
                          <a:cs typeface="맑은 고딕"/>
                        </a:rPr>
                        <a:t>[설계 검토]</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1024128">
                <a:tc>
                  <a:txBody>
                    <a:bodyPr wrap="square"/>
                    <a:lstStyle/>
                    <a:p>
                      <a:pPr algn="ctr">
                        <a:spcAft>
                          <a:spcPts val="100"/>
                        </a:spcAft>
                      </a:pPr>
                      <a:r>
                        <a:rPr sz="950" b="0">
                          <a:solidFill>
                            <a:srgbClr val="7F7F7F"/>
                          </a:solidFill>
                          <a:latin typeface="맑은 고딕"/>
                          <a:ea typeface="맑은 고딕"/>
                          <a:cs typeface="맑은 고딕"/>
                        </a:rPr>
                        <a:t>Q4
확장성</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wrap="square"/>
                    <a:lstStyle/>
                    <a:p>
                      <a:pPr>
                        <a:spcAft>
                          <a:spcPts val="100"/>
                        </a:spcAft>
                      </a:pPr>
                      <a:r>
                        <a:rPr sz="900" b="0">
                          <a:solidFill>
                            <a:srgbClr val="000000"/>
                          </a:solidFill>
                          <a:latin typeface="맑은 고딕"/>
                          <a:ea typeface="맑은 고딕"/>
                          <a:cs typeface="맑은 고딕"/>
                        </a:rPr>
                        <a:t>Scaling Efficiency: tier 수 N=2→8, object 수 증가 시 event→Intent 지연 증가율 (배)</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상태 저장과 판단이 한 서비스에서 처리 → 단일 서비스 포화</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판단과 상태를 분리 확장, 단 query 부하가 Resource Manager에 집중</a:t>
                      </a:r>
                    </a:p>
                    <a:p>
                      <a:pPr>
                        <a:spcAft>
                          <a:spcPts val="100"/>
                        </a:spcAft>
                      </a:pPr>
                      <a:r>
                        <a:rPr sz="850" b="0">
                          <a:solidFill>
                            <a:srgbClr val="7F7F7F"/>
                          </a:solidFill>
                          <a:latin typeface="맑은 고딕"/>
                          <a:ea typeface="맑은 고딕"/>
                          <a:cs typeface="맑은 고딕"/>
                        </a:rPr>
                        <a:t>[가설]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N·object sweep 시뮬레이션, 서비스별 부하 모델링 필요</a:t>
                      </a:r>
                    </a:p>
                    <a:p>
                      <a:pPr>
                        <a:spcAft>
                          <a:spcPts val="100"/>
                        </a:spcAft>
                      </a:pPr>
                      <a:r>
                        <a:rPr sz="850" b="0">
                          <a:solidFill>
                            <a:srgbClr val="7F7F7F"/>
                          </a:solidFill>
                          <a:latin typeface="맑은 고딕"/>
                          <a:ea typeface="맑은 고딕"/>
                          <a:cs typeface="맑은 고딕"/>
                        </a:rPr>
                        <a:t>[B+C 예정]</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21" name="Rectangle 20"/>
          <p:cNvSpPr/>
          <p:nvPr/>
        </p:nvSpPr>
        <p:spPr>
          <a:xfrm>
            <a:off x="347472" y="5897880"/>
            <a:ext cx="11402568" cy="566928"/>
          </a:xfrm>
          <a:prstGeom prst="rect">
            <a:avLst/>
          </a:prstGeom>
          <a:noFill/>
          <a:ln w="1270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317236" y="5742432"/>
            <a:ext cx="1463040" cy="310896"/>
          </a:xfrm>
          <a:prstGeom prst="roundRect">
            <a:avLst/>
          </a:prstGeom>
          <a:solidFill>
            <a:srgbClr val="F2F2F2"/>
          </a:solidFill>
          <a:ln w="10160">
            <a:solidFill>
              <a:srgbClr val="7F7F7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1200" b="1">
                <a:solidFill>
                  <a:srgbClr val="000000"/>
                </a:solidFill>
                <a:latin typeface="맑은 고딕"/>
                <a:ea typeface="맑은 고딕"/>
                <a:cs typeface="맑은 고딕"/>
              </a:rPr>
              <a:t>비교 원칙</a:t>
            </a:r>
          </a:p>
        </p:txBody>
      </p:sp>
      <p:sp>
        <p:nvSpPr>
          <p:cNvPr id="23" name="TextBox 22"/>
          <p:cNvSpPr txBox="1"/>
          <p:nvPr/>
        </p:nvSpPr>
        <p:spPr>
          <a:xfrm>
            <a:off x="457200" y="5989320"/>
            <a:ext cx="11247120" cy="502920"/>
          </a:xfrm>
          <a:prstGeom prst="rect">
            <a:avLst/>
          </a:prstGeom>
          <a:noFill/>
        </p:spPr>
        <p:txBody>
          <a:bodyPr wrap="square" anchor="t" lIns="45720" rIns="45720" tIns="27432" bIns="27432">
            <a:spAutoFit/>
          </a:bodyPr>
          <a:lstStyle/>
          <a:p>
            <a:pPr algn="l">
              <a:spcAft>
                <a:spcPts val="200"/>
              </a:spcAft>
            </a:pPr>
            <a:r>
              <a:rPr sz="950" b="0">
                <a:solidFill>
                  <a:srgbClr val="404040"/>
                </a:solidFill>
                <a:latin typeface="맑은 고딕"/>
                <a:ea typeface="맑은 고딕"/>
                <a:cs typeface="맑은 고딕"/>
              </a:rPr>
              <a:t>Policy(C1 또는 C2 중 하나)를 두 안에 동일하게 구현해 고정하고 소속만 바꿔 측정. 정책 품질(예측 정확도)은 구조 평가에서 제외. 별점·임계값은 통합 단계(memo-threshold-unification)에서 정하며 여기서는 쓰지 않음</a:t>
            </a:r>
          </a:p>
        </p:txBody>
      </p:sp>
      <p:sp>
        <p:nvSpPr>
          <p:cNvPr id="24" name="TextBox 23"/>
          <p:cNvSpPr txBox="1"/>
          <p:nvPr/>
        </p:nvSpPr>
        <p:spPr>
          <a:xfrm>
            <a:off x="5349240" y="6583680"/>
            <a:ext cx="621792" cy="237744"/>
          </a:xfrm>
          <a:prstGeom prst="rect">
            <a:avLst/>
          </a:prstGeom>
          <a:noFill/>
        </p:spPr>
        <p:txBody>
          <a:bodyPr wrap="square" anchor="t" lIns="45720" rIns="45720" tIns="27432" bIns="27432">
            <a:spAutoFit/>
          </a:bodyPr>
          <a:lstStyle/>
          <a:p>
            <a:pPr algn="r">
              <a:spcAft>
                <a:spcPts val="200"/>
              </a:spcAft>
            </a:pPr>
            <a:r>
              <a:rPr sz="1000" b="0">
                <a:solidFill>
                  <a:srgbClr val="7F7F7F"/>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DP1. Data Migration 결정 구조 - 보완 설계</a:t>
            </a:r>
          </a:p>
        </p:txBody>
      </p:sp>
      <p:sp>
        <p:nvSpPr>
          <p:cNvPr id="3" name="Chevron 2"/>
          <p:cNvSpPr/>
          <p:nvPr/>
        </p:nvSpPr>
        <p:spPr>
          <a:xfrm>
            <a:off x="7522768"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과제 소개</a:t>
            </a:r>
          </a:p>
        </p:txBody>
      </p:sp>
      <p:sp>
        <p:nvSpPr>
          <p:cNvPr id="4" name="Chevron 3"/>
          <p:cNvSpPr/>
          <p:nvPr/>
        </p:nvSpPr>
        <p:spPr>
          <a:xfrm>
            <a:off x="8415223"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요구사항</a:t>
            </a:r>
          </a:p>
        </p:txBody>
      </p:sp>
      <p:sp>
        <p:nvSpPr>
          <p:cNvPr id="5" name="Chevron 4"/>
          <p:cNvSpPr/>
          <p:nvPr/>
        </p:nvSpPr>
        <p:spPr>
          <a:xfrm>
            <a:off x="9314078" y="137160"/>
            <a:ext cx="1031443" cy="357530"/>
          </a:xfrm>
          <a:prstGeom prst="chevron">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설계</a:t>
            </a:r>
          </a:p>
        </p:txBody>
      </p:sp>
      <p:sp>
        <p:nvSpPr>
          <p:cNvPr id="6" name="Chevron 5"/>
          <p:cNvSpPr/>
          <p:nvPr/>
        </p:nvSpPr>
        <p:spPr>
          <a:xfrm>
            <a:off x="10206532" y="137160"/>
            <a:ext cx="1031443"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구현/검증</a:t>
            </a:r>
          </a:p>
        </p:txBody>
      </p:sp>
      <p:sp>
        <p:nvSpPr>
          <p:cNvPr id="7" name="Chevron 6"/>
          <p:cNvSpPr/>
          <p:nvPr/>
        </p:nvSpPr>
        <p:spPr>
          <a:xfrm>
            <a:off x="11105388" y="137160"/>
            <a:ext cx="892454" cy="357530"/>
          </a:xfrm>
          <a:prstGeom prst="chevron">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1000" b="1">
                <a:solidFill>
                  <a:srgbClr val="FFFFFF"/>
                </a:solidFill>
                <a:latin typeface="맑은 고딕"/>
                <a:ea typeface="맑은 고딕"/>
                <a:cs typeface="맑은 고딕"/>
              </a:rPr>
              <a:t>결론</a:t>
            </a:r>
          </a:p>
        </p:txBody>
      </p:sp>
      <p:sp>
        <p:nvSpPr>
          <p:cNvPr id="8" name="Rectangle 7"/>
          <p:cNvSpPr/>
          <p:nvPr/>
        </p:nvSpPr>
        <p:spPr>
          <a:xfrm>
            <a:off x="752916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789359" y="137160"/>
            <a:ext cx="212140" cy="357530"/>
          </a:xfrm>
          <a:prstGeom prst="rect">
            <a:avLst/>
          </a:prstGeom>
          <a:solidFill>
            <a:srgbClr val="BFBF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37744" y="594360"/>
            <a:ext cx="11750040" cy="393192"/>
          </a:xfrm>
          <a:prstGeom prst="rect">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2336" y="676656"/>
            <a:ext cx="64008" cy="2194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6344" y="621792"/>
            <a:ext cx="7589520" cy="329184"/>
          </a:xfrm>
          <a:prstGeom prst="rect">
            <a:avLst/>
          </a:prstGeom>
          <a:noFill/>
        </p:spPr>
        <p:txBody>
          <a:bodyPr wrap="square" anchor="ctr" lIns="45720" rIns="45720" tIns="27432" bIns="27432">
            <a:spAutoFit/>
          </a:bodyPr>
          <a:lstStyle/>
          <a:p>
            <a:pPr algn="l">
              <a:spcAft>
                <a:spcPts val="200"/>
              </a:spcAft>
            </a:pPr>
            <a:r>
              <a:rPr sz="1400" b="1">
                <a:solidFill>
                  <a:srgbClr val="FFFFFF"/>
                </a:solidFill>
                <a:latin typeface="맑은 고딕"/>
                <a:ea typeface="맑은 고딕"/>
                <a:cs typeface="맑은 고딕"/>
              </a:rPr>
              <a:t>언제, 무엇을, 어느 memory tier로 이동할지 결정</a:t>
            </a:r>
          </a:p>
        </p:txBody>
      </p:sp>
      <p:sp>
        <p:nvSpPr>
          <p:cNvPr id="13" name="Rounded Rectangle 12"/>
          <p:cNvSpPr/>
          <p:nvPr/>
        </p:nvSpPr>
        <p:spPr>
          <a:xfrm>
            <a:off x="11146536"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Q4</a:t>
            </a:r>
          </a:p>
        </p:txBody>
      </p:sp>
      <p:sp>
        <p:nvSpPr>
          <p:cNvPr id="14" name="Rounded Rectangle 13"/>
          <p:cNvSpPr/>
          <p:nvPr/>
        </p:nvSpPr>
        <p:spPr>
          <a:xfrm>
            <a:off x="10396728"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Q3</a:t>
            </a:r>
          </a:p>
        </p:txBody>
      </p:sp>
      <p:sp>
        <p:nvSpPr>
          <p:cNvPr id="15" name="Rounded Rectangle 14"/>
          <p:cNvSpPr/>
          <p:nvPr/>
        </p:nvSpPr>
        <p:spPr>
          <a:xfrm>
            <a:off x="9646919"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Q2</a:t>
            </a:r>
          </a:p>
        </p:txBody>
      </p:sp>
      <p:sp>
        <p:nvSpPr>
          <p:cNvPr id="16" name="Rounded Rectangle 15"/>
          <p:cNvSpPr/>
          <p:nvPr/>
        </p:nvSpPr>
        <p:spPr>
          <a:xfrm>
            <a:off x="8897111" y="630936"/>
            <a:ext cx="713232" cy="320040"/>
          </a:xfrm>
          <a:prstGeom prst="roundRect">
            <a:avLst/>
          </a:prstGeom>
          <a:solidFill>
            <a:srgbClr val="833C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Q1</a:t>
            </a:r>
          </a:p>
        </p:txBody>
      </p:sp>
      <p:sp>
        <p:nvSpPr>
          <p:cNvPr id="17" name="Rounded Rectangle 16"/>
          <p:cNvSpPr/>
          <p:nvPr/>
        </p:nvSpPr>
        <p:spPr>
          <a:xfrm>
            <a:off x="8147303"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F2</a:t>
            </a:r>
          </a:p>
        </p:txBody>
      </p:sp>
      <p:sp>
        <p:nvSpPr>
          <p:cNvPr id="18" name="Rounded Rectangle 17"/>
          <p:cNvSpPr/>
          <p:nvPr/>
        </p:nvSpPr>
        <p:spPr>
          <a:xfrm>
            <a:off x="7397495" y="630936"/>
            <a:ext cx="713232" cy="320040"/>
          </a:xfrm>
          <a:prstGeom prst="roundRect">
            <a:avLst/>
          </a:prstGeom>
          <a:solidFill>
            <a:srgbClr val="20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F1</a:t>
            </a:r>
          </a:p>
        </p:txBody>
      </p:sp>
      <p:sp>
        <p:nvSpPr>
          <p:cNvPr id="19" name="Rounded Rectangle 18"/>
          <p:cNvSpPr/>
          <p:nvPr/>
        </p:nvSpPr>
        <p:spPr>
          <a:xfrm>
            <a:off x="6647687" y="630936"/>
            <a:ext cx="713232" cy="320040"/>
          </a:xfrm>
          <a:prstGeom prst="roundRect">
            <a:avLst/>
          </a:prstGeom>
          <a:solidFill>
            <a:srgbClr val="375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900" b="1">
                <a:solidFill>
                  <a:srgbClr val="FFFFFF"/>
                </a:solidFill>
                <a:latin typeface="맑은 고딕"/>
                <a:ea typeface="맑은 고딕"/>
                <a:cs typeface="맑은 고딕"/>
              </a:rPr>
              <a:t>C2</a:t>
            </a:r>
          </a:p>
        </p:txBody>
      </p:sp>
      <p:graphicFrame>
        <p:nvGraphicFramePr>
          <p:cNvPr id="20" name="Table 19"/>
          <p:cNvGraphicFramePr>
            <a:graphicFrameLocks noGrp="1"/>
          </p:cNvGraphicFramePr>
          <p:nvPr/>
        </p:nvGraphicFramePr>
        <p:xfrm>
          <a:off x="246888" y="1042415"/>
          <a:ext cx="11740896" cy="5166360"/>
        </p:xfrm>
        <a:graphic>
          <a:graphicData uri="http://schemas.openxmlformats.org/drawingml/2006/table">
            <a:tbl>
              <a:tblPr firstRow="0" bandRow="0">
                <a:tableStyleId>{2D5ABB26-0587-4C30-8999-92F81FD0307C}</a:tableStyleId>
              </a:tblPr>
              <a:tblGrid>
                <a:gridCol w="731520"/>
                <a:gridCol w="5504688"/>
                <a:gridCol w="5504688"/>
              </a:tblGrid>
              <a:tr h="502920">
                <a:tc>
                  <a:txBody>
                    <a:bodyPr wrap="square"/>
                    <a:lstStyle/>
                    <a:p>
                      <a:pPr algn="ctr">
                        <a:spcAft>
                          <a:spcPts val="100"/>
                        </a:spcAft>
                      </a:pPr>
                      <a:r>
                        <a:rPr sz="1100" b="0">
                          <a:solidFill>
                            <a:srgbClr val="7F7F7F"/>
                          </a:solidFill>
                          <a:latin typeface="맑은 고딕"/>
                          <a:ea typeface="맑은 고딕"/>
                          <a:cs typeface="맑은 고딕"/>
                        </a:rPr>
                        <a:t>설계 안</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1100" b="1">
                          <a:solidFill>
                            <a:srgbClr val="7F7F7F"/>
                          </a:solidFill>
                          <a:latin typeface="맑은 고딕"/>
                          <a:ea typeface="맑은 고딕"/>
                          <a:cs typeface="맑은 고딕"/>
                        </a:rPr>
                        <a:t>(2안) AI Data 특성에 우선한 이동</a:t>
                      </a:r>
                    </a:p>
                    <a:p>
                      <a:pPr algn="ctr">
                        <a:spcAft>
                          <a:spcPts val="100"/>
                        </a:spcAft>
                      </a:pPr>
                      <a:r>
                        <a:rPr sz="950" b="1">
                          <a:solidFill>
                            <a:srgbClr val="7F7F7F"/>
                          </a:solidFill>
                          <a:latin typeface="맑은 고딕"/>
                          <a:ea typeface="맑은 고딕"/>
                          <a:cs typeface="맑은 고딕"/>
                        </a:rPr>
                        <a:t>결정 로직은 Control에 분리 (기존 설계를 결정 위치 구조로 표현)</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lgn="ctr">
                        <a:spcAft>
                          <a:spcPts val="100"/>
                        </a:spcAft>
                      </a:pPr>
                      <a:r>
                        <a:rPr sz="1100" b="1">
                          <a:solidFill>
                            <a:srgbClr val="7F7F7F"/>
                          </a:solidFill>
                          <a:latin typeface="맑은 고딕"/>
                          <a:ea typeface="맑은 고딕"/>
                          <a:cs typeface="맑은 고딕"/>
                        </a:rPr>
                        <a:t>(2안) AI Data 특성에 우선한 이동 </a:t>
                      </a:r>
                      <a:r>
                        <a:rPr sz="1100" b="1">
                          <a:solidFill>
                            <a:srgbClr val="7F7F7F"/>
                          </a:solidFill>
                          <a:latin typeface="맑은 고딕"/>
                          <a:ea typeface="맑은 고딕"/>
                          <a:cs typeface="맑은 고딕"/>
                        </a:rPr>
                        <a:t>+ 보완</a:t>
                      </a:r>
                    </a:p>
                    <a:p>
                      <a:pPr algn="ctr">
                        <a:spcAft>
                          <a:spcPts val="100"/>
                        </a:spcAft>
                      </a:pPr>
                      <a:r>
                        <a:rPr sz="900" b="1">
                          <a:solidFill>
                            <a:srgbClr val="7F7F7F"/>
                          </a:solidFill>
                          <a:latin typeface="맑은 고딕"/>
                          <a:ea typeface="맑은 고딕"/>
                          <a:cs typeface="맑은 고딕"/>
                        </a:rPr>
                        <a:t>HBM 점유 기한(Lease) 제어 + Behavior adapter (판단은 Control, 상태·이벤트는 Resource Manager)</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108960">
                <a:tc>
                  <a:txBody>
                    <a:bodyPr wrap="square"/>
                    <a:lstStyle/>
                    <a:p>
                      <a:pPr algn="ctr">
                        <a:spcAft>
                          <a:spcPts val="100"/>
                        </a:spcAft>
                      </a:pPr>
                      <a:r>
                        <a:rPr sz="1000" b="0">
                          <a:solidFill>
                            <a:srgbClr val="7F7F7F"/>
                          </a:solidFill>
                          <a:latin typeface="맑은 고딕"/>
                          <a:ea typeface="맑은 고딕"/>
                          <a:cs typeface="맑은 고딕"/>
                        </a:rPr>
                        <a:t>구조</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000000"/>
                          </a:solidFill>
                          <a:latin typeface="맑은 고딕"/>
                          <a:ea typeface="맑은 고딕"/>
                          <a:cs typeface="맑은 고딕"/>
                        </a:rPr>
                        <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914400">
                <a:tc>
                  <a:txBody>
                    <a:bodyPr wrap="square"/>
                    <a:lstStyle/>
                    <a:p>
                      <a:pPr algn="ctr">
                        <a:spcAft>
                          <a:spcPts val="100"/>
                        </a:spcAft>
                      </a:pPr>
                      <a:r>
                        <a:rPr sz="1000" b="0">
                          <a:solidFill>
                            <a:srgbClr val="7F7F7F"/>
                          </a:solidFill>
                          <a:latin typeface="맑은 고딕"/>
                          <a:ea typeface="맑은 고딕"/>
                          <a:cs typeface="맑은 고딕"/>
                        </a:rPr>
                        <a:t>단점
개선점</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1000" b="0">
                          <a:solidFill>
                            <a:srgbClr val="A6A6A6"/>
                          </a:solidFill>
                          <a:latin typeface="맑은 고딕"/>
                          <a:ea typeface="맑은 고딕"/>
                          <a:cs typeface="맑은 고딕"/>
                        </a:rPr>
                        <a:t>• Behavior 예측에 의한 idle data의 불필요한 고속 메모리 점유 가능 (Q2)</a:t>
                      </a:r>
                    </a:p>
                    <a:p>
                      <a:pPr>
                        <a:spcAft>
                          <a:spcPts val="100"/>
                        </a:spcAft>
                      </a:pPr>
                      <a:r>
                        <a:rPr sz="1000" b="0">
                          <a:solidFill>
                            <a:srgbClr val="A6A6A6"/>
                          </a:solidFill>
                          <a:latin typeface="맑은 고딕"/>
                          <a:ea typeface="맑은 고딕"/>
                          <a:cs typeface="맑은 고딕"/>
                        </a:rPr>
                        <a:t>• 신규 workload 추가 시 변경 영향 범위 큼 (Q3)</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50" b="0">
                          <a:solidFill>
                            <a:srgbClr val="000000"/>
                          </a:solidFill>
                          <a:latin typeface="맑은 고딕"/>
                          <a:ea typeface="맑은 고딕"/>
                          <a:cs typeface="맑은 고딕"/>
                        </a:rPr>
                        <a:t>Behavior 예측에 의한 idle data의 불필요한 고속 메모리 점유 가능 (Q2)</a:t>
                      </a:r>
                    </a:p>
                    <a:p>
                      <a:pPr>
                        <a:spcAft>
                          <a:spcPts val="100"/>
                        </a:spcAft>
                      </a:pPr>
                      <a:r>
                        <a:rPr sz="950" b="0">
                          <a:solidFill>
                            <a:srgbClr val="FF0000"/>
                          </a:solidFill>
                          <a:latin typeface="맑은 고딕"/>
                          <a:ea typeface="맑은 고딕"/>
                          <a:cs typeface="맑은 고딕"/>
                        </a:rPr>
                        <a:t>→ HBM stage-in 시 Lease 부여, 만료 event로 migration 재평가</a:t>
                      </a:r>
                    </a:p>
                    <a:p>
                      <a:pPr>
                        <a:spcAft>
                          <a:spcPts val="100"/>
                        </a:spcAft>
                      </a:pPr>
                      <a:r>
                        <a:rPr sz="950" b="0">
                          <a:solidFill>
                            <a:srgbClr val="FF0000"/>
                          </a:solidFill>
                          <a:latin typeface="맑은 고딕"/>
                          <a:ea typeface="맑은 고딕"/>
                          <a:cs typeface="맑은 고딕"/>
                        </a:rPr>
                        <a:t>→ 최신 behavior로 Lease 연장·선별 demotion, HBM 점유율 제한</a:t>
                      </a:r>
                    </a:p>
                    <a:p>
                      <a:pPr>
                        <a:spcAft>
                          <a:spcPts val="100"/>
                        </a:spcAft>
                      </a:pPr>
                      <a:r>
                        <a:rPr sz="950" b="0">
                          <a:solidFill>
                            <a:srgbClr val="000000"/>
                          </a:solidFill>
                          <a:latin typeface="맑은 고딕"/>
                          <a:ea typeface="맑은 고딕"/>
                          <a:cs typeface="맑은 고딕"/>
                        </a:rPr>
                        <a:t>신규 workload 추가 시 변경 영향 범위 큼 (Q3)</a:t>
                      </a:r>
                    </a:p>
                    <a:p>
                      <a:pPr>
                        <a:spcAft>
                          <a:spcPts val="100"/>
                        </a:spcAft>
                      </a:pPr>
                      <a:r>
                        <a:rPr sz="950" b="0">
                          <a:solidFill>
                            <a:srgbClr val="FF0000"/>
                          </a:solidFill>
                          <a:latin typeface="맑은 고딕"/>
                          <a:ea typeface="맑은 고딕"/>
                          <a:cs typeface="맑은 고딕"/>
                        </a:rPr>
                        <a:t>→ workload 특성을 Adapter로 분리, 공통 Feature snapshot만 노출</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640080">
                <a:tc>
                  <a:txBody>
                    <a:bodyPr wrap="square"/>
                    <a:lstStyle/>
                    <a:p>
                      <a:pPr algn="ctr">
                        <a:spcAft>
                          <a:spcPts val="100"/>
                        </a:spcAft>
                      </a:pPr>
                      <a:r>
                        <a:rPr sz="1000" b="0">
                          <a:solidFill>
                            <a:srgbClr val="7F7F7F"/>
                          </a:solidFill>
                          <a:latin typeface="맑은 고딕"/>
                          <a:ea typeface="맑은 고딕"/>
                          <a:cs typeface="맑은 고딕"/>
                        </a:rPr>
                        <a:t>Tradeoff</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A6A6A6"/>
                          </a:solidFill>
                          <a:latin typeface="맑은 고딕"/>
                          <a:ea typeface="맑은 고딕"/>
                          <a:cs typeface="맑은 고딕"/>
                        </a:rPr>
                        <a:t>Q1 Performance 처리량 (tokens/s)</a:t>
                      </a:r>
                    </a:p>
                    <a:p>
                      <a:pPr>
                        <a:spcAft>
                          <a:spcPts val="100"/>
                        </a:spcAft>
                      </a:pPr>
                      <a:r>
                        <a:rPr sz="900" b="0">
                          <a:solidFill>
                            <a:srgbClr val="A6A6A6"/>
                          </a:solidFill>
                          <a:latin typeface="맑은 고딕"/>
                          <a:ea typeface="맑은 고딕"/>
                          <a:cs typeface="맑은 고딕"/>
                        </a:rPr>
                        <a:t>Q2 Resource Efficiency (HBM 사용량 GB)</a:t>
                      </a:r>
                    </a:p>
                    <a:p>
                      <a:pPr>
                        <a:spcAft>
                          <a:spcPts val="100"/>
                        </a:spcAft>
                      </a:pPr>
                      <a:r>
                        <a:rPr sz="900" b="0">
                          <a:solidFill>
                            <a:srgbClr val="A6A6A6"/>
                          </a:solidFill>
                          <a:latin typeface="맑은 고딕"/>
                          <a:ea typeface="맑은 고딕"/>
                          <a:cs typeface="맑은 고딕"/>
                        </a:rPr>
                        <a:t>Q3 Modifiability (토큰 비용, M/M)</a:t>
                      </a:r>
                    </a:p>
                    <a:p>
                      <a:pPr>
                        <a:spcAft>
                          <a:spcPts val="100"/>
                        </a:spcAft>
                      </a:pPr>
                      <a:r>
                        <a:rPr sz="900" b="0">
                          <a:solidFill>
                            <a:srgbClr val="A6A6A6"/>
                          </a:solidFill>
                          <a:latin typeface="맑은 고딕"/>
                          <a:ea typeface="맑은 고딕"/>
                          <a:cs typeface="맑은 고딕"/>
                        </a:rPr>
                        <a:t>Q4 Scalability (Scaling Efficiency)</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wrap="square"/>
                    <a:lstStyle/>
                    <a:p>
                      <a:pPr>
                        <a:spcAft>
                          <a:spcPts val="100"/>
                        </a:spcAft>
                      </a:pPr>
                      <a:r>
                        <a:rPr sz="900" b="0">
                          <a:solidFill>
                            <a:srgbClr val="000000"/>
                          </a:solidFill>
                          <a:latin typeface="맑은 고딕"/>
                          <a:ea typeface="맑은 고딕"/>
                          <a:cs typeface="맑은 고딕"/>
                        </a:rPr>
                        <a:t>Q1 처리량: 유지 (Lease 갱신이 판단 경로와 분리) [가설]</a:t>
                      </a:r>
                    </a:p>
                    <a:p>
                      <a:pPr>
                        <a:spcAft>
                          <a:spcPts val="100"/>
                        </a:spcAft>
                      </a:pPr>
                      <a:r>
                        <a:rPr sz="900" b="0">
                          <a:solidFill>
                            <a:srgbClr val="000000"/>
                          </a:solidFill>
                          <a:latin typeface="맑은 고딕"/>
                          <a:ea typeface="맑은 고딕"/>
                          <a:cs typeface="맑은 고딕"/>
                        </a:rPr>
                        <a:t>Q2 HBM 사용량: 개선 (idle data 점유에 만료 상한) [가설]</a:t>
                      </a:r>
                    </a:p>
                    <a:p>
                      <a:pPr>
                        <a:spcAft>
                          <a:spcPts val="100"/>
                        </a:spcAft>
                      </a:pPr>
                      <a:r>
                        <a:rPr sz="900" b="0">
                          <a:solidFill>
                            <a:srgbClr val="000000"/>
                          </a:solidFill>
                          <a:latin typeface="맑은 고딕"/>
                          <a:ea typeface="맑은 고딕"/>
                          <a:cs typeface="맑은 고딕"/>
                        </a:rPr>
                        <a:t>Q3 변경 비용: 개선 (workload 추가 = Adapter 1개) [가설]</a:t>
                      </a:r>
                    </a:p>
                    <a:p>
                      <a:pPr>
                        <a:spcAft>
                          <a:spcPts val="100"/>
                        </a:spcAft>
                      </a:pPr>
                      <a:r>
                        <a:rPr sz="900" b="0">
                          <a:solidFill>
                            <a:srgbClr val="000000"/>
                          </a:solidFill>
                          <a:latin typeface="맑은 고딕"/>
                          <a:ea typeface="맑은 고딕"/>
                          <a:cs typeface="맑은 고딕"/>
                        </a:rPr>
                        <a:t>Q4 확장성: 확인 필요 (Lease 수 ∝ object 수, timer 비용) [가설]</a:t>
                      </a:r>
                    </a:p>
                  </a:txBody>
                  <a:tcPr marL="64008" marR="64008" marT="27432" marB="27432"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21" name="Rectangle 20"/>
          <p:cNvSpPr/>
          <p:nvPr/>
        </p:nvSpPr>
        <p:spPr>
          <a:xfrm>
            <a:off x="1069848" y="1563624"/>
            <a:ext cx="5303520" cy="822960"/>
          </a:xfrm>
          <a:prstGeom prst="rect">
            <a:avLst/>
          </a:prstGeom>
          <a:solidFill>
            <a:srgbClr val="F0F1F3"/>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069848" y="1563624"/>
            <a:ext cx="5303520" cy="219456"/>
          </a:xfrm>
          <a:prstGeom prst="rect">
            <a:avLst/>
          </a:prstGeom>
          <a:solidFill>
            <a:srgbClr val="BFBFB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Control Plane  (Policy · 결정)</a:t>
            </a:r>
          </a:p>
        </p:txBody>
      </p:sp>
      <p:sp>
        <p:nvSpPr>
          <p:cNvPr id="23" name="Rectangle 22"/>
          <p:cNvSpPr/>
          <p:nvPr/>
        </p:nvSpPr>
        <p:spPr>
          <a:xfrm>
            <a:off x="1298448" y="1856231"/>
            <a:ext cx="1097280" cy="43891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A6A6A6"/>
                </a:solidFill>
                <a:latin typeface="맑은 고딕"/>
                <a:ea typeface="맑은 고딕"/>
                <a:cs typeface="맑은 고딕"/>
              </a:rPr>
              <a:t>Migration
Scheduler</a:t>
            </a:r>
          </a:p>
        </p:txBody>
      </p:sp>
      <p:sp>
        <p:nvSpPr>
          <p:cNvPr id="24" name="Rectangle 23"/>
          <p:cNvSpPr/>
          <p:nvPr/>
        </p:nvSpPr>
        <p:spPr>
          <a:xfrm>
            <a:off x="2578608" y="1856231"/>
            <a:ext cx="1097280" cy="43891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A6A6A6"/>
                </a:solidFill>
                <a:latin typeface="맑은 고딕"/>
                <a:ea typeface="맑은 고딕"/>
                <a:cs typeface="맑은 고딕"/>
              </a:rPr>
              <a:t>Data Behavior
Analyzer</a:t>
            </a:r>
          </a:p>
        </p:txBody>
      </p:sp>
      <p:sp>
        <p:nvSpPr>
          <p:cNvPr id="25" name="Rectangle 24"/>
          <p:cNvSpPr/>
          <p:nvPr/>
        </p:nvSpPr>
        <p:spPr>
          <a:xfrm>
            <a:off x="3858768" y="1856231"/>
            <a:ext cx="1097280" cy="43891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A6A6A6"/>
                </a:solidFill>
                <a:latin typeface="맑은 고딕"/>
                <a:ea typeface="맑은 고딕"/>
                <a:cs typeface="맑은 고딕"/>
              </a:rPr>
              <a:t>Migration
Policy Engine</a:t>
            </a:r>
          </a:p>
        </p:txBody>
      </p:sp>
      <p:cxnSp>
        <p:nvCxnSpPr>
          <p:cNvPr id="26" name="Connector 25"/>
          <p:cNvCxnSpPr/>
          <p:nvPr/>
        </p:nvCxnSpPr>
        <p:spPr>
          <a:xfrm>
            <a:off x="2395728" y="2075688"/>
            <a:ext cx="182880" cy="0"/>
          </a:xfrm>
          <a:prstGeom prst="line">
            <a:avLst/>
          </a:prstGeom>
          <a:ln w="12700">
            <a:solidFill>
              <a:srgbClr val="BFBFB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675887" y="2075688"/>
            <a:ext cx="182881" cy="0"/>
          </a:xfrm>
          <a:prstGeom prst="line">
            <a:avLst/>
          </a:prstGeom>
          <a:ln w="12700">
            <a:solidFill>
              <a:srgbClr val="BFBFBF"/>
            </a:solidFill>
            <a:tailEnd type="triangle"/>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1069848" y="2633472"/>
            <a:ext cx="5303520" cy="1170432"/>
          </a:xfrm>
          <a:prstGeom prst="rect">
            <a:avLst/>
          </a:prstGeom>
          <a:solidFill>
            <a:srgbClr val="F0F1F3"/>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069848" y="2633472"/>
            <a:ext cx="5303520" cy="219456"/>
          </a:xfrm>
          <a:prstGeom prst="rect">
            <a:avLst/>
          </a:prstGeom>
          <a:solidFill>
            <a:srgbClr val="BFBFB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Resource Manager  (상태·관측)</a:t>
            </a:r>
          </a:p>
        </p:txBody>
      </p:sp>
      <p:sp>
        <p:nvSpPr>
          <p:cNvPr id="30" name="Rectangle 29"/>
          <p:cNvSpPr/>
          <p:nvPr/>
        </p:nvSpPr>
        <p:spPr>
          <a:xfrm>
            <a:off x="1298448" y="2907791"/>
            <a:ext cx="1097280" cy="365760"/>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A6A6A6"/>
                </a:solidFill>
                <a:latin typeface="맑은 고딕"/>
                <a:ea typeface="맑은 고딕"/>
                <a:cs typeface="맑은 고딕"/>
              </a:rPr>
              <a:t>Telemetry
Collector</a:t>
            </a:r>
          </a:p>
        </p:txBody>
      </p:sp>
      <p:sp>
        <p:nvSpPr>
          <p:cNvPr id="31" name="Rectangle 30"/>
          <p:cNvSpPr/>
          <p:nvPr/>
        </p:nvSpPr>
        <p:spPr>
          <a:xfrm>
            <a:off x="2578608" y="2907791"/>
            <a:ext cx="1097280" cy="365760"/>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A6A6A6"/>
                </a:solidFill>
                <a:latin typeface="맑은 고딕"/>
                <a:ea typeface="맑은 고딕"/>
                <a:cs typeface="맑은 고딕"/>
              </a:rPr>
              <a:t>Data Behavior
Monitor</a:t>
            </a:r>
          </a:p>
        </p:txBody>
      </p:sp>
      <p:sp>
        <p:nvSpPr>
          <p:cNvPr id="32" name="Rectangle 31"/>
          <p:cNvSpPr/>
          <p:nvPr/>
        </p:nvSpPr>
        <p:spPr>
          <a:xfrm>
            <a:off x="5047488" y="2907791"/>
            <a:ext cx="1097280" cy="822960"/>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A6A6A6"/>
                </a:solidFill>
                <a:latin typeface="맑은 고딕"/>
                <a:ea typeface="맑은 고딕"/>
                <a:cs typeface="맑은 고딕"/>
              </a:rPr>
              <a:t>Data Object
Registry</a:t>
            </a:r>
          </a:p>
        </p:txBody>
      </p:sp>
      <p:cxnSp>
        <p:nvCxnSpPr>
          <p:cNvPr id="33" name="Connector 32"/>
          <p:cNvCxnSpPr/>
          <p:nvPr/>
        </p:nvCxnSpPr>
        <p:spPr>
          <a:xfrm>
            <a:off x="2395728" y="3090672"/>
            <a:ext cx="182880" cy="0"/>
          </a:xfrm>
          <a:prstGeom prst="line">
            <a:avLst/>
          </a:prstGeom>
          <a:ln w="12700">
            <a:solidFill>
              <a:srgbClr val="BFBFB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7248" y="2295144"/>
            <a:ext cx="0" cy="612647"/>
          </a:xfrm>
          <a:prstGeom prst="line">
            <a:avLst/>
          </a:prstGeom>
          <a:ln w="12700">
            <a:solidFill>
              <a:srgbClr val="BFBFB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1069848" y="3849624"/>
            <a:ext cx="5303520" cy="530352"/>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69848" y="3849624"/>
            <a:ext cx="5303520" cy="219456"/>
          </a:xfrm>
          <a:prstGeom prst="rect">
            <a:avLst/>
          </a:prstGeom>
          <a:solidFill>
            <a:srgbClr val="BFBFB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Data Plane  (Mechanism · 실행)</a:t>
            </a:r>
          </a:p>
        </p:txBody>
      </p:sp>
      <p:sp>
        <p:nvSpPr>
          <p:cNvPr id="37" name="Rectangle 36"/>
          <p:cNvSpPr/>
          <p:nvPr/>
        </p:nvSpPr>
        <p:spPr>
          <a:xfrm>
            <a:off x="2578608" y="4096512"/>
            <a:ext cx="1554480" cy="25603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A6A6A6"/>
                </a:solidFill>
                <a:latin typeface="맑은 고딕"/>
                <a:ea typeface="맑은 고딕"/>
                <a:cs typeface="맑은 고딕"/>
              </a:rPr>
              <a:t>Transfer Handler</a:t>
            </a:r>
          </a:p>
        </p:txBody>
      </p:sp>
      <p:sp>
        <p:nvSpPr>
          <p:cNvPr id="38" name="Rectangle 37"/>
          <p:cNvSpPr/>
          <p:nvPr/>
        </p:nvSpPr>
        <p:spPr>
          <a:xfrm>
            <a:off x="4315968" y="4096512"/>
            <a:ext cx="1993392" cy="256032"/>
          </a:xfrm>
          <a:prstGeom prst="rect">
            <a:avLst/>
          </a:prstGeom>
          <a:solidFill>
            <a:srgbClr val="FFFFF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A6A6A6"/>
                </a:solidFill>
                <a:latin typeface="맑은 고딕"/>
                <a:ea typeface="맑은 고딕"/>
                <a:cs typeface="맑은 고딕"/>
              </a:rPr>
              <a:t>Migration Executor</a:t>
            </a:r>
          </a:p>
        </p:txBody>
      </p:sp>
      <p:cxnSp>
        <p:nvCxnSpPr>
          <p:cNvPr id="39" name="Connector 38"/>
          <p:cNvCxnSpPr/>
          <p:nvPr/>
        </p:nvCxnSpPr>
        <p:spPr>
          <a:xfrm flipH="1">
            <a:off x="4133087" y="4224528"/>
            <a:ext cx="182881" cy="0"/>
          </a:xfrm>
          <a:prstGeom prst="line">
            <a:avLst/>
          </a:prstGeom>
          <a:ln w="12700">
            <a:solidFill>
              <a:srgbClr val="BFBFBF"/>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1069848" y="4416552"/>
            <a:ext cx="5303520" cy="201168"/>
          </a:xfrm>
          <a:prstGeom prst="rect">
            <a:avLst/>
          </a:prstGeom>
          <a:solidFill>
            <a:srgbClr val="BFBFBF"/>
          </a:solidFill>
          <a:ln w="1016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750" b="1">
                <a:solidFill>
                  <a:srgbClr val="FFFFFF"/>
                </a:solidFill>
                <a:latin typeface="맑은 고딕"/>
                <a:ea typeface="맑은 고딕"/>
                <a:cs typeface="맑은 고딕"/>
              </a:rPr>
              <a:t>Common Memory Backend Interface  (공통 하부 계층)</a:t>
            </a:r>
          </a:p>
        </p:txBody>
      </p:sp>
      <p:cxnSp>
        <p:nvCxnSpPr>
          <p:cNvPr id="41" name="Connector 40"/>
          <p:cNvCxnSpPr/>
          <p:nvPr/>
        </p:nvCxnSpPr>
        <p:spPr>
          <a:xfrm>
            <a:off x="3310128" y="4352544"/>
            <a:ext cx="0" cy="64008"/>
          </a:xfrm>
          <a:prstGeom prst="line">
            <a:avLst/>
          </a:prstGeom>
          <a:ln w="12700">
            <a:solidFill>
              <a:srgbClr val="BFBFBF"/>
            </a:solidFill>
            <a:tailEnd type="triangle"/>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407408" y="2350008"/>
            <a:ext cx="0" cy="1746504"/>
          </a:xfrm>
          <a:prstGeom prst="line">
            <a:avLst/>
          </a:prstGeom>
          <a:ln w="19050">
            <a:solidFill>
              <a:srgbClr val="BFBFBF"/>
            </a:solidFill>
            <a:tailEnd type="triangle"/>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5504688" y="3730752"/>
            <a:ext cx="0" cy="365760"/>
          </a:xfrm>
          <a:prstGeom prst="line">
            <a:avLst/>
          </a:prstGeom>
          <a:ln w="12700">
            <a:solidFill>
              <a:srgbClr val="BFBFB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6574536" y="1563624"/>
            <a:ext cx="5303520" cy="822960"/>
          </a:xfrm>
          <a:prstGeom prst="rect">
            <a:avLst/>
          </a:prstGeom>
          <a:solidFill>
            <a:srgbClr val="DEEBF7"/>
          </a:solidFill>
          <a:ln w="1270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574536" y="1563624"/>
            <a:ext cx="5303520" cy="219456"/>
          </a:xfrm>
          <a:prstGeom prst="rect">
            <a:avLst/>
          </a:prstGeom>
          <a:solidFill>
            <a:srgbClr val="2E75B6"/>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Control Plane  (Policy · 결정)</a:t>
            </a:r>
          </a:p>
        </p:txBody>
      </p:sp>
      <p:sp>
        <p:nvSpPr>
          <p:cNvPr id="46" name="Rectangle 45"/>
          <p:cNvSpPr/>
          <p:nvPr/>
        </p:nvSpPr>
        <p:spPr>
          <a:xfrm>
            <a:off x="6803136" y="1856231"/>
            <a:ext cx="1097280" cy="43891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Migration
Scheduler</a:t>
            </a:r>
          </a:p>
        </p:txBody>
      </p:sp>
      <p:sp>
        <p:nvSpPr>
          <p:cNvPr id="47" name="Rectangle 46"/>
          <p:cNvSpPr/>
          <p:nvPr/>
        </p:nvSpPr>
        <p:spPr>
          <a:xfrm>
            <a:off x="8083296" y="1856231"/>
            <a:ext cx="1097280" cy="438912"/>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Data Behavior
Analyzer</a:t>
            </a:r>
          </a:p>
        </p:txBody>
      </p:sp>
      <p:sp>
        <p:nvSpPr>
          <p:cNvPr id="48" name="Rectangle 47"/>
          <p:cNvSpPr/>
          <p:nvPr/>
        </p:nvSpPr>
        <p:spPr>
          <a:xfrm>
            <a:off x="9409176" y="1819656"/>
            <a:ext cx="2404872" cy="54864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436608" y="1874519"/>
            <a:ext cx="1188720" cy="411480"/>
          </a:xfrm>
          <a:prstGeom prst="rect">
            <a:avLst/>
          </a:prstGeom>
          <a:noFill/>
        </p:spPr>
        <p:txBody>
          <a:bodyPr wrap="square" anchor="t" lIns="45720" rIns="45720" tIns="27432" bIns="27432">
            <a:spAutoFit/>
          </a:bodyPr>
          <a:lstStyle/>
          <a:p>
            <a:pPr algn="l">
              <a:spcAft>
                <a:spcPts val="200"/>
              </a:spcAft>
            </a:pPr>
            <a:r>
              <a:rPr sz="800" b="0">
                <a:solidFill>
                  <a:srgbClr val="000000"/>
                </a:solidFill>
                <a:latin typeface="맑은 고딕"/>
                <a:ea typeface="맑은 고딕"/>
                <a:cs typeface="맑은 고딕"/>
              </a:rPr>
              <a:t>Migration
Policy Engine</a:t>
            </a:r>
          </a:p>
        </p:txBody>
      </p:sp>
      <p:sp>
        <p:nvSpPr>
          <p:cNvPr id="50" name="Rectangle 49"/>
          <p:cNvSpPr/>
          <p:nvPr/>
        </p:nvSpPr>
        <p:spPr>
          <a:xfrm>
            <a:off x="10689336" y="1965960"/>
            <a:ext cx="1005840" cy="347472"/>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HBM Lease
Granter</a:t>
            </a:r>
          </a:p>
        </p:txBody>
      </p:sp>
      <p:cxnSp>
        <p:nvCxnSpPr>
          <p:cNvPr id="51" name="Connector 50"/>
          <p:cNvCxnSpPr/>
          <p:nvPr/>
        </p:nvCxnSpPr>
        <p:spPr>
          <a:xfrm>
            <a:off x="7900416" y="2075688"/>
            <a:ext cx="182880" cy="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7918704" y="1847088"/>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1</a:t>
            </a:r>
          </a:p>
        </p:txBody>
      </p:sp>
      <p:cxnSp>
        <p:nvCxnSpPr>
          <p:cNvPr id="53" name="Connector 52"/>
          <p:cNvCxnSpPr/>
          <p:nvPr/>
        </p:nvCxnSpPr>
        <p:spPr>
          <a:xfrm>
            <a:off x="9180576" y="2075688"/>
            <a:ext cx="22860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9208008" y="1847088"/>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3</a:t>
            </a:r>
          </a:p>
        </p:txBody>
      </p:sp>
      <p:sp>
        <p:nvSpPr>
          <p:cNvPr id="55" name="Rectangle 54"/>
          <p:cNvSpPr/>
          <p:nvPr/>
        </p:nvSpPr>
        <p:spPr>
          <a:xfrm>
            <a:off x="6574536" y="2633472"/>
            <a:ext cx="5303520" cy="1170432"/>
          </a:xfrm>
          <a:prstGeom prst="rect">
            <a:avLst/>
          </a:prstGeom>
          <a:solidFill>
            <a:srgbClr val="F0F1F3"/>
          </a:solidFill>
          <a:ln w="1270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574536" y="2633472"/>
            <a:ext cx="5303520" cy="219456"/>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Resource Manager  (상태·관측·이벤트)</a:t>
            </a:r>
          </a:p>
        </p:txBody>
      </p:sp>
      <p:sp>
        <p:nvSpPr>
          <p:cNvPr id="57" name="Rectangle 56"/>
          <p:cNvSpPr/>
          <p:nvPr/>
        </p:nvSpPr>
        <p:spPr>
          <a:xfrm>
            <a:off x="6803136" y="2907791"/>
            <a:ext cx="1097280" cy="365760"/>
          </a:xfrm>
          <a:prstGeom prst="rect">
            <a:avLst/>
          </a:prstGeom>
          <a:solidFill>
            <a:srgbClr val="FFF2CC"/>
          </a:solidFill>
          <a:ln w="10160">
            <a:solidFill>
              <a:srgbClr val="BF900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Data Behavior
Monitor</a:t>
            </a:r>
          </a:p>
        </p:txBody>
      </p:sp>
      <p:sp>
        <p:nvSpPr>
          <p:cNvPr id="58" name="Rectangle 57"/>
          <p:cNvSpPr/>
          <p:nvPr/>
        </p:nvSpPr>
        <p:spPr>
          <a:xfrm>
            <a:off x="8083296" y="2907791"/>
            <a:ext cx="1097280" cy="365760"/>
          </a:xfrm>
          <a:prstGeom prst="rect">
            <a:avLst/>
          </a:prstGeom>
          <a:solidFill>
            <a:srgbClr val="DEEBF7"/>
          </a:solidFill>
          <a:ln w="10160">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Behavior Feature
Adapter</a:t>
            </a:r>
          </a:p>
        </p:txBody>
      </p:sp>
      <p:sp>
        <p:nvSpPr>
          <p:cNvPr id="59" name="Rectangle 58"/>
          <p:cNvSpPr/>
          <p:nvPr/>
        </p:nvSpPr>
        <p:spPr>
          <a:xfrm>
            <a:off x="9363456" y="2907791"/>
            <a:ext cx="1097280" cy="365760"/>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Lease Timer</a:t>
            </a:r>
          </a:p>
        </p:txBody>
      </p:sp>
      <p:sp>
        <p:nvSpPr>
          <p:cNvPr id="60" name="Rectangle 59"/>
          <p:cNvSpPr/>
          <p:nvPr/>
        </p:nvSpPr>
        <p:spPr>
          <a:xfrm>
            <a:off x="6803136" y="3364991"/>
            <a:ext cx="1097280" cy="36576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Telemetry
Collector</a:t>
            </a:r>
          </a:p>
        </p:txBody>
      </p:sp>
      <p:sp>
        <p:nvSpPr>
          <p:cNvPr id="61" name="Rectangle 60"/>
          <p:cNvSpPr/>
          <p:nvPr/>
        </p:nvSpPr>
        <p:spPr>
          <a:xfrm>
            <a:off x="10552176" y="2907791"/>
            <a:ext cx="1097280" cy="822960"/>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570463" y="2926080"/>
            <a:ext cx="1060704" cy="365760"/>
          </a:xfrm>
          <a:prstGeom prst="rect">
            <a:avLst/>
          </a:prstGeom>
          <a:noFill/>
        </p:spPr>
        <p:txBody>
          <a:bodyPr wrap="square" anchor="t" lIns="45720" rIns="45720" tIns="27432" bIns="27432">
            <a:spAutoFit/>
          </a:bodyPr>
          <a:lstStyle/>
          <a:p>
            <a:pPr algn="ctr">
              <a:spcAft>
                <a:spcPts val="200"/>
              </a:spcAft>
            </a:pPr>
            <a:r>
              <a:rPr sz="750" b="0">
                <a:solidFill>
                  <a:srgbClr val="000000"/>
                </a:solidFill>
                <a:latin typeface="맑은 고딕"/>
                <a:ea typeface="맑은 고딕"/>
                <a:cs typeface="맑은 고딕"/>
              </a:rPr>
              <a:t>Data Object
Registry</a:t>
            </a:r>
          </a:p>
        </p:txBody>
      </p:sp>
      <p:sp>
        <p:nvSpPr>
          <p:cNvPr id="63" name="Rectangle 62"/>
          <p:cNvSpPr/>
          <p:nvPr/>
        </p:nvSpPr>
        <p:spPr>
          <a:xfrm>
            <a:off x="10616184" y="3364991"/>
            <a:ext cx="969264" cy="329184"/>
          </a:xfrm>
          <a:prstGeom prst="rect">
            <a:avLst/>
          </a:prstGeom>
          <a:solidFill>
            <a:srgbClr val="FBE5D6"/>
          </a:solidFill>
          <a:ln w="10160">
            <a:solidFill>
              <a:srgbClr val="C55A1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750" b="0">
                <a:solidFill>
                  <a:srgbClr val="000000"/>
                </a:solidFill>
                <a:latin typeface="맑은 고딕"/>
                <a:ea typeface="맑은 고딕"/>
                <a:cs typeface="맑은 고딕"/>
              </a:rPr>
              <a:t>Lease
Metadata</a:t>
            </a:r>
          </a:p>
        </p:txBody>
      </p:sp>
      <p:cxnSp>
        <p:nvCxnSpPr>
          <p:cNvPr id="64" name="Connector 63"/>
          <p:cNvCxnSpPr/>
          <p:nvPr/>
        </p:nvCxnSpPr>
        <p:spPr>
          <a:xfrm flipV="1">
            <a:off x="7351775" y="3273552"/>
            <a:ext cx="0" cy="91439"/>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7900416" y="3090672"/>
            <a:ext cx="182880" cy="0"/>
          </a:xfrm>
          <a:prstGeom prst="line">
            <a:avLst/>
          </a:prstGeom>
          <a:ln w="12700">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8631936" y="2295144"/>
            <a:ext cx="0" cy="612647"/>
          </a:xfrm>
          <a:prstGeom prst="line">
            <a:avLst/>
          </a:prstGeom>
          <a:ln w="15240">
            <a:solidFill>
              <a:srgbClr val="2E75B6"/>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868680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2</a:t>
            </a:r>
          </a:p>
        </p:txBody>
      </p:sp>
      <p:cxnSp>
        <p:nvCxnSpPr>
          <p:cNvPr id="68" name="Connector 67"/>
          <p:cNvCxnSpPr/>
          <p:nvPr/>
        </p:nvCxnSpPr>
        <p:spPr>
          <a:xfrm>
            <a:off x="10460736" y="3090672"/>
            <a:ext cx="91440" cy="0"/>
          </a:xfrm>
          <a:prstGeom prst="line">
            <a:avLst/>
          </a:prstGeom>
          <a:ln w="1270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11192255" y="2368296"/>
            <a:ext cx="0" cy="539495"/>
          </a:xfrm>
          <a:prstGeom prst="line">
            <a:avLst/>
          </a:prstGeom>
          <a:ln w="1524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70" name="Oval 69"/>
          <p:cNvSpPr/>
          <p:nvPr/>
        </p:nvSpPr>
        <p:spPr>
          <a:xfrm>
            <a:off x="1124712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7</a:t>
            </a:r>
          </a:p>
        </p:txBody>
      </p:sp>
      <p:cxnSp>
        <p:nvCxnSpPr>
          <p:cNvPr id="71" name="Connector 70"/>
          <p:cNvCxnSpPr/>
          <p:nvPr/>
        </p:nvCxnSpPr>
        <p:spPr>
          <a:xfrm flipV="1">
            <a:off x="9912096" y="2532888"/>
            <a:ext cx="0" cy="374903"/>
          </a:xfrm>
          <a:prstGeom prst="line">
            <a:avLst/>
          </a:prstGeom>
          <a:ln w="15240">
            <a:solidFill>
              <a:srgbClr val="C55A11"/>
            </a:solidFill>
            <a:prstDash val="dash"/>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a:off x="7351775" y="2532888"/>
            <a:ext cx="2560321" cy="0"/>
          </a:xfrm>
          <a:prstGeom prst="line">
            <a:avLst/>
          </a:prstGeom>
          <a:ln w="15240">
            <a:solidFill>
              <a:srgbClr val="C55A11"/>
            </a:solidFill>
            <a:prstDash val="dash"/>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7351775" y="2295144"/>
            <a:ext cx="0" cy="237744"/>
          </a:xfrm>
          <a:prstGeom prst="line">
            <a:avLst/>
          </a:prstGeom>
          <a:ln w="15240">
            <a:solidFill>
              <a:srgbClr val="C55A11"/>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7406640" y="2331720"/>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8</a:t>
            </a:r>
          </a:p>
        </p:txBody>
      </p:sp>
      <p:sp>
        <p:nvSpPr>
          <p:cNvPr id="75" name="TextBox 74"/>
          <p:cNvSpPr txBox="1"/>
          <p:nvPr/>
        </p:nvSpPr>
        <p:spPr>
          <a:xfrm>
            <a:off x="7626096" y="2368296"/>
            <a:ext cx="1280160" cy="146304"/>
          </a:xfrm>
          <a:prstGeom prst="rect">
            <a:avLst/>
          </a:prstGeom>
          <a:noFill/>
        </p:spPr>
        <p:txBody>
          <a:bodyPr wrap="square" anchor="t" lIns="45720" rIns="45720" tIns="27432" bIns="27432">
            <a:spAutoFit/>
          </a:bodyPr>
          <a:lstStyle/>
          <a:p>
            <a:pPr algn="l">
              <a:spcAft>
                <a:spcPts val="200"/>
              </a:spcAft>
            </a:pPr>
            <a:r>
              <a:rPr sz="650" b="0">
                <a:solidFill>
                  <a:srgbClr val="C55A11"/>
                </a:solidFill>
                <a:latin typeface="맑은 고딕"/>
                <a:ea typeface="맑은 고딕"/>
                <a:cs typeface="맑은 고딕"/>
              </a:rPr>
              <a:t>Lease Expired (event)</a:t>
            </a:r>
          </a:p>
        </p:txBody>
      </p:sp>
      <p:sp>
        <p:nvSpPr>
          <p:cNvPr id="76" name="TextBox 75"/>
          <p:cNvSpPr txBox="1"/>
          <p:nvPr/>
        </p:nvSpPr>
        <p:spPr>
          <a:xfrm>
            <a:off x="8723376" y="2368296"/>
            <a:ext cx="1097280" cy="146304"/>
          </a:xfrm>
          <a:prstGeom prst="rect">
            <a:avLst/>
          </a:prstGeom>
          <a:noFill/>
        </p:spPr>
        <p:txBody>
          <a:bodyPr wrap="square" anchor="t" lIns="45720" rIns="45720" tIns="27432" bIns="27432">
            <a:spAutoFit/>
          </a:bodyPr>
          <a:lstStyle/>
          <a:p>
            <a:pPr algn="l">
              <a:spcAft>
                <a:spcPts val="200"/>
              </a:spcAft>
            </a:pPr>
            <a:r>
              <a:rPr sz="650" b="0">
                <a:solidFill>
                  <a:srgbClr val="2E75B6"/>
                </a:solidFill>
                <a:latin typeface="맑은 고딕"/>
                <a:ea typeface="맑은 고딕"/>
                <a:cs typeface="맑은 고딕"/>
              </a:rPr>
              <a:t>Feature snapshot</a:t>
            </a:r>
          </a:p>
        </p:txBody>
      </p:sp>
      <p:sp>
        <p:nvSpPr>
          <p:cNvPr id="77" name="Rectangle 76"/>
          <p:cNvSpPr/>
          <p:nvPr/>
        </p:nvSpPr>
        <p:spPr>
          <a:xfrm>
            <a:off x="6574536" y="3849624"/>
            <a:ext cx="5303520" cy="530352"/>
          </a:xfrm>
          <a:prstGeom prst="rect">
            <a:avLst/>
          </a:prstGeom>
          <a:solidFill>
            <a:srgbClr val="E2F0D9"/>
          </a:solidFill>
          <a:ln w="1270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6574536" y="3849624"/>
            <a:ext cx="5303520" cy="219456"/>
          </a:xfrm>
          <a:prstGeom prst="rect">
            <a:avLst/>
          </a:prstGeom>
          <a:solidFill>
            <a:srgbClr val="548235"/>
          </a:solidFill>
          <a:ln w="10160">
            <a:solidFill>
              <a:srgbClr val="548235"/>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900" b="1">
                <a:solidFill>
                  <a:srgbClr val="FFFFFF"/>
                </a:solidFill>
                <a:latin typeface="맑은 고딕"/>
                <a:ea typeface="맑은 고딕"/>
                <a:cs typeface="맑은 고딕"/>
              </a:rPr>
              <a:t>Data Plane  (Mechanism · 실행)</a:t>
            </a:r>
          </a:p>
        </p:txBody>
      </p:sp>
      <p:sp>
        <p:nvSpPr>
          <p:cNvPr id="79" name="Rectangle 78"/>
          <p:cNvSpPr/>
          <p:nvPr/>
        </p:nvSpPr>
        <p:spPr>
          <a:xfrm>
            <a:off x="8083296" y="4096512"/>
            <a:ext cx="1554480"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Transfer Handler</a:t>
            </a:r>
          </a:p>
        </p:txBody>
      </p:sp>
      <p:sp>
        <p:nvSpPr>
          <p:cNvPr id="80" name="Rectangle 79"/>
          <p:cNvSpPr/>
          <p:nvPr/>
        </p:nvSpPr>
        <p:spPr>
          <a:xfrm>
            <a:off x="9820656" y="4096512"/>
            <a:ext cx="1993392" cy="256032"/>
          </a:xfrm>
          <a:prstGeom prst="rect">
            <a:avLst/>
          </a:prstGeom>
          <a:solidFill>
            <a:srgbClr val="FFFFFF"/>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27432" bIns="27432"/>
          <a:lstStyle/>
          <a:p>
            <a:pPr algn="ctr">
              <a:spcAft>
                <a:spcPts val="200"/>
              </a:spcAft>
            </a:pPr>
            <a:r>
              <a:rPr sz="800" b="0">
                <a:solidFill>
                  <a:srgbClr val="000000"/>
                </a:solidFill>
                <a:latin typeface="맑은 고딕"/>
                <a:ea typeface="맑은 고딕"/>
                <a:cs typeface="맑은 고딕"/>
              </a:rPr>
              <a:t>Migration Executor</a:t>
            </a:r>
          </a:p>
        </p:txBody>
      </p:sp>
      <p:cxnSp>
        <p:nvCxnSpPr>
          <p:cNvPr id="81" name="Connector 80"/>
          <p:cNvCxnSpPr/>
          <p:nvPr/>
        </p:nvCxnSpPr>
        <p:spPr>
          <a:xfrm flipH="1">
            <a:off x="9637776" y="4224528"/>
            <a:ext cx="182880" cy="0"/>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sp>
        <p:nvSpPr>
          <p:cNvPr id="82" name="Rectangle 81"/>
          <p:cNvSpPr/>
          <p:nvPr/>
        </p:nvSpPr>
        <p:spPr>
          <a:xfrm>
            <a:off x="6574536" y="4416552"/>
            <a:ext cx="5303520" cy="201168"/>
          </a:xfrm>
          <a:prstGeom prst="rect">
            <a:avLst/>
          </a:prstGeom>
          <a:solidFill>
            <a:srgbClr val="595959"/>
          </a:solidFill>
          <a:ln w="1016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200"/>
              </a:spcAft>
            </a:pPr>
            <a:r>
              <a:rPr sz="750" b="1">
                <a:solidFill>
                  <a:srgbClr val="FFFFFF"/>
                </a:solidFill>
                <a:latin typeface="맑은 고딕"/>
                <a:ea typeface="맑은 고딕"/>
                <a:cs typeface="맑은 고딕"/>
              </a:rPr>
              <a:t>Common Memory Backend Interface  (공통 하부 계층)</a:t>
            </a:r>
          </a:p>
        </p:txBody>
      </p:sp>
      <p:cxnSp>
        <p:nvCxnSpPr>
          <p:cNvPr id="83" name="Connector 82"/>
          <p:cNvCxnSpPr/>
          <p:nvPr/>
        </p:nvCxnSpPr>
        <p:spPr>
          <a:xfrm>
            <a:off x="8814816" y="4352544"/>
            <a:ext cx="0" cy="64008"/>
          </a:xfrm>
          <a:prstGeom prst="line">
            <a:avLst/>
          </a:prstGeom>
          <a:ln w="12700">
            <a:solidFill>
              <a:srgbClr val="595959"/>
            </a:solidFill>
            <a:tailEnd type="triangle"/>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1759184" y="2350008"/>
            <a:ext cx="0" cy="1746504"/>
          </a:xfrm>
          <a:prstGeom prst="line">
            <a:avLst/>
          </a:prstGeom>
          <a:ln w="19050">
            <a:solidFill>
              <a:srgbClr val="C55A11"/>
            </a:solidFill>
            <a:tailEnd type="triangle"/>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1009376" y="3730752"/>
            <a:ext cx="0" cy="365760"/>
          </a:xfrm>
          <a:prstGeom prst="line">
            <a:avLst/>
          </a:prstGeom>
          <a:ln w="12700">
            <a:solidFill>
              <a:srgbClr val="7F7F7F"/>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86" name="Oval 85"/>
          <p:cNvSpPr/>
          <p:nvPr/>
        </p:nvSpPr>
        <p:spPr>
          <a:xfrm>
            <a:off x="11795760" y="2478024"/>
            <a:ext cx="182880" cy="182880"/>
          </a:xfrm>
          <a:prstGeom prst="ellipse">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7432" bIns="27432"/>
          <a:lstStyle/>
          <a:p>
            <a:pPr algn="ctr">
              <a:spcAft>
                <a:spcPts val="200"/>
              </a:spcAft>
            </a:pPr>
            <a:r>
              <a:rPr sz="800" b="1">
                <a:solidFill>
                  <a:srgbClr val="FFFFFF"/>
                </a:solidFill>
                <a:latin typeface="맑은 고딕"/>
                <a:ea typeface="맑은 고딕"/>
                <a:cs typeface="맑은 고딕"/>
              </a:rPr>
              <a:t>4</a:t>
            </a:r>
          </a:p>
        </p:txBody>
      </p:sp>
      <p:sp>
        <p:nvSpPr>
          <p:cNvPr id="87" name="Rectangle 86"/>
          <p:cNvSpPr/>
          <p:nvPr/>
        </p:nvSpPr>
        <p:spPr>
          <a:xfrm>
            <a:off x="6483096" y="1042415"/>
            <a:ext cx="5504688" cy="5166360"/>
          </a:xfrm>
          <a:prstGeom prst="rect">
            <a:avLst/>
          </a:prstGeom>
          <a:noFill/>
          <a:ln w="25400">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384048" y="6254496"/>
            <a:ext cx="11430000" cy="310896"/>
          </a:xfrm>
          <a:prstGeom prst="rect">
            <a:avLst/>
          </a:prstGeom>
          <a:noFill/>
        </p:spPr>
        <p:txBody>
          <a:bodyPr wrap="square" anchor="t" lIns="45720" rIns="45720" tIns="27432" bIns="27432">
            <a:spAutoFit/>
          </a:bodyPr>
          <a:lstStyle/>
          <a:p>
            <a:pPr algn="l">
              <a:spcAft>
                <a:spcPts val="0"/>
              </a:spcAft>
            </a:pPr>
            <a:r>
              <a:rPr sz="750" b="0">
                <a:solidFill>
                  <a:srgbClr val="595959"/>
                </a:solidFill>
                <a:latin typeface="맑은 고딕"/>
                <a:ea typeface="맑은 고딕"/>
                <a:cs typeface="맑은 고딕"/>
              </a:rPr>
              <a:t>① 평가 cycle 시작  ② Feature snapshot 조회  ③ 판단  ④ MigrationIntent 발행  ⑤ commit 결과 갱신  ⑥ 이동 실행  ⑦ Lease 부여·갱신(Metadata 기록)  ⑧ Lease Expired event(Resource Manager → Scheduler, 비동기)</a:t>
            </a:r>
          </a:p>
          <a:p>
            <a:pPr algn="l">
              <a:spcAft>
                <a:spcPts val="0"/>
              </a:spcAft>
            </a:pPr>
            <a:r>
              <a:rPr sz="750" b="0">
                <a:solidFill>
                  <a:srgbClr val="595959"/>
                </a:solidFill>
                <a:latin typeface="맑은 고딕"/>
                <a:ea typeface="맑은 고딕"/>
                <a:cs typeface="맑은 고딕"/>
              </a:rPr>
              <a:t>주황 = HBM 점유 제어(Lease) 보완 · 파랑 = workload Adapter 보완 · 노랑 = 후보 특화 · 점선 = 비동기/조회/기록 | 배치는 [제안]: Lease Timer는 상태 소유 측, Granter는 판단 측 | 별점은 구조 변경 후 재평가</a:t>
            </a:r>
          </a:p>
        </p:txBody>
      </p:sp>
      <p:sp>
        <p:nvSpPr>
          <p:cNvPr id="89" name="TextBox 88"/>
          <p:cNvSpPr txBox="1"/>
          <p:nvPr/>
        </p:nvSpPr>
        <p:spPr>
          <a:xfrm>
            <a:off x="5349240" y="6583680"/>
            <a:ext cx="621792" cy="237744"/>
          </a:xfrm>
          <a:prstGeom prst="rect">
            <a:avLst/>
          </a:prstGeom>
          <a:noFill/>
        </p:spPr>
        <p:txBody>
          <a:bodyPr wrap="square" anchor="t" lIns="45720" rIns="45720" tIns="27432" bIns="27432">
            <a:spAutoFit/>
          </a:bodyPr>
          <a:lstStyle/>
          <a:p>
            <a:pPr algn="r">
              <a:spcAft>
                <a:spcPts val="200"/>
              </a:spcAft>
            </a:pPr>
            <a:r>
              <a:rPr sz="1000" b="0">
                <a:solidFill>
                  <a:srgbClr val="7F7F7F"/>
                </a:solidFill>
                <a:latin typeface="맑은 고딕"/>
                <a:ea typeface="맑은 고딕"/>
                <a:cs typeface="맑은 고딕"/>
              </a:rPr>
              <a:t>4</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5707</Words>
  <Application>Microsoft Office PowerPoint</Application>
  <PresentationFormat>와이드스크린</PresentationFormat>
  <Paragraphs>852</Paragraphs>
  <Slides>10</Slides>
  <Notes>10</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10</vt:i4>
      </vt:variant>
    </vt:vector>
  </HeadingPairs>
  <TitlesOfParts>
    <vt:vector size="16" baseType="lpstr">
      <vt:lpstr>Samsung Sharp Sans Bold</vt:lpstr>
      <vt:lpstr>맑은 고딕</vt:lpstr>
      <vt:lpstr>맑은 고딕</vt:lpstr>
      <vt:lpstr>Arial</vt:lpstr>
      <vt:lpstr>Wingdings</vt:lpstr>
      <vt:lpstr>Office 테마</vt:lpstr>
      <vt:lpstr>DP1. 이기종 메모리 기반 Data Migration 결정 구조 - 배경</vt:lpstr>
      <vt:lpstr>DP1. 이기종 메모리 기반 Data Migration 결정 구조 - 배경</vt:lpstr>
      <vt:lpstr>DP1. 이기종 메모리 기반 Data Migration 결정 구조 - 설계</vt:lpstr>
      <vt:lpstr>DP1. 이기종 메모리 기반 Data Migration 결정 구조 - 설계</vt:lpstr>
      <vt:lpstr>DP2. 이기종 메모리 환경의 Prefill/Decode 실행 위치 결정 구조 - 사전 지식</vt:lpstr>
      <vt:lpstr>DP2. 이기종 메모리 환경의 Prefill/Decode 실행 위치 결정 구조 - 배경</vt:lpstr>
      <vt:lpstr>DP2. 이기종 메모리 환경의 Prefill/Decode 실행 위치 결정 구조 - 설계</vt:lpstr>
      <vt:lpstr>DP4. 요청 조율 구조 (Orchestration) - 배경</vt:lpstr>
      <vt:lpstr>DP4. 여러 서버를 묶는 요청 조율 구조 - 배경</vt:lpstr>
      <vt:lpstr>DP4. 요청 조율 계층 (Orchestration) 설계 - 구조</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DP1. 이기종 메모리 기반 Data Migration 결정 구조 - 배경</dc:title>
  <dc:creator>Myeong Woo Kim</dc:creator>
  <cp:lastModifiedBy>Myeong Woo Kim</cp:lastModifiedBy>
  <cp:revision>1</cp:revision>
  <dcterms:created xsi:type="dcterms:W3CDTF">2026-10-10T04:25:41Z</dcterms:created>
  <dcterms:modified xsi:type="dcterms:W3CDTF">2026-10-10T04:26:54Z</dcterms:modified>
</cp:coreProperties>
</file>
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7"/>
    <p:sldId id="257" r:id="rId8"/>
    <p:sldId id="258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FDB59D-6851-4087-A360-1717CD539FDC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D42F9D-A517-472D-B53C-0A9BC49CDB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0016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두 안은 같은 모듈 집합을 쓰고, 결정 로직(Analyzer, Mapper, Policy Engine)의 소속만 다르다. 1안은 상태 소유자인 Resource Manager 안에, 2안은 Control에 둔다.</a:t>
            </a:r>
          </a:p>
          <a:p>
            <a:r>
              <a:t>근거: 소속이 바뀌면 호출 경계가 바뀐다(로컬 호출 vs snapshot query). 그 결과 결정 경로 hop, 상태 stale, 정책 변경 시 수정 모듈, 서비스 확장 단위가 달라진다.</a:t>
            </a:r>
          </a:p>
          <a:p>
            <a:r>
              <a:t>선택의 의미: 신호 종류(자원 상태 vs data 행동)는 정책 플러그인으로 내려 두 안에서 같게 둔다. 평가 전이라 선택은 표시하지 않았다.</a:t>
            </a:r>
          </a:p>
          <a:p>
            <a:r>
              <a:t>출처: doc-mk/DP1/dp1-ai-data-migration-decision-architecture.md, Requirements/DP1-requirements.md FR-05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두 안은 Analyzer, Mapper, Policy Engine 세 모듈의 소속만 다르다. 나머지 모듈과 Data Plane, Backend I/F는 동일하다.</a:t>
            </a:r>
          </a:p>
          <a:p>
            <a:r>
              <a:t>근거: 소속을 상태 소유 측에 둘지 분리할지는 데이터 지역성과 관심사 분리 사이의 전형적인 선택이다.</a:t>
            </a:r>
          </a:p>
          <a:p>
            <a:r>
              <a:t>선택의 의미: 신호 종류는 정책 플러그인이라 비교에서 고정한다. 구조 차이는 호출 경계, 정책 변경 파급, 서비스 확장 단위로 측정한다.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같은 정책에서 결정 로직의 소속만 바꿔 QA를 본다.</a:t>
            </a:r>
          </a:p>
          <a:p>
            <a:r>
              <a:t>근거: Q1은 결정 경로 hop, Q2는 stale window, Q3은 정책 변경 시 수정 모듈 수, Q4는 N 증가 시 지연 증가율로 환산한다. 숫자는 아직 없고 모두 가설·추정이다.</a:t>
            </a:r>
          </a:p>
          <a:p>
            <a:r>
              <a:t>선택의 의미: Q1은 결정이 비동기라 차이가 작을 수 있어 Q2~Q4가 변별력의 중심이다. 시뮬레이션 [B+C] 전에는 우열을 단정하지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766F1F-6FFF-438E-978E-7F50C6A9E6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DAFAFD0-1F82-4A9B-B3F6-99224804EA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A504BB-6AAA-4233-A0A1-1975C91FE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792343-8259-4E59-9F61-74C15CCDDC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CB83A2-9524-4B3A-B3C6-D4F79B0E8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0310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E669E3-A266-4BEB-8BBA-CE42A5B66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E1CA8F-9445-4D8B-A0A0-34714CBAC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82E6160-1C4D-4559-89D9-A35150A35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B2329A2-229C-4CBB-AC58-12A0F0ACA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41D84D-6A9B-449E-843F-67D8BA66F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25964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76C279-BE8E-4A58-8F27-8C25650DE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392A46-7FFF-4D6F-AA6E-D59A61223D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6685FA-9578-48E3-9E09-D095C1DFA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AA1F830-4CCD-4D6C-BCCB-003C05CFE7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0742D8-AAC9-4467-8546-CC9D64B59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35984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4B4E56-0A82-416C-92D9-654BF5C9D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FB22FE0-D66C-416D-A771-4B8A78E1DB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0BDFEE8-FEDA-40B6-AD92-F654C3C947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7C12402-8087-4755-8681-5AB4A554C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6EB7B6-16FD-43F7-AD81-6AE0533127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884AA5-2DBF-4023-90B7-AAC1D1320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82685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92D15B-0C0F-4390-875E-1590EE8F0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B713CE4-54D4-472C-AF86-5304C461B5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EF3848C-49A2-46AD-B69D-6770C2A443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0F7C98F-4810-4F56-8535-9FA72E9AD6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491211-BEE3-4FEF-980E-6C26F74438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E8F1097-25B6-4C35-9EDA-0A1B99A7A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1967B94-09AA-40C9-A6E7-C49079CAA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44706B7-77D3-4F97-B3C3-87F6F63E4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5102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E3900A-A75F-4F93-AE6D-F58DCEBA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9FA1503-70FC-402A-9BEA-A7A4CBD5F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D8CE03B-7743-434D-93C2-5D3CF40D6E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3E11778-A95C-403D-A5C5-03429AA1E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8204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79B79F9-D3BF-4383-9A2B-6720ED16C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791CDC1-1BD2-4CEC-AF70-F1035E05E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6BE70D-7B66-4208-B021-AB8D7CB4D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36938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71A4DB-6070-458A-B403-896204387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CEFAD1F-018C-4CD8-A320-CCA387166D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90798B4-57C3-44B4-A8C2-A1110A1433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6382C16-FF45-4304-A19A-EF629B474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B56C59-F03D-40C5-A062-6C1D08EA6F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B5D1989-7D2D-483E-8B76-675B71A79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4681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80EA15-1B37-4FC8-A267-BD814C73A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A6C1A13-FB13-43ED-9A16-DE43BD615F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C750587-5197-4793-84A9-1FCE8E0FEC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A05951-2B75-4A9C-9D31-DA984C7D0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93DFFFB-CB82-44B7-ADD5-6C06FFCA9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C3ACB5-7C5F-4763-A545-1E091D9CF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381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8F7E99-E266-4394-AC3C-C81C0AA01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B903C54-E094-4214-B922-CFC0A75613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C66B284-4B0D-4115-B089-AA26C33B4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850256-F467-447D-9263-C7183DD65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3367B8-E91F-4EFF-904D-A125138D3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184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E4CC87E-C30F-4874-9B17-340763F05A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B237634-FD61-4D11-A5FB-707E825ADF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9D80697-7563-4134-9650-BD8DE52FA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795852-3BEA-4032-BF3B-1DBB06E39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E3DC6E-6854-4E11-B4EC-45C9A22F9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05289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7640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0AD665B-95C3-4399-9C37-9DABDB1E5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A6DC265-2495-45CB-94D5-2A0095D35D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E49F97-8660-4B82-B92F-E281762879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8CD36A-B7E4-4EBB-BD2C-7A89014F80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A89CF50-AAA0-498B-83B2-83B855385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890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DP1. Data Migration 결정 구조 - 설계</a:t>
            </a:r>
          </a:p>
        </p:txBody>
      </p:sp>
      <p:sp>
        <p:nvSpPr>
          <p:cNvPr id="3" name="Chevron 2"/>
          <p:cNvSpPr/>
          <p:nvPr/>
        </p:nvSpPr>
        <p:spPr>
          <a:xfrm>
            <a:off x="7522768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과제 소개</a:t>
            </a:r>
          </a:p>
        </p:txBody>
      </p:sp>
      <p:sp>
        <p:nvSpPr>
          <p:cNvPr id="4" name="Chevron 3"/>
          <p:cNvSpPr/>
          <p:nvPr/>
        </p:nvSpPr>
        <p:spPr>
          <a:xfrm>
            <a:off x="8415223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</p:txBody>
      </p:sp>
      <p:sp>
        <p:nvSpPr>
          <p:cNvPr id="5" name="Chevron 4"/>
          <p:cNvSpPr/>
          <p:nvPr/>
        </p:nvSpPr>
        <p:spPr>
          <a:xfrm>
            <a:off x="9314078" y="137160"/>
            <a:ext cx="1031443" cy="357530"/>
          </a:xfrm>
          <a:prstGeom prst="chevron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6" name="Chevron 5"/>
          <p:cNvSpPr/>
          <p:nvPr/>
        </p:nvSpPr>
        <p:spPr>
          <a:xfrm>
            <a:off x="10206532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구현/검증</a:t>
            </a:r>
          </a:p>
        </p:txBody>
      </p:sp>
      <p:sp>
        <p:nvSpPr>
          <p:cNvPr id="7" name="Chevron 6"/>
          <p:cNvSpPr/>
          <p:nvPr/>
        </p:nvSpPr>
        <p:spPr>
          <a:xfrm>
            <a:off x="11105388" y="137160"/>
            <a:ext cx="892454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7529169" y="137160"/>
            <a:ext cx="212140" cy="35753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89359" y="137160"/>
            <a:ext cx="212140" cy="35753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" y="621792"/>
            <a:ext cx="75895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결정 로직을 어디에 둘 것인가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46536" y="630936"/>
            <a:ext cx="713232" cy="320040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396728" y="630936"/>
            <a:ext cx="713232" cy="320040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46919" y="630936"/>
            <a:ext cx="713232" cy="320040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97111" y="630936"/>
            <a:ext cx="713232" cy="320040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47303" y="630936"/>
            <a:ext cx="713232" cy="320040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97495" y="630936"/>
            <a:ext cx="713232" cy="320040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47687" y="630936"/>
            <a:ext cx="713232" cy="320040"/>
          </a:xfrm>
          <a:prstGeom prst="round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C2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246888" y="1042415"/>
          <a:ext cx="11740896" cy="51114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31520"/>
                <a:gridCol w="5504688"/>
                <a:gridCol w="5504688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안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(1안) 결정 로직을 상태 소유 측에 함께 둠 </a:t>
                      </a:r>
                      <a:r>
                        <a:rPr sz="11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(Resource Manager 내장)</a:t>
                      </a:r>
                    </a:p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Control은 트리거·budget만, 판단은 상태 옆에서 로컬 호출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(2안) 결정 로직을 Control에 분리 </a:t>
                      </a:r>
                      <a:r>
                        <a:rPr sz="11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(상태와 판단 분리)</a:t>
                      </a:r>
                    </a:p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Resource Manager는 상태·관측만, Control이 snapshot을 조회해 판단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0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장점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상태 조회가 로컬 호출 → snapshot 복사·hop 없음, 상태 변화에 즉시 반영 (Q1·Q2)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Control↔Manager 간 query 인터페이스 불필요, 구성 단순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정책 교체·추가가 Control에 국소화, 상태 서비스는 불변 (Q3)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판단과 상태를 따로 확장·교체 가능 (Q4)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단점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FF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정책 변경이 상태 서비스 수정으로 이어져 변경 영향 큼 (Q3)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FF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상태 저장과 판단이 한 서비스에 결합 → tier·object 수 증가 시 단일 병목 (Q4)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FF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snapshot 조회 hop과 snapshot age만큼 stale (Q1·Q2)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FF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• query 스키마(인터페이스) 설계·유지 비용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Tradeoff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Q1 결정 경로 hop: 적음  ·  Q2 stale: 거의 없음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Q3 정책 변경 시 수정 모듈: 많음  ·  Q4 단일 서비스 병목 가능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8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※ 모두 평가 전 가설. 별점·총점은 임계값 통합 후 부여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Q1 결정 경로 hop: +1 (조회)  ·  Q2 stale: snapshot age만큼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Q3 정책 변경 시 수정 모듈: Control에 국소화  ·  Q4 분리 확장 가능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8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※ 모두 평가 전 가설. 별점·총점은 임계값 통합 후 부여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1069848" y="1563624"/>
            <a:ext cx="5303520" cy="640080"/>
          </a:xfrm>
          <a:prstGeom prst="rect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69848" y="1563624"/>
            <a:ext cx="5303520" cy="219456"/>
          </a:xfrm>
          <a:prstGeom prst="rect">
            <a:avLst/>
          </a:prstGeom>
          <a:solidFill>
            <a:srgbClr val="2E75B6"/>
          </a:solidFill>
          <a:ln w="1016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Control Plane  (Trigger · Budget)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78608" y="1828800"/>
            <a:ext cx="1097280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
Scheduler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95928" y="1837943"/>
            <a:ext cx="233172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결정 로직 없음: 트리거 · 우선순위 · budget만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9848" y="2258568"/>
            <a:ext cx="5303520" cy="1207008"/>
          </a:xfrm>
          <a:prstGeom prst="rect">
            <a:avLst/>
          </a:prstGeom>
          <a:solidFill>
            <a:srgbClr val="F0F1F3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69848" y="2258568"/>
            <a:ext cx="5303520" cy="219456"/>
          </a:xfrm>
          <a:prstGeom prst="rect">
            <a:avLst/>
          </a:prstGeom>
          <a:solidFill>
            <a:srgbClr val="595959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Resource Manager  (상태 + 결정)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78608" y="2532888"/>
            <a:ext cx="1097280" cy="384048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Trend
Analyzer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58768" y="2532888"/>
            <a:ext cx="1097280" cy="384048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Affinity
Mapper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38928" y="2532888"/>
            <a:ext cx="1097280" cy="384048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Policy
Engine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98448" y="3099815"/>
            <a:ext cx="1097280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Telemetry
Collector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78608" y="3099815"/>
            <a:ext cx="1097280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State
Monitor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58768" y="3099815"/>
            <a:ext cx="1097280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Memory·Data
Object Registry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395728" y="3255263"/>
            <a:ext cx="182880" cy="0"/>
          </a:xfrm>
          <a:prstGeom prst="line">
            <a:avLst/>
          </a:prstGeom>
          <a:ln w="12700">
            <a:solidFill>
              <a:srgbClr val="7F7F7F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3675887" y="2724912"/>
            <a:ext cx="182881" cy="0"/>
          </a:xfrm>
          <a:prstGeom prst="line">
            <a:avLst/>
          </a:prstGeom>
          <a:ln w="12700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956048" y="2724912"/>
            <a:ext cx="182880" cy="0"/>
          </a:xfrm>
          <a:prstGeom prst="line">
            <a:avLst/>
          </a:prstGeom>
          <a:ln w="12700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127248" y="2203704"/>
            <a:ext cx="0" cy="329184"/>
          </a:xfrm>
          <a:prstGeom prst="line">
            <a:avLst/>
          </a:prstGeom>
          <a:ln w="12700">
            <a:solidFill>
              <a:srgbClr val="7F7F7F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127248" y="2916936"/>
            <a:ext cx="0" cy="182879"/>
          </a:xfrm>
          <a:prstGeom prst="line">
            <a:avLst/>
          </a:prstGeom>
          <a:ln w="12700">
            <a:solidFill>
              <a:srgbClr val="7F7F7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407408" y="2916936"/>
            <a:ext cx="0" cy="182879"/>
          </a:xfrm>
          <a:prstGeom prst="line">
            <a:avLst/>
          </a:prstGeom>
          <a:ln w="12700">
            <a:solidFill>
              <a:srgbClr val="7F7F7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3721608" y="1911095"/>
            <a:ext cx="182880" cy="18288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40" name="Oval 39"/>
          <p:cNvSpPr/>
          <p:nvPr/>
        </p:nvSpPr>
        <p:spPr>
          <a:xfrm>
            <a:off x="3182112" y="2907791"/>
            <a:ext cx="182880" cy="18288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41" name="Oval 40"/>
          <p:cNvSpPr/>
          <p:nvPr/>
        </p:nvSpPr>
        <p:spPr>
          <a:xfrm>
            <a:off x="3675887" y="2514600"/>
            <a:ext cx="182880" cy="18288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42" name="Oval 41"/>
          <p:cNvSpPr/>
          <p:nvPr/>
        </p:nvSpPr>
        <p:spPr>
          <a:xfrm>
            <a:off x="5742432" y="3118104"/>
            <a:ext cx="182880" cy="18288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43" name="Oval 42"/>
          <p:cNvSpPr/>
          <p:nvPr/>
        </p:nvSpPr>
        <p:spPr>
          <a:xfrm>
            <a:off x="4462272" y="3392424"/>
            <a:ext cx="182880" cy="18288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9848" y="3529584"/>
            <a:ext cx="5303520" cy="566928"/>
          </a:xfrm>
          <a:prstGeom prst="rect">
            <a:avLst/>
          </a:prstGeom>
          <a:solidFill>
            <a:srgbClr val="E2F0D9"/>
          </a:solidFill>
          <a:ln w="1270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69848" y="3529584"/>
            <a:ext cx="5303520" cy="219456"/>
          </a:xfrm>
          <a:prstGeom prst="rect">
            <a:avLst/>
          </a:prstGeom>
          <a:solidFill>
            <a:srgbClr val="548235"/>
          </a:solidFill>
          <a:ln w="1016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Data Plane  (Mechanism · 실행)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78608" y="3785616"/>
            <a:ext cx="1463040" cy="256032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Transfer Handler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24528" y="3785616"/>
            <a:ext cx="2011680" cy="256032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 Executor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4041648" y="3986783"/>
            <a:ext cx="182880" cy="0"/>
          </a:xfrm>
          <a:prstGeom prst="line">
            <a:avLst/>
          </a:prstGeom>
          <a:ln w="12700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4041648" y="3776472"/>
            <a:ext cx="182880" cy="18288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69848" y="4123944"/>
            <a:ext cx="5303520" cy="219456"/>
          </a:xfrm>
          <a:prstGeom prst="rect">
            <a:avLst/>
          </a:prstGeom>
          <a:solidFill>
            <a:srgbClr val="595959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Common Memory Backend Interface  (공통 하부 계층, Device SW I/F)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3310128" y="4041648"/>
            <a:ext cx="0" cy="82296"/>
          </a:xfrm>
          <a:prstGeom prst="line">
            <a:avLst/>
          </a:prstGeom>
          <a:ln w="12700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5687568" y="2916936"/>
            <a:ext cx="0" cy="868680"/>
          </a:xfrm>
          <a:prstGeom prst="line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407408" y="3410712"/>
            <a:ext cx="0" cy="374904"/>
          </a:xfrm>
          <a:prstGeom prst="line">
            <a:avLst/>
          </a:prstGeom>
          <a:ln w="12700">
            <a:solidFill>
              <a:srgbClr val="7F7F7F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6574536" y="1563624"/>
            <a:ext cx="5303520" cy="804672"/>
          </a:xfrm>
          <a:prstGeom prst="rect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574536" y="1563624"/>
            <a:ext cx="5303520" cy="219456"/>
          </a:xfrm>
          <a:prstGeom prst="rect">
            <a:avLst/>
          </a:prstGeom>
          <a:solidFill>
            <a:srgbClr val="2E75B6"/>
          </a:solidFill>
          <a:ln w="1016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Control Plane  (Policy · 결정)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803136" y="1874519"/>
            <a:ext cx="1097280" cy="384048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
Scheduler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083296" y="1874519"/>
            <a:ext cx="1097280" cy="384048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Trend
Analyzer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363456" y="1874519"/>
            <a:ext cx="1097280" cy="384048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Affinity
Mapper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643616" y="1874519"/>
            <a:ext cx="1097280" cy="384048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Policy
Engine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900415" y="2066543"/>
            <a:ext cx="182881" cy="0"/>
          </a:xfrm>
          <a:prstGeom prst="line">
            <a:avLst/>
          </a:prstGeom>
          <a:ln w="12700">
            <a:solidFill>
              <a:srgbClr val="595959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9180576" y="2066543"/>
            <a:ext cx="182880" cy="0"/>
          </a:xfrm>
          <a:prstGeom prst="line">
            <a:avLst/>
          </a:prstGeom>
          <a:ln w="12700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460736" y="2066543"/>
            <a:ext cx="182880" cy="0"/>
          </a:xfrm>
          <a:prstGeom prst="line">
            <a:avLst/>
          </a:prstGeom>
          <a:ln w="12700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7900416" y="1837943"/>
            <a:ext cx="182880" cy="18288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4" name="Oval 63"/>
          <p:cNvSpPr/>
          <p:nvPr/>
        </p:nvSpPr>
        <p:spPr>
          <a:xfrm>
            <a:off x="9180576" y="1837943"/>
            <a:ext cx="182880" cy="18288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574536" y="2642615"/>
            <a:ext cx="5303520" cy="749808"/>
          </a:xfrm>
          <a:prstGeom prst="rect">
            <a:avLst/>
          </a:prstGeom>
          <a:solidFill>
            <a:srgbClr val="F0F1F3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574536" y="2642615"/>
            <a:ext cx="5303520" cy="219456"/>
          </a:xfrm>
          <a:prstGeom prst="rect">
            <a:avLst/>
          </a:prstGeom>
          <a:solidFill>
            <a:srgbClr val="595959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Resource Manager  (상태·관측)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803136" y="2935224"/>
            <a:ext cx="1097280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Telemetry
Collector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83296" y="2935224"/>
            <a:ext cx="1097280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State
Monitor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363456" y="2935224"/>
            <a:ext cx="1097280" cy="310896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Memory·Data
Object Registry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7900415" y="3090672"/>
            <a:ext cx="182881" cy="0"/>
          </a:xfrm>
          <a:prstGeom prst="line">
            <a:avLst/>
          </a:prstGeom>
          <a:ln w="12700">
            <a:solidFill>
              <a:srgbClr val="7F7F7F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8631936" y="2258568"/>
            <a:ext cx="0" cy="676656"/>
          </a:xfrm>
          <a:prstGeom prst="line">
            <a:avLst/>
          </a:prstGeom>
          <a:ln w="12700">
            <a:solidFill>
              <a:srgbClr val="7F7F7F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9912096" y="2258568"/>
            <a:ext cx="0" cy="676656"/>
          </a:xfrm>
          <a:prstGeom prst="line">
            <a:avLst/>
          </a:prstGeom>
          <a:ln w="12700">
            <a:solidFill>
              <a:srgbClr val="7F7F7F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8723376" y="2386584"/>
            <a:ext cx="10972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7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snapshot query</a:t>
            </a:r>
          </a:p>
        </p:txBody>
      </p:sp>
      <p:sp>
        <p:nvSpPr>
          <p:cNvPr id="74" name="Oval 73"/>
          <p:cNvSpPr/>
          <p:nvPr/>
        </p:nvSpPr>
        <p:spPr>
          <a:xfrm>
            <a:off x="8686800" y="2478024"/>
            <a:ext cx="182880" cy="18288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75" name="Oval 74"/>
          <p:cNvSpPr/>
          <p:nvPr/>
        </p:nvSpPr>
        <p:spPr>
          <a:xfrm>
            <a:off x="11247120" y="2478024"/>
            <a:ext cx="182880" cy="18288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76" name="Oval 75"/>
          <p:cNvSpPr/>
          <p:nvPr/>
        </p:nvSpPr>
        <p:spPr>
          <a:xfrm>
            <a:off x="9966959" y="3392424"/>
            <a:ext cx="182880" cy="18288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574536" y="3529584"/>
            <a:ext cx="5303520" cy="566928"/>
          </a:xfrm>
          <a:prstGeom prst="rect">
            <a:avLst/>
          </a:prstGeom>
          <a:solidFill>
            <a:srgbClr val="E2F0D9"/>
          </a:solidFill>
          <a:ln w="1270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574536" y="3529584"/>
            <a:ext cx="5303520" cy="219456"/>
          </a:xfrm>
          <a:prstGeom prst="rect">
            <a:avLst/>
          </a:prstGeom>
          <a:solidFill>
            <a:srgbClr val="548235"/>
          </a:solidFill>
          <a:ln w="1016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Data Plane  (Mechanism · 실행)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083296" y="3785616"/>
            <a:ext cx="1463040" cy="256032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Transfer Handler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729216" y="3785616"/>
            <a:ext cx="2011680" cy="256032"/>
          </a:xfrm>
          <a:prstGeom prst="rect">
            <a:avLst/>
          </a:prstGeom>
          <a:solidFill>
            <a:srgbClr val="FFFFFF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Migration Executor</a:t>
            </a:r>
          </a:p>
        </p:txBody>
      </p:sp>
      <p:cxnSp>
        <p:nvCxnSpPr>
          <p:cNvPr id="81" name="Connector 80"/>
          <p:cNvCxnSpPr/>
          <p:nvPr/>
        </p:nvCxnSpPr>
        <p:spPr>
          <a:xfrm flipH="1">
            <a:off x="9546336" y="3986783"/>
            <a:ext cx="182880" cy="0"/>
          </a:xfrm>
          <a:prstGeom prst="line">
            <a:avLst/>
          </a:prstGeom>
          <a:ln w="12700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9546336" y="3776472"/>
            <a:ext cx="182880" cy="18288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574536" y="4123944"/>
            <a:ext cx="5303520" cy="219456"/>
          </a:xfrm>
          <a:prstGeom prst="rect">
            <a:avLst/>
          </a:prstGeom>
          <a:solidFill>
            <a:srgbClr val="595959"/>
          </a:solidFill>
          <a:ln w="1016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Common Memory Backend Interface  (공통 하부 계층, Device SW I/F)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8814816" y="4041648"/>
            <a:ext cx="0" cy="82296"/>
          </a:xfrm>
          <a:prstGeom prst="line">
            <a:avLst/>
          </a:prstGeom>
          <a:ln w="12700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11192255" y="2258568"/>
            <a:ext cx="0" cy="1527048"/>
          </a:xfrm>
          <a:prstGeom prst="line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9912096" y="3246120"/>
            <a:ext cx="0" cy="539496"/>
          </a:xfrm>
          <a:prstGeom prst="line">
            <a:avLst/>
          </a:prstGeom>
          <a:ln w="12700">
            <a:solidFill>
              <a:srgbClr val="7F7F7F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384048" y="6217920"/>
            <a:ext cx="1143000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① 평가 cycle 시작  ② 상태 조회(1안 로컬 호출 / 2안 snapshot query)  ③ 판단(Analyzer → Mapper → Policy)  ④ MigrationIntent 발행  ⑤ commit 결과 갱신  ⑥ 이동 실행</a:t>
            </a:r>
          </a:p>
          <a:p>
            <a:pPr algn="l">
              <a:spcAft>
                <a:spcPts val="0"/>
              </a:spcAft>
            </a:pPr>
            <a:r>
              <a:rPr sz="7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노랑 = 결정 로직 모듈(소속이 두 안을 가름) · 점선 = 비동기/조회 · 신호(자원 상태/data 행동)는 정책 플러그인으로 공통 | C2 신규 Device SW · F1 tier 간 복사 · F2 이동 스케줄링 · Q1 Throughput · Q2 HBM 점유율 · Q3 변경용이성 · Q4 확장성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349240" y="6583680"/>
            <a:ext cx="621792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DP1. Data Migration 결정 구조 - 설계</a:t>
            </a:r>
          </a:p>
        </p:txBody>
      </p:sp>
      <p:sp>
        <p:nvSpPr>
          <p:cNvPr id="3" name="Chevron 2"/>
          <p:cNvSpPr/>
          <p:nvPr/>
        </p:nvSpPr>
        <p:spPr>
          <a:xfrm>
            <a:off x="7522768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과제 소개</a:t>
            </a:r>
          </a:p>
        </p:txBody>
      </p:sp>
      <p:sp>
        <p:nvSpPr>
          <p:cNvPr id="4" name="Chevron 3"/>
          <p:cNvSpPr/>
          <p:nvPr/>
        </p:nvSpPr>
        <p:spPr>
          <a:xfrm>
            <a:off x="8415223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</p:txBody>
      </p:sp>
      <p:sp>
        <p:nvSpPr>
          <p:cNvPr id="5" name="Chevron 4"/>
          <p:cNvSpPr/>
          <p:nvPr/>
        </p:nvSpPr>
        <p:spPr>
          <a:xfrm>
            <a:off x="9314078" y="137160"/>
            <a:ext cx="1031443" cy="357530"/>
          </a:xfrm>
          <a:prstGeom prst="chevron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6" name="Chevron 5"/>
          <p:cNvSpPr/>
          <p:nvPr/>
        </p:nvSpPr>
        <p:spPr>
          <a:xfrm>
            <a:off x="10206532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구현/검증</a:t>
            </a:r>
          </a:p>
        </p:txBody>
      </p:sp>
      <p:sp>
        <p:nvSpPr>
          <p:cNvPr id="7" name="Chevron 6"/>
          <p:cNvSpPr/>
          <p:nvPr/>
        </p:nvSpPr>
        <p:spPr>
          <a:xfrm>
            <a:off x="11105388" y="137160"/>
            <a:ext cx="892454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7529169" y="137160"/>
            <a:ext cx="212140" cy="35753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89359" y="137160"/>
            <a:ext cx="212140" cy="35753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" y="621792"/>
            <a:ext cx="75895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모듈 소속 비교와 비교 원칙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46536" y="630936"/>
            <a:ext cx="713232" cy="320040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396728" y="630936"/>
            <a:ext cx="713232" cy="320040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46919" y="630936"/>
            <a:ext cx="713232" cy="320040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97111" y="630936"/>
            <a:ext cx="713232" cy="320040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47303" y="630936"/>
            <a:ext cx="713232" cy="320040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97495" y="630936"/>
            <a:ext cx="713232" cy="320040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47687" y="630936"/>
            <a:ext cx="713232" cy="320040"/>
          </a:xfrm>
          <a:prstGeom prst="round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C2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246888" y="1097280"/>
          <a:ext cx="11750040" cy="39684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77440"/>
                <a:gridCol w="3108960"/>
                <a:gridCol w="3108960"/>
                <a:gridCol w="3154680"/>
              </a:tblGrid>
              <a:tr h="310896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모듈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1안 (Resource Manager 내장)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2안 (Control 분리)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Migration Scheduler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Control (트리거·budget만)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Control (트리거 + 평가 cycle 구동)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event 기반 비동기 진입점은 공통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Trend Analyzer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Resource Manager 내부 (결정부)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Control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소속이 바뀌는 모듈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Affinity Mapper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Resource Manager 내부 (결정부)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Control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소속이 바뀌는 모듈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Policy Engine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Resource Manager 내부 (결정부)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Control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소속이 바뀌는 모듈. Intent 발행 지점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State Monitor · Telemetry Collector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Resource Manager (상태부)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Resource Manager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수집은 서빙 경로 밖 주기 경로 (FR-05)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Memory · Data Object Registry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Resource Manager (상태부)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Resource Manager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위치의 단일 진실 (FR-04)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Migration Executor · Transfer Handler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 Plane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 Plane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공통. 실행은 background DMA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Common Memory Backend I/F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 하부 계층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 하부 계층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Device SW 편입 지점 (C2)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347472" y="5394960"/>
            <a:ext cx="11402568" cy="1051560"/>
          </a:xfrm>
          <a:prstGeom prst="rect">
            <a:avLst/>
          </a:prstGeom>
          <a:noFill/>
          <a:ln w="12700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905756" y="5239512"/>
            <a:ext cx="2286000" cy="310896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비교 원칙과 예상 질문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96128"/>
            <a:ext cx="1124712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66FF"/>
                </a:solidFill>
                <a:latin typeface="맑은 고딕"/>
                <a:ea typeface="맑은 고딕"/>
                <a:cs typeface="맑은 고딕"/>
              </a:rPr>
              <a:t>바뀌는 변수는 하나: 결정 로직의 소속 (그에 따른 호출 경계: 로컬 호출 vs snapshot query)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Q. '결국 정책 차이 아닌가?'  A. 신호(자원 상태 / data 행동)는 정책 플러그인으로 두 안에 공통. 같은 정책(iso-policy)을 두 구조에 올려 결정 경로 hop, 수정 모듈 수, 지연 증가율로 비교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Q. '1안은 Resource Manager가 상태와 판단을 함께 갖는데 이름이 맞는가?'  A. 상태 소유자가 판단까지 하는 co-location 안이라 (상태 + 결정)으로 표기. 이 결합이 곧 비교 변수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6583680"/>
            <a:ext cx="621792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DP1. Data Migration 결정 구조 - 설계</a:t>
            </a:r>
          </a:p>
        </p:txBody>
      </p:sp>
      <p:sp>
        <p:nvSpPr>
          <p:cNvPr id="3" name="Chevron 2"/>
          <p:cNvSpPr/>
          <p:nvPr/>
        </p:nvSpPr>
        <p:spPr>
          <a:xfrm>
            <a:off x="7522768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과제 소개</a:t>
            </a:r>
          </a:p>
        </p:txBody>
      </p:sp>
      <p:sp>
        <p:nvSpPr>
          <p:cNvPr id="4" name="Chevron 3"/>
          <p:cNvSpPr/>
          <p:nvPr/>
        </p:nvSpPr>
        <p:spPr>
          <a:xfrm>
            <a:off x="8415223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</p:txBody>
      </p:sp>
      <p:sp>
        <p:nvSpPr>
          <p:cNvPr id="5" name="Chevron 4"/>
          <p:cNvSpPr/>
          <p:nvPr/>
        </p:nvSpPr>
        <p:spPr>
          <a:xfrm>
            <a:off x="9314078" y="137160"/>
            <a:ext cx="1031443" cy="357530"/>
          </a:xfrm>
          <a:prstGeom prst="chevron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6" name="Chevron 5"/>
          <p:cNvSpPr/>
          <p:nvPr/>
        </p:nvSpPr>
        <p:spPr>
          <a:xfrm>
            <a:off x="10206532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구현/검증</a:t>
            </a:r>
          </a:p>
        </p:txBody>
      </p:sp>
      <p:sp>
        <p:nvSpPr>
          <p:cNvPr id="7" name="Chevron 6"/>
          <p:cNvSpPr/>
          <p:nvPr/>
        </p:nvSpPr>
        <p:spPr>
          <a:xfrm>
            <a:off x="11105388" y="137160"/>
            <a:ext cx="892454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7529169" y="137160"/>
            <a:ext cx="212140" cy="35753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89359" y="137160"/>
            <a:ext cx="212140" cy="35753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" y="621792"/>
            <a:ext cx="75895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QA별 구조적 측정 근거 (정책은 고정, 소속만 변경)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46536" y="630936"/>
            <a:ext cx="713232" cy="320040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396728" y="630936"/>
            <a:ext cx="713232" cy="320040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46919" y="630936"/>
            <a:ext cx="713232" cy="320040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97111" y="630936"/>
            <a:ext cx="713232" cy="320040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47303" y="630936"/>
            <a:ext cx="713232" cy="320040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97495" y="630936"/>
            <a:ext cx="713232" cy="320040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47687" y="630936"/>
            <a:ext cx="713232" cy="320040"/>
          </a:xfrm>
          <a:prstGeom prst="roundRect">
            <a:avLst/>
          </a:prstGeom>
          <a:solidFill>
            <a:srgbClr val="375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C2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246888" y="1097280"/>
          <a:ext cx="11750040" cy="44622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3017520"/>
                <a:gridCol w="2468880"/>
                <a:gridCol w="2468880"/>
                <a:gridCol w="2880360"/>
              </a:tblGrid>
              <a:tr h="365760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 요인과 지표 (단위)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1안 Resource Manager 내장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2안 Control 분리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방법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024128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Q1
Throughput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결정 경로 hop 수와 event→Intent 지연 (μs). 결정은 event 기반 비동기라 forward critical path 밖이므로 Goodput 차이는 작을 수 있음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조회가 로컬 호출, hop 0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8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[가설]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snapshot query hop +1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8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[가설]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결정 비용 sweep (0.1 / 1 / 10 ms)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8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[B+C 예정]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24128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Q2
HBM 점유율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stale window: 압력 발생 → demote 시작 (ms), HBM peak overshoot (GB). 낮을수록 좋음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상태를 직접 읽어 stale ≈ 0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8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[가설]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snapshot age(FR-05 허용 age)만큼 stale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8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[가설]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압력 step 입력 시 overshoot 측정, snapshot age sweep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8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[B+C 예정]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24128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Q3
변경용이성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신규·변경 정책 반영 시 수정 모듈 수 (개)와 재배포 단위. 정책 추가 시나리오(예: 신호 교체) 기준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정책이 상태 서비스(Resource Manager) 안에 있어 정책 변경 시 상태 서비스 수정·재배포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8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[추정]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Control 내 Analyzer·Mapper·Policy Engine만 수정, 상태 서비스 불변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8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[추정]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 교체 시나리오를 두 구조에 적용해 diff 모듈 수 집계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8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[설계 검토]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24128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Q4
확장성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Scaling Efficiency: tier 수 N=2→8, object 수 증가 시 event→Intent 지연 증가율 (배)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 저장과 판단이 한 서비스에서 처리 → 단일 서비스 포화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8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[가설]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판단과 상태를 분리 확장, 단 query 부하가 Resource Manager에 집중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8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[가설]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N·object sweep 시뮬레이션, 서비스별 부하 모델링 필요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8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[B+C 예정]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347472" y="5897880"/>
            <a:ext cx="11402568" cy="566928"/>
          </a:xfrm>
          <a:prstGeom prst="rect">
            <a:avLst/>
          </a:prstGeom>
          <a:noFill/>
          <a:ln w="12700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17236" y="5742432"/>
            <a:ext cx="1463040" cy="310896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비교 원칙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989320"/>
            <a:ext cx="1124712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Policy(C1 또는 C2 중 하나)를 두 안에 동일하게 구현해 고정하고 소속만 바꿔 측정. 정책 품질(예측 정확도)은 구조 평가에서 제외. 별점·임계값은 통합 단계(memo-threshold-unification)에서 정하며 여기서는 쓰지 않음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6583680"/>
            <a:ext cx="621792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5707</Words>
  <Application>Microsoft Office PowerPoint</Application>
  <PresentationFormat>와이드스크린</PresentationFormat>
  <Paragraphs>852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6" baseType="lpstr">
      <vt:lpstr>Samsung Sharp Sans Bold</vt:lpstr>
      <vt:lpstr>맑은 고딕</vt:lpstr>
      <vt:lpstr>맑은 고딕</vt:lpstr>
      <vt:lpstr>Arial</vt:lpstr>
      <vt:lpstr>Wingdings</vt:lpstr>
      <vt:lpstr>Office 테마</vt:lpstr>
      <vt:lpstr>DP1. 이기종 메모리 기반 Data Migration 결정 구조 - 배경</vt:lpstr>
      <vt:lpstr>DP1. 이기종 메모리 기반 Data Migration 결정 구조 - 배경</vt:lpstr>
      <vt:lpstr>DP1. 이기종 메모리 기반 Data Migration 결정 구조 - 설계</vt:lpstr>
      <vt:lpstr>DP1. 이기종 메모리 기반 Data Migration 결정 구조 - 설계</vt:lpstr>
      <vt:lpstr>DP2. 이기종 메모리 환경의 Prefill/Decode 실행 위치 결정 구조 - 사전 지식</vt:lpstr>
      <vt:lpstr>DP2. 이기종 메모리 환경의 Prefill/Decode 실행 위치 결정 구조 - 배경</vt:lpstr>
      <vt:lpstr>DP2. 이기종 메모리 환경의 Prefill/Decode 실행 위치 결정 구조 - 설계</vt:lpstr>
      <vt:lpstr>DP4. 요청 조율 구조 (Orchestration) - 배경</vt:lpstr>
      <vt:lpstr>DP4. 여러 서버를 묶는 요청 조율 구조 - 배경</vt:lpstr>
      <vt:lpstr>DP4. 요청 조율 계층 (Orchestration) 설계 - 구조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Data Migration 결정 구조 - 배경</dc:title>
  <dc:creator>Myeong Woo Kim</dc:creator>
  <cp:lastModifiedBy>Myeong Woo Kim</cp:lastModifiedBy>
  <cp:revision>1</cp:revision>
  <dcterms:created xsi:type="dcterms:W3CDTF">2026-10-10T04:25:41Z</dcterms:created>
  <dcterms:modified xsi:type="dcterms:W3CDTF">2026-10-10T04:26:54Z</dcterms:modified>
</cp:coreProperties>
</file>
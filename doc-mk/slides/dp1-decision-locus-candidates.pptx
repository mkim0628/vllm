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7"/>
    <p:sldId id="257" r:id="rId8"/>
    <p:sldId id="258" r:id="rId9"/>
    <p:sldId id="259"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FDB59D-6851-4087-A360-1717CD539FDC}" type="datetimeFigureOut">
              <a:rPr lang="ko-KR" altLang="en-US" smtClean="0"/>
              <a:t>2026-10-10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42F9D-A517-472D-B53C-0A9BC49CDB65}" type="slidenum">
              <a:rPr lang="ko-KR" altLang="en-US" smtClean="0"/>
              <a:t>‹#›</a:t>
            </a:fld>
            <a:endParaRPr lang="ko-KR" altLang="en-US"/>
          </a:p>
        </p:txBody>
      </p:sp>
    </p:spTree>
    <p:extLst>
      <p:ext uri="{BB962C8B-B14F-4D97-AF65-F5344CB8AC3E}">
        <p14:creationId xmlns:p14="http://schemas.microsoft.com/office/powerpoint/2010/main" val="43600162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 · 약 3분]</a:t>
            </a:r>
          </a:p>
          <a:p>
            <a:r>
              <a:t>이 장은 DP1, 즉 이동 결정 기능을 어디에 둘 것인가를 두 가지 구조로 비교합니다.</a:t>
            </a:r>
          </a:p>
          <a:p/>
          <a:p>
            <a:r>
              <a:t>먼저 공통점부터 말씀드리겠습니다. 두 안은 같은 모듈을 씁니다. 결정은 Trend Analyzer, Affinity Mapper, Policy Engine이 맡고, 상태는 State Monitor, Telemetry Collector, Registry가, 실행은 Migration Executor와 Transfer Handler가 맡습니다. 노란색이 결정 로직 모듈인데, 두 안은 이 세 모듈이 어디에 있느냐만 다릅니다. 자원 상태를 볼지 data 행동을 볼지 같은 신호 종류는 정책 플러그인으로 내려서 두 안에 공통으로 두었습니다. 즉 이 비교는 정책 비교가 아니라 구조 비교입니다.</a:t>
            </a:r>
          </a:p>
          <a:p/>
          <a:p>
            <a:r>
              <a:t>왼쪽 1안은 결정 로직을 상태를 가진 Resource Manager 안에 둡니다. Control은 Scheduler로 평가 시점과 budget만 정합니다. 흐름은 ①Scheduler가 평가 cycle을 시작하면, ②Resource Manager 안에서 상태를 로컬 호출로 읽고, ③Analyzer, Mapper, Policy Engine 순으로 판단해서, ④MigrationIntent를 Data Plane의 Executor로 보냅니다. ⑥이동이 실행되고, ⑤commit 결과가 Registry에 반영됩니다. 장점은 상태가 항상 최신이라 HBM 압박에 대한 대응이 가장 빠르다는 점입니다. 단점은 정책을 바꾸면 상태 서비스를 같이 수정해야 하고, 상태 저장과 판단이 한 서비스에 묶여 있어서 판단이 길어지는 동안 상태 갱신과 수집이 막힐 수 있다는 점, 그리고 tier나 object가 늘면 단일 병목이 될 수 있다는 점입니다.</a:t>
            </a:r>
          </a:p>
          <a:p/>
          <a:p>
            <a:r>
              <a:t>오른쪽 2안은 결정 로직을 Control에 두고 Resource Manager는 상태와 관측만 맡습니다. 같은 흐름에서 ②번이 snapshot query로 바뀝니다. 장점은 정책 교체와 추가가 Control 안에서 끝나서 상태 서비스는 건드리지 않는다는 점, 판단과 상태를 따로 확장할 수 있다는 점입니다. Q1 관점의 장점도 있습니다. 판단이 snapshot 위에서 돌아서 상태 갱신·수집 경로와 경합하지 않으므로, 판단이 길어져도 commit 반영과 event 수집이 막히지 않고, 판단 스레드를 서빙 코어와 분리해서 배치할 수 있습니다. 단점은 snapshot age만큼 상태가 stale해서 HBM 확보가 늦어지거나, 오래된 정보로 판단한 이동이 거절되어 재시도될 수 있다는 점, 그리고 snapshot 생성 비용과 query 스키마 유지 비용이 든다는 점입니다.</a:t>
            </a:r>
          </a:p>
          <a:p/>
          <a:p>
            <a:r>
              <a:t>가장 중요한 QA인 Q1이 어디서 갈리는지 분명히 말씀드립니다. 결정 호출이 비동기여도 Q1에는 간접 경로가 남습니다. HBM 확보가 늦으면 신규 요청이 대기하거나 preemption으로 재계산이 생기고, 판단이 상태 갱신을 막으면 event가 밀리며, 오래된 정보로 내린 이동은 거절되어 링크를 낭비합니다. 1안은 최신 상태가 강점이고 경합이 약점이며, 2안은 경합 격리가 강점이고 stale이 약점입니다. 표의 우열은 모두 평가 전 가설이고 별점은 임계값 통합 후에 부여합니다. 같은 정책을 두 구조에 올려 snapshot age, 판단 비용, 상태 갱신 rate를 바꿔 가며 Max SLO Goodput과 분해 지표(HBM 확보 지연, 이동 거절율, TPOT P99)로 비교할 계획입니다.</a:t>
            </a:r>
          </a:p>
          <a:p/>
          <a:p>
            <a:r>
              <a:t>정리하면 바뀌는 변수는 하나, 결정 로직의 소속입니다. 상태 가까이 두면 지연이 짧고 단순하며, 분리하면 변경과 확장에 유리합니다.</a:t>
            </a:r>
          </a:p>
          <a:p/>
          <a:p>
            <a:r>
              <a:t>예상 질문</a:t>
            </a:r>
          </a:p>
          <a:p>
            <a:r>
              <a:t>- 결국 정책 차이 아닌가요? → 신호는 정책 플러그인으로 공통이고, 두 안은 모듈 소속과 호출 경계가 다릅니다. 같은 정책을 올려 비교합니다.</a:t>
            </a:r>
          </a:p>
          <a:p>
            <a:r>
              <a:t>- 1안의 Resource Manager 이름이 맞나요? → 상태 소유자가 판단까지 하는 co-location 안이라 (상태 + 결정)으로 표기했습니다. 이 결합이 곧 비교 변수입니다.</a:t>
            </a:r>
          </a:p>
          <a:p/>
          <a:p>
            <a:r>
              <a:t>[핵심 · 근거 · 선택의 의미]</a:t>
            </a:r>
          </a:p>
          <a:p>
            <a:r>
              <a:t>핵심: 두 안은 같은 모듈 집합을 쓰고, 결정 로직(Analyzer, Mapper, Policy Engine)의 소속만 다르다. 1안은 상태 소유자인 Resource Manager 안에, 2안은 Control에 둔다.</a:t>
            </a:r>
          </a:p>
          <a:p>
            <a:r>
              <a:t>근거: 소속이 바뀌면 호출 경계가 바뀐다(로컬 호출 vs snapshot query). 그 결과 상태 stale, 상태 갱신과 판단 간 경합, 정책 변경 시 수정 모듈, 서비스 확장 단위가 달라진다.</a:t>
            </a:r>
          </a:p>
          <a:p>
            <a:r>
              <a:t>선택의 의미: 신호 종류(자원 상태 vs data 행동)는 정책 플러그인으로 내려 두 안에서 같게 둔다. 평가 전이라 선택은 표시하지 않았다.</a:t>
            </a:r>
          </a:p>
          <a:p>
            <a:r>
              <a:t>출처: doc-mk/DP1/dp1-ai-data-migration-decision-architecture.md, Requirements/DP1-requirements.md FR-05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두 안은 Analyzer, Mapper, Policy Engine 세 모듈의 소속만 다르다. 나머지 모듈과 Data Plane, Backend I/F는 동일하다.</a:t>
            </a:r>
          </a:p>
          <a:p>
            <a:r>
              <a:t>근거: 소속을 상태 소유 측에 둘지 분리할지는 데이터 지역성과 관심사 분리 사이의 전형적인 선택이다.</a:t>
            </a:r>
          </a:p>
          <a:p>
            <a:r>
              <a:t>선택의 의미: 신호 종류는 정책 플러그인이라 비교에서 고정한다. 구조 차이는 호출 경계, 정책 변경 파급, 서비스 확장 단위로 측정한다.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같은 정책에서 결정 로직의 소속만 바꿔 QA를 본다.</a:t>
            </a:r>
          </a:p>
          <a:p>
            <a:r>
              <a:t>근거: Q1은 Max SLO Goodput과 그 분해(HBM 확보 지연, 상태 갱신 지연, 이동 거절율), Q2는 stale window, Q3은 정책 변경 시 수정 모듈 수, Q4는 N 증가 시 지연 증가율로 환산한다. 숫자는 아직 없고 모두 가설·추정이다.</a:t>
            </a:r>
          </a:p>
          <a:p>
            <a:r>
              <a:t>선택의 의미: 호출이 비동기여도 Q1에는 간접 경로(확보 지연, event 지연, 링크 낭비)가 있어, 1안(최신 상태 vs 경합)과 2안(경합 격리 vs stale)이 서로 반대 방향으로 갈린다. 가장 중요한 QA이므로 시뮬레이션 [B+C]로 먼저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 · 약 2분 30초]</a:t>
            </a:r>
          </a:p>
          <a:p>
            <a:r>
              <a:t>이 장은 선택한 안, 즉 AI Data 특성에 우선한 이동에 보완 설계를 적용한 구조입니다. 왼쪽 흐린 그림은 기존 설계를 결정 위치 구조로 다시 그린 것으로, 판단은 Control, 상태와 관측은 Resource Manager가 맡습니다. 오른쪽이 보완한 구조입니다.</a:t>
            </a:r>
          </a:p>
          <a:p/>
          <a:p>
            <a:r>
              <a:t>기존 설계의 단점은 두 가지였습니다. 첫째, behavior 예측이 틀리면 idle data가 HBM을 불필요하게 점유합니다(Q2). 둘째, 신규 workload가 추가되면 변경 영향 범위가 큽니다(Q3).</a:t>
            </a:r>
          </a:p>
          <a:p/>
          <a:p>
            <a:r>
              <a:t>첫 번째 보완은 HBM 점유 기한, 즉 Lease입니다. 데이터를 HBM에 올릴 때 Policy Engine 안의 HBM Lease Granter가 Lease를 부여하고, 만료 시각은 Data Object Registry의 Lease Metadata에 기록합니다. ⑦번 흐름입니다. 기한이 지나면 Lease Timer가 Lease Expired event를 Scheduler로 보냅니다. ⑧번 흐름입니다. 그러면 평가 cycle이 다시 돌고, 최신 behavior를 보고 Lease를 연장하거나 demotion합니다. 그래서 idle data가 HBM을 점유하는 기간에 상한이 생깁니다.</a:t>
            </a:r>
          </a:p>
          <a:p/>
          <a:p>
            <a:r>
              <a:t>여기서 배치 원칙을 말씀드립니다. 판단인 Granter는 Control에 두고, Lease Timer는 Resource Manager에 둡니다. 만료 시각은 상태이므로 상태를 가진 쪽이 event를 발생시키고, Control이 Registry를 계속 조회할 필요가 없게 했습니다. 판단은 Control, 상태와 event 원천은 Resource Manager라는 앞 장의 원칙을 그대로 적용한 것입니다.</a:t>
            </a:r>
          </a:p>
          <a:p/>
          <a:p>
            <a:r>
              <a:t>두 번째 보완은 Behavior Feature Adapter입니다. Resource Manager의 조회 경계에서 workload별 raw behavior를 공통 Feature snapshot으로 바꿔서 ②번으로 넘깁니다. Control의 Analyzer와 Policy Engine은 workload 종류를 몰라도 되므로, 신규 workload는 Adapter 하나만 추가하면 됩니다. 이 Adapter는 부수 효과도 있습니다. 2안 구조의 약점이었던 query 스키마 유지 비용이 줄어듭니다. 스키마가 workload와 무관하게 고정되기 때문입니다.</a:t>
            </a:r>
          </a:p>
          <a:p/>
          <a:p>
            <a:r>
              <a:t>Tradeoff입니다. Q1은 확인이 필요합니다. Lease 갱신 자체는 판단 경로와 분리되어 부담이 작지만, 만료 시 오판으로 곧 쓸 데이터를 내리면 다시 올리는 비용이 생겨 처리량이 떨어질 수 있습니다. 연장 규칙이 관건입니다. Q2는 idle data 점유에 만료 상한이 생겨 개선, Q3은 workload 추가가 Adapter 1개로 줄어 개선입니다. Q4는 확인이 필요합니다. Lease 수가 object 수에 비례하므로 timer 관리 비용이 늘 수 있습니다. 모두 가설이고 별점은 구조 변경 후 재평가하겠습니다.</a:t>
            </a:r>
          </a:p>
          <a:p/>
          <a:p>
            <a:r>
              <a:t>감수한 불이익과 미설계 사항을 말씀드립니다. Lease 만료가 한꺼번에 몰릴 때의 처리는 아직 설계하지 않았습니다. 만료 시각 분산이나 배치 처리를 검토해야 합니다. Lease 기한을 얼마로 할지는 정책 파라미터라서 이 장에서는 구조만 다루고, sweep으로 확인할 예정입니다.</a:t>
            </a:r>
          </a:p>
          <a:p/>
          <a:p>
            <a:r>
              <a:t>예상 질문</a:t>
            </a:r>
          </a:p>
          <a:p>
            <a:r>
              <a:t>- Lease Timer를 왜 Resource Manager에 두었나요? → 만료 시각이 상태이기 때문입니다. event 원천을 상태 소유 측에 두면 Control의 폴링이 필요 없습니다. 원안처럼 Control에 두는 대안도 있고, 그 경우 폴링이 생깁니다.</a:t>
            </a:r>
          </a:p>
          <a:p>
            <a:r>
              <a:t>- Adapter를 Control에 두면 안 되나요? → 가능하지만 그러면 Control이 workload별 raw 형식을 알게 되어 변경 범위가 다시 커집니다.</a:t>
            </a:r>
          </a:p>
          <a:p/>
          <a:p>
            <a:r>
              <a:t>[핵심 · 근거 · 선택의 의미]</a:t>
            </a:r>
          </a:p>
          <a:p>
            <a:r>
              <a:t>핵심: 원안 2안의 보완(Lease, Behavior adapter)을 결정 위치 구조(판단은 Control, 상태는 Resource Manager)에 맞춰 배치했다.</a:t>
            </a:r>
          </a:p>
          <a:p>
            <a:r>
              <a:t>근거: HBM Lease Granter는 판단이므로 Policy Engine 안(Control)에 둔다. Lease Timer는 상태 소유 측(Resource Manager)에서 만료 event를 push해 Control의 Registry 폴링을 없앤다. Behavior Feature Adapter는 Resource Manager의 조회 경계에 두어 Control이 보는 snapshot 스키마를 workload와 무관하게 고정한다. 이는 결정 위치 2안(Control 분리)의 약점이던 query 스키마 유지 비용을 줄인다.</a:t>
            </a:r>
          </a:p>
          <a:p>
            <a:r>
              <a:t>선택의 의미: 배치는 제안이며 vLLM 코드 대응은 확인이 필요하다. 별점은 구조 변경 후 재평가가 필요해 비웠다.</a:t>
            </a:r>
          </a:p>
          <a:p>
            <a:r>
              <a:t>출처: 사용자 보완 설계 슬라이드(2안 + 보완), doc-mk/DP1/dp1-ai-data-migration-decision-architecture.md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766F1F-6FFF-438E-978E-7F50C6A9E636}"/>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DAFAFD0-1F82-4A9B-B3F6-99224804EA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D2A504BB-6AAA-4233-A0A1-1975C91FEA4C}"/>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AE792343-8259-4E59-9F61-74C15CCDDC4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1CB83A2-9524-4B3A-B3C6-D4F79B0E8BB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64031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E669E3-A266-4BEB-8BBA-CE42A5B6659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CE1CA8F-9445-4D8B-A0A0-34714CBAC16D}"/>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82E6160-1C4D-4559-89D9-A35150A3582B}"/>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5B2329A2-229C-4CBB-AC58-12A0F0ACAC1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241D84D-6A9B-449E-843F-67D8BA66FBB1}"/>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872596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076C279-BE8E-4A58-8F27-8C25650DED1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4392A46-7FFF-4D6F-AA6E-D59A61223D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46685FA-9578-48E3-9E09-D095C1DFA2E5}"/>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2AA1F830-4CCD-4D6C-BCCB-003C05CFE7D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80742D8-AAC9-4467-8546-CC9D64B5949C}"/>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433598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44B4E56-0A82-416C-92D9-654BF5C9D24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FB22FE0-D66C-416D-A771-4B8A78E1DB6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70BDFEE8-FEDA-40B6-AD92-F654C3C947F8}"/>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47C12402-8087-4755-8681-5AB4A554CB75}"/>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FB6EB7B6-16FD-43F7-AD81-6AE05331273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7884AA5-2DBF-4023-90B7-AAC1D13205A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488268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92D15B-0C0F-4390-875E-1590EE8F0FD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5B713CE4-54D4-472C-AF86-5304C461B5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0EF3848C-49A2-46AD-B69D-6770C2A44318}"/>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90F7C98F-4810-4F56-8535-9FA72E9AD6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D491211-BEE3-4FEF-980E-6C26F74438DF}"/>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8E8F1097-25B6-4C35-9EDA-0A1B99A7AF6E}"/>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8" name="바닥글 개체 틀 7">
            <a:extLst>
              <a:ext uri="{FF2B5EF4-FFF2-40B4-BE49-F238E27FC236}">
                <a16:creationId xmlns:a16="http://schemas.microsoft.com/office/drawing/2014/main" id="{11967B94-09AA-40C9-A6E7-C49079CAA9A0}"/>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E44706B7-77D3-4F97-B3C3-87F6F63E48FB}"/>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975102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E3900A-A75F-4F93-AE6D-F58DCEBA40E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09FA1503-70FC-402A-9BEA-A7A4CBD5F324}"/>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4" name="바닥글 개체 틀 3">
            <a:extLst>
              <a:ext uri="{FF2B5EF4-FFF2-40B4-BE49-F238E27FC236}">
                <a16:creationId xmlns:a16="http://schemas.microsoft.com/office/drawing/2014/main" id="{AD8CE03B-7743-434D-93C2-5D3CF40D6E07}"/>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E3E11778-A95C-403D-A5C5-03429AA1E58E}"/>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158204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879B79F9-D3BF-4383-9A2B-6720ED16C1D7}"/>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3" name="바닥글 개체 틀 2">
            <a:extLst>
              <a:ext uri="{FF2B5EF4-FFF2-40B4-BE49-F238E27FC236}">
                <a16:creationId xmlns:a16="http://schemas.microsoft.com/office/drawing/2014/main" id="{9791CDC1-1BD2-4CEC-AF70-F1035E05EE8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066BE70D-7B66-4208-B021-AB8D7CB4D757}"/>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423693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71A4DB-6070-458A-B403-89620438738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3CEFAD1F-018C-4CD8-A320-CCA387166D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290798B4-57C3-44B4-A8C2-A1110A1433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6382C16-FF45-4304-A19A-EF629B4740F6}"/>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9BB56C59-F03D-40C5-A062-6C1D08EA6FB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B5D1989-7D2D-483E-8B76-675B71A799C6}"/>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694681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F80EA15-1B37-4FC8-A267-BD814C73A41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A6C1A13-FB13-43ED-9A16-DE43BD615F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C750587-5197-4793-84A9-1FCE8E0FE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2A05951-2B75-4A9C-9D31-DA984C7D0BA0}"/>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893DFFFB-CB82-44B7-ADD5-6C06FFCA99B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DFC3ACB5-7C5F-4763-A545-1E091D9CF56F}"/>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31381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8F7E99-E266-4394-AC3C-C81C0AA01FE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B903C54-E094-4214-B922-CFC0A756130D}"/>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C66B284-4B0D-4115-B089-AA26C33B4436}"/>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08850256-F467-447D-9263-C7183DD65B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83367B8-E91F-4EFF-904D-A125138D360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447184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2E4CC87E-C30F-4874-9B17-340763F05AF7}"/>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B237634-FD61-4D11-A5FB-707E825ADF3E}"/>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9D80697-7563-4134-9650-BD8DE52FAD6B}"/>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B7795852-3BEA-4032-BF3B-1DBB06E399D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EE3DC6E-6854-4E11-B4EC-45C9A22F9932}"/>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4090528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5"/>
          <p:cNvSpPr>
            <a:spLocks noGrp="1"/>
          </p:cNvSpPr>
          <p:nvPr>
            <p:ph type="sldNum" sz="quarter" idx="4"/>
          </p:nvPr>
        </p:nvSpPr>
        <p:spPr>
          <a:xfrm>
            <a:off x="5620080" y="6597650"/>
            <a:ext cx="456466" cy="209550"/>
          </a:xfrm>
          <a:prstGeom prst="rect">
            <a:avLst/>
          </a:prstGeom>
        </p:spPr>
        <p:txBody>
          <a:bodyPr vert="horz" lIns="91440" tIns="45720" rIns="91440" bIns="45720" rtlCol="0" anchor="ctr"/>
          <a:lstStyle>
            <a:lvl1pPr algn="r">
              <a:defRPr sz="1200">
                <a:solidFill>
                  <a:schemeClr val="tx1">
                    <a:tint val="75000"/>
                  </a:schemeClr>
                </a:solidFill>
              </a:defRPr>
            </a:lvl1pPr>
          </a:lstStyle>
          <a:p>
            <a:fld id="{7F889C64-266A-4D07-AD8F-5B592E61CCE1}" type="slidenum">
              <a:rPr lang="ko-KR" altLang="en-US" smtClean="0"/>
              <a:pPr/>
              <a:t>‹#›</a:t>
            </a:fld>
            <a:endParaRPr lang="ko-KR" altLang="en-US" dirty="0"/>
          </a:p>
        </p:txBody>
      </p: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sp>
        <p:nvSpPr>
          <p:cNvPr id="2" name="TextBox 1"/>
          <p:cNvSpPr txBox="1"/>
          <p:nvPr userDrawn="1"/>
        </p:nvSpPr>
        <p:spPr>
          <a:xfrm>
            <a:off x="5975555" y="6563925"/>
            <a:ext cx="470643" cy="276999"/>
          </a:xfrm>
          <a:prstGeom prst="rect">
            <a:avLst/>
          </a:prstGeom>
          <a:noFill/>
        </p:spPr>
        <p:txBody>
          <a:bodyPr wrap="square" rtlCol="0">
            <a:spAutoFit/>
          </a:bodyPr>
          <a:lstStyle/>
          <a:p>
            <a:r>
              <a:rPr lang="en-US" altLang="ko-KR" sz="1200" dirty="0">
                <a:solidFill>
                  <a:schemeClr val="bg1">
                    <a:lumMod val="50000"/>
                  </a:schemeClr>
                </a:solidFill>
              </a:rPr>
              <a:t>/ 4</a:t>
            </a:r>
            <a:endParaRPr lang="ko-KR" altLang="en-US" sz="1200" dirty="0">
              <a:solidFill>
                <a:schemeClr val="bg1">
                  <a:lumMod val="50000"/>
                </a:schemeClr>
              </a:solidFill>
            </a:endParaRPr>
          </a:p>
        </p:txBody>
      </p:sp>
    </p:spTree>
    <p:extLst>
      <p:ext uri="{BB962C8B-B14F-4D97-AF65-F5344CB8AC3E}">
        <p14:creationId xmlns:p14="http://schemas.microsoft.com/office/powerpoint/2010/main" val="24276406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0AD665B-95C3-4399-9C37-9DABDB1E5A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0A6DC265-2495-45CB-94D5-2A0095D35D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1E49F97-8660-4B82-B92F-E281762879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D78CD36A-B7E4-4EBB-BD2C-7A89014F8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A89CF50-AAA0-498B-83B2-83B855385D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15890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DP1. Data Migration 결정 구조 -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결정 로직을 어디에 둘 것인가</a:t>
            </a:r>
          </a:p>
        </p:txBody>
      </p:sp>
      <p:sp>
        <p:nvSpPr>
          <p:cNvPr id="13" name="Rounded Rectangle 12"/>
          <p:cNvSpPr/>
          <p:nvPr/>
        </p:nvSpPr>
        <p:spPr>
          <a:xfrm>
            <a:off x="11146536"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Q4</a:t>
            </a:r>
          </a:p>
        </p:txBody>
      </p:sp>
      <p:sp>
        <p:nvSpPr>
          <p:cNvPr id="14" name="Rounded Rectangle 13"/>
          <p:cNvSpPr/>
          <p:nvPr/>
        </p:nvSpPr>
        <p:spPr>
          <a:xfrm>
            <a:off x="10396728"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Q3</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6" name="Rounded Rectangle 15"/>
          <p:cNvSpPr/>
          <p:nvPr/>
        </p:nvSpPr>
        <p:spPr>
          <a:xfrm>
            <a:off x="8897111"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Q1</a:t>
            </a:r>
          </a:p>
        </p:txBody>
      </p:sp>
      <p:sp>
        <p:nvSpPr>
          <p:cNvPr id="17" name="Rounded Rectangle 16"/>
          <p:cNvSpPr/>
          <p:nvPr/>
        </p:nvSpPr>
        <p:spPr>
          <a:xfrm>
            <a:off x="8147303"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F2</a:t>
            </a:r>
          </a:p>
        </p:txBody>
      </p:sp>
      <p:sp>
        <p:nvSpPr>
          <p:cNvPr id="18" name="Rounded Rectangle 17"/>
          <p:cNvSpPr/>
          <p:nvPr/>
        </p:nvSpPr>
        <p:spPr>
          <a:xfrm>
            <a:off x="7397495"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F1</a:t>
            </a:r>
          </a:p>
        </p:txBody>
      </p:sp>
      <p:sp>
        <p:nvSpPr>
          <p:cNvPr id="19" name="Rounded Rectangle 18"/>
          <p:cNvSpPr/>
          <p:nvPr/>
        </p:nvSpPr>
        <p:spPr>
          <a:xfrm>
            <a:off x="6647687"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C2</a:t>
            </a:r>
          </a:p>
        </p:txBody>
      </p:sp>
      <p:graphicFrame>
        <p:nvGraphicFramePr>
          <p:cNvPr id="20" name="Table 19"/>
          <p:cNvGraphicFramePr>
            <a:graphicFrameLocks noGrp="1"/>
          </p:cNvGraphicFramePr>
          <p:nvPr/>
        </p:nvGraphicFramePr>
        <p:xfrm>
          <a:off x="246888" y="1042415"/>
          <a:ext cx="11740896" cy="5166360"/>
        </p:xfrm>
        <a:graphic>
          <a:graphicData uri="http://schemas.openxmlformats.org/drawingml/2006/table">
            <a:tbl>
              <a:tblPr firstRow="0" bandRow="0">
                <a:tableStyleId>{2D5ABB26-0587-4C30-8999-92F81FD0307C}</a:tableStyleId>
              </a:tblPr>
              <a:tblGrid>
                <a:gridCol w="731520"/>
                <a:gridCol w="5504688"/>
                <a:gridCol w="5504688"/>
              </a:tblGrid>
              <a:tr h="502920">
                <a:tc>
                  <a:txBody>
                    <a:bodyPr wrap="square"/>
                    <a:lstStyle/>
                    <a:p>
                      <a:pPr algn="ctr">
                        <a:spcAft>
                          <a:spcPts val="100"/>
                        </a:spcAft>
                      </a:pPr>
                      <a:r>
                        <a:rPr sz="1100" b="0">
                          <a:solidFill>
                            <a:srgbClr val="7F7F7F"/>
                          </a:solidFill>
                          <a:latin typeface="맑은 고딕"/>
                          <a:ea typeface="맑은 고딕"/>
                          <a:cs typeface="맑은 고딕"/>
                        </a:rPr>
                        <a:t>설계 안</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100" b="1">
                          <a:solidFill>
                            <a:srgbClr val="7F7F7F"/>
                          </a:solidFill>
                          <a:latin typeface="맑은 고딕"/>
                          <a:ea typeface="맑은 고딕"/>
                          <a:cs typeface="맑은 고딕"/>
                        </a:rPr>
                        <a:t>(1안) 결정 로직을 상태 소유 측에 함께 둠 </a:t>
                      </a:r>
                      <a:r>
                        <a:rPr sz="1100" b="1">
                          <a:solidFill>
                            <a:srgbClr val="7F7F7F"/>
                          </a:solidFill>
                          <a:latin typeface="맑은 고딕"/>
                          <a:ea typeface="맑은 고딕"/>
                          <a:cs typeface="맑은 고딕"/>
                        </a:rPr>
                        <a:t>(Resource Manager 내장)</a:t>
                      </a:r>
                    </a:p>
                    <a:p>
                      <a:pPr algn="ctr">
                        <a:spcAft>
                          <a:spcPts val="100"/>
                        </a:spcAft>
                      </a:pPr>
                      <a:r>
                        <a:rPr sz="950" b="1">
                          <a:solidFill>
                            <a:srgbClr val="7F7F7F"/>
                          </a:solidFill>
                          <a:latin typeface="맑은 고딕"/>
                          <a:ea typeface="맑은 고딕"/>
                          <a:cs typeface="맑은 고딕"/>
                        </a:rPr>
                        <a:t>Control은 트리거·budget만, 판단은 상태 옆에서 로컬 호출</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100" b="1">
                          <a:solidFill>
                            <a:srgbClr val="7F7F7F"/>
                          </a:solidFill>
                          <a:latin typeface="맑은 고딕"/>
                          <a:ea typeface="맑은 고딕"/>
                          <a:cs typeface="맑은 고딕"/>
                        </a:rPr>
                        <a:t>(2안) 결정 로직을 Control에 분리 </a:t>
                      </a:r>
                      <a:r>
                        <a:rPr sz="1100" b="1">
                          <a:solidFill>
                            <a:srgbClr val="7F7F7F"/>
                          </a:solidFill>
                          <a:latin typeface="맑은 고딕"/>
                          <a:ea typeface="맑은 고딕"/>
                          <a:cs typeface="맑은 고딕"/>
                        </a:rPr>
                        <a:t>(상태와 판단 분리)</a:t>
                      </a:r>
                    </a:p>
                    <a:p>
                      <a:pPr algn="ctr">
                        <a:spcAft>
                          <a:spcPts val="100"/>
                        </a:spcAft>
                      </a:pPr>
                      <a:r>
                        <a:rPr sz="950" b="1">
                          <a:solidFill>
                            <a:srgbClr val="7F7F7F"/>
                          </a:solidFill>
                          <a:latin typeface="맑은 고딕"/>
                          <a:ea typeface="맑은 고딕"/>
                          <a:cs typeface="맑은 고딕"/>
                        </a:rPr>
                        <a:t>Resource Manager는 상태·관측만, Control이 snapshot을 조회해 판단</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2834640">
                <a:tc>
                  <a:txBody>
                    <a:bodyPr wrap="square"/>
                    <a:lstStyle/>
                    <a:p>
                      <a:pPr algn="ctr">
                        <a:spcAft>
                          <a:spcPts val="100"/>
                        </a:spcAft>
                      </a:pPr>
                      <a:r>
                        <a:rPr sz="1000" b="0">
                          <a:solidFill>
                            <a:srgbClr val="7F7F7F"/>
                          </a:solidFill>
                          <a:latin typeface="맑은 고딕"/>
                          <a:ea typeface="맑은 고딕"/>
                          <a:cs typeface="맑은 고딕"/>
                        </a:rPr>
                        <a:t>구조</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749808">
                <a:tc>
                  <a:txBody>
                    <a:bodyPr wrap="square"/>
                    <a:lstStyle/>
                    <a:p>
                      <a:pPr algn="ctr">
                        <a:spcAft>
                          <a:spcPts val="100"/>
                        </a:spcAft>
                      </a:pPr>
                      <a:r>
                        <a:rPr sz="1000" b="0">
                          <a:solidFill>
                            <a:srgbClr val="7F7F7F"/>
                          </a:solidFill>
                          <a:latin typeface="맑은 고딕"/>
                          <a:ea typeface="맑은 고딕"/>
                          <a:cs typeface="맑은 고딕"/>
                        </a:rPr>
                        <a:t>장점</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 상태가 항상 최신 → HBM 압박 대응 지연 최소, 오래된 정보로 인한 이동 거절 없음 (Q1·Q2)</a:t>
                      </a:r>
                    </a:p>
                    <a:p>
                      <a:pPr>
                        <a:spcAft>
                          <a:spcPts val="100"/>
                        </a:spcAft>
                      </a:pPr>
                      <a:r>
                        <a:rPr sz="1000" b="0">
                          <a:solidFill>
                            <a:srgbClr val="000000"/>
                          </a:solidFill>
                          <a:latin typeface="맑은 고딕"/>
                          <a:ea typeface="맑은 고딕"/>
                          <a:cs typeface="맑은 고딕"/>
                        </a:rPr>
                        <a:t>• Control↔Manager 간 query 인터페이스 불필요, 구성 단순</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 판단이 snapshot 위에서 돌아 상태 갱신·수집과 경합 없음 → event backlog·TPOT 간섭 격리, 판단 스레드를 서빙 코어와 분리 배치 가능 (Q1)</a:t>
                      </a:r>
                    </a:p>
                    <a:p>
                      <a:pPr>
                        <a:spcAft>
                          <a:spcPts val="100"/>
                        </a:spcAft>
                      </a:pPr>
                      <a:r>
                        <a:rPr sz="1000" b="0">
                          <a:solidFill>
                            <a:srgbClr val="000000"/>
                          </a:solidFill>
                          <a:latin typeface="맑은 고딕"/>
                          <a:ea typeface="맑은 고딕"/>
                          <a:cs typeface="맑은 고딕"/>
                        </a:rPr>
                        <a:t>• 정책 교체·추가가 Control에 국소화, 상태 서비스는 불변 (Q3)</a:t>
                      </a:r>
                    </a:p>
                    <a:p>
                      <a:pPr>
                        <a:spcAft>
                          <a:spcPts val="100"/>
                        </a:spcAft>
                      </a:pPr>
                      <a:r>
                        <a:rPr sz="1000" b="0">
                          <a:solidFill>
                            <a:srgbClr val="000000"/>
                          </a:solidFill>
                          <a:latin typeface="맑은 고딕"/>
                          <a:ea typeface="맑은 고딕"/>
                          <a:cs typeface="맑은 고딕"/>
                        </a:rPr>
                        <a:t>• 판단과 상태를 따로 확장·교체 가능 (Q4)</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gn="ctr">
                        <a:spcAft>
                          <a:spcPts val="100"/>
                        </a:spcAft>
                      </a:pPr>
                      <a:r>
                        <a:rPr sz="1000" b="0">
                          <a:solidFill>
                            <a:srgbClr val="7F7F7F"/>
                          </a:solidFill>
                          <a:latin typeface="맑은 고딕"/>
                          <a:ea typeface="맑은 고딕"/>
                          <a:cs typeface="맑은 고딕"/>
                        </a:rPr>
                        <a:t>단점</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FF0000"/>
                          </a:solidFill>
                          <a:latin typeface="맑은 고딕"/>
                          <a:ea typeface="맑은 고딕"/>
                          <a:cs typeface="맑은 고딕"/>
                        </a:rPr>
                        <a:t>• 정책 변경이 상태 서비스 수정으로 이어져 변경 영향 큼 (Q3)</a:t>
                      </a:r>
                    </a:p>
                    <a:p>
                      <a:pPr>
                        <a:spcAft>
                          <a:spcPts val="100"/>
                        </a:spcAft>
                      </a:pPr>
                      <a:r>
                        <a:rPr sz="1000" b="0">
                          <a:solidFill>
                            <a:srgbClr val="FF0000"/>
                          </a:solidFill>
                          <a:latin typeface="맑은 고딕"/>
                          <a:ea typeface="맑은 고딕"/>
                          <a:cs typeface="맑은 고딕"/>
                        </a:rPr>
                        <a:t>• 상태 저장과 판단이 한 서비스에 결합 → 판단 중 상태 갱신이 막혀 event 지연 (Q1), tier·object 증가 시 단일 병목 (Q4)</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FF0000"/>
                          </a:solidFill>
                          <a:latin typeface="맑은 고딕"/>
                          <a:ea typeface="맑은 고딕"/>
                          <a:cs typeface="맑은 고딕"/>
                        </a:rPr>
                        <a:t>• snapshot age만큼 stale → HBM 확보 지연, stale 판단의 이동 거절·재시도 (Q1·Q2)</a:t>
                      </a:r>
                    </a:p>
                    <a:p>
                      <a:pPr>
                        <a:spcAft>
                          <a:spcPts val="100"/>
                        </a:spcAft>
                      </a:pPr>
                      <a:r>
                        <a:rPr sz="1000" b="0">
                          <a:solidFill>
                            <a:srgbClr val="FF0000"/>
                          </a:solidFill>
                          <a:latin typeface="맑은 고딕"/>
                          <a:ea typeface="맑은 고딕"/>
                          <a:cs typeface="맑은 고딕"/>
                        </a:rPr>
                        <a:t>• snapshot 생성 비용(object 수 비례), query 스키마 유지 비용</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30352">
                <a:tc>
                  <a:txBody>
                    <a:bodyPr wrap="square"/>
                    <a:lstStyle/>
                    <a:p>
                      <a:pPr algn="ctr">
                        <a:spcAft>
                          <a:spcPts val="100"/>
                        </a:spcAft>
                      </a:pPr>
                      <a:r>
                        <a:rPr sz="1000" b="0">
                          <a:solidFill>
                            <a:srgbClr val="7F7F7F"/>
                          </a:solidFill>
                          <a:latin typeface="맑은 고딕"/>
                          <a:ea typeface="맑은 고딕"/>
                          <a:cs typeface="맑은 고딕"/>
                        </a:rPr>
                        <a:t>Tradeoff</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Q1 압박 대응 지연: 최소 · 판단 중 갱신 경합  ·  Q2 stale: 거의 없음</a:t>
                      </a:r>
                    </a:p>
                    <a:p>
                      <a:pPr>
                        <a:spcAft>
                          <a:spcPts val="100"/>
                        </a:spcAft>
                      </a:pPr>
                      <a:r>
                        <a:rPr sz="900" b="0">
                          <a:solidFill>
                            <a:srgbClr val="000000"/>
                          </a:solidFill>
                          <a:latin typeface="맑은 고딕"/>
                          <a:ea typeface="맑은 고딕"/>
                          <a:cs typeface="맑은 고딕"/>
                        </a:rPr>
                        <a:t>Q3 정책 변경 시 수정 모듈: 많음  ·  Q4 단일 서비스 병목 가능</a:t>
                      </a:r>
                    </a:p>
                    <a:p>
                      <a:pPr>
                        <a:spcAft>
                          <a:spcPts val="100"/>
                        </a:spcAft>
                      </a:pPr>
                      <a:r>
                        <a:rPr sz="850" b="0">
                          <a:solidFill>
                            <a:srgbClr val="7F7F7F"/>
                          </a:solidFill>
                          <a:latin typeface="맑은 고딕"/>
                          <a:ea typeface="맑은 고딕"/>
                          <a:cs typeface="맑은 고딕"/>
                        </a:rPr>
                        <a:t>※ 모두 평가 전 가설. 별점·총점은 임계값 통합 후 부여</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Q1 갱신 경합 없음 · snapshot age만큼 대응 지연  ·  Q2 stale: snapshot age만큼</a:t>
                      </a:r>
                    </a:p>
                    <a:p>
                      <a:pPr>
                        <a:spcAft>
                          <a:spcPts val="100"/>
                        </a:spcAft>
                      </a:pPr>
                      <a:r>
                        <a:rPr sz="900" b="0">
                          <a:solidFill>
                            <a:srgbClr val="000000"/>
                          </a:solidFill>
                          <a:latin typeface="맑은 고딕"/>
                          <a:ea typeface="맑은 고딕"/>
                          <a:cs typeface="맑은 고딕"/>
                        </a:rPr>
                        <a:t>Q3 정책 변경 시 수정 모듈: Control에 국소화  ·  Q4 분리 확장 가능</a:t>
                      </a:r>
                    </a:p>
                    <a:p>
                      <a:pPr>
                        <a:spcAft>
                          <a:spcPts val="100"/>
                        </a:spcAft>
                      </a:pPr>
                      <a:r>
                        <a:rPr sz="850" b="0">
                          <a:solidFill>
                            <a:srgbClr val="7F7F7F"/>
                          </a:solidFill>
                          <a:latin typeface="맑은 고딕"/>
                          <a:ea typeface="맑은 고딕"/>
                          <a:cs typeface="맑은 고딕"/>
                        </a:rPr>
                        <a:t>※ 모두 평가 전 가설. 별점·총점은 임계값 통합 후 부여</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21" name="Rectangle 20"/>
          <p:cNvSpPr/>
          <p:nvPr/>
        </p:nvSpPr>
        <p:spPr>
          <a:xfrm>
            <a:off x="1069848" y="1563624"/>
            <a:ext cx="5303520" cy="64008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69848" y="1563624"/>
            <a:ext cx="5303520" cy="219456"/>
          </a:xfrm>
          <a:prstGeom prst="rect">
            <a:avLst/>
          </a:prstGeom>
          <a:solidFill>
            <a:srgbClr val="2E75B6"/>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Control Plane  (Trigger · Budget)</a:t>
            </a:r>
          </a:p>
        </p:txBody>
      </p:sp>
      <p:sp>
        <p:nvSpPr>
          <p:cNvPr id="23" name="Rectangle 22"/>
          <p:cNvSpPr/>
          <p:nvPr/>
        </p:nvSpPr>
        <p:spPr>
          <a:xfrm>
            <a:off x="2578608" y="1828800"/>
            <a:ext cx="1097280" cy="347472"/>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Migration
Scheduler</a:t>
            </a:r>
          </a:p>
        </p:txBody>
      </p:sp>
      <p:sp>
        <p:nvSpPr>
          <p:cNvPr id="24" name="TextBox 23"/>
          <p:cNvSpPr txBox="1"/>
          <p:nvPr/>
        </p:nvSpPr>
        <p:spPr>
          <a:xfrm>
            <a:off x="3995928" y="1837943"/>
            <a:ext cx="2331720" cy="347472"/>
          </a:xfrm>
          <a:prstGeom prst="rect">
            <a:avLst/>
          </a:prstGeom>
          <a:noFill/>
        </p:spPr>
        <p:txBody>
          <a:bodyPr wrap="square" anchor="t" lIns="45720" rIns="45720" tIns="27432" bIns="27432">
            <a:spAutoFit/>
          </a:bodyPr>
          <a:lstStyle/>
          <a:p>
            <a:pPr algn="l">
              <a:spcAft>
                <a:spcPts val="200"/>
              </a:spcAft>
            </a:pPr>
            <a:r>
              <a:rPr sz="800" b="0">
                <a:solidFill>
                  <a:srgbClr val="7F7F7F"/>
                </a:solidFill>
                <a:latin typeface="맑은 고딕"/>
                <a:ea typeface="맑은 고딕"/>
                <a:cs typeface="맑은 고딕"/>
              </a:rPr>
              <a:t>결정 로직 없음: 트리거 · 우선순위 · budget만</a:t>
            </a:r>
          </a:p>
        </p:txBody>
      </p:sp>
      <p:sp>
        <p:nvSpPr>
          <p:cNvPr id="25" name="Rectangle 24"/>
          <p:cNvSpPr/>
          <p:nvPr/>
        </p:nvSpPr>
        <p:spPr>
          <a:xfrm>
            <a:off x="1069848" y="2258568"/>
            <a:ext cx="5303520" cy="1207008"/>
          </a:xfrm>
          <a:prstGeom prst="rect">
            <a:avLst/>
          </a:prstGeom>
          <a:solidFill>
            <a:srgbClr val="F0F1F3"/>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69848" y="2258568"/>
            <a:ext cx="5303520" cy="219456"/>
          </a:xfrm>
          <a:prstGeom prst="rect">
            <a:avLst/>
          </a:prstGeom>
          <a:solidFill>
            <a:srgbClr val="595959"/>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Resource Manager  (상태 + 결정)</a:t>
            </a:r>
          </a:p>
        </p:txBody>
      </p:sp>
      <p:sp>
        <p:nvSpPr>
          <p:cNvPr id="27" name="Rectangle 26"/>
          <p:cNvSpPr/>
          <p:nvPr/>
        </p:nvSpPr>
        <p:spPr>
          <a:xfrm>
            <a:off x="2578608" y="2532888"/>
            <a:ext cx="1097280" cy="384048"/>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Trend
Analyzer</a:t>
            </a:r>
          </a:p>
        </p:txBody>
      </p:sp>
      <p:sp>
        <p:nvSpPr>
          <p:cNvPr id="28" name="Rectangle 27"/>
          <p:cNvSpPr/>
          <p:nvPr/>
        </p:nvSpPr>
        <p:spPr>
          <a:xfrm>
            <a:off x="3858768" y="2532888"/>
            <a:ext cx="1097280" cy="384048"/>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Affinity
Mapper</a:t>
            </a:r>
          </a:p>
        </p:txBody>
      </p:sp>
      <p:sp>
        <p:nvSpPr>
          <p:cNvPr id="29" name="Rectangle 28"/>
          <p:cNvSpPr/>
          <p:nvPr/>
        </p:nvSpPr>
        <p:spPr>
          <a:xfrm>
            <a:off x="5138928" y="2532888"/>
            <a:ext cx="1097280" cy="384048"/>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Policy
Engine</a:t>
            </a:r>
          </a:p>
        </p:txBody>
      </p:sp>
      <p:sp>
        <p:nvSpPr>
          <p:cNvPr id="30" name="Rectangle 29"/>
          <p:cNvSpPr/>
          <p:nvPr/>
        </p:nvSpPr>
        <p:spPr>
          <a:xfrm>
            <a:off x="1298448" y="3099815"/>
            <a:ext cx="1097280" cy="310896"/>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Telemetry
Collector</a:t>
            </a:r>
          </a:p>
        </p:txBody>
      </p:sp>
      <p:sp>
        <p:nvSpPr>
          <p:cNvPr id="31" name="Rectangle 30"/>
          <p:cNvSpPr/>
          <p:nvPr/>
        </p:nvSpPr>
        <p:spPr>
          <a:xfrm>
            <a:off x="2578608" y="3099815"/>
            <a:ext cx="1097280" cy="310896"/>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State
Monitor</a:t>
            </a:r>
          </a:p>
        </p:txBody>
      </p:sp>
      <p:sp>
        <p:nvSpPr>
          <p:cNvPr id="32" name="Rectangle 31"/>
          <p:cNvSpPr/>
          <p:nvPr/>
        </p:nvSpPr>
        <p:spPr>
          <a:xfrm>
            <a:off x="3858768" y="3099815"/>
            <a:ext cx="1097280" cy="310896"/>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Memory·Data
Object Registry</a:t>
            </a:r>
          </a:p>
        </p:txBody>
      </p:sp>
      <p:cxnSp>
        <p:nvCxnSpPr>
          <p:cNvPr id="33" name="Connector 32"/>
          <p:cNvCxnSpPr/>
          <p:nvPr/>
        </p:nvCxnSpPr>
        <p:spPr>
          <a:xfrm>
            <a:off x="2395728" y="3255263"/>
            <a:ext cx="182880" cy="0"/>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675887" y="2724912"/>
            <a:ext cx="182881" cy="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956048" y="2724912"/>
            <a:ext cx="182880" cy="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127248" y="2203704"/>
            <a:ext cx="0" cy="329184"/>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127248" y="2916936"/>
            <a:ext cx="0" cy="182879"/>
          </a:xfrm>
          <a:prstGeom prst="line">
            <a:avLst/>
          </a:prstGeom>
          <a:ln w="12700">
            <a:solidFill>
              <a:srgbClr val="7F7F7F"/>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407408" y="2916936"/>
            <a:ext cx="0" cy="182879"/>
          </a:xfrm>
          <a:prstGeom prst="line">
            <a:avLst/>
          </a:prstGeom>
          <a:ln w="12700">
            <a:solidFill>
              <a:srgbClr val="7F7F7F"/>
            </a:solidFill>
            <a:tailEnd type="triangle"/>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3721608" y="1911095"/>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1</a:t>
            </a:r>
          </a:p>
        </p:txBody>
      </p:sp>
      <p:sp>
        <p:nvSpPr>
          <p:cNvPr id="40" name="Oval 39"/>
          <p:cNvSpPr/>
          <p:nvPr/>
        </p:nvSpPr>
        <p:spPr>
          <a:xfrm>
            <a:off x="3182112" y="2907791"/>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2</a:t>
            </a:r>
          </a:p>
        </p:txBody>
      </p:sp>
      <p:sp>
        <p:nvSpPr>
          <p:cNvPr id="41" name="Oval 40"/>
          <p:cNvSpPr/>
          <p:nvPr/>
        </p:nvSpPr>
        <p:spPr>
          <a:xfrm>
            <a:off x="3675887" y="2514600"/>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3</a:t>
            </a:r>
          </a:p>
        </p:txBody>
      </p:sp>
      <p:sp>
        <p:nvSpPr>
          <p:cNvPr id="42" name="Oval 41"/>
          <p:cNvSpPr/>
          <p:nvPr/>
        </p:nvSpPr>
        <p:spPr>
          <a:xfrm>
            <a:off x="5742432" y="3118104"/>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4</a:t>
            </a:r>
          </a:p>
        </p:txBody>
      </p:sp>
      <p:sp>
        <p:nvSpPr>
          <p:cNvPr id="43" name="Oval 42"/>
          <p:cNvSpPr/>
          <p:nvPr/>
        </p:nvSpPr>
        <p:spPr>
          <a:xfrm>
            <a:off x="4462272" y="3392424"/>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5</a:t>
            </a:r>
          </a:p>
        </p:txBody>
      </p:sp>
      <p:sp>
        <p:nvSpPr>
          <p:cNvPr id="44" name="Rectangle 43"/>
          <p:cNvSpPr/>
          <p:nvPr/>
        </p:nvSpPr>
        <p:spPr>
          <a:xfrm>
            <a:off x="1069848" y="3529584"/>
            <a:ext cx="5303520" cy="566928"/>
          </a:xfrm>
          <a:prstGeom prst="rect">
            <a:avLst/>
          </a:prstGeom>
          <a:solidFill>
            <a:srgbClr val="E2F0D9"/>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69848" y="3529584"/>
            <a:ext cx="5303520" cy="219456"/>
          </a:xfrm>
          <a:prstGeom prst="rect">
            <a:avLst/>
          </a:prstGeom>
          <a:solidFill>
            <a:srgbClr val="548235"/>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Data Plane  (Mechanism · 실행)</a:t>
            </a:r>
          </a:p>
        </p:txBody>
      </p:sp>
      <p:sp>
        <p:nvSpPr>
          <p:cNvPr id="46" name="Rectangle 45"/>
          <p:cNvSpPr/>
          <p:nvPr/>
        </p:nvSpPr>
        <p:spPr>
          <a:xfrm>
            <a:off x="2578608" y="3785616"/>
            <a:ext cx="1463040" cy="256032"/>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Transfer Handler</a:t>
            </a:r>
          </a:p>
        </p:txBody>
      </p:sp>
      <p:sp>
        <p:nvSpPr>
          <p:cNvPr id="47" name="Rectangle 46"/>
          <p:cNvSpPr/>
          <p:nvPr/>
        </p:nvSpPr>
        <p:spPr>
          <a:xfrm>
            <a:off x="4224528" y="3785616"/>
            <a:ext cx="2011680" cy="256032"/>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Migration Executor</a:t>
            </a:r>
          </a:p>
        </p:txBody>
      </p:sp>
      <p:cxnSp>
        <p:nvCxnSpPr>
          <p:cNvPr id="48" name="Connector 47"/>
          <p:cNvCxnSpPr/>
          <p:nvPr/>
        </p:nvCxnSpPr>
        <p:spPr>
          <a:xfrm flipH="1">
            <a:off x="4041648" y="3986783"/>
            <a:ext cx="182880" cy="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4041648" y="3776472"/>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6</a:t>
            </a:r>
          </a:p>
        </p:txBody>
      </p:sp>
      <p:sp>
        <p:nvSpPr>
          <p:cNvPr id="50" name="Rectangle 49"/>
          <p:cNvSpPr/>
          <p:nvPr/>
        </p:nvSpPr>
        <p:spPr>
          <a:xfrm>
            <a:off x="1069848" y="4123944"/>
            <a:ext cx="5303520" cy="219456"/>
          </a:xfrm>
          <a:prstGeom prst="rect">
            <a:avLst/>
          </a:prstGeom>
          <a:solidFill>
            <a:srgbClr val="595959"/>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750" b="1">
                <a:solidFill>
                  <a:srgbClr val="FFFFFF"/>
                </a:solidFill>
                <a:latin typeface="맑은 고딕"/>
                <a:ea typeface="맑은 고딕"/>
                <a:cs typeface="맑은 고딕"/>
              </a:rPr>
              <a:t>Common Memory Backend Interface  (공통 하부 계층, Device SW I/F)</a:t>
            </a:r>
          </a:p>
        </p:txBody>
      </p:sp>
      <p:cxnSp>
        <p:nvCxnSpPr>
          <p:cNvPr id="51" name="Connector 50"/>
          <p:cNvCxnSpPr/>
          <p:nvPr/>
        </p:nvCxnSpPr>
        <p:spPr>
          <a:xfrm>
            <a:off x="3310128" y="4041648"/>
            <a:ext cx="0" cy="82296"/>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687568" y="2916936"/>
            <a:ext cx="0" cy="868680"/>
          </a:xfrm>
          <a:prstGeom prst="line">
            <a:avLst/>
          </a:prstGeom>
          <a:ln w="19050">
            <a:solidFill>
              <a:srgbClr val="C55A1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407408" y="3410712"/>
            <a:ext cx="0" cy="374904"/>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574536" y="1563624"/>
            <a:ext cx="5303520" cy="804672"/>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574536" y="1563624"/>
            <a:ext cx="5303520" cy="219456"/>
          </a:xfrm>
          <a:prstGeom prst="rect">
            <a:avLst/>
          </a:prstGeom>
          <a:solidFill>
            <a:srgbClr val="2E75B6"/>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Control Plane  (Policy · 결정)</a:t>
            </a:r>
          </a:p>
        </p:txBody>
      </p:sp>
      <p:sp>
        <p:nvSpPr>
          <p:cNvPr id="56" name="Rectangle 55"/>
          <p:cNvSpPr/>
          <p:nvPr/>
        </p:nvSpPr>
        <p:spPr>
          <a:xfrm>
            <a:off x="6803136" y="1874519"/>
            <a:ext cx="1097280" cy="384048"/>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Migration
Scheduler</a:t>
            </a:r>
          </a:p>
        </p:txBody>
      </p:sp>
      <p:sp>
        <p:nvSpPr>
          <p:cNvPr id="57" name="Rectangle 56"/>
          <p:cNvSpPr/>
          <p:nvPr/>
        </p:nvSpPr>
        <p:spPr>
          <a:xfrm>
            <a:off x="8083296" y="1874519"/>
            <a:ext cx="1097280" cy="384048"/>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Trend
Analyzer</a:t>
            </a:r>
          </a:p>
        </p:txBody>
      </p:sp>
      <p:sp>
        <p:nvSpPr>
          <p:cNvPr id="58" name="Rectangle 57"/>
          <p:cNvSpPr/>
          <p:nvPr/>
        </p:nvSpPr>
        <p:spPr>
          <a:xfrm>
            <a:off x="9363456" y="1874519"/>
            <a:ext cx="1097280" cy="384048"/>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Affinity
Mapper</a:t>
            </a:r>
          </a:p>
        </p:txBody>
      </p:sp>
      <p:sp>
        <p:nvSpPr>
          <p:cNvPr id="59" name="Rectangle 58"/>
          <p:cNvSpPr/>
          <p:nvPr/>
        </p:nvSpPr>
        <p:spPr>
          <a:xfrm>
            <a:off x="10643616" y="1874519"/>
            <a:ext cx="1097280" cy="384048"/>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Policy
Engine</a:t>
            </a:r>
          </a:p>
        </p:txBody>
      </p:sp>
      <p:cxnSp>
        <p:nvCxnSpPr>
          <p:cNvPr id="60" name="Connector 59"/>
          <p:cNvCxnSpPr/>
          <p:nvPr/>
        </p:nvCxnSpPr>
        <p:spPr>
          <a:xfrm>
            <a:off x="7900415" y="2066543"/>
            <a:ext cx="182881" cy="0"/>
          </a:xfrm>
          <a:prstGeom prst="line">
            <a:avLst/>
          </a:prstGeom>
          <a:ln w="12700">
            <a:solidFill>
              <a:srgbClr val="595959"/>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180576" y="2066543"/>
            <a:ext cx="182880" cy="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460736" y="2066543"/>
            <a:ext cx="182880" cy="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7900416" y="1837943"/>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1</a:t>
            </a:r>
          </a:p>
        </p:txBody>
      </p:sp>
      <p:sp>
        <p:nvSpPr>
          <p:cNvPr id="64" name="Oval 63"/>
          <p:cNvSpPr/>
          <p:nvPr/>
        </p:nvSpPr>
        <p:spPr>
          <a:xfrm>
            <a:off x="9180576" y="1837943"/>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3</a:t>
            </a:r>
          </a:p>
        </p:txBody>
      </p:sp>
      <p:sp>
        <p:nvSpPr>
          <p:cNvPr id="65" name="Rectangle 64"/>
          <p:cNvSpPr/>
          <p:nvPr/>
        </p:nvSpPr>
        <p:spPr>
          <a:xfrm>
            <a:off x="6574536" y="2642615"/>
            <a:ext cx="5303520" cy="749808"/>
          </a:xfrm>
          <a:prstGeom prst="rect">
            <a:avLst/>
          </a:prstGeom>
          <a:solidFill>
            <a:srgbClr val="F0F1F3"/>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574536" y="2642615"/>
            <a:ext cx="5303520" cy="219456"/>
          </a:xfrm>
          <a:prstGeom prst="rect">
            <a:avLst/>
          </a:prstGeom>
          <a:solidFill>
            <a:srgbClr val="595959"/>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Resource Manager  (상태·관측)</a:t>
            </a:r>
          </a:p>
        </p:txBody>
      </p:sp>
      <p:sp>
        <p:nvSpPr>
          <p:cNvPr id="67" name="Rectangle 66"/>
          <p:cNvSpPr/>
          <p:nvPr/>
        </p:nvSpPr>
        <p:spPr>
          <a:xfrm>
            <a:off x="6803136" y="2935224"/>
            <a:ext cx="1097280" cy="310896"/>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Telemetry
Collector</a:t>
            </a:r>
          </a:p>
        </p:txBody>
      </p:sp>
      <p:sp>
        <p:nvSpPr>
          <p:cNvPr id="68" name="Rectangle 67"/>
          <p:cNvSpPr/>
          <p:nvPr/>
        </p:nvSpPr>
        <p:spPr>
          <a:xfrm>
            <a:off x="8083296" y="2935224"/>
            <a:ext cx="1097280" cy="310896"/>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State
Monitor</a:t>
            </a:r>
          </a:p>
        </p:txBody>
      </p:sp>
      <p:sp>
        <p:nvSpPr>
          <p:cNvPr id="69" name="Rectangle 68"/>
          <p:cNvSpPr/>
          <p:nvPr/>
        </p:nvSpPr>
        <p:spPr>
          <a:xfrm>
            <a:off x="9363456" y="2935224"/>
            <a:ext cx="1097280" cy="310896"/>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Memory·Data
Object Registry</a:t>
            </a:r>
          </a:p>
        </p:txBody>
      </p:sp>
      <p:cxnSp>
        <p:nvCxnSpPr>
          <p:cNvPr id="70" name="Connector 69"/>
          <p:cNvCxnSpPr/>
          <p:nvPr/>
        </p:nvCxnSpPr>
        <p:spPr>
          <a:xfrm>
            <a:off x="7900415" y="3090672"/>
            <a:ext cx="182881" cy="0"/>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8631936" y="2258568"/>
            <a:ext cx="0" cy="676656"/>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912096" y="2258568"/>
            <a:ext cx="0" cy="676656"/>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8723376" y="2386584"/>
            <a:ext cx="1097280" cy="201168"/>
          </a:xfrm>
          <a:prstGeom prst="rect">
            <a:avLst/>
          </a:prstGeom>
          <a:noFill/>
        </p:spPr>
        <p:txBody>
          <a:bodyPr wrap="square" anchor="t" lIns="45720" rIns="45720" tIns="27432" bIns="27432">
            <a:spAutoFit/>
          </a:bodyPr>
          <a:lstStyle/>
          <a:p>
            <a:pPr algn="l">
              <a:spcAft>
                <a:spcPts val="200"/>
              </a:spcAft>
            </a:pPr>
            <a:r>
              <a:rPr sz="700" b="0">
                <a:solidFill>
                  <a:srgbClr val="7F7F7F"/>
                </a:solidFill>
                <a:latin typeface="맑은 고딕"/>
                <a:ea typeface="맑은 고딕"/>
                <a:cs typeface="맑은 고딕"/>
              </a:rPr>
              <a:t>snapshot query</a:t>
            </a:r>
          </a:p>
        </p:txBody>
      </p:sp>
      <p:sp>
        <p:nvSpPr>
          <p:cNvPr id="74" name="Oval 73"/>
          <p:cNvSpPr/>
          <p:nvPr/>
        </p:nvSpPr>
        <p:spPr>
          <a:xfrm>
            <a:off x="8686800" y="2478024"/>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2</a:t>
            </a:r>
          </a:p>
        </p:txBody>
      </p:sp>
      <p:sp>
        <p:nvSpPr>
          <p:cNvPr id="75" name="Oval 74"/>
          <p:cNvSpPr/>
          <p:nvPr/>
        </p:nvSpPr>
        <p:spPr>
          <a:xfrm>
            <a:off x="11247120" y="2478024"/>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4</a:t>
            </a:r>
          </a:p>
        </p:txBody>
      </p:sp>
      <p:sp>
        <p:nvSpPr>
          <p:cNvPr id="76" name="Oval 75"/>
          <p:cNvSpPr/>
          <p:nvPr/>
        </p:nvSpPr>
        <p:spPr>
          <a:xfrm>
            <a:off x="9966959" y="3392424"/>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5</a:t>
            </a:r>
          </a:p>
        </p:txBody>
      </p:sp>
      <p:sp>
        <p:nvSpPr>
          <p:cNvPr id="77" name="Rectangle 76"/>
          <p:cNvSpPr/>
          <p:nvPr/>
        </p:nvSpPr>
        <p:spPr>
          <a:xfrm>
            <a:off x="6574536" y="3529584"/>
            <a:ext cx="5303520" cy="566928"/>
          </a:xfrm>
          <a:prstGeom prst="rect">
            <a:avLst/>
          </a:prstGeom>
          <a:solidFill>
            <a:srgbClr val="E2F0D9"/>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574536" y="3529584"/>
            <a:ext cx="5303520" cy="219456"/>
          </a:xfrm>
          <a:prstGeom prst="rect">
            <a:avLst/>
          </a:prstGeom>
          <a:solidFill>
            <a:srgbClr val="548235"/>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Data Plane  (Mechanism · 실행)</a:t>
            </a:r>
          </a:p>
        </p:txBody>
      </p:sp>
      <p:sp>
        <p:nvSpPr>
          <p:cNvPr id="79" name="Rectangle 78"/>
          <p:cNvSpPr/>
          <p:nvPr/>
        </p:nvSpPr>
        <p:spPr>
          <a:xfrm>
            <a:off x="8083296" y="3785616"/>
            <a:ext cx="1463040" cy="256032"/>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Transfer Handler</a:t>
            </a:r>
          </a:p>
        </p:txBody>
      </p:sp>
      <p:sp>
        <p:nvSpPr>
          <p:cNvPr id="80" name="Rectangle 79"/>
          <p:cNvSpPr/>
          <p:nvPr/>
        </p:nvSpPr>
        <p:spPr>
          <a:xfrm>
            <a:off x="9729216" y="3785616"/>
            <a:ext cx="2011680" cy="256032"/>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Migration Executor</a:t>
            </a:r>
          </a:p>
        </p:txBody>
      </p:sp>
      <p:cxnSp>
        <p:nvCxnSpPr>
          <p:cNvPr id="81" name="Connector 80"/>
          <p:cNvCxnSpPr/>
          <p:nvPr/>
        </p:nvCxnSpPr>
        <p:spPr>
          <a:xfrm flipH="1">
            <a:off x="9546336" y="3986783"/>
            <a:ext cx="182880" cy="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82" name="Oval 81"/>
          <p:cNvSpPr/>
          <p:nvPr/>
        </p:nvSpPr>
        <p:spPr>
          <a:xfrm>
            <a:off x="9546336" y="3776472"/>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6</a:t>
            </a:r>
          </a:p>
        </p:txBody>
      </p:sp>
      <p:sp>
        <p:nvSpPr>
          <p:cNvPr id="83" name="Rectangle 82"/>
          <p:cNvSpPr/>
          <p:nvPr/>
        </p:nvSpPr>
        <p:spPr>
          <a:xfrm>
            <a:off x="6574536" y="4123944"/>
            <a:ext cx="5303520" cy="219456"/>
          </a:xfrm>
          <a:prstGeom prst="rect">
            <a:avLst/>
          </a:prstGeom>
          <a:solidFill>
            <a:srgbClr val="595959"/>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750" b="1">
                <a:solidFill>
                  <a:srgbClr val="FFFFFF"/>
                </a:solidFill>
                <a:latin typeface="맑은 고딕"/>
                <a:ea typeface="맑은 고딕"/>
                <a:cs typeface="맑은 고딕"/>
              </a:rPr>
              <a:t>Common Memory Backend Interface  (공통 하부 계층, Device SW I/F)</a:t>
            </a:r>
          </a:p>
        </p:txBody>
      </p:sp>
      <p:cxnSp>
        <p:nvCxnSpPr>
          <p:cNvPr id="84" name="Connector 83"/>
          <p:cNvCxnSpPr/>
          <p:nvPr/>
        </p:nvCxnSpPr>
        <p:spPr>
          <a:xfrm>
            <a:off x="8814816" y="4041648"/>
            <a:ext cx="0" cy="82296"/>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1192255" y="2258568"/>
            <a:ext cx="0" cy="1527048"/>
          </a:xfrm>
          <a:prstGeom prst="line">
            <a:avLst/>
          </a:prstGeom>
          <a:ln w="19050">
            <a:solidFill>
              <a:srgbClr val="C55A11"/>
            </a:solidFill>
            <a:tailEnd type="triangle"/>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9912096" y="3246120"/>
            <a:ext cx="0" cy="539496"/>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84048" y="6217920"/>
            <a:ext cx="11430000" cy="310896"/>
          </a:xfrm>
          <a:prstGeom prst="rect">
            <a:avLst/>
          </a:prstGeom>
          <a:noFill/>
        </p:spPr>
        <p:txBody>
          <a:bodyPr wrap="square" anchor="t" lIns="45720" rIns="45720" tIns="27432" bIns="27432">
            <a:spAutoFit/>
          </a:bodyPr>
          <a:lstStyle/>
          <a:p>
            <a:pPr algn="l">
              <a:spcAft>
                <a:spcPts val="0"/>
              </a:spcAft>
            </a:pPr>
            <a:r>
              <a:rPr sz="750" b="0">
                <a:solidFill>
                  <a:srgbClr val="595959"/>
                </a:solidFill>
                <a:latin typeface="맑은 고딕"/>
                <a:ea typeface="맑은 고딕"/>
                <a:cs typeface="맑은 고딕"/>
              </a:rPr>
              <a:t>① 평가 cycle 시작  ② 상태 조회(1안 로컬 호출 / 2안 snapshot query)  ③ 판단(Analyzer → Mapper → Policy)  ④ MigrationIntent 발행  ⑤ commit 결과 갱신  ⑥ 이동 실행</a:t>
            </a:r>
          </a:p>
          <a:p>
            <a:pPr algn="l">
              <a:spcAft>
                <a:spcPts val="0"/>
              </a:spcAft>
            </a:pPr>
            <a:r>
              <a:rPr sz="750" b="0">
                <a:solidFill>
                  <a:srgbClr val="595959"/>
                </a:solidFill>
                <a:latin typeface="맑은 고딕"/>
                <a:ea typeface="맑은 고딕"/>
                <a:cs typeface="맑은 고딕"/>
              </a:rPr>
              <a:t>노랑 = 결정 로직 모듈(소속이 두 안을 가름) · 점선 = 비동기/조회 · 신호(자원 상태/data 행동)는 정책 플러그인으로 공통 | C2 신규 Device SW · F1 tier 간 복사 · F2 이동 스케줄링 · Q1 Throughput · Q2 HBM 점유율 · Q3 변경용이성 · Q4 확장성</a:t>
            </a:r>
          </a:p>
        </p:txBody>
      </p:sp>
      <p:sp>
        <p:nvSpPr>
          <p:cNvPr id="88" name="TextBox 87"/>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DP1. Data Migration 결정 구조 -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모듈 소속 비교와 비교 원칙</a:t>
            </a:r>
          </a:p>
        </p:txBody>
      </p:sp>
      <p:sp>
        <p:nvSpPr>
          <p:cNvPr id="13" name="Rounded Rectangle 12"/>
          <p:cNvSpPr/>
          <p:nvPr/>
        </p:nvSpPr>
        <p:spPr>
          <a:xfrm>
            <a:off x="11146536"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Q4</a:t>
            </a:r>
          </a:p>
        </p:txBody>
      </p:sp>
      <p:sp>
        <p:nvSpPr>
          <p:cNvPr id="14" name="Rounded Rectangle 13"/>
          <p:cNvSpPr/>
          <p:nvPr/>
        </p:nvSpPr>
        <p:spPr>
          <a:xfrm>
            <a:off x="10396728"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Q3</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6" name="Rounded Rectangle 15"/>
          <p:cNvSpPr/>
          <p:nvPr/>
        </p:nvSpPr>
        <p:spPr>
          <a:xfrm>
            <a:off x="8897111"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Q1</a:t>
            </a:r>
          </a:p>
        </p:txBody>
      </p:sp>
      <p:sp>
        <p:nvSpPr>
          <p:cNvPr id="17" name="Rounded Rectangle 16"/>
          <p:cNvSpPr/>
          <p:nvPr/>
        </p:nvSpPr>
        <p:spPr>
          <a:xfrm>
            <a:off x="8147303"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F2</a:t>
            </a:r>
          </a:p>
        </p:txBody>
      </p:sp>
      <p:sp>
        <p:nvSpPr>
          <p:cNvPr id="18" name="Rounded Rectangle 17"/>
          <p:cNvSpPr/>
          <p:nvPr/>
        </p:nvSpPr>
        <p:spPr>
          <a:xfrm>
            <a:off x="7397495"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F1</a:t>
            </a:r>
          </a:p>
        </p:txBody>
      </p:sp>
      <p:sp>
        <p:nvSpPr>
          <p:cNvPr id="19" name="Rounded Rectangle 18"/>
          <p:cNvSpPr/>
          <p:nvPr/>
        </p:nvSpPr>
        <p:spPr>
          <a:xfrm>
            <a:off x="6647687"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C2</a:t>
            </a:r>
          </a:p>
        </p:txBody>
      </p:sp>
      <p:graphicFrame>
        <p:nvGraphicFramePr>
          <p:cNvPr id="20" name="Table 19"/>
          <p:cNvGraphicFramePr>
            <a:graphicFrameLocks noGrp="1"/>
          </p:cNvGraphicFramePr>
          <p:nvPr/>
        </p:nvGraphicFramePr>
        <p:xfrm>
          <a:off x="246888" y="1097280"/>
          <a:ext cx="11750040" cy="3968496"/>
        </p:xfrm>
        <a:graphic>
          <a:graphicData uri="http://schemas.openxmlformats.org/drawingml/2006/table">
            <a:tbl>
              <a:tblPr firstRow="0" bandRow="0">
                <a:tableStyleId>{2D5ABB26-0587-4C30-8999-92F81FD0307C}</a:tableStyleId>
              </a:tblPr>
              <a:tblGrid>
                <a:gridCol w="2377440"/>
                <a:gridCol w="3108960"/>
                <a:gridCol w="3108960"/>
                <a:gridCol w="3154680"/>
              </a:tblGrid>
              <a:tr h="310896">
                <a:tc>
                  <a:txBody>
                    <a:bodyPr wrap="square"/>
                    <a:lstStyle/>
                    <a:p>
                      <a:pPr algn="ctr">
                        <a:spcAft>
                          <a:spcPts val="100"/>
                        </a:spcAft>
                      </a:pPr>
                      <a:r>
                        <a:rPr sz="1100" b="0">
                          <a:solidFill>
                            <a:srgbClr val="7F7F7F"/>
                          </a:solidFill>
                          <a:latin typeface="맑은 고딕"/>
                          <a:ea typeface="맑은 고딕"/>
                          <a:cs typeface="맑은 고딕"/>
                        </a:rPr>
                        <a:t>모듈</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100" b="1">
                          <a:solidFill>
                            <a:srgbClr val="7F7F7F"/>
                          </a:solidFill>
                          <a:latin typeface="맑은 고딕"/>
                          <a:ea typeface="맑은 고딕"/>
                          <a:cs typeface="맑은 고딕"/>
                        </a:rPr>
                        <a:t>1안 (Resource Manager 내장)</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100" b="1">
                          <a:solidFill>
                            <a:srgbClr val="7F7F7F"/>
                          </a:solidFill>
                          <a:latin typeface="맑은 고딕"/>
                          <a:ea typeface="맑은 고딕"/>
                          <a:cs typeface="맑은 고딕"/>
                        </a:rPr>
                        <a:t>2안 (Control 분리)</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100" b="1">
                          <a:solidFill>
                            <a:srgbClr val="7F7F7F"/>
                          </a:solidFill>
                          <a:latin typeface="맑은 고딕"/>
                          <a:ea typeface="맑은 고딕"/>
                          <a:cs typeface="맑은 고딕"/>
                        </a:rPr>
                        <a:t>비고</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457200">
                <a:tc>
                  <a:txBody>
                    <a:bodyPr wrap="square"/>
                    <a:lstStyle/>
                    <a:p>
                      <a:pPr algn="ctr">
                        <a:spcAft>
                          <a:spcPts val="100"/>
                        </a:spcAft>
                      </a:pPr>
                      <a:r>
                        <a:rPr sz="1000" b="0">
                          <a:solidFill>
                            <a:srgbClr val="7F7F7F"/>
                          </a:solidFill>
                          <a:latin typeface="맑은 고딕"/>
                          <a:ea typeface="맑은 고딕"/>
                          <a:cs typeface="맑은 고딕"/>
                        </a:rPr>
                        <a:t>Migration Scheduler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1000" b="0">
                          <a:solidFill>
                            <a:srgbClr val="000000"/>
                          </a:solidFill>
                          <a:latin typeface="맑은 고딕"/>
                          <a:ea typeface="맑은 고딕"/>
                          <a:cs typeface="맑은 고딕"/>
                        </a:rPr>
                        <a:t>Control (트리거·budget만)</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Control (트리거 + 평가 cycle 구동)</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event 기반 비동기 진입점은 공통</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7200">
                <a:tc>
                  <a:txBody>
                    <a:bodyPr wrap="square"/>
                    <a:lstStyle/>
                    <a:p>
                      <a:pPr algn="ctr">
                        <a:spcAft>
                          <a:spcPts val="100"/>
                        </a:spcAft>
                      </a:pPr>
                      <a:r>
                        <a:rPr sz="1000" b="0">
                          <a:solidFill>
                            <a:srgbClr val="7F7F7F"/>
                          </a:solidFill>
                          <a:latin typeface="맑은 고딕"/>
                          <a:ea typeface="맑은 고딕"/>
                          <a:cs typeface="맑은 고딕"/>
                        </a:rPr>
                        <a:t>Trend Analyzer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1000" b="0">
                          <a:solidFill>
                            <a:srgbClr val="000000"/>
                          </a:solidFill>
                          <a:latin typeface="맑은 고딕"/>
                          <a:ea typeface="맑은 고딕"/>
                          <a:cs typeface="맑은 고딕"/>
                        </a:rPr>
                        <a:t>Resource Manager 내부 (결정부)</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2CC"/>
                    </a:solidFill>
                  </a:tcPr>
                </a:tc>
                <a:tc>
                  <a:txBody>
                    <a:bodyPr wrap="square"/>
                    <a:lstStyle/>
                    <a:p>
                      <a:pPr>
                        <a:spcAft>
                          <a:spcPts val="100"/>
                        </a:spcAft>
                      </a:pPr>
                      <a:r>
                        <a:rPr sz="1000" b="0">
                          <a:solidFill>
                            <a:srgbClr val="000000"/>
                          </a:solidFill>
                          <a:latin typeface="맑은 고딕"/>
                          <a:ea typeface="맑은 고딕"/>
                          <a:cs typeface="맑은 고딕"/>
                        </a:rPr>
                        <a:t>Control</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2CC"/>
                    </a:solidFill>
                  </a:tcPr>
                </a:tc>
                <a:tc>
                  <a:txBody>
                    <a:bodyPr wrap="square"/>
                    <a:lstStyle/>
                    <a:p>
                      <a:pPr>
                        <a:spcAft>
                          <a:spcPts val="100"/>
                        </a:spcAft>
                      </a:pPr>
                      <a:r>
                        <a:rPr sz="1000" b="0">
                          <a:solidFill>
                            <a:srgbClr val="000000"/>
                          </a:solidFill>
                          <a:latin typeface="맑은 고딕"/>
                          <a:ea typeface="맑은 고딕"/>
                          <a:cs typeface="맑은 고딕"/>
                        </a:rPr>
                        <a:t>소속이 바뀌는 모듈</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7200">
                <a:tc>
                  <a:txBody>
                    <a:bodyPr wrap="square"/>
                    <a:lstStyle/>
                    <a:p>
                      <a:pPr algn="ctr">
                        <a:spcAft>
                          <a:spcPts val="100"/>
                        </a:spcAft>
                      </a:pPr>
                      <a:r>
                        <a:rPr sz="1000" b="0">
                          <a:solidFill>
                            <a:srgbClr val="7F7F7F"/>
                          </a:solidFill>
                          <a:latin typeface="맑은 고딕"/>
                          <a:ea typeface="맑은 고딕"/>
                          <a:cs typeface="맑은 고딕"/>
                        </a:rPr>
                        <a:t>Affinity Mapper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1000" b="0">
                          <a:solidFill>
                            <a:srgbClr val="000000"/>
                          </a:solidFill>
                          <a:latin typeface="맑은 고딕"/>
                          <a:ea typeface="맑은 고딕"/>
                          <a:cs typeface="맑은 고딕"/>
                        </a:rPr>
                        <a:t>Resource Manager 내부 (결정부)</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2CC"/>
                    </a:solidFill>
                  </a:tcPr>
                </a:tc>
                <a:tc>
                  <a:txBody>
                    <a:bodyPr wrap="square"/>
                    <a:lstStyle/>
                    <a:p>
                      <a:pPr>
                        <a:spcAft>
                          <a:spcPts val="100"/>
                        </a:spcAft>
                      </a:pPr>
                      <a:r>
                        <a:rPr sz="1000" b="0">
                          <a:solidFill>
                            <a:srgbClr val="000000"/>
                          </a:solidFill>
                          <a:latin typeface="맑은 고딕"/>
                          <a:ea typeface="맑은 고딕"/>
                          <a:cs typeface="맑은 고딕"/>
                        </a:rPr>
                        <a:t>Control</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2CC"/>
                    </a:solidFill>
                  </a:tcPr>
                </a:tc>
                <a:tc>
                  <a:txBody>
                    <a:bodyPr wrap="square"/>
                    <a:lstStyle/>
                    <a:p>
                      <a:pPr>
                        <a:spcAft>
                          <a:spcPts val="100"/>
                        </a:spcAft>
                      </a:pPr>
                      <a:r>
                        <a:rPr sz="1000" b="0">
                          <a:solidFill>
                            <a:srgbClr val="000000"/>
                          </a:solidFill>
                          <a:latin typeface="맑은 고딕"/>
                          <a:ea typeface="맑은 고딕"/>
                          <a:cs typeface="맑은 고딕"/>
                        </a:rPr>
                        <a:t>소속이 바뀌는 모듈</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7200">
                <a:tc>
                  <a:txBody>
                    <a:bodyPr wrap="square"/>
                    <a:lstStyle/>
                    <a:p>
                      <a:pPr algn="ctr">
                        <a:spcAft>
                          <a:spcPts val="100"/>
                        </a:spcAft>
                      </a:pPr>
                      <a:r>
                        <a:rPr sz="1000" b="0">
                          <a:solidFill>
                            <a:srgbClr val="7F7F7F"/>
                          </a:solidFill>
                          <a:latin typeface="맑은 고딕"/>
                          <a:ea typeface="맑은 고딕"/>
                          <a:cs typeface="맑은 고딕"/>
                        </a:rPr>
                        <a:t>Policy Engine</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1000" b="0">
                          <a:solidFill>
                            <a:srgbClr val="000000"/>
                          </a:solidFill>
                          <a:latin typeface="맑은 고딕"/>
                          <a:ea typeface="맑은 고딕"/>
                          <a:cs typeface="맑은 고딕"/>
                        </a:rPr>
                        <a:t>Resource Manager 내부 (결정부)</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2CC"/>
                    </a:solidFill>
                  </a:tcPr>
                </a:tc>
                <a:tc>
                  <a:txBody>
                    <a:bodyPr wrap="square"/>
                    <a:lstStyle/>
                    <a:p>
                      <a:pPr>
                        <a:spcAft>
                          <a:spcPts val="100"/>
                        </a:spcAft>
                      </a:pPr>
                      <a:r>
                        <a:rPr sz="1000" b="0">
                          <a:solidFill>
                            <a:srgbClr val="000000"/>
                          </a:solidFill>
                          <a:latin typeface="맑은 고딕"/>
                          <a:ea typeface="맑은 고딕"/>
                          <a:cs typeface="맑은 고딕"/>
                        </a:rPr>
                        <a:t>Control</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2CC"/>
                    </a:solidFill>
                  </a:tcPr>
                </a:tc>
                <a:tc>
                  <a:txBody>
                    <a:bodyPr wrap="square"/>
                    <a:lstStyle/>
                    <a:p>
                      <a:pPr>
                        <a:spcAft>
                          <a:spcPts val="100"/>
                        </a:spcAft>
                      </a:pPr>
                      <a:r>
                        <a:rPr sz="1000" b="0">
                          <a:solidFill>
                            <a:srgbClr val="000000"/>
                          </a:solidFill>
                          <a:latin typeface="맑은 고딕"/>
                          <a:ea typeface="맑은 고딕"/>
                          <a:cs typeface="맑은 고딕"/>
                        </a:rPr>
                        <a:t>소속이 바뀌는 모듈. Intent 발행 지점</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7200">
                <a:tc>
                  <a:txBody>
                    <a:bodyPr wrap="square"/>
                    <a:lstStyle/>
                    <a:p>
                      <a:pPr algn="ctr">
                        <a:spcAft>
                          <a:spcPts val="100"/>
                        </a:spcAft>
                      </a:pPr>
                      <a:r>
                        <a:rPr sz="1000" b="0">
                          <a:solidFill>
                            <a:srgbClr val="7F7F7F"/>
                          </a:solidFill>
                          <a:latin typeface="맑은 고딕"/>
                          <a:ea typeface="맑은 고딕"/>
                          <a:cs typeface="맑은 고딕"/>
                        </a:rPr>
                        <a:t>State Monitor · Telemetry Collector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1000" b="0">
                          <a:solidFill>
                            <a:srgbClr val="000000"/>
                          </a:solidFill>
                          <a:latin typeface="맑은 고딕"/>
                          <a:ea typeface="맑은 고딕"/>
                          <a:cs typeface="맑은 고딕"/>
                        </a:rPr>
                        <a:t>Resource Manager (상태부)</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Resource Manager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수집은 서빙 경로 밖 주기 경로 (FR-05)</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7200">
                <a:tc>
                  <a:txBody>
                    <a:bodyPr wrap="square"/>
                    <a:lstStyle/>
                    <a:p>
                      <a:pPr algn="ctr">
                        <a:spcAft>
                          <a:spcPts val="100"/>
                        </a:spcAft>
                      </a:pPr>
                      <a:r>
                        <a:rPr sz="1000" b="0">
                          <a:solidFill>
                            <a:srgbClr val="7F7F7F"/>
                          </a:solidFill>
                          <a:latin typeface="맑은 고딕"/>
                          <a:ea typeface="맑은 고딕"/>
                          <a:cs typeface="맑은 고딕"/>
                        </a:rPr>
                        <a:t>Memory · Data Object Registry</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1000" b="0">
                          <a:solidFill>
                            <a:srgbClr val="000000"/>
                          </a:solidFill>
                          <a:latin typeface="맑은 고딕"/>
                          <a:ea typeface="맑은 고딕"/>
                          <a:cs typeface="맑은 고딕"/>
                        </a:rPr>
                        <a:t>Resource Manager (상태부)</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Resource Manager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위치의 단일 진실 (FR-04)</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7200">
                <a:tc>
                  <a:txBody>
                    <a:bodyPr wrap="square"/>
                    <a:lstStyle/>
                    <a:p>
                      <a:pPr algn="ctr">
                        <a:spcAft>
                          <a:spcPts val="100"/>
                        </a:spcAft>
                      </a:pPr>
                      <a:r>
                        <a:rPr sz="1000" b="0">
                          <a:solidFill>
                            <a:srgbClr val="7F7F7F"/>
                          </a:solidFill>
                          <a:latin typeface="맑은 고딕"/>
                          <a:ea typeface="맑은 고딕"/>
                          <a:cs typeface="맑은 고딕"/>
                        </a:rPr>
                        <a:t>Migration Executor · Transfer Handler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1000" b="0">
                          <a:solidFill>
                            <a:srgbClr val="000000"/>
                          </a:solidFill>
                          <a:latin typeface="맑은 고딕"/>
                          <a:ea typeface="맑은 고딕"/>
                          <a:cs typeface="맑은 고딕"/>
                        </a:rPr>
                        <a:t>Data Plane</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Data Plane</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공통. 실행은 background DMA</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7200">
                <a:tc>
                  <a:txBody>
                    <a:bodyPr wrap="square"/>
                    <a:lstStyle/>
                    <a:p>
                      <a:pPr algn="ctr">
                        <a:spcAft>
                          <a:spcPts val="100"/>
                        </a:spcAft>
                      </a:pPr>
                      <a:r>
                        <a:rPr sz="1000" b="0">
                          <a:solidFill>
                            <a:srgbClr val="7F7F7F"/>
                          </a:solidFill>
                          <a:latin typeface="맑은 고딕"/>
                          <a:ea typeface="맑은 고딕"/>
                          <a:cs typeface="맑은 고딕"/>
                        </a:rPr>
                        <a:t>Common Memory Backend I/F</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1000" b="0">
                          <a:solidFill>
                            <a:srgbClr val="000000"/>
                          </a:solidFill>
                          <a:latin typeface="맑은 고딕"/>
                          <a:ea typeface="맑은 고딕"/>
                          <a:cs typeface="맑은 고딕"/>
                        </a:rPr>
                        <a:t>공통 하부 계층</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공통 하부 계층</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신규 Device SW 편입 지점 (C2)</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21" name="Rectangle 20"/>
          <p:cNvSpPr/>
          <p:nvPr/>
        </p:nvSpPr>
        <p:spPr>
          <a:xfrm>
            <a:off x="347472" y="5394960"/>
            <a:ext cx="11402568" cy="105156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05756" y="5239512"/>
            <a:ext cx="228600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비교 원칙과 예상 질문</a:t>
            </a:r>
          </a:p>
        </p:txBody>
      </p:sp>
      <p:sp>
        <p:nvSpPr>
          <p:cNvPr id="23" name="TextBox 22"/>
          <p:cNvSpPr txBox="1"/>
          <p:nvPr/>
        </p:nvSpPr>
        <p:spPr>
          <a:xfrm>
            <a:off x="457200" y="5596128"/>
            <a:ext cx="11247120" cy="868680"/>
          </a:xfrm>
          <a:prstGeom prst="rect">
            <a:avLst/>
          </a:prstGeom>
          <a:noFill/>
        </p:spPr>
        <p:txBody>
          <a:bodyPr wrap="square" anchor="t" lIns="45720" rIns="45720" tIns="27432" bIns="27432">
            <a:spAutoFit/>
          </a:bodyPr>
          <a:lstStyle/>
          <a:p>
            <a:pPr algn="l">
              <a:spcAft>
                <a:spcPts val="200"/>
              </a:spcAft>
            </a:pPr>
            <a:r>
              <a:rPr sz="1000" b="1">
                <a:solidFill>
                  <a:srgbClr val="0066FF"/>
                </a:solidFill>
                <a:latin typeface="맑은 고딕"/>
                <a:ea typeface="맑은 고딕"/>
                <a:cs typeface="맑은 고딕"/>
              </a:rPr>
              <a:t>바뀌는 변수는 하나: 결정 로직의 소속 (그에 따른 호출 경계: 로컬 호출 vs snapshot query)</a:t>
            </a:r>
          </a:p>
          <a:p>
            <a:pPr algn="l">
              <a:spcAft>
                <a:spcPts val="200"/>
              </a:spcAft>
            </a:pPr>
            <a:r>
              <a:rPr sz="950" b="0">
                <a:solidFill>
                  <a:srgbClr val="000000"/>
                </a:solidFill>
                <a:latin typeface="맑은 고딕"/>
                <a:ea typeface="맑은 고딕"/>
                <a:cs typeface="맑은 고딕"/>
              </a:rPr>
              <a:t>Q. '결국 정책 차이 아닌가?'  A. 신호(자원 상태 / data 행동)는 정책 플러그인으로 두 안에 공통. 같은 정책(iso-policy)을 두 구조에 올려 Max SLO Goodput과 분해 지표(HBM 확보 지연, 이동 거절율), 수정 모듈 수, 지연 증가율로 비교</a:t>
            </a:r>
          </a:p>
          <a:p>
            <a:pPr algn="l">
              <a:spcAft>
                <a:spcPts val="200"/>
              </a:spcAft>
            </a:pPr>
            <a:r>
              <a:rPr sz="950" b="0">
                <a:solidFill>
                  <a:srgbClr val="000000"/>
                </a:solidFill>
                <a:latin typeface="맑은 고딕"/>
                <a:ea typeface="맑은 고딕"/>
                <a:cs typeface="맑은 고딕"/>
              </a:rPr>
              <a:t>Q. '1안은 Resource Manager가 상태와 판단을 함께 갖는데 이름이 맞는가?'  A. 상태 소유자가 판단까지 하는 co-location 안이라 (상태 + 결정)으로 표기. 이 결합이 곧 비교 변수</a:t>
            </a:r>
          </a:p>
        </p:txBody>
      </p:sp>
      <p:sp>
        <p:nvSpPr>
          <p:cNvPr id="24" name="TextBox 23"/>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DP1. Data Migration 결정 구조 -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QA별 구조적 측정 근거 (정책은 고정, 소속만 변경)</a:t>
            </a:r>
          </a:p>
        </p:txBody>
      </p:sp>
      <p:sp>
        <p:nvSpPr>
          <p:cNvPr id="13" name="Rounded Rectangle 12"/>
          <p:cNvSpPr/>
          <p:nvPr/>
        </p:nvSpPr>
        <p:spPr>
          <a:xfrm>
            <a:off x="11146536"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Q4</a:t>
            </a:r>
          </a:p>
        </p:txBody>
      </p:sp>
      <p:sp>
        <p:nvSpPr>
          <p:cNvPr id="14" name="Rounded Rectangle 13"/>
          <p:cNvSpPr/>
          <p:nvPr/>
        </p:nvSpPr>
        <p:spPr>
          <a:xfrm>
            <a:off x="10396728"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Q3</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6" name="Rounded Rectangle 15"/>
          <p:cNvSpPr/>
          <p:nvPr/>
        </p:nvSpPr>
        <p:spPr>
          <a:xfrm>
            <a:off x="8897111"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Q1</a:t>
            </a:r>
          </a:p>
        </p:txBody>
      </p:sp>
      <p:sp>
        <p:nvSpPr>
          <p:cNvPr id="17" name="Rounded Rectangle 16"/>
          <p:cNvSpPr/>
          <p:nvPr/>
        </p:nvSpPr>
        <p:spPr>
          <a:xfrm>
            <a:off x="8147303"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F2</a:t>
            </a:r>
          </a:p>
        </p:txBody>
      </p:sp>
      <p:sp>
        <p:nvSpPr>
          <p:cNvPr id="18" name="Rounded Rectangle 17"/>
          <p:cNvSpPr/>
          <p:nvPr/>
        </p:nvSpPr>
        <p:spPr>
          <a:xfrm>
            <a:off x="7397495"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F1</a:t>
            </a:r>
          </a:p>
        </p:txBody>
      </p:sp>
      <p:sp>
        <p:nvSpPr>
          <p:cNvPr id="19" name="Rounded Rectangle 18"/>
          <p:cNvSpPr/>
          <p:nvPr/>
        </p:nvSpPr>
        <p:spPr>
          <a:xfrm>
            <a:off x="6647687"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C2</a:t>
            </a:r>
          </a:p>
        </p:txBody>
      </p:sp>
      <p:graphicFrame>
        <p:nvGraphicFramePr>
          <p:cNvPr id="20" name="Table 19"/>
          <p:cNvGraphicFramePr>
            <a:graphicFrameLocks noGrp="1"/>
          </p:cNvGraphicFramePr>
          <p:nvPr/>
        </p:nvGraphicFramePr>
        <p:xfrm>
          <a:off x="246888" y="1097280"/>
          <a:ext cx="11750040" cy="4462272"/>
        </p:xfrm>
        <a:graphic>
          <a:graphicData uri="http://schemas.openxmlformats.org/drawingml/2006/table">
            <a:tbl>
              <a:tblPr firstRow="0" bandRow="0">
                <a:tableStyleId>{2D5ABB26-0587-4C30-8999-92F81FD0307C}</a:tableStyleId>
              </a:tblPr>
              <a:tblGrid>
                <a:gridCol w="914400"/>
                <a:gridCol w="3017520"/>
                <a:gridCol w="2468880"/>
                <a:gridCol w="2468880"/>
                <a:gridCol w="2880360"/>
              </a:tblGrid>
              <a:tr h="365760">
                <a:tc>
                  <a:txBody>
                    <a:bodyPr wrap="square"/>
                    <a:lstStyle/>
                    <a:p>
                      <a:pPr algn="ctr">
                        <a:spcAft>
                          <a:spcPts val="100"/>
                        </a:spcAft>
                      </a:pPr>
                      <a:r>
                        <a:rPr sz="1050" b="0">
                          <a:solidFill>
                            <a:srgbClr val="7F7F7F"/>
                          </a:solidFill>
                          <a:latin typeface="맑은 고딕"/>
                          <a:ea typeface="맑은 고딕"/>
                          <a:cs typeface="맑은 고딕"/>
                        </a:rPr>
                        <a:t>QA</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7F7F7F"/>
                          </a:solidFill>
                          <a:latin typeface="맑은 고딕"/>
                          <a:ea typeface="맑은 고딕"/>
                          <a:cs typeface="맑은 고딕"/>
                        </a:rPr>
                        <a:t>구조 요인과 지표 (단위)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7F7F7F"/>
                          </a:solidFill>
                          <a:latin typeface="맑은 고딕"/>
                          <a:ea typeface="맑은 고딕"/>
                          <a:cs typeface="맑은 고딕"/>
                        </a:rPr>
                        <a:t>1안 Resource Manager 내장</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7F7F7F"/>
                          </a:solidFill>
                          <a:latin typeface="맑은 고딕"/>
                          <a:ea typeface="맑은 고딕"/>
                          <a:cs typeface="맑은 고딕"/>
                        </a:rPr>
                        <a:t>2안 Control 분리</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gn="ctr">
                        <a:spcAft>
                          <a:spcPts val="100"/>
                        </a:spcAft>
                      </a:pPr>
                      <a:r>
                        <a:rPr sz="1050" b="1">
                          <a:solidFill>
                            <a:srgbClr val="7F7F7F"/>
                          </a:solidFill>
                          <a:latin typeface="맑은 고딕"/>
                          <a:ea typeface="맑은 고딕"/>
                          <a:cs typeface="맑은 고딕"/>
                        </a:rPr>
                        <a:t>검증 방법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1024128">
                <a:tc>
                  <a:txBody>
                    <a:bodyPr wrap="square"/>
                    <a:lstStyle/>
                    <a:p>
                      <a:pPr algn="ctr">
                        <a:spcAft>
                          <a:spcPts val="100"/>
                        </a:spcAft>
                      </a:pPr>
                      <a:r>
                        <a:rPr sz="950" b="0">
                          <a:solidFill>
                            <a:srgbClr val="7F7F7F"/>
                          </a:solidFill>
                          <a:latin typeface="맑은 고딕"/>
                          <a:ea typeface="맑은 고딕"/>
                          <a:cs typeface="맑은 고딕"/>
                        </a:rPr>
                        <a:t>Q1
Throughput</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900" b="0">
                          <a:solidFill>
                            <a:srgbClr val="000000"/>
                          </a:solidFill>
                          <a:latin typeface="맑은 고딕"/>
                          <a:ea typeface="맑은 고딕"/>
                          <a:cs typeface="맑은 고딕"/>
                        </a:rPr>
                        <a:t>Max SLO Goodput의 분해: 압박→HBM 확보 완료 지연 (ms), 판단 중 상태 갱신 지연 P99 (ms), stale 판단의 이동 거절율 (%), TPOT P99 증분 (ms)</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상태 항상 최신 → 압박 대응 지연 최소. 단 판단이 상태를 점유하는 동안 event 수집·commit 반영이 밀려 backlog 발생 가능</a:t>
                      </a:r>
                    </a:p>
                    <a:p>
                      <a:pPr>
                        <a:spcAft>
                          <a:spcPts val="100"/>
                        </a:spcAft>
                      </a:pPr>
                      <a:r>
                        <a:rPr sz="850" b="0">
                          <a:solidFill>
                            <a:srgbClr val="7F7F7F"/>
                          </a:solidFill>
                          <a:latin typeface="맑은 고딕"/>
                          <a:ea typeface="맑은 고딕"/>
                          <a:cs typeface="맑은 고딕"/>
                        </a:rPr>
                        <a:t>[가설]</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판단이 snapshot 위에서 돌아 갱신 경로와 경합 없음, 서빙 코어 간섭 격리. 단 snapshot age만큼 확보 지연, stale 판단 거절 증가, snapshot 생성 비용</a:t>
                      </a:r>
                    </a:p>
                    <a:p>
                      <a:pPr>
                        <a:spcAft>
                          <a:spcPts val="100"/>
                        </a:spcAft>
                      </a:pPr>
                      <a:r>
                        <a:rPr sz="850" b="0">
                          <a:solidFill>
                            <a:srgbClr val="7F7F7F"/>
                          </a:solidFill>
                          <a:latin typeface="맑은 고딕"/>
                          <a:ea typeface="맑은 고딕"/>
                          <a:cs typeface="맑은 고딕"/>
                        </a:rPr>
                        <a:t>[가설]</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snapshot age, 판단 비용(0.1 / 1 / 10 ms), 상태 갱신 rate sweep (iso-policy)</a:t>
                      </a:r>
                    </a:p>
                    <a:p>
                      <a:pPr>
                        <a:spcAft>
                          <a:spcPts val="100"/>
                        </a:spcAft>
                      </a:pPr>
                      <a:r>
                        <a:rPr sz="850" b="0">
                          <a:solidFill>
                            <a:srgbClr val="7F7F7F"/>
                          </a:solidFill>
                          <a:latin typeface="맑은 고딕"/>
                          <a:ea typeface="맑은 고딕"/>
                          <a:cs typeface="맑은 고딕"/>
                        </a:rPr>
                        <a:t>[B+C 예정]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1024128">
                <a:tc>
                  <a:txBody>
                    <a:bodyPr wrap="square"/>
                    <a:lstStyle/>
                    <a:p>
                      <a:pPr algn="ctr">
                        <a:spcAft>
                          <a:spcPts val="100"/>
                        </a:spcAft>
                      </a:pPr>
                      <a:r>
                        <a:rPr sz="950" b="0">
                          <a:solidFill>
                            <a:srgbClr val="7F7F7F"/>
                          </a:solidFill>
                          <a:latin typeface="맑은 고딕"/>
                          <a:ea typeface="맑은 고딕"/>
                          <a:cs typeface="맑은 고딕"/>
                        </a:rPr>
                        <a:t>Q2
HBM 점유율</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900" b="0">
                          <a:solidFill>
                            <a:srgbClr val="000000"/>
                          </a:solidFill>
                          <a:latin typeface="맑은 고딕"/>
                          <a:ea typeface="맑은 고딕"/>
                          <a:cs typeface="맑은 고딕"/>
                        </a:rPr>
                        <a:t>stale window: 압력 발생 → demote 시작 (ms), HBM peak overshoot (GB). 낮을수록 좋음</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상태를 직접 읽어 stale ≈ 0</a:t>
                      </a:r>
                    </a:p>
                    <a:p>
                      <a:pPr>
                        <a:spcAft>
                          <a:spcPts val="100"/>
                        </a:spcAft>
                      </a:pPr>
                      <a:r>
                        <a:rPr sz="850" b="0">
                          <a:solidFill>
                            <a:srgbClr val="7F7F7F"/>
                          </a:solidFill>
                          <a:latin typeface="맑은 고딕"/>
                          <a:ea typeface="맑은 고딕"/>
                          <a:cs typeface="맑은 고딕"/>
                        </a:rPr>
                        <a:t>[가설]</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snapshot age(FR-05 허용 age)만큼 stale</a:t>
                      </a:r>
                    </a:p>
                    <a:p>
                      <a:pPr>
                        <a:spcAft>
                          <a:spcPts val="100"/>
                        </a:spcAft>
                      </a:pPr>
                      <a:r>
                        <a:rPr sz="850" b="0">
                          <a:solidFill>
                            <a:srgbClr val="7F7F7F"/>
                          </a:solidFill>
                          <a:latin typeface="맑은 고딕"/>
                          <a:ea typeface="맑은 고딕"/>
                          <a:cs typeface="맑은 고딕"/>
                        </a:rPr>
                        <a:t>[가설]</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압력 step 입력 시 overshoot 측정, snapshot age sweep</a:t>
                      </a:r>
                    </a:p>
                    <a:p>
                      <a:pPr>
                        <a:spcAft>
                          <a:spcPts val="100"/>
                        </a:spcAft>
                      </a:pPr>
                      <a:r>
                        <a:rPr sz="850" b="0">
                          <a:solidFill>
                            <a:srgbClr val="7F7F7F"/>
                          </a:solidFill>
                          <a:latin typeface="맑은 고딕"/>
                          <a:ea typeface="맑은 고딕"/>
                          <a:cs typeface="맑은 고딕"/>
                        </a:rPr>
                        <a:t>[B+C 예정]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1024128">
                <a:tc>
                  <a:txBody>
                    <a:bodyPr wrap="square"/>
                    <a:lstStyle/>
                    <a:p>
                      <a:pPr algn="ctr">
                        <a:spcAft>
                          <a:spcPts val="100"/>
                        </a:spcAft>
                      </a:pPr>
                      <a:r>
                        <a:rPr sz="950" b="0">
                          <a:solidFill>
                            <a:srgbClr val="7F7F7F"/>
                          </a:solidFill>
                          <a:latin typeface="맑은 고딕"/>
                          <a:ea typeface="맑은 고딕"/>
                          <a:cs typeface="맑은 고딕"/>
                        </a:rPr>
                        <a:t>Q3
변경용이성</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900" b="0">
                          <a:solidFill>
                            <a:srgbClr val="000000"/>
                          </a:solidFill>
                          <a:latin typeface="맑은 고딕"/>
                          <a:ea typeface="맑은 고딕"/>
                          <a:cs typeface="맑은 고딕"/>
                        </a:rPr>
                        <a:t>신규·변경 정책 반영 시 수정 모듈 수 (개)와 재배포 단위. 정책 추가 시나리오(예: 신호 교체) 기준</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정책이 상태 서비스(Resource Manager) 안에 있어 정책 변경 시 상태 서비스 수정·재배포</a:t>
                      </a:r>
                    </a:p>
                    <a:p>
                      <a:pPr>
                        <a:spcAft>
                          <a:spcPts val="100"/>
                        </a:spcAft>
                      </a:pPr>
                      <a:r>
                        <a:rPr sz="850" b="0">
                          <a:solidFill>
                            <a:srgbClr val="7F7F7F"/>
                          </a:solidFill>
                          <a:latin typeface="맑은 고딕"/>
                          <a:ea typeface="맑은 고딕"/>
                          <a:cs typeface="맑은 고딕"/>
                        </a:rPr>
                        <a:t>[추정]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Control 내 Analyzer·Mapper·Policy Engine만 수정, 상태 서비스 불변</a:t>
                      </a:r>
                    </a:p>
                    <a:p>
                      <a:pPr>
                        <a:spcAft>
                          <a:spcPts val="100"/>
                        </a:spcAft>
                      </a:pPr>
                      <a:r>
                        <a:rPr sz="850" b="0">
                          <a:solidFill>
                            <a:srgbClr val="7F7F7F"/>
                          </a:solidFill>
                          <a:latin typeface="맑은 고딕"/>
                          <a:ea typeface="맑은 고딕"/>
                          <a:cs typeface="맑은 고딕"/>
                        </a:rPr>
                        <a:t>[추정]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정책 교체 시나리오를 두 구조에 적용해 diff 모듈 수 집계</a:t>
                      </a:r>
                    </a:p>
                    <a:p>
                      <a:pPr>
                        <a:spcAft>
                          <a:spcPts val="100"/>
                        </a:spcAft>
                      </a:pPr>
                      <a:r>
                        <a:rPr sz="850" b="0">
                          <a:solidFill>
                            <a:srgbClr val="7F7F7F"/>
                          </a:solidFill>
                          <a:latin typeface="맑은 고딕"/>
                          <a:ea typeface="맑은 고딕"/>
                          <a:cs typeface="맑은 고딕"/>
                        </a:rPr>
                        <a:t>[설계 검토]</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1024128">
                <a:tc>
                  <a:txBody>
                    <a:bodyPr wrap="square"/>
                    <a:lstStyle/>
                    <a:p>
                      <a:pPr algn="ctr">
                        <a:spcAft>
                          <a:spcPts val="100"/>
                        </a:spcAft>
                      </a:pPr>
                      <a:r>
                        <a:rPr sz="950" b="0">
                          <a:solidFill>
                            <a:srgbClr val="7F7F7F"/>
                          </a:solidFill>
                          <a:latin typeface="맑은 고딕"/>
                          <a:ea typeface="맑은 고딕"/>
                          <a:cs typeface="맑은 고딕"/>
                        </a:rPr>
                        <a:t>Q4
확장성</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spcAft>
                          <a:spcPts val="100"/>
                        </a:spcAft>
                      </a:pPr>
                      <a:r>
                        <a:rPr sz="900" b="0">
                          <a:solidFill>
                            <a:srgbClr val="000000"/>
                          </a:solidFill>
                          <a:latin typeface="맑은 고딕"/>
                          <a:ea typeface="맑은 고딕"/>
                          <a:cs typeface="맑은 고딕"/>
                        </a:rPr>
                        <a:t>Scaling Efficiency: tier 수 N=2→8, object 수 증가 시 event→Intent 지연 증가율 (배)</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상태 저장과 판단이 한 서비스에서 처리 → 단일 서비스 포화</a:t>
                      </a:r>
                    </a:p>
                    <a:p>
                      <a:pPr>
                        <a:spcAft>
                          <a:spcPts val="100"/>
                        </a:spcAft>
                      </a:pPr>
                      <a:r>
                        <a:rPr sz="850" b="0">
                          <a:solidFill>
                            <a:srgbClr val="7F7F7F"/>
                          </a:solidFill>
                          <a:latin typeface="맑은 고딕"/>
                          <a:ea typeface="맑은 고딕"/>
                          <a:cs typeface="맑은 고딕"/>
                        </a:rPr>
                        <a:t>[가설]</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판단과 상태를 분리 확장, 단 query 부하가 Resource Manager에 집중</a:t>
                      </a:r>
                    </a:p>
                    <a:p>
                      <a:pPr>
                        <a:spcAft>
                          <a:spcPts val="100"/>
                        </a:spcAft>
                      </a:pPr>
                      <a:r>
                        <a:rPr sz="850" b="0">
                          <a:solidFill>
                            <a:srgbClr val="7F7F7F"/>
                          </a:solidFill>
                          <a:latin typeface="맑은 고딕"/>
                          <a:ea typeface="맑은 고딕"/>
                          <a:cs typeface="맑은 고딕"/>
                        </a:rPr>
                        <a:t>[가설]</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N·object sweep 시뮬레이션, 서비스별 부하 모델링 필요</a:t>
                      </a:r>
                    </a:p>
                    <a:p>
                      <a:pPr>
                        <a:spcAft>
                          <a:spcPts val="100"/>
                        </a:spcAft>
                      </a:pPr>
                      <a:r>
                        <a:rPr sz="850" b="0">
                          <a:solidFill>
                            <a:srgbClr val="7F7F7F"/>
                          </a:solidFill>
                          <a:latin typeface="맑은 고딕"/>
                          <a:ea typeface="맑은 고딕"/>
                          <a:cs typeface="맑은 고딕"/>
                        </a:rPr>
                        <a:t>[B+C 예정]</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21" name="Rectangle 20"/>
          <p:cNvSpPr/>
          <p:nvPr/>
        </p:nvSpPr>
        <p:spPr>
          <a:xfrm>
            <a:off x="347472" y="5897880"/>
            <a:ext cx="11402568" cy="566928"/>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317236" y="5742432"/>
            <a:ext cx="146304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비교 원칙</a:t>
            </a:r>
          </a:p>
        </p:txBody>
      </p:sp>
      <p:sp>
        <p:nvSpPr>
          <p:cNvPr id="23" name="TextBox 22"/>
          <p:cNvSpPr txBox="1"/>
          <p:nvPr/>
        </p:nvSpPr>
        <p:spPr>
          <a:xfrm>
            <a:off x="457200" y="5989320"/>
            <a:ext cx="11247120" cy="502920"/>
          </a:xfrm>
          <a:prstGeom prst="rect">
            <a:avLst/>
          </a:prstGeom>
          <a:noFill/>
        </p:spPr>
        <p:txBody>
          <a:bodyPr wrap="square" anchor="t" lIns="45720" rIns="45720" tIns="27432" bIns="27432">
            <a:spAutoFit/>
          </a:bodyPr>
          <a:lstStyle/>
          <a:p>
            <a:pPr algn="l">
              <a:spcAft>
                <a:spcPts val="200"/>
              </a:spcAft>
            </a:pPr>
            <a:r>
              <a:rPr sz="950" b="0">
                <a:solidFill>
                  <a:srgbClr val="404040"/>
                </a:solidFill>
                <a:latin typeface="맑은 고딕"/>
                <a:ea typeface="맑은 고딕"/>
                <a:cs typeface="맑은 고딕"/>
              </a:rPr>
              <a:t>Policy(C1 또는 C2 중 하나)를 두 안에 동일하게 구현해 고정하고 소속만 바꿔 측정. 정책 품질(예측 정확도)은 구조 평가에서 제외. 별점·임계값은 통합 단계(memo-threshold-unification)에서 정하며 여기서는 쓰지 않음</a:t>
            </a:r>
          </a:p>
        </p:txBody>
      </p:sp>
      <p:sp>
        <p:nvSpPr>
          <p:cNvPr id="24" name="TextBox 23"/>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DP1. Data Migration 결정 구조 - 보완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언제, 무엇을, 어느 memory tier로 이동할지 결정</a:t>
            </a:r>
          </a:p>
        </p:txBody>
      </p:sp>
      <p:sp>
        <p:nvSpPr>
          <p:cNvPr id="13" name="Rounded Rectangle 12"/>
          <p:cNvSpPr/>
          <p:nvPr/>
        </p:nvSpPr>
        <p:spPr>
          <a:xfrm>
            <a:off x="11146536"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Q4</a:t>
            </a:r>
          </a:p>
        </p:txBody>
      </p:sp>
      <p:sp>
        <p:nvSpPr>
          <p:cNvPr id="14" name="Rounded Rectangle 13"/>
          <p:cNvSpPr/>
          <p:nvPr/>
        </p:nvSpPr>
        <p:spPr>
          <a:xfrm>
            <a:off x="10396728"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Q3</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6" name="Rounded Rectangle 15"/>
          <p:cNvSpPr/>
          <p:nvPr/>
        </p:nvSpPr>
        <p:spPr>
          <a:xfrm>
            <a:off x="8897111"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Q1</a:t>
            </a:r>
          </a:p>
        </p:txBody>
      </p:sp>
      <p:sp>
        <p:nvSpPr>
          <p:cNvPr id="17" name="Rounded Rectangle 16"/>
          <p:cNvSpPr/>
          <p:nvPr/>
        </p:nvSpPr>
        <p:spPr>
          <a:xfrm>
            <a:off x="8147303"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F2</a:t>
            </a:r>
          </a:p>
        </p:txBody>
      </p:sp>
      <p:sp>
        <p:nvSpPr>
          <p:cNvPr id="18" name="Rounded Rectangle 17"/>
          <p:cNvSpPr/>
          <p:nvPr/>
        </p:nvSpPr>
        <p:spPr>
          <a:xfrm>
            <a:off x="7397495" y="630936"/>
            <a:ext cx="713232" cy="320040"/>
          </a:xfrm>
          <a:prstGeom prst="round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F1</a:t>
            </a:r>
          </a:p>
        </p:txBody>
      </p:sp>
      <p:sp>
        <p:nvSpPr>
          <p:cNvPr id="19" name="Rounded Rectangle 18"/>
          <p:cNvSpPr/>
          <p:nvPr/>
        </p:nvSpPr>
        <p:spPr>
          <a:xfrm>
            <a:off x="6647687"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C2</a:t>
            </a:r>
          </a:p>
        </p:txBody>
      </p:sp>
      <p:graphicFrame>
        <p:nvGraphicFramePr>
          <p:cNvPr id="20" name="Table 19"/>
          <p:cNvGraphicFramePr>
            <a:graphicFrameLocks noGrp="1"/>
          </p:cNvGraphicFramePr>
          <p:nvPr/>
        </p:nvGraphicFramePr>
        <p:xfrm>
          <a:off x="246888" y="1042415"/>
          <a:ext cx="11740896" cy="5166360"/>
        </p:xfrm>
        <a:graphic>
          <a:graphicData uri="http://schemas.openxmlformats.org/drawingml/2006/table">
            <a:tbl>
              <a:tblPr firstRow="0" bandRow="0">
                <a:tableStyleId>{2D5ABB26-0587-4C30-8999-92F81FD0307C}</a:tableStyleId>
              </a:tblPr>
              <a:tblGrid>
                <a:gridCol w="731520"/>
                <a:gridCol w="5504688"/>
                <a:gridCol w="5504688"/>
              </a:tblGrid>
              <a:tr h="502920">
                <a:tc>
                  <a:txBody>
                    <a:bodyPr wrap="square"/>
                    <a:lstStyle/>
                    <a:p>
                      <a:pPr algn="ctr">
                        <a:spcAft>
                          <a:spcPts val="100"/>
                        </a:spcAft>
                      </a:pPr>
                      <a:r>
                        <a:rPr sz="1100" b="0">
                          <a:solidFill>
                            <a:srgbClr val="7F7F7F"/>
                          </a:solidFill>
                          <a:latin typeface="맑은 고딕"/>
                          <a:ea typeface="맑은 고딕"/>
                          <a:cs typeface="맑은 고딕"/>
                        </a:rPr>
                        <a:t>설계 안</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100" b="1">
                          <a:solidFill>
                            <a:srgbClr val="7F7F7F"/>
                          </a:solidFill>
                          <a:latin typeface="맑은 고딕"/>
                          <a:ea typeface="맑은 고딕"/>
                          <a:cs typeface="맑은 고딕"/>
                        </a:rPr>
                        <a:t>(2안) AI Data 특성에 우선한 이동</a:t>
                      </a:r>
                    </a:p>
                    <a:p>
                      <a:pPr algn="ctr">
                        <a:spcAft>
                          <a:spcPts val="100"/>
                        </a:spcAft>
                      </a:pPr>
                      <a:r>
                        <a:rPr sz="950" b="1">
                          <a:solidFill>
                            <a:srgbClr val="7F7F7F"/>
                          </a:solidFill>
                          <a:latin typeface="맑은 고딕"/>
                          <a:ea typeface="맑은 고딕"/>
                          <a:cs typeface="맑은 고딕"/>
                        </a:rPr>
                        <a:t>결정 로직은 Control에 분리 (기존 설계를 결정 위치 구조로 표현)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100" b="1">
                          <a:solidFill>
                            <a:srgbClr val="7F7F7F"/>
                          </a:solidFill>
                          <a:latin typeface="맑은 고딕"/>
                          <a:ea typeface="맑은 고딕"/>
                          <a:cs typeface="맑은 고딕"/>
                        </a:rPr>
                        <a:t>(2안) AI Data 특성에 우선한 이동 </a:t>
                      </a:r>
                      <a:r>
                        <a:rPr sz="1100" b="1">
                          <a:solidFill>
                            <a:srgbClr val="7F7F7F"/>
                          </a:solidFill>
                          <a:latin typeface="맑은 고딕"/>
                          <a:ea typeface="맑은 고딕"/>
                          <a:cs typeface="맑은 고딕"/>
                        </a:rPr>
                        <a:t>+ 보완</a:t>
                      </a:r>
                    </a:p>
                    <a:p>
                      <a:pPr algn="ctr">
                        <a:spcAft>
                          <a:spcPts val="100"/>
                        </a:spcAft>
                      </a:pPr>
                      <a:r>
                        <a:rPr sz="900" b="1">
                          <a:solidFill>
                            <a:srgbClr val="7F7F7F"/>
                          </a:solidFill>
                          <a:latin typeface="맑은 고딕"/>
                          <a:ea typeface="맑은 고딕"/>
                          <a:cs typeface="맑은 고딕"/>
                        </a:rPr>
                        <a:t>HBM 점유 기한(Lease) 제어 + Behavior adapter (판단은 Control, 상태·이벤트는 Resource Manager)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108960">
                <a:tc>
                  <a:txBody>
                    <a:bodyPr wrap="square"/>
                    <a:lstStyle/>
                    <a:p>
                      <a:pPr algn="ctr">
                        <a:spcAft>
                          <a:spcPts val="100"/>
                        </a:spcAft>
                      </a:pPr>
                      <a:r>
                        <a:rPr sz="1000" b="0">
                          <a:solidFill>
                            <a:srgbClr val="7F7F7F"/>
                          </a:solidFill>
                          <a:latin typeface="맑은 고딕"/>
                          <a:ea typeface="맑은 고딕"/>
                          <a:cs typeface="맑은 고딕"/>
                        </a:rPr>
                        <a:t>구조</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914400">
                <a:tc>
                  <a:txBody>
                    <a:bodyPr wrap="square"/>
                    <a:lstStyle/>
                    <a:p>
                      <a:pPr algn="ctr">
                        <a:spcAft>
                          <a:spcPts val="100"/>
                        </a:spcAft>
                      </a:pPr>
                      <a:r>
                        <a:rPr sz="1000" b="0">
                          <a:solidFill>
                            <a:srgbClr val="7F7F7F"/>
                          </a:solidFill>
                          <a:latin typeface="맑은 고딕"/>
                          <a:ea typeface="맑은 고딕"/>
                          <a:cs typeface="맑은 고딕"/>
                        </a:rPr>
                        <a:t>단점
개선점</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0">
                          <a:solidFill>
                            <a:srgbClr val="A6A6A6"/>
                          </a:solidFill>
                          <a:latin typeface="맑은 고딕"/>
                          <a:ea typeface="맑은 고딕"/>
                          <a:cs typeface="맑은 고딕"/>
                        </a:rPr>
                        <a:t>• Behavior 예측에 의한 idle data의 불필요한 고속 메모리 점유 가능 (Q2)</a:t>
                      </a:r>
                    </a:p>
                    <a:p>
                      <a:pPr>
                        <a:spcAft>
                          <a:spcPts val="100"/>
                        </a:spcAft>
                      </a:pPr>
                      <a:r>
                        <a:rPr sz="1000" b="0">
                          <a:solidFill>
                            <a:srgbClr val="A6A6A6"/>
                          </a:solidFill>
                          <a:latin typeface="맑은 고딕"/>
                          <a:ea typeface="맑은 고딕"/>
                          <a:cs typeface="맑은 고딕"/>
                        </a:rPr>
                        <a:t>• 신규 workload 추가 시 변경 영향 범위 큼 (Q3)</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Behavior 예측에 의한 idle data의 불필요한 고속 메모리 점유 가능 (Q2)</a:t>
                      </a:r>
                    </a:p>
                    <a:p>
                      <a:pPr>
                        <a:spcAft>
                          <a:spcPts val="100"/>
                        </a:spcAft>
                      </a:pPr>
                      <a:r>
                        <a:rPr sz="950" b="0">
                          <a:solidFill>
                            <a:srgbClr val="FF0000"/>
                          </a:solidFill>
                          <a:latin typeface="맑은 고딕"/>
                          <a:ea typeface="맑은 고딕"/>
                          <a:cs typeface="맑은 고딕"/>
                        </a:rPr>
                        <a:t>→ HBM stage-in 시 Lease 부여, 만료 event로 migration 재평가</a:t>
                      </a:r>
                    </a:p>
                    <a:p>
                      <a:pPr>
                        <a:spcAft>
                          <a:spcPts val="100"/>
                        </a:spcAft>
                      </a:pPr>
                      <a:r>
                        <a:rPr sz="950" b="0">
                          <a:solidFill>
                            <a:srgbClr val="FF0000"/>
                          </a:solidFill>
                          <a:latin typeface="맑은 고딕"/>
                          <a:ea typeface="맑은 고딕"/>
                          <a:cs typeface="맑은 고딕"/>
                        </a:rPr>
                        <a:t>→ 최신 behavior로 Lease 연장·선별 demotion, HBM 점유율 제한</a:t>
                      </a:r>
                    </a:p>
                    <a:p>
                      <a:pPr>
                        <a:spcAft>
                          <a:spcPts val="100"/>
                        </a:spcAft>
                      </a:pPr>
                      <a:r>
                        <a:rPr sz="950" b="0">
                          <a:solidFill>
                            <a:srgbClr val="000000"/>
                          </a:solidFill>
                          <a:latin typeface="맑은 고딕"/>
                          <a:ea typeface="맑은 고딕"/>
                          <a:cs typeface="맑은 고딕"/>
                        </a:rPr>
                        <a:t>신규 workload 추가 시 변경 영향 범위 큼 (Q3)</a:t>
                      </a:r>
                    </a:p>
                    <a:p>
                      <a:pPr>
                        <a:spcAft>
                          <a:spcPts val="100"/>
                        </a:spcAft>
                      </a:pPr>
                      <a:r>
                        <a:rPr sz="950" b="0">
                          <a:solidFill>
                            <a:srgbClr val="FF0000"/>
                          </a:solidFill>
                          <a:latin typeface="맑은 고딕"/>
                          <a:ea typeface="맑은 고딕"/>
                          <a:cs typeface="맑은 고딕"/>
                        </a:rPr>
                        <a:t>→ workload 특성을 Adapter로 분리, 공통 Feature snapshot만 노출</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40080">
                <a:tc>
                  <a:txBody>
                    <a:bodyPr wrap="square"/>
                    <a:lstStyle/>
                    <a:p>
                      <a:pPr algn="ctr">
                        <a:spcAft>
                          <a:spcPts val="100"/>
                        </a:spcAft>
                      </a:pPr>
                      <a:r>
                        <a:rPr sz="1000" b="0">
                          <a:solidFill>
                            <a:srgbClr val="7F7F7F"/>
                          </a:solidFill>
                          <a:latin typeface="맑은 고딕"/>
                          <a:ea typeface="맑은 고딕"/>
                          <a:cs typeface="맑은 고딕"/>
                        </a:rPr>
                        <a:t>Tradeoff</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A6A6A6"/>
                          </a:solidFill>
                          <a:latin typeface="맑은 고딕"/>
                          <a:ea typeface="맑은 고딕"/>
                          <a:cs typeface="맑은 고딕"/>
                        </a:rPr>
                        <a:t>Q1 Performance 처리량 (tokens/s)</a:t>
                      </a:r>
                    </a:p>
                    <a:p>
                      <a:pPr>
                        <a:spcAft>
                          <a:spcPts val="100"/>
                        </a:spcAft>
                      </a:pPr>
                      <a:r>
                        <a:rPr sz="900" b="0">
                          <a:solidFill>
                            <a:srgbClr val="A6A6A6"/>
                          </a:solidFill>
                          <a:latin typeface="맑은 고딕"/>
                          <a:ea typeface="맑은 고딕"/>
                          <a:cs typeface="맑은 고딕"/>
                        </a:rPr>
                        <a:t>Q2 Resource Efficiency (HBM 사용량 GB)</a:t>
                      </a:r>
                    </a:p>
                    <a:p>
                      <a:pPr>
                        <a:spcAft>
                          <a:spcPts val="100"/>
                        </a:spcAft>
                      </a:pPr>
                      <a:r>
                        <a:rPr sz="900" b="0">
                          <a:solidFill>
                            <a:srgbClr val="A6A6A6"/>
                          </a:solidFill>
                          <a:latin typeface="맑은 고딕"/>
                          <a:ea typeface="맑은 고딕"/>
                          <a:cs typeface="맑은 고딕"/>
                        </a:rPr>
                        <a:t>Q3 Modifiability (토큰 비용, M/M)</a:t>
                      </a:r>
                    </a:p>
                    <a:p>
                      <a:pPr>
                        <a:spcAft>
                          <a:spcPts val="100"/>
                        </a:spcAft>
                      </a:pPr>
                      <a:r>
                        <a:rPr sz="900" b="0">
                          <a:solidFill>
                            <a:srgbClr val="A6A6A6"/>
                          </a:solidFill>
                          <a:latin typeface="맑은 고딕"/>
                          <a:ea typeface="맑은 고딕"/>
                          <a:cs typeface="맑은 고딕"/>
                        </a:rPr>
                        <a:t>Q4 Scalability (Scaling Efficiency)</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Q1 처리량: 확인 필요 (만료 오판 → 재stage-in 비용, 연장 규칙이 관건) [가설]</a:t>
                      </a:r>
                    </a:p>
                    <a:p>
                      <a:pPr>
                        <a:spcAft>
                          <a:spcPts val="100"/>
                        </a:spcAft>
                      </a:pPr>
                      <a:r>
                        <a:rPr sz="900" b="0">
                          <a:solidFill>
                            <a:srgbClr val="000000"/>
                          </a:solidFill>
                          <a:latin typeface="맑은 고딕"/>
                          <a:ea typeface="맑은 고딕"/>
                          <a:cs typeface="맑은 고딕"/>
                        </a:rPr>
                        <a:t>Q2 HBM 사용량: 개선 (idle data 점유에 만료 상한) [가설]</a:t>
                      </a:r>
                    </a:p>
                    <a:p>
                      <a:pPr>
                        <a:spcAft>
                          <a:spcPts val="100"/>
                        </a:spcAft>
                      </a:pPr>
                      <a:r>
                        <a:rPr sz="900" b="0">
                          <a:solidFill>
                            <a:srgbClr val="000000"/>
                          </a:solidFill>
                          <a:latin typeface="맑은 고딕"/>
                          <a:ea typeface="맑은 고딕"/>
                          <a:cs typeface="맑은 고딕"/>
                        </a:rPr>
                        <a:t>Q3 변경 비용: 개선 (workload 추가 = Adapter 1개) [가설]</a:t>
                      </a:r>
                    </a:p>
                    <a:p>
                      <a:pPr>
                        <a:spcAft>
                          <a:spcPts val="100"/>
                        </a:spcAft>
                      </a:pPr>
                      <a:r>
                        <a:rPr sz="900" b="0">
                          <a:solidFill>
                            <a:srgbClr val="000000"/>
                          </a:solidFill>
                          <a:latin typeface="맑은 고딕"/>
                          <a:ea typeface="맑은 고딕"/>
                          <a:cs typeface="맑은 고딕"/>
                        </a:rPr>
                        <a:t>Q4 확장성: 확인 필요 (Lease 수 ∝ object 수, timer 비용) [가설]</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21" name="Rectangle 20"/>
          <p:cNvSpPr/>
          <p:nvPr/>
        </p:nvSpPr>
        <p:spPr>
          <a:xfrm>
            <a:off x="1069848" y="1563624"/>
            <a:ext cx="5303520" cy="822960"/>
          </a:xfrm>
          <a:prstGeom prst="rect">
            <a:avLst/>
          </a:prstGeom>
          <a:solidFill>
            <a:srgbClr val="F0F1F3"/>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69848" y="1563624"/>
            <a:ext cx="5303520" cy="219456"/>
          </a:xfrm>
          <a:prstGeom prst="rect">
            <a:avLst/>
          </a:prstGeom>
          <a:solidFill>
            <a:srgbClr val="BFBFB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Control Plane  (Policy · 결정)</a:t>
            </a:r>
          </a:p>
        </p:txBody>
      </p:sp>
      <p:sp>
        <p:nvSpPr>
          <p:cNvPr id="23" name="Rectangle 22"/>
          <p:cNvSpPr/>
          <p:nvPr/>
        </p:nvSpPr>
        <p:spPr>
          <a:xfrm>
            <a:off x="1298448" y="1856231"/>
            <a:ext cx="1097280" cy="438912"/>
          </a:xfrm>
          <a:prstGeom prst="rect">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A6A6A6"/>
                </a:solidFill>
                <a:latin typeface="맑은 고딕"/>
                <a:ea typeface="맑은 고딕"/>
                <a:cs typeface="맑은 고딕"/>
              </a:rPr>
              <a:t>Migration
Scheduler</a:t>
            </a:r>
          </a:p>
        </p:txBody>
      </p:sp>
      <p:sp>
        <p:nvSpPr>
          <p:cNvPr id="24" name="Rectangle 23"/>
          <p:cNvSpPr/>
          <p:nvPr/>
        </p:nvSpPr>
        <p:spPr>
          <a:xfrm>
            <a:off x="2578608" y="1856231"/>
            <a:ext cx="1097280" cy="438912"/>
          </a:xfrm>
          <a:prstGeom prst="rect">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A6A6A6"/>
                </a:solidFill>
                <a:latin typeface="맑은 고딕"/>
                <a:ea typeface="맑은 고딕"/>
                <a:cs typeface="맑은 고딕"/>
              </a:rPr>
              <a:t>Data Behavior
Analyzer</a:t>
            </a:r>
          </a:p>
        </p:txBody>
      </p:sp>
      <p:sp>
        <p:nvSpPr>
          <p:cNvPr id="25" name="Rectangle 24"/>
          <p:cNvSpPr/>
          <p:nvPr/>
        </p:nvSpPr>
        <p:spPr>
          <a:xfrm>
            <a:off x="3858768" y="1856231"/>
            <a:ext cx="1097280" cy="438912"/>
          </a:xfrm>
          <a:prstGeom prst="rect">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A6A6A6"/>
                </a:solidFill>
                <a:latin typeface="맑은 고딕"/>
                <a:ea typeface="맑은 고딕"/>
                <a:cs typeface="맑은 고딕"/>
              </a:rPr>
              <a:t>Migration
Policy Engine</a:t>
            </a:r>
          </a:p>
        </p:txBody>
      </p:sp>
      <p:cxnSp>
        <p:nvCxnSpPr>
          <p:cNvPr id="26" name="Connector 25"/>
          <p:cNvCxnSpPr/>
          <p:nvPr/>
        </p:nvCxnSpPr>
        <p:spPr>
          <a:xfrm>
            <a:off x="2395728" y="2075688"/>
            <a:ext cx="182880" cy="0"/>
          </a:xfrm>
          <a:prstGeom prst="line">
            <a:avLst/>
          </a:prstGeom>
          <a:ln w="12700">
            <a:solidFill>
              <a:srgbClr val="BFBFBF"/>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675887" y="2075688"/>
            <a:ext cx="182881" cy="0"/>
          </a:xfrm>
          <a:prstGeom prst="line">
            <a:avLst/>
          </a:prstGeom>
          <a:ln w="12700">
            <a:solidFill>
              <a:srgbClr val="BFBFBF"/>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069848" y="2633472"/>
            <a:ext cx="5303520" cy="1170432"/>
          </a:xfrm>
          <a:prstGeom prst="rect">
            <a:avLst/>
          </a:prstGeom>
          <a:solidFill>
            <a:srgbClr val="F0F1F3"/>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69848" y="2633472"/>
            <a:ext cx="5303520" cy="219456"/>
          </a:xfrm>
          <a:prstGeom prst="rect">
            <a:avLst/>
          </a:prstGeom>
          <a:solidFill>
            <a:srgbClr val="BFBFB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Resource Manager  (상태·관측)</a:t>
            </a:r>
          </a:p>
        </p:txBody>
      </p:sp>
      <p:sp>
        <p:nvSpPr>
          <p:cNvPr id="30" name="Rectangle 29"/>
          <p:cNvSpPr/>
          <p:nvPr/>
        </p:nvSpPr>
        <p:spPr>
          <a:xfrm>
            <a:off x="1298448" y="2907791"/>
            <a:ext cx="1097280" cy="365760"/>
          </a:xfrm>
          <a:prstGeom prst="rect">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A6A6A6"/>
                </a:solidFill>
                <a:latin typeface="맑은 고딕"/>
                <a:ea typeface="맑은 고딕"/>
                <a:cs typeface="맑은 고딕"/>
              </a:rPr>
              <a:t>Telemetry
Collector</a:t>
            </a:r>
          </a:p>
        </p:txBody>
      </p:sp>
      <p:sp>
        <p:nvSpPr>
          <p:cNvPr id="31" name="Rectangle 30"/>
          <p:cNvSpPr/>
          <p:nvPr/>
        </p:nvSpPr>
        <p:spPr>
          <a:xfrm>
            <a:off x="2578608" y="2907791"/>
            <a:ext cx="1097280" cy="365760"/>
          </a:xfrm>
          <a:prstGeom prst="rect">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A6A6A6"/>
                </a:solidFill>
                <a:latin typeface="맑은 고딕"/>
                <a:ea typeface="맑은 고딕"/>
                <a:cs typeface="맑은 고딕"/>
              </a:rPr>
              <a:t>Data Behavior
Monitor</a:t>
            </a:r>
          </a:p>
        </p:txBody>
      </p:sp>
      <p:sp>
        <p:nvSpPr>
          <p:cNvPr id="32" name="Rectangle 31"/>
          <p:cNvSpPr/>
          <p:nvPr/>
        </p:nvSpPr>
        <p:spPr>
          <a:xfrm>
            <a:off x="5047488" y="2907791"/>
            <a:ext cx="1097280" cy="822960"/>
          </a:xfrm>
          <a:prstGeom prst="rect">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A6A6A6"/>
                </a:solidFill>
                <a:latin typeface="맑은 고딕"/>
                <a:ea typeface="맑은 고딕"/>
                <a:cs typeface="맑은 고딕"/>
              </a:rPr>
              <a:t>Data Object
Registry</a:t>
            </a:r>
          </a:p>
        </p:txBody>
      </p:sp>
      <p:cxnSp>
        <p:nvCxnSpPr>
          <p:cNvPr id="33" name="Connector 32"/>
          <p:cNvCxnSpPr/>
          <p:nvPr/>
        </p:nvCxnSpPr>
        <p:spPr>
          <a:xfrm>
            <a:off x="2395728" y="3090672"/>
            <a:ext cx="182880" cy="0"/>
          </a:xfrm>
          <a:prstGeom prst="line">
            <a:avLst/>
          </a:prstGeom>
          <a:ln w="12700">
            <a:solidFill>
              <a:srgbClr val="BFBFBF"/>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127248" y="2295144"/>
            <a:ext cx="0" cy="612647"/>
          </a:xfrm>
          <a:prstGeom prst="line">
            <a:avLst/>
          </a:prstGeom>
          <a:ln w="12700">
            <a:solidFill>
              <a:srgbClr val="BFBFB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069848" y="3849624"/>
            <a:ext cx="5303520" cy="530352"/>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69848" y="3849624"/>
            <a:ext cx="5303520" cy="219456"/>
          </a:xfrm>
          <a:prstGeom prst="rect">
            <a:avLst/>
          </a:prstGeom>
          <a:solidFill>
            <a:srgbClr val="BFBFB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Data Plane  (Mechanism · 실행)</a:t>
            </a:r>
          </a:p>
        </p:txBody>
      </p:sp>
      <p:sp>
        <p:nvSpPr>
          <p:cNvPr id="37" name="Rectangle 36"/>
          <p:cNvSpPr/>
          <p:nvPr/>
        </p:nvSpPr>
        <p:spPr>
          <a:xfrm>
            <a:off x="2578608" y="4096512"/>
            <a:ext cx="1554480" cy="256032"/>
          </a:xfrm>
          <a:prstGeom prst="rect">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A6A6A6"/>
                </a:solidFill>
                <a:latin typeface="맑은 고딕"/>
                <a:ea typeface="맑은 고딕"/>
                <a:cs typeface="맑은 고딕"/>
              </a:rPr>
              <a:t>Transfer Handler</a:t>
            </a:r>
          </a:p>
        </p:txBody>
      </p:sp>
      <p:sp>
        <p:nvSpPr>
          <p:cNvPr id="38" name="Rectangle 37"/>
          <p:cNvSpPr/>
          <p:nvPr/>
        </p:nvSpPr>
        <p:spPr>
          <a:xfrm>
            <a:off x="4315968" y="4096512"/>
            <a:ext cx="1993392" cy="256032"/>
          </a:xfrm>
          <a:prstGeom prst="rect">
            <a:avLst/>
          </a:prstGeom>
          <a:solidFill>
            <a:srgbClr val="FFFFF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A6A6A6"/>
                </a:solidFill>
                <a:latin typeface="맑은 고딕"/>
                <a:ea typeface="맑은 고딕"/>
                <a:cs typeface="맑은 고딕"/>
              </a:rPr>
              <a:t>Migration Executor</a:t>
            </a:r>
          </a:p>
        </p:txBody>
      </p:sp>
      <p:cxnSp>
        <p:nvCxnSpPr>
          <p:cNvPr id="39" name="Connector 38"/>
          <p:cNvCxnSpPr/>
          <p:nvPr/>
        </p:nvCxnSpPr>
        <p:spPr>
          <a:xfrm flipH="1">
            <a:off x="4133087" y="4224528"/>
            <a:ext cx="182881" cy="0"/>
          </a:xfrm>
          <a:prstGeom prst="line">
            <a:avLst/>
          </a:prstGeom>
          <a:ln w="12700">
            <a:solidFill>
              <a:srgbClr val="BFBFBF"/>
            </a:solidFill>
            <a:tailEnd type="triangl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1069848" y="4416552"/>
            <a:ext cx="5303520" cy="201168"/>
          </a:xfrm>
          <a:prstGeom prst="rect">
            <a:avLst/>
          </a:prstGeom>
          <a:solidFill>
            <a:srgbClr val="BFBFBF"/>
          </a:solidFill>
          <a:ln w="1016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750" b="1">
                <a:solidFill>
                  <a:srgbClr val="FFFFFF"/>
                </a:solidFill>
                <a:latin typeface="맑은 고딕"/>
                <a:ea typeface="맑은 고딕"/>
                <a:cs typeface="맑은 고딕"/>
              </a:rPr>
              <a:t>Common Memory Backend Interface  (공통 하부 계층)</a:t>
            </a:r>
          </a:p>
        </p:txBody>
      </p:sp>
      <p:cxnSp>
        <p:nvCxnSpPr>
          <p:cNvPr id="41" name="Connector 40"/>
          <p:cNvCxnSpPr/>
          <p:nvPr/>
        </p:nvCxnSpPr>
        <p:spPr>
          <a:xfrm>
            <a:off x="3310128" y="4352544"/>
            <a:ext cx="0" cy="64008"/>
          </a:xfrm>
          <a:prstGeom prst="line">
            <a:avLst/>
          </a:prstGeom>
          <a:ln w="12700">
            <a:solidFill>
              <a:srgbClr val="BFBFBF"/>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07408" y="2350008"/>
            <a:ext cx="0" cy="1746504"/>
          </a:xfrm>
          <a:prstGeom prst="line">
            <a:avLst/>
          </a:prstGeom>
          <a:ln w="19050">
            <a:solidFill>
              <a:srgbClr val="BFBFBF"/>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504688" y="3730752"/>
            <a:ext cx="0" cy="365760"/>
          </a:xfrm>
          <a:prstGeom prst="line">
            <a:avLst/>
          </a:prstGeom>
          <a:ln w="12700">
            <a:solidFill>
              <a:srgbClr val="BFBFB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574536" y="1563624"/>
            <a:ext cx="5303520" cy="82296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574536" y="1563624"/>
            <a:ext cx="5303520" cy="219456"/>
          </a:xfrm>
          <a:prstGeom prst="rect">
            <a:avLst/>
          </a:prstGeom>
          <a:solidFill>
            <a:srgbClr val="2E75B6"/>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Control Plane  (Policy · 결정)</a:t>
            </a:r>
          </a:p>
        </p:txBody>
      </p:sp>
      <p:sp>
        <p:nvSpPr>
          <p:cNvPr id="46" name="Rectangle 45"/>
          <p:cNvSpPr/>
          <p:nvPr/>
        </p:nvSpPr>
        <p:spPr>
          <a:xfrm>
            <a:off x="6803136" y="1856231"/>
            <a:ext cx="1097280" cy="438912"/>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Migration
Scheduler</a:t>
            </a:r>
          </a:p>
        </p:txBody>
      </p:sp>
      <p:sp>
        <p:nvSpPr>
          <p:cNvPr id="47" name="Rectangle 46"/>
          <p:cNvSpPr/>
          <p:nvPr/>
        </p:nvSpPr>
        <p:spPr>
          <a:xfrm>
            <a:off x="8083296" y="1856231"/>
            <a:ext cx="1097280" cy="438912"/>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Data Behavior
Analyzer</a:t>
            </a:r>
          </a:p>
        </p:txBody>
      </p:sp>
      <p:sp>
        <p:nvSpPr>
          <p:cNvPr id="48" name="Rectangle 47"/>
          <p:cNvSpPr/>
          <p:nvPr/>
        </p:nvSpPr>
        <p:spPr>
          <a:xfrm>
            <a:off x="9409176" y="1819656"/>
            <a:ext cx="2404872" cy="548640"/>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36608" y="1874519"/>
            <a:ext cx="1188720" cy="411480"/>
          </a:xfrm>
          <a:prstGeom prst="rect">
            <a:avLst/>
          </a:prstGeom>
          <a:noFill/>
        </p:spPr>
        <p:txBody>
          <a:bodyPr wrap="square" anchor="t" lIns="45720" rIns="45720" tIns="27432" bIns="27432">
            <a:spAutoFit/>
          </a:bodyPr>
          <a:lstStyle/>
          <a:p>
            <a:pPr algn="l">
              <a:spcAft>
                <a:spcPts val="200"/>
              </a:spcAft>
            </a:pPr>
            <a:r>
              <a:rPr sz="800" b="0">
                <a:solidFill>
                  <a:srgbClr val="000000"/>
                </a:solidFill>
                <a:latin typeface="맑은 고딕"/>
                <a:ea typeface="맑은 고딕"/>
                <a:cs typeface="맑은 고딕"/>
              </a:rPr>
              <a:t>Migration
Policy Engine</a:t>
            </a:r>
          </a:p>
        </p:txBody>
      </p:sp>
      <p:sp>
        <p:nvSpPr>
          <p:cNvPr id="50" name="Rectangle 49"/>
          <p:cNvSpPr/>
          <p:nvPr/>
        </p:nvSpPr>
        <p:spPr>
          <a:xfrm>
            <a:off x="10689336" y="1965960"/>
            <a:ext cx="1005840" cy="347472"/>
          </a:xfrm>
          <a:prstGeom prst="rect">
            <a:avLst/>
          </a:prstGeom>
          <a:solidFill>
            <a:srgbClr val="FBE5D6"/>
          </a:solidFill>
          <a:ln w="1016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HBM Lease
Granter</a:t>
            </a:r>
          </a:p>
        </p:txBody>
      </p:sp>
      <p:cxnSp>
        <p:nvCxnSpPr>
          <p:cNvPr id="51" name="Connector 50"/>
          <p:cNvCxnSpPr/>
          <p:nvPr/>
        </p:nvCxnSpPr>
        <p:spPr>
          <a:xfrm>
            <a:off x="7900416" y="2075688"/>
            <a:ext cx="182880" cy="0"/>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7918704" y="1847088"/>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1</a:t>
            </a:r>
          </a:p>
        </p:txBody>
      </p:sp>
      <p:cxnSp>
        <p:nvCxnSpPr>
          <p:cNvPr id="53" name="Connector 52"/>
          <p:cNvCxnSpPr/>
          <p:nvPr/>
        </p:nvCxnSpPr>
        <p:spPr>
          <a:xfrm>
            <a:off x="9180576" y="2075688"/>
            <a:ext cx="228600" cy="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9208008" y="1847088"/>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3</a:t>
            </a:r>
          </a:p>
        </p:txBody>
      </p:sp>
      <p:sp>
        <p:nvSpPr>
          <p:cNvPr id="55" name="Rectangle 54"/>
          <p:cNvSpPr/>
          <p:nvPr/>
        </p:nvSpPr>
        <p:spPr>
          <a:xfrm>
            <a:off x="6574536" y="2633472"/>
            <a:ext cx="5303520" cy="1170432"/>
          </a:xfrm>
          <a:prstGeom prst="rect">
            <a:avLst/>
          </a:prstGeom>
          <a:solidFill>
            <a:srgbClr val="F0F1F3"/>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574536" y="2633472"/>
            <a:ext cx="5303520" cy="219456"/>
          </a:xfrm>
          <a:prstGeom prst="rect">
            <a:avLst/>
          </a:prstGeom>
          <a:solidFill>
            <a:srgbClr val="595959"/>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Resource Manager  (상태·관측·이벤트)</a:t>
            </a:r>
          </a:p>
        </p:txBody>
      </p:sp>
      <p:sp>
        <p:nvSpPr>
          <p:cNvPr id="57" name="Rectangle 56"/>
          <p:cNvSpPr/>
          <p:nvPr/>
        </p:nvSpPr>
        <p:spPr>
          <a:xfrm>
            <a:off x="6803136" y="2907791"/>
            <a:ext cx="1097280" cy="365760"/>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Data Behavior
Monitor</a:t>
            </a:r>
          </a:p>
        </p:txBody>
      </p:sp>
      <p:sp>
        <p:nvSpPr>
          <p:cNvPr id="58" name="Rectangle 57"/>
          <p:cNvSpPr/>
          <p:nvPr/>
        </p:nvSpPr>
        <p:spPr>
          <a:xfrm>
            <a:off x="8083296" y="2907791"/>
            <a:ext cx="1097280" cy="365760"/>
          </a:xfrm>
          <a:prstGeom prst="rect">
            <a:avLst/>
          </a:prstGeom>
          <a:solidFill>
            <a:srgbClr val="DEEBF7"/>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Behavior Feature
Adapter</a:t>
            </a:r>
          </a:p>
        </p:txBody>
      </p:sp>
      <p:sp>
        <p:nvSpPr>
          <p:cNvPr id="59" name="Rectangle 58"/>
          <p:cNvSpPr/>
          <p:nvPr/>
        </p:nvSpPr>
        <p:spPr>
          <a:xfrm>
            <a:off x="9363456" y="2907791"/>
            <a:ext cx="1097280" cy="365760"/>
          </a:xfrm>
          <a:prstGeom prst="rect">
            <a:avLst/>
          </a:prstGeom>
          <a:solidFill>
            <a:srgbClr val="FBE5D6"/>
          </a:solidFill>
          <a:ln w="1016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Lease Timer</a:t>
            </a:r>
          </a:p>
        </p:txBody>
      </p:sp>
      <p:sp>
        <p:nvSpPr>
          <p:cNvPr id="60" name="Rectangle 59"/>
          <p:cNvSpPr/>
          <p:nvPr/>
        </p:nvSpPr>
        <p:spPr>
          <a:xfrm>
            <a:off x="6803136" y="3364991"/>
            <a:ext cx="1097280" cy="365760"/>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Telemetry
Collector</a:t>
            </a:r>
          </a:p>
        </p:txBody>
      </p:sp>
      <p:sp>
        <p:nvSpPr>
          <p:cNvPr id="61" name="Rectangle 60"/>
          <p:cNvSpPr/>
          <p:nvPr/>
        </p:nvSpPr>
        <p:spPr>
          <a:xfrm>
            <a:off x="10552176" y="2907791"/>
            <a:ext cx="1097280" cy="822960"/>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570463" y="2926080"/>
            <a:ext cx="1060704" cy="365760"/>
          </a:xfrm>
          <a:prstGeom prst="rect">
            <a:avLst/>
          </a:prstGeom>
          <a:noFill/>
        </p:spPr>
        <p:txBody>
          <a:bodyPr wrap="square" anchor="t" lIns="45720" rIns="45720" tIns="27432" bIns="27432">
            <a:spAutoFit/>
          </a:bodyPr>
          <a:lstStyle/>
          <a:p>
            <a:pPr algn="ctr">
              <a:spcAft>
                <a:spcPts val="200"/>
              </a:spcAft>
            </a:pPr>
            <a:r>
              <a:rPr sz="750" b="0">
                <a:solidFill>
                  <a:srgbClr val="000000"/>
                </a:solidFill>
                <a:latin typeface="맑은 고딕"/>
                <a:ea typeface="맑은 고딕"/>
                <a:cs typeface="맑은 고딕"/>
              </a:rPr>
              <a:t>Data Object
Registry</a:t>
            </a:r>
          </a:p>
        </p:txBody>
      </p:sp>
      <p:sp>
        <p:nvSpPr>
          <p:cNvPr id="63" name="Rectangle 62"/>
          <p:cNvSpPr/>
          <p:nvPr/>
        </p:nvSpPr>
        <p:spPr>
          <a:xfrm>
            <a:off x="10616184" y="3364991"/>
            <a:ext cx="969264" cy="329184"/>
          </a:xfrm>
          <a:prstGeom prst="rect">
            <a:avLst/>
          </a:prstGeom>
          <a:solidFill>
            <a:srgbClr val="FBE5D6"/>
          </a:solidFill>
          <a:ln w="1016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750" b="0">
                <a:solidFill>
                  <a:srgbClr val="000000"/>
                </a:solidFill>
                <a:latin typeface="맑은 고딕"/>
                <a:ea typeface="맑은 고딕"/>
                <a:cs typeface="맑은 고딕"/>
              </a:rPr>
              <a:t>Lease
Metadata</a:t>
            </a:r>
          </a:p>
        </p:txBody>
      </p:sp>
      <p:cxnSp>
        <p:nvCxnSpPr>
          <p:cNvPr id="64" name="Connector 63"/>
          <p:cNvCxnSpPr/>
          <p:nvPr/>
        </p:nvCxnSpPr>
        <p:spPr>
          <a:xfrm flipV="1">
            <a:off x="7351775" y="3273552"/>
            <a:ext cx="0" cy="91439"/>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900416" y="3090672"/>
            <a:ext cx="182880" cy="0"/>
          </a:xfrm>
          <a:prstGeom prst="line">
            <a:avLst/>
          </a:prstGeom>
          <a:ln w="12700">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631936" y="2295144"/>
            <a:ext cx="0" cy="612647"/>
          </a:xfrm>
          <a:prstGeom prst="line">
            <a:avLst/>
          </a:prstGeom>
          <a:ln w="15240">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8686800" y="2478024"/>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2</a:t>
            </a:r>
          </a:p>
        </p:txBody>
      </p:sp>
      <p:cxnSp>
        <p:nvCxnSpPr>
          <p:cNvPr id="68" name="Connector 67"/>
          <p:cNvCxnSpPr/>
          <p:nvPr/>
        </p:nvCxnSpPr>
        <p:spPr>
          <a:xfrm>
            <a:off x="10460736" y="3090672"/>
            <a:ext cx="91440" cy="0"/>
          </a:xfrm>
          <a:prstGeom prst="line">
            <a:avLst/>
          </a:prstGeom>
          <a:ln w="12700">
            <a:solidFill>
              <a:srgbClr val="C55A1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1192255" y="2368296"/>
            <a:ext cx="0" cy="539495"/>
          </a:xfrm>
          <a:prstGeom prst="line">
            <a:avLst/>
          </a:prstGeom>
          <a:ln w="15240">
            <a:solidFill>
              <a:srgbClr val="C55A1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1247120" y="2478024"/>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7</a:t>
            </a:r>
          </a:p>
        </p:txBody>
      </p:sp>
      <p:cxnSp>
        <p:nvCxnSpPr>
          <p:cNvPr id="71" name="Connector 70"/>
          <p:cNvCxnSpPr/>
          <p:nvPr/>
        </p:nvCxnSpPr>
        <p:spPr>
          <a:xfrm flipV="1">
            <a:off x="9912096" y="2532888"/>
            <a:ext cx="0" cy="374903"/>
          </a:xfrm>
          <a:prstGeom prst="line">
            <a:avLst/>
          </a:prstGeom>
          <a:ln w="15240">
            <a:solidFill>
              <a:srgbClr val="C55A11"/>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7351775" y="2532888"/>
            <a:ext cx="2560321" cy="0"/>
          </a:xfrm>
          <a:prstGeom prst="line">
            <a:avLst/>
          </a:prstGeom>
          <a:ln w="15240">
            <a:solidFill>
              <a:srgbClr val="C55A11"/>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7351775" y="2295144"/>
            <a:ext cx="0" cy="237744"/>
          </a:xfrm>
          <a:prstGeom prst="line">
            <a:avLst/>
          </a:prstGeom>
          <a:ln w="15240">
            <a:solidFill>
              <a:srgbClr val="C55A1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7406640" y="2331720"/>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8</a:t>
            </a:r>
          </a:p>
        </p:txBody>
      </p:sp>
      <p:sp>
        <p:nvSpPr>
          <p:cNvPr id="75" name="TextBox 74"/>
          <p:cNvSpPr txBox="1"/>
          <p:nvPr/>
        </p:nvSpPr>
        <p:spPr>
          <a:xfrm>
            <a:off x="7626096" y="2368296"/>
            <a:ext cx="1280160" cy="146304"/>
          </a:xfrm>
          <a:prstGeom prst="rect">
            <a:avLst/>
          </a:prstGeom>
          <a:noFill/>
        </p:spPr>
        <p:txBody>
          <a:bodyPr wrap="square" anchor="t" lIns="45720" rIns="45720" tIns="27432" bIns="27432">
            <a:spAutoFit/>
          </a:bodyPr>
          <a:lstStyle/>
          <a:p>
            <a:pPr algn="l">
              <a:spcAft>
                <a:spcPts val="200"/>
              </a:spcAft>
            </a:pPr>
            <a:r>
              <a:rPr sz="650" b="0">
                <a:solidFill>
                  <a:srgbClr val="C55A11"/>
                </a:solidFill>
                <a:latin typeface="맑은 고딕"/>
                <a:ea typeface="맑은 고딕"/>
                <a:cs typeface="맑은 고딕"/>
              </a:rPr>
              <a:t>Lease Expired (event)</a:t>
            </a:r>
          </a:p>
        </p:txBody>
      </p:sp>
      <p:sp>
        <p:nvSpPr>
          <p:cNvPr id="76" name="TextBox 75"/>
          <p:cNvSpPr txBox="1"/>
          <p:nvPr/>
        </p:nvSpPr>
        <p:spPr>
          <a:xfrm>
            <a:off x="8723376" y="2368296"/>
            <a:ext cx="1097280" cy="146304"/>
          </a:xfrm>
          <a:prstGeom prst="rect">
            <a:avLst/>
          </a:prstGeom>
          <a:noFill/>
        </p:spPr>
        <p:txBody>
          <a:bodyPr wrap="square" anchor="t" lIns="45720" rIns="45720" tIns="27432" bIns="27432">
            <a:spAutoFit/>
          </a:bodyPr>
          <a:lstStyle/>
          <a:p>
            <a:pPr algn="l">
              <a:spcAft>
                <a:spcPts val="200"/>
              </a:spcAft>
            </a:pPr>
            <a:r>
              <a:rPr sz="650" b="0">
                <a:solidFill>
                  <a:srgbClr val="2E75B6"/>
                </a:solidFill>
                <a:latin typeface="맑은 고딕"/>
                <a:ea typeface="맑은 고딕"/>
                <a:cs typeface="맑은 고딕"/>
              </a:rPr>
              <a:t>Feature snapshot</a:t>
            </a:r>
          </a:p>
        </p:txBody>
      </p:sp>
      <p:sp>
        <p:nvSpPr>
          <p:cNvPr id="77" name="Rectangle 76"/>
          <p:cNvSpPr/>
          <p:nvPr/>
        </p:nvSpPr>
        <p:spPr>
          <a:xfrm>
            <a:off x="6574536" y="3849624"/>
            <a:ext cx="5303520" cy="530352"/>
          </a:xfrm>
          <a:prstGeom prst="rect">
            <a:avLst/>
          </a:prstGeom>
          <a:solidFill>
            <a:srgbClr val="E2F0D9"/>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574536" y="3849624"/>
            <a:ext cx="5303520" cy="219456"/>
          </a:xfrm>
          <a:prstGeom prst="rect">
            <a:avLst/>
          </a:prstGeom>
          <a:solidFill>
            <a:srgbClr val="548235"/>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900" b="1">
                <a:solidFill>
                  <a:srgbClr val="FFFFFF"/>
                </a:solidFill>
                <a:latin typeface="맑은 고딕"/>
                <a:ea typeface="맑은 고딕"/>
                <a:cs typeface="맑은 고딕"/>
              </a:rPr>
              <a:t>Data Plane  (Mechanism · 실행)</a:t>
            </a:r>
          </a:p>
        </p:txBody>
      </p:sp>
      <p:sp>
        <p:nvSpPr>
          <p:cNvPr id="79" name="Rectangle 78"/>
          <p:cNvSpPr/>
          <p:nvPr/>
        </p:nvSpPr>
        <p:spPr>
          <a:xfrm>
            <a:off x="8083296" y="4096512"/>
            <a:ext cx="1554480" cy="256032"/>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Transfer Handler</a:t>
            </a:r>
          </a:p>
        </p:txBody>
      </p:sp>
      <p:sp>
        <p:nvSpPr>
          <p:cNvPr id="80" name="Rectangle 79"/>
          <p:cNvSpPr/>
          <p:nvPr/>
        </p:nvSpPr>
        <p:spPr>
          <a:xfrm>
            <a:off x="9820656" y="4096512"/>
            <a:ext cx="1993392" cy="256032"/>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0">
                <a:solidFill>
                  <a:srgbClr val="000000"/>
                </a:solidFill>
                <a:latin typeface="맑은 고딕"/>
                <a:ea typeface="맑은 고딕"/>
                <a:cs typeface="맑은 고딕"/>
              </a:rPr>
              <a:t>Migration Executor</a:t>
            </a:r>
          </a:p>
        </p:txBody>
      </p:sp>
      <p:cxnSp>
        <p:nvCxnSpPr>
          <p:cNvPr id="81" name="Connector 80"/>
          <p:cNvCxnSpPr/>
          <p:nvPr/>
        </p:nvCxnSpPr>
        <p:spPr>
          <a:xfrm flipH="1">
            <a:off x="9637776" y="4224528"/>
            <a:ext cx="182880" cy="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6574536" y="4416552"/>
            <a:ext cx="5303520" cy="201168"/>
          </a:xfrm>
          <a:prstGeom prst="rect">
            <a:avLst/>
          </a:prstGeom>
          <a:solidFill>
            <a:srgbClr val="595959"/>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750" b="1">
                <a:solidFill>
                  <a:srgbClr val="FFFFFF"/>
                </a:solidFill>
                <a:latin typeface="맑은 고딕"/>
                <a:ea typeface="맑은 고딕"/>
                <a:cs typeface="맑은 고딕"/>
              </a:rPr>
              <a:t>Common Memory Backend Interface  (공통 하부 계층)</a:t>
            </a:r>
          </a:p>
        </p:txBody>
      </p:sp>
      <p:cxnSp>
        <p:nvCxnSpPr>
          <p:cNvPr id="83" name="Connector 82"/>
          <p:cNvCxnSpPr/>
          <p:nvPr/>
        </p:nvCxnSpPr>
        <p:spPr>
          <a:xfrm>
            <a:off x="8814816" y="4352544"/>
            <a:ext cx="0" cy="64008"/>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1759184" y="2350008"/>
            <a:ext cx="0" cy="1746504"/>
          </a:xfrm>
          <a:prstGeom prst="line">
            <a:avLst/>
          </a:prstGeom>
          <a:ln w="19050">
            <a:solidFill>
              <a:srgbClr val="C55A11"/>
            </a:solidFill>
            <a:tailEnd type="triangle"/>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1009376" y="3730752"/>
            <a:ext cx="0" cy="365760"/>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6" name="Oval 85"/>
          <p:cNvSpPr/>
          <p:nvPr/>
        </p:nvSpPr>
        <p:spPr>
          <a:xfrm>
            <a:off x="11795760" y="2478024"/>
            <a:ext cx="182880" cy="1828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800" b="1">
                <a:solidFill>
                  <a:srgbClr val="FFFFFF"/>
                </a:solidFill>
                <a:latin typeface="맑은 고딕"/>
                <a:ea typeface="맑은 고딕"/>
                <a:cs typeface="맑은 고딕"/>
              </a:rPr>
              <a:t>4</a:t>
            </a:r>
          </a:p>
        </p:txBody>
      </p:sp>
      <p:sp>
        <p:nvSpPr>
          <p:cNvPr id="87" name="Rectangle 86"/>
          <p:cNvSpPr/>
          <p:nvPr/>
        </p:nvSpPr>
        <p:spPr>
          <a:xfrm>
            <a:off x="6483096" y="1042415"/>
            <a:ext cx="5504688" cy="516636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84048" y="6254496"/>
            <a:ext cx="11430000" cy="310896"/>
          </a:xfrm>
          <a:prstGeom prst="rect">
            <a:avLst/>
          </a:prstGeom>
          <a:noFill/>
        </p:spPr>
        <p:txBody>
          <a:bodyPr wrap="square" anchor="t" lIns="45720" rIns="45720" tIns="27432" bIns="27432">
            <a:spAutoFit/>
          </a:bodyPr>
          <a:lstStyle/>
          <a:p>
            <a:pPr algn="l">
              <a:spcAft>
                <a:spcPts val="0"/>
              </a:spcAft>
            </a:pPr>
            <a:r>
              <a:rPr sz="750" b="0">
                <a:solidFill>
                  <a:srgbClr val="595959"/>
                </a:solidFill>
                <a:latin typeface="맑은 고딕"/>
                <a:ea typeface="맑은 고딕"/>
                <a:cs typeface="맑은 고딕"/>
              </a:rPr>
              <a:t>① 평가 cycle 시작  ② Feature snapshot 조회  ③ 판단  ④ MigrationIntent 발행  ⑤ commit 결과 갱신  ⑥ 이동 실행  ⑦ Lease 부여·갱신(Metadata 기록)  ⑧ Lease Expired event(Resource Manager → Scheduler, 비동기)</a:t>
            </a:r>
          </a:p>
          <a:p>
            <a:pPr algn="l">
              <a:spcAft>
                <a:spcPts val="0"/>
              </a:spcAft>
            </a:pPr>
            <a:r>
              <a:rPr sz="750" b="0">
                <a:solidFill>
                  <a:srgbClr val="595959"/>
                </a:solidFill>
                <a:latin typeface="맑은 고딕"/>
                <a:ea typeface="맑은 고딕"/>
                <a:cs typeface="맑은 고딕"/>
              </a:rPr>
              <a:t>주황 = HBM 점유 제어(Lease) 보완 · 파랑 = workload Adapter 보완 · 노랑 = 후보 특화 · 점선 = 비동기/조회/기록 | 배치는 [제안]: Lease Timer는 상태 소유 측, Granter는 판단 측 | 별점은 구조 변경 후 재평가</a:t>
            </a:r>
          </a:p>
        </p:txBody>
      </p:sp>
      <p:sp>
        <p:nvSpPr>
          <p:cNvPr id="89" name="TextBox 88"/>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4</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5707</Words>
  <Application>Microsoft Office PowerPoint</Application>
  <PresentationFormat>와이드스크린</PresentationFormat>
  <Paragraphs>852</Paragraphs>
  <Slides>10</Slides>
  <Notes>10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10</vt:i4>
      </vt:variant>
    </vt:vector>
  </HeadingPairs>
  <TitlesOfParts>
    <vt:vector size="16" baseType="lpstr">
      <vt:lpstr>Samsung Sharp Sans Bold</vt:lpstr>
      <vt:lpstr>맑은 고딕</vt:lpstr>
      <vt:lpstr>맑은 고딕</vt:lpstr>
      <vt:lpstr>Arial</vt:lpstr>
      <vt:lpstr>Wingdings</vt:lpstr>
      <vt:lpstr>Office 테마</vt:lpstr>
      <vt:lpstr>DP1. 이기종 메모리 기반 Data Migration 결정 구조 - 배경</vt:lpstr>
      <vt:lpstr>DP1. 이기종 메모리 기반 Data Migration 결정 구조 - 배경</vt:lpstr>
      <vt:lpstr>DP1. 이기종 메모리 기반 Data Migration 결정 구조 - 설계</vt:lpstr>
      <vt:lpstr>DP1. 이기종 메모리 기반 Data Migration 결정 구조 - 설계</vt:lpstr>
      <vt:lpstr>DP2. 이기종 메모리 환경의 Prefill/Decode 실행 위치 결정 구조 - 사전 지식</vt:lpstr>
      <vt:lpstr>DP2. 이기종 메모리 환경의 Prefill/Decode 실행 위치 결정 구조 - 배경</vt:lpstr>
      <vt:lpstr>DP2. 이기종 메모리 환경의 Prefill/Decode 실행 위치 결정 구조 - 설계</vt:lpstr>
      <vt:lpstr>DP4. 요청 조율 구조 (Orchestration) - 배경</vt:lpstr>
      <vt:lpstr>DP4. 여러 서버를 묶는 요청 조율 구조 - 배경</vt:lpstr>
      <vt:lpstr>DP4. 요청 조율 계층 (Orchestration) 설계 - 구조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DP1. 이기종 메모리 기반 Data Migration 결정 구조 - 배경</dc:title>
  <dc:creator>Myeong Woo Kim</dc:creator>
  <cp:lastModifiedBy>Myeong Woo Kim</cp:lastModifiedBy>
  <cp:revision>1</cp:revision>
  <dcterms:created xsi:type="dcterms:W3CDTF">2026-10-10T04:25:41Z</dcterms:created>
  <dcterms:modified xsi:type="dcterms:W3CDTF">2026-10-10T04:26:54Z</dcterms:modified>
</cp:coreProperties>
</file>
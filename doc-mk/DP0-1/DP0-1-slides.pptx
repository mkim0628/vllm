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639" r:id="rId2"/>
    <p:sldId id="641" r:id="rId3"/>
    <p:sldId id="697" r:id="rId4"/>
    <p:sldId id="558" r:id="rId5"/>
    <p:sldId id="698" r:id="rId11"/>
    <p:sldId id="699" r:id="rId12"/>
    <p:sldId id="700"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60"/>
  </p:normalViewPr>
  <p:slideViewPr>
    <p:cSldViewPr snapToGrid="0">
      <p:cViewPr varScale="1">
        <p:scale>
          <a:sx n="90" d="100"/>
          <a:sy n="90" d="100"/>
        </p:scale>
        <p:origin x="1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E1C3EA-E54E-452B-BF39-31AE508A1EC4}" type="datetimeFigureOut">
              <a:rPr lang="ko-KR" altLang="en-US" smtClean="0"/>
              <a:t>2026-10-06</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10E541-7D41-41DD-B971-E4DBBB729B43}" type="slidenum">
              <a:rPr lang="ko-KR" altLang="en-US" smtClean="0"/>
              <a:t>‹#›</a:t>
            </a:fld>
            <a:endParaRPr lang="ko-KR" altLang="en-US"/>
          </a:p>
        </p:txBody>
      </p:sp>
    </p:spTree>
    <p:extLst>
      <p:ext uri="{BB962C8B-B14F-4D97-AF65-F5344CB8AC3E}">
        <p14:creationId xmlns:p14="http://schemas.microsoft.com/office/powerpoint/2010/main" val="401889780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[DP0 배경 - 서버 1대 안에서 서버 여러 대로]</a:t>
            </a:r>
          </a:p>
          <a:p>
            <a:r>
              <a:t>먼저 왼쪽입니다. LLM을 돌리는 추론 서버(vLLM 인스턴스) 1대 안에는 GPU의 HBM, 호스트의 DRAM, 그리고 최근 등장한 CXL-PNM, HBF, SSD-PIM 같은 신규 메모리가 섞여 있습니다. 일반 SW로 비유하면 L1/L2 캐시, 메모리, SSD처럼 속도는 빠르고 용량은 작은 것부터 느리고 큰 것까지 계층이 있는 것과 같습니다. LLM이 이전 입력을 다시 계산하지 않으려고 저장해 두는 중간 결과를 KV 캐시라고 부르는데, 이것을 어느 메모리에 두느냐가 성능을 좌우합니다. 이 서버 1대 안의 결정이 지금까지 진행한 DP1~DP4의 범위입니다.</a:t>
            </a:r>
          </a:p>
          <a:p>
            <a:r>
              <a:t>오른쪽은 이 서버를 여러 대, 즉 Rack 규모로 늘렸을 때입니다. 서버마다 메모리 사용 상태와 KV 캐시를 가진 상태가 다르기 때문에, 같은 요청도 어느 서버로 보내느냐에 따라 성능이 크게 달라집니다. 입력 처리(Prefill)와 응답 생성(Decode)을 서로 다른 서버에서 나눠 실행하거나 서버끼리 KV 캐시를 주고받는 일도 생깁니다.</a:t>
            </a:r>
          </a:p>
          <a:p>
            <a:r>
              <a:t>이런 서버 간 결정, 즉 요청 라우팅, Prefill/Decode 분리, KV 공유, 서버 확장을 맡는 것이 요청 조율 계층(Orchestration)입니다. 웹 서비스의 로드밸런서와 스케줄러를 합친 역할입니다. vLLM은 서버 1대 안까지만 다루고, llm-d와 Dynamo 같은 오픈소스가 서버들을 묶는 계층을 제공하므로 두 쪽의 축이 다릅니다. 이 계층을 이기종 메모리 상태까지 반영하도록 어떻게 구성할지가 DP0이고, 다음 장에서 현재 구조와 목표 구조로 정리합니다.</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1</a:t>
            </a:fld>
            <a:endParaRPr lang="ko-KR" altLang="en-US"/>
          </a:p>
        </p:txBody>
      </p:sp>
    </p:spTree>
    <p:extLst>
      <p:ext uri="{BB962C8B-B14F-4D97-AF65-F5344CB8AC3E}">
        <p14:creationId xmlns:p14="http://schemas.microsoft.com/office/powerpoint/2010/main" val="3516125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[DP0 배경 - As-Is와 To-Be]</a:t>
            </a:r>
          </a:p>
          <a:p>
            <a:r>
              <a:t>먼저 용어 하나만 짚겠습니다. 저희 시스템은 LLM을 실제로 돌리는 서버(vLLM 인스턴스)가 여러 대 있고, 그 앞에서 요청을 나눠 주는 '요청 조율 계층'이 있습니다. 웹 서비스의 로드밸런서와 스케줄러를 합친 역할입니다. 각 서버는 이전 대화의 중간 결과(KV 캐시)를 HBM, DRAM, CXL 같은 서로 다른 속도의 메모리에 나눠 보관합니다.</a:t>
            </a:r>
          </a:p>
          <a:p>
            <a:r>
              <a:t>왼쪽 As-Is가 지금의 오픈소스(llm-d, Dynamo) 방식입니다. 조율기가 후보 서버에 점수를 매겨 하나를 고르는데, 메모리 종류별 점수가 'GPU 1.0, CPU 0.8'처럼 고정 값입니다. Prefill/Decode(입력 처리와 응답 생성)를 다른 서버에서 나눠 실행할지도 고정 기준으로 정합니다. 정작 서버 안의 메모리 사용량이나 전송 대기 같은 실시간 상태는 판단에 들어가지 않고, 새 메모리(CXL, HBF)는 구분조차 못 합니다. 즉 서버 안에서 애써 얻은 성능 이득이 요청 배분 단계에서 사라질 수 있습니다.</a:t>
            </a:r>
          </a:p>
          <a:p>
            <a:r>
              <a:t>오른쪽 To-Be는 같은 여섯 가지 기능 블록(요청 수신·중계, 서버 선택 로직, 상태 수집, 흐름 제어, Prefill/Decode 조율, 서버 발견·확장)을 유지합니다. 다만 상태 수집에 메모리 종류별 캐시 보유 위치와 사용량·전송 대기 수치를 추가하고, 서버 선택 로직이 이를 비용으로 환산해 판단하게 합니다. 모니터링 메트릭을 읽어 라우팅에 반영하는 구조라고 보시면 됩니다. 이것이 설계 쟁점 1이고, 처리량과 첫 응답 시간(TTFT)을 높이기 위한 설계입니다.</a:t>
            </a:r>
          </a:p>
          <a:p>
            <a:r>
              <a:t>새 메모리나 정책이 생기거나 서버가 늘어도 기존 구조를 바꾸지 않아야 하므로 확장 지점이 필요합니다. 이것이 설계 쟁점 2이고, 변경 용이성과 서버를 늘릴 때의 확장성을 위한 것입니다. 이 확장 지점을 오픈소스를 확장해서 만들지 직접 구현할지가 다음 장들의 1안과 2안입니다.</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13769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슬라이드는 이 설계 결정이 풀어야 할 문제를 일반 소프트웨어의 요구사항 분류로 정리한 것입니다. 왼쪽은 기능 요구사항, 즉 '무엇을 해야 하나'입니다. 여러 추론 서버(vLLM 인스턴스) 앞단에서 로드밸런서처럼 요청을 어느 서버로 보낼지 고르고(F1), 서버가 알려 주는 메모리 상태를 모으고(F2), 입력 처리(Prefill)와 응답 생성(Decode)을 서버를 나눠 실행할지 정하고(F3), 서버에 메모리 사용 지시를 내리고(F4), 과부하를 조절하고(F5), 서버 증감을 자동 반영(F6)합니다. 이 중 F5, F6은 오픈소스가 이미 제공하고, 우리가 더해야 할 부분은 F1~F4에서 이기종 메모리 상태를 반영하는 부분입니다. 가운데는 비기능 요구사항(품질 속성)으로 '얼마나 잘 해야 하나'입니다. 처리량, 응답 지연(첫 응답까지 시간), 변경 용이성, 서버를 늘릴 때의 확장성 네 가지를 측정 지표와 함께 정했습니다. 목표 수치는 기준선(baseline)을 측정한 뒤 확정하며, 현재는 가설 단계입니다. 자원 활용률과 모델 정확도는 후보 간 차이를 가르지 못해 품질 속성에서 제외했고, 정확도는 제약 C3으로 처리합니다. 오른쪽은 제약사항으로 '못 건드리는 조건'입니다. vLLM 고정, GPU 서버 2대 환경, 정확도 불변, 오픈소스 업스트림 추적, 서버 내부 설계와의 인터페이스 고정, 5개 정책 표현 가능입니다. 한 줄로 말하면, 서버 내부의 메모리 상태를 반영해 요청을 배분하되 품질 목표를 만족하고 이 제약 안에서 해결하는 것입니다.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[DP0-1 구조 - S1 대 S2]</a:t>
            </a:r>
          </a:p>
          <a:p>
            <a:r>
              <a:t>이전에는 같은 구조를 OSS로 만들까 직접 만들까를 비교했는데, 그건 구조 설계가 아니라 구현 방식 비교였습니다. 그래서 구조 자체를 다르게 가져가는 두 후보로 다시 잡았습니다. 화면의 회색은 두 안이 같은 부분(Client, 요청 경로, 흐름 제어, 서버 선택·P/D 조율의 자리, 서버 발견, vLLM)이고, 색이 진한 부분만 다릅니다.</a:t>
            </a:r>
          </a:p>
          <a:p>
            <a:r>
              <a:t>S1은 Router가 모든 서버의 KV 이벤트를 받아 블록 단위 전역 index를 갖고, 서버와 메모리 계층까지 요청마다 정해 지시합니다. 그래서 위아래 화살표가 굵습니다(메시지량이 많음).</a:t>
            </a:r>
          </a:p>
          <a:p>
            <a:r>
              <a:t>S2는 Router가 노드별 요약만 보고 노드만 고릅니다. 메모리 계층 선택(P1~P3, P5)은 각 노드의 에이전트가 최신 로컬 상태로 내립니다. 에이전트는 vLLM을 고치지 않는 옆 프로세스이고, DP1~DP4의 결정 모듈이 그 안에서 동작합니다. 화살표는 가늘고(요약), Router의 상태 박스는 작습니다.</a:t>
            </a:r>
          </a:p>
          <a:p>
            <a:r>
              <a:t>차이는 세 가지 결정입니다. Δ1 상태를 블록 단위로 Router에 모을지 노드 요약만 올릴지, Δ2 메모리 계층 결정을 Router가 할지 노드가 할지, Δ3 요청마다 지시를 내릴지 힌트만 주고 로컬에 맡길지입니다. P5(계층 지시)의 수신·실행은 어느 쪽이든 vLLM이고, 송신하는 쪽이 달라집니다.</a:t>
            </a:r>
          </a:p>
        </p:txBody>
      </p:sp>
      <p:sp>
        <p:nvSpPr>
          <p:cNvPr id="4" name="슬라이드 번호 개체 틀 3"/>
          <p:cNvSpPr>
            <a:spLocks noGrp="1"/>
          </p:cNvSpPr>
          <p:nvPr>
            <p:ph type="sldNum" sz="quarter" idx="10"/>
          </p:nvPr>
        </p:nvSpPr>
        <p:spPr/>
        <p:txBody>
          <a:bodyPr/>
          <a:lstStyle/>
          <a:p>
            <a:fld id="{4EDA8945-F465-465D-B259-7A4F968DC8D5}" type="slidenum">
              <a:rPr lang="ko-KR" altLang="en-US" smtClean="0"/>
              <a:t>4</a:t>
            </a:fld>
            <a:endParaRPr lang="ko-KR" altLang="en-US"/>
          </a:p>
        </p:txBody>
      </p:sp>
    </p:spTree>
    <p:extLst>
      <p:ext uri="{BB962C8B-B14F-4D97-AF65-F5344CB8AC3E}">
        <p14:creationId xmlns:p14="http://schemas.microsoft.com/office/powerpoint/2010/main" val="2840117195"/>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[DP0-1 변경·유지 용이성 시나리오 M1~M6]</a:t>
            </a:r>
          </a:p>
          <a:p>
            <a:r>
              <a:t>변경 용이성은 요구가 바뀔 때 어디를 얼마나 고치는가로 잽니다. 구조 후보 이름(S1/S2)과 겹치지 않게 시나리오는 M1~M6으로 부릅니다.</a:t>
            </a:r>
          </a:p>
          <a:p>
            <a:r>
              <a:t>S2가 앞서는 것은 새 메모리 추가(M1), 노드 지시 항목 추가(M4), vLLM·NIXL 계약 변경(M5)입니다. 노드 안의 변화가 에이전트에서 끝나고 Router는 요약 스키마만 보기 때문입니다.</a:t>
            </a:r>
          </a:p>
          <a:p>
            <a:r>
              <a:t>S1이 앞서는 것은 비용 함수 교체(M2)와 신규 클러스터 기능(M6)입니다. S2는 클러스터와 노드 두 곳을 고쳐야 하기 때문입니다. P/D 정책 교체(M3)는 동등합니다.</a:t>
            </a:r>
          </a:p>
          <a:p>
            <a:r>
              <a:t>3 대 2로 차이가 1이라 사전에 정한 규칙(차이 2 이상일 때만 ●●●)에 따라 둘 다 ●●○입니다. 업스트림 추종과 신기능은 변경·유지 용이성의 일부라 포함하고, 구현·운영 부담은 QA 밖 제약으로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[DP0-1 Tradeoff]</a:t>
            </a:r>
          </a:p>
          <a:p>
            <a:r>
              <a:t>왼쪽은 설계 결정 세 개가 무엇을 얻고 잃는지입니다. 상태를 블록 단위로 모으면 정밀하지만 Router에 부하가 집중되고, 요약으로 위임하면 확장성은 좋지만 정밀도가 떨어집니다. 계층 결정을 Router가 하면 클러스터 기능 추가가 쉽고, 노드가 하면 노드 내부 변화가 격리됩니다.</a:t>
            </a:r>
          </a:p>
          <a:p>
            <a:r>
              <a:t>오른쪽 QA 4개는 9 대 9 동점입니다. 가장 우선순위가 높은 Q1 처리량은 S1, 확장성 Q4는 S2입니다. 한쪽이 지배하지 않는 tradeoff이고, 규칙(합계 후 우선순위)대로면 현재는 S1입니다.</a:t>
            </a:r>
          </a:p>
          <a:p>
            <a:r>
              <a:t>그럼에도 S2를 목표 구조로 제안합니다. 이유는 DP1~DP4가 이미 노드의 메모리 계층을 결정하는데 S1은 Router가 같은 결정을 다시 내려 권한이 둘이 되고, S1의 정밀도 우위는 이벤트가 최신일 때만 성립하기 때문입니다. 이것은 규칙 결과와 다른 선택이므로 소유자 결정이 필요합니다.</a:t>
            </a:r>
          </a:p>
          <a:p>
            <a:r>
              <a:t>확정 방법은 Q1 게이트입니다. 보완 설계를 적용했을 때 S2의 처리량 격차가 허용치 이내이면 S2를 확정하고, 아니면 S1로 되돌아갑니다. 제약·리스크(구현·운영 부담, 증거 수준 등)는 별 합계에 넣지 않고 병기합니다. 모두 구조 논증에 기반한 가설입니다.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[DP0-1 S2 보완 설계]</a:t>
            </a:r>
          </a:p>
          <a:p>
            <a:r>
              <a:t>S2의 약점마다 DP1~DP4가 메웁니다. S2는 계층 결정을 노드 계층으로 내렸기 때문에 DP0-1과 DP1~DP4의 경계가 겹치고, 이것이 의도한 응집점입니다.</a:t>
            </a:r>
          </a:p>
          <a:p>
            <a:r>
              <a:t>라우팅 정밀도 저하는 DP3가 재사용 가치가 높은 KV를 보존해 요약의 정확도를 높이고, DP1이 회수보다 계층 이동을 우선해 hit가 사라지지 않게 합니다. 오라우팅 패널티는 DP4의 노드 간 KV 공유로 줄입니다. 낡은 요약은 DP2의 늦은 검증으로 실행 직전에 바로잡습니다. 에이전트 구현 부담과 신규 메모리는 DP1의 계층 결정과 Memory Backend 인터페이스를 재사용해 흡수합니다.</a:t>
            </a:r>
          </a:p>
          <a:p>
            <a:r>
              <a:t>이 연결은 NodeSummary라는 공동 계약으로 구체화됩니다. DP0-1은 소비자이고 DP1·DP2·DP3·DP4는 공급자입니다. 모두 구조 논증이며 구현 전이라 효과를 수치로 주장하지 않습니다. Q1 게이트 실험으로 검증합니다.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08F72DF-0A6E-4BB1-9AF3-0B57D3937946}"/>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519E4493-1667-49E0-B5EA-DB2FD46557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AC821CC-5A9B-4C5E-AAD1-A650C162F565}"/>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B52A243A-6613-412A-9D3E-B9BED438846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11D0221-4EE1-4624-ABF8-E501EABF11CA}"/>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204570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6A52700-1789-44C5-816F-13DB6B767E9B}"/>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3EFD225-F1E6-4272-A0F5-155257D23594}"/>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8B7EE7E-EACD-4207-85CD-50800CADA25E}"/>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4BD3B317-3E3C-492F-A129-DB40DA0749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75BDABB-FF3A-4FD0-9D22-9C63C8C4F8F6}"/>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781803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D6DFBA3-FA0D-4D5B-855A-A08A490A6FB8}"/>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7AEA5B3-8897-42AE-8A22-316A83429A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F5DEDABC-9725-4AB8-B170-8135D3CDE0C0}"/>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0A93DE6A-79B1-4CC2-83F6-A1701D74CCB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C9E4FAD-2C0F-433E-AA41-688DE858785C}"/>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3182945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CE727-CFAF-44B4-95BD-2D851766280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023465-6B5C-4B80-942B-6AB74CDC6EE1}"/>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77A53C2-4C34-4495-B75D-3103A78B250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532012A-BC4A-443C-8376-492ECD42B410}"/>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6" name="바닥글 개체 틀 5">
            <a:extLst>
              <a:ext uri="{FF2B5EF4-FFF2-40B4-BE49-F238E27FC236}">
                <a16:creationId xmlns:a16="http://schemas.microsoft.com/office/drawing/2014/main" id="{0E7EBC6A-4127-41D0-BDC8-92E1A79C785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080DEB-0701-416C-B5E9-A1380B6A3BE3}"/>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2508819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E72EFB-3CF5-4FFB-9CBD-1BAB59C050AF}"/>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3BD84F06-7DB4-4DF5-96A0-397DE480BD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D4FE31E-E8D7-4B51-98F1-84E159D36328}"/>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09FC50E-E18A-46FE-8848-381C619476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5DE3E36-7031-4AA6-94D3-6FFC67422A58}"/>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BE94F64D-ED04-453B-A77B-91ED8729106C}"/>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8" name="바닥글 개체 틀 7">
            <a:extLst>
              <a:ext uri="{FF2B5EF4-FFF2-40B4-BE49-F238E27FC236}">
                <a16:creationId xmlns:a16="http://schemas.microsoft.com/office/drawing/2014/main" id="{B0330CAE-B9FD-4933-BDF8-53ECD9E3F38F}"/>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EC2C36-FF82-4E6B-8B1F-D1FD9EE7AB19}"/>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3464917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80356BA-34BF-49C1-88AA-4FF1B6F09D32}"/>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D192383-2FEF-4B70-B55B-06B2E9A4B2D3}"/>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4" name="바닥글 개체 틀 3">
            <a:extLst>
              <a:ext uri="{FF2B5EF4-FFF2-40B4-BE49-F238E27FC236}">
                <a16:creationId xmlns:a16="http://schemas.microsoft.com/office/drawing/2014/main" id="{EE3EB5D8-A999-4E8D-8D82-FAF51998E858}"/>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EEC924E0-2EC1-4149-B4DF-51E02C956559}"/>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3809683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DBFDA6D-ABBB-4E28-9974-E5DD4B26F0BB}"/>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3" name="바닥글 개체 틀 2">
            <a:extLst>
              <a:ext uri="{FF2B5EF4-FFF2-40B4-BE49-F238E27FC236}">
                <a16:creationId xmlns:a16="http://schemas.microsoft.com/office/drawing/2014/main" id="{B308F9DF-EE39-4541-9E48-FE8CE763BFD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6DB3201E-5078-4D69-BB6A-B5A031DE1DD5}"/>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2277777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30D62B-90E5-46EE-A9BD-7AA6D7A28E0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7463079-0DD3-43CB-B974-E48455A809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7757BD2-96C2-4966-91B0-8278388D1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77543097-E883-4E4F-9F74-478CF9329BFC}"/>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6" name="바닥글 개체 틀 5">
            <a:extLst>
              <a:ext uri="{FF2B5EF4-FFF2-40B4-BE49-F238E27FC236}">
                <a16:creationId xmlns:a16="http://schemas.microsoft.com/office/drawing/2014/main" id="{B80B0BD0-7318-4ED4-958A-0515E1D4CA6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4FF451A-9472-416B-9EBC-41DB57C9209F}"/>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2356515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F6A5FCE-64C1-4A71-831E-57FE25E889A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252F6508-D532-461F-8F84-BE63E1444E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07A615DF-26AD-4EF7-AF7F-E46797250B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1ED3DDA-27C5-411A-9524-317A386C2579}"/>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6" name="바닥글 개체 틀 5">
            <a:extLst>
              <a:ext uri="{FF2B5EF4-FFF2-40B4-BE49-F238E27FC236}">
                <a16:creationId xmlns:a16="http://schemas.microsoft.com/office/drawing/2014/main" id="{930D698A-82D4-4D30-961A-504E4F6B4F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2B9886D-3104-4B61-A084-BB7684B36BC5}"/>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3708733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B78CDF2-D33B-474D-BBD8-B173F06831A4}"/>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380378E0-E900-43D7-A0FB-96600910223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FA1946C-DDDE-4C9D-BB24-215F7E731FBD}"/>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E754C24E-50B3-4503-A19E-F23174B8D37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5F9F7F3-41C2-4555-8A5F-90DB614662A1}"/>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1085612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E2EE8DA-7A79-4A28-ADAA-F491B4FCE37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3DD7F8F-1FEB-458A-914F-97DFE325885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566EC6B-D184-461B-A131-D4976F7969F0}"/>
              </a:ext>
            </a:extLst>
          </p:cNvPr>
          <p:cNvSpPr>
            <a:spLocks noGrp="1"/>
          </p:cNvSpPr>
          <p:nvPr>
            <p:ph type="dt" sz="half" idx="10"/>
          </p:nvPr>
        </p:nvSpPr>
        <p:spPr/>
        <p:txBody>
          <a:body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0F58F7EC-E805-491C-9DBB-DEE7B780808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E65E65E-6DB4-4BB3-A263-5FC8D986E693}"/>
              </a:ext>
            </a:extLst>
          </p:cNvPr>
          <p:cNvSpPr>
            <a:spLocks noGrp="1"/>
          </p:cNvSpPr>
          <p:nvPr>
            <p:ph type="sldNum" sz="quarter" idx="12"/>
          </p:nvPr>
        </p:nvSpPr>
        <p:spPr/>
        <p:txBody>
          <a:body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1979015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cxnSp>
        <p:nvCxnSpPr>
          <p:cNvPr id="12" name="직선 연결선 11"/>
          <p:cNvCxnSpPr/>
          <p:nvPr userDrawn="1"/>
        </p:nvCxnSpPr>
        <p:spPr>
          <a:xfrm>
            <a:off x="234950" y="654050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5"/>
          <p:cNvSpPr>
            <a:spLocks noGrp="1"/>
          </p:cNvSpPr>
          <p:nvPr>
            <p:ph type="sldNum" sz="quarter" idx="4"/>
          </p:nvPr>
        </p:nvSpPr>
        <p:spPr>
          <a:xfrm>
            <a:off x="5620080" y="6597650"/>
            <a:ext cx="456466" cy="209550"/>
          </a:xfrm>
          <a:prstGeom prst="rect">
            <a:avLst/>
          </a:prstGeom>
        </p:spPr>
        <p:txBody>
          <a:bodyPr vert="horz" lIns="91440" tIns="45720" rIns="91440" bIns="45720" rtlCol="0" anchor="ctr"/>
          <a:lstStyle>
            <a:lvl1pPr algn="r">
              <a:defRPr sz="1200">
                <a:solidFill>
                  <a:schemeClr val="tx1">
                    <a:tint val="75000"/>
                  </a:schemeClr>
                </a:solidFill>
              </a:defRPr>
            </a:lvl1pPr>
          </a:lstStyle>
          <a:p>
            <a:fld id="{7F889C64-266A-4D07-AD8F-5B592E61CCE1}" type="slidenum">
              <a:rPr lang="ko-KR" altLang="en-US" smtClean="0"/>
              <a:pPr/>
              <a:t>‹#›</a:t>
            </a:fld>
            <a:endParaRPr lang="ko-KR" altLang="en-US" dirty="0"/>
          </a:p>
        </p:txBody>
      </p:sp>
      <p:cxnSp>
        <p:nvCxnSpPr>
          <p:cNvPr id="20" name="직선 연결선 19"/>
          <p:cNvCxnSpPr/>
          <p:nvPr userDrawn="1"/>
        </p:nvCxnSpPr>
        <p:spPr>
          <a:xfrm>
            <a:off x="234950" y="539750"/>
            <a:ext cx="11766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제목 개체 틀 1"/>
          <p:cNvSpPr>
            <a:spLocks noGrp="1"/>
          </p:cNvSpPr>
          <p:nvPr>
            <p:ph type="title"/>
          </p:nvPr>
        </p:nvSpPr>
        <p:spPr>
          <a:xfrm>
            <a:off x="234948" y="137379"/>
            <a:ext cx="7655985" cy="365125"/>
          </a:xfrm>
          <a:prstGeom prst="rect">
            <a:avLst/>
          </a:prstGeom>
        </p:spPr>
        <p:txBody>
          <a:bodyPr vert="horz" lIns="91440" tIns="45720" rIns="91440" bIns="45720" rtlCol="0" anchor="ctr">
            <a:noAutofit/>
          </a:bodyPr>
          <a:lstStyle>
            <a:lvl1pPr>
              <a:defRPr sz="1800" b="1"/>
            </a:lvl1pPr>
          </a:lstStyle>
          <a:p>
            <a:r>
              <a:rPr lang="ko-KR" altLang="en-US" dirty="0"/>
              <a:t>마스터 제목 스타일 편집</a:t>
            </a:r>
          </a:p>
        </p:txBody>
      </p:sp>
      <p:grpSp>
        <p:nvGrpSpPr>
          <p:cNvPr id="3" name="그룹 2">
            <a:extLst>
              <a:ext uri="{FF2B5EF4-FFF2-40B4-BE49-F238E27FC236}">
                <a16:creationId xmlns:a16="http://schemas.microsoft.com/office/drawing/2014/main" id="{BF6FB25F-7B1E-410A-903C-9DE680EED1C3}"/>
              </a:ext>
            </a:extLst>
          </p:cNvPr>
          <p:cNvGrpSpPr/>
          <p:nvPr userDrawn="1"/>
        </p:nvGrpSpPr>
        <p:grpSpPr>
          <a:xfrm>
            <a:off x="7995393" y="137379"/>
            <a:ext cx="4006094" cy="357521"/>
            <a:chOff x="7522576" y="137379"/>
            <a:chExt cx="4478924" cy="357521"/>
          </a:xfrm>
        </p:grpSpPr>
        <p:sp>
          <p:nvSpPr>
            <p:cNvPr id="22" name="갈매기형 수장 21"/>
            <p:cNvSpPr/>
            <p:nvPr userDrawn="1"/>
          </p:nvSpPr>
          <p:spPr>
            <a:xfrm>
              <a:off x="7522576" y="137379"/>
              <a:ext cx="1031887" cy="357521"/>
            </a:xfrm>
            <a:prstGeom prst="chevron">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r>
                <a:rPr lang="ko-KR" altLang="en-US" sz="1000" b="1" dirty="0">
                  <a:solidFill>
                    <a:schemeClr val="bg1"/>
                  </a:solidFill>
                </a:rPr>
                <a:t>과제 소개</a:t>
              </a:r>
            </a:p>
          </p:txBody>
        </p:sp>
        <p:sp>
          <p:nvSpPr>
            <p:cNvPr id="23" name="갈매기형 수장 22"/>
            <p:cNvSpPr/>
            <p:nvPr userDrawn="1"/>
          </p:nvSpPr>
          <p:spPr>
            <a:xfrm>
              <a:off x="84150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요구사항</a:t>
              </a:r>
            </a:p>
          </p:txBody>
        </p:sp>
        <p:sp>
          <p:nvSpPr>
            <p:cNvPr id="25" name="갈매기형 수장 24"/>
            <p:cNvSpPr/>
            <p:nvPr userDrawn="1"/>
          </p:nvSpPr>
          <p:spPr>
            <a:xfrm>
              <a:off x="9313975"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설계</a:t>
              </a:r>
            </a:p>
          </p:txBody>
        </p:sp>
        <p:sp>
          <p:nvSpPr>
            <p:cNvPr id="26" name="갈매기형 수장 25"/>
            <p:cNvSpPr/>
            <p:nvPr userDrawn="1"/>
          </p:nvSpPr>
          <p:spPr>
            <a:xfrm>
              <a:off x="10206457" y="137379"/>
              <a:ext cx="1031887"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구현</a:t>
              </a:r>
              <a:r>
                <a:rPr lang="en-US" altLang="ko-KR" sz="1000" b="1" dirty="0">
                  <a:solidFill>
                    <a:schemeClr val="bg1"/>
                  </a:solidFill>
                </a:rPr>
                <a:t>/</a:t>
              </a:r>
              <a:r>
                <a:rPr lang="ko-KR" altLang="en-US" sz="1000" b="1" dirty="0">
                  <a:solidFill>
                    <a:schemeClr val="bg1"/>
                  </a:solidFill>
                </a:rPr>
                <a:t>검증</a:t>
              </a:r>
            </a:p>
          </p:txBody>
        </p:sp>
        <p:sp>
          <p:nvSpPr>
            <p:cNvPr id="27" name="갈매기형 수장 26"/>
            <p:cNvSpPr/>
            <p:nvPr userDrawn="1"/>
          </p:nvSpPr>
          <p:spPr>
            <a:xfrm>
              <a:off x="11105815" y="137379"/>
              <a:ext cx="892483" cy="357521"/>
            </a:xfrm>
            <a:prstGeom prst="chevron">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r>
                <a:rPr lang="ko-KR" altLang="en-US" sz="1000" b="1" dirty="0">
                  <a:solidFill>
                    <a:schemeClr val="bg1"/>
                  </a:solidFill>
                </a:rPr>
                <a:t>결론</a:t>
              </a:r>
            </a:p>
          </p:txBody>
        </p:sp>
        <p:sp>
          <p:nvSpPr>
            <p:cNvPr id="29" name="직사각형 28"/>
            <p:cNvSpPr/>
            <p:nvPr userDrawn="1"/>
          </p:nvSpPr>
          <p:spPr>
            <a:xfrm>
              <a:off x="11789373" y="137379"/>
              <a:ext cx="212127" cy="357521"/>
            </a:xfrm>
            <a:prstGeom prst="rect">
              <a:avLst/>
            </a:prstGeom>
            <a:ln>
              <a:noFill/>
            </a:ln>
          </p:spPr>
          <p:style>
            <a:lnRef idx="1">
              <a:schemeClr val="accent3"/>
            </a:lnRef>
            <a:fillRef idx="2">
              <a:schemeClr val="accent3"/>
            </a:fillRef>
            <a:effectRef idx="1">
              <a:schemeClr val="accent3"/>
            </a:effectRef>
            <a:fontRef idx="minor">
              <a:schemeClr val="dk1"/>
            </a:fontRef>
          </p:style>
          <p:txBody>
            <a:bodyPr lIns="0" tIns="0" rIns="0" bIns="0" rtlCol="0" anchor="ctr"/>
            <a:lstStyle/>
            <a:p>
              <a:pPr lvl="0" algn="ctr"/>
              <a:endParaRPr lang="ko-KR" altLang="en-US" sz="1000" b="1">
                <a:solidFill>
                  <a:schemeClr val="bg1"/>
                </a:solidFill>
              </a:endParaRPr>
            </a:p>
          </p:txBody>
        </p:sp>
        <p:sp>
          <p:nvSpPr>
            <p:cNvPr id="30" name="직사각형 29"/>
            <p:cNvSpPr/>
            <p:nvPr userDrawn="1"/>
          </p:nvSpPr>
          <p:spPr>
            <a:xfrm>
              <a:off x="7528835" y="137379"/>
              <a:ext cx="212127" cy="357521"/>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lvl="0" algn="ctr"/>
              <a:endParaRPr lang="ko-KR" altLang="en-US" sz="1000" b="1" dirty="0">
                <a:solidFill>
                  <a:schemeClr val="bg1"/>
                </a:solidFill>
              </a:endParaRPr>
            </a:p>
          </p:txBody>
        </p:sp>
      </p:grpSp>
      <p:sp>
        <p:nvSpPr>
          <p:cNvPr id="2" name="TextBox 1"/>
          <p:cNvSpPr txBox="1"/>
          <p:nvPr userDrawn="1"/>
        </p:nvSpPr>
        <p:spPr>
          <a:xfrm>
            <a:off x="5975555" y="6563925"/>
            <a:ext cx="470643" cy="276999"/>
          </a:xfrm>
          <a:prstGeom prst="rect">
            <a:avLst/>
          </a:prstGeom>
          <a:noFill/>
        </p:spPr>
        <p:txBody>
          <a:bodyPr wrap="square" rtlCol="0">
            <a:spAutoFit/>
          </a:bodyPr>
          <a:lstStyle/>
          <a:p>
            <a:r>
              <a:rPr lang="en-US" altLang="ko-KR" sz="1200" dirty="0">
                <a:solidFill>
                  <a:schemeClr val="bg1">
                    <a:lumMod val="50000"/>
                  </a:schemeClr>
                </a:solidFill>
              </a:rPr>
              <a:t>/ 23</a:t>
            </a:r>
            <a:endParaRPr lang="ko-KR" altLang="en-US" sz="1200" dirty="0">
              <a:solidFill>
                <a:schemeClr val="bg1">
                  <a:lumMod val="50000"/>
                </a:schemeClr>
              </a:solidFill>
            </a:endParaRPr>
          </a:p>
        </p:txBody>
      </p:sp>
    </p:spTree>
    <p:extLst>
      <p:ext uri="{BB962C8B-B14F-4D97-AF65-F5344CB8AC3E}">
        <p14:creationId xmlns:p14="http://schemas.microsoft.com/office/powerpoint/2010/main" val="34643377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1DB9F16-EC21-46AD-80D9-C11054F0FA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175FC75F-5418-4D50-8197-2B1BBC2A3D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98C442E-14C8-411D-8ADD-5A8ED6C3B1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56246C-1037-487A-9F65-066721A3EE1F}" type="datetimeFigureOut">
              <a:rPr lang="ko-KR" altLang="en-US" smtClean="0"/>
              <a:t>2026-10-06</a:t>
            </a:fld>
            <a:endParaRPr lang="ko-KR" altLang="en-US"/>
          </a:p>
        </p:txBody>
      </p:sp>
      <p:sp>
        <p:nvSpPr>
          <p:cNvPr id="5" name="바닥글 개체 틀 4">
            <a:extLst>
              <a:ext uri="{FF2B5EF4-FFF2-40B4-BE49-F238E27FC236}">
                <a16:creationId xmlns:a16="http://schemas.microsoft.com/office/drawing/2014/main" id="{ED53B9C5-9776-4696-A162-63A8D20BD1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2D47E8E8-547C-4585-9B60-66F5B59D43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CA0C55-56F4-4A5A-9AEA-E7C1296B58F7}" type="slidenum">
              <a:rPr lang="ko-KR" altLang="en-US" smtClean="0"/>
              <a:t>‹#›</a:t>
            </a:fld>
            <a:endParaRPr lang="ko-KR" altLang="en-US"/>
          </a:p>
        </p:txBody>
      </p:sp>
    </p:spTree>
    <p:extLst>
      <p:ext uri="{BB962C8B-B14F-4D97-AF65-F5344CB8AC3E}">
        <p14:creationId xmlns:p14="http://schemas.microsoft.com/office/powerpoint/2010/main" val="717080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6775451" cy="365125"/>
          </a:xfrm>
        </p:spPr>
        <p:txBody>
          <a:bodyPr/>
          <a:lstStyle/>
          <a:p>
            <a:r>
              <a:rPr lang="en-US" altLang="ko-KR" dirty="0"/>
              <a:t>DP0-1. 요청 조율 구조 (Orchestration) - 배경</a:t>
            </a:r>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4" name="직사각형 93">
            <a:extLst>
              <a:ext uri="{FF2B5EF4-FFF2-40B4-BE49-F238E27FC236}">
                <a16:creationId xmlns:a16="http://schemas.microsoft.com/office/drawing/2014/main" id="{E3784E02-153A-49F1-A2CD-CE4252048DE7}"/>
              </a:ext>
            </a:extLst>
          </p:cNvPr>
          <p:cNvSpPr/>
          <p:nvPr/>
        </p:nvSpPr>
        <p:spPr>
          <a:xfrm>
            <a:off x="6160372" y="849834"/>
            <a:ext cx="5694021" cy="549961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5" name="모서리가 둥근 직사각형 217">
            <a:extLst>
              <a:ext uri="{FF2B5EF4-FFF2-40B4-BE49-F238E27FC236}">
                <a16:creationId xmlns:a16="http://schemas.microsoft.com/office/drawing/2014/main" id="{63A3E9B0-7066-45A1-BE5D-E8DD4EAEDB03}"/>
              </a:ext>
            </a:extLst>
          </p:cNvPr>
          <p:cNvSpPr/>
          <p:nvPr/>
        </p:nvSpPr>
        <p:spPr>
          <a:xfrm>
            <a:off x="7210115" y="740708"/>
            <a:ext cx="3749552" cy="285015"/>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200" b="1" dirty="0"/>
              <a:t>② 서버 여러 대로 확장 (Rack Scale)</a:t>
            </a:r>
          </a:p>
        </p:txBody>
      </p:sp>
      <p:grpSp>
        <p:nvGrpSpPr>
          <p:cNvPr id="91" name="그룹 90">
            <a:extLst>
              <a:ext uri="{FF2B5EF4-FFF2-40B4-BE49-F238E27FC236}">
                <a16:creationId xmlns:a16="http://schemas.microsoft.com/office/drawing/2014/main" id="{6A78737F-A253-4CE8-B9A2-72B91FF65732}"/>
              </a:ext>
            </a:extLst>
          </p:cNvPr>
          <p:cNvGrpSpPr/>
          <p:nvPr/>
        </p:nvGrpSpPr>
        <p:grpSpPr>
          <a:xfrm>
            <a:off x="295158" y="731684"/>
            <a:ext cx="5674740" cy="5650065"/>
            <a:chOff x="211958" y="3093998"/>
            <a:chExt cx="6173884" cy="5288499"/>
          </a:xfrm>
        </p:grpSpPr>
        <p:sp>
          <p:nvSpPr>
            <p:cNvPr id="92" name="직사각형 91">
              <a:extLst>
                <a:ext uri="{FF2B5EF4-FFF2-40B4-BE49-F238E27FC236}">
                  <a16:creationId xmlns:a16="http://schemas.microsoft.com/office/drawing/2014/main" id="{14E0C7FA-AF01-4522-B324-5D5122403813}"/>
                </a:ext>
              </a:extLst>
            </p:cNvPr>
            <p:cNvSpPr/>
            <p:nvPr/>
          </p:nvSpPr>
          <p:spPr>
            <a:xfrm>
              <a:off x="211958" y="3255024"/>
              <a:ext cx="6173884" cy="5127473"/>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모서리가 둥근 직사각형 212">
              <a:extLst>
                <a:ext uri="{FF2B5EF4-FFF2-40B4-BE49-F238E27FC236}">
                  <a16:creationId xmlns:a16="http://schemas.microsoft.com/office/drawing/2014/main" id="{1104C980-3417-4022-8A1E-A71193CA465E}"/>
                </a:ext>
              </a:extLst>
            </p:cNvPr>
            <p:cNvSpPr/>
            <p:nvPr/>
          </p:nvSpPr>
          <p:spPr>
            <a:xfrm>
              <a:off x="1275530" y="3093998"/>
              <a:ext cx="4046740" cy="276747"/>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ko-KR" altLang="en-US" sz="1200" b="1" dirty="0"/>
                <a:t>① 서버 1대 안: 이기종 메모리 환경</a:t>
              </a:r>
            </a:p>
          </p:txBody>
        </p:sp>
      </p:grpSp>
      <p:sp>
        <p:nvSpPr>
          <p:cNvPr id="102" name="TextBox 101"/>
          <p:cNvSpPr txBox="1"/>
          <p:nvPr/>
        </p:nvSpPr>
        <p:spPr>
          <a:xfrm>
            <a:off x="457200" y="1152144"/>
            <a:ext cx="5349240" cy="640080"/>
          </a:xfrm>
          <a:prstGeom prst="rect">
            <a:avLst/>
          </a:prstGeom>
          <a:noFill/>
        </p:spPr>
        <p:txBody>
          <a:bodyPr wrap="square" lIns="0" tIns="0" rIns="0" bIns="0" anchor="t">
            <a:spAutoFit/>
          </a:bodyPr>
          <a:lstStyle/>
          <a:p>
            <a:pPr algn="l">
              <a:lnSpc>
                <a:spcPct val="112000"/>
              </a:lnSpc>
            </a:pPr>
            <a:r>
              <a:rPr sz="1050" b="1" i="0">
                <a:solidFill>
                  <a:srgbClr val="2E75B6"/>
                </a:solidFill>
                <a:latin typeface="맑은 고딕"/>
                <a:ea typeface="맑은 고딕"/>
              </a:rPr>
              <a:t>✓ </a:t>
            </a:r>
            <a:r>
              <a:rPr sz="1050" b="0" i="0">
                <a:solidFill>
                  <a:srgbClr val="404040"/>
                </a:solidFill>
                <a:latin typeface="맑은 고딕"/>
                <a:ea typeface="맑은 고딕"/>
              </a:rPr>
              <a:t>신규 메모리(HBF, CXL-PNM, SSD-PIM 등)가 등장해 서버 1대 안에 </a:t>
            </a:r>
            <a:r>
              <a:rPr sz="1050" b="1" i="0">
                <a:solidFill>
                  <a:srgbClr val="2E75B6"/>
                </a:solidFill>
                <a:latin typeface="맑은 고딕"/>
                <a:ea typeface="맑은 고딕"/>
              </a:rPr>
              <a:t>속도·용량·기능이 다른 메모리가 혼재</a:t>
            </a:r>
          </a:p>
          <a:p>
            <a:pPr algn="l">
              <a:lnSpc>
                <a:spcPct val="112000"/>
              </a:lnSpc>
            </a:pPr>
            <a:r>
              <a:rPr sz="1050" b="1" i="0">
                <a:solidFill>
                  <a:srgbClr val="2E75B6"/>
                </a:solidFill>
                <a:latin typeface="맑은 고딕"/>
                <a:ea typeface="맑은 고딕"/>
              </a:rPr>
              <a:t>✓ </a:t>
            </a:r>
            <a:r>
              <a:rPr sz="1050" b="0" i="0">
                <a:solidFill>
                  <a:srgbClr val="404040"/>
                </a:solidFill>
                <a:latin typeface="맑은 고딕"/>
                <a:ea typeface="맑은 고딕"/>
              </a:rPr>
              <a:t>KV 캐시 등 AI 데이터를 </a:t>
            </a:r>
            <a:r>
              <a:rPr sz="1050" b="1" i="0">
                <a:solidFill>
                  <a:srgbClr val="2E75B6"/>
                </a:solidFill>
                <a:latin typeface="맑은 고딕"/>
                <a:ea typeface="맑은 고딕"/>
              </a:rPr>
              <a:t>어느 메모리에 두느냐</a:t>
            </a:r>
            <a:r>
              <a:rPr sz="1050" b="0" i="0">
                <a:solidFill>
                  <a:srgbClr val="404040"/>
                </a:solidFill>
                <a:latin typeface="맑은 고딕"/>
                <a:ea typeface="맑은 고딕"/>
              </a:rPr>
              <a:t>가 성능을 좌우</a:t>
            </a:r>
          </a:p>
        </p:txBody>
      </p:sp>
      <p:sp>
        <p:nvSpPr>
          <p:cNvPr id="103" name="Rectangle 102"/>
          <p:cNvSpPr/>
          <p:nvPr/>
        </p:nvSpPr>
        <p:spPr>
          <a:xfrm>
            <a:off x="502920" y="1847088"/>
            <a:ext cx="5257800" cy="2788920"/>
          </a:xfrm>
          <a:prstGeom prst="rect">
            <a:avLst/>
          </a:prstGeom>
          <a:solidFill>
            <a:srgbClr val="FFFFFF"/>
          </a:solidFill>
          <a:ln w="12700">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4" name="Rectangle 103"/>
          <p:cNvSpPr/>
          <p:nvPr/>
        </p:nvSpPr>
        <p:spPr>
          <a:xfrm>
            <a:off x="594360" y="1920240"/>
            <a:ext cx="5074920" cy="2377440"/>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5" name="Rectangle 104"/>
          <p:cNvSpPr/>
          <p:nvPr/>
        </p:nvSpPr>
        <p:spPr>
          <a:xfrm>
            <a:off x="594360" y="1920240"/>
            <a:ext cx="3017520"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50" b="1" i="0">
                <a:solidFill>
                  <a:srgbClr val="FFFFFF"/>
                </a:solidFill>
                <a:latin typeface="맑은 고딕"/>
                <a:ea typeface="맑은 고딕"/>
              </a:rPr>
              <a:t>«server» 추론 서버 1대 (vLLM 인스턴스)</a:t>
            </a:r>
          </a:p>
        </p:txBody>
      </p:sp>
      <p:sp>
        <p:nvSpPr>
          <p:cNvPr id="106" name="Rounded Rectangle 105"/>
          <p:cNvSpPr/>
          <p:nvPr/>
        </p:nvSpPr>
        <p:spPr>
          <a:xfrm>
            <a:off x="4343400" y="1938528"/>
            <a:ext cx="1261872" cy="164592"/>
          </a:xfrm>
          <a:prstGeom prst="roundRect">
            <a:avLst>
              <a:gd name="adj" fmla="val 30000"/>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700" b="1" i="0">
                <a:solidFill>
                  <a:srgbClr val="C55A11"/>
                </a:solidFill>
                <a:latin typeface="맑은 고딕"/>
                <a:ea typeface="맑은 고딕"/>
              </a:rPr>
              <a:t>주황 = 신규 메모리</a:t>
            </a:r>
          </a:p>
        </p:txBody>
      </p:sp>
      <p:sp>
        <p:nvSpPr>
          <p:cNvPr id="107" name="Rectangle 106"/>
          <p:cNvSpPr/>
          <p:nvPr/>
        </p:nvSpPr>
        <p:spPr>
          <a:xfrm>
            <a:off x="822960" y="2194560"/>
            <a:ext cx="4572000" cy="38404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vLLM 실행 엔진</a:t>
            </a:r>
          </a:p>
          <a:p>
            <a:pPr algn="ctr"/>
            <a:r>
              <a:rPr sz="700" b="0" i="0">
                <a:solidFill>
                  <a:srgbClr val="000000"/>
                </a:solidFill>
                <a:latin typeface="맑은 고딕"/>
                <a:ea typeface="맑은 고딕"/>
              </a:rPr>
              <a:t>KV 캐시를 만들고 메모리 계층에 배치·이동</a:t>
            </a:r>
          </a:p>
        </p:txBody>
      </p:sp>
      <p:sp>
        <p:nvSpPr>
          <p:cNvPr id="108" name="Rectangle 107"/>
          <p:cNvSpPr/>
          <p:nvPr/>
        </p:nvSpPr>
        <p:spPr>
          <a:xfrm>
            <a:off x="777240"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9" name="Rectangle 108"/>
          <p:cNvSpPr/>
          <p:nvPr/>
        </p:nvSpPr>
        <p:spPr>
          <a:xfrm>
            <a:off x="777240"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0" name="Rectangle 109"/>
          <p:cNvSpPr/>
          <p:nvPr/>
        </p:nvSpPr>
        <p:spPr>
          <a:xfrm>
            <a:off x="731520" y="2834640"/>
            <a:ext cx="1417320" cy="138988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1" name="Rectangle 110"/>
          <p:cNvSpPr/>
          <p:nvPr/>
        </p:nvSpPr>
        <p:spPr>
          <a:xfrm>
            <a:off x="731520" y="2834640"/>
            <a:ext cx="281635"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GPU</a:t>
            </a:r>
          </a:p>
        </p:txBody>
      </p:sp>
      <p:sp>
        <p:nvSpPr>
          <p:cNvPr id="112" name="Rectangle 111"/>
          <p:cNvSpPr/>
          <p:nvPr/>
        </p:nvSpPr>
        <p:spPr>
          <a:xfrm>
            <a:off x="868680" y="3154680"/>
            <a:ext cx="1170432" cy="68580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HBM</a:t>
            </a:r>
          </a:p>
          <a:p>
            <a:pPr algn="ctr"/>
            <a:r>
              <a:rPr sz="700" b="0" i="0">
                <a:solidFill>
                  <a:srgbClr val="000000"/>
                </a:solidFill>
                <a:latin typeface="맑은 고딕"/>
                <a:ea typeface="맑은 고딕"/>
              </a:rPr>
              <a:t>BW 최고 · 용량 소</a:t>
            </a:r>
          </a:p>
          <a:p>
            <a:pPr algn="ctr"/>
            <a:r>
              <a:rPr sz="700" b="0" i="0">
                <a:solidFill>
                  <a:srgbClr val="000000"/>
                </a:solidFill>
                <a:latin typeface="맑은 고딕"/>
                <a:ea typeface="맑은 고딕"/>
              </a:rPr>
              <a:t>(KV 캐시 1순위)</a:t>
            </a:r>
          </a:p>
        </p:txBody>
      </p:sp>
      <p:sp>
        <p:nvSpPr>
          <p:cNvPr id="113" name="Rectangle 112"/>
          <p:cNvSpPr/>
          <p:nvPr/>
        </p:nvSpPr>
        <p:spPr>
          <a:xfrm>
            <a:off x="822959" y="320954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4" name="Rectangle 113"/>
          <p:cNvSpPr/>
          <p:nvPr/>
        </p:nvSpPr>
        <p:spPr>
          <a:xfrm>
            <a:off x="822959" y="330098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5" name="Rectangle 114"/>
          <p:cNvSpPr/>
          <p:nvPr/>
        </p:nvSpPr>
        <p:spPr>
          <a:xfrm>
            <a:off x="2487168" y="2834640"/>
            <a:ext cx="1325880" cy="138988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6" name="Rectangle 115"/>
          <p:cNvSpPr/>
          <p:nvPr/>
        </p:nvSpPr>
        <p:spPr>
          <a:xfrm>
            <a:off x="2487168" y="2834640"/>
            <a:ext cx="687628"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CPU / 호스트</a:t>
            </a:r>
          </a:p>
        </p:txBody>
      </p:sp>
      <p:sp>
        <p:nvSpPr>
          <p:cNvPr id="117" name="Rectangle 116"/>
          <p:cNvSpPr/>
          <p:nvPr/>
        </p:nvSpPr>
        <p:spPr>
          <a:xfrm>
            <a:off x="2624328" y="3154680"/>
            <a:ext cx="1097280" cy="68580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DRAM</a:t>
            </a:r>
          </a:p>
          <a:p>
            <a:pPr algn="ctr"/>
            <a:r>
              <a:rPr sz="700" b="0" i="0">
                <a:solidFill>
                  <a:srgbClr val="000000"/>
                </a:solidFill>
                <a:latin typeface="맑은 고딕"/>
                <a:ea typeface="맑은 고딕"/>
              </a:rPr>
              <a:t>범용 · 중간 BW</a:t>
            </a:r>
          </a:p>
          <a:p>
            <a:pPr algn="ctr"/>
            <a:r>
              <a:rPr sz="700" b="0" i="0">
                <a:solidFill>
                  <a:srgbClr val="000000"/>
                </a:solidFill>
                <a:latin typeface="맑은 고딕"/>
                <a:ea typeface="맑은 고딕"/>
              </a:rPr>
              <a:t>(KV 캐시 2순위)</a:t>
            </a:r>
          </a:p>
        </p:txBody>
      </p:sp>
      <p:sp>
        <p:nvSpPr>
          <p:cNvPr id="118" name="Rectangle 117"/>
          <p:cNvSpPr/>
          <p:nvPr/>
        </p:nvSpPr>
        <p:spPr>
          <a:xfrm>
            <a:off x="2578608" y="320954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9" name="Rectangle 118"/>
          <p:cNvSpPr/>
          <p:nvPr/>
        </p:nvSpPr>
        <p:spPr>
          <a:xfrm>
            <a:off x="2578608" y="330098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0" name="Rectangle 119"/>
          <p:cNvSpPr/>
          <p:nvPr/>
        </p:nvSpPr>
        <p:spPr>
          <a:xfrm>
            <a:off x="4114800" y="2834640"/>
            <a:ext cx="1417320" cy="1389888"/>
          </a:xfrm>
          <a:prstGeom prst="rect">
            <a:avLst/>
          </a:prstGeom>
          <a:solidFill>
            <a:srgbClr val="FFFFFF"/>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1" name="Rectangle 120"/>
          <p:cNvSpPr/>
          <p:nvPr/>
        </p:nvSpPr>
        <p:spPr>
          <a:xfrm>
            <a:off x="4114800" y="2834640"/>
            <a:ext cx="921715"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확장 메모리 (신규)</a:t>
            </a:r>
          </a:p>
        </p:txBody>
      </p:sp>
      <p:sp>
        <p:nvSpPr>
          <p:cNvPr id="122" name="Rectangle 121"/>
          <p:cNvSpPr/>
          <p:nvPr/>
        </p:nvSpPr>
        <p:spPr>
          <a:xfrm>
            <a:off x="4251960" y="3044952"/>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CXL-PNM</a:t>
            </a:r>
          </a:p>
          <a:p>
            <a:pPr algn="ctr"/>
            <a:r>
              <a:rPr sz="650" b="0" i="0">
                <a:solidFill>
                  <a:srgbClr val="000000"/>
                </a:solidFill>
                <a:latin typeface="맑은 고딕"/>
                <a:ea typeface="맑은 고딕"/>
              </a:rPr>
              <a:t>연산 가능 · 확장 용량</a:t>
            </a:r>
          </a:p>
        </p:txBody>
      </p:sp>
      <p:sp>
        <p:nvSpPr>
          <p:cNvPr id="123" name="Rectangle 122"/>
          <p:cNvSpPr/>
          <p:nvPr/>
        </p:nvSpPr>
        <p:spPr>
          <a:xfrm>
            <a:off x="4206240" y="3099816"/>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4" name="Rectangle 123"/>
          <p:cNvSpPr/>
          <p:nvPr/>
        </p:nvSpPr>
        <p:spPr>
          <a:xfrm>
            <a:off x="4206240" y="3191256"/>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5" name="Rectangle 124"/>
          <p:cNvSpPr/>
          <p:nvPr/>
        </p:nvSpPr>
        <p:spPr>
          <a:xfrm>
            <a:off x="4251960" y="3438144"/>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HBF</a:t>
            </a:r>
          </a:p>
          <a:p>
            <a:pPr algn="ctr"/>
            <a:r>
              <a:rPr sz="650" b="0" i="0">
                <a:solidFill>
                  <a:srgbClr val="000000"/>
                </a:solidFill>
                <a:latin typeface="맑은 고딕"/>
                <a:ea typeface="맑은 고딕"/>
              </a:rPr>
              <a:t>대용량 · Read 위주</a:t>
            </a:r>
          </a:p>
        </p:txBody>
      </p:sp>
      <p:sp>
        <p:nvSpPr>
          <p:cNvPr id="126" name="Rectangle 125"/>
          <p:cNvSpPr/>
          <p:nvPr/>
        </p:nvSpPr>
        <p:spPr>
          <a:xfrm>
            <a:off x="4206240" y="3493008"/>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7" name="Rectangle 126"/>
          <p:cNvSpPr/>
          <p:nvPr/>
        </p:nvSpPr>
        <p:spPr>
          <a:xfrm>
            <a:off x="4206240" y="3584448"/>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8" name="Rectangle 127"/>
          <p:cNvSpPr/>
          <p:nvPr/>
        </p:nvSpPr>
        <p:spPr>
          <a:xfrm>
            <a:off x="4251960" y="3831336"/>
            <a:ext cx="1207008" cy="347472"/>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SSD-PIM</a:t>
            </a:r>
          </a:p>
          <a:p>
            <a:pPr algn="ctr"/>
            <a:r>
              <a:rPr sz="650" b="0" i="0">
                <a:solidFill>
                  <a:srgbClr val="000000"/>
                </a:solidFill>
                <a:latin typeface="맑은 고딕"/>
                <a:ea typeface="맑은 고딕"/>
              </a:rPr>
              <a:t>초대용량 · 낮은 BW</a:t>
            </a:r>
          </a:p>
        </p:txBody>
      </p:sp>
      <p:sp>
        <p:nvSpPr>
          <p:cNvPr id="129" name="Rectangle 128"/>
          <p:cNvSpPr/>
          <p:nvPr/>
        </p:nvSpPr>
        <p:spPr>
          <a:xfrm>
            <a:off x="4206240" y="3886200"/>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30" name="Rectangle 129"/>
          <p:cNvSpPr/>
          <p:nvPr/>
        </p:nvSpPr>
        <p:spPr>
          <a:xfrm>
            <a:off x="4206240" y="3977639"/>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131" name="Connector 130"/>
          <p:cNvCxnSpPr/>
          <p:nvPr/>
        </p:nvCxnSpPr>
        <p:spPr>
          <a:xfrm>
            <a:off x="1737360" y="2578608"/>
            <a:ext cx="0" cy="57607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2" name="Oval 131"/>
          <p:cNvSpPr/>
          <p:nvPr/>
        </p:nvSpPr>
        <p:spPr>
          <a:xfrm>
            <a:off x="1659636" y="278892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133" name="TextBox 132"/>
          <p:cNvSpPr txBox="1"/>
          <p:nvPr/>
        </p:nvSpPr>
        <p:spPr>
          <a:xfrm>
            <a:off x="1828800" y="2610611"/>
            <a:ext cx="82296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계산 중 접근</a:t>
            </a:r>
          </a:p>
        </p:txBody>
      </p:sp>
      <p:cxnSp>
        <p:nvCxnSpPr>
          <p:cNvPr id="134" name="Connector 133"/>
          <p:cNvCxnSpPr/>
          <p:nvPr/>
        </p:nvCxnSpPr>
        <p:spPr>
          <a:xfrm>
            <a:off x="3566160" y="2578608"/>
            <a:ext cx="0" cy="57607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3488436" y="278892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sp>
        <p:nvSpPr>
          <p:cNvPr id="136" name="TextBox 135"/>
          <p:cNvSpPr txBox="1"/>
          <p:nvPr/>
        </p:nvSpPr>
        <p:spPr>
          <a:xfrm>
            <a:off x="3657600" y="2610611"/>
            <a:ext cx="4572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접근</a:t>
            </a:r>
          </a:p>
        </p:txBody>
      </p:sp>
      <p:cxnSp>
        <p:nvCxnSpPr>
          <p:cNvPr id="137" name="Connector 136"/>
          <p:cNvCxnSpPr/>
          <p:nvPr/>
        </p:nvCxnSpPr>
        <p:spPr>
          <a:xfrm>
            <a:off x="4718304" y="2578608"/>
            <a:ext cx="0" cy="25603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38" name="Oval 137"/>
          <p:cNvSpPr/>
          <p:nvPr/>
        </p:nvSpPr>
        <p:spPr>
          <a:xfrm>
            <a:off x="4640580" y="262890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139" name="TextBox 138"/>
          <p:cNvSpPr txBox="1"/>
          <p:nvPr/>
        </p:nvSpPr>
        <p:spPr>
          <a:xfrm>
            <a:off x="4809744" y="2615184"/>
            <a:ext cx="4572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접근</a:t>
            </a:r>
          </a:p>
        </p:txBody>
      </p:sp>
      <p:cxnSp>
        <p:nvCxnSpPr>
          <p:cNvPr id="140" name="Connector 139"/>
          <p:cNvCxnSpPr/>
          <p:nvPr/>
        </p:nvCxnSpPr>
        <p:spPr>
          <a:xfrm>
            <a:off x="2039112" y="3611880"/>
            <a:ext cx="585216" cy="0"/>
          </a:xfrm>
          <a:prstGeom prst="line">
            <a:avLst/>
          </a:prstGeom>
          <a:ln w="15875">
            <a:solidFill>
              <a:srgbClr val="2E75B6"/>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1" name="Oval 140"/>
          <p:cNvSpPr/>
          <p:nvPr/>
        </p:nvSpPr>
        <p:spPr>
          <a:xfrm>
            <a:off x="2253996" y="3534156"/>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4</a:t>
            </a:r>
          </a:p>
        </p:txBody>
      </p:sp>
      <p:sp>
        <p:nvSpPr>
          <p:cNvPr id="142" name="TextBox 141"/>
          <p:cNvSpPr txBox="1"/>
          <p:nvPr/>
        </p:nvSpPr>
        <p:spPr>
          <a:xfrm>
            <a:off x="2103120" y="3703320"/>
            <a:ext cx="548640" cy="164592"/>
          </a:xfrm>
          <a:prstGeom prst="rect">
            <a:avLst/>
          </a:prstGeom>
          <a:noFill/>
        </p:spPr>
        <p:txBody>
          <a:bodyPr wrap="square" lIns="0" tIns="0" rIns="0" bIns="0" anchor="t">
            <a:spAutoFit/>
          </a:bodyPr>
          <a:lstStyle/>
          <a:p>
            <a:pPr algn="ctr"/>
            <a:r>
              <a:rPr sz="700" b="1" i="0">
                <a:solidFill>
                  <a:srgbClr val="2E75B6"/>
                </a:solidFill>
                <a:latin typeface="맑은 고딕"/>
                <a:ea typeface="맑은 고딕"/>
              </a:rPr>
              <a:t>PCIe</a:t>
            </a:r>
          </a:p>
        </p:txBody>
      </p:sp>
      <p:cxnSp>
        <p:nvCxnSpPr>
          <p:cNvPr id="143" name="Connector 142"/>
          <p:cNvCxnSpPr/>
          <p:nvPr/>
        </p:nvCxnSpPr>
        <p:spPr>
          <a:xfrm>
            <a:off x="3721608" y="3611880"/>
            <a:ext cx="530352"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144" name="Oval 143"/>
          <p:cNvSpPr/>
          <p:nvPr/>
        </p:nvSpPr>
        <p:spPr>
          <a:xfrm>
            <a:off x="3909060" y="3534156"/>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5</a:t>
            </a:r>
          </a:p>
        </p:txBody>
      </p:sp>
      <p:sp>
        <p:nvSpPr>
          <p:cNvPr id="145" name="TextBox 144"/>
          <p:cNvSpPr txBox="1"/>
          <p:nvPr/>
        </p:nvSpPr>
        <p:spPr>
          <a:xfrm>
            <a:off x="3721608" y="3703320"/>
            <a:ext cx="548640" cy="164592"/>
          </a:xfrm>
          <a:prstGeom prst="rect">
            <a:avLst/>
          </a:prstGeom>
          <a:noFill/>
        </p:spPr>
        <p:txBody>
          <a:bodyPr wrap="square" lIns="0" tIns="0" rIns="0" bIns="0" anchor="t">
            <a:spAutoFit/>
          </a:bodyPr>
          <a:lstStyle/>
          <a:p>
            <a:pPr algn="ctr"/>
            <a:r>
              <a:rPr sz="700" b="1" i="0">
                <a:solidFill>
                  <a:srgbClr val="C55A11"/>
                </a:solidFill>
                <a:latin typeface="맑은 고딕"/>
                <a:ea typeface="맑은 고딕"/>
              </a:rPr>
              <a:t>확장</a:t>
            </a:r>
          </a:p>
        </p:txBody>
      </p:sp>
      <p:sp>
        <p:nvSpPr>
          <p:cNvPr id="146" name="TextBox 145"/>
          <p:cNvSpPr txBox="1"/>
          <p:nvPr/>
        </p:nvSpPr>
        <p:spPr>
          <a:xfrm>
            <a:off x="731520" y="4288536"/>
            <a:ext cx="4937760" cy="155448"/>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④⑤ KV 캐시가 메모리 계층 사이를 이동 (자주 쓰는 것은 위로, 오래된 것은 아래로)</a:t>
            </a:r>
          </a:p>
        </p:txBody>
      </p:sp>
      <p:sp>
        <p:nvSpPr>
          <p:cNvPr id="147" name="TextBox 146"/>
          <p:cNvSpPr txBox="1"/>
          <p:nvPr/>
        </p:nvSpPr>
        <p:spPr>
          <a:xfrm>
            <a:off x="566928" y="4453128"/>
            <a:ext cx="86868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빠름 · 작음</a:t>
            </a:r>
          </a:p>
        </p:txBody>
      </p:sp>
      <p:cxnSp>
        <p:nvCxnSpPr>
          <p:cNvPr id="148" name="Connector 147"/>
          <p:cNvCxnSpPr/>
          <p:nvPr/>
        </p:nvCxnSpPr>
        <p:spPr>
          <a:xfrm>
            <a:off x="1371600" y="4544568"/>
            <a:ext cx="3383280" cy="0"/>
          </a:xfrm>
          <a:prstGeom prst="line">
            <a:avLst/>
          </a:prstGeom>
          <a:ln w="15875">
            <a:solidFill>
              <a:srgbClr val="40404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4800600" y="4453128"/>
            <a:ext cx="914400" cy="182880"/>
          </a:xfrm>
          <a:prstGeom prst="rect">
            <a:avLst/>
          </a:prstGeom>
          <a:noFill/>
        </p:spPr>
        <p:txBody>
          <a:bodyPr wrap="square" lIns="0" tIns="0" rIns="0" bIns="0" anchor="t">
            <a:spAutoFit/>
          </a:bodyPr>
          <a:lstStyle/>
          <a:p>
            <a:pPr algn="l"/>
            <a:r>
              <a:rPr sz="700" b="1" i="0">
                <a:solidFill>
                  <a:srgbClr val="404040"/>
                </a:solidFill>
                <a:latin typeface="맑은 고딕"/>
                <a:ea typeface="맑은 고딕"/>
              </a:rPr>
              <a:t>느림 · 큼</a:t>
            </a:r>
          </a:p>
        </p:txBody>
      </p:sp>
      <p:sp>
        <p:nvSpPr>
          <p:cNvPr id="150" name="Rectangle 149"/>
          <p:cNvSpPr/>
          <p:nvPr/>
        </p:nvSpPr>
        <p:spPr>
          <a:xfrm>
            <a:off x="502920" y="4754880"/>
            <a:ext cx="5257800" cy="1024128"/>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1" name="TextBox 150"/>
          <p:cNvSpPr txBox="1"/>
          <p:nvPr/>
        </p:nvSpPr>
        <p:spPr>
          <a:xfrm>
            <a:off x="621792" y="4782312"/>
            <a:ext cx="5074920" cy="987552"/>
          </a:xfrm>
          <a:prstGeom prst="rect">
            <a:avLst/>
          </a:prstGeom>
          <a:noFill/>
        </p:spPr>
        <p:txBody>
          <a:bodyPr wrap="square" lIns="0" tIns="0" rIns="0" bIns="0" anchor="t">
            <a:spAutoFit/>
          </a:bodyPr>
          <a:lstStyle/>
          <a:p>
            <a:pPr algn="l">
              <a:lnSpc>
                <a:spcPct val="110000"/>
              </a:lnSpc>
            </a:pPr>
            <a:r>
              <a:rPr sz="950" b="1" i="0">
                <a:solidFill>
                  <a:srgbClr val="2E75B6"/>
                </a:solidFill>
                <a:latin typeface="맑은 고딕"/>
                <a:ea typeface="맑은 고딕"/>
              </a:rPr>
              <a:t>DP1~DP4 = 서버 1대 안에서 내리는 결정 (서버 내부 결정)</a:t>
            </a:r>
          </a:p>
          <a:p>
            <a:pPr algn="l">
              <a:lnSpc>
                <a:spcPct val="110000"/>
              </a:lnSpc>
            </a:pPr>
            <a:r>
              <a:rPr sz="850" b="0" i="0">
                <a:solidFill>
                  <a:srgbClr val="404040"/>
                </a:solidFill>
                <a:latin typeface="맑은 고딕"/>
                <a:ea typeface="맑은 고딕"/>
              </a:rPr>
              <a:t>· DP1  이기종 메모리 기반 AI 데이터 배치: 어떤 데이터를 어느 메모리에?</a:t>
            </a:r>
          </a:p>
          <a:p>
            <a:pPr algn="l">
              <a:lnSpc>
                <a:spcPct val="110000"/>
              </a:lnSpc>
            </a:pPr>
            <a:r>
              <a:rPr sz="850" b="0" i="0">
                <a:solidFill>
                  <a:srgbClr val="404040"/>
                </a:solidFill>
                <a:latin typeface="맑은 고딕"/>
                <a:ea typeface="맑은 고딕"/>
              </a:rPr>
              <a:t>· DP2  Prefill(입력 처리) 실행: 어느 연산 자원에서?</a:t>
            </a:r>
          </a:p>
          <a:p>
            <a:pPr algn="l">
              <a:lnSpc>
                <a:spcPct val="110000"/>
              </a:lnSpc>
            </a:pPr>
            <a:r>
              <a:rPr sz="850" b="0" i="0">
                <a:solidFill>
                  <a:srgbClr val="404040"/>
                </a:solidFill>
                <a:latin typeface="맑은 고딕"/>
                <a:ea typeface="맑은 고딕"/>
              </a:rPr>
              <a:t>· DP3  Long Context KV Eviction &amp; Reuse  · DP4  Agent Tool-wait KV residency</a:t>
            </a:r>
          </a:p>
          <a:p>
            <a:pPr algn="l">
              <a:lnSpc>
                <a:spcPct val="110000"/>
              </a:lnSpc>
            </a:pPr>
            <a:r>
              <a:rPr sz="750" b="0" i="0">
                <a:solidFill>
                  <a:srgbClr val="404040"/>
                </a:solidFill>
                <a:latin typeface="맑은 고딕"/>
                <a:ea typeface="맑은 고딕"/>
              </a:rPr>
              <a:t>vLLM은 GPU 여러 장을 써도 '서버 내부 병렬화'까지만 담당</a:t>
            </a:r>
          </a:p>
        </p:txBody>
      </p:sp>
      <p:sp>
        <p:nvSpPr>
          <p:cNvPr id="152" name="TextBox 151"/>
          <p:cNvSpPr txBox="1"/>
          <p:nvPr/>
        </p:nvSpPr>
        <p:spPr>
          <a:xfrm>
            <a:off x="6327648" y="1152144"/>
            <a:ext cx="5394960" cy="640080"/>
          </a:xfrm>
          <a:prstGeom prst="rect">
            <a:avLst/>
          </a:prstGeom>
          <a:noFill/>
        </p:spPr>
        <p:txBody>
          <a:bodyPr wrap="square" lIns="0" tIns="0" rIns="0" bIns="0" anchor="t">
            <a:spAutoFit/>
          </a:bodyPr>
          <a:lstStyle/>
          <a:p>
            <a:pPr algn="l">
              <a:lnSpc>
                <a:spcPct val="112000"/>
              </a:lnSpc>
            </a:pPr>
            <a:r>
              <a:rPr sz="1050" b="1" i="0">
                <a:solidFill>
                  <a:srgbClr val="C55A11"/>
                </a:solidFill>
                <a:latin typeface="맑은 고딕"/>
                <a:ea typeface="맑은 고딕"/>
              </a:rPr>
              <a:t>✓ </a:t>
            </a:r>
            <a:r>
              <a:rPr sz="1050" b="0" i="0">
                <a:solidFill>
                  <a:srgbClr val="404040"/>
                </a:solidFill>
                <a:latin typeface="맑은 고딕"/>
                <a:ea typeface="맑은 고딕"/>
              </a:rPr>
              <a:t>서버·GPU가 여러 대 → </a:t>
            </a:r>
            <a:r>
              <a:rPr sz="1050" b="1" i="0">
                <a:solidFill>
                  <a:srgbClr val="C55A11"/>
                </a:solidFill>
                <a:latin typeface="맑은 고딕"/>
                <a:ea typeface="맑은 고딕"/>
              </a:rPr>
              <a:t>서버마다 메모리 사용 상태·KV 캐시 보유 상태가 다름</a:t>
            </a:r>
          </a:p>
          <a:p>
            <a:pPr algn="l">
              <a:lnSpc>
                <a:spcPct val="112000"/>
              </a:lnSpc>
            </a:pPr>
            <a:r>
              <a:rPr sz="1050" b="1" i="0">
                <a:solidFill>
                  <a:srgbClr val="C55A11"/>
                </a:solidFill>
                <a:latin typeface="맑은 고딕"/>
                <a:ea typeface="맑은 고딕"/>
              </a:rPr>
              <a:t>✓ </a:t>
            </a:r>
            <a:r>
              <a:rPr sz="1050" b="0" i="0">
                <a:solidFill>
                  <a:srgbClr val="404040"/>
                </a:solidFill>
                <a:latin typeface="맑은 고딕"/>
                <a:ea typeface="맑은 고딕"/>
              </a:rPr>
              <a:t>같은 요청도 </a:t>
            </a:r>
            <a:r>
              <a:rPr sz="1050" b="1" i="0">
                <a:solidFill>
                  <a:srgbClr val="C55A11"/>
                </a:solidFill>
                <a:latin typeface="맑은 고딕"/>
                <a:ea typeface="맑은 고딕"/>
              </a:rPr>
              <a:t>어느 서버로 보내느냐</a:t>
            </a:r>
            <a:r>
              <a:rPr sz="1050" b="0" i="0">
                <a:solidFill>
                  <a:srgbClr val="404040"/>
                </a:solidFill>
                <a:latin typeface="맑은 고딕"/>
                <a:ea typeface="맑은 고딕"/>
              </a:rPr>
              <a:t>에 따라 성능이 달라짐</a:t>
            </a:r>
          </a:p>
        </p:txBody>
      </p:sp>
      <p:sp>
        <p:nvSpPr>
          <p:cNvPr id="153" name="Rectangle 152"/>
          <p:cNvSpPr/>
          <p:nvPr/>
        </p:nvSpPr>
        <p:spPr>
          <a:xfrm>
            <a:off x="6355080" y="1847088"/>
            <a:ext cx="5394960" cy="2788920"/>
          </a:xfrm>
          <a:prstGeom prst="rect">
            <a:avLst/>
          </a:prstGeom>
          <a:solidFill>
            <a:srgbClr val="FFFFFF"/>
          </a:solidFill>
          <a:ln w="12700">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4" name="Rounded Rectangle 153"/>
          <p:cNvSpPr/>
          <p:nvPr/>
        </p:nvSpPr>
        <p:spPr>
          <a:xfrm>
            <a:off x="6446520" y="2240280"/>
            <a:ext cx="713232" cy="310896"/>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r>
              <a:rPr sz="800" b="1" i="0">
                <a:solidFill>
                  <a:srgbClr val="000000"/>
                </a:solidFill>
                <a:latin typeface="맑은 고딕"/>
                <a:ea typeface="맑은 고딕"/>
              </a:rPr>
              <a:t>Request</a:t>
            </a:r>
          </a:p>
        </p:txBody>
      </p:sp>
      <p:cxnSp>
        <p:nvCxnSpPr>
          <p:cNvPr id="155" name="Connector 154"/>
          <p:cNvCxnSpPr/>
          <p:nvPr/>
        </p:nvCxnSpPr>
        <p:spPr>
          <a:xfrm>
            <a:off x="7159752" y="2395728"/>
            <a:ext cx="24688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156" name="Oval 155"/>
          <p:cNvSpPr/>
          <p:nvPr/>
        </p:nvSpPr>
        <p:spPr>
          <a:xfrm>
            <a:off x="7205472" y="23180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157" name="Rectangle 156"/>
          <p:cNvSpPr/>
          <p:nvPr/>
        </p:nvSpPr>
        <p:spPr>
          <a:xfrm>
            <a:off x="7406640" y="1920240"/>
            <a:ext cx="4251960" cy="914400"/>
          </a:xfrm>
          <a:prstGeom prst="rect">
            <a:avLst/>
          </a:prstGeom>
          <a:solidFill>
            <a:srgbClr val="FFFFFF"/>
          </a:solidFill>
          <a:ln w="15875">
            <a:solidFill>
              <a:srgbClr val="C55A11"/>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8" name="Rectangle 157"/>
          <p:cNvSpPr/>
          <p:nvPr/>
        </p:nvSpPr>
        <p:spPr>
          <a:xfrm>
            <a:off x="7406640" y="1920240"/>
            <a:ext cx="3657600" cy="173736"/>
          </a:xfrm>
          <a:prstGeom prst="rect">
            <a:avLst/>
          </a:prstGeom>
          <a:solidFill>
            <a:srgbClr val="C55A11"/>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50" b="1" i="0">
                <a:solidFill>
                  <a:srgbClr val="FFFFFF"/>
                </a:solidFill>
                <a:latin typeface="맑은 고딕"/>
                <a:ea typeface="맑은 고딕"/>
              </a:rPr>
              <a:t>«layer» 요청 조율 계층 (Orchestration) - 현재 공백</a:t>
            </a:r>
          </a:p>
        </p:txBody>
      </p:sp>
      <p:sp>
        <p:nvSpPr>
          <p:cNvPr id="159" name="Rectangle 158"/>
          <p:cNvSpPr/>
          <p:nvPr/>
        </p:nvSpPr>
        <p:spPr>
          <a:xfrm>
            <a:off x="7543800"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요청 라우팅</a:t>
            </a:r>
          </a:p>
        </p:txBody>
      </p:sp>
      <p:sp>
        <p:nvSpPr>
          <p:cNvPr id="160" name="Rectangle 159"/>
          <p:cNvSpPr/>
          <p:nvPr/>
        </p:nvSpPr>
        <p:spPr>
          <a:xfrm>
            <a:off x="7498079"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1" name="Rectangle 160"/>
          <p:cNvSpPr/>
          <p:nvPr/>
        </p:nvSpPr>
        <p:spPr>
          <a:xfrm>
            <a:off x="7498079"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2" name="Rectangle 161"/>
          <p:cNvSpPr/>
          <p:nvPr/>
        </p:nvSpPr>
        <p:spPr>
          <a:xfrm>
            <a:off x="8567928"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P/D 분리 배치</a:t>
            </a:r>
          </a:p>
        </p:txBody>
      </p:sp>
      <p:sp>
        <p:nvSpPr>
          <p:cNvPr id="163" name="Rectangle 162"/>
          <p:cNvSpPr/>
          <p:nvPr/>
        </p:nvSpPr>
        <p:spPr>
          <a:xfrm>
            <a:off x="8522208"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4" name="Rectangle 163"/>
          <p:cNvSpPr/>
          <p:nvPr/>
        </p:nvSpPr>
        <p:spPr>
          <a:xfrm>
            <a:off x="8522208"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5" name="Rectangle 164"/>
          <p:cNvSpPr/>
          <p:nvPr/>
        </p:nvSpPr>
        <p:spPr>
          <a:xfrm>
            <a:off x="9592056"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KV 공유</a:t>
            </a:r>
          </a:p>
        </p:txBody>
      </p:sp>
      <p:sp>
        <p:nvSpPr>
          <p:cNvPr id="166" name="Rectangle 165"/>
          <p:cNvSpPr/>
          <p:nvPr/>
        </p:nvSpPr>
        <p:spPr>
          <a:xfrm>
            <a:off x="9546336"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7" name="Rectangle 166"/>
          <p:cNvSpPr/>
          <p:nvPr/>
        </p:nvSpPr>
        <p:spPr>
          <a:xfrm>
            <a:off x="9546336"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8" name="Rectangle 167"/>
          <p:cNvSpPr/>
          <p:nvPr/>
        </p:nvSpPr>
        <p:spPr>
          <a:xfrm>
            <a:off x="10616184" y="2240280"/>
            <a:ext cx="914400" cy="457200"/>
          </a:xfrm>
          <a:prstGeom prst="rect">
            <a:avLst/>
          </a:prstGeom>
          <a:solidFill>
            <a:srgbClr val="FBE5D6"/>
          </a:solidFill>
          <a:ln w="12700">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00" b="1" i="0">
                <a:solidFill>
                  <a:srgbClr val="000000"/>
                </a:solidFill>
                <a:latin typeface="맑은 고딕"/>
                <a:ea typeface="맑은 고딕"/>
              </a:rPr>
              <a:t>서버 발견·확장</a:t>
            </a:r>
          </a:p>
        </p:txBody>
      </p:sp>
      <p:sp>
        <p:nvSpPr>
          <p:cNvPr id="169" name="Rectangle 168"/>
          <p:cNvSpPr/>
          <p:nvPr/>
        </p:nvSpPr>
        <p:spPr>
          <a:xfrm>
            <a:off x="10570463" y="229514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0" name="Rectangle 169"/>
          <p:cNvSpPr/>
          <p:nvPr/>
        </p:nvSpPr>
        <p:spPr>
          <a:xfrm>
            <a:off x="10570463" y="2386584"/>
            <a:ext cx="91440" cy="50292"/>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1" name="Rectangle 170"/>
          <p:cNvSpPr/>
          <p:nvPr/>
        </p:nvSpPr>
        <p:spPr>
          <a:xfrm>
            <a:off x="6446520" y="3090672"/>
            <a:ext cx="5212080" cy="1499616"/>
          </a:xfrm>
          <a:prstGeom prst="rect">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2" name="Rectangle 171"/>
          <p:cNvSpPr/>
          <p:nvPr/>
        </p:nvSpPr>
        <p:spPr>
          <a:xfrm>
            <a:off x="6446520" y="3090672"/>
            <a:ext cx="75712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50" b="1" i="0">
                <a:solidFill>
                  <a:srgbClr val="FFFFFF"/>
                </a:solidFill>
                <a:latin typeface="맑은 고딕"/>
                <a:ea typeface="맑은 고딕"/>
              </a:rPr>
              <a:t>«rack» Rack</a:t>
            </a:r>
          </a:p>
        </p:txBody>
      </p:sp>
      <p:sp>
        <p:nvSpPr>
          <p:cNvPr id="173" name="Rectangle 172"/>
          <p:cNvSpPr/>
          <p:nvPr/>
        </p:nvSpPr>
        <p:spPr>
          <a:xfrm>
            <a:off x="6528816"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4" name="Rectangle 173"/>
          <p:cNvSpPr/>
          <p:nvPr/>
        </p:nvSpPr>
        <p:spPr>
          <a:xfrm>
            <a:off x="6528816"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«server» 서버 1 (vLLM)</a:t>
            </a:r>
          </a:p>
        </p:txBody>
      </p:sp>
      <p:sp>
        <p:nvSpPr>
          <p:cNvPr id="175" name="Rectangle 174"/>
          <p:cNvSpPr/>
          <p:nvPr/>
        </p:nvSpPr>
        <p:spPr>
          <a:xfrm>
            <a:off x="7498079"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a:solidFill>
                  <a:srgbClr val="C55A11"/>
                </a:solidFill>
                <a:latin typeface="맑은 고딕"/>
                <a:ea typeface="맑은 고딕"/>
              </a:rPr>
              <a:t>KV-A</a:t>
            </a:r>
          </a:p>
        </p:txBody>
      </p:sp>
      <p:sp>
        <p:nvSpPr>
          <p:cNvPr id="176" name="TextBox 175"/>
          <p:cNvSpPr txBox="1"/>
          <p:nvPr/>
        </p:nvSpPr>
        <p:spPr>
          <a:xfrm>
            <a:off x="6565392"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177" name="Rectangle 176"/>
          <p:cNvSpPr/>
          <p:nvPr/>
        </p:nvSpPr>
        <p:spPr>
          <a:xfrm>
            <a:off x="6976872"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8" name="Rectangle 177"/>
          <p:cNvSpPr/>
          <p:nvPr/>
        </p:nvSpPr>
        <p:spPr>
          <a:xfrm>
            <a:off x="6976872" y="3721608"/>
            <a:ext cx="94640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79" name="TextBox 178"/>
          <p:cNvSpPr txBox="1"/>
          <p:nvPr/>
        </p:nvSpPr>
        <p:spPr>
          <a:xfrm>
            <a:off x="6565392"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180" name="Rectangle 179"/>
          <p:cNvSpPr/>
          <p:nvPr/>
        </p:nvSpPr>
        <p:spPr>
          <a:xfrm>
            <a:off x="6976872"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1" name="Rectangle 180"/>
          <p:cNvSpPr/>
          <p:nvPr/>
        </p:nvSpPr>
        <p:spPr>
          <a:xfrm>
            <a:off x="6976872" y="3904488"/>
            <a:ext cx="42062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2" name="TextBox 181"/>
          <p:cNvSpPr txBox="1"/>
          <p:nvPr/>
        </p:nvSpPr>
        <p:spPr>
          <a:xfrm>
            <a:off x="6565392"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183" name="Rectangle 182"/>
          <p:cNvSpPr/>
          <p:nvPr/>
        </p:nvSpPr>
        <p:spPr>
          <a:xfrm>
            <a:off x="6976872"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4" name="Rectangle 183"/>
          <p:cNvSpPr/>
          <p:nvPr/>
        </p:nvSpPr>
        <p:spPr>
          <a:xfrm>
            <a:off x="6976872" y="4087368"/>
            <a:ext cx="105156"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85" name="TextBox 184"/>
          <p:cNvSpPr txBox="1"/>
          <p:nvPr/>
        </p:nvSpPr>
        <p:spPr>
          <a:xfrm>
            <a:off x="6601968"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186" name="Connector 185"/>
          <p:cNvCxnSpPr/>
          <p:nvPr/>
        </p:nvCxnSpPr>
        <p:spPr>
          <a:xfrm>
            <a:off x="7351775"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187" name="Oval 186"/>
          <p:cNvSpPr/>
          <p:nvPr/>
        </p:nvSpPr>
        <p:spPr>
          <a:xfrm>
            <a:off x="7274051"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188" name="Connector 187"/>
          <p:cNvCxnSpPr/>
          <p:nvPr/>
        </p:nvCxnSpPr>
        <p:spPr>
          <a:xfrm flipV="1">
            <a:off x="7808975"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89" name="Oval 188"/>
          <p:cNvSpPr/>
          <p:nvPr/>
        </p:nvSpPr>
        <p:spPr>
          <a:xfrm>
            <a:off x="7731251"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190" name="Rectangle 189"/>
          <p:cNvSpPr/>
          <p:nvPr/>
        </p:nvSpPr>
        <p:spPr>
          <a:xfrm>
            <a:off x="8284463"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1" name="Rectangle 190"/>
          <p:cNvSpPr/>
          <p:nvPr/>
        </p:nvSpPr>
        <p:spPr>
          <a:xfrm>
            <a:off x="8284463"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«server» 서버 2 (vLLM)</a:t>
            </a:r>
          </a:p>
        </p:txBody>
      </p:sp>
      <p:sp>
        <p:nvSpPr>
          <p:cNvPr id="192" name="Rectangle 191"/>
          <p:cNvSpPr/>
          <p:nvPr/>
        </p:nvSpPr>
        <p:spPr>
          <a:xfrm>
            <a:off x="9253728"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a:solidFill>
                  <a:srgbClr val="C55A11"/>
                </a:solidFill>
                <a:latin typeface="맑은 고딕"/>
                <a:ea typeface="맑은 고딕"/>
              </a:rPr>
              <a:t>KV-B</a:t>
            </a:r>
          </a:p>
        </p:txBody>
      </p:sp>
      <p:sp>
        <p:nvSpPr>
          <p:cNvPr id="193" name="TextBox 192"/>
          <p:cNvSpPr txBox="1"/>
          <p:nvPr/>
        </p:nvSpPr>
        <p:spPr>
          <a:xfrm>
            <a:off x="8321039"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194" name="Rectangle 193"/>
          <p:cNvSpPr/>
          <p:nvPr/>
        </p:nvSpPr>
        <p:spPr>
          <a:xfrm>
            <a:off x="8732519"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5" name="Rectangle 194"/>
          <p:cNvSpPr/>
          <p:nvPr/>
        </p:nvSpPr>
        <p:spPr>
          <a:xfrm>
            <a:off x="8732519" y="3721608"/>
            <a:ext cx="420624"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6" name="TextBox 195"/>
          <p:cNvSpPr txBox="1"/>
          <p:nvPr/>
        </p:nvSpPr>
        <p:spPr>
          <a:xfrm>
            <a:off x="8321039"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197" name="Rectangle 196"/>
          <p:cNvSpPr/>
          <p:nvPr/>
        </p:nvSpPr>
        <p:spPr>
          <a:xfrm>
            <a:off x="8732519"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8" name="Rectangle 197"/>
          <p:cNvSpPr/>
          <p:nvPr/>
        </p:nvSpPr>
        <p:spPr>
          <a:xfrm>
            <a:off x="8732519" y="3904488"/>
            <a:ext cx="893826"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99" name="TextBox 198"/>
          <p:cNvSpPr txBox="1"/>
          <p:nvPr/>
        </p:nvSpPr>
        <p:spPr>
          <a:xfrm>
            <a:off x="8321039"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200" name="Rectangle 199"/>
          <p:cNvSpPr/>
          <p:nvPr/>
        </p:nvSpPr>
        <p:spPr>
          <a:xfrm>
            <a:off x="8732519"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1" name="Rectangle 200"/>
          <p:cNvSpPr/>
          <p:nvPr/>
        </p:nvSpPr>
        <p:spPr>
          <a:xfrm>
            <a:off x="8732519" y="4087368"/>
            <a:ext cx="525780"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2" name="TextBox 201"/>
          <p:cNvSpPr txBox="1"/>
          <p:nvPr/>
        </p:nvSpPr>
        <p:spPr>
          <a:xfrm>
            <a:off x="8357615"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203" name="Connector 202"/>
          <p:cNvCxnSpPr/>
          <p:nvPr/>
        </p:nvCxnSpPr>
        <p:spPr>
          <a:xfrm>
            <a:off x="9107424"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204" name="Oval 203"/>
          <p:cNvSpPr/>
          <p:nvPr/>
        </p:nvSpPr>
        <p:spPr>
          <a:xfrm>
            <a:off x="9029699"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205" name="Connector 204"/>
          <p:cNvCxnSpPr/>
          <p:nvPr/>
        </p:nvCxnSpPr>
        <p:spPr>
          <a:xfrm flipV="1">
            <a:off x="9564624"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6" name="Oval 205"/>
          <p:cNvSpPr/>
          <p:nvPr/>
        </p:nvSpPr>
        <p:spPr>
          <a:xfrm>
            <a:off x="9486899"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207" name="Rectangle 206"/>
          <p:cNvSpPr/>
          <p:nvPr/>
        </p:nvSpPr>
        <p:spPr>
          <a:xfrm>
            <a:off x="10040112" y="3310128"/>
            <a:ext cx="1554480" cy="102412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08" name="Rectangle 207"/>
          <p:cNvSpPr/>
          <p:nvPr/>
        </p:nvSpPr>
        <p:spPr>
          <a:xfrm>
            <a:off x="10040112" y="3310128"/>
            <a:ext cx="1283817"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«server» 서버 3 (vLLM)</a:t>
            </a:r>
          </a:p>
        </p:txBody>
      </p:sp>
      <p:sp>
        <p:nvSpPr>
          <p:cNvPr id="209" name="Rectangle 208"/>
          <p:cNvSpPr/>
          <p:nvPr/>
        </p:nvSpPr>
        <p:spPr>
          <a:xfrm>
            <a:off x="11009376" y="3520440"/>
            <a:ext cx="530352" cy="155448"/>
          </a:xfrm>
          <a:prstGeom prst="rect">
            <a:avLst/>
          </a:prstGeom>
          <a:solidFill>
            <a:srgbClr val="FBE5D6"/>
          </a:solidFill>
          <a:ln w="95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a:solidFill>
                  <a:srgbClr val="C55A11"/>
                </a:solidFill>
                <a:latin typeface="맑은 고딕"/>
                <a:ea typeface="맑은 고딕"/>
              </a:rPr>
              <a:t>KV-A</a:t>
            </a:r>
          </a:p>
        </p:txBody>
      </p:sp>
      <p:sp>
        <p:nvSpPr>
          <p:cNvPr id="210" name="TextBox 209"/>
          <p:cNvSpPr txBox="1"/>
          <p:nvPr/>
        </p:nvSpPr>
        <p:spPr>
          <a:xfrm>
            <a:off x="10076688" y="371246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HBM</a:t>
            </a:r>
          </a:p>
        </p:txBody>
      </p:sp>
      <p:sp>
        <p:nvSpPr>
          <p:cNvPr id="211" name="Rectangle 210"/>
          <p:cNvSpPr/>
          <p:nvPr/>
        </p:nvSpPr>
        <p:spPr>
          <a:xfrm>
            <a:off x="10488168" y="372160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2" name="Rectangle 211"/>
          <p:cNvSpPr/>
          <p:nvPr/>
        </p:nvSpPr>
        <p:spPr>
          <a:xfrm>
            <a:off x="10488168" y="3721608"/>
            <a:ext cx="210312"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3" name="TextBox 212"/>
          <p:cNvSpPr txBox="1"/>
          <p:nvPr/>
        </p:nvSpPr>
        <p:spPr>
          <a:xfrm>
            <a:off x="10076688" y="389534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DRAM</a:t>
            </a:r>
          </a:p>
        </p:txBody>
      </p:sp>
      <p:sp>
        <p:nvSpPr>
          <p:cNvPr id="214" name="Rectangle 213"/>
          <p:cNvSpPr/>
          <p:nvPr/>
        </p:nvSpPr>
        <p:spPr>
          <a:xfrm>
            <a:off x="10488168" y="390448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5" name="Rectangle 214"/>
          <p:cNvSpPr/>
          <p:nvPr/>
        </p:nvSpPr>
        <p:spPr>
          <a:xfrm>
            <a:off x="10488168" y="3904488"/>
            <a:ext cx="262890" cy="137160"/>
          </a:xfrm>
          <a:prstGeom prst="rect">
            <a:avLst/>
          </a:prstGeom>
          <a:solidFill>
            <a:srgbClr val="8FAADC"/>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6" name="TextBox 215"/>
          <p:cNvSpPr txBox="1"/>
          <p:nvPr/>
        </p:nvSpPr>
        <p:spPr>
          <a:xfrm>
            <a:off x="10076688" y="4078224"/>
            <a:ext cx="365760" cy="137160"/>
          </a:xfrm>
          <a:prstGeom prst="rect">
            <a:avLst/>
          </a:prstGeom>
          <a:noFill/>
        </p:spPr>
        <p:txBody>
          <a:bodyPr wrap="square" lIns="0" tIns="0" rIns="0" bIns="0" anchor="ctr">
            <a:spAutoFit/>
          </a:bodyPr>
          <a:lstStyle/>
          <a:p>
            <a:pPr algn="r"/>
            <a:r>
              <a:rPr sz="700" b="0" i="0">
                <a:solidFill>
                  <a:srgbClr val="404040"/>
                </a:solidFill>
                <a:latin typeface="맑은 고딕"/>
                <a:ea typeface="맑은 고딕"/>
              </a:rPr>
              <a:t>CXL</a:t>
            </a:r>
          </a:p>
        </p:txBody>
      </p:sp>
      <p:sp>
        <p:nvSpPr>
          <p:cNvPr id="217" name="Rectangle 216"/>
          <p:cNvSpPr/>
          <p:nvPr/>
        </p:nvSpPr>
        <p:spPr>
          <a:xfrm>
            <a:off x="10488168" y="4087368"/>
            <a:ext cx="1051560" cy="137160"/>
          </a:xfrm>
          <a:prstGeom prst="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8" name="Rectangle 217"/>
          <p:cNvSpPr/>
          <p:nvPr/>
        </p:nvSpPr>
        <p:spPr>
          <a:xfrm>
            <a:off x="10488168" y="4087368"/>
            <a:ext cx="946404" cy="137160"/>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19" name="TextBox 218"/>
          <p:cNvSpPr txBox="1"/>
          <p:nvPr/>
        </p:nvSpPr>
        <p:spPr>
          <a:xfrm>
            <a:off x="10113264" y="3511296"/>
            <a:ext cx="868680" cy="164592"/>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보유 KV →</a:t>
            </a:r>
          </a:p>
        </p:txBody>
      </p:sp>
      <p:cxnSp>
        <p:nvCxnSpPr>
          <p:cNvPr id="220" name="Connector 219"/>
          <p:cNvCxnSpPr/>
          <p:nvPr/>
        </p:nvCxnSpPr>
        <p:spPr>
          <a:xfrm>
            <a:off x="10863072" y="2834640"/>
            <a:ext cx="0" cy="475488"/>
          </a:xfrm>
          <a:prstGeom prst="line">
            <a:avLst/>
          </a:prstGeom>
          <a:ln w="15875">
            <a:solidFill>
              <a:srgbClr val="C55A11"/>
            </a:solidFill>
            <a:tailEnd type="triangle"/>
          </a:ln>
        </p:spPr>
        <p:style>
          <a:lnRef idx="2">
            <a:schemeClr val="accent1"/>
          </a:lnRef>
          <a:fillRef idx="0">
            <a:schemeClr val="accent1"/>
          </a:fillRef>
          <a:effectRef idx="1">
            <a:schemeClr val="accent1"/>
          </a:effectRef>
          <a:fontRef idx="minor">
            <a:schemeClr val="tx1"/>
          </a:fontRef>
        </p:style>
      </p:cxnSp>
      <p:sp>
        <p:nvSpPr>
          <p:cNvPr id="221" name="Oval 220"/>
          <p:cNvSpPr/>
          <p:nvPr/>
        </p:nvSpPr>
        <p:spPr>
          <a:xfrm>
            <a:off x="10785348" y="2994660"/>
            <a:ext cx="155448" cy="155448"/>
          </a:xfrm>
          <a:prstGeom prst="ellipse">
            <a:avLst/>
          </a:prstGeom>
          <a:solidFill>
            <a:srgbClr val="C55A1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222" name="Connector 221"/>
          <p:cNvCxnSpPr/>
          <p:nvPr/>
        </p:nvCxnSpPr>
        <p:spPr>
          <a:xfrm flipV="1">
            <a:off x="11320272" y="2834640"/>
            <a:ext cx="0" cy="475488"/>
          </a:xfrm>
          <a:prstGeom prst="line">
            <a:avLst/>
          </a:prstGeom>
          <a:ln w="15875">
            <a:solidFill>
              <a:srgbClr val="2E75B6"/>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23" name="Oval 222"/>
          <p:cNvSpPr/>
          <p:nvPr/>
        </p:nvSpPr>
        <p:spPr>
          <a:xfrm>
            <a:off x="11242548" y="2994660"/>
            <a:ext cx="155448" cy="155448"/>
          </a:xfrm>
          <a:prstGeom prst="ellipse">
            <a:avLst/>
          </a:prstGeom>
          <a:solidFill>
            <a:srgbClr val="2E75B6"/>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cxnSp>
        <p:nvCxnSpPr>
          <p:cNvPr id="224" name="Connector 223"/>
          <p:cNvCxnSpPr/>
          <p:nvPr/>
        </p:nvCxnSpPr>
        <p:spPr>
          <a:xfrm>
            <a:off x="8074152" y="4023360"/>
            <a:ext cx="219456"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9829799" y="4023360"/>
            <a:ext cx="219456" cy="0"/>
          </a:xfrm>
          <a:prstGeom prst="line">
            <a:avLst/>
          </a:prstGeom>
          <a:ln w="15875">
            <a:solidFill>
              <a:srgbClr val="C55A1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226" name="TextBox 225"/>
          <p:cNvSpPr txBox="1"/>
          <p:nvPr/>
        </p:nvSpPr>
        <p:spPr>
          <a:xfrm>
            <a:off x="6492240" y="4370832"/>
            <a:ext cx="5120640" cy="182880"/>
          </a:xfrm>
          <a:prstGeom prst="rect">
            <a:avLst/>
          </a:prstGeom>
          <a:noFill/>
        </p:spPr>
        <p:txBody>
          <a:bodyPr wrap="square" lIns="0" tIns="0" rIns="0" bIns="0" anchor="t">
            <a:spAutoFit/>
          </a:bodyPr>
          <a:lstStyle/>
          <a:p>
            <a:pPr algn="l"/>
            <a:r>
              <a:rPr sz="750" b="0" i="0">
                <a:solidFill>
                  <a:srgbClr val="404040"/>
                </a:solidFill>
                <a:latin typeface="맑은 고딕"/>
                <a:ea typeface="맑은 고딕"/>
              </a:rPr>
              <a:t>↔ 서버 간 KV 캐시 전송 (NIXL, 점선)  ·  서버마다 메모리 점유율·보유 KV가 다름</a:t>
            </a:r>
          </a:p>
        </p:txBody>
      </p:sp>
      <p:sp>
        <p:nvSpPr>
          <p:cNvPr id="227" name="Rectangle 226"/>
          <p:cNvSpPr/>
          <p:nvPr/>
        </p:nvSpPr>
        <p:spPr>
          <a:xfrm>
            <a:off x="6355080" y="4754880"/>
            <a:ext cx="5394960" cy="1024128"/>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28" name="TextBox 227"/>
          <p:cNvSpPr txBox="1"/>
          <p:nvPr/>
        </p:nvSpPr>
        <p:spPr>
          <a:xfrm>
            <a:off x="6473952" y="4782312"/>
            <a:ext cx="5212080" cy="987552"/>
          </a:xfrm>
          <a:prstGeom prst="rect">
            <a:avLst/>
          </a:prstGeom>
          <a:noFill/>
        </p:spPr>
        <p:txBody>
          <a:bodyPr wrap="square" lIns="0" tIns="0" rIns="0" bIns="0" anchor="t">
            <a:spAutoFit/>
          </a:bodyPr>
          <a:lstStyle/>
          <a:p>
            <a:pPr algn="l">
              <a:lnSpc>
                <a:spcPct val="110000"/>
              </a:lnSpc>
            </a:pPr>
            <a:r>
              <a:rPr sz="950" b="1" i="0">
                <a:solidFill>
                  <a:srgbClr val="C55A11"/>
                </a:solidFill>
                <a:latin typeface="맑은 고딕"/>
                <a:ea typeface="맑은 고딕"/>
              </a:rPr>
              <a:t>서버 간에 새로 필요한 결정 (서버 간 결정)</a:t>
            </a:r>
          </a:p>
          <a:p>
            <a:pPr algn="l">
              <a:lnSpc>
                <a:spcPct val="110000"/>
              </a:lnSpc>
            </a:pPr>
            <a:r>
              <a:rPr sz="850" b="0" i="0">
                <a:solidFill>
                  <a:srgbClr val="404040"/>
                </a:solidFill>
                <a:latin typeface="맑은 고딕"/>
                <a:ea typeface="맑은 고딕"/>
              </a:rPr>
              <a:t>① 이 요청을 어느 서버로?  (서버별 KV 캐시 위치·메모리 점유가 상이)</a:t>
            </a:r>
          </a:p>
          <a:p>
            <a:pPr algn="l">
              <a:lnSpc>
                <a:spcPct val="110000"/>
              </a:lnSpc>
            </a:pPr>
            <a:r>
              <a:rPr sz="850" b="0" i="0">
                <a:solidFill>
                  <a:srgbClr val="404040"/>
                </a:solidFill>
                <a:latin typeface="맑은 고딕"/>
                <a:ea typeface="맑은 고딕"/>
              </a:rPr>
              <a:t>② Prefill/Decode를 서버 나눠 실행할지, Prefill은 어디서?  (KV 전송 비용)</a:t>
            </a:r>
          </a:p>
          <a:p>
            <a:pPr algn="l">
              <a:lnSpc>
                <a:spcPct val="110000"/>
              </a:lnSpc>
            </a:pPr>
            <a:r>
              <a:rPr sz="850" b="0" i="0">
                <a:solidFill>
                  <a:srgbClr val="404040"/>
                </a:solidFill>
                <a:latin typeface="맑은 고딕"/>
                <a:ea typeface="맑은 고딕"/>
              </a:rPr>
              <a:t>③ 서버 간 KV 공유·서버 확장은?</a:t>
            </a:r>
          </a:p>
          <a:p>
            <a:pPr algn="l">
              <a:lnSpc>
                <a:spcPct val="110000"/>
              </a:lnSpc>
            </a:pPr>
            <a:r>
              <a:rPr sz="750" b="0" i="0">
                <a:solidFill>
                  <a:srgbClr val="404040"/>
                </a:solidFill>
                <a:latin typeface="맑은 고딕"/>
                <a:ea typeface="맑은 고딕"/>
              </a:rPr>
              <a:t>vLLM = 서버 내부 병렬화 / llm-d·Dynamo = 서버들을 묶는 계층 → 다루는 축이 다름</a:t>
            </a:r>
          </a:p>
        </p:txBody>
      </p:sp>
      <p:sp>
        <p:nvSpPr>
          <p:cNvPr id="229" name="Rectangle 228"/>
          <p:cNvSpPr/>
          <p:nvPr/>
        </p:nvSpPr>
        <p:spPr>
          <a:xfrm>
            <a:off x="502920" y="5852160"/>
            <a:ext cx="5257800" cy="4572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30" name="TextBox 229"/>
          <p:cNvSpPr txBox="1"/>
          <p:nvPr/>
        </p:nvSpPr>
        <p:spPr>
          <a:xfrm>
            <a:off x="566928" y="5861304"/>
            <a:ext cx="5138928" cy="457200"/>
          </a:xfrm>
          <a:prstGeom prst="rect">
            <a:avLst/>
          </a:prstGeom>
          <a:noFill/>
        </p:spPr>
        <p:txBody>
          <a:bodyPr wrap="square" lIns="0" tIns="0" rIns="0" bIns="0" anchor="t">
            <a:spAutoFit/>
          </a:bodyPr>
          <a:lstStyle/>
          <a:p>
            <a:pPr algn="l">
              <a:lnSpc>
                <a:spcPct val="100000"/>
              </a:lnSpc>
            </a:pPr>
            <a:r>
              <a:rPr sz="700" b="1" i="0">
                <a:solidFill>
                  <a:srgbClr val="2E75B6"/>
                </a:solidFill>
                <a:latin typeface="맑은 고딕"/>
                <a:ea typeface="맑은 고딕"/>
              </a:rPr>
              <a:t>용어 </a:t>
            </a:r>
            <a:r>
              <a:rPr sz="700" b="1" i="0">
                <a:solidFill>
                  <a:srgbClr val="404040"/>
                </a:solidFill>
                <a:latin typeface="맑은 고딕"/>
                <a:ea typeface="맑은 고딕"/>
              </a:rPr>
              <a:t>KV 캐시</a:t>
            </a:r>
            <a:r>
              <a:rPr sz="700" b="0" i="0">
                <a:solidFill>
                  <a:srgbClr val="404040"/>
                </a:solidFill>
                <a:latin typeface="맑은 고딕"/>
                <a:ea typeface="맑은 고딕"/>
              </a:rPr>
              <a:t> = LLM이 이전 입력을 다시 계산하지 않도록 저장한 중간 결과</a:t>
            </a:r>
          </a:p>
          <a:p>
            <a:pPr algn="l">
              <a:lnSpc>
                <a:spcPct val="100000"/>
              </a:lnSpc>
            </a:pPr>
            <a:r>
              <a:rPr sz="700" b="1" i="0">
                <a:solidFill>
                  <a:srgbClr val="404040"/>
                </a:solidFill>
                <a:latin typeface="맑은 고딕"/>
                <a:ea typeface="맑은 고딕"/>
              </a:rPr>
              <a:t>HBM·DRAM·CXL·HBF·SSD</a:t>
            </a:r>
            <a:r>
              <a:rPr sz="700" b="0" i="0">
                <a:solidFill>
                  <a:srgbClr val="404040"/>
                </a:solidFill>
                <a:latin typeface="맑은 고딕"/>
                <a:ea typeface="맑은 고딕"/>
              </a:rPr>
              <a:t> = 빠르고 작은 메모리 → 느리고 큰 메모리</a:t>
            </a:r>
          </a:p>
          <a:p>
            <a:pPr algn="l">
              <a:lnSpc>
                <a:spcPct val="100000"/>
              </a:lnSpc>
            </a:pPr>
            <a:r>
              <a:rPr sz="700" b="1" i="0">
                <a:solidFill>
                  <a:srgbClr val="404040"/>
                </a:solidFill>
                <a:latin typeface="맑은 고딕"/>
                <a:ea typeface="맑은 고딕"/>
              </a:rPr>
              <a:t>vLLM</a:t>
            </a:r>
            <a:r>
              <a:rPr sz="700" b="0" i="0">
                <a:solidFill>
                  <a:srgbClr val="404040"/>
                </a:solidFill>
                <a:latin typeface="맑은 고딕"/>
                <a:ea typeface="맑은 고딕"/>
              </a:rPr>
              <a:t> = LLM 추론 서버 소프트웨어  ·  </a:t>
            </a:r>
            <a:r>
              <a:rPr sz="700" b="1" i="0">
                <a:solidFill>
                  <a:srgbClr val="404040"/>
                </a:solidFill>
                <a:latin typeface="맑은 고딕"/>
                <a:ea typeface="맑은 고딕"/>
              </a:rPr>
              <a:t>Prefill</a:t>
            </a:r>
            <a:r>
              <a:rPr sz="700" b="0" i="0">
                <a:solidFill>
                  <a:srgbClr val="404040"/>
                </a:solidFill>
                <a:latin typeface="맑은 고딕"/>
                <a:ea typeface="맑은 고딕"/>
              </a:rPr>
              <a:t> = 입력 처리(계산 집약)</a:t>
            </a:r>
          </a:p>
        </p:txBody>
      </p:sp>
      <p:sp>
        <p:nvSpPr>
          <p:cNvPr id="231" name="Rectangle 230"/>
          <p:cNvSpPr/>
          <p:nvPr/>
        </p:nvSpPr>
        <p:spPr>
          <a:xfrm>
            <a:off x="6355080" y="5852160"/>
            <a:ext cx="5394960" cy="457200"/>
          </a:xfrm>
          <a:prstGeom prst="rect">
            <a:avLst/>
          </a:prstGeom>
          <a:solidFill>
            <a:srgbClr val="FFFFFF"/>
          </a:solidFill>
          <a:ln w="952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232" name="TextBox 231"/>
          <p:cNvSpPr txBox="1"/>
          <p:nvPr/>
        </p:nvSpPr>
        <p:spPr>
          <a:xfrm>
            <a:off x="6419088" y="5861304"/>
            <a:ext cx="5266944" cy="457200"/>
          </a:xfrm>
          <a:prstGeom prst="rect">
            <a:avLst/>
          </a:prstGeom>
          <a:noFill/>
        </p:spPr>
        <p:txBody>
          <a:bodyPr wrap="square" lIns="0" tIns="0" rIns="0" bIns="0" anchor="t">
            <a:spAutoFit/>
          </a:bodyPr>
          <a:lstStyle/>
          <a:p>
            <a:pPr algn="l">
              <a:lnSpc>
                <a:spcPct val="100000"/>
              </a:lnSpc>
            </a:pPr>
            <a:r>
              <a:rPr sz="700" b="1" i="0">
                <a:solidFill>
                  <a:srgbClr val="C55A11"/>
                </a:solidFill>
                <a:latin typeface="맑은 고딕"/>
                <a:ea typeface="맑은 고딕"/>
              </a:rPr>
              <a:t>용어 </a:t>
            </a:r>
            <a:r>
              <a:rPr sz="700" b="1" i="0">
                <a:solidFill>
                  <a:srgbClr val="404040"/>
                </a:solidFill>
                <a:latin typeface="맑은 고딕"/>
                <a:ea typeface="맑은 고딕"/>
              </a:rPr>
              <a:t>Decode</a:t>
            </a:r>
            <a:r>
              <a:rPr sz="700" b="0" i="0">
                <a:solidFill>
                  <a:srgbClr val="404040"/>
                </a:solidFill>
                <a:latin typeface="맑은 고딕"/>
                <a:ea typeface="맑은 고딕"/>
              </a:rPr>
              <a:t> = 응답 생성(메모리 집약)  ·  </a:t>
            </a:r>
            <a:r>
              <a:rPr sz="700" b="1" i="0">
                <a:solidFill>
                  <a:srgbClr val="404040"/>
                </a:solidFill>
                <a:latin typeface="맑은 고딕"/>
                <a:ea typeface="맑은 고딕"/>
              </a:rPr>
              <a:t>P/D 분리</a:t>
            </a:r>
            <a:r>
              <a:rPr sz="700" b="0" i="0">
                <a:solidFill>
                  <a:srgbClr val="404040"/>
                </a:solidFill>
                <a:latin typeface="맑은 고딕"/>
                <a:ea typeface="맑은 고딕"/>
              </a:rPr>
              <a:t> = Prefill/Decode를 서로 다른 서버에서 실행</a:t>
            </a:r>
          </a:p>
          <a:p>
            <a:pPr algn="l">
              <a:lnSpc>
                <a:spcPct val="100000"/>
              </a:lnSpc>
            </a:pPr>
            <a:r>
              <a:rPr sz="700" b="1" i="0">
                <a:solidFill>
                  <a:srgbClr val="404040"/>
                </a:solidFill>
                <a:latin typeface="맑은 고딕"/>
                <a:ea typeface="맑은 고딕"/>
              </a:rPr>
              <a:t>NIXL</a:t>
            </a:r>
            <a:r>
              <a:rPr sz="700" b="0" i="0">
                <a:solidFill>
                  <a:srgbClr val="404040"/>
                </a:solidFill>
                <a:latin typeface="맑은 고딕"/>
                <a:ea typeface="맑은 고딕"/>
              </a:rPr>
              <a:t> = 서버 간 KV 캐시 전송  ·  </a:t>
            </a:r>
            <a:r>
              <a:rPr sz="700" b="1" i="0">
                <a:solidFill>
                  <a:srgbClr val="404040"/>
                </a:solidFill>
                <a:latin typeface="맑은 고딕"/>
                <a:ea typeface="맑은 고딕"/>
              </a:rPr>
              <a:t>Rack</a:t>
            </a:r>
            <a:r>
              <a:rPr sz="700" b="0" i="0">
                <a:solidFill>
                  <a:srgbClr val="404040"/>
                </a:solidFill>
                <a:latin typeface="맑은 고딕"/>
                <a:ea typeface="맑은 고딕"/>
              </a:rPr>
              <a:t> = 서버를 모아 둔 랙 단위</a:t>
            </a:r>
          </a:p>
          <a:p>
            <a:pPr algn="l">
              <a:lnSpc>
                <a:spcPct val="100000"/>
              </a:lnSpc>
            </a:pPr>
            <a:r>
              <a:rPr sz="700" b="1" i="0">
                <a:solidFill>
                  <a:srgbClr val="C55A11"/>
                </a:solidFill>
                <a:latin typeface="맑은 고딕"/>
                <a:ea typeface="맑은 고딕"/>
              </a:rPr>
              <a:t>번호 </a:t>
            </a:r>
            <a:r>
              <a:rPr sz="700" b="0" i="0">
                <a:solidFill>
                  <a:srgbClr val="404040"/>
                </a:solidFill>
                <a:latin typeface="맑은 고딕"/>
                <a:ea typeface="맑은 고딕"/>
              </a:rPr>
              <a:t>① 요청 수신  ② 요청 전달  ③ 상태 보고(KV 보유 이벤트·사용량 수치)</a:t>
            </a:r>
          </a:p>
        </p:txBody>
      </p:sp>
    </p:spTree>
    <p:extLst>
      <p:ext uri="{BB962C8B-B14F-4D97-AF65-F5344CB8AC3E}">
        <p14:creationId xmlns:p14="http://schemas.microsoft.com/office/powerpoint/2010/main" val="1255647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a:t>DP0-1. 여러 서버를 묶는 요청 조율 구조 - 배경</a:t>
            </a: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2</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013" name="DP2 9013"/>
          <p:cNvSpPr/>
          <p:nvPr/>
        </p:nvSpPr>
        <p:spPr>
          <a:xfrm>
            <a:off x="421320" y="1901952"/>
            <a:ext cx="256032" cy="256032"/>
          </a:xfrm>
          <a:prstGeom prst="rect">
            <a:avLst/>
          </a:prstGeom>
          <a:noFill/>
          <a:ln>
            <a:noFill/>
          </a:ln>
        </p:spPr>
        <p:txBody>
          <a:bodyPr wrap="square" lIns="9144" tIns="7315" rIns="9144" bIns="7315" anchor="ctr">
            <a:normAutofit/>
          </a:bodyPr>
          <a:lstStyle/>
          <a:p>
            <a:pPr algn="l">
              <a:lnSpc>
                <a:spcPct val="90000"/>
              </a:lnSpc>
            </a:pP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79" name="Text 22"/>
          <p:cNvSpPr/>
          <p:nvPr/>
        </p:nvSpPr>
        <p:spPr>
          <a:xfrm>
            <a:off x="359582" y="670519"/>
            <a:ext cx="11687638" cy="868680"/>
          </a:xfrm>
          <a:prstGeom prst="rect">
            <a:avLst/>
          </a:prstGeom>
          <a:noFill/>
          <a:ln/>
        </p:spPr>
        <p:txBody>
          <a:bodyPr wrap="square" lIns="0" tIns="0" rIns="0" bIns="0" rtlCol="0" anchor="t"/>
          <a:lstStyle/>
          <a:p>
            <a:pPr marL="285750" indent="-285750">
              <a:lnSpc>
                <a:spcPct val="150000"/>
              </a:lnSpc>
              <a:buFontTx/>
              <a:buChar char="-"/>
            </a:pPr>
            <a:r>
              <a:rPr lang="ko-KR" altLang="en-US" sz="1200" dirty="0">
                <a:solidFill>
                  <a:srgbClr val="404040"/>
                </a:solidFill>
                <a:latin typeface="맑은 고딕" panose="020B0503020000020004" pitchFamily="50" charset="-127"/>
              </a:rPr>
              <a:t>추론 서버 안의 이기종 메모리(HBM·DRAM·CXL 등) 이득이, 서버 간 요청 배분 단계에서 사라질 수 있음</a:t>
            </a:r>
            <a:endParaRPr lang="en-US" altLang="ko-KR" sz="1200" dirty="0"/>
          </a:p>
          <a:p>
            <a:pPr marL="285750" indent="-285750">
              <a:lnSpc>
                <a:spcPct val="150000"/>
              </a:lnSpc>
              <a:buFontTx/>
              <a:buChar char="-"/>
            </a:pPr>
            <a:r>
              <a:rPr lang="ko-KR" altLang="en-US" sz="1200" dirty="0">
                <a:solidFill>
                  <a:srgbClr val="404040"/>
                </a:solidFill>
                <a:latin typeface="맑은 고딕" panose="020B0503020000020004" pitchFamily="50" charset="-127"/>
              </a:rPr>
              <a:t>기존 OSS 요청 조율 계층(llm-d, Dynamo)은 메모리 종류별 점수와 P/D 분리 기준을 고정 값으로만 판단함</a:t>
            </a:r>
            <a:endParaRPr lang="en-US" altLang="ko-KR" sz="1200" dirty="0"/>
          </a:p>
          <a:p>
            <a:pPr marL="285750" indent="-285750">
              <a:lnSpc>
                <a:spcPct val="150000"/>
              </a:lnSpc>
              <a:buFontTx/>
              <a:buChar char="-"/>
            </a:pPr>
            <a:r>
              <a:rPr lang="ko-KR" altLang="en-US" sz="1200" dirty="0">
                <a:solidFill>
                  <a:srgbClr val="404040"/>
                </a:solidFill>
                <a:latin typeface="맑은 고딕" panose="020B0503020000020004" pitchFamily="50" charset="-127"/>
              </a:rPr>
              <a:t>서버 내부 상태(메모리 사용·전송 대기)를 반영해 요청을 배분하는 서버 간(클러스터) 조율 구조가 필요함</a:t>
            </a:r>
            <a:endParaRPr lang="en-US" altLang="ko-KR" sz="1200" dirty="0"/>
          </a:p>
        </p:txBody>
      </p:sp>
      <p:sp>
        <p:nvSpPr>
          <p:cNvPr id="166" name="Text 22"/>
          <p:cNvSpPr/>
          <p:nvPr/>
        </p:nvSpPr>
        <p:spPr>
          <a:xfrm>
            <a:off x="383682" y="6029277"/>
            <a:ext cx="11312059" cy="548567"/>
          </a:xfrm>
          <a:prstGeom prst="rect">
            <a:avLst/>
          </a:prstGeom>
          <a:noFill/>
          <a:ln/>
        </p:spPr>
        <p:txBody>
          <a:bodyPr wrap="square" lIns="0" tIns="0" rIns="0" bIns="0" rtlCol="0" anchor="t"/>
          <a:lstStyle/>
          <a:p>
            <a:pPr>
              <a:lnSpc>
                <a:spcPct val="125000"/>
              </a:lnSpc>
            </a:pPr>
            <a:r>
              <a:rPr sz="1200" b="1" i="0">
                <a:solidFill>
                  <a:srgbClr val="000000"/>
                </a:solidFill>
                <a:latin typeface="맑은 고딕"/>
                <a:ea typeface="맑은 고딕"/>
              </a:rPr>
              <a:t>설계 쟁점 1. </a:t>
            </a:r>
            <a:r>
              <a:rPr sz="1200" b="0" i="0">
                <a:solidFill>
                  <a:srgbClr val="000000"/>
                </a:solidFill>
                <a:latin typeface="맑은 고딕"/>
                <a:ea typeface="맑은 고딕"/>
              </a:rPr>
              <a:t>서버 내부 메모리 상태·비용을 반영한 요청 배분으로 </a:t>
            </a:r>
            <a:r>
              <a:rPr sz="1200" b="1" i="0">
                <a:solidFill>
                  <a:srgbClr val="0066FF"/>
                </a:solidFill>
                <a:latin typeface="맑은 고딕"/>
                <a:ea typeface="맑은 고딕"/>
              </a:rPr>
              <a:t>처리량(Throughput)·첫 응답 시간(TTFT) 최적화</a:t>
            </a:r>
          </a:p>
          <a:p>
            <a:pPr>
              <a:lnSpc>
                <a:spcPct val="125000"/>
              </a:lnSpc>
            </a:pPr>
            <a:r>
              <a:rPr sz="1200" b="1" i="0">
                <a:solidFill>
                  <a:srgbClr val="000000"/>
                </a:solidFill>
                <a:latin typeface="맑은 고딕"/>
                <a:ea typeface="맑은 고딕"/>
              </a:rPr>
              <a:t>설계 쟁점 2. </a:t>
            </a:r>
            <a:r>
              <a:rPr sz="1200" b="0" i="0">
                <a:solidFill>
                  <a:srgbClr val="000000"/>
                </a:solidFill>
                <a:latin typeface="맑은 고딕"/>
                <a:ea typeface="맑은 고딕"/>
              </a:rPr>
              <a:t>신규 메모리·정책 추가, 서버 증가 시 </a:t>
            </a:r>
            <a:r>
              <a:rPr sz="1200" b="1" i="0">
                <a:solidFill>
                  <a:srgbClr val="0066FF"/>
                </a:solidFill>
                <a:latin typeface="맑은 고딕"/>
                <a:ea typeface="맑은 고딕"/>
              </a:rPr>
              <a:t>기존 구조 변경 최소화(Modifiability)·확장성(Scalability)</a:t>
            </a:r>
          </a:p>
        </p:txBody>
      </p:sp>
      <p:grpSp>
        <p:nvGrpSpPr>
          <p:cNvPr id="2" name="그룹 1">
            <a:extLst>
              <a:ext uri="{FF2B5EF4-FFF2-40B4-BE49-F238E27FC236}">
                <a16:creationId xmlns:a16="http://schemas.microsoft.com/office/drawing/2014/main" id="{D8454C29-B532-49FE-99CE-60D79E51A037}"/>
              </a:ext>
            </a:extLst>
          </p:cNvPr>
          <p:cNvGrpSpPr/>
          <p:nvPr/>
        </p:nvGrpSpPr>
        <p:grpSpPr>
          <a:xfrm>
            <a:off x="6167674" y="1608313"/>
            <a:ext cx="5533854" cy="3803530"/>
            <a:chOff x="6167674" y="2324995"/>
            <a:chExt cx="5533854" cy="3086847"/>
          </a:xfrm>
        </p:grpSpPr>
        <p:sp>
          <p:nvSpPr>
            <p:cNvPr id="242" name="직사각형 241">
              <a:extLst>
                <a:ext uri="{FF2B5EF4-FFF2-40B4-BE49-F238E27FC236}">
                  <a16:creationId xmlns:a16="http://schemas.microsoft.com/office/drawing/2014/main" id="{E3784E02-153A-49F1-A2CD-CE4252048DE7}"/>
                </a:ext>
              </a:extLst>
            </p:cNvPr>
            <p:cNvSpPr/>
            <p:nvPr/>
          </p:nvSpPr>
          <p:spPr>
            <a:xfrm>
              <a:off x="6167674" y="2460335"/>
              <a:ext cx="5533854" cy="2951507"/>
            </a:xfrm>
            <a:prstGeom prst="rect">
              <a:avLst/>
            </a:prstGeom>
            <a:noFill/>
            <a:ln>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3" name="모서리가 둥근 직사각형 217">
              <a:extLst>
                <a:ext uri="{FF2B5EF4-FFF2-40B4-BE49-F238E27FC236}">
                  <a16:creationId xmlns:a16="http://schemas.microsoft.com/office/drawing/2014/main" id="{63A3E9B0-7066-45A1-BE5D-E8DD4EAEDB03}"/>
                </a:ext>
              </a:extLst>
            </p:cNvPr>
            <p:cNvSpPr/>
            <p:nvPr/>
          </p:nvSpPr>
          <p:spPr>
            <a:xfrm>
              <a:off x="6463335" y="2324995"/>
              <a:ext cx="4990654" cy="285015"/>
            </a:xfrm>
            <a:prstGeom prst="roundRect">
              <a:avLst/>
            </a:prstGeom>
            <a:solidFill>
              <a:schemeClr val="accent2">
                <a:lumMod val="20000"/>
                <a:lumOff val="80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To-Be: 서버 내부 메모리 상태를 반영하는 조율</a:t>
              </a:r>
              <a:endParaRPr lang="ko-KR" altLang="en-US" sz="1100" b="1" dirty="0"/>
            </a:p>
          </p:txBody>
        </p:sp>
      </p:grpSp>
      <p:sp>
        <p:nvSpPr>
          <p:cNvPr id="244" name="DP2 9060">
            <a:extLst>
              <a:ext uri="{FF2B5EF4-FFF2-40B4-BE49-F238E27FC236}">
                <a16:creationId xmlns:a16="http://schemas.microsoft.com/office/drawing/2014/main" id="{EECDFEB7-7302-4965-B64A-4FA0853A126C}"/>
              </a:ext>
            </a:extLst>
          </p:cNvPr>
          <p:cNvSpPr/>
          <p:nvPr/>
        </p:nvSpPr>
        <p:spPr>
          <a:xfrm>
            <a:off x="5632858" y="3663076"/>
            <a:ext cx="438912" cy="457200"/>
          </a:xfrm>
          <a:prstGeom prst="rightArrow">
            <a:avLst/>
          </a:prstGeom>
          <a:solidFill>
            <a:srgbClr val="FFD966"/>
          </a:solidFill>
          <a:ln>
            <a:noFill/>
          </a:ln>
        </p:spPr>
        <p:txBody>
          <a:bodyPr wrap="square" lIns="27432" tIns="7315" rIns="27432" bIns="7315" anchor="ctr">
            <a:normAutofit fontScale="92500" lnSpcReduction="20000"/>
          </a:bodyPr>
          <a:lstStyle/>
          <a:p>
            <a:endParaRPr lang="ko-KR" altLang="en-US"/>
          </a:p>
        </p:txBody>
      </p:sp>
      <p:grpSp>
        <p:nvGrpSpPr>
          <p:cNvPr id="291" name="그룹 290">
            <a:extLst>
              <a:ext uri="{FF2B5EF4-FFF2-40B4-BE49-F238E27FC236}">
                <a16:creationId xmlns:a16="http://schemas.microsoft.com/office/drawing/2014/main" id="{6A78737F-A253-4CE8-B9A2-72B91FF65732}"/>
              </a:ext>
            </a:extLst>
          </p:cNvPr>
          <p:cNvGrpSpPr/>
          <p:nvPr/>
        </p:nvGrpSpPr>
        <p:grpSpPr>
          <a:xfrm>
            <a:off x="347472" y="1624275"/>
            <a:ext cx="5119877" cy="3787568"/>
            <a:chOff x="99695" y="3138920"/>
            <a:chExt cx="5315187" cy="3447912"/>
          </a:xfrm>
        </p:grpSpPr>
        <p:sp>
          <p:nvSpPr>
            <p:cNvPr id="350" name="직사각형 349">
              <a:extLst>
                <a:ext uri="{FF2B5EF4-FFF2-40B4-BE49-F238E27FC236}">
                  <a16:creationId xmlns:a16="http://schemas.microsoft.com/office/drawing/2014/main" id="{14E0C7FA-AF01-4522-B324-5D5122403813}"/>
                </a:ext>
              </a:extLst>
            </p:cNvPr>
            <p:cNvSpPr/>
            <p:nvPr/>
          </p:nvSpPr>
          <p:spPr>
            <a:xfrm>
              <a:off x="99695" y="3276197"/>
              <a:ext cx="5315187" cy="3310635"/>
            </a:xfrm>
            <a:prstGeom prst="rect">
              <a:avLst/>
            </a:prstGeom>
            <a:noFill/>
            <a:ln w="1270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1" name="모서리가 둥근 직사각형 212">
              <a:extLst>
                <a:ext uri="{FF2B5EF4-FFF2-40B4-BE49-F238E27FC236}">
                  <a16:creationId xmlns:a16="http://schemas.microsoft.com/office/drawing/2014/main" id="{1104C980-3417-4022-8A1E-A71193CA465E}"/>
                </a:ext>
              </a:extLst>
            </p:cNvPr>
            <p:cNvSpPr/>
            <p:nvPr/>
          </p:nvSpPr>
          <p:spPr>
            <a:xfrm>
              <a:off x="760121" y="3138920"/>
              <a:ext cx="4046740" cy="290631"/>
            </a:xfrm>
            <a:prstGeom prst="roundRect">
              <a:avLst/>
            </a:prstGeom>
            <a:solidFill>
              <a:schemeClr val="bg1">
                <a:lumMod val="95000"/>
              </a:schemeClr>
            </a:solidFill>
            <a:ln w="127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ko-KR" sz="1100" b="1" dirty="0"/>
                <a:t>As-Is: 기존 OSS 요청 조율 구조 (고정 값 판단)</a:t>
              </a:r>
              <a:endParaRPr lang="ko-KR" altLang="en-US" sz="1100" b="1" dirty="0"/>
            </a:p>
          </p:txBody>
        </p:sp>
      </p:grpSp>
      <p:sp>
        <p:nvSpPr>
          <p:cNvPr id="87" name="DP2 9014">
            <a:extLst>
              <a:ext uri="{FF2B5EF4-FFF2-40B4-BE49-F238E27FC236}">
                <a16:creationId xmlns:a16="http://schemas.microsoft.com/office/drawing/2014/main" id="{BAB6A9C5-DE6C-4B40-9E12-B57562177C2D}"/>
              </a:ext>
            </a:extLst>
          </p:cNvPr>
          <p:cNvSpPr/>
          <p:nvPr/>
        </p:nvSpPr>
        <p:spPr>
          <a:xfrm>
            <a:off x="697262" y="5665175"/>
            <a:ext cx="10972800" cy="256032"/>
          </a:xfrm>
          <a:prstGeom prst="rect">
            <a:avLst/>
          </a:prstGeom>
          <a:noFill/>
          <a:ln>
            <a:noFill/>
          </a:ln>
        </p:spPr>
        <p:txBody>
          <a:bodyPr wrap="square" lIns="9144" tIns="7315" rIns="9144" bIns="7315" anchor="ctr">
            <a:noAutofit/>
          </a:bodyPr>
          <a:lstStyle/>
          <a:p>
            <a:pPr>
              <a:lnSpc>
                <a:spcPct val="90000"/>
              </a:lnSpc>
            </a:pPr>
            <a:r>
              <a:rPr lang="en-US" altLang="ko-KR" sz="1200" b="1" dirty="0">
                <a:solidFill>
                  <a:srgbClr val="0066FF"/>
                </a:solidFill>
                <a:latin typeface="맑은 고딕" panose="020B0503020000020004" pitchFamily="50" charset="-127"/>
                <a:ea typeface="맑은 고딕" panose="020B0503020000020004" pitchFamily="50" charset="-127"/>
                <a:sym typeface="Wingdings" panose="05000000000000000000" pitchFamily="2" charset="2"/>
              </a:rPr>
              <a:t> 이기종 메모리 환경에서 서버 내부 메모리 상태·비용을 반영한 서버 간 요청 조율 구조 필요</a:t>
            </a:r>
            <a:endParaRPr lang="ko-KR" altLang="en-US" sz="1200" b="1" i="0" dirty="0">
              <a:solidFill>
                <a:srgbClr val="0066FF"/>
              </a:solidFill>
              <a:latin typeface="맑은 고딕" panose="020B0503020000020004" pitchFamily="50" charset="-127"/>
              <a:ea typeface="맑은 고딕" panose="020B0503020000020004" pitchFamily="50" charset="-127"/>
            </a:endParaRPr>
          </a:p>
        </p:txBody>
      </p:sp>
      <p:sp>
        <p:nvSpPr>
          <p:cNvPr id="88" name="오른쪽 화살표 39">
            <a:extLst>
              <a:ext uri="{FF2B5EF4-FFF2-40B4-BE49-F238E27FC236}">
                <a16:creationId xmlns:a16="http://schemas.microsoft.com/office/drawing/2014/main" id="{0C02C4F3-EB01-4664-B739-CF69604C5390}"/>
              </a:ext>
            </a:extLst>
          </p:cNvPr>
          <p:cNvSpPr/>
          <p:nvPr/>
        </p:nvSpPr>
        <p:spPr>
          <a:xfrm>
            <a:off x="284845" y="5625163"/>
            <a:ext cx="412417" cy="276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14" name="Rounded Rectangle 9013"/>
          <p:cNvSpPr/>
          <p:nvPr/>
        </p:nvSpPr>
        <p:spPr>
          <a:xfrm>
            <a:off x="475488" y="2286000"/>
            <a:ext cx="676656" cy="310896"/>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r>
              <a:rPr sz="750" b="1" i="0">
                <a:solidFill>
                  <a:srgbClr val="000000"/>
                </a:solidFill>
                <a:latin typeface="맑은 고딕"/>
                <a:ea typeface="맑은 고딕"/>
              </a:rPr>
              <a:t>Request</a:t>
            </a:r>
          </a:p>
        </p:txBody>
      </p:sp>
      <p:cxnSp>
        <p:nvCxnSpPr>
          <p:cNvPr id="9015" name="Connector 9014"/>
          <p:cNvCxnSpPr/>
          <p:nvPr/>
        </p:nvCxnSpPr>
        <p:spPr>
          <a:xfrm>
            <a:off x="1152144" y="2441448"/>
            <a:ext cx="173736"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16" name="Oval 9015"/>
          <p:cNvSpPr/>
          <p:nvPr/>
        </p:nvSpPr>
        <p:spPr>
          <a:xfrm>
            <a:off x="1161288" y="236372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9017" name="Rectangle 9016"/>
          <p:cNvSpPr/>
          <p:nvPr/>
        </p:nvSpPr>
        <p:spPr>
          <a:xfrm>
            <a:off x="1325880" y="1956816"/>
            <a:ext cx="3977639" cy="1664208"/>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18" name="Rectangle 9017"/>
          <p:cNvSpPr/>
          <p:nvPr/>
        </p:nvSpPr>
        <p:spPr>
          <a:xfrm>
            <a:off x="1325880" y="1956816"/>
            <a:ext cx="3361334"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«process» 요청 조율기 (Router)  llm-d Router · Dynamo KV Router</a:t>
            </a:r>
          </a:p>
        </p:txBody>
      </p:sp>
      <p:sp>
        <p:nvSpPr>
          <p:cNvPr id="9019" name="Rectangle 9018"/>
          <p:cNvSpPr/>
          <p:nvPr/>
        </p:nvSpPr>
        <p:spPr>
          <a:xfrm>
            <a:off x="1435608" y="2286000"/>
            <a:ext cx="914400" cy="56692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요청 수신</a:t>
            </a:r>
          </a:p>
          <a:p>
            <a:pPr algn="ctr"/>
            <a:r>
              <a:rPr sz="700" b="0" i="0">
                <a:solidFill>
                  <a:srgbClr val="000000"/>
                </a:solidFill>
                <a:latin typeface="맑은 고딕"/>
                <a:ea typeface="맑은 고딕"/>
              </a:rPr>
              <a:t>(Handler)</a:t>
            </a:r>
          </a:p>
        </p:txBody>
      </p:sp>
      <p:sp>
        <p:nvSpPr>
          <p:cNvPr id="9020" name="Rectangle 9019"/>
          <p:cNvSpPr/>
          <p:nvPr/>
        </p:nvSpPr>
        <p:spPr>
          <a:xfrm>
            <a:off x="138988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1" name="Rectangle 9020"/>
          <p:cNvSpPr/>
          <p:nvPr/>
        </p:nvSpPr>
        <p:spPr>
          <a:xfrm>
            <a:off x="1389888" y="243230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2" name="Rectangle 9021"/>
          <p:cNvSpPr/>
          <p:nvPr/>
        </p:nvSpPr>
        <p:spPr>
          <a:xfrm>
            <a:off x="2578608" y="2194560"/>
            <a:ext cx="1371600" cy="132588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30" b="1" i="0">
                <a:solidFill>
                  <a:srgbClr val="000000"/>
                </a:solidFill>
                <a:latin typeface="맑은 고딕"/>
                <a:ea typeface="맑은 고딕"/>
              </a:rPr>
              <a:t>서버 선택 (Scheduler)</a:t>
            </a:r>
          </a:p>
          <a:p>
            <a:pPr algn="ctr"/>
            <a:r>
              <a:rPr sz="680" b="0" i="0">
                <a:solidFill>
                  <a:srgbClr val="000000"/>
                </a:solidFill>
                <a:latin typeface="맑은 고딕"/>
                <a:ea typeface="맑은 고딕"/>
              </a:rPr>
              <a:t>후보 서버에 점수를</a:t>
            </a:r>
          </a:p>
          <a:p>
            <a:pPr algn="ctr"/>
            <a:r>
              <a:rPr sz="680" b="0" i="0">
                <a:solidFill>
                  <a:srgbClr val="000000"/>
                </a:solidFill>
                <a:latin typeface="맑은 고딕"/>
                <a:ea typeface="맑은 고딕"/>
              </a:rPr>
              <a:t>매겨 선택</a:t>
            </a:r>
          </a:p>
          <a:p>
            <a:pPr algn="ctr"/>
            <a:r>
              <a:rPr sz="680" b="0" i="0">
                <a:solidFill>
                  <a:srgbClr val="000000"/>
                </a:solidFill>
                <a:latin typeface="맑은 고딕"/>
                <a:ea typeface="맑은 고딕"/>
              </a:rPr>
              <a:t>· 메모리 종류별 점수:</a:t>
            </a:r>
          </a:p>
          <a:p>
            <a:pPr algn="ctr"/>
            <a:r>
              <a:rPr sz="680" b="0" i="0">
                <a:solidFill>
                  <a:srgbClr val="000000"/>
                </a:solidFill>
                <a:latin typeface="맑은 고딕"/>
                <a:ea typeface="맑은 고딕"/>
              </a:rPr>
              <a:t>  고정 값 (GPU 1.0 /</a:t>
            </a:r>
          </a:p>
          <a:p>
            <a:pPr algn="ctr"/>
            <a:r>
              <a:rPr sz="680" b="0" i="0">
                <a:solidFill>
                  <a:srgbClr val="000000"/>
                </a:solidFill>
                <a:latin typeface="맑은 고딕"/>
                <a:ea typeface="맑은 고딕"/>
              </a:rPr>
              <a:t>  CPU 0.8 …)</a:t>
            </a:r>
          </a:p>
          <a:p>
            <a:pPr algn="ctr"/>
            <a:r>
              <a:rPr sz="680" b="0" i="0">
                <a:solidFill>
                  <a:srgbClr val="000000"/>
                </a:solidFill>
                <a:latin typeface="맑은 고딕"/>
                <a:ea typeface="맑은 고딕"/>
              </a:rPr>
              <a:t>· Prefill/Decode 분리:</a:t>
            </a:r>
          </a:p>
          <a:p>
            <a:pPr algn="ctr"/>
            <a:r>
              <a:rPr sz="680" b="0" i="0">
                <a:solidFill>
                  <a:srgbClr val="000000"/>
                </a:solidFill>
                <a:latin typeface="맑은 고딕"/>
                <a:ea typeface="맑은 고딕"/>
              </a:rPr>
              <a:t>  고정 기준</a:t>
            </a:r>
          </a:p>
        </p:txBody>
      </p:sp>
      <p:sp>
        <p:nvSpPr>
          <p:cNvPr id="9023" name="Rectangle 9022"/>
          <p:cNvSpPr/>
          <p:nvPr/>
        </p:nvSpPr>
        <p:spPr>
          <a:xfrm>
            <a:off x="2532888"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4" name="Rectangle 9023"/>
          <p:cNvSpPr/>
          <p:nvPr/>
        </p:nvSpPr>
        <p:spPr>
          <a:xfrm>
            <a:off x="253288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5" name="Rectangle 9024"/>
          <p:cNvSpPr/>
          <p:nvPr/>
        </p:nvSpPr>
        <p:spPr>
          <a:xfrm>
            <a:off x="4133087" y="2194560"/>
            <a:ext cx="1097280" cy="1325880"/>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30" b="1" i="0">
                <a:solidFill>
                  <a:srgbClr val="000000"/>
                </a:solidFill>
                <a:latin typeface="맑은 고딕"/>
                <a:ea typeface="맑은 고딕"/>
              </a:rPr>
              <a:t>상태 저장소</a:t>
            </a:r>
          </a:p>
          <a:p>
            <a:pPr algn="ctr"/>
            <a:r>
              <a:rPr sz="680" b="0" i="0">
                <a:solidFill>
                  <a:srgbClr val="000000"/>
                </a:solidFill>
                <a:latin typeface="맑은 고딕"/>
                <a:ea typeface="맑은 고딕"/>
              </a:rPr>
              <a:t>(Data Layer)</a:t>
            </a:r>
          </a:p>
          <a:p>
            <a:pPr algn="ctr"/>
            <a:r>
              <a:rPr sz="680" b="0" i="0">
                <a:solidFill>
                  <a:srgbClr val="000000"/>
                </a:solidFill>
                <a:latin typeface="맑은 고딕"/>
                <a:ea typeface="맑은 고딕"/>
              </a:rPr>
              <a:t>· KV 캐시 보유</a:t>
            </a:r>
          </a:p>
          <a:p>
            <a:pPr algn="ctr"/>
            <a:r>
              <a:rPr sz="680" b="0" i="0">
                <a:solidFill>
                  <a:srgbClr val="000000"/>
                </a:solidFill>
                <a:latin typeface="맑은 고딕"/>
                <a:ea typeface="맑은 고딕"/>
              </a:rPr>
              <a:t>  위치</a:t>
            </a:r>
          </a:p>
          <a:p>
            <a:pPr algn="ctr"/>
            <a:r>
              <a:rPr sz="680" b="0" i="0">
                <a:solidFill>
                  <a:srgbClr val="000000"/>
                </a:solidFill>
                <a:latin typeface="맑은 고딕"/>
                <a:ea typeface="맑은 고딕"/>
              </a:rPr>
              <a:t>· 부하 수치</a:t>
            </a:r>
          </a:p>
          <a:p>
            <a:pPr algn="ctr"/>
            <a:r>
              <a:rPr sz="680" b="0" i="0">
                <a:solidFill>
                  <a:srgbClr val="000000"/>
                </a:solidFill>
                <a:latin typeface="맑은 고딕"/>
                <a:ea typeface="맑은 고딕"/>
              </a:rPr>
              <a:t>  (대기열·사용률)</a:t>
            </a:r>
          </a:p>
        </p:txBody>
      </p:sp>
      <p:sp>
        <p:nvSpPr>
          <p:cNvPr id="9026" name="Rectangle 9025"/>
          <p:cNvSpPr/>
          <p:nvPr/>
        </p:nvSpPr>
        <p:spPr>
          <a:xfrm>
            <a:off x="4087368" y="224942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27" name="Rectangle 9026"/>
          <p:cNvSpPr/>
          <p:nvPr/>
        </p:nvSpPr>
        <p:spPr>
          <a:xfrm>
            <a:off x="4087368" y="2340864"/>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9028" name="Connector 9027"/>
          <p:cNvCxnSpPr/>
          <p:nvPr/>
        </p:nvCxnSpPr>
        <p:spPr>
          <a:xfrm>
            <a:off x="2350008" y="2569464"/>
            <a:ext cx="228600"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29" name="Oval 9028"/>
          <p:cNvSpPr/>
          <p:nvPr/>
        </p:nvSpPr>
        <p:spPr>
          <a:xfrm>
            <a:off x="2386584" y="2491740"/>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9030" name="Connector 9029"/>
          <p:cNvCxnSpPr/>
          <p:nvPr/>
        </p:nvCxnSpPr>
        <p:spPr>
          <a:xfrm flipH="1">
            <a:off x="3950208" y="2834640"/>
            <a:ext cx="182879"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31" name="Oval 9030"/>
          <p:cNvSpPr/>
          <p:nvPr/>
        </p:nvSpPr>
        <p:spPr>
          <a:xfrm>
            <a:off x="3963924" y="275691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8</a:t>
            </a:r>
          </a:p>
        </p:txBody>
      </p:sp>
      <p:sp>
        <p:nvSpPr>
          <p:cNvPr id="9032" name="Rectangle 9031"/>
          <p:cNvSpPr/>
          <p:nvPr/>
        </p:nvSpPr>
        <p:spPr>
          <a:xfrm>
            <a:off x="1325880" y="3840480"/>
            <a:ext cx="3977639" cy="603504"/>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33" name="Rectangle 9032"/>
          <p:cNvSpPr/>
          <p:nvPr/>
        </p:nvSpPr>
        <p:spPr>
          <a:xfrm>
            <a:off x="1325880" y="3840480"/>
            <a:ext cx="231160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«pod» 추론 서버 ×N (vLLM 인스턴스, 서버 내부)</a:t>
            </a:r>
          </a:p>
        </p:txBody>
      </p:sp>
      <p:sp>
        <p:nvSpPr>
          <p:cNvPr id="9034" name="Rectangle 9033"/>
          <p:cNvSpPr/>
          <p:nvPr/>
        </p:nvSpPr>
        <p:spPr>
          <a:xfrm>
            <a:off x="1435608" y="4087368"/>
            <a:ext cx="2057400" cy="292608"/>
          </a:xfrm>
          <a:prstGeom prst="rect">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KV 캐시 관리 · 메모리 계층</a:t>
            </a:r>
          </a:p>
        </p:txBody>
      </p:sp>
      <p:sp>
        <p:nvSpPr>
          <p:cNvPr id="9035" name="Rectangle 9034"/>
          <p:cNvSpPr/>
          <p:nvPr/>
        </p:nvSpPr>
        <p:spPr>
          <a:xfrm>
            <a:off x="1389888" y="4142231"/>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36" name="Rectangle 9035"/>
          <p:cNvSpPr/>
          <p:nvPr/>
        </p:nvSpPr>
        <p:spPr>
          <a:xfrm>
            <a:off x="1389888" y="4233671"/>
            <a:ext cx="91440" cy="50292"/>
          </a:xfrm>
          <a:prstGeom prst="rect">
            <a:avLst/>
          </a:prstGeom>
          <a:solidFill>
            <a:srgbClr val="F2F2F2"/>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37" name="Rectangle 9036"/>
          <p:cNvSpPr/>
          <p:nvPr/>
        </p:nvSpPr>
        <p:spPr>
          <a:xfrm>
            <a:off x="3675887" y="4087368"/>
            <a:ext cx="1554480" cy="292608"/>
          </a:xfrm>
          <a:prstGeom prst="rect">
            <a:avLst/>
          </a:prstGeom>
          <a:solidFill>
            <a:srgbClr val="FFFFFF"/>
          </a:solidFill>
          <a:ln w="15875">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00" b="1" i="0">
                <a:solidFill>
                  <a:srgbClr val="C00000"/>
                </a:solidFill>
                <a:latin typeface="맑은 고딕"/>
                <a:ea typeface="맑은 고딕"/>
              </a:rPr>
              <a:t>메모리 사용·전송 대기 (미노출)</a:t>
            </a:r>
          </a:p>
        </p:txBody>
      </p:sp>
      <p:cxnSp>
        <p:nvCxnSpPr>
          <p:cNvPr id="9038" name="Connector 9037"/>
          <p:cNvCxnSpPr/>
          <p:nvPr/>
        </p:nvCxnSpPr>
        <p:spPr>
          <a:xfrm>
            <a:off x="3264408" y="3621024"/>
            <a:ext cx="0" cy="219456"/>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39" name="Oval 9038"/>
          <p:cNvSpPr/>
          <p:nvPr/>
        </p:nvSpPr>
        <p:spPr>
          <a:xfrm>
            <a:off x="3186684" y="365302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9040" name="TextBox 9039"/>
          <p:cNvSpPr txBox="1"/>
          <p:nvPr/>
        </p:nvSpPr>
        <p:spPr>
          <a:xfrm>
            <a:off x="3392424" y="3639312"/>
            <a:ext cx="731520" cy="182880"/>
          </a:xfrm>
          <a:prstGeom prst="rect">
            <a:avLst/>
          </a:prstGeom>
          <a:noFill/>
        </p:spPr>
        <p:txBody>
          <a:bodyPr wrap="square" lIns="0" tIns="0" rIns="0" bIns="0" anchor="t">
            <a:spAutoFit/>
          </a:bodyPr>
          <a:lstStyle/>
          <a:p>
            <a:pPr algn="l"/>
            <a:r>
              <a:rPr sz="650" b="1" i="0">
                <a:solidFill>
                  <a:srgbClr val="404040"/>
                </a:solidFill>
                <a:latin typeface="맑은 고딕"/>
                <a:ea typeface="맑은 고딕"/>
              </a:rPr>
              <a:t>요청 전달</a:t>
            </a:r>
          </a:p>
        </p:txBody>
      </p:sp>
      <p:cxnSp>
        <p:nvCxnSpPr>
          <p:cNvPr id="9041" name="Connector 9040"/>
          <p:cNvCxnSpPr/>
          <p:nvPr/>
        </p:nvCxnSpPr>
        <p:spPr>
          <a:xfrm flipV="1">
            <a:off x="4773168" y="3621024"/>
            <a:ext cx="0" cy="219456"/>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42" name="Oval 9041"/>
          <p:cNvSpPr/>
          <p:nvPr/>
        </p:nvSpPr>
        <p:spPr>
          <a:xfrm>
            <a:off x="4695444" y="365302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6</a:t>
            </a:r>
          </a:p>
        </p:txBody>
      </p:sp>
      <p:sp>
        <p:nvSpPr>
          <p:cNvPr id="9043" name="TextBox 9042"/>
          <p:cNvSpPr txBox="1"/>
          <p:nvPr/>
        </p:nvSpPr>
        <p:spPr>
          <a:xfrm>
            <a:off x="3767328" y="3639312"/>
            <a:ext cx="914400" cy="182880"/>
          </a:xfrm>
          <a:prstGeom prst="rect">
            <a:avLst/>
          </a:prstGeom>
          <a:noFill/>
        </p:spPr>
        <p:txBody>
          <a:bodyPr wrap="square" lIns="0" tIns="0" rIns="0" bIns="0" anchor="t">
            <a:spAutoFit/>
          </a:bodyPr>
          <a:lstStyle/>
          <a:p>
            <a:pPr algn="r"/>
            <a:r>
              <a:rPr sz="650" b="1" i="0">
                <a:solidFill>
                  <a:srgbClr val="404040"/>
                </a:solidFill>
                <a:latin typeface="맑은 고딕"/>
                <a:ea typeface="맑은 고딕"/>
              </a:rPr>
              <a:t>상태 이벤트</a:t>
            </a:r>
          </a:p>
        </p:txBody>
      </p:sp>
      <p:sp>
        <p:nvSpPr>
          <p:cNvPr id="9044" name="Rectangle 9043"/>
          <p:cNvSpPr/>
          <p:nvPr/>
        </p:nvSpPr>
        <p:spPr>
          <a:xfrm>
            <a:off x="475488" y="4572000"/>
            <a:ext cx="4846320" cy="530352"/>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45" name="TextBox 9044"/>
          <p:cNvSpPr txBox="1"/>
          <p:nvPr/>
        </p:nvSpPr>
        <p:spPr>
          <a:xfrm>
            <a:off x="566928" y="4599432"/>
            <a:ext cx="4663440" cy="493776"/>
          </a:xfrm>
          <a:prstGeom prst="rect">
            <a:avLst/>
          </a:prstGeom>
          <a:noFill/>
        </p:spPr>
        <p:txBody>
          <a:bodyPr wrap="square" lIns="0" tIns="0" rIns="0" bIns="0" anchor="t">
            <a:spAutoFit/>
          </a:bodyPr>
          <a:lstStyle/>
          <a:p>
            <a:pPr algn="l">
              <a:lnSpc>
                <a:spcPct val="100000"/>
              </a:lnSpc>
            </a:pPr>
            <a:r>
              <a:rPr sz="750" b="1" i="0">
                <a:solidFill>
                  <a:srgbClr val="C00000"/>
                </a:solidFill>
                <a:latin typeface="맑은 고딕"/>
                <a:ea typeface="맑은 고딕"/>
              </a:rPr>
              <a:t>① </a:t>
            </a:r>
            <a:r>
              <a:rPr sz="750" b="0" i="0">
                <a:solidFill>
                  <a:srgbClr val="404040"/>
                </a:solidFill>
                <a:latin typeface="맑은 고딕"/>
                <a:ea typeface="맑은 고딕"/>
              </a:rPr>
              <a:t>메모리 점수가 고정 값 → 사용량·전송 대기·신규 메모리(CXL/HBF) 미반영</a:t>
            </a:r>
          </a:p>
          <a:p>
            <a:pPr algn="l">
              <a:lnSpc>
                <a:spcPct val="100000"/>
              </a:lnSpc>
            </a:pPr>
            <a:r>
              <a:rPr sz="750" b="1" i="0">
                <a:solidFill>
                  <a:srgbClr val="C00000"/>
                </a:solidFill>
                <a:latin typeface="맑은 고딕"/>
                <a:ea typeface="맑은 고딕"/>
              </a:rPr>
              <a:t>② </a:t>
            </a:r>
            <a:r>
              <a:rPr sz="750" b="0" i="0">
                <a:solidFill>
                  <a:srgbClr val="404040"/>
                </a:solidFill>
                <a:latin typeface="맑은 고딕"/>
                <a:ea typeface="맑은 고딕"/>
              </a:rPr>
              <a:t>Prefill/Decode 분리가 고정 기준 → KV 캐시 이동 비용 미고려</a:t>
            </a:r>
          </a:p>
          <a:p>
            <a:pPr algn="l">
              <a:lnSpc>
                <a:spcPct val="100000"/>
              </a:lnSpc>
            </a:pPr>
            <a:r>
              <a:rPr sz="750" b="1" i="0">
                <a:solidFill>
                  <a:srgbClr val="C00000"/>
                </a:solidFill>
                <a:latin typeface="맑은 고딕"/>
                <a:ea typeface="맑은 고딕"/>
              </a:rPr>
              <a:t>③ </a:t>
            </a:r>
            <a:r>
              <a:rPr sz="750" b="0" i="0">
                <a:solidFill>
                  <a:srgbClr val="404040"/>
                </a:solidFill>
                <a:latin typeface="맑은 고딕"/>
                <a:ea typeface="맑은 고딕"/>
              </a:rPr>
              <a:t>서버별 지시(kv_load_tiers 등)가 P/D 경로에서 덮어써지거나 전달 경로 없음</a:t>
            </a:r>
          </a:p>
        </p:txBody>
      </p:sp>
      <p:sp>
        <p:nvSpPr>
          <p:cNvPr id="9046" name="TextBox 9045"/>
          <p:cNvSpPr txBox="1"/>
          <p:nvPr/>
        </p:nvSpPr>
        <p:spPr>
          <a:xfrm>
            <a:off x="475488" y="5138928"/>
            <a:ext cx="4846320" cy="246888"/>
          </a:xfrm>
          <a:prstGeom prst="rect">
            <a:avLst/>
          </a:prstGeom>
          <a:noFill/>
        </p:spPr>
        <p:txBody>
          <a:bodyPr wrap="square" lIns="0" tIns="0" rIns="0" bIns="0" anchor="t">
            <a:spAutoFit/>
          </a:bodyPr>
          <a:lstStyle/>
          <a:p>
            <a:pPr algn="l"/>
            <a:r>
              <a:rPr sz="700" b="1" i="0">
                <a:solidFill>
                  <a:srgbClr val="2E75B6"/>
                </a:solidFill>
                <a:latin typeface="맑은 고딕"/>
                <a:ea typeface="맑은 고딕"/>
              </a:rPr>
              <a:t>용어  </a:t>
            </a:r>
            <a:r>
              <a:rPr sz="700" b="0" i="0">
                <a:solidFill>
                  <a:srgbClr val="404040"/>
                </a:solidFill>
                <a:latin typeface="맑은 고딕"/>
                <a:ea typeface="맑은 고딕"/>
              </a:rPr>
              <a:t>KV 캐시: LLM이 이전 입력을 다시 계산하지 않도록 저장한 중간 결과 · Prefill: 입력 처리(계산 집약) / Decode: 응답 생성(메모리 집약) · TTFT: 첫 응답까지 걸리는 시간</a:t>
            </a:r>
          </a:p>
        </p:txBody>
      </p:sp>
      <p:sp>
        <p:nvSpPr>
          <p:cNvPr id="9047" name="Rounded Rectangle 9046"/>
          <p:cNvSpPr/>
          <p:nvPr/>
        </p:nvSpPr>
        <p:spPr>
          <a:xfrm>
            <a:off x="6309360" y="1883664"/>
            <a:ext cx="676656" cy="256032"/>
          </a:xfrm>
          <a:prstGeom prst="roundRect">
            <a:avLst>
              <a:gd name="adj" fmla="val 20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9144" tIns="9144" rIns="9144" bIns="9144" rtlCol="0" anchor="ctr"/>
          <a:lstStyle/>
          <a:p>
            <a:pPr algn="ctr"/>
            <a:r>
              <a:rPr sz="750" b="1" i="0">
                <a:solidFill>
                  <a:srgbClr val="000000"/>
                </a:solidFill>
                <a:latin typeface="맑은 고딕"/>
                <a:ea typeface="맑은 고딕"/>
              </a:rPr>
              <a:t>Request</a:t>
            </a:r>
          </a:p>
        </p:txBody>
      </p:sp>
      <p:sp>
        <p:nvSpPr>
          <p:cNvPr id="9048" name="Rectangle 9047"/>
          <p:cNvSpPr/>
          <p:nvPr/>
        </p:nvSpPr>
        <p:spPr>
          <a:xfrm>
            <a:off x="6309360" y="2304288"/>
            <a:ext cx="5285232" cy="2011680"/>
          </a:xfrm>
          <a:prstGeom prst="rect">
            <a:avLst/>
          </a:prstGeom>
          <a:solidFill>
            <a:srgbClr val="DAE3F3"/>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49" name="Rectangle 9048"/>
          <p:cNvSpPr/>
          <p:nvPr/>
        </p:nvSpPr>
        <p:spPr>
          <a:xfrm>
            <a:off x="6309360" y="2304288"/>
            <a:ext cx="3010204" cy="173736"/>
          </a:xfrm>
          <a:prstGeom prst="rect">
            <a:avLst/>
          </a:prstGeom>
          <a:solidFill>
            <a:srgbClr val="2E75B6"/>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«system» 요청 조율 계층 (Orchestration) - 이기종 메모리 반영</a:t>
            </a:r>
          </a:p>
        </p:txBody>
      </p:sp>
      <p:cxnSp>
        <p:nvCxnSpPr>
          <p:cNvPr id="9050" name="Connector 9049"/>
          <p:cNvCxnSpPr/>
          <p:nvPr/>
        </p:nvCxnSpPr>
        <p:spPr>
          <a:xfrm>
            <a:off x="6647688" y="2139696"/>
            <a:ext cx="0" cy="164592"/>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51" name="Oval 9050"/>
          <p:cNvSpPr/>
          <p:nvPr/>
        </p:nvSpPr>
        <p:spPr>
          <a:xfrm>
            <a:off x="6569964" y="2144268"/>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1</a:t>
            </a:r>
          </a:p>
        </p:txBody>
      </p:sp>
      <p:sp>
        <p:nvSpPr>
          <p:cNvPr id="9052" name="Rectangle 9051"/>
          <p:cNvSpPr/>
          <p:nvPr/>
        </p:nvSpPr>
        <p:spPr>
          <a:xfrm>
            <a:off x="6382512" y="2542032"/>
            <a:ext cx="1572768"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53" name="Rectangle 9052"/>
          <p:cNvSpPr/>
          <p:nvPr/>
        </p:nvSpPr>
        <p:spPr>
          <a:xfrm>
            <a:off x="6382512" y="2542032"/>
            <a:ext cx="1572768"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«plane» 실행 기반 (Substrate)</a:t>
            </a:r>
          </a:p>
        </p:txBody>
      </p:sp>
      <p:sp>
        <p:nvSpPr>
          <p:cNvPr id="9054" name="Rectangle 9053"/>
          <p:cNvSpPr/>
          <p:nvPr/>
        </p:nvSpPr>
        <p:spPr>
          <a:xfrm>
            <a:off x="8138160" y="2542032"/>
            <a:ext cx="1572768"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55" name="Rectangle 9054"/>
          <p:cNvSpPr/>
          <p:nvPr/>
        </p:nvSpPr>
        <p:spPr>
          <a:xfrm>
            <a:off x="8138160" y="2542032"/>
            <a:ext cx="1335024"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«plane» 판단 (Decision)</a:t>
            </a:r>
          </a:p>
        </p:txBody>
      </p:sp>
      <p:sp>
        <p:nvSpPr>
          <p:cNvPr id="9056" name="Rectangle 9055"/>
          <p:cNvSpPr/>
          <p:nvPr/>
        </p:nvSpPr>
        <p:spPr>
          <a:xfrm>
            <a:off x="9893808" y="2542032"/>
            <a:ext cx="1627632" cy="1700784"/>
          </a:xfrm>
          <a:prstGeom prst="rect">
            <a:avLst/>
          </a:prstGeom>
          <a:solidFill>
            <a:srgbClr val="FFFFFF"/>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57" name="Rectangle 9056"/>
          <p:cNvSpPr/>
          <p:nvPr/>
        </p:nvSpPr>
        <p:spPr>
          <a:xfrm>
            <a:off x="9893808" y="2542032"/>
            <a:ext cx="1181404" cy="173736"/>
          </a:xfrm>
          <a:prstGeom prst="rect">
            <a:avLst/>
          </a:prstGeom>
          <a:solidFill>
            <a:srgbClr val="2F5597"/>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650" b="1" i="0">
                <a:solidFill>
                  <a:srgbClr val="FFFFFF"/>
                </a:solidFill>
                <a:latin typeface="맑은 고딕"/>
                <a:ea typeface="맑은 고딕"/>
              </a:rPr>
              <a:t>«plane» 상태 (State)</a:t>
            </a:r>
          </a:p>
        </p:txBody>
      </p:sp>
      <p:sp>
        <p:nvSpPr>
          <p:cNvPr id="9058" name="Rectangle 9057"/>
          <p:cNvSpPr/>
          <p:nvPr/>
        </p:nvSpPr>
        <p:spPr>
          <a:xfrm>
            <a:off x="6492240" y="2779776"/>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A 요청 수신·중계</a:t>
            </a:r>
          </a:p>
        </p:txBody>
      </p:sp>
      <p:sp>
        <p:nvSpPr>
          <p:cNvPr id="9059" name="Rectangle 9058"/>
          <p:cNvSpPr/>
          <p:nvPr/>
        </p:nvSpPr>
        <p:spPr>
          <a:xfrm>
            <a:off x="6446520"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0" name="Rectangle 9059"/>
          <p:cNvSpPr/>
          <p:nvPr/>
        </p:nvSpPr>
        <p:spPr>
          <a:xfrm>
            <a:off x="6446520"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1" name="Rectangle 9060"/>
          <p:cNvSpPr/>
          <p:nvPr/>
        </p:nvSpPr>
        <p:spPr>
          <a:xfrm>
            <a:off x="6492240" y="3310128"/>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E Prefill/Decode 조율</a:t>
            </a:r>
          </a:p>
          <a:p>
            <a:pPr algn="ctr"/>
            <a:r>
              <a:rPr sz="700" b="0" i="0">
                <a:solidFill>
                  <a:srgbClr val="000000"/>
                </a:solidFill>
                <a:latin typeface="맑은 고딕"/>
                <a:ea typeface="맑은 고딕"/>
              </a:rPr>
              <a:t>서버별 지시 전달</a:t>
            </a:r>
          </a:p>
        </p:txBody>
      </p:sp>
      <p:sp>
        <p:nvSpPr>
          <p:cNvPr id="9062" name="Rectangle 9061"/>
          <p:cNvSpPr/>
          <p:nvPr/>
        </p:nvSpPr>
        <p:spPr>
          <a:xfrm>
            <a:off x="6446520" y="336499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3" name="Rectangle 9062"/>
          <p:cNvSpPr/>
          <p:nvPr/>
        </p:nvSpPr>
        <p:spPr>
          <a:xfrm>
            <a:off x="6446520" y="345643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4" name="Rectangle 9063"/>
          <p:cNvSpPr/>
          <p:nvPr/>
        </p:nvSpPr>
        <p:spPr>
          <a:xfrm>
            <a:off x="6492240" y="3840480"/>
            <a:ext cx="1325880" cy="310896"/>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F 서버 발견·확장</a:t>
            </a:r>
          </a:p>
        </p:txBody>
      </p:sp>
      <p:sp>
        <p:nvSpPr>
          <p:cNvPr id="9065" name="Rectangle 9064"/>
          <p:cNvSpPr/>
          <p:nvPr/>
        </p:nvSpPr>
        <p:spPr>
          <a:xfrm>
            <a:off x="6446520" y="3895344"/>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6" name="Rectangle 9065"/>
          <p:cNvSpPr/>
          <p:nvPr/>
        </p:nvSpPr>
        <p:spPr>
          <a:xfrm>
            <a:off x="6446520" y="3986783"/>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7" name="Rectangle 9066"/>
          <p:cNvSpPr/>
          <p:nvPr/>
        </p:nvSpPr>
        <p:spPr>
          <a:xfrm>
            <a:off x="8247888" y="2779776"/>
            <a:ext cx="1325880" cy="420624"/>
          </a:xfrm>
          <a:prstGeom prst="rect">
            <a:avLst/>
          </a:prstGeom>
          <a:solidFill>
            <a:srgbClr val="DAE3F3"/>
          </a:solidFill>
          <a:ln w="12700">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D 흐름 제어</a:t>
            </a:r>
          </a:p>
        </p:txBody>
      </p:sp>
      <p:sp>
        <p:nvSpPr>
          <p:cNvPr id="9068" name="Rectangle 9067"/>
          <p:cNvSpPr/>
          <p:nvPr/>
        </p:nvSpPr>
        <p:spPr>
          <a:xfrm>
            <a:off x="8202167"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69" name="Rectangle 9068"/>
          <p:cNvSpPr/>
          <p:nvPr/>
        </p:nvSpPr>
        <p:spPr>
          <a:xfrm>
            <a:off x="8202167"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0" name="Rectangle 9069"/>
          <p:cNvSpPr/>
          <p:nvPr/>
        </p:nvSpPr>
        <p:spPr>
          <a:xfrm>
            <a:off x="8247888" y="3310128"/>
            <a:ext cx="1325880" cy="841248"/>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B 서버 선택 로직</a:t>
            </a:r>
          </a:p>
          <a:p>
            <a:pPr algn="ctr"/>
            <a:r>
              <a:rPr sz="700" b="0" i="0">
                <a:solidFill>
                  <a:srgbClr val="000000"/>
                </a:solidFill>
                <a:latin typeface="맑은 고딕"/>
                <a:ea typeface="맑은 고딕"/>
              </a:rPr>
              <a:t>메모리 비용 기반 점수</a:t>
            </a:r>
          </a:p>
          <a:p>
            <a:pPr algn="ctr"/>
            <a:r>
              <a:rPr sz="700" b="0" i="0">
                <a:solidFill>
                  <a:srgbClr val="000000"/>
                </a:solidFill>
                <a:latin typeface="맑은 고딕"/>
                <a:ea typeface="맑은 고딕"/>
              </a:rPr>
              <a:t>비용 기반 P/D 분리 판단</a:t>
            </a:r>
          </a:p>
        </p:txBody>
      </p:sp>
      <p:sp>
        <p:nvSpPr>
          <p:cNvPr id="9071" name="Rectangle 9070"/>
          <p:cNvSpPr/>
          <p:nvPr/>
        </p:nvSpPr>
        <p:spPr>
          <a:xfrm>
            <a:off x="8202167" y="336499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2" name="Rectangle 9071"/>
          <p:cNvSpPr/>
          <p:nvPr/>
        </p:nvSpPr>
        <p:spPr>
          <a:xfrm>
            <a:off x="8202167" y="3456432"/>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3" name="Rectangle 9072"/>
          <p:cNvSpPr/>
          <p:nvPr/>
        </p:nvSpPr>
        <p:spPr>
          <a:xfrm>
            <a:off x="10003536" y="2779776"/>
            <a:ext cx="1417320" cy="640080"/>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C 상태 수집</a:t>
            </a:r>
          </a:p>
          <a:p>
            <a:pPr algn="ctr"/>
            <a:r>
              <a:rPr sz="700" b="0" i="0">
                <a:solidFill>
                  <a:srgbClr val="000000"/>
                </a:solidFill>
                <a:latin typeface="맑은 고딕"/>
                <a:ea typeface="맑은 고딕"/>
              </a:rPr>
              <a:t>KV 캐시 보유 위치</a:t>
            </a:r>
          </a:p>
          <a:p>
            <a:pPr algn="ctr"/>
            <a:r>
              <a:rPr sz="700" b="0" i="0">
                <a:solidFill>
                  <a:srgbClr val="000000"/>
                </a:solidFill>
                <a:latin typeface="맑은 고딕"/>
                <a:ea typeface="맑은 고딕"/>
              </a:rPr>
              <a:t>(메모리 종류별)</a:t>
            </a:r>
          </a:p>
        </p:txBody>
      </p:sp>
      <p:sp>
        <p:nvSpPr>
          <p:cNvPr id="9074" name="Rectangle 9073"/>
          <p:cNvSpPr/>
          <p:nvPr/>
        </p:nvSpPr>
        <p:spPr>
          <a:xfrm>
            <a:off x="9957816" y="283464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5" name="Rectangle 9074"/>
          <p:cNvSpPr/>
          <p:nvPr/>
        </p:nvSpPr>
        <p:spPr>
          <a:xfrm>
            <a:off x="9957816" y="2926080"/>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6" name="Rectangle 9075"/>
          <p:cNvSpPr/>
          <p:nvPr/>
        </p:nvSpPr>
        <p:spPr>
          <a:xfrm>
            <a:off x="10003536" y="3529584"/>
            <a:ext cx="1417320" cy="621792"/>
          </a:xfrm>
          <a:prstGeom prst="rect">
            <a:avLst/>
          </a:prstGeom>
          <a:solidFill>
            <a:srgbClr val="DAE3F3"/>
          </a:solidFill>
          <a:ln w="222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메모리 상태 수치</a:t>
            </a:r>
          </a:p>
          <a:p>
            <a:pPr algn="ctr"/>
            <a:r>
              <a:rPr sz="700" b="0" i="0">
                <a:solidFill>
                  <a:srgbClr val="000000"/>
                </a:solidFill>
                <a:latin typeface="맑은 고딕"/>
                <a:ea typeface="맑은 고딕"/>
              </a:rPr>
              <a:t>사용량·전송 대기</a:t>
            </a:r>
          </a:p>
        </p:txBody>
      </p:sp>
      <p:sp>
        <p:nvSpPr>
          <p:cNvPr id="9077" name="Rectangle 9076"/>
          <p:cNvSpPr/>
          <p:nvPr/>
        </p:nvSpPr>
        <p:spPr>
          <a:xfrm>
            <a:off x="9957816" y="3584448"/>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78" name="Rectangle 9077"/>
          <p:cNvSpPr/>
          <p:nvPr/>
        </p:nvSpPr>
        <p:spPr>
          <a:xfrm>
            <a:off x="9957816" y="3675887"/>
            <a:ext cx="91440" cy="50292"/>
          </a:xfrm>
          <a:prstGeom prst="rect">
            <a:avLst/>
          </a:prstGeom>
          <a:solidFill>
            <a:srgbClr val="DAE3F3"/>
          </a:solidFill>
          <a:ln w="9525">
            <a:solidFill>
              <a:srgbClr val="2F5597"/>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9079" name="Connector 9078"/>
          <p:cNvCxnSpPr/>
          <p:nvPr/>
        </p:nvCxnSpPr>
        <p:spPr>
          <a:xfrm>
            <a:off x="7818120" y="2990088"/>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0" name="Oval 9079"/>
          <p:cNvSpPr/>
          <p:nvPr/>
        </p:nvSpPr>
        <p:spPr>
          <a:xfrm>
            <a:off x="7955279" y="291236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2</a:t>
            </a:r>
          </a:p>
        </p:txBody>
      </p:sp>
      <p:cxnSp>
        <p:nvCxnSpPr>
          <p:cNvPr id="9081" name="Connector 9080"/>
          <p:cNvCxnSpPr/>
          <p:nvPr/>
        </p:nvCxnSpPr>
        <p:spPr>
          <a:xfrm>
            <a:off x="8906256" y="3200400"/>
            <a:ext cx="0" cy="109728"/>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cxnSp>
        <p:nvCxnSpPr>
          <p:cNvPr id="9082" name="Connector 9081"/>
          <p:cNvCxnSpPr/>
          <p:nvPr/>
        </p:nvCxnSpPr>
        <p:spPr>
          <a:xfrm flipH="1">
            <a:off x="9573768" y="3749039"/>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3" name="Oval 9082"/>
          <p:cNvSpPr/>
          <p:nvPr/>
        </p:nvSpPr>
        <p:spPr>
          <a:xfrm>
            <a:off x="9710928" y="3671315"/>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8</a:t>
            </a:r>
          </a:p>
        </p:txBody>
      </p:sp>
      <p:cxnSp>
        <p:nvCxnSpPr>
          <p:cNvPr id="9084" name="Connector 9083"/>
          <p:cNvCxnSpPr/>
          <p:nvPr/>
        </p:nvCxnSpPr>
        <p:spPr>
          <a:xfrm flipH="1">
            <a:off x="7818120" y="3611880"/>
            <a:ext cx="429768" cy="0"/>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85" name="Oval 9084"/>
          <p:cNvSpPr/>
          <p:nvPr/>
        </p:nvSpPr>
        <p:spPr>
          <a:xfrm>
            <a:off x="7955279" y="353415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3</a:t>
            </a:r>
          </a:p>
        </p:txBody>
      </p:sp>
      <p:sp>
        <p:nvSpPr>
          <p:cNvPr id="9086" name="Rounded Rectangle 9085"/>
          <p:cNvSpPr/>
          <p:nvPr/>
        </p:nvSpPr>
        <p:spPr>
          <a:xfrm>
            <a:off x="10991088" y="2340864"/>
            <a:ext cx="566928" cy="173736"/>
          </a:xfrm>
          <a:prstGeom prst="roundRect">
            <a:avLst>
              <a:gd name="adj" fmla="val 300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9144" tIns="0" rIns="9144" bIns="0" rtlCol="0" anchor="ctr"/>
          <a:lstStyle/>
          <a:p>
            <a:pPr algn="ctr"/>
            <a:r>
              <a:rPr sz="700" b="1" i="0">
                <a:solidFill>
                  <a:srgbClr val="2E75B6"/>
                </a:solidFill>
                <a:latin typeface="맑은 고딕"/>
                <a:ea typeface="맑은 고딕"/>
              </a:rPr>
              <a:t>쟁점 1</a:t>
            </a:r>
          </a:p>
        </p:txBody>
      </p:sp>
      <p:sp>
        <p:nvSpPr>
          <p:cNvPr id="9087" name="Rectangle 9086"/>
          <p:cNvSpPr/>
          <p:nvPr/>
        </p:nvSpPr>
        <p:spPr>
          <a:xfrm>
            <a:off x="6309360" y="4526280"/>
            <a:ext cx="5285232" cy="457200"/>
          </a:xfrm>
          <a:prstGeom prst="rect">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88" name="Rectangle 9087"/>
          <p:cNvSpPr/>
          <p:nvPr/>
        </p:nvSpPr>
        <p:spPr>
          <a:xfrm>
            <a:off x="6309360" y="4526280"/>
            <a:ext cx="2311603" cy="173736"/>
          </a:xfrm>
          <a:prstGeom prst="rect">
            <a:avLst/>
          </a:prstGeom>
          <a:solidFill>
            <a:srgbClr val="404040"/>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45720" tIns="0" rIns="18288" bIns="0" rtlCol="0" anchor="ctr"/>
          <a:lstStyle/>
          <a:p>
            <a:pPr algn="l"/>
            <a:r>
              <a:rPr sz="700" b="1" i="0">
                <a:solidFill>
                  <a:srgbClr val="FFFFFF"/>
                </a:solidFill>
                <a:latin typeface="맑은 고딕"/>
                <a:ea typeface="맑은 고딕"/>
              </a:rPr>
              <a:t>«pod» 추론 서버 ×N (vLLM 인스턴스, 서버 내부)</a:t>
            </a:r>
          </a:p>
        </p:txBody>
      </p:sp>
      <p:sp>
        <p:nvSpPr>
          <p:cNvPr id="9089" name="Rectangle 9088"/>
          <p:cNvSpPr/>
          <p:nvPr/>
        </p:nvSpPr>
        <p:spPr>
          <a:xfrm>
            <a:off x="6419088" y="4736592"/>
            <a:ext cx="2286000" cy="219456"/>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KV 캐시·메모리 계층 (HBM·DRAM·CXL)</a:t>
            </a:r>
          </a:p>
        </p:txBody>
      </p:sp>
      <p:sp>
        <p:nvSpPr>
          <p:cNvPr id="9090" name="Rectangle 9089"/>
          <p:cNvSpPr/>
          <p:nvPr/>
        </p:nvSpPr>
        <p:spPr>
          <a:xfrm>
            <a:off x="6373368" y="479145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91" name="Rectangle 9090"/>
          <p:cNvSpPr/>
          <p:nvPr/>
        </p:nvSpPr>
        <p:spPr>
          <a:xfrm>
            <a:off x="6373368" y="488289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92" name="Rectangle 9091"/>
          <p:cNvSpPr/>
          <p:nvPr/>
        </p:nvSpPr>
        <p:spPr>
          <a:xfrm>
            <a:off x="8915400" y="4736592"/>
            <a:ext cx="2560320" cy="219456"/>
          </a:xfrm>
          <a:prstGeom prst="rect">
            <a:avLst/>
          </a:prstGeom>
          <a:solidFill>
            <a:srgbClr val="FFFFFF"/>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64008" tIns="18288" rIns="27432" bIns="18288" rtlCol="0" anchor="ctr"/>
          <a:lstStyle/>
          <a:p>
            <a:pPr algn="ctr"/>
            <a:r>
              <a:rPr sz="750" b="1" i="0">
                <a:solidFill>
                  <a:srgbClr val="000000"/>
                </a:solidFill>
                <a:latin typeface="맑은 고딕"/>
                <a:ea typeface="맑은 고딕"/>
              </a:rPr>
              <a:t>KV 이벤트 · 메트릭 · 전송 정보 · NIXL</a:t>
            </a:r>
          </a:p>
        </p:txBody>
      </p:sp>
      <p:sp>
        <p:nvSpPr>
          <p:cNvPr id="9093" name="Rectangle 9092"/>
          <p:cNvSpPr/>
          <p:nvPr/>
        </p:nvSpPr>
        <p:spPr>
          <a:xfrm>
            <a:off x="8869680" y="479145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9094" name="Rectangle 9093"/>
          <p:cNvSpPr/>
          <p:nvPr/>
        </p:nvSpPr>
        <p:spPr>
          <a:xfrm>
            <a:off x="8869680" y="4882895"/>
            <a:ext cx="91440" cy="5029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cxnSp>
        <p:nvCxnSpPr>
          <p:cNvPr id="9095" name="Connector 9094"/>
          <p:cNvCxnSpPr/>
          <p:nvPr/>
        </p:nvCxnSpPr>
        <p:spPr>
          <a:xfrm>
            <a:off x="7150608" y="4151376"/>
            <a:ext cx="0" cy="374904"/>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96" name="Oval 9095"/>
          <p:cNvSpPr/>
          <p:nvPr/>
        </p:nvSpPr>
        <p:spPr>
          <a:xfrm>
            <a:off x="7072884" y="42611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4</a:t>
            </a:r>
          </a:p>
        </p:txBody>
      </p:sp>
      <p:cxnSp>
        <p:nvCxnSpPr>
          <p:cNvPr id="9097" name="Connector 9096"/>
          <p:cNvCxnSpPr/>
          <p:nvPr/>
        </p:nvCxnSpPr>
        <p:spPr>
          <a:xfrm flipV="1">
            <a:off x="10698480" y="4151376"/>
            <a:ext cx="0" cy="374904"/>
          </a:xfrm>
          <a:prstGeom prst="line">
            <a:avLst/>
          </a:prstGeom>
          <a:ln w="15875">
            <a:solidFill>
              <a:srgbClr val="404040"/>
            </a:solidFill>
            <a:tailEnd type="triangle"/>
          </a:ln>
        </p:spPr>
        <p:style>
          <a:lnRef idx="2">
            <a:schemeClr val="accent1"/>
          </a:lnRef>
          <a:fillRef idx="0">
            <a:schemeClr val="accent1"/>
          </a:fillRef>
          <a:effectRef idx="1">
            <a:schemeClr val="accent1"/>
          </a:effectRef>
          <a:fontRef idx="minor">
            <a:schemeClr val="tx1"/>
          </a:fontRef>
        </p:style>
      </p:cxnSp>
      <p:sp>
        <p:nvSpPr>
          <p:cNvPr id="9098" name="Oval 9097"/>
          <p:cNvSpPr/>
          <p:nvPr/>
        </p:nvSpPr>
        <p:spPr>
          <a:xfrm>
            <a:off x="10620755" y="4261104"/>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6</a:t>
            </a:r>
          </a:p>
        </p:txBody>
      </p:sp>
      <p:cxnSp>
        <p:nvCxnSpPr>
          <p:cNvPr id="9099" name="Connector 9098"/>
          <p:cNvCxnSpPr/>
          <p:nvPr/>
        </p:nvCxnSpPr>
        <p:spPr>
          <a:xfrm>
            <a:off x="7772400" y="4023360"/>
            <a:ext cx="0" cy="502920"/>
          </a:xfrm>
          <a:prstGeom prst="line">
            <a:avLst/>
          </a:prstGeom>
          <a:ln w="15875">
            <a:solidFill>
              <a:srgbClr val="40404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9100" name="Oval 9099"/>
          <p:cNvSpPr/>
          <p:nvPr/>
        </p:nvSpPr>
        <p:spPr>
          <a:xfrm>
            <a:off x="7694675" y="4197096"/>
            <a:ext cx="155448" cy="155448"/>
          </a:xfrm>
          <a:prstGeom prst="ellipse">
            <a:avLst/>
          </a:prstGeom>
          <a:solidFill>
            <a:srgbClr val="40404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650" b="1" i="0">
                <a:solidFill>
                  <a:srgbClr val="FFFFFF"/>
                </a:solidFill>
                <a:latin typeface="맑은 고딕"/>
                <a:ea typeface="맑은 고딕"/>
              </a:rPr>
              <a:t>7</a:t>
            </a:r>
          </a:p>
        </p:txBody>
      </p:sp>
      <p:sp>
        <p:nvSpPr>
          <p:cNvPr id="9101" name="TextBox 9100"/>
          <p:cNvSpPr txBox="1"/>
          <p:nvPr/>
        </p:nvSpPr>
        <p:spPr>
          <a:xfrm>
            <a:off x="6309360" y="5029200"/>
            <a:ext cx="5303520" cy="128016"/>
          </a:xfrm>
          <a:prstGeom prst="rect">
            <a:avLst/>
          </a:prstGeom>
          <a:noFill/>
        </p:spPr>
        <p:txBody>
          <a:bodyPr wrap="square" lIns="0" tIns="0" rIns="0" bIns="0" anchor="t">
            <a:spAutoFit/>
          </a:bodyPr>
          <a:lstStyle/>
          <a:p>
            <a:pPr algn="l"/>
            <a:r>
              <a:rPr sz="700" b="0" i="0">
                <a:solidFill>
                  <a:srgbClr val="404040"/>
                </a:solidFill>
                <a:latin typeface="맑은 고딕"/>
                <a:ea typeface="맑은 고딕"/>
              </a:rPr>
              <a:t>① 요청  ② 결정 요청  ③ 선택 결과  ④ 요청+서버별 지시  ⑥ 상태 이벤트·수치  ⑦ 서버 발견  ⑧ 상태 조회</a:t>
            </a:r>
          </a:p>
        </p:txBody>
      </p:sp>
      <p:sp>
        <p:nvSpPr>
          <p:cNvPr id="9102" name="Rounded Rectangle 9101"/>
          <p:cNvSpPr/>
          <p:nvPr/>
        </p:nvSpPr>
        <p:spPr>
          <a:xfrm>
            <a:off x="6309360" y="5175504"/>
            <a:ext cx="5285232" cy="219456"/>
          </a:xfrm>
          <a:prstGeom prst="roundRect">
            <a:avLst>
              <a:gd name="adj" fmla="val 20000"/>
            </a:avLst>
          </a:prstGeom>
          <a:solidFill>
            <a:srgbClr val="FFFFFF"/>
          </a:solidFill>
          <a:ln w="15875">
            <a:solidFill>
              <a:srgbClr val="2E75B6"/>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sz="700" b="1" i="0">
                <a:solidFill>
                  <a:srgbClr val="2E75B6"/>
                </a:solidFill>
                <a:latin typeface="맑은 고딕"/>
                <a:ea typeface="맑은 고딕"/>
              </a:rPr>
              <a:t>쟁점 2  </a:t>
            </a:r>
            <a:r>
              <a:rPr sz="700" b="0" i="0">
                <a:solidFill>
                  <a:srgbClr val="000000"/>
                </a:solidFill>
                <a:latin typeface="맑은 고딕"/>
                <a:ea typeface="맑은 고딕"/>
              </a:rPr>
              <a:t>확장 지점: 신규 메모리·정책을 확장 모듈(plug-in)로 추가 (OSS 확장 vs 자체 구현)</a:t>
            </a:r>
          </a:p>
        </p:txBody>
      </p:sp>
    </p:spTree>
    <p:extLst>
      <p:ext uri="{BB962C8B-B14F-4D97-AF65-F5344CB8AC3E}">
        <p14:creationId xmlns:p14="http://schemas.microsoft.com/office/powerpoint/2010/main" val="2702638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8128859" cy="365125"/>
          </a:xfrm>
        </p:spPr>
        <p:txBody>
          <a:bodyPr/>
          <a:lstStyle/>
          <a:p>
            <a:r>
              <a:rPr lang="en-US" altLang="ko-KR" dirty="0"/>
              <a:t>DP0-1. 요청 조율 구조 - 요구사항</a:t>
            </a: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3</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 name="Rectangle 101"/>
          <p:cNvSpPr/>
          <p:nvPr/>
        </p:nvSpPr>
        <p:spPr>
          <a:xfrm>
            <a:off x="320040" y="932688"/>
            <a:ext cx="4343400" cy="4754880"/>
          </a:xfrm>
          <a:prstGeom prst="rect">
            <a:avLst/>
          </a:prstGeom>
          <a:solidFill>
            <a:srgbClr val="FFFFFF"/>
          </a:solidFill>
          <a:ln w="15875">
            <a:solidFill>
              <a:srgbClr val="1F4E79"/>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3" name="Rounded Rectangle 102"/>
          <p:cNvSpPr/>
          <p:nvPr/>
        </p:nvSpPr>
        <p:spPr>
          <a:xfrm>
            <a:off x="429768" y="886968"/>
            <a:ext cx="4123944" cy="274320"/>
          </a:xfrm>
          <a:prstGeom prst="roundRect">
            <a:avLst>
              <a:gd name="adj" fmla="val 50000"/>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FFFFFF"/>
                </a:solidFill>
                <a:latin typeface="맑은 고딕"/>
                <a:ea typeface="맑은 고딕"/>
              </a:rPr>
              <a:t>기능 요구사항 (무엇을 해야 하나)  F1~F6</a:t>
            </a:r>
          </a:p>
        </p:txBody>
      </p:sp>
      <p:sp>
        <p:nvSpPr>
          <p:cNvPr id="104" name="Rectangle 103"/>
          <p:cNvSpPr/>
          <p:nvPr/>
        </p:nvSpPr>
        <p:spPr>
          <a:xfrm>
            <a:off x="4754880" y="932688"/>
            <a:ext cx="3611880" cy="4754880"/>
          </a:xfrm>
          <a:prstGeom prst="rect">
            <a:avLst/>
          </a:prstGeom>
          <a:solidFill>
            <a:srgbClr val="FFFFFF"/>
          </a:solidFill>
          <a:ln w="15875">
            <a:solidFill>
              <a:srgbClr val="843C0C"/>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5" name="Rounded Rectangle 104"/>
          <p:cNvSpPr/>
          <p:nvPr/>
        </p:nvSpPr>
        <p:spPr>
          <a:xfrm>
            <a:off x="4864608" y="886968"/>
            <a:ext cx="3392424" cy="274320"/>
          </a:xfrm>
          <a:prstGeom prst="roundRect">
            <a:avLst>
              <a:gd name="adj" fmla="val 50000"/>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FFFFFF"/>
                </a:solidFill>
                <a:latin typeface="맑은 고딕"/>
                <a:ea typeface="맑은 고딕"/>
              </a:rPr>
              <a:t>품질 속성 QA (얼마나 잘 해야 하나)  Q1~Q4</a:t>
            </a:r>
          </a:p>
        </p:txBody>
      </p:sp>
      <p:sp>
        <p:nvSpPr>
          <p:cNvPr id="106" name="Rectangle 105"/>
          <p:cNvSpPr/>
          <p:nvPr/>
        </p:nvSpPr>
        <p:spPr>
          <a:xfrm>
            <a:off x="8458200" y="932688"/>
            <a:ext cx="3410712" cy="4754880"/>
          </a:xfrm>
          <a:prstGeom prst="rect">
            <a:avLst/>
          </a:prstGeom>
          <a:solidFill>
            <a:srgbClr val="FFFFFF"/>
          </a:solidFill>
          <a:ln w="15875">
            <a:solidFill>
              <a:srgbClr val="375623"/>
            </a:solidFill>
            <a:prstDash val="dash"/>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7" name="Rounded Rectangle 106"/>
          <p:cNvSpPr/>
          <p:nvPr/>
        </p:nvSpPr>
        <p:spPr>
          <a:xfrm>
            <a:off x="8567928" y="886968"/>
            <a:ext cx="3191256" cy="274320"/>
          </a:xfrm>
          <a:prstGeom prst="roundRect">
            <a:avLst>
              <a:gd name="adj" fmla="val 50000"/>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000" b="1" i="0">
                <a:solidFill>
                  <a:srgbClr val="FFFFFF"/>
                </a:solidFill>
                <a:latin typeface="맑은 고딕"/>
                <a:ea typeface="맑은 고딕"/>
              </a:rPr>
              <a:t>제약사항 (지켜야 하는 조건)  C1~C6</a:t>
            </a:r>
          </a:p>
        </p:txBody>
      </p:sp>
      <p:sp>
        <p:nvSpPr>
          <p:cNvPr id="108" name="Rectangle 107"/>
          <p:cNvSpPr/>
          <p:nvPr/>
        </p:nvSpPr>
        <p:spPr>
          <a:xfrm>
            <a:off x="429768" y="1298448"/>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09" name="Rectangle 108"/>
          <p:cNvSpPr/>
          <p:nvPr/>
        </p:nvSpPr>
        <p:spPr>
          <a:xfrm>
            <a:off x="429768" y="1298448"/>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F1</a:t>
            </a:r>
          </a:p>
        </p:txBody>
      </p:sp>
      <p:sp>
        <p:nvSpPr>
          <p:cNvPr id="110" name="TextBox 109"/>
          <p:cNvSpPr txBox="1"/>
          <p:nvPr/>
        </p:nvSpPr>
        <p:spPr>
          <a:xfrm>
            <a:off x="896112" y="1307592"/>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요청 라우팅</a:t>
            </a:r>
          </a:p>
          <a:p>
            <a:pPr algn="l">
              <a:lnSpc>
                <a:spcPct val="95000"/>
              </a:lnSpc>
            </a:pPr>
            <a:r>
              <a:rPr sz="800" b="0" i="0">
                <a:solidFill>
                  <a:srgbClr val="262626"/>
                </a:solidFill>
                <a:latin typeface="맑은 고딕"/>
                <a:ea typeface="맑은 고딕"/>
              </a:rPr>
              <a:t>요청을 처리할 서버(vLLM 인스턴스) 고르기 - 서버별 KV 캐시 보유 위치·부하 반영</a:t>
            </a:r>
          </a:p>
        </p:txBody>
      </p:sp>
      <p:sp>
        <p:nvSpPr>
          <p:cNvPr id="111" name="Rounded Rectangle 110"/>
          <p:cNvSpPr/>
          <p:nvPr/>
        </p:nvSpPr>
        <p:spPr>
          <a:xfrm>
            <a:off x="3968496" y="1495043"/>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B 결정</a:t>
            </a:r>
          </a:p>
        </p:txBody>
      </p:sp>
      <p:sp>
        <p:nvSpPr>
          <p:cNvPr id="112" name="Rectangle 111"/>
          <p:cNvSpPr/>
          <p:nvPr/>
        </p:nvSpPr>
        <p:spPr>
          <a:xfrm>
            <a:off x="429768" y="1993391"/>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3" name="Rectangle 112"/>
          <p:cNvSpPr/>
          <p:nvPr/>
        </p:nvSpPr>
        <p:spPr>
          <a:xfrm>
            <a:off x="429768" y="1993391"/>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F2</a:t>
            </a:r>
          </a:p>
        </p:txBody>
      </p:sp>
      <p:sp>
        <p:nvSpPr>
          <p:cNvPr id="114" name="TextBox 113"/>
          <p:cNvSpPr txBox="1"/>
          <p:nvPr/>
        </p:nvSpPr>
        <p:spPr>
          <a:xfrm>
            <a:off x="896112" y="2002535"/>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메모리 상태 수집</a:t>
            </a:r>
          </a:p>
          <a:p>
            <a:pPr algn="l">
              <a:lnSpc>
                <a:spcPct val="95000"/>
              </a:lnSpc>
            </a:pPr>
            <a:r>
              <a:rPr sz="800" b="0" i="0">
                <a:solidFill>
                  <a:srgbClr val="262626"/>
                </a:solidFill>
                <a:latin typeface="맑은 고딕"/>
                <a:ea typeface="맑은 고딕"/>
              </a:rPr>
              <a:t>서버가 알려 주는 KV 캐시 위치·메모리 사용량 수집, 신규 메모리(CXL·HBF) 구분</a:t>
            </a:r>
          </a:p>
        </p:txBody>
      </p:sp>
      <p:sp>
        <p:nvSpPr>
          <p:cNvPr id="115" name="Rounded Rectangle 114"/>
          <p:cNvSpPr/>
          <p:nvPr/>
        </p:nvSpPr>
        <p:spPr>
          <a:xfrm>
            <a:off x="3968496" y="2189987"/>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C 수집</a:t>
            </a:r>
          </a:p>
        </p:txBody>
      </p:sp>
      <p:sp>
        <p:nvSpPr>
          <p:cNvPr id="116" name="Rectangle 115"/>
          <p:cNvSpPr/>
          <p:nvPr/>
        </p:nvSpPr>
        <p:spPr>
          <a:xfrm>
            <a:off x="429768" y="2688336"/>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17" name="Rectangle 116"/>
          <p:cNvSpPr/>
          <p:nvPr/>
        </p:nvSpPr>
        <p:spPr>
          <a:xfrm>
            <a:off x="429768" y="2688336"/>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F3</a:t>
            </a:r>
          </a:p>
        </p:txBody>
      </p:sp>
      <p:sp>
        <p:nvSpPr>
          <p:cNvPr id="118" name="TextBox 117"/>
          <p:cNvSpPr txBox="1"/>
          <p:nvPr/>
        </p:nvSpPr>
        <p:spPr>
          <a:xfrm>
            <a:off x="896112" y="2697479"/>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Prefill/Decode(P/D) 분리 결정</a:t>
            </a:r>
          </a:p>
          <a:p>
            <a:pPr algn="l">
              <a:lnSpc>
                <a:spcPct val="95000"/>
              </a:lnSpc>
            </a:pPr>
            <a:r>
              <a:rPr sz="800" b="0" i="0">
                <a:solidFill>
                  <a:srgbClr val="262626"/>
                </a:solidFill>
                <a:latin typeface="맑은 고딕"/>
                <a:ea typeface="맑은 고딕"/>
              </a:rPr>
              <a:t>입력 처리(Prefill)와 응답 생성(Decode)을 서버 나눠 실행할지 결정, KV 전송 정보 전달</a:t>
            </a:r>
          </a:p>
        </p:txBody>
      </p:sp>
      <p:sp>
        <p:nvSpPr>
          <p:cNvPr id="119" name="Rounded Rectangle 118"/>
          <p:cNvSpPr/>
          <p:nvPr/>
        </p:nvSpPr>
        <p:spPr>
          <a:xfrm>
            <a:off x="3968496" y="2884932"/>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B·E 조율</a:t>
            </a:r>
          </a:p>
        </p:txBody>
      </p:sp>
      <p:sp>
        <p:nvSpPr>
          <p:cNvPr id="120" name="Rectangle 119"/>
          <p:cNvSpPr/>
          <p:nvPr/>
        </p:nvSpPr>
        <p:spPr>
          <a:xfrm>
            <a:off x="429768" y="3383280"/>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1" name="Rectangle 120"/>
          <p:cNvSpPr/>
          <p:nvPr/>
        </p:nvSpPr>
        <p:spPr>
          <a:xfrm>
            <a:off x="429768" y="3383280"/>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F4</a:t>
            </a:r>
          </a:p>
        </p:txBody>
      </p:sp>
      <p:sp>
        <p:nvSpPr>
          <p:cNvPr id="122" name="TextBox 121"/>
          <p:cNvSpPr txBox="1"/>
          <p:nvPr/>
        </p:nvSpPr>
        <p:spPr>
          <a:xfrm>
            <a:off x="896112" y="3392424"/>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요청별 서버 지시</a:t>
            </a:r>
          </a:p>
          <a:p>
            <a:pPr algn="l">
              <a:lnSpc>
                <a:spcPct val="95000"/>
              </a:lnSpc>
            </a:pPr>
            <a:r>
              <a:rPr sz="800" b="0" i="0">
                <a:solidFill>
                  <a:srgbClr val="262626"/>
                </a:solidFill>
                <a:latin typeface="맑은 고딕"/>
                <a:ea typeface="맑은 고딕"/>
              </a:rPr>
              <a:t>서버에 "KV를 어느 메모리에서 몇 토큰까지 불러올지" 지시 전달</a:t>
            </a:r>
          </a:p>
        </p:txBody>
      </p:sp>
      <p:sp>
        <p:nvSpPr>
          <p:cNvPr id="123" name="Rounded Rectangle 122"/>
          <p:cNvSpPr/>
          <p:nvPr/>
        </p:nvSpPr>
        <p:spPr>
          <a:xfrm>
            <a:off x="3968496" y="3579876"/>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E 조율</a:t>
            </a:r>
          </a:p>
        </p:txBody>
      </p:sp>
      <p:sp>
        <p:nvSpPr>
          <p:cNvPr id="124" name="Rectangle 123"/>
          <p:cNvSpPr/>
          <p:nvPr/>
        </p:nvSpPr>
        <p:spPr>
          <a:xfrm>
            <a:off x="429768" y="4078224"/>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5" name="Rectangle 124"/>
          <p:cNvSpPr/>
          <p:nvPr/>
        </p:nvSpPr>
        <p:spPr>
          <a:xfrm>
            <a:off x="429768" y="4078224"/>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F5</a:t>
            </a:r>
          </a:p>
        </p:txBody>
      </p:sp>
      <p:sp>
        <p:nvSpPr>
          <p:cNvPr id="126" name="TextBox 125"/>
          <p:cNvSpPr txBox="1"/>
          <p:nvPr/>
        </p:nvSpPr>
        <p:spPr>
          <a:xfrm>
            <a:off x="896112" y="4087368"/>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흐름 제어</a:t>
            </a:r>
          </a:p>
          <a:p>
            <a:pPr algn="l">
              <a:lnSpc>
                <a:spcPct val="95000"/>
              </a:lnSpc>
            </a:pPr>
            <a:r>
              <a:rPr sz="800" b="0" i="0">
                <a:solidFill>
                  <a:srgbClr val="262626"/>
                </a:solidFill>
                <a:latin typeface="맑은 고딕"/>
                <a:ea typeface="맑은 고딕"/>
              </a:rPr>
              <a:t>과부하 시 요청 대기·우선순위·거절로 서비스 목표(SLO) 유지</a:t>
            </a:r>
          </a:p>
        </p:txBody>
      </p:sp>
      <p:sp>
        <p:nvSpPr>
          <p:cNvPr id="127" name="Rounded Rectangle 126"/>
          <p:cNvSpPr/>
          <p:nvPr/>
        </p:nvSpPr>
        <p:spPr>
          <a:xfrm>
            <a:off x="3968496" y="4274820"/>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D 흐름</a:t>
            </a:r>
          </a:p>
        </p:txBody>
      </p:sp>
      <p:sp>
        <p:nvSpPr>
          <p:cNvPr id="128" name="Rectangle 127"/>
          <p:cNvSpPr/>
          <p:nvPr/>
        </p:nvSpPr>
        <p:spPr>
          <a:xfrm>
            <a:off x="429768" y="4773168"/>
            <a:ext cx="4123944" cy="630936"/>
          </a:xfrm>
          <a:prstGeom prst="rect">
            <a:avLst/>
          </a:prstGeom>
          <a:solidFill>
            <a:srgbClr val="DDEBF7"/>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29" name="Rectangle 128"/>
          <p:cNvSpPr/>
          <p:nvPr/>
        </p:nvSpPr>
        <p:spPr>
          <a:xfrm>
            <a:off x="429768" y="4773168"/>
            <a:ext cx="420624" cy="630936"/>
          </a:xfrm>
          <a:prstGeom prst="rect">
            <a:avLst/>
          </a:prstGeom>
          <a:solidFill>
            <a:srgbClr val="1F4E79"/>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F6</a:t>
            </a:r>
          </a:p>
        </p:txBody>
      </p:sp>
      <p:sp>
        <p:nvSpPr>
          <p:cNvPr id="130" name="TextBox 129"/>
          <p:cNvSpPr txBox="1"/>
          <p:nvPr/>
        </p:nvSpPr>
        <p:spPr>
          <a:xfrm>
            <a:off x="896112" y="4782312"/>
            <a:ext cx="3063239" cy="612647"/>
          </a:xfrm>
          <a:prstGeom prst="rect">
            <a:avLst/>
          </a:prstGeom>
          <a:noFill/>
        </p:spPr>
        <p:txBody>
          <a:bodyPr wrap="square" lIns="0" tIns="0" rIns="0" bIns="0" anchor="ctr">
            <a:spAutoFit/>
          </a:bodyPr>
          <a:lstStyle/>
          <a:p>
            <a:pPr algn="l">
              <a:lnSpc>
                <a:spcPct val="95000"/>
              </a:lnSpc>
            </a:pPr>
            <a:r>
              <a:rPr sz="900" b="1" i="0">
                <a:solidFill>
                  <a:srgbClr val="1F4E79"/>
                </a:solidFill>
                <a:latin typeface="맑은 고딕"/>
                <a:ea typeface="맑은 고딕"/>
              </a:rPr>
              <a:t>서버 발견·확장</a:t>
            </a:r>
          </a:p>
          <a:p>
            <a:pPr algn="l">
              <a:lnSpc>
                <a:spcPct val="95000"/>
              </a:lnSpc>
            </a:pPr>
            <a:r>
              <a:rPr sz="800" b="0" i="0">
                <a:solidFill>
                  <a:srgbClr val="262626"/>
                </a:solidFill>
                <a:latin typeface="맑은 고딕"/>
                <a:ea typeface="맑은 고딕"/>
              </a:rPr>
              <a:t>서버가 추가·제거되면 자동 감지해 요청 대상에 반영</a:t>
            </a:r>
          </a:p>
        </p:txBody>
      </p:sp>
      <p:sp>
        <p:nvSpPr>
          <p:cNvPr id="131" name="Rounded Rectangle 130"/>
          <p:cNvSpPr/>
          <p:nvPr/>
        </p:nvSpPr>
        <p:spPr>
          <a:xfrm>
            <a:off x="3968496" y="4969764"/>
            <a:ext cx="530352" cy="237744"/>
          </a:xfrm>
          <a:prstGeom prst="round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750" b="1" i="0">
                <a:solidFill>
                  <a:srgbClr val="1F4E79"/>
                </a:solidFill>
                <a:latin typeface="맑은 고딕"/>
                <a:ea typeface="맑은 고딕"/>
              </a:rPr>
              <a:t>F 발견</a:t>
            </a:r>
          </a:p>
        </p:txBody>
      </p:sp>
      <p:sp>
        <p:nvSpPr>
          <p:cNvPr id="132" name="TextBox 131"/>
          <p:cNvSpPr txBox="1"/>
          <p:nvPr/>
        </p:nvSpPr>
        <p:spPr>
          <a:xfrm>
            <a:off x="429768" y="5440680"/>
            <a:ext cx="4123944" cy="274320"/>
          </a:xfrm>
          <a:prstGeom prst="rect">
            <a:avLst/>
          </a:prstGeom>
          <a:noFill/>
        </p:spPr>
        <p:txBody>
          <a:bodyPr wrap="square" lIns="0" tIns="0" rIns="0" bIns="0" anchor="t">
            <a:spAutoFit/>
          </a:bodyPr>
          <a:lstStyle/>
          <a:p>
            <a:pPr algn="l"/>
            <a:r>
              <a:rPr sz="750" b="0" i="0">
                <a:solidFill>
                  <a:srgbClr val="404040"/>
                </a:solidFill>
                <a:latin typeface="맑은 고딕"/>
                <a:ea typeface="맑은 고딕"/>
              </a:rPr>
              <a:t>※ A 요청 경로(수신·중계)는 모든 F의 전제. llm-d 기본 제공: F5·F6, F1~F3 기본형</a:t>
            </a:r>
          </a:p>
        </p:txBody>
      </p:sp>
      <p:sp>
        <p:nvSpPr>
          <p:cNvPr id="133" name="Rectangle 132"/>
          <p:cNvSpPr/>
          <p:nvPr/>
        </p:nvSpPr>
        <p:spPr>
          <a:xfrm>
            <a:off x="4864608" y="1298448"/>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34" name="Rectangle 133"/>
          <p:cNvSpPr/>
          <p:nvPr/>
        </p:nvSpPr>
        <p:spPr>
          <a:xfrm>
            <a:off x="4864608" y="1298448"/>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Q1</a:t>
            </a:r>
          </a:p>
        </p:txBody>
      </p:sp>
      <p:sp>
        <p:nvSpPr>
          <p:cNvPr id="135" name="TextBox 134"/>
          <p:cNvSpPr txBox="1"/>
          <p:nvPr/>
        </p:nvSpPr>
        <p:spPr>
          <a:xfrm>
            <a:off x="5330952" y="1307592"/>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처리량 (Throughput)</a:t>
            </a:r>
          </a:p>
          <a:p>
            <a:pPr algn="l">
              <a:lnSpc>
                <a:spcPct val="95000"/>
              </a:lnSpc>
            </a:pPr>
            <a:r>
              <a:rPr sz="800" b="0" i="0">
                <a:solidFill>
                  <a:srgbClr val="262626"/>
                </a:solidFill>
                <a:latin typeface="맑은 고딕"/>
                <a:ea typeface="맑은 고딕"/>
              </a:rPr>
              <a:t>지표: SLO를 지키는 최대 처리량 (Goodput)</a:t>
            </a:r>
          </a:p>
          <a:p>
            <a:pPr algn="l">
              <a:lnSpc>
                <a:spcPct val="95000"/>
              </a:lnSpc>
            </a:pPr>
            <a:r>
              <a:rPr sz="800" b="0" i="0">
                <a:solidFill>
                  <a:srgbClr val="262626"/>
                </a:solidFill>
                <a:latin typeface="맑은 고딕"/>
                <a:ea typeface="맑은 고딕"/>
              </a:rPr>
              <a:t>목표: OSS 기본 설정 대비 향상 (수치는 측정 후 확정)</a:t>
            </a:r>
          </a:p>
        </p:txBody>
      </p:sp>
      <p:sp>
        <p:nvSpPr>
          <p:cNvPr id="136" name="Rectangle 135"/>
          <p:cNvSpPr/>
          <p:nvPr/>
        </p:nvSpPr>
        <p:spPr>
          <a:xfrm>
            <a:off x="4864608" y="2139696"/>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37" name="Rectangle 136"/>
          <p:cNvSpPr/>
          <p:nvPr/>
        </p:nvSpPr>
        <p:spPr>
          <a:xfrm>
            <a:off x="4864608" y="2139696"/>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Q2</a:t>
            </a:r>
          </a:p>
        </p:txBody>
      </p:sp>
      <p:sp>
        <p:nvSpPr>
          <p:cNvPr id="138" name="TextBox 137"/>
          <p:cNvSpPr txBox="1"/>
          <p:nvPr/>
        </p:nvSpPr>
        <p:spPr>
          <a:xfrm>
            <a:off x="5330952" y="2148839"/>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응답 지연 (Latency)</a:t>
            </a:r>
          </a:p>
          <a:p>
            <a:pPr algn="l">
              <a:lnSpc>
                <a:spcPct val="95000"/>
              </a:lnSpc>
            </a:pPr>
            <a:r>
              <a:rPr sz="800" b="0" i="0">
                <a:solidFill>
                  <a:srgbClr val="262626"/>
                </a:solidFill>
                <a:latin typeface="맑은 고딕"/>
                <a:ea typeface="맑은 고딕"/>
              </a:rPr>
              <a:t>지표: 첫 응답 시간 (TTFT), 조율 계층 추가 시간</a:t>
            </a:r>
          </a:p>
          <a:p>
            <a:pPr algn="l">
              <a:lnSpc>
                <a:spcPct val="95000"/>
              </a:lnSpc>
            </a:pPr>
            <a:r>
              <a:rPr sz="800" b="0" i="0">
                <a:solidFill>
                  <a:srgbClr val="262626"/>
                </a:solidFill>
                <a:latin typeface="맑은 고딕"/>
                <a:ea typeface="맑은 고딕"/>
              </a:rPr>
              <a:t>목표: 추가 시간이 허용 한도 이내 (한도는 측정 후 확정)</a:t>
            </a:r>
          </a:p>
        </p:txBody>
      </p:sp>
      <p:sp>
        <p:nvSpPr>
          <p:cNvPr id="139" name="Rectangle 138"/>
          <p:cNvSpPr/>
          <p:nvPr/>
        </p:nvSpPr>
        <p:spPr>
          <a:xfrm>
            <a:off x="4864608" y="2980944"/>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40" name="Rectangle 139"/>
          <p:cNvSpPr/>
          <p:nvPr/>
        </p:nvSpPr>
        <p:spPr>
          <a:xfrm>
            <a:off x="4864608" y="2980944"/>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Q3</a:t>
            </a:r>
          </a:p>
        </p:txBody>
      </p:sp>
      <p:sp>
        <p:nvSpPr>
          <p:cNvPr id="141" name="TextBox 140"/>
          <p:cNvSpPr txBox="1"/>
          <p:nvPr/>
        </p:nvSpPr>
        <p:spPr>
          <a:xfrm>
            <a:off x="5330952" y="2990087"/>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변경 용이성 (Modifiability)</a:t>
            </a:r>
          </a:p>
          <a:p>
            <a:pPr algn="l">
              <a:lnSpc>
                <a:spcPct val="95000"/>
              </a:lnSpc>
            </a:pPr>
            <a:r>
              <a:rPr sz="800" b="0" i="0">
                <a:solidFill>
                  <a:srgbClr val="262626"/>
                </a:solidFill>
                <a:latin typeface="맑은 고딕"/>
                <a:ea typeface="맑은 고딕"/>
              </a:rPr>
              <a:t>지표: 새 메모리·정책 추가 시 변경 범위 (수정 모듈 수 등)</a:t>
            </a:r>
          </a:p>
          <a:p>
            <a:pPr algn="l">
              <a:lnSpc>
                <a:spcPct val="95000"/>
              </a:lnSpc>
            </a:pPr>
            <a:r>
              <a:rPr sz="800" b="0" i="0">
                <a:solidFill>
                  <a:srgbClr val="262626"/>
                </a:solidFill>
                <a:latin typeface="맑은 고딕"/>
                <a:ea typeface="맑은 고딕"/>
              </a:rPr>
              <a:t>목표: 새 메모리는 설정만, 새 정책은 확장 모듈(plugin)로</a:t>
            </a:r>
          </a:p>
        </p:txBody>
      </p:sp>
      <p:sp>
        <p:nvSpPr>
          <p:cNvPr id="142" name="Rectangle 141"/>
          <p:cNvSpPr/>
          <p:nvPr/>
        </p:nvSpPr>
        <p:spPr>
          <a:xfrm>
            <a:off x="4864608" y="3822191"/>
            <a:ext cx="3392424" cy="786384"/>
          </a:xfrm>
          <a:prstGeom prst="rect">
            <a:avLst/>
          </a:prstGeom>
          <a:solidFill>
            <a:srgbClr val="FCE9DA"/>
          </a:solidFill>
          <a:ln w="9525">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43" name="Rectangle 142"/>
          <p:cNvSpPr/>
          <p:nvPr/>
        </p:nvSpPr>
        <p:spPr>
          <a:xfrm>
            <a:off x="4864608" y="3822191"/>
            <a:ext cx="420624" cy="786384"/>
          </a:xfrm>
          <a:prstGeom prst="rect">
            <a:avLst/>
          </a:prstGeom>
          <a:solidFill>
            <a:srgbClr val="843C0C"/>
          </a:solidFill>
          <a:ln w="12700">
            <a:solidFill>
              <a:srgbClr val="843C0C"/>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Q4</a:t>
            </a:r>
          </a:p>
        </p:txBody>
      </p:sp>
      <p:sp>
        <p:nvSpPr>
          <p:cNvPr id="144" name="TextBox 143"/>
          <p:cNvSpPr txBox="1"/>
          <p:nvPr/>
        </p:nvSpPr>
        <p:spPr>
          <a:xfrm>
            <a:off x="5330952" y="3831335"/>
            <a:ext cx="2898648" cy="768096"/>
          </a:xfrm>
          <a:prstGeom prst="rect">
            <a:avLst/>
          </a:prstGeom>
          <a:noFill/>
        </p:spPr>
        <p:txBody>
          <a:bodyPr wrap="square" lIns="0" tIns="0" rIns="0" bIns="0" anchor="ctr">
            <a:spAutoFit/>
          </a:bodyPr>
          <a:lstStyle/>
          <a:p>
            <a:pPr algn="l">
              <a:lnSpc>
                <a:spcPct val="95000"/>
              </a:lnSpc>
            </a:pPr>
            <a:r>
              <a:rPr sz="900" b="1" i="0">
                <a:solidFill>
                  <a:srgbClr val="843C0C"/>
                </a:solidFill>
                <a:latin typeface="맑은 고딕"/>
                <a:ea typeface="맑은 고딕"/>
              </a:rPr>
              <a:t>확장성 (Scalability)</a:t>
            </a:r>
          </a:p>
          <a:p>
            <a:pPr algn="l">
              <a:lnSpc>
                <a:spcPct val="95000"/>
              </a:lnSpc>
            </a:pPr>
            <a:r>
              <a:rPr sz="800" b="0" i="0">
                <a:solidFill>
                  <a:srgbClr val="262626"/>
                </a:solidFill>
                <a:latin typeface="맑은 고딕"/>
                <a:ea typeface="맑은 고딕"/>
              </a:rPr>
              <a:t>지표: 서버 N배 시 처리량이 N배의 몇 %</a:t>
            </a:r>
          </a:p>
          <a:p>
            <a:pPr algn="l">
              <a:lnSpc>
                <a:spcPct val="95000"/>
              </a:lnSpc>
            </a:pPr>
            <a:r>
              <a:rPr sz="800" b="0" i="0">
                <a:solidFill>
                  <a:srgbClr val="262626"/>
                </a:solidFill>
                <a:latin typeface="맑은 고딕"/>
                <a:ea typeface="맑은 고딕"/>
              </a:rPr>
              <a:t>목표: 병목 없이 확장 (분석·시뮬레이션)</a:t>
            </a:r>
          </a:p>
        </p:txBody>
      </p:sp>
      <p:sp>
        <p:nvSpPr>
          <p:cNvPr id="145" name="Rectangle 144"/>
          <p:cNvSpPr/>
          <p:nvPr/>
        </p:nvSpPr>
        <p:spPr>
          <a:xfrm>
            <a:off x="4864608" y="4681727"/>
            <a:ext cx="3392424" cy="914400"/>
          </a:xfrm>
          <a:prstGeom prst="rect">
            <a:avLst/>
          </a:prstGeom>
          <a:solidFill>
            <a:srgbClr val="F2F2F2"/>
          </a:solidFill>
          <a:ln w="952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73152" tIns="27432" rIns="54864" bIns="27432" rtlCol="0" anchor="ctr"/>
          <a:lstStyle/>
          <a:p>
            <a:pPr algn="l">
              <a:lnSpc>
                <a:spcPct val="95000"/>
              </a:lnSpc>
            </a:pPr>
            <a:r>
              <a:rPr sz="850" b="1" i="0">
                <a:solidFill>
                  <a:srgbClr val="404040"/>
                </a:solidFill>
                <a:latin typeface="맑은 고딕"/>
                <a:ea typeface="맑은 고딕"/>
              </a:rPr>
              <a:t>제외한 QA 2개</a:t>
            </a:r>
          </a:p>
          <a:p>
            <a:pPr algn="l">
              <a:lnSpc>
                <a:spcPct val="95000"/>
              </a:lnSpc>
            </a:pPr>
            <a:r>
              <a:rPr sz="750" b="0" i="0">
                <a:solidFill>
                  <a:srgbClr val="000000"/>
                </a:solidFill>
                <a:latin typeface="맑은 고딕"/>
                <a:ea typeface="맑은 고딕"/>
              </a:rPr>
              <a:t>· Resource Utilization: 라우팅 품질의 결과라 Q1과 같은 원인 → 독립 판별력 없음, 로그로만 기록</a:t>
            </a:r>
          </a:p>
          <a:p>
            <a:pPr algn="l">
              <a:lnSpc>
                <a:spcPct val="95000"/>
              </a:lnSpc>
            </a:pPr>
            <a:r>
              <a:rPr sz="750" b="0" i="0">
                <a:solidFill>
                  <a:srgbClr val="000000"/>
                </a:solidFill>
                <a:latin typeface="맑은 고딕"/>
                <a:ea typeface="맑은 고딕"/>
              </a:rPr>
              <a:t>· Functional Correctness(모델 정확도): 후보 간 차이 없음 → QA 대신 제약 C3로 처리</a:t>
            </a:r>
          </a:p>
        </p:txBody>
      </p:sp>
      <p:sp>
        <p:nvSpPr>
          <p:cNvPr id="146" name="Rectangle 145"/>
          <p:cNvSpPr/>
          <p:nvPr/>
        </p:nvSpPr>
        <p:spPr>
          <a:xfrm>
            <a:off x="8567928" y="1298448"/>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47" name="Rectangle 146"/>
          <p:cNvSpPr/>
          <p:nvPr/>
        </p:nvSpPr>
        <p:spPr>
          <a:xfrm>
            <a:off x="8567928" y="1298448"/>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C1</a:t>
            </a:r>
          </a:p>
        </p:txBody>
      </p:sp>
      <p:sp>
        <p:nvSpPr>
          <p:cNvPr id="148" name="TextBox 147"/>
          <p:cNvSpPr txBox="1"/>
          <p:nvPr/>
        </p:nvSpPr>
        <p:spPr>
          <a:xfrm>
            <a:off x="9034272" y="1307592"/>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추론 엔진은 vLLM으로 고정</a:t>
            </a:r>
          </a:p>
          <a:p>
            <a:pPr algn="l">
              <a:lnSpc>
                <a:spcPct val="95000"/>
              </a:lnSpc>
            </a:pPr>
            <a:r>
              <a:rPr sz="800" b="0" i="0">
                <a:solidFill>
                  <a:srgbClr val="262626"/>
                </a:solidFill>
                <a:latin typeface="맑은 고딕"/>
                <a:ea typeface="맑은 고딕"/>
              </a:rPr>
              <a:t>엔진 교체는 DP가 아닌 전제 조건</a:t>
            </a:r>
          </a:p>
        </p:txBody>
      </p:sp>
      <p:sp>
        <p:nvSpPr>
          <p:cNvPr id="149" name="Rectangle 148"/>
          <p:cNvSpPr/>
          <p:nvPr/>
        </p:nvSpPr>
        <p:spPr>
          <a:xfrm>
            <a:off x="8567928" y="1993391"/>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0" name="Rectangle 149"/>
          <p:cNvSpPr/>
          <p:nvPr/>
        </p:nvSpPr>
        <p:spPr>
          <a:xfrm>
            <a:off x="8567928" y="1993391"/>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C2</a:t>
            </a:r>
          </a:p>
        </p:txBody>
      </p:sp>
      <p:sp>
        <p:nvSpPr>
          <p:cNvPr id="151" name="TextBox 150"/>
          <p:cNvSpPr txBox="1"/>
          <p:nvPr/>
        </p:nvSpPr>
        <p:spPr>
          <a:xfrm>
            <a:off x="9034272" y="2002535"/>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실험 환경: GPU 8장 서버 2대</a:t>
            </a:r>
          </a:p>
          <a:p>
            <a:pPr algn="l">
              <a:lnSpc>
                <a:spcPct val="95000"/>
              </a:lnSpc>
            </a:pPr>
            <a:r>
              <a:rPr sz="800" b="0" i="0">
                <a:solidFill>
                  <a:srgbClr val="262626"/>
                </a:solidFill>
                <a:latin typeface="맑은 고딕"/>
                <a:ea typeface="맑은 고딕"/>
              </a:rPr>
              <a:t>Kubernetes 숙련도 낮음, 서버 간 RDMA 미확인 → Q4는 실측 불가</a:t>
            </a:r>
          </a:p>
        </p:txBody>
      </p:sp>
      <p:sp>
        <p:nvSpPr>
          <p:cNvPr id="152" name="Rectangle 151"/>
          <p:cNvSpPr/>
          <p:nvPr/>
        </p:nvSpPr>
        <p:spPr>
          <a:xfrm>
            <a:off x="8567928" y="2688336"/>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3" name="Rectangle 152"/>
          <p:cNvSpPr/>
          <p:nvPr/>
        </p:nvSpPr>
        <p:spPr>
          <a:xfrm>
            <a:off x="8567928" y="2688336"/>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C3</a:t>
            </a:r>
          </a:p>
        </p:txBody>
      </p:sp>
      <p:sp>
        <p:nvSpPr>
          <p:cNvPr id="154" name="TextBox 153"/>
          <p:cNvSpPr txBox="1"/>
          <p:nvPr/>
        </p:nvSpPr>
        <p:spPr>
          <a:xfrm>
            <a:off x="9034272" y="2697479"/>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정확도 불변 (손실 없음)</a:t>
            </a:r>
          </a:p>
          <a:p>
            <a:pPr algn="l">
              <a:lnSpc>
                <a:spcPct val="95000"/>
              </a:lnSpc>
            </a:pPr>
            <a:r>
              <a:rPr sz="800" b="0" i="0">
                <a:solidFill>
                  <a:srgbClr val="262626"/>
                </a:solidFill>
                <a:latin typeface="맑은 고딕"/>
                <a:ea typeface="맑은 고딕"/>
              </a:rPr>
              <a:t>손실형 압축·근사 적중 금지, 어느 후보든 출력 동일</a:t>
            </a:r>
          </a:p>
        </p:txBody>
      </p:sp>
      <p:sp>
        <p:nvSpPr>
          <p:cNvPr id="155" name="Rectangle 154"/>
          <p:cNvSpPr/>
          <p:nvPr/>
        </p:nvSpPr>
        <p:spPr>
          <a:xfrm>
            <a:off x="8567928" y="3383280"/>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6" name="Rectangle 155"/>
          <p:cNvSpPr/>
          <p:nvPr/>
        </p:nvSpPr>
        <p:spPr>
          <a:xfrm>
            <a:off x="8567928" y="3383280"/>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C4</a:t>
            </a:r>
          </a:p>
        </p:txBody>
      </p:sp>
      <p:sp>
        <p:nvSpPr>
          <p:cNvPr id="157" name="TextBox 156"/>
          <p:cNvSpPr txBox="1"/>
          <p:nvPr/>
        </p:nvSpPr>
        <p:spPr>
          <a:xfrm>
            <a:off x="9034272" y="3392424"/>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OSS 업스트림 추적 가능</a:t>
            </a:r>
          </a:p>
          <a:p>
            <a:pPr algn="l">
              <a:lnSpc>
                <a:spcPct val="95000"/>
              </a:lnSpc>
            </a:pPr>
            <a:r>
              <a:rPr sz="800" b="0" i="0">
                <a:solidFill>
                  <a:srgbClr val="262626"/>
                </a:solidFill>
                <a:latin typeface="맑은 고딕"/>
                <a:ea typeface="맑은 고딕"/>
              </a:rPr>
              <a:t>포크 최소화, 공개 확장 지점(설정·plugin) 위주</a:t>
            </a:r>
          </a:p>
        </p:txBody>
      </p:sp>
      <p:sp>
        <p:nvSpPr>
          <p:cNvPr id="158" name="Rectangle 157"/>
          <p:cNvSpPr/>
          <p:nvPr/>
        </p:nvSpPr>
        <p:spPr>
          <a:xfrm>
            <a:off x="8567928" y="4078224"/>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59" name="Rectangle 158"/>
          <p:cNvSpPr/>
          <p:nvPr/>
        </p:nvSpPr>
        <p:spPr>
          <a:xfrm>
            <a:off x="8567928" y="4078224"/>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C5</a:t>
            </a:r>
          </a:p>
        </p:txBody>
      </p:sp>
      <p:sp>
        <p:nvSpPr>
          <p:cNvPr id="160" name="TextBox 159"/>
          <p:cNvSpPr txBox="1"/>
          <p:nvPr/>
        </p:nvSpPr>
        <p:spPr>
          <a:xfrm>
            <a:off x="9034272" y="4087368"/>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서버 내부(DP1~DP4)와 접점 고정</a:t>
            </a:r>
          </a:p>
          <a:p>
            <a:pPr algn="l">
              <a:lnSpc>
                <a:spcPct val="95000"/>
              </a:lnSpc>
            </a:pPr>
            <a:r>
              <a:rPr sz="800" b="0" i="0">
                <a:solidFill>
                  <a:srgbClr val="262626"/>
                </a:solidFill>
                <a:latin typeface="맑은 고딕"/>
                <a:ea typeface="맑은 고딕"/>
              </a:rPr>
              <a:t>KV 이벤트·메트릭·KV 전송 정보(NIXL)를 계약으로 유지 → 병렬 진행</a:t>
            </a:r>
          </a:p>
        </p:txBody>
      </p:sp>
      <p:sp>
        <p:nvSpPr>
          <p:cNvPr id="161" name="Rectangle 160"/>
          <p:cNvSpPr/>
          <p:nvPr/>
        </p:nvSpPr>
        <p:spPr>
          <a:xfrm>
            <a:off x="8567928" y="4773168"/>
            <a:ext cx="3191256" cy="630936"/>
          </a:xfrm>
          <a:prstGeom prst="rect">
            <a:avLst/>
          </a:prstGeom>
          <a:solidFill>
            <a:srgbClr val="E2EFDA"/>
          </a:solidFill>
          <a:ln w="9525">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endParaRPr/>
          </a:p>
        </p:txBody>
      </p:sp>
      <p:sp>
        <p:nvSpPr>
          <p:cNvPr id="162" name="Rectangle 161"/>
          <p:cNvSpPr/>
          <p:nvPr/>
        </p:nvSpPr>
        <p:spPr>
          <a:xfrm>
            <a:off x="8567928" y="4773168"/>
            <a:ext cx="420624" cy="630936"/>
          </a:xfrm>
          <a:prstGeom prst="rect">
            <a:avLst/>
          </a:prstGeom>
          <a:solidFill>
            <a:srgbClr val="375623"/>
          </a:solidFill>
          <a:ln w="12700">
            <a:solidFill>
              <a:srgbClr val="375623"/>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100" b="1" i="0">
                <a:solidFill>
                  <a:srgbClr val="FFFFFF"/>
                </a:solidFill>
                <a:latin typeface="맑은 고딕"/>
                <a:ea typeface="맑은 고딕"/>
              </a:rPr>
              <a:t>C6</a:t>
            </a:r>
          </a:p>
        </p:txBody>
      </p:sp>
      <p:sp>
        <p:nvSpPr>
          <p:cNvPr id="163" name="TextBox 162"/>
          <p:cNvSpPr txBox="1"/>
          <p:nvPr/>
        </p:nvSpPr>
        <p:spPr>
          <a:xfrm>
            <a:off x="9034272" y="4782312"/>
            <a:ext cx="2697480" cy="612647"/>
          </a:xfrm>
          <a:prstGeom prst="rect">
            <a:avLst/>
          </a:prstGeom>
          <a:noFill/>
        </p:spPr>
        <p:txBody>
          <a:bodyPr wrap="square" lIns="0" tIns="0" rIns="0" bIns="0" anchor="ctr">
            <a:spAutoFit/>
          </a:bodyPr>
          <a:lstStyle/>
          <a:p>
            <a:pPr algn="l">
              <a:lnSpc>
                <a:spcPct val="95000"/>
              </a:lnSpc>
            </a:pPr>
            <a:r>
              <a:rPr sz="900" b="1" i="0">
                <a:solidFill>
                  <a:srgbClr val="375623"/>
                </a:solidFill>
                <a:latin typeface="맑은 고딕"/>
                <a:ea typeface="맑은 고딕"/>
              </a:rPr>
              <a:t>정책 P1~P5를 모두 표현 가능</a:t>
            </a:r>
          </a:p>
          <a:p>
            <a:pPr algn="l">
              <a:lnSpc>
                <a:spcPct val="95000"/>
              </a:lnSpc>
            </a:pPr>
            <a:r>
              <a:rPr sz="800" b="0" i="0">
                <a:solidFill>
                  <a:srgbClr val="262626"/>
                </a:solidFill>
                <a:latin typeface="맑은 고딕"/>
                <a:ea typeface="맑은 고딕"/>
              </a:rPr>
              <a:t>표현이 막히면 서버 내부 성능 이득이 서버 간에서 손실</a:t>
            </a:r>
          </a:p>
        </p:txBody>
      </p:sp>
      <p:sp>
        <p:nvSpPr>
          <p:cNvPr id="164" name="TextBox 163"/>
          <p:cNvSpPr txBox="1"/>
          <p:nvPr/>
        </p:nvSpPr>
        <p:spPr>
          <a:xfrm>
            <a:off x="8567928" y="5440680"/>
            <a:ext cx="3191256" cy="274320"/>
          </a:xfrm>
          <a:prstGeom prst="rect">
            <a:avLst/>
          </a:prstGeom>
          <a:noFill/>
        </p:spPr>
        <p:txBody>
          <a:bodyPr wrap="square" lIns="0" tIns="0" rIns="0" bIns="0" anchor="t">
            <a:spAutoFit/>
          </a:bodyPr>
          <a:lstStyle/>
          <a:p>
            <a:pPr algn="l"/>
            <a:r>
              <a:rPr sz="750" b="0" i="0">
                <a:solidFill>
                  <a:srgbClr val="404040"/>
                </a:solidFill>
                <a:latin typeface="맑은 고딕"/>
                <a:ea typeface="맑은 고딕"/>
              </a:rPr>
              <a:t>※ P1~P5: 조율 계층에 넣을 5가지 판단 로직 (설계 슬라이드)</a:t>
            </a:r>
          </a:p>
        </p:txBody>
      </p:sp>
      <p:sp>
        <p:nvSpPr>
          <p:cNvPr id="165" name="Rectangle 164"/>
          <p:cNvSpPr/>
          <p:nvPr/>
        </p:nvSpPr>
        <p:spPr>
          <a:xfrm>
            <a:off x="320040" y="5852160"/>
            <a:ext cx="11548872"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r>
              <a:rPr sz="1050" b="1" i="0">
                <a:solidFill>
                  <a:srgbClr val="2F5597"/>
                </a:solidFill>
                <a:latin typeface="맑은 고딕"/>
                <a:ea typeface="맑은 고딕"/>
              </a:rPr>
              <a:t>→ 핵심: </a:t>
            </a:r>
            <a:r>
              <a:rPr sz="950" b="1" i="0">
                <a:solidFill>
                  <a:srgbClr val="2F5597"/>
                </a:solidFill>
                <a:latin typeface="맑은 고딕"/>
                <a:ea typeface="맑은 고딕"/>
              </a:rPr>
              <a:t>서버 내부 메모리 상태를 반영해 요청을 배분(F1~F4)하되, 처리량·첫 응답 시간·변경 용이성·확장성(Q1~Q4)을 만족하고, vLLM 고정·2노드 환경·정확도 불변(C1~C3) 안에서 해결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7631530" cy="365125"/>
          </a:xfrm>
        </p:spPr>
        <p:txBody>
          <a:bodyPr/>
          <a:lstStyle/>
          <a:p>
            <a:r>
              <a:rPr lang="en-US" altLang="ko-KR" dirty="0"/>
              <a:t>DP0-1. 요청 조율 계층 구조 - S1 대 S2</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err="1">
                <a:solidFill>
                  <a:schemeClr val="bg1"/>
                </a:solidFill>
              </a:rPr>
              <a:t>서버 안 상태를 어디까지 알고, 메모리 계층을 어디서 정하는가</a:t>
            </a:r>
            <a:endParaRPr lang="ko-KR" altLang="en-US" sz="1400" b="1" dirty="0">
              <a:solidFill>
                <a:schemeClr val="bg1"/>
              </a:solidFill>
            </a:endParaRP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10177272" y="629703"/>
            <a:ext cx="868680"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Q1~Q4</a:t>
            </a:r>
            <a:endParaRPr lang="ko-KR" altLang="en-US" sz="900" b="1" dirty="0">
              <a:latin typeface="맑은 고딕" panose="020B0503020000020004" pitchFamily="50" charset="-127"/>
              <a:ea typeface="맑은 고딕" panose="020B0503020000020004" pitchFamily="50" charset="-127"/>
            </a:endParaRPr>
          </a:p>
        </p:txBody>
      </p:sp>
      <p:sp>
        <p:nvSpPr>
          <p:cNvPr id="38" name="모서리가 둥근 직사각형 37"/>
          <p:cNvSpPr/>
          <p:nvPr/>
        </p:nvSpPr>
        <p:spPr>
          <a:xfrm>
            <a:off x="9235440" y="627572"/>
            <a:ext cx="86868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F1~F4</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1119104" y="627572"/>
            <a:ext cx="868680"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C1~C6</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6291415" y="180689"/>
            <a:ext cx="1541832" cy="276999"/>
          </a:xfrm>
          <a:prstGeom prst="rect">
            <a:avLst/>
          </a:prstGeom>
        </p:spPr>
        <p:txBody>
          <a:bodyPr wrap="none">
            <a:spAutoFit/>
          </a:bodyPr>
          <a:lstStyle/>
          <a:p>
            <a:r>
              <a:rPr lang="en-US" altLang="ko-KR" sz="1200" b="1" dirty="0"/>
              <a:t>(Where to locate?)</a:t>
            </a:r>
            <a:endParaRPr lang="ko-KR" altLang="en-US" sz="1200" dirty="0"/>
          </a:p>
        </p:txBody>
      </p:sp>
      <p:sp>
        <p:nvSpPr>
          <p:cNvPr id="102" name="Rectangle 101"/>
          <p:cNvSpPr/>
          <p:nvPr/>
        </p:nvSpPr>
        <p:spPr>
          <a:xfrm>
            <a:off x="246888" y="1042415"/>
            <a:ext cx="868680" cy="566928"/>
          </a:xfrm>
          <a:prstGeom prst="rect">
            <a:avLst/>
          </a:prstGeom>
          <a:solidFill>
            <a:srgbClr val="F2F2F2"/>
          </a:solidFill>
          <a:ln w="6350">
            <a:solidFill>
              <a:srgbClr val="BFBFBF"/>
            </a:solidFill>
          </a:ln>
          <a:effectLst/>
        </p:spPr>
        <p:txBody>
          <a:bodyPr rtlCol="0" anchor="ctr" wrap="square" lIns="64008" tIns="27432" rIns="45720" bIns="27432"/>
          <a:lstStyle/>
          <a:p>
            <a:pPr algn="ctr"/>
            <a:r>
              <a:rPr sz="900" b="0">
                <a:solidFill>
                  <a:srgbClr val="7F7F7F"/>
                </a:solidFill>
                <a:latin typeface="맑은 고딕"/>
                <a:ea typeface="맑은 고딕"/>
              </a:rPr>
              <a:t>구조 후보</a:t>
            </a:r>
          </a:p>
        </p:txBody>
      </p:sp>
      <p:sp>
        <p:nvSpPr>
          <p:cNvPr id="103" name="Rectangle 102"/>
          <p:cNvSpPr/>
          <p:nvPr/>
        </p:nvSpPr>
        <p:spPr>
          <a:xfrm>
            <a:off x="1115568" y="1042415"/>
            <a:ext cx="5394960" cy="566928"/>
          </a:xfrm>
          <a:prstGeom prst="rect">
            <a:avLst/>
          </a:prstGeom>
          <a:solidFill>
            <a:srgbClr val="FFFFFF"/>
          </a:solidFill>
          <a:ln w="6350">
            <a:solidFill>
              <a:srgbClr val="BFBFBF"/>
            </a:solidFill>
          </a:ln>
          <a:effectLst/>
        </p:spPr>
        <p:txBody>
          <a:bodyPr rtlCol="0" anchor="ctr"/>
          <a:lstStyle/>
          <a:p>
            <a:pPr algn="ctr"/>
          </a:p>
        </p:txBody>
      </p:sp>
      <p:sp>
        <p:nvSpPr>
          <p:cNvPr id="104" name="Rectangle 103"/>
          <p:cNvSpPr/>
          <p:nvPr/>
        </p:nvSpPr>
        <p:spPr>
          <a:xfrm>
            <a:off x="6510528" y="1042415"/>
            <a:ext cx="5486399" cy="566928"/>
          </a:xfrm>
          <a:prstGeom prst="rect">
            <a:avLst/>
          </a:prstGeom>
          <a:solidFill>
            <a:srgbClr val="FFFFFF"/>
          </a:solidFill>
          <a:ln w="6350">
            <a:solidFill>
              <a:srgbClr val="BFBFBF"/>
            </a:solidFill>
          </a:ln>
          <a:effectLst/>
        </p:spPr>
        <p:txBody>
          <a:bodyPr rtlCol="0" anchor="ctr"/>
          <a:lstStyle/>
          <a:p>
            <a:pPr algn="ctr"/>
          </a:p>
        </p:txBody>
      </p:sp>
      <p:sp>
        <p:nvSpPr>
          <p:cNvPr id="105" name="TextBox 104"/>
          <p:cNvSpPr txBox="1"/>
          <p:nvPr/>
        </p:nvSpPr>
        <p:spPr>
          <a:xfrm>
            <a:off x="1188720" y="1069848"/>
            <a:ext cx="5212080" cy="228600"/>
          </a:xfrm>
          <a:prstGeom prst="rect">
            <a:avLst/>
          </a:prstGeom>
          <a:noFill/>
        </p:spPr>
        <p:txBody>
          <a:bodyPr wrap="square" anchor="t" lIns="0" tIns="0" rIns="0" bIns="0">
            <a:spAutoFit/>
          </a:bodyPr>
          <a:lstStyle/>
          <a:p>
            <a:pPr algn="l"/>
            <a:r>
              <a:rPr sz="1200" b="1">
                <a:solidFill>
                  <a:srgbClr val="000000"/>
                </a:solidFill>
                <a:latin typeface="맑은 고딕"/>
                <a:ea typeface="맑은 고딕"/>
              </a:rPr>
              <a:t>(S1) 중앙 결정형  </a:t>
            </a:r>
            <a:r>
              <a:rPr sz="850" b="0">
                <a:solidFill>
                  <a:srgbClr val="404040"/>
                </a:solidFill>
                <a:latin typeface="맑은 고딕"/>
                <a:ea typeface="맑은 고딕"/>
              </a:rPr>
              <a:t>Router가 블록 단위로 모두 알고 요청마다 결정</a:t>
            </a:r>
          </a:p>
        </p:txBody>
      </p:sp>
      <p:sp>
        <p:nvSpPr>
          <p:cNvPr id="106" name="TextBox 105"/>
          <p:cNvSpPr txBox="1"/>
          <p:nvPr/>
        </p:nvSpPr>
        <p:spPr>
          <a:xfrm>
            <a:off x="1188720" y="1325880"/>
            <a:ext cx="5257800" cy="256032"/>
          </a:xfrm>
          <a:prstGeom prst="rect">
            <a:avLst/>
          </a:prstGeom>
          <a:noFill/>
        </p:spPr>
        <p:txBody>
          <a:bodyPr wrap="square" anchor="t" lIns="0" tIns="0" rIns="0" bIns="0">
            <a:spAutoFit/>
          </a:bodyPr>
          <a:lstStyle/>
          <a:p>
            <a:pPr algn="l"/>
            <a:r>
              <a:rPr sz="900" b="0">
                <a:solidFill>
                  <a:srgbClr val="404040"/>
                </a:solidFill>
                <a:latin typeface="맑은 고딕"/>
                <a:ea typeface="맑은 고딕"/>
              </a:rPr>
              <a:t>“서버 안 상태를 Router가 모아, 서버와 메모리 계층까지 요청마다 정한다”</a:t>
            </a:r>
          </a:p>
        </p:txBody>
      </p:sp>
      <p:sp>
        <p:nvSpPr>
          <p:cNvPr id="107" name="TextBox 106"/>
          <p:cNvSpPr txBox="1"/>
          <p:nvPr/>
        </p:nvSpPr>
        <p:spPr>
          <a:xfrm>
            <a:off x="6583680" y="1069848"/>
            <a:ext cx="5303520" cy="228600"/>
          </a:xfrm>
          <a:prstGeom prst="rect">
            <a:avLst/>
          </a:prstGeom>
          <a:noFill/>
        </p:spPr>
        <p:txBody>
          <a:bodyPr wrap="square" anchor="t" lIns="0" tIns="0" rIns="0" bIns="0">
            <a:spAutoFit/>
          </a:bodyPr>
          <a:lstStyle/>
          <a:p>
            <a:pPr algn="l"/>
            <a:r>
              <a:rPr sz="1200" b="1">
                <a:solidFill>
                  <a:srgbClr val="000000"/>
                </a:solidFill>
                <a:latin typeface="맑은 고딕"/>
                <a:ea typeface="맑은 고딕"/>
              </a:rPr>
              <a:t>(S2) 2단계 위임형  </a:t>
            </a:r>
            <a:r>
              <a:rPr sz="850" b="0">
                <a:solidFill>
                  <a:srgbClr val="404040"/>
                </a:solidFill>
                <a:latin typeface="맑은 고딕"/>
                <a:ea typeface="맑은 고딕"/>
              </a:rPr>
              <a:t>Router는 요약, 계층 결정은 노드 에이전트</a:t>
            </a:r>
          </a:p>
        </p:txBody>
      </p:sp>
      <p:sp>
        <p:nvSpPr>
          <p:cNvPr id="108" name="TextBox 107"/>
          <p:cNvSpPr txBox="1"/>
          <p:nvPr/>
        </p:nvSpPr>
        <p:spPr>
          <a:xfrm>
            <a:off x="6583680" y="1325880"/>
            <a:ext cx="5349240" cy="256032"/>
          </a:xfrm>
          <a:prstGeom prst="rect">
            <a:avLst/>
          </a:prstGeom>
          <a:noFill/>
        </p:spPr>
        <p:txBody>
          <a:bodyPr wrap="square" anchor="t" lIns="0" tIns="0" rIns="0" bIns="0">
            <a:spAutoFit/>
          </a:bodyPr>
          <a:lstStyle/>
          <a:p>
            <a:pPr algn="l"/>
            <a:r>
              <a:rPr sz="900" b="0">
                <a:solidFill>
                  <a:srgbClr val="404040"/>
                </a:solidFill>
                <a:latin typeface="맑은 고딕"/>
                <a:ea typeface="맑은 고딕"/>
              </a:rPr>
              <a:t>“Router는 노드 요약으로 노드만 고르고, 메모리 계층은 노드가 최신 상태로 정한다”</a:t>
            </a:r>
          </a:p>
        </p:txBody>
      </p:sp>
      <p:sp>
        <p:nvSpPr>
          <p:cNvPr id="109" name="Rectangle 108"/>
          <p:cNvSpPr/>
          <p:nvPr/>
        </p:nvSpPr>
        <p:spPr>
          <a:xfrm>
            <a:off x="246888" y="1609344"/>
            <a:ext cx="868680" cy="3566160"/>
          </a:xfrm>
          <a:prstGeom prst="rect">
            <a:avLst/>
          </a:prstGeom>
          <a:solidFill>
            <a:srgbClr val="F2F2F2"/>
          </a:solidFill>
          <a:ln w="6350">
            <a:solidFill>
              <a:srgbClr val="BFBFBF"/>
            </a:solidFill>
          </a:ln>
          <a:effectLst/>
        </p:spPr>
        <p:txBody>
          <a:bodyPr rtlCol="0" anchor="ctr" wrap="square" lIns="64008" tIns="27432" rIns="45720" bIns="27432"/>
          <a:lstStyle/>
          <a:p>
            <a:pPr algn="ctr"/>
            <a:r>
              <a:rPr sz="900" b="0">
                <a:solidFill>
                  <a:srgbClr val="7F7F7F"/>
                </a:solidFill>
                <a:latin typeface="맑은 고딕"/>
                <a:ea typeface="맑은 고딕"/>
              </a:rPr>
              <a:t>구조</a:t>
            </a:r>
          </a:p>
        </p:txBody>
      </p:sp>
      <p:sp>
        <p:nvSpPr>
          <p:cNvPr id="110" name="Rectangle 109"/>
          <p:cNvSpPr/>
          <p:nvPr/>
        </p:nvSpPr>
        <p:spPr>
          <a:xfrm>
            <a:off x="1115568" y="1609344"/>
            <a:ext cx="5394960" cy="3566160"/>
          </a:xfrm>
          <a:prstGeom prst="rect">
            <a:avLst/>
          </a:prstGeom>
          <a:solidFill>
            <a:srgbClr val="FFFFFF"/>
          </a:solidFill>
          <a:ln w="6350">
            <a:solidFill>
              <a:srgbClr val="BFBFBF"/>
            </a:solidFill>
          </a:ln>
          <a:effectLst/>
        </p:spPr>
        <p:txBody>
          <a:bodyPr rtlCol="0" anchor="ctr"/>
          <a:lstStyle/>
          <a:p>
            <a:pPr algn="ctr"/>
          </a:p>
        </p:txBody>
      </p:sp>
      <p:sp>
        <p:nvSpPr>
          <p:cNvPr id="111" name="Rectangle 110"/>
          <p:cNvSpPr/>
          <p:nvPr/>
        </p:nvSpPr>
        <p:spPr>
          <a:xfrm>
            <a:off x="6510528" y="1609344"/>
            <a:ext cx="5486399" cy="3566160"/>
          </a:xfrm>
          <a:prstGeom prst="rect">
            <a:avLst/>
          </a:prstGeom>
          <a:solidFill>
            <a:srgbClr val="FFFFFF"/>
          </a:solidFill>
          <a:ln w="6350">
            <a:solidFill>
              <a:srgbClr val="BFBFBF"/>
            </a:solidFill>
          </a:ln>
          <a:effectLst/>
        </p:spPr>
        <p:txBody>
          <a:bodyPr rtlCol="0" anchor="ctr"/>
          <a:lstStyle/>
          <a:p>
            <a:pPr algn="ctr"/>
          </a:p>
        </p:txBody>
      </p:sp>
      <p:sp>
        <p:nvSpPr>
          <p:cNvPr id="112" name="Rectangle 111"/>
          <p:cNvSpPr/>
          <p:nvPr/>
        </p:nvSpPr>
        <p:spPr>
          <a:xfrm>
            <a:off x="1188720" y="1700784"/>
            <a:ext cx="566928" cy="237744"/>
          </a:xfrm>
          <a:prstGeom prst="rect">
            <a:avLst/>
          </a:prstGeom>
          <a:solidFill>
            <a:srgbClr val="F2F2F2"/>
          </a:solidFill>
          <a:ln w="9525">
            <a:solidFill>
              <a:srgbClr val="BFBFBF"/>
            </a:solidFill>
          </a:ln>
          <a:effectLst/>
        </p:spPr>
        <p:txBody>
          <a:bodyPr rtlCol="0" anchor="ctr" wrap="square" lIns="36576" tIns="18288" rIns="36576" bIns="18288"/>
          <a:lstStyle/>
          <a:p>
            <a:pPr algn="ctr"/>
            <a:r>
              <a:rPr sz="750" b="1">
                <a:solidFill>
                  <a:srgbClr val="595959"/>
                </a:solidFill>
                <a:latin typeface="맑은 고딕"/>
                <a:ea typeface="맑은 고딕"/>
              </a:rPr>
              <a:t>Client</a:t>
            </a:r>
          </a:p>
        </p:txBody>
      </p:sp>
      <p:sp>
        <p:nvSpPr>
          <p:cNvPr id="113" name="Rectangle 112"/>
          <p:cNvSpPr/>
          <p:nvPr/>
        </p:nvSpPr>
        <p:spPr>
          <a:xfrm>
            <a:off x="1188720" y="1993392"/>
            <a:ext cx="5166360" cy="1371600"/>
          </a:xfrm>
          <a:prstGeom prst="rect">
            <a:avLst/>
          </a:prstGeom>
          <a:solidFill>
            <a:srgbClr val="FFFFFF"/>
          </a:solidFill>
          <a:ln w="9525">
            <a:solidFill>
              <a:srgbClr val="BFBFBF"/>
            </a:solidFill>
            <a:prstDash val="dash"/>
          </a:ln>
          <a:effectLst/>
        </p:spPr>
        <p:txBody>
          <a:bodyPr rtlCol="0" anchor="ctr"/>
          <a:lstStyle/>
          <a:p>
            <a:pPr algn="ctr"/>
          </a:p>
        </p:txBody>
      </p:sp>
      <p:sp>
        <p:nvSpPr>
          <p:cNvPr id="114" name="TextBox 113"/>
          <p:cNvSpPr txBox="1"/>
          <p:nvPr/>
        </p:nvSpPr>
        <p:spPr>
          <a:xfrm>
            <a:off x="2103120" y="2011680"/>
            <a:ext cx="2743200" cy="128016"/>
          </a:xfrm>
          <a:prstGeom prst="rect">
            <a:avLst/>
          </a:prstGeom>
          <a:noFill/>
        </p:spPr>
        <p:txBody>
          <a:bodyPr wrap="square" anchor="t" lIns="0" tIns="0" rIns="0" bIns="0">
            <a:spAutoFit/>
          </a:bodyPr>
          <a:lstStyle/>
          <a:p>
            <a:pPr algn="l"/>
            <a:r>
              <a:rPr sz="650" b="1">
                <a:solidFill>
                  <a:srgbClr val="7F7F7F"/>
                </a:solidFill>
                <a:latin typeface="맑은 고딕"/>
                <a:ea typeface="맑은 고딕"/>
              </a:rPr>
              <a:t>클러스터 계층 (DP0-1 범위)</a:t>
            </a:r>
          </a:p>
        </p:txBody>
      </p:sp>
      <p:sp>
        <p:nvSpPr>
          <p:cNvPr id="115" name="Rectangle 114"/>
          <p:cNvSpPr/>
          <p:nvPr/>
        </p:nvSpPr>
        <p:spPr>
          <a:xfrm>
            <a:off x="1188720" y="3822191"/>
            <a:ext cx="5166360" cy="960120"/>
          </a:xfrm>
          <a:prstGeom prst="rect">
            <a:avLst/>
          </a:prstGeom>
          <a:solidFill>
            <a:srgbClr val="F7F7F7"/>
          </a:solidFill>
          <a:ln w="9525">
            <a:solidFill>
              <a:srgbClr val="BFBFBF"/>
            </a:solidFill>
            <a:prstDash val="dash"/>
          </a:ln>
          <a:effectLst/>
        </p:spPr>
        <p:txBody>
          <a:bodyPr rtlCol="0" anchor="ctr"/>
          <a:lstStyle/>
          <a:p>
            <a:pPr algn="ctr"/>
          </a:p>
        </p:txBody>
      </p:sp>
      <p:sp>
        <p:nvSpPr>
          <p:cNvPr id="116" name="TextBox 115"/>
          <p:cNvSpPr txBox="1"/>
          <p:nvPr/>
        </p:nvSpPr>
        <p:spPr>
          <a:xfrm>
            <a:off x="1965960" y="3840480"/>
            <a:ext cx="1645920" cy="128016"/>
          </a:xfrm>
          <a:prstGeom prst="rect">
            <a:avLst/>
          </a:prstGeom>
          <a:noFill/>
        </p:spPr>
        <p:txBody>
          <a:bodyPr wrap="square" anchor="t" lIns="0" tIns="0" rIns="0" bIns="0">
            <a:spAutoFit/>
          </a:bodyPr>
          <a:lstStyle/>
          <a:p>
            <a:pPr algn="l"/>
            <a:r>
              <a:rPr sz="650" b="1">
                <a:solidFill>
                  <a:srgbClr val="7F7F7F"/>
                </a:solidFill>
                <a:latin typeface="맑은 고딕"/>
                <a:ea typeface="맑은 고딕"/>
              </a:rPr>
              <a:t>노드 계층 (DP1~DP4 · 엔진 영역)</a:t>
            </a:r>
          </a:p>
        </p:txBody>
      </p:sp>
      <p:sp>
        <p:nvSpPr>
          <p:cNvPr id="117" name="Rectangle 116"/>
          <p:cNvSpPr/>
          <p:nvPr/>
        </p:nvSpPr>
        <p:spPr>
          <a:xfrm>
            <a:off x="1280160" y="2212848"/>
            <a:ext cx="530352" cy="457200"/>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A</a:t>
            </a:r>
          </a:p>
          <a:p>
            <a:pPr algn="ctr"/>
            <a:r>
              <a:rPr sz="650" b="0">
                <a:solidFill>
                  <a:srgbClr val="7F7F7F"/>
                </a:solidFill>
                <a:latin typeface="맑은 고딕"/>
                <a:ea typeface="맑은 고딕"/>
              </a:rPr>
              <a:t>요청 경로</a:t>
            </a:r>
          </a:p>
        </p:txBody>
      </p:sp>
      <p:sp>
        <p:nvSpPr>
          <p:cNvPr id="118" name="Rectangle 117"/>
          <p:cNvSpPr/>
          <p:nvPr/>
        </p:nvSpPr>
        <p:spPr>
          <a:xfrm>
            <a:off x="1865376" y="2212848"/>
            <a:ext cx="530352" cy="457200"/>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D</a:t>
            </a:r>
          </a:p>
          <a:p>
            <a:pPr algn="ctr"/>
            <a:r>
              <a:rPr sz="650" b="0">
                <a:solidFill>
                  <a:srgbClr val="7F7F7F"/>
                </a:solidFill>
                <a:latin typeface="맑은 고딕"/>
                <a:ea typeface="맑은 고딕"/>
              </a:rPr>
              <a:t>흐름 제어</a:t>
            </a:r>
          </a:p>
        </p:txBody>
      </p:sp>
      <p:sp>
        <p:nvSpPr>
          <p:cNvPr id="119" name="Rectangle 118"/>
          <p:cNvSpPr/>
          <p:nvPr/>
        </p:nvSpPr>
        <p:spPr>
          <a:xfrm>
            <a:off x="2450591" y="2212848"/>
            <a:ext cx="1828800" cy="457200"/>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B 서버 선택</a:t>
            </a:r>
          </a:p>
          <a:p>
            <a:pPr algn="ctr"/>
            <a:r>
              <a:rPr sz="650" b="0">
                <a:solidFill>
                  <a:srgbClr val="7F7F7F"/>
                </a:solidFill>
                <a:latin typeface="맑은 고딕"/>
                <a:ea typeface="맑은 고딕"/>
              </a:rPr>
              <a:t>후보 서버 점수 → 선택</a:t>
            </a:r>
          </a:p>
        </p:txBody>
      </p:sp>
      <p:sp>
        <p:nvSpPr>
          <p:cNvPr id="120" name="Rectangle 119"/>
          <p:cNvSpPr/>
          <p:nvPr/>
        </p:nvSpPr>
        <p:spPr>
          <a:xfrm>
            <a:off x="4334256" y="2212848"/>
            <a:ext cx="713232" cy="457200"/>
          </a:xfrm>
          <a:prstGeom prst="rect">
            <a:avLst/>
          </a:prstGeom>
          <a:solidFill>
            <a:srgbClr val="F2F2F2"/>
          </a:solidFill>
          <a:ln w="9525">
            <a:solidFill>
              <a:srgbClr val="BFBFBF"/>
            </a:solidFill>
          </a:ln>
          <a:effectLst/>
        </p:spPr>
        <p:txBody>
          <a:bodyPr rtlCol="0" anchor="ctr" wrap="square" lIns="36576" tIns="18288" rIns="36576" bIns="18288"/>
          <a:lstStyle/>
          <a:p>
            <a:pPr algn="ctr"/>
            <a:r>
              <a:rPr sz="750" b="1">
                <a:solidFill>
                  <a:srgbClr val="595959"/>
                </a:solidFill>
                <a:latin typeface="맑은 고딕"/>
                <a:ea typeface="맑은 고딕"/>
              </a:rPr>
              <a:t>E P/D 조율</a:t>
            </a:r>
          </a:p>
          <a:p>
            <a:pPr algn="ctr"/>
            <a:r>
              <a:rPr sz="650" b="0">
                <a:solidFill>
                  <a:srgbClr val="7F7F7F"/>
                </a:solidFill>
                <a:latin typeface="맑은 고딕"/>
                <a:ea typeface="맑은 고딕"/>
              </a:rPr>
              <a:t>(P4)</a:t>
            </a:r>
          </a:p>
        </p:txBody>
      </p:sp>
      <p:sp>
        <p:nvSpPr>
          <p:cNvPr id="121" name="Rectangle 120"/>
          <p:cNvSpPr/>
          <p:nvPr/>
        </p:nvSpPr>
        <p:spPr>
          <a:xfrm>
            <a:off x="1280160" y="2761488"/>
            <a:ext cx="530352" cy="530352"/>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F</a:t>
            </a:r>
          </a:p>
          <a:p>
            <a:pPr algn="ctr"/>
            <a:r>
              <a:rPr sz="650" b="0">
                <a:solidFill>
                  <a:srgbClr val="7F7F7F"/>
                </a:solidFill>
                <a:latin typeface="맑은 고딕"/>
                <a:ea typeface="맑은 고딕"/>
              </a:rPr>
              <a:t>서버 발견</a:t>
            </a:r>
          </a:p>
        </p:txBody>
      </p:sp>
      <p:cxnSp>
        <p:nvCxnSpPr>
          <p:cNvPr id="122" name="Connector 121"/>
          <p:cNvCxnSpPr/>
          <p:nvPr/>
        </p:nvCxnSpPr>
        <p:spPr>
          <a:xfrm>
            <a:off x="1810512" y="2441448"/>
            <a:ext cx="54864" cy="0"/>
          </a:xfrm>
          <a:prstGeom prst="line">
            <a:avLst/>
          </a:prstGeom>
          <a:ln w="11430">
            <a:solidFill>
              <a:srgbClr val="A6A6A6"/>
            </a:solidFill>
            <a:tailEnd type="triangle"/>
          </a:ln>
        </p:spPr>
      </p:cxnSp>
      <p:cxnSp>
        <p:nvCxnSpPr>
          <p:cNvPr id="123" name="Connector 122"/>
          <p:cNvCxnSpPr/>
          <p:nvPr/>
        </p:nvCxnSpPr>
        <p:spPr>
          <a:xfrm>
            <a:off x="2395728" y="2441448"/>
            <a:ext cx="54863" cy="0"/>
          </a:xfrm>
          <a:prstGeom prst="line">
            <a:avLst/>
          </a:prstGeom>
          <a:ln w="11430">
            <a:solidFill>
              <a:srgbClr val="A6A6A6"/>
            </a:solidFill>
            <a:tailEnd type="triangle"/>
          </a:ln>
        </p:spPr>
      </p:cxnSp>
      <p:cxnSp>
        <p:nvCxnSpPr>
          <p:cNvPr id="124" name="Connector 123"/>
          <p:cNvCxnSpPr/>
          <p:nvPr/>
        </p:nvCxnSpPr>
        <p:spPr>
          <a:xfrm>
            <a:off x="4279392" y="2441448"/>
            <a:ext cx="54864" cy="0"/>
          </a:xfrm>
          <a:prstGeom prst="line">
            <a:avLst/>
          </a:prstGeom>
          <a:ln w="11430">
            <a:solidFill>
              <a:srgbClr val="A6A6A6"/>
            </a:solidFill>
            <a:tailEnd type="triangle"/>
          </a:ln>
        </p:spPr>
      </p:cxnSp>
      <p:cxnSp>
        <p:nvCxnSpPr>
          <p:cNvPr id="125" name="Connector 124"/>
          <p:cNvCxnSpPr/>
          <p:nvPr/>
        </p:nvCxnSpPr>
        <p:spPr>
          <a:xfrm>
            <a:off x="1472184" y="1938528"/>
            <a:ext cx="0" cy="274320"/>
          </a:xfrm>
          <a:prstGeom prst="line">
            <a:avLst/>
          </a:prstGeom>
          <a:ln w="12700">
            <a:solidFill>
              <a:srgbClr val="7F7F7F"/>
            </a:solidFill>
            <a:tailEnd type="triangle"/>
          </a:ln>
        </p:spPr>
      </p:cxnSp>
      <p:sp>
        <p:nvSpPr>
          <p:cNvPr id="126" name="Rectangle 125"/>
          <p:cNvSpPr/>
          <p:nvPr/>
        </p:nvSpPr>
        <p:spPr>
          <a:xfrm>
            <a:off x="1280160" y="3968496"/>
            <a:ext cx="2450592" cy="777240"/>
          </a:xfrm>
          <a:prstGeom prst="rect">
            <a:avLst/>
          </a:prstGeom>
          <a:solidFill>
            <a:srgbClr val="FFFFFF"/>
          </a:solidFill>
          <a:ln w="9525">
            <a:solidFill>
              <a:srgbClr val="BFBFBF"/>
            </a:solidFill>
          </a:ln>
          <a:effectLst/>
        </p:spPr>
        <p:txBody>
          <a:bodyPr rtlCol="0" anchor="ctr"/>
          <a:lstStyle/>
          <a:p>
            <a:pPr algn="ctr"/>
          </a:p>
        </p:txBody>
      </p:sp>
      <p:sp>
        <p:nvSpPr>
          <p:cNvPr id="127" name="Rectangle 126"/>
          <p:cNvSpPr/>
          <p:nvPr/>
        </p:nvSpPr>
        <p:spPr>
          <a:xfrm>
            <a:off x="1335024" y="4078224"/>
            <a:ext cx="658368" cy="603504"/>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vLLM</a:t>
            </a:r>
          </a:p>
          <a:p>
            <a:pPr algn="ctr"/>
            <a:r>
              <a:rPr sz="650" b="0">
                <a:solidFill>
                  <a:srgbClr val="7F7F7F"/>
                </a:solidFill>
                <a:latin typeface="맑은 고딕"/>
                <a:ea typeface="맑은 고딕"/>
              </a:rPr>
              <a:t>노드 1</a:t>
            </a:r>
          </a:p>
        </p:txBody>
      </p:sp>
      <p:sp>
        <p:nvSpPr>
          <p:cNvPr id="128" name="Rectangle 127"/>
          <p:cNvSpPr/>
          <p:nvPr/>
        </p:nvSpPr>
        <p:spPr>
          <a:xfrm>
            <a:off x="3822191" y="3968496"/>
            <a:ext cx="2450592" cy="777240"/>
          </a:xfrm>
          <a:prstGeom prst="rect">
            <a:avLst/>
          </a:prstGeom>
          <a:solidFill>
            <a:srgbClr val="FFFFFF"/>
          </a:solidFill>
          <a:ln w="9525">
            <a:solidFill>
              <a:srgbClr val="BFBFBF"/>
            </a:solidFill>
          </a:ln>
          <a:effectLst/>
        </p:spPr>
        <p:txBody>
          <a:bodyPr rtlCol="0" anchor="ctr"/>
          <a:lstStyle/>
          <a:p>
            <a:pPr algn="ctr"/>
          </a:p>
        </p:txBody>
      </p:sp>
      <p:sp>
        <p:nvSpPr>
          <p:cNvPr id="129" name="Rectangle 128"/>
          <p:cNvSpPr/>
          <p:nvPr/>
        </p:nvSpPr>
        <p:spPr>
          <a:xfrm>
            <a:off x="3877056" y="4078224"/>
            <a:ext cx="658368" cy="603504"/>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vLLM</a:t>
            </a:r>
          </a:p>
          <a:p>
            <a:pPr algn="ctr"/>
            <a:r>
              <a:rPr sz="650" b="0">
                <a:solidFill>
                  <a:srgbClr val="7F7F7F"/>
                </a:solidFill>
                <a:latin typeface="맑은 고딕"/>
                <a:ea typeface="맑은 고딕"/>
              </a:rPr>
              <a:t>노드 2</a:t>
            </a:r>
          </a:p>
        </p:txBody>
      </p:sp>
      <p:sp>
        <p:nvSpPr>
          <p:cNvPr id="130" name="Rectangle 129"/>
          <p:cNvSpPr/>
          <p:nvPr/>
        </p:nvSpPr>
        <p:spPr>
          <a:xfrm>
            <a:off x="1920240" y="2798064"/>
            <a:ext cx="768096" cy="493776"/>
          </a:xfrm>
          <a:prstGeom prst="rect">
            <a:avLst/>
          </a:prstGeom>
          <a:solidFill>
            <a:srgbClr val="DAE3F3"/>
          </a:solidFill>
          <a:ln w="28575">
            <a:solidFill>
              <a:srgbClr val="2F5597"/>
            </a:solidFill>
          </a:ln>
          <a:effectLst/>
        </p:spPr>
        <p:txBody>
          <a:bodyPr rtlCol="0" anchor="ctr" wrap="square" lIns="36576" tIns="18288" rIns="36576" bIns="18288"/>
          <a:lstStyle/>
          <a:p>
            <a:pPr algn="ctr"/>
            <a:r>
              <a:rPr sz="700" b="1">
                <a:solidFill>
                  <a:srgbClr val="000000"/>
                </a:solidFill>
                <a:latin typeface="맑은 고딕"/>
                <a:ea typeface="맑은 고딕"/>
              </a:rPr>
              <a:t>계층 비용 계산</a:t>
            </a:r>
          </a:p>
          <a:p>
            <a:pPr algn="ctr"/>
            <a:r>
              <a:rPr sz="650" b="0">
                <a:solidFill>
                  <a:srgbClr val="000000"/>
                </a:solidFill>
                <a:latin typeface="맑은 고딕"/>
                <a:ea typeface="맑은 고딕"/>
              </a:rPr>
              <a:t>P1~P3</a:t>
            </a:r>
          </a:p>
        </p:txBody>
      </p:sp>
      <p:sp>
        <p:nvSpPr>
          <p:cNvPr id="131" name="Rectangle 130"/>
          <p:cNvSpPr/>
          <p:nvPr/>
        </p:nvSpPr>
        <p:spPr>
          <a:xfrm>
            <a:off x="2743200" y="2798064"/>
            <a:ext cx="768096" cy="493776"/>
          </a:xfrm>
          <a:prstGeom prst="rect">
            <a:avLst/>
          </a:prstGeom>
          <a:solidFill>
            <a:srgbClr val="DAE3F3"/>
          </a:solidFill>
          <a:ln w="28575">
            <a:solidFill>
              <a:srgbClr val="2F5597"/>
            </a:solidFill>
          </a:ln>
          <a:effectLst/>
        </p:spPr>
        <p:txBody>
          <a:bodyPr rtlCol="0" anchor="ctr" wrap="square" lIns="36576" tIns="18288" rIns="36576" bIns="18288"/>
          <a:lstStyle/>
          <a:p>
            <a:pPr algn="ctr"/>
            <a:r>
              <a:rPr sz="700" b="1">
                <a:solidFill>
                  <a:srgbClr val="000000"/>
                </a:solidFill>
                <a:latin typeface="맑은 고딕"/>
                <a:ea typeface="맑은 고딕"/>
              </a:rPr>
              <a:t>지시 생성</a:t>
            </a:r>
          </a:p>
          <a:p>
            <a:pPr algn="ctr"/>
            <a:r>
              <a:rPr sz="650" b="0">
                <a:solidFill>
                  <a:srgbClr val="000000"/>
                </a:solidFill>
                <a:latin typeface="맑은 고딕"/>
                <a:ea typeface="맑은 고딕"/>
              </a:rPr>
              <a:t>P5 송신</a:t>
            </a:r>
          </a:p>
        </p:txBody>
      </p:sp>
      <p:sp>
        <p:nvSpPr>
          <p:cNvPr id="132" name="Rectangle 131"/>
          <p:cNvSpPr/>
          <p:nvPr/>
        </p:nvSpPr>
        <p:spPr>
          <a:xfrm>
            <a:off x="3602736" y="2743200"/>
            <a:ext cx="2697480" cy="566928"/>
          </a:xfrm>
          <a:prstGeom prst="rect">
            <a:avLst/>
          </a:prstGeom>
          <a:solidFill>
            <a:srgbClr val="DAE3F3"/>
          </a:solidFill>
          <a:ln w="31750">
            <a:solidFill>
              <a:srgbClr val="2F5597"/>
            </a:solidFill>
          </a:ln>
          <a:effectLst/>
        </p:spPr>
        <p:txBody>
          <a:bodyPr rtlCol="0" anchor="ctr" wrap="square" lIns="36576" tIns="18288" rIns="36576" bIns="18288"/>
          <a:lstStyle/>
          <a:p>
            <a:pPr algn="ctr"/>
            <a:r>
              <a:rPr sz="850" b="1">
                <a:solidFill>
                  <a:srgbClr val="000000"/>
                </a:solidFill>
                <a:latin typeface="맑은 고딕"/>
                <a:ea typeface="맑은 고딕"/>
              </a:rPr>
              <a:t>C 전역 KV index</a:t>
            </a:r>
          </a:p>
          <a:p>
            <a:pPr algn="ctr"/>
            <a:r>
              <a:rPr sz="700" b="0">
                <a:solidFill>
                  <a:srgbClr val="000000"/>
                </a:solidFill>
                <a:latin typeface="맑은 고딕"/>
                <a:ea typeface="맑은 고딕"/>
              </a:rPr>
              <a:t>블록 단위 · 계층·인스턴스별</a:t>
            </a:r>
          </a:p>
          <a:p>
            <a:pPr algn="ctr"/>
            <a:r>
              <a:rPr sz="700" b="0">
                <a:solidFill>
                  <a:srgbClr val="000000"/>
                </a:solidFill>
                <a:latin typeface="맑은 고딕"/>
                <a:ea typeface="맑은 고딕"/>
              </a:rPr>
              <a:t>모든 이벤트·메트릭 수신</a:t>
            </a:r>
          </a:p>
        </p:txBody>
      </p:sp>
      <p:cxnSp>
        <p:nvCxnSpPr>
          <p:cNvPr id="133" name="Connector 132"/>
          <p:cNvCxnSpPr/>
          <p:nvPr/>
        </p:nvCxnSpPr>
        <p:spPr>
          <a:xfrm flipH="1">
            <a:off x="3511296" y="3026664"/>
            <a:ext cx="91440" cy="0"/>
          </a:xfrm>
          <a:prstGeom prst="line">
            <a:avLst/>
          </a:prstGeom>
          <a:ln w="31750">
            <a:solidFill>
              <a:srgbClr val="2F5597"/>
            </a:solidFill>
            <a:tailEnd type="triangle"/>
          </a:ln>
        </p:spPr>
      </p:cxnSp>
      <p:cxnSp>
        <p:nvCxnSpPr>
          <p:cNvPr id="134" name="Connector 133"/>
          <p:cNvCxnSpPr/>
          <p:nvPr/>
        </p:nvCxnSpPr>
        <p:spPr>
          <a:xfrm flipV="1">
            <a:off x="2468880" y="2670048"/>
            <a:ext cx="0" cy="128016"/>
          </a:xfrm>
          <a:prstGeom prst="line">
            <a:avLst/>
          </a:prstGeom>
          <a:ln w="11430">
            <a:solidFill>
              <a:srgbClr val="A6A6A6"/>
            </a:solidFill>
            <a:tailEnd type="triangle"/>
          </a:ln>
        </p:spPr>
      </p:cxnSp>
      <p:sp>
        <p:nvSpPr>
          <p:cNvPr id="135" name="Rounded Rectangle 134"/>
          <p:cNvSpPr/>
          <p:nvPr/>
        </p:nvSpPr>
        <p:spPr>
          <a:xfrm>
            <a:off x="6117336" y="2656332"/>
            <a:ext cx="201168" cy="173736"/>
          </a:xfrm>
          <a:prstGeom prst="roundRect">
            <a:avLst/>
          </a:prstGeom>
          <a:solidFill>
            <a:srgbClr val="C00000"/>
          </a:solidFill>
          <a:ln w="9525">
            <a:solidFill>
              <a:srgbClr val="FFFFFF"/>
            </a:solidFill>
          </a:ln>
          <a:effectLst/>
        </p:spPr>
        <p:txBody>
          <a:bodyPr rtlCol="0" anchor="ctr" wrap="square" lIns="0" tIns="0" rIns="0" bIns="0"/>
          <a:lstStyle/>
          <a:p>
            <a:pPr algn="ctr"/>
            <a:r>
              <a:rPr sz="700" b="1">
                <a:solidFill>
                  <a:srgbClr val="FFFFFF"/>
                </a:solidFill>
                <a:latin typeface="맑은 고딕"/>
                <a:ea typeface="맑은 고딕"/>
              </a:rPr>
              <a:t>Δ1</a:t>
            </a:r>
          </a:p>
        </p:txBody>
      </p:sp>
      <p:sp>
        <p:nvSpPr>
          <p:cNvPr id="136" name="Rounded Rectangle 135"/>
          <p:cNvSpPr/>
          <p:nvPr/>
        </p:nvSpPr>
        <p:spPr>
          <a:xfrm>
            <a:off x="3191256" y="2711196"/>
            <a:ext cx="201168" cy="173736"/>
          </a:xfrm>
          <a:prstGeom prst="roundRect">
            <a:avLst/>
          </a:prstGeom>
          <a:solidFill>
            <a:srgbClr val="C00000"/>
          </a:solidFill>
          <a:ln w="9525">
            <a:solidFill>
              <a:srgbClr val="FFFFFF"/>
            </a:solidFill>
          </a:ln>
          <a:effectLst/>
        </p:spPr>
        <p:txBody>
          <a:bodyPr rtlCol="0" anchor="ctr" wrap="square" lIns="0" tIns="0" rIns="0" bIns="0"/>
          <a:lstStyle/>
          <a:p>
            <a:pPr algn="ctr"/>
            <a:r>
              <a:rPr sz="700" b="1">
                <a:solidFill>
                  <a:srgbClr val="FFFFFF"/>
                </a:solidFill>
                <a:latin typeface="맑은 고딕"/>
                <a:ea typeface="맑은 고딕"/>
              </a:rPr>
              <a:t>Δ2</a:t>
            </a:r>
          </a:p>
        </p:txBody>
      </p:sp>
      <p:sp>
        <p:nvSpPr>
          <p:cNvPr id="137" name="TextBox 136"/>
          <p:cNvSpPr txBox="1"/>
          <p:nvPr/>
        </p:nvSpPr>
        <p:spPr>
          <a:xfrm>
            <a:off x="2029968" y="4215384"/>
            <a:ext cx="1645920" cy="365760"/>
          </a:xfrm>
          <a:prstGeom prst="rect">
            <a:avLst/>
          </a:prstGeom>
          <a:noFill/>
        </p:spPr>
        <p:txBody>
          <a:bodyPr wrap="square" anchor="t" lIns="0" tIns="0" rIns="0" bIns="0">
            <a:spAutoFit/>
          </a:bodyPr>
          <a:lstStyle/>
          <a:p>
            <a:pPr algn="l"/>
            <a:r>
              <a:rPr sz="650" b="0">
                <a:solidFill>
                  <a:srgbClr val="7F7F7F"/>
                </a:solidFill>
                <a:latin typeface="맑은 고딕"/>
                <a:ea typeface="맑은 고딕"/>
              </a:rPr>
              <a:t>지시 수신·실행만</a:t>
            </a:r>
          </a:p>
          <a:p>
            <a:pPr algn="l"/>
            <a:r>
              <a:rPr sz="600" b="0">
                <a:solidFill>
                  <a:srgbClr val="7F7F7F"/>
                </a:solidFill>
                <a:latin typeface="맑은 고딕"/>
                <a:ea typeface="맑은 고딕"/>
              </a:rPr>
              <a:t>(노드 결정은 DP1~DP4가 별개로)</a:t>
            </a:r>
          </a:p>
        </p:txBody>
      </p:sp>
      <p:sp>
        <p:nvSpPr>
          <p:cNvPr id="138" name="TextBox 137"/>
          <p:cNvSpPr txBox="1"/>
          <p:nvPr/>
        </p:nvSpPr>
        <p:spPr>
          <a:xfrm>
            <a:off x="4572000" y="4215384"/>
            <a:ext cx="1645920" cy="365760"/>
          </a:xfrm>
          <a:prstGeom prst="rect">
            <a:avLst/>
          </a:prstGeom>
          <a:noFill/>
        </p:spPr>
        <p:txBody>
          <a:bodyPr wrap="square" anchor="t" lIns="0" tIns="0" rIns="0" bIns="0">
            <a:spAutoFit/>
          </a:bodyPr>
          <a:lstStyle/>
          <a:p>
            <a:pPr algn="l"/>
            <a:r>
              <a:rPr sz="650" b="0">
                <a:solidFill>
                  <a:srgbClr val="7F7F7F"/>
                </a:solidFill>
                <a:latin typeface="맑은 고딕"/>
                <a:ea typeface="맑은 고딕"/>
              </a:rPr>
              <a:t>지시 수신·실행만</a:t>
            </a:r>
          </a:p>
          <a:p>
            <a:pPr algn="l"/>
            <a:r>
              <a:rPr sz="600" b="0">
                <a:solidFill>
                  <a:srgbClr val="7F7F7F"/>
                </a:solidFill>
                <a:latin typeface="맑은 고딕"/>
                <a:ea typeface="맑은 고딕"/>
              </a:rPr>
              <a:t>(노드 결정은 DP1~DP4가 별개로)</a:t>
            </a:r>
          </a:p>
        </p:txBody>
      </p:sp>
      <p:cxnSp>
        <p:nvCxnSpPr>
          <p:cNvPr id="139" name="Connector 138"/>
          <p:cNvCxnSpPr/>
          <p:nvPr/>
        </p:nvCxnSpPr>
        <p:spPr>
          <a:xfrm>
            <a:off x="1463040" y="3364992"/>
            <a:ext cx="0" cy="713232"/>
          </a:xfrm>
          <a:prstGeom prst="line">
            <a:avLst/>
          </a:prstGeom>
          <a:ln w="44450">
            <a:solidFill>
              <a:srgbClr val="2F5597"/>
            </a:solidFill>
            <a:tailEnd type="triangle"/>
          </a:ln>
        </p:spPr>
      </p:cxnSp>
      <p:cxnSp>
        <p:nvCxnSpPr>
          <p:cNvPr id="140" name="Connector 139"/>
          <p:cNvCxnSpPr/>
          <p:nvPr/>
        </p:nvCxnSpPr>
        <p:spPr>
          <a:xfrm flipV="1">
            <a:off x="1737360" y="3364992"/>
            <a:ext cx="0" cy="713232"/>
          </a:xfrm>
          <a:prstGeom prst="line">
            <a:avLst/>
          </a:prstGeom>
          <a:ln w="44450">
            <a:solidFill>
              <a:srgbClr val="2F5597"/>
            </a:solidFill>
            <a:tailEnd type="triangle"/>
          </a:ln>
        </p:spPr>
      </p:cxnSp>
      <p:cxnSp>
        <p:nvCxnSpPr>
          <p:cNvPr id="141" name="Connector 140"/>
          <p:cNvCxnSpPr/>
          <p:nvPr/>
        </p:nvCxnSpPr>
        <p:spPr>
          <a:xfrm>
            <a:off x="4005072" y="3364992"/>
            <a:ext cx="0" cy="713232"/>
          </a:xfrm>
          <a:prstGeom prst="line">
            <a:avLst/>
          </a:prstGeom>
          <a:ln w="44450">
            <a:solidFill>
              <a:srgbClr val="2F5597"/>
            </a:solidFill>
            <a:tailEnd type="triangle"/>
          </a:ln>
        </p:spPr>
      </p:cxnSp>
      <p:cxnSp>
        <p:nvCxnSpPr>
          <p:cNvPr id="142" name="Connector 141"/>
          <p:cNvCxnSpPr/>
          <p:nvPr/>
        </p:nvCxnSpPr>
        <p:spPr>
          <a:xfrm flipV="1">
            <a:off x="4279392" y="3364992"/>
            <a:ext cx="0" cy="713232"/>
          </a:xfrm>
          <a:prstGeom prst="line">
            <a:avLst/>
          </a:prstGeom>
          <a:ln w="44450">
            <a:solidFill>
              <a:srgbClr val="2F5597"/>
            </a:solidFill>
            <a:tailEnd type="triangle"/>
          </a:ln>
        </p:spPr>
      </p:cxnSp>
      <p:sp>
        <p:nvSpPr>
          <p:cNvPr id="143" name="TextBox 142"/>
          <p:cNvSpPr txBox="1"/>
          <p:nvPr/>
        </p:nvSpPr>
        <p:spPr>
          <a:xfrm>
            <a:off x="2057400" y="3438144"/>
            <a:ext cx="1920240" cy="329184"/>
          </a:xfrm>
          <a:prstGeom prst="rect">
            <a:avLst/>
          </a:prstGeom>
          <a:noFill/>
        </p:spPr>
        <p:txBody>
          <a:bodyPr wrap="square" anchor="t" lIns="0" tIns="0" rIns="0" bIns="0">
            <a:spAutoFit/>
          </a:bodyPr>
          <a:lstStyle/>
          <a:p>
            <a:pPr algn="l"/>
            <a:r>
              <a:rPr sz="650" b="1">
                <a:solidFill>
                  <a:srgbClr val="2F5597"/>
                </a:solidFill>
                <a:latin typeface="맑은 고딕"/>
                <a:ea typeface="맑은 고딕"/>
              </a:rPr>
              <a:t>▲ 블록 이벤트 + 메트릭 (고빈도·대용량)</a:t>
            </a:r>
          </a:p>
          <a:p>
            <a:pPr algn="l"/>
            <a:r>
              <a:rPr sz="650" b="1">
                <a:solidFill>
                  <a:srgbClr val="2F5597"/>
                </a:solidFill>
                <a:latin typeface="맑은 고딕"/>
                <a:ea typeface="맑은 고딕"/>
              </a:rPr>
              <a:t>▼ 요청 + 지시 (서버·계층·토큰 한도)</a:t>
            </a:r>
          </a:p>
        </p:txBody>
      </p:sp>
      <p:sp>
        <p:nvSpPr>
          <p:cNvPr id="144" name="Rounded Rectangle 143"/>
          <p:cNvSpPr/>
          <p:nvPr/>
        </p:nvSpPr>
        <p:spPr>
          <a:xfrm>
            <a:off x="1892808" y="3415284"/>
            <a:ext cx="201168" cy="173736"/>
          </a:xfrm>
          <a:prstGeom prst="roundRect">
            <a:avLst/>
          </a:prstGeom>
          <a:solidFill>
            <a:srgbClr val="C00000"/>
          </a:solidFill>
          <a:ln w="9525">
            <a:solidFill>
              <a:srgbClr val="FFFFFF"/>
            </a:solidFill>
          </a:ln>
          <a:effectLst/>
        </p:spPr>
        <p:txBody>
          <a:bodyPr rtlCol="0" anchor="ctr" wrap="square" lIns="0" tIns="0" rIns="0" bIns="0"/>
          <a:lstStyle/>
          <a:p>
            <a:pPr algn="ctr"/>
            <a:r>
              <a:rPr sz="700" b="1">
                <a:solidFill>
                  <a:srgbClr val="FFFFFF"/>
                </a:solidFill>
                <a:latin typeface="맑은 고딕"/>
                <a:ea typeface="맑은 고딕"/>
              </a:rPr>
              <a:t>Δ3</a:t>
            </a:r>
          </a:p>
        </p:txBody>
      </p:sp>
      <p:sp>
        <p:nvSpPr>
          <p:cNvPr id="145" name="Rectangle 144"/>
          <p:cNvSpPr/>
          <p:nvPr/>
        </p:nvSpPr>
        <p:spPr>
          <a:xfrm>
            <a:off x="6601968" y="1700784"/>
            <a:ext cx="566928" cy="237744"/>
          </a:xfrm>
          <a:prstGeom prst="rect">
            <a:avLst/>
          </a:prstGeom>
          <a:solidFill>
            <a:srgbClr val="F2F2F2"/>
          </a:solidFill>
          <a:ln w="9525">
            <a:solidFill>
              <a:srgbClr val="BFBFBF"/>
            </a:solidFill>
          </a:ln>
          <a:effectLst/>
        </p:spPr>
        <p:txBody>
          <a:bodyPr rtlCol="0" anchor="ctr" wrap="square" lIns="36576" tIns="18288" rIns="36576" bIns="18288"/>
          <a:lstStyle/>
          <a:p>
            <a:pPr algn="ctr"/>
            <a:r>
              <a:rPr sz="750" b="1">
                <a:solidFill>
                  <a:srgbClr val="595959"/>
                </a:solidFill>
                <a:latin typeface="맑은 고딕"/>
                <a:ea typeface="맑은 고딕"/>
              </a:rPr>
              <a:t>Client</a:t>
            </a:r>
          </a:p>
        </p:txBody>
      </p:sp>
      <p:sp>
        <p:nvSpPr>
          <p:cNvPr id="146" name="Rectangle 145"/>
          <p:cNvSpPr/>
          <p:nvPr/>
        </p:nvSpPr>
        <p:spPr>
          <a:xfrm>
            <a:off x="6601968" y="1993392"/>
            <a:ext cx="5166360" cy="1371600"/>
          </a:xfrm>
          <a:prstGeom prst="rect">
            <a:avLst/>
          </a:prstGeom>
          <a:solidFill>
            <a:srgbClr val="FFFFFF"/>
          </a:solidFill>
          <a:ln w="9525">
            <a:solidFill>
              <a:srgbClr val="BFBFBF"/>
            </a:solidFill>
            <a:prstDash val="dash"/>
          </a:ln>
          <a:effectLst/>
        </p:spPr>
        <p:txBody>
          <a:bodyPr rtlCol="0" anchor="ctr"/>
          <a:lstStyle/>
          <a:p>
            <a:pPr algn="ctr"/>
          </a:p>
        </p:txBody>
      </p:sp>
      <p:sp>
        <p:nvSpPr>
          <p:cNvPr id="147" name="TextBox 146"/>
          <p:cNvSpPr txBox="1"/>
          <p:nvPr/>
        </p:nvSpPr>
        <p:spPr>
          <a:xfrm>
            <a:off x="7516367" y="2011680"/>
            <a:ext cx="2743200" cy="128016"/>
          </a:xfrm>
          <a:prstGeom prst="rect">
            <a:avLst/>
          </a:prstGeom>
          <a:noFill/>
        </p:spPr>
        <p:txBody>
          <a:bodyPr wrap="square" anchor="t" lIns="0" tIns="0" rIns="0" bIns="0">
            <a:spAutoFit/>
          </a:bodyPr>
          <a:lstStyle/>
          <a:p>
            <a:pPr algn="l"/>
            <a:r>
              <a:rPr sz="650" b="1">
                <a:solidFill>
                  <a:srgbClr val="7F7F7F"/>
                </a:solidFill>
                <a:latin typeface="맑은 고딕"/>
                <a:ea typeface="맑은 고딕"/>
              </a:rPr>
              <a:t>클러스터 계층 (DP0-1 범위)</a:t>
            </a:r>
          </a:p>
        </p:txBody>
      </p:sp>
      <p:sp>
        <p:nvSpPr>
          <p:cNvPr id="148" name="Rectangle 147"/>
          <p:cNvSpPr/>
          <p:nvPr/>
        </p:nvSpPr>
        <p:spPr>
          <a:xfrm>
            <a:off x="6601968" y="3822191"/>
            <a:ext cx="5166360" cy="960120"/>
          </a:xfrm>
          <a:prstGeom prst="rect">
            <a:avLst/>
          </a:prstGeom>
          <a:solidFill>
            <a:srgbClr val="F7F7F7"/>
          </a:solidFill>
          <a:ln w="9525">
            <a:solidFill>
              <a:srgbClr val="BFBFBF"/>
            </a:solidFill>
            <a:prstDash val="dash"/>
          </a:ln>
          <a:effectLst/>
        </p:spPr>
        <p:txBody>
          <a:bodyPr rtlCol="0" anchor="ctr"/>
          <a:lstStyle/>
          <a:p>
            <a:pPr algn="ctr"/>
          </a:p>
        </p:txBody>
      </p:sp>
      <p:sp>
        <p:nvSpPr>
          <p:cNvPr id="149" name="TextBox 148"/>
          <p:cNvSpPr txBox="1"/>
          <p:nvPr/>
        </p:nvSpPr>
        <p:spPr>
          <a:xfrm>
            <a:off x="8613648" y="3840480"/>
            <a:ext cx="1645920" cy="128016"/>
          </a:xfrm>
          <a:prstGeom prst="rect">
            <a:avLst/>
          </a:prstGeom>
          <a:noFill/>
        </p:spPr>
        <p:txBody>
          <a:bodyPr wrap="square" anchor="t" lIns="0" tIns="0" rIns="0" bIns="0">
            <a:spAutoFit/>
          </a:bodyPr>
          <a:lstStyle/>
          <a:p>
            <a:pPr algn="l"/>
            <a:r>
              <a:rPr sz="650" b="1">
                <a:solidFill>
                  <a:srgbClr val="7F7F7F"/>
                </a:solidFill>
                <a:latin typeface="맑은 고딕"/>
                <a:ea typeface="맑은 고딕"/>
              </a:rPr>
              <a:t>노드 계층 (DP1~DP4 · 엔진 영역)</a:t>
            </a:r>
          </a:p>
        </p:txBody>
      </p:sp>
      <p:sp>
        <p:nvSpPr>
          <p:cNvPr id="150" name="Rectangle 149"/>
          <p:cNvSpPr/>
          <p:nvPr/>
        </p:nvSpPr>
        <p:spPr>
          <a:xfrm>
            <a:off x="6693407" y="2212848"/>
            <a:ext cx="530352" cy="457200"/>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A</a:t>
            </a:r>
          </a:p>
          <a:p>
            <a:pPr algn="ctr"/>
            <a:r>
              <a:rPr sz="650" b="0">
                <a:solidFill>
                  <a:srgbClr val="7F7F7F"/>
                </a:solidFill>
                <a:latin typeface="맑은 고딕"/>
                <a:ea typeface="맑은 고딕"/>
              </a:rPr>
              <a:t>요청 경로</a:t>
            </a:r>
          </a:p>
        </p:txBody>
      </p:sp>
      <p:sp>
        <p:nvSpPr>
          <p:cNvPr id="151" name="Rectangle 150"/>
          <p:cNvSpPr/>
          <p:nvPr/>
        </p:nvSpPr>
        <p:spPr>
          <a:xfrm>
            <a:off x="7278624" y="2212848"/>
            <a:ext cx="530352" cy="457200"/>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D</a:t>
            </a:r>
          </a:p>
          <a:p>
            <a:pPr algn="ctr"/>
            <a:r>
              <a:rPr sz="650" b="0">
                <a:solidFill>
                  <a:srgbClr val="7F7F7F"/>
                </a:solidFill>
                <a:latin typeface="맑은 고딕"/>
                <a:ea typeface="맑은 고딕"/>
              </a:rPr>
              <a:t>흐름 제어</a:t>
            </a:r>
          </a:p>
        </p:txBody>
      </p:sp>
      <p:sp>
        <p:nvSpPr>
          <p:cNvPr id="152" name="Rectangle 151"/>
          <p:cNvSpPr/>
          <p:nvPr/>
        </p:nvSpPr>
        <p:spPr>
          <a:xfrm>
            <a:off x="7863840" y="2212848"/>
            <a:ext cx="1828800" cy="457200"/>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B 서버 선택</a:t>
            </a:r>
          </a:p>
          <a:p>
            <a:pPr algn="ctr"/>
            <a:r>
              <a:rPr sz="650" b="0">
                <a:solidFill>
                  <a:srgbClr val="7F7F7F"/>
                </a:solidFill>
                <a:latin typeface="맑은 고딕"/>
                <a:ea typeface="맑은 고딕"/>
              </a:rPr>
              <a:t>후보 서버 점수 → 선택</a:t>
            </a:r>
          </a:p>
        </p:txBody>
      </p:sp>
      <p:sp>
        <p:nvSpPr>
          <p:cNvPr id="153" name="Rectangle 152"/>
          <p:cNvSpPr/>
          <p:nvPr/>
        </p:nvSpPr>
        <p:spPr>
          <a:xfrm>
            <a:off x="9747504" y="2212848"/>
            <a:ext cx="713232" cy="457200"/>
          </a:xfrm>
          <a:prstGeom prst="rect">
            <a:avLst/>
          </a:prstGeom>
          <a:solidFill>
            <a:srgbClr val="F2F2F2"/>
          </a:solidFill>
          <a:ln w="9525">
            <a:solidFill>
              <a:srgbClr val="BFBFBF"/>
            </a:solidFill>
          </a:ln>
          <a:effectLst/>
        </p:spPr>
        <p:txBody>
          <a:bodyPr rtlCol="0" anchor="ctr" wrap="square" lIns="36576" tIns="18288" rIns="36576" bIns="18288"/>
          <a:lstStyle/>
          <a:p>
            <a:pPr algn="ctr"/>
            <a:r>
              <a:rPr sz="750" b="1">
                <a:solidFill>
                  <a:srgbClr val="595959"/>
                </a:solidFill>
                <a:latin typeface="맑은 고딕"/>
                <a:ea typeface="맑은 고딕"/>
              </a:rPr>
              <a:t>E P/D 조율</a:t>
            </a:r>
          </a:p>
          <a:p>
            <a:pPr algn="ctr"/>
            <a:r>
              <a:rPr sz="650" b="0">
                <a:solidFill>
                  <a:srgbClr val="7F7F7F"/>
                </a:solidFill>
                <a:latin typeface="맑은 고딕"/>
                <a:ea typeface="맑은 고딕"/>
              </a:rPr>
              <a:t>(P4)</a:t>
            </a:r>
          </a:p>
        </p:txBody>
      </p:sp>
      <p:sp>
        <p:nvSpPr>
          <p:cNvPr id="154" name="Rectangle 153"/>
          <p:cNvSpPr/>
          <p:nvPr/>
        </p:nvSpPr>
        <p:spPr>
          <a:xfrm>
            <a:off x="6693407" y="2761488"/>
            <a:ext cx="530352" cy="530352"/>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F</a:t>
            </a:r>
          </a:p>
          <a:p>
            <a:pPr algn="ctr"/>
            <a:r>
              <a:rPr sz="650" b="0">
                <a:solidFill>
                  <a:srgbClr val="7F7F7F"/>
                </a:solidFill>
                <a:latin typeface="맑은 고딕"/>
                <a:ea typeface="맑은 고딕"/>
              </a:rPr>
              <a:t>서버 발견</a:t>
            </a:r>
          </a:p>
        </p:txBody>
      </p:sp>
      <p:cxnSp>
        <p:nvCxnSpPr>
          <p:cNvPr id="155" name="Connector 154"/>
          <p:cNvCxnSpPr/>
          <p:nvPr/>
        </p:nvCxnSpPr>
        <p:spPr>
          <a:xfrm>
            <a:off x="7223759" y="2441448"/>
            <a:ext cx="54865" cy="0"/>
          </a:xfrm>
          <a:prstGeom prst="line">
            <a:avLst/>
          </a:prstGeom>
          <a:ln w="11430">
            <a:solidFill>
              <a:srgbClr val="A6A6A6"/>
            </a:solidFill>
            <a:tailEnd type="triangle"/>
          </a:ln>
        </p:spPr>
      </p:cxnSp>
      <p:cxnSp>
        <p:nvCxnSpPr>
          <p:cNvPr id="156" name="Connector 155"/>
          <p:cNvCxnSpPr/>
          <p:nvPr/>
        </p:nvCxnSpPr>
        <p:spPr>
          <a:xfrm>
            <a:off x="7808975" y="2441448"/>
            <a:ext cx="54865" cy="0"/>
          </a:xfrm>
          <a:prstGeom prst="line">
            <a:avLst/>
          </a:prstGeom>
          <a:ln w="11430">
            <a:solidFill>
              <a:srgbClr val="A6A6A6"/>
            </a:solidFill>
            <a:tailEnd type="triangle"/>
          </a:ln>
        </p:spPr>
      </p:cxnSp>
      <p:cxnSp>
        <p:nvCxnSpPr>
          <p:cNvPr id="157" name="Connector 156"/>
          <p:cNvCxnSpPr/>
          <p:nvPr/>
        </p:nvCxnSpPr>
        <p:spPr>
          <a:xfrm>
            <a:off x="9692640" y="2441448"/>
            <a:ext cx="54864" cy="0"/>
          </a:xfrm>
          <a:prstGeom prst="line">
            <a:avLst/>
          </a:prstGeom>
          <a:ln w="11430">
            <a:solidFill>
              <a:srgbClr val="A6A6A6"/>
            </a:solidFill>
            <a:tailEnd type="triangle"/>
          </a:ln>
        </p:spPr>
      </p:cxnSp>
      <p:cxnSp>
        <p:nvCxnSpPr>
          <p:cNvPr id="158" name="Connector 157"/>
          <p:cNvCxnSpPr/>
          <p:nvPr/>
        </p:nvCxnSpPr>
        <p:spPr>
          <a:xfrm>
            <a:off x="6885431" y="1938528"/>
            <a:ext cx="0" cy="274320"/>
          </a:xfrm>
          <a:prstGeom prst="line">
            <a:avLst/>
          </a:prstGeom>
          <a:ln w="12700">
            <a:solidFill>
              <a:srgbClr val="7F7F7F"/>
            </a:solidFill>
            <a:tailEnd type="triangle"/>
          </a:ln>
        </p:spPr>
      </p:cxnSp>
      <p:sp>
        <p:nvSpPr>
          <p:cNvPr id="159" name="Rectangle 158"/>
          <p:cNvSpPr/>
          <p:nvPr/>
        </p:nvSpPr>
        <p:spPr>
          <a:xfrm>
            <a:off x="6693407" y="3968496"/>
            <a:ext cx="2450592" cy="777240"/>
          </a:xfrm>
          <a:prstGeom prst="rect">
            <a:avLst/>
          </a:prstGeom>
          <a:solidFill>
            <a:srgbClr val="FFFFFF"/>
          </a:solidFill>
          <a:ln w="9525">
            <a:solidFill>
              <a:srgbClr val="BFBFBF"/>
            </a:solidFill>
          </a:ln>
          <a:effectLst/>
        </p:spPr>
        <p:txBody>
          <a:bodyPr rtlCol="0" anchor="ctr"/>
          <a:lstStyle/>
          <a:p>
            <a:pPr algn="ctr"/>
          </a:p>
        </p:txBody>
      </p:sp>
      <p:sp>
        <p:nvSpPr>
          <p:cNvPr id="160" name="Rectangle 159"/>
          <p:cNvSpPr/>
          <p:nvPr/>
        </p:nvSpPr>
        <p:spPr>
          <a:xfrm>
            <a:off x="6748272" y="4078224"/>
            <a:ext cx="658368" cy="603504"/>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vLLM</a:t>
            </a:r>
          </a:p>
          <a:p>
            <a:pPr algn="ctr"/>
            <a:r>
              <a:rPr sz="650" b="0">
                <a:solidFill>
                  <a:srgbClr val="7F7F7F"/>
                </a:solidFill>
                <a:latin typeface="맑은 고딕"/>
                <a:ea typeface="맑은 고딕"/>
              </a:rPr>
              <a:t>노드 1</a:t>
            </a:r>
          </a:p>
        </p:txBody>
      </p:sp>
      <p:sp>
        <p:nvSpPr>
          <p:cNvPr id="161" name="Rectangle 160"/>
          <p:cNvSpPr/>
          <p:nvPr/>
        </p:nvSpPr>
        <p:spPr>
          <a:xfrm>
            <a:off x="9235440" y="3968496"/>
            <a:ext cx="2450592" cy="777240"/>
          </a:xfrm>
          <a:prstGeom prst="rect">
            <a:avLst/>
          </a:prstGeom>
          <a:solidFill>
            <a:srgbClr val="FFFFFF"/>
          </a:solidFill>
          <a:ln w="9525">
            <a:solidFill>
              <a:srgbClr val="BFBFBF"/>
            </a:solidFill>
          </a:ln>
          <a:effectLst/>
        </p:spPr>
        <p:txBody>
          <a:bodyPr rtlCol="0" anchor="ctr"/>
          <a:lstStyle/>
          <a:p>
            <a:pPr algn="ctr"/>
          </a:p>
        </p:txBody>
      </p:sp>
      <p:sp>
        <p:nvSpPr>
          <p:cNvPr id="162" name="Rectangle 161"/>
          <p:cNvSpPr/>
          <p:nvPr/>
        </p:nvSpPr>
        <p:spPr>
          <a:xfrm>
            <a:off x="9290304" y="4078224"/>
            <a:ext cx="658368" cy="603504"/>
          </a:xfrm>
          <a:prstGeom prst="rect">
            <a:avLst/>
          </a:prstGeom>
          <a:solidFill>
            <a:srgbClr val="F2F2F2"/>
          </a:solidFill>
          <a:ln w="9525">
            <a:solidFill>
              <a:srgbClr val="BFBFBF"/>
            </a:solidFill>
          </a:ln>
          <a:effectLst/>
        </p:spPr>
        <p:txBody>
          <a:bodyPr rtlCol="0" anchor="ctr" wrap="square" lIns="36576" tIns="18288" rIns="36576" bIns="18288"/>
          <a:lstStyle/>
          <a:p>
            <a:pPr algn="ctr"/>
            <a:r>
              <a:rPr sz="800" b="1">
                <a:solidFill>
                  <a:srgbClr val="595959"/>
                </a:solidFill>
                <a:latin typeface="맑은 고딕"/>
                <a:ea typeface="맑은 고딕"/>
              </a:rPr>
              <a:t>vLLM</a:t>
            </a:r>
          </a:p>
          <a:p>
            <a:pPr algn="ctr"/>
            <a:r>
              <a:rPr sz="650" b="0">
                <a:solidFill>
                  <a:srgbClr val="7F7F7F"/>
                </a:solidFill>
                <a:latin typeface="맑은 고딕"/>
                <a:ea typeface="맑은 고딕"/>
              </a:rPr>
              <a:t>노드 2</a:t>
            </a:r>
          </a:p>
        </p:txBody>
      </p:sp>
      <p:sp>
        <p:nvSpPr>
          <p:cNvPr id="163" name="Rectangle 162"/>
          <p:cNvSpPr/>
          <p:nvPr/>
        </p:nvSpPr>
        <p:spPr>
          <a:xfrm>
            <a:off x="7333488" y="2798064"/>
            <a:ext cx="1591056" cy="493776"/>
          </a:xfrm>
          <a:prstGeom prst="rect">
            <a:avLst/>
          </a:prstGeom>
          <a:solidFill>
            <a:srgbClr val="FFFFFF"/>
          </a:solidFill>
          <a:ln w="15875">
            <a:solidFill>
              <a:srgbClr val="C55A11"/>
            </a:solidFill>
            <a:prstDash val="dash"/>
          </a:ln>
          <a:effectLst/>
        </p:spPr>
        <p:txBody>
          <a:bodyPr rtlCol="0" anchor="ctr" wrap="square" lIns="36576" tIns="18288" rIns="36576" bIns="18288"/>
          <a:lstStyle/>
          <a:p>
            <a:pPr algn="ctr"/>
            <a:r>
              <a:rPr sz="700" b="1">
                <a:solidFill>
                  <a:srgbClr val="C55A11"/>
                </a:solidFill>
                <a:latin typeface="맑은 고딕"/>
                <a:ea typeface="맑은 고딕"/>
              </a:rPr>
              <a:t>계층 결정은 노드 에이전트로 이동 ↓</a:t>
            </a:r>
          </a:p>
          <a:p>
            <a:pPr algn="ctr"/>
            <a:r>
              <a:rPr sz="650" b="0">
                <a:solidFill>
                  <a:srgbClr val="C55A11"/>
                </a:solidFill>
                <a:latin typeface="맑은 고딕"/>
                <a:ea typeface="맑은 고딕"/>
              </a:rPr>
              <a:t>(P1~P3, P5 송신)</a:t>
            </a:r>
          </a:p>
        </p:txBody>
      </p:sp>
      <p:sp>
        <p:nvSpPr>
          <p:cNvPr id="164" name="Rectangle 163"/>
          <p:cNvSpPr/>
          <p:nvPr/>
        </p:nvSpPr>
        <p:spPr>
          <a:xfrm>
            <a:off x="9015984" y="2743200"/>
            <a:ext cx="1097280" cy="457200"/>
          </a:xfrm>
          <a:prstGeom prst="rect">
            <a:avLst/>
          </a:prstGeom>
          <a:solidFill>
            <a:srgbClr val="FBE5D6"/>
          </a:solidFill>
          <a:ln w="25400">
            <a:solidFill>
              <a:srgbClr val="C55A11"/>
            </a:solidFill>
          </a:ln>
          <a:effectLst/>
        </p:spPr>
        <p:txBody>
          <a:bodyPr rtlCol="0" anchor="ctr" wrap="square" lIns="36576" tIns="18288" rIns="36576" bIns="18288"/>
          <a:lstStyle/>
          <a:p>
            <a:pPr algn="ctr"/>
            <a:r>
              <a:rPr sz="750" b="1">
                <a:solidFill>
                  <a:srgbClr val="000000"/>
                </a:solidFill>
                <a:latin typeface="맑은 고딕"/>
                <a:ea typeface="맑은 고딕"/>
              </a:rPr>
              <a:t>C 노드 요약 저장소</a:t>
            </a:r>
          </a:p>
          <a:p>
            <a:pPr algn="ctr"/>
            <a:r>
              <a:rPr sz="650" b="0">
                <a:solidFill>
                  <a:srgbClr val="000000"/>
                </a:solidFill>
                <a:latin typeface="맑은 고딕"/>
                <a:ea typeface="맑은 고딕"/>
              </a:rPr>
              <a:t>노드당 소용량</a:t>
            </a:r>
          </a:p>
        </p:txBody>
      </p:sp>
      <p:cxnSp>
        <p:nvCxnSpPr>
          <p:cNvPr id="165" name="Connector 164"/>
          <p:cNvCxnSpPr/>
          <p:nvPr/>
        </p:nvCxnSpPr>
        <p:spPr>
          <a:xfrm flipV="1">
            <a:off x="9253728" y="2670048"/>
            <a:ext cx="0" cy="73152"/>
          </a:xfrm>
          <a:prstGeom prst="line">
            <a:avLst/>
          </a:prstGeom>
          <a:ln w="11430">
            <a:solidFill>
              <a:srgbClr val="A6A6A6"/>
            </a:solidFill>
            <a:tailEnd type="triangle"/>
          </a:ln>
        </p:spPr>
      </p:cxnSp>
      <p:sp>
        <p:nvSpPr>
          <p:cNvPr id="166" name="Rounded Rectangle 165"/>
          <p:cNvSpPr/>
          <p:nvPr/>
        </p:nvSpPr>
        <p:spPr>
          <a:xfrm>
            <a:off x="9921240" y="2656332"/>
            <a:ext cx="201168" cy="173736"/>
          </a:xfrm>
          <a:prstGeom prst="roundRect">
            <a:avLst/>
          </a:prstGeom>
          <a:solidFill>
            <a:srgbClr val="C00000"/>
          </a:solidFill>
          <a:ln w="9525">
            <a:solidFill>
              <a:srgbClr val="FFFFFF"/>
            </a:solidFill>
          </a:ln>
          <a:effectLst/>
        </p:spPr>
        <p:txBody>
          <a:bodyPr rtlCol="0" anchor="ctr" wrap="square" lIns="0" tIns="0" rIns="0" bIns="0"/>
          <a:lstStyle/>
          <a:p>
            <a:pPr algn="ctr"/>
            <a:r>
              <a:rPr sz="700" b="1">
                <a:solidFill>
                  <a:srgbClr val="FFFFFF"/>
                </a:solidFill>
                <a:latin typeface="맑은 고딕"/>
                <a:ea typeface="맑은 고딕"/>
              </a:rPr>
              <a:t>Δ1</a:t>
            </a:r>
          </a:p>
        </p:txBody>
      </p:sp>
      <p:sp>
        <p:nvSpPr>
          <p:cNvPr id="167" name="Rounded Rectangle 166"/>
          <p:cNvSpPr/>
          <p:nvPr/>
        </p:nvSpPr>
        <p:spPr>
          <a:xfrm>
            <a:off x="8604504" y="2711196"/>
            <a:ext cx="201168" cy="173736"/>
          </a:xfrm>
          <a:prstGeom prst="roundRect">
            <a:avLst/>
          </a:prstGeom>
          <a:solidFill>
            <a:srgbClr val="C00000"/>
          </a:solidFill>
          <a:ln w="9525">
            <a:solidFill>
              <a:srgbClr val="FFFFFF"/>
            </a:solidFill>
          </a:ln>
          <a:effectLst/>
        </p:spPr>
        <p:txBody>
          <a:bodyPr rtlCol="0" anchor="ctr" wrap="square" lIns="0" tIns="0" rIns="0" bIns="0"/>
          <a:lstStyle/>
          <a:p>
            <a:pPr algn="ctr"/>
            <a:r>
              <a:rPr sz="700" b="1">
                <a:solidFill>
                  <a:srgbClr val="FFFFFF"/>
                </a:solidFill>
                <a:latin typeface="맑은 고딕"/>
                <a:ea typeface="맑은 고딕"/>
              </a:rPr>
              <a:t>Δ2</a:t>
            </a:r>
          </a:p>
        </p:txBody>
      </p:sp>
      <p:sp>
        <p:nvSpPr>
          <p:cNvPr id="168" name="Rectangle 167"/>
          <p:cNvSpPr/>
          <p:nvPr/>
        </p:nvSpPr>
        <p:spPr>
          <a:xfrm>
            <a:off x="7461504" y="4023360"/>
            <a:ext cx="1627632" cy="694944"/>
          </a:xfrm>
          <a:prstGeom prst="rect">
            <a:avLst/>
          </a:prstGeom>
          <a:solidFill>
            <a:srgbClr val="FBE5D6"/>
          </a:solidFill>
          <a:ln w="28575">
            <a:solidFill>
              <a:srgbClr val="C55A11"/>
            </a:solidFill>
          </a:ln>
          <a:effectLst/>
        </p:spPr>
        <p:txBody>
          <a:bodyPr rtlCol="0" anchor="ctr" wrap="square" lIns="36576" tIns="18288" rIns="36576" bIns="18288"/>
          <a:lstStyle/>
          <a:p>
            <a:pPr algn="ctr"/>
            <a:r>
              <a:rPr sz="800" b="1">
                <a:solidFill>
                  <a:srgbClr val="000000"/>
                </a:solidFill>
                <a:latin typeface="맑은 고딕"/>
                <a:ea typeface="맑은 고딕"/>
              </a:rPr>
              <a:t>노드 에이전트</a:t>
            </a:r>
          </a:p>
          <a:p>
            <a:pPr algn="ctr"/>
            <a:r>
              <a:rPr sz="650" b="0">
                <a:solidFill>
                  <a:srgbClr val="000000"/>
                </a:solidFill>
                <a:latin typeface="맑은 고딕"/>
                <a:ea typeface="맑은 고딕"/>
              </a:rPr>
              <a:t>로컬 KV index · 계층 결정</a:t>
            </a:r>
          </a:p>
          <a:p>
            <a:pPr algn="ctr"/>
            <a:r>
              <a:rPr sz="650" b="0">
                <a:solidFill>
                  <a:srgbClr val="000000"/>
                </a:solidFill>
                <a:latin typeface="맑은 고딕"/>
                <a:ea typeface="맑은 고딕"/>
              </a:rPr>
              <a:t>P1~P3 · P5 (vLLM에 로컬 지시)</a:t>
            </a:r>
          </a:p>
        </p:txBody>
      </p:sp>
      <p:sp>
        <p:nvSpPr>
          <p:cNvPr id="169" name="Rectangle 168"/>
          <p:cNvSpPr/>
          <p:nvPr/>
        </p:nvSpPr>
        <p:spPr>
          <a:xfrm>
            <a:off x="7498079" y="4553712"/>
            <a:ext cx="365760" cy="128016"/>
          </a:xfrm>
          <a:prstGeom prst="rect">
            <a:avLst/>
          </a:prstGeom>
          <a:solidFill>
            <a:srgbClr val="C00000"/>
          </a:solidFill>
          <a:ln w="12700">
            <a:solidFill>
              <a:srgbClr val="C00000"/>
            </a:solidFill>
          </a:ln>
          <a:effectLst/>
        </p:spPr>
        <p:txBody>
          <a:bodyPr rtlCol="0" anchor="ctr" wrap="square" lIns="0" tIns="0" rIns="0" bIns="0"/>
          <a:lstStyle/>
          <a:p>
            <a:pPr algn="ctr"/>
            <a:r>
              <a:rPr sz="600" b="1">
                <a:solidFill>
                  <a:srgbClr val="FFFFFF"/>
                </a:solidFill>
                <a:latin typeface="맑은 고딕"/>
                <a:ea typeface="맑은 고딕"/>
              </a:rPr>
              <a:t>DP1</a:t>
            </a:r>
          </a:p>
        </p:txBody>
      </p:sp>
      <p:sp>
        <p:nvSpPr>
          <p:cNvPr id="170" name="Rectangle 169"/>
          <p:cNvSpPr/>
          <p:nvPr/>
        </p:nvSpPr>
        <p:spPr>
          <a:xfrm>
            <a:off x="7891271" y="4553712"/>
            <a:ext cx="365760" cy="128016"/>
          </a:xfrm>
          <a:prstGeom prst="rect">
            <a:avLst/>
          </a:prstGeom>
          <a:solidFill>
            <a:srgbClr val="C00000"/>
          </a:solidFill>
          <a:ln w="12700">
            <a:solidFill>
              <a:srgbClr val="C00000"/>
            </a:solidFill>
          </a:ln>
          <a:effectLst/>
        </p:spPr>
        <p:txBody>
          <a:bodyPr rtlCol="0" anchor="ctr" wrap="square" lIns="0" tIns="0" rIns="0" bIns="0"/>
          <a:lstStyle/>
          <a:p>
            <a:pPr algn="ctr"/>
            <a:r>
              <a:rPr sz="600" b="1">
                <a:solidFill>
                  <a:srgbClr val="FFFFFF"/>
                </a:solidFill>
                <a:latin typeface="맑은 고딕"/>
                <a:ea typeface="맑은 고딕"/>
              </a:rPr>
              <a:t>DP2</a:t>
            </a:r>
          </a:p>
        </p:txBody>
      </p:sp>
      <p:sp>
        <p:nvSpPr>
          <p:cNvPr id="171" name="Rectangle 170"/>
          <p:cNvSpPr/>
          <p:nvPr/>
        </p:nvSpPr>
        <p:spPr>
          <a:xfrm>
            <a:off x="8284463" y="4553712"/>
            <a:ext cx="365760" cy="128016"/>
          </a:xfrm>
          <a:prstGeom prst="rect">
            <a:avLst/>
          </a:prstGeom>
          <a:solidFill>
            <a:srgbClr val="C00000"/>
          </a:solidFill>
          <a:ln w="12700">
            <a:solidFill>
              <a:srgbClr val="C00000"/>
            </a:solidFill>
          </a:ln>
          <a:effectLst/>
        </p:spPr>
        <p:txBody>
          <a:bodyPr rtlCol="0" anchor="ctr" wrap="square" lIns="0" tIns="0" rIns="0" bIns="0"/>
          <a:lstStyle/>
          <a:p>
            <a:pPr algn="ctr"/>
            <a:r>
              <a:rPr sz="600" b="1">
                <a:solidFill>
                  <a:srgbClr val="FFFFFF"/>
                </a:solidFill>
                <a:latin typeface="맑은 고딕"/>
                <a:ea typeface="맑은 고딕"/>
              </a:rPr>
              <a:t>DP3</a:t>
            </a:r>
          </a:p>
        </p:txBody>
      </p:sp>
      <p:sp>
        <p:nvSpPr>
          <p:cNvPr id="172" name="Rectangle 171"/>
          <p:cNvSpPr/>
          <p:nvPr/>
        </p:nvSpPr>
        <p:spPr>
          <a:xfrm>
            <a:off x="8677655" y="4553712"/>
            <a:ext cx="365760" cy="128016"/>
          </a:xfrm>
          <a:prstGeom prst="rect">
            <a:avLst/>
          </a:prstGeom>
          <a:solidFill>
            <a:srgbClr val="C00000"/>
          </a:solidFill>
          <a:ln w="12700">
            <a:solidFill>
              <a:srgbClr val="C00000"/>
            </a:solidFill>
          </a:ln>
          <a:effectLst/>
        </p:spPr>
        <p:txBody>
          <a:bodyPr rtlCol="0" anchor="ctr" wrap="square" lIns="0" tIns="0" rIns="0" bIns="0"/>
          <a:lstStyle/>
          <a:p>
            <a:pPr algn="ctr"/>
            <a:r>
              <a:rPr sz="600" b="1">
                <a:solidFill>
                  <a:srgbClr val="FFFFFF"/>
                </a:solidFill>
                <a:latin typeface="맑은 고딕"/>
                <a:ea typeface="맑은 고딕"/>
              </a:rPr>
              <a:t>DP4</a:t>
            </a:r>
          </a:p>
        </p:txBody>
      </p:sp>
      <p:cxnSp>
        <p:nvCxnSpPr>
          <p:cNvPr id="173" name="Connector 172"/>
          <p:cNvCxnSpPr/>
          <p:nvPr/>
        </p:nvCxnSpPr>
        <p:spPr>
          <a:xfrm>
            <a:off x="7406640" y="4398264"/>
            <a:ext cx="54864" cy="0"/>
          </a:xfrm>
          <a:prstGeom prst="line">
            <a:avLst/>
          </a:prstGeom>
          <a:ln w="12700">
            <a:solidFill>
              <a:srgbClr val="C55A11"/>
            </a:solidFill>
            <a:headEnd type="triangle"/>
            <a:tailEnd type="triangle"/>
          </a:ln>
        </p:spPr>
      </p:cxnSp>
      <p:cxnSp>
        <p:nvCxnSpPr>
          <p:cNvPr id="174" name="Connector 173"/>
          <p:cNvCxnSpPr/>
          <p:nvPr/>
        </p:nvCxnSpPr>
        <p:spPr>
          <a:xfrm>
            <a:off x="7790688" y="3364992"/>
            <a:ext cx="0" cy="658368"/>
          </a:xfrm>
          <a:prstGeom prst="line">
            <a:avLst/>
          </a:prstGeom>
          <a:ln w="15875">
            <a:solidFill>
              <a:srgbClr val="C55A11"/>
            </a:solidFill>
            <a:tailEnd type="triangle"/>
          </a:ln>
        </p:spPr>
      </p:cxnSp>
      <p:cxnSp>
        <p:nvCxnSpPr>
          <p:cNvPr id="175" name="Connector 174"/>
          <p:cNvCxnSpPr/>
          <p:nvPr/>
        </p:nvCxnSpPr>
        <p:spPr>
          <a:xfrm flipV="1">
            <a:off x="8430767" y="3364992"/>
            <a:ext cx="0" cy="658368"/>
          </a:xfrm>
          <a:prstGeom prst="line">
            <a:avLst/>
          </a:prstGeom>
          <a:ln w="15875">
            <a:solidFill>
              <a:srgbClr val="C55A11"/>
            </a:solidFill>
            <a:tailEnd type="triangle"/>
          </a:ln>
        </p:spPr>
      </p:cxnSp>
      <p:sp>
        <p:nvSpPr>
          <p:cNvPr id="176" name="Rectangle 175"/>
          <p:cNvSpPr/>
          <p:nvPr/>
        </p:nvSpPr>
        <p:spPr>
          <a:xfrm>
            <a:off x="10003536" y="4023360"/>
            <a:ext cx="1627632" cy="694944"/>
          </a:xfrm>
          <a:prstGeom prst="rect">
            <a:avLst/>
          </a:prstGeom>
          <a:solidFill>
            <a:srgbClr val="FBE5D6"/>
          </a:solidFill>
          <a:ln w="28575">
            <a:solidFill>
              <a:srgbClr val="C55A11"/>
            </a:solidFill>
          </a:ln>
          <a:effectLst/>
        </p:spPr>
        <p:txBody>
          <a:bodyPr rtlCol="0" anchor="ctr" wrap="square" lIns="36576" tIns="18288" rIns="36576" bIns="18288"/>
          <a:lstStyle/>
          <a:p>
            <a:pPr algn="ctr"/>
            <a:r>
              <a:rPr sz="800" b="1">
                <a:solidFill>
                  <a:srgbClr val="000000"/>
                </a:solidFill>
                <a:latin typeface="맑은 고딕"/>
                <a:ea typeface="맑은 고딕"/>
              </a:rPr>
              <a:t>노드 에이전트</a:t>
            </a:r>
          </a:p>
          <a:p>
            <a:pPr algn="ctr"/>
            <a:r>
              <a:rPr sz="650" b="0">
                <a:solidFill>
                  <a:srgbClr val="000000"/>
                </a:solidFill>
                <a:latin typeface="맑은 고딕"/>
                <a:ea typeface="맑은 고딕"/>
              </a:rPr>
              <a:t>로컬 KV index · 계층 결정</a:t>
            </a:r>
          </a:p>
          <a:p>
            <a:pPr algn="ctr"/>
            <a:r>
              <a:rPr sz="650" b="0">
                <a:solidFill>
                  <a:srgbClr val="000000"/>
                </a:solidFill>
                <a:latin typeface="맑은 고딕"/>
                <a:ea typeface="맑은 고딕"/>
              </a:rPr>
              <a:t>P1~P3 · P5 (vLLM에 로컬 지시)</a:t>
            </a:r>
          </a:p>
        </p:txBody>
      </p:sp>
      <p:sp>
        <p:nvSpPr>
          <p:cNvPr id="177" name="Rectangle 176"/>
          <p:cNvSpPr/>
          <p:nvPr/>
        </p:nvSpPr>
        <p:spPr>
          <a:xfrm>
            <a:off x="10040112" y="4553712"/>
            <a:ext cx="365760" cy="128016"/>
          </a:xfrm>
          <a:prstGeom prst="rect">
            <a:avLst/>
          </a:prstGeom>
          <a:solidFill>
            <a:srgbClr val="C00000"/>
          </a:solidFill>
          <a:ln w="12700">
            <a:solidFill>
              <a:srgbClr val="C00000"/>
            </a:solidFill>
          </a:ln>
          <a:effectLst/>
        </p:spPr>
        <p:txBody>
          <a:bodyPr rtlCol="0" anchor="ctr" wrap="square" lIns="0" tIns="0" rIns="0" bIns="0"/>
          <a:lstStyle/>
          <a:p>
            <a:pPr algn="ctr"/>
            <a:r>
              <a:rPr sz="600" b="1">
                <a:solidFill>
                  <a:srgbClr val="FFFFFF"/>
                </a:solidFill>
                <a:latin typeface="맑은 고딕"/>
                <a:ea typeface="맑은 고딕"/>
              </a:rPr>
              <a:t>DP1</a:t>
            </a:r>
          </a:p>
        </p:txBody>
      </p:sp>
      <p:sp>
        <p:nvSpPr>
          <p:cNvPr id="178" name="Rectangle 177"/>
          <p:cNvSpPr/>
          <p:nvPr/>
        </p:nvSpPr>
        <p:spPr>
          <a:xfrm>
            <a:off x="10433304" y="4553712"/>
            <a:ext cx="365760" cy="128016"/>
          </a:xfrm>
          <a:prstGeom prst="rect">
            <a:avLst/>
          </a:prstGeom>
          <a:solidFill>
            <a:srgbClr val="C00000"/>
          </a:solidFill>
          <a:ln w="12700">
            <a:solidFill>
              <a:srgbClr val="C00000"/>
            </a:solidFill>
          </a:ln>
          <a:effectLst/>
        </p:spPr>
        <p:txBody>
          <a:bodyPr rtlCol="0" anchor="ctr" wrap="square" lIns="0" tIns="0" rIns="0" bIns="0"/>
          <a:lstStyle/>
          <a:p>
            <a:pPr algn="ctr"/>
            <a:r>
              <a:rPr sz="600" b="1">
                <a:solidFill>
                  <a:srgbClr val="FFFFFF"/>
                </a:solidFill>
                <a:latin typeface="맑은 고딕"/>
                <a:ea typeface="맑은 고딕"/>
              </a:rPr>
              <a:t>DP2</a:t>
            </a:r>
          </a:p>
        </p:txBody>
      </p:sp>
      <p:sp>
        <p:nvSpPr>
          <p:cNvPr id="179" name="Rectangle 178"/>
          <p:cNvSpPr/>
          <p:nvPr/>
        </p:nvSpPr>
        <p:spPr>
          <a:xfrm>
            <a:off x="10826496" y="4553712"/>
            <a:ext cx="365760" cy="128016"/>
          </a:xfrm>
          <a:prstGeom prst="rect">
            <a:avLst/>
          </a:prstGeom>
          <a:solidFill>
            <a:srgbClr val="C00000"/>
          </a:solidFill>
          <a:ln w="12700">
            <a:solidFill>
              <a:srgbClr val="C00000"/>
            </a:solidFill>
          </a:ln>
          <a:effectLst/>
        </p:spPr>
        <p:txBody>
          <a:bodyPr rtlCol="0" anchor="ctr" wrap="square" lIns="0" tIns="0" rIns="0" bIns="0"/>
          <a:lstStyle/>
          <a:p>
            <a:pPr algn="ctr"/>
            <a:r>
              <a:rPr sz="600" b="1">
                <a:solidFill>
                  <a:srgbClr val="FFFFFF"/>
                </a:solidFill>
                <a:latin typeface="맑은 고딕"/>
                <a:ea typeface="맑은 고딕"/>
              </a:rPr>
              <a:t>DP3</a:t>
            </a:r>
          </a:p>
        </p:txBody>
      </p:sp>
      <p:sp>
        <p:nvSpPr>
          <p:cNvPr id="180" name="Rectangle 179"/>
          <p:cNvSpPr/>
          <p:nvPr/>
        </p:nvSpPr>
        <p:spPr>
          <a:xfrm>
            <a:off x="11219688" y="4553712"/>
            <a:ext cx="365760" cy="128016"/>
          </a:xfrm>
          <a:prstGeom prst="rect">
            <a:avLst/>
          </a:prstGeom>
          <a:solidFill>
            <a:srgbClr val="C00000"/>
          </a:solidFill>
          <a:ln w="12700">
            <a:solidFill>
              <a:srgbClr val="C00000"/>
            </a:solidFill>
          </a:ln>
          <a:effectLst/>
        </p:spPr>
        <p:txBody>
          <a:bodyPr rtlCol="0" anchor="ctr" wrap="square" lIns="0" tIns="0" rIns="0" bIns="0"/>
          <a:lstStyle/>
          <a:p>
            <a:pPr algn="ctr"/>
            <a:r>
              <a:rPr sz="600" b="1">
                <a:solidFill>
                  <a:srgbClr val="FFFFFF"/>
                </a:solidFill>
                <a:latin typeface="맑은 고딕"/>
                <a:ea typeface="맑은 고딕"/>
              </a:rPr>
              <a:t>DP4</a:t>
            </a:r>
          </a:p>
        </p:txBody>
      </p:sp>
      <p:cxnSp>
        <p:nvCxnSpPr>
          <p:cNvPr id="181" name="Connector 180"/>
          <p:cNvCxnSpPr/>
          <p:nvPr/>
        </p:nvCxnSpPr>
        <p:spPr>
          <a:xfrm>
            <a:off x="9948672" y="4398264"/>
            <a:ext cx="54864" cy="0"/>
          </a:xfrm>
          <a:prstGeom prst="line">
            <a:avLst/>
          </a:prstGeom>
          <a:ln w="12700">
            <a:solidFill>
              <a:srgbClr val="C55A11"/>
            </a:solidFill>
            <a:headEnd type="triangle"/>
            <a:tailEnd type="triangle"/>
          </a:ln>
        </p:spPr>
      </p:cxnSp>
      <p:cxnSp>
        <p:nvCxnSpPr>
          <p:cNvPr id="182" name="Connector 181"/>
          <p:cNvCxnSpPr/>
          <p:nvPr/>
        </p:nvCxnSpPr>
        <p:spPr>
          <a:xfrm>
            <a:off x="10332720" y="3364992"/>
            <a:ext cx="0" cy="658368"/>
          </a:xfrm>
          <a:prstGeom prst="line">
            <a:avLst/>
          </a:prstGeom>
          <a:ln w="15875">
            <a:solidFill>
              <a:srgbClr val="C55A11"/>
            </a:solidFill>
            <a:tailEnd type="triangle"/>
          </a:ln>
        </p:spPr>
      </p:cxnSp>
      <p:cxnSp>
        <p:nvCxnSpPr>
          <p:cNvPr id="183" name="Connector 182"/>
          <p:cNvCxnSpPr/>
          <p:nvPr/>
        </p:nvCxnSpPr>
        <p:spPr>
          <a:xfrm flipV="1">
            <a:off x="10972800" y="3364992"/>
            <a:ext cx="0" cy="658368"/>
          </a:xfrm>
          <a:prstGeom prst="line">
            <a:avLst/>
          </a:prstGeom>
          <a:ln w="15875">
            <a:solidFill>
              <a:srgbClr val="C55A11"/>
            </a:solidFill>
            <a:tailEnd type="triangle"/>
          </a:ln>
        </p:spPr>
      </p:cxnSp>
      <p:sp>
        <p:nvSpPr>
          <p:cNvPr id="184" name="TextBox 183"/>
          <p:cNvSpPr txBox="1"/>
          <p:nvPr/>
        </p:nvSpPr>
        <p:spPr>
          <a:xfrm>
            <a:off x="8613648" y="3438144"/>
            <a:ext cx="1645920" cy="329184"/>
          </a:xfrm>
          <a:prstGeom prst="rect">
            <a:avLst/>
          </a:prstGeom>
          <a:noFill/>
        </p:spPr>
        <p:txBody>
          <a:bodyPr wrap="square" anchor="t" lIns="0" tIns="0" rIns="0" bIns="0">
            <a:spAutoFit/>
          </a:bodyPr>
          <a:lstStyle/>
          <a:p>
            <a:pPr algn="l"/>
            <a:r>
              <a:rPr sz="650" b="1">
                <a:solidFill>
                  <a:srgbClr val="C55A11"/>
                </a:solidFill>
                <a:latin typeface="맑은 고딕"/>
                <a:ea typeface="맑은 고딕"/>
              </a:rPr>
              <a:t>▲ NodeSummary (소용량)</a:t>
            </a:r>
          </a:p>
          <a:p>
            <a:pPr algn="l"/>
            <a:r>
              <a:rPr sz="650" b="1">
                <a:solidFill>
                  <a:srgbClr val="C55A11"/>
                </a:solidFill>
                <a:latin typeface="맑은 고딕"/>
                <a:ea typeface="맑은 고딕"/>
              </a:rPr>
              <a:t>▼ 요청 + RouteHint</a:t>
            </a:r>
          </a:p>
        </p:txBody>
      </p:sp>
      <p:sp>
        <p:nvSpPr>
          <p:cNvPr id="185" name="Rounded Rectangle 184"/>
          <p:cNvSpPr/>
          <p:nvPr/>
        </p:nvSpPr>
        <p:spPr>
          <a:xfrm>
            <a:off x="8458200" y="3415284"/>
            <a:ext cx="201168" cy="173736"/>
          </a:xfrm>
          <a:prstGeom prst="roundRect">
            <a:avLst/>
          </a:prstGeom>
          <a:solidFill>
            <a:srgbClr val="C00000"/>
          </a:solidFill>
          <a:ln w="9525">
            <a:solidFill>
              <a:srgbClr val="FFFFFF"/>
            </a:solidFill>
          </a:ln>
          <a:effectLst/>
        </p:spPr>
        <p:txBody>
          <a:bodyPr rtlCol="0" anchor="ctr" wrap="square" lIns="0" tIns="0" rIns="0" bIns="0"/>
          <a:lstStyle/>
          <a:p>
            <a:pPr algn="ctr"/>
            <a:r>
              <a:rPr sz="700" b="1">
                <a:solidFill>
                  <a:srgbClr val="FFFFFF"/>
                </a:solidFill>
                <a:latin typeface="맑은 고딕"/>
                <a:ea typeface="맑은 고딕"/>
              </a:rPr>
              <a:t>Δ3</a:t>
            </a:r>
          </a:p>
        </p:txBody>
      </p:sp>
      <p:sp>
        <p:nvSpPr>
          <p:cNvPr id="186" name="Rounded Rectangle 185"/>
          <p:cNvSpPr/>
          <p:nvPr/>
        </p:nvSpPr>
        <p:spPr>
          <a:xfrm>
            <a:off x="8833104" y="3936492"/>
            <a:ext cx="201168" cy="173736"/>
          </a:xfrm>
          <a:prstGeom prst="roundRect">
            <a:avLst/>
          </a:prstGeom>
          <a:solidFill>
            <a:srgbClr val="C00000"/>
          </a:solidFill>
          <a:ln w="9525">
            <a:solidFill>
              <a:srgbClr val="FFFFFF"/>
            </a:solidFill>
          </a:ln>
          <a:effectLst/>
        </p:spPr>
        <p:txBody>
          <a:bodyPr rtlCol="0" anchor="ctr" wrap="square" lIns="0" tIns="0" rIns="0" bIns="0"/>
          <a:lstStyle/>
          <a:p>
            <a:pPr algn="ctr"/>
            <a:r>
              <a:rPr sz="700" b="1">
                <a:solidFill>
                  <a:srgbClr val="FFFFFF"/>
                </a:solidFill>
                <a:latin typeface="맑은 고딕"/>
                <a:ea typeface="맑은 고딕"/>
              </a:rPr>
              <a:t>Δ2</a:t>
            </a:r>
          </a:p>
        </p:txBody>
      </p:sp>
      <p:sp>
        <p:nvSpPr>
          <p:cNvPr id="187" name="Rectangle 186"/>
          <p:cNvSpPr/>
          <p:nvPr/>
        </p:nvSpPr>
        <p:spPr>
          <a:xfrm>
            <a:off x="1188720" y="4855464"/>
            <a:ext cx="2304288" cy="155448"/>
          </a:xfrm>
          <a:prstGeom prst="rect">
            <a:avLst/>
          </a:prstGeom>
          <a:solidFill>
            <a:srgbClr val="F2F2F2"/>
          </a:solidFill>
          <a:ln w="9525">
            <a:solidFill>
              <a:srgbClr val="BFBFBF"/>
            </a:solidFill>
          </a:ln>
          <a:effectLst/>
        </p:spPr>
        <p:txBody>
          <a:bodyPr rtlCol="0" anchor="ctr" wrap="square" lIns="36576" tIns="18288" rIns="36576" bIns="18288"/>
          <a:lstStyle/>
          <a:p>
            <a:pPr algn="ctr"/>
            <a:r>
              <a:rPr sz="700" b="1">
                <a:solidFill>
                  <a:srgbClr val="000000"/>
                </a:solidFill>
                <a:latin typeface="맑은 고딕"/>
                <a:ea typeface="맑은 고딕"/>
              </a:rPr>
              <a:t>두 안 공통 (회색: 역할·위치 동일)</a:t>
            </a:r>
          </a:p>
        </p:txBody>
      </p:sp>
      <p:sp>
        <p:nvSpPr>
          <p:cNvPr id="188" name="Rectangle 187"/>
          <p:cNvSpPr/>
          <p:nvPr/>
        </p:nvSpPr>
        <p:spPr>
          <a:xfrm>
            <a:off x="3566160" y="4855464"/>
            <a:ext cx="1298448" cy="155448"/>
          </a:xfrm>
          <a:prstGeom prst="rect">
            <a:avLst/>
          </a:prstGeom>
          <a:solidFill>
            <a:srgbClr val="DAE3F3"/>
          </a:solidFill>
          <a:ln w="25400">
            <a:solidFill>
              <a:srgbClr val="2F5597"/>
            </a:solidFill>
          </a:ln>
          <a:effectLst/>
        </p:spPr>
        <p:txBody>
          <a:bodyPr rtlCol="0" anchor="ctr" wrap="square" lIns="36576" tIns="18288" rIns="36576" bIns="18288"/>
          <a:lstStyle/>
          <a:p>
            <a:pPr algn="ctr"/>
            <a:r>
              <a:rPr sz="700" b="1">
                <a:solidFill>
                  <a:srgbClr val="000000"/>
                </a:solidFill>
                <a:latin typeface="맑은 고딕"/>
                <a:ea typeface="맑은 고딕"/>
              </a:rPr>
              <a:t>S1에서만 다름</a:t>
            </a:r>
          </a:p>
        </p:txBody>
      </p:sp>
      <p:sp>
        <p:nvSpPr>
          <p:cNvPr id="189" name="Rectangle 188"/>
          <p:cNvSpPr/>
          <p:nvPr/>
        </p:nvSpPr>
        <p:spPr>
          <a:xfrm>
            <a:off x="4937760" y="4855464"/>
            <a:ext cx="1298448" cy="155448"/>
          </a:xfrm>
          <a:prstGeom prst="rect">
            <a:avLst/>
          </a:prstGeom>
          <a:solidFill>
            <a:srgbClr val="FBE5D6"/>
          </a:solidFill>
          <a:ln w="25400">
            <a:solidFill>
              <a:srgbClr val="C55A11"/>
            </a:solidFill>
          </a:ln>
          <a:effectLst/>
        </p:spPr>
        <p:txBody>
          <a:bodyPr rtlCol="0" anchor="ctr" wrap="square" lIns="36576" tIns="18288" rIns="36576" bIns="18288"/>
          <a:lstStyle/>
          <a:p>
            <a:pPr algn="ctr"/>
            <a:r>
              <a:rPr sz="700" b="1">
                <a:solidFill>
                  <a:srgbClr val="000000"/>
                </a:solidFill>
                <a:latin typeface="맑은 고딕"/>
                <a:ea typeface="맑은 고딕"/>
              </a:rPr>
              <a:t>S2에서만 다름</a:t>
            </a:r>
          </a:p>
        </p:txBody>
      </p:sp>
      <p:sp>
        <p:nvSpPr>
          <p:cNvPr id="190" name="Rectangle 189"/>
          <p:cNvSpPr/>
          <p:nvPr/>
        </p:nvSpPr>
        <p:spPr>
          <a:xfrm>
            <a:off x="6309360" y="4855464"/>
            <a:ext cx="1664207" cy="155448"/>
          </a:xfrm>
          <a:prstGeom prst="rect">
            <a:avLst/>
          </a:prstGeom>
          <a:solidFill>
            <a:srgbClr val="FFFFFF"/>
          </a:solidFill>
          <a:ln w="19050">
            <a:solidFill>
              <a:srgbClr val="C00000"/>
            </a:solidFill>
          </a:ln>
          <a:effectLst/>
        </p:spPr>
        <p:txBody>
          <a:bodyPr rtlCol="0" anchor="ctr" wrap="square" lIns="36576" tIns="18288" rIns="36576" bIns="18288"/>
          <a:lstStyle/>
          <a:p>
            <a:pPr algn="ctr"/>
            <a:r>
              <a:rPr sz="700" b="1">
                <a:solidFill>
                  <a:srgbClr val="000000"/>
                </a:solidFill>
                <a:latin typeface="맑은 고딕"/>
                <a:ea typeface="맑은 고딕"/>
              </a:rPr>
              <a:t>DP1~DP4가 채우는 부분</a:t>
            </a:r>
          </a:p>
        </p:txBody>
      </p:sp>
      <p:sp>
        <p:nvSpPr>
          <p:cNvPr id="191" name="TextBox 190"/>
          <p:cNvSpPr txBox="1"/>
          <p:nvPr/>
        </p:nvSpPr>
        <p:spPr>
          <a:xfrm>
            <a:off x="1188720" y="5038344"/>
            <a:ext cx="10607040" cy="128016"/>
          </a:xfrm>
          <a:prstGeom prst="rect">
            <a:avLst/>
          </a:prstGeom>
          <a:noFill/>
        </p:spPr>
        <p:txBody>
          <a:bodyPr wrap="square" anchor="t" lIns="0" tIns="0" rIns="0" bIns="0">
            <a:spAutoFit/>
          </a:bodyPr>
          <a:lstStyle/>
          <a:p>
            <a:pPr algn="l"/>
            <a:r>
              <a:rPr sz="700" b="1">
                <a:solidFill>
                  <a:srgbClr val="C00000"/>
                </a:solidFill>
                <a:latin typeface="맑은 고딕"/>
                <a:ea typeface="맑은 고딕"/>
              </a:rPr>
              <a:t>선 굵기 = 메시지량.   Δ1 상태의 단위·위치  ·  Δ2 계층 결정 위치  ·  Δ3 제어 방식 (아래 핵심 설계 결정과 대응)</a:t>
            </a:r>
          </a:p>
        </p:txBody>
      </p:sp>
      <p:sp>
        <p:nvSpPr>
          <p:cNvPr id="192" name="Rectangle 191"/>
          <p:cNvSpPr/>
          <p:nvPr/>
        </p:nvSpPr>
        <p:spPr>
          <a:xfrm>
            <a:off x="246888" y="5175504"/>
            <a:ext cx="868680" cy="1024128"/>
          </a:xfrm>
          <a:prstGeom prst="rect">
            <a:avLst/>
          </a:prstGeom>
          <a:solidFill>
            <a:srgbClr val="F2F2F2"/>
          </a:solidFill>
          <a:ln w="6350">
            <a:solidFill>
              <a:srgbClr val="BFBFBF"/>
            </a:solidFill>
          </a:ln>
          <a:effectLst/>
        </p:spPr>
        <p:txBody>
          <a:bodyPr rtlCol="0" anchor="ctr" wrap="square" lIns="64008" tIns="27432" rIns="45720" bIns="27432"/>
          <a:lstStyle/>
          <a:p>
            <a:pPr algn="ctr"/>
            <a:r>
              <a:rPr sz="900" b="0">
                <a:solidFill>
                  <a:srgbClr val="7F7F7F"/>
                </a:solidFill>
                <a:latin typeface="맑은 고딕"/>
                <a:ea typeface="맑은 고딕"/>
              </a:rPr>
              <a:t>핵심 설계 결정</a:t>
            </a:r>
          </a:p>
          <a:p>
            <a:pPr algn="ctr"/>
            <a:r>
              <a:rPr sz="700" b="0">
                <a:solidFill>
                  <a:srgbClr val="7F7F7F"/>
                </a:solidFill>
                <a:latin typeface="맑은 고딕"/>
                <a:ea typeface="맑은 고딕"/>
              </a:rPr>
              <a:t>(→ 다음 장 Tradeoff)</a:t>
            </a:r>
          </a:p>
        </p:txBody>
      </p:sp>
      <p:sp>
        <p:nvSpPr>
          <p:cNvPr id="193" name="Rectangle 192"/>
          <p:cNvSpPr/>
          <p:nvPr/>
        </p:nvSpPr>
        <p:spPr>
          <a:xfrm>
            <a:off x="1115568" y="5175504"/>
            <a:ext cx="5394960" cy="1024128"/>
          </a:xfrm>
          <a:prstGeom prst="rect">
            <a:avLst/>
          </a:prstGeom>
          <a:solidFill>
            <a:srgbClr val="FFFFFF"/>
          </a:solidFill>
          <a:ln w="6350">
            <a:solidFill>
              <a:srgbClr val="BFBFBF"/>
            </a:solidFill>
          </a:ln>
          <a:effectLst/>
        </p:spPr>
        <p:txBody>
          <a:bodyPr rtlCol="0" anchor="ctr"/>
          <a:lstStyle/>
          <a:p>
            <a:pPr algn="ctr"/>
          </a:p>
        </p:txBody>
      </p:sp>
      <p:sp>
        <p:nvSpPr>
          <p:cNvPr id="194" name="Rectangle 193"/>
          <p:cNvSpPr/>
          <p:nvPr/>
        </p:nvSpPr>
        <p:spPr>
          <a:xfrm>
            <a:off x="6510528" y="5175504"/>
            <a:ext cx="5486399" cy="1024128"/>
          </a:xfrm>
          <a:prstGeom prst="rect">
            <a:avLst/>
          </a:prstGeom>
          <a:solidFill>
            <a:srgbClr val="FFFFFF"/>
          </a:solidFill>
          <a:ln w="6350">
            <a:solidFill>
              <a:srgbClr val="BFBFBF"/>
            </a:solidFill>
          </a:ln>
          <a:effectLst/>
        </p:spPr>
        <p:txBody>
          <a:bodyPr rtlCol="0" anchor="ctr"/>
          <a:lstStyle/>
          <a:p>
            <a:pPr algn="ctr"/>
          </a:p>
        </p:txBody>
      </p:sp>
      <p:sp>
        <p:nvSpPr>
          <p:cNvPr id="195" name="Rectangle 194"/>
          <p:cNvSpPr/>
          <p:nvPr/>
        </p:nvSpPr>
        <p:spPr>
          <a:xfrm>
            <a:off x="1170432" y="5230368"/>
            <a:ext cx="1024128" cy="274320"/>
          </a:xfrm>
          <a:prstGeom prst="rect">
            <a:avLst/>
          </a:prstGeom>
          <a:solidFill>
            <a:srgbClr val="2F5597"/>
          </a:solidFill>
          <a:ln w="12700">
            <a:solidFill>
              <a:srgbClr val="2F5597"/>
            </a:solidFill>
          </a:ln>
          <a:effectLst/>
        </p:spPr>
        <p:txBody>
          <a:bodyPr rtlCol="0" anchor="ctr" wrap="square" lIns="27432" tIns="0" rIns="27432" bIns="0"/>
          <a:lstStyle/>
          <a:p>
            <a:pPr algn="ctr"/>
            <a:r>
              <a:rPr sz="750" b="1">
                <a:solidFill>
                  <a:srgbClr val="FFFFFF"/>
                </a:solidFill>
                <a:latin typeface="맑은 고딕"/>
                <a:ea typeface="맑은 고딕"/>
              </a:rPr>
              <a:t>Δ1 상태 단위·위치</a:t>
            </a:r>
          </a:p>
        </p:txBody>
      </p:sp>
      <p:sp>
        <p:nvSpPr>
          <p:cNvPr id="196" name="Rectangle 195"/>
          <p:cNvSpPr/>
          <p:nvPr/>
        </p:nvSpPr>
        <p:spPr>
          <a:xfrm>
            <a:off x="2212848" y="5230368"/>
            <a:ext cx="4169664" cy="274320"/>
          </a:xfrm>
          <a:prstGeom prst="rect">
            <a:avLst/>
          </a:prstGeom>
          <a:solidFill>
            <a:srgbClr val="DAE3F3"/>
          </a:solidFill>
          <a:ln w="9525">
            <a:solidFill>
              <a:srgbClr val="2F5597"/>
            </a:solidFill>
          </a:ln>
          <a:effectLst/>
        </p:spPr>
        <p:txBody>
          <a:bodyPr rtlCol="0" anchor="ctr" wrap="square" lIns="54864" tIns="0" rIns="36576" bIns="0"/>
          <a:lstStyle/>
          <a:p>
            <a:pPr algn="l"/>
            <a:r>
              <a:rPr sz="800" b="0">
                <a:solidFill>
                  <a:srgbClr val="000000"/>
                </a:solidFill>
                <a:latin typeface="맑은 고딕"/>
                <a:ea typeface="맑은 고딕"/>
              </a:rPr>
              <a:t>Router가 블록 단위 전역 index 보유, 이벤트 전량 수신</a:t>
            </a:r>
          </a:p>
        </p:txBody>
      </p:sp>
      <p:sp>
        <p:nvSpPr>
          <p:cNvPr id="197" name="Rectangle 196"/>
          <p:cNvSpPr/>
          <p:nvPr/>
        </p:nvSpPr>
        <p:spPr>
          <a:xfrm>
            <a:off x="6565392" y="5230368"/>
            <a:ext cx="1024128" cy="274320"/>
          </a:xfrm>
          <a:prstGeom prst="rect">
            <a:avLst/>
          </a:prstGeom>
          <a:solidFill>
            <a:srgbClr val="C55A11"/>
          </a:solidFill>
          <a:ln w="12700">
            <a:solidFill>
              <a:srgbClr val="C55A11"/>
            </a:solidFill>
          </a:ln>
          <a:effectLst/>
        </p:spPr>
        <p:txBody>
          <a:bodyPr rtlCol="0" anchor="ctr" wrap="square" lIns="27432" tIns="0" rIns="27432" bIns="0"/>
          <a:lstStyle/>
          <a:p>
            <a:pPr algn="ctr"/>
            <a:r>
              <a:rPr sz="750" b="1">
                <a:solidFill>
                  <a:srgbClr val="FFFFFF"/>
                </a:solidFill>
                <a:latin typeface="맑은 고딕"/>
                <a:ea typeface="맑은 고딕"/>
              </a:rPr>
              <a:t>Δ1 상태 단위·위치</a:t>
            </a:r>
          </a:p>
        </p:txBody>
      </p:sp>
      <p:sp>
        <p:nvSpPr>
          <p:cNvPr id="198" name="Rectangle 197"/>
          <p:cNvSpPr/>
          <p:nvPr/>
        </p:nvSpPr>
        <p:spPr>
          <a:xfrm>
            <a:off x="7607808" y="5230368"/>
            <a:ext cx="4334256" cy="274320"/>
          </a:xfrm>
          <a:prstGeom prst="rect">
            <a:avLst/>
          </a:prstGeom>
          <a:solidFill>
            <a:srgbClr val="FBE5D6"/>
          </a:solidFill>
          <a:ln w="9525">
            <a:solidFill>
              <a:srgbClr val="C55A11"/>
            </a:solidFill>
          </a:ln>
          <a:effectLst/>
        </p:spPr>
        <p:txBody>
          <a:bodyPr rtlCol="0" anchor="ctr" wrap="square" lIns="54864" tIns="0" rIns="36576" bIns="0"/>
          <a:lstStyle/>
          <a:p>
            <a:pPr algn="l"/>
            <a:r>
              <a:rPr sz="800" b="0">
                <a:solidFill>
                  <a:srgbClr val="000000"/>
                </a:solidFill>
                <a:latin typeface="맑은 고딕"/>
                <a:ea typeface="맑은 고딕"/>
              </a:rPr>
              <a:t>Router는 노드 요약만 보유, 블록 이벤트는 노드 안에서 소비</a:t>
            </a:r>
          </a:p>
        </p:txBody>
      </p:sp>
      <p:sp>
        <p:nvSpPr>
          <p:cNvPr id="199" name="Rectangle 198"/>
          <p:cNvSpPr/>
          <p:nvPr/>
        </p:nvSpPr>
        <p:spPr>
          <a:xfrm>
            <a:off x="1170432" y="5541264"/>
            <a:ext cx="1024128" cy="274320"/>
          </a:xfrm>
          <a:prstGeom prst="rect">
            <a:avLst/>
          </a:prstGeom>
          <a:solidFill>
            <a:srgbClr val="2F5597"/>
          </a:solidFill>
          <a:ln w="12700">
            <a:solidFill>
              <a:srgbClr val="2F5597"/>
            </a:solidFill>
          </a:ln>
          <a:effectLst/>
        </p:spPr>
        <p:txBody>
          <a:bodyPr rtlCol="0" anchor="ctr" wrap="square" lIns="27432" tIns="0" rIns="27432" bIns="0"/>
          <a:lstStyle/>
          <a:p>
            <a:pPr algn="ctr"/>
            <a:r>
              <a:rPr sz="750" b="1">
                <a:solidFill>
                  <a:srgbClr val="FFFFFF"/>
                </a:solidFill>
                <a:latin typeface="맑은 고딕"/>
                <a:ea typeface="맑은 고딕"/>
              </a:rPr>
              <a:t>Δ2 계층 결정 위치</a:t>
            </a:r>
          </a:p>
        </p:txBody>
      </p:sp>
      <p:sp>
        <p:nvSpPr>
          <p:cNvPr id="200" name="Rectangle 199"/>
          <p:cNvSpPr/>
          <p:nvPr/>
        </p:nvSpPr>
        <p:spPr>
          <a:xfrm>
            <a:off x="2212848" y="5541264"/>
            <a:ext cx="4169664" cy="274320"/>
          </a:xfrm>
          <a:prstGeom prst="rect">
            <a:avLst/>
          </a:prstGeom>
          <a:solidFill>
            <a:srgbClr val="DAE3F3"/>
          </a:solidFill>
          <a:ln w="9525">
            <a:solidFill>
              <a:srgbClr val="2F5597"/>
            </a:solidFill>
          </a:ln>
          <a:effectLst/>
        </p:spPr>
        <p:txBody>
          <a:bodyPr rtlCol="0" anchor="ctr" wrap="square" lIns="54864" tIns="0" rIns="36576" bIns="0"/>
          <a:lstStyle/>
          <a:p>
            <a:pPr algn="l"/>
            <a:r>
              <a:rPr sz="800" b="0">
                <a:solidFill>
                  <a:srgbClr val="000000"/>
                </a:solidFill>
                <a:latin typeface="맑은 고딕"/>
                <a:ea typeface="맑은 고딕"/>
              </a:rPr>
              <a:t>Router가 요청마다 계층까지 결정 (P1~P3, P5 송신)</a:t>
            </a:r>
          </a:p>
        </p:txBody>
      </p:sp>
      <p:sp>
        <p:nvSpPr>
          <p:cNvPr id="201" name="Rectangle 200"/>
          <p:cNvSpPr/>
          <p:nvPr/>
        </p:nvSpPr>
        <p:spPr>
          <a:xfrm>
            <a:off x="6565392" y="5541264"/>
            <a:ext cx="1024128" cy="274320"/>
          </a:xfrm>
          <a:prstGeom prst="rect">
            <a:avLst/>
          </a:prstGeom>
          <a:solidFill>
            <a:srgbClr val="C55A11"/>
          </a:solidFill>
          <a:ln w="12700">
            <a:solidFill>
              <a:srgbClr val="C55A11"/>
            </a:solidFill>
          </a:ln>
          <a:effectLst/>
        </p:spPr>
        <p:txBody>
          <a:bodyPr rtlCol="0" anchor="ctr" wrap="square" lIns="27432" tIns="0" rIns="27432" bIns="0"/>
          <a:lstStyle/>
          <a:p>
            <a:pPr algn="ctr"/>
            <a:r>
              <a:rPr sz="750" b="1">
                <a:solidFill>
                  <a:srgbClr val="FFFFFF"/>
                </a:solidFill>
                <a:latin typeface="맑은 고딕"/>
                <a:ea typeface="맑은 고딕"/>
              </a:rPr>
              <a:t>Δ2 계층 결정 위치</a:t>
            </a:r>
          </a:p>
        </p:txBody>
      </p:sp>
      <p:sp>
        <p:nvSpPr>
          <p:cNvPr id="202" name="Rectangle 201"/>
          <p:cNvSpPr/>
          <p:nvPr/>
        </p:nvSpPr>
        <p:spPr>
          <a:xfrm>
            <a:off x="7607808" y="5541264"/>
            <a:ext cx="4334256" cy="274320"/>
          </a:xfrm>
          <a:prstGeom prst="rect">
            <a:avLst/>
          </a:prstGeom>
          <a:solidFill>
            <a:srgbClr val="FBE5D6"/>
          </a:solidFill>
          <a:ln w="9525">
            <a:solidFill>
              <a:srgbClr val="C55A11"/>
            </a:solidFill>
          </a:ln>
          <a:effectLst/>
        </p:spPr>
        <p:txBody>
          <a:bodyPr rtlCol="0" anchor="ctr" wrap="square" lIns="54864" tIns="0" rIns="36576" bIns="0"/>
          <a:lstStyle/>
          <a:p>
            <a:pPr algn="l"/>
            <a:r>
              <a:rPr sz="800" b="0">
                <a:solidFill>
                  <a:srgbClr val="000000"/>
                </a:solidFill>
                <a:latin typeface="맑은 고딕"/>
                <a:ea typeface="맑은 고딕"/>
              </a:rPr>
              <a:t>노드 에이전트가 로컬로 결정, DP1~DP4 모듈이 여기서 동작</a:t>
            </a:r>
          </a:p>
        </p:txBody>
      </p:sp>
      <p:sp>
        <p:nvSpPr>
          <p:cNvPr id="203" name="Rectangle 202"/>
          <p:cNvSpPr/>
          <p:nvPr/>
        </p:nvSpPr>
        <p:spPr>
          <a:xfrm>
            <a:off x="1170432" y="5852159"/>
            <a:ext cx="1024128" cy="274320"/>
          </a:xfrm>
          <a:prstGeom prst="rect">
            <a:avLst/>
          </a:prstGeom>
          <a:solidFill>
            <a:srgbClr val="2F5597"/>
          </a:solidFill>
          <a:ln w="12700">
            <a:solidFill>
              <a:srgbClr val="2F5597"/>
            </a:solidFill>
          </a:ln>
          <a:effectLst/>
        </p:spPr>
        <p:txBody>
          <a:bodyPr rtlCol="0" anchor="ctr" wrap="square" lIns="27432" tIns="0" rIns="27432" bIns="0"/>
          <a:lstStyle/>
          <a:p>
            <a:pPr algn="ctr"/>
            <a:r>
              <a:rPr sz="750" b="1">
                <a:solidFill>
                  <a:srgbClr val="FFFFFF"/>
                </a:solidFill>
                <a:latin typeface="맑은 고딕"/>
                <a:ea typeface="맑은 고딕"/>
              </a:rPr>
              <a:t>Δ3 제어 방식</a:t>
            </a:r>
          </a:p>
        </p:txBody>
      </p:sp>
      <p:sp>
        <p:nvSpPr>
          <p:cNvPr id="204" name="Rectangle 203"/>
          <p:cNvSpPr/>
          <p:nvPr/>
        </p:nvSpPr>
        <p:spPr>
          <a:xfrm>
            <a:off x="2212848" y="5852159"/>
            <a:ext cx="4169664" cy="274320"/>
          </a:xfrm>
          <a:prstGeom prst="rect">
            <a:avLst/>
          </a:prstGeom>
          <a:solidFill>
            <a:srgbClr val="DAE3F3"/>
          </a:solidFill>
          <a:ln w="9525">
            <a:solidFill>
              <a:srgbClr val="2F5597"/>
            </a:solidFill>
          </a:ln>
          <a:effectLst/>
        </p:spPr>
        <p:txBody>
          <a:bodyPr rtlCol="0" anchor="ctr" wrap="square" lIns="54864" tIns="0" rIns="36576" bIns="0"/>
          <a:lstStyle/>
          <a:p>
            <a:pPr algn="l"/>
            <a:r>
              <a:rPr sz="800" b="0">
                <a:solidFill>
                  <a:srgbClr val="000000"/>
                </a:solidFill>
                <a:latin typeface="맑은 고딕"/>
                <a:ea typeface="맑은 고딕"/>
              </a:rPr>
              <a:t>요청별 지시 push (서버 + 계층 + 토큰 한도)</a:t>
            </a:r>
          </a:p>
        </p:txBody>
      </p:sp>
      <p:sp>
        <p:nvSpPr>
          <p:cNvPr id="205" name="Rectangle 204"/>
          <p:cNvSpPr/>
          <p:nvPr/>
        </p:nvSpPr>
        <p:spPr>
          <a:xfrm>
            <a:off x="6565392" y="5852159"/>
            <a:ext cx="1024128" cy="274320"/>
          </a:xfrm>
          <a:prstGeom prst="rect">
            <a:avLst/>
          </a:prstGeom>
          <a:solidFill>
            <a:srgbClr val="C55A11"/>
          </a:solidFill>
          <a:ln w="12700">
            <a:solidFill>
              <a:srgbClr val="C55A11"/>
            </a:solidFill>
          </a:ln>
          <a:effectLst/>
        </p:spPr>
        <p:txBody>
          <a:bodyPr rtlCol="0" anchor="ctr" wrap="square" lIns="27432" tIns="0" rIns="27432" bIns="0"/>
          <a:lstStyle/>
          <a:p>
            <a:pPr algn="ctr"/>
            <a:r>
              <a:rPr sz="750" b="1">
                <a:solidFill>
                  <a:srgbClr val="FFFFFF"/>
                </a:solidFill>
                <a:latin typeface="맑은 고딕"/>
                <a:ea typeface="맑은 고딕"/>
              </a:rPr>
              <a:t>Δ3 제어 방식</a:t>
            </a:r>
          </a:p>
        </p:txBody>
      </p:sp>
      <p:sp>
        <p:nvSpPr>
          <p:cNvPr id="206" name="Rectangle 205"/>
          <p:cNvSpPr/>
          <p:nvPr/>
        </p:nvSpPr>
        <p:spPr>
          <a:xfrm>
            <a:off x="7607808" y="5852159"/>
            <a:ext cx="4334256" cy="274320"/>
          </a:xfrm>
          <a:prstGeom prst="rect">
            <a:avLst/>
          </a:prstGeom>
          <a:solidFill>
            <a:srgbClr val="FBE5D6"/>
          </a:solidFill>
          <a:ln w="9525">
            <a:solidFill>
              <a:srgbClr val="C55A11"/>
            </a:solidFill>
          </a:ln>
          <a:effectLst/>
        </p:spPr>
        <p:txBody>
          <a:bodyPr rtlCol="0" anchor="ctr" wrap="square" lIns="54864" tIns="0" rIns="36576" bIns="0"/>
          <a:lstStyle/>
          <a:p>
            <a:pPr algn="l"/>
            <a:r>
              <a:rPr sz="800" b="0">
                <a:solidFill>
                  <a:srgbClr val="000000"/>
                </a:solidFill>
                <a:latin typeface="맑은 고딕"/>
                <a:ea typeface="맑은 고딕"/>
              </a:rPr>
              <a:t>힌트 위임 (서버 선택 결과·SLO 클래스), 계층은 로컬</a:t>
            </a:r>
          </a:p>
        </p:txBody>
      </p:sp>
      <p:sp>
        <p:nvSpPr>
          <p:cNvPr id="207" name="TextBox 206"/>
          <p:cNvSpPr txBox="1"/>
          <p:nvPr/>
        </p:nvSpPr>
        <p:spPr>
          <a:xfrm>
            <a:off x="246888" y="6309360"/>
            <a:ext cx="11750040" cy="128016"/>
          </a:xfrm>
          <a:prstGeom prst="rect">
            <a:avLst/>
          </a:prstGeom>
          <a:noFill/>
        </p:spPr>
        <p:txBody>
          <a:bodyPr wrap="square" anchor="t" lIns="0" tIns="0" rIns="0" bIns="0">
            <a:spAutoFit/>
          </a:bodyPr>
          <a:lstStyle/>
          <a:p>
            <a:pPr algn="l"/>
            <a:r>
              <a:rPr sz="700" b="0">
                <a:solidFill>
                  <a:srgbClr val="404040"/>
                </a:solidFill>
                <a:latin typeface="맑은 고딕"/>
                <a:ea typeface="맑은 고딕"/>
              </a:rPr>
              <a:t>※ 두 후보 모두 설계안이며 평가는 가설 [C]. P5(계층 지시)의 송신은 S1 Router, S2 노드 에이전트이고 수신·실행은 vLLM(엔진, 두 안 공통 선결). 노드 에이전트는 vLLM을 수정하지 않는 옆 프로세스.</a:t>
            </a:r>
          </a:p>
        </p:txBody>
      </p:sp>
    </p:spTree>
    <p:extLst>
      <p:ext uri="{BB962C8B-B14F-4D97-AF65-F5344CB8AC3E}">
        <p14:creationId xmlns:p14="http://schemas.microsoft.com/office/powerpoint/2010/main" val="3392401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7631530" cy="365125"/>
          </a:xfrm>
        </p:spPr>
        <p:txBody>
          <a:bodyPr/>
          <a:lstStyle/>
          <a:p>
            <a:r>
              <a:rPr lang="en-US" altLang="ko-KR" dirty="0"/>
              <a:t>DP0-1. 변경·유지 용이성 (Q3) 시나리오 M1~M6</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err="1">
                <a:solidFill>
                  <a:schemeClr val="bg1"/>
                </a:solidFill>
              </a:rPr>
              <a:t>바뀔 때 어디를 고치는가: Router 중심(S1) 대 노드 에이전트로 격리(S2)</a:t>
            </a:r>
            <a:endParaRPr lang="ko-KR" altLang="en-US" sz="1400" b="1" dirty="0">
              <a:solidFill>
                <a:schemeClr val="bg1"/>
              </a:solidFill>
            </a:endParaRP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10177272" y="629703"/>
            <a:ext cx="868680"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Q1~Q4</a:t>
            </a:r>
            <a:endParaRPr lang="ko-KR" altLang="en-US" sz="900" b="1" dirty="0">
              <a:latin typeface="맑은 고딕" panose="020B0503020000020004" pitchFamily="50" charset="-127"/>
              <a:ea typeface="맑은 고딕" panose="020B0503020000020004" pitchFamily="50" charset="-127"/>
            </a:endParaRPr>
          </a:p>
        </p:txBody>
      </p:sp>
      <p:sp>
        <p:nvSpPr>
          <p:cNvPr id="38" name="모서리가 둥근 직사각형 37"/>
          <p:cNvSpPr/>
          <p:nvPr/>
        </p:nvSpPr>
        <p:spPr>
          <a:xfrm>
            <a:off x="9235440" y="627572"/>
            <a:ext cx="86868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F1~F4</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1119104" y="627572"/>
            <a:ext cx="868680"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C1~C6</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6291415" y="180689"/>
            <a:ext cx="1541832" cy="276999"/>
          </a:xfrm>
          <a:prstGeom prst="rect">
            <a:avLst/>
          </a:prstGeom>
        </p:spPr>
        <p:txBody>
          <a:bodyPr wrap="none">
            <a:spAutoFit/>
          </a:bodyPr>
          <a:lstStyle/>
          <a:p>
            <a:r>
              <a:rPr lang="en-US" altLang="ko-KR" sz="1200" b="1" dirty="0"/>
              <a:t>(Where to locate?)</a:t>
            </a:r>
            <a:endParaRPr lang="ko-KR" altLang="en-US" sz="1200" dirty="0"/>
          </a:p>
        </p:txBody>
      </p:sp>
      <p:sp>
        <p:nvSpPr>
          <p:cNvPr id="102" name="Rectangle 101"/>
          <p:cNvSpPr/>
          <p:nvPr/>
        </p:nvSpPr>
        <p:spPr>
          <a:xfrm>
            <a:off x="246888" y="1042415"/>
            <a:ext cx="2286000" cy="274320"/>
          </a:xfrm>
          <a:prstGeom prst="rect">
            <a:avLst/>
          </a:prstGeom>
          <a:solidFill>
            <a:srgbClr val="404040"/>
          </a:solidFill>
          <a:ln w="12700">
            <a:solidFill>
              <a:srgbClr val="404040"/>
            </a:solidFill>
          </a:ln>
          <a:effectLst/>
        </p:spPr>
        <p:txBody>
          <a:bodyPr rtlCol="0" anchor="ctr" wrap="square" lIns="36576" tIns="18288" rIns="36576" bIns="18288"/>
          <a:lstStyle/>
          <a:p>
            <a:pPr algn="ctr"/>
            <a:r>
              <a:rPr sz="900" b="1">
                <a:solidFill>
                  <a:srgbClr val="FFFFFF"/>
                </a:solidFill>
                <a:latin typeface="맑은 고딕"/>
                <a:ea typeface="맑은 고딕"/>
              </a:rPr>
              <a:t>시나리오</a:t>
            </a:r>
          </a:p>
        </p:txBody>
      </p:sp>
      <p:sp>
        <p:nvSpPr>
          <p:cNvPr id="103" name="Rectangle 102"/>
          <p:cNvSpPr/>
          <p:nvPr/>
        </p:nvSpPr>
        <p:spPr>
          <a:xfrm>
            <a:off x="2532888" y="1042415"/>
            <a:ext cx="4023360" cy="274320"/>
          </a:xfrm>
          <a:prstGeom prst="rect">
            <a:avLst/>
          </a:prstGeom>
          <a:solidFill>
            <a:srgbClr val="2F5597"/>
          </a:solidFill>
          <a:ln w="12700">
            <a:solidFill>
              <a:srgbClr val="2F5597"/>
            </a:solidFill>
          </a:ln>
          <a:effectLst/>
        </p:spPr>
        <p:txBody>
          <a:bodyPr rtlCol="0" anchor="ctr" wrap="square" lIns="36576" tIns="18288" rIns="36576" bIns="18288"/>
          <a:lstStyle/>
          <a:p>
            <a:pPr algn="ctr"/>
            <a:r>
              <a:rPr sz="900" b="1">
                <a:solidFill>
                  <a:srgbClr val="FFFFFF"/>
                </a:solidFill>
                <a:latin typeface="맑은 고딕"/>
                <a:ea typeface="맑은 고딕"/>
              </a:rPr>
              <a:t>(S1) 중앙 결정형: 어디를 고치나</a:t>
            </a:r>
          </a:p>
        </p:txBody>
      </p:sp>
      <p:sp>
        <p:nvSpPr>
          <p:cNvPr id="104" name="Rectangle 103"/>
          <p:cNvSpPr/>
          <p:nvPr/>
        </p:nvSpPr>
        <p:spPr>
          <a:xfrm>
            <a:off x="6556248" y="1042415"/>
            <a:ext cx="4023360" cy="274320"/>
          </a:xfrm>
          <a:prstGeom prst="rect">
            <a:avLst/>
          </a:prstGeom>
          <a:solidFill>
            <a:srgbClr val="C55A11"/>
          </a:solidFill>
          <a:ln w="12700">
            <a:solidFill>
              <a:srgbClr val="C55A11"/>
            </a:solidFill>
          </a:ln>
          <a:effectLst/>
        </p:spPr>
        <p:txBody>
          <a:bodyPr rtlCol="0" anchor="ctr" wrap="square" lIns="36576" tIns="18288" rIns="36576" bIns="18288"/>
          <a:lstStyle/>
          <a:p>
            <a:pPr algn="ctr"/>
            <a:r>
              <a:rPr sz="900" b="1">
                <a:solidFill>
                  <a:srgbClr val="FFFFFF"/>
                </a:solidFill>
                <a:latin typeface="맑은 고딕"/>
                <a:ea typeface="맑은 고딕"/>
              </a:rPr>
              <a:t>(S2) 2단계 위임형: 어디를 고치나</a:t>
            </a:r>
          </a:p>
        </p:txBody>
      </p:sp>
      <p:sp>
        <p:nvSpPr>
          <p:cNvPr id="105" name="Rectangle 104"/>
          <p:cNvSpPr/>
          <p:nvPr/>
        </p:nvSpPr>
        <p:spPr>
          <a:xfrm>
            <a:off x="10579608" y="1042415"/>
            <a:ext cx="1417320" cy="274320"/>
          </a:xfrm>
          <a:prstGeom prst="rect">
            <a:avLst/>
          </a:prstGeom>
          <a:solidFill>
            <a:srgbClr val="404040"/>
          </a:solidFill>
          <a:ln w="12700">
            <a:solidFill>
              <a:srgbClr val="404040"/>
            </a:solidFill>
          </a:ln>
          <a:effectLst/>
        </p:spPr>
        <p:txBody>
          <a:bodyPr rtlCol="0" anchor="ctr" wrap="square" lIns="36576" tIns="18288" rIns="36576" bIns="18288"/>
          <a:lstStyle/>
          <a:p>
            <a:pPr algn="ctr"/>
            <a:r>
              <a:rPr sz="900" b="1">
                <a:solidFill>
                  <a:srgbClr val="FFFFFF"/>
                </a:solidFill>
                <a:latin typeface="맑은 고딕"/>
                <a:ea typeface="맑은 고딕"/>
              </a:rPr>
              <a:t>변경 비용 우위</a:t>
            </a:r>
          </a:p>
        </p:txBody>
      </p:sp>
      <p:sp>
        <p:nvSpPr>
          <p:cNvPr id="106" name="Rectangle 105"/>
          <p:cNvSpPr/>
          <p:nvPr/>
        </p:nvSpPr>
        <p:spPr>
          <a:xfrm>
            <a:off x="246888" y="1316736"/>
            <a:ext cx="2286000" cy="585216"/>
          </a:xfrm>
          <a:prstGeom prst="rect">
            <a:avLst/>
          </a:prstGeom>
          <a:solidFill>
            <a:srgbClr val="F2F2F2"/>
          </a:solidFill>
          <a:ln w="6350">
            <a:solidFill>
              <a:srgbClr val="BFBFBF"/>
            </a:solidFill>
          </a:ln>
          <a:effectLst/>
        </p:spPr>
        <p:txBody>
          <a:bodyPr rtlCol="0" anchor="ctr"/>
          <a:lstStyle/>
          <a:p>
            <a:pPr algn="ctr"/>
          </a:p>
        </p:txBody>
      </p:sp>
      <p:sp>
        <p:nvSpPr>
          <p:cNvPr id="107" name="TextBox 106"/>
          <p:cNvSpPr txBox="1"/>
          <p:nvPr/>
        </p:nvSpPr>
        <p:spPr>
          <a:xfrm>
            <a:off x="320040" y="1380744"/>
            <a:ext cx="45720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M1</a:t>
            </a:r>
          </a:p>
        </p:txBody>
      </p:sp>
      <p:sp>
        <p:nvSpPr>
          <p:cNvPr id="108" name="TextBox 107"/>
          <p:cNvSpPr txBox="1"/>
          <p:nvPr/>
        </p:nvSpPr>
        <p:spPr>
          <a:xfrm>
            <a:off x="795528" y="1389888"/>
            <a:ext cx="169164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새 메모리 종류 추가</a:t>
            </a:r>
          </a:p>
          <a:p>
            <a:pPr algn="l"/>
            <a:r>
              <a:rPr sz="750" b="0">
                <a:solidFill>
                  <a:srgbClr val="404040"/>
                </a:solidFill>
                <a:latin typeface="맑은 고딕"/>
                <a:ea typeface="맑은 고딕"/>
              </a:rPr>
              <a:t>예: CXL·HBF</a:t>
            </a:r>
          </a:p>
        </p:txBody>
      </p:sp>
      <p:sp>
        <p:nvSpPr>
          <p:cNvPr id="109" name="Rectangle 108"/>
          <p:cNvSpPr/>
          <p:nvPr/>
        </p:nvSpPr>
        <p:spPr>
          <a:xfrm>
            <a:off x="2532888" y="1316736"/>
            <a:ext cx="4023360" cy="585216"/>
          </a:xfrm>
          <a:prstGeom prst="rect">
            <a:avLst/>
          </a:prstGeom>
          <a:solidFill>
            <a:srgbClr val="FFFFFF"/>
          </a:solidFill>
          <a:ln w="6350">
            <a:solidFill>
              <a:srgbClr val="BFBFBF"/>
            </a:solidFill>
          </a:ln>
          <a:effectLst/>
        </p:spPr>
        <p:txBody>
          <a:bodyPr rtlCol="0" anchor="ctr"/>
          <a:lstStyle/>
          <a:p>
            <a:pPr algn="ctr"/>
          </a:p>
        </p:txBody>
      </p:sp>
      <p:sp>
        <p:nvSpPr>
          <p:cNvPr id="110" name="Rectangle 109"/>
          <p:cNvSpPr/>
          <p:nvPr/>
        </p:nvSpPr>
        <p:spPr>
          <a:xfrm>
            <a:off x="2606040" y="1380744"/>
            <a:ext cx="1325880" cy="182880"/>
          </a:xfrm>
          <a:prstGeom prst="rect">
            <a:avLst/>
          </a:prstGeom>
          <a:solidFill>
            <a:srgbClr val="DAE3F3"/>
          </a:solidFill>
          <a:ln w="15875">
            <a:solidFill>
              <a:srgbClr val="2F5597"/>
            </a:solidFill>
          </a:ln>
          <a:effectLst/>
        </p:spPr>
        <p:txBody>
          <a:bodyPr rtlCol="0" anchor="ctr" wrap="square" lIns="18288" tIns="0" rIns="18288" bIns="0"/>
          <a:lstStyle/>
          <a:p>
            <a:pPr algn="ctr"/>
            <a:r>
              <a:rPr sz="700" b="1">
                <a:solidFill>
                  <a:srgbClr val="2F5597"/>
                </a:solidFill>
                <a:latin typeface="맑은 고딕"/>
                <a:ea typeface="맑은 고딕"/>
              </a:rPr>
              <a:t>Router 수정</a:t>
            </a:r>
          </a:p>
        </p:txBody>
      </p:sp>
      <p:sp>
        <p:nvSpPr>
          <p:cNvPr id="111" name="TextBox 110"/>
          <p:cNvSpPr txBox="1"/>
          <p:nvPr/>
        </p:nvSpPr>
        <p:spPr>
          <a:xfrm>
            <a:off x="4014216" y="1371600"/>
            <a:ext cx="2468880"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Router의 계층 가중치·비용 모델과 이벤트 계약을 고침</a:t>
            </a:r>
          </a:p>
        </p:txBody>
      </p:sp>
      <p:sp>
        <p:nvSpPr>
          <p:cNvPr id="112" name="Rectangle 111"/>
          <p:cNvSpPr/>
          <p:nvPr/>
        </p:nvSpPr>
        <p:spPr>
          <a:xfrm>
            <a:off x="6556248" y="1316736"/>
            <a:ext cx="4023360" cy="585216"/>
          </a:xfrm>
          <a:prstGeom prst="rect">
            <a:avLst/>
          </a:prstGeom>
          <a:solidFill>
            <a:srgbClr val="FFFFFF"/>
          </a:solidFill>
          <a:ln w="6350">
            <a:solidFill>
              <a:srgbClr val="BFBFBF"/>
            </a:solidFill>
          </a:ln>
          <a:effectLst/>
        </p:spPr>
        <p:txBody>
          <a:bodyPr rtlCol="0" anchor="ctr"/>
          <a:lstStyle/>
          <a:p>
            <a:pPr algn="ctr"/>
          </a:p>
        </p:txBody>
      </p:sp>
      <p:sp>
        <p:nvSpPr>
          <p:cNvPr id="113" name="Rectangle 112"/>
          <p:cNvSpPr/>
          <p:nvPr/>
        </p:nvSpPr>
        <p:spPr>
          <a:xfrm>
            <a:off x="6629400" y="1380744"/>
            <a:ext cx="1325880" cy="182880"/>
          </a:xfrm>
          <a:prstGeom prst="rect">
            <a:avLst/>
          </a:prstGeom>
          <a:solidFill>
            <a:srgbClr val="FBE5D6"/>
          </a:solidFill>
          <a:ln w="15875">
            <a:solidFill>
              <a:srgbClr val="C55A11"/>
            </a:solidFill>
          </a:ln>
          <a:effectLst/>
        </p:spPr>
        <p:txBody>
          <a:bodyPr rtlCol="0" anchor="ctr" wrap="square" lIns="18288" tIns="0" rIns="18288" bIns="0"/>
          <a:lstStyle/>
          <a:p>
            <a:pPr algn="ctr"/>
            <a:r>
              <a:rPr sz="700" b="1">
                <a:solidFill>
                  <a:srgbClr val="C55A11"/>
                </a:solidFill>
                <a:latin typeface="맑은 고딕"/>
                <a:ea typeface="맑은 고딕"/>
              </a:rPr>
              <a:t>에이전트만 · Router 불변</a:t>
            </a:r>
          </a:p>
        </p:txBody>
      </p:sp>
      <p:sp>
        <p:nvSpPr>
          <p:cNvPr id="114" name="TextBox 113"/>
          <p:cNvSpPr txBox="1"/>
          <p:nvPr/>
        </p:nvSpPr>
        <p:spPr>
          <a:xfrm>
            <a:off x="8037575" y="1371600"/>
            <a:ext cx="2468880"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노드 에이전트(DP1 Memory Backend 플러그인)에서 끝. Router는 일반 계층 클래스로 받음</a:t>
            </a:r>
          </a:p>
        </p:txBody>
      </p:sp>
      <p:sp>
        <p:nvSpPr>
          <p:cNvPr id="115" name="Rectangle 114"/>
          <p:cNvSpPr/>
          <p:nvPr/>
        </p:nvSpPr>
        <p:spPr>
          <a:xfrm>
            <a:off x="10579608" y="1316736"/>
            <a:ext cx="1417320" cy="585216"/>
          </a:xfrm>
          <a:prstGeom prst="rect">
            <a:avLst/>
          </a:prstGeom>
          <a:solidFill>
            <a:srgbClr val="FBE5D6"/>
          </a:solidFill>
          <a:ln w="6350">
            <a:solidFill>
              <a:srgbClr val="BFBFBF"/>
            </a:solidFill>
          </a:ln>
          <a:effectLst/>
        </p:spPr>
        <p:txBody>
          <a:bodyPr rtlCol="0" anchor="ctr" wrap="square" lIns="64008" tIns="27432" rIns="45720" bIns="27432"/>
          <a:lstStyle/>
          <a:p>
            <a:pPr algn="ctr"/>
            <a:r>
              <a:rPr sz="1000" b="1">
                <a:solidFill>
                  <a:srgbClr val="C55A11"/>
                </a:solidFill>
                <a:latin typeface="맑은 고딕"/>
                <a:ea typeface="맑은 고딕"/>
              </a:rPr>
              <a:t>S2 유리</a:t>
            </a:r>
          </a:p>
          <a:p>
            <a:pPr algn="ctr"/>
            <a:r>
              <a:rPr sz="750" b="0">
                <a:solidFill>
                  <a:srgbClr val="404040"/>
                </a:solidFill>
                <a:latin typeface="맑은 고딕"/>
                <a:ea typeface="맑은 고딕"/>
              </a:rPr>
              <a:t>격리</a:t>
            </a:r>
          </a:p>
        </p:txBody>
      </p:sp>
      <p:sp>
        <p:nvSpPr>
          <p:cNvPr id="116" name="Rectangle 115"/>
          <p:cNvSpPr/>
          <p:nvPr/>
        </p:nvSpPr>
        <p:spPr>
          <a:xfrm>
            <a:off x="246888" y="1901952"/>
            <a:ext cx="2286000" cy="585216"/>
          </a:xfrm>
          <a:prstGeom prst="rect">
            <a:avLst/>
          </a:prstGeom>
          <a:solidFill>
            <a:srgbClr val="F2F2F2"/>
          </a:solidFill>
          <a:ln w="6350">
            <a:solidFill>
              <a:srgbClr val="BFBFBF"/>
            </a:solidFill>
          </a:ln>
          <a:effectLst/>
        </p:spPr>
        <p:txBody>
          <a:bodyPr rtlCol="0" anchor="ctr"/>
          <a:lstStyle/>
          <a:p>
            <a:pPr algn="ctr"/>
          </a:p>
        </p:txBody>
      </p:sp>
      <p:sp>
        <p:nvSpPr>
          <p:cNvPr id="117" name="TextBox 116"/>
          <p:cNvSpPr txBox="1"/>
          <p:nvPr/>
        </p:nvSpPr>
        <p:spPr>
          <a:xfrm>
            <a:off x="320040" y="1965960"/>
            <a:ext cx="45720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M2</a:t>
            </a:r>
          </a:p>
        </p:txBody>
      </p:sp>
      <p:sp>
        <p:nvSpPr>
          <p:cNvPr id="118" name="TextBox 117"/>
          <p:cNvSpPr txBox="1"/>
          <p:nvPr/>
        </p:nvSpPr>
        <p:spPr>
          <a:xfrm>
            <a:off x="795528" y="1975104"/>
            <a:ext cx="169164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비용 함수 교체</a:t>
            </a:r>
          </a:p>
          <a:p>
            <a:pPr algn="l"/>
            <a:r>
              <a:rPr sz="750" b="0">
                <a:solidFill>
                  <a:srgbClr val="404040"/>
                </a:solidFill>
                <a:latin typeface="맑은 고딕"/>
                <a:ea typeface="맑은 고딕"/>
              </a:rPr>
              <a:t>재계산 대 전송 비용</a:t>
            </a:r>
          </a:p>
        </p:txBody>
      </p:sp>
      <p:sp>
        <p:nvSpPr>
          <p:cNvPr id="119" name="Rectangle 118"/>
          <p:cNvSpPr/>
          <p:nvPr/>
        </p:nvSpPr>
        <p:spPr>
          <a:xfrm>
            <a:off x="2532888" y="1901952"/>
            <a:ext cx="4023360" cy="585216"/>
          </a:xfrm>
          <a:prstGeom prst="rect">
            <a:avLst/>
          </a:prstGeom>
          <a:solidFill>
            <a:srgbClr val="FFFFFF"/>
          </a:solidFill>
          <a:ln w="6350">
            <a:solidFill>
              <a:srgbClr val="BFBFBF"/>
            </a:solidFill>
          </a:ln>
          <a:effectLst/>
        </p:spPr>
        <p:txBody>
          <a:bodyPr rtlCol="0" anchor="ctr"/>
          <a:lstStyle/>
          <a:p>
            <a:pPr algn="ctr"/>
          </a:p>
        </p:txBody>
      </p:sp>
      <p:sp>
        <p:nvSpPr>
          <p:cNvPr id="120" name="Rectangle 119"/>
          <p:cNvSpPr/>
          <p:nvPr/>
        </p:nvSpPr>
        <p:spPr>
          <a:xfrm>
            <a:off x="2606040" y="1965960"/>
            <a:ext cx="1325880" cy="182880"/>
          </a:xfrm>
          <a:prstGeom prst="rect">
            <a:avLst/>
          </a:prstGeom>
          <a:solidFill>
            <a:srgbClr val="DAE3F3"/>
          </a:solidFill>
          <a:ln w="15875">
            <a:solidFill>
              <a:srgbClr val="2F5597"/>
            </a:solidFill>
          </a:ln>
          <a:effectLst/>
        </p:spPr>
        <p:txBody>
          <a:bodyPr rtlCol="0" anchor="ctr" wrap="square" lIns="18288" tIns="0" rIns="18288" bIns="0"/>
          <a:lstStyle/>
          <a:p>
            <a:pPr algn="ctr"/>
            <a:r>
              <a:rPr sz="700" b="1">
                <a:solidFill>
                  <a:srgbClr val="2F5597"/>
                </a:solidFill>
                <a:latin typeface="맑은 고딕"/>
                <a:ea typeface="맑은 고딕"/>
              </a:rPr>
              <a:t>Router 한 곳</a:t>
            </a:r>
          </a:p>
        </p:txBody>
      </p:sp>
      <p:sp>
        <p:nvSpPr>
          <p:cNvPr id="121" name="TextBox 120"/>
          <p:cNvSpPr txBox="1"/>
          <p:nvPr/>
        </p:nvSpPr>
        <p:spPr>
          <a:xfrm>
            <a:off x="4014216" y="1956816"/>
            <a:ext cx="2468880"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PolicyEngine 한 곳만 교체</a:t>
            </a:r>
          </a:p>
        </p:txBody>
      </p:sp>
      <p:sp>
        <p:nvSpPr>
          <p:cNvPr id="122" name="Rectangle 121"/>
          <p:cNvSpPr/>
          <p:nvPr/>
        </p:nvSpPr>
        <p:spPr>
          <a:xfrm>
            <a:off x="6556248" y="1901952"/>
            <a:ext cx="4023360" cy="585216"/>
          </a:xfrm>
          <a:prstGeom prst="rect">
            <a:avLst/>
          </a:prstGeom>
          <a:solidFill>
            <a:srgbClr val="FFFFFF"/>
          </a:solidFill>
          <a:ln w="6350">
            <a:solidFill>
              <a:srgbClr val="BFBFBF"/>
            </a:solidFill>
          </a:ln>
          <a:effectLst/>
        </p:spPr>
        <p:txBody>
          <a:bodyPr rtlCol="0" anchor="ctr"/>
          <a:lstStyle/>
          <a:p>
            <a:pPr algn="ctr"/>
          </a:p>
        </p:txBody>
      </p:sp>
      <p:sp>
        <p:nvSpPr>
          <p:cNvPr id="123" name="Rectangle 122"/>
          <p:cNvSpPr/>
          <p:nvPr/>
        </p:nvSpPr>
        <p:spPr>
          <a:xfrm>
            <a:off x="6629400" y="1965960"/>
            <a:ext cx="822960" cy="182880"/>
          </a:xfrm>
          <a:prstGeom prst="rect">
            <a:avLst/>
          </a:prstGeom>
          <a:solidFill>
            <a:srgbClr val="FBE5D6"/>
          </a:solidFill>
          <a:ln w="15875">
            <a:solidFill>
              <a:srgbClr val="C55A11"/>
            </a:solidFill>
          </a:ln>
          <a:effectLst/>
        </p:spPr>
        <p:txBody>
          <a:bodyPr rtlCol="0" anchor="ctr" wrap="square" lIns="18288" tIns="0" rIns="18288" bIns="0"/>
          <a:lstStyle/>
          <a:p>
            <a:pPr algn="ctr"/>
            <a:r>
              <a:rPr sz="700" b="1">
                <a:solidFill>
                  <a:srgbClr val="C55A11"/>
                </a:solidFill>
                <a:latin typeface="맑은 고딕"/>
                <a:ea typeface="맑은 고딕"/>
              </a:rPr>
              <a:t>양쪽</a:t>
            </a:r>
          </a:p>
        </p:txBody>
      </p:sp>
      <p:sp>
        <p:nvSpPr>
          <p:cNvPr id="124" name="TextBox 123"/>
          <p:cNvSpPr txBox="1"/>
          <p:nvPr/>
        </p:nvSpPr>
        <p:spPr>
          <a:xfrm>
            <a:off x="7516368" y="1956816"/>
            <a:ext cx="2999232"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클러스터 비용(Router)과 노드 계층 비용(에이전트) 두 곳</a:t>
            </a:r>
          </a:p>
        </p:txBody>
      </p:sp>
      <p:sp>
        <p:nvSpPr>
          <p:cNvPr id="125" name="Rectangle 124"/>
          <p:cNvSpPr/>
          <p:nvPr/>
        </p:nvSpPr>
        <p:spPr>
          <a:xfrm>
            <a:off x="10579608" y="1901952"/>
            <a:ext cx="1417320" cy="585216"/>
          </a:xfrm>
          <a:prstGeom prst="rect">
            <a:avLst/>
          </a:prstGeom>
          <a:solidFill>
            <a:srgbClr val="DAE3F3"/>
          </a:solidFill>
          <a:ln w="6350">
            <a:solidFill>
              <a:srgbClr val="BFBFBF"/>
            </a:solidFill>
          </a:ln>
          <a:effectLst/>
        </p:spPr>
        <p:txBody>
          <a:bodyPr rtlCol="0" anchor="ctr" wrap="square" lIns="64008" tIns="27432" rIns="45720" bIns="27432"/>
          <a:lstStyle/>
          <a:p>
            <a:pPr algn="ctr"/>
            <a:r>
              <a:rPr sz="1000" b="1">
                <a:solidFill>
                  <a:srgbClr val="2F5597"/>
                </a:solidFill>
                <a:latin typeface="맑은 고딕"/>
                <a:ea typeface="맑은 고딕"/>
              </a:rPr>
              <a:t>S1 유리</a:t>
            </a:r>
          </a:p>
          <a:p>
            <a:pPr algn="ctr"/>
            <a:r>
              <a:rPr sz="750" b="0">
                <a:solidFill>
                  <a:srgbClr val="404040"/>
                </a:solidFill>
                <a:latin typeface="맑은 고딕"/>
                <a:ea typeface="맑은 고딕"/>
              </a:rPr>
              <a:t>한 곳</a:t>
            </a:r>
          </a:p>
        </p:txBody>
      </p:sp>
      <p:sp>
        <p:nvSpPr>
          <p:cNvPr id="126" name="Rectangle 125"/>
          <p:cNvSpPr/>
          <p:nvPr/>
        </p:nvSpPr>
        <p:spPr>
          <a:xfrm>
            <a:off x="246888" y="2487168"/>
            <a:ext cx="2286000" cy="585216"/>
          </a:xfrm>
          <a:prstGeom prst="rect">
            <a:avLst/>
          </a:prstGeom>
          <a:solidFill>
            <a:srgbClr val="F2F2F2"/>
          </a:solidFill>
          <a:ln w="6350">
            <a:solidFill>
              <a:srgbClr val="BFBFBF"/>
            </a:solidFill>
          </a:ln>
          <a:effectLst/>
        </p:spPr>
        <p:txBody>
          <a:bodyPr rtlCol="0" anchor="ctr"/>
          <a:lstStyle/>
          <a:p>
            <a:pPr algn="ctr"/>
          </a:p>
        </p:txBody>
      </p:sp>
      <p:sp>
        <p:nvSpPr>
          <p:cNvPr id="127" name="TextBox 126"/>
          <p:cNvSpPr txBox="1"/>
          <p:nvPr/>
        </p:nvSpPr>
        <p:spPr>
          <a:xfrm>
            <a:off x="320040" y="2551176"/>
            <a:ext cx="45720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M3</a:t>
            </a:r>
          </a:p>
        </p:txBody>
      </p:sp>
      <p:sp>
        <p:nvSpPr>
          <p:cNvPr id="128" name="TextBox 127"/>
          <p:cNvSpPr txBox="1"/>
          <p:nvPr/>
        </p:nvSpPr>
        <p:spPr>
          <a:xfrm>
            <a:off x="795528" y="2560320"/>
            <a:ext cx="169164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P/D 결정 정책 교체</a:t>
            </a:r>
          </a:p>
          <a:p>
            <a:pPr algn="l"/>
            <a:r>
              <a:rPr sz="750" b="0">
                <a:solidFill>
                  <a:srgbClr val="404040"/>
                </a:solidFill>
                <a:latin typeface="맑은 고딕"/>
                <a:ea typeface="맑은 고딕"/>
              </a:rPr>
              <a:t>분리 기준 변경</a:t>
            </a:r>
          </a:p>
        </p:txBody>
      </p:sp>
      <p:sp>
        <p:nvSpPr>
          <p:cNvPr id="129" name="Rectangle 128"/>
          <p:cNvSpPr/>
          <p:nvPr/>
        </p:nvSpPr>
        <p:spPr>
          <a:xfrm>
            <a:off x="2532888" y="2487168"/>
            <a:ext cx="4023360" cy="585216"/>
          </a:xfrm>
          <a:prstGeom prst="rect">
            <a:avLst/>
          </a:prstGeom>
          <a:solidFill>
            <a:srgbClr val="FFFFFF"/>
          </a:solidFill>
          <a:ln w="6350">
            <a:solidFill>
              <a:srgbClr val="BFBFBF"/>
            </a:solidFill>
          </a:ln>
          <a:effectLst/>
        </p:spPr>
        <p:txBody>
          <a:bodyPr rtlCol="0" anchor="ctr"/>
          <a:lstStyle/>
          <a:p>
            <a:pPr algn="ctr"/>
          </a:p>
        </p:txBody>
      </p:sp>
      <p:sp>
        <p:nvSpPr>
          <p:cNvPr id="130" name="Rectangle 129"/>
          <p:cNvSpPr/>
          <p:nvPr/>
        </p:nvSpPr>
        <p:spPr>
          <a:xfrm>
            <a:off x="2606040" y="2551176"/>
            <a:ext cx="1325880" cy="182880"/>
          </a:xfrm>
          <a:prstGeom prst="rect">
            <a:avLst/>
          </a:prstGeom>
          <a:solidFill>
            <a:srgbClr val="DAE3F3"/>
          </a:solidFill>
          <a:ln w="15875">
            <a:solidFill>
              <a:srgbClr val="2F5597"/>
            </a:solidFill>
          </a:ln>
          <a:effectLst/>
        </p:spPr>
        <p:txBody>
          <a:bodyPr rtlCol="0" anchor="ctr" wrap="square" lIns="18288" tIns="0" rIns="18288" bIns="0"/>
          <a:lstStyle/>
          <a:p>
            <a:pPr algn="ctr"/>
            <a:r>
              <a:rPr sz="700" b="1">
                <a:solidFill>
                  <a:srgbClr val="2F5597"/>
                </a:solidFill>
                <a:latin typeface="맑은 고딕"/>
                <a:ea typeface="맑은 고딕"/>
              </a:rPr>
              <a:t>Router 한 곳</a:t>
            </a:r>
          </a:p>
        </p:txBody>
      </p:sp>
      <p:sp>
        <p:nvSpPr>
          <p:cNvPr id="131" name="TextBox 130"/>
          <p:cNvSpPr txBox="1"/>
          <p:nvPr/>
        </p:nvSpPr>
        <p:spPr>
          <a:xfrm>
            <a:off x="4014216" y="2542032"/>
            <a:ext cx="2468880"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P/D 모듈 교체</a:t>
            </a:r>
          </a:p>
        </p:txBody>
      </p:sp>
      <p:sp>
        <p:nvSpPr>
          <p:cNvPr id="132" name="Rectangle 131"/>
          <p:cNvSpPr/>
          <p:nvPr/>
        </p:nvSpPr>
        <p:spPr>
          <a:xfrm>
            <a:off x="6556248" y="2487168"/>
            <a:ext cx="4023360" cy="585216"/>
          </a:xfrm>
          <a:prstGeom prst="rect">
            <a:avLst/>
          </a:prstGeom>
          <a:solidFill>
            <a:srgbClr val="FFFFFF"/>
          </a:solidFill>
          <a:ln w="6350">
            <a:solidFill>
              <a:srgbClr val="BFBFBF"/>
            </a:solidFill>
          </a:ln>
          <a:effectLst/>
        </p:spPr>
        <p:txBody>
          <a:bodyPr rtlCol="0" anchor="ctr"/>
          <a:lstStyle/>
          <a:p>
            <a:pPr algn="ctr"/>
          </a:p>
        </p:txBody>
      </p:sp>
      <p:sp>
        <p:nvSpPr>
          <p:cNvPr id="133" name="Rectangle 132"/>
          <p:cNvSpPr/>
          <p:nvPr/>
        </p:nvSpPr>
        <p:spPr>
          <a:xfrm>
            <a:off x="6629400" y="2551176"/>
            <a:ext cx="1325880" cy="182880"/>
          </a:xfrm>
          <a:prstGeom prst="rect">
            <a:avLst/>
          </a:prstGeom>
          <a:solidFill>
            <a:srgbClr val="FBE5D6"/>
          </a:solidFill>
          <a:ln w="15875">
            <a:solidFill>
              <a:srgbClr val="C55A11"/>
            </a:solidFill>
          </a:ln>
          <a:effectLst/>
        </p:spPr>
        <p:txBody>
          <a:bodyPr rtlCol="0" anchor="ctr" wrap="square" lIns="18288" tIns="0" rIns="18288" bIns="0"/>
          <a:lstStyle/>
          <a:p>
            <a:pPr algn="ctr"/>
            <a:r>
              <a:rPr sz="700" b="1">
                <a:solidFill>
                  <a:srgbClr val="C55A11"/>
                </a:solidFill>
                <a:latin typeface="맑은 고딕"/>
                <a:ea typeface="맑은 고딕"/>
              </a:rPr>
              <a:t>Router 한 곳</a:t>
            </a:r>
          </a:p>
        </p:txBody>
      </p:sp>
      <p:sp>
        <p:nvSpPr>
          <p:cNvPr id="134" name="TextBox 133"/>
          <p:cNvSpPr txBox="1"/>
          <p:nvPr/>
        </p:nvSpPr>
        <p:spPr>
          <a:xfrm>
            <a:off x="8037575" y="2542032"/>
            <a:ext cx="2468880"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P/D 모듈 교체 (노드 자원 선택은 DP2)</a:t>
            </a:r>
          </a:p>
        </p:txBody>
      </p:sp>
      <p:sp>
        <p:nvSpPr>
          <p:cNvPr id="135" name="Rectangle 134"/>
          <p:cNvSpPr/>
          <p:nvPr/>
        </p:nvSpPr>
        <p:spPr>
          <a:xfrm>
            <a:off x="10579608" y="2487168"/>
            <a:ext cx="1417320" cy="585216"/>
          </a:xfrm>
          <a:prstGeom prst="rect">
            <a:avLst/>
          </a:prstGeom>
          <a:solidFill>
            <a:srgbClr val="FFFFFF"/>
          </a:solidFill>
          <a:ln w="6350">
            <a:solidFill>
              <a:srgbClr val="BFBFBF"/>
            </a:solidFill>
          </a:ln>
          <a:effectLst/>
        </p:spPr>
        <p:txBody>
          <a:bodyPr rtlCol="0" anchor="ctr" wrap="square" lIns="64008" tIns="27432" rIns="45720" bIns="27432"/>
          <a:lstStyle/>
          <a:p>
            <a:pPr algn="ctr"/>
            <a:r>
              <a:rPr sz="1000" b="1">
                <a:solidFill>
                  <a:srgbClr val="404040"/>
                </a:solidFill>
                <a:latin typeface="맑은 고딕"/>
                <a:ea typeface="맑은 고딕"/>
              </a:rPr>
              <a:t>동등</a:t>
            </a:r>
          </a:p>
        </p:txBody>
      </p:sp>
      <p:sp>
        <p:nvSpPr>
          <p:cNvPr id="136" name="Rectangle 135"/>
          <p:cNvSpPr/>
          <p:nvPr/>
        </p:nvSpPr>
        <p:spPr>
          <a:xfrm>
            <a:off x="246888" y="3072384"/>
            <a:ext cx="2286000" cy="585216"/>
          </a:xfrm>
          <a:prstGeom prst="rect">
            <a:avLst/>
          </a:prstGeom>
          <a:solidFill>
            <a:srgbClr val="F2F2F2"/>
          </a:solidFill>
          <a:ln w="6350">
            <a:solidFill>
              <a:srgbClr val="BFBFBF"/>
            </a:solidFill>
          </a:ln>
          <a:effectLst/>
        </p:spPr>
        <p:txBody>
          <a:bodyPr rtlCol="0" anchor="ctr"/>
          <a:lstStyle/>
          <a:p>
            <a:pPr algn="ctr"/>
          </a:p>
        </p:txBody>
      </p:sp>
      <p:sp>
        <p:nvSpPr>
          <p:cNvPr id="137" name="TextBox 136"/>
          <p:cNvSpPr txBox="1"/>
          <p:nvPr/>
        </p:nvSpPr>
        <p:spPr>
          <a:xfrm>
            <a:off x="320040" y="3136392"/>
            <a:ext cx="45720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M4</a:t>
            </a:r>
          </a:p>
        </p:txBody>
      </p:sp>
      <p:sp>
        <p:nvSpPr>
          <p:cNvPr id="138" name="TextBox 137"/>
          <p:cNvSpPr txBox="1"/>
          <p:nvPr/>
        </p:nvSpPr>
        <p:spPr>
          <a:xfrm>
            <a:off x="795528" y="3145536"/>
            <a:ext cx="169164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노드 지시 항목 추가</a:t>
            </a:r>
          </a:p>
          <a:p>
            <a:pPr algn="l"/>
            <a:r>
              <a:rPr sz="750" b="0">
                <a:solidFill>
                  <a:srgbClr val="404040"/>
                </a:solidFill>
                <a:latin typeface="맑은 고딕"/>
                <a:ea typeface="맑은 고딕"/>
              </a:rPr>
              <a:t>예: 새 지시 키</a:t>
            </a:r>
          </a:p>
        </p:txBody>
      </p:sp>
      <p:sp>
        <p:nvSpPr>
          <p:cNvPr id="139" name="Rectangle 138"/>
          <p:cNvSpPr/>
          <p:nvPr/>
        </p:nvSpPr>
        <p:spPr>
          <a:xfrm>
            <a:off x="2532888" y="3072384"/>
            <a:ext cx="4023360" cy="585216"/>
          </a:xfrm>
          <a:prstGeom prst="rect">
            <a:avLst/>
          </a:prstGeom>
          <a:solidFill>
            <a:srgbClr val="FFFFFF"/>
          </a:solidFill>
          <a:ln w="6350">
            <a:solidFill>
              <a:srgbClr val="BFBFBF"/>
            </a:solidFill>
          </a:ln>
          <a:effectLst/>
        </p:spPr>
        <p:txBody>
          <a:bodyPr rtlCol="0" anchor="ctr"/>
          <a:lstStyle/>
          <a:p>
            <a:pPr algn="ctr"/>
          </a:p>
        </p:txBody>
      </p:sp>
      <p:sp>
        <p:nvSpPr>
          <p:cNvPr id="140" name="Rectangle 139"/>
          <p:cNvSpPr/>
          <p:nvPr/>
        </p:nvSpPr>
        <p:spPr>
          <a:xfrm>
            <a:off x="2606040" y="3136392"/>
            <a:ext cx="1325880" cy="182880"/>
          </a:xfrm>
          <a:prstGeom prst="rect">
            <a:avLst/>
          </a:prstGeom>
          <a:solidFill>
            <a:srgbClr val="DAE3F3"/>
          </a:solidFill>
          <a:ln w="15875">
            <a:solidFill>
              <a:srgbClr val="2F5597"/>
            </a:solidFill>
          </a:ln>
          <a:effectLst/>
        </p:spPr>
        <p:txBody>
          <a:bodyPr rtlCol="0" anchor="ctr" wrap="square" lIns="18288" tIns="0" rIns="18288" bIns="0"/>
          <a:lstStyle/>
          <a:p>
            <a:pPr algn="ctr"/>
            <a:r>
              <a:rPr sz="700" b="1">
                <a:solidFill>
                  <a:srgbClr val="2F5597"/>
                </a:solidFill>
                <a:latin typeface="맑은 고딕"/>
                <a:ea typeface="맑은 고딕"/>
              </a:rPr>
              <a:t>Router + 엔진</a:t>
            </a:r>
          </a:p>
        </p:txBody>
      </p:sp>
      <p:sp>
        <p:nvSpPr>
          <p:cNvPr id="141" name="TextBox 140"/>
          <p:cNvSpPr txBox="1"/>
          <p:nvPr/>
        </p:nvSpPr>
        <p:spPr>
          <a:xfrm>
            <a:off x="4014216" y="3127248"/>
            <a:ext cx="2468880"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Router 지시 생성부 + 엔진 수신부</a:t>
            </a:r>
          </a:p>
        </p:txBody>
      </p:sp>
      <p:sp>
        <p:nvSpPr>
          <p:cNvPr id="142" name="Rectangle 141"/>
          <p:cNvSpPr/>
          <p:nvPr/>
        </p:nvSpPr>
        <p:spPr>
          <a:xfrm>
            <a:off x="6556248" y="3072384"/>
            <a:ext cx="4023360" cy="585216"/>
          </a:xfrm>
          <a:prstGeom prst="rect">
            <a:avLst/>
          </a:prstGeom>
          <a:solidFill>
            <a:srgbClr val="FFFFFF"/>
          </a:solidFill>
          <a:ln w="6350">
            <a:solidFill>
              <a:srgbClr val="BFBFBF"/>
            </a:solidFill>
          </a:ln>
          <a:effectLst/>
        </p:spPr>
        <p:txBody>
          <a:bodyPr rtlCol="0" anchor="ctr"/>
          <a:lstStyle/>
          <a:p>
            <a:pPr algn="ctr"/>
          </a:p>
        </p:txBody>
      </p:sp>
      <p:sp>
        <p:nvSpPr>
          <p:cNvPr id="143" name="Rectangle 142"/>
          <p:cNvSpPr/>
          <p:nvPr/>
        </p:nvSpPr>
        <p:spPr>
          <a:xfrm>
            <a:off x="6629400" y="3136392"/>
            <a:ext cx="1325880" cy="182880"/>
          </a:xfrm>
          <a:prstGeom prst="rect">
            <a:avLst/>
          </a:prstGeom>
          <a:solidFill>
            <a:srgbClr val="FBE5D6"/>
          </a:solidFill>
          <a:ln w="15875">
            <a:solidFill>
              <a:srgbClr val="C55A11"/>
            </a:solidFill>
          </a:ln>
          <a:effectLst/>
        </p:spPr>
        <p:txBody>
          <a:bodyPr rtlCol="0" anchor="ctr" wrap="square" lIns="18288" tIns="0" rIns="18288" bIns="0"/>
          <a:lstStyle/>
          <a:p>
            <a:pPr algn="ctr"/>
            <a:r>
              <a:rPr sz="700" b="1">
                <a:solidFill>
                  <a:srgbClr val="C55A11"/>
                </a:solidFill>
                <a:latin typeface="맑은 고딕"/>
                <a:ea typeface="맑은 고딕"/>
              </a:rPr>
              <a:t>에이전트만 · Router 불변</a:t>
            </a:r>
          </a:p>
        </p:txBody>
      </p:sp>
      <p:sp>
        <p:nvSpPr>
          <p:cNvPr id="144" name="TextBox 143"/>
          <p:cNvSpPr txBox="1"/>
          <p:nvPr/>
        </p:nvSpPr>
        <p:spPr>
          <a:xfrm>
            <a:off x="8037575" y="3127248"/>
            <a:ext cx="2468880"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엔진 접점 옆 에이전트에서 로컬로 추가</a:t>
            </a:r>
          </a:p>
        </p:txBody>
      </p:sp>
      <p:sp>
        <p:nvSpPr>
          <p:cNvPr id="145" name="Rectangle 144"/>
          <p:cNvSpPr/>
          <p:nvPr/>
        </p:nvSpPr>
        <p:spPr>
          <a:xfrm>
            <a:off x="10579608" y="3072384"/>
            <a:ext cx="1417320" cy="585216"/>
          </a:xfrm>
          <a:prstGeom prst="rect">
            <a:avLst/>
          </a:prstGeom>
          <a:solidFill>
            <a:srgbClr val="FBE5D6"/>
          </a:solidFill>
          <a:ln w="6350">
            <a:solidFill>
              <a:srgbClr val="BFBFBF"/>
            </a:solidFill>
          </a:ln>
          <a:effectLst/>
        </p:spPr>
        <p:txBody>
          <a:bodyPr rtlCol="0" anchor="ctr" wrap="square" lIns="64008" tIns="27432" rIns="45720" bIns="27432"/>
          <a:lstStyle/>
          <a:p>
            <a:pPr algn="ctr"/>
            <a:r>
              <a:rPr sz="1000" b="1">
                <a:solidFill>
                  <a:srgbClr val="C55A11"/>
                </a:solidFill>
                <a:latin typeface="맑은 고딕"/>
                <a:ea typeface="맑은 고딕"/>
              </a:rPr>
              <a:t>S2 유리</a:t>
            </a:r>
          </a:p>
          <a:p>
            <a:pPr algn="ctr"/>
            <a:r>
              <a:rPr sz="750" b="0">
                <a:solidFill>
                  <a:srgbClr val="404040"/>
                </a:solidFill>
                <a:latin typeface="맑은 고딕"/>
                <a:ea typeface="맑은 고딕"/>
              </a:rPr>
              <a:t>격리</a:t>
            </a:r>
          </a:p>
        </p:txBody>
      </p:sp>
      <p:sp>
        <p:nvSpPr>
          <p:cNvPr id="146" name="Rectangle 145"/>
          <p:cNvSpPr/>
          <p:nvPr/>
        </p:nvSpPr>
        <p:spPr>
          <a:xfrm>
            <a:off x="246888" y="3657600"/>
            <a:ext cx="2286000" cy="585216"/>
          </a:xfrm>
          <a:prstGeom prst="rect">
            <a:avLst/>
          </a:prstGeom>
          <a:solidFill>
            <a:srgbClr val="F2F2F2"/>
          </a:solidFill>
          <a:ln w="6350">
            <a:solidFill>
              <a:srgbClr val="BFBFBF"/>
            </a:solidFill>
          </a:ln>
          <a:effectLst/>
        </p:spPr>
        <p:txBody>
          <a:bodyPr rtlCol="0" anchor="ctr"/>
          <a:lstStyle/>
          <a:p>
            <a:pPr algn="ctr"/>
          </a:p>
        </p:txBody>
      </p:sp>
      <p:sp>
        <p:nvSpPr>
          <p:cNvPr id="147" name="TextBox 146"/>
          <p:cNvSpPr txBox="1"/>
          <p:nvPr/>
        </p:nvSpPr>
        <p:spPr>
          <a:xfrm>
            <a:off x="320040" y="3721608"/>
            <a:ext cx="45720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M5</a:t>
            </a:r>
          </a:p>
        </p:txBody>
      </p:sp>
      <p:sp>
        <p:nvSpPr>
          <p:cNvPr id="148" name="TextBox 147"/>
          <p:cNvSpPr txBox="1"/>
          <p:nvPr/>
        </p:nvSpPr>
        <p:spPr>
          <a:xfrm>
            <a:off x="795528" y="3730752"/>
            <a:ext cx="169164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vLLM·NIXL 계약 변경</a:t>
            </a:r>
          </a:p>
          <a:p>
            <a:pPr algn="l"/>
            <a:r>
              <a:rPr sz="750" b="0">
                <a:solidFill>
                  <a:srgbClr val="404040"/>
                </a:solidFill>
                <a:latin typeface="맑은 고딕"/>
                <a:ea typeface="맑은 고딕"/>
              </a:rPr>
              <a:t>이벤트·메트릭 형식 변경</a:t>
            </a:r>
          </a:p>
        </p:txBody>
      </p:sp>
      <p:sp>
        <p:nvSpPr>
          <p:cNvPr id="149" name="Rectangle 148"/>
          <p:cNvSpPr/>
          <p:nvPr/>
        </p:nvSpPr>
        <p:spPr>
          <a:xfrm>
            <a:off x="2532888" y="3657600"/>
            <a:ext cx="4023360" cy="585216"/>
          </a:xfrm>
          <a:prstGeom prst="rect">
            <a:avLst/>
          </a:prstGeom>
          <a:solidFill>
            <a:srgbClr val="FFFFFF"/>
          </a:solidFill>
          <a:ln w="6350">
            <a:solidFill>
              <a:srgbClr val="BFBFBF"/>
            </a:solidFill>
          </a:ln>
          <a:effectLst/>
        </p:spPr>
        <p:txBody>
          <a:bodyPr rtlCol="0" anchor="ctr"/>
          <a:lstStyle/>
          <a:p>
            <a:pPr algn="ctr"/>
          </a:p>
        </p:txBody>
      </p:sp>
      <p:sp>
        <p:nvSpPr>
          <p:cNvPr id="150" name="Rectangle 149"/>
          <p:cNvSpPr/>
          <p:nvPr/>
        </p:nvSpPr>
        <p:spPr>
          <a:xfrm>
            <a:off x="2606040" y="3721608"/>
            <a:ext cx="1325880" cy="182880"/>
          </a:xfrm>
          <a:prstGeom prst="rect">
            <a:avLst/>
          </a:prstGeom>
          <a:solidFill>
            <a:srgbClr val="DAE3F3"/>
          </a:solidFill>
          <a:ln w="15875">
            <a:solidFill>
              <a:srgbClr val="2F5597"/>
            </a:solidFill>
          </a:ln>
          <a:effectLst/>
        </p:spPr>
        <p:txBody>
          <a:bodyPr rtlCol="0" anchor="ctr" wrap="square" lIns="18288" tIns="0" rIns="18288" bIns="0"/>
          <a:lstStyle/>
          <a:p>
            <a:pPr algn="ctr"/>
            <a:r>
              <a:rPr sz="700" b="1">
                <a:solidFill>
                  <a:srgbClr val="2F5597"/>
                </a:solidFill>
                <a:latin typeface="맑은 고딕"/>
                <a:ea typeface="맑은 고딕"/>
              </a:rPr>
              <a:t>Router 수정</a:t>
            </a:r>
          </a:p>
        </p:txBody>
      </p:sp>
      <p:sp>
        <p:nvSpPr>
          <p:cNvPr id="151" name="TextBox 150"/>
          <p:cNvSpPr txBox="1"/>
          <p:nvPr/>
        </p:nvSpPr>
        <p:spPr>
          <a:xfrm>
            <a:off x="4014216" y="3712463"/>
            <a:ext cx="2468880"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Router의 이벤트 어댑터·index 의미를 고침</a:t>
            </a:r>
          </a:p>
        </p:txBody>
      </p:sp>
      <p:sp>
        <p:nvSpPr>
          <p:cNvPr id="152" name="Rectangle 151"/>
          <p:cNvSpPr/>
          <p:nvPr/>
        </p:nvSpPr>
        <p:spPr>
          <a:xfrm>
            <a:off x="6556248" y="3657600"/>
            <a:ext cx="4023360" cy="585216"/>
          </a:xfrm>
          <a:prstGeom prst="rect">
            <a:avLst/>
          </a:prstGeom>
          <a:solidFill>
            <a:srgbClr val="FFFFFF"/>
          </a:solidFill>
          <a:ln w="6350">
            <a:solidFill>
              <a:srgbClr val="BFBFBF"/>
            </a:solidFill>
          </a:ln>
          <a:effectLst/>
        </p:spPr>
        <p:txBody>
          <a:bodyPr rtlCol="0" anchor="ctr"/>
          <a:lstStyle/>
          <a:p>
            <a:pPr algn="ctr"/>
          </a:p>
        </p:txBody>
      </p:sp>
      <p:sp>
        <p:nvSpPr>
          <p:cNvPr id="153" name="Rectangle 152"/>
          <p:cNvSpPr/>
          <p:nvPr/>
        </p:nvSpPr>
        <p:spPr>
          <a:xfrm>
            <a:off x="6629400" y="3721608"/>
            <a:ext cx="1325880" cy="182880"/>
          </a:xfrm>
          <a:prstGeom prst="rect">
            <a:avLst/>
          </a:prstGeom>
          <a:solidFill>
            <a:srgbClr val="FBE5D6"/>
          </a:solidFill>
          <a:ln w="15875">
            <a:solidFill>
              <a:srgbClr val="C55A11"/>
            </a:solidFill>
          </a:ln>
          <a:effectLst/>
        </p:spPr>
        <p:txBody>
          <a:bodyPr rtlCol="0" anchor="ctr" wrap="square" lIns="18288" tIns="0" rIns="18288" bIns="0"/>
          <a:lstStyle/>
          <a:p>
            <a:pPr algn="ctr"/>
            <a:r>
              <a:rPr sz="700" b="1">
                <a:solidFill>
                  <a:srgbClr val="C55A11"/>
                </a:solidFill>
                <a:latin typeface="맑은 고딕"/>
                <a:ea typeface="맑은 고딕"/>
              </a:rPr>
              <a:t>에이전트가 흡수</a:t>
            </a:r>
          </a:p>
        </p:txBody>
      </p:sp>
      <p:sp>
        <p:nvSpPr>
          <p:cNvPr id="154" name="TextBox 153"/>
          <p:cNvSpPr txBox="1"/>
          <p:nvPr/>
        </p:nvSpPr>
        <p:spPr>
          <a:xfrm>
            <a:off x="8037575" y="3712463"/>
            <a:ext cx="2468880"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에이전트가 흡수, Router는 요약 스키마만</a:t>
            </a:r>
          </a:p>
        </p:txBody>
      </p:sp>
      <p:sp>
        <p:nvSpPr>
          <p:cNvPr id="155" name="Rectangle 154"/>
          <p:cNvSpPr/>
          <p:nvPr/>
        </p:nvSpPr>
        <p:spPr>
          <a:xfrm>
            <a:off x="10579608" y="3657600"/>
            <a:ext cx="1417320" cy="585216"/>
          </a:xfrm>
          <a:prstGeom prst="rect">
            <a:avLst/>
          </a:prstGeom>
          <a:solidFill>
            <a:srgbClr val="FBE5D6"/>
          </a:solidFill>
          <a:ln w="6350">
            <a:solidFill>
              <a:srgbClr val="BFBFBF"/>
            </a:solidFill>
          </a:ln>
          <a:effectLst/>
        </p:spPr>
        <p:txBody>
          <a:bodyPr rtlCol="0" anchor="ctr" wrap="square" lIns="64008" tIns="27432" rIns="45720" bIns="27432"/>
          <a:lstStyle/>
          <a:p>
            <a:pPr algn="ctr"/>
            <a:r>
              <a:rPr sz="1000" b="1">
                <a:solidFill>
                  <a:srgbClr val="C55A11"/>
                </a:solidFill>
                <a:latin typeface="맑은 고딕"/>
                <a:ea typeface="맑은 고딕"/>
              </a:rPr>
              <a:t>S2 유리</a:t>
            </a:r>
          </a:p>
          <a:p>
            <a:pPr algn="ctr"/>
            <a:r>
              <a:rPr sz="750" b="0">
                <a:solidFill>
                  <a:srgbClr val="404040"/>
                </a:solidFill>
                <a:latin typeface="맑은 고딕"/>
                <a:ea typeface="맑은 고딕"/>
              </a:rPr>
              <a:t>격리</a:t>
            </a:r>
          </a:p>
        </p:txBody>
      </p:sp>
      <p:sp>
        <p:nvSpPr>
          <p:cNvPr id="156" name="Rectangle 155"/>
          <p:cNvSpPr/>
          <p:nvPr/>
        </p:nvSpPr>
        <p:spPr>
          <a:xfrm>
            <a:off x="246888" y="4242816"/>
            <a:ext cx="2286000" cy="585216"/>
          </a:xfrm>
          <a:prstGeom prst="rect">
            <a:avLst/>
          </a:prstGeom>
          <a:solidFill>
            <a:srgbClr val="F2F2F2"/>
          </a:solidFill>
          <a:ln w="6350">
            <a:solidFill>
              <a:srgbClr val="BFBFBF"/>
            </a:solidFill>
          </a:ln>
          <a:effectLst/>
        </p:spPr>
        <p:txBody>
          <a:bodyPr rtlCol="0" anchor="ctr"/>
          <a:lstStyle/>
          <a:p>
            <a:pPr algn="ctr"/>
          </a:p>
        </p:txBody>
      </p:sp>
      <p:sp>
        <p:nvSpPr>
          <p:cNvPr id="157" name="TextBox 156"/>
          <p:cNvSpPr txBox="1"/>
          <p:nvPr/>
        </p:nvSpPr>
        <p:spPr>
          <a:xfrm>
            <a:off x="320040" y="4306824"/>
            <a:ext cx="457200" cy="457200"/>
          </a:xfrm>
          <a:prstGeom prst="rect">
            <a:avLst/>
          </a:prstGeom>
          <a:noFill/>
        </p:spPr>
        <p:txBody>
          <a:bodyPr wrap="square" anchor="ctr" lIns="0" tIns="0" rIns="0" bIns="0">
            <a:spAutoFit/>
          </a:bodyPr>
          <a:lstStyle/>
          <a:p>
            <a:pPr algn="l"/>
            <a:r>
              <a:rPr sz="1400" b="1">
                <a:solidFill>
                  <a:srgbClr val="404040"/>
                </a:solidFill>
                <a:latin typeface="맑은 고딕"/>
                <a:ea typeface="맑은 고딕"/>
              </a:rPr>
              <a:t>M6</a:t>
            </a:r>
          </a:p>
        </p:txBody>
      </p:sp>
      <p:sp>
        <p:nvSpPr>
          <p:cNvPr id="158" name="TextBox 157"/>
          <p:cNvSpPr txBox="1"/>
          <p:nvPr/>
        </p:nvSpPr>
        <p:spPr>
          <a:xfrm>
            <a:off x="795528" y="4315968"/>
            <a:ext cx="1691640" cy="457200"/>
          </a:xfrm>
          <a:prstGeom prst="rect">
            <a:avLst/>
          </a:prstGeom>
          <a:noFill/>
        </p:spPr>
        <p:txBody>
          <a:bodyPr wrap="square" anchor="t" lIns="0" tIns="0" rIns="0" bIns="0">
            <a:spAutoFit/>
          </a:bodyPr>
          <a:lstStyle/>
          <a:p>
            <a:pPr algn="l"/>
            <a:r>
              <a:rPr sz="950" b="1">
                <a:solidFill>
                  <a:srgbClr val="000000"/>
                </a:solidFill>
                <a:latin typeface="맑은 고딕"/>
                <a:ea typeface="맑은 고딕"/>
              </a:rPr>
              <a:t>신규 클러스터 기능</a:t>
            </a:r>
          </a:p>
          <a:p>
            <a:pPr algn="l"/>
            <a:r>
              <a:rPr sz="750" b="0">
                <a:solidFill>
                  <a:srgbClr val="404040"/>
                </a:solidFill>
                <a:latin typeface="맑은 고딕"/>
                <a:ea typeface="맑은 고딕"/>
              </a:rPr>
              <a:t>예: multi-cluster, 세션 어피니티</a:t>
            </a:r>
          </a:p>
        </p:txBody>
      </p:sp>
      <p:sp>
        <p:nvSpPr>
          <p:cNvPr id="159" name="Rectangle 158"/>
          <p:cNvSpPr/>
          <p:nvPr/>
        </p:nvSpPr>
        <p:spPr>
          <a:xfrm>
            <a:off x="2532888" y="4242816"/>
            <a:ext cx="4023360" cy="585216"/>
          </a:xfrm>
          <a:prstGeom prst="rect">
            <a:avLst/>
          </a:prstGeom>
          <a:solidFill>
            <a:srgbClr val="FFFFFF"/>
          </a:solidFill>
          <a:ln w="6350">
            <a:solidFill>
              <a:srgbClr val="BFBFBF"/>
            </a:solidFill>
          </a:ln>
          <a:effectLst/>
        </p:spPr>
        <p:txBody>
          <a:bodyPr rtlCol="0" anchor="ctr"/>
          <a:lstStyle/>
          <a:p>
            <a:pPr algn="ctr"/>
          </a:p>
        </p:txBody>
      </p:sp>
      <p:sp>
        <p:nvSpPr>
          <p:cNvPr id="160" name="Rectangle 159"/>
          <p:cNvSpPr/>
          <p:nvPr/>
        </p:nvSpPr>
        <p:spPr>
          <a:xfrm>
            <a:off x="2606040" y="4306824"/>
            <a:ext cx="1325880" cy="182880"/>
          </a:xfrm>
          <a:prstGeom prst="rect">
            <a:avLst/>
          </a:prstGeom>
          <a:solidFill>
            <a:srgbClr val="DAE3F3"/>
          </a:solidFill>
          <a:ln w="15875">
            <a:solidFill>
              <a:srgbClr val="2F5597"/>
            </a:solidFill>
          </a:ln>
          <a:effectLst/>
        </p:spPr>
        <p:txBody>
          <a:bodyPr rtlCol="0" anchor="ctr" wrap="square" lIns="18288" tIns="0" rIns="18288" bIns="0"/>
          <a:lstStyle/>
          <a:p>
            <a:pPr algn="ctr"/>
            <a:r>
              <a:rPr sz="700" b="1">
                <a:solidFill>
                  <a:srgbClr val="2F5597"/>
                </a:solidFill>
                <a:latin typeface="맑은 고딕"/>
                <a:ea typeface="맑은 고딕"/>
              </a:rPr>
              <a:t>Router 한 곳</a:t>
            </a:r>
          </a:p>
        </p:txBody>
      </p:sp>
      <p:sp>
        <p:nvSpPr>
          <p:cNvPr id="161" name="TextBox 160"/>
          <p:cNvSpPr txBox="1"/>
          <p:nvPr/>
        </p:nvSpPr>
        <p:spPr>
          <a:xfrm>
            <a:off x="4014216" y="4297679"/>
            <a:ext cx="2468880"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블록 index로 한 곳에서 추가</a:t>
            </a:r>
          </a:p>
        </p:txBody>
      </p:sp>
      <p:sp>
        <p:nvSpPr>
          <p:cNvPr id="162" name="Rectangle 161"/>
          <p:cNvSpPr/>
          <p:nvPr/>
        </p:nvSpPr>
        <p:spPr>
          <a:xfrm>
            <a:off x="6556248" y="4242816"/>
            <a:ext cx="4023360" cy="585216"/>
          </a:xfrm>
          <a:prstGeom prst="rect">
            <a:avLst/>
          </a:prstGeom>
          <a:solidFill>
            <a:srgbClr val="FFFFFF"/>
          </a:solidFill>
          <a:ln w="6350">
            <a:solidFill>
              <a:srgbClr val="BFBFBF"/>
            </a:solidFill>
          </a:ln>
          <a:effectLst/>
        </p:spPr>
        <p:txBody>
          <a:bodyPr rtlCol="0" anchor="ctr"/>
          <a:lstStyle/>
          <a:p>
            <a:pPr algn="ctr"/>
          </a:p>
        </p:txBody>
      </p:sp>
      <p:sp>
        <p:nvSpPr>
          <p:cNvPr id="163" name="Rectangle 162"/>
          <p:cNvSpPr/>
          <p:nvPr/>
        </p:nvSpPr>
        <p:spPr>
          <a:xfrm>
            <a:off x="6629400" y="4306824"/>
            <a:ext cx="822960" cy="182880"/>
          </a:xfrm>
          <a:prstGeom prst="rect">
            <a:avLst/>
          </a:prstGeom>
          <a:solidFill>
            <a:srgbClr val="FBE5D6"/>
          </a:solidFill>
          <a:ln w="15875">
            <a:solidFill>
              <a:srgbClr val="C55A11"/>
            </a:solidFill>
          </a:ln>
          <a:effectLst/>
        </p:spPr>
        <p:txBody>
          <a:bodyPr rtlCol="0" anchor="ctr" wrap="square" lIns="18288" tIns="0" rIns="18288" bIns="0"/>
          <a:lstStyle/>
          <a:p>
            <a:pPr algn="ctr"/>
            <a:r>
              <a:rPr sz="700" b="1">
                <a:solidFill>
                  <a:srgbClr val="C55A11"/>
                </a:solidFill>
                <a:latin typeface="맑은 고딕"/>
                <a:ea typeface="맑은 고딕"/>
              </a:rPr>
              <a:t>양쪽</a:t>
            </a:r>
          </a:p>
        </p:txBody>
      </p:sp>
      <p:sp>
        <p:nvSpPr>
          <p:cNvPr id="164" name="TextBox 163"/>
          <p:cNvSpPr txBox="1"/>
          <p:nvPr/>
        </p:nvSpPr>
        <p:spPr>
          <a:xfrm>
            <a:off x="7516368" y="4297679"/>
            <a:ext cx="2999232" cy="493776"/>
          </a:xfrm>
          <a:prstGeom prst="rect">
            <a:avLst/>
          </a:prstGeom>
          <a:noFill/>
        </p:spPr>
        <p:txBody>
          <a:bodyPr wrap="square" anchor="ctr" lIns="0" tIns="0" rIns="0" bIns="0">
            <a:spAutoFit/>
          </a:bodyPr>
          <a:lstStyle/>
          <a:p>
            <a:pPr algn="l"/>
            <a:r>
              <a:rPr sz="850" b="0">
                <a:solidFill>
                  <a:srgbClr val="000000"/>
                </a:solidFill>
                <a:latin typeface="맑은 고딕"/>
                <a:ea typeface="맑은 고딕"/>
              </a:rPr>
              <a:t>요약 스키마 확장 + 에이전트 갱신</a:t>
            </a:r>
          </a:p>
        </p:txBody>
      </p:sp>
      <p:sp>
        <p:nvSpPr>
          <p:cNvPr id="165" name="Rectangle 164"/>
          <p:cNvSpPr/>
          <p:nvPr/>
        </p:nvSpPr>
        <p:spPr>
          <a:xfrm>
            <a:off x="10579608" y="4242816"/>
            <a:ext cx="1417320" cy="585216"/>
          </a:xfrm>
          <a:prstGeom prst="rect">
            <a:avLst/>
          </a:prstGeom>
          <a:solidFill>
            <a:srgbClr val="DAE3F3"/>
          </a:solidFill>
          <a:ln w="6350">
            <a:solidFill>
              <a:srgbClr val="BFBFBF"/>
            </a:solidFill>
          </a:ln>
          <a:effectLst/>
        </p:spPr>
        <p:txBody>
          <a:bodyPr rtlCol="0" anchor="ctr" wrap="square" lIns="64008" tIns="27432" rIns="45720" bIns="27432"/>
          <a:lstStyle/>
          <a:p>
            <a:pPr algn="ctr"/>
            <a:r>
              <a:rPr sz="1000" b="1">
                <a:solidFill>
                  <a:srgbClr val="2F5597"/>
                </a:solidFill>
                <a:latin typeface="맑은 고딕"/>
                <a:ea typeface="맑은 고딕"/>
              </a:rPr>
              <a:t>S1 유리</a:t>
            </a:r>
          </a:p>
          <a:p>
            <a:pPr algn="ctr"/>
            <a:r>
              <a:rPr sz="750" b="0">
                <a:solidFill>
                  <a:srgbClr val="404040"/>
                </a:solidFill>
                <a:latin typeface="맑은 고딕"/>
                <a:ea typeface="맑은 고딕"/>
              </a:rPr>
              <a:t>한 곳</a:t>
            </a:r>
          </a:p>
        </p:txBody>
      </p:sp>
      <p:sp>
        <p:nvSpPr>
          <p:cNvPr id="166" name="Rectangle 165"/>
          <p:cNvSpPr/>
          <p:nvPr/>
        </p:nvSpPr>
        <p:spPr>
          <a:xfrm>
            <a:off x="246888" y="4937759"/>
            <a:ext cx="3794760" cy="502920"/>
          </a:xfrm>
          <a:prstGeom prst="rect">
            <a:avLst/>
          </a:prstGeom>
          <a:solidFill>
            <a:srgbClr val="FBE5D6"/>
          </a:solidFill>
          <a:ln w="15875">
            <a:solidFill>
              <a:srgbClr val="C55A11"/>
            </a:solidFill>
          </a:ln>
          <a:effectLst/>
        </p:spPr>
        <p:txBody>
          <a:bodyPr rtlCol="0" anchor="ctr" wrap="square" lIns="36576" tIns="18288" rIns="36576" bIns="18288"/>
          <a:lstStyle/>
          <a:p>
            <a:pPr algn="ctr"/>
            <a:r>
              <a:rPr sz="1000" b="1">
                <a:solidFill>
                  <a:srgbClr val="C55A11"/>
                </a:solidFill>
                <a:latin typeface="맑은 고딕"/>
                <a:ea typeface="맑은 고딕"/>
              </a:rPr>
              <a:t>S2 우위: M1 · M4 · M5</a:t>
            </a:r>
          </a:p>
          <a:p>
            <a:pPr algn="ctr"/>
            <a:r>
              <a:rPr sz="850" b="0">
                <a:solidFill>
                  <a:srgbClr val="000000"/>
                </a:solidFill>
                <a:latin typeface="맑은 고딕"/>
                <a:ea typeface="맑은 고딕"/>
              </a:rPr>
              <a:t>노드 내부 변화를 에이전트에 격리</a:t>
            </a:r>
          </a:p>
        </p:txBody>
      </p:sp>
      <p:sp>
        <p:nvSpPr>
          <p:cNvPr id="167" name="Rectangle 166"/>
          <p:cNvSpPr/>
          <p:nvPr/>
        </p:nvSpPr>
        <p:spPr>
          <a:xfrm>
            <a:off x="4224527" y="4937759"/>
            <a:ext cx="3794760" cy="502920"/>
          </a:xfrm>
          <a:prstGeom prst="rect">
            <a:avLst/>
          </a:prstGeom>
          <a:solidFill>
            <a:srgbClr val="DAE3F3"/>
          </a:solidFill>
          <a:ln w="15875">
            <a:solidFill>
              <a:srgbClr val="2F5597"/>
            </a:solidFill>
          </a:ln>
          <a:effectLst/>
        </p:spPr>
        <p:txBody>
          <a:bodyPr rtlCol="0" anchor="ctr" wrap="square" lIns="36576" tIns="18288" rIns="36576" bIns="18288"/>
          <a:lstStyle/>
          <a:p>
            <a:pPr algn="ctr"/>
            <a:r>
              <a:rPr sz="1000" b="1">
                <a:solidFill>
                  <a:srgbClr val="2F5597"/>
                </a:solidFill>
                <a:latin typeface="맑은 고딕"/>
                <a:ea typeface="맑은 고딕"/>
              </a:rPr>
              <a:t>S1 우위: M2 · M6</a:t>
            </a:r>
          </a:p>
          <a:p>
            <a:pPr algn="ctr"/>
            <a:r>
              <a:rPr sz="850" b="0">
                <a:solidFill>
                  <a:srgbClr val="000000"/>
                </a:solidFill>
                <a:latin typeface="맑은 고딕"/>
                <a:ea typeface="맑은 고딕"/>
              </a:rPr>
              <a:t>비용 함수·클러스터 기능을 한 곳에서</a:t>
            </a:r>
          </a:p>
        </p:txBody>
      </p:sp>
      <p:sp>
        <p:nvSpPr>
          <p:cNvPr id="168" name="Rectangle 167"/>
          <p:cNvSpPr/>
          <p:nvPr/>
        </p:nvSpPr>
        <p:spPr>
          <a:xfrm>
            <a:off x="8202167" y="4937759"/>
            <a:ext cx="3794760" cy="502920"/>
          </a:xfrm>
          <a:prstGeom prst="rect">
            <a:avLst/>
          </a:prstGeom>
          <a:solidFill>
            <a:srgbClr val="FFFBEA"/>
          </a:solidFill>
          <a:ln w="15875">
            <a:solidFill>
              <a:srgbClr val="BF9000"/>
            </a:solidFill>
          </a:ln>
          <a:effectLst/>
        </p:spPr>
        <p:txBody>
          <a:bodyPr rtlCol="0" anchor="ctr" wrap="square" lIns="36576" tIns="18288" rIns="36576" bIns="18288"/>
          <a:lstStyle/>
          <a:p>
            <a:pPr algn="ctr"/>
            <a:r>
              <a:rPr sz="1000" b="1">
                <a:solidFill>
                  <a:srgbClr val="C00000"/>
                </a:solidFill>
                <a:latin typeface="맑은 고딕"/>
                <a:ea typeface="맑은 고딕"/>
              </a:rPr>
              <a:t>3 대 2 (1 동등) → 차이 1 → Q3 동등</a:t>
            </a:r>
          </a:p>
          <a:p>
            <a:pPr algn="ctr"/>
            <a:r>
              <a:rPr sz="850" b="0">
                <a:solidFill>
                  <a:srgbClr val="000000"/>
                </a:solidFill>
                <a:latin typeface="맑은 고딕"/>
                <a:ea typeface="맑은 고딕"/>
              </a:rPr>
              <a:t>S1 ●●○  /  S2 ●●○  (차이 2 이상일 때만 ●●●)</a:t>
            </a:r>
          </a:p>
        </p:txBody>
      </p:sp>
      <p:sp>
        <p:nvSpPr>
          <p:cNvPr id="169" name="Rectangle 168"/>
          <p:cNvSpPr/>
          <p:nvPr/>
        </p:nvSpPr>
        <p:spPr>
          <a:xfrm>
            <a:off x="246888" y="5559551"/>
            <a:ext cx="11750040" cy="566928"/>
          </a:xfrm>
          <a:prstGeom prst="rect">
            <a:avLst/>
          </a:prstGeom>
          <a:solidFill>
            <a:srgbClr val="FFFFFF"/>
          </a:solidFill>
          <a:ln w="9525">
            <a:solidFill>
              <a:srgbClr val="7F7F7F"/>
            </a:solidFill>
          </a:ln>
          <a:effectLst/>
        </p:spPr>
        <p:txBody>
          <a:bodyPr rtlCol="0" anchor="ctr"/>
          <a:lstStyle/>
          <a:p>
            <a:pPr algn="ctr"/>
          </a:p>
        </p:txBody>
      </p:sp>
      <p:sp>
        <p:nvSpPr>
          <p:cNvPr id="170" name="TextBox 169"/>
          <p:cNvSpPr txBox="1"/>
          <p:nvPr/>
        </p:nvSpPr>
        <p:spPr>
          <a:xfrm>
            <a:off x="338328" y="5605271"/>
            <a:ext cx="11567160" cy="50292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유지 부담은 Q3 안에  </a:t>
            </a:r>
            <a:r>
              <a:rPr sz="850" b="0">
                <a:solidFill>
                  <a:srgbClr val="000000"/>
                </a:solidFill>
                <a:latin typeface="맑은 고딕"/>
                <a:ea typeface="맑은 고딕"/>
              </a:rPr>
              <a:t>업스트림·계약 추종(M5)과 신규 기능(M6)은 변경·유지 용이성의 일부라 Q3에 포함한다. 구현·운영 부담과 증거 수준은 QA 밖 제약·리스크로 따로 둔다.</a:t>
            </a:r>
          </a:p>
          <a:p>
            <a:pPr algn="l"/>
            <a:r>
              <a:rPr sz="850" b="1">
                <a:solidFill>
                  <a:srgbClr val="C00000"/>
                </a:solidFill>
                <a:latin typeface="맑은 고딕"/>
                <a:ea typeface="맑은 고딕"/>
              </a:rPr>
              <a:t>별 부여 규칙(사전 선언)  </a:t>
            </a:r>
            <a:r>
              <a:rPr sz="850" b="0">
                <a:solidFill>
                  <a:srgbClr val="000000"/>
                </a:solidFill>
                <a:latin typeface="맑은 고딕"/>
                <a:ea typeface="맑은 고딕"/>
              </a:rPr>
              <a:t>시나리오 승수 차이가 2 이상일 때만 이긴 쪽을 ●●●, 아니면 둘 다 ●●○. 결과를 본 뒤 바꾸지 않는다.</a:t>
            </a:r>
          </a:p>
        </p:txBody>
      </p:sp>
      <p:sp>
        <p:nvSpPr>
          <p:cNvPr id="171" name="TextBox 170"/>
          <p:cNvSpPr txBox="1"/>
          <p:nvPr/>
        </p:nvSpPr>
        <p:spPr>
          <a:xfrm>
            <a:off x="246888" y="6309360"/>
            <a:ext cx="11750040" cy="128016"/>
          </a:xfrm>
          <a:prstGeom prst="rect">
            <a:avLst/>
          </a:prstGeom>
          <a:noFill/>
        </p:spPr>
        <p:txBody>
          <a:bodyPr wrap="square" anchor="t" lIns="0" tIns="0" rIns="0" bIns="0">
            <a:spAutoFit/>
          </a:bodyPr>
          <a:lstStyle/>
          <a:p>
            <a:pPr algn="l"/>
            <a:r>
              <a:rPr sz="700" b="0">
                <a:solidFill>
                  <a:srgbClr val="404040"/>
                </a:solidFill>
                <a:latin typeface="맑은 고딕"/>
                <a:ea typeface="맑은 고딕"/>
              </a:rPr>
              <a:t>※ 가설 [C]. 시나리오 가중치는 정하지 않았다. 구조 후보 이름(S1/S2)과 겹치지 않도록 변경 시나리오는 M1~M6으로 부른다.</a:t>
            </a:r>
          </a:p>
        </p:txBody>
      </p:sp>
    </p:spTree>
    <p:extLst>
      <p:ext uri="{BB962C8B-B14F-4D97-AF65-F5344CB8AC3E}">
        <p14:creationId xmlns:p14="http://schemas.microsoft.com/office/powerpoint/2010/main" val="3392401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7631530" cy="365125"/>
          </a:xfrm>
        </p:spPr>
        <p:txBody>
          <a:bodyPr/>
          <a:lstStyle/>
          <a:p>
            <a:r>
              <a:rPr lang="en-US" altLang="ko-KR" dirty="0"/>
              <a:t>DP0-1. 설계 Tradeoff - S1 vs S2</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err="1">
                <a:solidFill>
                  <a:schemeClr val="bg1"/>
                </a:solidFill>
              </a:rPr>
              <a:t>설계 결정이 QA와 제약·리스크를 어떻게 맞바꾸는가</a:t>
            </a:r>
            <a:endParaRPr lang="ko-KR" altLang="en-US" sz="1400" b="1" dirty="0">
              <a:solidFill>
                <a:schemeClr val="bg1"/>
              </a:solidFill>
            </a:endParaRP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10177272" y="629703"/>
            <a:ext cx="868680"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Q1~Q4</a:t>
            </a:r>
            <a:endParaRPr lang="ko-KR" altLang="en-US" sz="900" b="1" dirty="0">
              <a:latin typeface="맑은 고딕" panose="020B0503020000020004" pitchFamily="50" charset="-127"/>
              <a:ea typeface="맑은 고딕" panose="020B0503020000020004" pitchFamily="50" charset="-127"/>
            </a:endParaRPr>
          </a:p>
        </p:txBody>
      </p:sp>
      <p:sp>
        <p:nvSpPr>
          <p:cNvPr id="38" name="모서리가 둥근 직사각형 37"/>
          <p:cNvSpPr/>
          <p:nvPr/>
        </p:nvSpPr>
        <p:spPr>
          <a:xfrm>
            <a:off x="9235440" y="627572"/>
            <a:ext cx="86868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F1~F4</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1119104" y="627572"/>
            <a:ext cx="868680"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C1~C6</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6291415" y="180689"/>
            <a:ext cx="1541832" cy="276999"/>
          </a:xfrm>
          <a:prstGeom prst="rect">
            <a:avLst/>
          </a:prstGeom>
        </p:spPr>
        <p:txBody>
          <a:bodyPr wrap="none">
            <a:spAutoFit/>
          </a:bodyPr>
          <a:lstStyle/>
          <a:p>
            <a:r>
              <a:rPr lang="en-US" altLang="ko-KR" sz="1200" b="1" dirty="0"/>
              <a:t>(Where to locate?)</a:t>
            </a:r>
            <a:endParaRPr lang="ko-KR" altLang="en-US" sz="1200" dirty="0"/>
          </a:p>
        </p:txBody>
      </p:sp>
      <p:sp>
        <p:nvSpPr>
          <p:cNvPr id="102" name="TextBox 101"/>
          <p:cNvSpPr txBox="1"/>
          <p:nvPr/>
        </p:nvSpPr>
        <p:spPr>
          <a:xfrm>
            <a:off x="246888" y="1042415"/>
            <a:ext cx="6035040" cy="201168"/>
          </a:xfrm>
          <a:prstGeom prst="rect">
            <a:avLst/>
          </a:prstGeom>
          <a:noFill/>
        </p:spPr>
        <p:txBody>
          <a:bodyPr wrap="square" anchor="t" lIns="0" tIns="0" rIns="0" bIns="0">
            <a:spAutoFit/>
          </a:bodyPr>
          <a:lstStyle/>
          <a:p>
            <a:pPr algn="l"/>
            <a:r>
              <a:rPr sz="1050" b="1">
                <a:solidFill>
                  <a:srgbClr val="000000"/>
                </a:solidFill>
                <a:latin typeface="맑은 고딕"/>
                <a:ea typeface="맑은 고딕"/>
              </a:rPr>
              <a:t>① 설계 결정마다 한 쪽을 얻으면 다른 쪽을 잃는다</a:t>
            </a:r>
          </a:p>
        </p:txBody>
      </p:sp>
      <p:sp>
        <p:nvSpPr>
          <p:cNvPr id="103" name="Rectangle 102"/>
          <p:cNvSpPr/>
          <p:nvPr/>
        </p:nvSpPr>
        <p:spPr>
          <a:xfrm>
            <a:off x="246888" y="1280160"/>
            <a:ext cx="914400" cy="237744"/>
          </a:xfrm>
          <a:prstGeom prst="rect">
            <a:avLst/>
          </a:prstGeom>
          <a:solidFill>
            <a:srgbClr val="404040"/>
          </a:solidFill>
          <a:ln w="12700">
            <a:solidFill>
              <a:srgbClr val="404040"/>
            </a:solidFill>
          </a:ln>
          <a:effectLst/>
        </p:spPr>
        <p:txBody>
          <a:bodyPr rtlCol="0" anchor="ctr" wrap="square" lIns="36576" tIns="18288" rIns="36576" bIns="18288"/>
          <a:lstStyle/>
          <a:p>
            <a:pPr algn="ctr"/>
            <a:r>
              <a:rPr sz="850" b="1">
                <a:solidFill>
                  <a:srgbClr val="FFFFFF"/>
                </a:solidFill>
                <a:latin typeface="맑은 고딕"/>
                <a:ea typeface="맑은 고딕"/>
              </a:rPr>
              <a:t>설계 결정</a:t>
            </a:r>
          </a:p>
        </p:txBody>
      </p:sp>
      <p:sp>
        <p:nvSpPr>
          <p:cNvPr id="104" name="Rectangle 103"/>
          <p:cNvSpPr/>
          <p:nvPr/>
        </p:nvSpPr>
        <p:spPr>
          <a:xfrm>
            <a:off x="1161288" y="1280160"/>
            <a:ext cx="2560320" cy="237744"/>
          </a:xfrm>
          <a:prstGeom prst="rect">
            <a:avLst/>
          </a:prstGeom>
          <a:solidFill>
            <a:srgbClr val="404040"/>
          </a:solidFill>
          <a:ln w="12700">
            <a:solidFill>
              <a:srgbClr val="404040"/>
            </a:solidFill>
          </a:ln>
          <a:effectLst/>
        </p:spPr>
        <p:txBody>
          <a:bodyPr rtlCol="0" anchor="ctr" wrap="square" lIns="36576" tIns="18288" rIns="36576" bIns="18288"/>
          <a:lstStyle/>
          <a:p>
            <a:pPr algn="ctr"/>
            <a:r>
              <a:rPr sz="850" b="1">
                <a:solidFill>
                  <a:srgbClr val="FFFFFF"/>
                </a:solidFill>
                <a:latin typeface="맑은 고딕"/>
                <a:ea typeface="맑은 고딕"/>
              </a:rPr>
              <a:t>S1 선택 → 얻는 것 / 잃는 것</a:t>
            </a:r>
          </a:p>
        </p:txBody>
      </p:sp>
      <p:sp>
        <p:nvSpPr>
          <p:cNvPr id="105" name="Rectangle 104"/>
          <p:cNvSpPr/>
          <p:nvPr/>
        </p:nvSpPr>
        <p:spPr>
          <a:xfrm>
            <a:off x="3721608" y="1280160"/>
            <a:ext cx="2560320" cy="237744"/>
          </a:xfrm>
          <a:prstGeom prst="rect">
            <a:avLst/>
          </a:prstGeom>
          <a:solidFill>
            <a:srgbClr val="404040"/>
          </a:solidFill>
          <a:ln w="12700">
            <a:solidFill>
              <a:srgbClr val="404040"/>
            </a:solidFill>
          </a:ln>
          <a:effectLst/>
        </p:spPr>
        <p:txBody>
          <a:bodyPr rtlCol="0" anchor="ctr" wrap="square" lIns="36576" tIns="18288" rIns="36576" bIns="18288"/>
          <a:lstStyle/>
          <a:p>
            <a:pPr algn="ctr"/>
            <a:r>
              <a:rPr sz="850" b="1">
                <a:solidFill>
                  <a:srgbClr val="FFFFFF"/>
                </a:solidFill>
                <a:latin typeface="맑은 고딕"/>
                <a:ea typeface="맑은 고딕"/>
              </a:rPr>
              <a:t>S2 선택 → 얻는 것 / 잃는 것</a:t>
            </a:r>
          </a:p>
        </p:txBody>
      </p:sp>
      <p:sp>
        <p:nvSpPr>
          <p:cNvPr id="106" name="Rectangle 105"/>
          <p:cNvSpPr/>
          <p:nvPr/>
        </p:nvSpPr>
        <p:spPr>
          <a:xfrm>
            <a:off x="246888" y="1517904"/>
            <a:ext cx="914400" cy="1051560"/>
          </a:xfrm>
          <a:prstGeom prst="rect">
            <a:avLst/>
          </a:prstGeom>
          <a:solidFill>
            <a:srgbClr val="F2F2F2"/>
          </a:solidFill>
          <a:ln w="6350">
            <a:solidFill>
              <a:srgbClr val="BFBFBF"/>
            </a:solidFill>
          </a:ln>
          <a:effectLst/>
        </p:spPr>
        <p:txBody>
          <a:bodyPr rtlCol="0" anchor="ctr" wrap="square" lIns="36576" tIns="18288" rIns="36576" bIns="18288"/>
          <a:lstStyle/>
          <a:p>
            <a:pPr algn="ctr"/>
            <a:r>
              <a:rPr sz="1000" b="1">
                <a:solidFill>
                  <a:srgbClr val="000000"/>
                </a:solidFill>
                <a:latin typeface="맑은 고딕"/>
                <a:ea typeface="맑은 고딕"/>
              </a:rPr>
              <a:t>Δ1</a:t>
            </a:r>
          </a:p>
          <a:p>
            <a:pPr algn="ctr"/>
            <a:r>
              <a:rPr sz="800" b="0">
                <a:solidFill>
                  <a:srgbClr val="404040"/>
                </a:solidFill>
                <a:latin typeface="맑은 고딕"/>
                <a:ea typeface="맑은 고딕"/>
              </a:rPr>
              <a:t>상태 단위·위치</a:t>
            </a:r>
          </a:p>
        </p:txBody>
      </p:sp>
      <p:sp>
        <p:nvSpPr>
          <p:cNvPr id="107" name="Rectangle 106"/>
          <p:cNvSpPr/>
          <p:nvPr/>
        </p:nvSpPr>
        <p:spPr>
          <a:xfrm>
            <a:off x="1161288" y="1517904"/>
            <a:ext cx="2560320" cy="1051560"/>
          </a:xfrm>
          <a:prstGeom prst="rect">
            <a:avLst/>
          </a:prstGeom>
          <a:solidFill>
            <a:srgbClr val="FFFFFF"/>
          </a:solidFill>
          <a:ln w="6350">
            <a:solidFill>
              <a:srgbClr val="BFBFBF"/>
            </a:solidFill>
          </a:ln>
          <a:effectLst/>
        </p:spPr>
        <p:txBody>
          <a:bodyPr rtlCol="0" anchor="ctr"/>
          <a:lstStyle/>
          <a:p>
            <a:pPr algn="ctr"/>
          </a:p>
        </p:txBody>
      </p:sp>
      <p:sp>
        <p:nvSpPr>
          <p:cNvPr id="108" name="Rectangle 107"/>
          <p:cNvSpPr/>
          <p:nvPr/>
        </p:nvSpPr>
        <p:spPr>
          <a:xfrm>
            <a:off x="1207008" y="1554480"/>
            <a:ext cx="2468880" cy="182880"/>
          </a:xfrm>
          <a:prstGeom prst="rect">
            <a:avLst/>
          </a:prstGeom>
          <a:solidFill>
            <a:srgbClr val="2F5597"/>
          </a:solidFill>
          <a:ln w="12700">
            <a:solidFill>
              <a:srgbClr val="2F5597"/>
            </a:solidFill>
          </a:ln>
          <a:effectLst/>
        </p:spPr>
        <p:txBody>
          <a:bodyPr rtlCol="0" anchor="ctr" wrap="square" lIns="45720" tIns="0" rIns="0" bIns="0"/>
          <a:lstStyle/>
          <a:p>
            <a:pPr algn="l"/>
            <a:r>
              <a:rPr sz="850" b="1">
                <a:solidFill>
                  <a:srgbClr val="FFFFFF"/>
                </a:solidFill>
                <a:latin typeface="맑은 고딕"/>
                <a:ea typeface="맑은 고딕"/>
              </a:rPr>
              <a:t>Router: 블록 단위 전역 index</a:t>
            </a:r>
          </a:p>
        </p:txBody>
      </p:sp>
      <p:sp>
        <p:nvSpPr>
          <p:cNvPr id="109" name="TextBox 108"/>
          <p:cNvSpPr txBox="1"/>
          <p:nvPr/>
        </p:nvSpPr>
        <p:spPr>
          <a:xfrm>
            <a:off x="1225296" y="1792224"/>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Q1 </a:t>
            </a:r>
            <a:r>
              <a:rPr sz="850" b="0">
                <a:solidFill>
                  <a:srgbClr val="000000"/>
                </a:solidFill>
                <a:latin typeface="맑은 고딕"/>
                <a:ea typeface="맑은 고딕"/>
              </a:rPr>
              <a:t>블록 단위 시야로 가장 정밀한 라우팅</a:t>
            </a:r>
          </a:p>
        </p:txBody>
      </p:sp>
      <p:sp>
        <p:nvSpPr>
          <p:cNvPr id="110" name="TextBox 109"/>
          <p:cNvSpPr txBox="1"/>
          <p:nvPr/>
        </p:nvSpPr>
        <p:spPr>
          <a:xfrm>
            <a:off x="1225296" y="2176272"/>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Q4 </a:t>
            </a:r>
            <a:r>
              <a:rPr sz="850" b="0">
                <a:solidFill>
                  <a:srgbClr val="000000"/>
                </a:solidFill>
                <a:latin typeface="맑은 고딕"/>
                <a:ea typeface="맑은 고딕"/>
              </a:rPr>
              <a:t>상태·이벤트량이 서버×블록에 비례, Router에 집중</a:t>
            </a:r>
          </a:p>
        </p:txBody>
      </p:sp>
      <p:sp>
        <p:nvSpPr>
          <p:cNvPr id="111" name="Rectangle 110"/>
          <p:cNvSpPr/>
          <p:nvPr/>
        </p:nvSpPr>
        <p:spPr>
          <a:xfrm>
            <a:off x="3721608" y="1517904"/>
            <a:ext cx="2560320" cy="1051560"/>
          </a:xfrm>
          <a:prstGeom prst="rect">
            <a:avLst/>
          </a:prstGeom>
          <a:solidFill>
            <a:srgbClr val="FFFFFF"/>
          </a:solidFill>
          <a:ln w="6350">
            <a:solidFill>
              <a:srgbClr val="BFBFBF"/>
            </a:solidFill>
          </a:ln>
          <a:effectLst/>
        </p:spPr>
        <p:txBody>
          <a:bodyPr rtlCol="0" anchor="ctr"/>
          <a:lstStyle/>
          <a:p>
            <a:pPr algn="ctr"/>
          </a:p>
        </p:txBody>
      </p:sp>
      <p:sp>
        <p:nvSpPr>
          <p:cNvPr id="112" name="Rectangle 111"/>
          <p:cNvSpPr/>
          <p:nvPr/>
        </p:nvSpPr>
        <p:spPr>
          <a:xfrm>
            <a:off x="3767328" y="1554480"/>
            <a:ext cx="2468880" cy="182880"/>
          </a:xfrm>
          <a:prstGeom prst="rect">
            <a:avLst/>
          </a:prstGeom>
          <a:solidFill>
            <a:srgbClr val="C55A11"/>
          </a:solidFill>
          <a:ln w="12700">
            <a:solidFill>
              <a:srgbClr val="C55A11"/>
            </a:solidFill>
          </a:ln>
          <a:effectLst/>
        </p:spPr>
        <p:txBody>
          <a:bodyPr rtlCol="0" anchor="ctr" wrap="square" lIns="45720" tIns="0" rIns="0" bIns="0"/>
          <a:lstStyle/>
          <a:p>
            <a:pPr algn="l"/>
            <a:r>
              <a:rPr sz="850" b="1">
                <a:solidFill>
                  <a:srgbClr val="FFFFFF"/>
                </a:solidFill>
                <a:latin typeface="맑은 고딕"/>
                <a:ea typeface="맑은 고딕"/>
              </a:rPr>
              <a:t>Router: 노드 요약 + 노드: 로컬 index</a:t>
            </a:r>
          </a:p>
        </p:txBody>
      </p:sp>
      <p:sp>
        <p:nvSpPr>
          <p:cNvPr id="113" name="TextBox 112"/>
          <p:cNvSpPr txBox="1"/>
          <p:nvPr/>
        </p:nvSpPr>
        <p:spPr>
          <a:xfrm>
            <a:off x="3785616" y="1792224"/>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Q4 </a:t>
            </a:r>
            <a:r>
              <a:rPr sz="850" b="0">
                <a:solidFill>
                  <a:srgbClr val="000000"/>
                </a:solidFill>
                <a:latin typeface="맑은 고딕"/>
                <a:ea typeface="맑은 고딕"/>
              </a:rPr>
              <a:t>상태가 노드 수 × 요약 상한, 이벤트는 노드 안에서 소비</a:t>
            </a:r>
          </a:p>
        </p:txBody>
      </p:sp>
      <p:sp>
        <p:nvSpPr>
          <p:cNvPr id="114" name="TextBox 113"/>
          <p:cNvSpPr txBox="1"/>
          <p:nvPr/>
        </p:nvSpPr>
        <p:spPr>
          <a:xfrm>
            <a:off x="3785616" y="2176272"/>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Q1 </a:t>
            </a:r>
            <a:r>
              <a:rPr sz="850" b="0">
                <a:solidFill>
                  <a:srgbClr val="000000"/>
                </a:solidFill>
                <a:latin typeface="맑은 고딕"/>
                <a:ea typeface="맑은 고딕"/>
              </a:rPr>
              <a:t>요약 정밀도·신선도 저하 → 오라우팅</a:t>
            </a:r>
          </a:p>
        </p:txBody>
      </p:sp>
      <p:sp>
        <p:nvSpPr>
          <p:cNvPr id="115" name="Rectangle 114"/>
          <p:cNvSpPr/>
          <p:nvPr/>
        </p:nvSpPr>
        <p:spPr>
          <a:xfrm>
            <a:off x="246888" y="2569463"/>
            <a:ext cx="914400" cy="1051560"/>
          </a:xfrm>
          <a:prstGeom prst="rect">
            <a:avLst/>
          </a:prstGeom>
          <a:solidFill>
            <a:srgbClr val="F2F2F2"/>
          </a:solidFill>
          <a:ln w="6350">
            <a:solidFill>
              <a:srgbClr val="BFBFBF"/>
            </a:solidFill>
          </a:ln>
          <a:effectLst/>
        </p:spPr>
        <p:txBody>
          <a:bodyPr rtlCol="0" anchor="ctr" wrap="square" lIns="36576" tIns="18288" rIns="36576" bIns="18288"/>
          <a:lstStyle/>
          <a:p>
            <a:pPr algn="ctr"/>
            <a:r>
              <a:rPr sz="1000" b="1">
                <a:solidFill>
                  <a:srgbClr val="000000"/>
                </a:solidFill>
                <a:latin typeface="맑은 고딕"/>
                <a:ea typeface="맑은 고딕"/>
              </a:rPr>
              <a:t>Δ2</a:t>
            </a:r>
          </a:p>
          <a:p>
            <a:pPr algn="ctr"/>
            <a:r>
              <a:rPr sz="800" b="0">
                <a:solidFill>
                  <a:srgbClr val="404040"/>
                </a:solidFill>
                <a:latin typeface="맑은 고딕"/>
                <a:ea typeface="맑은 고딕"/>
              </a:rPr>
              <a:t>계층 결정 위치</a:t>
            </a:r>
          </a:p>
        </p:txBody>
      </p:sp>
      <p:sp>
        <p:nvSpPr>
          <p:cNvPr id="116" name="Rectangle 115"/>
          <p:cNvSpPr/>
          <p:nvPr/>
        </p:nvSpPr>
        <p:spPr>
          <a:xfrm>
            <a:off x="1161288" y="2569463"/>
            <a:ext cx="2560320" cy="1051560"/>
          </a:xfrm>
          <a:prstGeom prst="rect">
            <a:avLst/>
          </a:prstGeom>
          <a:solidFill>
            <a:srgbClr val="FFFFFF"/>
          </a:solidFill>
          <a:ln w="6350">
            <a:solidFill>
              <a:srgbClr val="BFBFBF"/>
            </a:solidFill>
          </a:ln>
          <a:effectLst/>
        </p:spPr>
        <p:txBody>
          <a:bodyPr rtlCol="0" anchor="ctr"/>
          <a:lstStyle/>
          <a:p>
            <a:pPr algn="ctr"/>
          </a:p>
        </p:txBody>
      </p:sp>
      <p:sp>
        <p:nvSpPr>
          <p:cNvPr id="117" name="Rectangle 116"/>
          <p:cNvSpPr/>
          <p:nvPr/>
        </p:nvSpPr>
        <p:spPr>
          <a:xfrm>
            <a:off x="1207008" y="2606039"/>
            <a:ext cx="2468880" cy="182880"/>
          </a:xfrm>
          <a:prstGeom prst="rect">
            <a:avLst/>
          </a:prstGeom>
          <a:solidFill>
            <a:srgbClr val="2F5597"/>
          </a:solidFill>
          <a:ln w="12700">
            <a:solidFill>
              <a:srgbClr val="2F5597"/>
            </a:solidFill>
          </a:ln>
          <a:effectLst/>
        </p:spPr>
        <p:txBody>
          <a:bodyPr rtlCol="0" anchor="ctr" wrap="square" lIns="45720" tIns="0" rIns="0" bIns="0"/>
          <a:lstStyle/>
          <a:p>
            <a:pPr algn="l"/>
            <a:r>
              <a:rPr sz="850" b="1">
                <a:solidFill>
                  <a:srgbClr val="FFFFFF"/>
                </a:solidFill>
                <a:latin typeface="맑은 고딕"/>
                <a:ea typeface="맑은 고딕"/>
              </a:rPr>
              <a:t>Router가 요청마다</a:t>
            </a:r>
          </a:p>
        </p:txBody>
      </p:sp>
      <p:sp>
        <p:nvSpPr>
          <p:cNvPr id="118" name="TextBox 117"/>
          <p:cNvSpPr txBox="1"/>
          <p:nvPr/>
        </p:nvSpPr>
        <p:spPr>
          <a:xfrm>
            <a:off x="1225296" y="2843783"/>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Q3 </a:t>
            </a:r>
            <a:r>
              <a:rPr sz="850" b="0">
                <a:solidFill>
                  <a:srgbClr val="000000"/>
                </a:solidFill>
                <a:latin typeface="맑은 고딕"/>
                <a:ea typeface="맑은 고딕"/>
              </a:rPr>
              <a:t>M2·M6: 비용 함수·클러스터 기능을 한 곳에서</a:t>
            </a:r>
          </a:p>
        </p:txBody>
      </p:sp>
      <p:sp>
        <p:nvSpPr>
          <p:cNvPr id="119" name="TextBox 118"/>
          <p:cNvSpPr txBox="1"/>
          <p:nvPr/>
        </p:nvSpPr>
        <p:spPr>
          <a:xfrm>
            <a:off x="1225296" y="3227831"/>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Q3 </a:t>
            </a:r>
            <a:r>
              <a:rPr sz="850" b="0">
                <a:solidFill>
                  <a:srgbClr val="000000"/>
                </a:solidFill>
                <a:latin typeface="맑은 고딕"/>
                <a:ea typeface="맑은 고딕"/>
              </a:rPr>
              <a:t>M1·M4·M5: 노드 변화가 Router에 파급. DP1과 결정 권한 중복</a:t>
            </a:r>
          </a:p>
        </p:txBody>
      </p:sp>
      <p:sp>
        <p:nvSpPr>
          <p:cNvPr id="120" name="Rectangle 119"/>
          <p:cNvSpPr/>
          <p:nvPr/>
        </p:nvSpPr>
        <p:spPr>
          <a:xfrm>
            <a:off x="3721608" y="2569463"/>
            <a:ext cx="2560320" cy="1051560"/>
          </a:xfrm>
          <a:prstGeom prst="rect">
            <a:avLst/>
          </a:prstGeom>
          <a:solidFill>
            <a:srgbClr val="FFFFFF"/>
          </a:solidFill>
          <a:ln w="6350">
            <a:solidFill>
              <a:srgbClr val="BFBFBF"/>
            </a:solidFill>
          </a:ln>
          <a:effectLst/>
        </p:spPr>
        <p:txBody>
          <a:bodyPr rtlCol="0" anchor="ctr"/>
          <a:lstStyle/>
          <a:p>
            <a:pPr algn="ctr"/>
          </a:p>
        </p:txBody>
      </p:sp>
      <p:sp>
        <p:nvSpPr>
          <p:cNvPr id="121" name="Rectangle 120"/>
          <p:cNvSpPr/>
          <p:nvPr/>
        </p:nvSpPr>
        <p:spPr>
          <a:xfrm>
            <a:off x="3767328" y="2606039"/>
            <a:ext cx="2468880" cy="182880"/>
          </a:xfrm>
          <a:prstGeom prst="rect">
            <a:avLst/>
          </a:prstGeom>
          <a:solidFill>
            <a:srgbClr val="C55A11"/>
          </a:solidFill>
          <a:ln w="12700">
            <a:solidFill>
              <a:srgbClr val="C55A11"/>
            </a:solidFill>
          </a:ln>
          <a:effectLst/>
        </p:spPr>
        <p:txBody>
          <a:bodyPr rtlCol="0" anchor="ctr" wrap="square" lIns="45720" tIns="0" rIns="0" bIns="0"/>
          <a:lstStyle/>
          <a:p>
            <a:pPr algn="l"/>
            <a:r>
              <a:rPr sz="850" b="1">
                <a:solidFill>
                  <a:srgbClr val="FFFFFF"/>
                </a:solidFill>
                <a:latin typeface="맑은 고딕"/>
                <a:ea typeface="맑은 고딕"/>
              </a:rPr>
              <a:t>노드 에이전트가 로컬로</a:t>
            </a:r>
          </a:p>
        </p:txBody>
      </p:sp>
      <p:sp>
        <p:nvSpPr>
          <p:cNvPr id="122" name="TextBox 121"/>
          <p:cNvSpPr txBox="1"/>
          <p:nvPr/>
        </p:nvSpPr>
        <p:spPr>
          <a:xfrm>
            <a:off x="3785616" y="2843783"/>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Q3 </a:t>
            </a:r>
            <a:r>
              <a:rPr sz="850" b="0">
                <a:solidFill>
                  <a:srgbClr val="000000"/>
                </a:solidFill>
                <a:latin typeface="맑은 고딕"/>
                <a:ea typeface="맑은 고딕"/>
              </a:rPr>
              <a:t>M1·M4·M5: 노드 변화는 에이전트에서 끝, 결정 권한 단일</a:t>
            </a:r>
          </a:p>
        </p:txBody>
      </p:sp>
      <p:sp>
        <p:nvSpPr>
          <p:cNvPr id="123" name="TextBox 122"/>
          <p:cNvSpPr txBox="1"/>
          <p:nvPr/>
        </p:nvSpPr>
        <p:spPr>
          <a:xfrm>
            <a:off x="3785616" y="3227831"/>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Q3 </a:t>
            </a:r>
            <a:r>
              <a:rPr sz="850" b="0">
                <a:solidFill>
                  <a:srgbClr val="000000"/>
                </a:solidFill>
                <a:latin typeface="맑은 고딕"/>
                <a:ea typeface="맑은 고딕"/>
              </a:rPr>
              <a:t>M2·M6: 두 곳 변경, 에이전트·계약이 추가 구성요소</a:t>
            </a:r>
          </a:p>
        </p:txBody>
      </p:sp>
      <p:sp>
        <p:nvSpPr>
          <p:cNvPr id="124" name="Rectangle 123"/>
          <p:cNvSpPr/>
          <p:nvPr/>
        </p:nvSpPr>
        <p:spPr>
          <a:xfrm>
            <a:off x="246888" y="3621023"/>
            <a:ext cx="914400" cy="1051560"/>
          </a:xfrm>
          <a:prstGeom prst="rect">
            <a:avLst/>
          </a:prstGeom>
          <a:solidFill>
            <a:srgbClr val="F2F2F2"/>
          </a:solidFill>
          <a:ln w="6350">
            <a:solidFill>
              <a:srgbClr val="BFBFBF"/>
            </a:solidFill>
          </a:ln>
          <a:effectLst/>
        </p:spPr>
        <p:txBody>
          <a:bodyPr rtlCol="0" anchor="ctr" wrap="square" lIns="36576" tIns="18288" rIns="36576" bIns="18288"/>
          <a:lstStyle/>
          <a:p>
            <a:pPr algn="ctr"/>
            <a:r>
              <a:rPr sz="1000" b="1">
                <a:solidFill>
                  <a:srgbClr val="000000"/>
                </a:solidFill>
                <a:latin typeface="맑은 고딕"/>
                <a:ea typeface="맑은 고딕"/>
              </a:rPr>
              <a:t>Δ3</a:t>
            </a:r>
          </a:p>
          <a:p>
            <a:pPr algn="ctr"/>
            <a:r>
              <a:rPr sz="800" b="0">
                <a:solidFill>
                  <a:srgbClr val="404040"/>
                </a:solidFill>
                <a:latin typeface="맑은 고딕"/>
                <a:ea typeface="맑은 고딕"/>
              </a:rPr>
              <a:t>제어 방식</a:t>
            </a:r>
          </a:p>
        </p:txBody>
      </p:sp>
      <p:sp>
        <p:nvSpPr>
          <p:cNvPr id="125" name="Rectangle 124"/>
          <p:cNvSpPr/>
          <p:nvPr/>
        </p:nvSpPr>
        <p:spPr>
          <a:xfrm>
            <a:off x="1161288" y="3621023"/>
            <a:ext cx="2560320" cy="1051560"/>
          </a:xfrm>
          <a:prstGeom prst="rect">
            <a:avLst/>
          </a:prstGeom>
          <a:solidFill>
            <a:srgbClr val="FFFFFF"/>
          </a:solidFill>
          <a:ln w="6350">
            <a:solidFill>
              <a:srgbClr val="BFBFBF"/>
            </a:solidFill>
          </a:ln>
          <a:effectLst/>
        </p:spPr>
        <p:txBody>
          <a:bodyPr rtlCol="0" anchor="ctr"/>
          <a:lstStyle/>
          <a:p>
            <a:pPr algn="ctr"/>
          </a:p>
        </p:txBody>
      </p:sp>
      <p:sp>
        <p:nvSpPr>
          <p:cNvPr id="126" name="Rectangle 125"/>
          <p:cNvSpPr/>
          <p:nvPr/>
        </p:nvSpPr>
        <p:spPr>
          <a:xfrm>
            <a:off x="1207008" y="3657599"/>
            <a:ext cx="2468880" cy="182880"/>
          </a:xfrm>
          <a:prstGeom prst="rect">
            <a:avLst/>
          </a:prstGeom>
          <a:solidFill>
            <a:srgbClr val="2F5597"/>
          </a:solidFill>
          <a:ln w="12700">
            <a:solidFill>
              <a:srgbClr val="2F5597"/>
            </a:solidFill>
          </a:ln>
          <a:effectLst/>
        </p:spPr>
        <p:txBody>
          <a:bodyPr rtlCol="0" anchor="ctr" wrap="square" lIns="45720" tIns="0" rIns="0" bIns="0"/>
          <a:lstStyle/>
          <a:p>
            <a:pPr algn="l"/>
            <a:r>
              <a:rPr sz="850" b="1">
                <a:solidFill>
                  <a:srgbClr val="FFFFFF"/>
                </a:solidFill>
                <a:latin typeface="맑은 고딕"/>
                <a:ea typeface="맑은 고딕"/>
              </a:rPr>
              <a:t>요청별 지시 push</a:t>
            </a:r>
          </a:p>
        </p:txBody>
      </p:sp>
      <p:sp>
        <p:nvSpPr>
          <p:cNvPr id="127" name="TextBox 126"/>
          <p:cNvSpPr txBox="1"/>
          <p:nvPr/>
        </p:nvSpPr>
        <p:spPr>
          <a:xfrm>
            <a:off x="1225296" y="3895344"/>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Q1 </a:t>
            </a:r>
            <a:r>
              <a:rPr sz="850" b="0">
                <a:solidFill>
                  <a:srgbClr val="000000"/>
                </a:solidFill>
                <a:latin typeface="맑은 고딕"/>
                <a:ea typeface="맑은 고딕"/>
              </a:rPr>
              <a:t>요청마다 정밀한 서버·계층 지시</a:t>
            </a:r>
          </a:p>
        </p:txBody>
      </p:sp>
      <p:sp>
        <p:nvSpPr>
          <p:cNvPr id="128" name="TextBox 127"/>
          <p:cNvSpPr txBox="1"/>
          <p:nvPr/>
        </p:nvSpPr>
        <p:spPr>
          <a:xfrm>
            <a:off x="1225296" y="4279392"/>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리스크 </a:t>
            </a:r>
            <a:r>
              <a:rPr sz="850" b="0">
                <a:solidFill>
                  <a:srgbClr val="000000"/>
                </a:solidFill>
                <a:latin typeface="맑은 고딕"/>
                <a:ea typeface="맑은 고딕"/>
              </a:rPr>
              <a:t>지시 도착 전 노드가 블록을 옮기면 어긋남</a:t>
            </a:r>
          </a:p>
        </p:txBody>
      </p:sp>
      <p:sp>
        <p:nvSpPr>
          <p:cNvPr id="129" name="Rectangle 128"/>
          <p:cNvSpPr/>
          <p:nvPr/>
        </p:nvSpPr>
        <p:spPr>
          <a:xfrm>
            <a:off x="3721608" y="3621023"/>
            <a:ext cx="2560320" cy="1051560"/>
          </a:xfrm>
          <a:prstGeom prst="rect">
            <a:avLst/>
          </a:prstGeom>
          <a:solidFill>
            <a:srgbClr val="FFFFFF"/>
          </a:solidFill>
          <a:ln w="6350">
            <a:solidFill>
              <a:srgbClr val="BFBFBF"/>
            </a:solidFill>
          </a:ln>
          <a:effectLst/>
        </p:spPr>
        <p:txBody>
          <a:bodyPr rtlCol="0" anchor="ctr"/>
          <a:lstStyle/>
          <a:p>
            <a:pPr algn="ctr"/>
          </a:p>
        </p:txBody>
      </p:sp>
      <p:sp>
        <p:nvSpPr>
          <p:cNvPr id="130" name="Rectangle 129"/>
          <p:cNvSpPr/>
          <p:nvPr/>
        </p:nvSpPr>
        <p:spPr>
          <a:xfrm>
            <a:off x="3767328" y="3657599"/>
            <a:ext cx="2468880" cy="182880"/>
          </a:xfrm>
          <a:prstGeom prst="rect">
            <a:avLst/>
          </a:prstGeom>
          <a:solidFill>
            <a:srgbClr val="C55A11"/>
          </a:solidFill>
          <a:ln w="12700">
            <a:solidFill>
              <a:srgbClr val="C55A11"/>
            </a:solidFill>
          </a:ln>
          <a:effectLst/>
        </p:spPr>
        <p:txBody>
          <a:bodyPr rtlCol="0" anchor="ctr" wrap="square" lIns="45720" tIns="0" rIns="0" bIns="0"/>
          <a:lstStyle/>
          <a:p>
            <a:pPr algn="l"/>
            <a:r>
              <a:rPr sz="850" b="1">
                <a:solidFill>
                  <a:srgbClr val="FFFFFF"/>
                </a:solidFill>
                <a:latin typeface="맑은 고딕"/>
                <a:ea typeface="맑은 고딕"/>
              </a:rPr>
              <a:t>힌트 위임 + 로컬 결정</a:t>
            </a:r>
          </a:p>
        </p:txBody>
      </p:sp>
      <p:sp>
        <p:nvSpPr>
          <p:cNvPr id="131" name="TextBox 130"/>
          <p:cNvSpPr txBox="1"/>
          <p:nvPr/>
        </p:nvSpPr>
        <p:spPr>
          <a:xfrm>
            <a:off x="3785616" y="3895344"/>
            <a:ext cx="2432304" cy="365760"/>
          </a:xfrm>
          <a:prstGeom prst="rect">
            <a:avLst/>
          </a:prstGeom>
          <a:noFill/>
        </p:spPr>
        <p:txBody>
          <a:bodyPr wrap="square" anchor="t" lIns="0" tIns="0" rIns="0" bIns="0">
            <a:spAutoFit/>
          </a:bodyPr>
          <a:lstStyle/>
          <a:p>
            <a:pPr algn="l"/>
            <a:r>
              <a:rPr sz="850" b="1">
                <a:solidFill>
                  <a:srgbClr val="548235"/>
                </a:solidFill>
                <a:latin typeface="맑은 고딕"/>
                <a:ea typeface="맑은 고딕"/>
              </a:rPr>
              <a:t>＋ Q2 </a:t>
            </a:r>
            <a:r>
              <a:rPr sz="850" b="0">
                <a:solidFill>
                  <a:srgbClr val="000000"/>
                </a:solidFill>
                <a:latin typeface="맑은 고딕"/>
                <a:ea typeface="맑은 고딕"/>
              </a:rPr>
              <a:t>노드가 최신 상태로 결정, 낡은 index 없음</a:t>
            </a:r>
          </a:p>
        </p:txBody>
      </p:sp>
      <p:sp>
        <p:nvSpPr>
          <p:cNvPr id="132" name="TextBox 131"/>
          <p:cNvSpPr txBox="1"/>
          <p:nvPr/>
        </p:nvSpPr>
        <p:spPr>
          <a:xfrm>
            <a:off x="3785616" y="4279392"/>
            <a:ext cx="2432304" cy="36576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 Q1 </a:t>
            </a:r>
            <a:r>
              <a:rPr sz="850" b="0">
                <a:solidFill>
                  <a:srgbClr val="000000"/>
                </a:solidFill>
                <a:latin typeface="맑은 고딕"/>
                <a:ea typeface="맑은 고딕"/>
              </a:rPr>
              <a:t>Router가 계층까지 전역 최적화하지 못함</a:t>
            </a:r>
          </a:p>
        </p:txBody>
      </p:sp>
      <p:sp>
        <p:nvSpPr>
          <p:cNvPr id="133" name="TextBox 132"/>
          <p:cNvSpPr txBox="1"/>
          <p:nvPr/>
        </p:nvSpPr>
        <p:spPr>
          <a:xfrm>
            <a:off x="246888" y="4709159"/>
            <a:ext cx="6035040" cy="274320"/>
          </a:xfrm>
          <a:prstGeom prst="rect">
            <a:avLst/>
          </a:prstGeom>
          <a:noFill/>
        </p:spPr>
        <p:txBody>
          <a:bodyPr wrap="square" anchor="t" lIns="0" tIns="0" rIns="0" bIns="0">
            <a:spAutoFit/>
          </a:bodyPr>
          <a:lstStyle/>
          <a:p>
            <a:pPr algn="l"/>
            <a:r>
              <a:rPr sz="750" b="1">
                <a:solidFill>
                  <a:srgbClr val="000000"/>
                </a:solidFill>
                <a:latin typeface="맑은 고딕"/>
                <a:ea typeface="맑은 고딕"/>
              </a:rPr>
              <a:t>Q1</a:t>
            </a:r>
            <a:r>
              <a:rPr sz="750" b="0">
                <a:solidFill>
                  <a:srgbClr val="404040"/>
                </a:solidFill>
                <a:latin typeface="맑은 고딕"/>
                <a:ea typeface="맑은 고딕"/>
              </a:rPr>
              <a:t> 처리량  </a:t>
            </a:r>
            <a:r>
              <a:rPr sz="750" b="1">
                <a:solidFill>
                  <a:srgbClr val="000000"/>
                </a:solidFill>
                <a:latin typeface="맑은 고딕"/>
                <a:ea typeface="맑은 고딕"/>
              </a:rPr>
              <a:t>Q2</a:t>
            </a:r>
            <a:r>
              <a:rPr sz="750" b="0">
                <a:solidFill>
                  <a:srgbClr val="404040"/>
                </a:solidFill>
                <a:latin typeface="맑은 고딕"/>
                <a:ea typeface="맑은 고딕"/>
              </a:rPr>
              <a:t> 지연  </a:t>
            </a:r>
            <a:r>
              <a:rPr sz="750" b="1">
                <a:solidFill>
                  <a:srgbClr val="000000"/>
                </a:solidFill>
                <a:latin typeface="맑은 고딕"/>
                <a:ea typeface="맑은 고딕"/>
              </a:rPr>
              <a:t>Q3</a:t>
            </a:r>
            <a:r>
              <a:rPr sz="750" b="0">
                <a:solidFill>
                  <a:srgbClr val="404040"/>
                </a:solidFill>
                <a:latin typeface="맑은 고딕"/>
                <a:ea typeface="맑은 고딕"/>
              </a:rPr>
              <a:t> 변경·유지 용이성 (M1~M6)  </a:t>
            </a:r>
            <a:r>
              <a:rPr sz="750" b="1">
                <a:solidFill>
                  <a:srgbClr val="000000"/>
                </a:solidFill>
                <a:latin typeface="맑은 고딕"/>
                <a:ea typeface="맑은 고딕"/>
              </a:rPr>
              <a:t>Q4</a:t>
            </a:r>
            <a:r>
              <a:rPr sz="750" b="0">
                <a:solidFill>
                  <a:srgbClr val="404040"/>
                </a:solidFill>
                <a:latin typeface="맑은 고딕"/>
                <a:ea typeface="맑은 고딕"/>
              </a:rPr>
              <a:t> 확장성</a:t>
            </a:r>
          </a:p>
        </p:txBody>
      </p:sp>
      <p:sp>
        <p:nvSpPr>
          <p:cNvPr id="134" name="TextBox 133"/>
          <p:cNvSpPr txBox="1"/>
          <p:nvPr/>
        </p:nvSpPr>
        <p:spPr>
          <a:xfrm>
            <a:off x="6492240" y="1042415"/>
            <a:ext cx="5504688" cy="201168"/>
          </a:xfrm>
          <a:prstGeom prst="rect">
            <a:avLst/>
          </a:prstGeom>
          <a:noFill/>
        </p:spPr>
        <p:txBody>
          <a:bodyPr wrap="square" anchor="t" lIns="0" tIns="0" rIns="0" bIns="0">
            <a:spAutoFit/>
          </a:bodyPr>
          <a:lstStyle/>
          <a:p>
            <a:pPr algn="l"/>
            <a:r>
              <a:rPr sz="1050" b="1">
                <a:solidFill>
                  <a:srgbClr val="000000"/>
                </a:solidFill>
                <a:latin typeface="맑은 고딕"/>
                <a:ea typeface="맑은 고딕"/>
              </a:rPr>
              <a:t>② QA 4개 (별 합계) + 제약·리스크 (합계 밖)</a:t>
            </a:r>
          </a:p>
        </p:txBody>
      </p:sp>
      <p:sp>
        <p:nvSpPr>
          <p:cNvPr id="135" name="Rectangle 134"/>
          <p:cNvSpPr/>
          <p:nvPr/>
        </p:nvSpPr>
        <p:spPr>
          <a:xfrm>
            <a:off x="6492240" y="1280160"/>
            <a:ext cx="1005840" cy="237744"/>
          </a:xfrm>
          <a:prstGeom prst="rect">
            <a:avLst/>
          </a:prstGeom>
          <a:solidFill>
            <a:srgbClr val="404040"/>
          </a:solidFill>
          <a:ln w="12700">
            <a:solidFill>
              <a:srgbClr val="404040"/>
            </a:solidFill>
          </a:ln>
          <a:effectLst/>
        </p:spPr>
        <p:txBody>
          <a:bodyPr rtlCol="0" anchor="ctr" wrap="square" lIns="36576" tIns="18288" rIns="36576" bIns="18288"/>
          <a:lstStyle/>
          <a:p>
            <a:pPr algn="ctr"/>
            <a:r>
              <a:rPr sz="800" b="1">
                <a:solidFill>
                  <a:srgbClr val="FFFFFF"/>
                </a:solidFill>
                <a:latin typeface="맑은 고딕"/>
                <a:ea typeface="맑은 고딕"/>
              </a:rPr>
              <a:t>QA (우선순위 순)</a:t>
            </a:r>
          </a:p>
        </p:txBody>
      </p:sp>
      <p:sp>
        <p:nvSpPr>
          <p:cNvPr id="136" name="Rectangle 135"/>
          <p:cNvSpPr/>
          <p:nvPr/>
        </p:nvSpPr>
        <p:spPr>
          <a:xfrm>
            <a:off x="7498079" y="1280160"/>
            <a:ext cx="914400" cy="237744"/>
          </a:xfrm>
          <a:prstGeom prst="rect">
            <a:avLst/>
          </a:prstGeom>
          <a:solidFill>
            <a:srgbClr val="2F5597"/>
          </a:solidFill>
          <a:ln w="12700">
            <a:solidFill>
              <a:srgbClr val="2F5597"/>
            </a:solidFill>
          </a:ln>
          <a:effectLst/>
        </p:spPr>
        <p:txBody>
          <a:bodyPr rtlCol="0" anchor="ctr" wrap="square" lIns="36576" tIns="18288" rIns="36576" bIns="18288"/>
          <a:lstStyle/>
          <a:p>
            <a:pPr algn="ctr"/>
            <a:r>
              <a:rPr sz="800" b="1">
                <a:solidFill>
                  <a:srgbClr val="FFFFFF"/>
                </a:solidFill>
                <a:latin typeface="맑은 고딕"/>
                <a:ea typeface="맑은 고딕"/>
              </a:rPr>
              <a:t>S1 중앙</a:t>
            </a:r>
          </a:p>
        </p:txBody>
      </p:sp>
      <p:sp>
        <p:nvSpPr>
          <p:cNvPr id="137" name="Rectangle 136"/>
          <p:cNvSpPr/>
          <p:nvPr/>
        </p:nvSpPr>
        <p:spPr>
          <a:xfrm>
            <a:off x="8412480" y="1280160"/>
            <a:ext cx="914400" cy="237744"/>
          </a:xfrm>
          <a:prstGeom prst="rect">
            <a:avLst/>
          </a:prstGeom>
          <a:solidFill>
            <a:srgbClr val="C55A11"/>
          </a:solidFill>
          <a:ln w="12700">
            <a:solidFill>
              <a:srgbClr val="C55A11"/>
            </a:solidFill>
          </a:ln>
          <a:effectLst/>
        </p:spPr>
        <p:txBody>
          <a:bodyPr rtlCol="0" anchor="ctr" wrap="square" lIns="36576" tIns="18288" rIns="36576" bIns="18288"/>
          <a:lstStyle/>
          <a:p>
            <a:pPr algn="ctr"/>
            <a:r>
              <a:rPr sz="800" b="1">
                <a:solidFill>
                  <a:srgbClr val="FFFFFF"/>
                </a:solidFill>
                <a:latin typeface="맑은 고딕"/>
                <a:ea typeface="맑은 고딕"/>
              </a:rPr>
              <a:t>S2 위임</a:t>
            </a:r>
          </a:p>
        </p:txBody>
      </p:sp>
      <p:sp>
        <p:nvSpPr>
          <p:cNvPr id="138" name="Rectangle 137"/>
          <p:cNvSpPr/>
          <p:nvPr/>
        </p:nvSpPr>
        <p:spPr>
          <a:xfrm>
            <a:off x="9326880" y="1280160"/>
            <a:ext cx="2670048" cy="237744"/>
          </a:xfrm>
          <a:prstGeom prst="rect">
            <a:avLst/>
          </a:prstGeom>
          <a:solidFill>
            <a:srgbClr val="404040"/>
          </a:solidFill>
          <a:ln w="12700">
            <a:solidFill>
              <a:srgbClr val="404040"/>
            </a:solidFill>
          </a:ln>
          <a:effectLst/>
        </p:spPr>
        <p:txBody>
          <a:bodyPr rtlCol="0" anchor="ctr" wrap="square" lIns="36576" tIns="18288" rIns="36576" bIns="18288"/>
          <a:lstStyle/>
          <a:p>
            <a:pPr algn="ctr"/>
            <a:r>
              <a:rPr sz="800" b="1">
                <a:solidFill>
                  <a:srgbClr val="FFFFFF"/>
                </a:solidFill>
                <a:latin typeface="맑은 고딕"/>
                <a:ea typeface="맑은 고딕"/>
              </a:rPr>
              <a:t>왜 (메커니즘)</a:t>
            </a:r>
          </a:p>
        </p:txBody>
      </p:sp>
      <p:sp>
        <p:nvSpPr>
          <p:cNvPr id="139" name="Rectangle 138"/>
          <p:cNvSpPr/>
          <p:nvPr/>
        </p:nvSpPr>
        <p:spPr>
          <a:xfrm>
            <a:off x="6492240" y="1517904"/>
            <a:ext cx="1005840" cy="420624"/>
          </a:xfrm>
          <a:prstGeom prst="rect">
            <a:avLst/>
          </a:prstGeom>
          <a:solidFill>
            <a:srgbClr val="F2F2F2"/>
          </a:solidFill>
          <a:ln w="6350">
            <a:solidFill>
              <a:srgbClr val="BFBFBF"/>
            </a:solidFill>
          </a:ln>
          <a:effectLst/>
        </p:spPr>
        <p:txBody>
          <a:bodyPr rtlCol="0" anchor="ctr" wrap="square" lIns="64008" tIns="27432" rIns="45720" bIns="27432"/>
          <a:lstStyle/>
          <a:p>
            <a:pPr algn="l"/>
            <a:r>
              <a:rPr sz="850" b="1">
                <a:solidFill>
                  <a:srgbClr val="000000"/>
                </a:solidFill>
                <a:latin typeface="맑은 고딕"/>
                <a:ea typeface="맑은 고딕"/>
              </a:rPr>
              <a:t>Q1 처리량</a:t>
            </a:r>
          </a:p>
        </p:txBody>
      </p:sp>
      <p:sp>
        <p:nvSpPr>
          <p:cNvPr id="140" name="Rectangle 139"/>
          <p:cNvSpPr/>
          <p:nvPr/>
        </p:nvSpPr>
        <p:spPr>
          <a:xfrm>
            <a:off x="7498079" y="1517904"/>
            <a:ext cx="914400" cy="420624"/>
          </a:xfrm>
          <a:prstGeom prst="rect">
            <a:avLst/>
          </a:prstGeom>
          <a:solidFill>
            <a:srgbClr val="DAE3F3"/>
          </a:solidFill>
          <a:ln w="6350">
            <a:solidFill>
              <a:srgbClr val="BFBFBF"/>
            </a:solidFill>
          </a:ln>
          <a:effectLst/>
        </p:spPr>
        <p:txBody>
          <a:bodyPr rtlCol="0" anchor="ctr" wrap="square" lIns="64008" tIns="27432" rIns="45720" bIns="27432"/>
          <a:lstStyle/>
          <a:p>
            <a:pPr algn="ctr"/>
            <a:r>
              <a:rPr sz="1200" b="1">
                <a:solidFill>
                  <a:srgbClr val="2F5597"/>
                </a:solidFill>
                <a:latin typeface="맑은 고딕"/>
                <a:ea typeface="맑은 고딕"/>
              </a:rPr>
              <a:t>●●●</a:t>
            </a:r>
          </a:p>
        </p:txBody>
      </p:sp>
      <p:sp>
        <p:nvSpPr>
          <p:cNvPr id="141" name="Rectangle 140"/>
          <p:cNvSpPr/>
          <p:nvPr/>
        </p:nvSpPr>
        <p:spPr>
          <a:xfrm>
            <a:off x="8412480" y="1517904"/>
            <a:ext cx="914400"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C55A11"/>
                </a:solidFill>
                <a:latin typeface="맑은 고딕"/>
                <a:ea typeface="맑은 고딕"/>
              </a:rPr>
              <a:t>●●○</a:t>
            </a:r>
          </a:p>
        </p:txBody>
      </p:sp>
      <p:sp>
        <p:nvSpPr>
          <p:cNvPr id="142" name="Rectangle 141"/>
          <p:cNvSpPr/>
          <p:nvPr/>
        </p:nvSpPr>
        <p:spPr>
          <a:xfrm>
            <a:off x="9326880" y="1517904"/>
            <a:ext cx="2670048" cy="42062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S1: 블록 단위로 가장 긴 prefix 서버를 정밀 선택. S2: 요약이라 정밀도·신선도 저하 (크기 미측정)</a:t>
            </a:r>
          </a:p>
        </p:txBody>
      </p:sp>
      <p:sp>
        <p:nvSpPr>
          <p:cNvPr id="143" name="Rectangle 142"/>
          <p:cNvSpPr/>
          <p:nvPr/>
        </p:nvSpPr>
        <p:spPr>
          <a:xfrm>
            <a:off x="6492240" y="1938528"/>
            <a:ext cx="1005840" cy="420624"/>
          </a:xfrm>
          <a:prstGeom prst="rect">
            <a:avLst/>
          </a:prstGeom>
          <a:solidFill>
            <a:srgbClr val="F2F2F2"/>
          </a:solidFill>
          <a:ln w="6350">
            <a:solidFill>
              <a:srgbClr val="BFBFBF"/>
            </a:solidFill>
          </a:ln>
          <a:effectLst/>
        </p:spPr>
        <p:txBody>
          <a:bodyPr rtlCol="0" anchor="ctr" wrap="square" lIns="64008" tIns="27432" rIns="45720" bIns="27432"/>
          <a:lstStyle/>
          <a:p>
            <a:pPr algn="l"/>
            <a:r>
              <a:rPr sz="850" b="1">
                <a:solidFill>
                  <a:srgbClr val="000000"/>
                </a:solidFill>
                <a:latin typeface="맑은 고딕"/>
                <a:ea typeface="맑은 고딕"/>
              </a:rPr>
              <a:t>Q2 지연</a:t>
            </a:r>
          </a:p>
        </p:txBody>
      </p:sp>
      <p:sp>
        <p:nvSpPr>
          <p:cNvPr id="144" name="Rectangle 143"/>
          <p:cNvSpPr/>
          <p:nvPr/>
        </p:nvSpPr>
        <p:spPr>
          <a:xfrm>
            <a:off x="7498079" y="1938528"/>
            <a:ext cx="914400"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2F5597"/>
                </a:solidFill>
                <a:latin typeface="맑은 고딕"/>
                <a:ea typeface="맑은 고딕"/>
              </a:rPr>
              <a:t>●●○</a:t>
            </a:r>
          </a:p>
        </p:txBody>
      </p:sp>
      <p:sp>
        <p:nvSpPr>
          <p:cNvPr id="145" name="Rectangle 144"/>
          <p:cNvSpPr/>
          <p:nvPr/>
        </p:nvSpPr>
        <p:spPr>
          <a:xfrm>
            <a:off x="8412480" y="1938528"/>
            <a:ext cx="914400"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C55A11"/>
                </a:solidFill>
                <a:latin typeface="맑은 고딕"/>
                <a:ea typeface="맑은 고딕"/>
              </a:rPr>
              <a:t>●●○</a:t>
            </a:r>
          </a:p>
        </p:txBody>
      </p:sp>
      <p:sp>
        <p:nvSpPr>
          <p:cNvPr id="146" name="Rectangle 145"/>
          <p:cNvSpPr/>
          <p:nvPr/>
        </p:nvSpPr>
        <p:spPr>
          <a:xfrm>
            <a:off x="9326880" y="1938528"/>
            <a:ext cx="2670048" cy="42062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동등. 결정 시간 차이는 작음. 오라우팅 패널티 출처만 다름 (S1 낡은 index, S2 요약 오차)</a:t>
            </a:r>
          </a:p>
        </p:txBody>
      </p:sp>
      <p:sp>
        <p:nvSpPr>
          <p:cNvPr id="147" name="Rectangle 146"/>
          <p:cNvSpPr/>
          <p:nvPr/>
        </p:nvSpPr>
        <p:spPr>
          <a:xfrm>
            <a:off x="6492240" y="2359152"/>
            <a:ext cx="1005840" cy="420624"/>
          </a:xfrm>
          <a:prstGeom prst="rect">
            <a:avLst/>
          </a:prstGeom>
          <a:solidFill>
            <a:srgbClr val="F2F2F2"/>
          </a:solidFill>
          <a:ln w="6350">
            <a:solidFill>
              <a:srgbClr val="BFBFBF"/>
            </a:solidFill>
          </a:ln>
          <a:effectLst/>
        </p:spPr>
        <p:txBody>
          <a:bodyPr rtlCol="0" anchor="ctr" wrap="square" lIns="64008" tIns="27432" rIns="45720" bIns="27432"/>
          <a:lstStyle/>
          <a:p>
            <a:pPr algn="l"/>
            <a:r>
              <a:rPr sz="850" b="1">
                <a:solidFill>
                  <a:srgbClr val="000000"/>
                </a:solidFill>
                <a:latin typeface="맑은 고딕"/>
                <a:ea typeface="맑은 고딕"/>
              </a:rPr>
              <a:t>Q3 변경·유지</a:t>
            </a:r>
          </a:p>
        </p:txBody>
      </p:sp>
      <p:sp>
        <p:nvSpPr>
          <p:cNvPr id="148" name="Rectangle 147"/>
          <p:cNvSpPr/>
          <p:nvPr/>
        </p:nvSpPr>
        <p:spPr>
          <a:xfrm>
            <a:off x="7498079" y="2359152"/>
            <a:ext cx="914400"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2F5597"/>
                </a:solidFill>
                <a:latin typeface="맑은 고딕"/>
                <a:ea typeface="맑은 고딕"/>
              </a:rPr>
              <a:t>●●○</a:t>
            </a:r>
          </a:p>
        </p:txBody>
      </p:sp>
      <p:sp>
        <p:nvSpPr>
          <p:cNvPr id="149" name="Rectangle 148"/>
          <p:cNvSpPr/>
          <p:nvPr/>
        </p:nvSpPr>
        <p:spPr>
          <a:xfrm>
            <a:off x="8412480" y="2359152"/>
            <a:ext cx="914400"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C55A11"/>
                </a:solidFill>
                <a:latin typeface="맑은 고딕"/>
                <a:ea typeface="맑은 고딕"/>
              </a:rPr>
              <a:t>●●○</a:t>
            </a:r>
          </a:p>
        </p:txBody>
      </p:sp>
      <p:sp>
        <p:nvSpPr>
          <p:cNvPr id="150" name="Rectangle 149"/>
          <p:cNvSpPr/>
          <p:nvPr/>
        </p:nvSpPr>
        <p:spPr>
          <a:xfrm>
            <a:off x="9326880" y="2359152"/>
            <a:ext cx="2670048" cy="42062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M1~M6에서 S2 3승·S1 2승·동등 1, 차이 1 → 동등</a:t>
            </a:r>
          </a:p>
        </p:txBody>
      </p:sp>
      <p:sp>
        <p:nvSpPr>
          <p:cNvPr id="151" name="Rectangle 150"/>
          <p:cNvSpPr/>
          <p:nvPr/>
        </p:nvSpPr>
        <p:spPr>
          <a:xfrm>
            <a:off x="6492240" y="2779776"/>
            <a:ext cx="1005840" cy="420624"/>
          </a:xfrm>
          <a:prstGeom prst="rect">
            <a:avLst/>
          </a:prstGeom>
          <a:solidFill>
            <a:srgbClr val="F2F2F2"/>
          </a:solidFill>
          <a:ln w="6350">
            <a:solidFill>
              <a:srgbClr val="BFBFBF"/>
            </a:solidFill>
          </a:ln>
          <a:effectLst/>
        </p:spPr>
        <p:txBody>
          <a:bodyPr rtlCol="0" anchor="ctr" wrap="square" lIns="64008" tIns="27432" rIns="45720" bIns="27432"/>
          <a:lstStyle/>
          <a:p>
            <a:pPr algn="l"/>
            <a:r>
              <a:rPr sz="850" b="1">
                <a:solidFill>
                  <a:srgbClr val="000000"/>
                </a:solidFill>
                <a:latin typeface="맑은 고딕"/>
                <a:ea typeface="맑은 고딕"/>
              </a:rPr>
              <a:t>Q4 확장성</a:t>
            </a:r>
          </a:p>
        </p:txBody>
      </p:sp>
      <p:sp>
        <p:nvSpPr>
          <p:cNvPr id="152" name="Rectangle 151"/>
          <p:cNvSpPr/>
          <p:nvPr/>
        </p:nvSpPr>
        <p:spPr>
          <a:xfrm>
            <a:off x="7498079" y="2779776"/>
            <a:ext cx="914400" cy="420624"/>
          </a:xfrm>
          <a:prstGeom prst="rect">
            <a:avLst/>
          </a:prstGeom>
          <a:solidFill>
            <a:srgbClr val="FFFFFF"/>
          </a:solidFill>
          <a:ln w="6350">
            <a:solidFill>
              <a:srgbClr val="BFBFBF"/>
            </a:solidFill>
          </a:ln>
          <a:effectLst/>
        </p:spPr>
        <p:txBody>
          <a:bodyPr rtlCol="0" anchor="ctr" wrap="square" lIns="64008" tIns="27432" rIns="45720" bIns="27432"/>
          <a:lstStyle/>
          <a:p>
            <a:pPr algn="ctr"/>
            <a:r>
              <a:rPr sz="1200" b="1">
                <a:solidFill>
                  <a:srgbClr val="2F5597"/>
                </a:solidFill>
                <a:latin typeface="맑은 고딕"/>
                <a:ea typeface="맑은 고딕"/>
              </a:rPr>
              <a:t>●●○</a:t>
            </a:r>
          </a:p>
        </p:txBody>
      </p:sp>
      <p:sp>
        <p:nvSpPr>
          <p:cNvPr id="153" name="Rectangle 152"/>
          <p:cNvSpPr/>
          <p:nvPr/>
        </p:nvSpPr>
        <p:spPr>
          <a:xfrm>
            <a:off x="8412480" y="2779776"/>
            <a:ext cx="914400" cy="420624"/>
          </a:xfrm>
          <a:prstGeom prst="rect">
            <a:avLst/>
          </a:prstGeom>
          <a:solidFill>
            <a:srgbClr val="FBE5D6"/>
          </a:solidFill>
          <a:ln w="6350">
            <a:solidFill>
              <a:srgbClr val="BFBFBF"/>
            </a:solidFill>
          </a:ln>
          <a:effectLst/>
        </p:spPr>
        <p:txBody>
          <a:bodyPr rtlCol="0" anchor="ctr" wrap="square" lIns="64008" tIns="27432" rIns="45720" bIns="27432"/>
          <a:lstStyle/>
          <a:p>
            <a:pPr algn="ctr"/>
            <a:r>
              <a:rPr sz="1200" b="1">
                <a:solidFill>
                  <a:srgbClr val="C55A11"/>
                </a:solidFill>
                <a:latin typeface="맑은 고딕"/>
                <a:ea typeface="맑은 고딕"/>
              </a:rPr>
              <a:t>●●●</a:t>
            </a:r>
          </a:p>
        </p:txBody>
      </p:sp>
      <p:sp>
        <p:nvSpPr>
          <p:cNvPr id="154" name="Rectangle 153"/>
          <p:cNvSpPr/>
          <p:nvPr/>
        </p:nvSpPr>
        <p:spPr>
          <a:xfrm>
            <a:off x="9326880" y="2779776"/>
            <a:ext cx="2670048" cy="420624"/>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S1: 상태·이벤트량이 서버×블록, 결정이 Router 한 곳. S2: 노드 수×요약 상한, 결정 분산</a:t>
            </a:r>
          </a:p>
        </p:txBody>
      </p:sp>
      <p:sp>
        <p:nvSpPr>
          <p:cNvPr id="155" name="Rectangle 154"/>
          <p:cNvSpPr/>
          <p:nvPr/>
        </p:nvSpPr>
        <p:spPr>
          <a:xfrm>
            <a:off x="6492240" y="3200400"/>
            <a:ext cx="100584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850" b="1">
                <a:solidFill>
                  <a:srgbClr val="000000"/>
                </a:solidFill>
                <a:latin typeface="맑은 고딕"/>
                <a:ea typeface="맑은 고딕"/>
              </a:rPr>
              <a:t>별 합계</a:t>
            </a:r>
          </a:p>
        </p:txBody>
      </p:sp>
      <p:sp>
        <p:nvSpPr>
          <p:cNvPr id="156" name="Rectangle 155"/>
          <p:cNvSpPr/>
          <p:nvPr/>
        </p:nvSpPr>
        <p:spPr>
          <a:xfrm>
            <a:off x="7498079" y="3200400"/>
            <a:ext cx="914400" cy="256032"/>
          </a:xfrm>
          <a:prstGeom prst="rect">
            <a:avLst/>
          </a:prstGeom>
          <a:solidFill>
            <a:srgbClr val="FFFFFF"/>
          </a:solidFill>
          <a:ln w="6350">
            <a:solidFill>
              <a:srgbClr val="BFBFBF"/>
            </a:solidFill>
          </a:ln>
          <a:effectLst/>
        </p:spPr>
        <p:txBody>
          <a:bodyPr rtlCol="0" anchor="ctr" wrap="square" lIns="64008" tIns="27432" rIns="45720" bIns="27432"/>
          <a:lstStyle/>
          <a:p>
            <a:pPr algn="ctr"/>
            <a:r>
              <a:rPr sz="1000" b="1">
                <a:solidFill>
                  <a:srgbClr val="2F5597"/>
                </a:solidFill>
                <a:latin typeface="맑은 고딕"/>
                <a:ea typeface="맑은 고딕"/>
              </a:rPr>
              <a:t>9 / 12</a:t>
            </a:r>
          </a:p>
        </p:txBody>
      </p:sp>
      <p:sp>
        <p:nvSpPr>
          <p:cNvPr id="157" name="Rectangle 156"/>
          <p:cNvSpPr/>
          <p:nvPr/>
        </p:nvSpPr>
        <p:spPr>
          <a:xfrm>
            <a:off x="8412480" y="3200400"/>
            <a:ext cx="914400" cy="256032"/>
          </a:xfrm>
          <a:prstGeom prst="rect">
            <a:avLst/>
          </a:prstGeom>
          <a:solidFill>
            <a:srgbClr val="FFFFFF"/>
          </a:solidFill>
          <a:ln w="6350">
            <a:solidFill>
              <a:srgbClr val="BFBFBF"/>
            </a:solidFill>
          </a:ln>
          <a:effectLst/>
        </p:spPr>
        <p:txBody>
          <a:bodyPr rtlCol="0" anchor="ctr" wrap="square" lIns="64008" tIns="27432" rIns="45720" bIns="27432"/>
          <a:lstStyle/>
          <a:p>
            <a:pPr algn="ctr"/>
            <a:r>
              <a:rPr sz="1000" b="1">
                <a:solidFill>
                  <a:srgbClr val="C55A11"/>
                </a:solidFill>
                <a:latin typeface="맑은 고딕"/>
                <a:ea typeface="맑은 고딕"/>
              </a:rPr>
              <a:t>9 / 12</a:t>
            </a:r>
          </a:p>
        </p:txBody>
      </p:sp>
      <p:sp>
        <p:nvSpPr>
          <p:cNvPr id="158" name="Rectangle 157"/>
          <p:cNvSpPr/>
          <p:nvPr/>
        </p:nvSpPr>
        <p:spPr>
          <a:xfrm>
            <a:off x="9326880" y="3200400"/>
            <a:ext cx="2670048"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1">
                <a:solidFill>
                  <a:srgbClr val="C00000"/>
                </a:solidFill>
                <a:latin typeface="맑은 고딕"/>
                <a:ea typeface="맑은 고딕"/>
              </a:rPr>
              <a:t>동점 → 우선순위: Q1에서 갈림 → 현재 S1</a:t>
            </a:r>
          </a:p>
        </p:txBody>
      </p:sp>
      <p:sp>
        <p:nvSpPr>
          <p:cNvPr id="159" name="TextBox 158"/>
          <p:cNvSpPr txBox="1"/>
          <p:nvPr/>
        </p:nvSpPr>
        <p:spPr>
          <a:xfrm>
            <a:off x="6492240" y="3483864"/>
            <a:ext cx="5504688" cy="182880"/>
          </a:xfrm>
          <a:prstGeom prst="rect">
            <a:avLst/>
          </a:prstGeom>
          <a:noFill/>
        </p:spPr>
        <p:txBody>
          <a:bodyPr wrap="square" anchor="t" lIns="0" tIns="0" rIns="0" bIns="0">
            <a:spAutoFit/>
          </a:bodyPr>
          <a:lstStyle/>
          <a:p>
            <a:pPr algn="l"/>
            <a:r>
              <a:rPr sz="850" b="1">
                <a:solidFill>
                  <a:srgbClr val="000000"/>
                </a:solidFill>
                <a:latin typeface="맑은 고딕"/>
                <a:ea typeface="맑은 고딕"/>
              </a:rPr>
              <a:t>제약 · 리스크 (QA 밖, 합계에 넣지 않음, 우위만 표시)</a:t>
            </a:r>
          </a:p>
        </p:txBody>
      </p:sp>
      <p:sp>
        <p:nvSpPr>
          <p:cNvPr id="160" name="Rectangle 159"/>
          <p:cNvSpPr/>
          <p:nvPr/>
        </p:nvSpPr>
        <p:spPr>
          <a:xfrm>
            <a:off x="6492240" y="3685032"/>
            <a:ext cx="457200" cy="256032"/>
          </a:xfrm>
          <a:prstGeom prst="rect">
            <a:avLst/>
          </a:prstGeom>
          <a:solidFill>
            <a:srgbClr val="F2F2F2"/>
          </a:solidFill>
          <a:ln w="6350">
            <a:solidFill>
              <a:srgbClr val="BFBFBF"/>
            </a:solidFill>
          </a:ln>
          <a:effectLst/>
        </p:spPr>
        <p:txBody>
          <a:bodyPr rtlCol="0" anchor="ctr" wrap="square" lIns="64008" tIns="27432" rIns="45720" bIns="27432"/>
          <a:lstStyle/>
          <a:p>
            <a:pPr algn="ctr"/>
            <a:r>
              <a:rPr sz="800" b="1">
                <a:solidFill>
                  <a:srgbClr val="000000"/>
                </a:solidFill>
                <a:latin typeface="맑은 고딕"/>
                <a:ea typeface="맑은 고딕"/>
              </a:rPr>
              <a:t>비용</a:t>
            </a:r>
          </a:p>
        </p:txBody>
      </p:sp>
      <p:sp>
        <p:nvSpPr>
          <p:cNvPr id="161" name="Rectangle 160"/>
          <p:cNvSpPr/>
          <p:nvPr/>
        </p:nvSpPr>
        <p:spPr>
          <a:xfrm>
            <a:off x="6949440" y="3685032"/>
            <a:ext cx="86868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750" b="1">
                <a:solidFill>
                  <a:srgbClr val="000000"/>
                </a:solidFill>
                <a:latin typeface="맑은 고딕"/>
                <a:ea typeface="맑은 고딕"/>
              </a:rPr>
              <a:t>구현·운영 부담</a:t>
            </a:r>
          </a:p>
        </p:txBody>
      </p:sp>
      <p:sp>
        <p:nvSpPr>
          <p:cNvPr id="162" name="Rectangle 161"/>
          <p:cNvSpPr/>
          <p:nvPr/>
        </p:nvSpPr>
        <p:spPr>
          <a:xfrm>
            <a:off x="7818119" y="3685032"/>
            <a:ext cx="1783080" cy="256032"/>
          </a:xfrm>
          <a:prstGeom prst="rect">
            <a:avLst/>
          </a:prstGeom>
          <a:solidFill>
            <a:srgbClr val="DAE3F3"/>
          </a:solidFill>
          <a:ln w="6350">
            <a:solidFill>
              <a:srgbClr val="BFBFBF"/>
            </a:solidFill>
          </a:ln>
          <a:effectLst/>
        </p:spPr>
        <p:txBody>
          <a:bodyPr rtlCol="0" anchor="ctr" wrap="square" lIns="64008" tIns="27432" rIns="45720" bIns="27432"/>
          <a:lstStyle/>
          <a:p>
            <a:pPr algn="l"/>
            <a:r>
              <a:rPr sz="750" b="1">
                <a:solidFill>
                  <a:srgbClr val="2F5597"/>
                </a:solidFill>
                <a:latin typeface="맑은 고딕"/>
                <a:ea typeface="맑은 고딕"/>
              </a:rPr>
              <a:t>Router 한 곳, 배포 1개</a:t>
            </a:r>
          </a:p>
        </p:txBody>
      </p:sp>
      <p:sp>
        <p:nvSpPr>
          <p:cNvPr id="163" name="Rectangle 162"/>
          <p:cNvSpPr/>
          <p:nvPr/>
        </p:nvSpPr>
        <p:spPr>
          <a:xfrm>
            <a:off x="9601199" y="3685032"/>
            <a:ext cx="1737360"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C55A11"/>
                </a:solidFill>
                <a:latin typeface="맑은 고딕"/>
                <a:ea typeface="맑은 고딕"/>
              </a:rPr>
              <a:t>Router + 노드 에이전트 + 계약</a:t>
            </a:r>
          </a:p>
        </p:txBody>
      </p:sp>
      <p:sp>
        <p:nvSpPr>
          <p:cNvPr id="164" name="Rectangle 163"/>
          <p:cNvSpPr/>
          <p:nvPr/>
        </p:nvSpPr>
        <p:spPr>
          <a:xfrm>
            <a:off x="11338559" y="3685032"/>
            <a:ext cx="658368" cy="256032"/>
          </a:xfrm>
          <a:prstGeom prst="rect">
            <a:avLst/>
          </a:prstGeom>
          <a:solidFill>
            <a:srgbClr val="DAE3F3"/>
          </a:solidFill>
          <a:ln w="6350">
            <a:solidFill>
              <a:srgbClr val="BFBFBF"/>
            </a:solidFill>
          </a:ln>
          <a:effectLst/>
        </p:spPr>
        <p:txBody>
          <a:bodyPr rtlCol="0" anchor="ctr" wrap="square" lIns="64008" tIns="27432" rIns="45720" bIns="27432"/>
          <a:lstStyle/>
          <a:p>
            <a:pPr algn="ctr"/>
            <a:r>
              <a:rPr sz="750" b="1">
                <a:solidFill>
                  <a:srgbClr val="2F5597"/>
                </a:solidFill>
                <a:latin typeface="맑은 고딕"/>
                <a:ea typeface="맑은 고딕"/>
              </a:rPr>
              <a:t>S1 유리</a:t>
            </a:r>
          </a:p>
        </p:txBody>
      </p:sp>
      <p:sp>
        <p:nvSpPr>
          <p:cNvPr id="165" name="Rectangle 164"/>
          <p:cNvSpPr/>
          <p:nvPr/>
        </p:nvSpPr>
        <p:spPr>
          <a:xfrm>
            <a:off x="6492240" y="3941064"/>
            <a:ext cx="457200" cy="256032"/>
          </a:xfrm>
          <a:prstGeom prst="rect">
            <a:avLst/>
          </a:prstGeom>
          <a:solidFill>
            <a:srgbClr val="F2F2F2"/>
          </a:solidFill>
          <a:ln w="6350">
            <a:solidFill>
              <a:srgbClr val="BFBFBF"/>
            </a:solidFill>
          </a:ln>
          <a:effectLst/>
        </p:spPr>
        <p:txBody>
          <a:bodyPr rtlCol="0" anchor="ctr" wrap="square" lIns="64008" tIns="27432" rIns="45720" bIns="27432"/>
          <a:lstStyle/>
          <a:p>
            <a:pPr algn="ctr"/>
            <a:r>
              <a:rPr sz="800" b="1">
                <a:solidFill>
                  <a:srgbClr val="000000"/>
                </a:solidFill>
                <a:latin typeface="맑은 고딕"/>
                <a:ea typeface="맑은 고딕"/>
              </a:rPr>
              <a:t>리스크</a:t>
            </a:r>
          </a:p>
        </p:txBody>
      </p:sp>
      <p:sp>
        <p:nvSpPr>
          <p:cNvPr id="166" name="Rectangle 165"/>
          <p:cNvSpPr/>
          <p:nvPr/>
        </p:nvSpPr>
        <p:spPr>
          <a:xfrm>
            <a:off x="6949440" y="3941064"/>
            <a:ext cx="86868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750" b="1">
                <a:solidFill>
                  <a:srgbClr val="000000"/>
                </a:solidFill>
                <a:latin typeface="맑은 고딕"/>
                <a:ea typeface="맑은 고딕"/>
              </a:rPr>
              <a:t>증거 수준</a:t>
            </a:r>
          </a:p>
        </p:txBody>
      </p:sp>
      <p:sp>
        <p:nvSpPr>
          <p:cNvPr id="167" name="Rectangle 166"/>
          <p:cNvSpPr/>
          <p:nvPr/>
        </p:nvSpPr>
        <p:spPr>
          <a:xfrm>
            <a:off x="7818119" y="3941064"/>
            <a:ext cx="1783080" cy="256032"/>
          </a:xfrm>
          <a:prstGeom prst="rect">
            <a:avLst/>
          </a:prstGeom>
          <a:solidFill>
            <a:srgbClr val="DAE3F3"/>
          </a:solidFill>
          <a:ln w="6350">
            <a:solidFill>
              <a:srgbClr val="BFBFBF"/>
            </a:solidFill>
          </a:ln>
          <a:effectLst/>
        </p:spPr>
        <p:txBody>
          <a:bodyPr rtlCol="0" anchor="ctr" wrap="square" lIns="64008" tIns="27432" rIns="45720" bIns="27432"/>
          <a:lstStyle/>
          <a:p>
            <a:pPr algn="l"/>
            <a:r>
              <a:rPr sz="750" b="1">
                <a:solidFill>
                  <a:srgbClr val="2F5597"/>
                </a:solidFill>
                <a:latin typeface="맑은 고딕"/>
                <a:ea typeface="맑은 고딕"/>
              </a:rPr>
              <a:t>Router 쪽 P1~P4 실행 [A]</a:t>
            </a:r>
          </a:p>
        </p:txBody>
      </p:sp>
      <p:sp>
        <p:nvSpPr>
          <p:cNvPr id="168" name="Rectangle 167"/>
          <p:cNvSpPr/>
          <p:nvPr/>
        </p:nvSpPr>
        <p:spPr>
          <a:xfrm>
            <a:off x="9601199" y="3941064"/>
            <a:ext cx="1737360"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C55A11"/>
                </a:solidFill>
                <a:latin typeface="맑은 고딕"/>
                <a:ea typeface="맑은 고딕"/>
              </a:rPr>
              <a:t>구조 논증 [C]</a:t>
            </a:r>
          </a:p>
        </p:txBody>
      </p:sp>
      <p:sp>
        <p:nvSpPr>
          <p:cNvPr id="169" name="Rectangle 168"/>
          <p:cNvSpPr/>
          <p:nvPr/>
        </p:nvSpPr>
        <p:spPr>
          <a:xfrm>
            <a:off x="11338559" y="3941064"/>
            <a:ext cx="658368" cy="256032"/>
          </a:xfrm>
          <a:prstGeom prst="rect">
            <a:avLst/>
          </a:prstGeom>
          <a:solidFill>
            <a:srgbClr val="DAE3F3"/>
          </a:solidFill>
          <a:ln w="6350">
            <a:solidFill>
              <a:srgbClr val="BFBFBF"/>
            </a:solidFill>
          </a:ln>
          <a:effectLst/>
        </p:spPr>
        <p:txBody>
          <a:bodyPr rtlCol="0" anchor="ctr" wrap="square" lIns="64008" tIns="27432" rIns="45720" bIns="27432"/>
          <a:lstStyle/>
          <a:p>
            <a:pPr algn="ctr"/>
            <a:r>
              <a:rPr sz="750" b="1">
                <a:solidFill>
                  <a:srgbClr val="2F5597"/>
                </a:solidFill>
                <a:latin typeface="맑은 고딕"/>
                <a:ea typeface="맑은 고딕"/>
              </a:rPr>
              <a:t>S1 유리</a:t>
            </a:r>
          </a:p>
        </p:txBody>
      </p:sp>
      <p:sp>
        <p:nvSpPr>
          <p:cNvPr id="170" name="Rectangle 169"/>
          <p:cNvSpPr/>
          <p:nvPr/>
        </p:nvSpPr>
        <p:spPr>
          <a:xfrm>
            <a:off x="6492240" y="4197096"/>
            <a:ext cx="457200" cy="256032"/>
          </a:xfrm>
          <a:prstGeom prst="rect">
            <a:avLst/>
          </a:prstGeom>
          <a:solidFill>
            <a:srgbClr val="F2F2F2"/>
          </a:solidFill>
          <a:ln w="6350">
            <a:solidFill>
              <a:srgbClr val="BFBFBF"/>
            </a:solidFill>
          </a:ln>
          <a:effectLst/>
        </p:spPr>
        <p:txBody>
          <a:bodyPr rtlCol="0" anchor="ctr"/>
          <a:lstStyle/>
          <a:p>
            <a:pPr algn="ctr"/>
          </a:p>
        </p:txBody>
      </p:sp>
      <p:sp>
        <p:nvSpPr>
          <p:cNvPr id="171" name="Rectangle 170"/>
          <p:cNvSpPr/>
          <p:nvPr/>
        </p:nvSpPr>
        <p:spPr>
          <a:xfrm>
            <a:off x="6949440" y="4197096"/>
            <a:ext cx="86868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750" b="1">
                <a:solidFill>
                  <a:srgbClr val="000000"/>
                </a:solidFill>
                <a:latin typeface="맑은 고딕"/>
                <a:ea typeface="맑은 고딕"/>
              </a:rPr>
              <a:t>결정 권한 중복</a:t>
            </a:r>
          </a:p>
        </p:txBody>
      </p:sp>
      <p:sp>
        <p:nvSpPr>
          <p:cNvPr id="172" name="Rectangle 171"/>
          <p:cNvSpPr/>
          <p:nvPr/>
        </p:nvSpPr>
        <p:spPr>
          <a:xfrm>
            <a:off x="7818119" y="4197096"/>
            <a:ext cx="1783080"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2F5597"/>
                </a:solidFill>
                <a:latin typeface="맑은 고딕"/>
                <a:ea typeface="맑은 고딕"/>
              </a:rPr>
              <a:t>Router와 DP1~DP4가 중복 결정</a:t>
            </a:r>
          </a:p>
        </p:txBody>
      </p:sp>
      <p:sp>
        <p:nvSpPr>
          <p:cNvPr id="173" name="Rectangle 172"/>
          <p:cNvSpPr/>
          <p:nvPr/>
        </p:nvSpPr>
        <p:spPr>
          <a:xfrm>
            <a:off x="9601199" y="4197096"/>
            <a:ext cx="1737360" cy="256032"/>
          </a:xfrm>
          <a:prstGeom prst="rect">
            <a:avLst/>
          </a:prstGeom>
          <a:solidFill>
            <a:srgbClr val="FBE5D6"/>
          </a:solidFill>
          <a:ln w="6350">
            <a:solidFill>
              <a:srgbClr val="BFBFBF"/>
            </a:solidFill>
          </a:ln>
          <a:effectLst/>
        </p:spPr>
        <p:txBody>
          <a:bodyPr rtlCol="0" anchor="ctr" wrap="square" lIns="64008" tIns="27432" rIns="45720" bIns="27432"/>
          <a:lstStyle/>
          <a:p>
            <a:pPr algn="l"/>
            <a:r>
              <a:rPr sz="750" b="1">
                <a:solidFill>
                  <a:srgbClr val="C55A11"/>
                </a:solidFill>
                <a:latin typeface="맑은 고딕"/>
                <a:ea typeface="맑은 고딕"/>
              </a:rPr>
              <a:t>노드 한 곳에서만 결정</a:t>
            </a:r>
          </a:p>
        </p:txBody>
      </p:sp>
      <p:sp>
        <p:nvSpPr>
          <p:cNvPr id="174" name="Rectangle 173"/>
          <p:cNvSpPr/>
          <p:nvPr/>
        </p:nvSpPr>
        <p:spPr>
          <a:xfrm>
            <a:off x="11338559" y="4197096"/>
            <a:ext cx="658368" cy="256032"/>
          </a:xfrm>
          <a:prstGeom prst="rect">
            <a:avLst/>
          </a:prstGeom>
          <a:solidFill>
            <a:srgbClr val="FBE5D6"/>
          </a:solidFill>
          <a:ln w="6350">
            <a:solidFill>
              <a:srgbClr val="BFBFBF"/>
            </a:solidFill>
          </a:ln>
          <a:effectLst/>
        </p:spPr>
        <p:txBody>
          <a:bodyPr rtlCol="0" anchor="ctr" wrap="square" lIns="64008" tIns="27432" rIns="45720" bIns="27432"/>
          <a:lstStyle/>
          <a:p>
            <a:pPr algn="ctr"/>
            <a:r>
              <a:rPr sz="750" b="1">
                <a:solidFill>
                  <a:srgbClr val="C55A11"/>
                </a:solidFill>
                <a:latin typeface="맑은 고딕"/>
                <a:ea typeface="맑은 고딕"/>
              </a:rPr>
              <a:t>S2 유리</a:t>
            </a:r>
          </a:p>
        </p:txBody>
      </p:sp>
      <p:sp>
        <p:nvSpPr>
          <p:cNvPr id="175" name="Rectangle 174"/>
          <p:cNvSpPr/>
          <p:nvPr/>
        </p:nvSpPr>
        <p:spPr>
          <a:xfrm>
            <a:off x="6492240" y="4453128"/>
            <a:ext cx="457200" cy="256032"/>
          </a:xfrm>
          <a:prstGeom prst="rect">
            <a:avLst/>
          </a:prstGeom>
          <a:solidFill>
            <a:srgbClr val="F2F2F2"/>
          </a:solidFill>
          <a:ln w="6350">
            <a:solidFill>
              <a:srgbClr val="BFBFBF"/>
            </a:solidFill>
          </a:ln>
          <a:effectLst/>
        </p:spPr>
        <p:txBody>
          <a:bodyPr rtlCol="0" anchor="ctr"/>
          <a:lstStyle/>
          <a:p>
            <a:pPr algn="ctr"/>
          </a:p>
        </p:txBody>
      </p:sp>
      <p:sp>
        <p:nvSpPr>
          <p:cNvPr id="176" name="Rectangle 175"/>
          <p:cNvSpPr/>
          <p:nvPr/>
        </p:nvSpPr>
        <p:spPr>
          <a:xfrm>
            <a:off x="6949440" y="4453128"/>
            <a:ext cx="86868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750" b="1">
                <a:solidFill>
                  <a:srgbClr val="000000"/>
                </a:solidFill>
                <a:latin typeface="맑은 고딕"/>
                <a:ea typeface="맑은 고딕"/>
              </a:rPr>
              <a:t>DP 의존</a:t>
            </a:r>
          </a:p>
        </p:txBody>
      </p:sp>
      <p:sp>
        <p:nvSpPr>
          <p:cNvPr id="177" name="Rectangle 176"/>
          <p:cNvSpPr/>
          <p:nvPr/>
        </p:nvSpPr>
        <p:spPr>
          <a:xfrm>
            <a:off x="7818119" y="4453128"/>
            <a:ext cx="1783080" cy="256032"/>
          </a:xfrm>
          <a:prstGeom prst="rect">
            <a:avLst/>
          </a:prstGeom>
          <a:solidFill>
            <a:srgbClr val="DAE3F3"/>
          </a:solidFill>
          <a:ln w="6350">
            <a:solidFill>
              <a:srgbClr val="BFBFBF"/>
            </a:solidFill>
          </a:ln>
          <a:effectLst/>
        </p:spPr>
        <p:txBody>
          <a:bodyPr rtlCol="0" anchor="ctr" wrap="square" lIns="64008" tIns="27432" rIns="45720" bIns="27432"/>
          <a:lstStyle/>
          <a:p>
            <a:pPr algn="l"/>
            <a:r>
              <a:rPr sz="750" b="1">
                <a:solidFill>
                  <a:srgbClr val="2F5597"/>
                </a:solidFill>
                <a:latin typeface="맑은 고딕"/>
                <a:ea typeface="맑은 고딕"/>
              </a:rPr>
              <a:t>Router 단독 완결</a:t>
            </a:r>
          </a:p>
        </p:txBody>
      </p:sp>
      <p:sp>
        <p:nvSpPr>
          <p:cNvPr id="178" name="Rectangle 177"/>
          <p:cNvSpPr/>
          <p:nvPr/>
        </p:nvSpPr>
        <p:spPr>
          <a:xfrm>
            <a:off x="9601199" y="4453128"/>
            <a:ext cx="1737360"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C55A11"/>
                </a:solidFill>
                <a:latin typeface="맑은 고딕"/>
                <a:ea typeface="맑은 고딕"/>
              </a:rPr>
              <a:t>DP1~DP4가 요약·모듈 공급</a:t>
            </a:r>
          </a:p>
        </p:txBody>
      </p:sp>
      <p:sp>
        <p:nvSpPr>
          <p:cNvPr id="179" name="Rectangle 178"/>
          <p:cNvSpPr/>
          <p:nvPr/>
        </p:nvSpPr>
        <p:spPr>
          <a:xfrm>
            <a:off x="11338559" y="4453128"/>
            <a:ext cx="658368" cy="256032"/>
          </a:xfrm>
          <a:prstGeom prst="rect">
            <a:avLst/>
          </a:prstGeom>
          <a:solidFill>
            <a:srgbClr val="DAE3F3"/>
          </a:solidFill>
          <a:ln w="6350">
            <a:solidFill>
              <a:srgbClr val="BFBFBF"/>
            </a:solidFill>
          </a:ln>
          <a:effectLst/>
        </p:spPr>
        <p:txBody>
          <a:bodyPr rtlCol="0" anchor="ctr" wrap="square" lIns="64008" tIns="27432" rIns="45720" bIns="27432"/>
          <a:lstStyle/>
          <a:p>
            <a:pPr algn="ctr"/>
            <a:r>
              <a:rPr sz="750" b="1">
                <a:solidFill>
                  <a:srgbClr val="2F5597"/>
                </a:solidFill>
                <a:latin typeface="맑은 고딕"/>
                <a:ea typeface="맑은 고딕"/>
              </a:rPr>
              <a:t>S1 유리</a:t>
            </a:r>
          </a:p>
        </p:txBody>
      </p:sp>
      <p:sp>
        <p:nvSpPr>
          <p:cNvPr id="180" name="Rectangle 179"/>
          <p:cNvSpPr/>
          <p:nvPr/>
        </p:nvSpPr>
        <p:spPr>
          <a:xfrm>
            <a:off x="6492240" y="4709160"/>
            <a:ext cx="457200" cy="256032"/>
          </a:xfrm>
          <a:prstGeom prst="rect">
            <a:avLst/>
          </a:prstGeom>
          <a:solidFill>
            <a:srgbClr val="F2F2F2"/>
          </a:solidFill>
          <a:ln w="6350">
            <a:solidFill>
              <a:srgbClr val="BFBFBF"/>
            </a:solidFill>
          </a:ln>
          <a:effectLst/>
        </p:spPr>
        <p:txBody>
          <a:bodyPr rtlCol="0" anchor="ctr"/>
          <a:lstStyle/>
          <a:p>
            <a:pPr algn="ctr"/>
          </a:p>
        </p:txBody>
      </p:sp>
      <p:sp>
        <p:nvSpPr>
          <p:cNvPr id="181" name="Rectangle 180"/>
          <p:cNvSpPr/>
          <p:nvPr/>
        </p:nvSpPr>
        <p:spPr>
          <a:xfrm>
            <a:off x="6949440" y="4709160"/>
            <a:ext cx="868680" cy="256032"/>
          </a:xfrm>
          <a:prstGeom prst="rect">
            <a:avLst/>
          </a:prstGeom>
          <a:solidFill>
            <a:srgbClr val="F2F2F2"/>
          </a:solidFill>
          <a:ln w="6350">
            <a:solidFill>
              <a:srgbClr val="BFBFBF"/>
            </a:solidFill>
          </a:ln>
          <a:effectLst/>
        </p:spPr>
        <p:txBody>
          <a:bodyPr rtlCol="0" anchor="ctr" wrap="square" lIns="64008" tIns="27432" rIns="45720" bIns="27432"/>
          <a:lstStyle/>
          <a:p>
            <a:pPr algn="l"/>
            <a:r>
              <a:rPr sz="750" b="1">
                <a:solidFill>
                  <a:srgbClr val="000000"/>
                </a:solidFill>
                <a:latin typeface="맑은 고딕"/>
                <a:ea typeface="맑은 고딕"/>
              </a:rPr>
              <a:t>미검증 가정</a:t>
            </a:r>
          </a:p>
        </p:txBody>
      </p:sp>
      <p:sp>
        <p:nvSpPr>
          <p:cNvPr id="182" name="Rectangle 181"/>
          <p:cNvSpPr/>
          <p:nvPr/>
        </p:nvSpPr>
        <p:spPr>
          <a:xfrm>
            <a:off x="7818119" y="4709160"/>
            <a:ext cx="1783080" cy="256032"/>
          </a:xfrm>
          <a:prstGeom prst="rect">
            <a:avLst/>
          </a:prstGeom>
          <a:solidFill>
            <a:srgbClr val="DAE3F3"/>
          </a:solidFill>
          <a:ln w="6350">
            <a:solidFill>
              <a:srgbClr val="BFBFBF"/>
            </a:solidFill>
          </a:ln>
          <a:effectLst/>
        </p:spPr>
        <p:txBody>
          <a:bodyPr rtlCol="0" anchor="ctr" wrap="square" lIns="64008" tIns="27432" rIns="45720" bIns="27432"/>
          <a:lstStyle/>
          <a:p>
            <a:pPr algn="l"/>
            <a:r>
              <a:rPr sz="750" b="1">
                <a:solidFill>
                  <a:srgbClr val="2F5597"/>
                </a:solidFill>
                <a:latin typeface="맑은 고딕"/>
                <a:ea typeface="맑은 고딕"/>
              </a:rPr>
              <a:t>이벤트 신선도·상태 규모</a:t>
            </a:r>
          </a:p>
        </p:txBody>
      </p:sp>
      <p:sp>
        <p:nvSpPr>
          <p:cNvPr id="183" name="Rectangle 182"/>
          <p:cNvSpPr/>
          <p:nvPr/>
        </p:nvSpPr>
        <p:spPr>
          <a:xfrm>
            <a:off x="9601199" y="4709160"/>
            <a:ext cx="1737360" cy="256032"/>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C55A11"/>
                </a:solidFill>
                <a:latin typeface="맑은 고딕"/>
                <a:ea typeface="맑은 고딕"/>
              </a:rPr>
              <a:t>요약 정밀도 (Q1 게이트)</a:t>
            </a:r>
          </a:p>
        </p:txBody>
      </p:sp>
      <p:sp>
        <p:nvSpPr>
          <p:cNvPr id="184" name="Rectangle 183"/>
          <p:cNvSpPr/>
          <p:nvPr/>
        </p:nvSpPr>
        <p:spPr>
          <a:xfrm>
            <a:off x="11338559" y="4709160"/>
            <a:ext cx="658368" cy="256032"/>
          </a:xfrm>
          <a:prstGeom prst="rect">
            <a:avLst/>
          </a:prstGeom>
          <a:solidFill>
            <a:srgbClr val="DAE3F3"/>
          </a:solidFill>
          <a:ln w="6350">
            <a:solidFill>
              <a:srgbClr val="BFBFBF"/>
            </a:solidFill>
          </a:ln>
          <a:effectLst/>
        </p:spPr>
        <p:txBody>
          <a:bodyPr rtlCol="0" anchor="ctr" wrap="square" lIns="64008" tIns="27432" rIns="45720" bIns="27432"/>
          <a:lstStyle/>
          <a:p>
            <a:pPr algn="ctr"/>
            <a:r>
              <a:rPr sz="750" b="1">
                <a:solidFill>
                  <a:srgbClr val="2F5597"/>
                </a:solidFill>
                <a:latin typeface="맑은 고딕"/>
                <a:ea typeface="맑은 고딕"/>
              </a:rPr>
              <a:t>S1 유리</a:t>
            </a:r>
          </a:p>
        </p:txBody>
      </p:sp>
      <p:sp>
        <p:nvSpPr>
          <p:cNvPr id="185" name="Rectangle 184"/>
          <p:cNvSpPr/>
          <p:nvPr/>
        </p:nvSpPr>
        <p:spPr>
          <a:xfrm>
            <a:off x="246888" y="5413248"/>
            <a:ext cx="11750040" cy="868680"/>
          </a:xfrm>
          <a:prstGeom prst="rect">
            <a:avLst/>
          </a:prstGeom>
          <a:solidFill>
            <a:srgbClr val="FFFBEA"/>
          </a:solidFill>
          <a:ln w="12700">
            <a:solidFill>
              <a:srgbClr val="BF9000"/>
            </a:solidFill>
          </a:ln>
          <a:effectLst/>
        </p:spPr>
        <p:txBody>
          <a:bodyPr rtlCol="0" anchor="ctr"/>
          <a:lstStyle/>
          <a:p>
            <a:pPr algn="ctr"/>
          </a:p>
        </p:txBody>
      </p:sp>
      <p:sp>
        <p:nvSpPr>
          <p:cNvPr id="186" name="TextBox 185"/>
          <p:cNvSpPr txBox="1"/>
          <p:nvPr/>
        </p:nvSpPr>
        <p:spPr>
          <a:xfrm>
            <a:off x="338328" y="5449824"/>
            <a:ext cx="11567160" cy="822960"/>
          </a:xfrm>
          <a:prstGeom prst="rect">
            <a:avLst/>
          </a:prstGeom>
          <a:noFill/>
        </p:spPr>
        <p:txBody>
          <a:bodyPr wrap="square" anchor="t" lIns="0" tIns="0" rIns="0" bIns="0">
            <a:spAutoFit/>
          </a:bodyPr>
          <a:lstStyle/>
          <a:p>
            <a:pPr algn="l"/>
            <a:r>
              <a:rPr sz="950" b="1">
                <a:solidFill>
                  <a:srgbClr val="C00000"/>
                </a:solidFill>
                <a:latin typeface="맑은 고딕"/>
                <a:ea typeface="맑은 고딕"/>
              </a:rPr>
              <a:t>결론  </a:t>
            </a:r>
            <a:r>
              <a:rPr sz="950" b="1">
                <a:solidFill>
                  <a:srgbClr val="000000"/>
                </a:solidFill>
                <a:latin typeface="맑은 고딕"/>
                <a:ea typeface="맑은 고딕"/>
              </a:rPr>
              <a:t>QA는 9 대 9 동점이며 최우선 Q1은 S1, 확장성 Q4는 S2다. 규칙(합계 → 우선순위)의 결과는 현재 S1이다.</a:t>
            </a:r>
          </a:p>
          <a:p>
            <a:pPr algn="l"/>
            <a:r>
              <a:rPr sz="850" b="0">
                <a:solidFill>
                  <a:srgbClr val="000000"/>
                </a:solidFill>
                <a:latin typeface="맑은 고딕"/>
                <a:ea typeface="맑은 고딕"/>
              </a:rPr>
              <a:t>· 그럼에도 S2를 목표 구조로 제안(소유자 결정 필요): DP1~DP4와 결정 권한이 단일해 응집이 높고, S1의 Q1 우위는 이벤트 신선도에 기댄 명목상 우위일 수 있다.</a:t>
            </a:r>
          </a:p>
          <a:p>
            <a:pPr algn="l"/>
            <a:r>
              <a:rPr sz="850" b="0">
                <a:solidFill>
                  <a:srgbClr val="000000"/>
                </a:solidFill>
                <a:latin typeface="맑은 고딕"/>
                <a:ea typeface="맑은 고딕"/>
              </a:rPr>
              <a:t>· 확정 방법: Q1 게이트(E-A)에서 보완(DP1~DP4) 적용 후 S2의 Goodput 격차가 허용치 이내이면 S2 확정, 아니면 S1로 되돌아간다.</a:t>
            </a:r>
          </a:p>
          <a:p>
            <a:pPr algn="l"/>
            <a:r>
              <a:rPr sz="850" b="0">
                <a:solidFill>
                  <a:srgbClr val="000000"/>
                </a:solidFill>
                <a:latin typeface="맑은 고딕"/>
                <a:ea typeface="맑은 고딕"/>
              </a:rPr>
              <a:t>· 보완 설계: S2의 약점마다 DP1~DP4가 메운다 (다음 장). 구현 방식(OSS 대 직접)은 구조를 고른 뒤 DP0-2에서 정한다.</a:t>
            </a:r>
          </a:p>
        </p:txBody>
      </p:sp>
      <p:sp>
        <p:nvSpPr>
          <p:cNvPr id="187" name="TextBox 186"/>
          <p:cNvSpPr txBox="1"/>
          <p:nvPr/>
        </p:nvSpPr>
        <p:spPr>
          <a:xfrm>
            <a:off x="246888" y="6309360"/>
            <a:ext cx="11750040" cy="128016"/>
          </a:xfrm>
          <a:prstGeom prst="rect">
            <a:avLst/>
          </a:prstGeom>
          <a:noFill/>
        </p:spPr>
        <p:txBody>
          <a:bodyPr wrap="square" anchor="t" lIns="0" tIns="0" rIns="0" bIns="0">
            <a:spAutoFit/>
          </a:bodyPr>
          <a:lstStyle/>
          <a:p>
            <a:pPr algn="l"/>
            <a:r>
              <a:rPr sz="700" b="0">
                <a:solidFill>
                  <a:srgbClr val="404040"/>
                </a:solidFill>
                <a:latin typeface="맑은 고딕"/>
                <a:ea typeface="맑은 고딕"/>
              </a:rPr>
              <a:t>※ ●●●=우수 ●○○=취약, 구조 논증 기반 가설 [C]. 제약·리스크는 별 합계에 넣지 않는다. 공통 QA 기준 문서는 바꾸지 않았다. 상세는 DP0-1 설계 문서 §6.</a:t>
            </a:r>
          </a:p>
        </p:txBody>
      </p:sp>
    </p:spTree>
    <p:extLst>
      <p:ext uri="{BB962C8B-B14F-4D97-AF65-F5344CB8AC3E}">
        <p14:creationId xmlns:p14="http://schemas.microsoft.com/office/powerpoint/2010/main" val="3392401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234949" y="137379"/>
            <a:ext cx="7631530" cy="365125"/>
          </a:xfrm>
        </p:spPr>
        <p:txBody>
          <a:bodyPr/>
          <a:lstStyle/>
          <a:p>
            <a:r>
              <a:rPr lang="en-US" altLang="ko-KR" dirty="0"/>
              <a:t>DP0-1. S2 보완 설계 - DP1~DP4 연결</a:t>
            </a:r>
          </a:p>
        </p:txBody>
      </p:sp>
      <p:sp>
        <p:nvSpPr>
          <p:cNvPr id="5" name="직사각형 4"/>
          <p:cNvSpPr/>
          <p:nvPr/>
        </p:nvSpPr>
        <p:spPr>
          <a:xfrm>
            <a:off x="234949" y="596176"/>
            <a:ext cx="11747501" cy="3966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469760" y="627926"/>
            <a:ext cx="7592951" cy="307777"/>
          </a:xfrm>
          <a:prstGeom prst="rect">
            <a:avLst/>
          </a:prstGeom>
          <a:noFill/>
        </p:spPr>
        <p:txBody>
          <a:bodyPr wrap="square" rtlCol="0">
            <a:spAutoFit/>
          </a:bodyPr>
          <a:lstStyle/>
          <a:p>
            <a:pPr lvl="0">
              <a:defRPr/>
            </a:pPr>
            <a:r>
              <a:rPr lang="ko-KR" altLang="en-US" sz="1400" b="1" dirty="0" err="1">
                <a:solidFill>
                  <a:schemeClr val="bg1"/>
                </a:solidFill>
              </a:rPr>
              <a:t>S2의 약점을 어느 DP가 어떻게 메우는가 (모두 [C] 구조 논증, 미구현)</a:t>
            </a:r>
            <a:endParaRPr lang="ko-KR" altLang="en-US" sz="1400" b="1" dirty="0">
              <a:solidFill>
                <a:schemeClr val="bg1"/>
              </a:solidFill>
            </a:endParaRPr>
          </a:p>
        </p:txBody>
      </p:sp>
      <p:sp>
        <p:nvSpPr>
          <p:cNvPr id="39" name="직사각형 38"/>
          <p:cNvSpPr/>
          <p:nvPr/>
        </p:nvSpPr>
        <p:spPr>
          <a:xfrm>
            <a:off x="403086" y="678726"/>
            <a:ext cx="66675" cy="21627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00"/>
          </a:p>
        </p:txBody>
      </p:sp>
      <p:sp>
        <p:nvSpPr>
          <p:cNvPr id="48" name="모서리가 둥근 직사각형 47"/>
          <p:cNvSpPr/>
          <p:nvPr/>
        </p:nvSpPr>
        <p:spPr>
          <a:xfrm>
            <a:off x="10177272" y="629703"/>
            <a:ext cx="868680" cy="321123"/>
          </a:xfrm>
          <a:prstGeom prst="roundRect">
            <a:avLst/>
          </a:prstGeom>
          <a:solidFill>
            <a:schemeClr val="accent2">
              <a:lumMod val="50000"/>
            </a:schemeClr>
          </a:solidFill>
        </p:spPr>
        <p:style>
          <a:lnRef idx="0">
            <a:schemeClr val="accent2"/>
          </a:lnRef>
          <a:fillRef idx="3">
            <a:schemeClr val="accent2"/>
          </a:fillRef>
          <a:effectRef idx="3">
            <a:schemeClr val="accent2"/>
          </a:effectRef>
          <a:fontRef idx="minor">
            <a:schemeClr val="lt1"/>
          </a:fontRef>
        </p:style>
        <p:txBody>
          <a:bodyPr rIns="0" rtlCol="0" anchor="ctr"/>
          <a:lstStyle/>
          <a:p>
            <a:r>
              <a:rPr lang="en-US" altLang="ko-KR" sz="900" b="1" dirty="0">
                <a:latin typeface="맑은 고딕" panose="020B0503020000020004" pitchFamily="50" charset="-127"/>
              </a:rPr>
              <a:t>Q1~Q4</a:t>
            </a:r>
            <a:endParaRPr lang="ko-KR" altLang="en-US" sz="900" b="1" dirty="0">
              <a:latin typeface="맑은 고딕" panose="020B0503020000020004" pitchFamily="50" charset="-127"/>
              <a:ea typeface="맑은 고딕" panose="020B0503020000020004" pitchFamily="50" charset="-127"/>
            </a:endParaRPr>
          </a:p>
        </p:txBody>
      </p:sp>
      <p:sp>
        <p:nvSpPr>
          <p:cNvPr id="38" name="모서리가 둥근 직사각형 37"/>
          <p:cNvSpPr/>
          <p:nvPr/>
        </p:nvSpPr>
        <p:spPr>
          <a:xfrm>
            <a:off x="9235440" y="627572"/>
            <a:ext cx="868680" cy="323254"/>
          </a:xfrm>
          <a:prstGeom prst="roundRect">
            <a:avLst/>
          </a:prstGeom>
          <a:solidFill>
            <a:schemeClr val="accent5">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F1~F4</a:t>
            </a:r>
            <a:endParaRPr lang="ko-KR" altLang="en-US" sz="900" b="1" dirty="0">
              <a:latin typeface="맑은 고딕" panose="020B0503020000020004" pitchFamily="50" charset="-127"/>
              <a:ea typeface="맑은 고딕" panose="020B0503020000020004" pitchFamily="50" charset="-127"/>
            </a:endParaRPr>
          </a:p>
        </p:txBody>
      </p:sp>
      <p:sp>
        <p:nvSpPr>
          <p:cNvPr id="70" name="모서리가 둥근 직사각형 69"/>
          <p:cNvSpPr/>
          <p:nvPr/>
        </p:nvSpPr>
        <p:spPr>
          <a:xfrm>
            <a:off x="11119104" y="627572"/>
            <a:ext cx="868680" cy="323254"/>
          </a:xfrm>
          <a:prstGeom prst="roundRect">
            <a:avLst/>
          </a:prstGeom>
          <a:solidFill>
            <a:schemeClr val="accent6">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en-US" altLang="ko-KR" sz="900" b="1" dirty="0">
                <a:latin typeface="맑은 고딕" panose="020B0503020000020004" pitchFamily="50" charset="-127"/>
                <a:ea typeface="맑은 고딕" panose="020B0503020000020004" pitchFamily="50" charset="-127"/>
              </a:rPr>
              <a:t>C1~C6</a:t>
            </a:r>
            <a:endParaRPr lang="ko-KR" altLang="en-US" sz="900" b="1" dirty="0">
              <a:latin typeface="맑은 고딕" panose="020B0503020000020004" pitchFamily="50" charset="-127"/>
              <a:ea typeface="맑은 고딕" panose="020B0503020000020004" pitchFamily="50" charset="-127"/>
            </a:endParaRPr>
          </a:p>
        </p:txBody>
      </p:sp>
      <p:sp>
        <p:nvSpPr>
          <p:cNvPr id="57" name="슬라이드 번호 개체 틀 1"/>
          <p:cNvSpPr>
            <a:spLocks noGrp="1"/>
          </p:cNvSpPr>
          <p:nvPr>
            <p:ph type="sldNum" sz="quarter" idx="4"/>
          </p:nvPr>
        </p:nvSpPr>
        <p:spPr>
          <a:xfrm>
            <a:off x="5620080" y="6597650"/>
            <a:ext cx="456466" cy="209550"/>
          </a:xfrm>
        </p:spPr>
        <p:txBody>
          <a:bodyPr/>
          <a:lstStyle/>
          <a:p>
            <a:fld id="{7F889C64-266A-4D07-AD8F-5B592E61CCE1}" type="slidenum">
              <a:rPr lang="ko-KR" altLang="en-US" smtClean="0"/>
              <a:pPr/>
              <a:t>4</a:t>
            </a:fld>
            <a:endParaRPr lang="ko-KR" altLang="en-US" dirty="0"/>
          </a:p>
        </p:txBody>
      </p:sp>
      <p:cxnSp>
        <p:nvCxnSpPr>
          <p:cNvPr id="59" name="직선 연결선 58"/>
          <p:cNvCxnSpPr/>
          <p:nvPr/>
        </p:nvCxnSpPr>
        <p:spPr>
          <a:xfrm>
            <a:off x="8383231"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8461250"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8539269" y="457197"/>
            <a:ext cx="585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직선 연결선 61"/>
          <p:cNvCxnSpPr/>
          <p:nvPr/>
        </p:nvCxnSpPr>
        <p:spPr>
          <a:xfrm>
            <a:off x="8617288"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직선 연결선 62"/>
          <p:cNvCxnSpPr/>
          <p:nvPr/>
        </p:nvCxnSpPr>
        <p:spPr>
          <a:xfrm>
            <a:off x="8695307"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4" name="직선 연결선 63"/>
          <p:cNvCxnSpPr/>
          <p:nvPr/>
        </p:nvCxnSpPr>
        <p:spPr>
          <a:xfrm>
            <a:off x="8773326"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7" name="직선 연결선 66"/>
          <p:cNvCxnSpPr/>
          <p:nvPr/>
        </p:nvCxnSpPr>
        <p:spPr>
          <a:xfrm>
            <a:off x="8851345"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직선 연결선 96"/>
          <p:cNvCxnSpPr/>
          <p:nvPr/>
        </p:nvCxnSpPr>
        <p:spPr>
          <a:xfrm>
            <a:off x="8929364"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직선 연결선 97"/>
          <p:cNvCxnSpPr/>
          <p:nvPr/>
        </p:nvCxnSpPr>
        <p:spPr>
          <a:xfrm>
            <a:off x="900738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085403" y="457197"/>
            <a:ext cx="58597" cy="0"/>
          </a:xfrm>
          <a:prstGeom prst="line">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6291415" y="180689"/>
            <a:ext cx="1541832" cy="276999"/>
          </a:xfrm>
          <a:prstGeom prst="rect">
            <a:avLst/>
          </a:prstGeom>
        </p:spPr>
        <p:txBody>
          <a:bodyPr wrap="none">
            <a:spAutoFit/>
          </a:bodyPr>
          <a:lstStyle/>
          <a:p>
            <a:r>
              <a:rPr lang="en-US" altLang="ko-KR" sz="1200" b="1" dirty="0"/>
              <a:t>(Where to locate?)</a:t>
            </a:r>
            <a:endParaRPr lang="ko-KR" altLang="en-US" sz="1200" dirty="0"/>
          </a:p>
        </p:txBody>
      </p:sp>
      <p:sp>
        <p:nvSpPr>
          <p:cNvPr id="102" name="TextBox 101"/>
          <p:cNvSpPr txBox="1"/>
          <p:nvPr/>
        </p:nvSpPr>
        <p:spPr>
          <a:xfrm>
            <a:off x="246888" y="1069848"/>
            <a:ext cx="2743200" cy="182880"/>
          </a:xfrm>
          <a:prstGeom prst="rect">
            <a:avLst/>
          </a:prstGeom>
          <a:noFill/>
        </p:spPr>
        <p:txBody>
          <a:bodyPr wrap="square" anchor="t" lIns="0" tIns="0" rIns="0" bIns="0">
            <a:spAutoFit/>
          </a:bodyPr>
          <a:lstStyle/>
          <a:p>
            <a:pPr algn="l"/>
            <a:r>
              <a:rPr sz="850" b="1">
                <a:solidFill>
                  <a:srgbClr val="C55A11"/>
                </a:solidFill>
                <a:latin typeface="맑은 고딕"/>
                <a:ea typeface="맑은 고딕"/>
              </a:rPr>
              <a:t>노드 에이전트 안 (노드 계층)</a:t>
            </a:r>
          </a:p>
        </p:txBody>
      </p:sp>
      <p:sp>
        <p:nvSpPr>
          <p:cNvPr id="103" name="TextBox 102"/>
          <p:cNvSpPr txBox="1"/>
          <p:nvPr/>
        </p:nvSpPr>
        <p:spPr>
          <a:xfrm>
            <a:off x="4206240" y="1069848"/>
            <a:ext cx="2743200" cy="182880"/>
          </a:xfrm>
          <a:prstGeom prst="rect">
            <a:avLst/>
          </a:prstGeom>
          <a:noFill/>
        </p:spPr>
        <p:txBody>
          <a:bodyPr wrap="square" anchor="t" lIns="0" tIns="0" rIns="0" bIns="0">
            <a:spAutoFit/>
          </a:bodyPr>
          <a:lstStyle/>
          <a:p>
            <a:pPr algn="l"/>
            <a:r>
              <a:rPr sz="850" b="1">
                <a:solidFill>
                  <a:srgbClr val="C00000"/>
                </a:solidFill>
                <a:latin typeface="맑은 고딕"/>
                <a:ea typeface="맑은 고딕"/>
              </a:rPr>
              <a:t>NodeSummary (공동 계약)</a:t>
            </a:r>
          </a:p>
        </p:txBody>
      </p:sp>
      <p:sp>
        <p:nvSpPr>
          <p:cNvPr id="104" name="TextBox 103"/>
          <p:cNvSpPr txBox="1"/>
          <p:nvPr/>
        </p:nvSpPr>
        <p:spPr>
          <a:xfrm>
            <a:off x="8503920" y="1069848"/>
            <a:ext cx="3291840" cy="182880"/>
          </a:xfrm>
          <a:prstGeom prst="rect">
            <a:avLst/>
          </a:prstGeom>
          <a:noFill/>
        </p:spPr>
        <p:txBody>
          <a:bodyPr wrap="square" anchor="t" lIns="0" tIns="0" rIns="0" bIns="0">
            <a:spAutoFit/>
          </a:bodyPr>
          <a:lstStyle/>
          <a:p>
            <a:pPr algn="l"/>
            <a:r>
              <a:rPr sz="850" b="1">
                <a:solidFill>
                  <a:srgbClr val="2F5597"/>
                </a:solidFill>
                <a:latin typeface="맑은 고딕"/>
                <a:ea typeface="맑은 고딕"/>
              </a:rPr>
              <a:t>Router (DP0-1, 클러스터 계층)</a:t>
            </a:r>
          </a:p>
        </p:txBody>
      </p:sp>
      <p:sp>
        <p:nvSpPr>
          <p:cNvPr id="105" name="Rectangle 104"/>
          <p:cNvSpPr/>
          <p:nvPr/>
        </p:nvSpPr>
        <p:spPr>
          <a:xfrm>
            <a:off x="246888" y="1298448"/>
            <a:ext cx="502920" cy="384048"/>
          </a:xfrm>
          <a:prstGeom prst="rect">
            <a:avLst/>
          </a:prstGeom>
          <a:solidFill>
            <a:srgbClr val="C00000"/>
          </a:solidFill>
          <a:ln w="12700">
            <a:solidFill>
              <a:srgbClr val="C00000"/>
            </a:solidFill>
          </a:ln>
          <a:effectLst/>
        </p:spPr>
        <p:txBody>
          <a:bodyPr rtlCol="0" anchor="ctr" wrap="square" lIns="36576" tIns="18288" rIns="36576" bIns="18288"/>
          <a:lstStyle/>
          <a:p>
            <a:pPr algn="ctr"/>
            <a:r>
              <a:rPr sz="900" b="1">
                <a:solidFill>
                  <a:srgbClr val="FFFFFF"/>
                </a:solidFill>
                <a:latin typeface="맑은 고딕"/>
                <a:ea typeface="맑은 고딕"/>
              </a:rPr>
              <a:t>DP1</a:t>
            </a:r>
          </a:p>
        </p:txBody>
      </p:sp>
      <p:sp>
        <p:nvSpPr>
          <p:cNvPr id="106" name="Rectangle 105"/>
          <p:cNvSpPr/>
          <p:nvPr/>
        </p:nvSpPr>
        <p:spPr>
          <a:xfrm>
            <a:off x="777240" y="1298448"/>
            <a:ext cx="2926080" cy="384048"/>
          </a:xfrm>
          <a:prstGeom prst="rect">
            <a:avLst/>
          </a:prstGeom>
          <a:solidFill>
            <a:srgbClr val="FBE5D6"/>
          </a:solidFill>
          <a:ln w="19050">
            <a:solidFill>
              <a:srgbClr val="C55A11"/>
            </a:solidFill>
          </a:ln>
          <a:effectLst/>
        </p:spPr>
        <p:txBody>
          <a:bodyPr rtlCol="0" anchor="ctr" wrap="square" lIns="64008" tIns="0" rIns="36576" bIns="0"/>
          <a:lstStyle/>
          <a:p>
            <a:pPr algn="l"/>
            <a:r>
              <a:rPr sz="800" b="0">
                <a:solidFill>
                  <a:srgbClr val="000000"/>
                </a:solidFill>
                <a:latin typeface="맑은 고딕"/>
                <a:ea typeface="맑은 고딕"/>
              </a:rPr>
              <a:t>계층 결정·이동 + Memory Backend I/F</a:t>
            </a:r>
          </a:p>
        </p:txBody>
      </p:sp>
      <p:cxnSp>
        <p:nvCxnSpPr>
          <p:cNvPr id="107" name="Connector 106"/>
          <p:cNvCxnSpPr/>
          <p:nvPr/>
        </p:nvCxnSpPr>
        <p:spPr>
          <a:xfrm>
            <a:off x="3721608" y="1490472"/>
            <a:ext cx="484632" cy="0"/>
          </a:xfrm>
          <a:prstGeom prst="line">
            <a:avLst/>
          </a:prstGeom>
          <a:ln w="19050">
            <a:solidFill>
              <a:srgbClr val="C55A11"/>
            </a:solidFill>
            <a:tailEnd type="triangle"/>
          </a:ln>
        </p:spPr>
      </p:cxnSp>
      <p:sp>
        <p:nvSpPr>
          <p:cNvPr id="108" name="Rectangle 107"/>
          <p:cNvSpPr/>
          <p:nvPr/>
        </p:nvSpPr>
        <p:spPr>
          <a:xfrm>
            <a:off x="4224528" y="1298448"/>
            <a:ext cx="1828800" cy="384048"/>
          </a:xfrm>
          <a:prstGeom prst="rect">
            <a:avLst/>
          </a:prstGeom>
          <a:solidFill>
            <a:srgbClr val="FFFFFF"/>
          </a:solidFill>
          <a:ln w="19050">
            <a:solidFill>
              <a:srgbClr val="C00000"/>
            </a:solidFill>
          </a:ln>
          <a:effectLst/>
        </p:spPr>
        <p:txBody>
          <a:bodyPr rtlCol="0" anchor="ctr" wrap="square" lIns="36576" tIns="18288" rIns="36576" bIns="18288"/>
          <a:lstStyle/>
          <a:p>
            <a:pPr algn="ctr"/>
            <a:r>
              <a:rPr sz="850" b="1">
                <a:solidFill>
                  <a:srgbClr val="000000"/>
                </a:solidFill>
                <a:latin typeface="맑은 고딕"/>
                <a:ea typeface="맑은 고딕"/>
              </a:rPr>
              <a:t>tier_state</a:t>
            </a:r>
          </a:p>
          <a:p>
            <a:pPr algn="ctr"/>
            <a:r>
              <a:rPr sz="650" b="0">
                <a:solidFill>
                  <a:srgbClr val="000000"/>
                </a:solidFill>
                <a:latin typeface="맑은 고딕"/>
                <a:ea typeface="맑은 고딕"/>
              </a:rPr>
              <a:t>계층별 용량·점유·전송 큐</a:t>
            </a:r>
          </a:p>
        </p:txBody>
      </p:sp>
      <p:cxnSp>
        <p:nvCxnSpPr>
          <p:cNvPr id="109" name="Connector 108"/>
          <p:cNvCxnSpPr/>
          <p:nvPr/>
        </p:nvCxnSpPr>
        <p:spPr>
          <a:xfrm>
            <a:off x="6071616" y="1490472"/>
            <a:ext cx="2386584" cy="0"/>
          </a:xfrm>
          <a:prstGeom prst="line">
            <a:avLst/>
          </a:prstGeom>
          <a:ln w="19050">
            <a:solidFill>
              <a:srgbClr val="C00000"/>
            </a:solidFill>
            <a:tailEnd type="triangle"/>
          </a:ln>
        </p:spPr>
      </p:cxnSp>
      <p:sp>
        <p:nvSpPr>
          <p:cNvPr id="110" name="Rectangle 109"/>
          <p:cNvSpPr/>
          <p:nvPr/>
        </p:nvSpPr>
        <p:spPr>
          <a:xfrm>
            <a:off x="246888" y="1755648"/>
            <a:ext cx="502920" cy="384048"/>
          </a:xfrm>
          <a:prstGeom prst="rect">
            <a:avLst/>
          </a:prstGeom>
          <a:solidFill>
            <a:srgbClr val="C00000"/>
          </a:solidFill>
          <a:ln w="12700">
            <a:solidFill>
              <a:srgbClr val="C00000"/>
            </a:solidFill>
          </a:ln>
          <a:effectLst/>
        </p:spPr>
        <p:txBody>
          <a:bodyPr rtlCol="0" anchor="ctr" wrap="square" lIns="36576" tIns="18288" rIns="36576" bIns="18288"/>
          <a:lstStyle/>
          <a:p>
            <a:pPr algn="ctr"/>
            <a:r>
              <a:rPr sz="900" b="1">
                <a:solidFill>
                  <a:srgbClr val="FFFFFF"/>
                </a:solidFill>
                <a:latin typeface="맑은 고딕"/>
                <a:ea typeface="맑은 고딕"/>
              </a:rPr>
              <a:t>DP3</a:t>
            </a:r>
          </a:p>
        </p:txBody>
      </p:sp>
      <p:sp>
        <p:nvSpPr>
          <p:cNvPr id="111" name="Rectangle 110"/>
          <p:cNvSpPr/>
          <p:nvPr/>
        </p:nvSpPr>
        <p:spPr>
          <a:xfrm>
            <a:off x="777240" y="1755648"/>
            <a:ext cx="2926080" cy="384048"/>
          </a:xfrm>
          <a:prstGeom prst="rect">
            <a:avLst/>
          </a:prstGeom>
          <a:solidFill>
            <a:srgbClr val="FBE5D6"/>
          </a:solidFill>
          <a:ln w="19050">
            <a:solidFill>
              <a:srgbClr val="C55A11"/>
            </a:solidFill>
          </a:ln>
          <a:effectLst/>
        </p:spPr>
        <p:txBody>
          <a:bodyPr rtlCol="0" anchor="ctr" wrap="square" lIns="64008" tIns="0" rIns="36576" bIns="0"/>
          <a:lstStyle/>
          <a:p>
            <a:pPr algn="l"/>
            <a:r>
              <a:rPr sz="800" b="0">
                <a:solidFill>
                  <a:srgbClr val="000000"/>
                </a:solidFill>
                <a:latin typeface="맑은 고딕"/>
                <a:ea typeface="맑은 고딕"/>
              </a:rPr>
              <a:t>KV 보존·압축 재사용</a:t>
            </a:r>
          </a:p>
        </p:txBody>
      </p:sp>
      <p:cxnSp>
        <p:nvCxnSpPr>
          <p:cNvPr id="112" name="Connector 111"/>
          <p:cNvCxnSpPr/>
          <p:nvPr/>
        </p:nvCxnSpPr>
        <p:spPr>
          <a:xfrm>
            <a:off x="3721608" y="1947672"/>
            <a:ext cx="484632" cy="0"/>
          </a:xfrm>
          <a:prstGeom prst="line">
            <a:avLst/>
          </a:prstGeom>
          <a:ln w="19050">
            <a:solidFill>
              <a:srgbClr val="C55A11"/>
            </a:solidFill>
            <a:tailEnd type="triangle"/>
          </a:ln>
        </p:spPr>
      </p:cxnSp>
      <p:sp>
        <p:nvSpPr>
          <p:cNvPr id="113" name="Rectangle 112"/>
          <p:cNvSpPr/>
          <p:nvPr/>
        </p:nvSpPr>
        <p:spPr>
          <a:xfrm>
            <a:off x="4224528" y="1755648"/>
            <a:ext cx="1828800" cy="384048"/>
          </a:xfrm>
          <a:prstGeom prst="rect">
            <a:avLst/>
          </a:prstGeom>
          <a:solidFill>
            <a:srgbClr val="FFFFFF"/>
          </a:solidFill>
          <a:ln w="19050">
            <a:solidFill>
              <a:srgbClr val="C00000"/>
            </a:solidFill>
          </a:ln>
          <a:effectLst/>
        </p:spPr>
        <p:txBody>
          <a:bodyPr rtlCol="0" anchor="ctr" wrap="square" lIns="36576" tIns="18288" rIns="36576" bIns="18288"/>
          <a:lstStyle/>
          <a:p>
            <a:pPr algn="ctr"/>
            <a:r>
              <a:rPr sz="850" b="1">
                <a:solidFill>
                  <a:srgbClr val="000000"/>
                </a:solidFill>
                <a:latin typeface="맑은 고딕"/>
                <a:ea typeface="맑은 고딕"/>
              </a:rPr>
              <a:t>prefix_digest</a:t>
            </a:r>
          </a:p>
          <a:p>
            <a:pPr algn="ctr"/>
            <a:r>
              <a:rPr sz="650" b="0">
                <a:solidFill>
                  <a:srgbClr val="000000"/>
                </a:solidFill>
                <a:latin typeface="맑은 고딕"/>
                <a:ea typeface="맑은 고딕"/>
              </a:rPr>
              <a:t>재사용 prefix 요약 (상한 K)</a:t>
            </a:r>
          </a:p>
        </p:txBody>
      </p:sp>
      <p:cxnSp>
        <p:nvCxnSpPr>
          <p:cNvPr id="114" name="Connector 113"/>
          <p:cNvCxnSpPr/>
          <p:nvPr/>
        </p:nvCxnSpPr>
        <p:spPr>
          <a:xfrm>
            <a:off x="6071616" y="1947672"/>
            <a:ext cx="2386584" cy="0"/>
          </a:xfrm>
          <a:prstGeom prst="line">
            <a:avLst/>
          </a:prstGeom>
          <a:ln w="19050">
            <a:solidFill>
              <a:srgbClr val="C00000"/>
            </a:solidFill>
            <a:tailEnd type="triangle"/>
          </a:ln>
        </p:spPr>
      </p:cxnSp>
      <p:sp>
        <p:nvSpPr>
          <p:cNvPr id="115" name="Rectangle 114"/>
          <p:cNvSpPr/>
          <p:nvPr/>
        </p:nvSpPr>
        <p:spPr>
          <a:xfrm>
            <a:off x="246888" y="2212848"/>
            <a:ext cx="502920" cy="384048"/>
          </a:xfrm>
          <a:prstGeom prst="rect">
            <a:avLst/>
          </a:prstGeom>
          <a:solidFill>
            <a:srgbClr val="C00000"/>
          </a:solidFill>
          <a:ln w="12700">
            <a:solidFill>
              <a:srgbClr val="C00000"/>
            </a:solidFill>
          </a:ln>
          <a:effectLst/>
        </p:spPr>
        <p:txBody>
          <a:bodyPr rtlCol="0" anchor="ctr" wrap="square" lIns="36576" tIns="18288" rIns="36576" bIns="18288"/>
          <a:lstStyle/>
          <a:p>
            <a:pPr algn="ctr"/>
            <a:r>
              <a:rPr sz="900" b="1">
                <a:solidFill>
                  <a:srgbClr val="FFFFFF"/>
                </a:solidFill>
                <a:latin typeface="맑은 고딕"/>
                <a:ea typeface="맑은 고딕"/>
              </a:rPr>
              <a:t>DP4</a:t>
            </a:r>
          </a:p>
        </p:txBody>
      </p:sp>
      <p:sp>
        <p:nvSpPr>
          <p:cNvPr id="116" name="Rectangle 115"/>
          <p:cNvSpPr/>
          <p:nvPr/>
        </p:nvSpPr>
        <p:spPr>
          <a:xfrm>
            <a:off x="777240" y="2212848"/>
            <a:ext cx="2926080" cy="384048"/>
          </a:xfrm>
          <a:prstGeom prst="rect">
            <a:avLst/>
          </a:prstGeom>
          <a:solidFill>
            <a:srgbClr val="FBE5D6"/>
          </a:solidFill>
          <a:ln w="19050">
            <a:solidFill>
              <a:srgbClr val="C55A11"/>
            </a:solidFill>
          </a:ln>
          <a:effectLst/>
        </p:spPr>
        <p:txBody>
          <a:bodyPr rtlCol="0" anchor="ctr" wrap="square" lIns="64008" tIns="0" rIns="36576" bIns="0"/>
          <a:lstStyle/>
          <a:p>
            <a:pPr algn="l"/>
            <a:r>
              <a:rPr sz="800" b="0">
                <a:solidFill>
                  <a:srgbClr val="000000"/>
                </a:solidFill>
                <a:latin typeface="맑은 고딕"/>
                <a:ea typeface="맑은 고딕"/>
              </a:rPr>
              <a:t>노드 간 KV 공유 메타</a:t>
            </a:r>
          </a:p>
        </p:txBody>
      </p:sp>
      <p:cxnSp>
        <p:nvCxnSpPr>
          <p:cNvPr id="117" name="Connector 116"/>
          <p:cNvCxnSpPr/>
          <p:nvPr/>
        </p:nvCxnSpPr>
        <p:spPr>
          <a:xfrm>
            <a:off x="3721608" y="2404872"/>
            <a:ext cx="484632" cy="0"/>
          </a:xfrm>
          <a:prstGeom prst="line">
            <a:avLst/>
          </a:prstGeom>
          <a:ln w="19050">
            <a:solidFill>
              <a:srgbClr val="C55A11"/>
            </a:solidFill>
            <a:tailEnd type="triangle"/>
          </a:ln>
        </p:spPr>
      </p:cxnSp>
      <p:sp>
        <p:nvSpPr>
          <p:cNvPr id="118" name="Rectangle 117"/>
          <p:cNvSpPr/>
          <p:nvPr/>
        </p:nvSpPr>
        <p:spPr>
          <a:xfrm>
            <a:off x="4224528" y="2212848"/>
            <a:ext cx="1828800" cy="384048"/>
          </a:xfrm>
          <a:prstGeom prst="rect">
            <a:avLst/>
          </a:prstGeom>
          <a:solidFill>
            <a:srgbClr val="FFFFFF"/>
          </a:solidFill>
          <a:ln w="19050">
            <a:solidFill>
              <a:srgbClr val="C00000"/>
            </a:solidFill>
          </a:ln>
          <a:effectLst/>
        </p:spPr>
        <p:txBody>
          <a:bodyPr rtlCol="0" anchor="ctr" wrap="square" lIns="36576" tIns="18288" rIns="36576" bIns="18288"/>
          <a:lstStyle/>
          <a:p>
            <a:pPr algn="ctr"/>
            <a:r>
              <a:rPr sz="850" b="1">
                <a:solidFill>
                  <a:srgbClr val="000000"/>
                </a:solidFill>
                <a:latin typeface="맑은 고딕"/>
                <a:ea typeface="맑은 고딕"/>
              </a:rPr>
              <a:t>remote_avail</a:t>
            </a:r>
          </a:p>
          <a:p>
            <a:pPr algn="ctr"/>
            <a:r>
              <a:rPr sz="650" b="0">
                <a:solidFill>
                  <a:srgbClr val="000000"/>
                </a:solidFill>
                <a:latin typeface="맑은 고딕"/>
                <a:ea typeface="맑은 고딕"/>
              </a:rPr>
              <a:t>원격 hit 가능 KV</a:t>
            </a:r>
          </a:p>
        </p:txBody>
      </p:sp>
      <p:cxnSp>
        <p:nvCxnSpPr>
          <p:cNvPr id="119" name="Connector 118"/>
          <p:cNvCxnSpPr/>
          <p:nvPr/>
        </p:nvCxnSpPr>
        <p:spPr>
          <a:xfrm>
            <a:off x="6071616" y="2404872"/>
            <a:ext cx="2386584" cy="0"/>
          </a:xfrm>
          <a:prstGeom prst="line">
            <a:avLst/>
          </a:prstGeom>
          <a:ln w="19050">
            <a:solidFill>
              <a:srgbClr val="C00000"/>
            </a:solidFill>
            <a:tailEnd type="triangle"/>
          </a:ln>
        </p:spPr>
      </p:cxnSp>
      <p:sp>
        <p:nvSpPr>
          <p:cNvPr id="120" name="Rectangle 119"/>
          <p:cNvSpPr/>
          <p:nvPr/>
        </p:nvSpPr>
        <p:spPr>
          <a:xfrm>
            <a:off x="246888" y="2670048"/>
            <a:ext cx="502920" cy="384048"/>
          </a:xfrm>
          <a:prstGeom prst="rect">
            <a:avLst/>
          </a:prstGeom>
          <a:solidFill>
            <a:srgbClr val="C00000"/>
          </a:solidFill>
          <a:ln w="12700">
            <a:solidFill>
              <a:srgbClr val="C00000"/>
            </a:solidFill>
          </a:ln>
          <a:effectLst/>
        </p:spPr>
        <p:txBody>
          <a:bodyPr rtlCol="0" anchor="ctr" wrap="square" lIns="36576" tIns="18288" rIns="36576" bIns="18288"/>
          <a:lstStyle/>
          <a:p>
            <a:pPr algn="ctr"/>
            <a:r>
              <a:rPr sz="900" b="1">
                <a:solidFill>
                  <a:srgbClr val="FFFFFF"/>
                </a:solidFill>
                <a:latin typeface="맑은 고딕"/>
                <a:ea typeface="맑은 고딕"/>
              </a:rPr>
              <a:t>DP2</a:t>
            </a:r>
          </a:p>
        </p:txBody>
      </p:sp>
      <p:sp>
        <p:nvSpPr>
          <p:cNvPr id="121" name="Rectangle 120"/>
          <p:cNvSpPr/>
          <p:nvPr/>
        </p:nvSpPr>
        <p:spPr>
          <a:xfrm>
            <a:off x="777240" y="2670048"/>
            <a:ext cx="2926080" cy="384048"/>
          </a:xfrm>
          <a:prstGeom prst="rect">
            <a:avLst/>
          </a:prstGeom>
          <a:solidFill>
            <a:srgbClr val="FBE5D6"/>
          </a:solidFill>
          <a:ln w="19050">
            <a:solidFill>
              <a:srgbClr val="C55A11"/>
            </a:solidFill>
          </a:ln>
          <a:effectLst/>
        </p:spPr>
        <p:txBody>
          <a:bodyPr rtlCol="0" anchor="ctr" wrap="square" lIns="64008" tIns="0" rIns="36576" bIns="0"/>
          <a:lstStyle/>
          <a:p>
            <a:pPr algn="l"/>
            <a:r>
              <a:rPr sz="800" b="0">
                <a:solidFill>
                  <a:srgbClr val="000000"/>
                </a:solidFill>
                <a:latin typeface="맑은 고딕"/>
                <a:ea typeface="맑은 고딕"/>
              </a:rPr>
              <a:t>늦은 검증 · 노드 자원 선택</a:t>
            </a:r>
          </a:p>
        </p:txBody>
      </p:sp>
      <p:cxnSp>
        <p:nvCxnSpPr>
          <p:cNvPr id="122" name="Connector 121"/>
          <p:cNvCxnSpPr/>
          <p:nvPr/>
        </p:nvCxnSpPr>
        <p:spPr>
          <a:xfrm>
            <a:off x="3721608" y="2862072"/>
            <a:ext cx="484632" cy="0"/>
          </a:xfrm>
          <a:prstGeom prst="line">
            <a:avLst/>
          </a:prstGeom>
          <a:ln w="19050">
            <a:solidFill>
              <a:srgbClr val="C55A11"/>
            </a:solidFill>
            <a:tailEnd type="triangle"/>
          </a:ln>
        </p:spPr>
      </p:cxnSp>
      <p:sp>
        <p:nvSpPr>
          <p:cNvPr id="123" name="Rectangle 122"/>
          <p:cNvSpPr/>
          <p:nvPr/>
        </p:nvSpPr>
        <p:spPr>
          <a:xfrm>
            <a:off x="4224528" y="2670048"/>
            <a:ext cx="1828800" cy="384048"/>
          </a:xfrm>
          <a:prstGeom prst="rect">
            <a:avLst/>
          </a:prstGeom>
          <a:solidFill>
            <a:srgbClr val="FFFFFF"/>
          </a:solidFill>
          <a:ln w="19050">
            <a:solidFill>
              <a:srgbClr val="C00000"/>
            </a:solidFill>
          </a:ln>
          <a:effectLst/>
        </p:spPr>
        <p:txBody>
          <a:bodyPr rtlCol="0" anchor="ctr" wrap="square" lIns="36576" tIns="18288" rIns="36576" bIns="18288"/>
          <a:lstStyle/>
          <a:p>
            <a:pPr algn="ctr"/>
            <a:r>
              <a:rPr sz="850" b="1">
                <a:solidFill>
                  <a:srgbClr val="000000"/>
                </a:solidFill>
                <a:latin typeface="맑은 고딕"/>
                <a:ea typeface="맑은 고딕"/>
              </a:rPr>
              <a:t>load · epoch</a:t>
            </a:r>
          </a:p>
          <a:p>
            <a:pPr algn="ctr"/>
            <a:r>
              <a:rPr sz="650" b="0">
                <a:solidFill>
                  <a:srgbClr val="000000"/>
                </a:solidFill>
                <a:latin typeface="맑은 고딕"/>
                <a:ea typeface="맑은 고딕"/>
              </a:rPr>
              <a:t>큐·TPOT 여유 · 신선도</a:t>
            </a:r>
          </a:p>
        </p:txBody>
      </p:sp>
      <p:cxnSp>
        <p:nvCxnSpPr>
          <p:cNvPr id="124" name="Connector 123"/>
          <p:cNvCxnSpPr/>
          <p:nvPr/>
        </p:nvCxnSpPr>
        <p:spPr>
          <a:xfrm>
            <a:off x="6071616" y="2862072"/>
            <a:ext cx="2386584" cy="0"/>
          </a:xfrm>
          <a:prstGeom prst="line">
            <a:avLst/>
          </a:prstGeom>
          <a:ln w="19050">
            <a:solidFill>
              <a:srgbClr val="C00000"/>
            </a:solidFill>
            <a:tailEnd type="triangle"/>
          </a:ln>
        </p:spPr>
      </p:cxnSp>
      <p:sp>
        <p:nvSpPr>
          <p:cNvPr id="125" name="Rectangle 124"/>
          <p:cNvSpPr/>
          <p:nvPr/>
        </p:nvSpPr>
        <p:spPr>
          <a:xfrm>
            <a:off x="8503920" y="1298448"/>
            <a:ext cx="3474720" cy="1755648"/>
          </a:xfrm>
          <a:prstGeom prst="rect">
            <a:avLst/>
          </a:prstGeom>
          <a:solidFill>
            <a:srgbClr val="DAE3F3"/>
          </a:solidFill>
          <a:ln w="25400">
            <a:solidFill>
              <a:srgbClr val="2F5597"/>
            </a:solidFill>
          </a:ln>
          <a:effectLst/>
        </p:spPr>
        <p:txBody>
          <a:bodyPr rtlCol="0" anchor="ctr" wrap="square" lIns="36576" tIns="18288" rIns="36576" bIns="18288"/>
          <a:lstStyle/>
          <a:p>
            <a:pPr algn="ctr"/>
            <a:r>
              <a:rPr sz="1000" b="1">
                <a:solidFill>
                  <a:srgbClr val="000000"/>
                </a:solidFill>
                <a:latin typeface="맑은 고딕"/>
                <a:ea typeface="맑은 고딕"/>
              </a:rPr>
              <a:t>Router</a:t>
            </a:r>
          </a:p>
          <a:p>
            <a:pPr algn="ctr"/>
            <a:r>
              <a:rPr sz="850" b="0">
                <a:solidFill>
                  <a:srgbClr val="000000"/>
                </a:solidFill>
                <a:latin typeface="맑은 고딕"/>
                <a:ea typeface="맑은 고딕"/>
              </a:rPr>
              <a:t>요약 기반 서버 선택</a:t>
            </a:r>
          </a:p>
          <a:p>
            <a:pPr algn="ctr"/>
            <a:r>
              <a:rPr sz="850" b="0">
                <a:solidFill>
                  <a:srgbClr val="000000"/>
                </a:solidFill>
                <a:latin typeface="맑은 고딕"/>
                <a:ea typeface="맑은 고딕"/>
              </a:rPr>
              <a:t>P/D 짝짓기 (P4, DP2 비용 모델)</a:t>
            </a:r>
          </a:p>
          <a:p>
            <a:pPr algn="ctr"/>
            <a:r>
              <a:rPr sz="850" b="0">
                <a:solidFill>
                  <a:srgbClr val="000000"/>
                </a:solidFill>
                <a:latin typeface="맑은 고딕"/>
                <a:ea typeface="맑은 고딕"/>
              </a:rPr>
              <a:t>요약이 낡았는지 epoch로 판단</a:t>
            </a:r>
          </a:p>
          <a:p>
            <a:pPr algn="ctr"/>
            <a:r>
              <a:rPr sz="850" b="1">
                <a:solidFill>
                  <a:srgbClr val="2F5597"/>
                </a:solidFill>
                <a:latin typeface="맑은 고딕"/>
                <a:ea typeface="맑은 고딕"/>
              </a:rPr>
              <a:t>RouteHint ↓ 노드에 전달</a:t>
            </a:r>
          </a:p>
        </p:txBody>
      </p:sp>
      <p:sp>
        <p:nvSpPr>
          <p:cNvPr id="126" name="TextBox 125"/>
          <p:cNvSpPr txBox="1"/>
          <p:nvPr/>
        </p:nvSpPr>
        <p:spPr>
          <a:xfrm>
            <a:off x="246888" y="3182111"/>
            <a:ext cx="11704320" cy="182880"/>
          </a:xfrm>
          <a:prstGeom prst="rect">
            <a:avLst/>
          </a:prstGeom>
          <a:noFill/>
        </p:spPr>
        <p:txBody>
          <a:bodyPr wrap="square" anchor="t" lIns="0" tIns="0" rIns="0" bIns="0">
            <a:spAutoFit/>
          </a:bodyPr>
          <a:lstStyle/>
          <a:p>
            <a:pPr algn="l"/>
            <a:r>
              <a:rPr sz="800" b="1">
                <a:solidFill>
                  <a:srgbClr val="C00000"/>
                </a:solidFill>
                <a:latin typeface="맑은 고딕"/>
                <a:ea typeface="맑은 고딕"/>
              </a:rPr>
              <a:t>DP0-1은 소비자, DP1·DP2·DP3·DP4는 공급자. 계층 결정(P1~P3, P5)을 노드 계층으로 내려 DP 경계가 겹치도록 설계했다 — 의도된 응집점.</a:t>
            </a:r>
          </a:p>
        </p:txBody>
      </p:sp>
      <p:sp>
        <p:nvSpPr>
          <p:cNvPr id="127" name="Rectangle 126"/>
          <p:cNvSpPr/>
          <p:nvPr/>
        </p:nvSpPr>
        <p:spPr>
          <a:xfrm>
            <a:off x="246888" y="3429000"/>
            <a:ext cx="2331720" cy="228600"/>
          </a:xfrm>
          <a:prstGeom prst="rect">
            <a:avLst/>
          </a:prstGeom>
          <a:solidFill>
            <a:srgbClr val="404040"/>
          </a:solidFill>
          <a:ln w="12700">
            <a:solidFill>
              <a:srgbClr val="404040"/>
            </a:solidFill>
          </a:ln>
          <a:effectLst/>
        </p:spPr>
        <p:txBody>
          <a:bodyPr rtlCol="0" anchor="ctr" wrap="square" lIns="36576" tIns="18288" rIns="36576" bIns="18288"/>
          <a:lstStyle/>
          <a:p>
            <a:pPr algn="ctr"/>
            <a:r>
              <a:rPr sz="800" b="1">
                <a:solidFill>
                  <a:srgbClr val="FFFFFF"/>
                </a:solidFill>
                <a:latin typeface="맑은 고딕"/>
                <a:ea typeface="맑은 고딕"/>
              </a:rPr>
              <a:t>S2의 약점 (영향 QA)</a:t>
            </a:r>
          </a:p>
        </p:txBody>
      </p:sp>
      <p:sp>
        <p:nvSpPr>
          <p:cNvPr id="128" name="Rectangle 127"/>
          <p:cNvSpPr/>
          <p:nvPr/>
        </p:nvSpPr>
        <p:spPr>
          <a:xfrm>
            <a:off x="2578608" y="3429000"/>
            <a:ext cx="685800" cy="228600"/>
          </a:xfrm>
          <a:prstGeom prst="rect">
            <a:avLst/>
          </a:prstGeom>
          <a:solidFill>
            <a:srgbClr val="404040"/>
          </a:solidFill>
          <a:ln w="12700">
            <a:solidFill>
              <a:srgbClr val="404040"/>
            </a:solidFill>
          </a:ln>
          <a:effectLst/>
        </p:spPr>
        <p:txBody>
          <a:bodyPr rtlCol="0" anchor="ctr" wrap="square" lIns="36576" tIns="18288" rIns="36576" bIns="18288"/>
          <a:lstStyle/>
          <a:p>
            <a:pPr algn="ctr"/>
            <a:r>
              <a:rPr sz="800" b="1">
                <a:solidFill>
                  <a:srgbClr val="FFFFFF"/>
                </a:solidFill>
                <a:latin typeface="맑은 고딕"/>
                <a:ea typeface="맑은 고딕"/>
              </a:rPr>
              <a:t>보완 DP</a:t>
            </a:r>
          </a:p>
        </p:txBody>
      </p:sp>
      <p:sp>
        <p:nvSpPr>
          <p:cNvPr id="129" name="Rectangle 128"/>
          <p:cNvSpPr/>
          <p:nvPr/>
        </p:nvSpPr>
        <p:spPr>
          <a:xfrm>
            <a:off x="3264408" y="3429000"/>
            <a:ext cx="4480560" cy="228600"/>
          </a:xfrm>
          <a:prstGeom prst="rect">
            <a:avLst/>
          </a:prstGeom>
          <a:solidFill>
            <a:srgbClr val="404040"/>
          </a:solidFill>
          <a:ln w="12700">
            <a:solidFill>
              <a:srgbClr val="404040"/>
            </a:solidFill>
          </a:ln>
          <a:effectLst/>
        </p:spPr>
        <p:txBody>
          <a:bodyPr rtlCol="0" anchor="ctr" wrap="square" lIns="36576" tIns="18288" rIns="36576" bIns="18288"/>
          <a:lstStyle/>
          <a:p>
            <a:pPr algn="ctr"/>
            <a:r>
              <a:rPr sz="800" b="1">
                <a:solidFill>
                  <a:srgbClr val="FFFFFF"/>
                </a:solidFill>
                <a:latin typeface="맑은 고딕"/>
                <a:ea typeface="맑은 고딕"/>
              </a:rPr>
              <a:t>보완 내용</a:t>
            </a:r>
          </a:p>
        </p:txBody>
      </p:sp>
      <p:sp>
        <p:nvSpPr>
          <p:cNvPr id="130" name="Rectangle 129"/>
          <p:cNvSpPr/>
          <p:nvPr/>
        </p:nvSpPr>
        <p:spPr>
          <a:xfrm>
            <a:off x="7744968" y="3429000"/>
            <a:ext cx="1417320" cy="228600"/>
          </a:xfrm>
          <a:prstGeom prst="rect">
            <a:avLst/>
          </a:prstGeom>
          <a:solidFill>
            <a:srgbClr val="404040"/>
          </a:solidFill>
          <a:ln w="12700">
            <a:solidFill>
              <a:srgbClr val="404040"/>
            </a:solidFill>
          </a:ln>
          <a:effectLst/>
        </p:spPr>
        <p:txBody>
          <a:bodyPr rtlCol="0" anchor="ctr" wrap="square" lIns="36576" tIns="18288" rIns="36576" bIns="18288"/>
          <a:lstStyle/>
          <a:p>
            <a:pPr algn="ctr"/>
            <a:r>
              <a:rPr sz="800" b="1">
                <a:solidFill>
                  <a:srgbClr val="FFFFFF"/>
                </a:solidFill>
                <a:latin typeface="맑은 고딕"/>
                <a:ea typeface="맑은 고딕"/>
              </a:rPr>
              <a:t>접점</a:t>
            </a:r>
          </a:p>
        </p:txBody>
      </p:sp>
      <p:sp>
        <p:nvSpPr>
          <p:cNvPr id="131" name="Rectangle 130"/>
          <p:cNvSpPr/>
          <p:nvPr/>
        </p:nvSpPr>
        <p:spPr>
          <a:xfrm>
            <a:off x="9162288" y="3429000"/>
            <a:ext cx="2834640" cy="228600"/>
          </a:xfrm>
          <a:prstGeom prst="rect">
            <a:avLst/>
          </a:prstGeom>
          <a:solidFill>
            <a:srgbClr val="404040"/>
          </a:solidFill>
          <a:ln w="12700">
            <a:solidFill>
              <a:srgbClr val="404040"/>
            </a:solidFill>
          </a:ln>
          <a:effectLst/>
        </p:spPr>
        <p:txBody>
          <a:bodyPr rtlCol="0" anchor="ctr" wrap="square" lIns="36576" tIns="18288" rIns="36576" bIns="18288"/>
          <a:lstStyle/>
          <a:p>
            <a:pPr algn="ctr"/>
            <a:r>
              <a:rPr sz="800" b="1">
                <a:solidFill>
                  <a:srgbClr val="FFFFFF"/>
                </a:solidFill>
                <a:latin typeface="맑은 고딕"/>
                <a:ea typeface="맑은 고딕"/>
              </a:rPr>
              <a:t>검증 상태</a:t>
            </a:r>
          </a:p>
        </p:txBody>
      </p:sp>
      <p:sp>
        <p:nvSpPr>
          <p:cNvPr id="132" name="Rectangle 131"/>
          <p:cNvSpPr/>
          <p:nvPr/>
        </p:nvSpPr>
        <p:spPr>
          <a:xfrm>
            <a:off x="246888" y="3657600"/>
            <a:ext cx="2331720" cy="365760"/>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T1 라우팅 정밀도 저하 (Q1)</a:t>
            </a:r>
          </a:p>
        </p:txBody>
      </p:sp>
      <p:sp>
        <p:nvSpPr>
          <p:cNvPr id="133" name="Rectangle 132"/>
          <p:cNvSpPr/>
          <p:nvPr/>
        </p:nvSpPr>
        <p:spPr>
          <a:xfrm>
            <a:off x="2578608" y="3657600"/>
            <a:ext cx="685800" cy="365760"/>
          </a:xfrm>
          <a:prstGeom prst="rect">
            <a:avLst/>
          </a:prstGeom>
          <a:solidFill>
            <a:srgbClr val="FBE5D6"/>
          </a:solidFill>
          <a:ln w="6350">
            <a:solidFill>
              <a:srgbClr val="BFBFBF"/>
            </a:solidFill>
          </a:ln>
          <a:effectLst/>
        </p:spPr>
        <p:txBody>
          <a:bodyPr rtlCol="0" anchor="ctr" wrap="square" lIns="64008" tIns="27432" rIns="45720" bIns="27432"/>
          <a:lstStyle/>
          <a:p>
            <a:pPr algn="ctr"/>
            <a:r>
              <a:rPr sz="800" b="1">
                <a:solidFill>
                  <a:srgbClr val="C00000"/>
                </a:solidFill>
                <a:latin typeface="맑은 고딕"/>
                <a:ea typeface="맑은 고딕"/>
              </a:rPr>
              <a:t>DP3</a:t>
            </a:r>
          </a:p>
        </p:txBody>
      </p:sp>
      <p:sp>
        <p:nvSpPr>
          <p:cNvPr id="134" name="Rectangle 133"/>
          <p:cNvSpPr/>
          <p:nvPr/>
        </p:nvSpPr>
        <p:spPr>
          <a:xfrm>
            <a:off x="3264408" y="3657600"/>
            <a:ext cx="448056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재사용 가치가 높은 KV를 보존·압축 재사용하고 그 보존 집합을 prefix_digest 우선 항목으로 발행. 요약이 가리키는 prefix가 실제로 남아 있을 가능성↑</a:t>
            </a:r>
          </a:p>
        </p:txBody>
      </p:sp>
      <p:sp>
        <p:nvSpPr>
          <p:cNvPr id="135" name="Rectangle 134"/>
          <p:cNvSpPr/>
          <p:nvPr/>
        </p:nvSpPr>
        <p:spPr>
          <a:xfrm>
            <a:off x="7744968" y="3657600"/>
            <a:ext cx="141732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800" b="0">
                <a:solidFill>
                  <a:srgbClr val="000000"/>
                </a:solidFill>
                <a:latin typeface="맑은 고딕"/>
                <a:ea typeface="맑은 고딕"/>
              </a:rPr>
              <a:t>prefix_digest</a:t>
            </a:r>
          </a:p>
        </p:txBody>
      </p:sp>
      <p:sp>
        <p:nvSpPr>
          <p:cNvPr id="136" name="Rectangle 135"/>
          <p:cNvSpPr/>
          <p:nvPr/>
        </p:nvSpPr>
        <p:spPr>
          <a:xfrm>
            <a:off x="9162288" y="3657600"/>
            <a:ext cx="283464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[C] 미구현. 효과 수치 주장 없음</a:t>
            </a:r>
          </a:p>
        </p:txBody>
      </p:sp>
      <p:sp>
        <p:nvSpPr>
          <p:cNvPr id="137" name="Rectangle 136"/>
          <p:cNvSpPr/>
          <p:nvPr/>
        </p:nvSpPr>
        <p:spPr>
          <a:xfrm>
            <a:off x="246888" y="4023360"/>
            <a:ext cx="2331720" cy="365760"/>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T1' 이동 중 hit 소실 (Q1)</a:t>
            </a:r>
          </a:p>
        </p:txBody>
      </p:sp>
      <p:sp>
        <p:nvSpPr>
          <p:cNvPr id="138" name="Rectangle 137"/>
          <p:cNvSpPr/>
          <p:nvPr/>
        </p:nvSpPr>
        <p:spPr>
          <a:xfrm>
            <a:off x="2578608" y="4023360"/>
            <a:ext cx="685800" cy="365760"/>
          </a:xfrm>
          <a:prstGeom prst="rect">
            <a:avLst/>
          </a:prstGeom>
          <a:solidFill>
            <a:srgbClr val="FBE5D6"/>
          </a:solidFill>
          <a:ln w="6350">
            <a:solidFill>
              <a:srgbClr val="BFBFBF"/>
            </a:solidFill>
          </a:ln>
          <a:effectLst/>
        </p:spPr>
        <p:txBody>
          <a:bodyPr rtlCol="0" anchor="ctr" wrap="square" lIns="64008" tIns="27432" rIns="45720" bIns="27432"/>
          <a:lstStyle/>
          <a:p>
            <a:pPr algn="ctr"/>
            <a:r>
              <a:rPr sz="800" b="1">
                <a:solidFill>
                  <a:srgbClr val="C00000"/>
                </a:solidFill>
                <a:latin typeface="맑은 고딕"/>
                <a:ea typeface="맑은 고딕"/>
              </a:rPr>
              <a:t>DP1</a:t>
            </a:r>
          </a:p>
        </p:txBody>
      </p:sp>
      <p:sp>
        <p:nvSpPr>
          <p:cNvPr id="139" name="Rectangle 138"/>
          <p:cNvSpPr/>
          <p:nvPr/>
        </p:nvSpPr>
        <p:spPr>
          <a:xfrm>
            <a:off x="3264408" y="4023360"/>
            <a:ext cx="448056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회수보다 계층 이동(demote)을 우선해 hit를 보존하고 tier_state를 정확히 발행</a:t>
            </a:r>
          </a:p>
        </p:txBody>
      </p:sp>
      <p:sp>
        <p:nvSpPr>
          <p:cNvPr id="140" name="Rectangle 139"/>
          <p:cNvSpPr/>
          <p:nvPr/>
        </p:nvSpPr>
        <p:spPr>
          <a:xfrm>
            <a:off x="7744968" y="4023360"/>
            <a:ext cx="141732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800" b="0">
                <a:solidFill>
                  <a:srgbClr val="000000"/>
                </a:solidFill>
                <a:latin typeface="맑은 고딕"/>
                <a:ea typeface="맑은 고딕"/>
              </a:rPr>
              <a:t>tier_state</a:t>
            </a:r>
          </a:p>
        </p:txBody>
      </p:sp>
      <p:sp>
        <p:nvSpPr>
          <p:cNvPr id="141" name="Rectangle 140"/>
          <p:cNvSpPr/>
          <p:nvPr/>
        </p:nvSpPr>
        <p:spPr>
          <a:xfrm>
            <a:off x="9162288" y="4023360"/>
            <a:ext cx="283464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[C] 미구현</a:t>
            </a:r>
          </a:p>
        </p:txBody>
      </p:sp>
      <p:sp>
        <p:nvSpPr>
          <p:cNvPr id="142" name="Rectangle 141"/>
          <p:cNvSpPr/>
          <p:nvPr/>
        </p:nvSpPr>
        <p:spPr>
          <a:xfrm>
            <a:off x="246888" y="4389120"/>
            <a:ext cx="2331720" cy="365760"/>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T2 오라우팅 패널티 (Q1·Q2)</a:t>
            </a:r>
          </a:p>
        </p:txBody>
      </p:sp>
      <p:sp>
        <p:nvSpPr>
          <p:cNvPr id="143" name="Rectangle 142"/>
          <p:cNvSpPr/>
          <p:nvPr/>
        </p:nvSpPr>
        <p:spPr>
          <a:xfrm>
            <a:off x="2578608" y="4389120"/>
            <a:ext cx="685800" cy="365760"/>
          </a:xfrm>
          <a:prstGeom prst="rect">
            <a:avLst/>
          </a:prstGeom>
          <a:solidFill>
            <a:srgbClr val="FBE5D6"/>
          </a:solidFill>
          <a:ln w="6350">
            <a:solidFill>
              <a:srgbClr val="BFBFBF"/>
            </a:solidFill>
          </a:ln>
          <a:effectLst/>
        </p:spPr>
        <p:txBody>
          <a:bodyPr rtlCol="0" anchor="ctr" wrap="square" lIns="64008" tIns="27432" rIns="45720" bIns="27432"/>
          <a:lstStyle/>
          <a:p>
            <a:pPr algn="ctr"/>
            <a:r>
              <a:rPr sz="800" b="1">
                <a:solidFill>
                  <a:srgbClr val="C00000"/>
                </a:solidFill>
                <a:latin typeface="맑은 고딕"/>
                <a:ea typeface="맑은 고딕"/>
              </a:rPr>
              <a:t>DP4</a:t>
            </a:r>
          </a:p>
        </p:txBody>
      </p:sp>
      <p:sp>
        <p:nvSpPr>
          <p:cNvPr id="144" name="Rectangle 143"/>
          <p:cNvSpPr/>
          <p:nvPr/>
        </p:nvSpPr>
        <p:spPr>
          <a:xfrm>
            <a:off x="3264408" y="4389120"/>
            <a:ext cx="448056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노드 간 KV 공유로 다른 노드의 KV를 원격 hit로 사용. 공유 메타를 remote_avail로 요약에 노출</a:t>
            </a:r>
          </a:p>
        </p:txBody>
      </p:sp>
      <p:sp>
        <p:nvSpPr>
          <p:cNvPr id="145" name="Rectangle 144"/>
          <p:cNvSpPr/>
          <p:nvPr/>
        </p:nvSpPr>
        <p:spPr>
          <a:xfrm>
            <a:off x="7744968" y="4389120"/>
            <a:ext cx="141732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800" b="0">
                <a:solidFill>
                  <a:srgbClr val="000000"/>
                </a:solidFill>
                <a:latin typeface="맑은 고딕"/>
                <a:ea typeface="맑은 고딕"/>
              </a:rPr>
              <a:t>remote_avail</a:t>
            </a:r>
          </a:p>
        </p:txBody>
      </p:sp>
      <p:sp>
        <p:nvSpPr>
          <p:cNvPr id="146" name="Rectangle 145"/>
          <p:cNvSpPr/>
          <p:nvPr/>
        </p:nvSpPr>
        <p:spPr>
          <a:xfrm>
            <a:off x="9162288" y="4389120"/>
            <a:ext cx="283464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[C] 미구현. CXL 공유 풀은 현 환경에 없음(시뮬레이션)</a:t>
            </a:r>
          </a:p>
        </p:txBody>
      </p:sp>
      <p:sp>
        <p:nvSpPr>
          <p:cNvPr id="147" name="Rectangle 146"/>
          <p:cNvSpPr/>
          <p:nvPr/>
        </p:nvSpPr>
        <p:spPr>
          <a:xfrm>
            <a:off x="246888" y="4754880"/>
            <a:ext cx="2331720" cy="365760"/>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T3 낡은 요약 (Q2·Q1)</a:t>
            </a:r>
          </a:p>
        </p:txBody>
      </p:sp>
      <p:sp>
        <p:nvSpPr>
          <p:cNvPr id="148" name="Rectangle 147"/>
          <p:cNvSpPr/>
          <p:nvPr/>
        </p:nvSpPr>
        <p:spPr>
          <a:xfrm>
            <a:off x="2578608" y="4754880"/>
            <a:ext cx="685800" cy="365760"/>
          </a:xfrm>
          <a:prstGeom prst="rect">
            <a:avLst/>
          </a:prstGeom>
          <a:solidFill>
            <a:srgbClr val="FBE5D6"/>
          </a:solidFill>
          <a:ln w="6350">
            <a:solidFill>
              <a:srgbClr val="BFBFBF"/>
            </a:solidFill>
          </a:ln>
          <a:effectLst/>
        </p:spPr>
        <p:txBody>
          <a:bodyPr rtlCol="0" anchor="ctr" wrap="square" lIns="64008" tIns="27432" rIns="45720" bIns="27432"/>
          <a:lstStyle/>
          <a:p>
            <a:pPr algn="ctr"/>
            <a:r>
              <a:rPr sz="800" b="1">
                <a:solidFill>
                  <a:srgbClr val="C00000"/>
                </a:solidFill>
                <a:latin typeface="맑은 고딕"/>
                <a:ea typeface="맑은 고딕"/>
              </a:rPr>
              <a:t>DP2</a:t>
            </a:r>
          </a:p>
        </p:txBody>
      </p:sp>
      <p:sp>
        <p:nvSpPr>
          <p:cNvPr id="149" name="Rectangle 148"/>
          <p:cNvSpPr/>
          <p:nvPr/>
        </p:nvSpPr>
        <p:spPr>
          <a:xfrm>
            <a:off x="3264408" y="4754880"/>
            <a:ext cx="448056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늦은 검증: Router의 선택을 노드가 실행 직전 재검증하고 실패 시 대안 선택. P/D 비용 모델·결정 시점 제공</a:t>
            </a:r>
          </a:p>
        </p:txBody>
      </p:sp>
      <p:sp>
        <p:nvSpPr>
          <p:cNvPr id="150" name="Rectangle 149"/>
          <p:cNvSpPr/>
          <p:nvPr/>
        </p:nvSpPr>
        <p:spPr>
          <a:xfrm>
            <a:off x="7744968" y="4754880"/>
            <a:ext cx="141732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800" b="0">
                <a:solidFill>
                  <a:srgbClr val="000000"/>
                </a:solidFill>
                <a:latin typeface="맑은 고딕"/>
                <a:ea typeface="맑은 고딕"/>
              </a:rPr>
              <a:t>epoch, load, validate()</a:t>
            </a:r>
          </a:p>
        </p:txBody>
      </p:sp>
      <p:sp>
        <p:nvSpPr>
          <p:cNvPr id="151" name="Rectangle 150"/>
          <p:cNvSpPr/>
          <p:nvPr/>
        </p:nvSpPr>
        <p:spPr>
          <a:xfrm>
            <a:off x="9162288" y="4754880"/>
            <a:ext cx="283464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[C] 미구현</a:t>
            </a:r>
          </a:p>
        </p:txBody>
      </p:sp>
      <p:sp>
        <p:nvSpPr>
          <p:cNvPr id="152" name="Rectangle 151"/>
          <p:cNvSpPr/>
          <p:nvPr/>
        </p:nvSpPr>
        <p:spPr>
          <a:xfrm>
            <a:off x="246888" y="5120640"/>
            <a:ext cx="2331720" cy="365760"/>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T4 에이전트 구현 부담·신규 메모리 (Q3·비용)</a:t>
            </a:r>
          </a:p>
        </p:txBody>
      </p:sp>
      <p:sp>
        <p:nvSpPr>
          <p:cNvPr id="153" name="Rectangle 152"/>
          <p:cNvSpPr/>
          <p:nvPr/>
        </p:nvSpPr>
        <p:spPr>
          <a:xfrm>
            <a:off x="2578608" y="5120640"/>
            <a:ext cx="685800" cy="365760"/>
          </a:xfrm>
          <a:prstGeom prst="rect">
            <a:avLst/>
          </a:prstGeom>
          <a:solidFill>
            <a:srgbClr val="FBE5D6"/>
          </a:solidFill>
          <a:ln w="6350">
            <a:solidFill>
              <a:srgbClr val="BFBFBF"/>
            </a:solidFill>
          </a:ln>
          <a:effectLst/>
        </p:spPr>
        <p:txBody>
          <a:bodyPr rtlCol="0" anchor="ctr" wrap="square" lIns="64008" tIns="27432" rIns="45720" bIns="27432"/>
          <a:lstStyle/>
          <a:p>
            <a:pPr algn="ctr"/>
            <a:r>
              <a:rPr sz="800" b="1">
                <a:solidFill>
                  <a:srgbClr val="C00000"/>
                </a:solidFill>
                <a:latin typeface="맑은 고딕"/>
                <a:ea typeface="맑은 고딕"/>
              </a:rPr>
              <a:t>DP1</a:t>
            </a:r>
          </a:p>
        </p:txBody>
      </p:sp>
      <p:sp>
        <p:nvSpPr>
          <p:cNvPr id="154" name="Rectangle 153"/>
          <p:cNvSpPr/>
          <p:nvPr/>
        </p:nvSpPr>
        <p:spPr>
          <a:xfrm>
            <a:off x="3264408" y="5120640"/>
            <a:ext cx="448056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에이전트의 계층 결정 두뇌를 DP1(Destination Tier Selector 등)로 재사용, 신규 메모리는 Memory Backend I/F 플러그인으로 흡수</a:t>
            </a:r>
          </a:p>
        </p:txBody>
      </p:sp>
      <p:sp>
        <p:nvSpPr>
          <p:cNvPr id="155" name="Rectangle 154"/>
          <p:cNvSpPr/>
          <p:nvPr/>
        </p:nvSpPr>
        <p:spPr>
          <a:xfrm>
            <a:off x="7744968" y="5120640"/>
            <a:ext cx="141732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800" b="0">
                <a:solidFill>
                  <a:srgbClr val="000000"/>
                </a:solidFill>
                <a:latin typeface="맑은 고딕"/>
                <a:ea typeface="맑은 고딕"/>
              </a:rPr>
              <a:t>tier_state</a:t>
            </a:r>
          </a:p>
        </p:txBody>
      </p:sp>
      <p:sp>
        <p:nvSpPr>
          <p:cNvPr id="156" name="Rectangle 155"/>
          <p:cNvSpPr/>
          <p:nvPr/>
        </p:nvSpPr>
        <p:spPr>
          <a:xfrm>
            <a:off x="9162288" y="5120640"/>
            <a:ext cx="283464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[C] DP1 설계 존재, 통합 미구현</a:t>
            </a:r>
          </a:p>
        </p:txBody>
      </p:sp>
      <p:sp>
        <p:nvSpPr>
          <p:cNvPr id="157" name="Rectangle 156"/>
          <p:cNvSpPr/>
          <p:nvPr/>
        </p:nvSpPr>
        <p:spPr>
          <a:xfrm>
            <a:off x="246888" y="5486400"/>
            <a:ext cx="2331720" cy="365760"/>
          </a:xfrm>
          <a:prstGeom prst="rect">
            <a:avLst/>
          </a:prstGeom>
          <a:solidFill>
            <a:srgbClr val="F2F2F2"/>
          </a:solidFill>
          <a:ln w="6350">
            <a:solidFill>
              <a:srgbClr val="BFBFBF"/>
            </a:solidFill>
          </a:ln>
          <a:effectLst/>
        </p:spPr>
        <p:txBody>
          <a:bodyPr rtlCol="0" anchor="ctr" wrap="square" lIns="64008" tIns="27432" rIns="45720" bIns="27432"/>
          <a:lstStyle/>
          <a:p>
            <a:pPr algn="l"/>
            <a:r>
              <a:rPr sz="800" b="1">
                <a:solidFill>
                  <a:srgbClr val="000000"/>
                </a:solidFill>
                <a:latin typeface="맑은 고딕"/>
                <a:ea typeface="맑은 고딕"/>
              </a:rPr>
              <a:t>T5 요약 스키마 계약 부담 (리스크)</a:t>
            </a:r>
          </a:p>
        </p:txBody>
      </p:sp>
      <p:sp>
        <p:nvSpPr>
          <p:cNvPr id="158" name="Rectangle 157"/>
          <p:cNvSpPr/>
          <p:nvPr/>
        </p:nvSpPr>
        <p:spPr>
          <a:xfrm>
            <a:off x="2578608" y="5486400"/>
            <a:ext cx="685800" cy="365760"/>
          </a:xfrm>
          <a:prstGeom prst="rect">
            <a:avLst/>
          </a:prstGeom>
          <a:solidFill>
            <a:srgbClr val="FBE5D6"/>
          </a:solidFill>
          <a:ln w="6350">
            <a:solidFill>
              <a:srgbClr val="BFBFBF"/>
            </a:solidFill>
          </a:ln>
          <a:effectLst/>
        </p:spPr>
        <p:txBody>
          <a:bodyPr rtlCol="0" anchor="ctr" wrap="square" lIns="64008" tIns="27432" rIns="45720" bIns="27432"/>
          <a:lstStyle/>
          <a:p>
            <a:pPr algn="ctr"/>
            <a:r>
              <a:rPr sz="800" b="1">
                <a:solidFill>
                  <a:srgbClr val="C00000"/>
                </a:solidFill>
                <a:latin typeface="맑은 고딕"/>
                <a:ea typeface="맑은 고딕"/>
              </a:rPr>
              <a:t>공동</a:t>
            </a:r>
          </a:p>
        </p:txBody>
      </p:sp>
      <p:sp>
        <p:nvSpPr>
          <p:cNvPr id="159" name="Rectangle 158"/>
          <p:cNvSpPr/>
          <p:nvPr/>
        </p:nvSpPr>
        <p:spPr>
          <a:xfrm>
            <a:off x="3264408" y="5486400"/>
            <a:ext cx="448056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NodeSummary를 공동 소유 계약으로 두고 버전·크기 상한을 함께 관리</a:t>
            </a:r>
          </a:p>
        </p:txBody>
      </p:sp>
      <p:sp>
        <p:nvSpPr>
          <p:cNvPr id="160" name="Rectangle 159"/>
          <p:cNvSpPr/>
          <p:nvPr/>
        </p:nvSpPr>
        <p:spPr>
          <a:xfrm>
            <a:off x="7744968" y="5486400"/>
            <a:ext cx="141732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800" b="0">
                <a:solidFill>
                  <a:srgbClr val="000000"/>
                </a:solidFill>
                <a:latin typeface="맑은 고딕"/>
                <a:ea typeface="맑은 고딕"/>
              </a:rPr>
              <a:t>전체</a:t>
            </a:r>
          </a:p>
        </p:txBody>
      </p:sp>
      <p:sp>
        <p:nvSpPr>
          <p:cNvPr id="161" name="Rectangle 160"/>
          <p:cNvSpPr/>
          <p:nvPr/>
        </p:nvSpPr>
        <p:spPr>
          <a:xfrm>
            <a:off x="9162288" y="5486400"/>
            <a:ext cx="2834640" cy="365760"/>
          </a:xfrm>
          <a:prstGeom prst="rect">
            <a:avLst/>
          </a:prstGeom>
          <a:solidFill>
            <a:srgbClr val="FFFFFF"/>
          </a:solidFill>
          <a:ln w="6350">
            <a:solidFill>
              <a:srgbClr val="BFBFBF"/>
            </a:solidFill>
          </a:ln>
          <a:effectLst/>
        </p:spPr>
        <p:txBody>
          <a:bodyPr rtlCol="0" anchor="ctr" wrap="square" lIns="64008" tIns="27432" rIns="45720" bIns="27432"/>
          <a:lstStyle/>
          <a:p>
            <a:pPr algn="l"/>
            <a:r>
              <a:rPr sz="750" b="0">
                <a:solidFill>
                  <a:srgbClr val="000000"/>
                </a:solidFill>
                <a:latin typeface="맑은 고딕"/>
                <a:ea typeface="맑은 고딕"/>
              </a:rPr>
              <a:t>[C] DP 간 합의 필요</a:t>
            </a:r>
          </a:p>
        </p:txBody>
      </p:sp>
      <p:sp>
        <p:nvSpPr>
          <p:cNvPr id="162" name="TextBox 161"/>
          <p:cNvSpPr txBox="1"/>
          <p:nvPr/>
        </p:nvSpPr>
        <p:spPr>
          <a:xfrm>
            <a:off x="246888" y="6309360"/>
            <a:ext cx="11750040" cy="128016"/>
          </a:xfrm>
          <a:prstGeom prst="rect">
            <a:avLst/>
          </a:prstGeom>
          <a:noFill/>
        </p:spPr>
        <p:txBody>
          <a:bodyPr wrap="square" anchor="t" lIns="0" tIns="0" rIns="0" bIns="0">
            <a:spAutoFit/>
          </a:bodyPr>
          <a:lstStyle/>
          <a:p>
            <a:pPr algn="l"/>
            <a:r>
              <a:rPr sz="700" b="0">
                <a:solidFill>
                  <a:srgbClr val="404040"/>
                </a:solidFill>
                <a:latin typeface="맑은 고딕"/>
                <a:ea typeface="맑은 고딕"/>
              </a:rPr>
              <a:t>※ DP 이름 주의: 발표자료는 DP4 = Agent Tool-wait KV residency, repo 문서는 DP4 = 노드 간 KV 공유. 발표자료 해석이면 T2는 "tool-wait 중 상주 세션을 요약에 노출해 복귀 요청을 같은 노드로 라우팅"이 된다 (확인 필요).</a:t>
            </a:r>
          </a:p>
        </p:txBody>
      </p:sp>
    </p:spTree>
    <p:extLst>
      <p:ext uri="{BB962C8B-B14F-4D97-AF65-F5344CB8AC3E}">
        <p14:creationId xmlns:p14="http://schemas.microsoft.com/office/powerpoint/2010/main" val="339240157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3667</Words>
  <Application>Microsoft Office PowerPoint</Application>
  <PresentationFormat>와이드스크린</PresentationFormat>
  <Paragraphs>385</Paragraphs>
  <Slides>4</Slides>
  <Notes>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vt:i4>
      </vt:variant>
    </vt:vector>
  </HeadingPairs>
  <TitlesOfParts>
    <vt:vector size="8" baseType="lpstr">
      <vt:lpstr>맑은 고딕</vt:lpstr>
      <vt:lpstr>Arial</vt:lpstr>
      <vt:lpstr>Wingdings</vt:lpstr>
      <vt:lpstr>Office 테마</vt:lpstr>
      <vt:lpstr>DP0. 요청 조율 구조 (Orchestration) - 배경</vt:lpstr>
      <vt:lpstr>DP0. 여러 서버를 묶는 요청 조율 구조 - 배경</vt:lpstr>
      <vt:lpstr>DP0. 요청 조율 구조 - 요구사항</vt:lpstr>
      <vt:lpstr>DP0. 요청 조율 계층 (Orchestration) 설계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DP0. 요청 조율 구조 (Orchestration) - 배경</dc:title>
  <dc:creator>Myeong Woo Kim</dc:creator>
  <cp:lastModifiedBy>Myeong Woo Kim</cp:lastModifiedBy>
  <cp:revision>1</cp:revision>
  <dcterms:created xsi:type="dcterms:W3CDTF">2026-10-06T13:08:44Z</dcterms:created>
  <dcterms:modified xsi:type="dcterms:W3CDTF">2026-10-06T13:09:01Z</dcterms:modified>
</cp:coreProperties>
</file>
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943" r:id="rId2"/>
    <p:sldId id="719" r:id="rId3"/>
    <p:sldId id="722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191CB-CD23-41B2-A52C-D4CC9AFEBA23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7A6B7-2829-4A70-9C2E-1BED8DABDE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860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[발표 스크립트 | 슬라이드 10 | 약 1분30초 | 누적 약 11분]</a:t>
            </a:r>
          </a:p>
          <a:p>
            <a:r>
              <a:rPr lang="ko-KR" dirty="0"/>
              <a:t>품질 요구사항입니다. QAW에서 나온 후보를 Utility Tree로 평가해서 중요도 High이면서 난이도 Medium 이상인 다섯 개를 핵심으로 골랐습니다. 각각 정량 목표가 있습니다.</a:t>
            </a:r>
          </a:p>
          <a:p>
            <a:r>
              <a:rPr lang="ko-KR" dirty="0"/>
              <a:t>QA-01 처리량은 SLO를 만족하는 최대 요청량이 Baseline의 2배 이상이어야 합니다. 단순 offloading 기술의 하한과 이해관계자 요구를 근거로 한 값입니다. QA-02 HBM 사용량은 같은 성능에서 20% 이상 감소해야 합니다. QA-03 고부하 지연시간은 TTFT와 TPOT의 P99 감소율이 30% 이상이어야 하고, SLO를 만족해야 합니다. QA-04 확장성은 노드를 늘렸을 때 Scaling Efficiency가 80%를 넘어야 하며, QA-05 변경 용이성은 새 메모리 tier나 정책, vLLM 업스트림이 바뀌어도 변경 모듈이 5개 미만이어야 합니다.</a:t>
            </a:r>
          </a:p>
          <a:p>
            <a:r>
              <a:rPr lang="ko-KR" dirty="0"/>
              <a:t>QA-06 이하의 장애 대체, 워크로드 적응성은 중요도가 Medium이라 이번 라운드의 설계 동인에서는 제외했습니다. 별점으로 후보를 비교하는 상세 기준은 부록에 두었습니다.</a:t>
            </a:r>
          </a:p>
          <a:p>
            <a:endParaRPr lang="ko-KR" dirty="0"/>
          </a:p>
          <a:p>
            <a:r>
              <a:rPr lang="ko-KR" dirty="0"/>
              <a:t>───────── 기존 노트 (원문 유지) ─────────</a:t>
            </a:r>
          </a:p>
          <a:p>
            <a:r>
              <a:rPr lang="ko-KR" altLang="en-US" dirty="0"/>
              <a:t>기능 정확도가 </a:t>
            </a:r>
            <a:r>
              <a:rPr lang="en-US" altLang="ko-KR" dirty="0"/>
              <a:t>QA</a:t>
            </a:r>
            <a:r>
              <a:rPr lang="ko-KR" altLang="en-US" dirty="0"/>
              <a:t>로 들어가는 사람들이 많음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17B06-B204-4E73-B04E-053CD704EFD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461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/>
              <a:t>[백업(Appendix) 스크립트 | 본 발표 40분에는 미포함, 질의응답 시 사용]</a:t>
            </a:r>
          </a:p>
          <a:p>
            <a:r>
              <a:rPr lang="ko-KR" dirty="0"/>
              <a:t>처리량 평가 기준입니다. 지표는 SLO(TTFT P99 2초 이하, TPOT P99 50ms 이하)를 만족하는 Max goodput을 GPU-only Baseline으로 나눈 값 R입니다. 별 기준은 LMCache, Mooncake, InferCept 등 문헌에서 보고한 개선 폭을 근거로 하여, 하한 1.5배를 ★, 문헌 상단 10배 이상을 ★★★로 두었습니다.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/>
              <a:t>[백업(Appendix) 스크립트 | 본 발표 40분에는 미포함, 질의응답 시 사용]</a:t>
            </a:r>
          </a:p>
          <a:p>
            <a:r>
              <a:rPr lang="ko-KR" dirty="0"/>
              <a:t>변경 용이성 평가 기준입니다. 새 메모리 tier 추가, 정책 교체, vLLM 업스트림 변경 같은 변경 시나리오에서 변경 모듈 수와 토큰 비용, 개발 공수(M/M)를 함께 봅니다. vLLM kv_connector 코드의 실제 규모를 근거로 공수를 환산했습니다.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07DCDF-1043-410D-B304-478607B6A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108AB5-AE7B-456B-94FA-7C3611E3F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D19A66-1472-4B2E-B9B5-44C16D081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C62-3AAE-4E20-A6D4-2DEE6BCA22EB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E2DDBF-5D67-4AE2-8D7C-8B1B7A902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4DEA75-87D9-4CF2-8CDE-D34478F3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297EA-9062-486A-B924-33DE4497D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83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E61F5-89E1-4B0A-A23B-11E55B8F2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71ED14-D68E-4E7F-A331-3BFB6C80D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4B2A2A-8F27-4477-89A3-B50327F8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C62-3AAE-4E20-A6D4-2DEE6BCA22EB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B5E506-2B59-4287-9643-A3A97402A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B77A5A-808F-46C8-86BE-EC436EF32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297EA-9062-486A-B924-33DE4497D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50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E76A63-4648-4A3C-89FD-A8CA4BD40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110974-43A0-438F-A2BE-FFC0C382E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D3C413-3CBB-4FFB-9DBE-A9F5E78ED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C62-3AAE-4E20-A6D4-2DEE6BCA22EB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2B7AC6-5431-4171-9766-4D67AECE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FA89C1-5DE4-4035-8101-0C8B8383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297EA-9062-486A-B924-33DE4497D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42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6A66D-C5E2-4819-BCBC-3EB452252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4317D7-B4C0-4E1D-9EA8-FB70DEEDC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17769C-30CA-44A8-A454-F07CD78A1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5322FE-B229-4E7B-AD76-20548B09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C62-3AAE-4E20-A6D4-2DEE6BCA22EB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70FA65-0EEB-4573-80A1-D68FA09B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DE1FC7-85CB-4690-A961-0DF9A6F5D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297EA-9062-486A-B924-33DE4497D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822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65552-1A52-4214-A434-61D1B25FC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39311-0334-440D-812B-31390FCFF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B51B0F-05E3-4976-A93F-DC5AF1CE6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689DF5-A43E-45A7-B777-279C60E0D5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5E6C31-D567-4586-B8C2-C248241854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5654197-FF14-43E9-98B5-910E3EDBA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C62-3AAE-4E20-A6D4-2DEE6BCA22EB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AF8635-C659-444B-A8D0-73BBC51C3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41B2A7-FB93-47AE-9DA6-98F93527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297EA-9062-486A-B924-33DE4497D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256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2CEC5-9E1F-421F-A9F3-ACE49196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E556AF-AB19-4AB7-94C1-CAD86234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C62-3AAE-4E20-A6D4-2DEE6BCA22EB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9EDCD4-3BCA-4B34-870E-C87865027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8B9FE1-41EA-4179-AEAF-2F76E401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297EA-9062-486A-B924-33DE4497D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709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A03E69-76F9-4D71-8A76-D944C9A97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C62-3AAE-4E20-A6D4-2DEE6BCA22EB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E3DC09-F1C3-430E-92C8-73031BF1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01523E-7AEF-4C8B-B97C-BBB90FE8D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297EA-9062-486A-B924-33DE4497D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60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A4B302-76F9-4695-9A19-069417CC2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806D9D-D094-46C3-BCBD-62A8EC680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D3CC0E-1376-4A50-B01E-1C7F8B49A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EB3E4-6F56-4BBE-B375-1A8FA229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C62-3AAE-4E20-A6D4-2DEE6BCA22EB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748829-AD08-4839-B7F3-E56B364AC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F39C72-F7DF-4F18-8A78-1E97D6E8B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297EA-9062-486A-B924-33DE4497D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67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ADB18-8924-4492-81B8-DA4BCF0C3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0ECD55-CF7B-4814-BF1E-21C0D8E79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A3FDB8-4D12-454A-9679-0D85ED0A0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D4241F-01D5-47AC-8CD2-D75AA92CF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C62-3AAE-4E20-A6D4-2DEE6BCA22EB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347FD9-B0DD-477D-B3BC-29BD5E59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9712C5-2A8D-4DDA-B84D-69126D4F2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297EA-9062-486A-B924-33DE4497D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034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9A0FB-8608-4168-A062-29F78806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70702F-0A32-4204-9590-D88F22ABB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069378-3F85-4267-8620-80B01161B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C62-3AAE-4E20-A6D4-2DEE6BCA22EB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630993-3420-4639-B534-39689448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485419-576F-4583-A842-0B02260AC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297EA-9062-486A-B924-33DE4497D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451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B914AA-EA14-4BAB-9784-30D912C0D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75E2B5-F7AA-4FD7-BEE6-2057571D1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746AF4-4CC2-4BA5-AC32-78D761A6C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57C62-3AAE-4E20-A6D4-2DEE6BCA22EB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50A761-41EC-4D8E-A06E-016EBE247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867435-018E-4953-AB43-D7B1BEE0D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297EA-9062-486A-B924-33DE4497D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371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요구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62972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61A430-5FE7-419A-9B31-B8788847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6CBD0B-5FA9-434D-B8C9-0ADF6EAC7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1132CF-CC54-4A2F-84F5-3A6177575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57C62-3AAE-4E20-A6D4-2DEE6BCA22EB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C21507-2C14-455D-89F4-D3DF50E5E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AFC44-FFF6-4D79-9133-2CE7E7CF1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297EA-9062-486A-B924-33DE4497D6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5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slide" Target="slide2.xml"/><Relationship Id="rId5" Type="http://schemas.openxmlformats.org/officeDocument/2006/relationships/slide" Target="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품질 요구사항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60781BA3-74B0-4E89-8351-A5B635C971DB}"/>
              </a:ext>
            </a:extLst>
          </p:cNvPr>
          <p:cNvSpPr/>
          <p:nvPr/>
        </p:nvSpPr>
        <p:spPr>
          <a:xfrm>
            <a:off x="169504" y="502504"/>
            <a:ext cx="117093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QAW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도출된 품질 요구사항을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Utility Tree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통해 핵심 품질 속성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중요도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난이도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M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선정</a:t>
            </a:r>
            <a:endParaRPr lang="en-US" altLang="ko-KR" sz="1600" dirty="0">
              <a:latin typeface="+mj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5E471B8-4DA3-43CA-8493-452011A4B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548951"/>
              </p:ext>
            </p:extLst>
          </p:nvPr>
        </p:nvGraphicFramePr>
        <p:xfrm>
          <a:off x="278859" y="996757"/>
          <a:ext cx="11709382" cy="516145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10593">
                  <a:extLst>
                    <a:ext uri="{9D8B030D-6E8A-4147-A177-3AD203B41FA5}">
                      <a16:colId xmlns:a16="http://schemas.microsoft.com/office/drawing/2014/main" val="138156465"/>
                    </a:ext>
                  </a:extLst>
                </a:gridCol>
                <a:gridCol w="1052270">
                  <a:extLst>
                    <a:ext uri="{9D8B030D-6E8A-4147-A177-3AD203B41FA5}">
                      <a16:colId xmlns:a16="http://schemas.microsoft.com/office/drawing/2014/main" val="4176869531"/>
                    </a:ext>
                  </a:extLst>
                </a:gridCol>
                <a:gridCol w="1529669">
                  <a:extLst>
                    <a:ext uri="{9D8B030D-6E8A-4147-A177-3AD203B41FA5}">
                      <a16:colId xmlns:a16="http://schemas.microsoft.com/office/drawing/2014/main" val="714743119"/>
                    </a:ext>
                  </a:extLst>
                </a:gridCol>
                <a:gridCol w="6693689">
                  <a:extLst>
                    <a:ext uri="{9D8B030D-6E8A-4147-A177-3AD203B41FA5}">
                      <a16:colId xmlns:a16="http://schemas.microsoft.com/office/drawing/2014/main" val="713779841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4072428474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2666804482"/>
                    </a:ext>
                  </a:extLst>
                </a:gridCol>
                <a:gridCol w="558241">
                  <a:extLst>
                    <a:ext uri="{9D8B030D-6E8A-4147-A177-3AD203B41FA5}">
                      <a16:colId xmlns:a16="http://schemas.microsoft.com/office/drawing/2014/main" val="2282568718"/>
                    </a:ext>
                  </a:extLst>
                </a:gridCol>
              </a:tblGrid>
              <a:tr h="31769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chemeClr val="bg1"/>
                          </a:solidFill>
                        </a:rPr>
                        <a:t>번호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QA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Refinement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solidFill>
                            <a:schemeClr val="bg1"/>
                          </a:solidFill>
                        </a:rPr>
                        <a:t>중요도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chemeClr val="bg1"/>
                          </a:solidFill>
                        </a:rPr>
                        <a:t>난이도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chemeClr val="bg1"/>
                          </a:solidFill>
                        </a:rPr>
                        <a:t>우선순위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451097"/>
                  </a:ext>
                </a:extLst>
              </a:tr>
              <a:tr h="786339">
                <a:tc>
                  <a:txBody>
                    <a:bodyPr/>
                    <a:lstStyle/>
                    <a:p>
                      <a:r>
                        <a:rPr lang="en-US" sz="1000" dirty="0"/>
                        <a:t>QA-01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Performance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(Throughput)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서비스 수준 목표</a:t>
                      </a:r>
                      <a:r>
                        <a:rPr lang="en-US" altLang="ko-KR" sz="1000" dirty="0"/>
                        <a:t>(SLO)</a:t>
                      </a:r>
                      <a:r>
                        <a:rPr lang="ko-KR" altLang="en-US" sz="1000" dirty="0"/>
                        <a:t>를 만족하는 요청 처리량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다수의 </a:t>
                      </a:r>
                      <a:r>
                        <a:rPr lang="en-US" altLang="ko-KR" sz="1000" dirty="0"/>
                        <a:t>agent </a:t>
                      </a:r>
                      <a:r>
                        <a:rPr lang="ko-KR" altLang="en-US" sz="1000" dirty="0"/>
                        <a:t>세션이 동시에 요청하는 상황에서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지정한 </a:t>
                      </a:r>
                      <a:r>
                        <a:rPr lang="en-US" altLang="ko-KR" sz="1000" dirty="0"/>
                        <a:t>SLO*</a:t>
                      </a:r>
                      <a:r>
                        <a:rPr lang="ko-KR" altLang="en-US" sz="1000" dirty="0"/>
                        <a:t>를 만족하며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처리할 수 있는 최대 </a:t>
                      </a:r>
                      <a:r>
                        <a:rPr lang="ko-KR" altLang="en-US" sz="1000" dirty="0" err="1"/>
                        <a:t>요청량이</a:t>
                      </a:r>
                      <a:r>
                        <a:rPr lang="ko-KR" altLang="en-US" sz="1000" dirty="0"/>
                        <a:t> 기존 시스템</a:t>
                      </a:r>
                      <a:r>
                        <a:rPr lang="en-US" altLang="ko-KR" sz="1000" dirty="0"/>
                        <a:t>(Baseline)</a:t>
                      </a:r>
                      <a:r>
                        <a:rPr lang="ko-KR" altLang="en-US" sz="1000" dirty="0"/>
                        <a:t>보다 증가해야 한다</a:t>
                      </a:r>
                      <a:r>
                        <a:rPr lang="en-US" altLang="ko-KR" sz="1000" dirty="0"/>
                        <a:t>. (*SLO: Service Level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Objective)</a:t>
                      </a:r>
                      <a:br>
                        <a:rPr lang="en-US" altLang="ko-KR" sz="1000" dirty="0"/>
                      </a:br>
                      <a:r>
                        <a:rPr lang="en-US" altLang="ko-KR" sz="1000" b="1" dirty="0"/>
                        <a:t>[</a:t>
                      </a:r>
                      <a:r>
                        <a:rPr lang="ko-KR" altLang="en-US" sz="1000" b="1" dirty="0"/>
                        <a:t>측정</a:t>
                      </a:r>
                      <a:r>
                        <a:rPr lang="en-US" altLang="ko-KR" sz="1000" b="1" dirty="0"/>
                        <a:t>: SLO </a:t>
                      </a:r>
                      <a:r>
                        <a:rPr lang="ko-KR" altLang="en-US" sz="1000" b="1" dirty="0"/>
                        <a:t>만족 최대 처리량 </a:t>
                      </a:r>
                      <a:r>
                        <a:rPr lang="en-US" altLang="ko-KR" sz="1000" b="1" dirty="0"/>
                        <a:t>≥ Baseline </a:t>
                      </a:r>
                      <a:r>
                        <a:rPr lang="ko-KR" altLang="en-US" sz="1000" b="1" dirty="0"/>
                        <a:t>대비 </a:t>
                      </a:r>
                      <a:r>
                        <a:rPr lang="en-US" altLang="ko-KR" sz="1000" b="1" dirty="0"/>
                        <a:t>1.5x (Stakeholder </a:t>
                      </a:r>
                      <a:r>
                        <a:rPr lang="ko-KR" altLang="en-US" sz="1000" b="1" dirty="0"/>
                        <a:t>요구사항 기준</a:t>
                      </a:r>
                      <a:r>
                        <a:rPr lang="en-US" altLang="ko-KR" sz="1000" b="1" dirty="0"/>
                        <a:t>)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(SLO: TTFT ≤ 2s, TPOT ≤ 50ms)</a:t>
                      </a: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(*TTFT: Time To First Token, **TPOT: Time Per Output Token)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H</a:t>
                      </a:r>
                      <a:endParaRPr lang="en-US" sz="10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179193"/>
                  </a:ext>
                </a:extLst>
              </a:tr>
              <a:tr h="786339">
                <a:tc>
                  <a:txBody>
                    <a:bodyPr/>
                    <a:lstStyle/>
                    <a:p>
                      <a:r>
                        <a:rPr lang="en-US" sz="1000" dirty="0"/>
                        <a:t>QA-02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Performance</a:t>
                      </a:r>
                    </a:p>
                    <a:p>
                      <a:r>
                        <a:rPr lang="en-US" sz="1000" dirty="0"/>
                        <a:t>(Tail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Latency)</a:t>
                      </a:r>
                      <a:endParaRPr lang="en-US" sz="10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고부하 지연시간 </a:t>
                      </a:r>
                      <a:r>
                        <a:rPr lang="en-US" altLang="ko-KR" sz="1000" dirty="0"/>
                        <a:t>(P99)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baseline="0" dirty="0"/>
                        <a:t>고부하 환경에서 최악 응답 지연</a:t>
                      </a:r>
                      <a:r>
                        <a:rPr lang="en-US" altLang="ko-KR" sz="1000" b="0" baseline="0" dirty="0"/>
                        <a:t>(Tail Latency)</a:t>
                      </a:r>
                      <a:r>
                        <a:rPr lang="ko-KR" altLang="en-US" sz="1000" b="0" baseline="0" dirty="0"/>
                        <a:t>을 </a:t>
                      </a:r>
                      <a:r>
                        <a:rPr lang="en-US" altLang="ko-KR" sz="1000" b="0" baseline="0" dirty="0"/>
                        <a:t>baseline </a:t>
                      </a:r>
                      <a:r>
                        <a:rPr lang="ko-KR" altLang="en-US" sz="1000" b="0" baseline="0" dirty="0"/>
                        <a:t>대비 개선해야 한다</a:t>
                      </a:r>
                      <a:r>
                        <a:rPr lang="en-US" altLang="ko-KR" sz="1000" b="0" baseline="0" dirty="0"/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/>
                        <a:t>[</a:t>
                      </a:r>
                      <a:r>
                        <a:rPr lang="ko-KR" altLang="en-US" sz="1000" b="1" dirty="0"/>
                        <a:t>측정</a:t>
                      </a:r>
                      <a:r>
                        <a:rPr lang="en-US" altLang="ko-KR" sz="1000" b="1" dirty="0"/>
                        <a:t>: Max (TTFT, TPOT(P99) </a:t>
                      </a:r>
                      <a:r>
                        <a:rPr lang="ko-KR" altLang="en-US" sz="1000" b="1" dirty="0"/>
                        <a:t>감소율</a:t>
                      </a:r>
                      <a:r>
                        <a:rPr lang="en-US" altLang="ko-KR" sz="1000" b="1" dirty="0"/>
                        <a:t>) ≥ Baseline </a:t>
                      </a:r>
                      <a:r>
                        <a:rPr lang="ko-KR" altLang="en-US" sz="1000" b="1" dirty="0"/>
                        <a:t>대비 </a:t>
                      </a:r>
                      <a:r>
                        <a:rPr lang="en-US" altLang="ko-KR" sz="1000" b="1" dirty="0"/>
                        <a:t>30% (</a:t>
                      </a:r>
                      <a:r>
                        <a:rPr lang="ko-KR" altLang="en-US" sz="1000" b="1" dirty="0"/>
                        <a:t>사용자 체감 성능 개선 기준</a:t>
                      </a:r>
                      <a:r>
                        <a:rPr lang="en-US" altLang="ko-KR" sz="1000" b="1" dirty="0"/>
                        <a:t>) (</a:t>
                      </a:r>
                      <a:r>
                        <a:rPr lang="ko-KR" altLang="en-US" sz="1000" b="1" dirty="0"/>
                        <a:t>단</a:t>
                      </a:r>
                      <a:r>
                        <a:rPr lang="en-US" altLang="ko-KR" sz="1000" b="1" dirty="0"/>
                        <a:t>, SLO </a:t>
                      </a:r>
                      <a:r>
                        <a:rPr lang="ko-KR" altLang="en-US" sz="1000" b="1" dirty="0"/>
                        <a:t>만족</a:t>
                      </a:r>
                      <a:r>
                        <a:rPr lang="en-US" altLang="ko-KR" sz="1000" b="1" dirty="0"/>
                        <a:t>)] 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802997"/>
                  </a:ext>
                </a:extLst>
              </a:tr>
              <a:tr h="626053">
                <a:tc>
                  <a:txBody>
                    <a:bodyPr/>
                    <a:lstStyle/>
                    <a:p>
                      <a:r>
                        <a:rPr lang="en-US" sz="1000" dirty="0"/>
                        <a:t>QA-03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Scalability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시스템 확장성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자원</a:t>
                      </a:r>
                      <a:r>
                        <a:rPr lang="ko-KR" altLang="en-US" sz="1000" baseline="0" dirty="0"/>
                        <a:t> 증가에 따른 처리량 증가 폭의 감소를 최소화해야 한다</a:t>
                      </a:r>
                      <a:r>
                        <a:rPr lang="en-US" altLang="ko-KR" sz="1000" baseline="0" dirty="0"/>
                        <a:t>. </a:t>
                      </a:r>
                      <a:endParaRPr lang="en-US" altLang="ko-KR" sz="10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/>
                        <a:t>[</a:t>
                      </a:r>
                      <a:r>
                        <a:rPr lang="ko-KR" altLang="en-US" sz="1000" b="1" dirty="0"/>
                        <a:t>측정</a:t>
                      </a:r>
                      <a:r>
                        <a:rPr lang="en-US" altLang="ko-KR" sz="1000" b="1" dirty="0"/>
                        <a:t>: Scaling Efficiency (</a:t>
                      </a:r>
                      <a:r>
                        <a:rPr lang="ko-KR" altLang="en-US" sz="1000" b="1" dirty="0"/>
                        <a:t>처리량 증가</a:t>
                      </a:r>
                      <a:r>
                        <a:rPr lang="ko-KR" altLang="en-US" sz="1000" b="1" baseline="0" dirty="0"/>
                        <a:t> 배율 </a:t>
                      </a:r>
                      <a:r>
                        <a:rPr lang="en-US" altLang="ko-KR" sz="1000" b="1" dirty="0"/>
                        <a:t>/ </a:t>
                      </a:r>
                      <a:r>
                        <a:rPr lang="ko-KR" altLang="en-US" sz="1000" b="1" dirty="0"/>
                        <a:t>자원 증가</a:t>
                      </a:r>
                      <a:r>
                        <a:rPr lang="ko-KR" altLang="en-US" sz="1000" b="1" baseline="0" dirty="0"/>
                        <a:t> 배율</a:t>
                      </a:r>
                      <a:r>
                        <a:rPr lang="en-US" altLang="ko-KR" sz="1000" b="1" dirty="0"/>
                        <a:t>) &gt; 80% (</a:t>
                      </a:r>
                      <a:r>
                        <a:rPr lang="ko-KR" altLang="en-US" sz="1000" b="1" dirty="0"/>
                        <a:t>문헌 보고 값</a:t>
                      </a:r>
                      <a:r>
                        <a:rPr lang="en-US" altLang="ko-KR" sz="1000" b="1" dirty="0"/>
                        <a:t>) ]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200776"/>
                  </a:ext>
                </a:extLst>
              </a:tr>
              <a:tr h="626053">
                <a:tc>
                  <a:txBody>
                    <a:bodyPr/>
                    <a:lstStyle/>
                    <a:p>
                      <a:r>
                        <a:rPr lang="en-US" sz="1000" dirty="0"/>
                        <a:t>QA-04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Modifiability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Device/</a:t>
                      </a:r>
                      <a:r>
                        <a:rPr lang="ko-KR" altLang="en-US" sz="1000" dirty="0"/>
                        <a:t>정책에 대한 변경 용이성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새로운 메모리 tier 추가, 이동·배치 정책 교체, Upstream(vLLM) 변경, 새 event·telemetry 신호 추가는 각각 단독으로 발생할 수 있다. 어느 경우든 서빙 경로에 미치는 변경 범위를 최소화하여 반영할 수 있어야 한다. </a:t>
                      </a:r>
                      <a:r>
                        <a:rPr lang="en-US" altLang="ko-KR" sz="1000" b="1" dirty="0"/>
                        <a:t>[측정: 변경 시나리오별 변경 모듈 ≤ 6개 (OSS commit의 80%가 6 file 이하), 4종 중 최악값 기준]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74580"/>
                  </a:ext>
                </a:extLst>
              </a:tr>
              <a:tr h="626053">
                <a:tc>
                  <a:txBody>
                    <a:bodyPr/>
                    <a:lstStyle/>
                    <a:p>
                      <a:r>
                        <a:rPr lang="en-US" sz="1000" dirty="0"/>
                        <a:t>QA-05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Functional </a:t>
                      </a:r>
                    </a:p>
                    <a:p>
                      <a:pPr marL="0" algn="l" defTabSz="914400" rtl="0" eaLnBrk="1" latinLnBrk="1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Correctness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추론 정확도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KV</a:t>
                      </a:r>
                      <a:r>
                        <a:rPr lang="ko-KR" altLang="en-US" sz="1000" dirty="0"/>
                        <a:t>가 다른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메모리로 이동</a:t>
                      </a:r>
                      <a:r>
                        <a:rPr lang="en-US" altLang="ko-KR" sz="1000" baseline="0" dirty="0"/>
                        <a:t>, </a:t>
                      </a:r>
                      <a:r>
                        <a:rPr lang="ko-KR" altLang="en-US" sz="1000" baseline="0" dirty="0"/>
                        <a:t>복귀하거나 재계산 경로로 대체되어도 추론 결과가 </a:t>
                      </a:r>
                      <a:r>
                        <a:rPr lang="en-US" altLang="ko-KR" sz="1000" baseline="0" dirty="0"/>
                        <a:t>Baseline</a:t>
                      </a:r>
                      <a:r>
                        <a:rPr lang="ko-KR" altLang="en-US" sz="1000" baseline="0" dirty="0"/>
                        <a:t>과 동등 수준이어야 한다</a:t>
                      </a:r>
                      <a:r>
                        <a:rPr lang="en-US" altLang="ko-KR" sz="1000" baseline="0" dirty="0"/>
                        <a:t>. </a:t>
                      </a:r>
                      <a:endParaRPr lang="en-US" altLang="ko-KR" sz="1000" dirty="0"/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ko-KR" sz="1000" b="1" dirty="0"/>
                        <a:t>[</a:t>
                      </a:r>
                      <a:r>
                        <a:rPr lang="ko-KR" altLang="en-US" sz="1000" b="1" dirty="0"/>
                        <a:t>측정</a:t>
                      </a:r>
                      <a:r>
                        <a:rPr lang="en-US" altLang="ko-KR" sz="1000" b="1" dirty="0"/>
                        <a:t>: LLM </a:t>
                      </a:r>
                      <a:r>
                        <a:rPr lang="ko-KR" altLang="en-US" sz="1000" b="1" dirty="0"/>
                        <a:t>출력 정확도 </a:t>
                      </a:r>
                      <a:r>
                        <a:rPr lang="en-US" altLang="ko-KR" sz="1000" b="1" dirty="0"/>
                        <a:t>(F1 Score) &lt; Baseline </a:t>
                      </a:r>
                      <a:r>
                        <a:rPr lang="ko-KR" altLang="en-US" sz="1000" b="1" dirty="0"/>
                        <a:t>대비 감소율 </a:t>
                      </a:r>
                      <a:r>
                        <a:rPr lang="en-US" altLang="ko-KR" sz="1000" b="1" dirty="0"/>
                        <a:t>3%] 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547552"/>
                  </a:ext>
                </a:extLst>
              </a:tr>
              <a:tr h="626053">
                <a:tc>
                  <a:txBody>
                    <a:bodyPr/>
                    <a:lstStyle/>
                    <a:p>
                      <a:r>
                        <a:rPr lang="en-US" sz="1000" dirty="0"/>
                        <a:t>QA-06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Fault tolerance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전송</a:t>
                      </a:r>
                      <a:r>
                        <a:rPr lang="en-US" altLang="ko-KR" sz="1000" dirty="0"/>
                        <a:t>·offload </a:t>
                      </a:r>
                      <a:r>
                        <a:rPr lang="ko-KR" altLang="en-US" sz="1000" dirty="0"/>
                        <a:t>실패 대체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ko-KR" sz="1000" b="0" dirty="0"/>
                        <a:t>KV </a:t>
                      </a:r>
                      <a:r>
                        <a:rPr lang="ko-KR" altLang="en-US" sz="1000" b="0" dirty="0"/>
                        <a:t>전송이나 </a:t>
                      </a:r>
                      <a:r>
                        <a:rPr lang="en-US" altLang="ko-KR" sz="1000" b="0" dirty="0"/>
                        <a:t>offload</a:t>
                      </a:r>
                      <a:r>
                        <a:rPr lang="ko-KR" altLang="en-US" sz="1000" b="0" dirty="0"/>
                        <a:t>가 실패하거나 시간 초과해도 재계산 등 대체 경로로 요청 처리를 이어가야 한다</a:t>
                      </a:r>
                      <a:r>
                        <a:rPr lang="en-US" altLang="ko-KR" sz="1000" b="0" dirty="0"/>
                        <a:t>.</a:t>
                      </a:r>
                      <a:br>
                        <a:rPr lang="en-US" altLang="ko-KR" sz="1000" b="0" dirty="0"/>
                      </a:br>
                      <a:r>
                        <a:rPr lang="en-US" altLang="ko-KR" sz="1000" b="0" dirty="0"/>
                        <a:t>[</a:t>
                      </a:r>
                      <a:r>
                        <a:rPr lang="ko-KR" altLang="en-US" sz="1000" b="0" dirty="0"/>
                        <a:t>측정</a:t>
                      </a:r>
                      <a:r>
                        <a:rPr lang="en-US" altLang="ko-KR" sz="1000" b="0" dirty="0"/>
                        <a:t>: fallback </a:t>
                      </a:r>
                      <a:r>
                        <a:rPr lang="ko-KR" altLang="en-US" sz="1000" b="0" dirty="0"/>
                        <a:t>성공률 </a:t>
                      </a:r>
                      <a:r>
                        <a:rPr lang="en-US" altLang="ko-KR" sz="1000" b="0" dirty="0"/>
                        <a:t>&gt; 99.9 ]</a:t>
                      </a:r>
                      <a:endParaRPr lang="ko-KR" altLang="en-US" sz="1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210047"/>
                  </a:ext>
                </a:extLst>
              </a:tr>
              <a:tr h="626053">
                <a:tc>
                  <a:txBody>
                    <a:bodyPr/>
                    <a:lstStyle/>
                    <a:p>
                      <a:r>
                        <a:rPr lang="en-US" sz="1000" dirty="0"/>
                        <a:t>QA-07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Analysability</a:t>
                      </a:r>
                      <a:endParaRPr 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결정 근거 진단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b="0" dirty="0"/>
                        <a:t>이동</a:t>
                      </a:r>
                      <a:r>
                        <a:rPr lang="en-US" altLang="ko-KR" sz="1000" b="0" dirty="0"/>
                        <a:t>/</a:t>
                      </a:r>
                      <a:r>
                        <a:rPr lang="ko-KR" altLang="en-US" sz="1000" b="0" dirty="0"/>
                        <a:t>배치</a:t>
                      </a:r>
                      <a:r>
                        <a:rPr lang="en-US" altLang="ko-KR" sz="1000" b="0" dirty="0"/>
                        <a:t>,</a:t>
                      </a:r>
                      <a:r>
                        <a:rPr lang="en-US" altLang="ko-KR" sz="1000" b="0" baseline="0" dirty="0"/>
                        <a:t> </a:t>
                      </a:r>
                      <a:r>
                        <a:rPr lang="ko-KR" altLang="en-US" sz="1000" b="0" dirty="0"/>
                        <a:t>라우팅 결정이 기대와 다를 때 결정 입력과 근거 기록으로 원인을 찾을 수 있어야 한다</a:t>
                      </a:r>
                      <a:r>
                        <a:rPr lang="en-US" altLang="ko-KR" sz="1000" b="0" dirty="0"/>
                        <a:t>.</a:t>
                      </a:r>
                      <a:br>
                        <a:rPr lang="en-US" altLang="ko-KR" sz="1000" b="0" dirty="0"/>
                      </a:b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[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측정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원인 파악 시간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&lt; 1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시간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개발자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인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결정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건 기준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) ]</a:t>
                      </a:r>
                      <a:endParaRPr lang="ko-KR" altLang="en-US" sz="10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71220"/>
                  </a:ext>
                </a:extLst>
              </a:tr>
            </a:tbl>
          </a:graphicData>
        </a:graphic>
      </p:graphicFrame>
      <p:sp>
        <p:nvSpPr>
          <p:cNvPr id="21" name="실행 단추: 앞으로 또는 다음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0D1EB79-0F10-4C29-8756-3FFD242915BE}"/>
              </a:ext>
            </a:extLst>
          </p:cNvPr>
          <p:cNvSpPr/>
          <p:nvPr/>
        </p:nvSpPr>
        <p:spPr>
          <a:xfrm>
            <a:off x="1631653" y="1193247"/>
            <a:ext cx="155642" cy="18158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실행 단추: 앞으로 또는 다음 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511126" y="1929263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실행 단추: 앞으로 또는 다음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511126" y="2750759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실행 단추: 앞으로 또는 다음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507023" y="3410849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실행 단추: 앞으로 또는 다음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507023" y="4043736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실행 단추: 앞으로 또는 다음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9889001" y="1147586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49E20A-DDC8-4511-8B0B-3AB91A5F2863}"/>
              </a:ext>
            </a:extLst>
          </p:cNvPr>
          <p:cNvSpPr txBox="1"/>
          <p:nvPr/>
        </p:nvSpPr>
        <p:spPr>
          <a:xfrm>
            <a:off x="8210550" y="1135612"/>
            <a:ext cx="16784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SLO(Service</a:t>
            </a:r>
            <a:r>
              <a:rPr lang="ko-KR" altLang="en-US" sz="800" b="1" dirty="0">
                <a:solidFill>
                  <a:schemeClr val="bg1"/>
                </a:solidFill>
              </a:rPr>
              <a:t> </a:t>
            </a:r>
            <a:r>
              <a:rPr lang="en-US" altLang="ko-KR" sz="800" b="1" dirty="0">
                <a:solidFill>
                  <a:schemeClr val="bg1"/>
                </a:solidFill>
              </a:rPr>
              <a:t>Objective</a:t>
            </a:r>
            <a:r>
              <a:rPr lang="ko-KR" altLang="en-US" sz="800" b="1" dirty="0">
                <a:solidFill>
                  <a:schemeClr val="bg1"/>
                </a:solidFill>
              </a:rPr>
              <a:t> </a:t>
            </a:r>
            <a:r>
              <a:rPr lang="en-US" altLang="ko-KR" sz="800" b="1" dirty="0">
                <a:solidFill>
                  <a:schemeClr val="bg1"/>
                </a:solidFill>
              </a:rPr>
              <a:t>Object)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13" name="실행 단추: 앞으로 또는 다음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1A8CA6E-A747-446C-89D9-0900B54E5631}"/>
              </a:ext>
            </a:extLst>
          </p:cNvPr>
          <p:cNvSpPr/>
          <p:nvPr/>
        </p:nvSpPr>
        <p:spPr>
          <a:xfrm>
            <a:off x="507023" y="4676623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841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처리량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-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평가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lang="en-US" altLang="ko-KR" sz="1100" b="0" dirty="0">
                <a:solidFill>
                  <a:srgbClr val="000000"/>
                </a:solidFill>
                <a:latin typeface="맑은 고딕"/>
                <a:ea typeface="맑은 고딕"/>
              </a:rPr>
              <a:t>Baseline </a:t>
            </a:r>
            <a:r>
              <a:rPr lang="ko-KR" altLang="en-US" sz="1100" b="0" dirty="0">
                <a:solidFill>
                  <a:srgbClr val="000000"/>
                </a:solidFill>
                <a:latin typeface="맑은 고딕"/>
                <a:ea typeface="맑은 고딕"/>
              </a:rPr>
              <a:t>대비</a:t>
            </a:r>
            <a:r>
              <a:rPr lang="en-US" altLang="ko-KR" sz="1100" b="0" dirty="0">
                <a:solidFill>
                  <a:srgbClr val="000000"/>
                </a:solidFill>
                <a:latin typeface="맑은 고딕"/>
                <a:ea typeface="맑은 고딕"/>
              </a:rPr>
              <a:t>, SLO</a:t>
            </a:r>
            <a:r>
              <a:rPr lang="ko-KR" altLang="en-US" sz="1100" b="0" dirty="0">
                <a:solidFill>
                  <a:srgbClr val="000000"/>
                </a:solidFill>
                <a:latin typeface="맑은 고딕"/>
                <a:ea typeface="맑은 고딕"/>
              </a:rPr>
              <a:t>를 만족하는 조건에서의 처리량</a:t>
            </a:r>
            <a:r>
              <a:rPr lang="en-US" altLang="ko-KR" sz="1100" b="0" dirty="0">
                <a:solidFill>
                  <a:srgbClr val="000000"/>
                </a:solidFill>
                <a:latin typeface="맑은 고딕"/>
                <a:ea typeface="맑은 고딕"/>
              </a:rPr>
              <a:t>(Max</a:t>
            </a:r>
            <a:r>
              <a:rPr lang="ko-KR" altLang="en-US" sz="1100" b="0" dirty="0">
                <a:solidFill>
                  <a:srgbClr val="000000"/>
                </a:solidFill>
                <a:latin typeface="맑은 고딕"/>
                <a:ea typeface="맑은 고딕"/>
              </a:rPr>
              <a:t>값</a:t>
            </a:r>
            <a:r>
              <a:rPr lang="en-US" altLang="ko-KR" sz="1100" b="0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  <a:r>
              <a:rPr lang="ko-KR" altLang="en-US" sz="1100" b="0" dirty="0">
                <a:solidFill>
                  <a:srgbClr val="000000"/>
                </a:solidFill>
                <a:latin typeface="맑은 고딕"/>
                <a:ea typeface="맑은 고딕"/>
              </a:rPr>
              <a:t> 증가율 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83FC6577-760C-41A6-A45B-D5727304942A}"/>
              </a:ext>
            </a:extLst>
          </p:cNvPr>
          <p:cNvSpPr txBox="1"/>
          <p:nvPr/>
        </p:nvSpPr>
        <p:spPr>
          <a:xfrm>
            <a:off x="365760" y="1100189"/>
            <a:ext cx="11430000" cy="87985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lnSpc>
                <a:spcPct val="150000"/>
              </a:lnSpc>
              <a:spcAft>
                <a:spcPts val="250"/>
              </a:spcAft>
            </a:pP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[Metric] R = Max SLO goodput ÷ Baseline  </a:t>
            </a:r>
            <a:r>
              <a:rPr lang="en-US" sz="1100" b="0" dirty="0">
                <a:latin typeface="맑은 고딕"/>
                <a:ea typeface="맑은 고딕"/>
              </a:rPr>
              <a:t>(S</a:t>
            </a:r>
            <a:r>
              <a:rPr sz="1100" b="0" dirty="0">
                <a:latin typeface="맑은 고딕"/>
                <a:ea typeface="맑은 고딕"/>
              </a:rPr>
              <a:t>LO</a:t>
            </a:r>
            <a:r>
              <a:rPr lang="en-US" sz="1100" b="0" dirty="0">
                <a:latin typeface="맑은 고딕"/>
                <a:ea typeface="맑은 고딕"/>
              </a:rPr>
              <a:t>:</a:t>
            </a:r>
            <a:r>
              <a:rPr sz="1100" b="0" dirty="0">
                <a:latin typeface="맑은 고딕"/>
                <a:ea typeface="맑은 고딕"/>
              </a:rPr>
              <a:t> TTFT P99 ≤ 2 s, TPOT P99 ≤ 50 </a:t>
            </a:r>
            <a:r>
              <a:rPr sz="1100" b="0" dirty="0" err="1">
                <a:latin typeface="맑은 고딕"/>
                <a:ea typeface="맑은 고딕"/>
              </a:rPr>
              <a:t>ms</a:t>
            </a:r>
            <a:r>
              <a:rPr lang="en-US" sz="1100" b="0" dirty="0">
                <a:latin typeface="맑은 고딕"/>
                <a:ea typeface="맑은 고딕"/>
              </a:rPr>
              <a:t>) </a:t>
            </a:r>
            <a:endParaRPr lang="en-US" altLang="ko-KR" sz="800" b="0" dirty="0">
              <a:latin typeface="맑은 고딕"/>
              <a:ea typeface="맑은 고딕"/>
            </a:endParaRP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ko-KR" altLang="en-US" sz="1100" b="0" dirty="0">
                <a:solidFill>
                  <a:srgbClr val="000000"/>
                </a:solidFill>
                <a:latin typeface="맑은 고딕"/>
                <a:ea typeface="맑은 고딕"/>
              </a:rPr>
              <a:t>처리량 단위</a:t>
            </a:r>
            <a:r>
              <a:rPr lang="en-US" altLang="ko-KR" sz="1100" b="0" dirty="0">
                <a:solidFill>
                  <a:srgbClr val="000000"/>
                </a:solidFill>
                <a:latin typeface="맑은 고딕"/>
                <a:ea typeface="맑은 고딕"/>
              </a:rPr>
              <a:t>: Query / sec</a:t>
            </a: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en-US" altLang="ko-KR" sz="1100" b="0" dirty="0">
                <a:solidFill>
                  <a:srgbClr val="000000"/>
                </a:solidFill>
                <a:latin typeface="맑은 고딕"/>
                <a:ea typeface="맑은 고딕"/>
              </a:rPr>
              <a:t>SLO goodput: 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  <a:ea typeface="맑은 고딕"/>
              </a:rPr>
              <a:t>SLO</a:t>
            </a: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를 만족하는 요청의 처리량 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처리된 요청 수 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  <a:ea typeface="맑은 고딕"/>
              </a:rPr>
              <a:t>/ </a:t>
            </a: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경과 시간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  <a:ea typeface="맑은 고딕"/>
              </a:rPr>
              <a:t>),  Max</a:t>
            </a: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의 의미</a:t>
            </a:r>
            <a:r>
              <a:rPr lang="en-US" altLang="ko-KR" sz="1100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가장 높은 성능의 조건을 비교하기 위함 </a:t>
            </a:r>
            <a:endParaRPr lang="en-US" altLang="ko-KR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9" name="실행 단추: 뒤로 또는 이전 8">
            <a:hlinkClick r:id="rId3" action="ppaction://hlinksldjump" highlightClick="1"/>
          </p:cNvPr>
          <p:cNvSpPr/>
          <p:nvPr/>
        </p:nvSpPr>
        <p:spPr>
          <a:xfrm>
            <a:off x="11365523" y="17653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src">
            <a:extLst>
              <a:ext uri="{FF2B5EF4-FFF2-40B4-BE49-F238E27FC236}">
                <a16:creationId xmlns:a16="http://schemas.microsoft.com/office/drawing/2014/main" id="{CF8094EC-0377-4489-9D6C-BCCDBEE3074C}"/>
              </a:ext>
            </a:extLst>
          </p:cNvPr>
          <p:cNvSpPr txBox="1"/>
          <p:nvPr/>
        </p:nvSpPr>
        <p:spPr>
          <a:xfrm>
            <a:off x="365760" y="6601968"/>
            <a:ext cx="11430000" cy="18928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LMCache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2510.09665 · Mooncake 2407.00079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InferCept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2402.01869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Pensieve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2312.05516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AttentionStore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2403.19708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DistServe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2401.09670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Sarathi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-Serve 2403.02310</a:t>
            </a:r>
          </a:p>
        </p:txBody>
      </p:sp>
      <p:graphicFrame>
        <p:nvGraphicFramePr>
          <p:cNvPr id="74" name="tbl">
            <a:extLst>
              <a:ext uri="{FF2B5EF4-FFF2-40B4-BE49-F238E27FC236}">
                <a16:creationId xmlns:a16="http://schemas.microsoft.com/office/drawing/2014/main" id="{7DAC45F9-9975-4210-AC0D-AE6040F54DE4}"/>
              </a:ext>
            </a:extLst>
          </p:cNvPr>
          <p:cNvGraphicFramePr>
            <a:graphicFrameLocks noGrp="1"/>
          </p:cNvGraphicFramePr>
          <p:nvPr/>
        </p:nvGraphicFramePr>
        <p:xfrm>
          <a:off x="365760" y="1993716"/>
          <a:ext cx="11457432" cy="208067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정량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  <a:endParaRPr sz="8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≥ 3.0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문헌 성능의 보수적 상한 ≈ 3x: Pensieve 상한 3.0x (vLLM·TensorRT-LLM 대비).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3x 초과 보고값(DistServe 7.4x, AttentionStore 7.8x, Sarathi-Serve 6.9x)은 기법·baseline이 달라 참고만.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Pensieve (참고: DistServe, Sarathi-Serve, AttentionStore)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2.45 ≤ R &lt; 3.0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★2와 ★3의 기하 중점 (√(2×3)=2.45x).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2.0 ≤ R &lt; 2.45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 기술 수준: HBM-DRAM-SSD 단순 offloading의 보수적 보고값 (InferCept 상한 2.0x, LMCache 단일 노드 하한 2.3x). 보고값 8개의 하위 25% ≈ 2.2x.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InferCept, LMCache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1.73 ≤ R &lt; 2.0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★1과 ★2의 기하 중점 (√(1.5×2)=1.73x). Mooncake 실트래픽 +75%(1.75x)가 이 구간.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Mooncake, InferCept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491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1.5 ≤ R &lt; 1.73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요구: "처리량 개선 1.5배 이상 되어야 제품화 논의 가능" (Baseline).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단순 offloading 기술의 하한 수준: InferCept 보고 범위 하한 1.6x. (Pensieve 하한 1.14x는 이 아래)</a:t>
                      </a:r>
                      <a:endParaRPr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요구사항,</a:t>
                      </a:r>
                      <a:endParaRPr lang="en-US"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InferCept, Pensieve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&lt; 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요구(1.5배) 미충족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6458D367-E7E3-4015-B7C9-744AAAFDB247}"/>
              </a:ext>
            </a:extLst>
          </p:cNvPr>
          <p:cNvSpPr txBox="1"/>
          <p:nvPr/>
        </p:nvSpPr>
        <p:spPr>
          <a:xfrm>
            <a:off x="365760" y="4139840"/>
            <a:ext cx="11430000" cy="219456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구간</a:t>
            </a: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대비</a:t>
            </a: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근거</a:t>
            </a: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위치</a:t>
            </a: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 (GPU-only </a:t>
            </a: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대비</a:t>
            </a: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 R, log 축) — </a:t>
            </a: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문헌</a:t>
            </a: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 7편 + </a:t>
            </a: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이론</a:t>
            </a:r>
            <a:endParaRPr sz="95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76" name="Rectangle 12">
            <a:extLst>
              <a:ext uri="{FF2B5EF4-FFF2-40B4-BE49-F238E27FC236}">
                <a16:creationId xmlns:a16="http://schemas.microsoft.com/office/drawing/2014/main" id="{D0197DC2-BE58-4A20-9DC8-B9F34A005160}"/>
              </a:ext>
            </a:extLst>
          </p:cNvPr>
          <p:cNvSpPr/>
          <p:nvPr/>
        </p:nvSpPr>
        <p:spPr>
          <a:xfrm>
            <a:off x="411480" y="4393368"/>
            <a:ext cx="1658158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0B95972-9CC8-45AE-A6BB-78804BA01B58}"/>
              </a:ext>
            </a:extLst>
          </p:cNvPr>
          <p:cNvSpPr txBox="1"/>
          <p:nvPr/>
        </p:nvSpPr>
        <p:spPr>
          <a:xfrm>
            <a:off x="411480" y="4393368"/>
            <a:ext cx="165815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78" name="Rectangle 14">
            <a:extLst>
              <a:ext uri="{FF2B5EF4-FFF2-40B4-BE49-F238E27FC236}">
                <a16:creationId xmlns:a16="http://schemas.microsoft.com/office/drawing/2014/main" id="{0329DBE6-4F9B-47EA-BAC2-1F1384EB479E}"/>
              </a:ext>
            </a:extLst>
          </p:cNvPr>
          <p:cNvSpPr/>
          <p:nvPr/>
        </p:nvSpPr>
        <p:spPr>
          <a:xfrm>
            <a:off x="2069638" y="4393368"/>
            <a:ext cx="588241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CC2156B-E677-4715-8762-0880658E70D8}"/>
              </a:ext>
            </a:extLst>
          </p:cNvPr>
          <p:cNvSpPr txBox="1"/>
          <p:nvPr/>
        </p:nvSpPr>
        <p:spPr>
          <a:xfrm>
            <a:off x="2069638" y="4393368"/>
            <a:ext cx="58824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80" name="Rectangle 16">
            <a:extLst>
              <a:ext uri="{FF2B5EF4-FFF2-40B4-BE49-F238E27FC236}">
                <a16:creationId xmlns:a16="http://schemas.microsoft.com/office/drawing/2014/main" id="{8A938879-4463-4C0A-BC3F-441CDCC3966C}"/>
              </a:ext>
            </a:extLst>
          </p:cNvPr>
          <p:cNvSpPr/>
          <p:nvPr/>
        </p:nvSpPr>
        <p:spPr>
          <a:xfrm>
            <a:off x="2657879" y="4393368"/>
            <a:ext cx="588241" cy="274320"/>
          </a:xfrm>
          <a:prstGeom prst="rect">
            <a:avLst/>
          </a:prstGeom>
          <a:solidFill>
            <a:srgbClr val="FDE9D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140817-51C2-46C4-8585-3E436818222B}"/>
              </a:ext>
            </a:extLst>
          </p:cNvPr>
          <p:cNvSpPr txBox="1"/>
          <p:nvPr/>
        </p:nvSpPr>
        <p:spPr>
          <a:xfrm>
            <a:off x="2657879" y="4393368"/>
            <a:ext cx="58824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★1.5</a:t>
            </a:r>
          </a:p>
        </p:txBody>
      </p:sp>
      <p:sp>
        <p:nvSpPr>
          <p:cNvPr id="82" name="Rectangle 18">
            <a:extLst>
              <a:ext uri="{FF2B5EF4-FFF2-40B4-BE49-F238E27FC236}">
                <a16:creationId xmlns:a16="http://schemas.microsoft.com/office/drawing/2014/main" id="{B1BEDF91-4F9C-4D22-A964-C5FD760204C3}"/>
              </a:ext>
            </a:extLst>
          </p:cNvPr>
          <p:cNvSpPr/>
          <p:nvPr/>
        </p:nvSpPr>
        <p:spPr>
          <a:xfrm>
            <a:off x="3246120" y="4393368"/>
            <a:ext cx="829079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B046AF8-648C-4B28-BCEB-FA06E0D69C94}"/>
              </a:ext>
            </a:extLst>
          </p:cNvPr>
          <p:cNvSpPr txBox="1"/>
          <p:nvPr/>
        </p:nvSpPr>
        <p:spPr>
          <a:xfrm>
            <a:off x="3246120" y="4393368"/>
            <a:ext cx="8290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84" name="Rectangle 20">
            <a:extLst>
              <a:ext uri="{FF2B5EF4-FFF2-40B4-BE49-F238E27FC236}">
                <a16:creationId xmlns:a16="http://schemas.microsoft.com/office/drawing/2014/main" id="{0C488D9D-8EDF-4F04-B693-ED4335D810C3}"/>
              </a:ext>
            </a:extLst>
          </p:cNvPr>
          <p:cNvSpPr/>
          <p:nvPr/>
        </p:nvSpPr>
        <p:spPr>
          <a:xfrm>
            <a:off x="4075199" y="4393368"/>
            <a:ext cx="829079" cy="274320"/>
          </a:xfrm>
          <a:prstGeom prst="rect">
            <a:avLst/>
          </a:prstGeom>
          <a:solidFill>
            <a:srgbClr val="EDF3D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1D6D34C-FA54-4212-8586-532F13BB8EE9}"/>
              </a:ext>
            </a:extLst>
          </p:cNvPr>
          <p:cNvSpPr txBox="1"/>
          <p:nvPr/>
        </p:nvSpPr>
        <p:spPr>
          <a:xfrm>
            <a:off x="4075199" y="4393368"/>
            <a:ext cx="8290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★2.5</a:t>
            </a:r>
          </a:p>
        </p:txBody>
      </p:sp>
      <p:sp>
        <p:nvSpPr>
          <p:cNvPr id="86" name="Rectangle 22">
            <a:extLst>
              <a:ext uri="{FF2B5EF4-FFF2-40B4-BE49-F238E27FC236}">
                <a16:creationId xmlns:a16="http://schemas.microsoft.com/office/drawing/2014/main" id="{2FE16760-B2A8-4787-8540-9697C0CBE55D}"/>
              </a:ext>
            </a:extLst>
          </p:cNvPr>
          <p:cNvSpPr/>
          <p:nvPr/>
        </p:nvSpPr>
        <p:spPr>
          <a:xfrm>
            <a:off x="4904278" y="4393368"/>
            <a:ext cx="6845761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88F6E4F-80F5-4F7B-9E54-355673921DF2}"/>
              </a:ext>
            </a:extLst>
          </p:cNvPr>
          <p:cNvSpPr txBox="1"/>
          <p:nvPr/>
        </p:nvSpPr>
        <p:spPr>
          <a:xfrm>
            <a:off x="4904278" y="4393368"/>
            <a:ext cx="684576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0496B8E-9BD1-468B-88E1-E0A93CCCE3CF}"/>
              </a:ext>
            </a:extLst>
          </p:cNvPr>
          <p:cNvSpPr txBox="1"/>
          <p:nvPr/>
        </p:nvSpPr>
        <p:spPr>
          <a:xfrm>
            <a:off x="1749598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1.5x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0496B8E-9BD1-468B-88E1-E0A93CCCE3CF}"/>
              </a:ext>
            </a:extLst>
          </p:cNvPr>
          <p:cNvSpPr txBox="1"/>
          <p:nvPr/>
        </p:nvSpPr>
        <p:spPr>
          <a:xfrm>
            <a:off x="11429999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16x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0496B8E-9BD1-468B-88E1-E0A93CCCE3CF}"/>
              </a:ext>
            </a:extLst>
          </p:cNvPr>
          <p:cNvSpPr txBox="1"/>
          <p:nvPr/>
        </p:nvSpPr>
        <p:spPr>
          <a:xfrm>
            <a:off x="8595359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8x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0496B8E-9BD1-468B-88E1-E0A93CCCE3CF}"/>
              </a:ext>
            </a:extLst>
          </p:cNvPr>
          <p:cNvSpPr txBox="1"/>
          <p:nvPr/>
        </p:nvSpPr>
        <p:spPr>
          <a:xfrm>
            <a:off x="7418877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6x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73B2816-CEFF-4D3C-9AB4-382C066655D7}"/>
              </a:ext>
            </a:extLst>
          </p:cNvPr>
          <p:cNvSpPr txBox="1"/>
          <p:nvPr/>
        </p:nvSpPr>
        <p:spPr>
          <a:xfrm>
            <a:off x="2332994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1.73x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8C7CD24-1F8E-426F-8899-995F1529E03B}"/>
              </a:ext>
            </a:extLst>
          </p:cNvPr>
          <p:cNvSpPr txBox="1"/>
          <p:nvPr/>
        </p:nvSpPr>
        <p:spPr>
          <a:xfrm>
            <a:off x="2926080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2x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8AF0F89-EFFD-49EF-B46B-5450AC1E862E}"/>
              </a:ext>
            </a:extLst>
          </p:cNvPr>
          <p:cNvSpPr txBox="1"/>
          <p:nvPr/>
        </p:nvSpPr>
        <p:spPr>
          <a:xfrm>
            <a:off x="3756011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2.45x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BC05775-8B9E-4E61-BC2D-0414D46AC516}"/>
              </a:ext>
            </a:extLst>
          </p:cNvPr>
          <p:cNvSpPr txBox="1"/>
          <p:nvPr/>
        </p:nvSpPr>
        <p:spPr>
          <a:xfrm>
            <a:off x="4584238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3x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1D8295F-B66D-4721-BA53-2F5BBCBB6F1B}"/>
              </a:ext>
            </a:extLst>
          </p:cNvPr>
          <p:cNvSpPr txBox="1"/>
          <p:nvPr/>
        </p:nvSpPr>
        <p:spPr>
          <a:xfrm>
            <a:off x="5760720" y="467420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4x</a:t>
            </a:r>
          </a:p>
        </p:txBody>
      </p:sp>
      <p:cxnSp>
        <p:nvCxnSpPr>
          <p:cNvPr id="94" name="Connector 30">
            <a:extLst>
              <a:ext uri="{FF2B5EF4-FFF2-40B4-BE49-F238E27FC236}">
                <a16:creationId xmlns:a16="http://schemas.microsoft.com/office/drawing/2014/main" id="{27909981-7E9B-49F6-A303-40A8B2F0E42B}"/>
              </a:ext>
            </a:extLst>
          </p:cNvPr>
          <p:cNvCxnSpPr/>
          <p:nvPr/>
        </p:nvCxnSpPr>
        <p:spPr>
          <a:xfrm>
            <a:off x="2069638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31">
            <a:extLst>
              <a:ext uri="{FF2B5EF4-FFF2-40B4-BE49-F238E27FC236}">
                <a16:creationId xmlns:a16="http://schemas.microsoft.com/office/drawing/2014/main" id="{B8845AB1-A9DD-46F0-9777-1495E1F07D4A}"/>
              </a:ext>
            </a:extLst>
          </p:cNvPr>
          <p:cNvCxnSpPr/>
          <p:nvPr/>
        </p:nvCxnSpPr>
        <p:spPr>
          <a:xfrm>
            <a:off x="2657879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32">
            <a:extLst>
              <a:ext uri="{FF2B5EF4-FFF2-40B4-BE49-F238E27FC236}">
                <a16:creationId xmlns:a16="http://schemas.microsoft.com/office/drawing/2014/main" id="{1F1C122C-F21C-4150-BBE5-5B12F33E672D}"/>
              </a:ext>
            </a:extLst>
          </p:cNvPr>
          <p:cNvCxnSpPr/>
          <p:nvPr/>
        </p:nvCxnSpPr>
        <p:spPr>
          <a:xfrm>
            <a:off x="3246120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33">
            <a:extLst>
              <a:ext uri="{FF2B5EF4-FFF2-40B4-BE49-F238E27FC236}">
                <a16:creationId xmlns:a16="http://schemas.microsoft.com/office/drawing/2014/main" id="{A4922882-1BDB-4E77-BE85-F6E7A4A5F9F2}"/>
              </a:ext>
            </a:extLst>
          </p:cNvPr>
          <p:cNvCxnSpPr/>
          <p:nvPr/>
        </p:nvCxnSpPr>
        <p:spPr>
          <a:xfrm>
            <a:off x="4075199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34">
            <a:extLst>
              <a:ext uri="{FF2B5EF4-FFF2-40B4-BE49-F238E27FC236}">
                <a16:creationId xmlns:a16="http://schemas.microsoft.com/office/drawing/2014/main" id="{3C898942-9F40-4F1F-9FA2-1EB246B94A0C}"/>
              </a:ext>
            </a:extLst>
          </p:cNvPr>
          <p:cNvCxnSpPr/>
          <p:nvPr/>
        </p:nvCxnSpPr>
        <p:spPr>
          <a:xfrm>
            <a:off x="4904278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Diamond 35">
            <a:extLst>
              <a:ext uri="{FF2B5EF4-FFF2-40B4-BE49-F238E27FC236}">
                <a16:creationId xmlns:a16="http://schemas.microsoft.com/office/drawing/2014/main" id="{3B42D9AB-F8EF-41F6-900B-E6A0F7D7F67E}"/>
              </a:ext>
            </a:extLst>
          </p:cNvPr>
          <p:cNvSpPr/>
          <p:nvPr/>
        </p:nvSpPr>
        <p:spPr>
          <a:xfrm>
            <a:off x="2010202" y="4835937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2F20159-4AE0-499E-8192-BAAE548915DC}"/>
              </a:ext>
            </a:extLst>
          </p:cNvPr>
          <p:cNvSpPr txBox="1"/>
          <p:nvPr/>
        </p:nvSpPr>
        <p:spPr>
          <a:xfrm>
            <a:off x="2179638" y="4843051"/>
            <a:ext cx="2400000" cy="1046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FF0000"/>
                </a:solidFill>
                <a:latin typeface="맑은 고딕"/>
                <a:ea typeface="맑은 고딕"/>
              </a:rPr>
              <a:t>Stakeholder 요구: 처리량 1.5배 이상 (GPU-only 대비)</a:t>
            </a:r>
          </a:p>
        </p:txBody>
      </p:sp>
      <p:sp>
        <p:nvSpPr>
          <p:cNvPr id="101" name="Rectangle 37">
            <a:extLst>
              <a:ext uri="{FF2B5EF4-FFF2-40B4-BE49-F238E27FC236}">
                <a16:creationId xmlns:a16="http://schemas.microsoft.com/office/drawing/2014/main" id="{6AA3510E-A502-456B-8646-1AE270AD3F58}"/>
              </a:ext>
            </a:extLst>
          </p:cNvPr>
          <p:cNvSpPr/>
          <p:nvPr/>
        </p:nvSpPr>
        <p:spPr>
          <a:xfrm>
            <a:off x="2333570" y="5003272"/>
            <a:ext cx="912550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2" name="Connector 38">
            <a:extLst>
              <a:ext uri="{FF2B5EF4-FFF2-40B4-BE49-F238E27FC236}">
                <a16:creationId xmlns:a16="http://schemas.microsoft.com/office/drawing/2014/main" id="{AA6EFEB9-2075-4E17-9121-371E93239C26}"/>
              </a:ext>
            </a:extLst>
          </p:cNvPr>
          <p:cNvCxnSpPr/>
          <p:nvPr/>
        </p:nvCxnSpPr>
        <p:spPr>
          <a:xfrm>
            <a:off x="2333570" y="4975840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39">
            <a:extLst>
              <a:ext uri="{FF2B5EF4-FFF2-40B4-BE49-F238E27FC236}">
                <a16:creationId xmlns:a16="http://schemas.microsoft.com/office/drawing/2014/main" id="{E8D682FC-6341-40A9-9FBD-9E6319952966}"/>
              </a:ext>
            </a:extLst>
          </p:cNvPr>
          <p:cNvCxnSpPr/>
          <p:nvPr/>
        </p:nvCxnSpPr>
        <p:spPr>
          <a:xfrm>
            <a:off x="3246120" y="4975840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72DC0578-0331-46D5-BA50-293638C6917A}"/>
              </a:ext>
            </a:extLst>
          </p:cNvPr>
          <p:cNvSpPr txBox="1"/>
          <p:nvPr/>
        </p:nvSpPr>
        <p:spPr>
          <a:xfrm>
            <a:off x="3319272" y="4987526"/>
            <a:ext cx="2048638" cy="1046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dirty="0" err="1">
                <a:solidFill>
                  <a:schemeClr val="accent1"/>
                </a:solidFill>
                <a:latin typeface="맑은 고딕"/>
                <a:ea typeface="맑은 고딕"/>
              </a:rPr>
              <a:t>InferCept</a:t>
            </a:r>
            <a:r>
              <a:rPr sz="680" dirty="0">
                <a:solidFill>
                  <a:schemeClr val="accent1"/>
                </a:solidFill>
                <a:latin typeface="맑은 고딕"/>
                <a:ea typeface="맑은 고딕"/>
              </a:rPr>
              <a:t> 1.6~2x · Mooncake </a:t>
            </a:r>
            <a:r>
              <a:rPr sz="680" dirty="0" err="1">
                <a:solidFill>
                  <a:schemeClr val="accent1"/>
                </a:solidFill>
                <a:latin typeface="맑은 고딕"/>
                <a:ea typeface="맑은 고딕"/>
              </a:rPr>
              <a:t>실트래픽</a:t>
            </a:r>
            <a:r>
              <a:rPr sz="680" dirty="0">
                <a:solidFill>
                  <a:schemeClr val="accent1"/>
                </a:solidFill>
                <a:latin typeface="맑은 고딕"/>
                <a:ea typeface="맑은 고딕"/>
              </a:rPr>
              <a:t> +75%(1.75x)</a:t>
            </a:r>
          </a:p>
        </p:txBody>
      </p:sp>
      <p:sp>
        <p:nvSpPr>
          <p:cNvPr id="105" name="Rectangle 41">
            <a:extLst>
              <a:ext uri="{FF2B5EF4-FFF2-40B4-BE49-F238E27FC236}">
                <a16:creationId xmlns:a16="http://schemas.microsoft.com/office/drawing/2014/main" id="{D09C3D00-4F76-4694-B442-42C8B30E33F8}"/>
              </a:ext>
            </a:extLst>
          </p:cNvPr>
          <p:cNvSpPr/>
          <p:nvPr/>
        </p:nvSpPr>
        <p:spPr>
          <a:xfrm>
            <a:off x="947323" y="5147747"/>
            <a:ext cx="3956955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6" name="Connector 42">
            <a:extLst>
              <a:ext uri="{FF2B5EF4-FFF2-40B4-BE49-F238E27FC236}">
                <a16:creationId xmlns:a16="http://schemas.microsoft.com/office/drawing/2014/main" id="{7BD6240E-4011-480E-A794-02254EA4A13E}"/>
              </a:ext>
            </a:extLst>
          </p:cNvPr>
          <p:cNvCxnSpPr/>
          <p:nvPr/>
        </p:nvCxnSpPr>
        <p:spPr>
          <a:xfrm>
            <a:off x="947323" y="5120315"/>
            <a:ext cx="0" cy="128017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43">
            <a:extLst>
              <a:ext uri="{FF2B5EF4-FFF2-40B4-BE49-F238E27FC236}">
                <a16:creationId xmlns:a16="http://schemas.microsoft.com/office/drawing/2014/main" id="{B1E58269-CADC-4CAC-B5F2-D9589F047AAA}"/>
              </a:ext>
            </a:extLst>
          </p:cNvPr>
          <p:cNvCxnSpPr/>
          <p:nvPr/>
        </p:nvCxnSpPr>
        <p:spPr>
          <a:xfrm>
            <a:off x="4904278" y="5120315"/>
            <a:ext cx="0" cy="128017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D1816359-1694-4AE8-8BE4-7F9C86BCF9ED}"/>
              </a:ext>
            </a:extLst>
          </p:cNvPr>
          <p:cNvSpPr txBox="1"/>
          <p:nvPr/>
        </p:nvSpPr>
        <p:spPr>
          <a:xfrm>
            <a:off x="4977430" y="5132001"/>
            <a:ext cx="1829027" cy="1046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>
                <a:solidFill>
                  <a:schemeClr val="accent1"/>
                </a:solidFill>
                <a:latin typeface="맑은 고딕"/>
                <a:ea typeface="맑은 고딕"/>
              </a:rPr>
              <a:t>Pensieve 1.14~3.0x (vLLM·TensorRT-LLM 대비)</a:t>
            </a:r>
          </a:p>
        </p:txBody>
      </p:sp>
      <p:sp>
        <p:nvSpPr>
          <p:cNvPr id="109" name="Oval 45">
            <a:extLst>
              <a:ext uri="{FF2B5EF4-FFF2-40B4-BE49-F238E27FC236}">
                <a16:creationId xmlns:a16="http://schemas.microsoft.com/office/drawing/2014/main" id="{45CF64AA-2EFD-434C-BFCE-60BE95B9B3B6}"/>
              </a:ext>
            </a:extLst>
          </p:cNvPr>
          <p:cNvSpPr/>
          <p:nvPr/>
        </p:nvSpPr>
        <p:spPr>
          <a:xfrm>
            <a:off x="3767387" y="5278507"/>
            <a:ext cx="100584" cy="100584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618B500-736F-48A2-861A-CFE6E3A871D7}"/>
              </a:ext>
            </a:extLst>
          </p:cNvPr>
          <p:cNvSpPr txBox="1"/>
          <p:nvPr/>
        </p:nvSpPr>
        <p:spPr>
          <a:xfrm>
            <a:off x="3890831" y="5276476"/>
            <a:ext cx="1926810" cy="1046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dirty="0" err="1">
                <a:solidFill>
                  <a:schemeClr val="accent1"/>
                </a:solidFill>
                <a:latin typeface="맑은 고딕"/>
                <a:ea typeface="맑은 고딕"/>
              </a:rPr>
              <a:t>LMCache</a:t>
            </a:r>
            <a:r>
              <a:rPr sz="68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680" dirty="0" err="1">
                <a:solidFill>
                  <a:schemeClr val="accent1"/>
                </a:solidFill>
                <a:latin typeface="맑은 고딕"/>
                <a:ea typeface="맑은 고딕"/>
              </a:rPr>
              <a:t>단일</a:t>
            </a:r>
            <a:r>
              <a:rPr sz="68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680" dirty="0" err="1">
                <a:solidFill>
                  <a:schemeClr val="accent1"/>
                </a:solidFill>
                <a:latin typeface="맑은 고딕"/>
                <a:ea typeface="맑은 고딕"/>
              </a:rPr>
              <a:t>노드</a:t>
            </a:r>
            <a:r>
              <a:rPr sz="680" dirty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sz="680" dirty="0" err="1">
                <a:solidFill>
                  <a:schemeClr val="accent1"/>
                </a:solidFill>
                <a:latin typeface="맑은 고딕"/>
                <a:ea typeface="맑은 고딕"/>
              </a:rPr>
              <a:t>로컬</a:t>
            </a:r>
            <a:r>
              <a:rPr sz="680" dirty="0">
                <a:solidFill>
                  <a:schemeClr val="accent1"/>
                </a:solidFill>
                <a:latin typeface="맑은 고딕"/>
                <a:ea typeface="맑은 고딕"/>
              </a:rPr>
              <a:t> CPU offload </a:t>
            </a:r>
            <a:r>
              <a:rPr sz="680" dirty="0" err="1">
                <a:solidFill>
                  <a:schemeClr val="accent1"/>
                </a:solidFill>
                <a:latin typeface="맑은 고딕"/>
                <a:ea typeface="맑은 고딕"/>
              </a:rPr>
              <a:t>하한</a:t>
            </a:r>
            <a:r>
              <a:rPr sz="680" dirty="0">
                <a:solidFill>
                  <a:schemeClr val="accent1"/>
                </a:solidFill>
                <a:latin typeface="맑은 고딕"/>
                <a:ea typeface="맑은 고딕"/>
              </a:rPr>
              <a:t> 2.3x</a:t>
            </a:r>
          </a:p>
        </p:txBody>
      </p:sp>
      <p:sp>
        <p:nvSpPr>
          <p:cNvPr id="111" name="Rectangle 47">
            <a:extLst>
              <a:ext uri="{FF2B5EF4-FFF2-40B4-BE49-F238E27FC236}">
                <a16:creationId xmlns:a16="http://schemas.microsoft.com/office/drawing/2014/main" id="{21D5D071-4664-4457-8860-B39A4578A386}"/>
              </a:ext>
            </a:extLst>
          </p:cNvPr>
          <p:cNvSpPr/>
          <p:nvPr/>
        </p:nvSpPr>
        <p:spPr>
          <a:xfrm>
            <a:off x="6080760" y="5436698"/>
            <a:ext cx="1658157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2" name="Connector 48">
            <a:extLst>
              <a:ext uri="{FF2B5EF4-FFF2-40B4-BE49-F238E27FC236}">
                <a16:creationId xmlns:a16="http://schemas.microsoft.com/office/drawing/2014/main" id="{2DF2DEFE-C943-473A-90C0-A60630942C09}"/>
              </a:ext>
            </a:extLst>
          </p:cNvPr>
          <p:cNvCxnSpPr/>
          <p:nvPr/>
        </p:nvCxnSpPr>
        <p:spPr>
          <a:xfrm>
            <a:off x="6080760" y="5409266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49">
            <a:extLst>
              <a:ext uri="{FF2B5EF4-FFF2-40B4-BE49-F238E27FC236}">
                <a16:creationId xmlns:a16="http://schemas.microsoft.com/office/drawing/2014/main" id="{6E307C34-F72C-4D74-958C-0C8D78F13C6C}"/>
              </a:ext>
            </a:extLst>
          </p:cNvPr>
          <p:cNvCxnSpPr/>
          <p:nvPr/>
        </p:nvCxnSpPr>
        <p:spPr>
          <a:xfrm>
            <a:off x="7738917" y="5409266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9966F35-AEA7-4777-A303-BEFED6E9F4DB}"/>
              </a:ext>
            </a:extLst>
          </p:cNvPr>
          <p:cNvSpPr txBox="1"/>
          <p:nvPr/>
        </p:nvSpPr>
        <p:spPr>
          <a:xfrm>
            <a:off x="7812069" y="5401036"/>
            <a:ext cx="251383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dirty="0" err="1">
                <a:solidFill>
                  <a:srgbClr val="262626"/>
                </a:solidFill>
                <a:latin typeface="맑은 고딕"/>
                <a:ea typeface="맑은 고딕"/>
              </a:rPr>
              <a:t>LMCache</a:t>
            </a:r>
            <a:r>
              <a:rPr sz="680" b="0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680" b="0" dirty="0" err="1">
                <a:solidFill>
                  <a:srgbClr val="262626"/>
                </a:solidFill>
                <a:latin typeface="맑은 고딕"/>
                <a:ea typeface="맑은 고딕"/>
              </a:rPr>
              <a:t>실서비스</a:t>
            </a:r>
            <a:r>
              <a:rPr sz="680" b="0" dirty="0">
                <a:solidFill>
                  <a:srgbClr val="262626"/>
                </a:solidFill>
                <a:latin typeface="맑은 고딕"/>
                <a:ea typeface="맑은 고딕"/>
              </a:rPr>
              <a:t> 고 QPS: </a:t>
            </a:r>
            <a:r>
              <a:rPr sz="680" b="0" dirty="0" err="1">
                <a:solidFill>
                  <a:srgbClr val="262626"/>
                </a:solidFill>
                <a:latin typeface="맑은 고딕"/>
                <a:ea typeface="맑은 고딕"/>
              </a:rPr>
              <a:t>동일</a:t>
            </a:r>
            <a:r>
              <a:rPr sz="680" b="0" dirty="0">
                <a:solidFill>
                  <a:srgbClr val="262626"/>
                </a:solidFill>
                <a:latin typeface="맑은 고딕"/>
                <a:ea typeface="맑은 고딕"/>
              </a:rPr>
              <a:t> TTFT </a:t>
            </a:r>
            <a:r>
              <a:rPr sz="680" b="0" dirty="0" err="1">
                <a:solidFill>
                  <a:srgbClr val="262626"/>
                </a:solidFill>
                <a:latin typeface="맑은 고딕"/>
                <a:ea typeface="맑은 고딕"/>
              </a:rPr>
              <a:t>환산</a:t>
            </a:r>
            <a:r>
              <a:rPr sz="680" b="0" dirty="0">
                <a:solidFill>
                  <a:srgbClr val="262626"/>
                </a:solidFill>
                <a:latin typeface="맑은 고딕"/>
                <a:ea typeface="맑은 고딕"/>
              </a:rPr>
              <a:t> QPS </a:t>
            </a:r>
            <a:r>
              <a:rPr sz="680" b="0" dirty="0" err="1">
                <a:solidFill>
                  <a:srgbClr val="262626"/>
                </a:solidFill>
                <a:latin typeface="맑은 고딕"/>
                <a:ea typeface="맑은 고딕"/>
              </a:rPr>
              <a:t>확장</a:t>
            </a:r>
            <a:r>
              <a:rPr sz="680" b="0" dirty="0">
                <a:solidFill>
                  <a:srgbClr val="262626"/>
                </a:solidFill>
                <a:latin typeface="맑은 고딕"/>
                <a:ea typeface="맑은 고딕"/>
              </a:rPr>
              <a:t> 4~6x</a:t>
            </a:r>
          </a:p>
        </p:txBody>
      </p:sp>
      <p:sp>
        <p:nvSpPr>
          <p:cNvPr id="115" name="Rectangle 51">
            <a:extLst>
              <a:ext uri="{FF2B5EF4-FFF2-40B4-BE49-F238E27FC236}">
                <a16:creationId xmlns:a16="http://schemas.microsoft.com/office/drawing/2014/main" id="{F3FFFD7E-B844-441E-A429-F3FEF4ACE7AF}"/>
              </a:ext>
            </a:extLst>
          </p:cNvPr>
          <p:cNvSpPr/>
          <p:nvPr/>
        </p:nvSpPr>
        <p:spPr>
          <a:xfrm>
            <a:off x="3682102" y="5581173"/>
            <a:ext cx="4471299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6" name="Connector 52">
            <a:extLst>
              <a:ext uri="{FF2B5EF4-FFF2-40B4-BE49-F238E27FC236}">
                <a16:creationId xmlns:a16="http://schemas.microsoft.com/office/drawing/2014/main" id="{71C7F864-1AA4-43C0-9B17-AF879F0159CE}"/>
              </a:ext>
            </a:extLst>
          </p:cNvPr>
          <p:cNvCxnSpPr/>
          <p:nvPr/>
        </p:nvCxnSpPr>
        <p:spPr>
          <a:xfrm>
            <a:off x="3682102" y="5553741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53">
            <a:extLst>
              <a:ext uri="{FF2B5EF4-FFF2-40B4-BE49-F238E27FC236}">
                <a16:creationId xmlns:a16="http://schemas.microsoft.com/office/drawing/2014/main" id="{2D7434D4-8AB6-4D5E-A0DC-EB00C7FDA388}"/>
              </a:ext>
            </a:extLst>
          </p:cNvPr>
          <p:cNvCxnSpPr/>
          <p:nvPr/>
        </p:nvCxnSpPr>
        <p:spPr>
          <a:xfrm>
            <a:off x="8153401" y="5553741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2DC6AD37-E534-4EE8-813F-3AC4AB03B43D}"/>
              </a:ext>
            </a:extLst>
          </p:cNvPr>
          <p:cNvSpPr txBox="1"/>
          <p:nvPr/>
        </p:nvSpPr>
        <p:spPr>
          <a:xfrm>
            <a:off x="8226553" y="5565428"/>
            <a:ext cx="2850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680" b="0" dirty="0" err="1">
                <a:solidFill>
                  <a:srgbClr val="262626"/>
                </a:solidFill>
                <a:latin typeface="맑은 고딕"/>
                <a:ea typeface="맑은 고딕"/>
              </a:rPr>
              <a:t>단순 offloading 개선값 8개의 사분위 범위 2.2~6.6x (중앙값 4.0x)</a:t>
            </a:r>
            <a:endParaRPr sz="680" b="0" dirty="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119" name="Oval 55">
            <a:extLst>
              <a:ext uri="{FF2B5EF4-FFF2-40B4-BE49-F238E27FC236}">
                <a16:creationId xmlns:a16="http://schemas.microsoft.com/office/drawing/2014/main" id="{34E0B9E8-D469-4612-AB58-F8E346361BCC}"/>
              </a:ext>
            </a:extLst>
          </p:cNvPr>
          <p:cNvSpPr/>
          <p:nvPr/>
        </p:nvSpPr>
        <p:spPr>
          <a:xfrm>
            <a:off x="8546282" y="5711932"/>
            <a:ext cx="100584" cy="100584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23021B9-CD73-4385-8D72-212C037AC77A}"/>
              </a:ext>
            </a:extLst>
          </p:cNvPr>
          <p:cNvSpPr txBox="1"/>
          <p:nvPr/>
        </p:nvSpPr>
        <p:spPr>
          <a:xfrm>
            <a:off x="8669726" y="5689987"/>
            <a:ext cx="1529333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62626"/>
                </a:solidFill>
                <a:latin typeface="맑은 고딕"/>
                <a:ea typeface="맑은 고딕"/>
              </a:rPr>
              <a:t>DistServe 요청 수 7.4x (SLO 내)</a:t>
            </a:r>
          </a:p>
        </p:txBody>
      </p:sp>
      <p:sp>
        <p:nvSpPr>
          <p:cNvPr id="121" name="Rectangle 57">
            <a:extLst>
              <a:ext uri="{FF2B5EF4-FFF2-40B4-BE49-F238E27FC236}">
                <a16:creationId xmlns:a16="http://schemas.microsoft.com/office/drawing/2014/main" id="{2589A6F8-C62C-48E6-A6A3-21866EF74371}"/>
              </a:ext>
            </a:extLst>
          </p:cNvPr>
          <p:cNvSpPr/>
          <p:nvPr/>
        </p:nvSpPr>
        <p:spPr>
          <a:xfrm>
            <a:off x="8811862" y="5870124"/>
            <a:ext cx="204518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2" name="Connector 58">
            <a:extLst>
              <a:ext uri="{FF2B5EF4-FFF2-40B4-BE49-F238E27FC236}">
                <a16:creationId xmlns:a16="http://schemas.microsoft.com/office/drawing/2014/main" id="{FFBC55F8-9C6C-476B-B217-8CF236C5550B}"/>
              </a:ext>
            </a:extLst>
          </p:cNvPr>
          <p:cNvCxnSpPr/>
          <p:nvPr/>
        </p:nvCxnSpPr>
        <p:spPr>
          <a:xfrm>
            <a:off x="8811862" y="5842691"/>
            <a:ext cx="0" cy="128017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59">
            <a:extLst>
              <a:ext uri="{FF2B5EF4-FFF2-40B4-BE49-F238E27FC236}">
                <a16:creationId xmlns:a16="http://schemas.microsoft.com/office/drawing/2014/main" id="{0B95496F-8692-4655-A6FE-BF1EF4DD034A}"/>
              </a:ext>
            </a:extLst>
          </p:cNvPr>
          <p:cNvCxnSpPr/>
          <p:nvPr/>
        </p:nvCxnSpPr>
        <p:spPr>
          <a:xfrm>
            <a:off x="9016380" y="5842691"/>
            <a:ext cx="0" cy="128017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550FFAD2-4DC0-441C-8B0C-4AA416AE6947}"/>
              </a:ext>
            </a:extLst>
          </p:cNvPr>
          <p:cNvSpPr txBox="1"/>
          <p:nvPr/>
        </p:nvSpPr>
        <p:spPr>
          <a:xfrm>
            <a:off x="9089532" y="5834462"/>
            <a:ext cx="2582926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62626"/>
                </a:solidFill>
                <a:latin typeface="맑은 고딕"/>
                <a:ea typeface="맑은 고딕"/>
              </a:rPr>
              <a:t>AttentionStore prefill 처리량 7.8~8.2x (TTFT −87~88%)</a:t>
            </a:r>
          </a:p>
        </p:txBody>
      </p:sp>
      <p:sp>
        <p:nvSpPr>
          <p:cNvPr id="125" name="Oval 61">
            <a:extLst>
              <a:ext uri="{FF2B5EF4-FFF2-40B4-BE49-F238E27FC236}">
                <a16:creationId xmlns:a16="http://schemas.microsoft.com/office/drawing/2014/main" id="{E99541AF-D53C-446A-826C-B451FCA82923}"/>
              </a:ext>
            </a:extLst>
          </p:cNvPr>
          <p:cNvSpPr/>
          <p:nvPr/>
        </p:nvSpPr>
        <p:spPr>
          <a:xfrm>
            <a:off x="7855568" y="6000883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21FA34B-90F0-4AD6-9C42-F29182690CBC}"/>
              </a:ext>
            </a:extLst>
          </p:cNvPr>
          <p:cNvSpPr txBox="1"/>
          <p:nvPr/>
        </p:nvSpPr>
        <p:spPr>
          <a:xfrm>
            <a:off x="7979012" y="5978937"/>
            <a:ext cx="1624329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7F7F7F"/>
                </a:solidFill>
                <a:latin typeface="맑은 고딕"/>
                <a:ea typeface="맑은 고딕"/>
              </a:rPr>
              <a:t>Mooncake 시뮬 +525% (6.25x, 시뮬)</a:t>
            </a:r>
          </a:p>
        </p:txBody>
      </p:sp>
      <p:sp>
        <p:nvSpPr>
          <p:cNvPr id="127" name="Oval 63">
            <a:extLst>
              <a:ext uri="{FF2B5EF4-FFF2-40B4-BE49-F238E27FC236}">
                <a16:creationId xmlns:a16="http://schemas.microsoft.com/office/drawing/2014/main" id="{ACF65D00-D5FF-43F8-9696-7BFD57983014}"/>
              </a:ext>
            </a:extLst>
          </p:cNvPr>
          <p:cNvSpPr/>
          <p:nvPr/>
        </p:nvSpPr>
        <p:spPr>
          <a:xfrm>
            <a:off x="11153668" y="6145358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304FF80-CE33-4A82-B9B0-A8E4F175CA98}"/>
              </a:ext>
            </a:extLst>
          </p:cNvPr>
          <p:cNvSpPr txBox="1"/>
          <p:nvPr/>
        </p:nvSpPr>
        <p:spPr>
          <a:xfrm>
            <a:off x="9761240" y="6123412"/>
            <a:ext cx="1369568" cy="1444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80" b="0">
                <a:solidFill>
                  <a:srgbClr val="7F7F7F"/>
                </a:solidFill>
                <a:latin typeface="맑은 고딕"/>
                <a:ea typeface="맑은 고딕"/>
              </a:rPr>
              <a:t>LMCache 최대 14x (극단 조건)</a:t>
            </a:r>
          </a:p>
        </p:txBody>
      </p:sp>
      <p:sp>
        <p:nvSpPr>
          <p:cNvPr id="129" name="Oval 69">
            <a:extLst>
              <a:ext uri="{FF2B5EF4-FFF2-40B4-BE49-F238E27FC236}">
                <a16:creationId xmlns:a16="http://schemas.microsoft.com/office/drawing/2014/main" id="{BB7D1189-A7A0-494A-B1A3-F4CD397306C5}"/>
              </a:ext>
            </a:extLst>
          </p:cNvPr>
          <p:cNvSpPr/>
          <p:nvPr/>
        </p:nvSpPr>
        <p:spPr>
          <a:xfrm>
            <a:off x="384048" y="6208776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D48C84A-2B12-4B7C-8807-B696A7C9BB84}"/>
              </a:ext>
            </a:extLst>
          </p:cNvPr>
          <p:cNvSpPr txBox="1"/>
          <p:nvPr/>
        </p:nvSpPr>
        <p:spPr>
          <a:xfrm>
            <a:off x="502920" y="6167628"/>
            <a:ext cx="9271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보고값(up to)</a:t>
            </a:r>
          </a:p>
        </p:txBody>
      </p:sp>
      <p:sp>
        <p:nvSpPr>
          <p:cNvPr id="131" name="Diamond 71">
            <a:extLst>
              <a:ext uri="{FF2B5EF4-FFF2-40B4-BE49-F238E27FC236}">
                <a16:creationId xmlns:a16="http://schemas.microsoft.com/office/drawing/2014/main" id="{8555204E-4D19-49FF-9AEF-CD8401B7473D}"/>
              </a:ext>
            </a:extLst>
          </p:cNvPr>
          <p:cNvSpPr/>
          <p:nvPr/>
        </p:nvSpPr>
        <p:spPr>
          <a:xfrm>
            <a:off x="1539748" y="6208776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00C32DE-1C53-426E-A597-2F28D63F0FDF}"/>
              </a:ext>
            </a:extLst>
          </p:cNvPr>
          <p:cNvSpPr txBox="1"/>
          <p:nvPr/>
        </p:nvSpPr>
        <p:spPr>
          <a:xfrm>
            <a:off x="1658620" y="6167628"/>
            <a:ext cx="126047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Stakeholder·시나리오 요구</a:t>
            </a:r>
          </a:p>
        </p:txBody>
      </p:sp>
      <p:sp>
        <p:nvSpPr>
          <p:cNvPr id="133" name="Oval 75">
            <a:extLst>
              <a:ext uri="{FF2B5EF4-FFF2-40B4-BE49-F238E27FC236}">
                <a16:creationId xmlns:a16="http://schemas.microsoft.com/office/drawing/2014/main" id="{B48B2B8C-8836-42E0-A388-9BC406125A0F}"/>
              </a:ext>
            </a:extLst>
          </p:cNvPr>
          <p:cNvSpPr/>
          <p:nvPr/>
        </p:nvSpPr>
        <p:spPr>
          <a:xfrm>
            <a:off x="2967225" y="6208776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4AFFDCD-3CDC-4F46-90E7-52DCEB851414}"/>
              </a:ext>
            </a:extLst>
          </p:cNvPr>
          <p:cNvSpPr txBox="1"/>
          <p:nvPr/>
        </p:nvSpPr>
        <p:spPr>
          <a:xfrm>
            <a:off x="3086097" y="6167628"/>
            <a:ext cx="1727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dirty="0" err="1">
                <a:solidFill>
                  <a:srgbClr val="404040"/>
                </a:solidFill>
                <a:latin typeface="맑은 고딕"/>
                <a:ea typeface="맑은 고딕"/>
              </a:rPr>
              <a:t>참고</a:t>
            </a:r>
            <a:r>
              <a:rPr sz="700" b="0" dirty="0">
                <a:solidFill>
                  <a:srgbClr val="404040"/>
                </a:solidFill>
                <a:latin typeface="맑은 고딕"/>
                <a:ea typeface="맑은 고딕"/>
              </a:rPr>
              <a:t>(</a:t>
            </a:r>
            <a:r>
              <a:rPr sz="700" b="0" dirty="0" err="1">
                <a:solidFill>
                  <a:srgbClr val="404040"/>
                </a:solidFill>
                <a:latin typeface="맑은 고딕"/>
                <a:ea typeface="맑은 고딕"/>
              </a:rPr>
              <a:t>극단</a:t>
            </a:r>
            <a:r>
              <a:rPr sz="7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00" b="0" dirty="0" err="1">
                <a:solidFill>
                  <a:srgbClr val="404040"/>
                </a:solidFill>
                <a:latin typeface="맑은 고딕"/>
                <a:ea typeface="맑은 고딕"/>
              </a:rPr>
              <a:t>조건·압축</a:t>
            </a:r>
            <a:r>
              <a:rPr sz="7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00" b="0" dirty="0" err="1">
                <a:solidFill>
                  <a:srgbClr val="404040"/>
                </a:solidFill>
                <a:latin typeface="맑은 고딕"/>
                <a:ea typeface="맑은 고딕"/>
              </a:rPr>
              <a:t>혼합</a:t>
            </a:r>
            <a:r>
              <a:rPr sz="700" b="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sz="700" b="0" dirty="0" err="1">
                <a:solidFill>
                  <a:srgbClr val="404040"/>
                </a:solidFill>
                <a:latin typeface="맑은 고딕"/>
                <a:ea typeface="맑은 고딕"/>
              </a:rPr>
              <a:t>앵커</a:t>
            </a:r>
            <a:r>
              <a:rPr sz="7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00" b="0" dirty="0" err="1">
                <a:solidFill>
                  <a:srgbClr val="404040"/>
                </a:solidFill>
                <a:latin typeface="맑은 고딕"/>
                <a:ea typeface="맑은 고딕"/>
              </a:rPr>
              <a:t>제외</a:t>
            </a:r>
            <a:r>
              <a:rPr sz="700" b="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69" name="subtitle"/>
          <p:cNvSpPr txBox="1"/>
          <p:nvPr/>
        </p:nvSpPr>
        <p:spPr>
          <a:xfrm>
            <a:off x="10267427" y="212547"/>
            <a:ext cx="1162573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품질 요구사항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sp>
        <p:nvSpPr>
          <p:cNvPr id="70" name="실행 단추: 뒤로 또는 이전 69">
            <a:hlinkClick r:id="" action="ppaction://hlinkshowjump?jump=lastslideviewed" highlightClick="1"/>
          </p:cNvPr>
          <p:cNvSpPr/>
          <p:nvPr/>
        </p:nvSpPr>
        <p:spPr>
          <a:xfrm>
            <a:off x="11365523" y="575524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subtitle"/>
          <p:cNvSpPr txBox="1"/>
          <p:nvPr/>
        </p:nvSpPr>
        <p:spPr>
          <a:xfrm>
            <a:off x="10267427" y="611536"/>
            <a:ext cx="1162573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이전 페이지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18258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변경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용이성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-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평가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174" name="subtitle">
            <a:extLst>
              <a:ext uri="{FF2B5EF4-FFF2-40B4-BE49-F238E27FC236}">
                <a16:creationId xmlns:a16="http://schemas.microsoft.com/office/drawing/2014/main" id="{96FE6872-F9E7-4752-A040-5DCE3EE8BACF}"/>
              </a:ext>
            </a:extLst>
          </p:cNvPr>
          <p:cNvSpPr txBox="1"/>
          <p:nvPr/>
        </p:nvSpPr>
        <p:spPr>
          <a:xfrm>
            <a:off x="365760" y="676656"/>
            <a:ext cx="9613127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변경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module 수</a:t>
            </a: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 (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개발 공수 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M/M 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참고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endParaRPr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75" name="rule">
            <a:extLst>
              <a:ext uri="{FF2B5EF4-FFF2-40B4-BE49-F238E27FC236}">
                <a16:creationId xmlns:a16="http://schemas.microsoft.com/office/drawing/2014/main" id="{8B004F8A-F37F-442E-8003-EC3499BB95E3}"/>
              </a:ext>
            </a:extLst>
          </p:cNvPr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src">
            <a:extLst>
              <a:ext uri="{FF2B5EF4-FFF2-40B4-BE49-F238E27FC236}">
                <a16:creationId xmlns:a16="http://schemas.microsoft.com/office/drawing/2014/main" id="{3981A347-39E6-4B8E-9D4A-0604100B9CAA}"/>
              </a:ext>
            </a:extLst>
          </p:cNvPr>
          <p:cNvSpPr txBox="1"/>
          <p:nvPr/>
        </p:nvSpPr>
        <p:spPr>
          <a:xfrm>
            <a:off x="365760" y="6478233"/>
            <a:ext cx="11430000" cy="18928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출처: [1] SWE-bench (arXiv 2310.06770), [2] vLLM 저장소 kv_connector/v1 직접 계수(최상위 파일 192~1,190 LOC, 중앙값 356), [3] Brooks, The Mythical Man-Month 계열의 "하루 약 10 LOC“, Poul-Henning Kamp (Varnish), “Going fast slowly” [4] Ferreira et al., Characterizing Commits in Open-Source Software, SBQS 2022 (Java 24개 프로젝트, 1M commits). file 수는 module 수의 상한 근사(module ≥ 1 file)</a:t>
            </a:r>
            <a:endParaRPr sz="75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77" name="metric">
            <a:extLst>
              <a:ext uri="{FF2B5EF4-FFF2-40B4-BE49-F238E27FC236}">
                <a16:creationId xmlns:a16="http://schemas.microsoft.com/office/drawing/2014/main" id="{9FF12BD0-B85D-4FB1-A847-42958CB3CAFD}"/>
              </a:ext>
            </a:extLst>
          </p:cNvPr>
          <p:cNvSpPr txBox="1"/>
          <p:nvPr/>
        </p:nvSpPr>
        <p:spPr>
          <a:xfrm>
            <a:off x="365760" y="1069848"/>
            <a:ext cx="11430000" cy="49571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[변경 시나리오 4종, KV 캐시 관리 범위] 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S1 새 tier·data class, S2 정책 교체, S3 vLLM upstream 갱신(block pool, kv_offload, CUDA graph, async scheduling), S4 새 event·신호. </a:t>
            </a:r>
            <a:endParaRPr lang="en-US" sz="95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네 변경은 각각 단독 발생하므로 시나리오별로 판정, 4종 중 최악값(최대 module 수)에 별 기준 적용(평균 안 씀). module = 설계 component 단위(한 줄이라도 바꾸면 1개).</a:t>
            </a:r>
          </a:p>
        </p:txBody>
      </p:sp>
      <p:graphicFrame>
        <p:nvGraphicFramePr>
          <p:cNvPr id="178" name="tbl">
            <a:extLst>
              <a:ext uri="{FF2B5EF4-FFF2-40B4-BE49-F238E27FC236}">
                <a16:creationId xmlns:a16="http://schemas.microsoft.com/office/drawing/2014/main" id="{9639DBEA-9428-4CB8-8D3E-47A1193E7894}"/>
              </a:ext>
            </a:extLst>
          </p:cNvPr>
          <p:cNvGraphicFramePr>
            <a:graphicFrameLocks noGrp="1"/>
          </p:cNvGraphicFramePr>
          <p:nvPr/>
        </p:nvGraphicFramePr>
        <p:xfrm>
          <a:off x="365760" y="1668780"/>
          <a:ext cx="11457432" cy="229152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변경 module 수 (max)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환산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개발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공수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(M/M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일상 변경 규모(중앙값): OSS Java 24개 프로젝트 files/commit 중앙값 1~3 (다수 2)</a:t>
                      </a:r>
                      <a:endParaRPr lang="en-US" sz="9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참고: SWE-bench 평균 패치 1.7 file(2개 이하)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Ferreira et al. [4],</a:t>
                      </a:r>
                      <a:endParaRPr lang="en-US"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SWE-bench (arXiv 2310.06770)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★2와 ★3의 중점 (정수 module 수 기준)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900" b="1" dirty="0"/>
                        <a:t>★1과 ★3의 산술 중점 (기존 별 규칙: ★★ = ★과 ★★★의 중점)</a:t>
                      </a:r>
                      <a:endParaRPr sz="9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1.0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★1과 ★2의 중점. 참고: commit의 75%가 5 file 이하 (24개 프로젝트 Q3의 중앙값)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Ferreira et al. [4]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1.2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900" b="1" dirty="0"/>
                        <a:t>최소 충족선: 일상 변경의 80%가 이 규모 이하.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900" b="1" dirty="0"/>
                        <a:t>OSS Java 24개 프로젝트 files/commit 80th percentile의 중앙값 6 (범위 2~15).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Ferreira et al. [4]</a:t>
                      </a:r>
                      <a:endParaRPr lang="en-US"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(SBQS 2022, Table 4)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7 또는 major interface 변경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 1.2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7개 이상이면 일상 변경 상위 20%에 해당하는 큰 변경 규모: 확장 지점이 없는 구조로 판단.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9" name="formula">
            <a:extLst>
              <a:ext uri="{FF2B5EF4-FFF2-40B4-BE49-F238E27FC236}">
                <a16:creationId xmlns:a16="http://schemas.microsoft.com/office/drawing/2014/main" id="{F29934DD-2034-4406-8F68-7F2300113BB2}"/>
              </a:ext>
            </a:extLst>
          </p:cNvPr>
          <p:cNvSpPr/>
          <p:nvPr/>
        </p:nvSpPr>
        <p:spPr>
          <a:xfrm>
            <a:off x="365760" y="4025263"/>
            <a:ext cx="11457432" cy="804673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module 1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개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= 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고정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3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+ 24 LOC ÷ 40 LOC/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× 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테스트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·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리뷰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overhead 2.0 = 4.2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= 0.2 MM  →  M/M = 0.2 × module 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수 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(21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/MM)</a:t>
            </a:r>
          </a:p>
          <a:p>
            <a:pPr marL="171450" marR="0" lvl="0" indent="-17145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24 LOC/module: SWE-bench 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평균 패치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32.8 line ÷ 1.7 file ≈ 19 LOC/file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을 올림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. *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SWE-bench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는 실제 문제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(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버그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구현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를 풀기 위해 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patch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를 올리는 벤치마크로 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SW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구현에 대한 참고 가능 </a:t>
            </a:r>
            <a:endParaRPr lang="en-US" altLang="ko-KR" sz="850" dirty="0">
              <a:solidFill>
                <a:srgbClr val="404040"/>
              </a:solidFill>
              <a:latin typeface="맑은 고딕"/>
              <a:ea typeface="맑은 고딕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하루 생산성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40 LOC: 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테스트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리뷰를 뺀 순 생산성 가정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참고 출처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[3])</a:t>
            </a:r>
          </a:p>
          <a:p>
            <a:pPr marL="171450" indent="-171450">
              <a:lnSpc>
                <a:spcPct val="110000"/>
              </a:lnSpc>
              <a:buFontTx/>
              <a:buChar char="-"/>
              <a:defRPr/>
            </a:pP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고정 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3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일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/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모듈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모듈 하나를 바꿀 때 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LOC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와 무관하게 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interface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파악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설계 리뷰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통합 테스트에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해당하는 공수 비용 가정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참고 출처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[3])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262CE36-B349-4F18-AEC6-11E15248016A}"/>
              </a:ext>
            </a:extLst>
          </p:cNvPr>
          <p:cNvSpPr txBox="1"/>
          <p:nvPr/>
        </p:nvSpPr>
        <p:spPr>
          <a:xfrm>
            <a:off x="365760" y="4985385"/>
            <a:ext cx="11430000" cy="164660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변경</a:t>
            </a: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 module 수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32497ED0-F4F0-4BCB-80D5-7713187A6D52}"/>
              </a:ext>
            </a:extLst>
          </p:cNvPr>
          <p:cNvSpPr/>
          <p:nvPr/>
        </p:nvSpPr>
        <p:spPr>
          <a:xfrm>
            <a:off x="8510452" y="5223129"/>
            <a:ext cx="3239588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7CED743-868C-46F4-892C-9CA6E1ECBF2C}"/>
              </a:ext>
            </a:extLst>
          </p:cNvPr>
          <p:cNvSpPr txBox="1"/>
          <p:nvPr/>
        </p:nvSpPr>
        <p:spPr>
          <a:xfrm>
            <a:off x="8510452" y="5223129"/>
            <a:ext cx="32395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587879DB-460E-4073-A655-70D20571643D}"/>
              </a:ext>
            </a:extLst>
          </p:cNvPr>
          <p:cNvSpPr/>
          <p:nvPr/>
        </p:nvSpPr>
        <p:spPr>
          <a:xfrm>
            <a:off x="6890658" y="5223129"/>
            <a:ext cx="1619794" cy="274320"/>
          </a:xfrm>
          <a:prstGeom prst="rect">
            <a:avLst/>
          </a:prstGeom>
          <a:solidFill>
            <a:srgbClr val="EDF3D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2B52C54-65AA-4215-BFEF-2E93A72C9DF0}"/>
              </a:ext>
            </a:extLst>
          </p:cNvPr>
          <p:cNvSpPr txBox="1"/>
          <p:nvPr/>
        </p:nvSpPr>
        <p:spPr>
          <a:xfrm>
            <a:off x="6890658" y="5223129"/>
            <a:ext cx="161979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★2.5</a:t>
            </a: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704A3354-9CE1-4967-8783-7F5D883C880F}"/>
              </a:ext>
            </a:extLst>
          </p:cNvPr>
          <p:cNvSpPr/>
          <p:nvPr/>
        </p:nvSpPr>
        <p:spPr>
          <a:xfrm>
            <a:off x="5270864" y="5223129"/>
            <a:ext cx="1619794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F172043A-3788-4D17-8F26-A1975C28494A}"/>
              </a:ext>
            </a:extLst>
          </p:cNvPr>
          <p:cNvSpPr txBox="1"/>
          <p:nvPr/>
        </p:nvSpPr>
        <p:spPr>
          <a:xfrm>
            <a:off x="5270864" y="5223129"/>
            <a:ext cx="161979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189" name="Rectangle 24">
            <a:extLst>
              <a:ext uri="{FF2B5EF4-FFF2-40B4-BE49-F238E27FC236}">
                <a16:creationId xmlns:a16="http://schemas.microsoft.com/office/drawing/2014/main" id="{9AB53739-9FE5-4E90-9D24-C873FC2AA1EE}"/>
              </a:ext>
            </a:extLst>
          </p:cNvPr>
          <p:cNvSpPr/>
          <p:nvPr/>
        </p:nvSpPr>
        <p:spPr>
          <a:xfrm>
            <a:off x="3651070" y="5223129"/>
            <a:ext cx="1619794" cy="274320"/>
          </a:xfrm>
          <a:prstGeom prst="rect">
            <a:avLst/>
          </a:prstGeom>
          <a:solidFill>
            <a:srgbClr val="FDE9D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BFA7BC4-04A3-48B4-A609-7890651E9C85}"/>
              </a:ext>
            </a:extLst>
          </p:cNvPr>
          <p:cNvSpPr txBox="1"/>
          <p:nvPr/>
        </p:nvSpPr>
        <p:spPr>
          <a:xfrm>
            <a:off x="3651070" y="5223129"/>
            <a:ext cx="161979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★1.5</a:t>
            </a:r>
          </a:p>
        </p:txBody>
      </p:sp>
      <p:sp>
        <p:nvSpPr>
          <p:cNvPr id="191" name="Rectangle 26">
            <a:extLst>
              <a:ext uri="{FF2B5EF4-FFF2-40B4-BE49-F238E27FC236}">
                <a16:creationId xmlns:a16="http://schemas.microsoft.com/office/drawing/2014/main" id="{C42D9C0F-B6E4-423D-9B9D-91C630D169E2}"/>
              </a:ext>
            </a:extLst>
          </p:cNvPr>
          <p:cNvSpPr/>
          <p:nvPr/>
        </p:nvSpPr>
        <p:spPr>
          <a:xfrm>
            <a:off x="2031276" y="5223129"/>
            <a:ext cx="1619794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1F5EB386-E19B-4202-B2E9-57CF33760348}"/>
              </a:ext>
            </a:extLst>
          </p:cNvPr>
          <p:cNvSpPr txBox="1"/>
          <p:nvPr/>
        </p:nvSpPr>
        <p:spPr>
          <a:xfrm>
            <a:off x="2031276" y="5223129"/>
            <a:ext cx="161979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193" name="Rectangle 28">
            <a:extLst>
              <a:ext uri="{FF2B5EF4-FFF2-40B4-BE49-F238E27FC236}">
                <a16:creationId xmlns:a16="http://schemas.microsoft.com/office/drawing/2014/main" id="{A15FB515-E1B7-4D6B-AD06-745CCF903C63}"/>
              </a:ext>
            </a:extLst>
          </p:cNvPr>
          <p:cNvSpPr/>
          <p:nvPr/>
        </p:nvSpPr>
        <p:spPr>
          <a:xfrm>
            <a:off x="411482" y="5223129"/>
            <a:ext cx="1619794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717756F-8A95-4DFD-B0AE-1204EC0EF4AF}"/>
              </a:ext>
            </a:extLst>
          </p:cNvPr>
          <p:cNvSpPr txBox="1"/>
          <p:nvPr/>
        </p:nvSpPr>
        <p:spPr>
          <a:xfrm>
            <a:off x="411482" y="5223129"/>
            <a:ext cx="161979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9FE62CD-E4F0-4ECA-B36E-D7772FB46DD6}"/>
              </a:ext>
            </a:extLst>
          </p:cNvPr>
          <p:cNvSpPr txBox="1"/>
          <p:nvPr/>
        </p:nvSpPr>
        <p:spPr>
          <a:xfrm>
            <a:off x="11430000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3DE852E4-7793-4D50-B212-1FF013856054}"/>
              </a:ext>
            </a:extLst>
          </p:cNvPr>
          <p:cNvSpPr txBox="1"/>
          <p:nvPr/>
        </p:nvSpPr>
        <p:spPr>
          <a:xfrm>
            <a:off x="9810205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33C6A71-83EB-45B7-9331-C5528D998A9A}"/>
              </a:ext>
            </a:extLst>
          </p:cNvPr>
          <p:cNvSpPr txBox="1"/>
          <p:nvPr/>
        </p:nvSpPr>
        <p:spPr>
          <a:xfrm>
            <a:off x="8190411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A512C27A-5EC7-405B-A33E-580D537C8395}"/>
              </a:ext>
            </a:extLst>
          </p:cNvPr>
          <p:cNvSpPr txBox="1"/>
          <p:nvPr/>
        </p:nvSpPr>
        <p:spPr>
          <a:xfrm>
            <a:off x="6570617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A2859D76-37B4-4E4A-B508-22B1546E2A37}"/>
              </a:ext>
            </a:extLst>
          </p:cNvPr>
          <p:cNvSpPr txBox="1"/>
          <p:nvPr/>
        </p:nvSpPr>
        <p:spPr>
          <a:xfrm>
            <a:off x="4950822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7183B600-5CA8-4E77-8645-FE22BBAFFAFB}"/>
              </a:ext>
            </a:extLst>
          </p:cNvPr>
          <p:cNvSpPr txBox="1"/>
          <p:nvPr/>
        </p:nvSpPr>
        <p:spPr>
          <a:xfrm>
            <a:off x="3331028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79F3326-23F0-4B98-B3DB-586918148F13}"/>
              </a:ext>
            </a:extLst>
          </p:cNvPr>
          <p:cNvSpPr txBox="1"/>
          <p:nvPr/>
        </p:nvSpPr>
        <p:spPr>
          <a:xfrm>
            <a:off x="1711234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CA126443-3C97-4E26-9660-5E0D5C1DF432}"/>
              </a:ext>
            </a:extLst>
          </p:cNvPr>
          <p:cNvSpPr txBox="1"/>
          <p:nvPr/>
        </p:nvSpPr>
        <p:spPr>
          <a:xfrm>
            <a:off x="91440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7</a:t>
            </a:r>
          </a:p>
        </p:txBody>
      </p:sp>
      <p:cxnSp>
        <p:nvCxnSpPr>
          <p:cNvPr id="203" name="Connector 38">
            <a:extLst>
              <a:ext uri="{FF2B5EF4-FFF2-40B4-BE49-F238E27FC236}">
                <a16:creationId xmlns:a16="http://schemas.microsoft.com/office/drawing/2014/main" id="{BEA81FFB-C751-40A9-9E56-6B4208EDE892}"/>
              </a:ext>
            </a:extLst>
          </p:cNvPr>
          <p:cNvCxnSpPr/>
          <p:nvPr/>
        </p:nvCxnSpPr>
        <p:spPr>
          <a:xfrm>
            <a:off x="8510452" y="5634609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39">
            <a:extLst>
              <a:ext uri="{FF2B5EF4-FFF2-40B4-BE49-F238E27FC236}">
                <a16:creationId xmlns:a16="http://schemas.microsoft.com/office/drawing/2014/main" id="{FF385D5C-49BC-42A1-80F3-91EF3E3ECEB8}"/>
              </a:ext>
            </a:extLst>
          </p:cNvPr>
          <p:cNvCxnSpPr/>
          <p:nvPr/>
        </p:nvCxnSpPr>
        <p:spPr>
          <a:xfrm>
            <a:off x="6890658" y="5634609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40">
            <a:extLst>
              <a:ext uri="{FF2B5EF4-FFF2-40B4-BE49-F238E27FC236}">
                <a16:creationId xmlns:a16="http://schemas.microsoft.com/office/drawing/2014/main" id="{7019DA8E-10E6-43C8-9FC7-7C71414CE9AB}"/>
              </a:ext>
            </a:extLst>
          </p:cNvPr>
          <p:cNvCxnSpPr/>
          <p:nvPr/>
        </p:nvCxnSpPr>
        <p:spPr>
          <a:xfrm>
            <a:off x="5270864" y="5634609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41">
            <a:extLst>
              <a:ext uri="{FF2B5EF4-FFF2-40B4-BE49-F238E27FC236}">
                <a16:creationId xmlns:a16="http://schemas.microsoft.com/office/drawing/2014/main" id="{CE3E01AA-BCCE-47A6-B5BA-0A0A13FA6FE6}"/>
              </a:ext>
            </a:extLst>
          </p:cNvPr>
          <p:cNvCxnSpPr/>
          <p:nvPr/>
        </p:nvCxnSpPr>
        <p:spPr>
          <a:xfrm>
            <a:off x="3651070" y="5634609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42">
            <a:extLst>
              <a:ext uri="{FF2B5EF4-FFF2-40B4-BE49-F238E27FC236}">
                <a16:creationId xmlns:a16="http://schemas.microsoft.com/office/drawing/2014/main" id="{61138C0E-2DC6-4373-AD83-51961EB5AD0B}"/>
              </a:ext>
            </a:extLst>
          </p:cNvPr>
          <p:cNvCxnSpPr/>
          <p:nvPr/>
        </p:nvCxnSpPr>
        <p:spPr>
          <a:xfrm>
            <a:off x="2031276" y="5634609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Oval 43">
            <a:extLst>
              <a:ext uri="{FF2B5EF4-FFF2-40B4-BE49-F238E27FC236}">
                <a16:creationId xmlns:a16="http://schemas.microsoft.com/office/drawing/2014/main" id="{D9927751-CCF9-4469-AA54-79231E62C0F9}"/>
              </a:ext>
            </a:extLst>
          </p:cNvPr>
          <p:cNvSpPr/>
          <p:nvPr/>
        </p:nvSpPr>
        <p:spPr>
          <a:xfrm>
            <a:off x="8946097" y="5694045"/>
            <a:ext cx="100584" cy="100584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29402C03-2F59-4A86-9265-19A3A195FC89}"/>
              </a:ext>
            </a:extLst>
          </p:cNvPr>
          <p:cNvSpPr txBox="1"/>
          <p:nvPr/>
        </p:nvSpPr>
        <p:spPr>
          <a:xfrm>
            <a:off x="5988013" y="5652897"/>
            <a:ext cx="29352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SWE-bench 평균 패치 1.7 file (★3 경계 2 module ≈ 0.4 MM)</a:t>
            </a:r>
          </a:p>
        </p:txBody>
      </p:sp>
      <p:sp>
        <p:nvSpPr>
          <p:cNvPr id="210" name="Isosceles Triangle 45">
            <a:extLst>
              <a:ext uri="{FF2B5EF4-FFF2-40B4-BE49-F238E27FC236}">
                <a16:creationId xmlns:a16="http://schemas.microsoft.com/office/drawing/2014/main" id="{E38519E5-B38D-4161-9565-459F3D3B8E3A}"/>
              </a:ext>
            </a:extLst>
          </p:cNvPr>
          <p:cNvSpPr/>
          <p:nvPr/>
        </p:nvSpPr>
        <p:spPr>
          <a:xfrm>
            <a:off x="5211428" y="5872353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D0BC4D31-A518-425A-80C3-F5F8885DE7D3}"/>
              </a:ext>
            </a:extLst>
          </p:cNvPr>
          <p:cNvSpPr txBox="1"/>
          <p:nvPr/>
        </p:nvSpPr>
        <p:spPr>
          <a:xfrm>
            <a:off x="5344016" y="5835777"/>
            <a:ext cx="25000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★2 경계 4 module ≈ 0.8 MM · ★1과 ★3의 중점</a:t>
            </a:r>
          </a:p>
        </p:txBody>
      </p:sp>
      <p:sp>
        <p:nvSpPr>
          <p:cNvPr id="212" name="Diamond 47">
            <a:extLst>
              <a:ext uri="{FF2B5EF4-FFF2-40B4-BE49-F238E27FC236}">
                <a16:creationId xmlns:a16="http://schemas.microsoft.com/office/drawing/2014/main" id="{161FA3B8-5E6C-4D94-9086-2C71A5169386}"/>
              </a:ext>
            </a:extLst>
          </p:cNvPr>
          <p:cNvSpPr/>
          <p:nvPr/>
        </p:nvSpPr>
        <p:spPr>
          <a:xfrm>
            <a:off x="1971840" y="6050661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6DD7BAE-D2A8-4023-8A24-AFD27BCCD2BD}"/>
              </a:ext>
            </a:extLst>
          </p:cNvPr>
          <p:cNvSpPr txBox="1"/>
          <p:nvPr/>
        </p:nvSpPr>
        <p:spPr>
          <a:xfrm>
            <a:off x="2104428" y="6018657"/>
            <a:ext cx="36000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★1 경계 6 module ≈ 1.2 MM · 일상 변경의 80% (OSS commit 80th %ile 중앙값)</a:t>
            </a:r>
          </a:p>
        </p:txBody>
      </p:sp>
      <p:sp>
        <p:nvSpPr>
          <p:cNvPr id="214" name="Oval 49">
            <a:extLst>
              <a:ext uri="{FF2B5EF4-FFF2-40B4-BE49-F238E27FC236}">
                <a16:creationId xmlns:a16="http://schemas.microsoft.com/office/drawing/2014/main" id="{5EA7809C-DB2D-412C-8A34-5AC64E2CE768}"/>
              </a:ext>
            </a:extLst>
          </p:cNvPr>
          <p:cNvSpPr/>
          <p:nvPr/>
        </p:nvSpPr>
        <p:spPr>
          <a:xfrm>
            <a:off x="384048" y="6288405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CD48204-B247-420C-B505-B7BCD699432F}"/>
              </a:ext>
            </a:extLst>
          </p:cNvPr>
          <p:cNvSpPr txBox="1"/>
          <p:nvPr/>
        </p:nvSpPr>
        <p:spPr>
          <a:xfrm>
            <a:off x="502920" y="6247257"/>
            <a:ext cx="9271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보고값(up to)</a:t>
            </a:r>
          </a:p>
        </p:txBody>
      </p:sp>
      <p:sp>
        <p:nvSpPr>
          <p:cNvPr id="216" name="Diamond 51">
            <a:extLst>
              <a:ext uri="{FF2B5EF4-FFF2-40B4-BE49-F238E27FC236}">
                <a16:creationId xmlns:a16="http://schemas.microsoft.com/office/drawing/2014/main" id="{09417F8E-EA52-4BE8-9005-6EFD37EF0523}"/>
              </a:ext>
            </a:extLst>
          </p:cNvPr>
          <p:cNvSpPr/>
          <p:nvPr/>
        </p:nvSpPr>
        <p:spPr>
          <a:xfrm>
            <a:off x="1539748" y="6288405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91672559-0068-4769-8A2C-7C3F202C1120}"/>
              </a:ext>
            </a:extLst>
          </p:cNvPr>
          <p:cNvSpPr txBox="1"/>
          <p:nvPr/>
        </p:nvSpPr>
        <p:spPr>
          <a:xfrm>
            <a:off x="1658620" y="6247257"/>
            <a:ext cx="126047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Stakeholder·시나리오 요구</a:t>
            </a:r>
          </a:p>
        </p:txBody>
      </p:sp>
      <p:sp>
        <p:nvSpPr>
          <p:cNvPr id="218" name="Isosceles Triangle 53">
            <a:extLst>
              <a:ext uri="{FF2B5EF4-FFF2-40B4-BE49-F238E27FC236}">
                <a16:creationId xmlns:a16="http://schemas.microsoft.com/office/drawing/2014/main" id="{E1D18DB0-7933-4CF8-A75A-53FCA2129A2A}"/>
              </a:ext>
            </a:extLst>
          </p:cNvPr>
          <p:cNvSpPr/>
          <p:nvPr/>
        </p:nvSpPr>
        <p:spPr>
          <a:xfrm>
            <a:off x="3028823" y="6288405"/>
            <a:ext cx="91440" cy="82296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DA8CDC5B-01C0-43C1-9CB8-5274CE7EC970}"/>
              </a:ext>
            </a:extLst>
          </p:cNvPr>
          <p:cNvSpPr txBox="1"/>
          <p:nvPr/>
        </p:nvSpPr>
        <p:spPr>
          <a:xfrm>
            <a:off x="3147695" y="6247257"/>
            <a:ext cx="49593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계산·정책</a:t>
            </a:r>
          </a:p>
        </p:txBody>
      </p:sp>
      <p:sp>
        <p:nvSpPr>
          <p:cNvPr id="220" name="Oval 55">
            <a:extLst>
              <a:ext uri="{FF2B5EF4-FFF2-40B4-BE49-F238E27FC236}">
                <a16:creationId xmlns:a16="http://schemas.microsoft.com/office/drawing/2014/main" id="{0D68BF76-CB3C-462E-B2A6-7002B3FD43CC}"/>
              </a:ext>
            </a:extLst>
          </p:cNvPr>
          <p:cNvSpPr/>
          <p:nvPr/>
        </p:nvSpPr>
        <p:spPr>
          <a:xfrm>
            <a:off x="3753358" y="6288405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CC7BBA26-4092-453F-9A3A-5C8D222AC65F}"/>
              </a:ext>
            </a:extLst>
          </p:cNvPr>
          <p:cNvSpPr txBox="1"/>
          <p:nvPr/>
        </p:nvSpPr>
        <p:spPr>
          <a:xfrm>
            <a:off x="3872230" y="6247257"/>
            <a:ext cx="1727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참고(극단 조건·압축 혼합, 앵커 제외)</a:t>
            </a:r>
          </a:p>
        </p:txBody>
      </p:sp>
      <p:sp>
        <p:nvSpPr>
          <p:cNvPr id="50" name="실행 단추: 뒤로 또는 이전 49">
            <a:hlinkClick r:id="rId3" action="ppaction://hlinksldjump" highlightClick="1"/>
          </p:cNvPr>
          <p:cNvSpPr/>
          <p:nvPr/>
        </p:nvSpPr>
        <p:spPr>
          <a:xfrm>
            <a:off x="11365523" y="17653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ubtitle"/>
          <p:cNvSpPr txBox="1"/>
          <p:nvPr/>
        </p:nvSpPr>
        <p:spPr>
          <a:xfrm>
            <a:off x="10267427" y="212547"/>
            <a:ext cx="1162573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품질 요구사항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sp>
        <p:nvSpPr>
          <p:cNvPr id="54" name="실행 단추: 뒤로 또는 이전 53">
            <a:hlinkClick r:id="" action="ppaction://hlinkshowjump?jump=lastslideviewed" highlightClick="1"/>
          </p:cNvPr>
          <p:cNvSpPr/>
          <p:nvPr/>
        </p:nvSpPr>
        <p:spPr>
          <a:xfrm>
            <a:off x="11365523" y="575524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subtitle"/>
          <p:cNvSpPr txBox="1"/>
          <p:nvPr/>
        </p:nvSpPr>
        <p:spPr>
          <a:xfrm>
            <a:off x="10267427" y="611536"/>
            <a:ext cx="1162573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lang="ko-KR" altLang="en-US" sz="1100" dirty="0">
                <a:solidFill>
                  <a:srgbClr val="000000"/>
                </a:solidFill>
                <a:latin typeface="맑은 고딕"/>
                <a:ea typeface="맑은 고딕"/>
              </a:rPr>
              <a:t>이전 페이지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22340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1742</Words>
  <Application>Microsoft Office PowerPoint</Application>
  <PresentationFormat>와이드스크린</PresentationFormat>
  <Paragraphs>212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품질 요구사항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Myeong Woo Kim</dc:creator>
  <cp:lastModifiedBy>Myeong Woo Kim</cp:lastModifiedBy>
  <cp:revision>2</cp:revision>
  <dcterms:created xsi:type="dcterms:W3CDTF">2026-10-28T16:34:14Z</dcterms:created>
  <dcterms:modified xsi:type="dcterms:W3CDTF">2026-10-28T16:40:08Z</dcterms:modified>
</cp:coreProperties>
</file>
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16736"/>
            <a:ext cx="11064240" cy="4837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0"/>
            <a:ext cx="11064240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5400" b="1" i="0">
                <a:solidFill>
                  <a:srgbClr val="000000"/>
                </a:solidFill>
                <a:latin typeface="맑은 고딕"/>
              </a:rPr>
              <a:t>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0"/>
            <a:ext cx="11064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맑은 고딕"/>
              </a:rPr>
              <a:t>이기종 메모리 LLM 서빙 스케줄링 런타임 (검수용 초안)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절차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640080"/>
            <a:ext cx="11155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맑은 고딕"/>
              </a:rPr>
              <a:t>DP1~DP4 설계·평가 문서와 시나리오에서 FR / QA / C를 추출하고, 품질 시나리오의 정량 값은 통합 단계에서 한 번에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① 요구사항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시나리오 SC-1~9 (agent, RAG, LoRA, MoE, PIM, multi-node, P/D, 혼합)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DP1~DP4 설계·평가 문서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사용자 확정 전제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과제 범위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27248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10128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② 요구사항 도출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Use Case UC-1~9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기능 요구사항 FR (기본 기능)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속성 QA (ISO/IEC 25010:2023 기반)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제약사항 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25896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08776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③ 요구사항 정제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QA별 품질 시나리오(6요소)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같은 QA = 같은 조건으로 통합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정량 metric은 공란으로 유지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검수 ← 현재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4544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107424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④ 아키텍처 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FR/QA/C 중 설계를 좌우하는 항목 선정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 설계 후보 비교 기준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시나리오 freeze 후 재평가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931920"/>
            <a:ext cx="111556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Architect로서의 역할 (현재 진행)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DP1~DP4 요구사항 추출 및 일관성 점검 (QA 정의·기준 환경·Baseline 차이 식별)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QA 후보 선정 (ISO 25010:2023 하위 특성 기준)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같은 QA 동일 조건 통합, 임계값 도출 근거 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39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freeze 후 DP별 평가를 공통 품질 시나리오로 재수행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577840"/>
            <a:ext cx="11338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 : Functional Requirement   * QA : Quality Attribute   * C : Constraint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※ DP5는 없고 DP6(CXL shared-memory KV consistency)은 이번 범위에서 제외한다. 각 DP의 기존 평가 결과와 임계값은 보류한다.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주요 기능 요구사항 및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기능 요구사항 (핵심 10건, 전체 25건은 다음 장)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5156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3" y="105156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1069848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05156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이기종 메모리 데이터 저장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1581912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158191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60020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1581912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메모리 간 데이터 복사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" y="211226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3" y="211226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" y="213055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211226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64261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3" y="264261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266090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264261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KV cache offload와 재사용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" y="3172968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172968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191256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3172968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LoRA adapter 서빙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" y="370332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3" y="370332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72160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" y="370332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" y="4233671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3" y="423367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0936" y="425195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4233671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MoE 모델 서빙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" y="476402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476402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936" y="478231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9576" y="476402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Prefill/Decode disaggregation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" y="529437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3" y="529437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0936" y="531266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9576" y="529437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연산 offload와 GPU fallback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" y="5824727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3" y="5824727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" y="5843015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9576" y="5824727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제약사항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80" y="10515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93408" y="10515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20840" y="10698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10515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메모리(HBF, ScHBM 등)는 인터페이스를 가정하고 스펙에 따라 성능을 시뮬레이션한다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7830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93408" y="17830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20840" y="18013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7830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시뮬레이션하는 device runtime은 정상 동작하며 신뢰성이 보장된다고 가정한다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251460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251460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20840" y="253288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251460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runtime의 오버헤드는 무시한다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24612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93408" y="324612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20840" y="326440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60" y="324612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실장 환경이 없는 규모 이상으로의 시스템 확장(노드 증가)은 시뮬레이션 기반으로 평가한다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3977639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93408" y="3977639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20840" y="3995927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77639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추론 엔진은 오픈소스 서빙 프레임워크 vLLM 기반에서 구현한다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47091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93408" y="47091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20840" y="47274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47091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모델은 Transformer 기반 모델이다. 상태 기반 어텐션(state-based attention)은 제외한다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54406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93408" y="54406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720840" y="54589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54406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워크로드는 agent 워크로드이며 RAG, LoRA, MoE를 포함한다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25건, 품질 요구사항 11건, 제약사항 7건 (합계 43건)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11704320" cy="53400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743200"/>
                <a:gridCol w="822960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 데이터 저장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외의 메모리(Host DRAM, CXL 메모리, HBF 등)에 KV cache, LoRA adapter, expert 같은 데이터를 저장하고 읽는다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간 데이터 복사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지정한 데이터를 한 메모리에서 다른 메모리로 복사하거나 이동한다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 연동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vLLM이 요청을 처리하는 흐름 안에서 동작하며, KV cache 관리 시점에 데이터 배치와 이동 기능을 호출한다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 offload와 재사용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당장 쓰지 않는 KV cache를 HBM 밖으로 내려 보관하고, 다시 필요하면 HBM으로 가져와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LoRA adapter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요청이 지정한 LoRA adapter를 적재해 응답을 생성하고, 쓰지 않는 adapter는 HBM에서 내린다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RAG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검색된 문서가 붙은 요청을 처리하고, 문서 KV를 보관했다가 같은 문서의 요청에서 다시 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모델의 expert를 여러 메모리에 나누어 두고 선택된 expert로 요청을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Prefill/Decode disaggregation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요청의 Prefill과 Decode를 서로 다른 자원에서 나누어 실행하고, Prefill의 KV를 Decode 쪽으로 전달한다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offload와 GPU fallback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메모리(PIM/PNM)가 지원하는 연산은 그 메모리에서, 지원하지 않는 연산은 GPU에서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간 KV 전송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한 서버의 KV cache를 다른 서버로 보내 상대 서버가 쓸 수 있게 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Multi-turn 세션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같은 세션의 이전 대화 내용과 KV를 유지해 후속 요청을 이어서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Prefix caching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앞부분이 같은 요청들이 이미 계산된 KV를 공유한다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Tool 호출 대기 세션 처리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agent가 tool 호출로 생성을 멈춘 세션의 KV를 보관하고, tool 결과가 오면 이어서 생성한다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25건, 품질 요구사항 11건, 제약사항 7건 (합계 43건)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11704320" cy="49560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743200"/>
                <a:gridCol w="822960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초과 요청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KV가 HBM 용량보다 큰 요청도 다른 메모리를 함께 사용해 끝까지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압축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cache를 압축된 형태로 보관하고 필요할 때 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eviction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메모리가 부족하면 정해진 기준에 따라 KV의 일부를 제거한다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재계산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제거되었거나 없는 KV를 입력 토큰으로부터 다시 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다중 서버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여러 서버가 하나의 서비스로 묶여 요청을 나누어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라우팅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들어온 요청을 처리할 서버를 선택해 그 서버로 전달한다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장치 스펙 입력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각 메모리의 대역폭, 지연, 용량 같은 스펙을 설정 값으로 받는다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용량·사용 현황 조회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각 메모리의 용량과 사용 현황을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위치 조회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데이터가 어느 메모리(서버)에 있는지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접근 이력 기록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데이터별 접근 횟수와 최근 접근 시각을 기록한다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prefetch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요청이 오기 전에 데이터를 상위 메모리로 미리 가져온다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정책 변경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이동·배치 정책을 설정으로 바꾼다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704320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560320"/>
                <a:gridCol w="8412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제약 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 성능 시뮬레이션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메모리(HBF, ScHBM 등)는 인터페이스를 가정하고 스펙에 따라 성능을 시뮬레이션한다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정상 동작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시뮬레이션하는 device runtime은 정상 동작하며 신뢰성이 보장된다고 가정한다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오버헤드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runtime의 오버헤드는 무시한다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시스템 확장 평가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실장 환경이 없는 규모 이상으로의 시스템 확장(노드 증가)은 시뮬레이션 기반으로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엔진은 오픈소스 서빙 프레임워크 vLLM 기반에서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모델은 Transformer 기반 모델이다. 상태 기반 어텐션(state-based attention)은 제외한다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워크로드는 agent 워크로드이며 RAG, LoRA, MoE를 포함한다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303520"/>
            <a:ext cx="11612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학습, 보안·테넌트 격리, 장애 복구, stale KV 무효화는 제약이 아니라 범위 밖이다 (다음 장 과제 범위 참조)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과제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65176" y="731520"/>
            <a:ext cx="56692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안 (결정 = 스케줄링)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97280"/>
            <a:ext cx="5669280" cy="3383280"/>
          </a:xfrm>
          <a:prstGeom prst="rect">
            <a:avLst/>
          </a:prstGeom>
          <a:noFill/>
          <a:ln w="19050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무엇을 · 어디에 · 언제 둘지/옮길지 정하는 결정 (placement / migration / prefetch)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연산 실행 위치 결정 (GPU vs 연산 가능 메모리, P/D 분리)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요청 배분 결정 (KV 위치 인지 서버 선택, 전송 vs 재계산)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객체 : KV, LoRA adapter, MoE expert, RAG 문서 KV, agent 세션 KV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워크로드 : agent (RAG, LoRA, MoE 포함)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정상 운영 상태의 서빙 성능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731520"/>
            <a:ext cx="5669280" cy="36576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밖 / 주어진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669280" cy="3383280"/>
          </a:xfrm>
          <a:prstGeom prst="rect">
            <a:avLst/>
          </a:prstGeom>
          <a:noFill/>
          <a:ln w="190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실행 메커니즘 : 전송, commit, driver, kernel (입력으로 취급)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device runtime 내부 기능과 신뢰성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학습/훈련, 보안·테넌트 격리, 장애 복구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문서 갱신 시 stale KV 무효화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DP6 (CXL shared-memory KV consistency)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상태 기반 어텐션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DP1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Migration 결정 (evict·promote·prefetch)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DP2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P/D 실행 위치 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DP3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KV eviction &amp; reuse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341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DP4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요청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5669280"/>
            <a:ext cx="11612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DP2(노드 안 실행 위치)와 DP4(노드 간 배분)의 경계는 별도 논의 중이다. 현재는 각 DP 문서 그대로 반영한다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기능 요구사항 분석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주요 기능의 Use Case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" y="1371600"/>
            <a:ext cx="1188720" cy="73152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서비스 사용자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(agent client)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3291840"/>
            <a:ext cx="1554480" cy="109728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시스템 개발자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(QA4 Modifiability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시나리오의 주체)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53896" y="1216152"/>
            <a:ext cx="877824" cy="52120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286000" y="100584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UC-1 Tool 대기 KV의 HBM 점유 해소·재방문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453896" y="1728216"/>
            <a:ext cx="877824" cy="914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86000" y="151790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UC-2 HBM 초과 요청 처리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53896" y="1737360"/>
            <a:ext cx="877824" cy="50292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286000" y="202996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UC-3 RAG 공유 문서 prefix 재사용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3896" y="1737360"/>
            <a:ext cx="877824" cy="101498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286000" y="254203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UC-4 LoRA 멀티 테넌트 adapter 전환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53896" y="1737360"/>
            <a:ext cx="877824" cy="152704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286000" y="3054096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UC-5 MoE expert 접근 패턴 배치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53896" y="1737360"/>
            <a:ext cx="877824" cy="20391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286000" y="356616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UC-6 연산 가능 메모리(PIM/PNM) offload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53896" y="1737360"/>
            <a:ext cx="877824" cy="2551176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286000" y="407822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UC-7 노드 간 KV 이동·서버 선택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53896" y="1737360"/>
            <a:ext cx="877824" cy="306324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286000" y="459028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UC-8 Prefill/Decode 분리 실행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53896" y="1737360"/>
            <a:ext cx="877824" cy="357530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286000" y="510235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UC-9 혼합 부하 자원 경쟁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Domain Model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52360" y="134874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52360" y="1348740"/>
            <a:ext cx="228600" cy="123443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80960" y="2583179"/>
            <a:ext cx="278892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680960" y="2583179"/>
            <a:ext cx="18288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3863339"/>
            <a:ext cx="297180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452360" y="3863339"/>
            <a:ext cx="41148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52360" y="509778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69880" y="2583179"/>
            <a:ext cx="36576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005840"/>
            <a:ext cx="210312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Request / Session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1005840"/>
            <a:ext cx="21945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 block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(ref_cnt, hash)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194560"/>
            <a:ext cx="25603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Object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KV·LoRA·Expert·RAG doc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194560"/>
            <a:ext cx="26517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Tier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HBM·Host DRAM·CXL·HBF·PIM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474720"/>
            <a:ext cx="31089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Decision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placement·migration·routing·compute 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474720"/>
            <a:ext cx="228600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Policy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P1~P5 / C1~C2 후보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754880"/>
            <a:ext cx="21031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Link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간 연결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4754880"/>
            <a:ext cx="219456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/ Node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5760720"/>
            <a:ext cx="5120640" cy="5486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Metric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Goodput·TTFT·TPOT·HBM 점유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" y="5852160"/>
            <a:ext cx="57607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UC-1~9 : doc-mk/Requirements/usecases.md (제안 상태)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[1/4]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agent의 tool 호출 대기 중 KV가 HBM을 점유하지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FR-13, FR-04, 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요청을 실패 없이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FR-14,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같은 RAG 문서 prefix 요청은 KV 위치와 무관하게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FR-06, FR-12,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수의 LoRA adapter를 서빙한다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FR-05,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MoE expert를 접근 빈도에 맞게 서로 다른 메모리에 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메모리에 연산을 맡기되 이득이 없으면 GPU 경로를 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FR-09,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고르며 전송과 재계산 중 빠른 쪽을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FR-10, FR-19, QA1, QA5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요청마다 Prefill/Decode 분리 실행 여부를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혼합 부하에서 이동 트래픽이 서빙을 잠식하지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QA7 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[2/4]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이동·복원해도 모델 출력이 바뀌지 않는다 (bit-exact)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 시점을 예측하거나 도착 즉시 KV를 HBM으로 복원한다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FR-04, FR-11,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 대상 메모리가 부족하면 쓰일 가능성이 낮은 KV부터 정리한다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FR-16, 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메모리 tier, 객체 유형, 정책을 쉽게 추가한다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FR-01, FR-20,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(n_p, n_d) 비용 모델로 P/D 실행 위치를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노드 수가 늘어도 결정 성능과 처리량이 확장된다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KV를 선택적으로 제거하되 허용 정확도 한도 안에서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FR-16, QA6 Correctness (F1)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압축 KV를 재사용하고 필요한 부분만 재계산한다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Drop과 재사용으로 HBM KV 점유를 줄인다 (DP1과 같은 정의)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[3/4]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서버별 캐시 위치를 알고 라우팅한다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OSS(llm-d) 확장과 자체 구현 중 목표 QA를 만족하는 방식을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 수가 늘어도 orchestrator 결정이 병목이 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접근 이력과 메모리 사용 현황을 기록하고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FR-21, FR-22, FR-23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요청이 오기 전에 데이터를 미리 가져온다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FR-24,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입력 분포가 바뀌면 배치를 다시 맞춰 성능을 회복한다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QA11 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전송이나 offload가 실패해도 재계산 등으로 요청을 이어간다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QA9 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이동·배치·라우팅 결정의 근거를 기록해 원인을 진단한다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QA10 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vLLM, llm-d, NIXL 등과 수정 없이 연동한다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FR-03, QA8 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[4/4]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결정이 서빙 경로(forward)를 막지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메모리는 스펙 기반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C-01, C-02, 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실장이 없는 규모의 확장은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 기반으로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C-05, 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대상은 Transformer 모델과 agent 워크로드이다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C-06, 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정책을 설정으로 바꾼다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FR-25,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SLO를 만족하는 최대 처리량 (Max SLO Goodput)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 (DP3 보조)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TTFT / TPOT (별도 지표)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Resource utilization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HBM 점유율 (모든 DP 동일 조건)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DP1·3 목표 / DP2·4 측정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새 tier·정책·객체 추가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새 tier·정책·객체 추가 용이성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노드·메모리 type 증가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노드·메모리 type 증가 시 성능 유지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176" y="589787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503" y="589787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0936" y="591616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97864" y="589787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26664" y="589787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출력 정확성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66944" y="589787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출력 bit-exact / DP3는 F1 한도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50224" y="589787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2474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5626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Co-existence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이동 트래픽 공존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이동 트래픽과 서빙의 동시 동작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Interoperability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외부 구성요소 연동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vLLM, llm-d, NIXL 무수정 연동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Fault tolerance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전송·offload 실패 대체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실패 시 재계산 등으로 처리 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Analysability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결정 근거 진단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결정 근거 기록과 원인 진단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DP4·전체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Adaptability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워크로드 변화 적응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입력 분포 변화 후 배치 재조정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[1/3]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833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(Agent 대기 KV)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[DP1·3] 출처는 agent 클라이언트이고 요청이 지속 도착한다. 환경은 tool 대기 중인 idle KV가 HBM을 점유한 정상 운영이다. 대상은 이동 결정 스케줄러이고, 응답은 idle KV를 HBM 밖으로 옮겨 다른 요청을 더 처리하는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(P/D 실행 위치)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[DP2] Prefill burst와 긴 history가 섞여 도착한다. 대상은 실행 위치 결정 모듈이고, 응답은 요청별 P/D 분리 여부와 (n_p, n_d)를 정하는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(요청 배분)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[DP4] KV 캐시가 서버별로 분산된 다중 서버에서 같은 prefix 요청이 도착한다. 대상은 orchestrator이고, 응답은 KV 위치를 보고 서버를 고르는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(재개 / 재사용)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[DP1·3·4] 환경은 KV가 HBM 밖 tier에 있고 부하가 고정된 상태이다. 같은 세션의 후속 요청 또는 같은 문서 prefix 요청이 도착하고, 응답은 KV를 찾아 복원하고 재계산을 최소화하는 것이다. 측정은 TTFT(P50,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TPOT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(다계층 attention)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[DP1·2·3] 환경은 KV 일부가 느린 tier에 있고 부하가 고정된 상태에서 decode가 진행된다. 응답은 접근 빈도가 높은 KV를 빠른 tier에 두는 것이다. 측정은 TPOT(P50,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Resource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[전체 DP, 동일 조건] 동일 workload·SLO·Baseline에서 동일 부하가 유입된다. 응답은 KV·adapter·expert를 HBM 밖에 두는 것이다. 측정은 HBM 점유율(평균, 피크)이 Baseline 대비 [        ] 이하이다 (DP1·3 목표, DP2·4 측정)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[2/3]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010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tier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메모리 tier(HBF, CXL 등) 추가를 요청한다. 대상은 정책·배치 모듈이고, 응답은 인터페이스에 맞춰 tier를 추가하는 것이다. 측정은 변경 모듈이 [        ] 개, 공수가 [        ] man-month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정책·객체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이동·라우팅 정책 또는 객체 유형을 추가한다. 응답은 서빙 경로 수정 없이 반영하는 것이다. 측정은 변경 모듈이 [        ] 개, 공수가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노드 수 증가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[DP2·4] 환경은 실장이 없는 규모를 포함한 시뮬레이션이다(C-04). 노드 수를 N에서 2N, 4N으로 늘린다. 응답은 결정이 병목이 되지 않고 처리량이 늘어나는 것이다. 측정은 Scaling Efficiency가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type 증가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(제안)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환경은 스펙 기반 시뮬레이션이다(C-01, C-04). 새 type의 메모리를 tier로 추가한다. 응답은 추가 용량을 활용하며 결정 품질을 유지하는 것이다. 측정은 Capacity scaling efficiency가 [        ] 이상, 결정 지연 증가율이 [        ] 이내, optimality gap이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출력 bit-exact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[DP1·2·4] 같은 precision에서 이동·복원·offload·재사용을 거친 요청이다. 응답은 거치지 않은 경우와 같은 출력을 내는 것이다. 측정은 출력 불일치가 [        ] 건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Drop 후 정확도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(DP3)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[DP3] 중요도 기반 Drop·압축 재사용을 적용한다. 환경은 지정 task와 dataset(미정)이다. 응답은 정확도 한도 안에서 Drop하는 것이다. 측정은 압축 전 + full recompute 대비 F1 하락이 상대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[3/3]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4690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Compatibility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 트래픽 공존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[DP1·4] 환경은 이동·복원 트래픽과 서빙 요청이 같은 링크를 동시에 쓰는 혼합 부하이다. 응답은 이동 트래픽을 제한해 서빙을 유지하는 것이다. 측정은 서빙 TTFT·TPOT 증가율이 이동 트래픽이 없을 때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Compatibility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외부 구성요소 연동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[DP4] 개발 시점에 vLLM, llm-d, NIXL 같은 외부 구성요소와 연동한다. 응답은 해당 구성요소의 소스 수정 없이 연동하는 것이다. 측정은 무수정으로 연동되는 인터페이스가 [        ] 개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Reliability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전송·offload 실패 대체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[DP2·4] KV 전송 또는 offload가 실패하거나 시간 초과한다. 응답은 재계산 등 대체 경로로 요청을 이어가는 것이다. 측정은 fallback 성공률이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Maintainability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결정 근거 진단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이동·배치·라우팅 결정이 기대와 다르게 나온다. 응답은 결정 입력과 근거 기록으로 원인을 찾는 것이다. 측정은 원인 파악 시간이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Flexibility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워크로드 변화 적응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[DP1] hot 객체(expert, adapter, 문서)가 입력 분포 변화로 바뀐다. 응답은 접근 통계를 반영해 배치를 다시 맞추는 것이다. 측정은 성능 회복 시간이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66928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* [ ] = 공란. 중요도·난이도·순위는 Claude 제안이며 소유자 확정 전이다 (H/M/L, 순위는 H/H·H/M 중심)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QA 검수 : DP별 적용 현황과 의견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61288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594360"/>
                <a:gridCol w="594360"/>
                <a:gridCol w="594360"/>
                <a:gridCol w="594360"/>
                <a:gridCol w="72237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Goodput으로 정의한다 (ISO 매핑 없이 그대로 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TTFT와 TPOT를 별도 지표로 두고, 부하를 고정해 분포를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util.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점유율로 통일한다. DP2·4는 같은 조건에서의 측정이다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DP3에 없다. 집계 방식(모듈 수, man-month) 통일이 필요하다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노드·메모리 type 증가를 시뮬레이션으로 평가한다 (C-04)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DP3만 능동 QA(F1)이다. 나머지는 bit-exact 확인이다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QA7 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이동 트래픽과 서빙의 간섭을 QA2 조건에서 함께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QA8 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DP4(OSS 확장 대 자체 구현)에서 의미가 크다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QA9 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전송 실패 대체만 다룬다. 장치 장애 복구는 범위 밖이다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QA10 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DP4는 결정 근거 기록이 FR로 있다. 공통화 여부 검토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QA11 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DP1의 hot 객체 변화 대응(expert, adapter)만 해당한다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480060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● DP 문서에서 선정(목표)   ○ 측정·확인 대상   – 해당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5120640"/>
            <a:ext cx="5760720" cy="3200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</a:rPr>
              <a:t>검수 요청 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" y="5440680"/>
            <a:ext cx="5760720" cy="109728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QA 11개가 과제 QA로 충분하고 과하지 않은가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QA7~11은 후보이므로 유지할 항목을 고른다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중요도·난이도·순위 확정 (QAW)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5120640"/>
            <a:ext cx="5760720" cy="32004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</a:rPr>
              <a:t>ISO 25010:2023 내 미채택 후보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5440680"/>
            <a:ext cx="5760720" cy="1097280"/>
          </a:xfrm>
          <a:prstGeom prst="rect">
            <a:avLst/>
          </a:prstGeom>
          <a:noFill/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Functional completeness, Functional appropriateness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Operability, Availability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Modularity, Reusability, Testability, Replaceability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아키텍처 드라이버 선정 (초안)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852160" y="1737360"/>
            <a:ext cx="2468880" cy="1371600"/>
          </a:xfrm>
          <a:prstGeom prst="roundRect">
            <a:avLst/>
          </a:prstGeom>
          <a:solidFill>
            <a:srgbClr val="DBDBDB"/>
          </a:solidFill>
          <a:ln w="254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LLM 서빙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스케줄링 런타임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6052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Quality Attributes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이기종 메모리 데이터 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3279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메모리 간 데이터 복사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5848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83279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KV cache offload와 재사용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LoRA adapter 서빙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5848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83279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MoE 모델 서빙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5848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83279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Prefill/Decode disaggregation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연산 offload와 GPU fallback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5848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383279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05156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42248" y="105156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9680" y="106984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105156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 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1527048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42248" y="1527048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69680" y="1545336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1527048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정상 동작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2002536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2248" y="2002536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869680" y="2020824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2002536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runtime 오버헤드 무시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03920" y="2478024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42248" y="2478024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869680" y="2496312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2478024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시스템 확장은 시뮬레이션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2953512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42248" y="2953512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869680" y="2971800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2600" y="2953512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기반 구현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342900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42248" y="342900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869680" y="344728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342900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Transformer 모델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3904487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42248" y="3904487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869680" y="3922775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3904487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agent 워크로드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5262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47" y="45262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0080" y="45445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88720" y="45262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6240" y="45262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568" y="45262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572000" y="45445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45262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60" y="45262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76488" y="45262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503920" y="45445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52560" y="45262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HBM 점유율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49834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47" y="49834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0080" y="50017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88720" y="49834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49834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44568" y="49834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72000" y="50017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20640" y="49834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38160" y="49834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76488" y="49834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503920" y="50017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52560" y="49834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4406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2647" y="54406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0080" y="54589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8720" y="54406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Co-existence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06240" y="54406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44568" y="54406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572000" y="54589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20640" y="54406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Interoperability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138160" y="54406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476488" y="54406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503920" y="54589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052560" y="54406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Fault tolerance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8978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2647" y="58978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" y="59161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88720" y="58978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Analysability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206240" y="589788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44568" y="589788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72000" y="591616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20640" y="589788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Adaptability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4320" y="3520440"/>
            <a:ext cx="80467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초안이다. 중요도·난이도 기입 후 드라이버를 최종 선정한다.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FR-11~25는 핵심 FR의 세부 기능이며 드라이버로 올리지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
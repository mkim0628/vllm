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96" r:id="rId2"/>
    <p:sldId id="599" r:id="rId16"/>
    <p:sldId id="600" r:id="rId17"/>
    <p:sldId id="601" r:id="rId18"/>
    <p:sldId id="602" r:id="rId19"/>
    <p:sldId id="603" r:id="rId20"/>
    <p:sldId id="604" r:id="rId21"/>
    <p:sldId id="605" r:id="rId22"/>
    <p:sldId id="606" r:id="rId23"/>
    <p:sldId id="607" r:id="rId24"/>
    <p:sldId id="608" r:id="rId25"/>
    <p:sldId id="609" r:id="rId26"/>
    <p:sldId id="610" r:id="rId27"/>
    <p:sldId id="611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28A24-9E8A-4B47-875F-D9EED600EB7C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1C6C9-EEB0-4A18-999F-FAAF151F09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618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29859-6C31-4F10-97F0-2C80C83C3B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B1C35-5EA2-48C3-90F7-67C4CB178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35AD5-6EC9-4988-B5DE-605B3D01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B2B7D-D9FC-4478-A8C5-F62DBEC98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D4812-5473-49A0-BE43-657ADDE9E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797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AE25A-7D41-49DB-A176-381A340D3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A2FB8-4EDB-41EA-88D0-0C4E7E967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A0E7A-53EA-4C35-B96F-F9915C5A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39C63-5606-4279-8687-54B90894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D0CD5C-2CD3-4763-8C6E-CFD3D42F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29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0DD435-7927-40D7-AE60-7A09A083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38967D-7F64-4033-9D35-DE7F68892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44D4DC-DE97-4708-B127-3735D41E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0096A4-7D77-43D7-9145-01C82EE0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8EAA0-04E4-4A10-AAE7-70903F95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56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CAFD25-C17C-45E2-B159-8F724346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C926FA-B357-46DE-B4A2-AE0C03718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87E06-3095-4C9C-B645-1379C4C62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F3BF97-7C96-468A-B557-B103E8314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E378EE-A2E7-4850-946A-2EDA8CB2B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2AF3EF-C8CF-4956-BE78-93766641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9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818D24-8C31-405F-B393-61562C62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8DF3D1-C50E-4B28-983C-1A509C6BA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BB516A-59F2-4451-BB59-EB717DBDB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609461-27E8-4A4E-93A4-74773B5BF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0DBB336-5ECA-4890-BF91-58614E2DAF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8BD9BB-B538-4B67-9EC9-B803673B4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4C428D-F14C-4D4F-A1DC-79B352B0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36BA4D0-5F5C-4F59-9C3B-E9419CDD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301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B17AB-8C63-48E9-98E4-D13E6755B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DA925B-B879-45AC-AEC5-815F14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716564-6B77-402F-9655-4D4B247F4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22892A-F841-47D3-B713-F0648B74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806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F63A8D-519A-4754-BD8A-A6C3902E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D7ACB4-B44A-45D9-AA29-345D66F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EC944-DB75-4BBC-B971-7E74031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837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317DD-6651-4135-AF2B-3DC34AC3C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14CCFB-20B9-4396-A76B-156B5C2F3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A79362-0697-499D-8BD6-0B5CB3EB4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CF839D-96A6-4D0C-AACA-BDB1D54D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65D782-15E1-44E4-A365-B8395290C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EEB9D0-ABD9-41E7-924E-210774E5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14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DF0F98-0571-4845-A946-4E6E6A45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F52951B-13E6-4D11-9403-6A6BA7A1F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C2EE7-72A1-40CE-8770-1CBA024324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5174D3-227A-4AD4-9FD9-96F48F54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FB07B15-11A3-4060-8774-964FB78A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656D0-F211-4821-AFA3-3EEDDAD4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186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6CC1D3-7B4B-47A1-93DE-7284E780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EB58064-E48C-4D2A-A1FC-B1E5637867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5150E4-62AD-41A8-88EB-AA5D0E157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C4EF45-1E1B-4C7F-8843-506790D4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EA5796-BB77-42BB-A566-01DD8CCD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58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54DBF1-19FA-4240-A86B-69725A4715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A61DE5-D2EF-42B7-83C2-3C7AFFCD86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B8A7CE-26E7-4DA2-B80F-DC99197E8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E3FAA-AB8E-4BC4-87AA-8AB654CC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F6BE99-774F-4CA4-B7D4-B0FF02C17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57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2" name="갈매기형 수장 21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23" name="갈매기형 수장 22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7" name="갈매기형 수장 26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899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3680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D3EAFD-0F60-4BC8-84B3-4854461AC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FF60FF-DE5F-49A6-9CE4-F8559B68D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2FC1A-FFD5-46C7-98D4-0DD11372C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297C4-C912-488D-90D2-A09CDF0E16F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CFCEF-454C-422F-A75A-E786F2999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49198-2205-40AD-B652-43AB987365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123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63880" y="1318260"/>
            <a:ext cx="11117580" cy="48387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600" b="1" dirty="0"/>
              <a:t>요구사항 (검수용 초안)</a:t>
            </a:r>
          </a:p>
        </p:txBody>
      </p:sp>
    </p:spTree>
    <p:extLst>
      <p:ext uri="{BB962C8B-B14F-4D97-AF65-F5344CB8AC3E}">
        <p14:creationId xmlns:p14="http://schemas.microsoft.com/office/powerpoint/2010/main" val="91799419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요구사항 분석 절차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0352" y="576072"/>
            <a:ext cx="111556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맑은 고딕"/>
              </a:rPr>
              <a:t>DP1~DP4 설계·평가 문서와 시나리오에서 FR / QA / C를 추출하고, 품질 시나리오의 정량 값은 통합 단계에서 한 번에 정한다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1188720"/>
            <a:ext cx="26974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① 요구사항 수집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1645920"/>
            <a:ext cx="2697480" cy="2148840"/>
          </a:xfrm>
          <a:prstGeom prst="rect">
            <a:avLst/>
          </a:prstGeom>
          <a:noFill/>
          <a:ln w="1905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시나리오 SC-1~9 (agent, long-context, RAG, LoRA, MoE, PIM, multi-node, P/D, 혼합)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DP1~DP4 설계·평가 문서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사용자 확정 전제 (GC-1~11)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과제 범위 (S-1~S-29)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27248" y="1417320"/>
            <a:ext cx="164592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3310128" y="1188720"/>
            <a:ext cx="26974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② 요구사항 도출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10128" y="1645920"/>
            <a:ext cx="2697480" cy="2148840"/>
          </a:xfrm>
          <a:prstGeom prst="rect">
            <a:avLst/>
          </a:prstGeom>
          <a:noFill/>
          <a:ln w="1905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Use Case UC-1~9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기능 요구사항 FR-1~28, FR-G1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품질 속성 QA (ISO/IEC 25010:2023 매핑)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제약사항 C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025896" y="1417320"/>
            <a:ext cx="164592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6208776" y="1188720"/>
            <a:ext cx="26974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③ 요구사항 정제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08776" y="1645920"/>
            <a:ext cx="2697480" cy="2148840"/>
          </a:xfrm>
          <a:prstGeom prst="rect">
            <a:avLst/>
          </a:prstGeom>
          <a:noFill/>
          <a:ln w="1905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DP별 FR/QA/품질 시나리오(6요소)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같은 QA = 같은 조건으로 통합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정량 metric은 공란(TBD)으로 유지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QA 검수 ← 현재 단계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924544" y="1417320"/>
            <a:ext cx="164592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9107424" y="1188720"/>
            <a:ext cx="2697480" cy="4572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④ 아키텍처 드라이버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07424" y="1645920"/>
            <a:ext cx="2697480" cy="2148840"/>
          </a:xfrm>
          <a:prstGeom prst="rect">
            <a:avLst/>
          </a:prstGeom>
          <a:noFill/>
          <a:ln w="1905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73152"/>
          <a:lstStyle/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FR/QA/C 중 설계를 좌우하는 항목 선정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DP 설계 후보 비교 기준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품질 시나리오 freeze 후 재평가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4023360"/>
            <a:ext cx="11155680" cy="3657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Architect로서의 역할 (현재 진행)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4434840"/>
            <a:ext cx="2743200" cy="1005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DP1~DP4 요구사항 추출 및 일관성 점검</a:t>
            </a:r>
          </a:p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(QA 정의·기준 환경·Baseline 차이 식별)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4434840"/>
            <a:ext cx="2743200" cy="1005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QA 후보 선정</a:t>
            </a:r>
          </a:p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(ISO 25010:2023 하위 특성에 매핑)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89320" y="4434840"/>
            <a:ext cx="2743200" cy="1005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같은 QA 동일 조건 통합 → 임계값 도출 근거 제시</a:t>
            </a:r>
          </a:p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(심사위원 절대값 판단 한계 → 상대 비교)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78239" y="4434840"/>
            <a:ext cx="2743200" cy="10058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재평가 : freeze 후 DP별 평가를 공통 품질 시나리오로 다시 수행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5623560"/>
            <a:ext cx="11338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* FR : Functional Requirement   * QA : Quality Attribute   * C : Constraint   * QS : Quality Scenario</a:t>
            </a:r>
          </a:p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※ DP5는 없음, DP6(CXL shared-memory KV consistency)은 이번 범위에서 제외. 각 DP의 기존 평가 결과·임계값은 보류하고 통합 단계에서 다시 정한다.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 요구사항 및 제약사항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0352" y="576072"/>
            <a:ext cx="22860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맑은 고딕"/>
              </a:rPr>
              <a:t>기능 요구사항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" y="914400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3503" y="914400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30936" y="932688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" y="914400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유휴 KV의 계층 간 이동·복원 (evict / promote / prefetch)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20840" y="914400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DP1 · FR-1~4, 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" y="1335024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3503" y="1335024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0936" y="1353312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6424" y="1335024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HBM 용량을 넘는 context 처리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20840" y="1335024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DP1·3 · FR-7, 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" y="1755648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3503" y="1755648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30936" y="1773936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" y="1755648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KV 선택적 Drop · 재사용 · 재계산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20840" y="1755648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DP3 · FR-5, 9, 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65176" y="2176272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3503" y="2176272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30936" y="2194560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06424" y="2176272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비-KV 객체 배치 (LoRA · MoE expert · RAG 문서)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20840" y="2176272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DP1 · FR-11, 13~17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5176" y="2596896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03503" y="2596896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30936" y="2615184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06424" y="2596896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연산 실행 위치 결정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720840" y="2596896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DP2 · FR-18~20, 24, 25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5176" y="3017520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03503" y="3017520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0936" y="3035808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6424" y="3017520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요청 배분 (서버 선택)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20840" y="3017520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DP4 · FR-21~23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5176" y="3438144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03503" y="3438144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0936" y="3456432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06424" y="3438144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자원 경합 제어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20840" y="3438144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DP1·4 · FR-26, 27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" y="3858768"/>
            <a:ext cx="11695176" cy="3840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03503" y="3858768"/>
            <a:ext cx="384048" cy="38404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0936" y="3877055"/>
            <a:ext cx="347472" cy="34747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06424" y="3858768"/>
            <a:ext cx="10762488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50" b="1" i="0">
                <a:solidFill>
                  <a:srgbClr val="000000"/>
                </a:solidFill>
                <a:latin typeface="맑은 고딕"/>
              </a:rPr>
              <a:t>스케줄링 결정의 비차단성 · 관측성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720840" y="3858768"/>
            <a:ext cx="5212080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1050" b="0" i="1">
                <a:solidFill>
                  <a:srgbClr val="000000"/>
                </a:solidFill>
                <a:latin typeface="맑은 고딕"/>
              </a:rPr>
              <a:t>공통 · FR-G1, 28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0352" y="4279392"/>
            <a:ext cx="22860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맑은 고딕"/>
              </a:rPr>
              <a:t>제약사항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5176" y="4645152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3503" y="4645152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30936" y="4663440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143000" y="4645152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차세대 메모리(HBF, ScHBM, PIM, CXL-PNM) 성능은 시뮬레이션 기반 예상값 (실측 아님) (GC-1)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5176" y="5120640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03503" y="5120640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30936" y="5138927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43000" y="5120640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device runtime 오버헤드 미고려, 커널/컴파일러 등 device runtime 계층은 범위 밖 (GC-2, 5)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65176" y="5596128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03503" y="5596128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30936" y="5614416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43000" y="5596128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device runtime의 reliability·availability는 보장, 메모리 제품 단위 테스트는 완료되었다고 가정 (GC-3, 4)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65176" y="6071616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03503" y="6071616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630936" y="6089904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43000" y="6071616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학습/훈련, 보안·테넌트 격리, 장애 복구, 문서 갱신 시 stale KV 무효화는 범위 밖 (GC-6, 10)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254496" y="4645152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92824" y="4645152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620256" y="4663440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32320" y="4645152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모델 출력 bit-exact 유지 (단, DP3 Drop은 허용 정확도 한도 내 손실 허용) (GC-7)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254496" y="5120640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592824" y="5120640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620256" y="5138927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132320" y="5120640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서버 간 연결은 PCIe 64GB/s (실장 서버 2대), 차세대 메모리 서버도 PCIe 기반 가정 (GC-9)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254496" y="5596128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592824" y="5596128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620256" y="5614416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132320" y="5596128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과제 초점은 스케줄링(결정). 전송·commit·driver 등 실행 메커니즘은 주어진 것으로 사용 (GC-11)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254496" y="6071616"/>
            <a:ext cx="5715000" cy="4206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592824" y="6071616"/>
            <a:ext cx="420624" cy="42062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620256" y="6089904"/>
            <a:ext cx="384048" cy="384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32320" y="6071616"/>
            <a:ext cx="4745736" cy="42062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vLLM 엔진 위에 구현. ref_cnt&gt;0 블록은 step 중 이동 불가 (이동은 step 경계에서만) (DP1 설계)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요구사항 설명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65176" y="685800"/>
          <a:ext cx="11704320" cy="494690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48640"/>
                <a:gridCol w="3017520"/>
                <a:gridCol w="5760720"/>
                <a:gridCol w="822960"/>
                <a:gridCol w="15544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기능 요구사항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관련 DP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상세 FR (usecases.md)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유휴 KV의 계층 간 이동·복원 (evict / promote / prefetch)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tool 대기 등 당장 안 쓰는 KV를 HBM 밖으로 옮기고, 재방문 시 복원·재사용한다. 이동 여부와 무관하게 출력은 bit-exact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FR-1~4, 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HBM 용량을 넘는 context 처리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HBM 초과 KV를 다계층 메모리를 함께 써서 실패 없이 처리하고, 접근 빈도 기반으로 배치한다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DP1·3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FR-7, 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KV 선택적 Drop · 재사용 · 재계산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중요도 낮은 KV 제거, 압축 KV 재사용, 선택적 재계산을 허용 정확도 한도 안에서 수행한다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FR-5, 9, 10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비-KV 객체 배치 (LoRA · MoE expert · RAG 문서)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HBM 용량을 넘는 adapter·expert·문서 KV를 접근 빈도로 hot/cold 배치하고 분포 변화 시 재조정한다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FR-11, 13~17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연산 실행 위치 결정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GPU vs 연산 가능 메모리, Prefill/Decode 분리 여부를 정하고, 미지원 연산은 GPU 경로로 대체한다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FR-18~20, 24, 25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요청 배분 (서버 선택)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KV 위치를 알고 서버를 선택하며, 전송 vs 재계산 비용을 비교하고 전송 실패 시 재계산으로 대체한다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FR-21~23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자원 경합 제어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이동·복원·offload가 서빙 트래픽을 잠식하는 정도를 제한하고, 과부하 시 대기·우선순위·거절을 적용한다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DP1·4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FR-26, 27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스케줄링 결정의 비차단성 · 관측성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결정은 서빙 경로(forward)를 막지 않고, 요청 유형별 지연·처리량 지표를 제공한다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FR-G1, 28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265176" y="6035040"/>
            <a:ext cx="11612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* 상세 FR-n 번호는 doc-mk/Requirements/usecases.md 기준. FR-12는 삭제됨. 각 FR의 우선순위(Must/Should/Could)는 usecases.md 참조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과제 범위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65176" y="685800"/>
            <a:ext cx="5669280" cy="3657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범위 안 (결정 = 스케줄링)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" y="1051560"/>
            <a:ext cx="5669280" cy="3383280"/>
          </a:xfrm>
          <a:prstGeom prst="rect">
            <a:avLst/>
          </a:prstGeom>
          <a:noFill/>
          <a:ln w="19050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무엇을 · 어디에 · 언제 둘지/옮길지 정하는 결정 (placement / migration / prefetch)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연산 실행 위치 결정 (GPU vs 연산 가능 메모리, P/D 분리)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요청 배분 결정 (KV 위치 인지 서버 선택, 전송 vs 재계산)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대상 객체 : KV, LoRA adapter, MoE expert, RAG 문서 KV, Agent 세션 KV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대상 워크로드 : agent multi-turn, RAG, long-context, LoRA multi-tenant, MoE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정상 운영 상태의 서빙 성능, 단일·다중 노드 (PCIe 64GB/s)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685800"/>
            <a:ext cx="5669280" cy="36576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범위 밖 / 주어진 것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309360" y="1051560"/>
            <a:ext cx="5669280" cy="3383280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91440"/>
          <a:lstStyle/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실행 메커니즘 : 전송, commit, driver, kernel, device runtime (입력으로 취급)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device runtime 오버헤드, 내부 reliability·availability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학습/훈련, 보안·테넌트 격리, 장애 복구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문서 갱신 시 stale KV 무효화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DP6 (CXL shared-memory KV consistency) — 이번 정리 대상 아님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맑은 고딕"/>
              </a:rPr>
              <a:t>• 차세대 메모리 실측 — 시뮬레이션 예상 성능만 사용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5176" y="4663440"/>
            <a:ext cx="2788920" cy="777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DP1 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맑은 고딕"/>
              </a:rPr>
              <a:t>Migration 결정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맑은 고딕"/>
              </a:rPr>
              <a:t>(evict·promote·prefetch)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91256" y="4663440"/>
            <a:ext cx="2788920" cy="777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DP2 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맑은 고딕"/>
              </a:rPr>
              <a:t>P/D 실행 위치 결정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17336" y="4663440"/>
            <a:ext cx="2788920" cy="777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DP3 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맑은 고딕"/>
              </a:rPr>
              <a:t>KV eviction &amp; reuse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43416" y="4663440"/>
            <a:ext cx="2788920" cy="777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DP4 </a:t>
            </a:r>
          </a:p>
          <a:p>
            <a:pPr algn="ctr"/>
            <a:r>
              <a:rPr sz="1100" b="0" i="0">
                <a:solidFill>
                  <a:srgbClr val="000000"/>
                </a:solidFill>
                <a:latin typeface="맑은 고딕"/>
              </a:rPr>
              <a:t>요청 orchestration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5176" y="5669280"/>
            <a:ext cx="1161288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* DP2(노드 안 실행 위치)와 DP4(노드 간 배분)의 경계는 별도 논의 중 (memo-dp2-dp4-boundary.md). 현재는 각 DP 문서 그대로 반영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요구사항 분석 – 기능 요구사항 분석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65176" y="576072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맑은 고딕"/>
              </a:rPr>
              <a:t>주요 기능의 Use Case Diagram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65176" y="914400"/>
            <a:ext cx="1188720" cy="7315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서비스 사용자</a:t>
            </a:r>
          </a:p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(runtime client)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5176" y="2926080"/>
            <a:ext cx="1554480" cy="10972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chemeClr val="accent3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시스템 개발자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(QA4 Modifiability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시나리오의 주체)</a:t>
            </a:r>
          </a:p>
        </p:txBody>
      </p:sp>
      <p:sp>
        <p:nvSpPr>
          <p:cNvPr id="59" name="Oval 58"/>
          <p:cNvSpPr/>
          <p:nvPr/>
        </p:nvSpPr>
        <p:spPr>
          <a:xfrm>
            <a:off x="2286000" y="914400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UC-1 Tool 대기 KV의 HBM 점유 해소·재방문</a:t>
            </a:r>
          </a:p>
        </p:txBody>
      </p:sp>
      <p:cxnSp>
        <p:nvCxnSpPr>
          <p:cNvPr id="60" name="Connector 59"/>
          <p:cNvCxnSpPr/>
          <p:nvPr/>
        </p:nvCxnSpPr>
        <p:spPr>
          <a:xfrm flipV="1">
            <a:off x="1453896" y="1124712"/>
            <a:ext cx="877824" cy="15544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2286000" y="1426464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UC-2 HBM 초과 Long-context 처리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453896" y="1280160"/>
            <a:ext cx="877824" cy="35661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2286000" y="1938528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UC-3 RAG 공유 문서 prefix 재사용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453896" y="1280160"/>
            <a:ext cx="877824" cy="86868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2286000" y="2450592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UC-4 LoRA 멀티 테넌트 adapter 전환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453896" y="1280160"/>
            <a:ext cx="877824" cy="138074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2286000" y="2962656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UC-5 MoE expert 접근 패턴 배치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453896" y="1280160"/>
            <a:ext cx="877824" cy="1892808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2286000" y="3474720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UC-6 연산 가능 메모리(PIM/PNM) offload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453896" y="1280160"/>
            <a:ext cx="877824" cy="240487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2286000" y="3986784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UC-7 노드 간 KV 이동·서버 선택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453896" y="1280160"/>
            <a:ext cx="877824" cy="291693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2286000" y="4498848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UC-8 Prefill/Decode 분리 실행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453896" y="1280160"/>
            <a:ext cx="877824" cy="342900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2286000" y="5010912"/>
            <a:ext cx="3657600" cy="420624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0" rIns="137160" bIns="0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UC-9 혼합 부하 자원 경쟁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453896" y="1280160"/>
            <a:ext cx="877824" cy="394106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217920" y="576072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맑은 고딕"/>
              </a:rPr>
              <a:t>Domain Model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452360" y="1257300"/>
            <a:ext cx="2971799" cy="4572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60" y="1257300"/>
            <a:ext cx="228600" cy="1234439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680960" y="2491739"/>
            <a:ext cx="2788920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80960" y="2491739"/>
            <a:ext cx="182880" cy="1280161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63840" y="3771900"/>
            <a:ext cx="2971800" cy="0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7452360" y="3771900"/>
            <a:ext cx="411480" cy="1280159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452360" y="5006340"/>
            <a:ext cx="2971799" cy="45719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469880" y="2491739"/>
            <a:ext cx="365760" cy="1280161"/>
          </a:xfrm>
          <a:prstGeom prst="line">
            <a:avLst/>
          </a:prstGeom>
          <a:ln w="15875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ounded Rectangle 85"/>
          <p:cNvSpPr/>
          <p:nvPr/>
        </p:nvSpPr>
        <p:spPr>
          <a:xfrm>
            <a:off x="6400800" y="914400"/>
            <a:ext cx="210312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Request / Session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326880" y="914400"/>
            <a:ext cx="2194560" cy="7772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KV block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(ref_cnt, hash)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400800" y="2103120"/>
            <a:ext cx="2560320" cy="7772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Object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KV·LoRA·Expert·RAG doc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144000" y="2103120"/>
            <a:ext cx="2651760" cy="7772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Tier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HBM·Host DRAM·CXL·HBF·PIM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6309360" y="3383280"/>
            <a:ext cx="3108960" cy="7772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Decision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placement·migration·routing·compute location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692640" y="3383280"/>
            <a:ext cx="2286000" cy="7772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Policy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P1~P5 / C1~C2 후보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00800" y="4663440"/>
            <a:ext cx="2103120" cy="7772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Link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PCIe 64GB/s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326880" y="4663440"/>
            <a:ext cx="2194560" cy="685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Server / Node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00800" y="5669280"/>
            <a:ext cx="5120640" cy="5486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Metric</a:t>
            </a:r>
          </a:p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Goodput·TTFT·TPOT·HBM 점유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5176" y="5760720"/>
            <a:ext cx="57607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* UC-1~9 : doc-mk/Requirements/usecases.md (제안 상태). Actor는 runtime client와 시스템 개발자 (사용자 확정 관점 : 시스템 개발자 시점)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요구사항 분석 – 수집/정제된 요구사항 전체 [1/3]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128016" y="667512"/>
          <a:ext cx="11823192" cy="5577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7040880"/>
                <a:gridCol w="341071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번호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및 설명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정제 종류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agent 요청이 많을 때 tool 호출 중 당장 쓰지 않는 KV가 HBM을 차지하지 않도록 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FR1 유휴 KV 이동·복원, QA3 Resource utilization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HBM 용량을 넘는 Long-context 요청을 실패 없이 처리해야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FR2 HBM 초과 context, QA1 Throughput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같은 RAG 문서 prefix를 가진 요청은 KV가 어느 tier에 있든 재사용해야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FR2/FR4, QA2 Latency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HBM 용량을 넘는 수의 LoRA adapter를 서빙해야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FR4 비-KV 객체 배치, QA1 Throughput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MoE expert를 접근 빈도에 맞게 서로 다른 메모리에 배치할 수 있어야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FR4, QA2 Latency (TPOT)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연산 가능 메모리(PIM/PNM)에 연산을 맡기되 이득이 없으면 GPU 경로를 써야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FR5 연산 위치 결정, QA2 Latency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KV 위치를 알고 서버를 고르며, 전송과 재계산 중 빠른 쪽을 택해야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FR6 요청 배분, QA1/QA5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요청마다 Prefill/Decode 분리 실행 여부를 정해야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FR5, QA1/QA2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RQ-SC-09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혼합 부하에서 이동 트래픽이 서빙을 잠식하지 않아야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FR7 자원 경합 제어, QA2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RQ-DP1-01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이동·복원해도 모델 출력은 바뀌지 않아야 한다 (bit-exact)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C5, QA6 Correctness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RQ-DP1-02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후속 요청 시점을 예측하거나 도착 즉시 KV를 HBM으로 복원해 지연을 줄여야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FR1 (prefetch), QA2 Latency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요구사항 분석 – 수집/정제된 요구사항 전체 [2/3]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128016" y="667512"/>
          <a:ext cx="11823192" cy="55778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7040880"/>
                <a:gridCol w="341071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번호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및 설명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정제 종류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RQ-DP1-03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이동 대상 메모리가 부족하면 쓰일 가능성이 낮은 KV부터 정리해야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FR1/FR3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RQ-DP1-04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새 메모리 tier·객체 유형·정책을 쉽게 추가할 수 있어야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QA4 Modifiability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RQ-DP2-01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(n_p, n_d) 비용 모델로 P/D 실행 위치를 결정하되 결정 시점(scheduling-time vs pre-planned)을 비교한다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FR5, QA1/QA2/QA5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RQ-DP2-02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노드 수가 늘어도 결정 성능과 처리량이 선형에 가깝게 늘어야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QA5 Scalability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RQ-DP3-01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중요도 낮은 KV를 선택적으로 제거하되 허용 정확도 저하 한도 안에서만 수행해야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FR3, QA6 Correctness (F1)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RQ-DP3-02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압축 KV를 재사용하고 필요한 부분만 선택 재계산해야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FR3, QA2 Latency, QA3 HBM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RQ-DP3-03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Drop/재사용으로 HBM KV 점유를 줄여야 한다 (DP1과 같은 정의)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QA3 Resource utilization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RQ-DP4-01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KV 이벤트(medium 포함)로 서버별 캐시 위치를 알고 라우팅해야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FR6, QA1 Throughput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RQ-DP4-02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OSS(llm-d) 확장과 자체 구현 중 목표 QA를 만족하는 방식을 택해야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FR6, QA4 Modifiability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RQ-DP4-03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정책(P1~P5)과 결정 근거를 기록·관측할 수 있어야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FR8 관측성 (후보 QA: Analysability)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RQ-DP4-04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서버 수가 늘어도 orchestrator 결정이 병목이 되지 않아야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QA5 Scalability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요구사항 분석 – 수집/정제된 요구사항 전체 [3/3]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128016" y="667512"/>
          <a:ext cx="11823192" cy="41513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7040880"/>
                <a:gridCol w="3410712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번호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요구사항 및 설명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정제 종류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결정은 서빙 경로(forward)를 막지 않아야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FR8, QA2 Latency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차세대 메모리는 시뮬레이션 기반 예상 성능으로 평가한다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C1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device runtime 오버헤드와 내부 신뢰성은 고려하지 않는다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C2, C3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학습, 보안·테넌트 격리, 장애 복구, stale KV 무효화는 다루지 않는다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C4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RQ-SYS-05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서버 간 연결은 PCIe 64GB/s (실장 서버 2대)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C6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RQ-SYS-06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vLLM 기반으로 구현하며 ref_cnt&gt;0 블록은 step 중 이동할 수 없다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C8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과제 초점은 스케줄링 결정이며 실행 메커니즘은 주어진 것으로 쓴다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C7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RQ-SYS-08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문서 prefix 조회 빈도에 따라 문서 KV 위치를 조정해야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FR4, QA2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요구사항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37744" y="640080"/>
            <a:ext cx="11777472" cy="777240"/>
          </a:xfrm>
          <a:prstGeom prst="rect">
            <a:avLst/>
          </a:prstGeom>
          <a:noFill/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l"/>
            <a:r>
              <a:rPr sz="1150" b="0" i="0">
                <a:solidFill>
                  <a:srgbClr val="000000"/>
                </a:solidFill>
                <a:latin typeface="맑은 고딕"/>
              </a:rPr>
              <a:t>   DP1~DP4 문서의 QA를 ISO/IEC 25010:2023 하위 특성으로 모아 정리한 후보이다. 같은 QA는 DP와 무관하게 같은 조건(워크로드, SLO, 환경, Baseline)에서 측정한다.</a:t>
            </a:r>
          </a:p>
          <a:p>
            <a:pPr algn="l"/>
            <a:r>
              <a:rPr sz="1150" b="0" i="0">
                <a:solidFill>
                  <a:srgbClr val="000000"/>
                </a:solidFill>
                <a:latin typeface="맑은 고딕"/>
              </a:rPr>
              <a:t>   정량 metric(목표값)은 모두 공란이며, 중요도·난이도·순위는 QAW(검수) 후 기입한다.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97864" y="2029968"/>
            <a:ext cx="1737360" cy="4114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QA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26664" y="2029968"/>
            <a:ext cx="2148840" cy="4114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Attribute Refinement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66944" y="2029968"/>
            <a:ext cx="3291840" cy="4114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정의 (Scenario 요약)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50224" y="2029968"/>
            <a:ext cx="1783080" cy="4114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관련 DP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524744" y="2029968"/>
            <a:ext cx="685800" cy="4114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중요도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256264" y="2029968"/>
            <a:ext cx="685800" cy="41148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난이도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2" y="1572768"/>
            <a:ext cx="3657600" cy="40233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맑은 고딕"/>
              </a:rPr>
              <a:t>품질 속성 유틸리티 트리 (후보)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5176" y="2532888"/>
            <a:ext cx="868680" cy="603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3503" y="2532888"/>
            <a:ext cx="603504" cy="60350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30936" y="2551176"/>
            <a:ext cx="566928" cy="56692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QA1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5880" y="2532888"/>
            <a:ext cx="-283464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68" name="Rectangle 67"/>
          <p:cNvSpPr/>
          <p:nvPr/>
        </p:nvSpPr>
        <p:spPr>
          <a:xfrm>
            <a:off x="1197864" y="2532888"/>
            <a:ext cx="173736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Performance efficiency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026664" y="2532888"/>
            <a:ext cx="2148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Throughput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66944" y="2532888"/>
            <a:ext cx="3291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l"/>
            <a:r>
              <a:rPr sz="1050" b="0" i="0">
                <a:solidFill>
                  <a:srgbClr val="000000"/>
                </a:solidFill>
                <a:latin typeface="맑은 고딕"/>
              </a:rPr>
              <a:t>SLO를 만족하는 최대 처리량(Max SLO Goodput)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650224" y="2532888"/>
            <a:ext cx="178308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DP1·2·4 (DP3 보조)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524744" y="2532888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256264" y="2532888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5176" y="3209544"/>
            <a:ext cx="868680" cy="603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3503" y="3209544"/>
            <a:ext cx="603504" cy="60350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30936" y="3227832"/>
            <a:ext cx="566928" cy="56692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QA2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25880" y="3209544"/>
            <a:ext cx="-283464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78" name="Rectangle 77"/>
          <p:cNvSpPr/>
          <p:nvPr/>
        </p:nvSpPr>
        <p:spPr>
          <a:xfrm>
            <a:off x="1197864" y="3209544"/>
            <a:ext cx="173736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Performance efficiency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26664" y="3209544"/>
            <a:ext cx="2148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Latency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266944" y="3209544"/>
            <a:ext cx="3291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l"/>
            <a:r>
              <a:rPr sz="1050" b="0" i="0">
                <a:solidFill>
                  <a:srgbClr val="000000"/>
                </a:solidFill>
                <a:latin typeface="맑은 고딕"/>
              </a:rPr>
              <a:t>TTFT / TPOT (별도 지표)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50224" y="3209544"/>
            <a:ext cx="178308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DP1~4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524744" y="3209544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256264" y="3209544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5176" y="3886200"/>
            <a:ext cx="868680" cy="603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3503" y="3886200"/>
            <a:ext cx="603504" cy="60350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0936" y="3904487"/>
            <a:ext cx="566928" cy="56692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QA3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25880" y="3886200"/>
            <a:ext cx="-283464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8" name="Rectangle 87"/>
          <p:cNvSpPr/>
          <p:nvPr/>
        </p:nvSpPr>
        <p:spPr>
          <a:xfrm>
            <a:off x="1197864" y="3886200"/>
            <a:ext cx="173736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Performance efficiency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026664" y="3886200"/>
            <a:ext cx="2148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Resource utilization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266944" y="3886200"/>
            <a:ext cx="3291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l"/>
            <a:r>
              <a:rPr sz="1050" b="0" i="0">
                <a:solidFill>
                  <a:srgbClr val="000000"/>
                </a:solidFill>
                <a:latin typeface="맑은 고딕"/>
              </a:rPr>
              <a:t>HBM 점유율 (모든 DP 동일 조건)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50224" y="3886200"/>
            <a:ext cx="178308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DP1·3 목표 / DP2·4 측정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24744" y="3886200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1256264" y="3886200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5176" y="4562856"/>
            <a:ext cx="868680" cy="603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3503" y="4562856"/>
            <a:ext cx="603504" cy="60350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0936" y="4581144"/>
            <a:ext cx="566928" cy="56692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QA4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25880" y="4562856"/>
            <a:ext cx="-283464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98" name="Rectangle 97"/>
          <p:cNvSpPr/>
          <p:nvPr/>
        </p:nvSpPr>
        <p:spPr>
          <a:xfrm>
            <a:off x="1197864" y="4562856"/>
            <a:ext cx="173736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Maintainability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026664" y="4562856"/>
            <a:ext cx="2148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Modifiability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266944" y="4562856"/>
            <a:ext cx="3291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l"/>
            <a:r>
              <a:rPr sz="1050" b="0" i="0">
                <a:solidFill>
                  <a:srgbClr val="000000"/>
                </a:solidFill>
                <a:latin typeface="맑은 고딕"/>
              </a:rPr>
              <a:t>새 tier·정책·객체 추가 용이성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50224" y="4562856"/>
            <a:ext cx="178308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DP1·2·4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524744" y="4562856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1256264" y="4562856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65176" y="5239512"/>
            <a:ext cx="868680" cy="603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03503" y="5239512"/>
            <a:ext cx="603504" cy="60350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30936" y="5257800"/>
            <a:ext cx="566928" cy="56692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QA5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325880" y="5239512"/>
            <a:ext cx="-283464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8" name="Rectangle 107"/>
          <p:cNvSpPr/>
          <p:nvPr/>
        </p:nvSpPr>
        <p:spPr>
          <a:xfrm>
            <a:off x="1197864" y="5239512"/>
            <a:ext cx="173736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Flexibility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26664" y="5239512"/>
            <a:ext cx="2148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Scalability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66944" y="5239512"/>
            <a:ext cx="3291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l"/>
            <a:r>
              <a:rPr sz="1050" b="0" i="0">
                <a:solidFill>
                  <a:srgbClr val="000000"/>
                </a:solidFill>
                <a:latin typeface="맑은 고딕"/>
              </a:rPr>
              <a:t>노드/세션/객체 수 증가 시 성능 유지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650224" y="5239512"/>
            <a:ext cx="178308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DP2·4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524744" y="5239512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1256264" y="5239512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65176" y="5916168"/>
            <a:ext cx="868680" cy="6035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03503" y="5916168"/>
            <a:ext cx="603504" cy="60350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30936" y="5934456"/>
            <a:ext cx="566928" cy="56692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QA6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25880" y="5916168"/>
            <a:ext cx="-283464" cy="60350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8" name="Rectangle 117"/>
          <p:cNvSpPr/>
          <p:nvPr/>
        </p:nvSpPr>
        <p:spPr>
          <a:xfrm>
            <a:off x="1197864" y="5916168"/>
            <a:ext cx="173736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50" b="0" i="0">
                <a:solidFill>
                  <a:srgbClr val="000000"/>
                </a:solidFill>
                <a:latin typeface="맑은 고딕"/>
              </a:rPr>
              <a:t>Functional suitability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026664" y="5916168"/>
            <a:ext cx="2148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100" b="1" i="0">
                <a:solidFill>
                  <a:srgbClr val="000000"/>
                </a:solidFill>
                <a:latin typeface="맑은 고딕"/>
              </a:rPr>
              <a:t>Correctness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266944" y="5916168"/>
            <a:ext cx="329184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l"/>
            <a:r>
              <a:rPr sz="1050" b="0" i="0">
                <a:solidFill>
                  <a:srgbClr val="000000"/>
                </a:solidFill>
                <a:latin typeface="맑은 고딕"/>
              </a:rPr>
              <a:t>출력 bit-exact / DP3는 F1 한도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50224" y="5916168"/>
            <a:ext cx="178308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000" b="0" i="0">
                <a:solidFill>
                  <a:srgbClr val="000000"/>
                </a:solidFill>
                <a:latin typeface="맑은 고딕"/>
              </a:rPr>
              <a:t>DP1~4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524744" y="5916168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1256264" y="5916168"/>
            <a:ext cx="685800" cy="603504"/>
          </a:xfrm>
          <a:prstGeom prst="rect">
            <a:avLst/>
          </a:prstGeom>
          <a:noFill/>
          <a:ln w="12700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요구사항 분석 – 품질 속성 유틸리티 트리 [1/2]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65176" y="612648"/>
          <a:ext cx="11704320" cy="577900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1645920"/>
                <a:gridCol w="6675120"/>
                <a:gridCol w="731520"/>
                <a:gridCol w="731520"/>
                <a:gridCol w="7315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Quality Attribute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Attribute Refinement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Scenario (환경·자극·대상·응답·측정)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난이도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QA1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Throughput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Max SLO Goodput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(Agent 대기 KV)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[DP1·3] Agent 세션이 많아 tool 대기 중 idle KV가 HBM을 차지하는 상태에서, 요청이 지속 도착할 때, 시스템이 idle KV를 HBM 밖으로 옮겨 다른 요청을 더 처리하여, SLO(TTFT·TPOT)를 만족하는 최대 처리량이 Baseline 대비 [        ] 이상이어야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QA1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Throughput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Max SLO Goodput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(P/D 실행 위치)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[DP2] Prefill burst와 긴 history가 섞인 부하에서, 스케줄러가 요청별 P/D 분리 여부와 (n_p, n_d)를 정해, SLO를 만족하는 최대 처리량이 Baseline 대비 [        ] 이상이어야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QA1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Throughput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Max SLO Goodput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(요청 배분)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[DP4] KV 캐시가 서버별로 흩어진 다중 서버에서, orchestrator가 KV 위치를 보고 서버를 골라, SLO를 만족하는 최대 처리량이 Baseline 대비 [        ] 이상이어야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QA2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Latency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TTFT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(재개 / 재사용)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[DP1·3·4] 동일 세션의 후속 요청 또는 같은 문서 prefix 요청이 도착할 때, 옮겨 둔 KV를 찾아 복원·재사용하여, 재계산을 줄이고 TTFT가 Baseline 대비 [        ] 이내여야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QA2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Latency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TPOT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(다계층 attention)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[DP1·2·3] KV 일부가 HBM 밖(느린 tier)에 있는 상태에서 decode가 진행될 때, 접근 빈도가 높은 KV를 빠른 tier에 두어, TPOT가 Baseline 대비 [        ] 이내여야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QA3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Resource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utilization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HBM 점유율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[전체 DP, 동일 조건] 동일 부하·동일 SLO 충족 조건에서, 시스템이 KV·adapter·expert를 HBM 밖으로 배치하여, 서빙 중 HBM 점유율(평균/피크)이 Baseline 대비 [        ] 이하여야 한다 (DP1·3 목표, DP2·4 측정)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요구사항 분석 – 품질 속성 유틸리티 트리 [2/2]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65176" y="612648"/>
          <a:ext cx="11704320" cy="462686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1645920"/>
                <a:gridCol w="6675120"/>
                <a:gridCol w="731520"/>
                <a:gridCol w="731520"/>
                <a:gridCol w="73152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Quality Attribute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Attribute Refinement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Scenario (환경·자극·대상·응답·측정)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중요도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난이도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순위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QA4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Modifiability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새 tier 추가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[시스템 개발자] 새 메모리 tier(HBF, CXL 등)를 추가할 때, 정책·배치 모듈의 변경 범위가 [        ] 모듈, 공수 [        ] man-month 이내여야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QA4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Modifiability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새 정책/객체 추가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[시스템 개발자] 새 이동·라우팅 정책 또는 새 객체 유형(예 : 새 캐시 객체)을 추가할 때, 기존 서빙 경로 수정 없이 [        ] 모듈, 공수 [        ] 이내로 반영되어야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QA5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Scalability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노드 수 증가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[DP2·4] 서버(노드) 수가 N에서 2N, 4N으로 늘어날 때, 결정 모듈이 병목이 되지 않고 처리량 Scaling Efficiency가 [        ] 이상이어야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QA5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Scalability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세션·객체 수 증가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(제안)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[DP1 등] 관리 대상 세션/객체(KV block, adapter, expert) 수가 증가할 때, 결정 지연이 [        ] 이내로 유지되어야 한다 (현재 DP 문서에는 없음, 신규 제안)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QA6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Correctness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출력 bit-exact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[DP1·2·4] 이동·복원·offload·재사용 경로를 거친 요청의 출력이, 같은 precision에서 거치지 않은 경우와 [        ] 다름 없이 bit-exact여야 한다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QA6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Correctness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Drop 후 정확도</a:t>
                      </a:r>
                    </a:p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(DP3)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>[DP3] 중요도 기반 KV 제거와 압축 재사용을 적용할 때, 압축 전 + full recompute 대비 F1 하락이 상대 [        ] 이내여야 한다 (현 DP3 문서 값 1% 보류 중)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265176" y="6309360"/>
            <a:ext cx="11612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00" b="0" i="1">
                <a:solidFill>
                  <a:srgbClr val="000000"/>
                </a:solidFill>
                <a:latin typeface="맑은 고딕"/>
              </a:rPr>
              <a:t>* [ ] = 공란. 6요소(자극원·자극·환경·대상·응답·측정) 상세와 DP별 값은 DP1~4-requirements.md의 QS 표 참조 (그 안의 수치는 통합 단계에서 재정의)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QA 검수 : DP별 적용 현황과 의견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265176" y="685800"/>
          <a:ext cx="11612880" cy="30906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594360"/>
                <a:gridCol w="594360"/>
                <a:gridCol w="594360"/>
                <a:gridCol w="594360"/>
                <a:gridCol w="7223760"/>
              </a:tblGrid>
              <a:tr h="34747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QA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DP1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DP2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DP3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DP4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의견</a:t>
                      </a:r>
                    </a:p>
                  </a:txBody>
                  <a:tcPr marL="45720" marR="45720" marT="22860" marB="22860"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QA1 Throughput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공통. DP별 시나리오는 다르지만 Max SLO Goodput 정의는 하나로 통일 가능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QA2 Latency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TTFT·TPOT를 합치지 않고 별도 지표로 유지 (DP4 문서는 TTFT 중심)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QA3 Resource util.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HBM 점유율로 통일. DP2·4는 목표가 아니라 부수 효과로 같은 조건에서 측정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QA4 Modifiability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DP3에 없음 → 추가 여부 확인 필요. 집계 방식(모듈 수 / man-month / agent 비용) 통일 필요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QA5 Scalability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–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DP2·4에만 존재. 과제 공통 QA로 올릴지 DP 전용으로 둘지 결정 필요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QA6 Correctness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●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○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00000"/>
                          </a:solidFill>
                          <a:latin typeface="맑은 고딕"/>
                        </a:rPr>
                        <a:t>DP3만 능동 QA(F1), 나머지는 bit-exact 제약 확인. QA보다 C5(제약)로 두는 안도 가능</a:t>
                      </a: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265176" y="3840480"/>
            <a:ext cx="11612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● DP 문서에서 선정(목표)   ○ 측정·확인 대상   – 해당 없음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5176" y="4160520"/>
            <a:ext cx="5760720" cy="3657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검수 요청 사항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5176" y="4526280"/>
            <a:ext cx="5760720" cy="1828800"/>
          </a:xfrm>
          <a:prstGeom prst="rect">
            <a:avLst/>
          </a:prstGeom>
          <a:noFill/>
          <a:ln w="158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/>
          <a:lstStyle/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Throughput / Latency / Resource util. / Modifiability / Scalability 5개가 과제 QA로 충분한가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Correctness를 QA로 둘지 제약(C5)으로 둘지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Scalability를 공통 QA로 올릴지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중요도·난이도·순위 기입 (QAW)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4160520"/>
            <a:ext cx="5760720" cy="3657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ISO 25010:2023 내 추가 후보 (미채택)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4526280"/>
            <a:ext cx="5760720" cy="1828800"/>
          </a:xfrm>
          <a:prstGeom prst="rect">
            <a:avLst/>
          </a:prstGeom>
          <a:noFill/>
          <a:ln w="158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tIns="73152"/>
          <a:lstStyle/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Compatibility &gt; Interoperability : vLLM·llm-d·NIXL 연동 (DP4 후보)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Reliability &gt; Fault tolerance : 전송 실패 시 재계산 fallback (FR로 이미 반영)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Maintainability &gt; Analysability : 결정 근거 기록·진단 (DP4 후보, FR8과 연결)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맑은 고딕"/>
              </a:rPr>
              <a:t>• 장애 복구 전반은 C4로 범위 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아키텍처 드라이버 선정 (초안)</a:t>
            </a:r>
          </a:p>
        </p:txBody>
      </p:sp>
      <p:sp>
        <p:nvSpPr>
          <p:cNvPr id="4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cxnSp>
        <p:nvCxnSpPr>
          <p:cNvPr id="42" name="직선 연결선 41"/>
          <p:cNvCxnSpPr/>
          <p:nvPr/>
        </p:nvCxnSpPr>
        <p:spPr>
          <a:xfrm>
            <a:off x="7518400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7707970" y="457198"/>
            <a:ext cx="14248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7897539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>
            <a:off x="8087111" y="457198"/>
            <a:ext cx="142489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852160" y="1828800"/>
            <a:ext cx="2468880" cy="13716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25400">
            <a:solidFill>
              <a:schemeClr val="accent3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 rIns="73152" bIns="27432"/>
          <a:lstStyle/>
          <a:p>
            <a:pPr algn="ctr"/>
            <a:r>
              <a:rPr sz="1500" b="1" i="0">
                <a:solidFill>
                  <a:srgbClr val="000000"/>
                </a:solidFill>
                <a:latin typeface="맑은 고딕"/>
              </a:rPr>
              <a:t>이기종 메모리</a:t>
            </a:r>
          </a:p>
          <a:p>
            <a:pPr algn="ctr"/>
            <a:r>
              <a:rPr sz="1500" b="1" i="0">
                <a:solidFill>
                  <a:srgbClr val="000000"/>
                </a:solidFill>
                <a:latin typeface="맑은 고딕"/>
              </a:rPr>
              <a:t>LLM 서빙</a:t>
            </a:r>
          </a:p>
          <a:p>
            <a:pPr algn="ctr"/>
            <a:r>
              <a:rPr sz="1500" b="1" i="0">
                <a:solidFill>
                  <a:srgbClr val="000000"/>
                </a:solidFill>
                <a:latin typeface="맑은 고딕"/>
              </a:rPr>
              <a:t>스케줄링 런타임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4008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맑은 고딕"/>
              </a:rPr>
              <a:t>| Functional Requirements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64008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맑은 고딕"/>
              </a:rPr>
              <a:t>| Constraints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4663440"/>
            <a:ext cx="36576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맑은 고딕"/>
              </a:rPr>
              <a:t>| Quality Attributes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1005840"/>
            <a:ext cx="265176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647" y="1005840"/>
            <a:ext cx="457200" cy="457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0080" y="1024128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88720" y="1005840"/>
            <a:ext cx="16459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3000" y="1005840"/>
            <a:ext cx="17830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유휴 KV 이동·복원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1005840"/>
            <a:ext cx="265176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55848" y="1005840"/>
            <a:ext cx="457200" cy="457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383279" y="1024128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31920" y="1005840"/>
            <a:ext cx="16459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86200" y="1005840"/>
            <a:ext cx="17830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HBM 초과 context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1572768"/>
            <a:ext cx="265176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647" y="1572768"/>
            <a:ext cx="457200" cy="457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40080" y="1591056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88720" y="1572768"/>
            <a:ext cx="16459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3000" y="1572768"/>
            <a:ext cx="17830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KV Drop·재사용·재계산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017520" y="1572768"/>
            <a:ext cx="265176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55848" y="1572768"/>
            <a:ext cx="457200" cy="457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83279" y="1591056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31920" y="1572768"/>
            <a:ext cx="16459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86200" y="1572768"/>
            <a:ext cx="17830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비-KV 객체 배치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139696"/>
            <a:ext cx="265176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2647" y="2139696"/>
            <a:ext cx="457200" cy="457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40080" y="2157984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8720" y="2139696"/>
            <a:ext cx="16459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43000" y="2139696"/>
            <a:ext cx="17830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연산 실행 위치 결정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017520" y="2139696"/>
            <a:ext cx="265176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355848" y="2139696"/>
            <a:ext cx="457200" cy="457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383279" y="2157984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931920" y="2139696"/>
            <a:ext cx="16459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86200" y="2139696"/>
            <a:ext cx="17830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요청 배분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2706624"/>
            <a:ext cx="2651760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accent5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12647" y="2706624"/>
            <a:ext cx="457200" cy="4572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40080" y="2724912"/>
            <a:ext cx="420624" cy="420624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88720" y="2706624"/>
            <a:ext cx="1645919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43000" y="2706624"/>
            <a:ext cx="178308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자원 경합 제어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503920" y="1005840"/>
            <a:ext cx="3429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842248" y="1005840"/>
            <a:ext cx="4572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869680" y="1024128"/>
            <a:ext cx="420624" cy="42062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418320" y="1005840"/>
            <a:ext cx="2423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372600" y="1005840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차세대 메모리는 시뮬레이션 값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03920" y="1572768"/>
            <a:ext cx="3429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42248" y="1572768"/>
            <a:ext cx="4572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869680" y="1591056"/>
            <a:ext cx="420624" cy="42062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C2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418320" y="1572768"/>
            <a:ext cx="2423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72600" y="1572768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device runtime 범위 밖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503920" y="2139696"/>
            <a:ext cx="3429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842248" y="2139696"/>
            <a:ext cx="4572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869680" y="2157984"/>
            <a:ext cx="420624" cy="42062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18320" y="2139696"/>
            <a:ext cx="2423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372600" y="2139696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출력 bit-exact (DP3 예외)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503920" y="2706624"/>
            <a:ext cx="3429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42248" y="2706624"/>
            <a:ext cx="4572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869680" y="2724912"/>
            <a:ext cx="420624" cy="42062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18320" y="2706624"/>
            <a:ext cx="2423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72600" y="2706624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서버 간 PCIe 64GB/s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503920" y="3273552"/>
            <a:ext cx="3429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842248" y="3273552"/>
            <a:ext cx="4572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869680" y="3291840"/>
            <a:ext cx="420624" cy="42062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418320" y="3273552"/>
            <a:ext cx="2423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372600" y="3273552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결정 중심, 실행은 주어진 것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03920" y="3840480"/>
            <a:ext cx="34290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842248" y="3840480"/>
            <a:ext cx="457200" cy="4572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869680" y="3858768"/>
            <a:ext cx="420624" cy="420624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C8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418320" y="3840480"/>
            <a:ext cx="242316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372600" y="3840480"/>
            <a:ext cx="2514600" cy="4572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>vLLM, ref_cnt&gt;0 이동 불가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74320" y="5029200"/>
            <a:ext cx="3749039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12647" y="5029200"/>
            <a:ext cx="50292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640080" y="5047488"/>
            <a:ext cx="466344" cy="46634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QA1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34440" y="5029200"/>
            <a:ext cx="26974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88720" y="5029200"/>
            <a:ext cx="2743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맑은 고딕"/>
              </a:rPr>
              <a:t>Throughput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206240" y="5029200"/>
            <a:ext cx="3749039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4568" y="5029200"/>
            <a:ext cx="50292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4572000" y="5047488"/>
            <a:ext cx="466344" cy="46634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QA2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166359" y="5029200"/>
            <a:ext cx="26974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120640" y="5029200"/>
            <a:ext cx="2743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맑은 고딕"/>
              </a:rPr>
              <a:t>Latency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138160" y="5029200"/>
            <a:ext cx="3749039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476488" y="5029200"/>
            <a:ext cx="50292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503920" y="5047488"/>
            <a:ext cx="466344" cy="46634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QA3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98280" y="5029200"/>
            <a:ext cx="26974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052560" y="5029200"/>
            <a:ext cx="2743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맑은 고딕"/>
              </a:rPr>
              <a:t>HBM 점유율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5669280"/>
            <a:ext cx="3749039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12647" y="5669280"/>
            <a:ext cx="50292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40080" y="5687568"/>
            <a:ext cx="466344" cy="46634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QA4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34440" y="5669280"/>
            <a:ext cx="26974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88720" y="5669280"/>
            <a:ext cx="2743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맑은 고딕"/>
              </a:rPr>
              <a:t>Modifiability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206240" y="5669280"/>
            <a:ext cx="3749039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544568" y="5669280"/>
            <a:ext cx="50292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572000" y="5687568"/>
            <a:ext cx="466344" cy="46634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QA5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66359" y="5669280"/>
            <a:ext cx="26974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20640" y="5669280"/>
            <a:ext cx="2743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맑은 고딕"/>
              </a:rPr>
              <a:t>Scalability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138160" y="5669280"/>
            <a:ext cx="3749039" cy="5029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476488" y="5669280"/>
            <a:ext cx="502920" cy="5029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8503920" y="5687568"/>
            <a:ext cx="466344" cy="46634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QA6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098280" y="5669280"/>
            <a:ext cx="2697479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맑은 고딕"/>
              </a:rPr>
              <a:t/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052560" y="5669280"/>
            <a:ext cx="2743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맑은 고딕"/>
              </a:rPr>
              <a:t>Correctness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3474720"/>
            <a:ext cx="80467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* 초안 : 중요도·난이도 기입 후 드라이버를 최종 선정한다.</a:t>
            </a:r>
          </a:p>
          <a:p>
            <a:pPr algn="l"/>
            <a:r>
              <a:rPr sz="1050" b="0" i="1">
                <a:solidFill>
                  <a:srgbClr val="000000"/>
                </a:solidFill>
                <a:latin typeface="맑은 고딕"/>
              </a:rPr>
              <a:t>* 제외한 FR8(비차단성·관측성), C3, C4는 드라이버가 아닌 공통 전제로 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2218</Words>
  <Application>Microsoft Office PowerPoint</Application>
  <PresentationFormat>와이드스크린</PresentationFormat>
  <Paragraphs>447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요구사항 분석</vt:lpstr>
      <vt:lpstr>주요 기능 요구사항 및 제약사항</vt:lpstr>
      <vt:lpstr>요구사항 분석 – 기능 요구사항 분석</vt:lpstr>
      <vt:lpstr>요구사항 분석 – 수집/정제된 요구사항 전체 [1/2]</vt:lpstr>
      <vt:lpstr>요구사항 분석 – 수집/정제된 요구사항 전체 [2/2]</vt:lpstr>
      <vt:lpstr>품질 요구사항</vt:lpstr>
      <vt:lpstr>요구사항 분석 – 품질 속성 유틸리티 트리</vt:lpstr>
      <vt:lpstr>아키텍처 드라이버 선정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Myeong Woo Kim</dc:creator>
  <cp:lastModifiedBy>Myeong Woo Kim</cp:lastModifiedBy>
  <cp:revision>2</cp:revision>
  <dcterms:created xsi:type="dcterms:W3CDTF">2026-10-09T09:16:31Z</dcterms:created>
  <dcterms:modified xsi:type="dcterms:W3CDTF">2026-10-09T09:47:57Z</dcterms:modified>
</cp:coreProperties>
</file>
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316736"/>
            <a:ext cx="11064240" cy="48371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0"/>
            <a:ext cx="11064240" cy="10972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5400" b="1" i="0">
                <a:solidFill>
                  <a:srgbClr val="000000"/>
                </a:solidFill>
                <a:latin typeface="맑은 고딕"/>
              </a:rPr>
              <a:t>요구사항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0"/>
            <a:ext cx="110642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맑은 고딕"/>
              </a:rPr>
              <a:t>이기종 메모리 LLM 서빙 스케줄링 런타임 (검수용 초안)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절차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640080"/>
            <a:ext cx="111556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맑은 고딕"/>
              </a:rPr>
              <a:t>DP1~DP4 설계·평가 문서와 시나리오에서 FR / QA / C를 추출하고, 품질 시나리오의 정량 값은 통합 단계에서 한 번에 정한다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① 요구사항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시나리오 SC-1~9 (agent, RAG, LoRA, MoE, PIM, multi-node, P/D, 혼합)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DP1~DP4 설계·평가 문서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사용자 확정 전제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과제 범위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27248" y="1417320"/>
            <a:ext cx="164592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310128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② 요구사항 도출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Use Case UC-1~9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기능 요구사항 FR (기본 기능)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품질 속성 QA (ISO/IEC 25010:2023 기반)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제약사항 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25896" y="1417320"/>
            <a:ext cx="164592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208776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③ 요구사항 정제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8776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QA별 품질 시나리오(6요소)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같은 QA = 같은 조건으로 통합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정량 metric은 공란으로 유지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QA 검수 ← 현재 단계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924544" y="1417320"/>
            <a:ext cx="164592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107424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④ 아키텍처 드라이버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07424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FR/QA/C 중 설계를 좌우하는 항목 선정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DP 설계 후보 비교 기준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품질 시나리오 freeze 후 재평가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931920"/>
            <a:ext cx="11155680" cy="36576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Architect로서의 역할 (현재 진행)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DP1~DP4 요구사항 추출 및 일관성 점검 (QA 정의·기준 환경·Baseline 차이 식별)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QA 후보 선정 (ISO 25010:2023 하위 특성 기준)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같은 QA 동일 조건 통합, 임계값 도출 근거 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39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freeze 후 DP별 평가를 공통 품질 시나리오로 재수행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577840"/>
            <a:ext cx="1133856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FR : Functional Requirement   * QA : Quality Attribute   * C : Constraint</a:t>
            </a:r>
          </a:p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※ DP5는 없고 DP6(CXL shared-memory KV consistency)은 이번 범위에서 제외한다. 각 DP의 기존 평가 결과와 임계값은 보류한다.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주요 기능 요구사항 및 제약사항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기능 요구사항 (핵심 10건, 추가 10건은 다음 장)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176" y="1051560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3" y="1051560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0936" y="1069848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1051560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이기종 메모리(HBM, Host DRAM, CXL 메모리, HBF 등)를 지원한다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" y="1581912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3" y="1581912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" y="1600200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1581912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이기종 메모리 간 데이터 복사(이동)를 지원한다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" y="2112263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3" y="2112263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936" y="2130551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9576" y="2112263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vLLM 추론 엔진 연동을 지원한다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" y="2642615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3" y="2642615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0936" y="2660903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9576" y="2642615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KV cache의 offload와 재사용을 지원한다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" y="3172968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3" y="3172968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936" y="3191256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9576" y="3172968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LoRA adapter 서빙을 지원한다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" y="3703320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3" y="3703320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721607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" y="3703320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RAG 서빙을 지원한다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5176" y="4233671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3503" y="4233671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0936" y="4251959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9576" y="4233671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MoE 모델 서빙을 지원한다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5176" y="4764023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3" y="4764023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0936" y="4782311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9576" y="4764023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Prefill/Decode disaggregation을 지원한다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" y="5294375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3503" y="5294375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0936" y="5312663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9576" y="5294375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연산 offload와 GPU fallback을 지원한다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5176" y="5824727"/>
            <a:ext cx="5852160" cy="457200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3503" y="5824727"/>
            <a:ext cx="457200" cy="45720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30936" y="5843015"/>
            <a:ext cx="420624" cy="420624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9576" y="5824727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서버 간 KV 전송을 지원한다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64008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제약사항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55080" y="105156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93408" y="105156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20840" y="106984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2360" y="105156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차세대 메모리(HBF, ScHBM 등)는 인터페이스를 가정하고 스펙에 따라 성능을 시뮬레이션한다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178308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93408" y="178308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720840" y="180136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2360" y="178308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시뮬레이션하는 device runtime은 정상 동작하며 신뢰성이 보장된다고 가정한다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55080" y="251460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251460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20840" y="253288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52360" y="251460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device runtime의 오버헤드는 무시한다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324612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93408" y="324612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720840" y="326440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52360" y="324612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실장 환경이 없는 규모 이상으로의 시스템 확장(노드 증가)은 시뮬레이션 기반으로 평가한다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55080" y="3977639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693408" y="3977639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720840" y="3995927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77639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추론 엔진은 오픈소스 서빙 프레임워크 vLLM 기반에서 구현한다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55080" y="470916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693408" y="470916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720840" y="472744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52360" y="470916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대상 모델은 Transformer 기반 모델이다. 상태 기반 어텐션(state-based attention)은 제외한다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544068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693408" y="544068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720840" y="545896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52360" y="544068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대상 워크로드는 agent 워크로드이며 RAG, LoRA, MoE를 포함한다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정제 – 기능 요구사항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11612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정제 요구사항 : 기능 요구사항 20건, 품질 요구사항 6건, 제약사항 7건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5176" y="1097280"/>
          <a:ext cx="5760720" cy="4937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50292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기능 요구사항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이기종 메모리(HBM, Host DRAM, CXL 메모리, HBF 등)를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이기종 메모리 간 데이터 복사(이동)를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vLLM 추론 엔진 연동을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cache의 offload와 재사용을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LoRA adapter 서빙을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RAG 서빙을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MoE 모델 서빙을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FR-08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Prefill/Decode disaggregation을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FR-09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연산 offload와 GPU fallback을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FR-10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서버 간 KV 전송을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08776" y="1097280"/>
          <a:ext cx="5760720" cy="4937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50292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기능 요구사항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Multi-turn 세션 서빙을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Prefix caching을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Tool 호출 대기 중인 agent 세션의 처리를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요청의 서빙을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압축을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eviction을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재계산을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FR-18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다중 서버 서빙을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FR-19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요청 라우팅(서버 선택)을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FR-20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 장치 스펙(대역폭, 지연, 용량) 입력을 지원한다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5176" y="6126480"/>
            <a:ext cx="11612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FR-01~10은 핵심 기능, FR-11~20은 추가 기능이다. 성능·정확도·정책 판단 내용은 FR이 아니라 QA 또는 DP 설계에서 다룬다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정제 – 제약사항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1704320" cy="43342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2560320"/>
                <a:gridCol w="8412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제약 사항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차세대 메모리 성능 시뮬레이션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차세대 메모리(HBF, ScHBM 등)는 인터페이스를 가정하고 스펙에 따라 성능을 시뮬레이션한다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device runtime 정상 동작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시뮬레이션하는 device runtime은 정상 동작하며 신뢰성이 보장된다고 가정한다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device runtime 오버헤드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device runtime의 오버헤드는 무시한다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시스템 확장 평가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실장 환경이 없는 규모 이상으로의 시스템 확장(노드 증가)은 시뮬레이션 기반으로 평가한다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추론 엔진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추론 엔진은 오픈소스 서빙 프레임워크 vLLM 기반에서 구현한다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모델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모델은 Transformer 기반 모델이다. 상태 기반 어텐션(state-based attention)은 제외한다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워크로드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워크로드는 agent 워크로드이며 RAG, LoRA, MoE를 포함한다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65176" y="5303520"/>
            <a:ext cx="1161288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학습, 보안·테넌트 격리, 장애 복구, stale KV 무효화는 제약이 아니라 범위 밖이다 (다음 장 과제 범위 참조)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과제 범위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65176" y="731520"/>
            <a:ext cx="5669280" cy="36576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범위 안 (결정 = 스케줄링)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176" y="1097280"/>
            <a:ext cx="5669280" cy="3383280"/>
          </a:xfrm>
          <a:prstGeom prst="rect">
            <a:avLst/>
          </a:prstGeom>
          <a:noFill/>
          <a:ln w="19050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/>
          <a:lstStyle/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무엇을 · 어디에 · 언제 둘지/옮길지 정하는 결정 (placement / migration / prefetch)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연산 실행 위치 결정 (GPU vs 연산 가능 메모리, P/D 분리)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요청 배분 결정 (KV 위치 인지 서버 선택, 전송 vs 재계산)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대상 객체 : KV, LoRA adapter, MoE expert, RAG 문서 KV, agent 세션 KV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대상 워크로드 : agent (RAG, LoRA, MoE 포함)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정상 운영 상태의 서빙 성능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731520"/>
            <a:ext cx="5669280" cy="36576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범위 밖 / 주어진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097280"/>
            <a:ext cx="5669280" cy="3383280"/>
          </a:xfrm>
          <a:prstGeom prst="rect">
            <a:avLst/>
          </a:prstGeom>
          <a:noFill/>
          <a:ln w="190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/>
          <a:lstStyle/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실행 메커니즘 : 전송, commit, driver, kernel (입력으로 취급)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device runtime 내부 기능과 신뢰성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학습/훈련, 보안·테넌트 격리, 장애 복구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문서 갱신 시 stale KV 무효화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DP6 (CXL shared-memory KV consistency)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상태 기반 어텐션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DP1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Migration 결정 (evict·promote·prefetch)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9125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DP2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P/D 실행 위치 결정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733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DP3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KV eviction &amp; reuse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4341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DP4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요청 orchestration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" y="5669280"/>
            <a:ext cx="11612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DP2(노드 안 실행 위치)와 DP4(노드 간 배분)의 경계는 별도 논의 중이다. 현재는 각 DP 문서 그대로 반영한다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기능 요구사항 분석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주요 기능의 Use Case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" y="1371600"/>
            <a:ext cx="1188720" cy="731520"/>
          </a:xfrm>
          <a:prstGeom prst="roundRect">
            <a:avLst/>
          </a:prstGeom>
          <a:solidFill>
            <a:srgbClr val="DBDBDB"/>
          </a:solidFill>
          <a:ln w="127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서비스 사용자</a:t>
            </a:r>
          </a:p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(agent client)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3291840"/>
            <a:ext cx="1554480" cy="1097280"/>
          </a:xfrm>
          <a:prstGeom prst="roundRect">
            <a:avLst/>
          </a:prstGeom>
          <a:solidFill>
            <a:srgbClr val="DBDBDB"/>
          </a:solidFill>
          <a:ln w="127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시스템 개발자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(QA4 Modifiability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시나리오의 주체)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453896" y="1216152"/>
            <a:ext cx="877824" cy="521208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286000" y="1005840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UC-1 Tool 대기 KV의 HBM 점유 해소·재방문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453896" y="1728216"/>
            <a:ext cx="877824" cy="9144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286000" y="1517904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UC-2 HBM 초과 요청 처리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53896" y="1737360"/>
            <a:ext cx="877824" cy="50292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286000" y="2029968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UC-3 RAG 공유 문서 prefix 재사용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53896" y="1737360"/>
            <a:ext cx="877824" cy="1014984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286000" y="2542032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UC-4 LoRA 멀티 테넌트 adapter 전환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53896" y="1737360"/>
            <a:ext cx="877824" cy="1527048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2286000" y="3054096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UC-5 MoE expert 접근 패턴 배치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53896" y="1737360"/>
            <a:ext cx="877824" cy="2039112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286000" y="3566160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UC-6 연산 가능 메모리(PIM/PNM) offload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53896" y="1737360"/>
            <a:ext cx="877824" cy="2551176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286000" y="4078224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UC-7 노드 간 KV 이동·서버 선택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53896" y="1737360"/>
            <a:ext cx="877824" cy="306324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2286000" y="4590288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UC-8 Prefill/Decode 분리 실행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453896" y="1737360"/>
            <a:ext cx="877824" cy="3575304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286000" y="5102352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UC-9 혼합 부하 자원 경쟁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4008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Domain Model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52360" y="1348740"/>
            <a:ext cx="2971799" cy="4572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452360" y="1348740"/>
            <a:ext cx="228600" cy="1234439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680960" y="2583179"/>
            <a:ext cx="2788920" cy="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680960" y="2583179"/>
            <a:ext cx="182880" cy="128016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3863339"/>
            <a:ext cx="2971800" cy="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7452360" y="3863339"/>
            <a:ext cx="411480" cy="1280161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452360" y="5097780"/>
            <a:ext cx="2971799" cy="4572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469880" y="2583179"/>
            <a:ext cx="365760" cy="128016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400800" y="1005840"/>
            <a:ext cx="2103120" cy="68580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Request / Session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1005840"/>
            <a:ext cx="219456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KV block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(ref_cnt, hash)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194560"/>
            <a:ext cx="256032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Object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KV·LoRA·Expert·RAG doc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2194560"/>
            <a:ext cx="265176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Tier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HBM·Host DRAM·CXL·HBF·PIM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474720"/>
            <a:ext cx="310896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Decision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placement·migration·routing·compute location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3474720"/>
            <a:ext cx="228600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Policy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P1~P5 / C1~C2 후보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754880"/>
            <a:ext cx="210312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Link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server 간 연결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4754880"/>
            <a:ext cx="2194560" cy="68580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Server / Node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5760720"/>
            <a:ext cx="5120640" cy="5486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Metric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Goodput·TTFT·TPOT·HBM 점유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" y="5852160"/>
            <a:ext cx="57607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UC-1~9 : doc-mk/Requirements/usecases.md (제안 상태)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[1/3]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5303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agent의 tool 호출 대기 중 KV가 HBM을 점유하지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FR-13, FR-04, QA3 Resource utilization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요청을 실패 없이 처리한다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FR-14, 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같은 RAG 문서 prefix 요청은 KV 위치와 무관하게 재사용한다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FR-06, FR-12,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수의 LoRA adapter를 서빙한다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FR-05, 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MoE expert를 접근 빈도에 맞게 서로 다른 메모리에 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FR-07,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연산 가능 메모리에 연산을 맡기되 이득이 없으면 GPU 경로를 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FR-09,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KV 위치를 알고 서버를 고르며 전송과 재계산 중 빠른 쪽을 택한다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FR-10, FR-19, QA1, QA5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RQ-SC-08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요청마다 Prefill/Decode 분리 실행 여부를 정한다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FR-08, QA1, QA2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RQ-SC-09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혼합 부하에서 이동 트래픽이 서빙을 잠식하지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FR-02,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[2/3]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5303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이동·복원해도 모델 출력이 바뀌지 않는다 (bit-exact)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FR-02, QA6 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후속 요청 시점을 예측하거나 도착 즉시 KV를 HBM으로 복원한다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FR-04, FR-11,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이동 대상 메모리가 부족하면 쓰일 가능성이 낮은 KV부터 정리한다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FR-16, FR-17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새 메모리 tier, 객체 유형, 정책을 쉽게 추가한다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FR-01, FR-20, 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RQ-DP2-01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(n_p, n_d) 비용 모델로 P/D 실행 위치를 정한다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FR-08, QA1, QA2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RQ-DP2-02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노드 수가 늘어도 결정 성능과 처리량이 확장된다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FR-18, QA5 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RQ-DP3-01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중요도 낮은 KV를 선택적으로 제거하되 허용 정확도 한도 안에서 수행한다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FR-15, FR-16, QA6 Correctness (F1)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RQ-DP3-02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압축 KV를 재사용하고 필요한 부분만 재계산한다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FR-15, FR-17,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RQ-DP3-03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Drop과 재사용으로 HBM KV 점유를 줄인다 (DP1과 같은 정의)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QA3 Resource utilization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[3/3]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4754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서버별 캐시 위치를 알고 라우팅한다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FR-19, 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OSS(llm-d) 확장과 자체 구현 중 목표 QA를 만족하는 방식을 택한다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FR-19, 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서버 수가 늘어도 orchestrator 결정이 병목이 되지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FR-18, QA5 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결정이 서빙 경로(forward)를 막지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차세대 메모리는 스펙 기반 시뮬레이션으로 평가한다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C-01, C-02, C-03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실장이 없는 규모의 확장은 시뮬레이션으로 평가한다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vLLM 기반으로 구현한다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C-05, FR-03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대상은 Transformer 모델과 agent 워크로드이다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C-06, C-07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품질 요구사항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37744" y="731520"/>
            <a:ext cx="11777472" cy="777240"/>
          </a:xfrm>
          <a:prstGeom prst="rect">
            <a:avLst/>
          </a:prstGeom>
          <a:noFill/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DP1~DP4 문서의 QA를 ISO/IEC 25010:2023 하위 특성 기준으로 모은 후보이다. 같은 QA는 DP와 무관하게 같은 조건(워크로드, SLO, 환경, Baseline)에서 측정한다.</a:t>
            </a:r>
          </a:p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정량 metric(목표값)은 모두 공란이며, 중요도·난이도·순위는 QAW(검수) 후 확정한다.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97864" y="2103120"/>
            <a:ext cx="173736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</a:t>
            </a:r>
          </a:p>
        </p:txBody>
      </p:sp>
      <p:sp>
        <p:nvSpPr>
          <p:cNvPr id="6" name="Rectangle 5"/>
          <p:cNvSpPr/>
          <p:nvPr/>
        </p:nvSpPr>
        <p:spPr>
          <a:xfrm>
            <a:off x="3026664" y="2103120"/>
            <a:ext cx="214884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Attribute Refinement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266944" y="2103120"/>
            <a:ext cx="329184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정의 (Scenario 요약)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50224" y="2103120"/>
            <a:ext cx="178308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관련 DP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24744" y="2103120"/>
            <a:ext cx="68580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중요도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256264" y="2103120"/>
            <a:ext cx="68580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난이도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" y="1627632"/>
            <a:ext cx="3657600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맑은 고딕"/>
              </a:rPr>
              <a:t>품질 속성 유틸리티 트리 (후보)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" y="2606039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606039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624327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97864" y="2606039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26664" y="2606039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Throughput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6944" y="2606039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SLO를 만족하는 최대 처리량 (Max SLO Goodput)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50224" y="2606039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DP1·2·4 (DP3 보조)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24744" y="260603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56264" y="260603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5176" y="3264407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3" y="3264407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936" y="3282695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97864" y="3264407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26664" y="3264407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Latency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66944" y="3264407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TTFT / TPOT (별도 지표)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50224" y="3264407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DP1~4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24744" y="3264407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256264" y="3264407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5176" y="3922775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3" y="3922775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941063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97864" y="3922775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6664" y="3922775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Resource utilization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6944" y="3922775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HBM 점유율 (모든 DP 동일 조건)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50224" y="3922775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DP1·3 목표 / DP2·4 측정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24744" y="3922775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256264" y="3922775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5176" y="4581144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3" y="4581144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0936" y="4599431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97864" y="4581144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Modifiability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26664" y="4581144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새 tier·정책·객체 추가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581144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새 tier·정책·객체 추가 용이성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50224" y="4581144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DP1·2·4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24744" y="4581144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256264" y="4581144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5176" y="5239512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3503" y="5239512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0936" y="5257799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97864" y="5239512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Scalability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26664" y="5239512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노드·메모리 type 증가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66944" y="5239512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노드·메모리 type 증가 시 성능 유지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50224" y="5239512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DP2·4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524744" y="5239512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256264" y="5239512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65176" y="5897879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03503" y="5897879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30936" y="5916167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97864" y="5897879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Correctness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26664" y="5897879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출력 정확성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66944" y="5897879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출력 bit-exact / DP3는 F1 한도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50224" y="5897879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DP1~4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524744" y="589787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56264" y="589787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품질 속성 유틸리티 트리 [1/2]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0789920" cy="58338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1645920"/>
                <a:gridCol w="6035040"/>
                <a:gridCol w="640080"/>
                <a:gridCol w="64008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Quality Attribute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Attribute Refinement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Scenario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(Agent 대기 KV)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[DP1·3] 출처는 agent 클라이언트이고 요청이 지속 도착한다. 환경은 tool 대기 중인 idle KV가 HBM을 점유한 정상 운영이다. 대상은 이동 결정 스케줄러이고, 응답은 idle KV를 HBM 밖으로 옮겨 다른 요청을 더 처리하는 것이다. 측정은 SLO를 만족하는 Max Goodput이 Baseline 대비 [        ]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(P/D 실행 위치)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[DP2] Prefill burst와 긴 history가 섞여 도착한다. 대상은 실행 위치 결정 모듈이고, 응답은 요청별 P/D 분리 여부와 (n_p, n_d)를 정하는 것이다. 측정은 SLO를 만족하는 Max Goodput이 Baseline 대비 [        ]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(요청 배분)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[DP4] KV 캐시가 서버별로 분산된 다중 서버에서 같은 prefix 요청이 도착한다. 대상은 orchestrator이고, 응답은 KV 위치를 보고 서버를 고르는 것이다. 측정은 SLO를 만족하는 Max Goodput이 Baseline 대비 [        ]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TTFT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(재개 / 재사용)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[DP1·3·4] 환경은 KV가 HBM 밖 tier에 있고 부하가 고정된 상태이다. 같은 세션의 후속 요청 또는 같은 문서 prefix 요청이 도착하고, 응답은 KV를 찾아 복원하고 재계산을 최소화하는 것이다. 측정은 TTFT(P50, P99)가 Baseline 대비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TPOT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(다계층 attention)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[DP1·2·3] 환경은 KV 일부가 느린 tier에 있고 부하가 고정된 상태에서 decode가 진행된다. 응답은 접근 빈도가 높은 KV를 빠른 tier에 두는 것이다. 측정은 TPOT(P50, P99)가 Baseline 대비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Resource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utilization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점유율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[전체 DP, 동일 조건] 동일 workload·SLO·Baseline에서 동일 부하가 유입된다. 응답은 KV·adapter·expert를 HBM 밖에 두는 것이다. 측정은 HBM 점유율(평균, 피크)이 Baseline 대비 [        ] 이하이다 (DP1·3 목표, DP2·4 측정)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품질 속성 유틸리티 트리 [2/2]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0789920" cy="5010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1645920"/>
                <a:gridCol w="6035040"/>
                <a:gridCol w="640080"/>
                <a:gridCol w="640080"/>
                <a:gridCol w="64008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Quality Attribute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Attribute Refinement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Scenario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새 tier 추가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[시스템 개발자] 개발 시점에 새 메모리 tier(HBF, CXL 등) 추가를 요청한다. 대상은 정책·배치 모듈이고, 응답은 인터페이스에 맞춰 tier를 추가하는 것이다. 측정은 변경 모듈이 [        ] 개, 공수가 [        ] man-month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새 정책·객체 추가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[시스템 개발자] 개발 시점에 새 이동·라우팅 정책 또는 객체 유형을 추가한다. 응답은 서빙 경로 수정 없이 반영하는 것이다. 측정은 변경 모듈이 [        ] 개, 공수가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노드 수 증가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[DP2·4] 환경은 실장이 없는 규모를 포함한 시뮬레이션이다(C-04). 노드 수를 N에서 2N, 4N으로 늘린다. 응답은 결정이 병목이 되지 않고 처리량이 늘어나는 것이다. 측정은 Scaling Efficiency가 [        ] 이상이다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 type 증가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(제안)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환경은 스펙 기반 시뮬레이션이다(C-01, C-04). 새 type의 메모리를 tier로 추가한다. 응답은 추가 용량을 활용하며 결정 품질을 유지하는 것이다. 측정은 Capacity scaling efficiency가 [        ] 이상, 결정 지연 증가율이 [        ] 이내, optimality gap이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출력 bit-exact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[DP1·2·4] 같은 precision에서 이동·복원·offload·재사용을 거친 요청이다. 응답은 거치지 않은 경우와 같은 출력을 내는 것이다. 측정은 출력 불일치가 [        ] 건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Drop 후 정확도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(DP3)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[DP3] 중요도 기반 Drop·압축 재사용을 적용한다. 환경은 지정 task와 dataset(미정)이다. 응답은 정확도 한도 안에서 Drop하는 것이다. 측정은 압축 전 + full recompute 대비 F1 하락이 상대 [        ] 이내이다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65176" y="6355080"/>
            <a:ext cx="11612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000000"/>
                </a:solidFill>
                <a:latin typeface="맑은 고딕"/>
              </a:rPr>
              <a:t>* [ ] = 공란. 중요도·난이도·순위는 Claude 제안이며 소유자 확정 전이다 (H/M/L, 순위는 H/H·H/M 중심)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QA 검수 : DP별 적용 현황과 의견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1612880" cy="3090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594360"/>
                <a:gridCol w="594360"/>
                <a:gridCol w="594360"/>
                <a:gridCol w="594360"/>
                <a:gridCol w="722376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의견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Goodput으로 정의한다 (ISO 매핑 없이 그대로 사용)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TTFT와 TPOT를 합치지 않고 별도 지표로 둔다. 부하를 고정하고 분포를 잰다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QA3 Resource util.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점유율로 통일한다. DP2·4는 목표가 아니라 같은 조건에서의 측정이다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DP3에 없다. 집계 방식(모듈 수, man-month, agent 비용) 통일이 필요하다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QA5 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DP2·4에만 있다. 노드·메모리 type 증가를 시뮬레이션으로 평가한다 (C-04)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QA6 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DP3만 능동 QA(F1)이다. 나머지는 bit-exact 확인이다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65176" y="3931920"/>
            <a:ext cx="11612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● DP 문서에서 선정(목표)   ○ 측정·확인 대상   – 해당 없음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" y="4251960"/>
            <a:ext cx="5760720" cy="36576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검수 요청 사항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" y="4617720"/>
            <a:ext cx="5760720" cy="1737360"/>
          </a:xfrm>
          <a:prstGeom prst="rect">
            <a:avLst/>
          </a:prstGeom>
          <a:noFill/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QA 6개가 과제 QA로 충분한가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Scalability를 공통 QA로 둘지 DP 전용으로 둘지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중요도·난이도·순위 확정 (QAW)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251960"/>
            <a:ext cx="5760720" cy="36576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ISO 25010:2023 내 추가 후보 (미채택)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4617720"/>
            <a:ext cx="5760720" cy="1737360"/>
          </a:xfrm>
          <a:prstGeom prst="rect">
            <a:avLst/>
          </a:prstGeom>
          <a:noFill/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Compatibility : Co-existence, Interoperability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Reliability : Fault tolerance, Availability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Maintainability : Analysability, Testability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Flexibility : Adaptability, Replaceability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Functional suitability : Completeness, Appropriateness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아키텍처 드라이버 선정 (초안)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852160" y="1828800"/>
            <a:ext cx="2468880" cy="1371600"/>
          </a:xfrm>
          <a:prstGeom prst="roundRect">
            <a:avLst/>
          </a:prstGeom>
          <a:solidFill>
            <a:srgbClr val="DBDBDB"/>
          </a:solidFill>
          <a:ln w="254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이기종 메모리</a:t>
            </a:r>
          </a:p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LLM 서빙</a:t>
            </a:r>
          </a:p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스케줄링 런타임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Functional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8580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66344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Quality Attributes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7" y="1051560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1069848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051560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이기종 메모리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051560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55848" y="1051560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83279" y="1069848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1051560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데이터 복사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527048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" y="1527048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1545336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527048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vLLM 연동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527048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55848" y="1527048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83279" y="1545336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1527048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KV offload·재사용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002536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7" y="2002536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2020824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2002536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LoRA 서빙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2002536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55848" y="2002536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83279" y="2020824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2002536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RAG 서빙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478024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7" y="2478024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0080" y="2496312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2478024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MoE 서빙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2478024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55848" y="2478024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383279" y="2496312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86200" y="2478024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P/D disaggregation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2953512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7" y="2953512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0080" y="2971800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2953512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연산 offload·GPU fallback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7520" y="2953512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55848" y="2953512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383279" y="2971800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86200" y="2953512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서버 간 KV 전송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03920" y="1051560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842248" y="1051560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69680" y="1069848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72600" y="1051560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차세대 메모리 시뮬레이션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03920" y="1527048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42248" y="1527048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869680" y="1545336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1527048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device runtime 정상 동작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2002536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42248" y="2002536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869680" y="2020824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72600" y="2002536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runtime 오버헤드 무시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03920" y="2478024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42248" y="2478024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869680" y="2496312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72600" y="2478024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시스템 확장은 시뮬레이션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03920" y="2953512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842248" y="2953512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869680" y="2971800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72600" y="2953512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vLLM 기반 구현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3429000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42248" y="3429000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869680" y="3447288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72600" y="3429000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Transformer 모델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3920" y="3904487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842248" y="3904487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869680" y="3922775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72600" y="3904487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agent 워크로드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5029200"/>
            <a:ext cx="3749039" cy="502920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2647" y="5029200"/>
            <a:ext cx="502920" cy="50292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40080" y="5047488"/>
            <a:ext cx="466344" cy="466344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88720" y="502920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Throughput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06240" y="5029200"/>
            <a:ext cx="3749039" cy="502920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44568" y="5029200"/>
            <a:ext cx="502920" cy="50292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572000" y="5047488"/>
            <a:ext cx="466344" cy="466344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20640" y="502920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Latency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138160" y="5029200"/>
            <a:ext cx="3749039" cy="502920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476488" y="5029200"/>
            <a:ext cx="502920" cy="50292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503920" y="5047488"/>
            <a:ext cx="466344" cy="466344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52560" y="502920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HBM 점유율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74320" y="5669280"/>
            <a:ext cx="3749039" cy="502920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2647" y="5669280"/>
            <a:ext cx="502920" cy="50292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40080" y="5687568"/>
            <a:ext cx="466344" cy="466344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88720" y="566928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Modifiability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06240" y="5669280"/>
            <a:ext cx="3749039" cy="502920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44568" y="5669280"/>
            <a:ext cx="502920" cy="50292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572000" y="5687568"/>
            <a:ext cx="466344" cy="466344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20640" y="566928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Scalability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138160" y="5669280"/>
            <a:ext cx="3749039" cy="502920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476488" y="5669280"/>
            <a:ext cx="502920" cy="50292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503920" y="5687568"/>
            <a:ext cx="466344" cy="466344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52560" y="5669280"/>
            <a:ext cx="274320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Correctness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4320" y="3749039"/>
            <a:ext cx="804672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초안이다. 중요도·난이도 기입 후 드라이버를 최종 선정한다.</a:t>
            </a:r>
          </a:p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FR-11~20은 핵심 FR의 세부 기능이며 드라이버로 올리지 않았다.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
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316736"/>
            <a:ext cx="11064240" cy="48371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0"/>
            <a:ext cx="11064240" cy="10972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5400" b="1" i="0">
                <a:solidFill>
                  <a:srgbClr val="000000"/>
                </a:solidFill>
                <a:latin typeface="맑은 고딕"/>
              </a:rPr>
              <a:t>요구사항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0"/>
            <a:ext cx="110642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  <a:latin typeface="맑은 고딕"/>
              </a:rPr>
              <a:t>이기종 메모리 LLM 서빙 스케줄링 런타임 (검수용 초안)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절차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0352" y="640080"/>
            <a:ext cx="111556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맑은 고딕"/>
              </a:rPr>
              <a:t>DP1~DP4 설계·평가 문서와 시나리오에서 FR / QA / C를 추출하고, 품질 시나리오의 정량 값은 통합 단계에서 한 번에 정한다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① 요구사항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시나리오 SC-1~9 (agent, RAG, LoRA, MoE, PIM, multi-node, P/D, 혼합)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DP1~DP4 설계·평가 문서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사용자 확정 전제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과제 범위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27248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310128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② 요구사항 도출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Use Case UC-1~9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기능 요구사항 FR (기본 기능)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품질 속성 QA (ISO/IEC 25010:2023 기반)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제약사항 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25896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208776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③ 요구사항 정제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8776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QA별 품질 시나리오(6요소)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같은 QA = 같은 조건으로 통합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정량 metric은 공란으로 유지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QA 검수 ← 현재 단계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24544" y="1417320"/>
            <a:ext cx="164592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107424" y="1188720"/>
            <a:ext cx="2697480" cy="45720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④ 아키텍처 드라이버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07424" y="1645920"/>
            <a:ext cx="2697480" cy="2011680"/>
          </a:xfrm>
          <a:prstGeom prst="rect">
            <a:avLst/>
          </a:prstGeom>
          <a:noFill/>
          <a:ln w="1905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/>
          <a:lstStyle/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FR/QA/C 중 설계를 좌우하는 항목 선정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DP 설계 후보 비교 기준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맑은 고딕"/>
              </a:rPr>
              <a:t>• 품질 시나리오 freeze 후 재평가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931920"/>
            <a:ext cx="11155680" cy="36576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Architect로서의 역할 (현재 진행)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DP1~DP4 요구사항 추출 및 일관성 점검 (QA 정의·기준 환경·Baseline 차이 식별)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QA 후보 선정 (ISO 25010:2023 하위 특성 기준)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같은 QA 동일 조건 통합, 임계값 도출 근거 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39" y="4343400"/>
            <a:ext cx="2697480" cy="1005840"/>
          </a:xfrm>
          <a:prstGeom prst="rect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freeze 후 DP별 평가를 공통 품질 시나리오로 재수행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577840"/>
            <a:ext cx="1133856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FR : Functional Requirement   * QA : Quality Attribute   * C : Constraint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※ DP5는 없고 DP6(CXL shared-memory KV consistency)은 이번 범위에서 제외한다. 각 DP의 기존 평가 결과와 임계값은 보류한다.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주요 기능 요구사항 및 제약사항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기능 요구사항 (핵심 11건, 전체 26건은 다음 장)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" y="1051560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3" y="1051560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" y="1069848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051560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메모리 배치와 연산의 동적 스케줄링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" y="1545336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3" y="1545336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563624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545336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이기종 메모리 데이터 저장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" y="2039112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3" y="2039112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936" y="2057400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039112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메모리 간 데이터 복사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" y="2532888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3" y="2532888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936" y="2551176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532888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vLLM 연동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" y="3026664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026664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" y="3044952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26664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KV cache offload와 재사용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" y="3520440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3" y="3520440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538728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520440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LoRA adapter 서빙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" y="4014216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3" y="4014216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0936" y="4032504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014216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RAG 서빙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5176" y="4507992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3" y="4507992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0936" y="4526279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4507992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MoE 모델 서빙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" y="5001768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503" y="5001768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0936" y="5020056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001768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Prefill/Decode disaggregation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5176" y="5495544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3503" y="5495544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30936" y="5513831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5495544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연산 offload와 GPU fallback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5176" y="5989320"/>
            <a:ext cx="5852160" cy="420624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3503" y="5989320"/>
            <a:ext cx="420624" cy="420624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30936" y="6007608"/>
            <a:ext cx="384048" cy="384048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5989320"/>
            <a:ext cx="4882896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100" b="1" i="0">
                <a:solidFill>
                  <a:srgbClr val="000000"/>
                </a:solidFill>
                <a:latin typeface="맑은 고딕"/>
              </a:rPr>
              <a:t>서버 간 KV 전송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6400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제약사항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105156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93408" y="105156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20840" y="106984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2360" y="105156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차세대 메모리(HBF, ScHBM 등)는 인터페이스를 가정하고 스펙에 따라 성능을 시뮬레이션한다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55080" y="178308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93408" y="178308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20840" y="180136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52360" y="178308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시뮬레이션하는 device runtime은 정상 동작하며 신뢰성이 보장된다고 가정한다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251460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93408" y="251460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720840" y="253288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52360" y="251460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runtime의 오버헤드는 무시한다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324612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693408" y="324612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720840" y="326440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24612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실장 환경이 없는 규모 이상으로의 시스템 확장(노드 증가)은 시뮬레이션 기반으로 평가한다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55080" y="3977639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693408" y="3977639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720840" y="3995927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52360" y="3977639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추론 엔진은 오픈소스 서빙 프레임워크 vLLM 기반에서 구현한다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470916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693408" y="470916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720840" y="472744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470916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대상 모델은 Transformer 기반 모델이다. 상태 기반 어텐션(state-based attention)은 제외한다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5440680"/>
            <a:ext cx="5577840" cy="640080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93408" y="5440680"/>
            <a:ext cx="640080" cy="64008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720840" y="5458968"/>
            <a:ext cx="603503" cy="603503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C07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52360" y="5440680"/>
            <a:ext cx="4389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대상 워크로드는 agent 워크로드이며 RAG, LoRA, MoE를 포함한다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정제 – 기능 요구사항 [1/2]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11612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정제 요구사항 : 기능 요구사항 26건, 품질 요구사항 11건, 제약사항 7건 (합계 44건)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5176" y="1097280"/>
          <a:ext cx="11704320" cy="53400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2743200"/>
                <a:gridCol w="822960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기능 요구사항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이기종 메모리 데이터 저장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외의 메모리(Host DRAM, CXL 메모리, HBF 등)에 KV cache, LoRA adapter, expert 같은 데이터를 저장하고 읽는다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간 데이터 복사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지정한 데이터를 한 메모리에서 다른 메모리로 복사하거나 이동한다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vLLM 연동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vLLM이 요청을 처리하는 흐름 안에서 동작하며, KV cache 관리 시점에 데이터 배치와 이동 기능을 호출한다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cache offload와 재사용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당장 쓰지 않는 KV cache를 HBM 밖으로 내려 보관하고, 다시 필요하면 HBM으로 가져와 재사용한다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LoRA adapter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요청이 지정한 LoRA adapter를 적재해 응답을 생성하고, 쓰지 않는 adapter는 HBM에서 내린다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RAG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검색된 문서가 붙은 요청을 처리하고, 문서 KV를 보관했다가 같은 문서의 요청에서 다시 사용한다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MoE 모델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MoE 모델의 expert를 여러 메모리에 나누어 두고 선택된 expert로 요청을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Prefill/Decode disaggregation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요청의 Prefill과 Decode를 서로 다른 자원에서 나누어 실행하고, Prefill의 KV를 Decode 쪽으로 전달한다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FR-09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연산 offload와 GPU fallback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연산 가능 메모리(PIM/PNM)가 지원하는 연산은 그 메모리에서, 지원하지 않는 연산은 GPU에서 수행한다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FR-10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서버 간 KV 전송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한 서버의 KV cache를 다른 서버로 보내 상대 서버가 쓸 수 있게 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Multi-turn 세션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같은 세션의 이전 대화 내용과 KV를 유지해 후속 요청을 이어서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Prefix caching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앞부분이 같은 요청들이 이미 계산된 KV를 공유한다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Tool 호출 대기 세션 처리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agent가 tool 호출로 생성을 멈춘 세션의 KV를 보관하고, tool 결과가 오면 이어서 생성한다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정제 – 기능 요구사항 [2/2]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11612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정제 요구사항 : 기능 요구사항 26건, 품질 요구사항 11건, 제약사항 7건 (합계 44건)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5176" y="1097280"/>
          <a:ext cx="11704320" cy="53400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2743200"/>
                <a:gridCol w="822960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기능 요구사항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초과 요청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KV가 HBM 용량보다 큰 요청도 다른 메모리를 함께 사용해 끝까지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압축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cache를 압축된 형태로 보관하고 필요할 때 사용한다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eviction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메모리가 부족하면 정해진 기준에 따라 KV의 일부를 제거한다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재계산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제거되었거나 없는 KV를 입력 토큰으로부터 다시 계산한다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다중 서버 서빙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여러 서버가 하나의 서비스로 묶여 요청을 나누어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FR-19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 라우팅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들어온 요청을 처리할 서버를 선택해 그 서버로 전달한다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FR-20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장치 스펙 입력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각 메모리의 대역폭, 지연, 용량 같은 스펙을 설정 값으로 받는다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용량·사용 현황 조회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각 메모리의 용량과 사용 현황을 조회한다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데이터 위치 조회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데이터가 어느 메모리(서버)에 있는지 조회한다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접근 이력 기록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데이터별 접근 횟수와 최근 접근 시각을 기록한다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데이터 prefetch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후속 요청이 오기 전에 데이터를 상위 메모리로 미리 가져온다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정책 변경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이동·배치 정책을 설정으로 바꾼다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FR-26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메모리 배치와 연산의 동적 스케줄링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서빙 중의 상태(요청 도착, 메모리 사용 현황, 접근 이력)를 보고 데이터를 어느 메모리에 둘지, 연산을 어느 장치에서 수행할지, 이를 언제 어떤 순서로 실행할지를 정해 반영한다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정제 – 제약사항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1704320" cy="43342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2560320"/>
                <a:gridCol w="8412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제약 사항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 성능 시뮬레이션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메모리(HBF, ScHBM 등)는 인터페이스를 가정하고 스펙에 따라 성능을 시뮬레이션한다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 정상 동작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시뮬레이션하는 device runtime은 정상 동작하며 신뢰성이 보장된다고 가정한다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 오버헤드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device runtime의 오버헤드는 무시한다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시스템 확장 평가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실장 환경이 없는 규모 이상으로의 시스템 확장(노드 증가)은 시뮬레이션 기반으로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추론 엔진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추론 엔진은 오픈소스 서빙 프레임워크 vLLM 기반에서 구현한다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모델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모델은 Transformer 기반 모델이다. 상태 기반 어텐션(state-based attention)은 제외한다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워크로드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맑은 고딕"/>
                        </a:rPr>
                        <a:t>대상 워크로드는 agent 워크로드이며 RAG, LoRA, MoE를 포함한다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5303520"/>
            <a:ext cx="1161288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학습, 보안·테넌트 격리, 장애 복구, stale KV 무효화는 제약이 아니라 범위 밖이다 (다음 장 과제 범위 참조)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과제 범위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65176" y="731520"/>
            <a:ext cx="5669280" cy="36576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범위 안 (결정 = 스케줄링)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" y="1097280"/>
            <a:ext cx="5669280" cy="3383280"/>
          </a:xfrm>
          <a:prstGeom prst="rect">
            <a:avLst/>
          </a:prstGeom>
          <a:noFill/>
          <a:ln w="19050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/>
          <a:lstStyle/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무엇을 · 어디에 · 언제 둘지/옮길지 정하는 결정 (placement / migration / prefetch)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연산 실행 위치 결정 (GPU vs 연산 가능 메모리, P/D 분리)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요청 배분 결정 (KV 위치 인지 서버 선택, 전송 vs 재계산)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대상 객체 : KV, LoRA adapter, MoE expert, RAG 문서 KV, agent 세션 KV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대상 워크로드 : agent (RAG, LoRA, MoE 포함)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정상 운영 상태의 서빙 성능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731520"/>
            <a:ext cx="5669280" cy="365760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</a:rPr>
              <a:t>범위 밖 / 주어진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097280"/>
            <a:ext cx="5669280" cy="3383280"/>
          </a:xfrm>
          <a:prstGeom prst="rect">
            <a:avLst/>
          </a:prstGeom>
          <a:noFill/>
          <a:ln w="190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/>
          <a:lstStyle/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실행 메커니즘 : 전송, commit, driver, kernel (입력으로 취급)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device runtime 내부 기능과 신뢰성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학습/훈련, 보안·테넌트 격리, 장애 복구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문서 갱신 시 stale KV 무효화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DP6 (CXL shared-memory KV consistency)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맑은 고딕"/>
              </a:rPr>
              <a:t>• 상태 기반 어텐션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DP1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Migration 결정 (evict·promote·prefetch)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9125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DP2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P/D 실행 위치 결정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733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DP3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KV eviction &amp; reuse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43416" y="4709160"/>
            <a:ext cx="2788920" cy="777240"/>
          </a:xfrm>
          <a:prstGeom prst="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DP4 </a:t>
            </a:r>
          </a:p>
          <a:p>
            <a:pPr algn="ctr"/>
            <a:r>
              <a:rPr sz="1100" b="0" i="0">
                <a:solidFill>
                  <a:srgbClr val="000000"/>
                </a:solidFill>
                <a:latin typeface="맑은 고딕"/>
              </a:rPr>
              <a:t>요청 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" y="5669280"/>
            <a:ext cx="11612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DP2(노드 안 실행 위치)와 DP4(노드 간 배분)의 경계는 별도 논의 중이다. 현재는 각 DP 문서 그대로 반영한다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기능 요구사항 분석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265176" y="64008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주요 기능의 Use Case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" y="1371600"/>
            <a:ext cx="1188720" cy="731520"/>
          </a:xfrm>
          <a:prstGeom prst="roundRect">
            <a:avLst/>
          </a:prstGeom>
          <a:solidFill>
            <a:srgbClr val="DBDBDB"/>
          </a:solidFill>
          <a:ln w="127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서비스 사용자</a:t>
            </a:r>
          </a:p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(agent client)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3291840"/>
            <a:ext cx="1554480" cy="1097280"/>
          </a:xfrm>
          <a:prstGeom prst="roundRect">
            <a:avLst/>
          </a:prstGeom>
          <a:solidFill>
            <a:srgbClr val="DBDBDB"/>
          </a:solidFill>
          <a:ln w="127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시스템 개발자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(QA4 Modifiability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시나리오의 주체)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453896" y="1216152"/>
            <a:ext cx="877824" cy="521208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286000" y="1005840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UC-1 Tool 대기 KV의 HBM 점유 해소·재방문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453896" y="1728216"/>
            <a:ext cx="877824" cy="914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286000" y="1517904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UC-2 HBM 초과 요청 처리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53896" y="1737360"/>
            <a:ext cx="877824" cy="50292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286000" y="2029968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UC-3 RAG 공유 문서 prefix 재사용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53896" y="1737360"/>
            <a:ext cx="877824" cy="101498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286000" y="2542032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UC-4 LoRA 멀티 테넌트 adapter 전환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53896" y="1737360"/>
            <a:ext cx="877824" cy="1527048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286000" y="3054096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UC-5 MoE expert 접근 패턴 배치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53896" y="1737360"/>
            <a:ext cx="877824" cy="2039112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286000" y="3566160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UC-6 연산 가능 메모리(PIM/PNM) offload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453896" y="1737360"/>
            <a:ext cx="877824" cy="2551176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286000" y="4078224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UC-7 노드 간 KV 이동·서버 선택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53896" y="1737360"/>
            <a:ext cx="877824" cy="306324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286000" y="4590288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UC-8 Prefill/Decode 분리 실행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453896" y="1737360"/>
            <a:ext cx="877824" cy="3575304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2286000" y="5102352"/>
            <a:ext cx="3657600" cy="420624"/>
          </a:xfrm>
          <a:prstGeom prst="ellipse">
            <a:avLst/>
          </a:prstGeom>
          <a:solidFill>
            <a:srgbClr val="DEEBF6"/>
          </a:solidFill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rIns="137160" bIns="0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UC-9 혼합 부하 자원 경쟁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4008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Domain Model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52360" y="1348740"/>
            <a:ext cx="2971799" cy="4572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52360" y="1348740"/>
            <a:ext cx="228600" cy="1234439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680960" y="2583179"/>
            <a:ext cx="2788920" cy="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680960" y="2583179"/>
            <a:ext cx="182880" cy="128016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3863339"/>
            <a:ext cx="2971800" cy="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452360" y="3863339"/>
            <a:ext cx="411480" cy="1280161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452360" y="5097780"/>
            <a:ext cx="2971799" cy="4572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469880" y="2583179"/>
            <a:ext cx="365760" cy="1280160"/>
          </a:xfrm>
          <a:prstGeom prst="line">
            <a:avLst/>
          </a:prstGeom>
          <a:ln w="15875">
            <a:solidFill>
              <a:srgbClr val="7878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400800" y="1005840"/>
            <a:ext cx="2103120" cy="68580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Request / Session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1005840"/>
            <a:ext cx="21945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KV block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(ref_cnt, hash)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194560"/>
            <a:ext cx="256032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Object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KV·LoRA·Expert·RAG doc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2194560"/>
            <a:ext cx="26517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Tier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HBM·Host DRAM·CXL·HBF·PIM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474720"/>
            <a:ext cx="310896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Decision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placement·migration·routing·compute 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3474720"/>
            <a:ext cx="228600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Policy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P1~P5 / C1~C2 후보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754880"/>
            <a:ext cx="2103120" cy="7772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Link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server 간 연결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26880" y="4754880"/>
            <a:ext cx="2194560" cy="68580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Server / Node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5760720"/>
            <a:ext cx="5120640" cy="548640"/>
          </a:xfrm>
          <a:prstGeom prst="roundRect">
            <a:avLst/>
          </a:prstGeom>
          <a:solidFill>
            <a:srgbClr val="FBE5D5"/>
          </a:solidFill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Metric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Goodput·TTFT·TPOT·HBM 점유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" y="5852160"/>
            <a:ext cx="57607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UC-1~9 : doc-mk/Requirements/usecases.md (제안 상태)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[1/4]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5303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agent의 tool 호출 대기 중 KV가 HBM을 점유하지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FR-13, FR-04, QA3 Resource 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요청을 실패 없이 처리한다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FR-14,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같은 RAG 문서 prefix 요청은 KV 위치와 무관하게 재사용한다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FR-06, FR-12,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HBM 용량을 넘는 수의 LoRA adapter를 서빙한다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FR-05,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MoE expert를 접근 빈도에 맞게 서로 다른 메모리에 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FR-07,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연산 가능 메모리에 연산을 맡기되 이득이 없으면 GPU 경로를 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FR-09,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KV 위치를 알고 서버를 고르며 전송과 재계산 중 빠른 쪽을 택한다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FR-10, FR-19, QA1, QA5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요청마다 Prefill/Decode 분리 실행 여부를 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FR-08, QA1, QA2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RQ-SC-09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혼합 부하에서 이동 트래픽이 서빙을 잠식하지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FR-02, QA7 Co-existence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[2/4]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5303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이동·복원해도 모델 출력이 바뀌지 않는다 (bit-exact)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FR-02, QA6 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후속 요청 시점을 예측하거나 도착 즉시 KV를 HBM으로 복원한다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FR-04, FR-11,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이동 대상 메모리가 부족하면 쓰일 가능성이 낮은 KV부터 정리한다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FR-16, FR-17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새 메모리 tier, 객체 유형, 정책을 쉽게 추가한다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FR-01, FR-20, 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RQ-DP2-01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(n_p, n_d) 비용 모델로 P/D 실행 위치를 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FR-08, QA1, QA2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RQ-DP2-02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노드 수가 늘어도 결정 성능과 처리량이 확장된다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FR-18, 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중요도 낮은 KV를 선택적으로 제거하되 허용 정확도 한도 안에서 수행한다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FR-15, FR-16, QA6 Correctness (F1)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압축 KV를 재사용하고 필요한 부분만 재계산한다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FR-15, FR-17,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RQ-DP3-03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Drop과 재사용으로 HBM KV 점유를 줄인다 (DP1과 같은 정의)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QA3 Resource 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[3/4]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5303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서버별 캐시 위치를 알고 라우팅한다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FR-19, 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OSS(llm-d) 확장과 자체 구현 중 목표 QA를 만족하는 방식을 택한다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FR-19, 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서버 수가 늘어도 orchestrator 결정이 병목이 되지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FR-18, 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데이터 접근 이력과 메모리 사용 현황을 기록하고 조회한다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FR-21, FR-22, FR-23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후속 요청이 오기 전에 데이터를 미리 가져온다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FR-24, 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RQ-DP1-07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입력 분포가 바뀌면 배치를 다시 맞춰 성능을 회복한다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QA11 Adaptability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RQ-DP2-03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KV 전송이나 offload가 실패해도 재계산 등으로 요청을 이어간다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QA9 Fault tolerance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이동·배치·라우팅 결정의 근거를 기록해 원인을 진단한다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QA10 Analysability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RQ-DP4-05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vLLM, llm-d, NIXL 등과 수정 없이 연동한다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FR-03, QA8 Interoperability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수집/정제된 요구사항 전체 [4/4]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" y="731520"/>
          <a:ext cx="11795760" cy="4206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658368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및 설명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정제 종류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결정이 서빙 경로(forward)를 막지 않는다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차세대 메모리는 스펙 기반 시뮬레이션으로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C-01, C-02, C-03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실장이 없는 규모의 확장은 시뮬레이션으로 평가한다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vLLM 기반으로 구현한다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C-05, FR-03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대상은 Transformer 모델과 agent 워크로드이다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C-06, C-07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정책을 설정으로 바꾼다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FR-25, 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RQ-SYS-07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메모리 배치와 연산 실행 위치·시점·순서를 서빙 중 동적으로 정한다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</a:rPr>
                        <a:t>FR-26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품질 요구사항 [1/2]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37744" y="731520"/>
            <a:ext cx="11777472" cy="777240"/>
          </a:xfrm>
          <a:prstGeom prst="rect">
            <a:avLst/>
          </a:prstGeom>
          <a:noFill/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DP1~DP4 문서의 QA를 ISO/IEC 25010:2023 하위 특성 기준으로 모은 후보이다. 같은 QA는 DP와 무관하게 같은 조건(워크로드, SLO, 환경, Baseline)에서 측정한다.</a:t>
            </a:r>
          </a:p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정량 metric(목표값)은 모두 공란이며, 중요도·난이도·순위는 QAW(검수) 후 확정한다.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97864" y="2103120"/>
            <a:ext cx="173736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</a:t>
            </a:r>
          </a:p>
        </p:txBody>
      </p:sp>
      <p:sp>
        <p:nvSpPr>
          <p:cNvPr id="6" name="Rectangle 5"/>
          <p:cNvSpPr/>
          <p:nvPr/>
        </p:nvSpPr>
        <p:spPr>
          <a:xfrm>
            <a:off x="3026664" y="2103120"/>
            <a:ext cx="2148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Attribute Refinement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66944" y="2103120"/>
            <a:ext cx="3291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정의 (Scenario 요약)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50224" y="2103120"/>
            <a:ext cx="178308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관련 DP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2474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중요도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25626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난이도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" y="1627632"/>
            <a:ext cx="3657600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맑은 고딕"/>
              </a:rPr>
              <a:t>품질 속성 유틸리티 트리 (후보)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" y="2606039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606039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624327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97864" y="2606039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26664" y="2606039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Throughput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6944" y="2606039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SLO를 만족하는 최대 처리량 (Max SLO Goodput)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50224" y="2606039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DP1·2·4 (DP3 보조)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2474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5626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5176" y="3264407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264407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" y="3282695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97864" y="3264407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26664" y="3264407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Latency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66944" y="3264407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TTFT / TPOT (별도 지표)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50224" y="3264407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DP1~4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2474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25626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5176" y="3922775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3" y="3922775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941063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97864" y="3922775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Performance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6664" y="3922775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Resource utilization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6944" y="3922775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HBM 점유율 (모든 DP 동일 조건)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50224" y="3922775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DP1·3 목표 / DP2·4 측정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2474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25626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5176" y="4581144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3" y="4581144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0936" y="4599431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97864" y="4581144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Modifiability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6664" y="4581144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새 tier·정책·객체 추가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581144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새 tier·정책·객체 추가 시 토큰 비용·공수·변경 모듈 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50224" y="4581144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DP1·2·4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2474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25626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5176" y="5239512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3503" y="5239512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0936" y="5257799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97864" y="5239512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Scalability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26664" y="5239512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노드·메모리 type 증가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66944" y="5239512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노드·메모리 type 증가 시 성능 유지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50224" y="5239512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DP2·4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52474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25626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5176" y="5897879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03503" y="5897879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30936" y="5916167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97864" y="5897879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Correctness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26664" y="5897879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출력 정확성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66944" y="5897879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출력 bit-exact / DP3는 F1 한도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50224" y="5897879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DP1~4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524744" y="589787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56264" y="589787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품질 요구사항 [2/2]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37744" y="731520"/>
            <a:ext cx="11777472" cy="777240"/>
          </a:xfrm>
          <a:prstGeom prst="rect">
            <a:avLst/>
          </a:prstGeom>
          <a:noFill/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DP1~DP4 문서의 QA를 ISO/IEC 25010:2023 하위 특성 기준으로 모은 후보이다. 같은 QA는 DP와 무관하게 같은 조건(워크로드, SLO, 환경, Baseline)에서 측정한다.</a:t>
            </a:r>
          </a:p>
          <a:p>
            <a:pPr algn="l"/>
            <a:r>
              <a:rPr sz="1150" b="0" i="0">
                <a:solidFill>
                  <a:srgbClr val="000000"/>
                </a:solidFill>
                <a:latin typeface="맑은 고딕"/>
              </a:rPr>
              <a:t>   정량 metric(목표값)은 모두 공란이며, 중요도·난이도·순위는 QAW(검수) 후 확정한다.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97864" y="2103120"/>
            <a:ext cx="173736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</a:t>
            </a:r>
          </a:p>
        </p:txBody>
      </p:sp>
      <p:sp>
        <p:nvSpPr>
          <p:cNvPr id="6" name="Rectangle 5"/>
          <p:cNvSpPr/>
          <p:nvPr/>
        </p:nvSpPr>
        <p:spPr>
          <a:xfrm>
            <a:off x="3026664" y="2103120"/>
            <a:ext cx="2148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Attribute Refinement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66944" y="2103120"/>
            <a:ext cx="329184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정의 (Scenario 요약)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50224" y="2103120"/>
            <a:ext cx="178308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관련 DP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2474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중요도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256264" y="2103120"/>
            <a:ext cx="685800" cy="41148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난이도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" y="1627632"/>
            <a:ext cx="3657600" cy="40233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맑은 고딕"/>
              </a:rPr>
              <a:t>품질 속성 유틸리티 트리 (후보)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" y="2606039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606039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624327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97864" y="2606039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Co-existence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26664" y="2606039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이동 트래픽 공존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6944" y="2606039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이동 트래픽과 서빙의 동시 동작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50224" y="2606039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DP1·4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2474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56264" y="2606039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5176" y="3264407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264407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936" y="3282695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97864" y="3264407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Interoperability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26664" y="3264407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외부 구성요소 연동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66944" y="3264407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vLLM, llm-d, NIXL 무수정 연동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50224" y="3264407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2474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256264" y="3264407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5176" y="3922775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3" y="3922775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941063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97864" y="3922775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Fault tolerance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6664" y="3922775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전송·offload 실패 대체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6944" y="3922775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실패 시 재계산 등으로 처리 지속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50224" y="3922775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DP2·4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2474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256264" y="3922775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5176" y="4581144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3" y="4581144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0936" y="4599431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97864" y="4581144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Analysability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6664" y="4581144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결정 근거 진단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581144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결정 근거 기록과 원인 진단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50224" y="4581144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DP4·전체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2474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256264" y="4581144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5176" y="5239512"/>
            <a:ext cx="868680" cy="58521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3503" y="5239512"/>
            <a:ext cx="585216" cy="58521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0936" y="5257799"/>
            <a:ext cx="548640" cy="54864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</a:rPr>
              <a:t>QA11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97864" y="5239512"/>
            <a:ext cx="173736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50" b="0" i="0">
                <a:solidFill>
                  <a:srgbClr val="000000"/>
                </a:solidFill>
                <a:latin typeface="맑은 고딕"/>
              </a:rPr>
              <a:t>Adaptability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26664" y="5239512"/>
            <a:ext cx="2148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맑은 고딕"/>
              </a:rPr>
              <a:t>워크로드 변화 적응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66944" y="5239512"/>
            <a:ext cx="329184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입력 분포 변화 후 배치 재조정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50224" y="5239512"/>
            <a:ext cx="178308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맑은 고딕"/>
              </a:rPr>
              <a:t>DP1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52474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256264" y="5239512"/>
            <a:ext cx="685800" cy="585216"/>
          </a:xfrm>
          <a:prstGeom prst="rect">
            <a:avLst/>
          </a:prstGeom>
          <a:noFill/>
          <a:ln w="12700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품질 속성 유틸리티 트리 [1/2]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1475720" cy="5623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85800"/>
                <a:gridCol w="1188720"/>
                <a:gridCol w="1325880"/>
                <a:gridCol w="5852160"/>
                <a:gridCol w="594360"/>
                <a:gridCol w="594360"/>
                <a:gridCol w="685800"/>
                <a:gridCol w="54864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Refinement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우선순위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선정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QA-01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요청 처리량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다수의 agent 세션이 동시에 요청하는 상황에서, 지정한 SLO(TTFT, TPOT)를 만족하며 처리할 수 있는 최대 요청량이 기준 시스템(Baseline)보다 커야 한다.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SLO 만족 Max Goodput ≥ Baseline 대비 [   ]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QA-02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응답 지연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정해진 부하에서 요청의 첫 토큰 응답 시간(TTFT)과 토큰 간 생성 시간(TPOT)이 Baseline보다 크게 늘지 않아야 한다.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TTFT, TPOT(P50, P99) &lt; Baseline 대비 [   ]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QA-03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Performance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Resource utilization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HBM 점유율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동일한 부하와 SLO 조건에서 KV·adapter·expert가 차지하는 HBM 점유율이 Baseline보다 낮아야 한다.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HBM 점유율(평균, 피크) &lt; Baseline 대비 [   ]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QA-04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변경 용이성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새로운 메모리 tier, 이동·배치 정책, 데이터 객체 유형을 추가할 때 서빙 경로를 수정하지 않고 반영할 수 있어야 한다.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기준 작업 3종의 가중 변경 비용(토큰 비용 50%, 공수 30%, 변경 모듈 수 20%) &lt; Baseline 대비 [   ]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QA-05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노드·메모리 type 확장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실장 환경을 넘는 규모로 노드 또는 메모리 type이 늘어나도 결정이 병목이 되지 않고 성능이 늘어난 자원에 비례해 증가해야 한다 (시뮬레이션 평가).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Scaling Efficiency &gt; [   ]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QA-06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출력 정확성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데이터 이동·복원·재사용을 거친 요청의 출력이 거치지 않은 경우와 같아야 한다. 손실형 KV 압축·제거는 허용 정확도 한도 안이어야 한다.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출력 불일치 &lt; 1 건 / F1 하락 상대 &lt; 1%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요구사항 분석 – 품질 속성 유틸리티 트리 [2/2]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1475720" cy="4754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85800"/>
                <a:gridCol w="1188720"/>
                <a:gridCol w="1325880"/>
                <a:gridCol w="5852160"/>
                <a:gridCol w="594360"/>
                <a:gridCol w="594360"/>
                <a:gridCol w="685800"/>
                <a:gridCol w="54864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번호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Refinement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Scenario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우선순위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선정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QA-07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Co-existence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이동 트래픽 공존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데이터 이동·복원 트래픽과 서빙 요청이 같은 자원을 동시에 쓰는 상황에서도 서빙 성능이 유지되어야 한다.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서빙 TTFT·TPOT 증가율 &lt; 10%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QA-08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Interoperability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외부 구성요소 연동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vLLM, llm-d, NIXL 같은 외부 구성요소와 연동할 때 해당 구성요소의 소스를 수정하지 않아야 한다.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무수정 연동 인터페이스 수 ≥ 3 개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QA-09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Fault tolerance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전송·offload 실패 대체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KV 전송이나 offload가 실패하거나 시간 초과해도 재계산 등 대체 경로로 요청 처리를 이어가야 한다.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fallback 성공률 ≥ 99.9%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QA-10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Analysability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결정 근거 진단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이동·배치·라우팅 결정이 기대와 다를 때 결정 입력과 근거 기록으로 원인을 찾을 수 있어야 한다.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원인 파악 시간 &lt; 1 시간 (개발자 1인, 결정 1건 기준)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L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QA-11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Adaptability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워크로드 변화 적응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입력 분포나 접근 패턴이 바뀌어도 접근 통계를 반영해 배치를 다시 맞추고 성능을 회복해야 한다.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[측정: 성능 회복 시간 &lt; 5 분 (변화 전 성능의 90% 기준) ]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>M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5486400"/>
            <a:ext cx="1161288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[ ] = 공란. QA-01~05의 측정값은 통합 단계에서 정한다. QA-06~11의 측정값은 Claude 제안값이며 확정 전이다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중요도·난이도는 Claude 제안값이고 우선순위·선정은 확정 후 기입한다 (H/M/L)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QA 검수 : DP별 적용 현황과 의견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5176" y="731520"/>
          <a:ext cx="1161288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594360"/>
                <a:gridCol w="594360"/>
                <a:gridCol w="594360"/>
                <a:gridCol w="594360"/>
                <a:gridCol w="72237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DP1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DP2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DP3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DP4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의견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3C0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QA1 Throughput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Max SLO Goodput으로 정의한다 (ISO 매핑 없이 그대로 사용)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QA2 Latency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TTFT와 TPOT를 별도 지표로 두고, 부하를 고정해 분포를 잰다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QA3 Resource util.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HBM 점유율로 통일한다. DP2·4는 같은 조건에서의 측정이다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QA4 Modifiability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DP3에 없다. 집계 방식(모듈 수, man-month) 통일이 필요하다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QA5 Scalability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노드·메모리 type 증가를 시뮬레이션으로 평가한다 (C-04)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QA6 Correctness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DP3만 능동 QA(F1)이다. 나머지는 bit-exact 확인이다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QA7 Co-existence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이동 트래픽과 서빙의 간섭을 QA2 조건에서 함께 잰다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QA8 Interoperability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DP4(OSS 확장 대 자체 구현)에서 의미가 크다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QA9 Fault tolerance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전송 실패 대체만 다룬다. 장치 장애 복구는 범위 밖이다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QA10 Analysability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○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DP4는 결정 근거 기록이 FR로 있다. 공통화 여부 검토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QA11 Adaptability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–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DP1의 hot 객체 변화 대응(expert, adapter)만 해당한다</a:t>
                      </a:r>
                    </a:p>
                  </a:txBody>
                  <a:tcPr marL="45720" marR="45720" marT="22860" marB="22860" anchor="ctr">
                    <a:lnL w="9525" cap="flat" cmpd="sng" algn="ctr">
                      <a:solidFill>
                        <a:srgbClr val="000000"/>
                      </a:solidFill>
                      <a:prstDash val="soli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65176" y="4800600"/>
            <a:ext cx="11612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000000"/>
                </a:solidFill>
                <a:latin typeface="맑은 고딕"/>
              </a:rPr>
              <a:t>● DP 문서에서 선정(목표)   ○ 측정·확인 대상   – 해당 없음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" y="5120640"/>
            <a:ext cx="5760720" cy="3200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</a:rPr>
              <a:t>검수 요청 사항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" y="5440680"/>
            <a:ext cx="5760720" cy="1097280"/>
          </a:xfrm>
          <a:prstGeom prst="rect">
            <a:avLst/>
          </a:prstGeom>
          <a:noFill/>
          <a:ln w="158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QA 11개가 과제 QA로 충분하고 과하지 않은가</a:t>
            </a:r>
          </a:p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QA7~11은 후보이므로 유지할 항목을 고른다</a:t>
            </a:r>
          </a:p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중요도·난이도·순위 확정 (QAW)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5120640"/>
            <a:ext cx="5760720" cy="320040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</a:rPr>
              <a:t>ISO 25010:2023 내 미채택 후보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5440680"/>
            <a:ext cx="5760720" cy="1097280"/>
          </a:xfrm>
          <a:prstGeom prst="rect">
            <a:avLst/>
          </a:prstGeom>
          <a:noFill/>
          <a:ln w="158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Functional completeness, Functional appropriateness</a:t>
            </a:r>
          </a:p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Operability, Availability</a:t>
            </a:r>
          </a:p>
          <a:p>
            <a:pPr algn="l"/>
            <a:r>
              <a:rPr sz="1050" b="0" i="0">
                <a:solidFill>
                  <a:srgbClr val="000000"/>
                </a:solidFill>
                <a:latin typeface="맑은 고딕"/>
              </a:rPr>
              <a:t>• Modularity, Reusability, Testability, Replaceability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37744" y="91440"/>
            <a:ext cx="115214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맑은 고딕"/>
              </a:rPr>
              <a:t>아키텍처 드라이버 선정 (초안)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37744" y="566928"/>
            <a:ext cx="11713464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852160" y="1737360"/>
            <a:ext cx="2468880" cy="1371600"/>
          </a:xfrm>
          <a:prstGeom prst="roundRect">
            <a:avLst/>
          </a:prstGeom>
          <a:solidFill>
            <a:srgbClr val="DBDBDB"/>
          </a:solidFill>
          <a:ln w="254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27432" rIns="73152" bIns="27432"/>
          <a:lstStyle/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이기종 메모리</a:t>
            </a:r>
          </a:p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LLM 서빙</a:t>
            </a:r>
          </a:p>
          <a:p>
            <a:pPr algn="ctr"/>
            <a:r>
              <a:rPr sz="1500" b="1" i="0">
                <a:solidFill>
                  <a:srgbClr val="000000"/>
                </a:solidFill>
                <a:latin typeface="맑은 고딕"/>
              </a:rPr>
              <a:t>스케줄링 런타임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Functional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8580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34340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맑은 고딕"/>
              </a:rPr>
              <a:t>| Quality Attributes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7" y="1051560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069848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051560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메모리 배치와 연산의 동적 스케줄링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051560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5848" y="1051560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83279" y="1069848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1051560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이기종 메모리 데이터 저장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527048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" y="1527048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1545336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1527048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메모리 간 데이터 복사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527048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55848" y="1527048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83279" y="1545336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1527048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vLLM 연동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002536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7" y="2002536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2020824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2002536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KV cache offload와 재사용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2002536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5848" y="2002536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83279" y="2020824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2002536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LoRA adapter 서빙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478024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7" y="2478024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0080" y="2496312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2478024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RAG 서빙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2478024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55848" y="2478024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83279" y="2496312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2478024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MoE 모델 서빙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953512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7" y="2953512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0080" y="2971800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2953512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Prefill/Decode disaggregation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7520" y="2953512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55848" y="2953512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383279" y="2971800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FR09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86200" y="2953512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연산 offload와 GPU fallback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429000"/>
            <a:ext cx="2651760" cy="402336"/>
          </a:xfrm>
          <a:prstGeom prst="rect">
            <a:avLst/>
          </a:prstGeom>
          <a:solidFill>
            <a:srgbClr val="DEEBF6"/>
          </a:solidFill>
          <a:ln w="28575">
            <a:solidFill>
              <a:srgbClr val="1E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2647" y="3429000"/>
            <a:ext cx="402336" cy="402336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40080" y="3447288"/>
            <a:ext cx="365760" cy="36576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FR10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3429000"/>
            <a:ext cx="178308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맑은 고딕"/>
              </a:rPr>
              <a:t>서버 간 KV 전송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1051560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42248" y="1051560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869680" y="1069848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1051560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차세대 메모리 시뮬레이션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527048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42248" y="1527048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869680" y="1545336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72600" y="1527048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device runtime 정상 동작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03920" y="2002536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42248" y="2002536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869680" y="2020824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2600" y="2002536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runtime 오버헤드 무시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03920" y="2478024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842248" y="2478024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869680" y="2496312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72600" y="2478024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시스템 확장은 시뮬레이션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2953512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42248" y="2953512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869680" y="2971800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72600" y="2953512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vLLM 기반 구현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3920" y="3429000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842248" y="3429000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869680" y="3447288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72600" y="3429000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Transformer 모델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03920" y="3904487"/>
            <a:ext cx="3429000" cy="402336"/>
          </a:xfrm>
          <a:prstGeom prst="rect">
            <a:avLst/>
          </a:prstGeom>
          <a:solidFill>
            <a:srgbClr val="E2EFD9"/>
          </a:solidFill>
          <a:ln w="28575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842248" y="3904487"/>
            <a:ext cx="402336" cy="402336"/>
          </a:xfrm>
          <a:prstGeom prst="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869680" y="3922775"/>
            <a:ext cx="365760" cy="365760"/>
          </a:xfrm>
          <a:prstGeom prst="ellipse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C07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72600" y="3904487"/>
            <a:ext cx="25146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맑은 고딕"/>
              </a:rPr>
              <a:t>agent 워크로드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470916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12647" y="470916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40080" y="472744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88720" y="470916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Throughput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06240" y="470916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544568" y="470916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572000" y="472744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0640" y="470916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Latency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138160" y="4709160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76488" y="4709160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503920" y="4727448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52560" y="4709160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HBM 점유율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5148072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12647" y="5148072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40080" y="5166360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88720" y="5148072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Modifiability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6240" y="5148072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44568" y="5148072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572000" y="5166360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20640" y="5148072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Scalability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138160" y="5148072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476488" y="5148072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503920" y="5166360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052560" y="5148072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Correctness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74320" y="5586984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12647" y="5586984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40080" y="5605272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8720" y="5586984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Co-existence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206240" y="5586984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544568" y="5586984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572000" y="5605272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0640" y="5586984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Interoperability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138160" y="5586984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476488" y="5586984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03920" y="5605272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052560" y="5586984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Fault tolerance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74320" y="6025896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2647" y="6025896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40080" y="6044183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88720" y="6025896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Analysability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206240" y="6025896"/>
            <a:ext cx="3749039" cy="402336"/>
          </a:xfrm>
          <a:prstGeom prst="rect">
            <a:avLst/>
          </a:prstGeom>
          <a:solidFill>
            <a:srgbClr val="FBE5D5"/>
          </a:solidFill>
          <a:ln w="28575">
            <a:solidFill>
              <a:srgbClr val="833C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544568" y="6025896"/>
            <a:ext cx="402336" cy="402336"/>
          </a:xfrm>
          <a:prstGeom prst="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572000" y="6044183"/>
            <a:ext cx="365760" cy="365760"/>
          </a:xfrm>
          <a:prstGeom prst="ellipse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QA11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120640" y="6025896"/>
            <a:ext cx="2743200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맑은 고딕"/>
              </a:rPr>
              <a:t>Adaptability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" y="3886200"/>
            <a:ext cx="80467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초안이다. 중요도·난이도 기입 후 드라이버를 최종 선정한다.</a:t>
            </a:r>
          </a:p>
          <a:p>
            <a:pPr algn="l"/>
            <a:r>
              <a:rPr sz="1050" b="0" i="1">
                <a:solidFill>
                  <a:srgbClr val="000000"/>
                </a:solidFill>
                <a:latin typeface="맑은 고딕"/>
              </a:rPr>
              <a:t>* 나머지 FR은 핵심 FR의 세부 기능이며 드라이버로 올리지 않았다.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
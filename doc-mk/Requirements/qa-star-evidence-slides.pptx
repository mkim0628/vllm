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DB59D-6851-4087-A360-1717CD539FDC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42F9D-A517-472D-B53C-0A9BC49CDB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00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QA-01~05의 [측정]에 별 3단계 조건(★ 하한 / ★★ 등분 / ★★★ 상한)과 근거 문헌을 채웠다.</a:t>
            </a:r>
          </a:p>
          <a:p>
            <a:r>
              <a:t>근거: 각 QA 근거는 2~6장. ★ 값은 소유자가 정한 시나리오 목표, ★★★은 문헌·환산 상한, ★★는 등분 중점이다.</a:t>
            </a:r>
          </a:p>
          <a:p>
            <a:r>
              <a:t>주의: QA-06~10은 문헌 확인 전 임시 근거. TPOT 2ms는 원문 그대로이며 기존 문서는 50ms 오타로 해석(확인 필요).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★ 1.5x(소유자 목표) / ★★ 2.25x(등분) / ★★★ 3.0x(상한)이다.</a:t>
            </a:r>
          </a:p>
          <a:p>
            <a:r>
              <a:t>근거: InferCept 1.6~2x, Mooncake 실트래픽 +75%, KVFlow 최대 2.19x, Pensieve 최대 3.0x. 시뮬·특정 조건 최대치는 상한에서 제외했다.</a:t>
            </a:r>
          </a:p>
          <a:p>
            <a:r>
              <a:t>의미: 현재 내부 시뮬레이션 R은 대부분 1.5x 미만이라 이 기준에서는 미충족이 나온다. 기준 변경 영향은 별도 검토가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★ 20% / ★★ 47.5% / ★★★ 75%. 상한은 KV를 3~4x 줄여도 성능 저하가 negligible이라는 KVzip 보고에 근거한다.</a:t>
            </a:r>
          </a:p>
          <a:p>
            <a:r>
              <a:t>근거: PagedAttention이 단편화 낭비를 이미 제거했으므로, Baseline(vLLM) 대비 추가 감소는 offload·압축에서 나와야 한다. InferCept는 유휴 KV 처리의 수요를 보여 준다.</a:t>
            </a:r>
          </a:p>
          <a:p>
            <a:r>
              <a:t>의미: 75%를 넘으면 정확도 손실과 교환하는 영역이라 QA-05와 같이 봐야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토큰 비용·공수·module 세 지표를 모두 만족해야 그 별이다. ★ $2·1 MM·≤5 / ★★ 등분 / ★★★ $0.5·0.5 MM·≤2.</a:t>
            </a:r>
          </a:p>
          <a:p>
            <a:r>
              <a:t>근거: SWE-bench의 평균 변경은 파일 1.7개·32.8줄이라 ≤2 module이 일상 변경의 하한에 가깝다. Claude Code 일 평균 비용 $13 대비 $0.5~2는 4~15%다.</a:t>
            </a:r>
          </a:p>
          <a:p>
            <a:r>
              <a:t>의미: 현재 vLLM의 신규 backend는 1.4~3.8천 LOC 패키지이므로 plugin 인터페이스로 수백 LOC 수준에 들어오는 것이 설계 목표다.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★ 80% / ★★ 85% / ★★★ 90%. 같은 구간을 조율 직렬 비중 σ 1.67% / 1.18% / 0.74%로 환산해 심사에서 "결정 계층의 비용 예산"으로 설명한다.</a:t>
            </a:r>
          </a:p>
          <a:p>
            <a:r>
              <a:t>근거: 65,536 GPU 학습 병렬 효율 80% 보고가 하한의 유추 근거다. 90%는 정책 선택임을 명시한다.</a:t>
            </a:r>
          </a:p>
          <a:p>
            <a:r>
              <a:t>주의: 이전 문서의 arXiv 1704.03329 인용은 부적합해 제거한다.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★ 3% / ★★ 2% / ★★★ 1%. 1%는 소유자 확정 한도라 상한으로 쓰고 3%는 그 3배로 둔다.</a:t>
            </a:r>
          </a:p>
          <a:p>
            <a:r>
              <a:t>근거: KVzip·KVQuant·KIVI는 손실 압축에서도 품질 저하가 작다고 보고하지만 F1 정량값은 없다.</a:t>
            </a:r>
          </a:p>
          <a:p>
            <a:r>
              <a:t>주의: 문헌 수치로 3%를 뒷받침하지 못한다. 이 경계는 정책 선택이며 소유자 확인이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66F1F-6FFF-438E-978E-7F50C6A9E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AFAFD0-1F82-4A9B-B3F6-99224804E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A504BB-6AAA-4233-A0A1-1975C91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92343-8259-4E59-9F61-74C15CCD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B83A2-9524-4B3A-B3C6-D4F79B0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69E3-A266-4BEB-8BBA-CE42A5B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E1CA8F-9445-4D8B-A0A0-34714CBA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E6160-1C4D-4559-89D9-A35150A3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329A2-229C-4CBB-AC58-12A0F0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D84D-6A9B-449E-843F-67D8BA6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59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6C279-BE8E-4A58-8F27-8C25650D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2A46-7FFF-4D6F-AA6E-D59A61223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6685FA-9578-48E3-9E09-D095C1D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1F830-4CCD-4D6C-BCCB-003C05C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0742D8-AAC9-4467-8546-CC9D64B5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9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B4E56-0A82-416C-92D9-654BF5C9D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22FE0-D66C-416D-A771-4B8A78E1D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BDFEE8-FEDA-40B6-AD92-F654C3C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C12402-8087-4755-8681-5AB4A554C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6EB7B6-16FD-43F7-AD81-6AE05331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84AA5-2DBF-4023-90B7-AAC1D132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2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2D15B-0C0F-4390-875E-1590EE8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713CE4-54D4-472C-AF86-5304C461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F3848C-49A2-46AD-B69D-6770C2A4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7C98F-4810-4F56-8535-9FA72E9AD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491211-BEE3-4FEF-980E-6C26F7443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8F1097-25B6-4C35-9EDA-0A1B99A7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967B94-09AA-40C9-A6E7-C49079CAA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06B7-77D3-4F97-B3C3-87F6F63E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0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E3900A-A75F-4F93-AE6D-F58DCEBA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FA1503-70FC-402A-9BEA-A7A4CBD5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8CE03B-7743-434D-93C2-5D3CF40D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E11778-A95C-403D-A5C5-03429AA1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9B79F9-D3BF-4383-9A2B-6720ED16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91CDC1-1BD2-4CEC-AF70-F1035E0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BE70D-7B66-4208-B021-AB8D7CB4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69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1A4DB-6070-458A-B403-89620438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FAD1F-018C-4CD8-A320-CCA38716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0798B4-57C3-44B4-A8C2-A1110A143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82C16-FF45-4304-A19A-EF629B47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6C59-F03D-40C5-A062-6C1D08EA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5D1989-7D2D-483E-8B76-675B71A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8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0EA15-1B37-4FC8-A267-BD814C73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6C1A13-FB13-43ED-9A16-DE43BD615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0587-5197-4793-84A9-1FCE8E0FE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05951-2B75-4A9C-9D31-DA984C7D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3DFFFB-CB82-44B7-ADD5-6C06FFC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C3ACB5-7C5F-4763-A545-1E091D9C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8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F7E99-E266-4394-AC3C-C81C0AA0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903C54-E094-4214-B922-CFC0A756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6B284-4B0D-4115-B089-AA26C33B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50256-F467-447D-9263-C7183DD6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367B8-E91F-4EFF-904D-A125138D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8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4CC87E-C30F-4874-9B17-340763F05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237634-FD61-4D11-A5FB-707E825AD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80697-7563-4134-9650-BD8DE52F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95852-3BEA-4032-BF3B-1DBB06E3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DC6E-6854-4E11-B4EC-45C9A22F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6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640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AD665B-95C3-4399-9C37-9DABDB1E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DC265-2495-45CB-94D5-2A0095D3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49F97-8660-4B82-B92F-E2817628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8268F-BED8-44AD-B530-9127EA8013B5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CD36A-B7E4-4EBB-BD2C-7A89014F8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9CF50-AAA0-498B-83B2-83B85538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3628-4F54-4F9C-AC44-2CC595CFF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요구사항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603504"/>
            <a:ext cx="117043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QAW에서 도출된 품질 요구사항을 Utility Tree를 통해 핵심 품질 속성(H/H or H/M 이상) 선정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731520"/>
            <a:ext cx="128016" cy="1280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28016" y="1051560"/>
          <a:ext cx="12060936" cy="4892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30936"/>
                <a:gridCol w="1078992"/>
                <a:gridCol w="1581912"/>
                <a:gridCol w="7150608"/>
                <a:gridCol w="576072"/>
                <a:gridCol w="594360"/>
                <a:gridCol w="448056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Refinement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Scenario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난이도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
순위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Performance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(Time behavior)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수준 목표(SLO)를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만족하는 토큰 처리량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 agent 세션 동시 요청 시 지정 SLO*를 만족하는 최대 요청량이 Baseline보다 커야 한다 (*SLO: Service Level Objective)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SLO 만족 Max Goodput 증가율 ★1.5x / ★★2.25x / ★★★3.0x (Pensieve·KVFlow 등 문헌), SLO: TTFT 2s, TPOT 2ms]</a:t>
                      </a:r>
                    </a:p>
                  </a:txBody>
                  <a:tcPr marL="54864" marR="45720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Efficiency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점유율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동일한 성능 조건에서 HBM 점유율이 Baseline보다 낮아야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HBM 점유율 감소율(Baseline 대비) ★20% / ★★47.5% / ★★★75% (KV 압축·offload 문헌 상한 3~4x, KVzip)]</a:t>
                      </a:r>
                    </a:p>
                  </a:txBody>
                  <a:tcPr marL="54864" marR="45720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Modifiability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용이성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메모리 tier·이동/배치 정책·데이터 객체 유형을 서빙 경로 수정 없이 반영할 수 있어야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토큰 비용 ★&lt;0.7M ★★&lt;0.4M ★★★&lt;0.17M개, 공수 ★&lt;1.0 ★★&lt;0.75 ★★★&lt;0.5 MM (SWE-bench 평균 1.7 file, vLLM connector 중앙값 356 LOC)]</a:t>
                      </a:r>
                    </a:p>
                  </a:txBody>
                  <a:tcPr marL="54864" marR="45720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Scalability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실장 환경을 넘는 규모로 노드·메모리 type이 늘어도 결정이 병목이 되지 않고 성능이 자원 증가에 비례해야 한다 (시뮬레이션 평가).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Scaling Efficiency(N=16) ★&gt;80% / ★★&gt;85% / ★★★&gt;90% (대규모 병렬 효율 보고 80%, 조율 직렬 비중 환산)]</a:t>
                      </a:r>
                    </a:p>
                  </a:txBody>
                  <a:tcPr marL="54864" marR="45720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Functional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Correctness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출력 정확도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모델 출력의 정확도는 보장되어야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LLM 출력 정확도(F1) Baseline 대비 감소율 ★&lt;3% / ★★&lt;2% / ★★★&lt;1% (소유자 허용 한도 1%, KV 압축 문헌)]</a:t>
                      </a:r>
                    </a:p>
                  </a:txBody>
                  <a:tcPr marL="54864" marR="457200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Co-existence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 트래픽 공존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이동·복원 트래픽과 서빙 요청이 같은 자원을 동시에 쓰는 상황에서도 서빙 성능이 유지되어야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서빙 TTFT·TPOT 증가율 &lt; 10% (SLO 대비 변동 마진, 가정)]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Fault tolerance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전송·offload 실패 대체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전송이나 offload가 실패하거나 시간 초과해도 재계산 등 대체 경로로 요청 처리를 이어가야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fallback 성공률 &gt; 99.9% (three nines, 월 다운타임 약 43분, 가정)]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Adaptability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워크로드 변화 적응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분포나 접근 패턴이 바뀌어도 접근 통계를 반영해 배치를 다시 맞추고 성능을 회복해야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변화 감지 후 성능 회복 시간 &lt; 5분 (변화 전 성능의 90%, 가정)]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Interoperability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구성요소 연동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vLLM, llm-d, NIXL 같은 외부 구성요소와 연동할 때 해당 구성요소의 소스를 수정하지 않아야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무수정 연동 인터페이스 수 ≥ 3개 (대상 3종 전부, 가정)]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QA-10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Analysability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근거 진단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이동·배치·라우팅 결정이 기대와 다를 때 결정 입력과 근거 기록으로 원인을 찾을 수 있어야 한다.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[측정: 원인 파악 시간 &lt; 1시간 (개발자 1인, 결정 1건 기준, 가정)]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Pentagon 12">
            <a:hlinkClick action="ppaction://hlinksldjump" r:id="rId3"/>
          </p:cNvPr>
          <p:cNvSpPr/>
          <p:nvPr/>
        </p:nvSpPr>
        <p:spPr>
          <a:xfrm>
            <a:off x="10186416" y="1586483"/>
            <a:ext cx="292608" cy="182880"/>
          </a:xfrm>
          <a:prstGeom prst="homePlate">
            <a:avLst/>
          </a:prstGeom>
          <a:solidFill>
            <a:srgbClr val="2E75B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>
            <a:hlinkClick action="ppaction://hlinksldjump" r:id="rId4"/>
          </p:cNvPr>
          <p:cNvSpPr/>
          <p:nvPr/>
        </p:nvSpPr>
        <p:spPr>
          <a:xfrm>
            <a:off x="10186416" y="2089403"/>
            <a:ext cx="292608" cy="182880"/>
          </a:xfrm>
          <a:prstGeom prst="homePlate">
            <a:avLst/>
          </a:prstGeom>
          <a:solidFill>
            <a:srgbClr val="2E75B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entagon 14">
            <a:hlinkClick action="ppaction://hlinksldjump" r:id="rId5"/>
          </p:cNvPr>
          <p:cNvSpPr/>
          <p:nvPr/>
        </p:nvSpPr>
        <p:spPr>
          <a:xfrm>
            <a:off x="10186416" y="2592323"/>
            <a:ext cx="292608" cy="182880"/>
          </a:xfrm>
          <a:prstGeom prst="homePlate">
            <a:avLst/>
          </a:prstGeom>
          <a:solidFill>
            <a:srgbClr val="2E75B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entagon 15">
            <a:hlinkClick action="ppaction://hlinksldjump" r:id="rId6"/>
          </p:cNvPr>
          <p:cNvSpPr/>
          <p:nvPr/>
        </p:nvSpPr>
        <p:spPr>
          <a:xfrm>
            <a:off x="10186416" y="3095243"/>
            <a:ext cx="292608" cy="182880"/>
          </a:xfrm>
          <a:prstGeom prst="homePlate">
            <a:avLst/>
          </a:prstGeom>
          <a:solidFill>
            <a:srgbClr val="2E75B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entagon 16">
            <a:hlinkClick action="ppaction://hlinksldjump" r:id="rId7"/>
          </p:cNvPr>
          <p:cNvSpPr/>
          <p:nvPr/>
        </p:nvSpPr>
        <p:spPr>
          <a:xfrm>
            <a:off x="10186416" y="3598163"/>
            <a:ext cx="292608" cy="182880"/>
          </a:xfrm>
          <a:prstGeom prst="homePlate">
            <a:avLst/>
          </a:prstGeom>
          <a:solidFill>
            <a:srgbClr val="2E75B6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6053328"/>
            <a:ext cx="1179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* ★ = 시나리오 충족(하한), ★★ = ★과 ★★★의 등분 중점, ★★★ = 상한(문헌·환산 근거). 하한 미달은 미충족(☆). 파란 화살표는 해당 QA의 근거 슬라이드로 이동.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* QA-01~05 근거는 2~6장, 출처·검증 상태는 qa-star-criteria-evidence.md. QA-06~10은 임시 근거(가정)이며 QA-08 측정(복사 오류 정정)·QA-09 부등호(&gt; 3 → ≥ 3)를 수정함.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QA-01. Performance (Time behavior) - 별 기준과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96926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SLO를 만족하는 Max Goodput이 Baseline의 몇 배일 때 ★ / ★★ / ★★★ 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73384" y="630936"/>
            <a:ext cx="786384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" y="1115568"/>
          <a:ext cx="5852160" cy="36850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41732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(R = 후보 ÷ Baseline)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9627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☆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&lt; 1.5x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 미달. 같은 수요에 서버를 2/3로 줄이지 못함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019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≥ 1.5x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목표(하한). 서버 3대 중 1대 절감 환산 [C]. 문헌 하한대: InferCept 1.6x, Mooncake 실트래픽 +75%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478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≥ 2.25x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★(1.5x)과 ★★★(3.0x)의 등분 중점. KVFlow 2.19x, InferCept 상단 2x에 대응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944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≥ 3.0x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상한. vLLM·TensorRT-LLM 대비 실GPU 다중 턴 서빙의 보고 상한(Pensieve 3.0x). 6~14x는 시뮬·조건부 최대로 제외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6888" y="4892040"/>
            <a:ext cx="5852160" cy="868680"/>
          </a:xfrm>
          <a:prstGeom prst="rect">
            <a:avLst/>
          </a:prstGeom>
          <a:solidFill>
            <a:srgbClr val="F0F1F3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지표: SLO(TTFT ≤ 2 s, TPOT ≤ 2 ms*)를 만족한 요청의 Max Goodput을 같은 DP Baseline과 비교한 배수 R. 시나리오·시스템 쌍별 값의 기하평균(공통 룰). *TPOT 2 ms는 원문 그대로, 기존 문서는 50 ms 오타로 해석(확인 필요).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078992"/>
            <a:ext cx="5715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Goodput·처리량 개선 배수 R (Baseline 대비)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549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 1.5x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9190" y="1499616"/>
            <a:ext cx="0" cy="1664208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82025" y="149961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 2.25x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0665" y="1682495"/>
            <a:ext cx="0" cy="1481329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953500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★★★ 3.0x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2140" y="1499616"/>
            <a:ext cx="0" cy="1664208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3182112"/>
            <a:ext cx="356616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11539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372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068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325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21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278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974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723120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4927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2184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880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137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4833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09020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7x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978640" y="3182112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704319" y="3209544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764792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InferCept (2402.01869)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08720" y="1810512"/>
            <a:ext cx="198120" cy="1005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89136" y="1764792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1.6~2x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938528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Mooncake 실트래픽 (2407.00079)</a:t>
            </a:r>
          </a:p>
        </p:txBody>
      </p:sp>
      <p:sp>
        <p:nvSpPr>
          <p:cNvPr id="44" name="Oval 43"/>
          <p:cNvSpPr/>
          <p:nvPr/>
        </p:nvSpPr>
        <p:spPr>
          <a:xfrm>
            <a:off x="8828150" y="1979676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1030" y="1938528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+75%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112264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KVFlow (2507.07400)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22639" y="2157984"/>
            <a:ext cx="178307" cy="1005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3242" y="2112264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1.83~2.19x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286000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Pensieve (2312.05516)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80881" y="2331720"/>
            <a:ext cx="921258" cy="1005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84435" y="2286000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1.14~3.0x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2459736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Mooncake 시뮬레이션</a:t>
            </a:r>
          </a:p>
        </p:txBody>
      </p:sp>
      <p:sp>
        <p:nvSpPr>
          <p:cNvPr id="53" name="Oval 52"/>
          <p:cNvSpPr/>
          <p:nvPr/>
        </p:nvSpPr>
        <p:spPr>
          <a:xfrm>
            <a:off x="11057000" y="2500884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60304" y="2459736"/>
            <a:ext cx="96012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+525% (6.25x)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2633472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DistServe (2401.09670)</a:t>
            </a:r>
          </a:p>
        </p:txBody>
      </p:sp>
      <p:sp>
        <p:nvSpPr>
          <p:cNvPr id="56" name="Oval 55"/>
          <p:cNvSpPr/>
          <p:nvPr/>
        </p:nvSpPr>
        <p:spPr>
          <a:xfrm>
            <a:off x="11626595" y="2674620"/>
            <a:ext cx="109728" cy="109728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29899" y="2633472"/>
            <a:ext cx="96012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7.4x 요청 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2807208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LMCache (2510.09665)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55430" y="2852928"/>
            <a:ext cx="2823210" cy="10058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987784" y="2807208"/>
            <a:ext cx="1828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01150" y="2807208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2.3~14x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2980944"/>
            <a:ext cx="2103120" cy="173736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DP1~4 후보 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6587" y="3026664"/>
            <a:ext cx="257555" cy="10058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46439" y="2980944"/>
            <a:ext cx="1097280" cy="173736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0.99~1.51x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3474720"/>
            <a:ext cx="109728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3429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문헌: 실GPU·실트래픽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79" y="3474720"/>
            <a:ext cx="109728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3429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문헌: 시뮬레이션·조건부 최대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64040" y="3474720"/>
            <a:ext cx="109728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3429000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시뮬레이션 [B+C]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6263640" y="3675887"/>
          <a:ext cx="5715000" cy="2103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423160"/>
                <a:gridCol w="86868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지표·조건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 반영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InferCept
arXiv 2402.01869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 호출(augmented LLM) 서빙, 최신 서빙 시스템 대비 처리량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1.6~2x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하한 / ★★ 상단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Mooncake FAST'25
arXiv 2407.00079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KVCache 중심 분리 서빙, SLO 하 실트래픽(Kimi) 요청 처리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하한대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KVFlow
arXiv 2507.07400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멀티에이전트 워크플로 prefix cache, SGLang(HiCache) 대비 최대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1.83x / 2.19x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 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Pensieve
arXiv 2312.05516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턴 stateful 서빙, vLLM·TensorRT-LLM 대비 처리량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1.14~3.0x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상한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시뮬·조건부 최대
(위 3종)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Mooncake 시뮬 +525%, DistServe 7.4x, LMCache 최대 14x는 특정 trace·baseline·시뮬 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6.25~14x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 제외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Right Arrow 71"/>
          <p:cNvSpPr/>
          <p:nvPr/>
        </p:nvSpPr>
        <p:spPr>
          <a:xfrm>
            <a:off x="283464" y="5888736"/>
            <a:ext cx="365760" cy="23774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" y="5852160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★ 1.5x는 실GPU·실트래픽 보고의 하한대, ★★★ 3.0x는 실GPU 보고 상한. 시뮬·조건부 최대치(6~14x)는 상한에서 제외한다.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" y="6126480"/>
            <a:ext cx="117043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  </a:t>
            </a: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문헌 지표(처리량·요청 수·goodput)와 baseline·workload가 달라 직접 비교 불가 [문헌 인용]. 내부 시뮬 R 0.99~1.51 중 1.5x 이상은 DP3 C1(1.514)뿐. 기존 v3(★★★ = 4/3)와 기준이 다름.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6382512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arXiv 2402.01869, 2407.00079(FAST'25), 2507.07400, 2312.05516, 2401.09670(OSDI'24), 2510.09665(검색 요약 기준, 원문 미확인). 내부 값: doc-mk/Evaluation/unified_stars_check.md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QA-02. Resource Efficiency - 별 기준과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96926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동일 성능 조건에서 HBM 점유율이 Baseline보다 몇 % 줄면 ★ / ★★ / ★★★ 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73384" y="630936"/>
            <a:ext cx="786384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" y="1115568"/>
          <a:ext cx="5852160" cy="36850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41732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(감소율 = (Baseline − 후보) ÷ Baseline)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9837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☆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감소율 &lt; 20%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 미달. 음수는 후보가 HBM을 더 쓴 경우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739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감소율 ≥ 20%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목표(하한). DP1 평균 146.6 GiB 중 약 29 GiB, Baseline 점유 잡음(±1.6%)의 12배 이상 [측정+환산]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80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감소율 ≥ 47.5%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★(20%)과 ★★★(75%)의 등분 중점. KV 약 1/2 수준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690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감소율 ≥ 75%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상한. KV 3~4x 축소가 성능 저하 없이 보고된 문헌 상한(KVzip). 그 이상(81~88%)은 저비트 환산이며 정확도(QA-05)와 trade-off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6888" y="4892040"/>
            <a:ext cx="5852160" cy="868680"/>
          </a:xfrm>
          <a:prstGeom prst="rect">
            <a:avLst/>
          </a:prstGeom>
          <a:solidFill>
            <a:srgbClr val="F0F1F3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지표: 측정 구간 동안 HBM에 올라와 있는 AI Data(KV·LoRA·expert 등, 모델 가중치·활성값 제외)의 시간 평균 크기(GiB)를 같은 DP Baseline과 비교한 감소율. 시나리오·시스템 쌍별 기하평균. 성능은 섞지 않고 SLO 통과를 전제로 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078992"/>
            <a:ext cx="5715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점유 감소율 (Baseline 대비,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7657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 20%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96297" y="1499616"/>
            <a:ext cx="0" cy="13716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32212" y="149961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 47.5%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80852" y="1682495"/>
            <a:ext cx="0" cy="118872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16768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★★★ 75%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265408" y="1499616"/>
            <a:ext cx="0" cy="13716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889504"/>
            <a:ext cx="356616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25711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51391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38944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64624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52176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77855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265408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91088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75%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978640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704319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76479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KVzip (2505.23416) KV 3~4x 축소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28614" y="1810512"/>
            <a:ext cx="236793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77054" y="176479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67~75%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94767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KVQuant 3-bit (2401.18079) 환산</a:t>
            </a:r>
          </a:p>
        </p:txBody>
      </p:sp>
      <p:sp>
        <p:nvSpPr>
          <p:cNvPr id="38" name="Oval 37"/>
          <p:cNvSpPr/>
          <p:nvPr/>
        </p:nvSpPr>
        <p:spPr>
          <a:xfrm>
            <a:off x="11390278" y="199339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93582" y="194767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81% (16→3bit)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13055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KIVI 2-bit (2402.02750) 환산</a:t>
            </a:r>
          </a:p>
        </p:txBody>
      </p:sp>
      <p:sp>
        <p:nvSpPr>
          <p:cNvPr id="41" name="Oval 40"/>
          <p:cNvSpPr/>
          <p:nvPr/>
        </p:nvSpPr>
        <p:spPr>
          <a:xfrm>
            <a:off x="11567159" y="217627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70463" y="213055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88% (16→2bit)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31343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DP3 C1 (시뮬)</a:t>
            </a:r>
          </a:p>
        </p:txBody>
      </p:sp>
      <p:sp>
        <p:nvSpPr>
          <p:cNvPr id="44" name="Oval 43"/>
          <p:cNvSpPr/>
          <p:nvPr/>
        </p:nvSpPr>
        <p:spPr>
          <a:xfrm>
            <a:off x="11116397" y="2359152"/>
            <a:ext cx="109728" cy="10972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9701" y="231343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71.7%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49631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DP3 C2 (시뮬)</a:t>
            </a:r>
          </a:p>
        </p:txBody>
      </p:sp>
      <p:sp>
        <p:nvSpPr>
          <p:cNvPr id="47" name="Oval 46"/>
          <p:cNvSpPr/>
          <p:nvPr/>
        </p:nvSpPr>
        <p:spPr>
          <a:xfrm>
            <a:off x="9655698" y="2542032"/>
            <a:ext cx="109728" cy="10972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38578" y="249631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20.5%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67919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DP1·DP2 후보 (시뮬)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15185" y="2724912"/>
            <a:ext cx="781702" cy="10972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9183" y="267919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-21.4~+6.0%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182112"/>
            <a:ext cx="109728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문헌: 실GPU·실트래픽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26679" y="3182112"/>
            <a:ext cx="109728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시뮬레이션 [B+C]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59" y="3182112"/>
            <a:ext cx="109728" cy="914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19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환산·원리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6263640" y="3383280"/>
          <a:ext cx="5715000" cy="21579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423160"/>
                <a:gridCol w="86868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지표·조건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 반영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KVzip
arXiv 2505.23416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크기 3~4x 축소, 디코딩 지연 약 2x 감소, 성능 저하 "negligible"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3~4x
(67~75%)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상한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KVQuant
arXiv 2401.18079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3-bit KV 양자화, Wikitext-2·C4 perplexity 저하 &lt; 0.1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bit 환산
81%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 초과(정확도 확인)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KIVI
arXiv 2402.02750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2-bit KV 양자화, peak memory 2.6x↓(가중치 포함), batch 4x↑, 품질 "거의 동일"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2.6x
(총메모리)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참고(정의 상이)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vLLM PagedAttention
arXiv 2309.06180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시스템은 KV 메모리 중 실제 토큰 상태 20.4~38.2%만 사용(단편화). vLLM이 이를 제거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낭비
62~80%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Baseline이 이미 제거 → 20%는 offload·압축 몫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InferCept
arXiv 2402.01869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 대기 중 KV 폐기·재계산이 forward 시간의 37~40%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37~40%
(시간)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UC-1: 유휴 KV 내리기 수요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ight Arrow 58"/>
          <p:cNvSpPr/>
          <p:nvPr/>
        </p:nvSpPr>
        <p:spPr>
          <a:xfrm>
            <a:off x="283464" y="5888736"/>
            <a:ext cx="365760" cy="23774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" y="5852160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★ 20%는 정책 목표, ★★★ 75%는 "성능 저하 없는 KV 압축·축출" 문헌 상한(4x). 그 이상은 정확도 손실과 맞바꾼 영역이다.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" y="6126480"/>
            <a:ext cx="117043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  </a:t>
            </a: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상한 75%는 KV 바이트 기준 문헌 값이라 본 지표(AI Data 전체 평균 GiB)로 직접 환산해야 한다. 저비트 값은 스케일·outlier 오버헤드를 뺀 이론 환산. 기존 v3는 ★★★ = 20%로 정의했음.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382512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arXiv 2505.23416(KVzip, NeurIPS'25), 2401.18079(KVQuant), 2402.02750(KIVI), 2309.06180(vLLM), 2402.01869(InferCept). 내부 값: doc-mk/Evaluation/unified_stars_check.md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QA-03. Modifiability - 별 기준과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96926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tier·정책·객체를 추가하는 변경 1건의 비용이 얼마 이하일 때 ★ / ★★ / ★★★ 인가 (AND 조건)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73384" y="630936"/>
            <a:ext cx="786384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" y="1115568"/>
          <a:ext cx="5852160" cy="3685031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960120"/>
                <a:gridCol w="822960"/>
                <a:gridCol w="822960"/>
                <a:gridCol w="246888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비용*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공수(MM)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module(보조)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8214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☆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 0.7M개
(&gt; $2)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≥ 6 또는
major IF 변경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항목이라도 ★ 기준을 넘으면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542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0.7M개
($2)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목표(하한). 1 MM = 1인 1개월(21 man-day) 로드맵 항목 수준. $2 ≈ 개발자 일 평균 비용의 15%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12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0.4M개
($1.25)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0.75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3
(3.5 내림)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★과 ★★★의 등분 중점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542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0.17M개
($0.5)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≤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상한. 0.5 MM = 1인 2주 sprint. 일상 변경 규모(SWE-bench 평균 1.7 file)와 같은 범위. $0.5 ≈ 일 평균의 4%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6888" y="4892040"/>
            <a:ext cx="5852160" cy="868680"/>
          </a:xfrm>
          <a:prstGeom prst="rect">
            <a:avLst/>
          </a:prstGeom>
          <a:solidFill>
            <a:srgbClr val="F0F1F3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지표: 변경 시나리오(신규 tier·정책·객체 유형)를 구현해 시나리오마다 (M3) 코드 에이전트 토큰 비용, (M2) 개발 공수 MM(1 MM = 21 man-day), (M1) 변경 module 수를 측정한다. 세 값이 모두 그 별의 기준을 만족해야 그 별(AND). *토큰 환산: 입력 단가 $3/MTok 가정(2차 자료).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078992"/>
            <a:ext cx="5715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vLLM 저장소의 KV connector 코드량 (LOC, 이 저장소에서 직접 계수)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62456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offloading_connector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94460"/>
            <a:ext cx="158008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8424" y="1362456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516075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simple_cpu_offload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548079"/>
            <a:ext cx="203271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3687" y="1516075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247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69694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flexkv_connector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701698"/>
            <a:ext cx="213969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4385" y="1669694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260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823313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lmcache_connector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855317"/>
            <a:ext cx="291327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743" y="1823313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354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976932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hidden_states(예시)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2008936"/>
            <a:ext cx="292973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389" y="1976932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356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130552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decode_bench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162556"/>
            <a:ext cx="344820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5236" y="2130552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419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284171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example_connector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2316175"/>
            <a:ext cx="374446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4862" y="2284171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455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437790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multi_connector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469794"/>
            <a:ext cx="517641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8057" y="2437790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629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591409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lmcache_mp_connector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623413"/>
            <a:ext cx="979322" cy="10789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9738" y="2591409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1,190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898648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p2p (패키지)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2930652"/>
            <a:ext cx="1181770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2186" y="2898648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1,436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052267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offloading (패키지)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3084271"/>
            <a:ext cx="1214688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5104" y="3052267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1,476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205886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mooncake (패키지)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3237890"/>
            <a:ext cx="1580906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81322" y="3205886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1,921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359505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lmcache_integration (패키지)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3391509"/>
            <a:ext cx="1971812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2228" y="3359505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2,396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513124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hf3fs (패키지)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3545128"/>
            <a:ext cx="2125705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26121" y="3513124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2,583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666744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moriio (패키지)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3698748"/>
            <a:ext cx="2129820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30236" y="3666744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2,588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3820363"/>
            <a:ext cx="1554480" cy="153619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nixl (패키지)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63840" y="3852367"/>
            <a:ext cx="3097621" cy="107899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98037" y="3820363"/>
            <a:ext cx="73152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3,764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156813" y="1335024"/>
            <a:ext cx="0" cy="1419148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202533" y="2735884"/>
            <a:ext cx="2194560" cy="153619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최상위 connector 파일 중앙값 356 LOC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863840" y="4001414"/>
            <a:ext cx="329184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263640" y="4028846"/>
            <a:ext cx="5715000" cy="20116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파랑 = 최상위 connector 파일, 주황 = backend 패키지(하위 디렉터리 합). 파일 단위 LOC는 변경량이 아닌 규모 참고치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6263640" y="4275734"/>
          <a:ext cx="5715000" cy="9692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423160"/>
                <a:gridCol w="86868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지표·조건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 반영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SWE-bench
arXiv 2310.06770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GitHub issue 해결 패치(2,294건): 평균 수정 파일 1.7개, 수정 줄 32.8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 file
32.8 line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module ≤ 2 (★★★)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Code 비용 문서
code.claude.com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평균 약 $13/개발자·활동일, 90%가 $30/일 미만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$13/일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$2 ≈ 일 평균의 15%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" name="Right Arrow 69"/>
          <p:cNvSpPr/>
          <p:nvPr/>
        </p:nvSpPr>
        <p:spPr>
          <a:xfrm>
            <a:off x="283464" y="5888736"/>
            <a:ext cx="365760" cy="23774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" y="5852160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★★★은 "일상적인 변경 한 건" 규모(≤ 2 module, 2주)로 새 tier·정책을 붙이는 것. 현재 vLLM에서 새 backend는 수백~수천 LOC다.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6888" y="6126480"/>
            <a:ext cx="117043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  </a:t>
            </a: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공수·비용은 구현 측정 × 가정 상수 [B+C]이며 실제 에이전트 세션 측정이 아니다. LOC는 변경 난이도의 대리 지표일 뿐 Baseline 변경량이 아님. module은 셀(표)에는 표기하지 않은 보조 지표.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382512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arXiv 2310.06770(SWE-bench, 통계는 논문 Table), code.claude.com/docs/en/costs, 코드량은 vllm/distributed/kv_transfer/kv_connector/v1 직접 계수. 경계값 이력: doc-mk/Evaluation/qa-star-criteria-unified.md §3.4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QA-04. Scalability - 별 기준과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96926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노드를 N배로 늘릴 때 처리량이 선형 대비 몇 % 유지되면 ★ / ★★ / ★★★ 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73384" y="630936"/>
            <a:ext cx="786384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" y="1115568"/>
          <a:ext cx="5852160" cy="36850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41732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(SE(N=16) = Goodput(N) ÷ ((N/N0) · Goodput(N0)), N0=2)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012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☆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 ≤ 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증설 비용의 20% 초과가 조율 계층에서 손실. 시나리오 목표 미달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7401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 &gt; 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목표(하한). 조율 직렬 비중 σ ≤ 1.67%. 65,536 GPU 학습 병렬 효율 80% 보고와 같은 수준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142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 &gt; 85%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★(80%)과 ★★★(90%)의 등분 중점. σ ≤ 1.18%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103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 &gt; 90%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상한. σ ≤ 0.74%(결정·라우팅 계층이 요청 처리 시간의 1% 미만). 병렬 효율 "효율적" 보고 관행. 이론 상한 100%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6888" y="4892040"/>
            <a:ext cx="5852160" cy="868680"/>
          </a:xfrm>
          <a:prstGeom prst="rect">
            <a:avLst/>
          </a:prstGeom>
          <a:solidFill>
            <a:srgbClr val="F0F1F3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지표: N0 = 2 노드 기준 SE(N) = Goodput(N) ÷ ((N / N0) × Goodput(N0)), N_max = 16. N &gt; 2는 모델 외삽(시뮬레이션, 제약 C04). 별은 보완 설계(샤딩 등) 적용 전 기준. 확장성은 5개 증가 축(S1~S5)으로 정의되며 별 경계는 S2(노드 수) 축 SE에만 있고 나머지는 값 보고(Evaluation/qa-star-criteria-unified.md §3.6, D9).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078992"/>
            <a:ext cx="5715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Scaling Efficiency SE(N=16) (%)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 80%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52176" y="1499616"/>
            <a:ext cx="0" cy="13716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60152" y="149961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 85%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08792" y="1682495"/>
            <a:ext cx="0" cy="118872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16768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★★★ 90%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265408" y="1499616"/>
            <a:ext cx="0" cy="13716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889504"/>
            <a:ext cx="356616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8159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25711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51391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60%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38944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64624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552176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77855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265408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91088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90%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978640" y="288950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04319" y="291693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76479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arXiv 2409.16053, 65,536 GPU</a:t>
            </a:r>
          </a:p>
        </p:txBody>
      </p:sp>
      <p:sp>
        <p:nvSpPr>
          <p:cNvPr id="37" name="Oval 36"/>
          <p:cNvSpPr/>
          <p:nvPr/>
        </p:nvSpPr>
        <p:spPr>
          <a:xfrm>
            <a:off x="10497311" y="1810512"/>
            <a:ext cx="109728" cy="10972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80191" y="176479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80% (학습)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94767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DP4 후보1 (시뮬, N=16)</a:t>
            </a:r>
          </a:p>
        </p:txBody>
      </p:sp>
      <p:sp>
        <p:nvSpPr>
          <p:cNvPr id="40" name="Oval 39"/>
          <p:cNvSpPr/>
          <p:nvPr/>
        </p:nvSpPr>
        <p:spPr>
          <a:xfrm>
            <a:off x="11424513" y="1993392"/>
            <a:ext cx="109728" cy="10972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7817" y="194767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93%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13055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DP4 후보2 (시뮬, N=16)</a:t>
            </a:r>
          </a:p>
        </p:txBody>
      </p:sp>
      <p:sp>
        <p:nvSpPr>
          <p:cNvPr id="43" name="Oval 42"/>
          <p:cNvSpPr/>
          <p:nvPr/>
        </p:nvSpPr>
        <p:spPr>
          <a:xfrm>
            <a:off x="9356140" y="2176272"/>
            <a:ext cx="109728" cy="10972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39020" y="213055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64%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31343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USL 환산 σ=1.67% (N=16)</a:t>
            </a:r>
          </a:p>
        </p:txBody>
      </p:sp>
      <p:sp>
        <p:nvSpPr>
          <p:cNvPr id="46" name="Oval 45"/>
          <p:cNvSpPr/>
          <p:nvPr/>
        </p:nvSpPr>
        <p:spPr>
          <a:xfrm>
            <a:off x="10497311" y="235915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80191" y="231343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σ 1.67%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49631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USL 환산 σ=1.18%</a:t>
            </a:r>
          </a:p>
        </p:txBody>
      </p:sp>
      <p:sp>
        <p:nvSpPr>
          <p:cNvPr id="49" name="Oval 48"/>
          <p:cNvSpPr/>
          <p:nvPr/>
        </p:nvSpPr>
        <p:spPr>
          <a:xfrm>
            <a:off x="10853928" y="254203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36807" y="249631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σ 1.18%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7919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USL 환산 σ=0.74%</a:t>
            </a:r>
          </a:p>
        </p:txBody>
      </p:sp>
      <p:sp>
        <p:nvSpPr>
          <p:cNvPr id="52" name="Oval 51"/>
          <p:cNvSpPr/>
          <p:nvPr/>
        </p:nvSpPr>
        <p:spPr>
          <a:xfrm>
            <a:off x="11210544" y="272491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13848" y="2679192"/>
            <a:ext cx="96012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σ 0.74%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3182112"/>
            <a:ext cx="109728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문헌: 실GPU·실트래픽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26679" y="3182112"/>
            <a:ext cx="109728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시뮬레이션 [B+C]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59" y="3182112"/>
            <a:ext cx="109728" cy="914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19" y="313639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환산·원리</a:t>
            </a:r>
          </a:p>
        </p:txBody>
      </p:sp>
      <p:graphicFrame>
        <p:nvGraphicFramePr>
          <p:cNvPr id="60" name="Table 59"/>
          <p:cNvGraphicFramePr>
            <a:graphicFrameLocks noGrp="1"/>
          </p:cNvGraphicFramePr>
          <p:nvPr/>
        </p:nvGraphicFramePr>
        <p:xfrm>
          <a:off x="6263640" y="3383280"/>
          <a:ext cx="5715000" cy="1700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423160"/>
                <a:gridCol w="86868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지표·조건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 반영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arXiv 2409.16053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AMD Frontier 65,536 GPU 병렬 효율(학습, weak scaling)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근거(유추)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Amdahl(1967)
Gunther USL(2008)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SE(N) = 1 / (1 + σ(N−1)), 조율·직렬 비중 σ. N=16에서 80% ⇒ σ ≤ 1.67%, 90% ⇒ σ ≤ 0.74%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σ 환산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상한 환산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HPC 보고 관행
(정책 선택)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이상이면 "효율적"으로 보고하는 관행. 이론 상한은 100% (요청 독립 replica는 조율 비용만 손실)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정책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" name="Right Arrow 60"/>
          <p:cNvSpPr/>
          <p:nvPr/>
        </p:nvSpPr>
        <p:spPr>
          <a:xfrm>
            <a:off x="283464" y="5888736"/>
            <a:ext cx="365760" cy="23774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5852160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★ 80%는 대규모 병렬 보고 수준, ★★★ 90%는 조율 직렬 비중 0.74% 이하의 환산 값이다. 이론 상한은 100%.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" y="6126480"/>
            <a:ext cx="117043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  </a:t>
            </a: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문헌 80%는 학습(weak scaling) 보고라 서빙 SE와 의미가 다름 [유추]. 90%는 문헌 직접 확인 실패 → 정책 선택. 이전 문서가 인용한 arXiv 1704.03329는 분자동역학 코드 생성 논문으로 근거 부적합(교체).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382512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arXiv 2409.16053(abstract), Amdahl 1967, Gunther 2008(USL, 원리). Cornell CVW 페이지는 90% 기준을 확인하지 못함. 내부 값: doc-mk/Evaluation/unified_stars_check.md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QA-05. Functional Correctness - 별 기준과 근거</a:t>
            </a:r>
          </a:p>
        </p:txBody>
      </p:sp>
      <p:sp>
        <p:nvSpPr>
          <p:cNvPr id="3" name="Chevron 2"/>
          <p:cNvSpPr/>
          <p:nvPr/>
        </p:nvSpPr>
        <p:spPr>
          <a:xfrm>
            <a:off x="752276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4" name="Chevron 3"/>
          <p:cNvSpPr/>
          <p:nvPr/>
        </p:nvSpPr>
        <p:spPr>
          <a:xfrm>
            <a:off x="8415223" y="137160"/>
            <a:ext cx="1031443" cy="357530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5" name="Chevron 4"/>
          <p:cNvSpPr/>
          <p:nvPr/>
        </p:nvSpPr>
        <p:spPr>
          <a:xfrm>
            <a:off x="9314078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6" name="Chevron 5"/>
          <p:cNvSpPr/>
          <p:nvPr/>
        </p:nvSpPr>
        <p:spPr>
          <a:xfrm>
            <a:off x="10206532" y="137160"/>
            <a:ext cx="1031443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7" name="Chevron 6"/>
          <p:cNvSpPr/>
          <p:nvPr/>
        </p:nvSpPr>
        <p:spPr>
          <a:xfrm>
            <a:off x="11105388" y="137160"/>
            <a:ext cx="892454" cy="35753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752916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89359" y="137160"/>
            <a:ext cx="212140" cy="35753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621792"/>
            <a:ext cx="96926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출력 F1이 Baseline 대비 몇 % 이내로 유지되면 ★ / ★★ / ★★★ 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73384" y="630936"/>
            <a:ext cx="786384" cy="320040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46888" y="1115568"/>
          <a:ext cx="5852160" cy="36850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77240"/>
                <a:gridCol w="141732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(F1 상대 하락률 = (Baseline − 후보) ÷ Baseline)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5089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☆ 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 ≥ 3%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 미달. 허용 한도의 3배 이상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729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 &lt; 3%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목표(하한). 허용 한도 1%의 3배, 눈에 띄는 열화가 시작되는 구간 [정책]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5989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 &lt; 2%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★(3%)과 ★★★(1%)의 등분 중점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065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하락 &lt; 1%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상한. 소유자가 정한 허용 정확도 저하 한도. 손실 압축의 문헌 "negligible"과 같은 방향. 무손실 경로는 0%(bit-exact)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46888" y="4892040"/>
            <a:ext cx="5852160" cy="868680"/>
          </a:xfrm>
          <a:prstGeom prst="rect">
            <a:avLst/>
          </a:prstGeom>
          <a:solidFill>
            <a:srgbClr val="F0F1F3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지표: 같은 task·dataset·모델·precision에서 압축·재사용 전 + full recompute의 F1 대비 후보 F1의 상대 하락률. 데이터 이동·복원·재사용만 거친 경로(무손실)는 출력 bit-exact 확인으로 갈음한다.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078992"/>
            <a:ext cx="571500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F1 상대 하락률 (압축·재사용 전 full recompute 대비,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★★★ 1%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25711" y="1499616"/>
            <a:ext cx="0" cy="100584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90304" y="149961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★★ 2%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38944" y="1682495"/>
            <a:ext cx="0" cy="822961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03536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★ 3%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52176" y="1499616"/>
            <a:ext cx="0" cy="100584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523744"/>
            <a:ext cx="3566160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8159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25711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51391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38944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64624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552176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77855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265408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991088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978640" y="2523744"/>
            <a:ext cx="0" cy="4572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04319" y="2551176"/>
            <a:ext cx="54864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76479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무손실 경로 (offload·전송·prefix 재사용)</a:t>
            </a:r>
          </a:p>
        </p:txBody>
      </p:sp>
      <p:sp>
        <p:nvSpPr>
          <p:cNvPr id="37" name="Oval 36"/>
          <p:cNvSpPr/>
          <p:nvPr/>
        </p:nvSpPr>
        <p:spPr>
          <a:xfrm>
            <a:off x="8357615" y="181051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5" y="176479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0% (bit-exact)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194767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소유자 허용 한도 (2026-10-09)</a:t>
            </a:r>
          </a:p>
        </p:txBody>
      </p:sp>
      <p:sp>
        <p:nvSpPr>
          <p:cNvPr id="40" name="Oval 39"/>
          <p:cNvSpPr/>
          <p:nvPr/>
        </p:nvSpPr>
        <p:spPr>
          <a:xfrm>
            <a:off x="9070847" y="1993392"/>
            <a:ext cx="109728" cy="109728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7" y="194767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13055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DP3 C2 (실측 매핑)</a:t>
            </a:r>
          </a:p>
        </p:txBody>
      </p:sp>
      <p:sp>
        <p:nvSpPr>
          <p:cNvPr id="43" name="Oval 42"/>
          <p:cNvSpPr/>
          <p:nvPr/>
        </p:nvSpPr>
        <p:spPr>
          <a:xfrm>
            <a:off x="8357615" y="2176272"/>
            <a:ext cx="109728" cy="10972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5" y="213055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-1.99% (개선)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313432"/>
            <a:ext cx="2103120" cy="182880"/>
          </a:xfrm>
          <a:prstGeom prst="rect">
            <a:avLst/>
          </a:prstGeom>
          <a:noFill/>
        </p:spPr>
        <p:txBody>
          <a:bodyPr wrap="square" anchor="ctr" lIns="18288" rIns="18288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DP3 C1 (손실 압축 설정)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978640" y="2359152"/>
            <a:ext cx="45720" cy="10972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987784" y="231343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5640" y="2313432"/>
            <a:ext cx="1097280" cy="18288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1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16.98%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816352"/>
            <a:ext cx="109728" cy="914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277063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시뮬레이션 [B+C]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19" y="2816352"/>
            <a:ext cx="109728" cy="914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79" y="277063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환산·원리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6263640" y="3017520"/>
          <a:ext cx="5715000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2423160"/>
                <a:gridCol w="868680"/>
                <a:gridCol w="109728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문헌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지표·조건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 반영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KVzip
arXiv 2505.23416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3~4x 축소, QA·검색·추론·코드 이해에서 "negligible performance loss"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가능성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KVQuant
arXiv 2401.18079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3-bit KV 양자화, perplexity 저하 &lt; 0.1 (Wikitext-2, C4)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ppl
&lt; 0.1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아님(참고)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KIVI
arXiv 2402.02750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2-bit KV 양자화, 품질 "거의 동일" (수치는 본문 확인 필요)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소유자 결정
(내부)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압축 전 + full recompute 대비 F1 1% 이내(상대 비율) 허용 한도 확정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★★★ 상한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부재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압축의 F1 하락에 대한 일반 임계 문헌 없음 → 3%는 한도의 3배(정책)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7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하한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ight Arrow 53"/>
          <p:cNvSpPr/>
          <p:nvPr/>
        </p:nvSpPr>
        <p:spPr>
          <a:xfrm>
            <a:off x="283464" y="5888736"/>
            <a:ext cx="365760" cy="23774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5852160"/>
            <a:ext cx="112471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066FF"/>
                </a:solidFill>
                <a:latin typeface="맑은 고딕"/>
                <a:ea typeface="맑은 고딕"/>
                <a:cs typeface="맑은 고딕"/>
              </a:rPr>
              <a:t>★★★ 1%는 소유자 허용 한도(상한), ★ 3%는 그 3배. 무손실 경로(offload·전송·prefix 재사용)는 이론 상한 0%다.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888" y="6126480"/>
            <a:ext cx="117043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주의  </a:t>
            </a:r>
            <a:r>
              <a:rPr sz="8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F1 하락의 일반 임계 문헌이 없고, 문헌은 perplexity·정성 표현이라 F1로 직접 환산 불가 → 소유자 한도 + 정책. 현재 DP3 C1(손실 압축) F1 하락 16.98%는 3% 초과로 미충족. 3% 경계는 task별 run-to-run F1 변동으로 확인 필요.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382512"/>
            <a:ext cx="116128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arXiv 2505.23416(KVzip), 2401.18079(KVQuant), 2402.02750(KIVI). 내부 값: doc-mk/Evaluation/unified_stars_check.md, 소유자 결정: doc-mk/Requirements/qa-status.md §4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6583680"/>
            <a:ext cx="621792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5707</Words>
  <Application>Microsoft Office PowerPoint</Application>
  <PresentationFormat>와이드스크린</PresentationFormat>
  <Paragraphs>852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DP1. 이기종 메모리 기반 Data Migration 결정 구조 - 배경</vt:lpstr>
      <vt:lpstr>DP1. 이기종 메모리 기반 Data Migration 결정 구조 - 배경</vt:lpstr>
      <vt:lpstr>DP1. 이기종 메모리 기반 Data Migration 결정 구조 - 설계</vt:lpstr>
      <vt:lpstr>DP1. 이기종 메모리 기반 Data Migration 결정 구조 - 설계</vt:lpstr>
      <vt:lpstr>DP2. 이기종 메모리 환경의 Prefill/Decode 실행 위치 결정 구조 - 사전 지식</vt:lpstr>
      <vt:lpstr>DP2. 이기종 메모리 환경의 Prefill/Decode 실행 위치 결정 구조 - 배경</vt:lpstr>
      <vt:lpstr>DP2. 이기종 메모리 환경의 Prefill/Decode 실행 위치 결정 구조 - 설계</vt:lpstr>
      <vt:lpstr>DP4. 요청 조율 구조 (Orchestration) - 배경</vt:lpstr>
      <vt:lpstr>DP4. 여러 서버를 묶는 요청 조율 구조 - 배경</vt:lpstr>
      <vt:lpstr>DP4. 요청 조율 계층 (Orchestration) 설계 -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배경</dc:title>
  <dc:creator>Myeong Woo Kim</dc:creator>
  <cp:lastModifiedBy>Myeong Woo Kim</cp:lastModifiedBy>
  <cp:revision>1</cp:revision>
  <dcterms:created xsi:type="dcterms:W3CDTF">2026-10-10T04:25:41Z</dcterms:created>
  <dcterms:modified xsi:type="dcterms:W3CDTF">2026-10-10T04:26:54Z</dcterms:modified>
</cp:coreProperties>
</file>
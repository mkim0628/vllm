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943" r:id="rId2"/>
    <p:sldId id="931" r:id="rId3"/>
    <p:sldId id="967" r:id="rId23"/>
    <p:sldId id="945" r:id="rId4"/>
    <p:sldId id="968" r:id="rId24"/>
    <p:sldId id="926" r:id="rId5"/>
    <p:sldId id="969" r:id="rId25"/>
    <p:sldId id="959" r:id="rId6"/>
    <p:sldId id="970" r:id="rId26"/>
    <p:sldId id="964" r:id="rId20"/>
    <p:sldId id="965" r:id="rId21"/>
    <p:sldId id="966" r:id="rId22"/>
    <p:sldId id="719" r:id="rId7"/>
    <p:sldId id="721" r:id="rId8"/>
    <p:sldId id="933" r:id="rId9"/>
    <p:sldId id="961" r:id="rId10"/>
    <p:sldId id="724" r:id="rId11"/>
    <p:sldId id="722" r:id="rId12"/>
    <p:sldId id="972" r:id="rId28"/>
    <p:sldId id="962" r:id="rId18"/>
    <p:sldId id="963" r:id="rId19"/>
    <p:sldId id="97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78A91-A2AF-4AFF-956C-ED60CBCEC2CA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1F2B9-5959-42CE-B508-EC1F8FE5D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7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행위를 분석하고 마이그레이션 정책을 결정하는 계층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상태를 수집하고 관리하는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복사 및 전송을 전담하는 실행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pressure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발생했을 때 빠르게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pipeline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단순해서 제어 오버헤드가 작음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cacahe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miss/reload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줄이고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hit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높여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더 잘 보존할 가능성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Resource pressure </a:t>
            </a:r>
            <a:r>
              <a:rPr lang="ko-KR" altLang="en-US" dirty="0"/>
              <a:t>기반 즉시 대응으로 병목 완화 ② 단순 </a:t>
            </a:r>
            <a:r>
              <a:rPr lang="en-US" altLang="ko-KR" dirty="0"/>
              <a:t>decision logic</a:t>
            </a:r>
            <a:r>
              <a:rPr lang="ko-KR" altLang="en-US" dirty="0"/>
              <a:t>으로 제어 오버헤드 최소화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Hot/Cold </a:t>
            </a:r>
            <a:r>
              <a:rPr lang="ko-KR" altLang="en-US" dirty="0"/>
              <a:t>기반 선별 </a:t>
            </a:r>
            <a:r>
              <a:rPr lang="en-US" altLang="ko-KR" dirty="0"/>
              <a:t>migration</a:t>
            </a:r>
            <a:r>
              <a:rPr lang="ko-KR" altLang="en-US" dirty="0"/>
              <a:t>으로 불필요한 </a:t>
            </a:r>
            <a:r>
              <a:rPr lang="en-US" altLang="ko-KR" dirty="0"/>
              <a:t>reload </a:t>
            </a:r>
            <a:r>
              <a:rPr lang="ko-KR" altLang="en-US" dirty="0"/>
              <a:t>감소 ② 향후 </a:t>
            </a:r>
            <a:r>
              <a:rPr lang="en-US" altLang="ko-KR" dirty="0"/>
              <a:t>reuse</a:t>
            </a:r>
            <a:r>
              <a:rPr lang="ko-KR" altLang="en-US" dirty="0"/>
              <a:t>를 고려해 고성능 </a:t>
            </a:r>
            <a:r>
              <a:rPr lang="en-US" altLang="ko-KR" dirty="0"/>
              <a:t>tier </a:t>
            </a:r>
            <a:r>
              <a:rPr lang="ko-KR" altLang="en-US" dirty="0"/>
              <a:t>활용 극대화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Modifiability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Mona Sans VF"/>
              </a:rPr>
              <a:t>가 상대적으로 높음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 새로운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memory resource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추가 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Registry / affinity mapping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확장으로 대응 가능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6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쉬운 비유</a:t>
            </a:r>
            <a:r>
              <a:rPr lang="en-US" altLang="ko-KR" dirty="0"/>
              <a:t>: </a:t>
            </a:r>
            <a:r>
              <a:rPr lang="ko-KR" altLang="en-US" dirty="0" err="1"/>
              <a:t>네이게이션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출발 직전에 경로 계산 </a:t>
            </a:r>
            <a:r>
              <a:rPr lang="en-US" altLang="ko-KR" dirty="0"/>
              <a:t>-&gt; </a:t>
            </a:r>
            <a:r>
              <a:rPr lang="ko-KR" altLang="en-US" dirty="0"/>
              <a:t>경로 계산 기다렸다가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미리 경로 계산 </a:t>
            </a:r>
            <a:r>
              <a:rPr lang="en-US" altLang="ko-KR" dirty="0"/>
              <a:t>-&gt; </a:t>
            </a:r>
            <a:r>
              <a:rPr lang="ko-KR" altLang="en-US" dirty="0"/>
              <a:t>그대로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 단점</a:t>
            </a:r>
            <a:r>
              <a:rPr lang="en-US" altLang="ko-KR" dirty="0"/>
              <a:t>:</a:t>
            </a:r>
            <a:r>
              <a:rPr lang="en-US" altLang="ko-KR" baseline="0" dirty="0"/>
              <a:t> </a:t>
            </a:r>
            <a:r>
              <a:rPr lang="ko-KR" altLang="en-US" baseline="0" dirty="0"/>
              <a:t>가는 동안 정체 시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다시 계산</a:t>
            </a:r>
            <a:endParaRPr lang="en-US" altLang="ko-KR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상태 정보</a:t>
            </a:r>
            <a:r>
              <a:rPr lang="en-US" altLang="ko-KR" dirty="0"/>
              <a:t>: Prefill </a:t>
            </a:r>
            <a:r>
              <a:rPr lang="ko-KR" altLang="en-US" dirty="0"/>
              <a:t>노드의 대기 토큰 수와 </a:t>
            </a:r>
            <a:r>
              <a:rPr lang="en-US" altLang="ko-KR" dirty="0"/>
              <a:t>Decode </a:t>
            </a:r>
            <a:r>
              <a:rPr lang="ko-KR" altLang="en-US" dirty="0"/>
              <a:t>수</a:t>
            </a:r>
            <a:r>
              <a:rPr lang="en-US" altLang="ko-KR" dirty="0"/>
              <a:t>, Decode </a:t>
            </a:r>
            <a:r>
              <a:rPr lang="ko-KR" altLang="en-US" dirty="0"/>
              <a:t>노드의 </a:t>
            </a:r>
            <a:r>
              <a:rPr lang="en-US" altLang="ko-KR" dirty="0"/>
              <a:t>Tier </a:t>
            </a:r>
            <a:r>
              <a:rPr lang="ko-KR" altLang="en-US" dirty="0"/>
              <a:t>여유 용량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History KV </a:t>
            </a:r>
            <a:r>
              <a:rPr lang="ko-KR" altLang="en-US" dirty="0"/>
              <a:t>위치를 저장하고</a:t>
            </a:r>
            <a:r>
              <a:rPr lang="en-US" altLang="ko-KR" dirty="0"/>
              <a:t>, </a:t>
            </a:r>
            <a:r>
              <a:rPr lang="ko-KR" altLang="en-US" dirty="0"/>
              <a:t>생성 시각도 함께 기록합니다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dirty="0"/>
              <a:t>. ranked alt </a:t>
            </a:r>
            <a:r>
              <a:rPr lang="ko-KR" altLang="en-US" dirty="0"/>
              <a:t>중 </a:t>
            </a:r>
            <a:r>
              <a:rPr lang="en-US" altLang="ko-KR" dirty="0"/>
              <a:t>guard </a:t>
            </a:r>
            <a:r>
              <a:rPr lang="ko-KR" altLang="en-US" dirty="0"/>
              <a:t>통과하는 것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ko-KR" dirty="0"/>
              <a:t>. fallback </a:t>
            </a:r>
            <a:r>
              <a:rPr lang="ko-KR" altLang="en-US" dirty="0"/>
              <a:t>규칙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ko-KR" dirty="0"/>
              <a:t>. </a:t>
            </a:r>
            <a:r>
              <a:rPr lang="ko-KR" altLang="en-US" dirty="0"/>
              <a:t>동기 </a:t>
            </a:r>
            <a:r>
              <a:rPr lang="en-US" altLang="ko-KR" dirty="0"/>
              <a:t>re-plan --&gt; </a:t>
            </a:r>
            <a:r>
              <a:rPr lang="ko-KR" altLang="en-US" dirty="0"/>
              <a:t>결과 직접 반환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en-US" altLang="ko-KR" dirty="0"/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US" altLang="ko-KR" dirty="0"/>
              <a:t> </a:t>
            </a:r>
            <a:r>
              <a:rPr lang="ko-KR" altLang="en-US" dirty="0"/>
              <a:t>갱신 </a:t>
            </a:r>
            <a:r>
              <a:rPr lang="en-US" altLang="ko-KR" dirty="0"/>
              <a:t>= </a:t>
            </a:r>
            <a:r>
              <a:rPr lang="ko-KR" altLang="en-US" dirty="0"/>
              <a:t>다음 </a:t>
            </a:r>
            <a:r>
              <a:rPr lang="ko-KR" altLang="en-US" dirty="0" err="1"/>
              <a:t>요청용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2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선택 이유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안은 사전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재계산량이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저장본이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불어남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안의 </a:t>
            </a:r>
            <a:r>
              <a:rPr lang="en-US" altLang="ko-KR" dirty="0"/>
              <a:t>Performance ★★★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때만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군이 실제 분포를 못 따라가면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(W/L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신규 패턴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hit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율이 떨어지고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장점과 제약이 동시에 무너짐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729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050" dirty="0"/>
              <a:t>[DP4 </a:t>
            </a:r>
            <a:r>
              <a:rPr sz="1050" dirty="0" err="1"/>
              <a:t>설계</a:t>
            </a:r>
            <a:r>
              <a:rPr sz="1050" dirty="0"/>
              <a:t> -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직렬화</a:t>
            </a:r>
            <a:r>
              <a:rPr sz="1050" dirty="0"/>
              <a:t> vs </a:t>
            </a:r>
            <a:r>
              <a:rPr sz="1050" dirty="0" err="1"/>
              <a:t>분산</a:t>
            </a:r>
            <a:r>
              <a:rPr sz="1050" dirty="0"/>
              <a:t> 락]</a:t>
            </a:r>
          </a:p>
          <a:p>
            <a:r>
              <a:rPr sz="1050" dirty="0"/>
              <a:t>두 </a:t>
            </a:r>
            <a:r>
              <a:rPr sz="1050" dirty="0" err="1"/>
              <a:t>안은</a:t>
            </a:r>
            <a:r>
              <a:rPr sz="1050" dirty="0"/>
              <a:t> </a:t>
            </a:r>
            <a:r>
              <a:rPr sz="1050" dirty="0" err="1"/>
              <a:t>공통</a:t>
            </a:r>
            <a:r>
              <a:rPr sz="1050" dirty="0"/>
              <a:t> </a:t>
            </a:r>
            <a:r>
              <a:rPr sz="1050" dirty="0" err="1"/>
              <a:t>전제를</a:t>
            </a:r>
            <a:r>
              <a:rPr sz="1050" dirty="0"/>
              <a:t> </a:t>
            </a:r>
            <a:r>
              <a:rPr sz="1050" dirty="0" err="1"/>
              <a:t>공유합니다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/>
              <a:t>KV </a:t>
            </a:r>
            <a:r>
              <a:rPr sz="1050" dirty="0" err="1"/>
              <a:t>블록은</a:t>
            </a:r>
            <a:r>
              <a:rPr sz="1050" dirty="0"/>
              <a:t> 한 번 </a:t>
            </a:r>
            <a:r>
              <a:rPr sz="1050" dirty="0" err="1"/>
              <a:t>쓰면</a:t>
            </a:r>
            <a:r>
              <a:rPr sz="1050" dirty="0"/>
              <a:t> </a:t>
            </a:r>
            <a:r>
              <a:rPr sz="1050" dirty="0" err="1"/>
              <a:t>바뀌지</a:t>
            </a:r>
            <a:r>
              <a:rPr sz="1050" dirty="0"/>
              <a:t> </a:t>
            </a:r>
            <a:r>
              <a:rPr sz="1050" dirty="0" err="1"/>
              <a:t>않고</a:t>
            </a:r>
            <a:r>
              <a:rPr sz="1050" dirty="0"/>
              <a:t> </a:t>
            </a:r>
            <a:r>
              <a:rPr sz="1050" dirty="0" err="1"/>
              <a:t>해시로</a:t>
            </a:r>
            <a:r>
              <a:rPr sz="1050" dirty="0"/>
              <a:t> </a:t>
            </a:r>
            <a:r>
              <a:rPr sz="1050" dirty="0" err="1"/>
              <a:t>식별되며</a:t>
            </a:r>
            <a:r>
              <a:rPr sz="1050" dirty="0"/>
              <a:t>, </a:t>
            </a:r>
            <a:r>
              <a:rPr sz="1050" dirty="0" err="1"/>
              <a:t>페이로드는</a:t>
            </a:r>
            <a:r>
              <a:rPr sz="1050" dirty="0"/>
              <a:t> GPU </a:t>
            </a:r>
            <a:r>
              <a:rPr sz="1050" dirty="0" err="1"/>
              <a:t>DMA가</a:t>
            </a:r>
            <a:r>
              <a:rPr sz="1050" dirty="0"/>
              <a:t> CPU </a:t>
            </a:r>
            <a:r>
              <a:rPr sz="1050" dirty="0" err="1"/>
              <a:t>캐시를</a:t>
            </a:r>
            <a:r>
              <a:rPr sz="1050" dirty="0"/>
              <a:t> </a:t>
            </a:r>
            <a:r>
              <a:rPr sz="1050" dirty="0" err="1"/>
              <a:t>우회하므로</a:t>
            </a:r>
            <a:r>
              <a:rPr sz="1050" dirty="0"/>
              <a:t>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READY로</a:t>
            </a:r>
            <a:r>
              <a:rPr sz="1050" dirty="0"/>
              <a:t> </a:t>
            </a:r>
            <a:r>
              <a:rPr sz="1050" dirty="0" err="1"/>
              <a:t>publish하는</a:t>
            </a:r>
            <a:r>
              <a:rPr sz="1050" dirty="0"/>
              <a:t> </a:t>
            </a:r>
            <a:r>
              <a:rPr sz="1050" dirty="0" err="1"/>
              <a:t>시점을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경계로</a:t>
            </a:r>
            <a:r>
              <a:rPr sz="1050" dirty="0"/>
              <a:t> </a:t>
            </a:r>
            <a:r>
              <a:rPr sz="1050" dirty="0" err="1"/>
              <a:t>삼습니다</a:t>
            </a:r>
            <a:r>
              <a:rPr sz="1050" dirty="0"/>
              <a:t>. </a:t>
            </a:r>
            <a:r>
              <a:rPr sz="1050" dirty="0" err="1"/>
              <a:t>차이는</a:t>
            </a:r>
            <a:r>
              <a:rPr sz="1050" dirty="0"/>
              <a:t> </a:t>
            </a:r>
            <a:r>
              <a:rPr sz="1050" dirty="0" err="1"/>
              <a:t>메타데이터</a:t>
            </a:r>
            <a:r>
              <a:rPr sz="1050" dirty="0"/>
              <a:t>, 즉 prefix </a:t>
            </a:r>
            <a:r>
              <a:rPr sz="1050" dirty="0" err="1"/>
              <a:t>인덱스와</a:t>
            </a:r>
            <a:r>
              <a:rPr sz="1050" dirty="0"/>
              <a:t> </a:t>
            </a:r>
            <a:r>
              <a:rPr sz="1050" dirty="0" err="1"/>
              <a:t>refcount</a:t>
            </a:r>
            <a:r>
              <a:rPr sz="1050" dirty="0"/>
              <a:t>, </a:t>
            </a:r>
            <a:r>
              <a:rPr sz="1050" dirty="0" err="1"/>
              <a:t>할당기</a:t>
            </a:r>
            <a:r>
              <a:rPr sz="1050" dirty="0"/>
              <a:t>, </a:t>
            </a:r>
            <a:r>
              <a:rPr sz="1050" dirty="0" err="1"/>
              <a:t>LRU의</a:t>
            </a:r>
            <a:r>
              <a:rPr sz="1050" dirty="0"/>
              <a:t> </a:t>
            </a:r>
            <a:r>
              <a:rPr sz="1050" dirty="0" err="1"/>
              <a:t>일관성</a:t>
            </a:r>
            <a:r>
              <a:rPr sz="1050" dirty="0"/>
              <a:t> </a:t>
            </a:r>
            <a:r>
              <a:rPr sz="1050" dirty="0" err="1"/>
              <a:t>책임을</a:t>
            </a:r>
            <a:r>
              <a:rPr sz="1050" dirty="0"/>
              <a:t> </a:t>
            </a:r>
            <a:r>
              <a:rPr sz="1050" dirty="0" err="1"/>
              <a:t>누가</a:t>
            </a:r>
            <a:r>
              <a:rPr sz="1050" dirty="0"/>
              <a:t> </a:t>
            </a:r>
            <a:r>
              <a:rPr sz="1050" dirty="0" err="1"/>
              <a:t>지는가입니다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C1은 </a:t>
            </a:r>
            <a:r>
              <a:rPr sz="1050" dirty="0" err="1"/>
              <a:t>메타데이터</a:t>
            </a:r>
            <a:r>
              <a:rPr sz="1050" dirty="0"/>
              <a:t> </a:t>
            </a:r>
            <a:r>
              <a:rPr sz="1050" dirty="0" err="1"/>
              <a:t>서버</a:t>
            </a:r>
            <a:r>
              <a:rPr sz="1050" dirty="0"/>
              <a:t> 한 </a:t>
            </a:r>
            <a:r>
              <a:rPr sz="1050" dirty="0" err="1"/>
              <a:t>곳이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연산을</a:t>
            </a:r>
            <a:r>
              <a:rPr sz="1050" dirty="0"/>
              <a:t> </a:t>
            </a:r>
            <a:r>
              <a:rPr sz="1050" dirty="0" err="1"/>
              <a:t>직렬화하고</a:t>
            </a:r>
            <a:r>
              <a:rPr sz="1050" dirty="0"/>
              <a:t> </a:t>
            </a:r>
            <a:r>
              <a:rPr sz="1050" dirty="0" err="1"/>
              <a:t>노드는</a:t>
            </a:r>
            <a:r>
              <a:rPr sz="1050" dirty="0"/>
              <a:t> CXL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기반</a:t>
            </a:r>
            <a:r>
              <a:rPr sz="1050" dirty="0"/>
              <a:t> </a:t>
            </a:r>
            <a:r>
              <a:rPr sz="1050" dirty="0" err="1"/>
              <a:t>RPC로</a:t>
            </a:r>
            <a:r>
              <a:rPr sz="1050" dirty="0"/>
              <a:t> </a:t>
            </a:r>
            <a:r>
              <a:rPr sz="1050" dirty="0" err="1"/>
              <a:t>요청합니다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Beluga가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락이</a:t>
            </a:r>
            <a:r>
              <a:rPr sz="1050" dirty="0"/>
              <a:t> </a:t>
            </a:r>
            <a:r>
              <a:rPr sz="1050" dirty="0" err="1"/>
              <a:t>필요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SPOF이자</a:t>
            </a:r>
            <a:r>
              <a:rPr sz="1050" dirty="0"/>
              <a:t> </a:t>
            </a:r>
            <a:r>
              <a:rPr sz="1050" dirty="0" err="1"/>
              <a:t>처리량</a:t>
            </a:r>
            <a:r>
              <a:rPr sz="1050" dirty="0"/>
              <a:t> </a:t>
            </a:r>
            <a:r>
              <a:rPr sz="1050" dirty="0" err="1"/>
              <a:t>상한입니다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C2는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공유</a:t>
            </a:r>
            <a:r>
              <a:rPr sz="1050" dirty="0"/>
              <a:t> </a:t>
            </a:r>
            <a:r>
              <a:rPr sz="1050" dirty="0" err="1"/>
              <a:t>메모리에</a:t>
            </a:r>
            <a:r>
              <a:rPr sz="1050" dirty="0"/>
              <a:t> </a:t>
            </a:r>
            <a:r>
              <a:rPr sz="1050" dirty="0" err="1"/>
              <a:t>두고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노드가</a:t>
            </a:r>
            <a:r>
              <a:rPr sz="1050" dirty="0"/>
              <a:t> 2단 </a:t>
            </a:r>
            <a:r>
              <a:rPr sz="1050" dirty="0" err="1"/>
              <a:t>락으로</a:t>
            </a:r>
            <a:r>
              <a:rPr sz="1050" dirty="0"/>
              <a:t> </a:t>
            </a:r>
            <a:r>
              <a:rPr sz="1050" dirty="0" err="1"/>
              <a:t>직접</a:t>
            </a:r>
            <a:r>
              <a:rPr sz="1050" dirty="0"/>
              <a:t> </a:t>
            </a:r>
            <a:r>
              <a:rPr sz="1050" dirty="0" err="1"/>
              <a:t>갱신합니다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TraCT가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락 </a:t>
            </a:r>
            <a:r>
              <a:rPr sz="1050" dirty="0" err="1"/>
              <a:t>매니저의</a:t>
            </a:r>
            <a:r>
              <a:rPr sz="1050" dirty="0"/>
              <a:t> </a:t>
            </a:r>
            <a:r>
              <a:rPr sz="1050" dirty="0" err="1"/>
              <a:t>스캔</a:t>
            </a:r>
            <a:r>
              <a:rPr sz="1050" dirty="0"/>
              <a:t> </a:t>
            </a:r>
            <a:r>
              <a:rPr sz="1050" dirty="0" err="1"/>
              <a:t>비용이</a:t>
            </a:r>
            <a:r>
              <a:rPr sz="1050" dirty="0"/>
              <a:t> </a:t>
            </a:r>
            <a:r>
              <a:rPr sz="1050" dirty="0" err="1"/>
              <a:t>노드와</a:t>
            </a:r>
            <a:r>
              <a:rPr sz="1050" dirty="0"/>
              <a:t>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수에</a:t>
            </a:r>
            <a:r>
              <a:rPr sz="1050" dirty="0"/>
              <a:t> </a:t>
            </a:r>
            <a:r>
              <a:rPr sz="1050" dirty="0" err="1"/>
              <a:t>비례하고</a:t>
            </a:r>
            <a:r>
              <a:rPr sz="1050" dirty="0"/>
              <a:t>, </a:t>
            </a:r>
            <a:r>
              <a:rPr sz="1050" dirty="0" err="1"/>
              <a:t>락을</a:t>
            </a:r>
            <a:r>
              <a:rPr sz="1050" dirty="0"/>
              <a:t> 쥔 </a:t>
            </a:r>
            <a:r>
              <a:rPr sz="1050" dirty="0" err="1"/>
              <a:t>노드가</a:t>
            </a:r>
            <a:r>
              <a:rPr sz="1050" dirty="0"/>
              <a:t> </a:t>
            </a:r>
            <a:r>
              <a:rPr sz="1050" dirty="0" err="1"/>
              <a:t>죽으면</a:t>
            </a:r>
            <a:r>
              <a:rPr sz="1050" dirty="0"/>
              <a:t> </a:t>
            </a:r>
            <a:r>
              <a:rPr sz="1050" dirty="0" err="1"/>
              <a:t>정체되며</a:t>
            </a:r>
            <a:r>
              <a:rPr sz="1050" dirty="0"/>
              <a:t>, </a:t>
            </a:r>
            <a:r>
              <a:rPr sz="1050" dirty="0" err="1"/>
              <a:t>clflush</a:t>
            </a:r>
            <a:r>
              <a:rPr sz="1050" dirty="0"/>
              <a:t> </a:t>
            </a:r>
            <a:r>
              <a:rPr sz="1050" dirty="0" err="1"/>
              <a:t>누락</a:t>
            </a:r>
            <a:r>
              <a:rPr sz="1050" dirty="0"/>
              <a:t> </a:t>
            </a:r>
            <a:r>
              <a:rPr sz="1050" dirty="0" err="1"/>
              <a:t>같은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버그</a:t>
            </a:r>
            <a:r>
              <a:rPr sz="1050" dirty="0"/>
              <a:t> </a:t>
            </a:r>
            <a:r>
              <a:rPr sz="1050" dirty="0" err="1"/>
              <a:t>위험이</a:t>
            </a:r>
            <a:r>
              <a:rPr sz="1050" dirty="0"/>
              <a:t> </a:t>
            </a:r>
            <a:r>
              <a:rPr sz="1050" dirty="0" err="1"/>
              <a:t>있습니다</a:t>
            </a:r>
            <a:r>
              <a:rPr sz="105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2093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7BF61-C4E3-46F2-976A-DB71B3C1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952DBF-B21A-48FA-BC39-6A8AE61AB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4439D-0C75-4898-8A51-D73AFB26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B2237-742D-4469-AD43-1727915B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0FECAC-EB5B-4CEC-8DEA-4607E2E6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05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5A6F2-0A9C-4C62-B7FC-BA83EB21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7F6CF-1F7F-4D8D-ABEB-BA6C340D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4E37C-BD60-4EB1-A385-0DE2F7F5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7B1C9-7FF6-4126-879D-9AD271A5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FC973-18E9-4BEE-B4E3-33F10BF2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2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E77B3-1FCE-4434-AFA7-9B8F1F25F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AEFA20-081C-4E8D-AFC1-5A7F5B59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9797DE-F355-4D3F-9AE3-30788265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12DBF-DBA1-4546-A29D-6DB6D3B0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F532D-5C40-4A4F-83DE-7CB1DE22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33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FDC3A-7D41-4D6C-A1F2-FEE558FC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378EC-3B40-4F08-8DF9-7CF643BAC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1E0DA1-61C0-4ECD-8DC6-9A1A1A490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1DD359-40A9-4D37-B364-775CC0EB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FF8DE4-06AC-41E4-B9F4-5149D5D5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C11F1-ACB4-48F9-ABE4-E67889E6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4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7192D-37A9-442E-A961-0AC5E48C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60C0C-CCE7-46A5-AE37-6BADD5EB8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BB593E-534D-4C68-B007-4DDA37DFC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1085C3-D1F2-4718-B146-AA78B6D41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397293-6B7E-45FA-930E-C6F160170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38B3EB-9E31-4C6A-8C64-B1B3FC00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56D33E-FCBC-40E5-ABEC-2160DE9F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FFA1E9-98A8-45E6-9827-35E02D1E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35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BC120-0B4C-4C6A-95F7-21277A86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D0EBC-5CF9-4A9C-A42A-9EFD7F2F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B663AE-454E-4DBD-9A7C-09DA836B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5097A-826B-4C56-9511-B9B3AC7D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49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D1965F-A2DF-4CA3-8B0F-156819D0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53C49F-5039-4FC6-98AE-AAEA3EB3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3BB90-AABB-431D-B967-5817929C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42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6B979-BDBB-491F-97FC-5B1B63EF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8D9D6-24D3-41B9-85F2-DA5F5B98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8894B1-E41A-4F8E-B331-993DD9214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A855F1-6A21-4737-8E20-AA8330DA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545FF-3B82-46AF-BF9E-CE560AD8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7B1D7-A84C-4EA3-AAD8-17DD49E8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8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EFE94-E9ED-4D01-BD1E-9A1566FF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1BA952-DBA5-41FD-8B00-42CEE24DF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8D9DEA-9228-4BD1-A1FA-C1B331E6A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BB937-BA11-4499-AC02-FEF41F70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E7F680-2B69-4E1D-832E-A2486EAF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181AB6-6B74-4EB7-BF6D-5CDE1E5C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61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9F32-1A27-489C-9865-CBEB3C5D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C9ECD8-1D79-4B48-8376-FFDAC3D1C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4052F-E62A-4793-9765-8F70AEFA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E728C-9D4E-4988-8CAD-F40D8C45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341E0-57B9-4F5B-8DA3-1A747E2D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FC14BD-5747-4120-B50D-EF09DA2BC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DF3F4-E9A0-42C1-8E59-19AAE21C2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03052-1383-4EB9-AA1C-6D065F36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90F0F-F70E-46D3-BFD8-6AFEB5D1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FDBC6-5438-443D-BE35-98DE543A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545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393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79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AC9B4-2FED-4499-8F20-384B4A83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D1163-3C5C-44D4-BAD1-A6E73A9F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84C45-0880-4ACB-B7DA-D5C51A5AC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8C919-9592-46E7-9922-7C91198B6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C4C1E-3602-490A-A8F7-9D5858EAB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9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95748"/>
              </p:ext>
            </p:extLst>
          </p:nvPr>
        </p:nvGraphicFramePr>
        <p:xfrm>
          <a:off x="278859" y="996757"/>
          <a:ext cx="11709382" cy="37690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942142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55932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574713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440675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4231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서비스 수준 목표</a:t>
                      </a:r>
                      <a:r>
                        <a:rPr lang="en-US" altLang="ko-KR" sz="900" dirty="0"/>
                        <a:t>(SLO)</a:t>
                      </a:r>
                      <a:r>
                        <a:rPr lang="ko-KR" altLang="en-US" sz="900" dirty="0"/>
                        <a:t>를 만족하는 토큰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다수의 </a:t>
                      </a:r>
                      <a:r>
                        <a:rPr lang="en-US" altLang="ko-KR" sz="900" dirty="0"/>
                        <a:t>agent </a:t>
                      </a:r>
                      <a:r>
                        <a:rPr lang="ko-KR" altLang="en-US" sz="900" dirty="0"/>
                        <a:t>세션이 동시에 요청하는 상황에서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지정한 </a:t>
                      </a:r>
                      <a:r>
                        <a:rPr lang="en-US" altLang="ko-KR" sz="900" dirty="0"/>
                        <a:t>SLO*(Elapsed Time)</a:t>
                      </a:r>
                      <a:r>
                        <a:rPr lang="ko-KR" altLang="en-US" sz="900" dirty="0"/>
                        <a:t>를 만족하며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처리할 수 있는 최대 </a:t>
                      </a:r>
                      <a:r>
                        <a:rPr lang="ko-KR" altLang="en-US" sz="900" dirty="0" err="1"/>
                        <a:t>요청량이</a:t>
                      </a:r>
                      <a:r>
                        <a:rPr lang="ko-KR" altLang="en-US" sz="900" dirty="0"/>
                        <a:t> 기존 시스템</a:t>
                      </a:r>
                      <a:r>
                        <a:rPr lang="en-US" altLang="ko-KR" sz="900" dirty="0"/>
                        <a:t>(Baseline: GPU-only)</a:t>
                      </a:r>
                      <a:r>
                        <a:rPr lang="ko-KR" altLang="en-US" sz="900" dirty="0"/>
                        <a:t>보다 커야 한다</a:t>
                      </a:r>
                      <a:r>
                        <a:rPr lang="en-US" altLang="ko-KR" sz="900" dirty="0"/>
                        <a:t>. (*SLO: Service Level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Objective)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SLO </a:t>
                      </a:r>
                      <a:r>
                        <a:rPr lang="ko-KR" altLang="en-US" sz="900" b="1" dirty="0"/>
                        <a:t>만족 최대 처리량 </a:t>
                      </a:r>
                      <a:r>
                        <a:rPr lang="en-US" altLang="ko-KR" sz="900" b="1" dirty="0"/>
                        <a:t>≥ Baseline </a:t>
                      </a:r>
                      <a:r>
                        <a:rPr lang="ko-KR" altLang="en-US" sz="900" b="1" dirty="0"/>
                        <a:t>대비 증가율 </a:t>
                      </a:r>
                      <a:r>
                        <a:rPr lang="en-US" altLang="ko-KR" sz="900" b="1" dirty="0"/>
                        <a:t>2x (Stakeholder </a:t>
                      </a:r>
                      <a:r>
                        <a:rPr lang="ko-KR" altLang="en-US" sz="900" b="1" dirty="0"/>
                        <a:t>요구사항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H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Resource</a:t>
                      </a:r>
                      <a:r>
                        <a:rPr lang="en-US" sz="900" baseline="0" dirty="0"/>
                        <a:t> </a:t>
                      </a:r>
                    </a:p>
                    <a:p>
                      <a:r>
                        <a:rPr lang="en-US" sz="900" baseline="0" dirty="0"/>
                        <a:t>Efficiency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HBM </a:t>
                      </a:r>
                      <a:r>
                        <a:rPr lang="ko-KR" altLang="en-US" sz="900" dirty="0"/>
                        <a:t>점유율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동일한 성능 조건에서 </a:t>
                      </a:r>
                      <a:r>
                        <a:rPr lang="en-US" altLang="ko-KR" sz="900" dirty="0"/>
                        <a:t>HBM </a:t>
                      </a:r>
                      <a:r>
                        <a:rPr lang="ko-KR" altLang="en-US" sz="900" dirty="0"/>
                        <a:t>점유율이 </a:t>
                      </a:r>
                      <a:r>
                        <a:rPr lang="en-US" altLang="ko-KR" sz="900" dirty="0"/>
                        <a:t>Baseline(GPU-only)</a:t>
                      </a:r>
                      <a:r>
                        <a:rPr lang="ko-KR" altLang="en-US" sz="900" dirty="0"/>
                        <a:t>보다 낮아야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HBM </a:t>
                      </a:r>
                      <a:r>
                        <a:rPr lang="ko-KR" altLang="en-US" sz="900" b="1" dirty="0"/>
                        <a:t>점유율 </a:t>
                      </a:r>
                      <a:r>
                        <a:rPr lang="en-US" altLang="ko-KR" sz="900" b="1" dirty="0"/>
                        <a:t>&gt;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20%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5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r>
                        <a:rPr lang="en-US" sz="900" dirty="0"/>
                        <a:t>(Tail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Latency)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고부하 지연시간 </a:t>
                      </a:r>
                      <a:r>
                        <a:rPr lang="en-US" altLang="ko-KR" sz="9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/>
                        <a:t>고부하 환경에서 최악 응답 지연</a:t>
                      </a:r>
                      <a:r>
                        <a:rPr lang="en-US" altLang="ko-KR" sz="900" b="0" baseline="0" dirty="0"/>
                        <a:t>(Tail Latency)</a:t>
                      </a:r>
                      <a:r>
                        <a:rPr lang="ko-KR" altLang="en-US" sz="900" b="0" baseline="0" dirty="0"/>
                        <a:t>을 </a:t>
                      </a:r>
                      <a:r>
                        <a:rPr lang="en-US" altLang="ko-KR" sz="900" b="0" baseline="0" dirty="0"/>
                        <a:t>Baseline(GPU-only) </a:t>
                      </a:r>
                      <a:r>
                        <a:rPr lang="ko-KR" altLang="en-US" sz="900" b="0" baseline="0" dirty="0"/>
                        <a:t>대비 개선해야 한다</a:t>
                      </a:r>
                      <a:r>
                        <a:rPr lang="en-US" altLang="ko-KR" sz="9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TTFT·TPOT(P99) ≥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30% (</a:t>
                      </a:r>
                      <a:r>
                        <a:rPr lang="ko-KR" altLang="en-US" sz="900" b="1" dirty="0"/>
                        <a:t>사용자 체감 성능 개선 기준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600" b="1" dirty="0"/>
                        <a:t>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늘어난 자원에 비례해 성능이 증가해야 한다 </a:t>
                      </a:r>
                      <a:endParaRPr lang="en-US" altLang="ko-KR" sz="900" dirty="0"/>
                    </a:p>
                    <a:p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Scaling Efficiency &gt; 80%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br>
                        <a:rPr lang="en-US" altLang="ko-KR" sz="900" dirty="0"/>
                      </a:b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새로운 메모리 tier 추가, 이동·배치·재사용 정책 교체, vLLM upstream 갱신 시 서빙 경로를 수정하지 않고 반영할 수 있어야 한다.</a:t>
                      </a:r>
                      <a:endParaRPr lang="ko-KR" altLang="en-US" sz="900" dirty="0"/>
                    </a:p>
                    <a:p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[측정: 변경 모듈 수 ≤ 5개 (변경 시나리오 3종 평균, 환산 개발 공수 ≈ 1.0 M/M 이하)]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전송</a:t>
                      </a:r>
                      <a:r>
                        <a:rPr lang="en-US" altLang="ko-KR" sz="900" dirty="0"/>
                        <a:t>·offload </a:t>
                      </a:r>
                      <a:r>
                        <a:rPr lang="ko-KR" altLang="en-US" sz="9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b="0" dirty="0"/>
                        <a:t>KV </a:t>
                      </a:r>
                      <a:r>
                        <a:rPr lang="ko-KR" altLang="en-US" sz="900" b="0" dirty="0"/>
                        <a:t>전송이나 </a:t>
                      </a:r>
                      <a:r>
                        <a:rPr lang="en-US" altLang="ko-KR" sz="900" b="0" dirty="0"/>
                        <a:t>offload</a:t>
                      </a:r>
                      <a:r>
                        <a:rPr lang="ko-KR" altLang="en-US" sz="9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측정</a:t>
                      </a:r>
                      <a:r>
                        <a:rPr lang="en-US" altLang="ko-KR" sz="900" b="0" dirty="0"/>
                        <a:t>: fallback </a:t>
                      </a:r>
                      <a:r>
                        <a:rPr lang="ko-KR" altLang="en-US" sz="900" b="0" dirty="0"/>
                        <a:t>성공률 </a:t>
                      </a:r>
                      <a:r>
                        <a:rPr lang="en-US" altLang="ko-KR" sz="900" b="0" dirty="0"/>
                        <a:t>&gt; 99.9 ]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Adaptability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워크로드 변화 적응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0" dirty="0"/>
                        <a:t>입력 분포나 접근 패턴이 바뀌어도 접근 통계를 반영해 배치를 다시 맞추고 성능을 회복해야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92613" y="1128409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167984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16118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642517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149425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56547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9553819" y="1750706"/>
            <a:ext cx="155331" cy="11085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50040" cy="537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148864896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7648927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baseline="0" dirty="0"/>
                        <a:t>상태 관측과 이동 결정을 한 곳에서 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상태 관측과 이동 결정을 분리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3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Threshold trigger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즉시 판단을 기동해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압박 구간이 짧음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 </a:t>
                      </a:r>
                      <a:endParaRPr lang="ko-KR" altLang="en-US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간 인터페이스 호출이 없어 정책 수정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범위 제한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object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특성에 맞게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이동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다양한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workload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혼재 시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 behavior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 기반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migration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효과 증가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다양한 </a:t>
                      </a:r>
                      <a:r>
                        <a:rPr lang="en-US" altLang="ko-KR" sz="1200" dirty="0"/>
                        <a:t>workload </a:t>
                      </a:r>
                      <a:r>
                        <a:rPr lang="ko-KR" altLang="en-US" sz="1200" dirty="0"/>
                        <a:t>혼재 시 </a:t>
                      </a:r>
                      <a:r>
                        <a:rPr lang="en-US" altLang="ko-KR" sz="1200" dirty="0"/>
                        <a:t>resource pressure </a:t>
                      </a:r>
                      <a:r>
                        <a:rPr lang="ko-KR" altLang="en-US" sz="1200" dirty="0"/>
                        <a:t>대응 한계 증가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age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만큼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stale → 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확보 지연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스키마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Command Queue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인터페이스가 바뀌면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Resource,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Data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동반 수정 필요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2안과 동일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예상보다 낮음</a:t>
                      </a: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예상보다 높음</a:t>
                      </a: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예상보다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451→1,107 tok/s (×2.46)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425→340 GiB (−20%)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3.2→0.9 s (r 2.13)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1.75m·0.38MM</a:t>
                      </a:r>
                    </a:p>
                  </a:txBody>
                  <a:tcPr anchor="ctr" marR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1안과 동일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▸ 예상보다 낮음</a:t>
                      </a: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451→1,115 tok/s (×2.47)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425→404 GiB (−5%)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3.2→0.9 s (r 2.14)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2.5m·0.51MM</a:t>
                      </a:r>
                      <a:endParaRPr lang="en-US" altLang="ko-KR" sz="1200" b="0" dirty="0">
                        <a:solidFill>
                          <a:srgbClr val="0070C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 marR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DP1. Data Migration</a:t>
            </a:r>
            <a:r>
              <a:rPr lang="ko-KR" altLang="en-US" dirty="0"/>
              <a:t> 결정 구조</a:t>
            </a:r>
            <a:r>
              <a:rPr lang="en-US" altLang="ko-KR" dirty="0"/>
              <a:t> - </a:t>
            </a:r>
            <a:r>
              <a:rPr lang="ko-KR" altLang="en-US" dirty="0"/>
              <a:t>설계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0" y="6597650"/>
            <a:ext cx="457200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5814" y="632567"/>
            <a:ext cx="802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메모리 자원 상태와 데이터 특성을 고려한 데이터 이동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결정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자원 상태에 우선한 이동 결정</a:t>
            </a:r>
            <a:r>
              <a:rPr lang="en-US" altLang="ko-KR" sz="1100" dirty="0"/>
              <a:t>“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데이터 특성에 우선한 이동 결정</a:t>
            </a:r>
            <a:r>
              <a:rPr lang="en-US" altLang="ko-KR" sz="1100" dirty="0"/>
              <a:t>”</a:t>
            </a:r>
            <a:endParaRPr lang="en-US" altLang="ko-KR" sz="1100" strike="sngStrike" dirty="0"/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8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0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91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0BD5A-8E5D-4229-B9CD-EE7278C05436}"/>
              </a:ext>
            </a:extLst>
          </p:cNvPr>
          <p:cNvSpPr txBox="1"/>
          <p:nvPr/>
        </p:nvSpPr>
        <p:spPr>
          <a:xfrm>
            <a:off x="4617258" y="6563925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91191D-072D-4CEC-A0E8-E3D891FF373D}"/>
              </a:ext>
            </a:extLst>
          </p:cNvPr>
          <p:cNvSpPr txBox="1"/>
          <p:nvPr/>
        </p:nvSpPr>
        <p:spPr>
          <a:xfrm>
            <a:off x="10016983" y="657810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5EE784-4191-4924-833C-F4E4E1D195A6}"/>
              </a:ext>
            </a:extLst>
          </p:cNvPr>
          <p:cNvSpPr/>
          <p:nvPr/>
        </p:nvSpPr>
        <p:spPr>
          <a:xfrm>
            <a:off x="580860" y="6144357"/>
            <a:ext cx="199763" cy="17731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실행 단추: 앞으로 또는 다음 99">
            <a:hlinkClick r:id="" action="ppaction://noaction" highlightClick="1"/>
          </p:cNvPr>
          <p:cNvSpPr/>
          <p:nvPr/>
        </p:nvSpPr>
        <p:spPr>
          <a:xfrm>
            <a:off x="6115324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11618261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04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Q5 </a:t>
            </a:r>
            <a:r>
              <a:rPr lang="ko-KR" altLang="en-US" sz="700" dirty="0" err="1">
                <a:latin typeface="맑은 고딕" panose="020B0503020000020004" pitchFamily="50" charset="-127"/>
              </a:rPr>
              <a:t>변경용이성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6621854" y="1744599"/>
            <a:ext cx="5128953" cy="2685098"/>
            <a:chOff x="6236208" y="1758886"/>
            <a:chExt cx="5641848" cy="2685098"/>
          </a:xfrm>
        </p:grpSpPr>
        <p:sp>
          <p:nvSpPr>
            <p:cNvPr id="309" name="Rectangle 71"/>
            <p:cNvSpPr/>
            <p:nvPr/>
          </p:nvSpPr>
          <p:spPr>
            <a:xfrm>
              <a:off x="6236208" y="1758886"/>
              <a:ext cx="5641848" cy="819721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6236208" y="1800440"/>
              <a:ext cx="5641848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1" name="Rectangle 73"/>
            <p:cNvSpPr/>
            <p:nvPr/>
          </p:nvSpPr>
          <p:spPr>
            <a:xfrm>
              <a:off x="6345935" y="2011680"/>
              <a:ext cx="1449321" cy="45720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5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Decision Scheduler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주기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독립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보유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2" name="Rectangle 74"/>
            <p:cNvSpPr/>
            <p:nvPr/>
          </p:nvSpPr>
          <p:spPr>
            <a:xfrm>
              <a:off x="7968995" y="2011680"/>
              <a:ext cx="1046988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데이터</a:t>
              </a:r>
              <a:r>
                <a:rPr lang="en-US" altLang="ko-KR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3" name="Rectangle 75"/>
            <p:cNvSpPr/>
            <p:nvPr/>
          </p:nvSpPr>
          <p:spPr>
            <a:xfrm>
              <a:off x="9162288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4" name="Rectangle 76"/>
            <p:cNvSpPr/>
            <p:nvPr/>
          </p:nvSpPr>
          <p:spPr>
            <a:xfrm>
              <a:off x="10588752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15" name="Connector 77"/>
            <p:cNvCxnSpPr/>
            <p:nvPr/>
          </p:nvCxnSpPr>
          <p:spPr>
            <a:xfrm>
              <a:off x="7804402" y="2240280"/>
              <a:ext cx="164593" cy="0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Oval 78"/>
            <p:cNvSpPr/>
            <p:nvPr/>
          </p:nvSpPr>
          <p:spPr>
            <a:xfrm>
              <a:off x="7774975" y="2318004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cxnSp>
          <p:nvCxnSpPr>
            <p:cNvPr id="317" name="Connector 79"/>
            <p:cNvCxnSpPr/>
            <p:nvPr/>
          </p:nvCxnSpPr>
          <p:spPr>
            <a:xfrm>
              <a:off x="9015984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80"/>
            <p:cNvCxnSpPr/>
            <p:nvPr/>
          </p:nvCxnSpPr>
          <p:spPr>
            <a:xfrm>
              <a:off x="10442448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81"/>
            <p:cNvSpPr/>
            <p:nvPr/>
          </p:nvSpPr>
          <p:spPr>
            <a:xfrm>
              <a:off x="6236208" y="2775204"/>
              <a:ext cx="2779776" cy="1266444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6236208" y="2807263"/>
              <a:ext cx="2779776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1" name="Rectangle 83"/>
            <p:cNvSpPr/>
            <p:nvPr/>
          </p:nvSpPr>
          <p:spPr>
            <a:xfrm>
              <a:off x="6345936" y="3035808"/>
              <a:ext cx="2560320" cy="27432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State Snapshot Builder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일관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복사본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생성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· object 수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비용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2" name="Rectangle 84"/>
            <p:cNvSpPr/>
            <p:nvPr/>
          </p:nvSpPr>
          <p:spPr>
            <a:xfrm>
              <a:off x="6345936" y="3364992"/>
              <a:ext cx="122529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23" name="Rectangle 85"/>
            <p:cNvSpPr/>
            <p:nvPr/>
          </p:nvSpPr>
          <p:spPr>
            <a:xfrm>
              <a:off x="7680960" y="3364992"/>
              <a:ext cx="122529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24" name="Rectangle 86"/>
            <p:cNvSpPr/>
            <p:nvPr/>
          </p:nvSpPr>
          <p:spPr>
            <a:xfrm>
              <a:off x="6345936" y="3675887"/>
              <a:ext cx="256032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Memory·Data Object Registry</a:t>
              </a:r>
            </a:p>
          </p:txBody>
        </p:sp>
        <p:cxnSp>
          <p:nvCxnSpPr>
            <p:cNvPr id="325" name="Connector 87"/>
            <p:cNvCxnSpPr/>
            <p:nvPr/>
          </p:nvCxnSpPr>
          <p:spPr>
            <a:xfrm flipV="1">
              <a:off x="6958584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nector 88"/>
            <p:cNvCxnSpPr/>
            <p:nvPr/>
          </p:nvCxnSpPr>
          <p:spPr>
            <a:xfrm flipV="1">
              <a:off x="8293608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 89"/>
            <p:cNvCxnSpPr/>
            <p:nvPr/>
          </p:nvCxnSpPr>
          <p:spPr>
            <a:xfrm flipV="1">
              <a:off x="7626096" y="3310128"/>
              <a:ext cx="0" cy="365759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Oval 90"/>
            <p:cNvSpPr/>
            <p:nvPr/>
          </p:nvSpPr>
          <p:spPr>
            <a:xfrm>
              <a:off x="7548371" y="3433572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cxnSp>
          <p:nvCxnSpPr>
            <p:cNvPr id="329" name="Connector 91"/>
            <p:cNvCxnSpPr/>
            <p:nvPr/>
          </p:nvCxnSpPr>
          <p:spPr>
            <a:xfrm flipV="1">
              <a:off x="8686800" y="2468880"/>
              <a:ext cx="0" cy="566928"/>
            </a:xfrm>
            <a:prstGeom prst="line">
              <a:avLst/>
            </a:prstGeom>
            <a:ln w="12700">
              <a:solidFill>
                <a:srgbClr val="BF8F0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92"/>
            <p:cNvSpPr/>
            <p:nvPr/>
          </p:nvSpPr>
          <p:spPr>
            <a:xfrm>
              <a:off x="8773667" y="2647188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31" name="Rectangle 93"/>
            <p:cNvSpPr/>
            <p:nvPr/>
          </p:nvSpPr>
          <p:spPr>
            <a:xfrm>
              <a:off x="9345168" y="2816352"/>
              <a:ext cx="2532888" cy="1225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9345168" y="2852928"/>
              <a:ext cx="2532888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33" name="Rectangle 95"/>
            <p:cNvSpPr/>
            <p:nvPr/>
          </p:nvSpPr>
          <p:spPr>
            <a:xfrm>
              <a:off x="9454896" y="3035808"/>
              <a:ext cx="2313432" cy="292608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>
                  <a:solidFill>
                    <a:srgbClr val="7F5F00"/>
                  </a:solidFill>
                  <a:latin typeface="맑은 고딕"/>
                  <a:ea typeface="맑은 고딕"/>
                </a:rPr>
                <a:t>Migration Command Queue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>
                  <a:solidFill>
                    <a:srgbClr val="7F5F00"/>
                  </a:solidFill>
                  <a:latin typeface="맑은 고딕"/>
                  <a:ea typeface="맑은 고딕"/>
                </a:rPr>
                <a:t>비동기 판단 결과 버퍼 · 순서 보장</a:t>
              </a:r>
            </a:p>
          </p:txBody>
        </p:sp>
        <p:sp>
          <p:nvSpPr>
            <p:cNvPr id="334" name="Rectangle 96"/>
            <p:cNvSpPr/>
            <p:nvPr/>
          </p:nvSpPr>
          <p:spPr>
            <a:xfrm>
              <a:off x="9454896" y="3401568"/>
              <a:ext cx="2313432" cy="2377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35" name="Rectangle 97"/>
            <p:cNvSpPr/>
            <p:nvPr/>
          </p:nvSpPr>
          <p:spPr>
            <a:xfrm>
              <a:off x="9454896" y="3694176"/>
              <a:ext cx="2313432" cy="219456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36" name="Connector 98"/>
            <p:cNvCxnSpPr/>
            <p:nvPr/>
          </p:nvCxnSpPr>
          <p:spPr>
            <a:xfrm>
              <a:off x="10616184" y="3328416"/>
              <a:ext cx="0" cy="73152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Oval 99"/>
            <p:cNvSpPr/>
            <p:nvPr/>
          </p:nvSpPr>
          <p:spPr>
            <a:xfrm>
              <a:off x="10703051" y="3287268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cxnSp>
          <p:nvCxnSpPr>
            <p:cNvPr id="338" name="Connector 100"/>
            <p:cNvCxnSpPr/>
            <p:nvPr/>
          </p:nvCxnSpPr>
          <p:spPr>
            <a:xfrm>
              <a:off x="10616184" y="3639312"/>
              <a:ext cx="0" cy="5486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Oval 101"/>
            <p:cNvSpPr/>
            <p:nvPr/>
          </p:nvSpPr>
          <p:spPr>
            <a:xfrm>
              <a:off x="10703051" y="3589020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40" name="Connector 102"/>
            <p:cNvCxnSpPr/>
            <p:nvPr/>
          </p:nvCxnSpPr>
          <p:spPr>
            <a:xfrm>
              <a:off x="11228832" y="2468880"/>
              <a:ext cx="0" cy="566928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Oval 103"/>
            <p:cNvSpPr/>
            <p:nvPr/>
          </p:nvSpPr>
          <p:spPr>
            <a:xfrm>
              <a:off x="11315700" y="26654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42" name="Connector 104"/>
            <p:cNvCxnSpPr/>
            <p:nvPr/>
          </p:nvCxnSpPr>
          <p:spPr>
            <a:xfrm flipH="1">
              <a:off x="9125712" y="3520440"/>
              <a:ext cx="329184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or 105"/>
            <p:cNvCxnSpPr/>
            <p:nvPr/>
          </p:nvCxnSpPr>
          <p:spPr>
            <a:xfrm>
              <a:off x="9125712" y="3520440"/>
              <a:ext cx="0" cy="5943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or 106"/>
            <p:cNvCxnSpPr/>
            <p:nvPr/>
          </p:nvCxnSpPr>
          <p:spPr>
            <a:xfrm flipH="1">
              <a:off x="6958584" y="4114800"/>
              <a:ext cx="2167128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or 107"/>
            <p:cNvCxnSpPr/>
            <p:nvPr/>
          </p:nvCxnSpPr>
          <p:spPr>
            <a:xfrm flipV="1">
              <a:off x="6958584" y="3931920"/>
              <a:ext cx="0" cy="18288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Oval 108"/>
            <p:cNvSpPr/>
            <p:nvPr/>
          </p:nvSpPr>
          <p:spPr>
            <a:xfrm>
              <a:off x="7968996" y="40370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⑦</a:t>
              </a:r>
            </a:p>
          </p:txBody>
        </p:sp>
        <p:sp>
          <p:nvSpPr>
            <p:cNvPr id="347" name="Rectangle 109"/>
            <p:cNvSpPr/>
            <p:nvPr/>
          </p:nvSpPr>
          <p:spPr>
            <a:xfrm>
              <a:off x="6236208" y="4206240"/>
              <a:ext cx="5641848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408113" y="1686551"/>
            <a:ext cx="4919472" cy="2708716"/>
            <a:chOff x="2178826" y="3859237"/>
            <a:chExt cx="4919472" cy="2708716"/>
          </a:xfrm>
        </p:grpSpPr>
        <p:sp>
          <p:nvSpPr>
            <p:cNvPr id="357" name="Rectangle 37"/>
            <p:cNvSpPr/>
            <p:nvPr/>
          </p:nvSpPr>
          <p:spPr>
            <a:xfrm>
              <a:off x="2178826" y="3859237"/>
              <a:ext cx="3785615" cy="1904043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178826" y="3872870"/>
              <a:ext cx="3785615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50" b="1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+ 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0" name="Rectangle 39"/>
            <p:cNvSpPr/>
            <p:nvPr/>
          </p:nvSpPr>
          <p:spPr>
            <a:xfrm>
              <a:off x="2288554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1" name="Rectangle 40"/>
            <p:cNvSpPr/>
            <p:nvPr/>
          </p:nvSpPr>
          <p:spPr>
            <a:xfrm>
              <a:off x="3532138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2" name="Rectangle 41"/>
            <p:cNvSpPr/>
            <p:nvPr/>
          </p:nvSpPr>
          <p:spPr>
            <a:xfrm>
              <a:off x="4775722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3" name="Connector 42"/>
            <p:cNvCxnSpPr/>
            <p:nvPr/>
          </p:nvCxnSpPr>
          <p:spPr>
            <a:xfrm>
              <a:off x="3422410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or 43"/>
            <p:cNvCxnSpPr/>
            <p:nvPr/>
          </p:nvCxnSpPr>
          <p:spPr>
            <a:xfrm>
              <a:off x="4665994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Oval 44"/>
            <p:cNvSpPr/>
            <p:nvPr/>
          </p:nvSpPr>
          <p:spPr>
            <a:xfrm>
              <a:off x="3399550" y="423166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sp>
          <p:nvSpPr>
            <p:cNvPr id="367" name="Rectangle 45"/>
            <p:cNvSpPr/>
            <p:nvPr/>
          </p:nvSpPr>
          <p:spPr>
            <a:xfrm>
              <a:off x="2288554" y="4629425"/>
              <a:ext cx="1133856" cy="310896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Threshold Trigger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임계치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교차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시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기동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8" name="Connector 46"/>
            <p:cNvCxnSpPr/>
            <p:nvPr/>
          </p:nvCxnSpPr>
          <p:spPr>
            <a:xfrm flipV="1">
              <a:off x="2855482" y="4519697"/>
              <a:ext cx="0" cy="109728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47"/>
            <p:cNvSpPr/>
            <p:nvPr/>
          </p:nvSpPr>
          <p:spPr>
            <a:xfrm>
              <a:off x="2942350" y="4496837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sp>
          <p:nvSpPr>
            <p:cNvPr id="370" name="Rectangle 48"/>
            <p:cNvSpPr/>
            <p:nvPr/>
          </p:nvSpPr>
          <p:spPr>
            <a:xfrm>
              <a:off x="2233690" y="4995185"/>
              <a:ext cx="2523744" cy="694944"/>
            </a:xfrm>
            <a:prstGeom prst="rect">
              <a:avLst/>
            </a:prstGeom>
            <a:noFill/>
            <a:ln w="12700">
              <a:solidFill>
                <a:srgbClr val="BF8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71" name="Rectangle 49"/>
            <p:cNvSpPr/>
            <p:nvPr/>
          </p:nvSpPr>
          <p:spPr>
            <a:xfrm>
              <a:off x="2288554" y="5050049"/>
              <a:ext cx="113385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72" name="Rectangle 50"/>
            <p:cNvSpPr/>
            <p:nvPr/>
          </p:nvSpPr>
          <p:spPr>
            <a:xfrm>
              <a:off x="2288554" y="5360945"/>
              <a:ext cx="113385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73" name="Rectangle 51"/>
            <p:cNvSpPr/>
            <p:nvPr/>
          </p:nvSpPr>
          <p:spPr>
            <a:xfrm>
              <a:off x="3550426" y="5104913"/>
              <a:ext cx="1133856" cy="347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Memory·Data</a:t>
              </a:r>
              <a:endParaRPr sz="800" b="0" i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95000"/>
                </a:lnSpc>
              </a:pPr>
              <a:r>
                <a:rPr sz="800" b="0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Object Registry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3550426" y="5488961"/>
              <a:ext cx="1133856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20" b="1" i="0">
                  <a:solidFill>
                    <a:srgbClr val="7F5F00"/>
                  </a:solidFill>
                  <a:latin typeface="맑은 고딕"/>
                  <a:ea typeface="맑은 고딕"/>
                </a:rPr>
                <a:t>State Lock Manager</a:t>
              </a:r>
            </a:p>
          </p:txBody>
        </p:sp>
        <p:cxnSp>
          <p:nvCxnSpPr>
            <p:cNvPr id="375" name="Connector 53"/>
            <p:cNvCxnSpPr/>
            <p:nvPr/>
          </p:nvCxnSpPr>
          <p:spPr>
            <a:xfrm flipV="1">
              <a:off x="2855482" y="5306081"/>
              <a:ext cx="0" cy="54864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54"/>
            <p:cNvCxnSpPr/>
            <p:nvPr/>
          </p:nvCxnSpPr>
          <p:spPr>
            <a:xfrm flipV="1">
              <a:off x="2855482" y="4940321"/>
              <a:ext cx="0" cy="109728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or 55"/>
            <p:cNvCxnSpPr/>
            <p:nvPr/>
          </p:nvCxnSpPr>
          <p:spPr>
            <a:xfrm flipV="1">
              <a:off x="4117354" y="4519697"/>
              <a:ext cx="0" cy="585216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Oval 56"/>
            <p:cNvSpPr/>
            <p:nvPr/>
          </p:nvSpPr>
          <p:spPr>
            <a:xfrm>
              <a:off x="4204222" y="473458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79" name="Rectangle 57"/>
            <p:cNvSpPr/>
            <p:nvPr/>
          </p:nvSpPr>
          <p:spPr>
            <a:xfrm>
              <a:off x="4190506" y="5854721"/>
              <a:ext cx="2907792" cy="713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4190506" y="5891297"/>
              <a:ext cx="290779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81" name="Rectangle 59"/>
            <p:cNvSpPr/>
            <p:nvPr/>
          </p:nvSpPr>
          <p:spPr>
            <a:xfrm>
              <a:off x="4300234" y="6092465"/>
              <a:ext cx="2688336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82" name="Rectangle 60"/>
            <p:cNvSpPr/>
            <p:nvPr/>
          </p:nvSpPr>
          <p:spPr>
            <a:xfrm>
              <a:off x="4300234" y="6330209"/>
              <a:ext cx="2688336" cy="21031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83" name="Connector 61"/>
            <p:cNvCxnSpPr/>
            <p:nvPr/>
          </p:nvCxnSpPr>
          <p:spPr>
            <a:xfrm>
              <a:off x="5644402" y="6321065"/>
              <a:ext cx="0" cy="914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62"/>
            <p:cNvSpPr/>
            <p:nvPr/>
          </p:nvSpPr>
          <p:spPr>
            <a:xfrm>
              <a:off x="5731270" y="62524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85" name="Connector 63"/>
            <p:cNvCxnSpPr/>
            <p:nvPr/>
          </p:nvCxnSpPr>
          <p:spPr>
            <a:xfrm>
              <a:off x="5342650" y="4519697"/>
              <a:ext cx="0" cy="1335024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64"/>
            <p:cNvSpPr/>
            <p:nvPr/>
          </p:nvSpPr>
          <p:spPr>
            <a:xfrm>
              <a:off x="5429518" y="5155205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87" name="Connector 65"/>
            <p:cNvCxnSpPr/>
            <p:nvPr/>
          </p:nvCxnSpPr>
          <p:spPr>
            <a:xfrm flipH="1">
              <a:off x="4117354" y="6202193"/>
              <a:ext cx="182880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ctor 66"/>
            <p:cNvCxnSpPr/>
            <p:nvPr/>
          </p:nvCxnSpPr>
          <p:spPr>
            <a:xfrm flipV="1">
              <a:off x="4117354" y="5452385"/>
              <a:ext cx="0" cy="749808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Oval 67"/>
            <p:cNvSpPr/>
            <p:nvPr/>
          </p:nvSpPr>
          <p:spPr>
            <a:xfrm>
              <a:off x="3875038" y="57952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sp>
          <p:nvSpPr>
            <p:cNvPr id="390" name="Rectangle 68"/>
            <p:cNvSpPr/>
            <p:nvPr/>
          </p:nvSpPr>
          <p:spPr>
            <a:xfrm>
              <a:off x="2178826" y="5982737"/>
              <a:ext cx="1920240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  <p:cxnSp>
          <p:nvCxnSpPr>
            <p:cNvPr id="391" name="Connector 69"/>
            <p:cNvCxnSpPr/>
            <p:nvPr/>
          </p:nvCxnSpPr>
          <p:spPr>
            <a:xfrm flipV="1">
              <a:off x="2855482" y="5616977"/>
              <a:ext cx="0" cy="3657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/>
          <p:cNvGrpSpPr/>
          <p:nvPr/>
        </p:nvGrpSpPr>
        <p:grpSpPr>
          <a:xfrm>
            <a:off x="311665" y="3341561"/>
            <a:ext cx="768096" cy="1115568"/>
            <a:chOff x="292545" y="3435232"/>
            <a:chExt cx="768096" cy="1115568"/>
          </a:xfrm>
        </p:grpSpPr>
        <p:sp>
          <p:nvSpPr>
            <p:cNvPr id="392" name="Rectangle 28"/>
            <p:cNvSpPr/>
            <p:nvPr/>
          </p:nvSpPr>
          <p:spPr>
            <a:xfrm>
              <a:off x="292545" y="3435232"/>
              <a:ext cx="768096" cy="1115568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319977" y="3480952"/>
              <a:ext cx="71323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404040"/>
                  </a:solidFill>
                  <a:latin typeface="맑은 고딕"/>
                  <a:ea typeface="맑은 고딕"/>
                </a:rPr>
                <a:t>Legend</a:t>
              </a:r>
            </a:p>
          </p:txBody>
        </p:sp>
        <p:sp>
          <p:nvSpPr>
            <p:cNvPr id="394" name="Rectangle 30"/>
            <p:cNvSpPr/>
            <p:nvPr/>
          </p:nvSpPr>
          <p:spPr>
            <a:xfrm>
              <a:off x="319977" y="3672976"/>
              <a:ext cx="713232" cy="1874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DP 설계 모듈</a:t>
              </a:r>
            </a:p>
          </p:txBody>
        </p:sp>
        <p:sp>
          <p:nvSpPr>
            <p:cNvPr id="395" name="Rectangle 31"/>
            <p:cNvSpPr/>
            <p:nvPr/>
          </p:nvSpPr>
          <p:spPr>
            <a:xfrm>
              <a:off x="319977" y="3887860"/>
              <a:ext cx="713232" cy="187452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7F5F00"/>
                  </a:solidFill>
                  <a:latin typeface="맑은 고딕"/>
                  <a:ea typeface="맑은 고딕"/>
                </a:rPr>
                <a:t>후보 특화 모듈</a:t>
              </a:r>
            </a:p>
          </p:txBody>
        </p:sp>
        <p:sp>
          <p:nvSpPr>
            <p:cNvPr id="396" name="Rectangle 32"/>
            <p:cNvSpPr/>
            <p:nvPr/>
          </p:nvSpPr>
          <p:spPr>
            <a:xfrm>
              <a:off x="319977" y="4102744"/>
              <a:ext cx="713232" cy="18745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공통 모듈</a:t>
              </a:r>
            </a:p>
          </p:txBody>
        </p:sp>
        <p:sp>
          <p:nvSpPr>
            <p:cNvPr id="397" name="Rectangle 33"/>
            <p:cNvSpPr/>
            <p:nvPr/>
          </p:nvSpPr>
          <p:spPr>
            <a:xfrm>
              <a:off x="319977" y="4317627"/>
              <a:ext cx="713232" cy="18745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FFFFFF"/>
                  </a:solidFill>
                  <a:latin typeface="맑은 고딕"/>
                  <a:ea typeface="맑은 고딕"/>
                </a:rPr>
                <a:t>Device SW I/F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746999" y="6212308"/>
            <a:ext cx="29356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</a:rPr>
              <a:t>새 메모리 추가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이동 정책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변경에 따른 변경 비용차 적음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398" name="legend_v4"/>
          <p:cNvSpPr txBox="1"/>
          <p:nvPr/>
        </p:nvSpPr>
        <p:spPr>
          <a:xfrm>
            <a:off x="566928" y="6583680"/>
            <a:ext cx="393192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30" b="0">
                <a:solidFill>
                  <a:srgbClr val="595959"/>
                </a:solidFill>
                <a:latin typeface="맑은 고딕"/>
                <a:ea typeface="맑은 고딕"/>
              </a:rPr>
              <a:t>작은 수치 = B0(GPU-only) → 후보의 이론 예상값(분석 모델, 시뮬레이션 아님)과 B0 대비 개선. </a:t>
            </a:r>
            <a:r>
              <a:rPr sz="630" b="0">
                <a:solidFill>
                  <a:srgbClr val="0000FF"/>
                </a:solidFill>
                <a:latin typeface="맑은 고딕"/>
                <a:ea typeface="맑은 고딕"/>
              </a:rPr>
              <a:t>파란 글씨 = 소유자 별 대비 코멘트.</a:t>
            </a:r>
          </a:p>
        </p:txBody>
      </p:sp>
    </p:spTree>
    <p:extLst>
      <p:ext uri="{BB962C8B-B14F-4D97-AF65-F5344CB8AC3E}">
        <p14:creationId xmlns:p14="http://schemas.microsoft.com/office/powerpoint/2010/main" val="271581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304992" y="1061955"/>
          <a:ext cx="11759184" cy="55143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</a:t>
                      </a:r>
                      <a:r>
                        <a:rPr lang="en-US" altLang="ko-KR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(Plan + Decision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동시 구조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(Plan, Decision </a:t>
                      </a:r>
                      <a:r>
                        <a:rPr lang="ko-KR" altLang="en-US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 구조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부하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리소스 상태를 반영하여 메모리 압력에 대응하기 유리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(Q2)</a:t>
                      </a:r>
                      <a:endParaRPr lang="ko-KR" altLang="en-US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 확정 후 즉시 실행하여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tail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완화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위치 결정을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분리하여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latency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절감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자원 증가 시 계획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worker, batch evaluation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등으로 계획 컴포넌트를 독립 확장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위치에 인한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decision latency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포함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자원 종류 증가 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monitoring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비용이 증가 해 스케줄링 병목 위험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대규모 고부하 시 계획·실행 상태 Mismatch로 Re-plan 발생 높음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(Q3)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  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901→2,667 tok/s (×2.96)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850→722 GiB (−15%)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3.2→0.7 s (r 2.33)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 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SE 98→38%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 marR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높음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901→3,254 tok/s (×3.61)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850→782 GiB (−8%)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3.2→0.7 s (r 2.35)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SE 98→97%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 marR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연산</a:t>
            </a:r>
            <a:r>
              <a:rPr lang="en-US" altLang="ko-KR" dirty="0"/>
              <a:t>(Prefill/Decode)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Cost </a:t>
            </a:r>
            <a:r>
              <a:rPr lang="ko-KR" altLang="en-US" sz="1400" b="1" dirty="0">
                <a:solidFill>
                  <a:schemeClr val="bg1"/>
                </a:solidFill>
              </a:rPr>
              <a:t>기반 연산 실행 위치의 결정 시점과 방식을 최적화하는 스케줄링 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1162983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연산 실행 위치 결정 </a:t>
            </a:r>
            <a:r>
              <a:rPr lang="en-US" altLang="ko-KR" sz="1100" dirty="0"/>
              <a:t>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7051" y="1383052"/>
            <a:ext cx="4953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 시점과 연산 실행 시점을 분리</a:t>
            </a:r>
            <a:r>
              <a:rPr lang="en-US" altLang="ko-KR" sz="1100" dirty="0"/>
              <a:t>”</a:t>
            </a:r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862635" y="1853692"/>
            <a:ext cx="1411795" cy="29260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Scheduler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9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12" idx="2"/>
            <a:endCxn id="144" idx="0"/>
          </p:cNvCxnSpPr>
          <p:nvPr/>
        </p:nvCxnSpPr>
        <p:spPr>
          <a:xfrm>
            <a:off x="3568533" y="2146299"/>
            <a:ext cx="1889" cy="289506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24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394012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5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434016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GPU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6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3337592" y="4212297"/>
            <a:ext cx="875450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CXL-PNM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28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5" idx="0"/>
          </p:cNvCxnSpPr>
          <p:nvPr/>
        </p:nvCxnSpPr>
        <p:spPr>
          <a:xfrm rot="5400000">
            <a:off x="2567161" y="3209036"/>
            <a:ext cx="268048" cy="173847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3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6" idx="0"/>
          </p:cNvCxnSpPr>
          <p:nvPr/>
        </p:nvCxnSpPr>
        <p:spPr>
          <a:xfrm rot="16200000" flipH="1">
            <a:off x="3538845" y="3975825"/>
            <a:ext cx="268048" cy="20489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77" name="TextBox 76"/>
          <p:cNvSpPr txBox="1"/>
          <p:nvPr/>
        </p:nvSpPr>
        <p:spPr>
          <a:xfrm>
            <a:off x="4482797" y="3231336"/>
            <a:ext cx="16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Cost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계산이</a:t>
            </a:r>
          </a:p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critical path 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내부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B7B1EF-FC16-4E50-A15A-074EA647B636}"/>
              </a:ext>
            </a:extLst>
          </p:cNvPr>
          <p:cNvSpPr txBox="1"/>
          <p:nvPr/>
        </p:nvSpPr>
        <p:spPr>
          <a:xfrm>
            <a:off x="5999943" y="6524910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A952AB-42E1-41D1-AF63-055E8135DA99}"/>
              </a:ext>
            </a:extLst>
          </p:cNvPr>
          <p:cNvSpPr txBox="1"/>
          <p:nvPr/>
        </p:nvSpPr>
        <p:spPr>
          <a:xfrm>
            <a:off x="11253522" y="652500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7.5</a:t>
            </a:r>
            <a:r>
              <a:rPr lang="ko-KR" altLang="en-US" sz="1200" dirty="0"/>
              <a:t>점</a:t>
            </a:r>
          </a:p>
        </p:txBody>
      </p:sp>
      <p:sp>
        <p:nvSpPr>
          <p:cNvPr id="136" name="Shape 37">
            <a:extLst>
              <a:ext uri="{FF2B5EF4-FFF2-40B4-BE49-F238E27FC236}">
                <a16:creationId xmlns:a16="http://schemas.microsoft.com/office/drawing/2014/main" id="{7F2072DD-19B6-48CA-BD3D-876E8DDC9C60}"/>
              </a:ext>
            </a:extLst>
          </p:cNvPr>
          <p:cNvSpPr/>
          <p:nvPr/>
        </p:nvSpPr>
        <p:spPr>
          <a:xfrm>
            <a:off x="4737207" y="2129473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State Monitor</a:t>
            </a:r>
          </a:p>
        </p:txBody>
      </p:sp>
      <p:cxnSp>
        <p:nvCxnSpPr>
          <p:cNvPr id="143" name="직선 화살표 연결선 185">
            <a:extLst>
              <a:ext uri="{FF2B5EF4-FFF2-40B4-BE49-F238E27FC236}">
                <a16:creationId xmlns:a16="http://schemas.microsoft.com/office/drawing/2014/main" id="{BA0CBBE8-3F10-4B7D-B934-710047CDD61C}"/>
              </a:ext>
            </a:extLst>
          </p:cNvPr>
          <p:cNvCxnSpPr>
            <a:cxnSpLocks/>
            <a:stCxn id="144" idx="3"/>
            <a:endCxn id="136" idx="1"/>
          </p:cNvCxnSpPr>
          <p:nvPr/>
        </p:nvCxnSpPr>
        <p:spPr>
          <a:xfrm flipV="1">
            <a:off x="4324906" y="2292936"/>
            <a:ext cx="412301" cy="3226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4" name="Shape 37">
            <a:extLst>
              <a:ext uri="{FF2B5EF4-FFF2-40B4-BE49-F238E27FC236}">
                <a16:creationId xmlns:a16="http://schemas.microsoft.com/office/drawing/2014/main" id="{70E92FE8-4878-4154-BB88-F90E93B7B850}"/>
              </a:ext>
            </a:extLst>
          </p:cNvPr>
          <p:cNvSpPr/>
          <p:nvPr/>
        </p:nvSpPr>
        <p:spPr>
          <a:xfrm>
            <a:off x="2815938" y="2435805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Planner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(Plan)</a:t>
            </a:r>
          </a:p>
        </p:txBody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7EA846FB-2BF9-4A17-B933-665E6BCC5A1E}"/>
              </a:ext>
            </a:extLst>
          </p:cNvPr>
          <p:cNvSpPr/>
          <p:nvPr/>
        </p:nvSpPr>
        <p:spPr>
          <a:xfrm>
            <a:off x="4737207" y="2582530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State</a:t>
            </a:r>
          </a:p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altLang="ko-KR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46" name="직선 화살표 연결선 185">
            <a:extLst>
              <a:ext uri="{FF2B5EF4-FFF2-40B4-BE49-F238E27FC236}">
                <a16:creationId xmlns:a16="http://schemas.microsoft.com/office/drawing/2014/main" id="{866738E6-B5E2-485B-BCC3-7AB7D686059C}"/>
              </a:ext>
            </a:extLst>
          </p:cNvPr>
          <p:cNvCxnSpPr>
            <a:cxnSpLocks/>
            <a:stCxn id="144" idx="3"/>
            <a:endCxn id="145" idx="1"/>
          </p:cNvCxnSpPr>
          <p:nvPr/>
        </p:nvCxnSpPr>
        <p:spPr>
          <a:xfrm>
            <a:off x="4324906" y="2615615"/>
            <a:ext cx="412301" cy="13037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9" name="Shape 37">
            <a:extLst>
              <a:ext uri="{FF2B5EF4-FFF2-40B4-BE49-F238E27FC236}">
                <a16:creationId xmlns:a16="http://schemas.microsoft.com/office/drawing/2014/main" id="{D29B8A49-AE77-46A5-BF3C-C5FFF88BE9D4}"/>
              </a:ext>
            </a:extLst>
          </p:cNvPr>
          <p:cNvSpPr/>
          <p:nvPr/>
        </p:nvSpPr>
        <p:spPr>
          <a:xfrm>
            <a:off x="2815938" y="3112583"/>
            <a:ext cx="1508968" cy="29720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Cost Evaluator</a:t>
            </a:r>
            <a:endParaRPr lang="en-US" altLang="ko-KR" sz="1000" b="1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50" name="직선 화살표 연결선 185">
            <a:extLst>
              <a:ext uri="{FF2B5EF4-FFF2-40B4-BE49-F238E27FC236}">
                <a16:creationId xmlns:a16="http://schemas.microsoft.com/office/drawing/2014/main" id="{EFEBEDC4-80EE-4735-B71E-6C1DFDD6FCDC}"/>
              </a:ext>
            </a:extLst>
          </p:cNvPr>
          <p:cNvCxnSpPr>
            <a:cxnSpLocks/>
            <a:stCxn id="144" idx="2"/>
            <a:endCxn id="149" idx="0"/>
          </p:cNvCxnSpPr>
          <p:nvPr/>
        </p:nvCxnSpPr>
        <p:spPr>
          <a:xfrm>
            <a:off x="3570422" y="2795424"/>
            <a:ext cx="0" cy="317159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1" name="Shape 37">
            <a:extLst>
              <a:ext uri="{FF2B5EF4-FFF2-40B4-BE49-F238E27FC236}">
                <a16:creationId xmlns:a16="http://schemas.microsoft.com/office/drawing/2014/main" id="{1AFCAFB9-F8C0-41A8-8E3E-3B7ACC234BE6}"/>
              </a:ext>
            </a:extLst>
          </p:cNvPr>
          <p:cNvSpPr/>
          <p:nvPr/>
        </p:nvSpPr>
        <p:spPr>
          <a:xfrm>
            <a:off x="2815938" y="3584630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Router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</a:rPr>
              <a:t>(Decision)</a:t>
            </a:r>
          </a:p>
        </p:txBody>
      </p:sp>
      <p:cxnSp>
        <p:nvCxnSpPr>
          <p:cNvPr id="152" name="직선 화살표 연결선 185">
            <a:extLst>
              <a:ext uri="{FF2B5EF4-FFF2-40B4-BE49-F238E27FC236}">
                <a16:creationId xmlns:a16="http://schemas.microsoft.com/office/drawing/2014/main" id="{A5D1AF10-B4E4-4F84-8D33-8BACD09A70C2}"/>
              </a:ext>
            </a:extLst>
          </p:cNvPr>
          <p:cNvCxnSpPr>
            <a:cxnSpLocks/>
            <a:stCxn id="149" idx="2"/>
            <a:endCxn id="151" idx="0"/>
          </p:cNvCxnSpPr>
          <p:nvPr/>
        </p:nvCxnSpPr>
        <p:spPr>
          <a:xfrm>
            <a:off x="3570422" y="3409788"/>
            <a:ext cx="0" cy="174842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53" name="직선 화살표 연결선 185">
            <a:extLst>
              <a:ext uri="{FF2B5EF4-FFF2-40B4-BE49-F238E27FC236}">
                <a16:creationId xmlns:a16="http://schemas.microsoft.com/office/drawing/2014/main" id="{667011A0-7D9C-4D04-BD0D-206D0F921C23}"/>
              </a:ext>
            </a:extLst>
          </p:cNvPr>
          <p:cNvCxnSpPr>
            <a:cxnSpLocks/>
            <a:stCxn id="151" idx="2"/>
            <a:endCxn id="124" idx="0"/>
          </p:cNvCxnSpPr>
          <p:nvPr/>
        </p:nvCxnSpPr>
        <p:spPr>
          <a:xfrm rot="5400000">
            <a:off x="3047159" y="3689034"/>
            <a:ext cx="268048" cy="778478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55" name="Shape 31">
            <a:extLst>
              <a:ext uri="{FF2B5EF4-FFF2-40B4-BE49-F238E27FC236}">
                <a16:creationId xmlns:a16="http://schemas.microsoft.com/office/drawing/2014/main" id="{C0494BB5-740B-474B-8EDE-7DEE62853B08}"/>
              </a:ext>
            </a:extLst>
          </p:cNvPr>
          <p:cNvSpPr/>
          <p:nvPr/>
        </p:nvSpPr>
        <p:spPr>
          <a:xfrm>
            <a:off x="4393753" y="4212297"/>
            <a:ext cx="875450" cy="3215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New Device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57" name="직선 화살표 연결선 185">
            <a:extLst>
              <a:ext uri="{FF2B5EF4-FFF2-40B4-BE49-F238E27FC236}">
                <a16:creationId xmlns:a16="http://schemas.microsoft.com/office/drawing/2014/main" id="{D2EDFE24-B445-4346-8805-83EFFC8CB053}"/>
              </a:ext>
            </a:extLst>
          </p:cNvPr>
          <p:cNvCxnSpPr>
            <a:cxnSpLocks/>
            <a:stCxn id="151" idx="2"/>
            <a:endCxn id="155" idx="0"/>
          </p:cNvCxnSpPr>
          <p:nvPr/>
        </p:nvCxnSpPr>
        <p:spPr>
          <a:xfrm rot="16200000" flipH="1">
            <a:off x="4066926" y="3447745"/>
            <a:ext cx="268048" cy="126105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dash"/>
            <a:headEnd type="none"/>
            <a:tailEnd type="triangle"/>
          </a:ln>
        </p:spPr>
      </p:cxnSp>
      <p:sp>
        <p:nvSpPr>
          <p:cNvPr id="1271" name="C1 Critical path boundary"/>
          <p:cNvSpPr/>
          <p:nvPr/>
        </p:nvSpPr>
        <p:spPr>
          <a:xfrm>
            <a:off x="2695773" y="1800000"/>
            <a:ext cx="3420000" cy="2185000"/>
          </a:xfrm>
          <a:prstGeom prst="rect">
            <a:avLst/>
          </a:prstGeom>
          <a:noFill/>
          <a:ln w="12700">
            <a:solidFill>
              <a:srgbClr val="C76E3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93" name="C1 Critical path label"/>
          <p:cNvSpPr/>
          <p:nvPr/>
        </p:nvSpPr>
        <p:spPr>
          <a:xfrm>
            <a:off x="4330000" y="1815000"/>
            <a:ext cx="1440000" cy="25000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Plan + Decision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A2D3743-1992-478F-B82E-9DE9B085B94D}"/>
              </a:ext>
            </a:extLst>
          </p:cNvPr>
          <p:cNvGrpSpPr/>
          <p:nvPr/>
        </p:nvGrpSpPr>
        <p:grpSpPr>
          <a:xfrm>
            <a:off x="334761" y="3538083"/>
            <a:ext cx="822008" cy="1106192"/>
            <a:chOff x="269738" y="3554621"/>
            <a:chExt cx="822008" cy="1106192"/>
          </a:xfrm>
        </p:grpSpPr>
        <p:sp>
          <p:nvSpPr>
            <p:cNvPr id="131" name="KV Cache Manager">
              <a:extLst>
                <a:ext uri="{FF2B5EF4-FFF2-40B4-BE49-F238E27FC236}">
                  <a16:creationId xmlns:a16="http://schemas.microsoft.com/office/drawing/2014/main" id="{97729FA2-8208-495A-88B5-6AB9793CB4B9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KV Cache Manager">
              <a:extLst>
                <a:ext uri="{FF2B5EF4-FFF2-40B4-BE49-F238E27FC236}">
                  <a16:creationId xmlns:a16="http://schemas.microsoft.com/office/drawing/2014/main" id="{5E4E7F90-5323-48ED-A793-E537EC85E83D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4" name="KV Cache Manager">
              <a:extLst>
                <a:ext uri="{FF2B5EF4-FFF2-40B4-BE49-F238E27FC236}">
                  <a16:creationId xmlns:a16="http://schemas.microsoft.com/office/drawing/2014/main" id="{F1372DCD-DBB8-422B-8D97-E7C565A45741}"/>
                </a:ext>
              </a:extLst>
            </p:cNvPr>
            <p:cNvSpPr/>
            <p:nvPr/>
          </p:nvSpPr>
          <p:spPr>
            <a:xfrm>
              <a:off x="275753" y="4404880"/>
              <a:ext cx="784423" cy="1940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타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모듈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I/F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3666AC1-1D1F-4D44-8ABD-9FC7C996F49A}"/>
                </a:ext>
              </a:extLst>
            </p:cNvPr>
            <p:cNvSpPr/>
            <p:nvPr/>
          </p:nvSpPr>
          <p:spPr>
            <a:xfrm>
              <a:off x="269738" y="3554621"/>
              <a:ext cx="822008" cy="1106192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7" name="KV Cache Manager">
              <a:extLst>
                <a:ext uri="{FF2B5EF4-FFF2-40B4-BE49-F238E27FC236}">
                  <a16:creationId xmlns:a16="http://schemas.microsoft.com/office/drawing/2014/main" id="{3DAC31F2-953F-4F50-9270-4AC41B0280B9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0" name="직선 화살표 연결선 185">
            <a:extLst>
              <a:ext uri="{FF2B5EF4-FFF2-40B4-BE49-F238E27FC236}">
                <a16:creationId xmlns:a16="http://schemas.microsoft.com/office/drawing/2014/main" id="{6B405AD3-50C7-4140-923C-39C9EC62E997}"/>
              </a:ext>
            </a:extLst>
          </p:cNvPr>
          <p:cNvCxnSpPr>
            <a:cxnSpLocks/>
            <a:stCxn id="149" idx="1"/>
            <a:endCxn id="123" idx="0"/>
          </p:cNvCxnSpPr>
          <p:nvPr/>
        </p:nvCxnSpPr>
        <p:spPr>
          <a:xfrm rot="10800000" flipV="1">
            <a:off x="1977484" y="3261185"/>
            <a:ext cx="838455" cy="122381"/>
          </a:xfrm>
          <a:prstGeom prst="bentConnector2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3" name="KV Cache Manager">
            <a:extLst>
              <a:ext uri="{FF2B5EF4-FFF2-40B4-BE49-F238E27FC236}">
                <a16:creationId xmlns:a16="http://schemas.microsoft.com/office/drawing/2014/main" id="{AF50C5FD-82D2-49A4-BB8D-5B9CCB95E6F0}"/>
              </a:ext>
            </a:extLst>
          </p:cNvPr>
          <p:cNvSpPr/>
          <p:nvPr/>
        </p:nvSpPr>
        <p:spPr>
          <a:xfrm>
            <a:off x="1422351" y="3383567"/>
            <a:ext cx="1110263" cy="28409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Common Memory Backend Interface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260" name="그룹 2259">
            <a:extLst>
              <a:ext uri="{FF2B5EF4-FFF2-40B4-BE49-F238E27FC236}">
                <a16:creationId xmlns:a16="http://schemas.microsoft.com/office/drawing/2014/main" id="{2D332D0F-0324-46B1-B1F2-8FDFA83DC440}"/>
              </a:ext>
            </a:extLst>
          </p:cNvPr>
          <p:cNvGrpSpPr/>
          <p:nvPr/>
        </p:nvGrpSpPr>
        <p:grpSpPr>
          <a:xfrm>
            <a:off x="6650290" y="1792641"/>
            <a:ext cx="5377940" cy="2718256"/>
            <a:chOff x="6650290" y="1836885"/>
            <a:chExt cx="5377940" cy="2718256"/>
          </a:xfrm>
        </p:grpSpPr>
        <p:sp>
          <p:nvSpPr>
            <p:cNvPr id="122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6968158" y="2229906"/>
              <a:ext cx="1332516" cy="199855"/>
            </a:xfrm>
            <a:prstGeom prst="roundRect">
              <a:avLst>
                <a:gd name="adj" fmla="val 37674"/>
              </a:avLst>
            </a:prstGeom>
            <a:noFill/>
            <a:ln w="12700">
              <a:noFill/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Waiting Queue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6" name="원통 5"/>
            <p:cNvSpPr/>
            <p:nvPr/>
          </p:nvSpPr>
          <p:spPr>
            <a:xfrm>
              <a:off x="7352643" y="4250503"/>
              <a:ext cx="1106485" cy="301105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Cache</a:t>
              </a:r>
            </a:p>
          </p:txBody>
        </p:sp>
        <p:cxnSp>
          <p:nvCxnSpPr>
            <p:cNvPr id="164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5118" y="3976053"/>
              <a:ext cx="127" cy="242833"/>
            </a:xfrm>
            <a:prstGeom prst="straightConnector1">
              <a:avLst/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0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6" idx="2"/>
              <a:endCxn id="187" idx="0"/>
            </p:cNvCxnSpPr>
            <p:nvPr/>
          </p:nvCxnSpPr>
          <p:spPr>
            <a:xfrm flipH="1">
              <a:off x="10700123" y="2548568"/>
              <a:ext cx="1" cy="359667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6761966" y="186440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Plan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밖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F768021-5962-4FEE-86A6-9A65D654BAE1}"/>
                </a:ext>
              </a:extLst>
            </p:cNvPr>
            <p:cNvGrpSpPr/>
            <p:nvPr/>
          </p:nvGrpSpPr>
          <p:grpSpPr>
            <a:xfrm>
              <a:off x="10058398" y="2282562"/>
              <a:ext cx="1283450" cy="1629131"/>
              <a:chOff x="13158709" y="2383427"/>
              <a:chExt cx="1283450" cy="1629131"/>
            </a:xfrm>
          </p:grpSpPr>
          <p:sp>
            <p:nvSpPr>
              <p:cNvPr id="186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217048" y="2383427"/>
                <a:ext cx="1166773" cy="2660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Scheduler</a:t>
                </a:r>
                <a:endParaRPr lang="ko-KR" altLang="en-US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  <p:sp>
            <p:nvSpPr>
              <p:cNvPr id="187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009100"/>
                <a:ext cx="1283450" cy="3240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Validator</a:t>
                </a:r>
              </a:p>
            </p:txBody>
          </p:sp>
          <p:sp>
            <p:nvSpPr>
              <p:cNvPr id="188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623097"/>
                <a:ext cx="1283450" cy="38946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Router</a:t>
                </a:r>
              </a:p>
              <a:p>
                <a:pPr lvl="0" algn="ctr"/>
                <a:r>
                  <a:rPr lang="en-US" altLang="ko-KR" sz="900" b="1" dirty="0">
                    <a:solidFill>
                      <a:srgbClr val="FF000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(Decision)</a:t>
                </a:r>
                <a:endParaRPr lang="ko-KR" altLang="en-US" sz="9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</p:grpSp>
        <p:cxnSp>
          <p:nvCxnSpPr>
            <p:cNvPr id="100" name="직선 화살표 연결선 185">
              <a:extLst>
                <a:ext uri="{FF2B5EF4-FFF2-40B4-BE49-F238E27FC236}">
                  <a16:creationId xmlns:a16="http://schemas.microsoft.com/office/drawing/2014/main" id="{56498C45-0D93-4C3F-B12A-A34B786B2E88}"/>
                </a:ext>
              </a:extLst>
            </p:cNvPr>
            <p:cNvCxnSpPr>
              <a:cxnSpLocks/>
              <a:stCxn id="187" idx="2"/>
              <a:endCxn id="188" idx="0"/>
            </p:cNvCxnSpPr>
            <p:nvPr/>
          </p:nvCxnSpPr>
          <p:spPr>
            <a:xfrm>
              <a:off x="10700123" y="3232270"/>
              <a:ext cx="0" cy="289962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99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64462" y="2717377"/>
              <a:ext cx="1893937" cy="259939"/>
            </a:xfrm>
            <a:prstGeom prst="bentConnector3">
              <a:avLst>
                <a:gd name="adj1" fmla="val 30143"/>
              </a:avLst>
            </a:prstGeom>
            <a:noFill/>
            <a:ln w="9525">
              <a:solidFill>
                <a:srgbClr val="C76E31"/>
              </a:solidFill>
              <a:prstDash val="dash"/>
              <a:headEnd type="none" w="med" len="med"/>
              <a:tailEnd type="triangle" w="med" len="med"/>
            </a:ln>
          </p:spPr>
        </p:cxnSp>
        <p:cxnSp>
          <p:nvCxnSpPr>
            <p:cNvPr id="140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2" idx="0"/>
            </p:cNvCxnSpPr>
            <p:nvPr/>
          </p:nvCxnSpPr>
          <p:spPr>
            <a:xfrm rot="5400000">
              <a:off x="10094192" y="3627684"/>
              <a:ext cx="321923" cy="889941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1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5" idx="0"/>
            </p:cNvCxnSpPr>
            <p:nvPr/>
          </p:nvCxnSpPr>
          <p:spPr>
            <a:xfrm rot="16200000" flipH="1">
              <a:off x="11038780" y="3573035"/>
              <a:ext cx="321923" cy="99923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1" idx="0"/>
            </p:cNvCxnSpPr>
            <p:nvPr/>
          </p:nvCxnSpPr>
          <p:spPr>
            <a:xfrm rot="5400000">
              <a:off x="10386001" y="3919493"/>
              <a:ext cx="321923" cy="306322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6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2" idx="2"/>
              <a:endCxn id="169" idx="0"/>
            </p:cNvCxnSpPr>
            <p:nvPr/>
          </p:nvCxnSpPr>
          <p:spPr>
            <a:xfrm>
              <a:off x="7634416" y="2429761"/>
              <a:ext cx="2" cy="231001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78" name="TextBox 77"/>
            <p:cNvSpPr txBox="1"/>
            <p:nvPr/>
          </p:nvSpPr>
          <p:spPr>
            <a:xfrm>
              <a:off x="8406016" y="2555570"/>
              <a:ext cx="827393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Async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 </a:t>
              </a: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re-plan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9528263" y="183688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Decision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내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0247864-5FE1-4F69-9F2A-D6FA572B779B}"/>
                </a:ext>
              </a:extLst>
            </p:cNvPr>
            <p:cNvGrpSpPr/>
            <p:nvPr/>
          </p:nvGrpSpPr>
          <p:grpSpPr>
            <a:xfrm>
              <a:off x="6959257" y="2660762"/>
              <a:ext cx="2250800" cy="1353122"/>
              <a:chOff x="6334829" y="2532795"/>
              <a:chExt cx="3029193" cy="1637279"/>
            </a:xfrm>
          </p:grpSpPr>
          <p:sp>
            <p:nvSpPr>
              <p:cNvPr id="167" name="Shape 37">
                <a:extLst>
                  <a:ext uri="{FF2B5EF4-FFF2-40B4-BE49-F238E27FC236}">
                    <a16:creationId xmlns:a16="http://schemas.microsoft.com/office/drawing/2014/main" id="{90DAE390-C546-4459-96AF-4143F55DB1B8}"/>
                  </a:ext>
                </a:extLst>
              </p:cNvPr>
              <p:cNvSpPr/>
              <p:nvPr/>
            </p:nvSpPr>
            <p:spPr>
              <a:xfrm>
                <a:off x="8340414" y="2718034"/>
                <a:ext cx="1023608" cy="3955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KV State Monitor</a:t>
                </a:r>
              </a:p>
            </p:txBody>
          </p:sp>
          <p:cxnSp>
            <p:nvCxnSpPr>
              <p:cNvPr id="168" name="직선 화살표 연결선 185">
                <a:extLst>
                  <a:ext uri="{FF2B5EF4-FFF2-40B4-BE49-F238E27FC236}">
                    <a16:creationId xmlns:a16="http://schemas.microsoft.com/office/drawing/2014/main" id="{5147715F-B5AF-48FB-9317-FF7DCBEA214E}"/>
                  </a:ext>
                </a:extLst>
              </p:cNvPr>
              <p:cNvCxnSpPr>
                <a:cxnSpLocks/>
                <a:stCxn id="169" idx="3"/>
                <a:endCxn id="167" idx="1"/>
              </p:cNvCxnSpPr>
              <p:nvPr/>
            </p:nvCxnSpPr>
            <p:spPr>
              <a:xfrm>
                <a:off x="7929375" y="2750365"/>
                <a:ext cx="411039" cy="16545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69" name="Shape 37">
                <a:extLst>
                  <a:ext uri="{FF2B5EF4-FFF2-40B4-BE49-F238E27FC236}">
                    <a16:creationId xmlns:a16="http://schemas.microsoft.com/office/drawing/2014/main" id="{5A9E902C-C762-43E4-8FBB-2BC7D8D934DC}"/>
                  </a:ext>
                </a:extLst>
              </p:cNvPr>
              <p:cNvSpPr/>
              <p:nvPr/>
            </p:nvSpPr>
            <p:spPr>
              <a:xfrm>
                <a:off x="6557585" y="2532795"/>
                <a:ext cx="1371789" cy="435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Planner </a:t>
                </a:r>
                <a:r>
                  <a:rPr lang="en-US" altLang="ko-KR" sz="900" b="1" dirty="0">
                    <a:solidFill>
                      <a:srgbClr val="FF0000"/>
                    </a:solidFill>
                  </a:rPr>
                  <a:t>(Plan)</a:t>
                </a:r>
              </a:p>
            </p:txBody>
          </p:sp>
          <p:sp>
            <p:nvSpPr>
              <p:cNvPr id="170" name="Shape 37">
                <a:extLst>
                  <a:ext uri="{FF2B5EF4-FFF2-40B4-BE49-F238E27FC236}">
                    <a16:creationId xmlns:a16="http://schemas.microsoft.com/office/drawing/2014/main" id="{6CC00633-A2ED-4E85-98F5-915767F01623}"/>
                  </a:ext>
                </a:extLst>
              </p:cNvPr>
              <p:cNvSpPr/>
              <p:nvPr/>
            </p:nvSpPr>
            <p:spPr>
              <a:xfrm>
                <a:off x="8340407" y="3195654"/>
                <a:ext cx="1023610" cy="5554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Resource State</a:t>
                </a:r>
              </a:p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Monitor</a:t>
                </a:r>
              </a:p>
            </p:txBody>
          </p:sp>
          <p:cxnSp>
            <p:nvCxnSpPr>
              <p:cNvPr id="171" name="직선 화살표 연결선 185">
                <a:extLst>
                  <a:ext uri="{FF2B5EF4-FFF2-40B4-BE49-F238E27FC236}">
                    <a16:creationId xmlns:a16="http://schemas.microsoft.com/office/drawing/2014/main" id="{A10F8AFC-DE84-4F55-A9D7-1E2452D3B196}"/>
                  </a:ext>
                </a:extLst>
              </p:cNvPr>
              <p:cNvCxnSpPr>
                <a:cxnSpLocks/>
                <a:stCxn id="169" idx="3"/>
                <a:endCxn id="170" idx="1"/>
              </p:cNvCxnSpPr>
              <p:nvPr/>
            </p:nvCxnSpPr>
            <p:spPr>
              <a:xfrm>
                <a:off x="7929375" y="2750365"/>
                <a:ext cx="411032" cy="72303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2" name="Shape 37">
                <a:extLst>
                  <a:ext uri="{FF2B5EF4-FFF2-40B4-BE49-F238E27FC236}">
                    <a16:creationId xmlns:a16="http://schemas.microsoft.com/office/drawing/2014/main" id="{70B458B8-8383-4A34-B3D0-8FE89C2B733A}"/>
                  </a:ext>
                </a:extLst>
              </p:cNvPr>
              <p:cNvSpPr/>
              <p:nvPr/>
            </p:nvSpPr>
            <p:spPr>
              <a:xfrm>
                <a:off x="6561862" y="3253418"/>
                <a:ext cx="1371789" cy="35961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Cost Evaluator</a:t>
                </a:r>
              </a:p>
            </p:txBody>
          </p:sp>
          <p:cxnSp>
            <p:nvCxnSpPr>
              <p:cNvPr id="173" name="직선 화살표 연결선 185">
                <a:extLst>
                  <a:ext uri="{FF2B5EF4-FFF2-40B4-BE49-F238E27FC236}">
                    <a16:creationId xmlns:a16="http://schemas.microsoft.com/office/drawing/2014/main" id="{95D5E7CF-8934-4F6E-B767-D7C6E910F7F6}"/>
                  </a:ext>
                </a:extLst>
              </p:cNvPr>
              <p:cNvCxnSpPr>
                <a:cxnSpLocks/>
                <a:stCxn id="169" idx="2"/>
                <a:endCxn id="172" idx="0"/>
              </p:cNvCxnSpPr>
              <p:nvPr/>
            </p:nvCxnSpPr>
            <p:spPr>
              <a:xfrm>
                <a:off x="7243481" y="2967936"/>
                <a:ext cx="4277" cy="28548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4" name="Shape 37">
                <a:extLst>
                  <a:ext uri="{FF2B5EF4-FFF2-40B4-BE49-F238E27FC236}">
                    <a16:creationId xmlns:a16="http://schemas.microsoft.com/office/drawing/2014/main" id="{F35F2B03-9D6C-46EF-9020-017926F86EEA}"/>
                  </a:ext>
                </a:extLst>
              </p:cNvPr>
              <p:cNvSpPr/>
              <p:nvPr/>
            </p:nvSpPr>
            <p:spPr>
              <a:xfrm>
                <a:off x="6334829" y="3810455"/>
                <a:ext cx="1825852" cy="3596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Publisher</a:t>
                </a:r>
              </a:p>
            </p:txBody>
          </p:sp>
          <p:cxnSp>
            <p:nvCxnSpPr>
              <p:cNvPr id="175" name="직선 화살표 연결선 185">
                <a:extLst>
                  <a:ext uri="{FF2B5EF4-FFF2-40B4-BE49-F238E27FC236}">
                    <a16:creationId xmlns:a16="http://schemas.microsoft.com/office/drawing/2014/main" id="{68BFF503-4C29-43B1-9353-9A83B9332F63}"/>
                  </a:ext>
                </a:extLst>
              </p:cNvPr>
              <p:cNvCxnSpPr>
                <a:cxnSpLocks/>
                <a:stCxn id="172" idx="2"/>
                <a:endCxn id="174" idx="0"/>
              </p:cNvCxnSpPr>
              <p:nvPr/>
            </p:nvCxnSpPr>
            <p:spPr>
              <a:xfrm flipH="1">
                <a:off x="7247755" y="3613036"/>
                <a:ext cx="3" cy="197419"/>
              </a:xfrm>
              <a:prstGeom prst="straightConnector1">
                <a:avLst/>
              </a:prstGeom>
              <a:noFill/>
              <a:ln w="11430">
                <a:solidFill>
                  <a:srgbClr val="888C91"/>
                </a:solidFill>
                <a:prstDash val="solid"/>
                <a:headEnd type="none"/>
                <a:tailEnd type="triangle"/>
              </a:ln>
            </p:spPr>
          </p:cxnSp>
        </p:grpSp>
        <p:sp>
          <p:nvSpPr>
            <p:cNvPr id="191" name="Shape 31">
              <a:extLst>
                <a:ext uri="{FF2B5EF4-FFF2-40B4-BE49-F238E27FC236}">
                  <a16:creationId xmlns:a16="http://schemas.microsoft.com/office/drawing/2014/main" id="{7AB93E39-C877-4F6E-91E3-4818D5AD8143}"/>
                </a:ext>
              </a:extLst>
            </p:cNvPr>
            <p:cNvSpPr/>
            <p:nvPr/>
          </p:nvSpPr>
          <p:spPr>
            <a:xfrm>
              <a:off x="10122008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2" name="Shape 31">
              <a:extLst>
                <a:ext uri="{FF2B5EF4-FFF2-40B4-BE49-F238E27FC236}">
                  <a16:creationId xmlns:a16="http://schemas.microsoft.com/office/drawing/2014/main" id="{0FE145B6-CE91-4FE8-9E63-351A03D67391}"/>
                </a:ext>
              </a:extLst>
            </p:cNvPr>
            <p:cNvSpPr/>
            <p:nvPr/>
          </p:nvSpPr>
          <p:spPr>
            <a:xfrm>
              <a:off x="9538389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GPU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4" name="Shape 31">
              <a:extLst>
                <a:ext uri="{FF2B5EF4-FFF2-40B4-BE49-F238E27FC236}">
                  <a16:creationId xmlns:a16="http://schemas.microsoft.com/office/drawing/2014/main" id="{9355122B-B076-4AD6-8266-92347533977C}"/>
                </a:ext>
              </a:extLst>
            </p:cNvPr>
            <p:cNvSpPr/>
            <p:nvPr/>
          </p:nvSpPr>
          <p:spPr>
            <a:xfrm>
              <a:off x="10723037" y="4233616"/>
              <a:ext cx="597945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CXL-PNM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5" name="Shape 31">
              <a:extLst>
                <a:ext uri="{FF2B5EF4-FFF2-40B4-BE49-F238E27FC236}">
                  <a16:creationId xmlns:a16="http://schemas.microsoft.com/office/drawing/2014/main" id="{5B34D1C2-0536-47F9-A4E3-D0D324ADCE23}"/>
                </a:ext>
              </a:extLst>
            </p:cNvPr>
            <p:cNvSpPr/>
            <p:nvPr/>
          </p:nvSpPr>
          <p:spPr>
            <a:xfrm>
              <a:off x="11370490" y="4233616"/>
              <a:ext cx="657740" cy="3215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New Device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96" name="직선 화살표 연결선 185">
              <a:extLst>
                <a:ext uri="{FF2B5EF4-FFF2-40B4-BE49-F238E27FC236}">
                  <a16:creationId xmlns:a16="http://schemas.microsoft.com/office/drawing/2014/main" id="{64718AD8-8AEE-402C-9432-118EAEC37816}"/>
                </a:ext>
              </a:extLst>
            </p:cNvPr>
            <p:cNvCxnSpPr>
              <a:cxnSpLocks/>
              <a:stCxn id="188" idx="2"/>
              <a:endCxn id="194" idx="0"/>
            </p:cNvCxnSpPr>
            <p:nvPr/>
          </p:nvCxnSpPr>
          <p:spPr>
            <a:xfrm rot="16200000" flipH="1">
              <a:off x="10700105" y="3911710"/>
              <a:ext cx="321923" cy="32188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3310" name="C2 freshness note"/>
            <p:cNvSpPr txBox="1"/>
            <p:nvPr/>
          </p:nvSpPr>
          <p:spPr>
            <a:xfrm>
              <a:off x="7679898" y="4028093"/>
              <a:ext cx="1452235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Execution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Plan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및 </a:t>
              </a:r>
              <a:r>
                <a:rPr lang="ko-KR" altLang="en-US" sz="900" dirty="0">
                  <a:solidFill>
                    <a:srgbClr val="808080"/>
                  </a:solidFill>
                  <a:latin typeface="맑은 고딕"/>
                  <a:ea typeface="맑은 고딕"/>
                </a:rPr>
                <a:t>상태 저장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0" name="C2 freshness note">
              <a:extLst>
                <a:ext uri="{FF2B5EF4-FFF2-40B4-BE49-F238E27FC236}">
                  <a16:creationId xmlns:a16="http://schemas.microsoft.com/office/drawing/2014/main" id="{127B7BA2-AF32-48BD-B4B6-6292B5DF4C0B}"/>
                </a:ext>
              </a:extLst>
            </p:cNvPr>
            <p:cNvSpPr txBox="1"/>
            <p:nvPr/>
          </p:nvSpPr>
          <p:spPr>
            <a:xfrm>
              <a:off x="10762871" y="3300036"/>
              <a:ext cx="542659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If match 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A4406A-848C-40A9-8F3E-43EAB95C7998}"/>
                </a:ext>
              </a:extLst>
            </p:cNvPr>
            <p:cNvSpPr txBox="1"/>
            <p:nvPr/>
          </p:nvSpPr>
          <p:spPr>
            <a:xfrm>
              <a:off x="9528263" y="2716734"/>
              <a:ext cx="64008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If </a:t>
              </a:r>
              <a:r>
                <a:rPr lang="en-US" sz="900" dirty="0">
                  <a:solidFill>
                    <a:srgbClr val="C55A11"/>
                  </a:solidFill>
                  <a:latin typeface="맑은 고딕"/>
                  <a:ea typeface="맑은 고딕"/>
                </a:rPr>
                <a:t>m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ismatch</a:t>
              </a:r>
              <a:endParaRPr sz="900" b="0" i="0" dirty="0">
                <a:solidFill>
                  <a:srgbClr val="C55A1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2" name="Rectangle 9065">
              <a:extLst>
                <a:ext uri="{FF2B5EF4-FFF2-40B4-BE49-F238E27FC236}">
                  <a16:creationId xmlns:a16="http://schemas.microsoft.com/office/drawing/2014/main" id="{DC0FC1D3-B7E6-42CE-84E0-E28CE1ED44E9}"/>
                </a:ext>
              </a:extLst>
            </p:cNvPr>
            <p:cNvSpPr/>
            <p:nvPr/>
          </p:nvSpPr>
          <p:spPr>
            <a:xfrm>
              <a:off x="6650290" y="2283984"/>
              <a:ext cx="265546" cy="112170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36000" tIns="18000" rIns="36000" bIns="18000" rtlCol="0" anchor="ctr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Common Memory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 Backend Interface</a:t>
              </a:r>
            </a:p>
          </p:txBody>
        </p:sp>
        <p:cxnSp>
          <p:nvCxnSpPr>
            <p:cNvPr id="177" name="직선 화살표 연결선 185">
              <a:extLst>
                <a:ext uri="{FF2B5EF4-FFF2-40B4-BE49-F238E27FC236}">
                  <a16:creationId xmlns:a16="http://schemas.microsoft.com/office/drawing/2014/main" id="{643E492D-CE08-4786-9B0D-A7E6F1A63A29}"/>
                </a:ext>
              </a:extLst>
            </p:cNvPr>
            <p:cNvCxnSpPr>
              <a:cxnSpLocks/>
              <a:stCxn id="162" idx="3"/>
              <a:endCxn id="169" idx="1"/>
            </p:cNvCxnSpPr>
            <p:nvPr/>
          </p:nvCxnSpPr>
          <p:spPr>
            <a:xfrm flipV="1">
              <a:off x="6915836" y="2840572"/>
              <a:ext cx="208937" cy="4265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</p:grpSp>
      <p:cxnSp>
        <p:nvCxnSpPr>
          <p:cNvPr id="14" name="직선 연결선 13"/>
          <p:cNvCxnSpPr/>
          <p:nvPr/>
        </p:nvCxnSpPr>
        <p:spPr>
          <a:xfrm>
            <a:off x="9348289" y="1809408"/>
            <a:ext cx="0" cy="2790583"/>
          </a:xfrm>
          <a:prstGeom prst="line">
            <a:avLst/>
          </a:prstGeom>
          <a:noFill/>
          <a:ln w="12700">
            <a:solidFill>
              <a:srgbClr val="C76E31"/>
            </a:solidFill>
            <a:prstDash val="dash"/>
          </a:ln>
        </p:spPr>
      </p:cxnSp>
      <p:sp>
        <p:nvSpPr>
          <p:cNvPr id="114" name="TextBox 113"/>
          <p:cNvSpPr txBox="1"/>
          <p:nvPr/>
        </p:nvSpPr>
        <p:spPr>
          <a:xfrm>
            <a:off x="8296768" y="5956025"/>
            <a:ext cx="2821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Re-plan</a:t>
            </a:r>
            <a:r>
              <a:rPr lang="ko-KR" altLang="en-US" sz="800" dirty="0">
                <a:solidFill>
                  <a:srgbClr val="0000FF"/>
                </a:solidFill>
              </a:rPr>
              <a:t>으로 인한 메모리 압박 대응 지연의 영향이 적음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11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17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18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2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요청 관리</a:t>
            </a:r>
          </a:p>
        </p:txBody>
      </p:sp>
      <p:sp>
        <p:nvSpPr>
          <p:cNvPr id="3311" name="legend_v4"/>
          <p:cNvSpPr txBox="1"/>
          <p:nvPr/>
        </p:nvSpPr>
        <p:spPr>
          <a:xfrm>
            <a:off x="566928" y="6583680"/>
            <a:ext cx="393192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30" b="0">
                <a:solidFill>
                  <a:srgbClr val="595959"/>
                </a:solidFill>
                <a:latin typeface="맑은 고딕"/>
                <a:ea typeface="맑은 고딕"/>
              </a:rPr>
              <a:t>작은 수치 = B0(GPU-only) → 후보의 이론 예상값(분석 모델, 시뮬레이션 아님)과 B0 대비 개선. </a:t>
            </a:r>
            <a:r>
              <a:rPr sz="630" b="0">
                <a:solidFill>
                  <a:srgbClr val="0000FF"/>
                </a:solidFill>
                <a:latin typeface="맑은 고딕"/>
                <a:ea typeface="맑은 고딕"/>
              </a:rPr>
              <a:t>파란 글씨 = 소유자 별 대비 코멘트.</a:t>
            </a:r>
          </a:p>
        </p:txBody>
      </p:sp>
    </p:spTree>
    <p:extLst>
      <p:ext uri="{BB962C8B-B14F-4D97-AF65-F5344CB8AC3E}">
        <p14:creationId xmlns:p14="http://schemas.microsoft.com/office/powerpoint/2010/main" val="317705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59184" cy="5369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Pipe-and-Filter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구조</a:t>
                      </a:r>
                      <a:r>
                        <a:rPr lang="en-US" altLang="ko-KR" sz="1200" b="1" baseline="0" dirty="0"/>
                        <a:t>: </a:t>
                      </a:r>
                      <a:r>
                        <a:rPr lang="ko-KR" altLang="en-US" sz="1200" b="1" baseline="0" dirty="0" err="1">
                          <a:solidFill>
                            <a:srgbClr val="0066FF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rgbClr val="0066FF"/>
                          </a:solidFill>
                        </a:rPr>
                        <a:t> 전체 체인 실행</a:t>
                      </a:r>
                      <a:endParaRPr lang="en-US" altLang="ko-KR" sz="1050" b="1" kern="1200" baseline="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Shared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en-US" altLang="ko-KR" sz="1200" b="1" dirty="0"/>
                        <a:t>Repository </a:t>
                      </a:r>
                      <a:r>
                        <a:rPr lang="ko-KR" altLang="en-US" sz="1200" b="1" dirty="0"/>
                        <a:t>구조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분석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회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+ </a:t>
                      </a:r>
                      <a:r>
                        <a:rPr lang="ko-KR" altLang="en-US" sz="1200" b="1" baseline="0" dirty="0" err="1">
                          <a:solidFill>
                            <a:schemeClr val="accent2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 조회 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573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입력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에 맞게 재사용할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캐시만 보유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effectLst/>
                        </a:rPr>
                        <a:t>Filter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별 병렬 실행으로 요청 간 경합을 분산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사전에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재계산 위치를 결정하므로 </a:t>
                      </a:r>
                      <a:r>
                        <a:rPr lang="ko-KR" altLang="en-US" sz="1200" b="0" i="0" dirty="0" err="1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서빙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경로 절감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처리량 유리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Critical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path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SR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조회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회 뿐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부하가 올라도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tail latency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평탄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(Q3)</a:t>
                      </a:r>
                      <a:endParaRPr lang="en-US" altLang="ko-KR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57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의 요청이 들어오는 경우 전체 체인을 재실행하는 중복 계산 발생 우려</a:t>
                      </a:r>
                      <a:r>
                        <a:rPr lang="en-US" altLang="ko-KR" sz="1200" strike="noStrike" baseline="0" dirty="0">
                          <a:effectLst/>
                        </a:rPr>
                        <a:t>,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처리량 불리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(Q1)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고부하 시 체인 지연이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큐잉과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겹쳐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tail latency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발산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재사용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 및 재계산 위치를 사전에 보유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메모리 점유 증가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높음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451→1,462 tok/s (×3.25)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425→255 GiB (−40%)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3.2→0.6 s (r 2.65)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 marR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(HBM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사용량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GB)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낮음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451→1,512 tok/s (×3.36)</a:t>
                      </a:r>
                      <a:endParaRPr lang="en-US" altLang="ko-KR" sz="1200" strike="noStrike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425→319 GiB (−25%)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3.2→0.5 s (r 2.76)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 marR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DP3. KV </a:t>
            </a:r>
            <a:r>
              <a:rPr lang="ko-KR" altLang="en-US" dirty="0"/>
              <a:t>캐시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114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 err="1">
                <a:solidFill>
                  <a:schemeClr val="bg1"/>
                </a:solidFill>
              </a:rPr>
              <a:t>재사용률을</a:t>
            </a:r>
            <a:r>
              <a:rPr lang="ko-KR" altLang="en-US" sz="1400" b="1" dirty="0">
                <a:solidFill>
                  <a:schemeClr val="bg1"/>
                </a:solidFill>
              </a:rPr>
              <a:t> 높이기 위한 재계산 대상 선정 시점과 방식을 최적화하는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 err="1"/>
              <a:t>요청마다</a:t>
            </a:r>
            <a:r>
              <a:rPr lang="ko-KR" altLang="en-US" sz="1100" dirty="0"/>
              <a:t> 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에 맞게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선정하는 구조</a:t>
            </a:r>
            <a:r>
              <a:rPr lang="en-US" altLang="ko-KR" sz="1100" dirty="0"/>
              <a:t>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143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사전에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선정하고</a:t>
            </a:r>
            <a:r>
              <a:rPr lang="en-US" altLang="ko-KR" sz="1100" dirty="0"/>
              <a:t>, </a:t>
            </a:r>
            <a:r>
              <a:rPr lang="ko-KR" altLang="en-US" sz="1100" dirty="0"/>
              <a:t>요청은 이를 활용</a:t>
            </a:r>
            <a:r>
              <a:rPr lang="en-US" altLang="ko-KR" sz="1100" dirty="0"/>
              <a:t>＂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EDBAE0C-74A5-43A7-8D12-CE3C549C093E}"/>
              </a:ext>
            </a:extLst>
          </p:cNvPr>
          <p:cNvSpPr txBox="1"/>
          <p:nvPr/>
        </p:nvSpPr>
        <p:spPr>
          <a:xfrm>
            <a:off x="4711271" y="639726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</a:t>
            </a:r>
            <a:r>
              <a:rPr lang="ko-KR" altLang="en-US" sz="1200" dirty="0"/>
              <a:t>점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E497195-BDD1-47C1-A342-40321C4585CB}"/>
              </a:ext>
            </a:extLst>
          </p:cNvPr>
          <p:cNvSpPr txBox="1"/>
          <p:nvPr/>
        </p:nvSpPr>
        <p:spPr>
          <a:xfrm>
            <a:off x="10204983" y="641814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2849" y="2077239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4" name="Rectangle 19"/>
          <p:cNvSpPr/>
          <p:nvPr/>
        </p:nvSpPr>
        <p:spPr>
          <a:xfrm>
            <a:off x="1611630" y="2004178"/>
            <a:ext cx="660317" cy="3239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유사도 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5" name="Connector 20"/>
          <p:cNvCxnSpPr/>
          <p:nvPr/>
        </p:nvCxnSpPr>
        <p:spPr>
          <a:xfrm>
            <a:off x="2271947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21"/>
          <p:cNvSpPr/>
          <p:nvPr/>
        </p:nvSpPr>
        <p:spPr>
          <a:xfrm>
            <a:off x="2445714" y="2004178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7" name="Connector 22"/>
          <p:cNvCxnSpPr/>
          <p:nvPr/>
        </p:nvCxnSpPr>
        <p:spPr>
          <a:xfrm>
            <a:off x="3106033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23"/>
          <p:cNvSpPr/>
          <p:nvPr/>
        </p:nvSpPr>
        <p:spPr>
          <a:xfrm>
            <a:off x="3279801" y="2004178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15" name="Connector 24"/>
          <p:cNvCxnSpPr/>
          <p:nvPr/>
        </p:nvCxnSpPr>
        <p:spPr>
          <a:xfrm>
            <a:off x="3940118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25"/>
          <p:cNvSpPr/>
          <p:nvPr/>
        </p:nvSpPr>
        <p:spPr>
          <a:xfrm>
            <a:off x="4113885" y="2004177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선택적 </a:t>
            </a:r>
            <a:endParaRPr lang="en-US" altLang="ko-KR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92849" y="2567182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2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20" name="Rectangle 27"/>
          <p:cNvSpPr/>
          <p:nvPr/>
        </p:nvSpPr>
        <p:spPr>
          <a:xfrm>
            <a:off x="2444860" y="2494121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32" name="Connector 28"/>
          <p:cNvCxnSpPr/>
          <p:nvPr/>
        </p:nvCxnSpPr>
        <p:spPr>
          <a:xfrm>
            <a:off x="3105177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29"/>
          <p:cNvSpPr/>
          <p:nvPr/>
        </p:nvSpPr>
        <p:spPr>
          <a:xfrm>
            <a:off x="3278944" y="2494121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36" name="Connector 30"/>
          <p:cNvCxnSpPr/>
          <p:nvPr/>
        </p:nvCxnSpPr>
        <p:spPr>
          <a:xfrm>
            <a:off x="3939263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31"/>
          <p:cNvSpPr/>
          <p:nvPr/>
        </p:nvSpPr>
        <p:spPr>
          <a:xfrm>
            <a:off x="4113031" y="2494121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45" name="Connector 32"/>
          <p:cNvCxnSpPr/>
          <p:nvPr/>
        </p:nvCxnSpPr>
        <p:spPr>
          <a:xfrm>
            <a:off x="4773348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33"/>
          <p:cNvSpPr/>
          <p:nvPr/>
        </p:nvSpPr>
        <p:spPr>
          <a:xfrm>
            <a:off x="4947115" y="2494121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2849" y="3057126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3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50" name="Rectangle 35"/>
          <p:cNvSpPr/>
          <p:nvPr/>
        </p:nvSpPr>
        <p:spPr>
          <a:xfrm>
            <a:off x="3272288" y="2984064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53" name="Connector 36"/>
          <p:cNvCxnSpPr/>
          <p:nvPr/>
        </p:nvCxnSpPr>
        <p:spPr>
          <a:xfrm>
            <a:off x="3932605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37"/>
          <p:cNvSpPr/>
          <p:nvPr/>
        </p:nvSpPr>
        <p:spPr>
          <a:xfrm>
            <a:off x="4106372" y="2984064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55" name="Connector 38"/>
          <p:cNvCxnSpPr/>
          <p:nvPr/>
        </p:nvCxnSpPr>
        <p:spPr>
          <a:xfrm>
            <a:off x="4766691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39"/>
          <p:cNvSpPr/>
          <p:nvPr/>
        </p:nvSpPr>
        <p:spPr>
          <a:xfrm>
            <a:off x="4940459" y="2984064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58" name="Connector 40"/>
          <p:cNvCxnSpPr/>
          <p:nvPr/>
        </p:nvCxnSpPr>
        <p:spPr>
          <a:xfrm>
            <a:off x="5600776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41"/>
          <p:cNvSpPr/>
          <p:nvPr/>
        </p:nvSpPr>
        <p:spPr>
          <a:xfrm>
            <a:off x="5774543" y="2984065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308831" y="1718927"/>
            <a:ext cx="1503466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요청마다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lang="en-US"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3단계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반복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6703766" y="2047236"/>
            <a:ext cx="410082" cy="24343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사전</a:t>
            </a:r>
          </a:p>
        </p:txBody>
      </p:sp>
      <p:sp>
        <p:nvSpPr>
          <p:cNvPr id="164" name="Rectangle 45"/>
          <p:cNvSpPr/>
          <p:nvPr/>
        </p:nvSpPr>
        <p:spPr>
          <a:xfrm>
            <a:off x="7113848" y="2006664"/>
            <a:ext cx="671043" cy="324578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쿼리 추출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65" name="Connector 46"/>
          <p:cNvCxnSpPr/>
          <p:nvPr/>
        </p:nvCxnSpPr>
        <p:spPr>
          <a:xfrm>
            <a:off x="7784891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47"/>
          <p:cNvSpPr/>
          <p:nvPr/>
        </p:nvSpPr>
        <p:spPr>
          <a:xfrm>
            <a:off x="7971291" y="2006664"/>
            <a:ext cx="671043" cy="32457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67" name="Connector 48"/>
          <p:cNvCxnSpPr/>
          <p:nvPr/>
        </p:nvCxnSpPr>
        <p:spPr>
          <a:xfrm>
            <a:off x="8642334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49"/>
          <p:cNvSpPr/>
          <p:nvPr/>
        </p:nvSpPr>
        <p:spPr>
          <a:xfrm>
            <a:off x="8828734" y="2006664"/>
            <a:ext cx="671043" cy="324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69" name="Connector 50"/>
          <p:cNvCxnSpPr/>
          <p:nvPr/>
        </p:nvCxnSpPr>
        <p:spPr>
          <a:xfrm>
            <a:off x="9499777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51"/>
          <p:cNvSpPr/>
          <p:nvPr/>
        </p:nvSpPr>
        <p:spPr>
          <a:xfrm>
            <a:off x="9686178" y="2006664"/>
            <a:ext cx="671043" cy="324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60723" y="2342034"/>
            <a:ext cx="560312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 1회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520935" y="1801680"/>
            <a:ext cx="1473198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서빙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경로에는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SR만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남음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실행 단추: 앞으로 또는 다음 15">
            <a:hlinkClick r:id="" action="ppaction://noaction" highlightClick="1"/>
          </p:cNvPr>
          <p:cNvSpPr/>
          <p:nvPr/>
        </p:nvSpPr>
        <p:spPr>
          <a:xfrm>
            <a:off x="561954" y="3168086"/>
            <a:ext cx="213360" cy="18435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Rectangle 51"/>
          <p:cNvSpPr/>
          <p:nvPr/>
        </p:nvSpPr>
        <p:spPr>
          <a:xfrm>
            <a:off x="11215449" y="2005839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8" name="Rectangle 51"/>
          <p:cNvSpPr/>
          <p:nvPr/>
        </p:nvSpPr>
        <p:spPr>
          <a:xfrm>
            <a:off x="11215449" y="2449551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Rectangle 51"/>
          <p:cNvSpPr/>
          <p:nvPr/>
        </p:nvSpPr>
        <p:spPr>
          <a:xfrm>
            <a:off x="11215449" y="2896448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Rectangle 52"/>
          <p:cNvSpPr/>
          <p:nvPr/>
        </p:nvSpPr>
        <p:spPr>
          <a:xfrm>
            <a:off x="8691026" y="2544126"/>
            <a:ext cx="1836041" cy="355375"/>
          </a:xfrm>
          <a:prstGeom prst="rect">
            <a:avLst/>
          </a:prstGeom>
          <a:solidFill>
            <a:schemeClr val="bg1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 </a:t>
            </a:r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Repository </a:t>
            </a:r>
            <a:endParaRPr lang="en-US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재사용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KV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캐시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재계산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토큰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위치</a:t>
            </a:r>
            <a:r>
              <a:rPr 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99" name="Connector 50"/>
          <p:cNvCxnSpPr/>
          <p:nvPr/>
        </p:nvCxnSpPr>
        <p:spPr>
          <a:xfrm flipH="1">
            <a:off x="10019099" y="2331242"/>
            <a:ext cx="2602" cy="222995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60"/>
          <p:cNvCxnSpPr/>
          <p:nvPr/>
        </p:nvCxnSpPr>
        <p:spPr>
          <a:xfrm flipV="1">
            <a:off x="10550687" y="2193542"/>
            <a:ext cx="570978" cy="397681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60"/>
          <p:cNvCxnSpPr/>
          <p:nvPr/>
        </p:nvCxnSpPr>
        <p:spPr>
          <a:xfrm flipV="1">
            <a:off x="10596254" y="2677120"/>
            <a:ext cx="535628" cy="37890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60"/>
          <p:cNvCxnSpPr/>
          <p:nvPr/>
        </p:nvCxnSpPr>
        <p:spPr>
          <a:xfrm>
            <a:off x="10556860" y="2781919"/>
            <a:ext cx="550948" cy="27520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520935" y="2095565"/>
            <a:ext cx="501541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read × N</a:t>
            </a:r>
          </a:p>
        </p:txBody>
      </p:sp>
      <p:sp>
        <p:nvSpPr>
          <p:cNvPr id="128" name="Rectangle 55"/>
          <p:cNvSpPr/>
          <p:nvPr/>
        </p:nvSpPr>
        <p:spPr>
          <a:xfrm>
            <a:off x="7726026" y="2550682"/>
            <a:ext cx="662975" cy="339501"/>
          </a:xfrm>
          <a:prstGeom prst="rect">
            <a:avLst/>
          </a:prstGeom>
          <a:solidFill>
            <a:srgbClr val="F0D8FA"/>
          </a:solidFill>
          <a:ln w="15240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altLang="ko-KR" sz="800" dirty="0">
                <a:solidFill>
                  <a:schemeClr val="tx1"/>
                </a:solidFill>
                <a:ea typeface="맑은 고딕"/>
                <a:cs typeface="맑은 고딕"/>
              </a:rPr>
              <a:t>Validator</a:t>
            </a:r>
            <a:endParaRPr sz="800" b="1" dirty="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29" name="Connector 46"/>
          <p:cNvCxnSpPr>
            <a:stCxn id="128" idx="3"/>
            <a:endCxn id="96" idx="1"/>
          </p:cNvCxnSpPr>
          <p:nvPr/>
        </p:nvCxnSpPr>
        <p:spPr>
          <a:xfrm>
            <a:off x="8389001" y="2720433"/>
            <a:ext cx="302025" cy="1381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390821" y="3556351"/>
            <a:ext cx="10286655" cy="885231"/>
            <a:chOff x="1190992" y="3862952"/>
            <a:chExt cx="10286655" cy="885231"/>
          </a:xfrm>
        </p:grpSpPr>
        <p:sp>
          <p:nvSpPr>
            <p:cNvPr id="15" name="직사각형 14"/>
            <p:cNvSpPr/>
            <p:nvPr/>
          </p:nvSpPr>
          <p:spPr>
            <a:xfrm>
              <a:off x="1190992" y="3862952"/>
              <a:ext cx="10286655" cy="8852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887027" y="3952198"/>
              <a:ext cx="3149522" cy="31444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유사도 계산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: Query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와 </a:t>
              </a: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KV 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캐시 간의 </a:t>
              </a:r>
              <a:r>
                <a:rPr lang="ko-KR" altLang="en-US" sz="800" b="1" dirty="0" err="1">
                  <a:latin typeface="맑은 고딕"/>
                  <a:ea typeface="맑은 고딕"/>
                  <a:cs typeface="맑은 고딕"/>
                </a:rPr>
                <a:t>유사도를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 계산</a:t>
              </a:r>
              <a:endParaRPr lang="en-US" altLang="ko-KR" sz="800" b="1" dirty="0">
                <a:latin typeface="맑은 고딕"/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(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Attention Manager)</a:t>
              </a:r>
              <a:endParaRPr sz="800" b="0" dirty="0"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887027" y="4353852"/>
              <a:ext cx="3149522" cy="3144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재사용 토큰 선정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유사도 점수로 재사용할 토큰 선정 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(KV Sampler)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5093777" y="3954047"/>
              <a:ext cx="3149522" cy="3144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재연산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 토큰 선정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재계산할 토큰 선정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</a:t>
              </a:r>
              <a:r>
                <a:rPr lang="en-US" altLang="ko-KR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Recompute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-Token Selector)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5093777" y="4366396"/>
              <a:ext cx="3149522" cy="3162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선택적 재계산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선정한 토큰만 재계산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(Selective </a:t>
              </a:r>
              <a:r>
                <a:rPr lang="en-US" altLang="ko-KR" sz="800" b="1" dirty="0" err="1">
                  <a:ea typeface="맑은 고딕"/>
                  <a:cs typeface="맑은 고딕"/>
                </a:rPr>
                <a:t>Recomputer</a:t>
              </a:r>
              <a:r>
                <a:rPr lang="en-US" altLang="ko-KR" sz="800" b="1" dirty="0">
                  <a:ea typeface="맑은 고딕"/>
                  <a:cs typeface="맑은 고딕"/>
                </a:rPr>
                <a:t>)</a:t>
              </a:r>
              <a:endParaRPr lang="en-US" altLang="ko-KR" sz="800" dirty="0">
                <a:ea typeface="맑은 고딕"/>
                <a:cs typeface="맑은 고딕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8352247" y="3952198"/>
              <a:ext cx="2863202" cy="3144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대표 쿼리 추출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워크로드 별 대표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Query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추출 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(Query Sampler)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238713" y="4256303"/>
              <a:ext cx="587020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altLang="ko-KR" sz="900" b="1" dirty="0">
                  <a:solidFill>
                    <a:prstClr val="black"/>
                  </a:solidFill>
                </a:rPr>
                <a:t>Legend</a:t>
              </a:r>
              <a:endParaRPr lang="ko-KR" altLang="en-US" sz="2000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352247" y="4360264"/>
              <a:ext cx="2863202" cy="301621"/>
            </a:xfrm>
            <a:prstGeom prst="rect">
              <a:avLst/>
            </a:prstGeom>
            <a:solidFill>
              <a:srgbClr val="F0D8FA"/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Validator: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사전에 계산한 재계산 토큰 위치를 업데이트 함으로써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stale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정보 보완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</p:txBody>
        </p:sp>
      </p:grpSp>
      <p:sp>
        <p:nvSpPr>
          <p:cNvPr id="78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784892" y="619129"/>
            <a:ext cx="1095752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정확도 보장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83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4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430793" y="808072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85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10320379" y="815469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1209965" y="808072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</a:t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583025" y="1946905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7917970" y="1954240"/>
            <a:ext cx="2519397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2397518" y="2426770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>
          <a:xfrm>
            <a:off x="3241867" y="2937037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legend_v4"/>
          <p:cNvSpPr txBox="1"/>
          <p:nvPr/>
        </p:nvSpPr>
        <p:spPr>
          <a:xfrm>
            <a:off x="566928" y="6583680"/>
            <a:ext cx="393192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30" b="0">
                <a:solidFill>
                  <a:srgbClr val="595959"/>
                </a:solidFill>
                <a:latin typeface="맑은 고딕"/>
                <a:ea typeface="맑은 고딕"/>
              </a:rPr>
              <a:t>작은 수치 = B0(GPU-only) → 후보의 이론 예상값(분석 모델, 시뮬레이션 아님)과 B0 대비 개선. </a:t>
            </a:r>
            <a:r>
              <a:rPr sz="630" b="0">
                <a:solidFill>
                  <a:srgbClr val="0000FF"/>
                </a:solidFill>
                <a:latin typeface="맑은 고딕"/>
                <a:ea typeface="맑은 고딕"/>
              </a:rPr>
              <a:t>파란 글씨 = 소유자 별 대비 코멘트.</a:t>
            </a:r>
          </a:p>
        </p:txBody>
      </p:sp>
    </p:spTree>
    <p:extLst>
      <p:ext uri="{BB962C8B-B14F-4D97-AF65-F5344CB8AC3E}">
        <p14:creationId xmlns:p14="http://schemas.microsoft.com/office/powerpoint/2010/main" val="244761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50040" cy="5447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중앙 서버 중재 구조 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락 </a:t>
                      </a:r>
                      <a:r>
                        <a:rPr lang="ko-KR" altLang="en-US" sz="1200" b="1" dirty="0"/>
                        <a:t>기반 직접 접근 </a:t>
                      </a:r>
                      <a:r>
                        <a:rPr lang="en-US" altLang="ko-KR" sz="1200" b="1" dirty="0" err="1"/>
                        <a:t>구조</a:t>
                      </a:r>
                      <a:endParaRPr lang="en-US" altLang="ko-KR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17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동기화를 일괄 처리하여 요청당 동기화 오버헤드가 작음 </a:t>
                      </a:r>
                      <a:r>
                        <a:rPr lang="en-US" altLang="ko-KR" sz="1200" dirty="0"/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요청 순서와 동시 처리량을 제어하여 경합 관리에 유리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 병목은 회피 및 분산 병렬 처리에 유리</a:t>
                      </a:r>
                      <a:r>
                        <a:rPr lang="en-US" altLang="ko-KR" sz="1200" dirty="0"/>
                        <a:t>(Q1,</a:t>
                      </a:r>
                      <a:r>
                        <a:rPr lang="en-US" altLang="ko-KR" sz="1200" baseline="0" dirty="0"/>
                        <a:t> Q3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노드별</a:t>
                      </a:r>
                      <a:r>
                        <a:rPr lang="ko-KR" altLang="en-US" sz="1200" dirty="0"/>
                        <a:t> 분산 처리로 </a:t>
                      </a:r>
                      <a:r>
                        <a:rPr lang="ko-KR" altLang="en-US" sz="1200" dirty="0" err="1"/>
                        <a:t>병렬성</a:t>
                      </a:r>
                      <a:r>
                        <a:rPr lang="ko-KR" altLang="en-US" sz="1200" dirty="0"/>
                        <a:t> 확보 및 수평 확장에 유리 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서버 집중에 따른 병목 가능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baseline="0" dirty="0"/>
                        <a:t>Q3) 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노드 증가 시 중앙 서버의 처리 용량이 확장 한계로 작용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획득 및 공유 데이터 접근에 따른 동기화 오버헤드 발생</a:t>
                      </a:r>
                      <a:r>
                        <a:rPr lang="en-US" altLang="ko-KR" sz="1200" baseline="0" dirty="0"/>
                        <a:t> 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</a:t>
                      </a: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경합 및 대기시간 증가로 지연 편차 확대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048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2안과 동일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높음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2안과 동일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1,601→4,941 tok/s (×3.09)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3.2→0.4 s (r 3.36)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SE 98→99%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 marR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1안과 동일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예상보다 높음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r>
                        <a:rPr sz="750" b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</a:rPr>
                        <a:t>   ▸ 1안과 동일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1,601→4,941 tok/s (×3.09)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TTFT 3.2→0.4 s (r 3.34)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r>
                        <a:rPr sz="63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 SE 98→99%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 marR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82" name="Rectangle 181"/>
          <p:cNvSpPr/>
          <p:nvPr/>
        </p:nvSpPr>
        <p:spPr>
          <a:xfrm>
            <a:off x="8269663" y="2029256"/>
            <a:ext cx="1874519" cy="1532336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69663" y="2029256"/>
            <a:ext cx="1415491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lang="ko-KR" altLang="en-US" sz="700" b="1" dirty="0">
                <a:solidFill>
                  <a:srgbClr val="FFFFFF"/>
                </a:solidFill>
                <a:ea typeface="맑은 고딕"/>
              </a:rPr>
              <a:t>공유 메모리 풀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361103" y="2349296"/>
            <a:ext cx="169164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8361103" y="2733344"/>
            <a:ext cx="1691640" cy="38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공유 메타데이터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· allocator · LRU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361103" y="3195993"/>
            <a:ext cx="169164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전역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락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배열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노드별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DP4. </a:t>
            </a:r>
            <a:r>
              <a:rPr lang="en-US" altLang="ko-KR" dirty="0" err="1"/>
              <a:t>서버</a:t>
            </a:r>
            <a:r>
              <a:rPr lang="en-US" altLang="ko-KR" dirty="0"/>
              <a:t> 간 KV </a:t>
            </a:r>
            <a:r>
              <a:rPr lang="ko-KR" altLang="en-US" dirty="0"/>
              <a:t>캐시 </a:t>
            </a:r>
            <a:r>
              <a:rPr lang="en-US" altLang="ko-KR" dirty="0" err="1"/>
              <a:t>공유</a:t>
            </a:r>
            <a:r>
              <a:rPr lang="en-US" altLang="ko-KR" dirty="0"/>
              <a:t> </a:t>
            </a:r>
            <a:r>
              <a:rPr lang="en-US" altLang="ko-KR" dirty="0" err="1"/>
              <a:t>구조</a:t>
            </a:r>
            <a:r>
              <a:rPr lang="en-US" altLang="ko-KR" dirty="0"/>
              <a:t> – </a:t>
            </a:r>
            <a:r>
              <a:rPr lang="ko-KR" altLang="en-US" dirty="0"/>
              <a:t>설계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40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공유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캐시의 데이터 정합성을 보장하면서 동기화 방식을 최적화하는 구조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 서버가 </a:t>
            </a:r>
            <a:r>
              <a:rPr lang="en-US" altLang="ko-KR" sz="1100" dirty="0" err="1"/>
              <a:t>모든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갱신을</a:t>
            </a:r>
            <a:r>
              <a:rPr lang="en-US" altLang="ko-KR" sz="1100" dirty="0"/>
              <a:t> </a:t>
            </a:r>
            <a:r>
              <a:rPr lang="ko-KR" altLang="en-US" sz="1100" dirty="0"/>
              <a:t>관리</a:t>
            </a:r>
            <a:r>
              <a:rPr lang="en-US" altLang="ko-KR" sz="1100" dirty="0" err="1"/>
              <a:t>하고</a:t>
            </a:r>
            <a:r>
              <a:rPr lang="en-US" altLang="ko-KR" sz="1100" dirty="0"/>
              <a:t>, </a:t>
            </a:r>
            <a:r>
              <a:rPr lang="ko-KR" altLang="en-US" sz="1100" dirty="0"/>
              <a:t>각 </a:t>
            </a:r>
            <a:r>
              <a:rPr lang="en-US" altLang="ko-KR" sz="1100" dirty="0" err="1"/>
              <a:t>노드</a:t>
            </a:r>
            <a:r>
              <a:rPr lang="en-US" altLang="ko-KR" sz="1100" dirty="0"/>
              <a:t>(Client)</a:t>
            </a:r>
            <a:r>
              <a:rPr lang="ko-KR" altLang="en-US" sz="1100" dirty="0"/>
              <a:t>가 서버에 </a:t>
            </a:r>
            <a:r>
              <a:rPr lang="en-US" altLang="ko-KR" sz="1100" dirty="0" err="1"/>
              <a:t>요청</a:t>
            </a:r>
            <a:r>
              <a:rPr lang="en-US" altLang="ko-KR" sz="1100" dirty="0"/>
              <a:t>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“메타데이터를 공유 메모리에 두고 모든 </a:t>
            </a:r>
            <a:r>
              <a:rPr lang="en-US" altLang="ko-KR" sz="1100" dirty="0" err="1"/>
              <a:t>노드가</a:t>
            </a:r>
            <a:r>
              <a:rPr lang="en-US" altLang="ko-KR" sz="1100" dirty="0"/>
              <a:t> </a:t>
            </a:r>
            <a:r>
              <a:rPr lang="en-US" altLang="ko-KR" sz="1100" dirty="0" err="1"/>
              <a:t>락으로</a:t>
            </a:r>
            <a:r>
              <a:rPr lang="en-US" altLang="ko-KR" sz="1100" dirty="0"/>
              <a:t> </a:t>
            </a:r>
            <a:r>
              <a:rPr lang="en-US" altLang="ko-KR" sz="1100" dirty="0" err="1"/>
              <a:t>직접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</a:t>
            </a:r>
            <a:r>
              <a:rPr lang="en-US" altLang="ko-KR" sz="1100" dirty="0"/>
              <a:t>”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61872" y="2120695"/>
            <a:ext cx="1417320" cy="200003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261872" y="2120695"/>
            <a:ext cx="1161620" cy="1832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«node» P </a:t>
            </a:r>
            <a:r>
              <a:rPr sz="7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371600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  <a:endParaRPr sz="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4979855" y="2120696"/>
            <a:ext cx="1417320" cy="20000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 dirty="0"/>
          </a:p>
        </p:txBody>
      </p:sp>
      <p:sp>
        <p:nvSpPr>
          <p:cNvPr id="147" name="Rectangle 146"/>
          <p:cNvSpPr/>
          <p:nvPr/>
        </p:nvSpPr>
        <p:spPr>
          <a:xfrm>
            <a:off x="4979854" y="2120696"/>
            <a:ext cx="1096691" cy="18321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 dirty="0">
                <a:solidFill>
                  <a:schemeClr val="tx1"/>
                </a:solidFill>
                <a:latin typeface="맑은 고딕"/>
                <a:ea typeface="맑은 고딕"/>
              </a:rPr>
              <a:t>«node» D </a:t>
            </a:r>
            <a:r>
              <a:rPr sz="700" b="1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089583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019667" y="2029255"/>
            <a:ext cx="1704108" cy="1532337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3017852" y="2029256"/>
            <a:ext cx="1286810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lang="ko-KR" alt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공유 메모리 풀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124504" y="2373264"/>
            <a:ext cx="1537855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044952" y="3850388"/>
            <a:ext cx="1691640" cy="427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메타데이터 </a:t>
            </a: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Server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· allocator · LRU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2549632" y="3344010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2701812" y="324303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4621340" y="3285858"/>
            <a:ext cx="47434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4778047" y="31885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6675120" y="2120696"/>
            <a:ext cx="1417320" cy="1879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6751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P 노드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848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332720" y="2120696"/>
            <a:ext cx="1417320" cy="18215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3327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D 노드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424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8327898" y="3851498"/>
            <a:ext cx="1737360" cy="438382"/>
            <a:chOff x="8412480" y="3948814"/>
            <a:chExt cx="1737360" cy="482220"/>
          </a:xfrm>
        </p:grpSpPr>
        <p:sp>
          <p:nvSpPr>
            <p:cNvPr id="187" name="Rectangle 186"/>
            <p:cNvSpPr/>
            <p:nvPr/>
          </p:nvSpPr>
          <p:spPr>
            <a:xfrm>
              <a:off x="8458200" y="3948814"/>
              <a:ext cx="1691640" cy="482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18288" rIns="27432" bIns="18288" rtlCol="0" anchor="ctr"/>
            <a:lstStyle/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락</a:t>
              </a:r>
              <a:r>
                <a:rPr lang="ko-KR" altLang="en-US" sz="900" b="1" dirty="0">
                  <a:solidFill>
                    <a:schemeClr val="tx1"/>
                  </a:solidFill>
                  <a:ea typeface="맑은 고딕"/>
                </a:rPr>
                <a:t> 매니저 스레드</a:t>
              </a:r>
              <a:endParaRPr lang="en-US" altLang="ko-KR" sz="900" b="1" dirty="0">
                <a:solidFill>
                  <a:schemeClr val="tx1"/>
                </a:solidFill>
                <a:ea typeface="맑은 고딕"/>
              </a:endParaRPr>
            </a:p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슬롯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scan → LOCKED grant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412480" y="4003678"/>
              <a:ext cx="91440" cy="50292"/>
            </a:xfrm>
            <a:prstGeom prst="rect">
              <a:avLst/>
            </a:prstGeom>
            <a:solidFill>
              <a:srgbClr val="FDECEA"/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 dirty="0"/>
            </a:p>
          </p:txBody>
        </p:sp>
      </p:grpSp>
      <p:cxnSp>
        <p:nvCxnSpPr>
          <p:cNvPr id="190" name="Connector 189"/>
          <p:cNvCxnSpPr/>
          <p:nvPr/>
        </p:nvCxnSpPr>
        <p:spPr>
          <a:xfrm>
            <a:off x="7986148" y="254132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092440" y="24635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2" name="Connector 191"/>
          <p:cNvCxnSpPr/>
          <p:nvPr/>
        </p:nvCxnSpPr>
        <p:spPr>
          <a:xfrm flipH="1">
            <a:off x="10063089" y="2605795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10163555" y="2411486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4" name="Connector 193"/>
          <p:cNvCxnSpPr/>
          <p:nvPr/>
        </p:nvCxnSpPr>
        <p:spPr>
          <a:xfrm>
            <a:off x="7962138" y="3254552"/>
            <a:ext cx="3657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067294" y="317682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10063089" y="3286920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10163555" y="31024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04" name="C1 slot-server link"/>
          <p:cNvCxnSpPr/>
          <p:nvPr/>
        </p:nvCxnSpPr>
        <p:spPr>
          <a:xfrm>
            <a:off x="3890772" y="3573688"/>
            <a:ext cx="0" cy="236681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C1 link label"/>
          <p:cNvSpPr txBox="1"/>
          <p:nvPr/>
        </p:nvSpPr>
        <p:spPr>
          <a:xfrm>
            <a:off x="3981451" y="3630728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Polling</a:t>
            </a:r>
            <a:endParaRPr sz="65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cxnSp>
        <p:nvCxnSpPr>
          <p:cNvPr id="206" name="C2 lock-manager link"/>
          <p:cNvCxnSpPr/>
          <p:nvPr/>
        </p:nvCxnSpPr>
        <p:spPr>
          <a:xfrm>
            <a:off x="9304020" y="3556764"/>
            <a:ext cx="0" cy="248704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2 link label"/>
          <p:cNvSpPr txBox="1"/>
          <p:nvPr/>
        </p:nvSpPr>
        <p:spPr>
          <a:xfrm>
            <a:off x="9360000" y="3618501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슬롯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scan</a:t>
            </a:r>
            <a:r>
              <a:rPr lang="en-US"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 err="1">
                <a:solidFill>
                  <a:srgbClr val="404040"/>
                </a:solidFill>
                <a:latin typeface="맑은 고딕"/>
                <a:ea typeface="맑은 고딕"/>
              </a:rPr>
              <a:t>락</a:t>
            </a:r>
            <a:r>
              <a:rPr lang="ko-KR" alt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grant</a:t>
            </a:r>
          </a:p>
        </p:txBody>
      </p:sp>
      <p:sp>
        <p:nvSpPr>
          <p:cNvPr id="130" name="Rectangle 35"/>
          <p:cNvSpPr/>
          <p:nvPr/>
        </p:nvSpPr>
        <p:spPr>
          <a:xfrm>
            <a:off x="1368310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2" name="Rectangle 35"/>
          <p:cNvSpPr/>
          <p:nvPr/>
        </p:nvSpPr>
        <p:spPr>
          <a:xfrm>
            <a:off x="5090865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5" name="Rectangle 37"/>
          <p:cNvSpPr/>
          <p:nvPr/>
        </p:nvSpPr>
        <p:spPr>
          <a:xfrm>
            <a:off x="1399032" y="3719744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136" name="Rectangle 37"/>
          <p:cNvSpPr/>
          <p:nvPr/>
        </p:nvSpPr>
        <p:spPr>
          <a:xfrm>
            <a:off x="5118493" y="3726096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208" name="Rectangle 35"/>
          <p:cNvSpPr/>
          <p:nvPr/>
        </p:nvSpPr>
        <p:spPr>
          <a:xfrm>
            <a:off x="6784848" y="2865932"/>
            <a:ext cx="1147156" cy="555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09" name="Rectangle 35"/>
          <p:cNvSpPr/>
          <p:nvPr/>
        </p:nvSpPr>
        <p:spPr>
          <a:xfrm>
            <a:off x="10447020" y="2865932"/>
            <a:ext cx="1147156" cy="54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11" name="Rectangle 77"/>
          <p:cNvSpPr/>
          <p:nvPr/>
        </p:nvSpPr>
        <p:spPr>
          <a:xfrm>
            <a:off x="678484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2" name="Rectangle 84"/>
          <p:cNvSpPr/>
          <p:nvPr/>
        </p:nvSpPr>
        <p:spPr>
          <a:xfrm>
            <a:off x="1042339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3" name="Rectangle 48"/>
          <p:cNvSpPr/>
          <p:nvPr/>
        </p:nvSpPr>
        <p:spPr>
          <a:xfrm>
            <a:off x="3110754" y="2891678"/>
            <a:ext cx="1511405" cy="5199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50000"/>
              </a:lnSpc>
            </a:pP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요청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/ </a:t>
            </a:r>
            <a:r>
              <a:rPr sz="900" b="1" dirty="0" err="1">
                <a:solidFill>
                  <a:schemeClr val="tx1"/>
                </a:solidFill>
                <a:ea typeface="맑은 고딕"/>
              </a:rPr>
              <a:t>응답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lang="en-US"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lang="en-US" sz="900" b="1" dirty="0">
                <a:solidFill>
                  <a:schemeClr val="tx1"/>
                </a:solidFill>
                <a:latin typeface="맑은 고딕"/>
                <a:ea typeface="맑은 고딕"/>
              </a:rPr>
              <a:t>RPC)</a:t>
            </a:r>
            <a:endParaRPr sz="9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14" name="Oval 159"/>
          <p:cNvSpPr/>
          <p:nvPr/>
        </p:nvSpPr>
        <p:spPr>
          <a:xfrm>
            <a:off x="3667251" y="362504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17" name="Connector 158"/>
          <p:cNvCxnSpPr/>
          <p:nvPr/>
        </p:nvCxnSpPr>
        <p:spPr>
          <a:xfrm>
            <a:off x="2542776" y="3078856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Oval 159"/>
          <p:cNvSpPr/>
          <p:nvPr/>
        </p:nvSpPr>
        <p:spPr>
          <a:xfrm>
            <a:off x="2699716" y="297788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1" name="Connector 158"/>
          <p:cNvCxnSpPr/>
          <p:nvPr/>
        </p:nvCxnSpPr>
        <p:spPr>
          <a:xfrm>
            <a:off x="2574036" y="2519568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159"/>
          <p:cNvSpPr/>
          <p:nvPr/>
        </p:nvSpPr>
        <p:spPr>
          <a:xfrm>
            <a:off x="2716149" y="2427509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4" name="Connector 158"/>
          <p:cNvCxnSpPr/>
          <p:nvPr/>
        </p:nvCxnSpPr>
        <p:spPr>
          <a:xfrm>
            <a:off x="4629714" y="3046260"/>
            <a:ext cx="458759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159"/>
          <p:cNvSpPr/>
          <p:nvPr/>
        </p:nvSpPr>
        <p:spPr>
          <a:xfrm>
            <a:off x="4781894" y="29452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6" name="Oval 159"/>
          <p:cNvSpPr/>
          <p:nvPr/>
        </p:nvSpPr>
        <p:spPr>
          <a:xfrm>
            <a:off x="3465443" y="3622817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7" name="Connector 158"/>
          <p:cNvCxnSpPr/>
          <p:nvPr/>
        </p:nvCxnSpPr>
        <p:spPr>
          <a:xfrm>
            <a:off x="4647136" y="2519568"/>
            <a:ext cx="41705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159"/>
          <p:cNvSpPr/>
          <p:nvPr/>
        </p:nvSpPr>
        <p:spPr>
          <a:xfrm>
            <a:off x="4796974" y="2427509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9" name="Connector 189"/>
          <p:cNvCxnSpPr/>
          <p:nvPr/>
        </p:nvCxnSpPr>
        <p:spPr>
          <a:xfrm>
            <a:off x="7379970" y="3424292"/>
            <a:ext cx="0" cy="16921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190"/>
          <p:cNvSpPr/>
          <p:nvPr/>
        </p:nvSpPr>
        <p:spPr>
          <a:xfrm>
            <a:off x="7412712" y="3423957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33" name="Oval 196"/>
          <p:cNvSpPr/>
          <p:nvPr/>
        </p:nvSpPr>
        <p:spPr>
          <a:xfrm>
            <a:off x="9089291" y="36020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4" name="Connector 189"/>
          <p:cNvCxnSpPr/>
          <p:nvPr/>
        </p:nvCxnSpPr>
        <p:spPr>
          <a:xfrm>
            <a:off x="10982024" y="3430701"/>
            <a:ext cx="0" cy="156047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190"/>
          <p:cNvSpPr/>
          <p:nvPr/>
        </p:nvSpPr>
        <p:spPr>
          <a:xfrm>
            <a:off x="11014766" y="3408484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6" name="Connector 189"/>
          <p:cNvCxnSpPr/>
          <p:nvPr/>
        </p:nvCxnSpPr>
        <p:spPr>
          <a:xfrm>
            <a:off x="7986148" y="298900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190"/>
          <p:cNvSpPr/>
          <p:nvPr/>
        </p:nvSpPr>
        <p:spPr>
          <a:xfrm>
            <a:off x="8092440" y="29112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8" name="Connector 195"/>
          <p:cNvCxnSpPr/>
          <p:nvPr/>
        </p:nvCxnSpPr>
        <p:spPr>
          <a:xfrm flipH="1">
            <a:off x="10086022" y="3004943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196"/>
          <p:cNvSpPr/>
          <p:nvPr/>
        </p:nvSpPr>
        <p:spPr>
          <a:xfrm>
            <a:off x="10163555" y="281842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0" name="Oval 196"/>
          <p:cNvSpPr/>
          <p:nvPr/>
        </p:nvSpPr>
        <p:spPr>
          <a:xfrm>
            <a:off x="8887483" y="36020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2313776" y="4381265"/>
            <a:ext cx="1009528" cy="100027"/>
            <a:chOff x="600198" y="4114184"/>
            <a:chExt cx="1009528" cy="100027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1276762" y="4381265"/>
            <a:ext cx="1009528" cy="100027"/>
            <a:chOff x="2473452" y="4689663"/>
            <a:chExt cx="1009528" cy="100027"/>
          </a:xfrm>
        </p:grpSpPr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7655936" y="4381265"/>
            <a:ext cx="1009528" cy="100027"/>
            <a:chOff x="600198" y="4114184"/>
            <a:chExt cx="1009528" cy="100027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6618922" y="4381265"/>
            <a:ext cx="1009528" cy="100027"/>
            <a:chOff x="2473452" y="4689663"/>
            <a:chExt cx="1009528" cy="100027"/>
          </a:xfrm>
        </p:grpSpPr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43D3EF8-B471-48F1-9D45-16F7D655739A}"/>
              </a:ext>
            </a:extLst>
          </p:cNvPr>
          <p:cNvSpPr txBox="1"/>
          <p:nvPr/>
        </p:nvSpPr>
        <p:spPr>
          <a:xfrm>
            <a:off x="4855663" y="649001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C1248-6E5A-4524-B4E0-6696C64CA357}"/>
              </a:ext>
            </a:extLst>
          </p:cNvPr>
          <p:cNvSpPr txBox="1"/>
          <p:nvPr/>
        </p:nvSpPr>
        <p:spPr>
          <a:xfrm>
            <a:off x="10103519" y="6492491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69AFFBD-B15E-4345-BC17-2CBDA6C5882F}"/>
              </a:ext>
            </a:extLst>
          </p:cNvPr>
          <p:cNvGrpSpPr/>
          <p:nvPr/>
        </p:nvGrpSpPr>
        <p:grpSpPr>
          <a:xfrm>
            <a:off x="265124" y="3729542"/>
            <a:ext cx="822008" cy="868736"/>
            <a:chOff x="269738" y="3554621"/>
            <a:chExt cx="822008" cy="868736"/>
          </a:xfrm>
        </p:grpSpPr>
        <p:sp>
          <p:nvSpPr>
            <p:cNvPr id="125" name="KV Cache Manager">
              <a:extLst>
                <a:ext uri="{FF2B5EF4-FFF2-40B4-BE49-F238E27FC236}">
                  <a16:creationId xmlns:a16="http://schemas.microsoft.com/office/drawing/2014/main" id="{6C761331-2BCA-4B25-8B1F-1540F95D53B4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KV Cache Manager">
              <a:extLst>
                <a:ext uri="{FF2B5EF4-FFF2-40B4-BE49-F238E27FC236}">
                  <a16:creationId xmlns:a16="http://schemas.microsoft.com/office/drawing/2014/main" id="{50A34A3F-254D-4A8E-AFBB-2D33544166EF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9937169-9026-48D9-88B9-68810CA154C4}"/>
                </a:ext>
              </a:extLst>
            </p:cNvPr>
            <p:cNvSpPr/>
            <p:nvPr/>
          </p:nvSpPr>
          <p:spPr>
            <a:xfrm>
              <a:off x="269738" y="3554621"/>
              <a:ext cx="822008" cy="86873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KV Cache Manager">
              <a:extLst>
                <a:ext uri="{FF2B5EF4-FFF2-40B4-BE49-F238E27FC236}">
                  <a16:creationId xmlns:a16="http://schemas.microsoft.com/office/drawing/2014/main" id="{A05D98C4-4FFA-431C-A8CA-46BD263987A4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9930631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20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509777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3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8858120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33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34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9507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</a:rPr>
              <a:t>캐시 관리</a:t>
            </a:r>
          </a:p>
        </p:txBody>
      </p:sp>
      <p:sp>
        <p:nvSpPr>
          <p:cNvPr id="253" name="legend_v4"/>
          <p:cNvSpPr txBox="1"/>
          <p:nvPr/>
        </p:nvSpPr>
        <p:spPr>
          <a:xfrm>
            <a:off x="566928" y="6583680"/>
            <a:ext cx="393192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30" b="0">
                <a:solidFill>
                  <a:srgbClr val="595959"/>
                </a:solidFill>
                <a:latin typeface="맑은 고딕"/>
                <a:ea typeface="맑은 고딕"/>
              </a:rPr>
              <a:t>작은 수치 = B0(GPU-only) → 후보의 이론 예상값(분석 모델, 시뮬레이션 아님)과 B0 대비 개선. </a:t>
            </a:r>
            <a:r>
              <a:rPr sz="630" b="0">
                <a:solidFill>
                  <a:srgbClr val="0000FF"/>
                </a:solidFill>
                <a:latin typeface="맑은 고딕"/>
                <a:ea typeface="맑은 고딕"/>
              </a:rPr>
              <a:t>파란 글씨 = 소유자 별 대비 코멘트.</a:t>
            </a:r>
          </a:p>
        </p:txBody>
      </p:sp>
    </p:spTree>
    <p:extLst>
      <p:ext uri="{BB962C8B-B14F-4D97-AF65-F5344CB8AC3E}">
        <p14:creationId xmlns:p14="http://schemas.microsoft.com/office/powerpoint/2010/main" val="59490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처리량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Baseline(GPU-only) 대비, SLO를 만족하는 조건에서의 처리량(Max값) 증가율 — ★2는 경쟁 기술(KV offload·재사용) 문헌 대표값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LMCache 2510.09665 · Mooncake 2407.00079 · InferCept 2402.01869 · Pensieve 2312.05516 · AttentionStore 2403.19708 · DistServe 2401.09670 · Sarathi-Serve 2403.02310. 'up to' 보고값이며 지표·baseline이 달라 직접 비교 아님</a:t>
            </a:r>
          </a:p>
        </p:txBody>
      </p:sp>
      <p:sp>
        <p:nvSpPr>
          <p:cNvPr id="9" name="실행 단추: 뒤로 또는 이전 8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metric"/>
          <p:cNvSpPr txBox="1"/>
          <p:nvPr/>
        </p:nvSpPr>
        <p:spPr>
          <a:xfrm>
            <a:off x="365760" y="1069848"/>
            <a:ext cx="1143000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[Metric] R = Max SLO goodput(후보) ÷ Max SLO goodput(B0 GPU-only)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B0 = vLLM 기본(HBM만, 부족하면 recompute). 경쟁 기술 = KV offload·재사용·상태 보존 시스템(LMCache, Pensieve, InferCept, Mooncake, AttentionStore 등). 이론 대리 B1 = 단순 offloading(증분 write-through, 동기 복원, prefetch 없음)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Baseline 절대값(이론, 1노드): B0 451 tok/s → ★1 ≥ 901 · ★2 ≥ 1,802 · ★3 ≥ 3,605 tok/s. 이 시나리오의 이론값: B1 ×2.35(1,058 tok/s), 이론 상한 ×4.0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구간 규칙: ★1 = Stakeholder 2x · ★2 = 문헌 8건 headline 개선의 중앙값 4.0x · ★3 = 문헌 상위권 8x(★2의 2배) · ★ 1단계 = 2배(log 등간격), 반 단계는 기하 중점</a:t>
            </a:r>
          </a:p>
        </p:txBody>
      </p:sp>
      <p:graphicFrame>
        <p:nvGraphicFramePr>
          <p:cNvPr id="11" name="tbl"/>
          <p:cNvGraphicFramePr>
            <a:graphicFrameLocks noGrp="1"/>
          </p:cNvGraphicFramePr>
          <p:nvPr/>
        </p:nvGraphicFramePr>
        <p:xfrm>
          <a:off x="365760" y="2011680"/>
          <a:ext cx="11457432" cy="19202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600200"/>
                <a:gridCol w="6949440"/>
                <a:gridCol w="2221992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8.0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(≥ 3,605 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 상위권 ≈ 8x: AttentionStore prefill 처리량 7.8~8.2x(TTFT −87%), DistServe 요청 수 7.4x(SLO 내), Sarathi-Serve SLO 내 처리량 최대 6.9x(Falcon-180B). ★2(4x)의 2배. LMCache 최대 14x는 극단 조건이라 앵커에서 제외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AttentionStore, DistServe, Sarathi-Serve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5.7 ≤ R &lt; 8.0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(≥ 2,568 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기하 중점(√(4×8)=5.7x). Mooncake 시뮬 +525%(6.25x), LMCache 실서비스 QPS 확장 4~6x의 상단과 Sarathi-Serve 6.9x 사이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Mooncake, LMCache, Sarathi-Serve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4.0 ≤ R &lt; 5.7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(≥ 1,802 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 대표값 = KV offload·재사용 시스템 8건의 headline 개선(1.75, 2.0, 2.3, 3.0, 5.0, 6.25, 7.8, 14x)의 중앙값 4.0x(기하평균 4.1x). LMCache 실서비스 QPS 확장 4~6x의 하한과도 일치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InferCept, Mooncake, LMCache, Pensieve, AttentionStore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2.8 ≤ R &lt; 4.0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(≥ 1,262 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기하 중점(√(2×4)=2.8x). Pensieve 최대 3.0x, Sarathi-Serve 2.6x 구간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Pensieve, Sarathi-Serve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2.0 ≤ R &lt; 2.8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(≥ 901 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요구: "처리량 개선 2배 이상 되어야 제품화 논의 가능" (GPU-only 대비). 문헌 하위 사분위(≈2.2x: InferCept 2.0x, LMCache 단일 노드 하한 2.3x, Mooncake 실트래픽 1.75x)와 같은 수준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요구사항, InferCept, LMCache, Mooncake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2.0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요구(2배) 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059936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(GPU-only 대비 R, log 축) — 문헌 7편 + 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297680"/>
            <a:ext cx="1378001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297680"/>
            <a:ext cx="137800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9481" y="4297680"/>
            <a:ext cx="1611707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9481" y="4297680"/>
            <a:ext cx="161170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189" y="4297680"/>
            <a:ext cx="1708478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189" y="4297680"/>
            <a:ext cx="170847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4297680"/>
            <a:ext cx="1696488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9667" y="4297680"/>
            <a:ext cx="1696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6156" y="4297680"/>
            <a:ext cx="1623697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6156" y="4297680"/>
            <a:ext cx="16236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9853" y="4297680"/>
            <a:ext cx="3320186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9853" y="4297680"/>
            <a:ext cx="332018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9441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1626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9627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1812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9813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45720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16x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789481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01189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09667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06156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29853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1730045" y="4740249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62633" y="4727448"/>
            <a:ext cx="2332482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Stakeholder 요구: 처리량 2배 이상 (GPU-only 대비)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620" y="4907584"/>
            <a:ext cx="1068861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20620" y="488015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789481" y="488015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862633" y="4871923"/>
            <a:ext cx="2336800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InferCept 1.6~2x · Mooncake 실트래픽 +75%(1.75x)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052059"/>
            <a:ext cx="3320186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1480" y="5024627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31666" y="5024627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804818" y="5016398"/>
            <a:ext cx="2116581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Pensieve 1.14~3.0x (vLLM·TensorRT-LLM 대비)</a:t>
            </a:r>
          </a:p>
        </p:txBody>
      </p:sp>
      <p:sp>
        <p:nvSpPr>
          <p:cNvPr id="46" name="Oval 45"/>
          <p:cNvSpPr/>
          <p:nvPr/>
        </p:nvSpPr>
        <p:spPr>
          <a:xfrm>
            <a:off x="2408651" y="5182819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2095" y="5160873"/>
            <a:ext cx="211226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LMCache 단일 노드 로컬 CPU offload 하한 2.3x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09667" y="5341010"/>
            <a:ext cx="1942184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109667" y="5313578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51852" y="5313578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25004" y="5305348"/>
            <a:ext cx="251383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LMCache 실서비스 고 QPS: 동일 TTFT 환산 QPS 확장 4~6x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46210" y="5485485"/>
            <a:ext cx="4675103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046210" y="5458053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1314" y="5458053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94466" y="5449824"/>
            <a:ext cx="3001772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Sarathi-Serve SLO 내 처리량 2.6x(Mistral-7B)~6.9x(Falcon-180B)</a:t>
            </a:r>
          </a:p>
        </p:txBody>
      </p:sp>
      <p:sp>
        <p:nvSpPr>
          <p:cNvPr id="56" name="Oval 55"/>
          <p:cNvSpPr/>
          <p:nvPr/>
        </p:nvSpPr>
        <p:spPr>
          <a:xfrm>
            <a:off x="8006124" y="5616244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29568" y="5594299"/>
            <a:ext cx="152933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DistServe 요청 수 7.4x (SLO 내)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08581" y="5774436"/>
            <a:ext cx="23955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308581" y="5747003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48131" y="5747003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21283" y="5738774"/>
            <a:ext cx="2582926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AttentionStore prefill 처리량 7.8~8.2x (TTFT −87~88%)</a:t>
            </a:r>
          </a:p>
        </p:txBody>
      </p:sp>
      <p:sp>
        <p:nvSpPr>
          <p:cNvPr id="62" name="Oval 61"/>
          <p:cNvSpPr/>
          <p:nvPr/>
        </p:nvSpPr>
        <p:spPr>
          <a:xfrm>
            <a:off x="7197098" y="5905195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20542" y="5883249"/>
            <a:ext cx="1624329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Mooncake 시뮬 +525% (6.25x, 시뮬)</a:t>
            </a:r>
          </a:p>
        </p:txBody>
      </p:sp>
      <p:sp>
        <p:nvSpPr>
          <p:cNvPr id="64" name="Oval 63"/>
          <p:cNvSpPr/>
          <p:nvPr/>
        </p:nvSpPr>
        <p:spPr>
          <a:xfrm>
            <a:off x="11060130" y="604967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7702" y="6027724"/>
            <a:ext cx="136956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LMCache 최대 14x (극단 조건)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59525" y="6207861"/>
            <a:ext cx="2575315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2559525" y="6180429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134841" y="6180429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207993" y="6172200"/>
            <a:ext cx="2354071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이 시나리오 이론: 단순 offload ×2.35 ~ 상한 ×4.0</a:t>
            </a:r>
          </a:p>
        </p:txBody>
      </p:sp>
      <p:sp>
        <p:nvSpPr>
          <p:cNvPr id="70" name="Oval 69"/>
          <p:cNvSpPr/>
          <p:nvPr/>
        </p:nvSpPr>
        <p:spPr>
          <a:xfrm>
            <a:off x="384048" y="6403543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362395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72" name="Diamond 71"/>
          <p:cNvSpPr/>
          <p:nvPr/>
        </p:nvSpPr>
        <p:spPr>
          <a:xfrm>
            <a:off x="1539748" y="6403543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58620" y="6362395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74" name="Isosceles Triangle 73"/>
          <p:cNvSpPr/>
          <p:nvPr/>
        </p:nvSpPr>
        <p:spPr>
          <a:xfrm>
            <a:off x="3028823" y="6403543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47695" y="6362395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76" name="Oval 75"/>
          <p:cNvSpPr/>
          <p:nvPr/>
        </p:nvSpPr>
        <p:spPr>
          <a:xfrm>
            <a:off x="3753358" y="640354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72230" y="6362395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321825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자원(HBM) 효율성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Baseline(GPU-only) 대비 HBM 사용량 감소율 (KV 캐시 관리, 압축 제외) — ★2는 오프로딩 문헌 수준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출처[1]: DirectKV OSDI'26 · HeadInfer (arXiv 2502.12574, 검색 요약 기준) · ShadowKV ICML'25 (arXiv 2410.21465). 40~80% 범위는 사용자 인용(원문 대조 필요). 절대값은 분석 모델</a:t>
            </a:r>
          </a:p>
        </p:txBody>
      </p:sp>
      <p:sp>
        <p:nvSpPr>
          <p:cNvPr id="14" name="실행 단추: 뒤로 또는 이전 13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metric"/>
          <p:cNvSpPr txBox="1"/>
          <p:nvPr/>
        </p:nvSpPr>
        <p:spPr>
          <a:xfrm>
            <a:off x="365760" y="1069848"/>
            <a:ext cx="11430000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[Metric] 감소율 = (B0 HBM 사용 − 후보 HBM 사용) ÷ B0 HBM 사용  (HBM 사용 = HBM에 올라와 있는 KV 크기의 시간 평균, 같은 부하·SLO)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Baseline 절대값(이론): B0 425 GiB(HBM KV 풀 = 640×0.9 − 가중치 131 − 활성값 20 전체) → ★1 ≤ 340 · ★2 ≤ 255 · ★3 ≤ 170 GiB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단순 LRU offload(B1)는 HBM을 캐시로 채워 425 GiB(감소 0%, ☆)다. 문헌의 40%는 HBM 절감을 목적으로 한 offload(DirectKV 등)의 보고값이라 ★2 앵커로 쓴다. 이론 상한 ≈ 88%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구간 규칙: ★1 = 시나리오 요구 20% · ★2 = 오프로딩 문헌 수준 40% · ★3 = 잔여 HBM(60%)을 1.5x 더 줄인 값 = 감소율 60% · 반 단계는 중점(10%p)</a:t>
            </a:r>
          </a:p>
        </p:txBody>
      </p:sp>
      <p:graphicFrame>
        <p:nvGraphicFramePr>
          <p:cNvPr id="16" name="tbl"/>
          <p:cNvGraphicFramePr>
            <a:graphicFrameLocks noGrp="1"/>
          </p:cNvGraphicFramePr>
          <p:nvPr/>
        </p:nvGraphicFramePr>
        <p:xfrm>
          <a:off x="365760" y="2148840"/>
          <a:ext cx="11457432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600200"/>
                <a:gridCol w="6949440"/>
                <a:gridCol w="2221992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 ≥ 60%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(HBM ≤ 170 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기술이 줄이고 남은 HBM(60%)을 1.5x 더 줄이면 40%만 남는다 → 감소율 60%. 이론 상한(≈88%)과 HeadInfer 92%(1M ctx 극단)보다 보수적. ShadowKV(batch 6x)는 key 저랭크 압축이라 제외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DirectKV, HeadInfer [1], 이론 계산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 ≤ 감소율 &lt; 60%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(HBM ≤ 212 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중점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 ≤ 감소율 &lt; 50%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(HBM ≤ 255 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기술(오프로딩 계열) 수준: DirectKV는 CPU 메모리 직접 접근으로 GPU 메모리 43% 감소(GH200, 기존 offload 대비). 사용자 인용 '배치·오프로딩 계열 40~80%'의 하한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 [1]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30 ≤ 감소율 &lt; 40%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(HBM ≤ 298 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중점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 ≤ 감소율 &lt; 30%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(HBM ≤ 340 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 요구 20%. 계산: HBM 20% 감소 = 같은 HBM에 KV 1/0.8 = 1.25배 수용(동시 처리 +25% 이상, 이론)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 요구 / 이론 계산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 &lt; 20%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 요구(20%) 미충족. 음수는 후보가 HBM을 더 쓴 경우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434840" y="4306824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(HBM 감소율 %, GPU-only 대비)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19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100%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7511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0664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3815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6968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>
            <a:off x="4421123" y="5013198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3712" y="4974336"/>
            <a:ext cx="2514600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B1(정적 LRU offload) = 0% (HBM을 캐시로 채움)</a:t>
            </a:r>
          </a:p>
        </p:txBody>
      </p:sp>
      <p:sp>
        <p:nvSpPr>
          <p:cNvPr id="43" name="Diamond 42"/>
          <p:cNvSpPr/>
          <p:nvPr/>
        </p:nvSpPr>
        <p:spPr>
          <a:xfrm>
            <a:off x="5884164" y="5196077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5161788"/>
            <a:ext cx="1851660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시나리오 요구 20% (≈ 동시 수용 +25%)</a:t>
            </a:r>
          </a:p>
        </p:txBody>
      </p:sp>
      <p:sp>
        <p:nvSpPr>
          <p:cNvPr id="45" name="Oval 44"/>
          <p:cNvSpPr/>
          <p:nvPr/>
        </p:nvSpPr>
        <p:spPr>
          <a:xfrm>
            <a:off x="7575804" y="5392674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5349240"/>
            <a:ext cx="3675888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DirectKV (OSDI'26): 기존 offload 대비 GPU 메모리 43% 감소 = 경쟁 기술 수준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593842"/>
            <a:ext cx="292608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40664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33272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23560" y="5536692"/>
            <a:ext cx="1709927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오프로딩 계열 보고 범위 40~80% [1]</a:t>
            </a:r>
          </a:p>
        </p:txBody>
      </p:sp>
      <p:sp>
        <p:nvSpPr>
          <p:cNvPr id="51" name="Isosceles Triangle 50"/>
          <p:cNvSpPr/>
          <p:nvPr/>
        </p:nvSpPr>
        <p:spPr>
          <a:xfrm>
            <a:off x="10824075" y="5763006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58115" y="5724144"/>
            <a:ext cx="19522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상한 ≈ 88% (decode 상주분만 남김)</a:t>
            </a:r>
          </a:p>
        </p:txBody>
      </p:sp>
      <p:sp>
        <p:nvSpPr>
          <p:cNvPr id="53" name="Oval 52"/>
          <p:cNvSpPr/>
          <p:nvPr/>
        </p:nvSpPr>
        <p:spPr>
          <a:xfrm>
            <a:off x="10501884" y="595503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45551" y="5911596"/>
            <a:ext cx="26334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ShadowKV: batch 6x ≈ 83%/seq (key 저랭크 압축 포함)</a:t>
            </a:r>
          </a:p>
        </p:txBody>
      </p:sp>
      <p:sp>
        <p:nvSpPr>
          <p:cNvPr id="55" name="Oval 54"/>
          <p:cNvSpPr/>
          <p:nvPr/>
        </p:nvSpPr>
        <p:spPr>
          <a:xfrm>
            <a:off x="11160252" y="61424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71915" y="6099048"/>
            <a:ext cx="26654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HeadInfer: 총 GPU 메모리 92% (1M ctx 단일 요청, 극단)</a:t>
            </a:r>
          </a:p>
        </p:txBody>
      </p:sp>
      <p:sp>
        <p:nvSpPr>
          <p:cNvPr id="57" name="Oval 56"/>
          <p:cNvSpPr/>
          <p:nvPr/>
        </p:nvSpPr>
        <p:spPr>
          <a:xfrm>
            <a:off x="4453127" y="6373367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1999" y="6332219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59" name="Diamond 58"/>
          <p:cNvSpPr/>
          <p:nvPr/>
        </p:nvSpPr>
        <p:spPr>
          <a:xfrm>
            <a:off x="5608828" y="6373367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7700" y="6332219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61" name="Isosceles Triangle 60"/>
          <p:cNvSpPr/>
          <p:nvPr/>
        </p:nvSpPr>
        <p:spPr>
          <a:xfrm>
            <a:off x="7097903" y="6373367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6775" y="6332219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63" name="Oval 62"/>
          <p:cNvSpPr/>
          <p:nvPr/>
        </p:nvSpPr>
        <p:spPr>
          <a:xfrm>
            <a:off x="7822438" y="637336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41310" y="6332219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4572000"/>
            <a:ext cx="393192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HBM 사용량과 전체 Data 대비 사용률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HBM 사용량: HBM에 올라와 있는 KV의 시간 평균 크기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  예) 100초 중 40초 100 GiB, 60초 50 GiB → 70 GiB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요청이 늘면 HBM 크기 내 점유율은 포화되어 이동 효율을 가리지 못한다 → 전체 KV 대비 사용률을 병기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  예) HBM 점유 40→64 GiB, KV 120 GiB: 크기 내 50→80%, 전체 대비 66→53%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압축이 아니므로 정확도(출력)는 변하지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33235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고부하 지연시간(Tail Latency)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Baseline(GPU-only) 대비 TTFT·TPOT P99 개선 r (고부하 = B0 포화 부하의 90%, SLO 충족 전제) — ★2는 경쟁 기술 수준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LMCache (arXiv 2510.09665, 검색 요약 기준) · KVFlow (arXiv 2507.07400) · DirectKV OSDI'26. LMCache E2E 50~75%는 사용자 인용(원문 대조 필요). 절대값은 분석 모델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l="3011" r="635" b="11226"/>
          <a:stretch/>
        </p:blipFill>
        <p:spPr>
          <a:xfrm>
            <a:off x="411480" y="4800600"/>
            <a:ext cx="3526737" cy="1600200"/>
          </a:xfrm>
          <a:prstGeom prst="rect">
            <a:avLst/>
          </a:prstGeom>
        </p:spPr>
      </p:pic>
      <p:sp>
        <p:nvSpPr>
          <p:cNvPr id="15" name="실행 단추: 뒤로 또는 이전 14">
            <a:hlinkClick r:id="rId3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metric"/>
          <p:cNvSpPr txBox="1"/>
          <p:nvPr/>
        </p:nvSpPr>
        <p:spPr>
          <a:xfrm>
            <a:off x="365760" y="1069848"/>
            <a:ext cx="11430000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[Metric] r = √[ (B0 TTFT P99 ÷ 후보 TTFT P99) × (B0 TPOT P99 ÷ 후보 TPOT P99) ],  감소율 = 1 − 1/r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고부하: 부하를 B0 포화 부하(2.20 turn/s)의 90%(1.98)에 고정. Baseline 절대값(이론): B0 TTFT P99 3.22 s · TPOT P99 26.2 ms (이 부하에서 B0는 TTFT SLO 초과). TPOT이 같으면 TTFT가 ★1 ≤ 1.57 · ★2 ≤ 0.80 · ★3 ≤ 0.36 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경쟁 기술의 이론값(B1): TTFT 0.89 s · TPOT 21.6 ms → r 2.10 (★2 구간). 후보는 SLO(TTFT ≤ 2 s, TPOT ≤ 50 ms) 충족 필수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구간 규칙: ★1 = Stakeholder 체감 30%(r 1.43) · ★2 = 경쟁 기술 수준 50%(r 2.0) · ★3 = ★2 × 1.5 = r 3.0(감소율 67%) · 반 단계는 기하 중점</a:t>
            </a:r>
          </a:p>
        </p:txBody>
      </p:sp>
      <p:graphicFrame>
        <p:nvGraphicFramePr>
          <p:cNvPr id="17" name="tbl"/>
          <p:cNvGraphicFramePr>
            <a:graphicFrameLocks noGrp="1"/>
          </p:cNvGraphicFramePr>
          <p:nvPr/>
        </p:nvGraphicFramePr>
        <p:xfrm>
          <a:off x="365760" y="2103120"/>
          <a:ext cx="11457432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600200"/>
                <a:gridCol w="6949440"/>
                <a:gridCol w="2221992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3.0 (감소율 67%)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(TPOT 동일 시 TTFT ≤ 0.36 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기술(r 2.0)의 1.5x(offload baseline 대비 문헌 개선 1.2~1.83x의 중간). LMCache 고 QPS 실트래픽 TTFT 4.4~6.6x·ITL 34~58%를 r로 환산하면 2.6~4.0이라 그 중간~상단에 해당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LMCache, KVFlow, DirectKV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2.45 ≤ r &lt; 3.0 (감소율 59%)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(TPOT 동일 시 TTFT ≤ 0.54 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기하 중점(√(2.0×3.0)=2.45)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2.0 ≤ r &lt; 2.45 (감소율 50%)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(TPOT 동일 시 TTFT ≤ 0.80 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 수준: LMCache Context 벤치마크 E2E 지연 약 50~75% 감소의 하한(r 2.0). 이론 B1 r 2.10가 이 구간에 놓인다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 ≤ r &lt; 2.0 (감소율 41%)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(TPOT 동일 시 TTFT ≤ 1.11 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기하 중점(√(1.43×2.0)=1.7)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1.43 ≤ r &lt; 1.7 (감소율 30%)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(TPOT 동일 시 TTFT ≤ 1.57 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요구: 사용자 체감 성능 개선 기준 30% 감소(r 1.43, GPU-only 대비)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요구사항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1.43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1.43 또는 SLO 위반. 음수는 B0보다 나빠진 경우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434840" y="4261103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(P99 개선 r, GPU-only 대비)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5548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0577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5605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2.5x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34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5662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3.5x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0691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19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4.5x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7928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43599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70617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11142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6067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/>
          <p:cNvSpPr/>
          <p:nvPr/>
        </p:nvSpPr>
        <p:spPr>
          <a:xfrm>
            <a:off x="5319848" y="4962905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2436" y="4928615"/>
            <a:ext cx="18150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Stakeholder: 체감 30% 감소 (r 1.43)</a:t>
            </a:r>
          </a:p>
        </p:txBody>
      </p:sp>
      <p:sp>
        <p:nvSpPr>
          <p:cNvPr id="46" name="Isosceles Triangle 45"/>
          <p:cNvSpPr/>
          <p:nvPr/>
        </p:nvSpPr>
        <p:spPr>
          <a:xfrm>
            <a:off x="6714805" y="5154929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47393" y="5116067"/>
            <a:ext cx="146303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B1(단순 offload) r 2.10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70617" y="5360669"/>
            <a:ext cx="4180114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570617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50731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70444" y="5303519"/>
            <a:ext cx="2327021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579" b="0">
                <a:solidFill>
                  <a:srgbClr val="262626"/>
                </a:solidFill>
                <a:latin typeface="맑은 고딕"/>
                <a:ea typeface="맑은 고딕"/>
              </a:rPr>
              <a:t>LMCache E2E 지연 50~75% 감소 (r 2.0~4.0) = 경쟁 기술 수준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03750" y="5548121"/>
            <a:ext cx="2863378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803750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667129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42262" y="5490971"/>
            <a:ext cx="26883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LMCache 고 QPS TTFT 4.4~6.6x·ITL 34~58% → r 2.6~4.0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5735573"/>
            <a:ext cx="2633472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406640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040112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478274" y="5678423"/>
            <a:ext cx="285521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19" b="0">
                <a:solidFill>
                  <a:srgbClr val="262626"/>
                </a:solidFill>
                <a:latin typeface="맑은 고딕"/>
                <a:ea typeface="맑은 고딕"/>
              </a:rPr>
              <a:t>★3 근거: 경쟁 r 2.0 × offload 대비 문헌 개선 1.2~1.83x = 2.4~3.7</a:t>
            </a:r>
          </a:p>
        </p:txBody>
      </p:sp>
      <p:sp>
        <p:nvSpPr>
          <p:cNvPr id="60" name="Oval 59"/>
          <p:cNvSpPr/>
          <p:nvPr/>
        </p:nvSpPr>
        <p:spPr>
          <a:xfrm>
            <a:off x="4453127" y="5952743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1999" y="5911595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62" name="Diamond 61"/>
          <p:cNvSpPr/>
          <p:nvPr/>
        </p:nvSpPr>
        <p:spPr>
          <a:xfrm>
            <a:off x="5608828" y="5952743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27700" y="5911595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64" name="Isosceles Triangle 63"/>
          <p:cNvSpPr/>
          <p:nvPr/>
        </p:nvSpPr>
        <p:spPr>
          <a:xfrm>
            <a:off x="7097903" y="5952743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16775" y="5911595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66" name="Oval 65"/>
          <p:cNvSpPr/>
          <p:nvPr/>
        </p:nvSpPr>
        <p:spPr>
          <a:xfrm>
            <a:off x="7822438" y="595274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41310" y="5911595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279392"/>
            <a:ext cx="39319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P99의 의미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상위 1%의 극단적 지연을 포착해 고부하 서비스 끊김을 검증</a:t>
            </a:r>
          </a:p>
        </p:txBody>
      </p:sp>
    </p:spTree>
    <p:extLst>
      <p:ext uri="{BB962C8B-B14F-4D97-AF65-F5344CB8AC3E}">
        <p14:creationId xmlns:p14="http://schemas.microsoft.com/office/powerpoint/2010/main" val="194153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SLO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TTFT·TPOT의 측정 정의, 절대 기준, 근거 계산과 적용 규칙 (모든 DP·후보·Baseline에 동일 적용)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공통 SLO 기준 · MLPerf Inference(2차) · Brysbaert 2019. 계산: 가중치 141 GB, H100×8 3.35 TB/s·989 TFLOPS, B200×8 8 TB/s, MFU 0.45. 하한은 attention 2차 항·통신·커널 제외</a:t>
            </a:r>
          </a:p>
        </p:txBody>
      </p:sp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tbl"/>
          <p:cNvGraphicFramePr>
            <a:graphicFrameLocks noGrp="1"/>
          </p:cNvGraphicFramePr>
          <p:nvPr/>
        </p:nvGraphicFramePr>
        <p:xfrm>
          <a:off x="365760" y="1143000"/>
          <a:ext cx="11457432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3017520"/>
                <a:gridCol w="1371600"/>
                <a:gridCol w="569671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Metric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정의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절대 SLO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 (계산)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
(첫 토큰까지의 시간)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 도착 → 첫 출력 토큰 수신. 큐잉 + prefill + (필요 시) KV 복원 시간 포함. 요청별 값의 P99로 판정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8K prefill 이론 0.32 s = (2 × 70.6B × 8,192 = 1.16 PFLOP) ÷ (H100×8 989 TFLOPS×8 × MFU 0.45 = 3.56 PFLOP/s). 2 s는 이의 약 6배(큐잉 여유).</a:t>
                      </a:r>
                    </a:p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Agent KV Fleet의 16K 컨텍스트 재prefill은 0.65 s라 약 3배 여유. MLPerf Llama-2-70B 표준 시나리오와 같은 자릿수(2차 자료)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
(출력 토큰당 시간)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(요청 E2E − TTFT) ÷ (출력 토큰 수 − 1). 토큰 간 지연의 요청별 평균에 대한 P99로 판정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≤ 50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 ms = 20 tok/s = 성인 묵독(5~6 tok/s)의 약 3.5배. MLPerf interactive 40 ms와 표준 200 ms 사이(2차 자료).</a:t>
                      </a:r>
                    </a:p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 하한: 가중치 141 GB를 step마다 읽으면 H100×8 5.3 ms, B200×8 2.2 ms. 16K KV(5 GiB/세션) batch 64를 더하면 H100 약 18 ms. 50 ms는 이의 약 2.8배 여유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17520"/>
            <a:ext cx="11430000" cy="219456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SLO 대비 이론 예산 (대역폭·연산 한계 기준 하한이며 실측이 아니다)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1012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TTFT 예산 (s)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56616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831336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566160"/>
            <a:ext cx="726643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566160"/>
            <a:ext cx="726643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8K 0.32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831336"/>
            <a:ext cx="1475994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831336"/>
            <a:ext cx="1475994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16K 0.65 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25568" y="3529584"/>
            <a:ext cx="0" cy="56692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45408" y="331012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2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114800"/>
            <a:ext cx="54498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8K·16K 입력의 재계산 prefill 시간. 남는 시간이 큐잉·KV 복원·결정 지연의 예산이다(16K에서 1.35 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1012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TPOT 예산 (ms, H100×8)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356616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3566160"/>
            <a:ext cx="481401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566160"/>
            <a:ext cx="481401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가중치 5.3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09049" y="3566160"/>
            <a:ext cx="1162629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9049" y="3566160"/>
            <a:ext cx="1162629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KV 12.8 (batch 64, 16K)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869168" y="3529584"/>
            <a:ext cx="0" cy="301752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89008" y="331012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50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3849624"/>
            <a:ext cx="54498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B200×8은 가중치 하한이 2.2 ms. 오타였던 TPOT 2 ms는 이 모델에서 가중치 읽기 하한보다 낮아 달성 불가.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526280"/>
            <a:ext cx="11430000" cy="2011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적용 규칙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Q1 SLO goodput: 요청별로 TTFT ≤ 2 s 그리고 TPOT ≤ 50 ms를 함께 만족한 요청의 출력 토큰만 합산한다. 부하 sweep의 최댓값이 Max SLO goodput이다.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Q3 고부하 지연: 부하는 Baseline Max SLO goodput의 90%로 고정하고 TTFT·TPOT P99로 r을 계산한다. 후보가 SLO(P99)를 넘으면 개선 폭과 무관하게 ☆로 본다.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같은 값을 모든 DP 후보와 Baseline에 적용하고, 결과를 본 뒤 바꾸지 않는다. 바꾸면 새 버전으로 취급해 이전 결과와 비교하지 않는다.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Baseline이 SLO를 만족하지 못하는 시나리오는 조용히 제외하지 않고 infeasible로 표시한다. P99 판정에는 구간당 요청 수 ≥ 1,000(seed별)을 확보한다 [가정].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맑은 고딕"/>
                <a:ea typeface="맑은 고딕"/>
              </a:rPr>
              <a:t>• 이전 요구에 적힌 TPOT 2 ms는 50 ms의 오타로 확정해 이 덱의 모든 페이지에 50 ms를 쓴다 (소유자 확인 필요).</a:t>
            </a:r>
          </a:p>
        </p:txBody>
      </p:sp>
    </p:spTree>
    <p:extLst>
      <p:ext uri="{BB962C8B-B14F-4D97-AF65-F5344CB8AC3E}">
        <p14:creationId xmlns:p14="http://schemas.microsoft.com/office/powerpoint/2010/main" val="44500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시스템 확장성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시스템 및 자원의 증가분 대비 처리량의 증가분 비율 — ★2는 경쟁 기술(노드 독립 단순 offloading)이 보이는 '효율적' 수준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AthenaK (arXiv 2409.16053, 학습 workload) · USL 환산. 90% '효율적' 기준은 관례(정책)이며 인용 논문을 확인하지 못해 출처로 삼지 않았다</a:t>
            </a: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metric"/>
          <p:cNvSpPr txBox="1"/>
          <p:nvPr/>
        </p:nvSpPr>
        <p:spPr>
          <a:xfrm>
            <a:off x="365760" y="1069848"/>
            <a:ext cx="1143000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[Metric] SE(N) = Goodput 증가 배율 ÷ N 증가 배율  (N = 노드 수, 평가는 N=16 시뮬레이션)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USL 환산: SE(N) = 1 ÷ (1 + σ(N−1)), σ = 조율 계층의 직렬 비중. N=16에서 SE 80%↔σ 1.67%, 85%↔1.18%, 90%↔0.74%, 92.5%↔0.54%, 95%↔0.35%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Baseline 절대값(이론): B0·B1 모두 노드 독립이라 조율 비용이 없다 → SE 98%(부하 불균형 2% [가정]). 기준은 이상적 선형 확장 대비라 Baseline이 B0든 경쟁 기술(B1)이든 구간은 같다. 단 노드 독립 구조는 노드 간 공유 이득이 없다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- 구간 규칙: ★1 = Stakeholder 80% · ★2 = 90%(경쟁 기술 수준: 병렬 효율에서 '효율적'이라 부르는 관례, 손실 10% 이내) · ★3 = 95%(조율 계층을 두고도 손실 5% 이내) · 반 단계는 중점</a:t>
            </a:r>
          </a:p>
        </p:txBody>
      </p:sp>
      <p:graphicFrame>
        <p:nvGraphicFramePr>
          <p:cNvPr id="13" name="tbl"/>
          <p:cNvGraphicFramePr>
            <a:graphicFrameLocks noGrp="1"/>
          </p:cNvGraphicFramePr>
          <p:nvPr/>
        </p:nvGraphicFramePr>
        <p:xfrm>
          <a:off x="365760" y="2103120"/>
          <a:ext cx="11457432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600200"/>
                <a:gridCol w="6949440"/>
                <a:gridCol w="2221992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≥ 95%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 위의 우리 목표: 노드 간 KV 공유·조율 계층을 두고도 처리량 손실 5% 이내(16노드에서 15.2노드분 효과). 조율 계층 직렬 비중 σ ≤ 0.35%(USL 환산, 정책 선택)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USL 환산 / 정책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92.5 ≤ SE &lt; 95%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중점(손실 7.5%)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90 ≤ SE &lt; 92.5%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 수준: 처리량 손실 10% 이내(16노드에서 14.4노드분 효과), '효율적'이라 부르는 관례. 노드 독립 단순 offloading은 조율 비용이 없어 SE 98%지만 노드 간 공유 이득이 없다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선택, 이론 계산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 ≤ SE &lt; 90%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중점(손실 15%)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 ≤ SE &lt; 85%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요구: SE &gt; 80%. 문헌: 65,536 GPU에서 병렬 효율 80% 보고(AthenaK, 학습 workload라 서빙 SE와 의미가 다름)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요구사항, arXiv 2409.16053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&lt; 80%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 되지만 조율 계층이 병목. 시나리오 요구(80%) 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4261103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(SE %, N=16)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7"/>
            <a:ext cx="6803136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498847"/>
            <a:ext cx="6803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4616" y="4498847"/>
            <a:ext cx="113385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4498847"/>
            <a:ext cx="1133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4498847"/>
            <a:ext cx="1133856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4498847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82328" y="4498847"/>
            <a:ext cx="56692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4498847"/>
            <a:ext cx="566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5" y="4498847"/>
            <a:ext cx="566928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5" y="4498847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16184" y="4498847"/>
            <a:ext cx="1133856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16184" y="4498847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9152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100%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14616" y="4910327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48471" y="4910327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482328" y="4910327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49255" y="4910327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16184" y="4910327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7155179" y="4962905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7768" y="4928615"/>
            <a:ext cx="138074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 요구: SE &gt; 80%</a:t>
            </a:r>
          </a:p>
        </p:txBody>
      </p:sp>
      <p:sp>
        <p:nvSpPr>
          <p:cNvPr id="40" name="Oval 39"/>
          <p:cNvSpPr/>
          <p:nvPr/>
        </p:nvSpPr>
        <p:spPr>
          <a:xfrm>
            <a:off x="7164324" y="5159501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87768" y="5116067"/>
            <a:ext cx="22311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AthenaK: 65,536 GPU에서 병렬 효율 80% (학습)</a:t>
            </a:r>
          </a:p>
        </p:txBody>
      </p:sp>
      <p:sp>
        <p:nvSpPr>
          <p:cNvPr id="42" name="Isosceles Triangle 41"/>
          <p:cNvSpPr/>
          <p:nvPr/>
        </p:nvSpPr>
        <p:spPr>
          <a:xfrm>
            <a:off x="9422892" y="5342381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5303519"/>
            <a:ext cx="2185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'효율적' 보고 관례 90% (정책, 손실 10% 이내)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14616" y="5548121"/>
            <a:ext cx="340156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214616" y="5520689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616184" y="5520689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05171" y="5490971"/>
            <a:ext cx="233629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USL 환산 σ: 80%↔1.67% · 90%↔0.74% · 95%↔0.35%</a:t>
            </a:r>
          </a:p>
        </p:txBody>
      </p:sp>
      <p:sp>
        <p:nvSpPr>
          <p:cNvPr id="48" name="Oval 47"/>
          <p:cNvSpPr/>
          <p:nvPr/>
        </p:nvSpPr>
        <p:spPr>
          <a:xfrm>
            <a:off x="384048" y="5765291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724143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50" name="Diamond 49"/>
          <p:cNvSpPr/>
          <p:nvPr/>
        </p:nvSpPr>
        <p:spPr>
          <a:xfrm>
            <a:off x="1539748" y="5765291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58620" y="5724143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52" name="Isosceles Triangle 51"/>
          <p:cNvSpPr/>
          <p:nvPr/>
        </p:nvSpPr>
        <p:spPr>
          <a:xfrm>
            <a:off x="3028823" y="5765291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47695" y="5724143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54" name="Oval 53"/>
          <p:cNvSpPr/>
          <p:nvPr/>
        </p:nvSpPr>
        <p:spPr>
          <a:xfrm>
            <a:off x="3753358" y="5765291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72230" y="5724143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40364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변경 용이성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별 조건 = 변경 module 수 하나 (시나리오 평균) — 개발 공수 M/M은 module 수에서 환산한 값으로 병기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SWE-bench (arXiv 2310.06770) · vLLM 저장소 kv_connector/v1 직접 계수(최상위 파일 192~1,190 LOC, 중앙값 356) · DP1 qa4-preregistration(공식·상수 ASSUMED)</a:t>
            </a:r>
          </a:p>
        </p:txBody>
      </p:sp>
      <p:sp>
        <p:nvSpPr>
          <p:cNvPr id="13" name="metric"/>
          <p:cNvSpPr txBox="1"/>
          <p:nvPr/>
        </p:nvSpPr>
        <p:spPr>
          <a:xfrm>
            <a:off x="365760" y="106984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[변경 시나리오 3종, KV 캐시 관리 범위] </a:t>
            </a: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S1 새 메모리 tier 추가 · S2 이동·배치·재사용 정책 교체 · S3 vLLM upstream 갱신 대응(block pool, kv_offload, CUDA graph, async scheduling 접점 수정). 시나리오 단순 평균으로 판정. module = 설계 문서의 component 단위(한 줄이라도 바꾸면 1개).</a:t>
            </a:r>
          </a:p>
        </p:txBody>
      </p:sp>
      <p:graphicFrame>
        <p:nvGraphicFramePr>
          <p:cNvPr id="14" name="tbl"/>
          <p:cNvGraphicFramePr>
            <a:graphicFrameLocks noGrp="1"/>
          </p:cNvGraphicFramePr>
          <p:nvPr/>
        </p:nvGraphicFramePr>
        <p:xfrm>
          <a:off x="365760" y="1554480"/>
          <a:ext cx="11457432" cy="210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85800"/>
                <a:gridCol w="1463040"/>
                <a:gridCol w="1463040"/>
                <a:gridCol w="5532120"/>
                <a:gridCol w="231343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 module 수 (평균) = 판정 기준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환산 개발 공수 (M/M, 참고)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일상 변경 규모: SWE-bench 평균 패치 1.7 file(2개 이하). 0.4 MM ≈ 1인 2주 미만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(arXiv 2310.06770), 사전 등록 가정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중점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0.6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변경이 한 Plane/Layer 안에 머무는 규모(설계 component 12~14개의 약 1/4), 약 3주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0.8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중점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최소 충족선. 설계 component 12~14개 중 약 1/3(5개)까지만 바뀌면 '변경이 설계 일부에 국한된다'고 본다. 6개 이상이면 변경이 설계 전반으로 퍼져 확장 지점이 없는 구조로 판단. 5개 ≈ 1.0 MM = 1인 1개월(한 사람이 한 달 안에 끝낼 수 있는 상한)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사전 등록 component 목록, vLLM 저장소 LOC 계수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6개 이상이면 미충족(변경이 설계 전반으로 번짐). 기존 필드 의미 변경(Backend I/F, Event schema)은 module 수와 무관하게 미충족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5" name="formula"/>
          <p:cNvSpPr/>
          <p:nvPr/>
        </p:nvSpPr>
        <p:spPr>
          <a:xfrm>
            <a:off x="365760" y="3749039"/>
            <a:ext cx="11457432" cy="566928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mula_text"/>
          <p:cNvSpPr txBox="1"/>
          <p:nvPr/>
        </p:nvSpPr>
        <p:spPr>
          <a:xfrm>
            <a:off x="457200" y="3767328"/>
            <a:ext cx="112471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module 1개 = 고정 3일 + 24 LOC ÷ 40 LOC/일 × 테스트·리뷰 overhead 2.0 = 4.2일 = 0.2 MM  →  M/M = 0.2 × module 수  (21일/MM)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24 LOC/module: SWE-bench 평균 패치 32.8 line ÷ 1.7 file ≈ 19 LOC/file을 올림. 실측 대조: DP1 후보 구현 측정 1.75 module → 0.38 MM(환산 0.35), 2.5 module → 0.51 MM(환산 0.50). LOC는 실제 vLLM 통합 기준(시뮬레이터 proxy LOC는 ×5 환산).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52544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왜 module 수만 판정하나: </a:t>
            </a: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M/M이 module 수에서 계산되므로 둘은 독립이 아니다. 둘을 AND로 걸면 같은 정보를 두 번 세는 것이다. 판정은 module 수 하나로 하고, 각 경계가 몇 M/M인지는 환산해 보인다. 토큰 비용은 별점이 아니라 별도 참고 페이지(다음 장)에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09160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변경 module 수 (시나리오 평균) — 오른쪽일수록 별이 높다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0451" y="4946904"/>
            <a:ext cx="3239588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0451" y="4946904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0554" y="4946904"/>
            <a:ext cx="809897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0554" y="4946904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90657" y="4946904"/>
            <a:ext cx="80989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0657" y="4946904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0862" y="4946904"/>
            <a:ext cx="1619794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0862" y="4946904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1068" y="4946904"/>
            <a:ext cx="1619794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1068" y="4946904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46904"/>
            <a:ext cx="3239588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946904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205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0411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0617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0822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1028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1234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" y="522122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10451" y="5358384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00554" y="5358384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90657" y="5358384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70862" y="5358384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51068" y="5358384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946097" y="5417820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8013" y="5376672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SWE-bench 평균 패치 1.7 file (★3 경계 2 module ≈ 0.4 MM)</a:t>
            </a:r>
          </a:p>
        </p:txBody>
      </p:sp>
      <p:sp>
        <p:nvSpPr>
          <p:cNvPr id="46" name="Isosceles Triangle 45"/>
          <p:cNvSpPr/>
          <p:nvPr/>
        </p:nvSpPr>
        <p:spPr>
          <a:xfrm>
            <a:off x="6831221" y="5596128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63809" y="5559552"/>
            <a:ext cx="270205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★2 경계 3 module ≈ 0.6 MM · component 12~14개의 1/4</a:t>
            </a:r>
          </a:p>
        </p:txBody>
      </p:sp>
      <p:sp>
        <p:nvSpPr>
          <p:cNvPr id="48" name="Diamond 47"/>
          <p:cNvSpPr/>
          <p:nvPr/>
        </p:nvSpPr>
        <p:spPr>
          <a:xfrm>
            <a:off x="3591632" y="5774436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24220" y="5742432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★1 경계 5 module ≈ 1.0 MM(1인 1개월) · 설계 component 12~14개의 약 1/3</a:t>
            </a:r>
          </a:p>
        </p:txBody>
      </p:sp>
      <p:sp>
        <p:nvSpPr>
          <p:cNvPr id="50" name="Oval 49"/>
          <p:cNvSpPr/>
          <p:nvPr/>
        </p:nvSpPr>
        <p:spPr>
          <a:xfrm>
            <a:off x="384048" y="6012180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971032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52" name="Diamond 51"/>
          <p:cNvSpPr/>
          <p:nvPr/>
        </p:nvSpPr>
        <p:spPr>
          <a:xfrm>
            <a:off x="1539748" y="601218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58620" y="5971032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3028823" y="6012180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7695" y="5971032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56" name="Oval 55"/>
          <p:cNvSpPr/>
          <p:nvPr/>
        </p:nvSpPr>
        <p:spPr>
          <a:xfrm>
            <a:off x="3753358" y="601218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72230" y="5971032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12234013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시나리오 - Agent KV Fleet (DP1~4 공통)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근거: Llama-3.1-70B KV 327,680 B/token · H100×8 HBM 640 GiB, 가중치 약 131 GiB · prefill ≈ 25k tok/s(MFU 0.45) · DRAM 1 TiB, NVMe 16 GB/s(system-specs). 부하·idle 분포는 설계값[가정]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KV 캐시 관리만 대상(RAG·LoRA·MoE 제외). KV가 HBM·DRAM 용량을 넘고 재사용할 history가 있는 구간을 겨냥한 통합 시나리오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4261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5486400"/>
                <a:gridCol w="423367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 / 계산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모델·HW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 BF16, 8-GPU 노드(SYS-H100): HBM 640 GiB, DRAM 1 TiB(호스트 링크 64 GB/s), NVMe 16 GB/s. DP2·DP4는 4~16 노드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기존 평가 환경과 동일(비교 가능성). 노드 간 링크는 RDMA 50 GB/s [ASSUMED]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 모델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open-loop. 세션 idle 시간 지수분포 평균 60 s(tool·사용자 대기, 0.2 s~수 분), 컨텍스트 평균 16K, 턴당 +1K 입력·출력 256, 세션당 10~20턴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16K 세션 KV = 327,680 B × 16,384 ≈ 5.0 GiB. 동시 세션 수 = λ × (idle + 응답) ≈ 250~450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압박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640 GiB 중 KV 풀(가중치·활성값 제외) ≈ 425 GiB(≈85 세션분) + DRAM 922 GiB(≈184 세션분). 동시 세션 KV가 HBM+DRAM(1.35 TiB)을 넘으면 SSD가 쓰인다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반환 세션이 HBM/DRAM/SSD에서 발견될 확률은 LRU stack distance로 계산(idle ~ Exp(60 s))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세션 간 공유 문서 청크 30%, 그중 50%는 non-prefix 위치. 선택 재계산 15% 토큰 [가정]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재사용·선택 재계산이 겨냥하는 조건. B0·경쟁 기술은 세션마다 복제 저장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부하 구간·SLO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Q1: 부하 sweep의 Max SLO goodput(이용률 상한 0.8 [가정]). Q3: 일반 부하 = B0 포화 부하의 50%, 고부하 = 90% 두 점에서 TTFT·TPOT P99를 잰다(별점은 고부하의 B0 대비 r, 일반 부하는 열화 확인용). SLO: TTFT P99 ≤ 2 s, TPOT P99 ≤ 50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이론값 TTFT P99(일반→고부하): B0 0.40→3.22 s(×8, 고부하에서 SLO 초과), B1 0.71→0.89 s. Q4: 노드 2→16 sweep, SE(16)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Baseline: B0 GPU-only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 기본: HBM prefix cache + preemption recompute, DRAM·SSD 사용 없음. 모든 별 기준은 B0 대비 변화량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HBM에 없으면 16K 재prefill ≈ 0.65 s. '스케줄링도 offload도 없는' 하한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기술: 단순 offloading (B1, 경쟁 기술의 이론 대리)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HBM이 차면 LRU로 DRAM, DRAM이 차면 SSD로 이동(턴 종료 시 증분만 기록하는 write-through, 축출은 복사 없이 삭제). 요청 시 동기 복원, prefetch·예측·배치 정책 없음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LMCache류 CPU offload를 SSD 계층까지 확장한 정의. 이론값 B1 = B0의 ×2.35: LMCache 단일 노드 하한(2.3x)과 같은 수준이지만 문헌 8건 중앙값(4x)보다는 낮다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반복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분석 모델은 결정적(deterministic). 시뮬레이션 전환 시 seed ≥ 5, median, 95% CI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단일 seed로 별점을 매기지 않는다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715000"/>
            <a:ext cx="114300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조건부 별: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이 시나리오는 KV가 HBM·DRAM을 넘고 재사용할 history가 있는 구간을 의도적으로 겨냥한다(문헌이 이득을 보고한 조건과 같은 영역). 시나리오 한계: 단순 offloading의 이론값은 지연(Q3)에서 문헌 수준(r 2.0)에 놓이지만 처리량(Q1)에서는 ×2.35로 문헌 하단이다. 이 시나리오는 세션별 히스토리 재사용만 있어 처리량 이론 상한이 ×4.0이라, ★3(8x)는 공유 캐시·고 적중 regime(문헌)에서만 가능하다. 값은 분석 모델의 예상값이며 시뮬레이션 전이다.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시나리오 - 구간(Phase)과 DP·QA 대응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N 노드 확장(P4)은 별도 run(N = 2, 4, 8, 16, 세션 수 ∝ N). 모든 값은 분석 모델 기반 설계값이다.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한 시나리오 안에서 DP별 메커니즘이 작동하는 구간을 나누고, QA별 측정 규칙을 정한다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566160"/>
                <a:gridCol w="5029200"/>
                <a:gridCol w="139903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Phase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 내용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겨냥하는 DP 메커니즘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P1 정상 multi-turn
(0~10분)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agent 세션이 idle을 두고 턴을 이어 감. 유휴 KV가 HBM을 점유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DP1: 유휴 KV 하위 tier 이동(demote)과 재개 시 승격·prefetch. 1안 = 자원 상태 기반, 2안 = 데이터 접근 특성 기반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Q1, Q2, Q3, Q5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P2 burst
(10~15분)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세션 3배 폭주 + 기존 세션 decode가 겹침(prefill burst + decode-heavy)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DP2: Prefill/Decode 실행 위치 결정. 1안 = 스케줄링 시점 결정, 2안 = 사전 계획 결정(Re-plan 위험)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Q1, Q2, Q3, Q4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P3 공유 문서 wave
(15~25분)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 문서 청크를 여러 세션이 연달아 참조(non-prefix 50%)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DP3: 재사용·재계산 대상 선정. 1안 = Pipe-and-Filter(요청마다 체인), 2안 = Shared Repository(분석 1회 + 조회), 둘 다 선택 재계산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Q1, Q2, Q3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P4 노드 확장
(별도 run)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2→16, 세션 수 ∝ 노드 수. 노드 간 KV 블록 조회·소유권 이동 발생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DP4: 서버 간 KV 공유. 1안 = 중앙 서버 중재, 2안 = 락 기반 직접 접근. CXL 공유 풀이 SSD를 대체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Q1, Q3, Q4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
(구현 측정)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 새 메모리 tier · S2 정책 교체 · S3 vLLM upstream 갱신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모든 DP 후보의 module 수 (시나리오 평균, M/M 환산 병기)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480560"/>
            <a:ext cx="1143000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측정 규칙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Q1: 부하 sweep 최댓값끼리 R = 후보 ÷ B0 · Q2: HBM 상주 KV 시간 평균의 B0 대비 감소율 · Q3: B0 포화 부하의 90%에서 TTFT·TPOT P99로 r 계산(B0 대비)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Q4: 노드 2→16 sweep, SE(16) = goodput 배율 ÷ 노드 배율 · Q5: 변경 시나리오 3종을 각 후보에 구현해 module 수 평균(M/M 환산 병기)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경쟁 기술(단순 offloading)은 판정 기준이 아니라 ★2 앵커와 비교용이다. 기준·시나리오 값은 결과를 보기 전에 고정한다. 기존 중립 벤치마크 시뮬 결과는 md의 참고 표에만 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Baseline(GPU-only)과 경쟁 기술(단순 offloading) 절대 수치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분석 모델: theory_model.py (GPU 한계 · DRAM 링크 51 GB/s · SSD 링크 12.8 GB/s 중 최솟값 × 이용률 0.8). 시뮬레이션이 아니며 후보 파라미터는 [가정]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모든 별 기준은 B0(GPU-only) 대비 변화량. 경쟁 기술(B1)의 이론값이 어느 별에 놓이는지 확인용으로 병기 (이론 계산, Agent KV Fleet, SYS-H100)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30358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600200"/>
                <a:gridCol w="2148840"/>
                <a:gridCol w="1737360"/>
                <a:gridCol w="2103120"/>
                <a:gridCol w="914400"/>
                <a:gridCol w="914400"/>
                <a:gridCol w="85039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범위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B0 GPU-only (Baseline)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 기술 B1 (이론)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노드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1,058 (×2.35,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901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1,802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3,605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4노드 (P2+D2 고정)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901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2,117 (×2.35)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1,802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3,605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7,209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4노드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1,601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2,973 (×1.86)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3,202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6,403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12,806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HBM 효율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노드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상주 KV (GiB, 낮을수록 좋음)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 (0%, ☆: LRU가 HBM을 채움)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340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255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170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4노드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상주 KV (GiB)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680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510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340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B0 포화 부하 90%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(s) / TPOT P99 (ms)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3.22 s / 26.2 ms (SLO 초과)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0.89 s / 21.6 ms (r 2.10,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≤ 1.57 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0.80 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0.36 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N=16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(%)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 (노드 독립, ★3)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80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90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95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Q5 변경 용이성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구현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수 (환산 M/M)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≤5 (≈1.0)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≤3 (≈0.6)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≤2 (≈0.4)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5577840" cy="2194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Baseline과 경쟁 기술 정의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B0 GPU-only(Baseline): vLLM 기본. KV가 HBM에 없으면 16K 재prefill(≈0.65 s). 스케줄링도 offload도 없음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경쟁 기술 B1(단순 offloading): HBM이 차면 LRU로 DRAM, DRAM이 차면 SSD로 이동. 턴 종료 시 증분만 write-through, 요청 시 동기 복원, prefetch·예측 없음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DP2의 B0는 P/D 고정 역할, DP4의 B0·B1은 노드 독립(교차 라우팅 25%는 재계산)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297680"/>
            <a:ext cx="5669280" cy="2194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★1 = Stakeholder 요구(B0 대비), ★2 = 경쟁 기술 문헌 대표값, ★3 = 경쟁 기술 위 목표(Q1은 문헌 상위권 8x, Q2·Q3는 ★2 × 1.5). 수치는 모두 B0 대비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경쟁 기술(B1) 이론값: Q1 ×2.35(★1, 문헌 중앙값 4x에는 못 미침), Q3 r 2.10(★2). Q1은 이 시나리오의 이론 상한(×4.0)이 ★3(8x)보다 낮아 ★3에 도달할 수 없다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Q2는 예외: 정적 LRU offload는 HBM을 캐시로 채워 감소 0%다. ★2의 40%는 HBM 절감을 목적으로 한 offload 문헌(DirectKV 등)의 값이다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이론 상한: 처리량은 GPU 한계로 B1의 1.7x(= B0의 ×4.0), HBM은 ≈88% 절감, TTFT는 prefill(≈41 ms)까지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이론 계산 기반 예상값 산출 방식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코드: doc-mk/QA-criteria-v4/theory_model.py. 후보 파라미터는 덱의 장단점과 DP1 요구 수치(prefetch 적중 ≥ 60~70%, 낭비 ≤ 30%)에서 방향만 가져온 [가정]이며 시뮬레이션으로 교체한다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B0·B1은 물리 한계에서 계산하고, 후보는 같은 식에 설계 파라미터만 바꿔 넣는다 (시뮬레이션 아님)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5669280" cy="2743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계산 구조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① 반환 세션 hit: LRU stack distance. idle ~ Exp(60 s), 그 사이 서로 다른 세션 λT개 접근 → HBM(85 세션분)·DRAM(184 세션분)에서 발견될 확률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② 처리 한계 λ = min(GPU 1/0.113 s, DRAM 링크 51 GB/s ÷ 이동 바이트, SSD 링크 12.8 GB/s ÷ 이동 바이트). B0는 miss마다 0.65 s 재계산. Max SLO goodput = 0.8 × 256 tok × λ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③ 이동 바이트 = miss × (1−π) 동기 복원 + miss × π × (1+ω) prefetch + w × miss write-back (π 적시율, ω 낭비, w write-back 비율; B1은 w=0.1 증분 기록)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④ 고부하 = B0 포화 부하의 90%. TTFT P99 = 새 입력 prefill 41 ms + 결정 지연 + 99% 복원 경로 ÷ (1 − 링크 이용률). TPOT P99 = 18.1 ms × (1 + 0.5 × 이용률)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⑤ SE(16) = min(1, 결정 용량 ÷ 요구 결정률). 결정 비용은 후보 수에 선형(2 ms × N) [기존 평가의 ASSUMED]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69848"/>
            <a:ext cx="5577840" cy="2743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맑은 고딕"/>
                <a:ea typeface="맑은 고딕"/>
              </a:rPr>
              <a:t>한계(정직하게)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후보 파라미터(θ, π, ω, watermark, u_P …)는 가정이다. 값이 바뀌면 별이 바뀐다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시나리오는 단순 offloading 이론값이 Q3(r 2.0)에서 문헌 수준이 되도록 정했다. Q1은 문헌 하단(×2.35)이며 이 선택 자체가 설계 선택이다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큐잉은 링크 이용률 1/(1−ρ)로 근사했다. 연속 배칭·chunked prefill의 세부는 반영하지 않았다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이용률 상한 0.8, idle 평균 60 s, 공유 문서 30%는 설계값이다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DP2·DP4는 4노드 요약 모델이다. 결정 용량·제어 평면 지연은 기존 평가의 상수를 썼다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3840480"/>
          <a:ext cx="11457432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1234440"/>
                <a:gridCol w="777240"/>
                <a:gridCol w="960120"/>
                <a:gridCol w="640080"/>
                <a:gridCol w="1737360"/>
                <a:gridCol w="914400"/>
                <a:gridCol w="345643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θ 배치 효율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 write-back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π prefetch 적시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ω 낭비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추가 GPU·결정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HBM watermark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근거(덱 장단점·요구 수치)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B1 경쟁 기술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정의상 정적 LRU, 증분 write-through, 동기 복원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1안 자원 상태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결정 3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임계 trigger로 HBM 압박 구간 단축, 접근 특성 구분 한계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2안 데이터 특성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접근 특성 기반 이동·prefetch(요구 70%에서 낭비 차감), snapshot stale로 HBM 확보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1안 스케줄링 시점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유휴 P 노드 활용 u_P 0.2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결정 8 ms(2 ms × N)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실시간 상태 반영, 결정 지연이 critical path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2안 사전 계획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u_P 0.5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Re-plan P99 +40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결정은 critical path 밖, 고부하 시 Re-plan(31%), plan 예약으로 HBM 여유 필요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1안 Pipe-and-Filter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dedup 0.70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+27 ms, 체인 tail 25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관련 KV만 보유(HBM↓), 요청마다 체인 중복 계산, 고부하 tail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2안 Shared Repository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dedup 0.70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+3 ms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분석 1회+조회라 처리량·tail 유리, 재사용 KV·위치 사전 보유로 점유↑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1안 / 2안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 풀이 SSD 대체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RPC 7 µs / 락 P99 804 µs × 4 op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유효 63 GB/s, 교차 라우팅 25% 재계산 제거, 제어 평면은 요청당 ms 이하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환경과 시뮬레이션 정의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doc-mk/Evaluation/DP4/sim (DESIGN_NOTES.md, simulation-plan.md), system-specs.md, project-context GC-1·GC-9. 별점·표 수치는 theory_model.py 이론 예상값, 시뮬레이터 실행 결과는 DP4/results/2026-10-25_dp4-agent-kv-fleet.md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무엇이 실장 장비이고 무엇이 시뮬레이션인지, DP4 시뮬레이터가 무엇을 모델링하는지, 이번 수치가 어디서 나왔는지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17739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4572000"/>
                <a:gridCol w="3108960"/>
                <a:gridCol w="3136392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환경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실장 / 시뮬레이션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수치 산출 (이 덱)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H100×8 1노드, HBM 640 GiB · DRAM 1 TiB · NVMe 16 GB/s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모두 실장 장비 구성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 예상값(분석 모델)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H100×8 4노드(P 2 + D 2 고정 역할이 Baseline), 노드 간 링크 RDMA 50 GB/s [ASSUMED]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노드·메모리는 실장 구성, 노드 간 링크는 가정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 예상값(분석 모델)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H100×8 1노드(DP1과 같은 구성)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모두 실장 장비 구성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 예상값(분석 모델)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H100×8 4노드 + CXL 공유 메모리 풀 8 TiB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노드는 실장, CXL 풀은 장비가 없어 시뮬레이션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덱 수치는 이론 예상값. DP4 시뮬레이터로 Agent KV Fleet 실행 완료(별도 결과 문서, Baseline-RDMA 대비)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063240"/>
            <a:ext cx="5669280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DP4 시뮬레이터(레포 doc-mk/Evaluation/DP4/sim)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방식: 이산 사건 시뮬레이터(DES). P/D 분리 클러스터에서 세 가지 구성(Baseline-RDMA, 중앙 직렬화 C1, 분산 락 C2)을 같은 요청 흐름으로 비교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링크: 선입선출 유체 서버(FIFO fluid server). 노드 egress/ingress, CXL 풀 집계 대역폭을 공유 자원으로 모델링, 활성 전송은 공정 분할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decode: processor sharing. prefill·decode 단계 시간은 DP1 모델(`dp1_bridge`)을 그대로 가져와 DP 간 물리가 같다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제어 평면: lookup · publish · pin · unpin 연산별 지연. 중앙 RPC 약 2~7 µs, 분산 락 2.6~804 µs(P99)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파라미터: 전부 값·범위·출처(PAPER / SPEC / ASSUMED)를 기록. 결과를 본 뒤 바꾸지 않는다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반복: seed 5개(11, 23, 37, 53, 71), 부하 격자 ×0.5~×8, 95% 신뢰구간, 요청별 SLO로 goodput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063240"/>
            <a:ext cx="5577840" cy="3383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CXL 풀 모델과 가정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풀 8 TiB, 노드당 어댑터 2개(PCIe 5.0 x16, 각 63 GB/s), 풀 집계 1 TB/s, 유효 효율 0.5 [ASSUMED] → 노드 유효 약 63 GB/s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접근 지연은 제어 평면 비용과 데이터 이동 시간으로 반영. 풀 용량 한계와 HBM OOM은 미반영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미반영: CXL 스위치 혼잡, 메모리 뱅크 경합, 락 매니저 스레드의 CPU 스케줄링 간섭, 풀 장치 장애, 전력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맑은 고딕"/>
                <a:ea typeface="맑은 고딕"/>
              </a:rPr>
              <a:t>이번 수치의 위치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이 덱의 별점·표 값은 theory_model.py 이론 예상값이다(GPU-only B0 기준). 시뮬레이터 Baseline-RDMA는 B0도 B1도 아니라(HBM 용량 압박·DRAM/SSD tier 미모델링) 직접 대체하지 않는다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시뮬레이터 실행(2026-10-25, Agent KV Fleet 16K/10턴/노드 2~16, seeds 5): Baseline-RDMA 대비 goodput H100 x1.00(N=4)·x1.2(N=8)·x1.4(N=16), B200 x0.51(CXL ingress 포화). 상세 DP4/results/2026-10-25_dp4-agent-kv-fleet.md. 이론 모델과는 기준·유휴 모델(sim 8 s vs 60 s)이 달라 대조 불가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노드·HBM·DRAM·SSD는 실장 장비라 DP1·DP3와 B0·B1 값은 실측으로 검증해 모델 파라미터를 보정할 수 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DP1. Data Migration 결정 구조 — Trade-off 평가 결과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예상값은 theory_model.py 분석 모델(시뮬레이션 아님, 후보 파라미터 [가정]). 별은 GPU-only 대비 새 기준(5구간) 적용 결과이고 괄호는 소유자 trade-off 별. 구간·근거는 평가 기준 페이지 참조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평가 환경·시나리오와 GPU-only(B0)·단순 offloading(경쟁 기술) 대비 개선 요약 (이론 계산 기반 예상값)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환경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1 노드: H100×8(HBM 640 GiB), DRAM 1 TiB(호스트 링크 64 GB/s), NVMe 16 GB/s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Llama-3.1-70B BF16, SYS-H100. Baseline B0 = GPU-only, 경쟁 기술 B1 = 단순 offloading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Agent KV Fleet P1 정상 multi-turn: 컨텍스트 16K, 턴당 +1K·출력 256, idle 평균 60 s(open-loop)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동시 세션 ≈ 250~450 → KV 1.3~2.2 TiB(HBM 전체 640 GiB 중 KV 풀 425 GiB의 3~5배, HBM+DRAM도 초과)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2194560"/>
          <a:ext cx="11457432" cy="2907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011680"/>
                <a:gridCol w="1554480"/>
                <a:gridCol w="1783080"/>
                <a:gridCol w="2505456"/>
                <a:gridCol w="250545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평가했나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B0 GPU-only (Baseline)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 기술 (단순 offloading)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1안 상태 관측+이동 결정 통합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2안 관측·결정 분리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SLO(TTFT ≤ 2 s, TPOT ≤ 50 ms) 만족 Max goodput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451 tok/s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1,058 tok/s (×2.35,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1,107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×2.46 · 경쟁 기술 대비 +5%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 (소유자 ★1.5)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1,115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×2.47 · 경쟁 기술 대비 +5%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HBM 효율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상주 KV 시간 평균(GiB), 같은 부하·SLO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 GiB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 GiB (0%, ☆)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340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-20% · 경쟁 기술 대비 -20%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404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-5% · 경쟁 기술 대비 -5%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☆ (소유자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B0 포화 부하의 90%에서 TTFT·TPOT P99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3.22 s · TPOT 26.2 ms (SLO 초과)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0.89 s · TPOT 21.6 ms (r 2.10,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0.87 s · TPOT 21.4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2.13(TTFT -73%) · 경쟁 기술 대비 TTFT -2%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 (소유자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0.86 s · TPOT 21.4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2.14(TTFT -73%) · 경쟁 기술 대비 TTFT -3%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Q5 변경 용이성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 평균 module 수 (기존 구현 측정, M/M은 환산 병기)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 module · 0.38 MM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절대 기준(경쟁 기술 비교 없음)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2.5 module · 0.51 MM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절대 기준(경쟁 기술 비교 없음)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★2.5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212080"/>
            <a:ext cx="11457432" cy="868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239512"/>
            <a:ext cx="1124712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요약 (심사용)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GPU-only(B0) 대비 처리량 ×2.46(1안)·×2.47(2안), TTFT P99 r 2.13·2.14로 경쟁 기술(단순 offloading, ×2.35·r 2.10)과 같은 수준이다(처리량 ★1, 지연 ★2). 경쟁 기술 대비 처리량 +5%·+5%, TTFT -2%·-3%.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1안(자원 상태 기반)은 HBM -20%(★1)로 자원 효율에서, 2안(데이터 특성 기반)은 prefetch(적시 60%)로 지연에서 앞선다. 링크 병목 구간에서는 prefetch가 바이트를 줄이지 못해 처리량 이득이 작다.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DP2. 연산(Prefill/Decode) 실행 위치 결정 구조 — Trade-off 평가 결과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예상값은 theory_model.py 분석 모델(시뮬레이션 아님, 후보 파라미터 [가정]). 별은 GPU-only 대비 새 기준(5구간) 적용 결과이고 괄호는 소유자 trade-off 별. 구간·근거는 평가 기준 페이지 참조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평가 환경·시나리오와 GPU-only(B0)·단순 offloading(경쟁 기술) 대비 개선 요약 (이론 계산 기반 예상값)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환경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H100×8 4노드 클러스터(실장 구성 기준): B0 = P 2대 + D 2대 고정 역할 GPU-only, B1 = 같은 구성 + 노드별 단순 offloading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노드 간 링크 RDMA 50 GB/s [ASSUMED], 결정 비용은 후보 수에 선형(2 ms × N). 수치는 이론 예상값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Agent KV Fleet P2 burst: 신규 세션 3배 폭주 + decode 중첩. 동적 배치가 유휴 P 노드의 tier·링크를 쓰는 정도 평가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확장성은 N=16 sweep(scheduler 결정 용량 대 요구 결정률)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2194560"/>
          <a:ext cx="11457432" cy="2907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011680"/>
                <a:gridCol w="1554480"/>
                <a:gridCol w="1783080"/>
                <a:gridCol w="2505456"/>
                <a:gridCol w="250545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평가했나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B0 GPU-only (Baseline)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 기술 (단순 offloading)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1안 스케줄링 시점 결정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2안 사전 계획 결정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SLO(TTFT ≤ 2 s, TPOT ≤ 50 ms) 만족 Max goodput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901 tok/s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2,117 tok/s (×2.35,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2,667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×2.96 · 경쟁 기술 대비 +26%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3,254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×3.61 · 경쟁 기술 대비 +54%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HBM 효율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상주 KV 시간 평균(GiB), 같은 부하·SLO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850 GiB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850 GiB (0%, ☆)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722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-15% · 경쟁 기술 대비 -15%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☆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782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-8% · 경쟁 기술 대비 -8%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☆ (소유자 ★1.5)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B0 포화 부하의 90%에서 TTFT·TPOT P99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3.22 s · TPOT 26.2 ms (SLO 초과)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0.89 s · TPOT 21.6 ms (r 2.10,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0.74 s · TPOT 21.0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2.33(TTFT -77%) · 경쟁 기술 대비 TTFT -17%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0.75 s · TPOT 20.4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2.35(TTFT -77%) · 경쟁 기술 대비 TTFT -16%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 (소유자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SE(N=16) = goodput 배율 ÷ 노드 배율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98%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98%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38%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B0·경쟁 기술 대비 -60%p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☆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97%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B0·경쟁 기술 대비 -1%p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★3)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212080"/>
            <a:ext cx="11457432" cy="868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239512"/>
            <a:ext cx="1124712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요약 (심사용)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GPU-only(P/D 고정, B0) 대비 처리량 ×2.96(1안)·×3.61(2안)로 경쟁 기술(×2.35)을 넘지만 문헌 중앙값(4x)에는 못 미쳐 ★1.5~★1.5. 유휴 P 노드의 tier·링크를 더 쓰는 2안이 앞선다.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확장성은 1안이 단일 scheduler 결정 용량에 막혀 N=16에서 SE 38%, 2안은 worker 분산으로 97%. HBM은 두 안 모두 -8%~-15%로 ★1(20%) 미달.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DP3. KV 캐시 재사용 구조 — Trade-off 평가 결과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예상값은 theory_model.py 분석 모델(시뮬레이션 아님, 후보 파라미터 [가정]). 별은 GPU-only 대비 새 기준(5구간) 적용 결과이고 괄호는 소유자 trade-off 별. 구간·근거는 평가 기준 페이지 참조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평가 환경·시나리오와 GPU-only(B0)·단순 offloading(경쟁 기술) 대비 개선 요약 (이론 계산 기반 예상값)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환경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1 노드(DP1과 같은 HW). 압축은 범위 밖, 선택 재계산만 사용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Llama-3.1-70B BF16, SYS-H100. B0 = GPU-only, B1 = 단순 offloading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Agent KV Fleet P3 공유 문서 wave: 컨텍스트의 30%가 세션 간 공유 문서(그중 50% non-prefix)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B0·B1은 세션마다 복제 저장, DP3는 1회 보관 + 선택 재계산(15% 토큰) [가정]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2194560"/>
          <a:ext cx="11457432" cy="22494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011680"/>
                <a:gridCol w="1554480"/>
                <a:gridCol w="1783080"/>
                <a:gridCol w="2505456"/>
                <a:gridCol w="250545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평가했나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B0 GPU-only (Baseline)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 기술 (단순 offloading)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1안 Pipe-and-Filter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2안 Shared Repository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SLO(TTFT ≤ 2 s, TPOT ≤ 50 ms) 만족 Max goodput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451 tok/s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1,058 tok/s (×2.35,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1,462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×3.25 · 경쟁 기술 대비 +38%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1,512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×3.36 · 경쟁 기술 대비 +43%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★2.5)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HBM 효율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상주 KV 시간 평균(GiB), 같은 부하·SLO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 GiB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425 GiB (0%, ☆)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255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-40% · 경쟁 기술 대비 -40%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 (소유자 ★3)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319 GiB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-25% · 경쟁 기술 대비 -25%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B0 포화 부하의 90%에서 TTFT·TPOT P99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3.22 s · TPOT 26.2 ms (SLO 초과)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0.89 s · TPOT 21.6 ms (r 2.10,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0.58 s · TPOT 20.6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2.65(TTFT -82%) · 경쟁 기술 대비 TTFT -35%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★2.5 (소유자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0.54 s · TPOT 20.5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2.76(TTFT -83%) · 경쟁 기술 대비 TTFT -39%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★2.5 (소유자 ★2.5)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553712"/>
            <a:ext cx="11457432" cy="868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81144"/>
            <a:ext cx="1124712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요약 (심사용)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두 안 모두 공유 문서를 1회만 보관(−30%)해 GPU-only 대비 처리량 ×3.25~×3.36(★1.5), TTFT P99 r 2.65~2.76(★2.5). 경쟁 기술(×2.35) 대비 처리량 +38%~+43%.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HBM은 1안 -40%(관련 KV만 보유, ★2), 2안 -25%(사전 보유, ★1). 안 간 처리량 차이는 링크 병목 구간이라 거의 없고, 1안의 고부하 tail 발산은 B0 포화 90% 부하에서는 나타나지 않는다.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DP4. 서버 간 KV 캐시 공유 구조 — Trade-off 평가 결과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예상값은 theory_model.py 분석 모델(시뮬레이션 아님, 후보 파라미터 [가정]). 별은 GPU-only 대비 새 기준(5구간) 적용 결과이고 괄호는 소유자 trade-off 별. 구간·근거는 평가 기준 페이지 참조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평가 환경·시나리오와 GPU-only(B0)·단순 offloading(경쟁 기술) 대비 개선 요약 (이론 계산 기반 예상값)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환경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H100×8 4노드(실장) + CXL 공유 풀 8 TiB(풀 장비가 없어 시뮬레이션 대상, 노드당 유효 63 GB/s). B0·B1은 노드 독립(SSD 16 GB/s)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교차 라우팅 25%는 B0·B1에서 재계산, 후보는 풀에서 공유. 풀·제어 평면은 DP4 시뮬레이터 구조와 파라미터를 따르는 이론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623560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Agent KV Fleet P4 노드 확장: 2→16 노드(세션 ∝ 노드), 노드 간 KV 블록 조회·소유권 이동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000000"/>
                </a:solidFill>
                <a:latin typeface="맑은 고딕"/>
                <a:ea typeface="맑은 고딕"/>
              </a:rPr>
              <a:t>• 제어 평면: 중앙 RPC ≈ 7 µs vs 분산 락 P99 ≈ 804 µs (요청당 4 op)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2194560"/>
          <a:ext cx="11457432" cy="22494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011680"/>
                <a:gridCol w="1554480"/>
                <a:gridCol w="1783080"/>
                <a:gridCol w="2505456"/>
                <a:gridCol w="250545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평가했나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B0 GPU-only (Baseline)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경쟁 기술 (단순 offloading)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1안 중앙 서버 중재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2안 락 기반 직접 접근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SLO(TTFT ≤ 2 s, TPOT ≤ 50 ms) 만족 Max goodput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1,601 tok/s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2,973 tok/s (×1.86, ☆)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4,941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×3.09 · 경쟁 기술 대비 +66%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★2.5)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4,941 tok/s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×3.09 · 경쟁 기술 대비 +66%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★1.5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B0 포화 부하의 90%에서 TTFT·TPOT P99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3.22 s · TPOT 26.2 ms (SLO 초과)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1.36 s · TPOT 23.0 ms (r 1.64, ★1)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0.36 s · TPOT 21.1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3.36(TTFT -89%) · 경쟁 기술 대비 TTFT -74%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0.36 s · TPOT 21.1 ms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 대비 r 3.34(TTFT -89%) · 경쟁 기술 대비 TTFT -74%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★1.5)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SE(N=16) = goodput 배율 ÷ 노드 배율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98%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98% (노드 독립)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99%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B0·경쟁 기술 대비 +1%p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★2)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99%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B0·경쟁 기술 대비 +1%p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★3 (소유자 ★3)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553712"/>
            <a:ext cx="11457432" cy="868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81144"/>
            <a:ext cx="1124712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요약 (심사용)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CXL 공유 풀이 SSD(16 GB/s)를 대체하고 교차 라우팅 재계산을 없애 GPU-only 대비 처리량 ×3.09(★1.5), TTFT P99 r 3.36(★3). 경쟁 기술 대비 처리량 +66%.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두 안의 제어 평면 차이(중앙 RPC 7 µs vs 락 P99 804 µs)는 요청당 수 ms 이하라 성능이 거의 같고, N=16에서 SE 99%로 동일하다. 소유자가 예상한 락 기반의 확장 우위는 이 규모에서는 드러나지 않는다.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Trade-off 별 ↔ 평가 기준 구간 ↔ 이론 예상값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예상값 = theory_model.py 분석 모델(시뮬레이션 아님). 붉은 글씨 = 예상값이 소유자 별 구간보다 낮음, 파란 글씨 = 같거나 높음. 기존 중립 벤치마크 시뮬 값은 qa-criteria-v4.md 참조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DP 후보별 소유자 별이 새 기준(GPU-only 대비)의 어떤 수치 구간에 해당하는지, 이론 예상값은 어디에 놓이는지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39136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1965960"/>
                <a:gridCol w="1965960"/>
                <a:gridCol w="1965960"/>
                <a:gridCol w="1783080"/>
                <a:gridCol w="1764792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 / 안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Q2 HBM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Q3 고부하 지연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Q5 변경 용이성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1안 상태 관측+이동 결정 통합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★1.5 → 2.8~4.0x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451→1,107 tok/s (×2.46) → ★1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40~50%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425→340 GiB (−20%) → ★1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→ r 1.43~1.7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3.2→0.9 s (r 2.13) → 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≤3(≈0.6)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1.75m·0.38MM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2안 관측·결정 분리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4.0~5.7x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451→1,115 tok/s (×2.47) → ★1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→ 20~30%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425→404 GiB (−5%) → ☆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r 2.0~2.45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3.2→0.9 s (r 2.14) → 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≤3(≈0.6)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2.5m·0.51MM → ★2.5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1안 스케줄링 시점 결정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→ 2.0~2.8x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901→2,667 tok/s (×2.96)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40~50%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850→722 GiB (−15%) → ☆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r 2.0~2.45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3.2→0.7 s (r 2.33) → 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90~92.5%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SE 98→38% → ☆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2안 사전 계획 결정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4.0~5.7x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901→3,254 tok/s (×3.61)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★1.5 → 30~40%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850→782 GiB (−8%) → ☆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→ r 1.43~1.7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3.2→0.7 s (r 2.35) → 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★3 → ≥95%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SE 98→97%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1안 Pipe-and-Filter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4.0~5.7x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451→1,462 tok/s (×3.25)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★3 → ≥60%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425→255 GiB (−40%) → ★2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→ r 1.43~1.7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3.2→0.6 s (r 2.65) → ★2.5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2안 Shared Repository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★2.5 → 5.7~8.0x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451→1,512 tok/s (×3.36)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40~50%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425→319 GiB (−25%) → ★1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★2.5 → r 2.45~3.0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3.2→0.5 s (r 2.76) → ★2.5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1안 중앙 서버 중재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★2.5 → 5.7~8.0x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1,601→4,941 tok/s (×3.09)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r 2.0~2.45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3.2→0.4 s (r 3.36)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90~92.5%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SE 98→99%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2안 락 기반 직접 접근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→ 4.0~5.7x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1,601→4,941 tok/s (×3.09) → ★1.5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★1.5 → r 1.7~2.0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TTFT 3.2→0.4 s (r 3.34)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★3 → ≥95%</a:t>
                      </a:r>
                    </a:p>
                    <a:p>
                      <a:pPr algn="l"/>
                      <a:r>
                        <a:rPr sz="720" b="0">
                          <a:solidFill>
                            <a:srgbClr val="2F5597"/>
                          </a:solidFill>
                          <a:latin typeface="맑은 고딕"/>
                          <a:ea typeface="맑은 고딕"/>
                        </a:rPr>
                        <a:t>SE 98→99% → ★3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20640"/>
            <a:ext cx="11430000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굵은 줄: 소유자 별과 그 별이 요구하는 새 기준 구간. 작은 줄: 이론 예상값(B0 → 후보)과 새 기준으로 환산한 별. 경쟁 기술(B1)은 Q1 ★1(×2.35), Q3 ★2(r 2.10), Q2 ☆, Q4 ★3.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소유자 별과 ±0.5 이내로 맞는 칸: 11 / 28. 후보 간 순위가 소유자 평가와 같은 곳: DP1 Q2(뚜렷), DP2 Q1·Q2·Q4, DP3 Q2. DP1 Q1·Q3는 같은 방향이나 차이가 1% 미만.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어긋나는 곳(예상값에서 두 안이 사실상 같음): DP2 Q3, DP3 Q1·Q3, DP4 Q1·Q3·Q4. 소유자는 안 간 차이를 예상했다. 파라미터를 바꾸면 달라지는 값이며 가정은 방법 페이지에 적었다.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변경 용이성 - 에이전트 토큰 비용 (참고 지표, 별점 아님)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산식·상수: DP1 qa4-preregistration M3(상수는 ASSUMED, 가격만 현행 Sonnet 5.5로 교체) · 가격: Anthropic 공개 가격표 Sonnet 5.5 입력 $2 · 캐시 읽기 $0.20 · 출력 $10 / MTok. 실제 에이전트 실행 측정이 아니다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Claude Sonnet 5.5로 module n개를 변경할 때 코드 에이전트 1세션의 토큰·비용 추정 — 별점 조건이 될 수 없는 이유 포함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097280"/>
          <a:ext cx="11457432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1371600"/>
                <a:gridCol w="2651760"/>
                <a:gridCol w="1828800"/>
                <a:gridCol w="2011680"/>
                <a:gridCol w="1673352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module 수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환산 M/M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총 토큰 (입력+캐시+출력)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비용 (Sonnet 5.5)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재시도·탐색 ×3일 때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 별 경계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0.51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$0.21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$0.62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0.80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$0.90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★3 경계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1.16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$0.40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$1.21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 경계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1.58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$0.52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$1.55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2.07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$0.65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$1.94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 경계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 (DP1 1안 측정)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0.38 (측정)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0.72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$0.27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$0.82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2.5 (DP1 2안 측정)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0.51 (측정)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0.97 M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$1.05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T="22860" marR="54864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337560"/>
            <a:ext cx="114300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추정 방법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비용 = 입력 컨텍스트 × $2 + 턴 수 × 컨텍스트 × $0.20(캐시 읽기) + 출력 × $10 (MTok 단위). 컨텍스트 = 시스템·도구 25k + 읽는 코드(1.5 × 12 token/LOC × module당 356 LOC × n).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• 턴 수 = 10 + 5n, 출력 = 작성(12 token/LOC × 24 LOC × n × 작성·수정 2회) + 턴당 300 token. 356 LOC = vLLM 최상위 KV connector 중앙값. 상수는 모두 가정(ASSUMED)이며 에이전트 실행으로 확인한 값이 아니다.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26280"/>
            <a:ext cx="11457432" cy="178308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11201400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맑은 고딕"/>
                <a:ea typeface="맑은 고딕"/>
              </a:rPr>
              <a:t>토큰 비용을 별점 조건으로 쓰지 않는 이유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① 비용 ≠ 공수. 토큰 비용은 돈이고, 변경 용이성이 묻는 것은 사람이 들이는 시간이다. 에이전트가 코드를 써도 사람이 설계 적합성 리뷰·통합 테스트·승인을 해야 하므로 공수는 어떤 경우에도 0이 되지 않는다. 그 공수는 module 수에 따라 늘어난다(module 1개 = 0.2 MM).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② 후보를 가르지 못한다. 5개 module을 바꿔도 $0.65, 2개면 $0.30로 사람 공수(1.0 MM vs 0.4 MM)에 비해 사실상 무시할 수준이고, DP1 두 안의 차이는 $0.07에 불과하다.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000000"/>
                </a:solidFill>
                <a:latin typeface="맑은 고딕"/>
                <a:ea typeface="맑은 고딕"/>
              </a:rPr>
              <a:t>③ 가격에 종속된다. 모델·가격표가 바뀌면 같은 설계의 별이 바뀐다(후보 간 순위는 같은 모델 안에서는 그대로). 설계 품질이 아닌 시장 가격이 별을 정하게 된다.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>
                <a:solidFill>
                  <a:srgbClr val="000000"/>
                </a:solidFill>
                <a:latin typeface="맑은 고딕"/>
                <a:ea typeface="맑은 고딕"/>
              </a:rPr>
              <a:t>④ 그래서 참고 지표로 둔다: 'AI 에이전트로 변경해도 비용 부담이 크지 않다'는 보조 근거로만 쓰고, 판정은 module 수(사람 리뷰 범위의 대리 지표)로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4049</Words>
  <Application>Microsoft Office PowerPoint</Application>
  <PresentationFormat>와이드스크린</PresentationFormat>
  <Paragraphs>678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Mona Sans VF</vt:lpstr>
      <vt:lpstr>Malgun Gothic</vt:lpstr>
      <vt:lpstr>Malgun Gothic</vt:lpstr>
      <vt:lpstr>Arial</vt:lpstr>
      <vt:lpstr>Wingdings</vt:lpstr>
      <vt:lpstr>Office 테마</vt:lpstr>
      <vt:lpstr>품질 요구사항</vt:lpstr>
      <vt:lpstr>DP1. Data Migration 결정 구조 - 설계</vt:lpstr>
      <vt:lpstr>DP2. 연산(Prefill/Decode) 실행 위치 결정 구조 - 설계</vt:lpstr>
      <vt:lpstr>DP3. KV 캐시 재사용 구조 – 설계 </vt:lpstr>
      <vt:lpstr>DP4. 서버 간 KV 캐시 공유 구조 –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 요구사항</dc:title>
  <dc:creator>Myeong Woo Kim</dc:creator>
  <cp:lastModifiedBy>Myeong Woo Kim</cp:lastModifiedBy>
  <cp:revision>3</cp:revision>
  <dcterms:created xsi:type="dcterms:W3CDTF">2026-10-23T15:38:13Z</dcterms:created>
  <dcterms:modified xsi:type="dcterms:W3CDTF">2026-10-23T16:03:48Z</dcterms:modified>
</cp:coreProperties>
</file>
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73" r:id="rId29"/>
    <p:sldId id="933" r:id="rId9"/>
    <p:sldId id="961" r:id="rId10"/>
    <p:sldId id="724" r:id="rId11"/>
    <p:sldId id="722" r:id="rId12"/>
    <p:sldId id="972" r:id="rId28"/>
    <p:sldId id="962" r:id="rId18"/>
    <p:sldId id="975" r:id="rId31"/>
    <p:sldId id="974" r:id="rId30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4237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요청 처리량 (query/s)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sz="900"/>
                        <a:t>QA-06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Capacity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메모리 하 최대 동시 세션 수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HBM 용량에서 SLO를 만족하며 동시에 보존·처리 가능한 세션(offload된 KV 보존 세션 포함) 수가 Baseline(GPU-only) 대비 증가해야 한다.</a:t>
                      </a:r>
                      <a:br/>
                      <a:r>
                        <a:rPr sz="900" b="1"/>
                        <a:t>[측정: SLO 만족 최대 동시 세션 수 ≥ Baseline 대비 2x]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10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617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4033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1.86→3.96 query/s (×2.13)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85→296 세션 (×3.5)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1.2→0.8 s (r 1.34)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1.86→3.99 query/s (×2.14)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85→350 세션 (×4.1)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1.2→0.8 s (r 1.34)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3.72→9.54 query/s (×2.56)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170→647 세션 (×3.8)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1.2→0.7 s (r 1.45)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98→52%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3.72→11.6 query/s (×3.13)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170→808 세션 (×4.8)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1.2→0.7 s (r 1.45)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1.86→5.71 query/s (×3.07)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1.2→0.6 s (r 1.64)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1.86→6.00 query/s (×3.23)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1.2→0.5 s (r 1.70)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6.37→21.5 query/s (×3.38)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1.2→0.3 s (r 2.09)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6.37→21.5 query/s (×3.38)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1.2→0.3 s (r 2.08)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1.86 query/s → ★1 ≥ 3.72 · ★2 ≥ 7.44 · ★3 ≥ 14.9 query/s. 이 시나리오의 이론값: B1 ×2.04(3.78 query/s), 이론 상한 ×4.8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14.9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10.6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7.44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5.21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3.72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3979" y="6207861"/>
            <a:ext cx="406693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873979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94091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014067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×2.04 ~ 상한 ×4.8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Max SLO goodput의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Max SLO goodput(1.86 query/s)의 90%(1.67)에 고정. Baseline 절대값(이론): B0 TTFT P99 1.21 s · TPOT P99 25.0 ms (SLO 만족). TPOT이 같으면 TTFT가 ★1 ≤ 0.59 · ★2 ≤ 0.30 · ★3 ≤ 0.13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0.82 s · TPOT 21.0 ms → r 1.32 (☆, 문헌 ★2 r 2.0에는 못 미침: B0가 90% 부하에서도 SLO 안이라 개선 여지가 작다).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0.13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0.20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1.32는 이 구간에 못 미친다(B0가 SLO 안이라 개선 여지가 작음)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0.42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0.59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5099777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2365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1.32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대표 컨텍스트 16K(시작 8K·턴당 +1.25K·12턴의 평균 약 15K)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초당 처리 수(query/s)로 센다(1 query = 요청 1건 = 1 turn, 출력 256 token).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05840"/>
          <a:ext cx="11457432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노드(SYS-H100). 메모리 6종: HBM 640 GiB · ScHBM 160 GiB · CXL-PNM 512 GiB · DRAM 1 TiB · HBF 2 TiB · SSD 16 TiB(NVMe 16 GB/s).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세션은 8K에서 시작해 턴당 +1.25K(입력 1K + 출력 256), 12턴(종료 약 22K, 평균 약 15K → 이론 모델은 대표 컨텍스트 16K로 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60 s + 응답 4.7 s) ≈ 120(B0) ~ 390(후보 최대)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운용 계획 (아직 미실행, 가정)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ScHBM(내부 6.7 TB/s, 연산 198 TFLOPS, GPU 직접 접근 불가): 복원해 쓰는 warm tier와 Attention을 그 자리에서 수행(offload)하는 두 경로를 비교. CXL-PNM(512 GiB, 연산 3.3 TFLOPS): 유휴 KV 대용량 보관 tier. HBF(2 TiB, GPU 직접 1 TB/s, 쓰기 50 GB/s·수명 100 PB): 읽기 위주 KV(공유 문서 chunk, DP3)를 두고 쓰기량·수명 소모를 같이 측정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구간별 적용: P1 유휴→복귀(DP1) tier 선택·복원 vs offload, P3 공유 문서 wave(DP3) HBF 배치. 측정: tier별 점유·복원 지연, HBF 쓰기량, offload 비율. 신규 메모리는 타겟 시스템에만 있다(B1은 HBM·DRAM·SSD만, 시스템 비교 그림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Max SLO goodput = TTFT P99 ≤ 2 s·TPOT P99 ≤ 50 ms를 모델의 대기열식으로 실제 만족하는 최대 처리율. Q3: 일반 부하 = B0 Max SLO goodput의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0.29→1.21 s(×4.2), B1 0.17→0.82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일반적인 시스템(HBM은 B0와 동일 + DRAM 1 TiB + NVMe SSD 16 TiB [SSD 용량 ASSUMED])에서 단순 offloading: HBM이 차면 LRU로 DRAM, DRAM이 차면 SSD로 이동(턴 종료 시 증분만 기록하는 write-through, 축출은 복사 없이 삭제). 요청 시 동기 복원, prefetch·예측·배치 정책 없음. 신규 메모리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B0(HBM only) → B1(+DRAM·SSD, 일반 시스템) → 타겟(+신규 메모리 4종, 우리 런타임)으로 하드웨어와 정책이 모두 다르다. 이론값 B1 = B0의 ×2.04는 LMCache 단일 노드 하한(2.3x)보다 약간 낮다. 후보 이론값은 아직 신규 메모리를 반영하지 않았다(B1 하드웨어 + 우리 정책의 효과) [잠정]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53328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r 1.3로 문헌 ★2 수준(r 2.0)에 못 미치고 처리량(Q1)에서도 ×2.04로 문헌 하단 이하다. 이 시나리오는 세션별 히스토리 재사용만 있어 처리량 이론 상한이 ×4.8이라,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Max SLO goodput의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최솟값에서 SLO(TTFT·TPOT P99)를 만족하는 최대 처리율).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3.72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7.44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7.57 (×2.04)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7.44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29.7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6.37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10.3 (×1.61)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12.7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25.5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보존 동시 세션 수 (HBM 가득 채움, 16K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170 (2x)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269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404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Q2' HBM 효율(참고)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1.21 s /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0.82 s /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0.59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0.13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일반 시스템 = HBM(B0와 동일) + DRAM + SSD. 고정 순서 LRU 이동, 증분 write-through, 동기 복원, prefetch·예측 없음. 신규 메모리 없음(타겟 시스템에만 있음, 시스템 비교 그림 참고)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×2.04(★1, 문헌 중앙값 4x에는 못 미침), Q3 r 1.32(☆). Q1은 이 시나리오의 이론 상한(×4.8)이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2.3x(= B0의 ×4.8),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TTFT P99 ≤ 2 s·TPOT P99 ≤ 50 ms를 만족하는 최대 λ (query/s)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Max SLO goodput의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⑥ Capacity = θ × (HBM 85 + DRAM 184 세션분) ÷ f′ (HBM 가득 채움, SSD 제외, 신규 메모리 미반영 [잠정]). B0는 HBM만 85세션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단순 offloading 이론값은 Q1 ×2.04(문헌 하단 이하), Q3 r 1.3(문헌 ★2 r 2.0 미달)이다. 시나리오·B1 정의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idle 평균 60 s, 공유 문서 30%, 세션 12턴은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SSD 16 TiB(NVMe 16 GB/s), 신규 메모리는 다음 페이지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8K 시작·턴당 +1.25K·12턴(평균 약 15K→16K로 계산), 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120(B0)~390(후보 최대) → KV 0.6~1.9 TiB(HBM 전체 640 GiB 중 KV 풀 425 GiB의 1.4~4.6배, 후보 최대는 HBM+DRAM 1.35 TiB도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3.96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×2.13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3.99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×2.14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×3.5 · 경쟁 기술 대비 ×1.10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×4.1 · 경쟁 기술 대비 ×1.30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0.80 s · TPOT 20.9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1.34(TTFT -33%)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0.80 s · TPOT 20.9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1.34(TTFT -34%)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×2.13(1안)·×2.14(2안), TTFT P99 r 1.34·1.34로 경쟁 기술(단순 offloading, ×2.04·r 1.32)과 같은 수준이다(처리량 ★1, 지연 ☆). 경쟁 기술 대비 처리량 +5%·+5%, TTFT -2%·-2%.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2안(데이터 특성 기반)이 배치 효율 θ가 높아 ×4.1로 1안(×3.5)보다 많은 세션을 보존한다. 지연은 prefetch(적시 60%)를 쓰는 2안이 앞서지만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3.72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7.57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9.54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×2.56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×3.13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170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647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×3.8 · 경쟁 기술 대비 ×1.20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808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×4.8 · 경쟁 기술 대비 ×1.50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0.69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1.45(TTFT -42%) · 경쟁 기술 대비 TTFT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0.72 s · TPOT 20.1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1.45(TTFT -41%) · 경쟁 기술 대비 TTFT -12%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52%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-46%p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×2.56(1안)·×3.13(2안)로 경쟁 기술(×2.04)을 넘지만 문헌 중앙값(4x)에는 못 미쳐 ★1~★1.5.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52%, 2안은 worker 분산으로 97%. Capacity는 유휴 P 노드 tier를 쓰는 2안이 ×4.8로 1안(×3.8)보다 많은 세션을 보존한다(활용 비율 u_P 0.5 대 0.2 [가정]).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×3.07 · 경쟁 기술 대비 +51%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6.00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×3.23 · 경쟁 기술 대비 +59%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0.55 s · TPOT 20.2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1.64(TTFT -54%) · 경쟁 기술 대비 TTFT -32%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0.52 s · TPOT 20.2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1.70(TTFT -57%) · 경쟁 기술 대비 TTFT -37%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×3.07~×3.23(★1.5~★1.5), TTFT P99 r 1.64~1.70(★1~★1.5). 경쟁 기술(×2.04) 대비 처리량 +51%~+59%.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두 안 모두 공유 문서 1회 보관(dedup 0.70)으로 ×4.5(HBM 가득 채움 기준이라 두 안 차이가 사라진다). 안 간 처리량 차이는 링크 병목 구간이라 거의 없고, 1안의 고부하 tail 발산은 B0 Max SLO goodput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6.37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10.3 query/s (×1.61,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21.5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×3.38 · 경쟁 기술 대비 +109%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21.5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×3.38 · 경쟁 기술 대비 +109%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1.18 s · TPOT 22.3 ms (r 1.07,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0.33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2.09(TTFT -72%) · 경쟁 기술 대비 TTFT -72%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0.34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2.08(TTFT -72%) · 경쟁 기술 대비 TTFT -71%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×3.38(★1.5), TTFT P99 r 2.09(★2). 경쟁 기술 대비 처리량 +109%.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1.86→3.96 query/s (×2.13)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85→296 세션 (×3.5)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1.2→0.8 s (r 1.34)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1.86→3.99 query/s (×2.14)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85→350 세션 (×4.1)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1.2→0.8 s (r 1.34)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3.72→9.54 query/s (×2.56)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170→647 세션 (×3.8)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1.2→0.7 s (r 1.45)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98→52%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3.72→11.6 query/s (×3.13)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170→808 세션 (×4.8)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1.2→0.7 s (r 1.45)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1.86→5.71 query/s (×3.07)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1.2→0.6 s (r 1.64)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1.86→6.00 query/s (×3.23)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1.2→0.5 s (r 1.70)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6.37→21.5 query/s (×3.38)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1.2→0.3 s (r 2.09)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6.37→21.5 query/s (×3.38)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1.2→0.3 s (r 2.08)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★1(×2.04), Q3 ☆(r 1.32),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12 / 28. Capacity(Q2)는 소유자 별이 아직 없어 제외했다. 안 간 순위·차이는 각 DP 페이지의 값을 본다.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Max SLO goodput을 SLO 만족 기준으로 정정한 뒤(2026-10-27) B0가 90% 부하에서도 SLO 안이라 Q3 개선 r이 작아졌고 대부분 ☆~★1.5로 내려갔다.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Capacity (동시 세션 수용량)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경쟁 기술의 구조(HBM 밖 KV를 호스트 DRAM에 보관)에서 용량을 계산. 문헌 중 '같은 HBM의 동시 세션 N배'를 직접 보고한 것은 확인하지 못했다(LMCache·Ray 문서는 정성, AttentionStore는 hit rate). 값은 theory_model.py 이론 계산 [잠정]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같은 HBM에서 KV를 보존한 채 재개 가능한 최대 동시 세션 수의 증가율 — ★2는 경쟁 기술(호스트 DRAM offloading) 구조에서 계산한 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6583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[Metric] R_cap = 보존 세션 수(후보) ÷ 보존 세션 수(B0 GPU-only).  </a:t>
            </a: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[QA] Capacity / 동일 메모리 하 최대 동시 세션 수.  [측정] SLO 만족 최대 동시 세션 수 ≥ Baseline 대비 2x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404040"/>
                </a:solidFill>
                <a:latin typeface="맑은 고딕"/>
                <a:ea typeface="맑은 고딕"/>
              </a:rPr>
              <a:t>세션 = 컨텍스트 KV를 보존 중인 요청(HBM뿐 아니라 offload된 세션 포함, 재계산이 필요한 세션은 제외). 16K 세션 = 5.0 GiB, HBM KV 풀 425 GiB = 85세션, 호스트 DRAM 922 GiB = 184세션분(SYS-H100)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737360"/>
          <a:ext cx="11457432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1737360"/>
                <a:gridCol w="6400800"/>
                <a:gridCol w="258775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(R_cap)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4.75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기술의 고성능 구성: 호스트 DRAM을 2 TiB(DGX급)로 늘린 offloading은 ×5.3. ★3 = ★2 × 1.5 = ×4.8(Q2·Q3와 같은 규칙)로 이 고성능 구성보다 약간 낮게 잡았다. HBF·CXL-PNM 같은 신규 메모리를 보존 tier로 쓰면 초과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계산(system-specs DRAM 1 TiB → 2 TiB 가정) · 규칙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3.88 ≤ R &lt; 4.75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 √(3.17 × 4.75) = 3.88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3.17 ≤ R &lt; 3.88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기술(KV offload) 수준: HBM 밖 KV를 호스트 DRAM(922 GiB)에 보관하면 (425+922)÷425 = ×3.17. LMCache·vLLM offloading connector·Ray Serve 문서가 'CPU 메모리를 KV 용량 확장에 쓴다'고 밝힘(정성)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계산(HBM 풀 425 GiB, DRAM 922 GiB) · LMCache(2510.09665), Ray Serve LLM, vLLM offloading connector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2.52 ≤ R &lt; 3.17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 √(2.0 × 3.17) = 2.52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동일 HBM에서 동시 세션 2배 이상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요구사항 QA-06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160520"/>
            <a:ext cx="576072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(R_cap, log 축)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98264"/>
            <a:ext cx="219317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398264"/>
            <a:ext cx="219317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4656" y="4398264"/>
            <a:ext cx="728370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4656" y="4398264"/>
            <a:ext cx="72837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3027" y="4398264"/>
            <a:ext cx="72837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3027" y="4398264"/>
            <a:ext cx="72837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1398" y="4398264"/>
            <a:ext cx="641463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1398" y="4398264"/>
            <a:ext cx="6414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2861" y="4398264"/>
            <a:ext cx="641463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2861" y="4398264"/>
            <a:ext cx="6414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4324" y="4398264"/>
            <a:ext cx="73643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4324" y="4398264"/>
            <a:ext cx="7364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16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43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7793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3839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04656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33027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061398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702861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44324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iamond 32"/>
          <p:cNvSpPr/>
          <p:nvPr/>
        </p:nvSpPr>
        <p:spPr>
          <a:xfrm>
            <a:off x="2545220" y="486003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7808" y="4828031"/>
            <a:ext cx="1936115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Stakeholder 요구: 동시 세션 2배 (QA-06)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4001962" y="504748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8666" y="5010912"/>
            <a:ext cx="2989579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호스트 DRAM 1 TiB offloading ×3.17 (HBM 425 + DRAM 922 GiB)</a:t>
            </a:r>
          </a:p>
        </p:txBody>
      </p:sp>
      <p:sp>
        <p:nvSpPr>
          <p:cNvPr id="37" name="Isosceles Triangle 36"/>
          <p:cNvSpPr/>
          <p:nvPr/>
        </p:nvSpPr>
        <p:spPr>
          <a:xfrm>
            <a:off x="5651903" y="52303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30977" y="5193792"/>
            <a:ext cx="1807209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호스트 DRAM 2 TiB급 offloading ×5.3</a:t>
            </a:r>
          </a:p>
        </p:txBody>
      </p:sp>
      <p:sp>
        <p:nvSpPr>
          <p:cNvPr id="39" name="Oval 38"/>
          <p:cNvSpPr/>
          <p:nvPr/>
        </p:nvSpPr>
        <p:spPr>
          <a:xfrm>
            <a:off x="384048" y="5463539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22391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41" name="Diamond 40"/>
          <p:cNvSpPr/>
          <p:nvPr/>
        </p:nvSpPr>
        <p:spPr>
          <a:xfrm>
            <a:off x="1539748" y="5463539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58620" y="5422391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43" name="Isosceles Triangle 42"/>
          <p:cNvSpPr/>
          <p:nvPr/>
        </p:nvSpPr>
        <p:spPr>
          <a:xfrm>
            <a:off x="3028823" y="5463539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47695" y="5422391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45" name="Oval 44"/>
          <p:cNvSpPr/>
          <p:nvPr/>
        </p:nvSpPr>
        <p:spPr>
          <a:xfrm>
            <a:off x="3753358" y="5463539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72230" y="5422391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14800"/>
            <a:ext cx="5486400" cy="23774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측정 조건과 근거의 한계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• HBM을 가득 채웠을 때 측정(설계 watermark 무관). 반환 세션 KV 보존율 ≥ 95%이고 재개 TTFT P99 ≤ 2 s인 최대 세션 수. SSD는 보존 용량에서 제외(포함하면 Q1과 중복)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C00000"/>
                </a:solidFill>
                <a:latin typeface="맑은 고딕"/>
                <a:ea typeface="맑은 고딕"/>
              </a:rPr>
              <a:t>• 문헌이 '같은 HBM의 동시 세션 N배'를 직접 보고한 값은 찾지 못했다. AttentionStore는 hit rate(86~90%, DRAM+디스크), Pensieve는 GPU+CPU 다단 캐시, FlexGen은 batch 256(throughput 영역)이라 R_cap과 단위가 다르다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• 따라서 ★2는 문헌 수치가 아니라 경쟁 기술 구조에서의 계산값, ★3은 ★2 × 1.5 규칙과 DRAM 2 TiB급 구성이다. 호스트 DRAM 용량(1 TiB, 2 TiB)이 바뀌면 경계도 바뀐다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C00000"/>
                </a:solidFill>
                <a:latin typeface="맑은 고딕"/>
                <a:ea typeface="맑은 고딕"/>
              </a:rPr>
              <a:t>• 신규 메모리(ScHBM·CXL-PNM·HBF)를 보존 tier로 셀지는 미정. 지금은 HBM·DRAM만 센 잠정 경계다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시스템 구성 (노드 1대, SYS-H100, 메모리 6종 + SSD)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doc-mk/Evaluation/DP1/sim/configs/memories_default.json · system-specs.md SYS-H100. 신규 메모리 4종(ScHBM, CXL-PNM, HBF, SSD-PIM)은 과거 세대가 없어 같은 장치를 쓰고 host link BW만 스케일(ASSUMED)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HBM·DRAM·SSD에 신규 target 메모리(ScHBM, CXL-PNM, HBF)까지 포함한 이기종 메모리 구성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1097280"/>
                <a:gridCol w="868680"/>
                <a:gridCol w="868680"/>
                <a:gridCol w="640080"/>
                <a:gridCol w="1097280"/>
                <a:gridCol w="1188720"/>
                <a:gridCol w="386791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GPU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연산(FP16)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특성 / 이 평가에서의 쓰임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(HBM3)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640 GiB (8×80)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온패키지. 활성 KV 위치. KV 풀 ≈ 425 GiB (가중치 131·활성값 20 GiB 제외)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 (ScHBM)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6.7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 (host 2홉)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197.8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BW 대비 외부 BW 비대칭 100배 이상. Attention 연산 offload 가능(QK·Softmax·AV)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(LPDDR5X)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대용량 연산형 확장 메모리. Attention offload 가능(연산 낮음)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(DDR5-4800)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CPU 주 메모리. 기존 offloading의 1차 하위 tier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(고대역 플래시)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 (UCIe 직결)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HBM과 SSD 사이 용량 계층. 읽기는 빠르나 쓰기 50 GB/s·수명 100 PB → 왕복이 잦은 KV는 부적합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(NVMe PCIe5 x4, SSD-PIM)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60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TFLOPS (GEMV 한정)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장기 보관. 쓰기 증폭 4배·수명 10 PB. 연산은 Vector DB 유사도에만 사용(KV Attention 불가)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1143000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 덱의 이론 값이 반영한 메모리와 반영하지 않은 메모리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반영: HBM, DRAM, SSD(링크 16 GB/s×0.8). B0 = HBM만, 경쟁 기술 B1 = HBM→DRAM→SSD 단순 offloading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미반영: ScHBM, CXL-PNM, HBF. 이 메모리를 후보 설계가 어떻게 쓰는지(보존 tier, Attention offload, GPU 직접 읽기)와 B1이 이 메모리를 어떻게 쓰는지 정해야 모델에 넣을 수 있다. 따라서 현재 후보 값은 기존 3 tier 기준의 잠정값이다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시스템 구성: B0 = HBM only, B1 = HBM + DRAM + SSD(일반 시스템), 타겟 = B1의 HBM·DRAM·SSD(같은 크기) + 신규 메모리 4종(ScHBM, CXL-PNM, HBF, SSD-PIM). 후보 이론값은 아직 신규 메모리를 반영하지 않았다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SSD는 이 시스템 구성에 포함한다(노드당 16 TiB, ASSUMED). 다만 Capacity는 SSD를 보존 용량에서 제외한다(Q1과 중복 방지)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시스템 비교 - B0 · B1 · 타겟 시스템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SYS-H100 노드 1대 기준(HBM 640 GiB, 가중치 131 GiB·활성값 20 GiB 제외 시 KV 풀 425 GiB). 용량·대역폭은 memories_default.json·system-specs. 일반 SSD 용량 16 TiB는 ASSUMED. 후보 이론값은 아직 신규 메모리를 반영하지 않음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세 시스템은 메모리 구성과 KV 처리 정책이 모두 다르다 — B1 = 일반 시스템 + 단순 offloading, 타겟 = B1 메모리 + 신규 메모리 4종 + 우리 런타임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3703320" cy="329184"/>
          </a:xfrm>
          <a:prstGeom prst="rect">
            <a:avLst/>
          </a:prstGeom>
          <a:solidFill>
            <a:srgbClr val="D9D9D9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3703320" cy="329184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B0 : GPU-only (HBM only)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3703320" cy="361188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051560"/>
            <a:ext cx="3703320" cy="329184"/>
          </a:xfrm>
          <a:prstGeom prst="rect">
            <a:avLst/>
          </a:prstGeom>
          <a:solidFill>
            <a:srgbClr val="BDD7EE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051560"/>
            <a:ext cx="3703320" cy="329184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B1 : 일반 시스템 + 단순 offloading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380744"/>
            <a:ext cx="3703320" cy="361188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051560"/>
            <a:ext cx="3703320" cy="329184"/>
          </a:xfrm>
          <a:prstGeom prst="rect">
            <a:avLst/>
          </a:prstGeom>
          <a:solidFill>
            <a:srgbClr val="F8CBAD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051560"/>
            <a:ext cx="3703320" cy="329184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타겟 : B1 메모리 + 신규 메모리 + 우리 런타임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80744"/>
            <a:ext cx="3703320" cy="361188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1508760"/>
            <a:ext cx="3154680" cy="86868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508760"/>
            <a:ext cx="3154680" cy="8686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GPU ×8 (H100)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HBM 640 GiB · 26.8 TB/s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KV 풀 425 GiB (가중치·활성값 제외) ≈ 85세션(16K)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743200"/>
            <a:ext cx="3154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DRAM 사용 안 함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host DRAM에는 KV를 두지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29000"/>
            <a:ext cx="3154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42900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SSD 사용 안 함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밀려난 KV는 버린다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23360"/>
            <a:ext cx="3154680" cy="9144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1">
                <a:solidFill>
                  <a:srgbClr val="C00000"/>
                </a:solidFill>
                <a:latin typeface="맑은 고딕"/>
                <a:ea typeface="맑은 고딕"/>
              </a:rPr>
              <a:t>HBM에 없는 KV → 재 prefill (16K ≈ 0.65 s)</a:t>
            </a:r>
          </a:p>
          <a:p>
            <a:pPr algn="ctr"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보존 가능 세션: 85 (HBM만)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1508760"/>
            <a:ext cx="3154680" cy="86868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1508760"/>
            <a:ext cx="3154680" cy="8686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GPU ×8 (H100)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HBM 640 GiB (B0와 동일) · 26.8 TB/s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KV 풀 425 GiB ≈ 85세션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2377440"/>
            <a:ext cx="0" cy="3657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72200" y="2468880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PCIe5 64 GB/s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6280" y="2743200"/>
            <a:ext cx="315468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2743200"/>
            <a:ext cx="3154680" cy="6400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DRAM 1 TiB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KV 922 GiB ≈ 184세션분 · host 경유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80760" y="3383280"/>
            <a:ext cx="0" cy="32004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172200" y="3447288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NVMe 16 GB/s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26280" y="3703320"/>
            <a:ext cx="3154680" cy="5486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703320"/>
            <a:ext cx="3154680" cy="54864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SSD 16 TiB (NVMe)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넘치는 KV의 backing store [용량 ASSUMED]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315968"/>
            <a:ext cx="3154680" cy="6400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1">
                <a:solidFill>
                  <a:srgbClr val="000000"/>
                </a:solidFill>
                <a:latin typeface="맑은 고딕"/>
                <a:ea typeface="맑은 고딕"/>
              </a:rPr>
              <a:t>보존 가능 세션: 85 + 184 = 269 (SSD 제외)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1508760"/>
            <a:ext cx="3520440" cy="64008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1508760"/>
            <a:ext cx="3520440" cy="6400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GPU ×8 (H100)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HBM 640 GiB (동일) · KV 풀 425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2514600"/>
            <a:ext cx="1645920" cy="56692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2514600"/>
            <a:ext cx="164592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DRAM 1 TiB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>
                <a:solidFill>
                  <a:srgbClr val="404040"/>
                </a:solidFill>
                <a:latin typeface="맑은 고딕"/>
                <a:ea typeface="맑은 고딕"/>
              </a:rPr>
              <a:t>B1과 동일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0" y="3291840"/>
            <a:ext cx="1645920" cy="56692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3291840"/>
            <a:ext cx="164592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SSD 16 TiB (NVMe)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>
                <a:solidFill>
                  <a:srgbClr val="404040"/>
                </a:solidFill>
                <a:latin typeface="맑은 고딕"/>
                <a:ea typeface="맑은 고딕"/>
              </a:rPr>
              <a:t>B1과 동일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052560" y="2148840"/>
            <a:ext cx="0" cy="3657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98280" y="2212848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PCIe5 64 GB/s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052560" y="3081528"/>
            <a:ext cx="0" cy="210312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098280" y="3081528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 GB/s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12680" y="2331720"/>
            <a:ext cx="1737360" cy="65836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12680" y="2331720"/>
            <a:ext cx="1737360" cy="65836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HBF 2 TiB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GPU 직결 UCIe 1 TB/s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쓰기 50 GB/s·수명 100 PB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881360" y="2148840"/>
            <a:ext cx="0" cy="18288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0" y="0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C55A11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012680" y="3035808"/>
            <a:ext cx="1737360" cy="56692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2680" y="3035808"/>
            <a:ext cx="173736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ScHBM 160 GiB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63 GB/s · 내부 6.7 TB/s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Attention offload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12680" y="3657600"/>
            <a:ext cx="1737360" cy="56692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12680" y="3657600"/>
            <a:ext cx="173736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CXL-PNM 512 GiB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63 GB/s · 연산 3.3 TFLOPS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Attention offload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0" y="4069080"/>
            <a:ext cx="1645920" cy="56692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4069080"/>
            <a:ext cx="164592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SSD-PIM 16 TiB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16 GB/s · GEMV 연산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645152"/>
            <a:ext cx="3520440" cy="347472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40" b="1">
                <a:solidFill>
                  <a:srgbClr val="C55A11"/>
                </a:solidFill>
                <a:latin typeface="맑은 고딕"/>
                <a:ea typeface="맑은 고딕"/>
              </a:rPr>
              <a:t>주황 = 신규 메모리(타겟에만). 보존 용량: HBM·DRAM + 신규 메모리 [미계산]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5074920"/>
            <a:ext cx="3703320" cy="86868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74920"/>
            <a:ext cx="3703320" cy="868680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2F5597"/>
                </a:solidFill>
                <a:latin typeface="맑은 고딕"/>
                <a:ea typeface="맑은 고딕"/>
              </a:rPr>
              <a:t>KV 처리 정책: 없음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맑은 고딕"/>
                <a:ea typeface="맑은 고딕"/>
              </a:rPr>
              <a:t>vLLM 기본. HBM prefix cache + preemption recompute. 스케줄링도 offload도 없음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51960" y="5074920"/>
            <a:ext cx="3703320" cy="86868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60" y="5074920"/>
            <a:ext cx="3703320" cy="868680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2F5597"/>
                </a:solidFill>
                <a:latin typeface="맑은 고딕"/>
                <a:ea typeface="맑은 고딕"/>
              </a:rPr>
              <a:t>KV 처리 정책: 단순 offloading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맑은 고딕"/>
                <a:ea typeface="맑은 고딕"/>
              </a:rPr>
              <a:t>HBM→DRAM→SSD 고정 순서 LRU, 증분 write-through, 동기 복원. prefetch·예측·배치 정책 없음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38160" y="5074920"/>
            <a:ext cx="3703320" cy="86868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38160" y="5074920"/>
            <a:ext cx="3703320" cy="868680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2F5597"/>
                </a:solidFill>
                <a:latin typeface="맑은 고딕"/>
                <a:ea typeface="맑은 고딕"/>
              </a:rPr>
              <a:t>KV 처리 정책: 우리 런타임 (DP1~4)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맑은 고딕"/>
                <a:ea typeface="맑은 고딕"/>
              </a:rPr>
              <a:t>상태·접근 특성 기반 이동 결정과 prefetch(DP1), P/D 실행 위치 결정(DP2), KV 재사용·선택 재계산(DP3), 서버 간 공유(DP4). 신규 메모리의 연산·직접 읽기 활용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016752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>
                <a:solidFill>
                  <a:srgbClr val="2F5597"/>
                </a:solidFill>
                <a:latin typeface="맑은 고딕"/>
                <a:ea typeface="맑은 고딕"/>
              </a:rPr>
              <a:t>읽는 법: </a:t>
            </a: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별 기준은 B0(GPU-only) 대비 변화량이고 ★2는 경쟁 기술(B1 계열)의 수준이다. B0와 B1은 처리 시스템이 다르므로(메모리 구성과 정책) 함께 경계로 본다. 후보 이론값은 신규 메모리를 아직 반영하지 않아 현재는 'B1 하드웨어 + 우리 정책'의 효과이고, 신규 메모리 효과는 확장 모델 이후 추가된다.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
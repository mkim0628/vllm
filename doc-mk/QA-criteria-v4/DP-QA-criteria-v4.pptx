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6" r:id="rId22"/>
    <p:sldId id="945" r:id="rId4"/>
    <p:sldId id="967" r:id="rId23"/>
    <p:sldId id="926" r:id="rId5"/>
    <p:sldId id="968" r:id="rId24"/>
    <p:sldId id="959" r:id="rId6"/>
    <p:sldId id="969" r:id="rId25"/>
    <p:sldId id="964" r:id="rId20"/>
    <p:sldId id="965" r:id="rId21"/>
    <p:sldId id="719" r:id="rId7"/>
    <p:sldId id="721" r:id="rId8"/>
    <p:sldId id="933" r:id="rId9"/>
    <p:sldId id="961" r:id="rId10"/>
    <p:sldId id="724" r:id="rId11"/>
    <p:sldId id="722" r:id="rId12"/>
    <p:sldId id="962" r:id="rId18"/>
    <p:sldId id="963" r:id="rId19"/>
    <p:sldId id="970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5개, 개발 공수 ≤ 1.0 M/M (변경 시나리오 3종 평균, 두 조건 모두 만족)]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451→1,107 tok/s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425→340 GiB (−20%)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451→1,115 tok/s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425→404 GiB (−5%)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901→2,667 tok/s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850→722 GiB (−15%)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901→3,254 tok/s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850→782 GiB (−8%)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451→1,462 tok/s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425→255 GiB (−40%)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451→1,512 tok/s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425→319 GiB (−25%)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기술(단순 offloading) 수준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2510.09665) · DirectKV OSDI'26 · KVFlow (arXiv 2507.07400). 'up to' 보고값이며 지표·baseline이 달라 직접 비교 아님. 절대값은 theory_model.py의 분석 모델(시뮬레이션 아님)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단순 offloading(LMCache류 CPU offload: 턴 종료 시 증분 기록, 요청 시 DRAM→HBM 복원, prefetch·배치 정책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B0 451 tok/s → ★1 ≥ 901 · ★2 ≥ 1,036 · ★3 ≥ 1,577 tok/s. 경쟁 기술의 이론값(B1) = 1,058 tok/s (×2.35, ★2 구간)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경쟁 기술 수준 2.3x · ★3 = ★2 × 1.5 = 3.5x(경쟁 기술 위 목표) ·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3.5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1,577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기술(★2, 2.3x) 위로 1.5x 추가 = 3.45x ≈ 3.5x. 1.5x는 offload baseline 대비 보고된 개선(DirectKV 1.2x ~ KVFlow 1.83x)의 중간. 시나리오 이론 상한(GPU 한계) 4.0x의 약 87%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KVFlow,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3.5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1,262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중점(√(2.3×3.5)=2.8x)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2.3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1,036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단일 노드 로컬 CPU 오프로딩, 다중 턴 QA(10~20K 토큰)에서 GPU-only 대비 개선 하한 2.3x. 이론 B1 = 2.35x가 이 구간에 놓인다(시나리오 보정 확인). 실트래픽·고 QPS 4~6x, 극단 조건 14x는 다른 regime이라 참고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2.15 ≤ R &lt; 2.3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969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중점(√(2.0×2.3)=2.15x)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2.15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901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16966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407407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407407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407407"/>
            <a:ext cx="34641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407407"/>
            <a:ext cx="346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35898" y="4407407"/>
            <a:ext cx="32304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35898" y="4407407"/>
            <a:ext cx="3230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58943" y="4407407"/>
            <a:ext cx="94224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58943" y="4407407"/>
            <a:ext cx="94224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01189" y="4407407"/>
            <a:ext cx="106886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01189" y="4407407"/>
            <a:ext cx="106886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70050" y="4407407"/>
            <a:ext cx="727998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0050" y="4407407"/>
            <a:ext cx="727998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68172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68172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68172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68172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68172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68172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81888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135898" y="481888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458943" y="481888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401189" y="481888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470050" y="481888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87146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837175"/>
            <a:ext cx="246430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Oval 37"/>
          <p:cNvSpPr/>
          <p:nvPr/>
        </p:nvSpPr>
        <p:spPr>
          <a:xfrm>
            <a:off x="2408651" y="5068062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32095" y="5024627"/>
            <a:ext cx="404164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offload, 10~20K 다중 턴 개선 하한 2.3x = 경쟁 기술 수준</a:t>
            </a:r>
          </a:p>
        </p:txBody>
      </p:sp>
      <p:sp>
        <p:nvSpPr>
          <p:cNvPr id="40" name="Isosceles Triangle 39"/>
          <p:cNvSpPr/>
          <p:nvPr/>
        </p:nvSpPr>
        <p:spPr>
          <a:xfrm>
            <a:off x="2500089" y="5250942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32677" y="5212079"/>
            <a:ext cx="155448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= ×2.35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32266" y="5456681"/>
            <a:ext cx="2021359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3332266" y="5429249"/>
            <a:ext cx="0" cy="128017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53626" y="5429249"/>
            <a:ext cx="0" cy="128017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26778" y="5399531"/>
            <a:ext cx="330098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★3 근거: 경쟁 2.3x × offload 대비 문헌 개선 1.2~1.83x = 2.8~4.2x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36230" y="5644133"/>
            <a:ext cx="2915154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4736230" y="5616701"/>
            <a:ext cx="0" cy="128017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651385" y="5616701"/>
            <a:ext cx="0" cy="128017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724537" y="5586983"/>
            <a:ext cx="31089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LMCache 기업 트레이스 고 QPS TTFT 3.7~6.8x (다른 regime, 참고)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09667" y="5831586"/>
            <a:ext cx="1942184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109667" y="5804153"/>
            <a:ext cx="0" cy="128017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051852" y="5804153"/>
            <a:ext cx="0" cy="128017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125004" y="5774436"/>
            <a:ext cx="21808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LMCache 동일 TTFT 환산 QPS 확장 4~6x (참고)</a:t>
            </a:r>
          </a:p>
        </p:txBody>
      </p:sp>
      <p:sp>
        <p:nvSpPr>
          <p:cNvPr id="54" name="Oval 53"/>
          <p:cNvSpPr/>
          <p:nvPr/>
        </p:nvSpPr>
        <p:spPr>
          <a:xfrm>
            <a:off x="11060130" y="600532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92518" y="5961888"/>
            <a:ext cx="144475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56" name="Oval 55"/>
          <p:cNvSpPr/>
          <p:nvPr/>
        </p:nvSpPr>
        <p:spPr>
          <a:xfrm>
            <a:off x="384048" y="623620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619505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8" name="Diamond 57"/>
          <p:cNvSpPr/>
          <p:nvPr/>
        </p:nvSpPr>
        <p:spPr>
          <a:xfrm>
            <a:off x="1539748" y="623620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58620" y="619505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0" name="Isosceles Triangle 59"/>
          <p:cNvSpPr/>
          <p:nvPr/>
        </p:nvSpPr>
        <p:spPr>
          <a:xfrm>
            <a:off x="3028823" y="623620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147695" y="619505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2" name="Oval 61"/>
          <p:cNvSpPr/>
          <p:nvPr/>
        </p:nvSpPr>
        <p:spPr>
          <a:xfrm>
            <a:off x="3753358" y="623620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72230" y="619505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출력 토큰만 합산한다.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변경 module 수 AND M/M(개발 공수) — 시나리오 평균, 두 지표 중 낮은 별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10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463040"/>
                <a:gridCol w="1463040"/>
                <a:gridCol w="5532120"/>
                <a:gridCol w="23134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변경 module 수 (평균)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개발 공수 (M/M,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일상 변경 규모: SWE-bench 평균 패치 1.7 file·32.8 line ≈ 0.32 MM(아래 공식 환산). 0.5 MM = 1인 2주 sprint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SWE-bench (arXiv 2310.06770), 사전 등록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한 Plane/Layer 안에 머무는 규모(설계 component 12~14개의 약 1/4), 3주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충족. module: 설계 component 12~14개 중 5개(36~42%) 초과 시 확장 지점이 없다고 본다. M/M: vLLM 최상위 KV connector 중앙값 356 LOC를 1개 신규 구현하는 비용 ≈ 1.0 MM(공식 환산) = 1인 1개월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사전 등록 component 목록, vLLM 저장소 LOC 계수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 항목이라도 ★1 기준을 넘으면 미충족.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49039"/>
            <a:ext cx="11457432" cy="566928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67328"/>
            <a:ext cx="1124712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M/M = [ module 수 n × module당 고정 공수 3일 + 추가 LOC L ÷ 하루 생산성 40 LOC × 테스트·리뷰 overhead 2.0 ] ÷ 21일/MM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환산 예: SWE-bench 평균 패치 n=1.7, L=32.8 → 6.7일 = 0.32 MM · vLLM connector 중앙값 n=1, L=356 → 20.8일 = 0.99 MM. (LOC는 실제 vLLM 통합 기준. 시뮬레이터 proxy LOC는 ×5 배율로 환산한다.) 토큰 비용은 기준에서 제외했다.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352544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두 지표의 관계: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module 수 n이 M/M 안에 3일×n으로 들어 있어 독립이 아니다(n=2면 0.29 MM, n=5면 0.71 MM 선점). module 수가 M/M의 하한을 정하고, AND 판정은 'LOC까지 큰 변경'을 추가로 걸러 낸다.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709160"/>
            <a:ext cx="54864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① module 수 (시나리오 평균)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148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2857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03565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74274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44982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15691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952897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38251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723605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494314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65022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671392" y="5408676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94836" y="5376672"/>
            <a:ext cx="197840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1.7 file (★3 경계 2)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2664169" y="556869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96757" y="5541264"/>
            <a:ext cx="179704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★2 경계 3 ≈ component 12~14개의 1/4</a:t>
            </a:r>
          </a:p>
        </p:txBody>
      </p:sp>
      <p:sp>
        <p:nvSpPr>
          <p:cNvPr id="48" name="Diamond 47"/>
          <p:cNvSpPr/>
          <p:nvPr/>
        </p:nvSpPr>
        <p:spPr>
          <a:xfrm>
            <a:off x="4205586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57330" y="5705856"/>
            <a:ext cx="203453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★1 경계: component 12~14개 중 5개(36~42%)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709160"/>
            <a:ext cx="566928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② 개발 공수 M/M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818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1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4108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7072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3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300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03148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49630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96112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2594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89076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Isosceles Triangle 74"/>
          <p:cNvSpPr/>
          <p:nvPr/>
        </p:nvSpPr>
        <p:spPr>
          <a:xfrm>
            <a:off x="7302703" y="5404104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35291" y="5376672"/>
            <a:ext cx="155955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환산 0.32 MM</a:t>
            </a:r>
          </a:p>
        </p:txBody>
      </p:sp>
      <p:sp>
        <p:nvSpPr>
          <p:cNvPr id="77" name="Diamond 76"/>
          <p:cNvSpPr/>
          <p:nvPr/>
        </p:nvSpPr>
        <p:spPr>
          <a:xfrm>
            <a:off x="7972044" y="5564123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04632" y="5541264"/>
            <a:ext cx="123571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2주 sprint (★3 경계)</a:t>
            </a:r>
          </a:p>
        </p:txBody>
      </p:sp>
      <p:sp>
        <p:nvSpPr>
          <p:cNvPr id="79" name="Diamond 78"/>
          <p:cNvSpPr/>
          <p:nvPr/>
        </p:nvSpPr>
        <p:spPr>
          <a:xfrm>
            <a:off x="9831324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963912" y="5705856"/>
            <a:ext cx="98958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1개월 (★1 경계)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03336" y="5916168"/>
            <a:ext cx="3346704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403336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1750040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958967" y="5870448"/>
            <a:ext cx="2371216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vLLM connector 신규 구현 0.60(192 LOC)~2.98(1,190 LOC) MM</a:t>
            </a:r>
          </a:p>
        </p:txBody>
      </p:sp>
      <p:sp>
        <p:nvSpPr>
          <p:cNvPr id="85" name="Oval 84"/>
          <p:cNvSpPr/>
          <p:nvPr/>
        </p:nvSpPr>
        <p:spPr>
          <a:xfrm>
            <a:off x="6144768" y="612190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63640" y="608075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87" name="Diamond 86"/>
          <p:cNvSpPr/>
          <p:nvPr/>
        </p:nvSpPr>
        <p:spPr>
          <a:xfrm>
            <a:off x="7300468" y="612190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19340" y="608075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89" name="Isosceles Triangle 88"/>
          <p:cNvSpPr/>
          <p:nvPr/>
        </p:nvSpPr>
        <p:spPr>
          <a:xfrm>
            <a:off x="8789543" y="612190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08415" y="608075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91" name="Oval 90"/>
          <p:cNvSpPr/>
          <p:nvPr/>
        </p:nvSpPr>
        <p:spPr>
          <a:xfrm>
            <a:off x="9514078" y="612190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632950" y="608075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2611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노드(SYS-H100): HBM 640 GiB, DRAM 1 TiB(호스트 링크 64 GB/s), NVMe 16 GB/s.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KV 풀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B0 포화 부하의 90% 고정 부하.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별 ★2 기준의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HBM이 차면 LRU로 DRAM, DRAM이 차면 SSD로 이동(턴 종료 시 증분만 기록하는 write-through, 축출은 복사 없이 삭제).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LMCache류 CPU offload를 SSD 계층까지 확장한 정의. 이론값 B1 = B0의 ×2.35로 LMCache 단일 노드 하한(2.3x)과 맞게 시나리오를 보정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15000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보정: 단순 offloading의 이론값이 문헌의 경쟁 기술 수준(★2)에 놓이도록 idle·컨텍스트를 정했다.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수·M/M (시나리오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수·M/M 평균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★2 구간에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(×2.35,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1,036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1,577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2,073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3,154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3,202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3,682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5,603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680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510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· M/M (절대 기준)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· ≤1.0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· ≤0.75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· ≤0.5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HBM이 차면 LRU로 DRAM, DRAM이 차면 SSD로 이동. 턴 종료 시 증분만 write-through, 요청 시 동기 복원, prefetch·예측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수준, ★3 = ★2 × 1.5(경쟁 기술 위 목표).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이론값은 Q1 ×2.35(★2), Q3 r 2.10(★2)로 ★2 구간에 놓인다 → 시나리오가 문헌 수준으로 보정됐다는 확인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경쟁 기술의 이론값이 문헌 수준(×2.3)에 놓이도록 보정했다. 보정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NVMe 16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1,107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1,115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340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-20% · 경쟁 기술 대비 -20%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404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-5% · 경쟁 기술 대비 -5%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수·M/M (기존 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★2 수준이다.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1안(자원 상태 기반)은 HBM -20%(★1)로 자원 효율에서, 2안(데이터 특성 기반)은 prefetch(적시 60%)로 지연에서 앞선다.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4 노드 클러스터: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RDMA 50 GB/s [ASSUMED], 결정 비용은 후보 수에 선형(2 ms × 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tok/s (×2.35,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2,667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3,254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722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-15% · 경쟁 기술 대비 -15%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782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-8% · 경쟁 기술 대비 -8%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넘어 ★2.5~★3.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HBM은 두 안 모두 -8%~-15%로 ★1(20%) 미달.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1,462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1,512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255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-40% · 경쟁 기술 대비 -40%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319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-25% · 경쟁 기술 대비 -25%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HBM은 1안 -40%(관련 KV만 보유, ★2), 2안 -25%(사전 보유, ★1).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4 노드 + CXL 공유 풀 8 TiB(노드당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tok/s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×3.09(★2.5),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HBM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2.15~2.3x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451→1,107 tok/s (×2.46)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425→340 GiB (−20%)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2.3~2.8x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451→1,115 tok/s (×2.47)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20~30%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425→404 GiB (−5%)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2.0~2.15x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901→2,667 tok/s (×2.96)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850→722 GiB (−15%)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2.3~2.8x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901→3,254 tok/s (×3.61)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30~40%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850→782 GiB (−8%)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2.3~2.8x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451→1,462 tok/s (×3.25)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≥60%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425→255 GiB (−40%)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2.8~3.5x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451→1,512 tok/s (×3.36)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425→319 GiB (−25%)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2.8~3.5x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1,601→4,941 tok/s (×3.09)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2.3~2.8x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1,601→4,941 tok/s (×3.09)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★2(×2.35),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12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
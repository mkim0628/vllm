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45" r:id="rId4"/>
    <p:sldId id="926" r:id="rId5"/>
    <p:sldId id="959" r:id="rId6"/>
    <p:sldId id="719" r:id="rId7"/>
    <p:sldId id="721" r:id="rId8"/>
    <p:sldId id="933" r:id="rId9"/>
    <p:sldId id="961" r:id="rId10"/>
    <p:sldId id="724" r:id="rId11"/>
    <p:sldId id="722" r:id="rId12"/>
    <p:sldId id="962" r:id="rId18"/>
    <p:sldId id="963" r:id="rId19"/>
    <p:sldId id="964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5개, 개발 공수 ≤ 1.0 M/M (변경 시나리오 3종 평균, 두 조건 모두 만족)]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47501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8081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591491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226482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92524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340394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303136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낮음(&lt;2x)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낮음(&lt;20%)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높음(★3)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×1.30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+3%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−6%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1.75m/0.38MM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낮음(&lt;2x)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낮음(&lt;30%)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×1.42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−21%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+18%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2.5m/0.51MM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회색 수치 = 기존 중립 벤치마크 시뮬 실측[B+C] (Q3은 P99 개선 환산 감소율, Q4는 η/SE).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035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137096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446687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7381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같은 값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낮음(20% 미달)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TPOT는 +34% 악화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낮음(N=32 포화)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×1.66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+6%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+27%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η0.00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같은 값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Baseline보다 HBM 증가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낮음(η&lt;0.8)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×1.66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−5%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+25%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η0.56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회색 수치 = 기존 중립 벤치마크 시뮬 실측[B+C] (Q3은 P99 개선 환산 감소율, Q4는 η/SE).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15847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82206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27949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161182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Resource Efficiency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Resource Efficiency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(HBM </a:t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사용량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GB)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7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HBM </a:t>
            </a:r>
            <a:r>
              <a:rPr lang="ko-KR" altLang="en-US" sz="700" dirty="0">
                <a:latin typeface="맑은 고딕" panose="020B0503020000020004" pitchFamily="50" charset="-127"/>
              </a:rPr>
              <a:t>점유율</a:t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회색 수치 = 기존 중립 벤치마크 시뮬 실측[B+C] (Q3은 P99 개선 환산 감소율, Q4는 η/SE).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 DP3는 후보가 달라 미측정.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47501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393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43822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053818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4488188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947866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Baseline(RDMA)보다 낮음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동일 부하에선 TTFT ×5 악화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N=16에선 2안과 같은 값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×0.70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+18%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SE1.26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같은 값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같은 값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80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N=16 동일, 락 확장 근거 미검증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×0.70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+18%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70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 SE1.26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회색 수치 = 기존 중립 벤치마크 시뮬 실측[B+C] (Q3은 P99 개선 환산 감소율, Q4는 η/SE).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 대비, SLO를 만족하는 조건에서의 처리량(Max값) 증가율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2510.09665) · Sarathi-Serve OSDI'24 (2403.02310) · DistServe OSDI'24 (2401.09670) · Pensieve EuroSys'25 (2312.05516).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868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goodput(Baseline)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SLO: TTFT P99 ≤ 2 s, TPOT P99 ≤ 50 ms · SLO goodput: SLO를 만족한 요청이 처리한 토큰/초 (MLPerf Inference 참고)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Max: 동시 요청이 늘면 goodput이 오르다 SLO 위반으로 꺾이므로 부하 sweep의 최댓값끼리 비교 (peak가 grid 끝이면 grid 확장)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요구 2x, ★ 한 단계 올라갈 때마다 처리량 2배(2→4→8, 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196596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1단계 = 처리량 2배 추가 규칙(2→4→8). 문헌 상한대(SLO 내 처리량 Sarathi-Serve 최대 6.9x, DistServe 요청 수 7.4x)를 넘는 값. LMCache 최대 14x는 컨텍스트 10~20K·적중률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Sarathi-Serve, DistServe, 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중점(√(4×8)=5.7). LMCache 실 기업 트레이스에서 고 QPS TTFT 3.7~6.8배 단축의 상단에 대응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 ≤ R &lt; 5.7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 고 QPS 구간: 동일 TTFT 제약으로 환산한 QPS 확장 통상 4~6배의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중점(√(2×4)=2.8). Sarathi-Serve 2.6x(Mistral-7B), Pensieve 최대 3.0x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Sarathi-Serve, Pensieve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≤ R &lt; 2.8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가능". LMCache 단일 노드 로컬 CPU 오프로딩 다중 턴 QA(10~20K 토큰) 개선 하한선 2.3배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123944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(R, log 축)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361688"/>
            <a:ext cx="28346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36168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4361688"/>
            <a:ext cx="1376010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4361688"/>
            <a:ext cx="137601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22130" y="4361688"/>
            <a:ext cx="145862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2130" y="4361688"/>
            <a:ext cx="145862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4361688"/>
            <a:ext cx="1448393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4361688"/>
            <a:ext cx="1448393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29153" y="4361688"/>
            <a:ext cx="1386246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9153" y="4361688"/>
            <a:ext cx="138624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4361688"/>
            <a:ext cx="283463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15400" y="4361688"/>
            <a:ext cx="28346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46120" y="4773168"/>
            <a:ext cx="0" cy="1536191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622130" y="4773168"/>
            <a:ext cx="0" cy="1536191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80760" y="4773168"/>
            <a:ext cx="0" cy="1536191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529153" y="4773168"/>
            <a:ext cx="0" cy="1536191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915400" y="4773168"/>
            <a:ext cx="0" cy="1536191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Diamond 34"/>
          <p:cNvSpPr/>
          <p:nvPr/>
        </p:nvSpPr>
        <p:spPr>
          <a:xfrm>
            <a:off x="3186684" y="482574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19272" y="4791455"/>
            <a:ext cx="256946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(제품화 논의 조건)</a:t>
            </a:r>
          </a:p>
        </p:txBody>
      </p:sp>
      <p:sp>
        <p:nvSpPr>
          <p:cNvPr id="37" name="Oval 36"/>
          <p:cNvSpPr/>
          <p:nvPr/>
        </p:nvSpPr>
        <p:spPr>
          <a:xfrm>
            <a:off x="3767387" y="5022342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90831" y="4978907"/>
            <a:ext cx="33147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CPU 오프로딩, 다중 턴 QA(10~20K) 개선 하한선 2.3x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7322" y="5223509"/>
            <a:ext cx="3956955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947322" y="519607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904278" y="519607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977430" y="5166359"/>
            <a:ext cx="1933955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Pensieve: vLLM·TRT-LLM 대비 1.14~3.0x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19064" y="5410962"/>
            <a:ext cx="399141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4319064" y="538352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310477" y="538352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383629" y="5353812"/>
            <a:ext cx="32232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Sarathi-Serve: SLO 내 처리량 2.6x(Mistral-7B)~6.9x(Falcon-180B)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61934" y="5598414"/>
            <a:ext cx="248884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761934" y="5570981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250775" y="5570981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323927" y="5541264"/>
            <a:ext cx="24231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기업 트레이스: 고 QPS TTFT 3.7~6.8x 단축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5785865"/>
            <a:ext cx="165815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6080760" y="575843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738918" y="575843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812070" y="5728715"/>
            <a:ext cx="189737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LMCache: 동일 TTFT 환산 QPS 확장 4~6x</a:t>
            </a:r>
          </a:p>
        </p:txBody>
      </p:sp>
      <p:sp>
        <p:nvSpPr>
          <p:cNvPr id="55" name="Oval 54"/>
          <p:cNvSpPr/>
          <p:nvPr/>
        </p:nvSpPr>
        <p:spPr>
          <a:xfrm>
            <a:off x="8546282" y="59596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69726" y="5916167"/>
            <a:ext cx="166420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DistServe: 요청 수 7.4x (SLO 내)</a:t>
            </a:r>
          </a:p>
        </p:txBody>
      </p:sp>
      <p:sp>
        <p:nvSpPr>
          <p:cNvPr id="57" name="Oval 56"/>
          <p:cNvSpPr/>
          <p:nvPr/>
        </p:nvSpPr>
        <p:spPr>
          <a:xfrm>
            <a:off x="11153668" y="6147053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86056" y="6103619"/>
            <a:ext cx="144475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59" name="Oval 58"/>
          <p:cNvSpPr/>
          <p:nvPr/>
        </p:nvSpPr>
        <p:spPr>
          <a:xfrm>
            <a:off x="384048" y="6377939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" y="6336791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1" name="Diamond 60"/>
          <p:cNvSpPr/>
          <p:nvPr/>
        </p:nvSpPr>
        <p:spPr>
          <a:xfrm>
            <a:off x="1539748" y="6377939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658620" y="6336791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3" name="Isosceles Triangle 62"/>
          <p:cNvSpPr/>
          <p:nvPr/>
        </p:nvSpPr>
        <p:spPr>
          <a:xfrm>
            <a:off x="3028823" y="6377939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47695" y="6336791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5" name="Oval 64"/>
          <p:cNvSpPr/>
          <p:nvPr/>
        </p:nvSpPr>
        <p:spPr>
          <a:xfrm>
            <a:off x="3753358" y="6377939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72230" y="6336791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 대비 HBM 사용률 감소율 (KV 캐시 관리, 압축 제외)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(Baseline HBM 사용률 − 후보 HBM 사용률) ÷ Baseline HBM 사용률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HBM 사용률 = HBM에 위치한 KV 크기의 시간 평균 ÷ 전체 KV 크기 (오프로딩은 압축이 아니므로 전체 KV 크기는 같다)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요청이 늘면 HBM 크기 내 점유율은 포화되어 이동 효율을 못 가리므로 '전체 Data 대비 HBM 사용률'을 쓴다 (예: HBM 점유 40→64 GiB, KV 120 GiB: 크기 내 50→80%, 전체 대비 66→53%)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요구 20%, ★2 = 오프로딩 문헌 하한 40%, ★3 = 60%, 반 단계는 중점 (10%p 등간격)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오프로딩 계열 보고 DirectKV 43%(기존 offload 대비)~HeadInfer 92%(1M ctx 단일 요청)의 중앙(≈67%)에 못 미치는 보수적 상한. 압축을 포함한 ShadowKV(batch 6x)와 극단 조건은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DirectKV: CPU 메모리 직접 접근으로 GPU 메모리 43% 감소(GH200, 기존 offload 대비). 오프로딩 계열 보고 범위(40~80%)의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이론), 메모리 병목 대기 지연 단축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Diamond 40"/>
          <p:cNvSpPr/>
          <p:nvPr/>
        </p:nvSpPr>
        <p:spPr>
          <a:xfrm>
            <a:off x="5884164" y="500862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16752" y="4974336"/>
            <a:ext cx="213512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+25%, 이론)</a:t>
            </a:r>
          </a:p>
        </p:txBody>
      </p:sp>
      <p:sp>
        <p:nvSpPr>
          <p:cNvPr id="43" name="Oval 42"/>
          <p:cNvSpPr/>
          <p:nvPr/>
        </p:nvSpPr>
        <p:spPr>
          <a:xfrm>
            <a:off x="7575804" y="5205222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99248" y="5161788"/>
            <a:ext cx="235915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(OSDI'26, GH200): GPU 메모리 43% 감소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06640" y="5406390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7406640" y="537895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0332720" y="537895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623560" y="5349240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49" name="Isosceles Triangle 48"/>
          <p:cNvSpPr/>
          <p:nvPr/>
        </p:nvSpPr>
        <p:spPr>
          <a:xfrm>
            <a:off x="9322308" y="5575554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96227" y="5536692"/>
            <a:ext cx="291236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계산: 보고 43~92%의 중앙 ≈ 67% (★3 = 60%는 이보다 보수적)</a:t>
            </a:r>
          </a:p>
        </p:txBody>
      </p:sp>
      <p:sp>
        <p:nvSpPr>
          <p:cNvPr id="51" name="Oval 50"/>
          <p:cNvSpPr/>
          <p:nvPr/>
        </p:nvSpPr>
        <p:spPr>
          <a:xfrm>
            <a:off x="10501884" y="5767578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45551" y="5724144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3" name="Oval 52"/>
          <p:cNvSpPr/>
          <p:nvPr/>
        </p:nvSpPr>
        <p:spPr>
          <a:xfrm>
            <a:off x="11160252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71915" y="5911596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5" name="Oval 54"/>
          <p:cNvSpPr/>
          <p:nvPr/>
        </p:nvSpPr>
        <p:spPr>
          <a:xfrm>
            <a:off x="4453127" y="6185916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1999" y="6144768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7" name="Diamond 56"/>
          <p:cNvSpPr/>
          <p:nvPr/>
        </p:nvSpPr>
        <p:spPr>
          <a:xfrm>
            <a:off x="5608828" y="6185916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27700" y="6144768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9" name="Isosceles Triangle 58"/>
          <p:cNvSpPr/>
          <p:nvPr/>
        </p:nvSpPr>
        <p:spPr>
          <a:xfrm>
            <a:off x="7097903" y="6185916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216775" y="6144768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1" name="Oval 60"/>
          <p:cNvSpPr/>
          <p:nvPr/>
        </p:nvSpPr>
        <p:spPr>
          <a:xfrm>
            <a:off x="7822438" y="6185916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41310" y="6144768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사용률(전체 Data 대비)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전체 Data 대비 사용률 = HBM 사용량 ÷ 전체 KV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KV 120 GiB 중 HBM 64 GiB → 53% (이전 60 GiB / 80 GiB → 66%)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 대비 TTFT·TPOT P99 개선 r의 환산 감소율 (고부하 = Baseline 포화 부하의 90%, SLO 충족 전제)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2510.09665) · AttentionStore (2403.19708) · Llumnix OSDI'24 (2406.03243). 검색 요약 기준(버전별 상이), LMCache E2E 50~75%는 사용자 인용(원문 대조 필요)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617720"/>
            <a:ext cx="3728265" cy="169164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7772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(Baseline TTFT P99 ÷ 후보 TTFT P99) × (Baseline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Baseline의 Max SLO goodput의 90%에 고정 (후보 기준으로 잡지 않는다) ·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요구 30%(r 1.43), ★2 = 50%(r 2.0), ★3 = 75%(r 4.0), 반 단계는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1874519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75%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 E2E 지연 50~75% 감소의 상단. AttentionStore TTFT 87~88%, Llumnix P99 TTFT 5.5x(82%)는 TTFT 한정 상한이라 TPOT가 섞인 r에서는 75%로 보수 설정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AttentionStore, Llumnix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62.5 ≤ 감소율 &lt; 75%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중점. 이 위쪽은 TTFT 한정 보고(LMCache 77~85%, Llumnix 82%)가 걸치는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Llumnix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 Context 벤치마크 E2E 지연 약 50~75% 감소의 하한(r 2.0)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중점. LMCache ITL(≈TPOT) 34~58% 감소 보고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개선 30%. LMCache ITL 감소 하한 34%와 같은 자릿수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30%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요구(30%) 미충족 또는 SLO 위반. 음수는 Baseline보다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0325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감소율 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270247"/>
            <a:ext cx="2194559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270247"/>
            <a:ext cx="219455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19" y="4270247"/>
            <a:ext cx="731520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19" y="4270247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270247"/>
            <a:ext cx="73151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270247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59" y="4270247"/>
            <a:ext cx="914400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59" y="4270247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52559" y="4270247"/>
            <a:ext cx="91440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4270247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66959" y="4270247"/>
            <a:ext cx="1828800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66959" y="4270247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12680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19" y="45445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75119" y="4681727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681727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681727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9052559" y="4681727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966959" y="4681727"/>
            <a:ext cx="0" cy="1161288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iamond 41"/>
          <p:cNvSpPr/>
          <p:nvPr/>
        </p:nvSpPr>
        <p:spPr>
          <a:xfrm>
            <a:off x="6615683" y="47343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48271" y="4700015"/>
            <a:ext cx="168706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사용자 체감 개선 30%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67727" y="4944617"/>
            <a:ext cx="175564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967727" y="4917185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8723376" y="4917185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796528" y="4887467"/>
            <a:ext cx="248259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ITL(≈TPOT) 34~58% 감소 (고 QPS 실트래픽)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59" y="5132069"/>
            <a:ext cx="182880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8138159" y="51046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966959" y="51046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682995" y="5074919"/>
            <a:ext cx="238201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(Context 벤치마크)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63055" y="5319521"/>
            <a:ext cx="431596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6163055" y="52920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479024" y="52920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337430" y="5262371"/>
            <a:ext cx="175247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Llumnix: P99 per-token 23% ~ P99 TTFT 82%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113263" y="5506973"/>
            <a:ext cx="58521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10113263" y="5479541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698480" y="5479541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046719" y="5449823"/>
            <a:ext cx="199339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TTFT 4.4~6.6x(77~85%) (고 QPS)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844784" y="5694425"/>
            <a:ext cx="73152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10844784" y="566699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917936" y="566699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9372600" y="5637275"/>
            <a:ext cx="139903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AttentionStore TTFT 87~88%</a:t>
            </a:r>
          </a:p>
        </p:txBody>
      </p:sp>
      <p:sp>
        <p:nvSpPr>
          <p:cNvPr id="64" name="Oval 63"/>
          <p:cNvSpPr/>
          <p:nvPr/>
        </p:nvSpPr>
        <p:spPr>
          <a:xfrm>
            <a:off x="4453127" y="5911595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1999" y="5870447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6" name="Diamond 65"/>
          <p:cNvSpPr/>
          <p:nvPr/>
        </p:nvSpPr>
        <p:spPr>
          <a:xfrm>
            <a:off x="5608828" y="5911595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700" y="5870447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8" name="Isosceles Triangle 67"/>
          <p:cNvSpPr/>
          <p:nvPr/>
        </p:nvSpPr>
        <p:spPr>
          <a:xfrm>
            <a:off x="7097903" y="5911595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16775" y="5870447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0" name="Oval 69"/>
          <p:cNvSpPr/>
          <p:nvPr/>
        </p:nvSpPr>
        <p:spPr>
          <a:xfrm>
            <a:off x="7822438" y="5911595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941310" y="5870447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4069080"/>
            <a:ext cx="3931920" cy="5029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출력 토큰만 합산한다.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요구 80%, ★2 = 90%(손실 10% 이내), ★3 = 95%(손실 5% 이내),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196596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처리량 손실 10% 이내(16노드에서 14.4노드분 효과). 병렬 효율에서 '효율적'이라 부르는 관례 수준(정책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123944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361688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361688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361688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361688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361688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361688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361688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361688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361688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361688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361688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361688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63600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773168"/>
            <a:ext cx="0" cy="78638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773168"/>
            <a:ext cx="0" cy="78638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773168"/>
            <a:ext cx="0" cy="78638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773168"/>
            <a:ext cx="0" cy="78638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773168"/>
            <a:ext cx="0" cy="78638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82574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79145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022342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497890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205222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16635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410962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383529"/>
            <a:ext cx="0" cy="128017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383529"/>
            <a:ext cx="0" cy="128017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353812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62813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58698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62813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58698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62813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58698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62813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58698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변경 module 수 AND M/M(개발 공수) — 시나리오 평균, 두 지표 중 낮은 별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103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463040"/>
                <a:gridCol w="1463040"/>
                <a:gridCol w="5532120"/>
                <a:gridCol w="23134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① 변경 module 수 (평균)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② 개발 공수 (M/M,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규모: SWE-bench 평균 패치 1.7 file·32.8 line ≈ 0.32 MM(아래 공식 환산). 0.5 MM = 1인 2주 sprint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2310.06770), 사전 등록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변경이 한 Plane/Layer 안에 머무는 규모(설계 component 12~14개의 약 1/4), 3주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충족. module: 설계 component 12~14개 중 5개(36~42%) 초과 시 확장 지점이 없다고 본다. M/M: vLLM 최상위 KV connector 중앙값 356 LOC를 1개 신규 구현하는 비용 ≈ 1.0 MM(공식 환산) = 1인 1개월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사전 등록 component 목록, vLLM 저장소 LOC 계수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한 항목이라도 ★1 기준을 넘으면 미충족.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49039"/>
            <a:ext cx="11457432" cy="566928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67328"/>
            <a:ext cx="1124712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M/M = [ module 수 n × module당 고정 공수 3일 + 추가 LOC L ÷ 하루 생산성 40 LOC × 테스트·리뷰 overhead 2.0 ] ÷ 21일/MM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환산 예: SWE-bench 평균 패치 n=1.7, L=32.8 → 6.7일 = 0.32 MM · vLLM connector 중앙값 n=1, L=356 → 20.8일 = 0.99 MM. (LOC는 실제 vLLM 통합 기준. 시뮬레이터 proxy LOC는 ×5 배율로 환산한다.) 토큰 비용은 기준에서 제외했다.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352544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두 지표의 관계: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module 수 n이 M/M 안에 3일×n으로 들어 있어 독립이 아니다(n=2면 0.29 MM, n=5면 0.71 MM 선점). module 수가 M/M의 하한을 정하고, AND 판정은 'LOC까지 큰 변경'을 추가로 걸러 낸다.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709160"/>
            <a:ext cx="54864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① module 수 (시나리오 평균)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52897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38251" y="4946904"/>
            <a:ext cx="38535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23605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94314" y="4946904"/>
            <a:ext cx="77070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65022" y="4946904"/>
            <a:ext cx="15414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2148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2857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03565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74274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44982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15691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52897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338251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723605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494314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65022" y="5358384"/>
            <a:ext cx="0" cy="530352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1671392" y="5408676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94836" y="5376672"/>
            <a:ext cx="197840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2664169" y="556869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96757" y="5541264"/>
            <a:ext cx="179704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★2 경계 3 ≈ component 12~14개의 1/4</a:t>
            </a:r>
          </a:p>
        </p:txBody>
      </p:sp>
      <p:sp>
        <p:nvSpPr>
          <p:cNvPr id="48" name="Diamond 47"/>
          <p:cNvSpPr/>
          <p:nvPr/>
        </p:nvSpPr>
        <p:spPr>
          <a:xfrm>
            <a:off x="4205586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57330" y="5705856"/>
            <a:ext cx="203453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★1 경계: component 12~14개 중 5개(36~42%)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4709160"/>
            <a:ext cx="566928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② 개발 공수 M/M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31480" y="4946904"/>
            <a:ext cx="4648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9630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96112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425940" y="4946904"/>
            <a:ext cx="4648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90760" y="4946904"/>
            <a:ext cx="18592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521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818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1144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4108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0.75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7072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0036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430000" y="522122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803148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849630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896112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42594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890760" y="5358384"/>
            <a:ext cx="0" cy="69494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Isosceles Triangle 74"/>
          <p:cNvSpPr/>
          <p:nvPr/>
        </p:nvSpPr>
        <p:spPr>
          <a:xfrm>
            <a:off x="7302703" y="5404104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435291" y="5376672"/>
            <a:ext cx="1559559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환산 0.32 MM</a:t>
            </a:r>
          </a:p>
        </p:txBody>
      </p:sp>
      <p:sp>
        <p:nvSpPr>
          <p:cNvPr id="77" name="Diamond 76"/>
          <p:cNvSpPr/>
          <p:nvPr/>
        </p:nvSpPr>
        <p:spPr>
          <a:xfrm>
            <a:off x="7972044" y="5564123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04632" y="5541264"/>
            <a:ext cx="123571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2주 sprint (★3 경계)</a:t>
            </a:r>
          </a:p>
        </p:txBody>
      </p:sp>
      <p:sp>
        <p:nvSpPr>
          <p:cNvPr id="79" name="Diamond 78"/>
          <p:cNvSpPr/>
          <p:nvPr/>
        </p:nvSpPr>
        <p:spPr>
          <a:xfrm>
            <a:off x="9831324" y="5728716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963912" y="5705856"/>
            <a:ext cx="98958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1인 1개월 (★1 경계)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403336" y="5916168"/>
            <a:ext cx="3346704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onnector 81"/>
          <p:cNvCxnSpPr/>
          <p:nvPr/>
        </p:nvCxnSpPr>
        <p:spPr>
          <a:xfrm>
            <a:off x="8403336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1750040" y="5888736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958967" y="5870448"/>
            <a:ext cx="2371216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vLLM connector 신규 구현 0.60(192 LOC)~2.98(1,190 LOC) MM</a:t>
            </a:r>
          </a:p>
        </p:txBody>
      </p:sp>
      <p:sp>
        <p:nvSpPr>
          <p:cNvPr id="85" name="Oval 84"/>
          <p:cNvSpPr/>
          <p:nvPr/>
        </p:nvSpPr>
        <p:spPr>
          <a:xfrm>
            <a:off x="6144768" y="612190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608075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87" name="Diamond 86"/>
          <p:cNvSpPr/>
          <p:nvPr/>
        </p:nvSpPr>
        <p:spPr>
          <a:xfrm>
            <a:off x="7300468" y="612190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419340" y="608075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89" name="Isosceles Triangle 88"/>
          <p:cNvSpPr/>
          <p:nvPr/>
        </p:nvSpPr>
        <p:spPr>
          <a:xfrm>
            <a:off x="8789543" y="612190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08415" y="608075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91" name="Oval 90"/>
          <p:cNvSpPr/>
          <p:nvPr/>
        </p:nvSpPr>
        <p:spPr>
          <a:xfrm>
            <a:off x="9514078" y="612190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632950" y="608075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B/token(80 layer × 8 KV head × 128 dim × K·V × BF16) · H100×8 HBM 640 GiB, 가중치 약 131 GiB · prefill 처리율은 MFU 0.45 가정(≈ 25k tok/s). 부하·tool 대기 분포는 설계값[가정]이며 시뮬레이션 전 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0416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51560"/>
                <a:gridCol w="5669280"/>
                <a:gridCol w="47365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 / SYS-B200). DP2·DP4는 P/D 분리 2~16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세션·컨텍스트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동시 agent 세션 256, 컨텍스트 평균 16K(8K→24K), 턴당 +1K(tool 결과) 입력, 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LMCache가 이득을 보고한 10~20K 컨텍스트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tool 대기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턴 사이 대기 lognormal, 중앙값 5 s (0.2~30 s sweep) — 대기 중 KV는 유휴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비율 ≈ 50% [가정]. 활성 세션 ≈ 128 → 640 GiB ≫ HBM KV 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KV 풀 ≈ 425 GiB(640×0.9 − 가중치 131 − 활성값 약 20) ≈ 85 세션분. 활성 KV 640 GiB = 풀의 1.5배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Baseline(vLLM)은 KV 부족 시 preemption→recompute. 16K 재prefill ≈ 0.65 s vs DRAM→HBM 복원 ≈ 10~50 ms(이론 PCIe 5.0 ×8)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공유 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prefix가 아닌 위치(non-prefix)에서 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 구조가 선택 재계산으로 이득을 내는 조건. 나머지 70%는 세션 고유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동시성 32→512 sweep(Max goodput), Q3는 Baseline Max goodput의 90% 고정 부하.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R, Q3: 고부하 P99, 부하 90%는 후보 기준이 아니라 Baseline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KV 이동·노드 간 공유 없음, P/D 고정 역할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후보와 같은 SLO·seed·workload. 후보 전용 메모리는 Baseline이 쓰지 않음을 명시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seed ≥ 5, median, 95% CI. 별은 시나리오 단위 보고, 조건부 별로 표기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349240"/>
            <a:ext cx="11430000" cy="5029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HBM을 넘고 재사용할 history가 있는 구간을 의도적으로 겨냥한다(문헌의 이득 보고 조건과 같은 영역). 짧은 컨텍스트·KV 여유 구간에서는 이득이 줄어들 수 있으므로 별은 '이 regime에서의 별'로 읽는다.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시뮬레이션 전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tool 대기를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승격·prefetch(promote).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 혼합)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참조(위치가 달라 prefix 재사용 불가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요청마다 전체 체인(Pipe-and-Filter), 2안 = 분석 1회 + 조회(Shared Repository),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수·M/M (시나리오 평균)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비교 · Q2: 시간 평균 HBM 사용률의 Baseline 대비 감소율 · Q3: Baseline 포화 부하의 90%에서 TTFT·TPOT P99로 r 계산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수·M/M 평균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기준·시나리오 값은 시뮬레이션 결과를 보기 전에 고정한다. 기존 중립 벤치마크(8K 입력, batch 32) 결과는 'DP 페이지의 회색 수치'로 병기하고 이 시나리오 결과와 섞지 않는다.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기존 실측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실측 = 기존 중립 벤치마크 시뮬레이션 [B+C] (H100+B200 통합). 새 시나리오 결과가 아니다. DP3는 후보가 달라 미측정. 붉은 글씨 = 실측이 소유자 별 구간에 못 미침, 파란 글씨 = 같거나 높음.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기준의 어떤 수치 구간에 해당하는지, 기존 중립 벤치마크 실측은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1828800"/>
                <a:gridCol w="1828800"/>
                <a:gridCol w="1965960"/>
                <a:gridCol w="1828800"/>
                <a:gridCol w="190195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HBM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×1.30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+3%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30~40%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−6%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실측 1.75m/0.38MM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4~5.7x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×1.42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20~30%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−21%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50~62.5%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+18%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≤3·≤0.75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실측 2.5m/0.51MM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2~2.8x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×1.66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+6%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50~62.5%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+27%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η0.00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4~5.7x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×1.66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30~40%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−5%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30~40%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+25%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η0.56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4~5.7x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30~40%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40~50%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62.5~75%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실측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×0.70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50~62.5%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+18%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실측 SE1.26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4~5.7x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×0.70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40~50%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실측 +18%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실측 SE1.26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기존 중립 벤치마크 실측과 새 기준으로 환산한 별.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실측이 구간에 못 미치는 곳이 대부분이다. Q1~Q3의 실측은 모두 ★1 기준(2x, 20%, 30%) 아래다. 중립 벤치마크는 8K 입력·batch 32라 HBM 압박과 재사용 history가 거의 없는 조건이기 때문이며, 새 시나리오(Agent KV Fleet)가 그 조건을 만든다. 새 시나리오에서 이 구간에 도달하는지는 시뮬레이션 전이라 알 수 없다.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실측이 소유자 별과 방향이 반대인 곳: DP4 Q4(락 기반이 3, 실측은 N=16에서 두 안 동일), DP2 Q1(두 안 동일), DP1 Q5(실측이 더 높음).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
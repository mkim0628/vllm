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43" r:id="rId2"/>
    <p:sldId id="931" r:id="rId3"/>
    <p:sldId id="967" r:id="rId23"/>
    <p:sldId id="945" r:id="rId4"/>
    <p:sldId id="968" r:id="rId24"/>
    <p:sldId id="926" r:id="rId5"/>
    <p:sldId id="969" r:id="rId25"/>
    <p:sldId id="959" r:id="rId6"/>
    <p:sldId id="970" r:id="rId26"/>
    <p:sldId id="964" r:id="rId20"/>
    <p:sldId id="965" r:id="rId21"/>
    <p:sldId id="966" r:id="rId22"/>
    <p:sldId id="719" r:id="rId7"/>
    <p:sldId id="721" r:id="rId8"/>
    <p:sldId id="973" r:id="rId29"/>
    <p:sldId id="933" r:id="rId9"/>
    <p:sldId id="961" r:id="rId10"/>
    <p:sldId id="724" r:id="rId11"/>
    <p:sldId id="722" r:id="rId12"/>
    <p:sldId id="972" r:id="rId28"/>
    <p:sldId id="962" r:id="rId18"/>
    <p:sldId id="974" r:id="rId30"/>
    <p:sldId id="963" r:id="rId19"/>
    <p:sldId id="97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78A91-A2AF-4AFF-956C-ED60CBCEC2CA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1F2B9-5959-42CE-B508-EC1F8FE5D6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87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7BF61-C4E3-46F2-976A-DB71B3C1F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952DBF-B21A-48FA-BC39-6A8AE61AB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4439D-0C75-4898-8A51-D73AFB26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B2237-742D-4469-AD43-1727915B7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0FECAC-EB5B-4CEC-8DEA-4607E2E6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056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E5A6F2-0A9C-4C62-B7FC-BA83EB21E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37F6CF-1F7F-4D8D-ABEB-BA6C340D9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14E37C-BD60-4EB1-A385-0DE2F7F5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7B1C9-7FF6-4126-879D-9AD271A5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FC973-18E9-4BEE-B4E3-33F10BF2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2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E77B3-1FCE-4434-AFA7-9B8F1F25F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AEFA20-081C-4E8D-AFC1-5A7F5B59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9797DE-F355-4D3F-9AE3-30788265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212DBF-DBA1-4546-A29D-6DB6D3B0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FF532D-5C40-4A4F-83DE-7CB1DE22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33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FDC3A-7D41-4D6C-A1F2-FEE558FC2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378EC-3B40-4F08-8DF9-7CF643BAC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1E0DA1-61C0-4ECD-8DC6-9A1A1A490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1DD359-40A9-4D37-B364-775CC0EB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FF8DE4-06AC-41E4-B9F4-5149D5D5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EC11F1-ACB4-48F9-ABE4-E67889E6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4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27192D-37A9-442E-A961-0AC5E48C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0C0C-CCE7-46A5-AE37-6BADD5EB8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BB593E-534D-4C68-B007-4DDA37DFC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1085C3-D1F2-4718-B146-AA78B6D41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5397293-6B7E-45FA-930E-C6F160170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38B3EB-9E31-4C6A-8C64-B1B3FC00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56D33E-FCBC-40E5-ABEC-2160DE9F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FFA1E9-98A8-45E6-9827-35E02D1E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35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BC120-0B4C-4C6A-95F7-21277A86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0D0EBC-5CF9-4A9C-A42A-9EFD7F2FE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B663AE-454E-4DBD-9A7C-09DA836B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55097A-826B-4C56-9511-B9B3AC7D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49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D1965F-A2DF-4CA3-8B0F-156819D05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53C49F-5039-4FC6-98AE-AAEA3EB3C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BB90-AABB-431D-B967-5817929C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426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6B979-BDBB-491F-97FC-5B1B63EF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F8D9D6-24D3-41B9-85F2-DA5F5B985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8894B1-E41A-4F8E-B331-993DD9214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A855F1-6A21-4737-8E20-AA8330DA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545FF-3B82-46AF-BF9E-CE560AD8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7B1D7-A84C-4EA3-AAD8-17DD49E8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EFE94-E9ED-4D01-BD1E-9A1566FF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BA952-DBA5-41FD-8B00-42CEE24DF6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8D9DEA-9228-4BD1-A1FA-C1B331E6A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BB937-BA11-4499-AC02-FEF41F70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E7F680-2B69-4E1D-832E-A2486EAF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181AB6-6B74-4EB7-BF6D-5CDE1E5C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1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9F32-1A27-489C-9865-CBEB3C5DC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C9ECD8-1D79-4B48-8376-FFDAC3D1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4052F-E62A-4793-9765-8F70AEFA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E728C-9D4E-4988-8CAD-F40D8C45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C341E0-57B9-4F5B-8DA3-1A747E2D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FC14BD-5747-4120-B50D-EF09DA2BC5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5DF3F4-E9A0-42C1-8E59-19AAE21C2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203052-1383-4EB9-AA1C-6D065F36F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90F0F-F70E-46D3-BFD8-6AFEB5D1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AFDBC6-5438-443D-BE35-98DE543A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54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5393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979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AC9B4-2FED-4499-8F20-384B4A8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D1163-3C5C-44D4-BAD1-A6E73A9F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D84C45-0880-4ACB-B7DA-D5C51A5AC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F8C919-9592-46E7-9922-7C91198B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DC4C1E-3602-490A-A8F7-9D5858EAB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59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395748"/>
              </p:ext>
            </p:extLst>
          </p:nvPr>
        </p:nvGraphicFramePr>
        <p:xfrm>
          <a:off x="278859" y="996757"/>
          <a:ext cx="11709382" cy="4237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(Baseline: GPU-only)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Baseline(GPU-only)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sz="900"/>
                        <a:t>QA-06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Capacity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동일 메모리 하 최대 동시 세션 수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동일 HBM 용량에서 SLO를 만족하며 동시에 보존·처리 가능한 세션(offload된 KV 보존 세션 포함) 수가 Baseline(GPU-only) 대비 증가해야 한다.</a:t>
                      </a:r>
                      <a:br/>
                      <a:r>
                        <a:rPr sz="900" b="1"/>
                        <a:t>[측정: SLO 만족 최대 동시 세션 수 ≥ Baseline 대비 2x]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Baseline(GPU-only)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br>
                        <a:rPr lang="en-US" altLang="ko-KR" sz="900" dirty="0"/>
                      </a:b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새로운 메모리 tier 추가, 이동·배치·재사용 정책 교체, vLLM upstream 갱신 시 서빙 경로를 수정하지 않고 반영할 수 있어야 한다.</a:t>
                      </a:r>
                      <a:endParaRPr lang="ko-KR" altLang="en-US" sz="900" dirty="0"/>
                    </a:p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[측정: 변경 모듈 수 ≤ 5개 (변경 시나리오 3종 평균, 환산 개발 공수 ≈ 1.0 M/M 이하)]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10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617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4033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50040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Capacity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Capacity 별 재평가 필요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1.76→4.32 query/s (×2.46)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85→296 세션 (×3.5)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1.75m·0.38MM</a:t>
                      </a: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Capacity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1안과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Capacity 별 재평가 필요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1.76→4.35 query/s (×2.47)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85→350 세션 (×4.1)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2.5m·0.51MM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398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Capacity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3.52→10.4 query/s (×2.96)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98→38%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Capacity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3.52→12.7 query/s (×3.61)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98→97%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3311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Capacity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1.76→5.71 query/s (×3.25)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85→385 세션 (×4.5)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3.2→0.6 s (r 2.65)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Capacity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1.76→5.91 query/s (×3.36)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85→385 세션 (×4.5)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3.2→0.5 s (r 2.76)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0040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313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6.25→19.3 query/s (×3.09)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3.36)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6.25→19.3 query/s (×3.09)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3.34)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  <p:sp>
        <p:nvSpPr>
          <p:cNvPr id="253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처리량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SLO를 만족하는 조건에서의 처리량(Max값) 증가율 — ★2는 경쟁 기술(KV offload·재사용) 문헌 대표값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2510.09665 · Mooncake 2407.00079 · InferCept 2402.01869 · Pensieve 2312.05516 · AttentionStore 2403.19708 · DistServe 2401.09670 · Sarathi-Serve 2403.02310. 'up to' 보고값이며 지표·baseline이 달라 직접 비교 아님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Max SLO goodput(후보) ÷ Max SLO goodput(B0 GPU-only)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B0 = vLLM 기본(HBM만, 부족하면 recompute). 경쟁 기술 = KV offload·재사용·상태 보존 시스템(LMCache, Pensieve, InferCept, Mooncake, AttentionStore 등). 이론 대리 B1 = 단순 offloading(증분 write-through, 동기 복원, prefetch 없음)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절대값(이론, 1노드): B0 1.76 query/s → ★1 ≥ 3.52 · ★2 ≥ 7.04 · ★3 ≥ 14.1 query/s. 이 시나리오의 이론값: B1 ×2.35(4.13 query/s), 이론 상한 ×4.0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2x · ★2 = 문헌 8건 headline 개선의 중앙값 4.0x · ★3 = 문헌 상위권 8x(★2의 2배) · ★ 1단계 = 2배(log 등간격), 반 단계는 기하 중점</a:t>
            </a:r>
          </a:p>
        </p:txBody>
      </p:sp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365760" y="2011680"/>
          <a:ext cx="11457432" cy="1920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14.1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 상위권 ≈ 8x: AttentionStore prefill 처리량 7.8~8.2x(TTFT −87%), DistServe 요청 수 7.4x(SLO 내), Sarathi-Serve SLO 내 처리량 최대 6.9x(Falcon-180B). ★2(4x)의 2배. LMCache 최대 14x는 극단 조건이라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AttentionStore, DistServe,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 ≤ R &lt;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10.0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중점(√(4×8)=5.7x). Mooncake 시뮬 +525%(6.25x), LMCache 실서비스 QPS 확장 4~6x의 상단과 Sarathi-Serve 6.9x 사이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Mooncake, LMCache,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4.0 ≤ R &lt; 5.7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7.04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대표값 = KV offload·재사용 시스템 8건의 headline 개선(1.75, 2.0, 2.3, 3.0, 5.0, 6.25, 7.8, 14x)의 중앙값 4.0x(기하평균 4.1x). LMCache 실서비스 QPS 확장 4~6x의 하한과도 일치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Mooncake, LMCache, Pensieve, AttentionStore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2.8 ≤ R &lt; 4.0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4.93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중점(√(2×4)=2.8x). Pensieve 최대 3.0x, Sarathi-Serve 2.6x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Pensieve,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2.8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3.52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2배 이상 되어야 제품화 논의 가능" (GPU-only 대비). 문헌 하위 사분위(≈2.2x: InferCept 2.0x, LMCache 단일 노드 하한 2.3x, Mooncake 실트래픽 1.75x)와 같은 수준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InferCept, LMCache, Mooncake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요구(2배)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059936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(GPU-only 대비 R, log 축) — 문헌 7편 + 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9441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1626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9627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1812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9813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789481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40118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09667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06156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29853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1730045" y="4740249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2633" y="4727448"/>
            <a:ext cx="233248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Stakeholder 요구: 처리량 2배 이상 (GPU-only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620" y="4907584"/>
            <a:ext cx="1068861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720620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789481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862633" y="4871923"/>
            <a:ext cx="2336800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InferCept 1.6~2x · Mooncake 실트래픽 +75%(1.75x)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052059"/>
            <a:ext cx="3320186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11480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731666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804818" y="5016398"/>
            <a:ext cx="211658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Pensieve 1.14~3.0x (vLLM·TensorRT-LLM 대비)</a:t>
            </a:r>
          </a:p>
        </p:txBody>
      </p:sp>
      <p:sp>
        <p:nvSpPr>
          <p:cNvPr id="46" name="Oval 45"/>
          <p:cNvSpPr/>
          <p:nvPr/>
        </p:nvSpPr>
        <p:spPr>
          <a:xfrm>
            <a:off x="2408651" y="518281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32095" y="5160873"/>
            <a:ext cx="211226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단일 노드 로컬 CPU offload 하한 2.3x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09667" y="5341010"/>
            <a:ext cx="194218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109667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051852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25004" y="5305348"/>
            <a:ext cx="251383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실서비스 고 QPS: 동일 TTFT 환산 QPS 확장 4~6x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6210" y="5485485"/>
            <a:ext cx="4675103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046210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21314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94466" y="5449824"/>
            <a:ext cx="300177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Sarathi-Serve SLO 내 처리량 2.6x(Mistral-7B)~6.9x(Falcon-180B)</a:t>
            </a:r>
          </a:p>
        </p:txBody>
      </p:sp>
      <p:sp>
        <p:nvSpPr>
          <p:cNvPr id="56" name="Oval 55"/>
          <p:cNvSpPr/>
          <p:nvPr/>
        </p:nvSpPr>
        <p:spPr>
          <a:xfrm>
            <a:off x="8006124" y="561624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29568" y="5594299"/>
            <a:ext cx="152933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DistServe 요청 수 7.4x (SLO 내)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8581" y="5774436"/>
            <a:ext cx="23955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30858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54813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621283" y="5738774"/>
            <a:ext cx="2582926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AttentionStore prefill 처리량 7.8~8.2x (TTFT −87~88%)</a:t>
            </a:r>
          </a:p>
        </p:txBody>
      </p:sp>
      <p:sp>
        <p:nvSpPr>
          <p:cNvPr id="62" name="Oval 61"/>
          <p:cNvSpPr/>
          <p:nvPr/>
        </p:nvSpPr>
        <p:spPr>
          <a:xfrm>
            <a:off x="7197098" y="5905195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20542" y="5883249"/>
            <a:ext cx="1624329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Mooncake 시뮬 +525% (6.25x, 시뮬)</a:t>
            </a:r>
          </a:p>
        </p:txBody>
      </p:sp>
      <p:sp>
        <p:nvSpPr>
          <p:cNvPr id="64" name="Oval 63"/>
          <p:cNvSpPr/>
          <p:nvPr/>
        </p:nvSpPr>
        <p:spPr>
          <a:xfrm>
            <a:off x="11060130" y="604967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67702" y="6027724"/>
            <a:ext cx="136956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59525" y="6207861"/>
            <a:ext cx="2575315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559525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134841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207993" y="6172200"/>
            <a:ext cx="235407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이 시나리오 이론: 단순 offload ×2.35 ~ 상한 ×4.0</a:t>
            </a:r>
          </a:p>
        </p:txBody>
      </p:sp>
      <p:sp>
        <p:nvSpPr>
          <p:cNvPr id="70" name="Oval 69"/>
          <p:cNvSpPr/>
          <p:nvPr/>
        </p:nvSpPr>
        <p:spPr>
          <a:xfrm>
            <a:off x="384048" y="64035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3623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72" name="Diamond 71"/>
          <p:cNvSpPr/>
          <p:nvPr/>
        </p:nvSpPr>
        <p:spPr>
          <a:xfrm>
            <a:off x="1539748" y="64035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58620" y="63623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74" name="Isosceles Triangle 73"/>
          <p:cNvSpPr/>
          <p:nvPr/>
        </p:nvSpPr>
        <p:spPr>
          <a:xfrm>
            <a:off x="3028823" y="64035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147695" y="63623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76" name="Oval 75"/>
          <p:cNvSpPr/>
          <p:nvPr/>
        </p:nvSpPr>
        <p:spPr>
          <a:xfrm>
            <a:off x="3753358" y="64035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230" y="63623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자원(HBM) 효율성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HBM 사용량 감소율 (KV 캐시 관리, 압축 제외) — ★2는 오프로딩 문헌 수준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출처[1]: DirectKV OSDI'26 · HeadInfer (arXiv 2502.12574, 검색 요약 기준) · ShadowKV ICML'25 (arXiv 2410.21465). 40~80% 범위는 사용자 인용(원문 대조 필요). 절대값은 분석 모델</a:t>
            </a:r>
          </a:p>
        </p:txBody>
      </p:sp>
      <p:sp>
        <p:nvSpPr>
          <p:cNvPr id="14" name="실행 단추: 뒤로 또는 이전 13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감소율 = (B0 HBM 사용 − 후보 HBM 사용) ÷ B0 HBM 사용  (HBM 사용 = HBM에 올라와 있는 KV 크기의 시간 평균, 같은 부하·SLO)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B0 425 GiB(HBM KV 풀 = 640×0.9 − 가중치 131 − 활성값 20 전체) → ★1 ≤ 340 · ★2 ≤ 255 · ★3 ≤ 170 GiB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단순 LRU offload(B1)는 HBM을 캐시로 채워 425 GiB(감소 0%, ☆)다. 문헌의 40%는 HBM 절감을 목적으로 한 offload(DirectKV 등)의 보고값이라 ★2 앵커로 쓴다. 이론 상한 ≈ 88%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시나리오 요구 20% · ★2 = 오프로딩 문헌 수준 40% · ★3 = 잔여 HBM(60%)을 1.5x 더 줄인 값 = 감소율 60% · 반 단계는 중점(10%p)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214884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170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기술이 줄이고 남은 HBM(60%)을 1.5x 더 줄이면 40%만 남는다 → 감소율 60%. 이론 상한(≈88%)과 HeadInfer 92%(1M ctx 극단)보다 보수적. ShadowKV(batch 6x)는 key 저랭크 압축이라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HeadInfer [1],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212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255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기술(오프로딩 계열) 수준: DirectKV는 CPU 메모리 직접 접근으로 GPU 메모리 43% 감소(GH200, 기존 offload 대비). 사용자 인용 '배치·오프로딩 계열 40~80%'의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298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 ≤ 감소율 &lt; 30%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340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20%. 계산: HBM 20% 감소 = 같은 HBM에 KV 1/0.8 = 1.25배 수용(동시 처리 +25% 이상, 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/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20%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요구(20%) 미충족. 음수는 후보가 HBM을 더 쓴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34840" y="4306824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(HBM 감소율 %, GPU-only 대비)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19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1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>
            <a:off x="4421123" y="501319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2" y="4974336"/>
            <a:ext cx="251460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B1(정적 LRU offload) = 0% (HBM을 캐시로 채움)</a:t>
            </a:r>
          </a:p>
        </p:txBody>
      </p:sp>
      <p:sp>
        <p:nvSpPr>
          <p:cNvPr id="43" name="Diamond 42"/>
          <p:cNvSpPr/>
          <p:nvPr/>
        </p:nvSpPr>
        <p:spPr>
          <a:xfrm>
            <a:off x="5884164" y="519607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5161788"/>
            <a:ext cx="18516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시나리오 요구 20% (≈ 동시 수용 +25%)</a:t>
            </a:r>
          </a:p>
        </p:txBody>
      </p:sp>
      <p:sp>
        <p:nvSpPr>
          <p:cNvPr id="45" name="Oval 44"/>
          <p:cNvSpPr/>
          <p:nvPr/>
        </p:nvSpPr>
        <p:spPr>
          <a:xfrm>
            <a:off x="7575804" y="539267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5349240"/>
            <a:ext cx="367588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DirectKV (OSDI'26): 기존 offload 대비 GPU 메모리 43% 감소 = 경쟁 기술 수준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593842"/>
            <a:ext cx="292608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740664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3272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23560" y="5536692"/>
            <a:ext cx="170992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오프로딩 계열 보고 범위 40~80% [1]</a:t>
            </a:r>
          </a:p>
        </p:txBody>
      </p:sp>
      <p:sp>
        <p:nvSpPr>
          <p:cNvPr id="51" name="Isosceles Triangle 50"/>
          <p:cNvSpPr/>
          <p:nvPr/>
        </p:nvSpPr>
        <p:spPr>
          <a:xfrm>
            <a:off x="10824075" y="576300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58115" y="5724144"/>
            <a:ext cx="195224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상한 ≈ 88% (decode 상주분만 남김)</a:t>
            </a:r>
          </a:p>
        </p:txBody>
      </p:sp>
      <p:sp>
        <p:nvSpPr>
          <p:cNvPr id="53" name="Oval 52"/>
          <p:cNvSpPr/>
          <p:nvPr/>
        </p:nvSpPr>
        <p:spPr>
          <a:xfrm>
            <a:off x="10501884" y="595503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45551" y="5911596"/>
            <a:ext cx="263347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ShadowKV: batch 6x ≈ 83%/seq (key 저랭크 압축 포함)</a:t>
            </a:r>
          </a:p>
        </p:txBody>
      </p:sp>
      <p:sp>
        <p:nvSpPr>
          <p:cNvPr id="55" name="Oval 54"/>
          <p:cNvSpPr/>
          <p:nvPr/>
        </p:nvSpPr>
        <p:spPr>
          <a:xfrm>
            <a:off x="11160252" y="61424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71915" y="6099048"/>
            <a:ext cx="266547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HeadInfer: 총 GPU 메모리 92% (1M ctx 단일 요청, 극단)</a:t>
            </a:r>
          </a:p>
        </p:txBody>
      </p:sp>
      <p:sp>
        <p:nvSpPr>
          <p:cNvPr id="57" name="Oval 56"/>
          <p:cNvSpPr/>
          <p:nvPr/>
        </p:nvSpPr>
        <p:spPr>
          <a:xfrm>
            <a:off x="4453127" y="637336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1999" y="633221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9" name="Diamond 58"/>
          <p:cNvSpPr/>
          <p:nvPr/>
        </p:nvSpPr>
        <p:spPr>
          <a:xfrm>
            <a:off x="5608828" y="637336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27700" y="633221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7097903" y="637336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6775" y="633221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3" name="Oval 62"/>
          <p:cNvSpPr/>
          <p:nvPr/>
        </p:nvSpPr>
        <p:spPr>
          <a:xfrm>
            <a:off x="7822438" y="637336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41310" y="633221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72000"/>
            <a:ext cx="393192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HBM 사용량과 전체 Data 대비 사용률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HBM 사용량: HBM에 올라와 있는 KV의 시간 평균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100초 중 40초 100 GiB, 60초 50 GiB → 70 GiB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요청이 늘면 HBM 크기 내 점유율은 포화되어 이동 효율을 가리지 못한다 → 전체 KV 대비 사용률을 병기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HBM 점유 40→64 GiB, KV 120 GiB: 크기 내 50→80%, 전체 대비 66→53%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압축이 아니므로 정확도(출력)는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332357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고부하 지연시간(Tail Latency)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TTFT·TPOT P99 개선 r (고부하 = B0 포화 부하의 90%, SLO 충족 전제) — ★2는 경쟁 기술 수준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2510.09665, 검색 요약 기준) · KVFlow (arXiv 2507.07400) · DirectKV OSDI'26. LMCache E2E 50~75%는 사용자 인용(원문 대조 필요). 절대값은 분석 모델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l="3011" r="635" b="11226"/>
          <a:stretch/>
        </p:blipFill>
        <p:spPr>
          <a:xfrm>
            <a:off x="411480" y="4800600"/>
            <a:ext cx="3526737" cy="1600200"/>
          </a:xfrm>
          <a:prstGeom prst="rect">
            <a:avLst/>
          </a:prstGeom>
        </p:spPr>
      </p:pic>
      <p:sp>
        <p:nvSpPr>
          <p:cNvPr id="15" name="실행 단추: 뒤로 또는 이전 14">
            <a:hlinkClick r:id="rId3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√[ (B0 TTFT P99 ÷ 후보 TTFT P99) × (B0 TPOT P99 ÷ 후보 TPOT P99) ],  감소율 = 1 − 1/r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고부하: 부하를 B0 포화 부하(2.20 turn/s)의 90%(1.98)에 고정. Baseline 절대값(이론): B0 TTFT P99 3.22 s · TPOT P99 26.2 ms (이 부하에서 B0는 TTFT SLO 초과). TPOT이 같으면 TTFT가 ★1 ≤ 1.57 · ★2 ≤ 0.80 · ★3 ≤ 0.36 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경쟁 기술의 이론값(B1): TTFT 0.89 s · TPOT 21.6 ms → r 2.10 (★2 구간). 후보는 SLO(TTFT ≤ 2 s, TPOT ≤ 50 ms) 충족 필수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체감 30%(r 1.43) · ★2 = 경쟁 기술 수준 50%(r 2.0) · ★3 = ★2 × 1.5 = r 3.0(감소율 67%) · 반 단계는 기하 중점</a:t>
            </a:r>
          </a:p>
        </p:txBody>
      </p:sp>
      <p:graphicFrame>
        <p:nvGraphicFramePr>
          <p:cNvPr id="17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 (감소율 67%)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0.36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기술(r 2.0)의 1.5x(offload baseline 대비 문헌 개선 1.2~1.83x의 중간). LMCache 고 QPS 실트래픽 TTFT 4.4~6.6x·ITL 34~58%를 r로 환산하면 2.6~4.0이라 그 중간~상단에 해당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KVFlow, DirectKV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 (감소율 59%)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0.54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중점(√(2.0×3.0)=2.45)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2.45 (감소율 50%)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0.80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LMCache Context 벤치마크 E2E 지연 약 50~75% 감소의 하한(r 2.0). 이론 B1 r 2.10가 이 구간에 놓인다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 ≤ r &lt; 2.0 (감소율 41%)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1.11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중점(√(1.43×2.0)=1.7)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1.43 ≤ r &lt; 1.7 (감소율 30%)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1.57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사용자 체감 성능 개선 기준 30% 감소(r 1.43, GPU-only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 또는 SLO 위반. 음수는 B0보다 나빠진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434840" y="4261103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(P99 개선 r, GPU-only 대비)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554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0577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5605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2.5x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3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566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3.5x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0691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19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4.5x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7928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943599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70617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511142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6067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5319848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2436" y="4928615"/>
            <a:ext cx="181508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Stakeholder: 체감 30% 감소 (r 1.43)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714805" y="5154929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47393" y="5116067"/>
            <a:ext cx="1463039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B1(단순 offload) r 2.10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70617" y="5360669"/>
            <a:ext cx="418011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570617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750731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70444" y="5303519"/>
            <a:ext cx="2327021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LMCache E2E 지연 50~75% 감소 (r 2.0~4.0) = 경쟁 기술 수준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03750" y="5548121"/>
            <a:ext cx="286337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03750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667129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42262" y="5490971"/>
            <a:ext cx="26883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고 QPS TTFT 4.4~6.6x·ITL 34~58% → r 2.6~4.0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06640" y="5735573"/>
            <a:ext cx="2633472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406640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040112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78274" y="5678423"/>
            <a:ext cx="285521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19" b="0">
                <a:solidFill>
                  <a:srgbClr val="262626"/>
                </a:solidFill>
                <a:latin typeface="맑은 고딕"/>
                <a:ea typeface="맑은 고딕"/>
              </a:rPr>
              <a:t>★3 근거: 경쟁 r 2.0 × offload 대비 문헌 개선 1.2~1.83x = 2.4~3.7</a:t>
            </a:r>
          </a:p>
        </p:txBody>
      </p:sp>
      <p:sp>
        <p:nvSpPr>
          <p:cNvPr id="60" name="Oval 59"/>
          <p:cNvSpPr/>
          <p:nvPr/>
        </p:nvSpPr>
        <p:spPr>
          <a:xfrm>
            <a:off x="4453127" y="59527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1999" y="59115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2" name="Diamond 61"/>
          <p:cNvSpPr/>
          <p:nvPr/>
        </p:nvSpPr>
        <p:spPr>
          <a:xfrm>
            <a:off x="5608828" y="59527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27700" y="59115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4" name="Isosceles Triangle 63"/>
          <p:cNvSpPr/>
          <p:nvPr/>
        </p:nvSpPr>
        <p:spPr>
          <a:xfrm>
            <a:off x="7097903" y="59527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16775" y="59115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6" name="Oval 65"/>
          <p:cNvSpPr/>
          <p:nvPr/>
        </p:nvSpPr>
        <p:spPr>
          <a:xfrm>
            <a:off x="7822438" y="59527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1310" y="59115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279392"/>
            <a:ext cx="393192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P99의 의미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상위 1%의 극단적 지연을 포착해 고부하 서비스 끊김을 검증</a:t>
            </a:r>
          </a:p>
        </p:txBody>
      </p:sp>
    </p:spTree>
    <p:extLst>
      <p:ext uri="{BB962C8B-B14F-4D97-AF65-F5344CB8AC3E}">
        <p14:creationId xmlns:p14="http://schemas.microsoft.com/office/powerpoint/2010/main" val="194153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SLO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TTFT·TPOT의 측정 정의, 절대 기준, 근거 계산과 적용 규칙 (모든 DP·후보·Baseline에 동일 적용)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SLO 기준 · MLPerf Inference(2차) · Brysbaert 2019. 계산: 가중치 141 GB, H100×8 3.35 TB/s·989 TFLOPS, B200×8 8 TB/s, MFU 0.45. 하한은 attention 2차 항·통신·커널 제외</a:t>
            </a:r>
          </a:p>
        </p:txBody>
      </p:sp>
      <p:sp>
        <p:nvSpPr>
          <p:cNvPr id="15" name="실행 단추: 뒤로 또는 이전 14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1143000"/>
          <a:ext cx="11457432" cy="1737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3017520"/>
                <a:gridCol w="1371600"/>
                <a:gridCol w="569671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정의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절대 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(계산)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
(첫 토큰까지의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도착 → 첫 출력 토큰 수신. 큐잉 + prefill + (필요 시) KV 복원 시간 포함. 요청별 값의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prefill 이론 0.32 s = (2 × 70.6B × 8,192 = 1.16 PFLOP) ÷ (H100×8 989 TFLOPS×8 × MFU 0.45 = 3.56 PFLOP/s). 2 s는 이의 약 6배(큐잉 여유).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KV Fleet의 16K 컨텍스트 재prefill은 0.65 s라 약 3배 여유. MLPerf Llama-2-70B 표준 시나리오와 같은 자릿수(2차 자료)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
(출력 토큰당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(요청 E2E − TTFT) ÷ (출력 토큰 수 − 1). 토큰 간 지연의 요청별 평균에 대한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ms = 20 tok/s = 성인 묵독(5~6 tok/s)의 약 3.5배. MLPerf interactive 40 ms와 표준 200 ms 사이(2차 자료).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하한: 가중치 141 GB를 step마다 읽으면 H100×8 5.3 ms, B200×8 2.2 ms. 16K KV(5 GiB/세션) batch 64를 더하면 H100 약 18 ms. 50 ms는 이의 약 2.8배 여유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65760" y="3017520"/>
            <a:ext cx="11430000" cy="219456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SLO 대비 이론 예산 (대역폭·연산 한계 기준 하한이며 실측이 아니다)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TTFT 예산 (s)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831336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8K 0.32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16K 0.65 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25568" y="3529584"/>
            <a:ext cx="0" cy="566928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454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2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114800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8K·16K 입력의 재계산 prefill 시간. 남는 시간이 큐잉·KV 복원·결정 지연의 예산이다(16K에서 1.35 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TPOT 예산 (ms, H100×8)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가중치 5.3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KV 12.8 (batch 64, 16K)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869168" y="3529584"/>
            <a:ext cx="0" cy="301752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890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50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849624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B200×8은 가중치 하한이 2.2 ms. 오타였던 TPOT 2 ms는 이 모델에서 가중치 읽기 하한보다 낮아 달성 불가.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526280"/>
            <a:ext cx="11430000" cy="2011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적용 규칙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 SLO goodput: 요청별로 TTFT ≤ 2 s 그리고 TPOT ≤ 50 ms를 함께 만족한 요청의 초당 처리 수(query/s)로 센다(1 query = 요청 1건 = 1 turn, 출력 256 token). 부하 sweep의 최댓값이 Max SLO goodput이다.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Q3 고부하 지연: 부하는 Baseline Max SLO goodput의 90%로 고정하고 TTFT·TPOT P99로 r을 계산한다. 후보가 SLO(P99)를 넘으면 개선 폭과 무관하게 ☆로 본다.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값을 모든 DP 후보와 Baseline에 적용하고, 결과를 본 뒤 바꾸지 않는다. 바꾸면 새 버전으로 취급해 이전 결과와 비교하지 않는다.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만족하지 못하는 시나리오는 조용히 제외하지 않고 infeasible로 표시한다. P99 판정에는 구간당 요청 수 ≥ 1,000(seed별)을 확보한다 [가정].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C00000"/>
                </a:solidFill>
                <a:latin typeface="맑은 고딕"/>
                <a:ea typeface="맑은 고딕"/>
              </a:rPr>
              <a:t>• 이전 요구에 적힌 TPOT 2 ms는 50 ms의 오타로 확정해 이 덱의 모든 페이지에 50 ms를 쓴다 (소유자 확인 필요).</a:t>
            </a:r>
          </a:p>
        </p:txBody>
      </p:sp>
    </p:spTree>
    <p:extLst>
      <p:ext uri="{BB962C8B-B14F-4D97-AF65-F5344CB8AC3E}">
        <p14:creationId xmlns:p14="http://schemas.microsoft.com/office/powerpoint/2010/main" val="445002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시스템 확장성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시스템 및 자원의 증가분 대비 처리량의 증가분 비율 — ★2는 경쟁 기술(노드 독립 단순 offloading)이 보이는 '효율적' 수준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AthenaK (arXiv 2409.16053, 학습 workload) · USL 환산. 90% '효율적' 기준은 관례(정책)이며 인용 논문을 확인하지 못해 출처로 삼지 않았다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SE(N) = Goodput 증가 배율 ÷ N 증가 배율  (N = 노드 수, 평가는 N=16 시뮬레이션)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USL 환산: SE(N) = 1 ÷ (1 + σ(N−1)), σ = 조율 계층의 직렬 비중. N=16에서 SE 80%↔σ 1.67%, 85%↔1.18%, 90%↔0.74%, 92.5%↔0.54%, 95%↔0.35%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B0·B1 모두 노드 독립이라 조율 비용이 없다 → SE 98%(부하 불균형 2% [가정]). 기준은 이상적 선형 확장 대비라 Baseline이 B0든 경쟁 기술(B1)이든 구간은 같다. 단 노드 독립 구조는 노드 간 공유 이득이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80% · ★2 = 90%(경쟁 기술 수준: 병렬 효율에서 '효율적'이라 부르는 관례, 손실 10% 이내) · ★3 = 95%(조율 계층을 두고도 손실 5% 이내) · 반 단계는 중점</a:t>
            </a:r>
          </a:p>
        </p:txBody>
      </p:sp>
      <p:graphicFrame>
        <p:nvGraphicFramePr>
          <p:cNvPr id="13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≥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위의 우리 목표: 노드 간 KV 공유·조율 계층을 두고도 처리량 손실 5% 이내(16노드에서 15.2노드분 효과). 조율 계층 직렬 비중 σ ≤ 0.35%(USL 환산, 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USL 환산 / 정책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92.5 ≤ SE &lt;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중점(손실 7.5%)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 ≤ SE &lt; 92.5%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처리량 손실 10% 이내(16노드에서 14.4노드분 효과), '효율적'이라 부르는 관례. 노드 독립 단순 offloading은 조율 비용이 없어 SE 98%지만 노드 간 공유 이득이 없다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≤ SE &lt;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중점(손실 15%)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 ≤ SE &lt; 85%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SE &gt; 80%. 문헌: 65,536 GPU에서 병렬 효율 80% 보고(AthenaK, 학습 workload라 서빙 SE와 의미가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arXiv 2409.16053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&lt; 80%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병목. 시나리오 요구(80%)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61103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(SE %, N=16)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915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14616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48471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82328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9255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16184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7155179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4928615"/>
            <a:ext cx="138074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SE &gt; 80%</a:t>
            </a:r>
          </a:p>
        </p:txBody>
      </p:sp>
      <p:sp>
        <p:nvSpPr>
          <p:cNvPr id="40" name="Oval 39"/>
          <p:cNvSpPr/>
          <p:nvPr/>
        </p:nvSpPr>
        <p:spPr>
          <a:xfrm>
            <a:off x="7164324" y="5159501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5116067"/>
            <a:ext cx="22311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AthenaK: 65,536 GPU에서 병렬 효율 80% (학습)</a:t>
            </a:r>
          </a:p>
        </p:txBody>
      </p:sp>
      <p:sp>
        <p:nvSpPr>
          <p:cNvPr id="42" name="Isosceles Triangle 41"/>
          <p:cNvSpPr/>
          <p:nvPr/>
        </p:nvSpPr>
        <p:spPr>
          <a:xfrm>
            <a:off x="9422892" y="5342381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5303519"/>
            <a:ext cx="218541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'효율적' 보고 관례 90% (정책, 손실 10%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14616" y="5548121"/>
            <a:ext cx="340156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214616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616184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05171" y="5490971"/>
            <a:ext cx="233629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USL 환산 σ: 80%↔1.67% · 90%↔0.74% · 95%↔0.35%</a:t>
            </a:r>
          </a:p>
        </p:txBody>
      </p:sp>
      <p:sp>
        <p:nvSpPr>
          <p:cNvPr id="48" name="Oval 47"/>
          <p:cNvSpPr/>
          <p:nvPr/>
        </p:nvSpPr>
        <p:spPr>
          <a:xfrm>
            <a:off x="384048" y="5765291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724143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0" name="Diamond 49"/>
          <p:cNvSpPr/>
          <p:nvPr/>
        </p:nvSpPr>
        <p:spPr>
          <a:xfrm>
            <a:off x="1539748" y="5765291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58620" y="5724143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3028823" y="5765291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7695" y="5724143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4" name="Oval 53"/>
          <p:cNvSpPr/>
          <p:nvPr/>
        </p:nvSpPr>
        <p:spPr>
          <a:xfrm>
            <a:off x="3753358" y="5765291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72230" y="5724143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4036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별 조건 = 변경 module 수 하나 (시나리오 평균) — 개발 공수 M/M은 module 수에서 환산한 값으로 병기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SWE-bench (arXiv 2310.06770) · vLLM 저장소 kv_connector/v1 직접 계수(최상위 파일 192~1,190 LOC, 중앙값 356) · DP1 qa4-preregistration(공식·상수 ASSUMED)</a:t>
            </a:r>
          </a:p>
        </p:txBody>
      </p:sp>
      <p:sp>
        <p:nvSpPr>
          <p:cNvPr id="13" name="metric"/>
          <p:cNvSpPr txBox="1"/>
          <p:nvPr/>
        </p:nvSpPr>
        <p:spPr>
          <a:xfrm>
            <a:off x="365760" y="106984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[변경 시나리오 3종, KV 캐시 관리 범위] </a:t>
            </a: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S1 새 메모리 tier 추가 · S2 이동·배치·재사용 정책 교체 · S3 vLLM upstream 갱신 대응(block pool, kv_offload, CUDA graph, async scheduling 접점 수정). 시나리오 단순 평균으로 판정. module = 설계 문서의 component 단위(한 줄이라도 바꾸면 1개).</a:t>
            </a:r>
          </a:p>
        </p:txBody>
      </p:sp>
      <p:graphicFrame>
        <p:nvGraphicFramePr>
          <p:cNvPr id="14" name="tbl"/>
          <p:cNvGraphicFramePr>
            <a:graphicFrameLocks noGrp="1"/>
          </p:cNvGraphicFramePr>
          <p:nvPr/>
        </p:nvGraphicFramePr>
        <p:xfrm>
          <a:off x="365760" y="155448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1371600"/>
                <a:gridCol w="1371600"/>
                <a:gridCol w="6309360"/>
                <a:gridCol w="176479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module 수 (평균) = 판정 기준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개발 공수 (M/M, 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component 12~14개 중 2개 이하(약 1/7)만 바뀜: 변경이 한두 곳에서 끝나는 최선의 경우. 2개 ≈ 0.4 MM(1인 2주 미만). 참고: SWE-bench 평균 패치 1.7 file(단위가 file이라 module과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 · SWE-bench (arXiv 2310.06770, 참고용)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component 약 1/4(3개)까지: 변경이 한 Plane 또는 한 Layer 안(예: 정책 계층만)에서 끝남. 3개 ≈ 0.6 MM(1인 약 2.5주)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최소 충족선. component 약 1/3(5개)까지만 바뀌면 변경이 설계 일부에 국한. 6개 이상이면 설계 전반으로 퍼져 확장 지점이 없다고 판단. 5개 ≈ 1.0 MM(1인 1개월 상한)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 (DP1 component 목록)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6개 이상이면 미충족(설계 전반으로 번짐). 기존 필드 의미 변경(Backend I/F, Event schema)은 module 수와 무관하게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formula"/>
          <p:cNvSpPr/>
          <p:nvPr/>
        </p:nvSpPr>
        <p:spPr>
          <a:xfrm>
            <a:off x="365760" y="3767328"/>
            <a:ext cx="11457432" cy="786384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ormula_text"/>
          <p:cNvSpPr txBox="1"/>
          <p:nvPr/>
        </p:nvSpPr>
        <p:spPr>
          <a:xfrm>
            <a:off x="457200" y="3785615"/>
            <a:ext cx="11247120" cy="768096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module 1개 = 고정 3일 + 24 LOC ÷ 40 LOC/일 × 테스트·리뷰 overhead 2.0 = 4.2일 = 0.2 MM  →  M/M = 0.2 × module 수  (21일/MM)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24 LOC/module: SWE-bench 평균 패치 32.8 line ÷ 1.7 file ≈ 19 LOC/file을 올림. 실측 대조: DP1 후보 구현 측정 1.75 module → 0.38 MM(환산 0.35), 2.5 module → 0.51 MM(환산 0.50). LOC는 실제 vLLM 통합 기준(시뮬레이터 proxy LOC는 ×5 환산).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30" b="0">
                <a:solidFill>
                  <a:srgbClr val="C00000"/>
                </a:solidFill>
                <a:latin typeface="맑은 고딕"/>
                <a:ea typeface="맑은 고딕"/>
              </a:rPr>
              <a:t>출처: 고정 3일(interface 파악·설계 리뷰·통합 테스트)과 40 LOC/일(순 생산성)은 문헌값이 아니라 DP1 사전 등록 가정(ASSUMED, 범위 2~5일 · 25~80 LOC/일 · overhead 1.5~3.0). 범위 양 끝이면 module 1개 = 0.12~0.38 MM, 5개 = 0.6~1.9 MM이라 M/M 환산은 약 ±50% 불확실하다(module 수 판정은 영향 없음).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590288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왜 module 수만 판정하나: 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M/M이 module 수에서 계산되므로 둘은 독립이 아니다. 둘을 AND로 걸면 같은 정보를 두 번 세는 것이다. 판정은 module 수 하나로 하고, 각 경계가 몇 M/M인지는 환산해 보인다. 토큰 비용은 별점이 아니라 별도 참고 페이지(다음 장)에 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029200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변경 module 수 (시나리오 평균) — 오른쪽일수록 별이 높다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10451" y="5266944"/>
            <a:ext cx="3239588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0451" y="526694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00554" y="5266944"/>
            <a:ext cx="8098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0554" y="526694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90657" y="5266944"/>
            <a:ext cx="80989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0657" y="526694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70862" y="5266944"/>
            <a:ext cx="1619794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0862" y="526694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1068" y="5266944"/>
            <a:ext cx="1619794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1068" y="526694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266944"/>
            <a:ext cx="3239588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26694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0205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0411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70617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0822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1028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11234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510451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700554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890657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270862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651068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946097" y="573785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6997" y="5696712"/>
            <a:ext cx="420624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참고: SWE-bench 평균 패치 1.7 file(단위 file ≠ module) · ★3 경계 2 module ≈ 0.4 MM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831221" y="591616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3809" y="5879592"/>
            <a:ext cx="3735324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★2 경계 3 module ≈ 0.6 MM(약 2.5주) · 설계 component의 약 1/4, 한 계층 안</a:t>
            </a:r>
          </a:p>
        </p:txBody>
      </p:sp>
      <p:sp>
        <p:nvSpPr>
          <p:cNvPr id="48" name="Diamond 47"/>
          <p:cNvSpPr/>
          <p:nvPr/>
        </p:nvSpPr>
        <p:spPr>
          <a:xfrm>
            <a:off x="3591632" y="609447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24220" y="6062472"/>
            <a:ext cx="3602736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★1 경계 5 module ≈ 1.0 MM(1인 1개월) · 설계 component 12~14개의 약 1/3</a:t>
            </a:r>
          </a:p>
        </p:txBody>
      </p:sp>
      <p:sp>
        <p:nvSpPr>
          <p:cNvPr id="50" name="Oval 49"/>
          <p:cNvSpPr/>
          <p:nvPr/>
        </p:nvSpPr>
        <p:spPr>
          <a:xfrm>
            <a:off x="384048" y="6332220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291072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2" name="Diamond 51"/>
          <p:cNvSpPr/>
          <p:nvPr/>
        </p:nvSpPr>
        <p:spPr>
          <a:xfrm>
            <a:off x="1539748" y="6332220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58620" y="6291072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4" name="Isosceles Triangle 53"/>
          <p:cNvSpPr/>
          <p:nvPr/>
        </p:nvSpPr>
        <p:spPr>
          <a:xfrm>
            <a:off x="3028823" y="6332220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7695" y="6291072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6" name="Oval 55"/>
          <p:cNvSpPr/>
          <p:nvPr/>
        </p:nvSpPr>
        <p:spPr>
          <a:xfrm>
            <a:off x="3753358" y="6332220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72230" y="6291072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Agent KV Fleet (DP1~4 공통)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Llama-3.1-70B KV 327,680 B/token · H100×8 HBM 640 GiB, 가중치 약 131 GiB · prefill ≈ 25k tok/s(MFU 0.45) · DRAM 1 TiB, NVMe 16 GB/s(system-specs). 부하·idle 분포는 설계값[가정]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KV 캐시 관리만 대상(RAG·LoRA·MoE 제외). KV가 HBM·DRAM 용량을 넘고 재사용할 history가 있는 구간을 겨냥한 통합 시나리오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42611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5486400"/>
                <a:gridCol w="423367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모델·HW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8-GPU 노드(SYS-H100): HBM 640 GiB, DRAM 1 TiB(호스트 링크 64 GB/s), NVMe 16 GB/s. DP2·DP4는 4~16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기존 평가 환경과 동일(비교 가능성). 노드 간 링크는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모델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open-loop. 세션 idle 시간 지수분포 평균 60 s(tool·사용자 대기, 0.2 s~수 분), 컨텍스트 평균 16K, 턴당 +1K 입력·출력 256, 세션당 10~20턴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16K 세션 KV = 327,680 B × 16,384 ≈ 5.0 GiB. 동시 세션 수 = λ × (idle + 응답) ≈ 250~450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640 GiB 중 KV 풀(가중치·활성값 제외) ≈ 425 GiB(≈85 세션분) + DRAM 922 GiB(≈184 세션분). 동시 세션 KV가 HBM+DRAM(1.35 TiB)을 넘으면 SSD가 쓰인다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반환 세션이 HBM/DRAM/SSD에서 발견될 확률은 LRU stack distance로 계산(idle ~ Exp(60 s))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간 공유 문서 청크 30%, 그중 50%는 non-prefix 위치. 선택 재계산 15% 토큰 [가정]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재사용·선택 재계산이 겨냥하는 조건. B0·경쟁 기술은 세션마다 복제 저장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 구간·SLO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Q1: 부하 sweep의 Max SLO goodput(이용률 상한 0.8 [가정]). Q3: 일반 부하 = B0 포화 부하의 50%, 고부하 = 90% 두 점에서 TTFT·TPOT P99를 잰다(별점은 고부하의 B0 대비 r, 일반 부하는 열화 확인용). SLO: TTFT P99 ≤ 2 s, 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이론값 TTFT P99(일반→고부하): B0 0.40→3.22 s(×8, 고부하에서 SLO 초과), B1 0.71→0.89 s. Q4: 노드 2→16 sweep, SE(16)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Baseline: B0 GPU-only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기본: HBM prefix cache + preemption recompute, DRAM·SSD 사용 없음. 모든 별 기준은 B0 대비 변화량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HBM에 없으면 16K 재prefill ≈ 0.65 s. '스케줄링도 offload도 없는'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기술: 단순 offloading (B1, 경쟁 기술의 이론 대리)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후보와 같은 메모리 6종(용량·대역폭 동일)을 쓰되 정책만 단순: 고정 순서 LRU로 하위 tier에 이동(턴 종료 시 증분만 기록하는 write-through, 축출은 복사 없이 삭제), 신규 메모리는 용량 tier로만 사용(Attention offload·직접 읽기 활용 없음). 요청 시 동기 복원, prefetch·예측·배치 정책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하드웨어에서 정책만 다르게 하는 대등 비교(C안). 현재 이론값 B1 = B0의 ×2.35는 HBM·DRAM·SSD만 반영한 값으로 LMCache 단일 노드 하한(2.3x) 수준이며, 6종 확장 모델은 후보와 함께 반영해야 한다 [잠정]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모델은 결정적(deterministic). 시뮬레이션 전환 시 seed ≥ 5, median, 95% CI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seed로 별점을 매기지 않는다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715000"/>
            <a:ext cx="11430000" cy="7315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조건부 별: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이 시나리오는 KV가 HBM·DRAM을 넘고 재사용할 history가 있는 구간을 의도적으로 겨냥한다(문헌이 이득을 보고한 조건과 같은 영역). 시나리오 한계: 단순 offloading의 이론값은 지연(Q3)에서 문헌 수준(r 2.0)에 놓이지만 처리량(Q1)에서는 ×2.35로 문헌 하단이다. 이 시나리오는 세션별 히스토리 재사용만 있어 처리량 이론 상한이 ×4.0이라, ★3(8x)는 공유 캐시·고 적중 regime(문헌)에서만 가능하다. 값은 분석 모델의 예상값이며 시뮬레이션 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구간(Phase)과 DP·QA 대응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N 노드 확장(P4)은 별도 run(N = 2, 4, 8, 16, 세션 수 ∝ N). 모든 값은 분석 모델 기반 설계값이다.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한 시나리오 안에서 DP별 메커니즘이 작동하는 구간을 나누고, QA별 측정 규칙을 정한다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566160"/>
                <a:gridCol w="5029200"/>
                <a:gridCol w="13990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Phase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 내용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겨냥하는 DP 메커니즘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 정상 multi-turn
(0~10분)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세션이 idle을 두고 턴을 이어 감. 유휴 KV가 HBM을 점유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DP1: 유휴 KV 하위 tier 이동(demote)과 재개 시 승격·prefetch. 1안 = 자원 상태 기반, 2안 = 데이터 접근 특성 기반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 burst
(10~15분)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세션 3배 폭주 + 기존 세션 decode가 겹침(prefill burst + decode-heavy)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DP2: Prefill/Decode 실행 위치 결정. 1안 = 스케줄링 시점 결정, 2안 = 사전 계획 결정(Re-plan 위험)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 공유 문서 wave
(15~25분)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문서 청크를 여러 세션이 연달아 참조(non-prefix 50%)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DP3: 재사용·재계산 대상 선정. 1안 = Pipe-and-Filter(요청마다 체인), 2안 = Shared Repository(분석 1회 + 조회), 둘 다 선택 재계산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 노드 확장
(별도 run)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2→16, 세션 수 ∝ 노드 수. 노드 간 KV 블록 조회·소유권 이동 발생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DP4: 서버 간 KV 공유. 1안 = 중앙 서버 중재, 2안 = 락 기반 직접 접근. CXL 공유 풀이 SSD를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
(구현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 tier · S2 정책 교체 · S3 vLLM upstream 갱신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모든 DP 후보의 module 수 (시나리오 평균, M/M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규칙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Q1: 부하 sweep 최댓값끼리 R = 후보 ÷ B0 · Q2: HBM 상주 KV 시간 평균의 B0 대비 감소율 · Q3: B0 포화 부하의 90%에서 TTFT·TPOT P99로 r 계산(B0 대비)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Q4: 노드 2→16 sweep, SE(16) = goodput 배율 ÷ 노드 배율 · Q5: 변경 시나리오 3종을 각 후보에 구현해 module 수 평균(M/M 환산 병기)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기술(단순 offloading)은 판정 기준이 아니라 ★2 앵커와 비교용이다. 기준·시나리오 값은 결과를 보기 전에 고정한다. 기존 중립 벤치마크 시뮬 결과는 md의 참고 표에만 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Baseline(GPU-only)과 경쟁 기술(단순 offloading) 절대 수치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분석 모델: theory_model.py (GPU 한계 · DRAM 링크 51 GB/s · SSD 링크 12.8 GB/s 중 최솟값 × 이용률 0.8). 시뮬레이션이 아니며 후보 파라미터는 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모든 별 기준은 B0(GPU-only) 대비 변화량. 경쟁 기술(B1)의 이론값이 어느 별에 놓이는지 확인용으로 병기 (이론 계산, Agent KV Fleet, SYS-H100)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358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1600200"/>
                <a:gridCol w="2148840"/>
                <a:gridCol w="1737360"/>
                <a:gridCol w="2103120"/>
                <a:gridCol w="914400"/>
                <a:gridCol w="914400"/>
                <a:gridCol w="8503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범위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B1 (이론)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4.13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7.04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14.1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 (P2+D2 고정)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8.27 (×2.35)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7.04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14.1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28.2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4노드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11.6 (×1.86)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25.0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50.0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보존 동시 세션 수 (HBM 가득 채움, 16K 기준)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170 (2x)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Q2' HBM 효율(참고)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(GiB, 낮을수록 좋음)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(0%, ☆: LRU가 HBM을 채움)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(s) / TPOT P99 (ms)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3.22 s /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0.89 s /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≤ 1.57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0.80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0.36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N=16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(%)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독립,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구현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수 (환산 M/M)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≤5 (≈1.0)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≤3 (≈0.6)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≤2 (≈0.4)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557784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Baseline과 경쟁 기술 정의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B0 GPU-only(Baseline): vLLM 기본. KV가 HBM에 없으면 16K 재prefill(≈0.65 s). 스케줄링도 offload도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 B1(단순 offloading): 후보와 같은 메모리 6종(용량·대역폭 동일), 정책만 단순 — 고정 순서 LRU 이동, 턴 종료 시 증분만 write-through, 요청 시 동기 복원, prefetch·예측 없음, 신규 메모리는 용량 tier로만 사용. (현재 이론값은 HBM·DRAM·SSD만 반영한 잠정값)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DP2의 B0는 P/D 고정 역할, DP4의 B0·B1은 노드 독립(교차 라우팅 25%는 재계산)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297680"/>
            <a:ext cx="566928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★1 = Stakeholder 요구(B0 대비), ★2 = 경쟁 기술 문헌 대표값, ★3 = 경쟁 기술 위 목표(Q1은 문헌 상위권 8x, Q2·Q3는 ★2 × 1.5). 수치는 모두 B0 대비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기술(B1) 이론값: Q1 ×2.35(★1, 문헌 중앙값 4x에는 못 미침), Q3 r 2.10(★2). Q1은 이 시나리오의 이론 상한(×4.0)이 ★3(8x)보다 낮아 ★3에 도달할 수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Q2는 예외: 정적 LRU offload는 HBM을 캐시로 채워 감소 0%다. ★2의 40%는 HBM 절감을 목적으로 한 offload 문헌(DirectKV 등)의 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이론 상한: 처리량은 GPU 한계로 B1의 1.7x(= B0의 ×4.0), HBM은 ≈88% 절감, TTFT는 prefill(≈41 ms)까지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이론 계산 기반 예상값 산출 방식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코드: doc-mk/QA-criteria-v4/theory_model.py. 후보 파라미터는 덱의 장단점과 DP1 요구 수치(prefetch 적중 ≥ 60~70%, 낭비 ≤ 30%)에서 방향만 가져온 [가정]이며 시뮬레이션으로 교체한다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B0·B1은 물리 한계에서 계산하고, 후보는 같은 식에 설계 파라미터만 바꿔 넣는다 (시뮬레이션 아님)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계산 구조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① 반환 세션 hit: LRU stack distance. idle ~ Exp(60 s), 그 사이 서로 다른 세션 λT개 접근 → HBM(85 세션분)·DRAM(184 세션분)에서 발견될 확률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② 처리 한계 λ = min(GPU 1/0.113 s, DRAM 링크 51 GB/s ÷ 이동 바이트, SSD 링크 12.8 GB/s ÷ 이동 바이트). B0는 miss마다 0.65 s 재계산. Max SLO goodput = 0.8 × 256 tok × λ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③ 이동 바이트 = miss × (1−π) 동기 복원 + miss × π × (1+ω) prefetch + w × miss write-back (π 적시율, ω 낭비, w write-back 비율; B1은 w=0.1 증분 기록)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④ 고부하 = B0 포화 부하의 90%. TTFT P99 = 새 입력 prefill 41 ms + 결정 지연 + 99% 복원 경로 ÷ (1 − 링크 이용률). TPOT P99 = 18.1 ms × (1 + 0.5 × 이용률)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⑥ Capacity = θ × (HBM 85 + DRAM 184 세션분) ÷ f′ (HBM 가득 채움, SSD 제외, 신규 메모리 미반영 [잠정]). B0는 HBM만 85세션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⑤ SE(16) = min(1, 결정 용량 ÷ 요구 결정률). 결정 비용은 후보 수에 선형(2 ms × N) [기존 평가의 ASSUMED]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069848"/>
            <a:ext cx="557784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한계(정직하게)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후보 파라미터(θ, π, ω, watermark, u_P …)는 가정이다. 값이 바뀌면 별이 바뀐다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시나리오는 단순 offloading 이론값이 Q3(r 2.0)에서 문헌 수준이 되도록 정했다. Q1은 문헌 하단(×2.35)이며 이 선택 자체가 설계 선택이다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큐잉은 링크 이용률 1/(1−ρ)로 근사했다. 연속 배칭·chunked prefill의 세부는 반영하지 않았다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이용률 상한 0.8, idle 평균 60 s, 공유 문서 30%는 설계값이다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DP2·DP4는 4노드 요약 모델이다. 결정 용량·제어 평면 지연은 기존 평가의 상수를 썼다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3840480"/>
          <a:ext cx="11457432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234440"/>
                <a:gridCol w="777240"/>
                <a:gridCol w="960120"/>
                <a:gridCol w="640080"/>
                <a:gridCol w="1737360"/>
                <a:gridCol w="914400"/>
                <a:gridCol w="345643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θ 배치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 write-back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π prefetch 적시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ω 낭비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추가 GPU·결정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HBM watermark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근거(덱 장단점·요구 수치)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경쟁 기술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정의상 정적 LRU, 증분 write-through, 동기 복원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자원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임계 trigger로 HBM 압박 구간 단축, 접근 특성 구분 한계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데이터 특성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접근 특성 기반 이동·prefetch(요구 70%에서 낭비 차감), snapshot stale로 HBM 확보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유휴 P 노드 활용 u_P 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8 ms(2 ms × 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상태 반영, 결정 지연이 critical path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u_P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Re-plan P99 +40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결정은 critical path 밖, 고부하 시 Re-plan(31%), plan 예약으로 HBM 여유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+27 ms, 체인 tail 25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관련 KV만 보유(HBM↓), 요청마다 체인 중복 계산, 고부하 tail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1회+조회라 처리량·tail 유리, 재사용 KV·위치 사전 보유로 점유↑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/ 2안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 풀이 SSD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RPC 7 µs / 락 P99 804 µs × 4 op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유효 63 GB/s, 교차 라우팅 25% 재계산 제거, 제어 평면은 요청당 ms 이하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환경과 시뮬레이션 정의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doc-mk/Evaluation/DP4/sim (DESIGN_NOTES.md, simulation-plan.md), system-specs.md, project-context GC-1·GC-9. 별점·표 수치는 theory_model.py 이론 예상값, 시뮬레이터 실행 결과는 DP4/results/2026-10-25_dp4-agent-kv-fleet.md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무엇이 실장 장비이고 무엇이 시뮬레이션인지, DP4 시뮬레이터가 무엇을 모델링하는지, 이번 수치가 어디서 나왔는지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1773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4572000"/>
                <a:gridCol w="3108960"/>
                <a:gridCol w="313639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환경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실장 /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수치 산출 (이 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1노드, HBM 640 GiB · DRAM 1 TiB · NVMe 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4노드(P 2 + D 2 고정 역할이 Baseline), 노드 간 링크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노드·메모리는 실장 구성, 노드 간 링크는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1노드(DP1과 같은 구성)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 + CXL 공유 메모리 풀 8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노드는 실장, CXL 풀은 장비가 없어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덱 수치는 이론 예상값. DP4 시뮬레이터로 Agent KV Fleet 실행 완료(별도 결과 문서, Baseline-RDMA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063240"/>
            <a:ext cx="566928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DP4 시뮬레이터(레포 doc-mk/Evaluation/DP4/sim)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방식: 이산 사건 시뮬레이터(DES). P/D 분리 클러스터에서 세 가지 구성(Baseline-RDMA, 중앙 직렬화 C1, 분산 락 C2)을 같은 요청 흐름으로 비교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링크: 선입선출 유체 서버(FIFO fluid server). 노드 egress/ingress, CXL 풀 집계 대역폭을 공유 자원으로 모델링, 활성 전송은 공정 분할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decode: processor sharing. prefill·decode 단계 시간은 DP1 모델(`dp1_bridge`)을 그대로 가져와 DP 간 물리가 같다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lookup · publish · pin · unpin 연산별 지연. 중앙 RPC 약 2~7 µs, 분산 락 2.6~804 µs(P99)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파라미터: 전부 값·범위·출처(PAPER / SPEC / ASSUMED)를 기록. 결과를 본 뒤 바꾸지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반복: seed 5개(11, 23, 37, 53, 71), 부하 격자 ×0.5~×8, 95% 신뢰구간, 요청별 SLO로 goodput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063240"/>
            <a:ext cx="557784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CXL 풀 모델과 가정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풀 8 TiB, 노드당 어댑터 2개(PCIe 5.0 x16, 각 63 GB/s), 풀 집계 1 TB/s, 유효 효율 0.5 [ASSUMED] → 노드 유효 약 63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접근 지연은 제어 평면 비용과 데이터 이동 시간으로 반영. 풀 용량 한계와 HBM OOM은 미반영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미반영: CXL 스위치 혼잡, 메모리 뱅크 경합, 락 매니저 스레드의 CPU 스케줄링 간섭, 풀 장치 장애, 전력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이번 수치의 위치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이 덱의 별점·표 값은 theory_model.py 이론 예상값이다(GPU-only B0 기준). 시뮬레이터 Baseline-RDMA는 B0도 B1도 아니라(HBM 용량 압박·DRAM/SSD tier 미모델링) 직접 대체하지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시뮬레이터 실행(2026-10-25, Agent KV Fleet 16K/10턴/노드 2~16, seeds 5): Baseline-RDMA 대비 goodput H100 x1.00(N=4)·x1.2(N=8)·x1.4(N=16), B200 x0.51(CXL ingress 포화). 상세 DP4/results/2026-10-25_dp4-agent-kv-fleet.md. 이론 모델과는 기준·유휴 모델(sim 8 s vs 60 s)이 달라 대조 불가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노드·HBM·DRAM·SSD는 실장 장비라 DP1·DP3와 B0·B1 값은 실측으로 검증해 모델 파라미터를 보정할 수 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DP1. Data Migration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노드: H100×8(HBM 640 GiB), DRAM 1 TiB(호스트 링크 64 GB/s), SSD 16 TiB(NVMe 16 GB/s), 신규 메모리는 다음 페이지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Baseline B0 = GPU-only, 경쟁 기술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P1 정상 multi-turn: 컨텍스트 16K, 턴당 +1K·출력 256, idle 평균 60 s(open-loop)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동시 세션 ≈ 250~450 → KV 1.3~2.2 TiB(HBM 전체 640 GiB 중 KV 풀 425 GiB의 3~5배, HBM+DRAM도 초과)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1.76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4.13 query/s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4.32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×2.46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4.35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×2.47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세션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세션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296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×3.5 · 경쟁 기술 대비 ×1.10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이상 (★2·★3 경계 미정, 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350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×4.1 · 경쟁 기술 대비 ×1.30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이상 (★2·★3 경계 미정, 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0.87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2.13(TTFT -73%)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0.86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2.14(TTFT -73%) · 경쟁 기술 대비 TTFT -3%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평균 module 수 (기존 구현 측정, M/M은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module · 0.38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module · 0.51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GPU-only(B0) 대비 처리량 ×2.46(1안)·×2.47(2안), TTFT P99 r 2.13·2.14로 경쟁 기술(단순 offloading, ×2.35·r 2.10)과 같은 수준이다(처리량 ★1, 지연 ★2). 경쟁 기술 대비 처리량 +5%·+5%, TTFT -2%·-3%.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Capacity는 2안(데이터 특성 기반)이 배치 효율 θ가 높아 ×4.1로 1안(×3.5)보다 많은 세션을 보존한다. 지연은 prefetch(적시 60%)를 쓰는 2안이 앞서지만 링크 병목 구간에서는 prefetch가 바이트를 줄이지 못해 처리량 이득이 작다.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DP2. 연산(Prefill/Decode) 실행 위치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 클러스터(실장 구성 기준): B0 = P 2대 + D 2대 고정 역할 GPU-only, B1 = 같은 구성 + 노드별 단순 offloading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 간 링크 RDMA 50 GB/s [ASSUMED], 결정 비용은 후보 수에 선형(2 ms × N). 수치는 이론 예상값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P2 burst: 신규 세션 3배 폭주 + decode 중첩. 동적 배치가 유휴 P 노드의 tier·링크를 쓰는 정도 평가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확장성은 N=16 sweep(scheduler 결정 용량 대 요구 결정률)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3.52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8.27 query/s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10.4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×2.96 · 경쟁 기술 대비 +26%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12.7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×3.61 · 경쟁 기술 대비 +54%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보존 tier 정의(P 노드 합산 / CXL 풀 몫)가 정해져야 계산 가능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보존 tier 정의(P 노드 합산 / CXL 풀 몫)가 정해져야 계산 가능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0.74 s · TPOT 21.0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2.33(TTFT -77%) · 경쟁 기술 대비 TTFT -17%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0.75 s · TPOT 20.4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2.35(TTFT -77%) · 경쟁 기술 대비 TTFT -16%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38%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-60%p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97%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GPU-only(P/D 고정, B0) 대비 처리량 ×2.96(1안)·×3.61(2안)로 경쟁 기술(×2.35)을 넘지만 문헌 중앙값(4x)에는 못 미쳐 ★1.5~★1.5. 유휴 P 노드의 tier·링크를 더 쓰는 2안이 앞선다.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확장성은 1안이 단일 scheduler 결정 용량에 막혀 N=16에서 SE 38%, 2안은 worker 분산으로 97%. Capacity는 P 노드 tier를 보존 용량에 합산할지 정해야 해서 산정 보류.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DP3. KV 캐시 재사용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노드(DP1과 같은 HW). 압축은 범위 밖, 선택 재계산만 사용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B0 = GPU-only,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P3 공유 문서 wave: 컨텍스트의 30%가 세션 간 공유 문서(그중 50% non-prefix)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B0·B1은 세션마다 복제 저장, DP3는 1회 보관 + 선택 재계산(15% 토큰) [가정]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1.76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4.13 query/s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5.71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×3.25 · 경쟁 기술 대비 +38%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5.91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×3.36 · 경쟁 기술 대비 +43%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세션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세션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×4.5 · 경쟁 기술 대비 ×1.43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이상 (★2·★3 경계 미정, 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×4.5 · 경쟁 기술 대비 ×1.43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이상 (★2·★3 경계 미정, 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0.58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2.65(TTFT -82%) · 경쟁 기술 대비 TTFT -35%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0.54 s · TPOT 20.5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2.76(TTFT -83%) · 경쟁 기술 대비 TTFT -39%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 모두 공유 문서를 1회만 보관(−30%)해 GPU-only 대비 처리량 ×3.25~×3.36(★1.5), TTFT P99 r 2.65~2.76(★2.5). 경쟁 기술(×2.35) 대비 처리량 +38%~+43%.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Capacity는 두 안 모두 공유 문서 1회 보관(dedup 0.70)으로 ×4.5(HBM 가득 채움 기준이라 두 안 차이가 사라진다). 안 간 처리량 차이는 링크 병목 구간이라 거의 없고, 1안의 고부하 tail 발산은 B0 포화 90% 부하에서는 나타나지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DP4. 서버 간 KV 캐시 공유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4노드(실장) + CXL 공유 풀 8 TiB(풀 장비가 없어 시뮬레이션 대상, 노드당 유효 63 GB/s). B0·B1은 노드 독립(SSD 16 GB/s)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교차 라우팅 25%는 B0·B1에서 재계산, 후보는 풀에서 공유. 풀·제어 평면은 DP4 시뮬레이터 구조와 파라미터를 따르는 이론 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P4 노드 확장: 2→16 노드(세션 ∝ 노드), 노드 간 KV 블록 조회·소유권 이동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중앙 RPC ≈ 7 µs vs 분산 락 P99 ≈ 804 µs (요청당 4 op)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6.25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11.6 query/s (×1.86,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19.3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19.3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1.36 s · TPOT 23.0 ms (r 1.64,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3.36(TTFT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3.34(TTFT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CXL 공유 풀이 SSD(16 GB/s)를 대체하고 교차 라우팅 재계산을 없애 GPU-only 대비 처리량 ×3.09(★1.5), TTFT P99 r 3.36(★3). 경쟁 기술 대비 처리량 +66%.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안의 제어 평면 차이(중앙 RPC 7 µs vs 락 P99 804 µs)는 요청당 수 ms 이하라 성능이 거의 같고, N=16에서 SE 99%로 동일하다. 소유자가 예상한 락 기반의 확장 우위는 이 규모에서는 드러나지 않는다.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Trade-off 별 ↔ 평가 기준 구간 ↔ 이론 예상값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 = theory_model.py 분석 모델(시뮬레이션 아님). 붉은 글씨 = 예상값이 소유자 별 구간보다 낮음, 파란 글씨 = 같거나 높음. 기존 중립 벤치마크 시뮬 값은 qa-criteria-v4.md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 후보별 소유자 별이 새 기준(GPU-only 대비)의 어떤 수치 구간에 해당하는지, 이론 예상값은 어디에 놓이는지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9136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965960"/>
                <a:gridCol w="1965960"/>
                <a:gridCol w="1965960"/>
                <a:gridCol w="1783080"/>
                <a:gridCol w="17647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/ 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2.8~4.0x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1.76→4.32 query/s (×2.46)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85→296 세션 (×3.5) → ★1 이상(경계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1.75m·0.38MM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1.76→4.35 query/s (×2.47)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85→350 세션 (×4.1) → ★1 이상(경계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2.14)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2.5m·0.51MM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2.0~2.8x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3.52→10.4 query/s (×2.96)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SE 98→38%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3.52→12.7 query/s (×3.61)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2.35)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98→97%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1.76→5.71 query/s (×3.25)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85→385 세션 (×4.5) → ★1 이상(경계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3.2→0.6 s (r 2.65)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1.76→5.91 query/s (×3.36)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85→385 세션 (×4.5) → ★1 이상(경계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r 2.45~3.0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3.2→0.5 s (r 2.76)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6.25→19.3 query/s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3.36)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6.25→19.3 query/s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r 1.7~2.0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3.34)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굵은 줄: 소유자 별과 그 별이 요구하는 새 기준 구간. 작은 줄: 이론 예상값(B0 → 후보)과 새 기준으로 환산한 별. 경쟁 기술(B1)은 Q1 ★1(×2.35), Q3 ★2(r 2.10), Q2 ☆, Q4 ★3.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소유자 별과 ±0.5 이내로 맞는 칸: 11 / 28. 후보 간 순위가 소유자 평가와 같은 곳: DP1 Q2(뚜렷), DP2 Q1·Q2·Q4, DP3 Q2. DP1 Q1·Q3는 같은 방향이나 차이가 1% 미만.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어긋나는 곳(예상값에서 두 안이 사실상 같음): DP2 Q3, DP3 Q1·Q3, DP4 Q1·Q3·Q4. 소유자는 안 간 차이를 예상했다. 파라미터를 바꾸면 달라지는 값이며 가정은 방법 페이지에 적었다.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에이전트 토큰 비용 (참고 지표, 별점 아님)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산식·상수: DP1 qa4-preregistration M3(상수는 ASSUMED, 가격만 현행 Sonnet 5.5로 교체) · 가격: Anthropic 공개 가격표 Sonnet 5.5 입력 $2 · 캐시 읽기 $0.20 · 출력 $10 / MTok. 실제 에이전트 실행 측정이 아니다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Claude Sonnet 5.5로 module n개를 변경할 때 코드 에이전트 1세션의 토큰·비용 추정 — 별점 조건이 될 수 없는 이유 포함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1371600"/>
                <a:gridCol w="2651760"/>
                <a:gridCol w="1828800"/>
                <a:gridCol w="2011680"/>
                <a:gridCol w="167335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module 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M/M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총 토큰 (입력+캐시+출력)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비용 (Sonnet 5.5)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재시도·탐색 ×3일 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별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1.16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1.58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$1.94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(DP1 1안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0.38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0.72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$0.82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(DP1 2안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337560"/>
            <a:ext cx="11430000" cy="1097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추정 방법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비용 = 입력 컨텍스트 × $2 + 턴 수 × 컨텍스트 × $0.20(캐시 읽기) + 출력 × $10 (MTok 단위). 컨텍스트 = 시스템·도구 25k + 읽는 코드(1.5 × 12 token/LOC × module당 356 LOC × n).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턴 수 = 10 + 5n, 출력 = 작성(12 token/LOC × 24 LOC × n × 작성·수정 2회) + 턴당 300 token. 356 LOC = vLLM 최상위 KV connector 중앙값. 상수는 모두 가정(ASSUMED)이며 에이전트 실행으로 확인한 값이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526280"/>
            <a:ext cx="11457432" cy="178308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20140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토큰 비용을 별점 조건으로 쓰지 않는 이유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① 비용 ≠ 공수. 토큰 비용은 돈이고, 변경 용이성이 묻는 것은 사람이 들이는 시간이다. 에이전트가 코드를 써도 사람이 설계 적합성 리뷰·통합 테스트·승인을 해야 하므로 공수는 어떤 경우에도 0이 되지 않는다. 그 공수는 module 수에 따라 늘어난다(module 1개 = 0.2 MM).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② 후보를 가르지 못한다. 5개 module을 바꿔도 $0.65, 2개면 $0.30로 사람 공수(1.0 MM vs 0.4 MM)에 비해 사실상 무시할 수준이고, DP1 두 안의 차이는 $0.07에 불과하다.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③ 가격에 종속된다. 모델·가격표가 바뀌면 같은 설계의 별이 바뀐다(후보 간 순위는 같은 모델 안에서는 그대로). 설계 품질이 아닌 시장 가격이 별을 정하게 된다.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>
                <a:solidFill>
                  <a:srgbClr val="000000"/>
                </a:solidFill>
                <a:latin typeface="맑은 고딕"/>
                <a:ea typeface="맑은 고딕"/>
              </a:rPr>
              <a:t>④ 그래서 참고 지표로 둔다: 'AI 에이전트로 변경해도 비용 부담이 크지 않다'는 보조 근거로만 쓰고, 판정은 module 수(사람 리뷰 범위의 대리 지표)로 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Capacity (동시 세션 수용량)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★1 = Stakeholder(요구 문구: SLO 만족 최대 동시 세션 ≥ Baseline 대비 2x). ★1.5~★3은 문헌 근거 수집 후 확정(미정). 값은 theory_model.py 이론 계산(HBM·DRAM만, 신규 메모리 미반영) [잠정]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같은 HBM 용량에서 KV를 보존한 채 재개 가능한 최대 동시 세션 수 — HBM 사용량을 줄이는 것이 아니라 같은 HBM에서 더 많이 수용하는 것이 목표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11430000" cy="7315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[QA] Capacity  [Refinement] 동일 메모리 하 최대 동시 세션 수  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[Scenario] 동일 HBM 용량에서 SLO를 만족하며 동시에 보존·처리 가능한 세션 수가 Baseline 대비 증가해야 한다.  [측정] SLO 만족 최대 동시 세션 수 ≥ Baseline 대비 2x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세션 = 컨텍스트 KV를 보존 중인 요청. HBM뿐 아니라 offload(DRAM 등)된 세션도 포함한다. 재계산이 필요한 세션은 세지 않는다.</a:t>
            </a:r>
          </a:p>
        </p:txBody>
      </p:sp>
      <p:graphicFrame>
        <p:nvGraphicFramePr>
          <p:cNvPr id="8" name="tbl"/>
          <p:cNvGraphicFramePr>
            <a:graphicFrameLocks noGrp="1"/>
          </p:cNvGraphicFramePr>
          <p:nvPr/>
        </p:nvGraphicFramePr>
        <p:xfrm>
          <a:off x="365760" y="1874519"/>
          <a:ext cx="11457431" cy="16550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22960"/>
                <a:gridCol w="3291840"/>
                <a:gridCol w="7342631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R_cap = 보존 세션(후보) ÷ 보존 세션(B0 GPU-only)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88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 목표. 제안: ★2 × 1.5 ≈ ×4.8 (문헌 근거 수집 후 확정)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88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기술(KV offload) 수준. 이론 대리 B1 = ×3.2 (HBM+DRAM 단순 offloading). 문헌: 동시 batch·세션 증가 보고(FlexGen, InfiniGen, vLLM PagedAttention 등, 압축 제외)를 수집해 확정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8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R_cap ≥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동일 HBM에서 동시 세션 2배 이상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8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R_cap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3611880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조건 (확정)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HBM을 가득 채웠을 때 측정한다. 설계의 watermark(HBM을 일부 비워 두는 정책)와 무관하다. 비운 자리를 다른 세션으로 채우면 HBM 사용량은 다시 100%가 되므로, 기존 HBM 사용량 평균(Q2')과는 다른 지표다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반환 세션의 KV 보존율 ≥ 95%(재계산 필요 ≤ 5%)이면서 재개 TTFT P99 ≤ SLO(2 s)일 때만 세션으로 센다. B0는 HBM에서 밀린 세션의 KV가 사라지므로 85세션이 한계다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SSD는 보존 용량에 넣지 않는다(넘치는 KV의 backing store). 포함하면 세션 수가 SSD 링크 처리율로 정해져 Q1과 같아진다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C00000"/>
                </a:solidFill>
                <a:latin typeface="맑은 고딕"/>
                <a:ea typeface="맑은 고딕"/>
              </a:rPr>
              <a:t>• 신규 메모리(ScHBM·CXL-PNM·HBF)를 보존 tier로 셀지는 미정(시스템 구성 페이지 참고). 아래 값은 HBM·DRAM만 센 잠정값이다</a:t>
            </a:r>
          </a:p>
        </p:txBody>
      </p:sp>
      <p:graphicFrame>
        <p:nvGraphicFramePr>
          <p:cNvPr id="10" name="tbl"/>
          <p:cNvGraphicFramePr>
            <a:graphicFrameLocks noGrp="1"/>
          </p:cNvGraphicFramePr>
          <p:nvPr/>
        </p:nvGraphicFramePr>
        <p:xfrm>
          <a:off x="6217920" y="3611880"/>
          <a:ext cx="5605272" cy="21762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8960"/>
                <a:gridCol w="1188720"/>
                <a:gridCol w="13075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구성 (SYS-H100 1노드, 16K 세션 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보존 세션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대비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GPU-only (HBM 425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단순 offloading (HBM+DRAM)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×3.2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(θ 1.1)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296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×3.5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(θ 1.3)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×4.1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(dedup 0.70)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×4.5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(dedup 0.70)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×4.5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/ DP4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보존 tier 정의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5852160"/>
            <a:ext cx="557784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9" b="0">
                <a:solidFill>
                  <a:srgbClr val="595959"/>
                </a:solidFill>
                <a:latin typeface="맑은 고딕"/>
                <a:ea typeface="맑은 고딕"/>
              </a:rPr>
              <a:t>θ(배치 효율)·dedup은 가정 파라미터라 DP1 1안 대 2안 순서도 가정에 의존한다. 기존 Q2'(HBM 감소율) 평가 기준 페이지는 참고로 유지한다.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시스템 구성 (노드 1대, SYS-H100, 메모리 6종 + SSD)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doc-mk/Evaluation/DP1/sim/configs/memories_default.json · system-specs.md SYS-H100. 신규 메모리 4종(ScHBM, CXL-PNM, HBF, SSD-PIM)은 과거 세대가 없어 같은 장치를 쓰고 host link BW만 스케일(ASSUMED)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기존 HBM·DRAM·SSD에 신규 target 메모리(ScHBM, CXL-PNM, HBF)까지 포함한 이기종 메모리 구성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175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8800"/>
                <a:gridCol w="1097280"/>
                <a:gridCol w="868680"/>
                <a:gridCol w="868680"/>
                <a:gridCol w="640080"/>
                <a:gridCol w="1097280"/>
                <a:gridCol w="1188720"/>
                <a:gridCol w="386791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메모리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외부 BW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내부 BW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GPU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연산(FP16)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특성 / 이 평가에서의 쓰임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(HBM3)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640 GiB (8×80)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26.8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26.8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온패키지. 활성 KV 위치. KV 풀 ≈ 425 GiB (가중치 131·활성값 20 GiB 제외)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Samsung Custom HBM (ScHBM)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160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63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6.7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 (host 2홉)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197.8 TFLOPS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내부 BW 대비 외부 BW 비대칭 100배 이상. Attention 연산 offload 가능(QK·Softmax·AV)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CXL-PNM (LPDDR5X)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512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63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3.28 TFLOPS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대용량 연산형 확장 메모리. Attention offload 가능(연산 낮음)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DRAM (DDR5-4800)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CPU 주 메모리. 기존 offloading의 1차 하위 tier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HBF (고대역 플래시)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예 (UCIe 직결)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HBM과 SSD 사이 용량 계층. 읽기는 빠르나 쓰기 50 GB/s·수명 100 PB → 왕복이 잦은 KV는 부적합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SSD (NVMe PCIe5 x4, SSD-PIM)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60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TFLOPS (GEMV 한정)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장기 보관. 쓰기 증폭 4배·수명 10 PB. 연산은 Vector DB 유사도에만 사용(KV Attention 불가)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1143000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 덱의 이론 값이 반영한 메모리와 반영하지 않은 메모리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반영: HBM, DRAM, SSD(링크 16 GB/s×0.8). B0 = HBM만, 경쟁 기술 B1 = HBM→DRAM→SSD 단순 offloading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미반영: ScHBM, CXL-PNM, HBF. 이 메모리를 후보 설계가 어떻게 쓰는지(보존 tier, Attention offload, GPU 직접 읽기)와 B1이 이 메모리를 어떻게 쓰는지 정해야 모델에 넣을 수 있다. 따라서 현재 후보 값은 기존 3 tier 기준의 잠정값이다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 B1은 후보와 같은 메모리 6종(용량·대역폭 동일)을 갖고 정책만 단순하다(C안). 신규 메모리는 용량 tier로만 쓰고 Attention offload·GPU 직접 읽기는 쓰지 않는다. 후보와 B1 모두 같은 모델에서 확장해야 하므로 지금 값은 둘 다 3 tier 기준이다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SSD는 이 시스템 구성에 포함한다(노드당 16 TiB, ASSUMED). 다만 Capacity는 SSD를 보존 용량에서 제외한다(Q1과 중복 방지)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4049</Words>
  <Application>Microsoft Office PowerPoint</Application>
  <PresentationFormat>와이드스크린</PresentationFormat>
  <Paragraphs>678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Mona Sans VF</vt:lpstr>
      <vt:lpstr>Malgun Gothic</vt:lpstr>
      <vt:lpstr>Malgun Gothic</vt:lpstr>
      <vt:lpstr>Arial</vt:lpstr>
      <vt:lpstr>Wingdings</vt:lpstr>
      <vt:lpstr>Office 테마</vt:lpstr>
      <vt:lpstr>품질 요구사항</vt:lpstr>
      <vt:lpstr>DP1. Data Migration 결정 구조 - 설계</vt:lpstr>
      <vt:lpstr>DP2. 연산(Prefill/Decode) 실행 위치 결정 구조 - 설계</vt:lpstr>
      <vt:lpstr>DP3. KV 캐시 재사용 구조 – 설계 </vt:lpstr>
      <vt:lpstr>DP4. 서버 간 KV 캐시 공유 구조 –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품질 요구사항</dc:title>
  <dc:creator>Myeong Woo Kim</dc:creator>
  <cp:lastModifiedBy>Myeong Woo Kim</cp:lastModifiedBy>
  <cp:revision>3</cp:revision>
  <dcterms:created xsi:type="dcterms:W3CDTF">2026-10-23T15:38:13Z</dcterms:created>
  <dcterms:modified xsi:type="dcterms:W3CDTF">2026-10-23T16:03:48Z</dcterms:modified>
</cp:coreProperties>
</file>
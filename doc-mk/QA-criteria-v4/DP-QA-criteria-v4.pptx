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943" r:id="rId2"/>
    <p:sldId id="931" r:id="rId3"/>
    <p:sldId id="966" r:id="rId22"/>
    <p:sldId id="945" r:id="rId4"/>
    <p:sldId id="967" r:id="rId23"/>
    <p:sldId id="926" r:id="rId5"/>
    <p:sldId id="968" r:id="rId24"/>
    <p:sldId id="959" r:id="rId6"/>
    <p:sldId id="969" r:id="rId25"/>
    <p:sldId id="964" r:id="rId20"/>
    <p:sldId id="965" r:id="rId21"/>
    <p:sldId id="719" r:id="rId7"/>
    <p:sldId id="721" r:id="rId8"/>
    <p:sldId id="933" r:id="rId9"/>
    <p:sldId id="961" r:id="rId10"/>
    <p:sldId id="724" r:id="rId11"/>
    <p:sldId id="722" r:id="rId12"/>
    <p:sldId id="962" r:id="rId18"/>
    <p:sldId id="963" r:id="rId19"/>
    <p:sldId id="970" r:id="rId2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8" d="100"/>
          <a:sy n="68" d="100"/>
        </p:scale>
        <p:origin x="84" y="6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A78A91-A2AF-4AFF-956C-ED60CBCEC2CA}" type="datetimeFigureOut">
              <a:rPr lang="ko-KR" altLang="en-US" smtClean="0"/>
              <a:t>2026-10-24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11F2B9-5959-42CE-B508-EC1F8FE5D6A9}" type="slidenum">
              <a:rPr lang="ko-KR" altLang="en-US" smtClean="0"/>
              <a:t>‹#›</a:t>
            </a:fld>
            <a:endParaRPr lang="ko-KR" altLang="en-US"/>
          </a:p>
        </p:txBody>
      </p:sp>
    </p:spTree>
    <p:extLst>
      <p:ext uri="{BB962C8B-B14F-4D97-AF65-F5344CB8AC3E}">
        <p14:creationId xmlns:p14="http://schemas.microsoft.com/office/powerpoint/2010/main" val="154687853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기능 정확도가 </a:t>
            </a:r>
            <a:r>
              <a:rPr lang="en-US" altLang="ko-KR" dirty="0"/>
              <a:t>QA</a:t>
            </a:r>
            <a:r>
              <a:rPr lang="ko-KR" altLang="en-US" dirty="0"/>
              <a:t>로 들어가는 사람들이 많음</a:t>
            </a:r>
            <a:endParaRPr lang="en-US" altLang="ko-KR" dirty="0"/>
          </a:p>
          <a:p>
            <a:endParaRPr lang="ko-KR" altLang="en-US" dirty="0"/>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a:t>
            </a:fld>
            <a:endParaRPr lang="ko-KR" altLang="en-US"/>
          </a:p>
        </p:txBody>
      </p:sp>
    </p:spTree>
    <p:extLst>
      <p:ext uri="{BB962C8B-B14F-4D97-AF65-F5344CB8AC3E}">
        <p14:creationId xmlns:p14="http://schemas.microsoft.com/office/powerpoint/2010/main" val="1984461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1" kern="1200" dirty="0">
                <a:solidFill>
                  <a:schemeClr val="tx1"/>
                </a:solidFill>
                <a:effectLst/>
                <a:latin typeface="+mn-lt"/>
                <a:ea typeface="+mn-ea"/>
                <a:cs typeface="+mn-cs"/>
              </a:rPr>
              <a:t>Control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상태</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행위를 분석하고 마이그레이션 정책을 결정하는 계층</a:t>
            </a:r>
          </a:p>
          <a:p>
            <a:r>
              <a:rPr lang="en-US" altLang="ko-KR" sz="1200" b="1" kern="1200" dirty="0">
                <a:solidFill>
                  <a:schemeClr val="tx1"/>
                </a:solidFill>
                <a:effectLst/>
                <a:latin typeface="+mn-lt"/>
                <a:ea typeface="+mn-ea"/>
                <a:cs typeface="+mn-cs"/>
              </a:rPr>
              <a:t>Resource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자원 상태를 수집하고 관리하는 계층</a:t>
            </a:r>
            <a:endParaRPr lang="en-US" altLang="ko-KR" sz="1200" kern="1200" dirty="0">
              <a:solidFill>
                <a:schemeClr val="tx1"/>
              </a:solidFill>
              <a:effectLst/>
              <a:latin typeface="+mn-lt"/>
              <a:ea typeface="+mn-ea"/>
              <a:cs typeface="+mn-cs"/>
            </a:endParaRPr>
          </a:p>
          <a:p>
            <a:r>
              <a:rPr lang="en-US" altLang="ko-KR" sz="1200" b="1" kern="1200" dirty="0">
                <a:solidFill>
                  <a:schemeClr val="tx1"/>
                </a:solidFill>
                <a:effectLst/>
                <a:latin typeface="+mn-lt"/>
                <a:ea typeface="+mn-ea"/>
                <a:cs typeface="+mn-cs"/>
              </a:rPr>
              <a:t>Data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실제 복사 및 전송을 전담하는 실행 계층</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C1</a:t>
            </a:r>
            <a:r>
              <a:rPr lang="ko-KR" altLang="en-US" sz="1200" kern="1200" dirty="0">
                <a:solidFill>
                  <a:schemeClr val="tx1"/>
                </a:solidFill>
                <a:effectLst/>
                <a:latin typeface="+mn-lt"/>
                <a:ea typeface="+mn-ea"/>
                <a:cs typeface="+mn-cs"/>
              </a:rPr>
              <a:t>은 </a:t>
            </a:r>
            <a:r>
              <a:rPr lang="en-US" altLang="ko-KR" sz="1200" kern="1200" dirty="0">
                <a:solidFill>
                  <a:schemeClr val="tx1"/>
                </a:solidFill>
                <a:effectLst/>
                <a:latin typeface="+mn-lt"/>
                <a:ea typeface="+mn-ea"/>
                <a:cs typeface="+mn-cs"/>
              </a:rPr>
              <a:t>memory pressure</a:t>
            </a:r>
            <a:r>
              <a:rPr lang="ko-KR" altLang="en-US" sz="1200" kern="1200" dirty="0">
                <a:solidFill>
                  <a:schemeClr val="tx1"/>
                </a:solidFill>
                <a:effectLst/>
                <a:latin typeface="+mn-lt"/>
                <a:ea typeface="+mn-ea"/>
                <a:cs typeface="+mn-cs"/>
              </a:rPr>
              <a:t>가 발생했을 때 빠르게 </a:t>
            </a:r>
            <a:r>
              <a:rPr lang="en-US" altLang="ko-KR" sz="1200" kern="1200" dirty="0">
                <a:solidFill>
                  <a:schemeClr val="tx1"/>
                </a:solidFill>
                <a:effectLst/>
                <a:latin typeface="+mn-lt"/>
                <a:ea typeface="+mn-ea"/>
                <a:cs typeface="+mn-cs"/>
              </a:rPr>
              <a:t>victim</a:t>
            </a:r>
            <a:r>
              <a:rPr lang="ko-KR" altLang="en-US" sz="1200" kern="1200" dirty="0">
                <a:solidFill>
                  <a:schemeClr val="tx1"/>
                </a:solidFill>
                <a:effectLst/>
                <a:latin typeface="+mn-lt"/>
                <a:ea typeface="+mn-ea"/>
                <a:cs typeface="+mn-cs"/>
              </a:rPr>
              <a:t>을 </a:t>
            </a:r>
            <a:r>
              <a:rPr lang="en-US" altLang="ko-KR" sz="1200" kern="1200" dirty="0">
                <a:solidFill>
                  <a:schemeClr val="tx1"/>
                </a:solidFill>
                <a:effectLst/>
                <a:latin typeface="+mn-lt"/>
                <a:ea typeface="+mn-ea"/>
                <a:cs typeface="+mn-cs"/>
              </a:rPr>
              <a:t>migration</a:t>
            </a:r>
            <a:r>
              <a:rPr lang="ko-KR" altLang="en-US" sz="1200" kern="1200" dirty="0">
                <a:solidFill>
                  <a:schemeClr val="tx1"/>
                </a:solidFill>
                <a:effectLst/>
                <a:latin typeface="+mn-lt"/>
                <a:ea typeface="+mn-ea"/>
                <a:cs typeface="+mn-cs"/>
              </a:rPr>
              <a:t>할 수 있음</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Decision pipeline</a:t>
            </a:r>
            <a:r>
              <a:rPr lang="ko-KR" altLang="en-US" sz="1200" kern="1200" dirty="0">
                <a:solidFill>
                  <a:schemeClr val="tx1"/>
                </a:solidFill>
                <a:effectLst/>
                <a:latin typeface="+mn-lt"/>
                <a:ea typeface="+mn-ea"/>
                <a:cs typeface="+mn-cs"/>
              </a:rPr>
              <a:t>이 단순해서 제어 오버헤드가 작음</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C2</a:t>
            </a:r>
            <a:r>
              <a:rPr lang="ko-KR" altLang="en-US" sz="1200" kern="1200" dirty="0">
                <a:solidFill>
                  <a:schemeClr val="tx1"/>
                </a:solidFill>
                <a:effectLst/>
                <a:latin typeface="+mn-lt"/>
                <a:ea typeface="+mn-ea"/>
                <a:cs typeface="+mn-cs"/>
              </a:rPr>
              <a:t>는 </a:t>
            </a:r>
            <a:r>
              <a:rPr lang="en-US" altLang="ko-KR" sz="1200" kern="1200" dirty="0">
                <a:solidFill>
                  <a:schemeClr val="tx1"/>
                </a:solidFill>
                <a:effectLst/>
                <a:latin typeface="+mn-lt"/>
                <a:ea typeface="+mn-ea"/>
                <a:cs typeface="+mn-cs"/>
              </a:rPr>
              <a:t>migration </a:t>
            </a:r>
            <a:r>
              <a:rPr lang="ko-KR" altLang="en-US" sz="1200" kern="1200" dirty="0">
                <a:solidFill>
                  <a:schemeClr val="tx1"/>
                </a:solidFill>
                <a:effectLst/>
                <a:latin typeface="+mn-lt"/>
                <a:ea typeface="+mn-ea"/>
                <a:cs typeface="+mn-cs"/>
              </a:rPr>
              <a:t>이후 </a:t>
            </a:r>
            <a:r>
              <a:rPr lang="en-US" altLang="ko-KR" sz="1200" kern="1200" dirty="0" err="1">
                <a:solidFill>
                  <a:schemeClr val="tx1"/>
                </a:solidFill>
                <a:effectLst/>
                <a:latin typeface="+mn-lt"/>
                <a:ea typeface="+mn-ea"/>
                <a:cs typeface="+mn-cs"/>
              </a:rPr>
              <a:t>cacahe</a:t>
            </a:r>
            <a:r>
              <a:rPr lang="en-US" altLang="ko-KR" sz="1200" kern="1200" dirty="0">
                <a:solidFill>
                  <a:schemeClr val="tx1"/>
                </a:solidFill>
                <a:effectLst/>
                <a:latin typeface="+mn-lt"/>
                <a:ea typeface="+mn-ea"/>
                <a:cs typeface="+mn-cs"/>
              </a:rPr>
              <a:t> miss/reload</a:t>
            </a:r>
            <a:r>
              <a:rPr lang="ko-KR" altLang="en-US" sz="1200" kern="1200" dirty="0">
                <a:solidFill>
                  <a:schemeClr val="tx1"/>
                </a:solidFill>
                <a:effectLst/>
                <a:latin typeface="+mn-lt"/>
                <a:ea typeface="+mn-ea"/>
                <a:cs typeface="+mn-cs"/>
              </a:rPr>
              <a:t>를 줄이고 </a:t>
            </a:r>
            <a:r>
              <a:rPr lang="en-US" altLang="ko-KR" sz="1200" kern="1200" dirty="0">
                <a:solidFill>
                  <a:schemeClr val="tx1"/>
                </a:solidFill>
                <a:effectLst/>
                <a:latin typeface="+mn-lt"/>
                <a:ea typeface="+mn-ea"/>
                <a:cs typeface="+mn-cs"/>
              </a:rPr>
              <a:t>HBM hit</a:t>
            </a:r>
            <a:r>
              <a:rPr lang="ko-KR" altLang="en-US" sz="1200" kern="1200" dirty="0">
                <a:solidFill>
                  <a:schemeClr val="tx1"/>
                </a:solidFill>
                <a:effectLst/>
                <a:latin typeface="+mn-lt"/>
                <a:ea typeface="+mn-ea"/>
                <a:cs typeface="+mn-cs"/>
              </a:rPr>
              <a:t>을 높여 </a:t>
            </a:r>
            <a:r>
              <a:rPr lang="en-US" altLang="ko-KR" sz="1200" kern="1200" dirty="0">
                <a:solidFill>
                  <a:schemeClr val="tx1"/>
                </a:solidFill>
                <a:effectLst/>
                <a:latin typeface="+mn-lt"/>
                <a:ea typeface="+mn-ea"/>
                <a:cs typeface="+mn-cs"/>
              </a:rPr>
              <a:t>throughput</a:t>
            </a:r>
            <a:r>
              <a:rPr lang="ko-KR" altLang="en-US" sz="1200" kern="1200" dirty="0">
                <a:solidFill>
                  <a:schemeClr val="tx1"/>
                </a:solidFill>
                <a:effectLst/>
                <a:latin typeface="+mn-lt"/>
                <a:ea typeface="+mn-ea"/>
                <a:cs typeface="+mn-cs"/>
              </a:rPr>
              <a:t>을 더 잘 보존할 가능성 </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C1 – QA1</a:t>
            </a:r>
          </a:p>
          <a:p>
            <a:r>
              <a:rPr lang="ko-KR" altLang="en-US" dirty="0"/>
              <a:t>① </a:t>
            </a:r>
            <a:r>
              <a:rPr lang="en-US" altLang="ko-KR" dirty="0"/>
              <a:t>Resource pressure </a:t>
            </a:r>
            <a:r>
              <a:rPr lang="ko-KR" altLang="en-US" dirty="0"/>
              <a:t>기반 즉시 대응으로 병목 완화 ② 단순 </a:t>
            </a:r>
            <a:r>
              <a:rPr lang="en-US" altLang="ko-KR" dirty="0"/>
              <a:t>decision logic</a:t>
            </a:r>
            <a:r>
              <a:rPr lang="ko-KR" altLang="en-US" dirty="0"/>
              <a:t>으로 제어 오버헤드 최소화</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C2 – QA1</a:t>
            </a:r>
          </a:p>
          <a:p>
            <a:r>
              <a:rPr lang="ko-KR" altLang="en-US" dirty="0"/>
              <a:t>① </a:t>
            </a:r>
            <a:r>
              <a:rPr lang="en-US" altLang="ko-KR" dirty="0"/>
              <a:t>Hot/Cold </a:t>
            </a:r>
            <a:r>
              <a:rPr lang="ko-KR" altLang="en-US" dirty="0"/>
              <a:t>기반 선별 </a:t>
            </a:r>
            <a:r>
              <a:rPr lang="en-US" altLang="ko-KR" dirty="0"/>
              <a:t>migration</a:t>
            </a:r>
            <a:r>
              <a:rPr lang="ko-KR" altLang="en-US" dirty="0"/>
              <a:t>으로 불필요한 </a:t>
            </a:r>
            <a:r>
              <a:rPr lang="en-US" altLang="ko-KR" dirty="0"/>
              <a:t>reload </a:t>
            </a:r>
            <a:r>
              <a:rPr lang="ko-KR" altLang="en-US" dirty="0"/>
              <a:t>감소 ② 향후 </a:t>
            </a:r>
            <a:r>
              <a:rPr lang="en-US" altLang="ko-KR" dirty="0"/>
              <a:t>reuse</a:t>
            </a:r>
            <a:r>
              <a:rPr lang="ko-KR" altLang="en-US" dirty="0"/>
              <a:t>를 고려해 고성능 </a:t>
            </a:r>
            <a:r>
              <a:rPr lang="en-US" altLang="ko-KR" dirty="0"/>
              <a:t>tier </a:t>
            </a:r>
            <a:r>
              <a:rPr lang="ko-KR" altLang="en-US" dirty="0"/>
              <a:t>활용 극대화</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C1</a:t>
            </a:r>
          </a:p>
          <a:p>
            <a:pPr algn="l">
              <a:buFont typeface="Arial" panose="020B0604020202020204" pitchFamily="34" charset="0"/>
              <a:buChar char="•"/>
            </a:pPr>
            <a:r>
              <a:rPr lang="en-US" altLang="ko-KR" b="1" i="0" dirty="0">
                <a:solidFill>
                  <a:srgbClr val="1F2328"/>
                </a:solidFill>
                <a:effectLst/>
                <a:latin typeface="Mona Sans VF"/>
              </a:rPr>
              <a:t>Modifiability</a:t>
            </a:r>
            <a:r>
              <a:rPr lang="ko-KR" altLang="en-US" b="1" i="0" dirty="0">
                <a:solidFill>
                  <a:srgbClr val="1F2328"/>
                </a:solidFill>
                <a:effectLst/>
                <a:latin typeface="Mona Sans VF"/>
              </a:rPr>
              <a:t>가 상대적으로 높음</a:t>
            </a:r>
            <a:r>
              <a:rPr lang="en-US" altLang="ko-KR" b="0" i="0" dirty="0">
                <a:solidFill>
                  <a:srgbClr val="1F2328"/>
                </a:solidFill>
                <a:effectLst/>
                <a:latin typeface="Mona Sans VF"/>
              </a:rPr>
              <a:t>:</a:t>
            </a:r>
            <a:r>
              <a:rPr lang="ko-KR" altLang="en-US" b="0" i="0" dirty="0">
                <a:solidFill>
                  <a:srgbClr val="1F2328"/>
                </a:solidFill>
                <a:effectLst/>
                <a:latin typeface="Mona Sans VF"/>
              </a:rPr>
              <a:t> 새로운 </a:t>
            </a:r>
            <a:r>
              <a:rPr lang="en-US" altLang="ko-KR" b="0" i="0" dirty="0">
                <a:solidFill>
                  <a:srgbClr val="1F2328"/>
                </a:solidFill>
                <a:effectLst/>
                <a:latin typeface="Mona Sans VF"/>
              </a:rPr>
              <a:t>memory resource </a:t>
            </a:r>
            <a:r>
              <a:rPr lang="ko-KR" altLang="en-US" b="0" i="0" dirty="0">
                <a:solidFill>
                  <a:srgbClr val="1F2328"/>
                </a:solidFill>
                <a:effectLst/>
                <a:latin typeface="Mona Sans VF"/>
              </a:rPr>
              <a:t>추가 시 </a:t>
            </a:r>
            <a:r>
              <a:rPr lang="en-US" altLang="ko-KR" b="0" i="0" dirty="0">
                <a:solidFill>
                  <a:srgbClr val="1F2328"/>
                </a:solidFill>
                <a:effectLst/>
                <a:latin typeface="Mona Sans VF"/>
              </a:rPr>
              <a:t>Registry / affinity mapping </a:t>
            </a:r>
            <a:r>
              <a:rPr lang="ko-KR" altLang="en-US" b="0" i="0" dirty="0">
                <a:solidFill>
                  <a:srgbClr val="1F2328"/>
                </a:solidFill>
                <a:effectLst/>
                <a:latin typeface="Mona Sans VF"/>
              </a:rPr>
              <a:t>확장으로 대응 가능</a:t>
            </a:r>
            <a:r>
              <a:rPr lang="en-US" altLang="ko-KR" b="0" i="0" dirty="0">
                <a:solidFill>
                  <a:srgbClr val="1F2328"/>
                </a:solidFill>
                <a:effectLst/>
                <a:latin typeface="Mona Sans VF"/>
              </a:rPr>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2</a:t>
            </a:fld>
            <a:endParaRPr lang="ko-KR" altLang="en-US"/>
          </a:p>
        </p:txBody>
      </p:sp>
    </p:spTree>
    <p:extLst>
      <p:ext uri="{BB962C8B-B14F-4D97-AF65-F5344CB8AC3E}">
        <p14:creationId xmlns:p14="http://schemas.microsoft.com/office/powerpoint/2010/main" val="1482469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dirty="0"/>
              <a:t>쉬운 비유</a:t>
            </a:r>
            <a:r>
              <a:rPr lang="en-US" altLang="ko-KR" dirty="0"/>
              <a:t>: </a:t>
            </a:r>
            <a:r>
              <a:rPr lang="ko-KR" altLang="en-US" dirty="0" err="1"/>
              <a:t>네이게이션</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1</a:t>
            </a:r>
            <a:r>
              <a:rPr lang="ko-KR" altLang="en-US" dirty="0"/>
              <a:t>안</a:t>
            </a:r>
            <a:r>
              <a:rPr lang="en-US" altLang="ko-KR" dirty="0"/>
              <a:t>: </a:t>
            </a:r>
            <a:r>
              <a:rPr lang="ko-KR" altLang="en-US" dirty="0"/>
              <a:t>출발 직전에 경로 계산 </a:t>
            </a:r>
            <a:r>
              <a:rPr lang="en-US" altLang="ko-KR" dirty="0"/>
              <a:t>-&gt; </a:t>
            </a:r>
            <a:r>
              <a:rPr lang="ko-KR" altLang="en-US" dirty="0"/>
              <a:t>경로 계산 기다렸다가 출발 </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2</a:t>
            </a:r>
            <a:r>
              <a:rPr lang="ko-KR" altLang="en-US" dirty="0"/>
              <a:t>안</a:t>
            </a:r>
            <a:r>
              <a:rPr lang="en-US" altLang="ko-KR" dirty="0"/>
              <a:t>: </a:t>
            </a:r>
            <a:r>
              <a:rPr lang="ko-KR" altLang="en-US" dirty="0"/>
              <a:t>미리 경로 계산 </a:t>
            </a:r>
            <a:r>
              <a:rPr lang="en-US" altLang="ko-KR" dirty="0"/>
              <a:t>-&gt; </a:t>
            </a:r>
            <a:r>
              <a:rPr lang="ko-KR" altLang="en-US" dirty="0"/>
              <a:t>그대로 출발 </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2</a:t>
            </a:r>
            <a:r>
              <a:rPr lang="ko-KR" altLang="en-US" dirty="0"/>
              <a:t>안 단점</a:t>
            </a:r>
            <a:r>
              <a:rPr lang="en-US" altLang="ko-KR" dirty="0"/>
              <a:t>:</a:t>
            </a:r>
            <a:r>
              <a:rPr lang="en-US" altLang="ko-KR" baseline="0" dirty="0"/>
              <a:t> </a:t>
            </a:r>
            <a:r>
              <a:rPr lang="ko-KR" altLang="en-US" baseline="0" dirty="0"/>
              <a:t>가는 동안 정체 시 </a:t>
            </a:r>
            <a:r>
              <a:rPr lang="en-US" altLang="ko-KR" baseline="0" dirty="0"/>
              <a:t>-&gt; </a:t>
            </a:r>
            <a:r>
              <a:rPr lang="ko-KR" altLang="en-US" baseline="0" dirty="0"/>
              <a:t>다시 계산</a:t>
            </a:r>
            <a:endParaRPr lang="en-US" altLang="ko-KR" baseline="0"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dirty="0"/>
              <a:t>상태 정보</a:t>
            </a:r>
            <a:r>
              <a:rPr lang="en-US" altLang="ko-KR" dirty="0"/>
              <a:t>: Prefill </a:t>
            </a:r>
            <a:r>
              <a:rPr lang="ko-KR" altLang="en-US" dirty="0"/>
              <a:t>노드의 대기 토큰 수와 </a:t>
            </a:r>
            <a:r>
              <a:rPr lang="en-US" altLang="ko-KR" dirty="0"/>
              <a:t>Decode </a:t>
            </a:r>
            <a:r>
              <a:rPr lang="ko-KR" altLang="en-US" dirty="0"/>
              <a:t>수</a:t>
            </a:r>
            <a:r>
              <a:rPr lang="en-US" altLang="ko-KR" dirty="0"/>
              <a:t>, Decode </a:t>
            </a:r>
            <a:r>
              <a:rPr lang="ko-KR" altLang="en-US" dirty="0"/>
              <a:t>노드의 </a:t>
            </a:r>
            <a:r>
              <a:rPr lang="en-US" altLang="ko-KR" dirty="0"/>
              <a:t>Tier </a:t>
            </a:r>
            <a:r>
              <a:rPr lang="ko-KR" altLang="en-US" dirty="0"/>
              <a:t>여유 용량</a:t>
            </a:r>
            <a:r>
              <a:rPr lang="en-US" altLang="ko-KR" dirty="0"/>
              <a:t>, </a:t>
            </a:r>
            <a:r>
              <a:rPr lang="ko-KR" altLang="en-US" dirty="0"/>
              <a:t>그리고 </a:t>
            </a:r>
            <a:r>
              <a:rPr lang="en-US" altLang="ko-KR" dirty="0"/>
              <a:t>History KV </a:t>
            </a:r>
            <a:r>
              <a:rPr lang="ko-KR" altLang="en-US" dirty="0"/>
              <a:t>위치를 저장하고</a:t>
            </a:r>
            <a:r>
              <a:rPr lang="en-US" altLang="ko-KR" dirty="0"/>
              <a:t>, </a:t>
            </a:r>
            <a:r>
              <a:rPr lang="ko-KR" altLang="en-US" dirty="0"/>
              <a:t>생성 시각도 함께 기록합니다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MISMATCH</a:t>
            </a:r>
            <a:r>
              <a:rPr lang="en-US" altLang="ko-KR" dirty="0"/>
              <a:t> | +-- </a:t>
            </a:r>
            <a:r>
              <a:rPr lang="en-US" altLang="ko-KR" sz="1200" kern="1200" dirty="0">
                <a:solidFill>
                  <a:schemeClr val="tx1"/>
                </a:solidFill>
                <a:effectLst/>
                <a:latin typeface="+mn-lt"/>
                <a:ea typeface="+mn-ea"/>
                <a:cs typeface="+mn-cs"/>
              </a:rPr>
              <a:t>1</a:t>
            </a:r>
            <a:r>
              <a:rPr lang="en-US" altLang="ko-KR" dirty="0"/>
              <a:t>. ranked alt </a:t>
            </a:r>
            <a:r>
              <a:rPr lang="ko-KR" altLang="en-US" dirty="0"/>
              <a:t>중 </a:t>
            </a:r>
            <a:r>
              <a:rPr lang="en-US" altLang="ko-KR" dirty="0"/>
              <a:t>guard </a:t>
            </a:r>
            <a:r>
              <a:rPr lang="ko-KR" altLang="en-US" dirty="0"/>
              <a:t>통과하는 것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2</a:t>
            </a:r>
            <a:r>
              <a:rPr lang="en-US" altLang="ko-KR" dirty="0"/>
              <a:t>. fallback </a:t>
            </a:r>
            <a:r>
              <a:rPr lang="ko-KR" altLang="en-US" dirty="0"/>
              <a:t>규칙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3</a:t>
            </a:r>
            <a:r>
              <a:rPr lang="en-US" altLang="ko-KR" dirty="0"/>
              <a:t>. </a:t>
            </a:r>
            <a:r>
              <a:rPr lang="ko-KR" altLang="en-US" dirty="0"/>
              <a:t>동기 </a:t>
            </a:r>
            <a:r>
              <a:rPr lang="en-US" altLang="ko-KR" dirty="0"/>
              <a:t>re-plan --&gt; </a:t>
            </a:r>
            <a:r>
              <a:rPr lang="ko-KR" altLang="en-US" dirty="0"/>
              <a:t>결과 직접 반환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ko-KR" altLang="en-US" dirty="0"/>
              <a:t>비동기</a:t>
            </a:r>
            <a:r>
              <a:rPr lang="en-US" altLang="ko-KR" dirty="0"/>
              <a:t>) </a:t>
            </a:r>
            <a:r>
              <a:rPr lang="en-US" altLang="ko-KR" sz="1200" kern="1200" dirty="0">
                <a:solidFill>
                  <a:schemeClr val="tx1"/>
                </a:solidFill>
                <a:effectLst/>
                <a:latin typeface="+mn-lt"/>
                <a:ea typeface="+mn-ea"/>
                <a:cs typeface="+mn-cs"/>
              </a:rPr>
              <a:t>Plan</a:t>
            </a:r>
            <a:r>
              <a:rPr lang="en-US" altLang="ko-KR" dirty="0"/>
              <a:t> </a:t>
            </a:r>
            <a:r>
              <a:rPr lang="en-US" altLang="ko-KR" sz="1200" kern="1200" dirty="0">
                <a:solidFill>
                  <a:schemeClr val="tx1"/>
                </a:solidFill>
                <a:effectLst/>
                <a:latin typeface="+mn-lt"/>
                <a:ea typeface="+mn-ea"/>
                <a:cs typeface="+mn-cs"/>
              </a:rPr>
              <a:t>Cache</a:t>
            </a:r>
            <a:r>
              <a:rPr lang="en-US" altLang="ko-KR" dirty="0"/>
              <a:t> </a:t>
            </a:r>
            <a:r>
              <a:rPr lang="ko-KR" altLang="en-US" dirty="0"/>
              <a:t>갱신 </a:t>
            </a:r>
            <a:r>
              <a:rPr lang="en-US" altLang="ko-KR" dirty="0"/>
              <a:t>= </a:t>
            </a:r>
            <a:r>
              <a:rPr lang="ko-KR" altLang="en-US" dirty="0"/>
              <a:t>다음 </a:t>
            </a:r>
            <a:r>
              <a:rPr lang="ko-KR" altLang="en-US" dirty="0" err="1"/>
              <a:t>요청용</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3897266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2</a:t>
            </a:r>
            <a:r>
              <a:rPr lang="ko-KR" altLang="en-US" sz="1200" b="0" i="0" kern="1200" dirty="0">
                <a:solidFill>
                  <a:schemeClr val="tx1"/>
                </a:solidFill>
                <a:effectLst/>
                <a:latin typeface="+mn-lt"/>
                <a:ea typeface="+mn-ea"/>
                <a:cs typeface="+mn-cs"/>
              </a:rPr>
              <a:t>안 선택 이유</a:t>
            </a:r>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1</a:t>
            </a:r>
            <a:r>
              <a:rPr lang="ko-KR" altLang="en-US" sz="1200" b="0" i="0" kern="1200" dirty="0">
                <a:solidFill>
                  <a:schemeClr val="tx1"/>
                </a:solidFill>
                <a:effectLst/>
                <a:latin typeface="+mn-lt"/>
                <a:ea typeface="+mn-ea"/>
                <a:cs typeface="+mn-cs"/>
              </a:rPr>
              <a:t>안은 사전 </a:t>
            </a:r>
            <a:r>
              <a:rPr lang="ko-KR" altLang="en-US" sz="1200" b="0" i="0" kern="1200" dirty="0" err="1">
                <a:solidFill>
                  <a:schemeClr val="tx1"/>
                </a:solidFill>
                <a:effectLst/>
                <a:latin typeface="+mn-lt"/>
                <a:ea typeface="+mn-ea"/>
                <a:cs typeface="+mn-cs"/>
              </a:rPr>
              <a:t>재계산량이</a:t>
            </a:r>
            <a:r>
              <a:rPr lang="ko-KR" altLang="en-US" sz="1200" b="0" i="0" kern="1200" dirty="0">
                <a:solidFill>
                  <a:schemeClr val="tx1"/>
                </a:solidFill>
                <a:effectLst/>
                <a:latin typeface="+mn-lt"/>
                <a:ea typeface="+mn-ea"/>
                <a:cs typeface="+mn-cs"/>
              </a:rPr>
              <a:t> 커져 </a:t>
            </a:r>
            <a:r>
              <a:rPr lang="ko-KR" altLang="en-US" sz="1200" b="0" i="0" kern="1200" dirty="0" err="1">
                <a:solidFill>
                  <a:schemeClr val="tx1"/>
                </a:solidFill>
                <a:effectLst/>
                <a:latin typeface="+mn-lt"/>
                <a:ea typeface="+mn-ea"/>
                <a:cs typeface="+mn-cs"/>
              </a:rPr>
              <a:t>저장본이</a:t>
            </a:r>
            <a:r>
              <a:rPr lang="ko-KR" altLang="en-US" sz="1200" b="0" i="0" kern="1200" dirty="0">
                <a:solidFill>
                  <a:schemeClr val="tx1"/>
                </a:solidFill>
                <a:effectLst/>
                <a:latin typeface="+mn-lt"/>
                <a:ea typeface="+mn-ea"/>
                <a:cs typeface="+mn-cs"/>
              </a:rPr>
              <a:t> 더 불어남</a:t>
            </a:r>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1 </a:t>
            </a:r>
            <a:r>
              <a:rPr lang="ko-KR" altLang="en-US" sz="1200" b="0" i="0" kern="1200" dirty="0">
                <a:solidFill>
                  <a:schemeClr val="tx1"/>
                </a:solidFill>
                <a:effectLst/>
                <a:latin typeface="+mn-lt"/>
                <a:ea typeface="+mn-ea"/>
                <a:cs typeface="+mn-cs"/>
              </a:rPr>
              <a:t>안의 </a:t>
            </a:r>
            <a:r>
              <a:rPr lang="en-US" altLang="ko-KR" dirty="0"/>
              <a:t>Performance ★★★</a:t>
            </a:r>
            <a:r>
              <a:rPr lang="ko-KR" altLang="en-US" sz="1200" b="0" i="0" kern="1200" dirty="0">
                <a:solidFill>
                  <a:schemeClr val="tx1"/>
                </a:solidFill>
                <a:effectLst/>
                <a:latin typeface="+mn-lt"/>
                <a:ea typeface="+mn-ea"/>
                <a:cs typeface="+mn-cs"/>
              </a:rPr>
              <a:t>은 </a:t>
            </a:r>
            <a:r>
              <a:rPr lang="en-US" altLang="ko-KR" sz="1200" b="1" i="0" kern="1200" dirty="0">
                <a:solidFill>
                  <a:schemeClr val="tx1"/>
                </a:solidFill>
                <a:effectLst/>
                <a:latin typeface="+mn-lt"/>
                <a:ea typeface="+mn-ea"/>
                <a:cs typeface="+mn-cs"/>
              </a:rPr>
              <a:t>hit</a:t>
            </a:r>
            <a:r>
              <a:rPr lang="ko-KR" altLang="en-US" sz="1200" b="1" i="0" kern="1200" dirty="0">
                <a:solidFill>
                  <a:schemeClr val="tx1"/>
                </a:solidFill>
                <a:effectLst/>
                <a:latin typeface="+mn-lt"/>
                <a:ea typeface="+mn-ea"/>
                <a:cs typeface="+mn-cs"/>
              </a:rPr>
              <a:t>일 때만</a:t>
            </a:r>
            <a:r>
              <a:rPr lang="ko-KR" altLang="en-US" sz="1200" b="0" i="0" kern="1200" dirty="0">
                <a:solidFill>
                  <a:schemeClr val="tx1"/>
                </a:solidFill>
                <a:effectLst/>
                <a:latin typeface="+mn-lt"/>
                <a:ea typeface="+mn-ea"/>
                <a:cs typeface="+mn-cs"/>
              </a:rPr>
              <a:t> 참</a:t>
            </a:r>
            <a:r>
              <a:rPr lang="en-US" altLang="ko-KR" sz="1200" b="0" i="0" kern="1200" dirty="0">
                <a:solidFill>
                  <a:schemeClr val="tx1"/>
                </a:solidFill>
                <a:effectLst/>
                <a:latin typeface="+mn-lt"/>
                <a:ea typeface="+mn-ea"/>
                <a:cs typeface="+mn-cs"/>
              </a:rPr>
              <a:t>. </a:t>
            </a:r>
            <a:r>
              <a:rPr lang="ko-KR" altLang="en-US" sz="1200" b="0" i="0" kern="1200" dirty="0">
                <a:solidFill>
                  <a:schemeClr val="tx1"/>
                </a:solidFill>
                <a:effectLst/>
                <a:latin typeface="+mn-lt"/>
                <a:ea typeface="+mn-ea"/>
                <a:cs typeface="+mn-cs"/>
              </a:rPr>
              <a:t>대표 </a:t>
            </a:r>
            <a:r>
              <a:rPr lang="en-US" altLang="ko-KR" sz="1200" b="0" i="0" kern="1200" dirty="0">
                <a:solidFill>
                  <a:schemeClr val="tx1"/>
                </a:solidFill>
                <a:effectLst/>
                <a:latin typeface="+mn-lt"/>
                <a:ea typeface="+mn-ea"/>
                <a:cs typeface="+mn-cs"/>
              </a:rPr>
              <a:t>Query</a:t>
            </a:r>
            <a:r>
              <a:rPr lang="ko-KR" altLang="en-US" sz="1200" b="0" i="0" kern="1200" dirty="0">
                <a:solidFill>
                  <a:schemeClr val="tx1"/>
                </a:solidFill>
                <a:effectLst/>
                <a:latin typeface="+mn-lt"/>
                <a:ea typeface="+mn-ea"/>
                <a:cs typeface="+mn-cs"/>
              </a:rPr>
              <a:t>군이 실제 분포를 못 따라가면 </a:t>
            </a:r>
            <a:r>
              <a:rPr lang="en-US" altLang="ko-KR" sz="1200" b="0" i="0" kern="1200" dirty="0">
                <a:solidFill>
                  <a:schemeClr val="tx1"/>
                </a:solidFill>
                <a:effectLst/>
                <a:latin typeface="+mn-lt"/>
                <a:ea typeface="+mn-ea"/>
                <a:cs typeface="+mn-cs"/>
              </a:rPr>
              <a:t>(W/L </a:t>
            </a:r>
            <a:r>
              <a:rPr lang="ko-KR" altLang="en-US" sz="1200" b="0" i="0" kern="1200" dirty="0">
                <a:solidFill>
                  <a:schemeClr val="tx1"/>
                </a:solidFill>
                <a:effectLst/>
                <a:latin typeface="+mn-lt"/>
                <a:ea typeface="+mn-ea"/>
                <a:cs typeface="+mn-cs"/>
              </a:rPr>
              <a:t>변화</a:t>
            </a:r>
            <a:r>
              <a:rPr lang="en-US" altLang="ko-KR" sz="1200" b="0" i="0" kern="1200" dirty="0">
                <a:solidFill>
                  <a:schemeClr val="tx1"/>
                </a:solidFill>
                <a:effectLst/>
                <a:latin typeface="+mn-lt"/>
                <a:ea typeface="+mn-ea"/>
                <a:cs typeface="+mn-cs"/>
              </a:rPr>
              <a:t>, </a:t>
            </a:r>
            <a:r>
              <a:rPr lang="ko-KR" altLang="en-US" sz="1200" b="0" i="0" kern="1200" dirty="0">
                <a:solidFill>
                  <a:schemeClr val="tx1"/>
                </a:solidFill>
                <a:effectLst/>
                <a:latin typeface="+mn-lt"/>
                <a:ea typeface="+mn-ea"/>
                <a:cs typeface="+mn-cs"/>
              </a:rPr>
              <a:t>신규 패턴</a:t>
            </a:r>
            <a:r>
              <a:rPr lang="en-US" altLang="ko-KR" sz="1200" b="0" i="0" kern="1200" dirty="0">
                <a:solidFill>
                  <a:schemeClr val="tx1"/>
                </a:solidFill>
                <a:effectLst/>
                <a:latin typeface="+mn-lt"/>
                <a:ea typeface="+mn-ea"/>
                <a:cs typeface="+mn-cs"/>
              </a:rPr>
              <a:t>) hit</a:t>
            </a:r>
            <a:r>
              <a:rPr lang="ko-KR" altLang="en-US" sz="1200" b="0" i="0" kern="1200" dirty="0">
                <a:solidFill>
                  <a:schemeClr val="tx1"/>
                </a:solidFill>
                <a:effectLst/>
                <a:latin typeface="+mn-lt"/>
                <a:ea typeface="+mn-ea"/>
                <a:cs typeface="+mn-cs"/>
              </a:rPr>
              <a:t>율이 떨어지고</a:t>
            </a:r>
            <a:r>
              <a:rPr lang="en-US" altLang="ko-KR" sz="1200" b="0" i="0" kern="1200" dirty="0">
                <a:solidFill>
                  <a:schemeClr val="tx1"/>
                </a:solidFill>
                <a:effectLst/>
                <a:latin typeface="+mn-lt"/>
                <a:ea typeface="+mn-ea"/>
                <a:cs typeface="+mn-cs"/>
              </a:rPr>
              <a:t>, </a:t>
            </a:r>
            <a:r>
              <a:rPr lang="ko-KR" altLang="en-US" sz="1200" b="0" i="0" kern="1200" dirty="0">
                <a:solidFill>
                  <a:schemeClr val="tx1"/>
                </a:solidFill>
                <a:effectLst/>
                <a:latin typeface="+mn-lt"/>
                <a:ea typeface="+mn-ea"/>
                <a:cs typeface="+mn-cs"/>
              </a:rPr>
              <a:t>장점과 제약이 동시에 무너짐</a:t>
            </a:r>
            <a:endParaRPr lang="en-US" altLang="ko-KR" sz="1200" b="0" i="0" kern="1200" dirty="0">
              <a:solidFill>
                <a:schemeClr val="tx1"/>
              </a:solidFill>
              <a:effectLst/>
              <a:latin typeface="+mn-lt"/>
              <a:ea typeface="+mn-ea"/>
              <a:cs typeface="+mn-cs"/>
            </a:endParaRPr>
          </a:p>
          <a:p>
            <a:endParaRPr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19977295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sz="1050" dirty="0"/>
              <a:t>[DP4 </a:t>
            </a:r>
            <a:r>
              <a:rPr sz="1050" dirty="0" err="1"/>
              <a:t>설계</a:t>
            </a:r>
            <a:r>
              <a:rPr sz="1050" dirty="0"/>
              <a:t> - </a:t>
            </a:r>
            <a:r>
              <a:rPr sz="1050" dirty="0" err="1"/>
              <a:t>중앙</a:t>
            </a:r>
            <a:r>
              <a:rPr sz="1050" dirty="0"/>
              <a:t> </a:t>
            </a:r>
            <a:r>
              <a:rPr sz="1050" dirty="0" err="1"/>
              <a:t>직렬화</a:t>
            </a:r>
            <a:r>
              <a:rPr sz="1050" dirty="0"/>
              <a:t> vs </a:t>
            </a:r>
            <a:r>
              <a:rPr sz="1050" dirty="0" err="1"/>
              <a:t>분산</a:t>
            </a:r>
            <a:r>
              <a:rPr sz="1050" dirty="0"/>
              <a:t> 락]</a:t>
            </a:r>
          </a:p>
          <a:p>
            <a:r>
              <a:rPr sz="1050" dirty="0"/>
              <a:t>두 </a:t>
            </a:r>
            <a:r>
              <a:rPr sz="1050" dirty="0" err="1"/>
              <a:t>안은</a:t>
            </a:r>
            <a:r>
              <a:rPr sz="1050" dirty="0"/>
              <a:t> </a:t>
            </a:r>
            <a:r>
              <a:rPr sz="1050" dirty="0" err="1"/>
              <a:t>공통</a:t>
            </a:r>
            <a:r>
              <a:rPr sz="1050" dirty="0"/>
              <a:t> </a:t>
            </a:r>
            <a:r>
              <a:rPr sz="1050" dirty="0" err="1"/>
              <a:t>전제를</a:t>
            </a:r>
            <a:r>
              <a:rPr sz="1050" dirty="0"/>
              <a:t> </a:t>
            </a:r>
            <a:r>
              <a:rPr sz="1050" dirty="0" err="1"/>
              <a:t>공유합니다</a:t>
            </a:r>
            <a:r>
              <a:rPr sz="1050" dirty="0"/>
              <a:t>. </a:t>
            </a:r>
            <a:endParaRPr lang="en-US" sz="1050" dirty="0"/>
          </a:p>
          <a:p>
            <a:r>
              <a:rPr sz="1050" dirty="0"/>
              <a:t>KV </a:t>
            </a:r>
            <a:r>
              <a:rPr sz="1050" dirty="0" err="1"/>
              <a:t>블록은</a:t>
            </a:r>
            <a:r>
              <a:rPr sz="1050" dirty="0"/>
              <a:t> 한 번 </a:t>
            </a:r>
            <a:r>
              <a:rPr sz="1050" dirty="0" err="1"/>
              <a:t>쓰면</a:t>
            </a:r>
            <a:r>
              <a:rPr sz="1050" dirty="0"/>
              <a:t> </a:t>
            </a:r>
            <a:r>
              <a:rPr sz="1050" dirty="0" err="1"/>
              <a:t>바뀌지</a:t>
            </a:r>
            <a:r>
              <a:rPr sz="1050" dirty="0"/>
              <a:t> </a:t>
            </a:r>
            <a:r>
              <a:rPr sz="1050" dirty="0" err="1"/>
              <a:t>않고</a:t>
            </a:r>
            <a:r>
              <a:rPr sz="1050" dirty="0"/>
              <a:t> </a:t>
            </a:r>
            <a:r>
              <a:rPr sz="1050" dirty="0" err="1"/>
              <a:t>해시로</a:t>
            </a:r>
            <a:r>
              <a:rPr sz="1050" dirty="0"/>
              <a:t> </a:t>
            </a:r>
            <a:r>
              <a:rPr sz="1050" dirty="0" err="1"/>
              <a:t>식별되며</a:t>
            </a:r>
            <a:r>
              <a:rPr sz="1050" dirty="0"/>
              <a:t>, </a:t>
            </a:r>
            <a:r>
              <a:rPr sz="1050" dirty="0" err="1"/>
              <a:t>페이로드는</a:t>
            </a:r>
            <a:r>
              <a:rPr sz="1050" dirty="0"/>
              <a:t> GPU </a:t>
            </a:r>
            <a:r>
              <a:rPr sz="1050" dirty="0" err="1"/>
              <a:t>DMA가</a:t>
            </a:r>
            <a:r>
              <a:rPr sz="1050" dirty="0"/>
              <a:t> CPU </a:t>
            </a:r>
            <a:r>
              <a:rPr sz="1050" dirty="0" err="1"/>
              <a:t>캐시를</a:t>
            </a:r>
            <a:r>
              <a:rPr sz="1050" dirty="0"/>
              <a:t> </a:t>
            </a:r>
            <a:r>
              <a:rPr sz="1050" dirty="0" err="1"/>
              <a:t>우회하므로</a:t>
            </a:r>
            <a:r>
              <a:rPr sz="1050" dirty="0"/>
              <a:t> </a:t>
            </a:r>
            <a:r>
              <a:rPr sz="1050" dirty="0" err="1"/>
              <a:t>메타데이터를</a:t>
            </a:r>
            <a:r>
              <a:rPr sz="1050" dirty="0"/>
              <a:t> </a:t>
            </a:r>
            <a:r>
              <a:rPr sz="1050" dirty="0" err="1"/>
              <a:t>READY로</a:t>
            </a:r>
            <a:r>
              <a:rPr sz="1050" dirty="0"/>
              <a:t> </a:t>
            </a:r>
            <a:r>
              <a:rPr sz="1050" dirty="0" err="1"/>
              <a:t>publish하는</a:t>
            </a:r>
            <a:r>
              <a:rPr sz="1050" dirty="0"/>
              <a:t> </a:t>
            </a:r>
            <a:r>
              <a:rPr sz="1050" dirty="0" err="1"/>
              <a:t>시점을</a:t>
            </a:r>
            <a:r>
              <a:rPr sz="1050" dirty="0"/>
              <a:t> </a:t>
            </a:r>
            <a:r>
              <a:rPr sz="1050" dirty="0" err="1"/>
              <a:t>가시성</a:t>
            </a:r>
            <a:r>
              <a:rPr sz="1050" dirty="0"/>
              <a:t> </a:t>
            </a:r>
            <a:r>
              <a:rPr sz="1050" dirty="0" err="1"/>
              <a:t>경계로</a:t>
            </a:r>
            <a:r>
              <a:rPr sz="1050" dirty="0"/>
              <a:t> </a:t>
            </a:r>
            <a:r>
              <a:rPr sz="1050" dirty="0" err="1"/>
              <a:t>삼습니다</a:t>
            </a:r>
            <a:r>
              <a:rPr sz="1050" dirty="0"/>
              <a:t>. </a:t>
            </a:r>
            <a:r>
              <a:rPr sz="1050" dirty="0" err="1"/>
              <a:t>차이는</a:t>
            </a:r>
            <a:r>
              <a:rPr sz="1050" dirty="0"/>
              <a:t> </a:t>
            </a:r>
            <a:r>
              <a:rPr sz="1050" dirty="0" err="1"/>
              <a:t>메타데이터</a:t>
            </a:r>
            <a:r>
              <a:rPr sz="1050" dirty="0"/>
              <a:t>, 즉 prefix </a:t>
            </a:r>
            <a:r>
              <a:rPr sz="1050" dirty="0" err="1"/>
              <a:t>인덱스와</a:t>
            </a:r>
            <a:r>
              <a:rPr sz="1050" dirty="0"/>
              <a:t> </a:t>
            </a:r>
            <a:r>
              <a:rPr sz="1050" dirty="0" err="1"/>
              <a:t>refcount</a:t>
            </a:r>
            <a:r>
              <a:rPr sz="1050" dirty="0"/>
              <a:t>, </a:t>
            </a:r>
            <a:r>
              <a:rPr sz="1050" dirty="0" err="1"/>
              <a:t>할당기</a:t>
            </a:r>
            <a:r>
              <a:rPr sz="1050" dirty="0"/>
              <a:t>, </a:t>
            </a:r>
            <a:r>
              <a:rPr sz="1050" dirty="0" err="1"/>
              <a:t>LRU의</a:t>
            </a:r>
            <a:r>
              <a:rPr sz="1050" dirty="0"/>
              <a:t> </a:t>
            </a:r>
            <a:r>
              <a:rPr sz="1050" dirty="0" err="1"/>
              <a:t>일관성</a:t>
            </a:r>
            <a:r>
              <a:rPr sz="1050" dirty="0"/>
              <a:t> </a:t>
            </a:r>
            <a:r>
              <a:rPr sz="1050" dirty="0" err="1"/>
              <a:t>책임을</a:t>
            </a:r>
            <a:r>
              <a:rPr sz="1050" dirty="0"/>
              <a:t> </a:t>
            </a:r>
            <a:r>
              <a:rPr sz="1050" dirty="0" err="1"/>
              <a:t>누가</a:t>
            </a:r>
            <a:r>
              <a:rPr sz="1050" dirty="0"/>
              <a:t> </a:t>
            </a:r>
            <a:r>
              <a:rPr sz="1050" dirty="0" err="1"/>
              <a:t>지는가입니다</a:t>
            </a:r>
            <a:r>
              <a:rPr sz="1050" dirty="0"/>
              <a:t>.</a:t>
            </a:r>
            <a:endParaRPr lang="en-US" sz="1050" dirty="0"/>
          </a:p>
          <a:p>
            <a:endParaRPr sz="1050" dirty="0"/>
          </a:p>
          <a:p>
            <a:r>
              <a:rPr sz="1050" dirty="0"/>
              <a:t>C1은 </a:t>
            </a:r>
            <a:r>
              <a:rPr sz="1050" dirty="0" err="1"/>
              <a:t>메타데이터</a:t>
            </a:r>
            <a:r>
              <a:rPr sz="1050" dirty="0"/>
              <a:t> </a:t>
            </a:r>
            <a:r>
              <a:rPr sz="1050" dirty="0" err="1"/>
              <a:t>서버</a:t>
            </a:r>
            <a:r>
              <a:rPr sz="1050" dirty="0"/>
              <a:t> 한 </a:t>
            </a:r>
            <a:r>
              <a:rPr sz="1050" dirty="0" err="1"/>
              <a:t>곳이</a:t>
            </a:r>
            <a:r>
              <a:rPr sz="1050" dirty="0"/>
              <a:t> </a:t>
            </a:r>
            <a:r>
              <a:rPr sz="1050" dirty="0" err="1"/>
              <a:t>모든</a:t>
            </a:r>
            <a:r>
              <a:rPr sz="1050" dirty="0"/>
              <a:t> </a:t>
            </a:r>
            <a:r>
              <a:rPr sz="1050" dirty="0" err="1"/>
              <a:t>연산을</a:t>
            </a:r>
            <a:r>
              <a:rPr sz="1050" dirty="0"/>
              <a:t> </a:t>
            </a:r>
            <a:r>
              <a:rPr sz="1050" dirty="0" err="1"/>
              <a:t>직렬화하고</a:t>
            </a:r>
            <a:r>
              <a:rPr sz="1050" dirty="0"/>
              <a:t> </a:t>
            </a:r>
            <a:r>
              <a:rPr sz="1050" dirty="0" err="1"/>
              <a:t>노드는</a:t>
            </a:r>
            <a:r>
              <a:rPr sz="1050" dirty="0"/>
              <a:t> CXL </a:t>
            </a:r>
            <a:r>
              <a:rPr sz="1050" dirty="0" err="1"/>
              <a:t>슬롯</a:t>
            </a:r>
            <a:r>
              <a:rPr sz="1050" dirty="0"/>
              <a:t> </a:t>
            </a:r>
            <a:r>
              <a:rPr sz="1050" dirty="0" err="1"/>
              <a:t>기반</a:t>
            </a:r>
            <a:r>
              <a:rPr sz="1050" dirty="0"/>
              <a:t> </a:t>
            </a:r>
            <a:r>
              <a:rPr sz="1050" dirty="0" err="1"/>
              <a:t>RPC로</a:t>
            </a:r>
            <a:r>
              <a:rPr sz="1050" dirty="0"/>
              <a:t> </a:t>
            </a:r>
            <a:r>
              <a:rPr sz="1050" dirty="0" err="1"/>
              <a:t>요청합니다</a:t>
            </a:r>
            <a:r>
              <a:rPr sz="1050" dirty="0"/>
              <a:t>. </a:t>
            </a:r>
            <a:endParaRPr lang="en-US" sz="1050" dirty="0"/>
          </a:p>
          <a:p>
            <a:r>
              <a:rPr sz="1050" dirty="0" err="1"/>
              <a:t>Beluga가</a:t>
            </a:r>
            <a:r>
              <a:rPr sz="1050" dirty="0"/>
              <a:t> </a:t>
            </a:r>
            <a:r>
              <a:rPr sz="1050" dirty="0" err="1"/>
              <a:t>택한</a:t>
            </a:r>
            <a:r>
              <a:rPr sz="1050" dirty="0"/>
              <a:t> </a:t>
            </a:r>
            <a:r>
              <a:rPr sz="1050" dirty="0" err="1"/>
              <a:t>방식으로</a:t>
            </a:r>
            <a:r>
              <a:rPr sz="1050" dirty="0"/>
              <a:t> </a:t>
            </a:r>
            <a:r>
              <a:rPr sz="1050" dirty="0" err="1"/>
              <a:t>락이</a:t>
            </a:r>
            <a:r>
              <a:rPr sz="1050" dirty="0"/>
              <a:t> </a:t>
            </a:r>
            <a:r>
              <a:rPr sz="1050" dirty="0" err="1"/>
              <a:t>필요</a:t>
            </a:r>
            <a:r>
              <a:rPr sz="1050" dirty="0"/>
              <a:t> </a:t>
            </a:r>
            <a:r>
              <a:rPr sz="1050" dirty="0" err="1"/>
              <a:t>없지만</a:t>
            </a:r>
            <a:r>
              <a:rPr sz="1050" dirty="0"/>
              <a:t> </a:t>
            </a:r>
            <a:r>
              <a:rPr sz="1050" dirty="0" err="1"/>
              <a:t>서버가</a:t>
            </a:r>
            <a:r>
              <a:rPr sz="1050" dirty="0"/>
              <a:t> </a:t>
            </a:r>
            <a:r>
              <a:rPr sz="1050" dirty="0" err="1"/>
              <a:t>SPOF이자</a:t>
            </a:r>
            <a:r>
              <a:rPr sz="1050" dirty="0"/>
              <a:t> </a:t>
            </a:r>
            <a:r>
              <a:rPr sz="1050" dirty="0" err="1"/>
              <a:t>처리량</a:t>
            </a:r>
            <a:r>
              <a:rPr sz="1050" dirty="0"/>
              <a:t> </a:t>
            </a:r>
            <a:r>
              <a:rPr sz="1050" dirty="0" err="1"/>
              <a:t>상한입니다</a:t>
            </a:r>
            <a:r>
              <a:rPr sz="1050" dirty="0"/>
              <a:t>.</a:t>
            </a:r>
            <a:endParaRPr lang="en-US" sz="1050" dirty="0"/>
          </a:p>
          <a:p>
            <a:endParaRPr sz="1050" dirty="0"/>
          </a:p>
          <a:p>
            <a:r>
              <a:rPr sz="1050" dirty="0"/>
              <a:t>C2는 </a:t>
            </a:r>
            <a:r>
              <a:rPr sz="1050" dirty="0" err="1"/>
              <a:t>메타데이터를</a:t>
            </a:r>
            <a:r>
              <a:rPr sz="1050" dirty="0"/>
              <a:t> </a:t>
            </a:r>
            <a:r>
              <a:rPr sz="1050" dirty="0" err="1"/>
              <a:t>공유</a:t>
            </a:r>
            <a:r>
              <a:rPr sz="1050" dirty="0"/>
              <a:t> </a:t>
            </a:r>
            <a:r>
              <a:rPr sz="1050" dirty="0" err="1"/>
              <a:t>메모리에</a:t>
            </a:r>
            <a:r>
              <a:rPr sz="1050" dirty="0"/>
              <a:t> </a:t>
            </a:r>
            <a:r>
              <a:rPr sz="1050" dirty="0" err="1"/>
              <a:t>두고</a:t>
            </a:r>
            <a:r>
              <a:rPr sz="1050" dirty="0"/>
              <a:t> </a:t>
            </a:r>
            <a:r>
              <a:rPr sz="1050" dirty="0" err="1"/>
              <a:t>모든</a:t>
            </a:r>
            <a:r>
              <a:rPr sz="1050" dirty="0"/>
              <a:t> </a:t>
            </a:r>
            <a:r>
              <a:rPr sz="1050" dirty="0" err="1"/>
              <a:t>노드가</a:t>
            </a:r>
            <a:r>
              <a:rPr sz="1050" dirty="0"/>
              <a:t> 2단 </a:t>
            </a:r>
            <a:r>
              <a:rPr sz="1050" dirty="0" err="1"/>
              <a:t>락으로</a:t>
            </a:r>
            <a:r>
              <a:rPr sz="1050" dirty="0"/>
              <a:t> </a:t>
            </a:r>
            <a:r>
              <a:rPr sz="1050" dirty="0" err="1"/>
              <a:t>직접</a:t>
            </a:r>
            <a:r>
              <a:rPr sz="1050" dirty="0"/>
              <a:t> </a:t>
            </a:r>
            <a:r>
              <a:rPr sz="1050" dirty="0" err="1"/>
              <a:t>갱신합니다</a:t>
            </a:r>
            <a:r>
              <a:rPr sz="1050" dirty="0"/>
              <a:t>. </a:t>
            </a:r>
            <a:endParaRPr lang="en-US" sz="1050" dirty="0"/>
          </a:p>
          <a:p>
            <a:r>
              <a:rPr sz="1050" dirty="0" err="1"/>
              <a:t>TraCT가</a:t>
            </a:r>
            <a:r>
              <a:rPr sz="1050" dirty="0"/>
              <a:t> </a:t>
            </a:r>
            <a:r>
              <a:rPr sz="1050" dirty="0" err="1"/>
              <a:t>택한</a:t>
            </a:r>
            <a:r>
              <a:rPr sz="1050" dirty="0"/>
              <a:t> </a:t>
            </a:r>
            <a:r>
              <a:rPr sz="1050" dirty="0" err="1"/>
              <a:t>방식으로</a:t>
            </a:r>
            <a:r>
              <a:rPr sz="1050" dirty="0"/>
              <a:t> </a:t>
            </a:r>
            <a:r>
              <a:rPr sz="1050" dirty="0" err="1"/>
              <a:t>중앙</a:t>
            </a:r>
            <a:r>
              <a:rPr sz="1050" dirty="0"/>
              <a:t> </a:t>
            </a:r>
            <a:r>
              <a:rPr sz="1050" dirty="0" err="1"/>
              <a:t>서버가</a:t>
            </a:r>
            <a:r>
              <a:rPr sz="1050" dirty="0"/>
              <a:t> </a:t>
            </a:r>
            <a:r>
              <a:rPr sz="1050" dirty="0" err="1"/>
              <a:t>없지만</a:t>
            </a:r>
            <a:r>
              <a:rPr sz="1050" dirty="0"/>
              <a:t> 락 </a:t>
            </a:r>
            <a:r>
              <a:rPr sz="1050" dirty="0" err="1"/>
              <a:t>매니저의</a:t>
            </a:r>
            <a:r>
              <a:rPr sz="1050" dirty="0"/>
              <a:t> </a:t>
            </a:r>
            <a:r>
              <a:rPr sz="1050" dirty="0" err="1"/>
              <a:t>스캔</a:t>
            </a:r>
            <a:r>
              <a:rPr sz="1050" dirty="0"/>
              <a:t> </a:t>
            </a:r>
            <a:r>
              <a:rPr sz="1050" dirty="0" err="1"/>
              <a:t>비용이</a:t>
            </a:r>
            <a:r>
              <a:rPr sz="1050" dirty="0"/>
              <a:t> </a:t>
            </a:r>
            <a:r>
              <a:rPr sz="1050" dirty="0" err="1"/>
              <a:t>노드와</a:t>
            </a:r>
            <a:r>
              <a:rPr sz="1050" dirty="0"/>
              <a:t> </a:t>
            </a:r>
            <a:r>
              <a:rPr sz="1050" dirty="0" err="1"/>
              <a:t>슬롯</a:t>
            </a:r>
            <a:r>
              <a:rPr sz="1050" dirty="0"/>
              <a:t> </a:t>
            </a:r>
            <a:r>
              <a:rPr sz="1050" dirty="0" err="1"/>
              <a:t>수에</a:t>
            </a:r>
            <a:r>
              <a:rPr sz="1050" dirty="0"/>
              <a:t> </a:t>
            </a:r>
            <a:r>
              <a:rPr sz="1050" dirty="0" err="1"/>
              <a:t>비례하고</a:t>
            </a:r>
            <a:r>
              <a:rPr sz="1050" dirty="0"/>
              <a:t>, </a:t>
            </a:r>
            <a:r>
              <a:rPr sz="1050" dirty="0" err="1"/>
              <a:t>락을</a:t>
            </a:r>
            <a:r>
              <a:rPr sz="1050" dirty="0"/>
              <a:t> 쥔 </a:t>
            </a:r>
            <a:r>
              <a:rPr sz="1050" dirty="0" err="1"/>
              <a:t>노드가</a:t>
            </a:r>
            <a:r>
              <a:rPr sz="1050" dirty="0"/>
              <a:t> </a:t>
            </a:r>
            <a:r>
              <a:rPr sz="1050" dirty="0" err="1"/>
              <a:t>죽으면</a:t>
            </a:r>
            <a:r>
              <a:rPr sz="1050" dirty="0"/>
              <a:t> </a:t>
            </a:r>
            <a:r>
              <a:rPr sz="1050" dirty="0" err="1"/>
              <a:t>정체되며</a:t>
            </a:r>
            <a:r>
              <a:rPr sz="1050" dirty="0"/>
              <a:t>, </a:t>
            </a:r>
            <a:r>
              <a:rPr sz="1050" dirty="0" err="1"/>
              <a:t>clflush</a:t>
            </a:r>
            <a:r>
              <a:rPr sz="1050" dirty="0"/>
              <a:t> </a:t>
            </a:r>
            <a:r>
              <a:rPr sz="1050" dirty="0" err="1"/>
              <a:t>누락</a:t>
            </a:r>
            <a:r>
              <a:rPr sz="1050" dirty="0"/>
              <a:t> </a:t>
            </a:r>
            <a:r>
              <a:rPr sz="1050" dirty="0" err="1"/>
              <a:t>같은</a:t>
            </a:r>
            <a:r>
              <a:rPr sz="1050" dirty="0"/>
              <a:t> </a:t>
            </a:r>
            <a:r>
              <a:rPr sz="1050" dirty="0" err="1"/>
              <a:t>가시성</a:t>
            </a:r>
            <a:r>
              <a:rPr sz="1050" dirty="0"/>
              <a:t> </a:t>
            </a:r>
            <a:r>
              <a:rPr sz="1050" dirty="0" err="1"/>
              <a:t>버그</a:t>
            </a:r>
            <a:r>
              <a:rPr sz="1050" dirty="0"/>
              <a:t> </a:t>
            </a:r>
            <a:r>
              <a:rPr sz="1050" dirty="0" err="1"/>
              <a:t>위험이</a:t>
            </a:r>
            <a:r>
              <a:rPr sz="1050" dirty="0"/>
              <a:t> </a:t>
            </a:r>
            <a:r>
              <a:rPr sz="1050" dirty="0" err="1"/>
              <a:t>있습니다</a:t>
            </a:r>
            <a:r>
              <a:rPr sz="1050" dirty="0"/>
              <a:t>.</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5</a:t>
            </a:fld>
            <a:endParaRPr lang="ko-KR" altLang="en-US"/>
          </a:p>
        </p:txBody>
      </p:sp>
    </p:spTree>
    <p:extLst>
      <p:ext uri="{BB962C8B-B14F-4D97-AF65-F5344CB8AC3E}">
        <p14:creationId xmlns:p14="http://schemas.microsoft.com/office/powerpoint/2010/main" val="19162093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87BF61-C4E3-46F2-976A-DB71B3C1FDE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CC952DBF-B21A-48FA-BC39-6A8AE61AB0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8094439D-0C75-4898-8A51-D73AFB266657}"/>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5" name="바닥글 개체 틀 4">
            <a:extLst>
              <a:ext uri="{FF2B5EF4-FFF2-40B4-BE49-F238E27FC236}">
                <a16:creationId xmlns:a16="http://schemas.microsoft.com/office/drawing/2014/main" id="{29BB2237-742D-4469-AD43-1727915B7F8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60FECAC-EB5B-4CEC-8DEA-4607E2E686EF}"/>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5590564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AE5A6F2-0A9C-4C62-B7FC-BA83EB21EA7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4B37F6CF-1F7F-4D8D-ABEB-BA6C340D9B48}"/>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A14E37C-BD60-4EB1-A385-0DE2F7F51E7B}"/>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5" name="바닥글 개체 틀 4">
            <a:extLst>
              <a:ext uri="{FF2B5EF4-FFF2-40B4-BE49-F238E27FC236}">
                <a16:creationId xmlns:a16="http://schemas.microsoft.com/office/drawing/2014/main" id="{39F7B1C9-7FF6-4126-879D-9AD271A5DF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E5FC973-18E9-4BEE-B4E3-33F10BF264B4}"/>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5262958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88E77B3-1FCE-4434-AFA7-9B8F1F25FF91}"/>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1DAEFA20-081C-4E8D-AFC1-5A7F5B59BBA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9797DE-F355-4D3F-9AE3-30788265219C}"/>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5" name="바닥글 개체 틀 4">
            <a:extLst>
              <a:ext uri="{FF2B5EF4-FFF2-40B4-BE49-F238E27FC236}">
                <a16:creationId xmlns:a16="http://schemas.microsoft.com/office/drawing/2014/main" id="{1D212DBF-DBA1-4546-A29D-6DB6D3B01B6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FF532D-5C40-4A4F-83DE-7CB1DE225B0E}"/>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3921333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27FDC3A-7D41-4D6C-A1F2-FEE558FC273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59378EC-3B40-4F08-8DF9-7CF643BAC07E}"/>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051E0DA1-61C0-4ECD-8DC6-9A1A1A490E7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01DD359-40A9-4D37-B364-775CC0EBA963}"/>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6" name="바닥글 개체 틀 5">
            <a:extLst>
              <a:ext uri="{FF2B5EF4-FFF2-40B4-BE49-F238E27FC236}">
                <a16:creationId xmlns:a16="http://schemas.microsoft.com/office/drawing/2014/main" id="{28FF8DE4-06AC-41E4-B9F4-5149D5D5BFA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DEC11F1-ACB4-48F9-ABE4-E67889E6A761}"/>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2275491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27192D-37A9-442E-A961-0AC5E48C838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21560C0C-CCE7-46A5-AE37-6BADD5EB8EC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1BB593E-534D-4C68-B007-4DDA37DFC1B2}"/>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01085C3-D1F2-4718-B146-AA78B6D41D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B5397293-6B7E-45FA-930E-C6F160170D2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C638B3EB-9E31-4C6A-8C64-B1B3FC00586E}"/>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8" name="바닥글 개체 틀 7">
            <a:extLst>
              <a:ext uri="{FF2B5EF4-FFF2-40B4-BE49-F238E27FC236}">
                <a16:creationId xmlns:a16="http://schemas.microsoft.com/office/drawing/2014/main" id="{DD56D33E-FCBC-40E5-ABEC-2160DE9F2657}"/>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2FFA1E9-98A8-45E6-9827-35E02D1EB3BA}"/>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5053559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0BC120-0B4C-4C6A-95F7-21277A86502A}"/>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EA0D0EBC-5CF9-4A9C-A42A-9EFD7F2FEEA4}"/>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4" name="바닥글 개체 틀 3">
            <a:extLst>
              <a:ext uri="{FF2B5EF4-FFF2-40B4-BE49-F238E27FC236}">
                <a16:creationId xmlns:a16="http://schemas.microsoft.com/office/drawing/2014/main" id="{F9B663AE-454E-4DBD-9A7C-09DA836BD37B}"/>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455097A-826B-4C56-9511-B9B3AC7DC8DE}"/>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5104908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D1965F-A2DF-4CA3-8B0F-156819D05720}"/>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3" name="바닥글 개체 틀 2">
            <a:extLst>
              <a:ext uri="{FF2B5EF4-FFF2-40B4-BE49-F238E27FC236}">
                <a16:creationId xmlns:a16="http://schemas.microsoft.com/office/drawing/2014/main" id="{D153C49F-5039-4FC6-98AE-AAEA3EB3C901}"/>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C8C3BB90-AABB-431D-B967-5817929CDC1F}"/>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1481426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AB6B979-BDBB-491F-97FC-5B1B63EF6537}"/>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9F8D9D6-24D3-41B9-85F2-DA5F5B985D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18894B1-E41A-4F8E-B331-993DD92147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07A855F1-6A21-4737-8E20-AA8330DA721B}"/>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6" name="바닥글 개체 틀 5">
            <a:extLst>
              <a:ext uri="{FF2B5EF4-FFF2-40B4-BE49-F238E27FC236}">
                <a16:creationId xmlns:a16="http://schemas.microsoft.com/office/drawing/2014/main" id="{AEE545FF-3B82-46AF-BF9E-CE560AD8DEB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317B1D7-A84C-4EA3-AAD8-17DD49E82698}"/>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880387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07EFE94-E9ED-4D01-BD1E-9A1566FF575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731BA952-DBA5-41FD-8B00-42CEE24DF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9F8D9DEA-9228-4BD1-A1FA-C1B331E6AF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DBB937-BA11-4499-AC02-FEF41F70155B}"/>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6" name="바닥글 개체 틀 5">
            <a:extLst>
              <a:ext uri="{FF2B5EF4-FFF2-40B4-BE49-F238E27FC236}">
                <a16:creationId xmlns:a16="http://schemas.microsoft.com/office/drawing/2014/main" id="{DFE7F680-2B69-4E1D-832E-A2486EAF70B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8181AB6-6B74-4EB7-BF6D-5CDE1E5C7B42}"/>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9746145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A339F32-1A27-489C-9865-CBEB3C5DC3DC}"/>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BC9ECD8-1D79-4B48-8376-FFDAC3D1C66F}"/>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5D4052F-E62A-4793-9765-8F70AEFAFDDE}"/>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5" name="바닥글 개체 틀 4">
            <a:extLst>
              <a:ext uri="{FF2B5EF4-FFF2-40B4-BE49-F238E27FC236}">
                <a16:creationId xmlns:a16="http://schemas.microsoft.com/office/drawing/2014/main" id="{E8DE728C-9D4E-4988-8CAD-F40D8C45B7C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CC341E0-57B9-4F5B-8DA3-1A747E2D6978}"/>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2183106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5FC14BD-5747-4120-B50D-EF09DA2BC5F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65DF3F4-E9A0-42C1-8E59-19AAE21C2838}"/>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E1203052-1383-4EB9-AA1C-6D065F36F25B}"/>
              </a:ext>
            </a:extLst>
          </p:cNvPr>
          <p:cNvSpPr>
            <a:spLocks noGrp="1"/>
          </p:cNvSpPr>
          <p:nvPr>
            <p:ph type="dt" sz="half" idx="10"/>
          </p:nvPr>
        </p:nvSpPr>
        <p:spPr/>
        <p:txBody>
          <a:bodyPr/>
          <a:lstStyle/>
          <a:p>
            <a:fld id="{DCD7FB3B-226C-46BC-AA62-1D73139C3283}" type="datetimeFigureOut">
              <a:rPr lang="ko-KR" altLang="en-US" smtClean="0"/>
              <a:t>2026-10-24</a:t>
            </a:fld>
            <a:endParaRPr lang="ko-KR" altLang="en-US"/>
          </a:p>
        </p:txBody>
      </p:sp>
      <p:sp>
        <p:nvSpPr>
          <p:cNvPr id="5" name="바닥글 개체 틀 4">
            <a:extLst>
              <a:ext uri="{FF2B5EF4-FFF2-40B4-BE49-F238E27FC236}">
                <a16:creationId xmlns:a16="http://schemas.microsoft.com/office/drawing/2014/main" id="{BD490F0F-F70E-46D3-BFD8-6AFEB5D1953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AAFDBC6-5438-443D-BE35-98DE543ADCDF}"/>
              </a:ext>
            </a:extLst>
          </p:cNvPr>
          <p:cNvSpPr>
            <a:spLocks noGrp="1"/>
          </p:cNvSpPr>
          <p:nvPr>
            <p:ph type="sldNum" sz="quarter" idx="12"/>
          </p:nvPr>
        </p:nvSpPr>
        <p:spPr/>
        <p:txBody>
          <a:body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3967545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설계">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3355393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요구사항">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283979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5AC9B4-2FED-4499-8F20-384B4A83C7B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5ED1163-3C5C-44D4-BAD1-A6E73A9FC6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BD84C45-0880-4ACB-B7DA-D5C51A5ACF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CD7FB3B-226C-46BC-AA62-1D73139C3283}" type="datetimeFigureOut">
              <a:rPr lang="ko-KR" altLang="en-US" smtClean="0"/>
              <a:t>2026-10-24</a:t>
            </a:fld>
            <a:endParaRPr lang="ko-KR" altLang="en-US"/>
          </a:p>
        </p:txBody>
      </p:sp>
      <p:sp>
        <p:nvSpPr>
          <p:cNvPr id="5" name="바닥글 개체 틀 4">
            <a:extLst>
              <a:ext uri="{FF2B5EF4-FFF2-40B4-BE49-F238E27FC236}">
                <a16:creationId xmlns:a16="http://schemas.microsoft.com/office/drawing/2014/main" id="{DDF8C919-9592-46E7-9922-7C91198B62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BDC4C1E-3602-490A-A8F7-9D5858EAB8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ADA211-7CE5-45C8-B2A1-FCC39468BBAB}" type="slidenum">
              <a:rPr lang="ko-KR" altLang="en-US" smtClean="0"/>
              <a:t>‹#›</a:t>
            </a:fld>
            <a:endParaRPr lang="ko-KR" altLang="en-US"/>
          </a:p>
        </p:txBody>
      </p:sp>
    </p:spTree>
    <p:extLst>
      <p:ext uri="{BB962C8B-B14F-4D97-AF65-F5344CB8AC3E}">
        <p14:creationId xmlns:p14="http://schemas.microsoft.com/office/powerpoint/2010/main" val="33285951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 Target="slide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품질 요구사항</a:t>
            </a:r>
          </a:p>
        </p:txBody>
      </p:sp>
      <p:sp>
        <p:nvSpPr>
          <p:cNvPr id="87" name="직사각형 86">
            <a:extLst>
              <a:ext uri="{FF2B5EF4-FFF2-40B4-BE49-F238E27FC236}">
                <a16:creationId xmlns:a16="http://schemas.microsoft.com/office/drawing/2014/main" id="{60781BA3-74B0-4E89-8351-A5B635C971DB}"/>
              </a:ext>
            </a:extLst>
          </p:cNvPr>
          <p:cNvSpPr/>
          <p:nvPr/>
        </p:nvSpPr>
        <p:spPr>
          <a:xfrm>
            <a:off x="169504" y="502504"/>
            <a:ext cx="11709383" cy="461665"/>
          </a:xfrm>
          <a:prstGeom prst="rect">
            <a:avLst/>
          </a:prstGeom>
        </p:spPr>
        <p:txBody>
          <a:bodyPr wrap="square">
            <a:spAutoFit/>
          </a:bodyPr>
          <a:lstStyle/>
          <a:p>
            <a:pPr marL="285750" indent="-285750">
              <a:lnSpc>
                <a:spcPct val="150000"/>
              </a:lnSpc>
              <a:buBlip>
                <a:blip r:embed="rId3"/>
              </a:buBlip>
            </a:pP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QAW</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에서 도출된 품질 요구사항을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Utility Tree</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를 통해 핵심 품질 속성</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중요도 </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H,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난이도</a:t>
            </a:r>
            <a:r>
              <a:rPr lang="en-US" altLang="ko-KR" sz="1600" dirty="0">
                <a:solidFill>
                  <a:prstClr val="black"/>
                </a:solidFill>
                <a:latin typeface="맑은 고딕" panose="020F0502020204030204"/>
                <a:ea typeface="맑은 고딕" panose="020B0503020000020004" pitchFamily="50" charset="-127"/>
              </a:rPr>
              <a:t> M </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이상</a:t>
            </a:r>
            <a:r>
              <a:rPr kumimoji="0" lang="en-US" altLang="ko-KR"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r>
              <a:rPr kumimoji="0" lang="ko-KR" altLang="en-US" sz="1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선정</a:t>
            </a:r>
            <a:endParaRPr lang="en-US" altLang="ko-KR" sz="1600" dirty="0">
              <a:latin typeface="+mj-ea"/>
            </a:endParaRPr>
          </a:p>
        </p:txBody>
      </p:sp>
      <p:graphicFrame>
        <p:nvGraphicFramePr>
          <p:cNvPr id="16" name="표 15">
            <a:extLst>
              <a:ext uri="{FF2B5EF4-FFF2-40B4-BE49-F238E27FC236}">
                <a16:creationId xmlns:a16="http://schemas.microsoft.com/office/drawing/2014/main" id="{45E471B8-4DA3-43CA-8493-452011A4B916}"/>
              </a:ext>
            </a:extLst>
          </p:cNvPr>
          <p:cNvGraphicFramePr>
            <a:graphicFrameLocks noGrp="1"/>
          </p:cNvGraphicFramePr>
          <p:nvPr>
            <p:extLst>
              <p:ext uri="{D42A27DB-BD31-4B8C-83A1-F6EECF244321}">
                <p14:modId xmlns:p14="http://schemas.microsoft.com/office/powerpoint/2010/main" val="3517395748"/>
              </p:ext>
            </p:extLst>
          </p:nvPr>
        </p:nvGraphicFramePr>
        <p:xfrm>
          <a:off x="278859" y="996757"/>
          <a:ext cx="11709382" cy="3769033"/>
        </p:xfrm>
        <a:graphic>
          <a:graphicData uri="http://schemas.openxmlformats.org/drawingml/2006/table">
            <a:tbl>
              <a:tblPr firstRow="1" firstCol="1" bandRow="1">
                <a:tableStyleId>{5940675A-B579-460E-94D1-54222C63F5DA}</a:tableStyleId>
              </a:tblPr>
              <a:tblGrid>
                <a:gridCol w="610593">
                  <a:extLst>
                    <a:ext uri="{9D8B030D-6E8A-4147-A177-3AD203B41FA5}">
                      <a16:colId xmlns:a16="http://schemas.microsoft.com/office/drawing/2014/main" val="138156465"/>
                    </a:ext>
                  </a:extLst>
                </a:gridCol>
                <a:gridCol w="1052270">
                  <a:extLst>
                    <a:ext uri="{9D8B030D-6E8A-4147-A177-3AD203B41FA5}">
                      <a16:colId xmlns:a16="http://schemas.microsoft.com/office/drawing/2014/main" val="4176869531"/>
                    </a:ext>
                  </a:extLst>
                </a:gridCol>
                <a:gridCol w="1529669">
                  <a:extLst>
                    <a:ext uri="{9D8B030D-6E8A-4147-A177-3AD203B41FA5}">
                      <a16:colId xmlns:a16="http://schemas.microsoft.com/office/drawing/2014/main" val="714743119"/>
                    </a:ext>
                  </a:extLst>
                </a:gridCol>
                <a:gridCol w="6942142">
                  <a:extLst>
                    <a:ext uri="{9D8B030D-6E8A-4147-A177-3AD203B41FA5}">
                      <a16:colId xmlns:a16="http://schemas.microsoft.com/office/drawing/2014/main" val="713779841"/>
                    </a:ext>
                  </a:extLst>
                </a:gridCol>
                <a:gridCol w="559320">
                  <a:extLst>
                    <a:ext uri="{9D8B030D-6E8A-4147-A177-3AD203B41FA5}">
                      <a16:colId xmlns:a16="http://schemas.microsoft.com/office/drawing/2014/main" val="4072428474"/>
                    </a:ext>
                  </a:extLst>
                </a:gridCol>
                <a:gridCol w="574713">
                  <a:extLst>
                    <a:ext uri="{9D8B030D-6E8A-4147-A177-3AD203B41FA5}">
                      <a16:colId xmlns:a16="http://schemas.microsoft.com/office/drawing/2014/main" val="2666804482"/>
                    </a:ext>
                  </a:extLst>
                </a:gridCol>
                <a:gridCol w="440675">
                  <a:extLst>
                    <a:ext uri="{9D8B030D-6E8A-4147-A177-3AD203B41FA5}">
                      <a16:colId xmlns:a16="http://schemas.microsoft.com/office/drawing/2014/main" val="2282568718"/>
                    </a:ext>
                  </a:extLst>
                </a:gridCol>
              </a:tblGrid>
              <a:tr h="423193">
                <a:tc>
                  <a:txBody>
                    <a:bodyPr/>
                    <a:lstStyle/>
                    <a:p>
                      <a:pPr algn="ctr"/>
                      <a:r>
                        <a:rPr lang="ko-KR" altLang="en-US" sz="900" b="1" dirty="0">
                          <a:solidFill>
                            <a:schemeClr val="bg1"/>
                          </a:solidFill>
                        </a:rPr>
                        <a:t>번호</a:t>
                      </a:r>
                    </a:p>
                  </a:txBody>
                  <a:tcPr anchor="ctr">
                    <a:solidFill>
                      <a:srgbClr val="3B3B3B"/>
                    </a:solidFill>
                  </a:tcPr>
                </a:tc>
                <a:tc>
                  <a:txBody>
                    <a:bodyPr/>
                    <a:lstStyle/>
                    <a:p>
                      <a:pPr algn="ctr"/>
                      <a:r>
                        <a:rPr lang="en-US" sz="900" b="1">
                          <a:solidFill>
                            <a:schemeClr val="bg1"/>
                          </a:solidFill>
                        </a:rPr>
                        <a:t>QA</a:t>
                      </a:r>
                    </a:p>
                  </a:txBody>
                  <a:tcPr anchor="ctr">
                    <a:solidFill>
                      <a:srgbClr val="3B3B3B"/>
                    </a:solidFill>
                  </a:tcPr>
                </a:tc>
                <a:tc>
                  <a:txBody>
                    <a:bodyPr/>
                    <a:lstStyle/>
                    <a:p>
                      <a:pPr algn="ctr"/>
                      <a:r>
                        <a:rPr lang="en-US" sz="900" b="1" dirty="0">
                          <a:solidFill>
                            <a:schemeClr val="bg1"/>
                          </a:solidFill>
                        </a:rPr>
                        <a:t>Refinement</a:t>
                      </a:r>
                    </a:p>
                  </a:txBody>
                  <a:tcPr anchor="ctr">
                    <a:solidFill>
                      <a:srgbClr val="3B3B3B"/>
                    </a:solidFill>
                  </a:tcPr>
                </a:tc>
                <a:tc>
                  <a:txBody>
                    <a:bodyPr/>
                    <a:lstStyle/>
                    <a:p>
                      <a:pPr algn="ctr"/>
                      <a:r>
                        <a:rPr lang="en-US" sz="900" b="1" dirty="0">
                          <a:solidFill>
                            <a:schemeClr val="bg1"/>
                          </a:solidFill>
                        </a:rPr>
                        <a:t>Scenario</a:t>
                      </a:r>
                    </a:p>
                  </a:txBody>
                  <a:tcPr anchor="ctr">
                    <a:solidFill>
                      <a:srgbClr val="3B3B3B"/>
                    </a:solidFill>
                  </a:tcPr>
                </a:tc>
                <a:tc>
                  <a:txBody>
                    <a:bodyPr/>
                    <a:lstStyle/>
                    <a:p>
                      <a:pPr algn="ctr"/>
                      <a:r>
                        <a:rPr lang="ko-KR" altLang="en-US" sz="900" b="1">
                          <a:solidFill>
                            <a:schemeClr val="bg1"/>
                          </a:solidFill>
                        </a:rPr>
                        <a:t>중요도</a:t>
                      </a:r>
                    </a:p>
                  </a:txBody>
                  <a:tcPr anchor="ctr">
                    <a:solidFill>
                      <a:srgbClr val="3B3B3B"/>
                    </a:solidFill>
                  </a:tcPr>
                </a:tc>
                <a:tc>
                  <a:txBody>
                    <a:bodyPr/>
                    <a:lstStyle/>
                    <a:p>
                      <a:pPr algn="ctr"/>
                      <a:r>
                        <a:rPr lang="ko-KR" altLang="en-US" sz="900" b="1" dirty="0">
                          <a:solidFill>
                            <a:schemeClr val="bg1"/>
                          </a:solidFill>
                        </a:rPr>
                        <a:t>난이도</a:t>
                      </a:r>
                    </a:p>
                  </a:txBody>
                  <a:tcPr anchor="ctr">
                    <a:solidFill>
                      <a:srgbClr val="3B3B3B"/>
                    </a:solidFill>
                  </a:tcPr>
                </a:tc>
                <a:tc>
                  <a:txBody>
                    <a:bodyPr/>
                    <a:lstStyle/>
                    <a:p>
                      <a:pPr algn="ctr"/>
                      <a:r>
                        <a:rPr lang="ko-KR" altLang="en-US" sz="900" b="1" dirty="0">
                          <a:solidFill>
                            <a:schemeClr val="bg1"/>
                          </a:solidFill>
                        </a:rPr>
                        <a:t>우선순위</a:t>
                      </a:r>
                    </a:p>
                  </a:txBody>
                  <a:tcPr anchor="ctr">
                    <a:solidFill>
                      <a:srgbClr val="3B3B3B"/>
                    </a:solidFill>
                  </a:tcPr>
                </a:tc>
                <a:extLst>
                  <a:ext uri="{0D108BD9-81ED-4DB2-BD59-A6C34878D82A}">
                    <a16:rowId xmlns:a16="http://schemas.microsoft.com/office/drawing/2014/main" val="614451097"/>
                  </a:ext>
                </a:extLst>
              </a:tr>
              <a:tr h="468000">
                <a:tc>
                  <a:txBody>
                    <a:bodyPr/>
                    <a:lstStyle/>
                    <a:p>
                      <a:r>
                        <a:rPr lang="en-US" sz="900" dirty="0"/>
                        <a:t>QA-01</a:t>
                      </a:r>
                    </a:p>
                  </a:txBody>
                  <a:tcPr anchor="ctr">
                    <a:solidFill>
                      <a:schemeClr val="accent4">
                        <a:lumMod val="20000"/>
                        <a:lumOff val="80000"/>
                      </a:schemeClr>
                    </a:solidFill>
                  </a:tcPr>
                </a:tc>
                <a:tc>
                  <a:txBody>
                    <a:bodyPr/>
                    <a:lstStyle/>
                    <a:p>
                      <a:r>
                        <a:rPr lang="en-US" sz="900" dirty="0"/>
                        <a:t>Performance</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t>(Throughput)</a:t>
                      </a:r>
                    </a:p>
                  </a:txBody>
                  <a:tcPr anchor="ctr">
                    <a:solidFill>
                      <a:schemeClr val="accent4">
                        <a:lumMod val="20000"/>
                        <a:lumOff val="80000"/>
                      </a:schemeClr>
                    </a:solidFill>
                  </a:tcPr>
                </a:tc>
                <a:tc>
                  <a:txBody>
                    <a:bodyPr/>
                    <a:lstStyle/>
                    <a:p>
                      <a:r>
                        <a:rPr lang="ko-KR" altLang="en-US" sz="900" dirty="0"/>
                        <a:t>서비스 수준 목표</a:t>
                      </a:r>
                      <a:r>
                        <a:rPr lang="en-US" altLang="ko-KR" sz="900" dirty="0"/>
                        <a:t>(SLO)</a:t>
                      </a:r>
                      <a:r>
                        <a:rPr lang="ko-KR" altLang="en-US" sz="900" dirty="0"/>
                        <a:t>를 만족하는 토큰 처리량</a:t>
                      </a:r>
                    </a:p>
                  </a:txBody>
                  <a:tcPr anchor="ctr">
                    <a:solidFill>
                      <a:schemeClr val="accent4">
                        <a:lumMod val="20000"/>
                        <a:lumOff val="80000"/>
                      </a:schemeClr>
                    </a:solidFill>
                  </a:tcPr>
                </a:tc>
                <a:tc>
                  <a:txBody>
                    <a:bodyPr/>
                    <a:lstStyle/>
                    <a:p>
                      <a:r>
                        <a:rPr lang="ko-KR" altLang="en-US" sz="900" dirty="0"/>
                        <a:t>다수의 </a:t>
                      </a:r>
                      <a:r>
                        <a:rPr lang="en-US" altLang="ko-KR" sz="900" dirty="0"/>
                        <a:t>agent </a:t>
                      </a:r>
                      <a:r>
                        <a:rPr lang="ko-KR" altLang="en-US" sz="900" dirty="0"/>
                        <a:t>세션이 동시에 요청하는 상황에서</a:t>
                      </a:r>
                      <a:r>
                        <a:rPr lang="en-US" altLang="ko-KR" sz="900" dirty="0"/>
                        <a:t>, </a:t>
                      </a:r>
                      <a:r>
                        <a:rPr lang="ko-KR" altLang="en-US" sz="900" dirty="0"/>
                        <a:t>지정한 </a:t>
                      </a:r>
                      <a:r>
                        <a:rPr lang="en-US" altLang="ko-KR" sz="900" dirty="0"/>
                        <a:t>SLO*(Elapsed Time)</a:t>
                      </a:r>
                      <a:r>
                        <a:rPr lang="ko-KR" altLang="en-US" sz="900" dirty="0"/>
                        <a:t>를 만족하며</a:t>
                      </a:r>
                      <a:r>
                        <a:rPr lang="en-US" altLang="ko-KR" sz="900" dirty="0"/>
                        <a:t>, </a:t>
                      </a:r>
                      <a:r>
                        <a:rPr lang="ko-KR" altLang="en-US" sz="900" dirty="0"/>
                        <a:t>처리할 수 있는 최대 </a:t>
                      </a:r>
                      <a:r>
                        <a:rPr lang="ko-KR" altLang="en-US" sz="900" dirty="0" err="1"/>
                        <a:t>요청량이</a:t>
                      </a:r>
                      <a:r>
                        <a:rPr lang="ko-KR" altLang="en-US" sz="900" dirty="0"/>
                        <a:t> 기존 시스템</a:t>
                      </a:r>
                      <a:r>
                        <a:rPr lang="en-US" altLang="ko-KR" sz="900" dirty="0"/>
                        <a:t>(B1: 정적 offload)</a:t>
                      </a:r>
                      <a:r>
                        <a:rPr lang="ko-KR" altLang="en-US" sz="900" dirty="0"/>
                        <a:t>보다 커야 한다</a:t>
                      </a:r>
                      <a:r>
                        <a:rPr lang="en-US" altLang="ko-KR" sz="900" dirty="0"/>
                        <a:t>. (*SLO: Service Level</a:t>
                      </a:r>
                      <a:r>
                        <a:rPr lang="ko-KR" altLang="en-US" sz="900" dirty="0"/>
                        <a:t> </a:t>
                      </a:r>
                      <a:r>
                        <a:rPr lang="en-US" altLang="ko-KR" sz="900" dirty="0"/>
                        <a:t>Objective)</a:t>
                      </a:r>
                      <a:br>
                        <a:rPr lang="en-US" altLang="ko-KR" sz="900" dirty="0"/>
                      </a:br>
                      <a:r>
                        <a:rPr lang="en-US" altLang="ko-KR" sz="900" b="1" dirty="0"/>
                        <a:t>[</a:t>
                      </a:r>
                      <a:r>
                        <a:rPr lang="ko-KR" altLang="en-US" sz="900" b="1" dirty="0"/>
                        <a:t>측정</a:t>
                      </a:r>
                      <a:r>
                        <a:rPr lang="en-US" altLang="ko-KR" sz="900" b="1" dirty="0"/>
                        <a:t>: SLO </a:t>
                      </a:r>
                      <a:r>
                        <a:rPr lang="ko-KR" altLang="en-US" sz="900" b="1" dirty="0"/>
                        <a:t>만족 최대 처리량 </a:t>
                      </a:r>
                      <a:r>
                        <a:rPr lang="en-US" altLang="ko-KR" sz="900" b="1" dirty="0"/>
                        <a:t>≥ B1 </a:t>
                      </a:r>
                      <a:r>
                        <a:rPr lang="ko-KR" altLang="en-US" sz="900" b="1" dirty="0"/>
                        <a:t>대비 증가율 </a:t>
                      </a:r>
                      <a:r>
                        <a:rPr lang="en-US" altLang="ko-KR" sz="900" b="1" dirty="0"/>
                        <a:t>1.2x (B0 GPU-only 대비 2x는 Stakeholder </a:t>
                      </a:r>
                      <a:r>
                        <a:rPr lang="ko-KR" altLang="en-US" sz="900" b="1" dirty="0"/>
                        <a:t>요구, 참고</a:t>
                      </a:r>
                      <a:r>
                        <a:rPr lang="en-US" altLang="ko-KR" sz="900" b="1" dirty="0"/>
                        <a:t>) </a:t>
                      </a:r>
                      <a:r>
                        <a:rPr lang="en-US" altLang="ko-KR" sz="700" b="1" dirty="0"/>
                        <a:t>(</a:t>
                      </a:r>
                      <a:r>
                        <a:rPr lang="ko-KR" altLang="en-US" sz="700" b="1" dirty="0"/>
                        <a:t>단</a:t>
                      </a:r>
                      <a:r>
                        <a:rPr lang="en-US" altLang="ko-KR" sz="700" b="1" dirty="0"/>
                        <a:t>, SLO: TTFT ≤ 2s, TPOT ≤ 50ms </a:t>
                      </a:r>
                      <a:r>
                        <a:rPr lang="ko-KR" altLang="en-US" sz="700" b="1" dirty="0"/>
                        <a:t>만족</a:t>
                      </a:r>
                      <a:r>
                        <a:rPr lang="en-US" altLang="ko-KR" sz="700" b="1" dirty="0"/>
                        <a:t>)</a:t>
                      </a:r>
                      <a:r>
                        <a:rPr lang="en-US" altLang="ko-KR" sz="900" b="1" dirty="0"/>
                        <a:t>]</a:t>
                      </a:r>
                      <a:endParaRPr lang="ko-KR" altLang="en-US" sz="900" dirty="0"/>
                    </a:p>
                  </a:txBody>
                  <a:tcPr anchor="ctr">
                    <a:solidFill>
                      <a:schemeClr val="accent4">
                        <a:lumMod val="20000"/>
                        <a:lumOff val="80000"/>
                      </a:schemeClr>
                    </a:solidFill>
                  </a:tcPr>
                </a:tc>
                <a:tc>
                  <a:txBody>
                    <a:bodyPr/>
                    <a:lstStyle/>
                    <a:p>
                      <a:r>
                        <a:rPr lang="en-US" sz="900"/>
                        <a:t>H</a:t>
                      </a:r>
                    </a:p>
                  </a:txBody>
                  <a:tcPr anchor="ctr">
                    <a:solidFill>
                      <a:schemeClr val="accent4">
                        <a:lumMod val="20000"/>
                        <a:lumOff val="80000"/>
                      </a:schemeClr>
                    </a:solidFill>
                  </a:tcPr>
                </a:tc>
                <a:tc>
                  <a:txBody>
                    <a:bodyPr/>
                    <a:lstStyle/>
                    <a:p>
                      <a:r>
                        <a:rPr lang="en-US" altLang="ko-KR" sz="900" dirty="0"/>
                        <a:t>H</a:t>
                      </a:r>
                      <a:endParaRPr lang="en-US" sz="900" dirty="0"/>
                    </a:p>
                  </a:txBody>
                  <a:tcPr anchor="ctr">
                    <a:solidFill>
                      <a:schemeClr val="accent4">
                        <a:lumMod val="20000"/>
                        <a:lumOff val="80000"/>
                      </a:schemeClr>
                    </a:solidFill>
                  </a:tcPr>
                </a:tc>
                <a:tc>
                  <a:txBody>
                    <a:bodyPr/>
                    <a:lstStyle/>
                    <a:p>
                      <a:r>
                        <a:rPr lang="en-US" altLang="ko-KR" sz="900" dirty="0"/>
                        <a:t>1</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3528179193"/>
                  </a:ext>
                </a:extLst>
              </a:tr>
              <a:tr h="468000">
                <a:tc>
                  <a:txBody>
                    <a:bodyPr/>
                    <a:lstStyle/>
                    <a:p>
                      <a:r>
                        <a:rPr lang="en-US" sz="900" dirty="0"/>
                        <a:t>QA-02</a:t>
                      </a:r>
                    </a:p>
                  </a:txBody>
                  <a:tcPr anchor="ctr">
                    <a:solidFill>
                      <a:schemeClr val="accent4">
                        <a:lumMod val="20000"/>
                        <a:lumOff val="80000"/>
                      </a:schemeClr>
                    </a:solidFill>
                  </a:tcPr>
                </a:tc>
                <a:tc>
                  <a:txBody>
                    <a:bodyPr/>
                    <a:lstStyle/>
                    <a:p>
                      <a:r>
                        <a:rPr lang="en-US" sz="900" dirty="0"/>
                        <a:t>Resource</a:t>
                      </a:r>
                      <a:r>
                        <a:rPr lang="en-US" sz="900" baseline="0" dirty="0"/>
                        <a:t> </a:t>
                      </a:r>
                    </a:p>
                    <a:p>
                      <a:r>
                        <a:rPr lang="en-US" sz="900" baseline="0" dirty="0"/>
                        <a:t>Efficiency</a:t>
                      </a:r>
                      <a:endParaRPr lang="en-US" sz="900" dirty="0"/>
                    </a:p>
                  </a:txBody>
                  <a:tcPr anchor="ctr">
                    <a:solidFill>
                      <a:schemeClr val="accent4">
                        <a:lumMod val="20000"/>
                        <a:lumOff val="80000"/>
                      </a:schemeClr>
                    </a:solidFill>
                  </a:tcPr>
                </a:tc>
                <a:tc>
                  <a:txBody>
                    <a:bodyPr/>
                    <a:lstStyle/>
                    <a:p>
                      <a:r>
                        <a:rPr lang="en-US" sz="900" dirty="0"/>
                        <a:t>HBM </a:t>
                      </a:r>
                      <a:r>
                        <a:rPr lang="ko-KR" altLang="en-US" sz="900" dirty="0"/>
                        <a:t>점유율</a:t>
                      </a:r>
                    </a:p>
                  </a:txBody>
                  <a:tcPr anchor="ctr">
                    <a:solidFill>
                      <a:schemeClr val="accent4">
                        <a:lumMod val="20000"/>
                        <a:lumOff val="80000"/>
                      </a:schemeClr>
                    </a:solidFill>
                  </a:tcPr>
                </a:tc>
                <a:tc>
                  <a:txBody>
                    <a:bodyPr/>
                    <a:lstStyle/>
                    <a:p>
                      <a:r>
                        <a:rPr lang="ko-KR" altLang="en-US" sz="900" dirty="0"/>
                        <a:t>동일한 성능 조건에서 </a:t>
                      </a:r>
                      <a:r>
                        <a:rPr lang="en-US" altLang="ko-KR" sz="900" dirty="0"/>
                        <a:t>HBM </a:t>
                      </a:r>
                      <a:r>
                        <a:rPr lang="ko-KR" altLang="en-US" sz="900" dirty="0"/>
                        <a:t>점유율이 </a:t>
                      </a:r>
                      <a:r>
                        <a:rPr lang="en-US" altLang="ko-KR" sz="900" dirty="0"/>
                        <a:t>B1(정적 offload)</a:t>
                      </a:r>
                      <a:r>
                        <a:rPr lang="ko-KR" altLang="en-US" sz="900" dirty="0"/>
                        <a:t>보다 낮아야 한다</a:t>
                      </a:r>
                      <a:r>
                        <a:rPr lang="en-US" altLang="ko-KR" sz="900" dirty="0"/>
                        <a:t>.</a:t>
                      </a:r>
                      <a:br>
                        <a:rPr lang="en-US" altLang="ko-KR" sz="900" dirty="0"/>
                      </a:br>
                      <a:r>
                        <a:rPr lang="en-US" altLang="ko-KR" sz="900" b="1" dirty="0"/>
                        <a:t>[</a:t>
                      </a:r>
                      <a:r>
                        <a:rPr lang="ko-KR" altLang="en-US" sz="900" b="1" dirty="0"/>
                        <a:t>측정</a:t>
                      </a:r>
                      <a:r>
                        <a:rPr lang="en-US" altLang="ko-KR" sz="900" b="1" dirty="0"/>
                        <a:t>: HBM </a:t>
                      </a:r>
                      <a:r>
                        <a:rPr lang="ko-KR" altLang="en-US" sz="900" b="1" dirty="0"/>
                        <a:t>점유율 </a:t>
                      </a:r>
                      <a:r>
                        <a:rPr lang="en-US" altLang="ko-KR" sz="900" b="1" dirty="0"/>
                        <a:t>≥ B1 </a:t>
                      </a:r>
                      <a:r>
                        <a:rPr lang="ko-KR" altLang="en-US" sz="900" b="1" dirty="0"/>
                        <a:t>대비 감소율 </a:t>
                      </a:r>
                      <a:r>
                        <a:rPr lang="en-US" altLang="ko-KR" sz="900" b="1" dirty="0"/>
                        <a:t>20% ]</a:t>
                      </a:r>
                      <a:endParaRPr lang="ko-KR" altLang="en-US" sz="900" dirty="0"/>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altLang="ko-KR" sz="900" dirty="0"/>
                        <a:t>2</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105785534"/>
                  </a:ext>
                </a:extLst>
              </a:tr>
              <a:tr h="468000">
                <a:tc>
                  <a:txBody>
                    <a:bodyPr/>
                    <a:lstStyle/>
                    <a:p>
                      <a:r>
                        <a:rPr lang="en-US" sz="900" dirty="0"/>
                        <a:t>QA-03</a:t>
                      </a:r>
                    </a:p>
                  </a:txBody>
                  <a:tcPr anchor="ctr">
                    <a:solidFill>
                      <a:schemeClr val="accent4">
                        <a:lumMod val="20000"/>
                        <a:lumOff val="80000"/>
                      </a:schemeClr>
                    </a:solidFill>
                  </a:tcPr>
                </a:tc>
                <a:tc>
                  <a:txBody>
                    <a:bodyPr/>
                    <a:lstStyle/>
                    <a:p>
                      <a:r>
                        <a:rPr lang="en-US" sz="900" dirty="0"/>
                        <a:t>Performance</a:t>
                      </a:r>
                    </a:p>
                    <a:p>
                      <a:r>
                        <a:rPr lang="en-US" sz="900" dirty="0"/>
                        <a:t>(Tail</a:t>
                      </a:r>
                      <a:r>
                        <a:rPr lang="ko-KR" altLang="en-US" sz="900" dirty="0"/>
                        <a:t> </a:t>
                      </a:r>
                      <a:r>
                        <a:rPr lang="en-US" altLang="ko-KR" sz="900" dirty="0"/>
                        <a:t>Latency)</a:t>
                      </a:r>
                      <a:endParaRPr lang="en-US" sz="900" dirty="0"/>
                    </a:p>
                  </a:txBody>
                  <a:tcPr anchor="ctr">
                    <a:solidFill>
                      <a:schemeClr val="accent4">
                        <a:lumMod val="20000"/>
                        <a:lumOff val="80000"/>
                      </a:schemeClr>
                    </a:solidFill>
                  </a:tcPr>
                </a:tc>
                <a:tc>
                  <a:txBody>
                    <a:bodyPr/>
                    <a:lstStyle/>
                    <a:p>
                      <a:r>
                        <a:rPr lang="ko-KR" altLang="en-US" sz="900" dirty="0"/>
                        <a:t>고부하 지연시간 </a:t>
                      </a:r>
                      <a:r>
                        <a:rPr lang="en-US" altLang="ko-KR" sz="900" dirty="0"/>
                        <a:t>(P99)</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b="0" baseline="0" dirty="0"/>
                        <a:t>고부하 환경에서 최악 응답 지연</a:t>
                      </a:r>
                      <a:r>
                        <a:rPr lang="en-US" altLang="ko-KR" sz="900" b="0" baseline="0" dirty="0"/>
                        <a:t>(Tail Latency)</a:t>
                      </a:r>
                      <a:r>
                        <a:rPr lang="ko-KR" altLang="en-US" sz="900" b="0" baseline="0" dirty="0"/>
                        <a:t>을 </a:t>
                      </a:r>
                      <a:r>
                        <a:rPr lang="en-US" altLang="ko-KR" sz="900" b="0" baseline="0" dirty="0"/>
                        <a:t>B1 </a:t>
                      </a:r>
                      <a:r>
                        <a:rPr lang="ko-KR" altLang="en-US" sz="900" b="0" baseline="0" dirty="0"/>
                        <a:t>대비 개선해야 한다</a:t>
                      </a:r>
                      <a:r>
                        <a:rPr lang="en-US" altLang="ko-KR" sz="900" b="0" baseline="0" dirty="0"/>
                        <a:t>. </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t>[</a:t>
                      </a:r>
                      <a:r>
                        <a:rPr lang="ko-KR" altLang="en-US" sz="900" b="1" dirty="0"/>
                        <a:t>측정</a:t>
                      </a:r>
                      <a:r>
                        <a:rPr lang="en-US" altLang="ko-KR" sz="900" b="1" dirty="0"/>
                        <a:t>: TTFT·TPOT(P99) 개선 r ≥ B1 </a:t>
                      </a:r>
                      <a:r>
                        <a:rPr lang="ko-KR" altLang="en-US" sz="900" b="1" dirty="0"/>
                        <a:t>대비 </a:t>
                      </a:r>
                      <a:r>
                        <a:rPr lang="en-US" altLang="ko-KR" sz="900" b="1" dirty="0"/>
                        <a:t>1.2 (감소율 17%, </a:t>
                      </a:r>
                      <a:r>
                        <a:rPr lang="ko-KR" altLang="en-US" sz="900" b="1" dirty="0"/>
                        <a:t>B0 대비 30%는 사용자 체감 기준</a:t>
                      </a:r>
                      <a:r>
                        <a:rPr lang="en-US" altLang="ko-KR" sz="900" b="1" dirty="0"/>
                        <a:t>) </a:t>
                      </a:r>
                      <a:r>
                        <a:rPr lang="en-US" altLang="ko-KR" sz="700" b="1" dirty="0"/>
                        <a:t>(</a:t>
                      </a:r>
                      <a:r>
                        <a:rPr lang="ko-KR" altLang="en-US" sz="700" b="1" dirty="0"/>
                        <a:t>단</a:t>
                      </a:r>
                      <a:r>
                        <a:rPr lang="en-US" altLang="ko-KR" sz="700" b="1" dirty="0"/>
                        <a:t>, SLO: TTFT ≤ 2s, TPOT ≤ 50ms </a:t>
                      </a:r>
                      <a:r>
                        <a:rPr lang="ko-KR" altLang="en-US" sz="700" b="1" dirty="0"/>
                        <a:t>만족</a:t>
                      </a:r>
                      <a:r>
                        <a:rPr lang="en-US" altLang="ko-KR" sz="700" b="1" dirty="0"/>
                        <a:t>)</a:t>
                      </a:r>
                      <a:r>
                        <a:rPr lang="en-US" altLang="ko-KR" sz="600" b="1" dirty="0"/>
                        <a:t> </a:t>
                      </a:r>
                      <a:r>
                        <a:rPr lang="en-US" altLang="ko-KR" sz="900" b="1" dirty="0"/>
                        <a:t>]</a:t>
                      </a:r>
                      <a:endParaRPr lang="ko-KR" altLang="en-US" sz="900"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t>(*TTFT: Time To First Token, **TPOT: Time Per Output Token)</a:t>
                      </a:r>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altLang="ko-KR" sz="900" dirty="0"/>
                        <a:t>3</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2212802997"/>
                  </a:ext>
                </a:extLst>
              </a:tr>
              <a:tr h="468000">
                <a:tc>
                  <a:txBody>
                    <a:bodyPr/>
                    <a:lstStyle/>
                    <a:p>
                      <a:r>
                        <a:rPr lang="en-US" sz="900" dirty="0"/>
                        <a:t>QA-04</a:t>
                      </a:r>
                    </a:p>
                  </a:txBody>
                  <a:tcPr anchor="ctr">
                    <a:solidFill>
                      <a:schemeClr val="accent4">
                        <a:lumMod val="20000"/>
                        <a:lumOff val="80000"/>
                      </a:schemeClr>
                    </a:solidFill>
                  </a:tcPr>
                </a:tc>
                <a:tc>
                  <a:txBody>
                    <a:bodyPr/>
                    <a:lstStyle/>
                    <a:p>
                      <a:r>
                        <a:rPr lang="en-US" sz="900" dirty="0"/>
                        <a:t>Scalability</a:t>
                      </a:r>
                    </a:p>
                  </a:txBody>
                  <a:tcPr anchor="ctr">
                    <a:solidFill>
                      <a:schemeClr val="accent4">
                        <a:lumMod val="20000"/>
                        <a:lumOff val="80000"/>
                      </a:schemeClr>
                    </a:solidFill>
                  </a:tcPr>
                </a:tc>
                <a:tc>
                  <a:txBody>
                    <a:bodyPr/>
                    <a:lstStyle/>
                    <a:p>
                      <a:r>
                        <a:rPr lang="ko-KR" altLang="en-US" sz="900" dirty="0"/>
                        <a:t>확장성</a:t>
                      </a:r>
                    </a:p>
                  </a:txBody>
                  <a:tcPr anchor="ctr">
                    <a:solidFill>
                      <a:schemeClr val="accent4">
                        <a:lumMod val="20000"/>
                        <a:lumOff val="80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dirty="0"/>
                        <a:t>늘어난 자원에 비례해 성능이 증가해야 한다 </a:t>
                      </a:r>
                      <a:endParaRPr lang="en-US" altLang="ko-KR" sz="900" dirty="0"/>
                    </a:p>
                    <a:p>
                      <a:r>
                        <a:rPr lang="en-US" altLang="ko-KR" sz="900" b="1" dirty="0"/>
                        <a:t>[</a:t>
                      </a:r>
                      <a:r>
                        <a:rPr lang="ko-KR" altLang="en-US" sz="900" b="1" dirty="0"/>
                        <a:t>측정</a:t>
                      </a:r>
                      <a:r>
                        <a:rPr lang="en-US" altLang="ko-KR" sz="900" b="1" dirty="0"/>
                        <a:t>: Scaling Efficiency &gt; 80% ]</a:t>
                      </a:r>
                      <a:endParaRPr lang="ko-KR" altLang="en-US" sz="900" dirty="0"/>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4</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1522200776"/>
                  </a:ext>
                </a:extLst>
              </a:tr>
              <a:tr h="468000">
                <a:tc>
                  <a:txBody>
                    <a:bodyPr/>
                    <a:lstStyle/>
                    <a:p>
                      <a:r>
                        <a:rPr lang="en-US" sz="900" dirty="0"/>
                        <a:t>QA-05</a:t>
                      </a:r>
                    </a:p>
                  </a:txBody>
                  <a:tcPr anchor="ctr">
                    <a:solidFill>
                      <a:schemeClr val="accent4">
                        <a:lumMod val="20000"/>
                        <a:lumOff val="80000"/>
                      </a:schemeClr>
                    </a:solidFill>
                  </a:tcPr>
                </a:tc>
                <a:tc>
                  <a:txBody>
                    <a:bodyPr/>
                    <a:lstStyle/>
                    <a:p>
                      <a:r>
                        <a:rPr lang="en-US" sz="900" dirty="0"/>
                        <a:t>Modifiability</a:t>
                      </a:r>
                    </a:p>
                  </a:txBody>
                  <a:tcPr anchor="ctr">
                    <a:solidFill>
                      <a:schemeClr val="accent4">
                        <a:lumMod val="20000"/>
                        <a:lumOff val="80000"/>
                      </a:schemeClr>
                    </a:solidFill>
                  </a:tcPr>
                </a:tc>
                <a:tc>
                  <a:txBody>
                    <a:bodyPr/>
                    <a:lstStyle/>
                    <a:p>
                      <a:r>
                        <a:rPr lang="ko-KR" altLang="en-US" sz="900" dirty="0"/>
                        <a:t>변경 용이성</a:t>
                      </a:r>
                    </a:p>
                  </a:txBody>
                  <a:tcPr anchor="ctr">
                    <a:solidFill>
                      <a:schemeClr val="accent4">
                        <a:lumMod val="20000"/>
                        <a:lumOff val="80000"/>
                      </a:schemeClr>
                    </a:solidFill>
                  </a:tcPr>
                </a:tc>
                <a:tc>
                  <a:txBody>
                    <a:bodyPr/>
                    <a:lstStyle/>
                    <a:p>
                      <a:br>
                        <a:rPr lang="en-US" altLang="ko-KR" sz="900" dirty="0"/>
                      </a:br>
                      <a:r>
                        <a:rPr sz="900" b="0">
                          <a:solidFill>
                            <a:srgbClr val="000000"/>
                          </a:solidFill>
                          <a:latin typeface="맑은 고딕"/>
                          <a:ea typeface="맑은 고딕"/>
                        </a:rPr>
                        <a:t>새로운 메모리 tier 추가, 이동·배치·재사용 정책 교체, vLLM upstream 갱신 시 서빙 경로를 수정하지 않고 반영할 수 있어야 한다.</a:t>
                      </a:r>
                      <a:endParaRPr lang="ko-KR" altLang="en-US" sz="900" dirty="0"/>
                    </a:p>
                    <a:p>
                      <a:r>
                        <a:rPr sz="900" b="1">
                          <a:solidFill>
                            <a:srgbClr val="000000"/>
                          </a:solidFill>
                          <a:latin typeface="맑은 고딕"/>
                          <a:ea typeface="맑은 고딕"/>
                        </a:rPr>
                        <a:t>[측정: 변경 모듈 수 ≤ 5개, 개발 공수 ≤ 1.0 M/M (변경 시나리오 3종 평균, 두 조건 모두 만족)]</a:t>
                      </a:r>
                    </a:p>
                  </a:txBody>
                  <a:tcPr anchor="ctr">
                    <a:solidFill>
                      <a:schemeClr val="accent4">
                        <a:lumMod val="20000"/>
                        <a:lumOff val="80000"/>
                      </a:schemeClr>
                    </a:solidFill>
                  </a:tcPr>
                </a:tc>
                <a:tc>
                  <a:txBody>
                    <a:bodyPr/>
                    <a:lstStyle/>
                    <a:p>
                      <a:r>
                        <a:rPr lang="en-US" sz="900" dirty="0"/>
                        <a:t>H</a:t>
                      </a:r>
                    </a:p>
                  </a:txBody>
                  <a:tcPr anchor="ctr">
                    <a:solidFill>
                      <a:schemeClr val="accent4">
                        <a:lumMod val="20000"/>
                        <a:lumOff val="80000"/>
                      </a:schemeClr>
                    </a:solidFill>
                  </a:tcPr>
                </a:tc>
                <a:tc>
                  <a:txBody>
                    <a:bodyPr/>
                    <a:lstStyle/>
                    <a:p>
                      <a:r>
                        <a:rPr lang="en-US" sz="900" dirty="0"/>
                        <a:t>M</a:t>
                      </a:r>
                    </a:p>
                  </a:txBody>
                  <a:tcPr anchor="ctr">
                    <a:solidFill>
                      <a:schemeClr val="accent4">
                        <a:lumMod val="20000"/>
                        <a:lumOff val="80000"/>
                      </a:schemeClr>
                    </a:solidFill>
                  </a:tcPr>
                </a:tc>
                <a:tc>
                  <a:txBody>
                    <a:bodyPr/>
                    <a:lstStyle/>
                    <a:p>
                      <a:r>
                        <a:rPr lang="en-US" altLang="ko-KR" sz="900" dirty="0"/>
                        <a:t>5</a:t>
                      </a:r>
                      <a:endParaRPr lang="ko-KR" altLang="en-US" sz="900" dirty="0"/>
                    </a:p>
                  </a:txBody>
                  <a:tcPr anchor="ctr">
                    <a:solidFill>
                      <a:schemeClr val="accent4">
                        <a:lumMod val="20000"/>
                        <a:lumOff val="80000"/>
                      </a:schemeClr>
                    </a:solidFill>
                  </a:tcPr>
                </a:tc>
                <a:extLst>
                  <a:ext uri="{0D108BD9-81ED-4DB2-BD59-A6C34878D82A}">
                    <a16:rowId xmlns:a16="http://schemas.microsoft.com/office/drawing/2014/main" val="52874580"/>
                  </a:ext>
                </a:extLst>
              </a:tr>
              <a:tr h="468000">
                <a:tc>
                  <a:txBody>
                    <a:bodyPr/>
                    <a:lstStyle/>
                    <a:p>
                      <a:r>
                        <a:rPr lang="en-US" sz="900" dirty="0"/>
                        <a:t>QA-07</a:t>
                      </a:r>
                    </a:p>
                  </a:txBody>
                  <a:tcPr anchor="ctr">
                    <a:solidFill>
                      <a:schemeClr val="bg1"/>
                    </a:solidFill>
                  </a:tcPr>
                </a:tc>
                <a:tc>
                  <a:txBody>
                    <a:bodyPr/>
                    <a:lstStyle/>
                    <a:p>
                      <a:r>
                        <a:rPr lang="en-US" sz="900" dirty="0"/>
                        <a:t>Fault tolerance</a:t>
                      </a:r>
                    </a:p>
                  </a:txBody>
                  <a:tcPr anchor="ctr">
                    <a:solidFill>
                      <a:schemeClr val="bg1"/>
                    </a:solidFill>
                  </a:tcPr>
                </a:tc>
                <a:tc>
                  <a:txBody>
                    <a:bodyPr/>
                    <a:lstStyle/>
                    <a:p>
                      <a:r>
                        <a:rPr lang="ko-KR" altLang="en-US" sz="900" dirty="0"/>
                        <a:t>전송</a:t>
                      </a:r>
                      <a:r>
                        <a:rPr lang="en-US" altLang="ko-KR" sz="900" dirty="0"/>
                        <a:t>·offload </a:t>
                      </a:r>
                      <a:r>
                        <a:rPr lang="ko-KR" altLang="en-US" sz="900" dirty="0"/>
                        <a:t>실패 대체</a:t>
                      </a:r>
                    </a:p>
                  </a:txBody>
                  <a:tcPr anchor="ctr">
                    <a:solidFill>
                      <a:schemeClr val="bg1"/>
                    </a:solidFill>
                  </a:tcPr>
                </a:tc>
                <a:tc>
                  <a:txBody>
                    <a:bodyPr/>
                    <a:lstStyle/>
                    <a:p>
                      <a:r>
                        <a:rPr lang="en-US" altLang="ko-KR" sz="900" b="0" dirty="0"/>
                        <a:t>KV </a:t>
                      </a:r>
                      <a:r>
                        <a:rPr lang="ko-KR" altLang="en-US" sz="900" b="0" dirty="0"/>
                        <a:t>전송이나 </a:t>
                      </a:r>
                      <a:r>
                        <a:rPr lang="en-US" altLang="ko-KR" sz="900" b="0" dirty="0"/>
                        <a:t>offload</a:t>
                      </a:r>
                      <a:r>
                        <a:rPr lang="ko-KR" altLang="en-US" sz="900" b="0" dirty="0"/>
                        <a:t>가 실패하거나 시간 초과해도 재계산 등 대체 경로로 요청 처리를 이어가야 한다</a:t>
                      </a:r>
                      <a:r>
                        <a:rPr lang="en-US" altLang="ko-KR" sz="900" b="0" dirty="0"/>
                        <a:t>.</a:t>
                      </a:r>
                      <a:br>
                        <a:rPr lang="en-US" altLang="ko-KR" sz="900" b="0" dirty="0"/>
                      </a:br>
                      <a:r>
                        <a:rPr lang="en-US" altLang="ko-KR" sz="900" b="0" dirty="0"/>
                        <a:t>[</a:t>
                      </a:r>
                      <a:r>
                        <a:rPr lang="ko-KR" altLang="en-US" sz="900" b="0" dirty="0"/>
                        <a:t>측정</a:t>
                      </a:r>
                      <a:r>
                        <a:rPr lang="en-US" altLang="ko-KR" sz="900" b="0" dirty="0"/>
                        <a:t>: fallback </a:t>
                      </a:r>
                      <a:r>
                        <a:rPr lang="ko-KR" altLang="en-US" sz="900" b="0" dirty="0"/>
                        <a:t>성공률 </a:t>
                      </a:r>
                      <a:r>
                        <a:rPr lang="en-US" altLang="ko-KR" sz="900" b="0" dirty="0"/>
                        <a:t>&gt; 99.9 ]</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H</a:t>
                      </a:r>
                    </a:p>
                  </a:txBody>
                  <a:tcPr anchor="ctr">
                    <a:solidFill>
                      <a:schemeClr val="bg1"/>
                    </a:solidFill>
                  </a:tcPr>
                </a:tc>
                <a:tc>
                  <a:txBody>
                    <a:bodyPr/>
                    <a:lstStyle/>
                    <a:p>
                      <a:r>
                        <a:rPr lang="en-US" altLang="ko-KR" sz="900" dirty="0"/>
                        <a:t>6</a:t>
                      </a:r>
                      <a:endParaRPr lang="ko-KR" altLang="en-US" sz="900" dirty="0"/>
                    </a:p>
                  </a:txBody>
                  <a:tcPr anchor="ctr">
                    <a:solidFill>
                      <a:schemeClr val="bg1"/>
                    </a:solidFill>
                  </a:tcPr>
                </a:tc>
                <a:extLst>
                  <a:ext uri="{0D108BD9-81ED-4DB2-BD59-A6C34878D82A}">
                    <a16:rowId xmlns:a16="http://schemas.microsoft.com/office/drawing/2014/main" val="3774210047"/>
                  </a:ext>
                </a:extLst>
              </a:tr>
              <a:tr h="468000">
                <a:tc>
                  <a:txBody>
                    <a:bodyPr/>
                    <a:lstStyle/>
                    <a:p>
                      <a:r>
                        <a:rPr lang="en-US" sz="900" dirty="0"/>
                        <a:t>QA-08</a:t>
                      </a:r>
                    </a:p>
                  </a:txBody>
                  <a:tcPr anchor="ctr">
                    <a:solidFill>
                      <a:schemeClr val="bg1"/>
                    </a:solidFill>
                  </a:tcPr>
                </a:tc>
                <a:tc>
                  <a:txBody>
                    <a:bodyPr/>
                    <a:lstStyle/>
                    <a:p>
                      <a:r>
                        <a:rPr lang="en-US" sz="900" dirty="0"/>
                        <a:t>Adaptability</a:t>
                      </a:r>
                    </a:p>
                  </a:txBody>
                  <a:tcPr anchor="ctr">
                    <a:solidFill>
                      <a:schemeClr val="bg1"/>
                    </a:solidFill>
                  </a:tcPr>
                </a:tc>
                <a:tc>
                  <a:txBody>
                    <a:bodyPr/>
                    <a:lstStyle/>
                    <a:p>
                      <a:r>
                        <a:rPr lang="ko-KR" altLang="en-US" sz="900" dirty="0"/>
                        <a:t>워크로드 변화 적응</a:t>
                      </a:r>
                    </a:p>
                  </a:txBody>
                  <a:tcPr anchor="ctr">
                    <a:solidFill>
                      <a:schemeClr val="bg1"/>
                    </a:solidFill>
                  </a:tcPr>
                </a:tc>
                <a:tc>
                  <a:txBody>
                    <a:bodyPr/>
                    <a:lstStyle/>
                    <a:p>
                      <a:r>
                        <a:rPr lang="ko-KR" altLang="en-US" sz="900" b="0" dirty="0"/>
                        <a:t>입력 분포나 접근 패턴이 바뀌어도 접근 통계를 반영해 배치를 다시 맞추고 성능을 회복해야 한다</a:t>
                      </a:r>
                      <a:r>
                        <a:rPr lang="en-US" altLang="ko-KR" sz="900" b="0" dirty="0"/>
                        <a:t>.</a:t>
                      </a:r>
                      <a:br>
                        <a:rPr lang="en-US" altLang="ko-KR" sz="900" b="0" dirty="0"/>
                      </a:br>
                      <a:r>
                        <a:rPr lang="en-US" altLang="ko-KR" sz="900" b="0" dirty="0">
                          <a:solidFill>
                            <a:srgbClr val="000000"/>
                          </a:solidFill>
                          <a:latin typeface="+mn-lt"/>
                        </a:rPr>
                        <a:t>[</a:t>
                      </a:r>
                      <a:r>
                        <a:rPr lang="ko-KR" altLang="en-US" sz="900" b="0" dirty="0">
                          <a:solidFill>
                            <a:srgbClr val="000000"/>
                          </a:solidFill>
                          <a:latin typeface="+mn-lt"/>
                        </a:rPr>
                        <a:t>측정</a:t>
                      </a:r>
                      <a:r>
                        <a:rPr lang="en-US" altLang="ko-KR" sz="900" b="0" dirty="0">
                          <a:solidFill>
                            <a:srgbClr val="000000"/>
                          </a:solidFill>
                          <a:latin typeface="+mn-lt"/>
                        </a:rPr>
                        <a:t>: </a:t>
                      </a:r>
                      <a:r>
                        <a:rPr lang="ko-KR" altLang="en-US" sz="900" b="0" dirty="0">
                          <a:solidFill>
                            <a:srgbClr val="000000"/>
                          </a:solidFill>
                          <a:latin typeface="+mn-lt"/>
                        </a:rPr>
                        <a:t>원인 파악 시간 </a:t>
                      </a:r>
                      <a:r>
                        <a:rPr lang="en-US" altLang="ko-KR" sz="900" b="0" dirty="0">
                          <a:solidFill>
                            <a:srgbClr val="000000"/>
                          </a:solidFill>
                          <a:latin typeface="+mn-lt"/>
                        </a:rPr>
                        <a:t>&lt; 1 </a:t>
                      </a:r>
                      <a:r>
                        <a:rPr lang="ko-KR" altLang="en-US" sz="900" b="0" dirty="0">
                          <a:solidFill>
                            <a:srgbClr val="000000"/>
                          </a:solidFill>
                          <a:latin typeface="+mn-lt"/>
                        </a:rPr>
                        <a:t>시간 </a:t>
                      </a:r>
                      <a:r>
                        <a:rPr lang="en-US" altLang="ko-KR" sz="900" b="0" dirty="0">
                          <a:solidFill>
                            <a:srgbClr val="000000"/>
                          </a:solidFill>
                          <a:latin typeface="+mn-lt"/>
                        </a:rPr>
                        <a:t>(</a:t>
                      </a:r>
                      <a:r>
                        <a:rPr lang="ko-KR" altLang="en-US" sz="900" b="0" dirty="0">
                          <a:solidFill>
                            <a:srgbClr val="000000"/>
                          </a:solidFill>
                          <a:latin typeface="+mn-lt"/>
                        </a:rPr>
                        <a:t>개발자 </a:t>
                      </a:r>
                      <a:r>
                        <a:rPr lang="en-US" altLang="ko-KR" sz="900" b="0" dirty="0">
                          <a:solidFill>
                            <a:srgbClr val="000000"/>
                          </a:solidFill>
                          <a:latin typeface="+mn-lt"/>
                        </a:rPr>
                        <a:t>1</a:t>
                      </a:r>
                      <a:r>
                        <a:rPr lang="ko-KR" altLang="en-US" sz="900" b="0" dirty="0">
                          <a:solidFill>
                            <a:srgbClr val="000000"/>
                          </a:solidFill>
                          <a:latin typeface="+mn-lt"/>
                        </a:rPr>
                        <a:t>인</a:t>
                      </a:r>
                      <a:r>
                        <a:rPr lang="en-US" altLang="ko-KR" sz="900" b="0" dirty="0">
                          <a:solidFill>
                            <a:srgbClr val="000000"/>
                          </a:solidFill>
                          <a:latin typeface="+mn-lt"/>
                        </a:rPr>
                        <a:t>, </a:t>
                      </a:r>
                      <a:r>
                        <a:rPr lang="ko-KR" altLang="en-US" sz="900" b="0" dirty="0">
                          <a:solidFill>
                            <a:srgbClr val="000000"/>
                          </a:solidFill>
                          <a:latin typeface="+mn-lt"/>
                        </a:rPr>
                        <a:t>결정 </a:t>
                      </a:r>
                      <a:r>
                        <a:rPr lang="en-US" altLang="ko-KR" sz="900" b="0" dirty="0">
                          <a:solidFill>
                            <a:srgbClr val="000000"/>
                          </a:solidFill>
                          <a:latin typeface="+mn-lt"/>
                        </a:rPr>
                        <a:t>1</a:t>
                      </a:r>
                      <a:r>
                        <a:rPr lang="ko-KR" altLang="en-US" sz="900" b="0" dirty="0">
                          <a:solidFill>
                            <a:srgbClr val="000000"/>
                          </a:solidFill>
                          <a:latin typeface="+mn-lt"/>
                        </a:rPr>
                        <a:t>건 기준</a:t>
                      </a:r>
                      <a:r>
                        <a:rPr lang="en-US" altLang="ko-KR" sz="900" b="0" dirty="0">
                          <a:solidFill>
                            <a:srgbClr val="000000"/>
                          </a:solidFill>
                          <a:latin typeface="+mn-lt"/>
                        </a:rPr>
                        <a:t>) ]</a:t>
                      </a:r>
                      <a:endParaRPr lang="ko-KR" altLang="en-US" sz="900" b="0" dirty="0"/>
                    </a:p>
                  </a:txBody>
                  <a:tcPr anchor="ctr">
                    <a:solidFill>
                      <a:schemeClr val="bg1"/>
                    </a:solidFill>
                  </a:tcPr>
                </a:tc>
                <a:tc>
                  <a:txBody>
                    <a:bodyPr/>
                    <a:lstStyle/>
                    <a:p>
                      <a:r>
                        <a:rPr lang="en-US" sz="900" dirty="0"/>
                        <a:t>M</a:t>
                      </a:r>
                    </a:p>
                  </a:txBody>
                  <a:tcPr anchor="ctr">
                    <a:solidFill>
                      <a:schemeClr val="bg1"/>
                    </a:solidFill>
                  </a:tcPr>
                </a:tc>
                <a:tc>
                  <a:txBody>
                    <a:bodyPr/>
                    <a:lstStyle/>
                    <a:p>
                      <a:r>
                        <a:rPr lang="en-US" sz="900" dirty="0"/>
                        <a:t>M</a:t>
                      </a:r>
                    </a:p>
                  </a:txBody>
                  <a:tcPr anchor="ctr">
                    <a:solidFill>
                      <a:schemeClr val="bg1"/>
                    </a:solidFill>
                  </a:tcPr>
                </a:tc>
                <a:tc>
                  <a:txBody>
                    <a:bodyPr/>
                    <a:lstStyle/>
                    <a:p>
                      <a:r>
                        <a:rPr lang="en-US" altLang="ko-KR" sz="900" dirty="0"/>
                        <a:t>7</a:t>
                      </a:r>
                      <a:endParaRPr lang="ko-KR" altLang="en-US" sz="900" dirty="0"/>
                    </a:p>
                  </a:txBody>
                  <a:tcPr anchor="ctr">
                    <a:solidFill>
                      <a:schemeClr val="bg1"/>
                    </a:solidFill>
                  </a:tcPr>
                </a:tc>
                <a:extLst>
                  <a:ext uri="{0D108BD9-81ED-4DB2-BD59-A6C34878D82A}">
                    <a16:rowId xmlns:a16="http://schemas.microsoft.com/office/drawing/2014/main" val="2197771220"/>
                  </a:ext>
                </a:extLst>
              </a:tr>
            </a:tbl>
          </a:graphicData>
        </a:graphic>
      </p:graphicFrame>
      <p:sp>
        <p:nvSpPr>
          <p:cNvPr id="21" name="실행 단추: 앞으로 또는 다음 3">
            <a:hlinkClick r:id="" action="ppaction://noaction" highlightClick="1"/>
            <a:extLst>
              <a:ext uri="{FF2B5EF4-FFF2-40B4-BE49-F238E27FC236}">
                <a16:creationId xmlns:a16="http://schemas.microsoft.com/office/drawing/2014/main" id="{D0D1EB79-0F10-4C29-8756-3FFD242915BE}"/>
              </a:ext>
            </a:extLst>
          </p:cNvPr>
          <p:cNvSpPr/>
          <p:nvPr/>
        </p:nvSpPr>
        <p:spPr>
          <a:xfrm>
            <a:off x="1692613" y="1128409"/>
            <a:ext cx="155642" cy="181582"/>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실행 단추: 앞으로 또는 다음 1">
            <a:hlinkClick r:id="rId4" action="ppaction://hlinksldjump" highlightClick="1"/>
            <a:extLst>
              <a:ext uri="{FF2B5EF4-FFF2-40B4-BE49-F238E27FC236}">
                <a16:creationId xmlns:a16="http://schemas.microsoft.com/office/drawing/2014/main" id="{B43A4CC6-3683-436B-940F-BD679BB1A116}"/>
              </a:ext>
            </a:extLst>
          </p:cNvPr>
          <p:cNvSpPr/>
          <p:nvPr/>
        </p:nvSpPr>
        <p:spPr>
          <a:xfrm>
            <a:off x="10169769" y="167984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실행 단추: 앞으로 또는 다음 1">
            <a:hlinkClick r:id="rId5" action="ppaction://hlinksldjump" highlightClick="1"/>
            <a:extLst>
              <a:ext uri="{FF2B5EF4-FFF2-40B4-BE49-F238E27FC236}">
                <a16:creationId xmlns:a16="http://schemas.microsoft.com/office/drawing/2014/main" id="{B43A4CC6-3683-436B-940F-BD679BB1A116}"/>
              </a:ext>
            </a:extLst>
          </p:cNvPr>
          <p:cNvSpPr/>
          <p:nvPr/>
        </p:nvSpPr>
        <p:spPr>
          <a:xfrm>
            <a:off x="10169769" y="2161183"/>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실행 단추: 앞으로 또는 다음 1">
            <a:hlinkClick r:id="rId6" action="ppaction://hlinksldjump" highlightClick="1"/>
            <a:extLst>
              <a:ext uri="{FF2B5EF4-FFF2-40B4-BE49-F238E27FC236}">
                <a16:creationId xmlns:a16="http://schemas.microsoft.com/office/drawing/2014/main" id="{B43A4CC6-3683-436B-940F-BD679BB1A116}"/>
              </a:ext>
            </a:extLst>
          </p:cNvPr>
          <p:cNvSpPr/>
          <p:nvPr/>
        </p:nvSpPr>
        <p:spPr>
          <a:xfrm>
            <a:off x="10169769" y="2642517"/>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실행 단추: 앞으로 또는 다음 1">
            <a:hlinkClick r:id="rId7" action="ppaction://hlinksldjump" highlightClick="1"/>
            <a:extLst>
              <a:ext uri="{FF2B5EF4-FFF2-40B4-BE49-F238E27FC236}">
                <a16:creationId xmlns:a16="http://schemas.microsoft.com/office/drawing/2014/main" id="{B43A4CC6-3683-436B-940F-BD679BB1A116}"/>
              </a:ext>
            </a:extLst>
          </p:cNvPr>
          <p:cNvSpPr/>
          <p:nvPr/>
        </p:nvSpPr>
        <p:spPr>
          <a:xfrm>
            <a:off x="10169769" y="3149425"/>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실행 단추: 앞으로 또는 다음 1">
            <a:hlinkClick r:id="rId8" action="ppaction://hlinksldjump" highlightClick="1"/>
            <a:extLst>
              <a:ext uri="{FF2B5EF4-FFF2-40B4-BE49-F238E27FC236}">
                <a16:creationId xmlns:a16="http://schemas.microsoft.com/office/drawing/2014/main" id="{B43A4CC6-3683-436B-940F-BD679BB1A116}"/>
              </a:ext>
            </a:extLst>
          </p:cNvPr>
          <p:cNvSpPr/>
          <p:nvPr/>
        </p:nvSpPr>
        <p:spPr>
          <a:xfrm>
            <a:off x="10169769" y="3565479"/>
            <a:ext cx="211016" cy="18170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실행 단추: 앞으로 또는 다음 1">
            <a:hlinkClick r:id="rId9" action="ppaction://hlinksldjump" highlightClick="1"/>
            <a:extLst>
              <a:ext uri="{FF2B5EF4-FFF2-40B4-BE49-F238E27FC236}">
                <a16:creationId xmlns:a16="http://schemas.microsoft.com/office/drawing/2014/main" id="{B43A4CC6-3683-436B-940F-BD679BB1A116}"/>
              </a:ext>
            </a:extLst>
          </p:cNvPr>
          <p:cNvSpPr/>
          <p:nvPr/>
        </p:nvSpPr>
        <p:spPr>
          <a:xfrm>
            <a:off x="9553819" y="1750706"/>
            <a:ext cx="155331" cy="110851"/>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068413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50040" cy="5376340"/>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2615184">
                  <a:extLst>
                    <a:ext uri="{9D8B030D-6E8A-4147-A177-3AD203B41FA5}">
                      <a16:colId xmlns:a16="http://schemas.microsoft.com/office/drawing/2014/main" val="5654497"/>
                    </a:ext>
                  </a:extLst>
                </a:gridCol>
                <a:gridCol w="1216152">
                  <a:extLst>
                    <a:ext uri="{9D8B030D-6E8A-4147-A177-3AD203B41FA5}">
                      <a16:colId xmlns:a16="http://schemas.microsoft.com/office/drawing/2014/main" val="1488648967"/>
                    </a:ext>
                  </a:extLst>
                </a:gridCol>
                <a:gridCol w="1600200">
                  <a:extLst>
                    <a:ext uri="{9D8B030D-6E8A-4147-A177-3AD203B41FA5}">
                      <a16:colId xmlns:a16="http://schemas.microsoft.com/office/drawing/2014/main" val="2953438935"/>
                    </a:ext>
                  </a:extLst>
                </a:gridCol>
                <a:gridCol w="2788920">
                  <a:extLst>
                    <a:ext uri="{9D8B030D-6E8A-4147-A177-3AD203B41FA5}">
                      <a16:colId xmlns:a16="http://schemas.microsoft.com/office/drawing/2014/main" val="3070054508"/>
                    </a:ext>
                  </a:extLst>
                </a:gridCol>
                <a:gridCol w="1051560">
                  <a:extLst>
                    <a:ext uri="{9D8B030D-6E8A-4147-A177-3AD203B41FA5}">
                      <a16:colId xmlns:a16="http://schemas.microsoft.com/office/drawing/2014/main" val="4076489270"/>
                    </a:ext>
                  </a:extLst>
                </a:gridCol>
                <a:gridCol w="1600200">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baseline="0" dirty="0"/>
                        <a:t>상태 관측과 이동 결정을 한 곳에서 </a:t>
                      </a:r>
                      <a:endParaRPr kumimoji="0" lang="ko-KR" altLang="en-US" sz="1050" b="1" i="0" u="none" strike="noStrike" kern="1200" cap="none" spc="0" normalizeH="0" baseline="0" noProof="0" dirty="0">
                        <a:ln>
                          <a:noFill/>
                        </a:ln>
                        <a:solidFill>
                          <a:prstClr val="white">
                            <a:lumMod val="50000"/>
                          </a:prstClr>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상태 관측과 이동 결정을 분리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33014303"/>
                  </a:ext>
                </a:extLst>
              </a:tr>
              <a:tr h="3134341">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Threshold trigger</a:t>
                      </a:r>
                      <a:r>
                        <a:rPr lang="ko-KR" altLang="en-US" sz="1200" b="0" i="0" dirty="0">
                          <a:solidFill>
                            <a:srgbClr val="404040"/>
                          </a:solidFill>
                          <a:latin typeface="+mn-lt"/>
                          <a:ea typeface="맑은 고딕"/>
                        </a:rPr>
                        <a:t>가 즉시 판단을 기동해 </a:t>
                      </a:r>
                      <a:r>
                        <a:rPr lang="en-US" altLang="ko-KR" sz="1200" b="0" i="0" dirty="0">
                          <a:solidFill>
                            <a:srgbClr val="404040"/>
                          </a:solidFill>
                          <a:latin typeface="+mn-lt"/>
                          <a:ea typeface="맑은 고딕"/>
                        </a:rPr>
                        <a:t>HBM </a:t>
                      </a:r>
                      <a:r>
                        <a:rPr lang="ko-KR" altLang="en-US" sz="1200" b="0" i="0" dirty="0">
                          <a:solidFill>
                            <a:srgbClr val="404040"/>
                          </a:solidFill>
                          <a:latin typeface="+mn-lt"/>
                          <a:ea typeface="맑은 고딕"/>
                        </a:rPr>
                        <a:t>압박 구간이 짧음 </a:t>
                      </a:r>
                      <a:r>
                        <a:rPr lang="en-US" altLang="ko-KR" sz="1200" b="0" i="0" dirty="0">
                          <a:solidFill>
                            <a:srgbClr val="404040"/>
                          </a:solidFill>
                          <a:latin typeface="+mn-lt"/>
                          <a:ea typeface="맑은 고딕"/>
                        </a:rPr>
                        <a:t>(Q2) </a:t>
                      </a:r>
                      <a:endParaRPr lang="ko-KR" altLang="en-US" sz="1200" b="0" i="0" dirty="0">
                        <a:solidFill>
                          <a:srgbClr val="404040"/>
                        </a:solidFill>
                        <a:latin typeface="+mn-lt"/>
                        <a:ea typeface="맑은 고딕"/>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Plane</a:t>
                      </a:r>
                      <a:r>
                        <a:rPr lang="en-US" altLang="ko-KR" sz="1200" b="0" i="0" baseline="0" dirty="0">
                          <a:solidFill>
                            <a:srgbClr val="404040"/>
                          </a:solidFill>
                          <a:latin typeface="+mn-lt"/>
                          <a:ea typeface="맑은 고딕"/>
                        </a:rPr>
                        <a:t> </a:t>
                      </a:r>
                      <a:r>
                        <a:rPr lang="ko-KR" altLang="en-US" sz="1200" b="0" i="0" dirty="0">
                          <a:solidFill>
                            <a:srgbClr val="404040"/>
                          </a:solidFill>
                          <a:latin typeface="+mn-lt"/>
                          <a:ea typeface="맑은 고딕"/>
                        </a:rPr>
                        <a:t>간 인터페이스 호출이 없어 정책 수정</a:t>
                      </a:r>
                      <a:r>
                        <a:rPr lang="ko-KR" altLang="en-US" sz="1200" b="0" i="0" baseline="0" dirty="0">
                          <a:solidFill>
                            <a:srgbClr val="404040"/>
                          </a:solidFill>
                          <a:latin typeface="+mn-lt"/>
                          <a:ea typeface="맑은 고딕"/>
                        </a:rPr>
                        <a:t> 범위 제한 </a:t>
                      </a:r>
                      <a:r>
                        <a:rPr lang="en-US" altLang="ko-KR" sz="1200" b="0" i="0" baseline="0" dirty="0">
                          <a:solidFill>
                            <a:srgbClr val="404040"/>
                          </a:solidFill>
                          <a:latin typeface="+mn-lt"/>
                          <a:ea typeface="맑은 고딕"/>
                        </a:rPr>
                        <a:t>(Q4)</a:t>
                      </a:r>
                      <a:endParaRPr lang="en-US" altLang="ko-KR" sz="1200" strike="noStrike" baseline="0" dirty="0">
                        <a:solidFill>
                          <a:schemeClr val="tx1"/>
                        </a:solidFill>
                        <a:effectLst/>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object</a:t>
                      </a:r>
                      <a:r>
                        <a:rPr lang="ko-KR" altLang="en-US" sz="1200" strike="noStrike" dirty="0">
                          <a:solidFill>
                            <a:schemeClr val="tx1"/>
                          </a:solidFill>
                          <a:effectLst/>
                        </a:rPr>
                        <a:t> 별 </a:t>
                      </a:r>
                      <a:r>
                        <a:rPr lang="en-US" altLang="ko-KR" sz="1200" strike="noStrike" dirty="0">
                          <a:solidFill>
                            <a:schemeClr val="tx1"/>
                          </a:solidFill>
                          <a:effectLst/>
                        </a:rPr>
                        <a:t>access</a:t>
                      </a:r>
                      <a:r>
                        <a:rPr lang="ko-KR" altLang="en-US" sz="1200" strike="noStrike" dirty="0">
                          <a:solidFill>
                            <a:schemeClr val="tx1"/>
                          </a:solidFill>
                          <a:effectLst/>
                        </a:rPr>
                        <a:t> 특성에 맞게 </a:t>
                      </a:r>
                      <a:r>
                        <a:rPr lang="en-US" altLang="ko-KR" sz="1200" strike="noStrike" dirty="0">
                          <a:solidFill>
                            <a:schemeClr val="tx1"/>
                          </a:solidFill>
                          <a:effectLst/>
                        </a:rPr>
                        <a:t>fine-grained </a:t>
                      </a:r>
                      <a:r>
                        <a:rPr lang="ko-KR" altLang="en-US" sz="1200" strike="noStrike" dirty="0">
                          <a:solidFill>
                            <a:schemeClr val="tx1"/>
                          </a:solidFill>
                          <a:effectLst/>
                        </a:rPr>
                        <a:t>이동 가능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다양한 </a:t>
                      </a:r>
                      <a:r>
                        <a:rPr lang="en-US" altLang="ko-KR" sz="1200" strike="noStrike" dirty="0">
                          <a:solidFill>
                            <a:schemeClr val="tx1"/>
                          </a:solidFill>
                          <a:effectLst/>
                        </a:rPr>
                        <a:t>workload </a:t>
                      </a:r>
                      <a:r>
                        <a:rPr lang="ko-KR" altLang="en-US" sz="1200" strike="noStrike" dirty="0">
                          <a:solidFill>
                            <a:schemeClr val="tx1"/>
                          </a:solidFill>
                          <a:effectLst/>
                        </a:rPr>
                        <a:t>혼재 시</a:t>
                      </a:r>
                      <a:r>
                        <a:rPr lang="en-US" altLang="ko-KR" sz="1200" strike="noStrike" dirty="0">
                          <a:solidFill>
                            <a:schemeClr val="tx1"/>
                          </a:solidFill>
                          <a:effectLst/>
                        </a:rPr>
                        <a:t> behavior </a:t>
                      </a:r>
                      <a:r>
                        <a:rPr lang="ko-KR" altLang="en-US" sz="1200" strike="noStrike" dirty="0">
                          <a:solidFill>
                            <a:schemeClr val="tx1"/>
                          </a:solidFill>
                          <a:effectLst/>
                        </a:rPr>
                        <a:t>특성 기반 </a:t>
                      </a:r>
                      <a:r>
                        <a:rPr lang="en-US" altLang="ko-KR" sz="1200" strike="noStrike" dirty="0">
                          <a:solidFill>
                            <a:schemeClr val="tx1"/>
                          </a:solidFill>
                          <a:effectLst/>
                        </a:rPr>
                        <a:t>migration </a:t>
                      </a:r>
                      <a:r>
                        <a:rPr lang="ko-KR" altLang="en-US" sz="1200" strike="noStrike" dirty="0">
                          <a:solidFill>
                            <a:schemeClr val="tx1"/>
                          </a:solidFill>
                          <a:effectLst/>
                        </a:rPr>
                        <a:t>효과 증가 </a:t>
                      </a:r>
                      <a:r>
                        <a:rPr lang="en-US" altLang="ko-KR" sz="1200" strike="noStrike" dirty="0">
                          <a:solidFill>
                            <a:schemeClr val="tx1"/>
                          </a:solidFill>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r>
                        <a:rPr lang="en-US" altLang="ko-KR" sz="1200" strike="noStrike" baseline="0" dirty="0">
                          <a:solidFill>
                            <a:schemeClr val="tx1"/>
                          </a:solidFill>
                          <a:effectLst/>
                        </a:rPr>
                        <a:t>(Q1)</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다양한 </a:t>
                      </a:r>
                      <a:r>
                        <a:rPr lang="en-US" altLang="ko-KR" sz="1200" dirty="0"/>
                        <a:t>workload </a:t>
                      </a:r>
                      <a:r>
                        <a:rPr lang="ko-KR" altLang="en-US" sz="1200" dirty="0"/>
                        <a:t>혼재 시 </a:t>
                      </a:r>
                      <a:r>
                        <a:rPr lang="en-US" altLang="ko-KR" sz="1200" dirty="0"/>
                        <a:t>resource pressure </a:t>
                      </a:r>
                      <a:r>
                        <a:rPr lang="ko-KR" altLang="en-US" sz="1200" dirty="0"/>
                        <a:t>대응 한계 증가 </a:t>
                      </a:r>
                      <a:r>
                        <a:rPr lang="en-US" altLang="ko-KR" sz="1200" dirty="0"/>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tc gridSpan="3">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age </a:t>
                      </a:r>
                      <a:r>
                        <a:rPr lang="ko-KR" altLang="en-US" sz="1200" b="0" i="0" dirty="0">
                          <a:solidFill>
                            <a:srgbClr val="404040"/>
                          </a:solidFill>
                          <a:latin typeface="+mn-lt"/>
                          <a:ea typeface="맑은 고딕"/>
                        </a:rPr>
                        <a:t>만큼 </a:t>
                      </a:r>
                      <a:r>
                        <a:rPr lang="en-US" altLang="ko-KR" sz="1200" b="0" i="0" dirty="0">
                          <a:solidFill>
                            <a:srgbClr val="404040"/>
                          </a:solidFill>
                          <a:latin typeface="+mn-lt"/>
                          <a:ea typeface="맑은 고딕"/>
                        </a:rPr>
                        <a:t>stale → HBM </a:t>
                      </a:r>
                      <a:r>
                        <a:rPr lang="ko-KR" altLang="en-US" sz="1200" b="0" i="0" dirty="0">
                          <a:solidFill>
                            <a:srgbClr val="404040"/>
                          </a:solidFill>
                          <a:latin typeface="+mn-lt"/>
                          <a:ea typeface="맑은 고딕"/>
                        </a:rPr>
                        <a:t>확보 지연 </a:t>
                      </a:r>
                      <a:r>
                        <a:rPr lang="en-US" altLang="ko-KR" sz="1200" b="0" i="0" dirty="0">
                          <a:solidFill>
                            <a:srgbClr val="404040"/>
                          </a:solidFill>
                          <a:latin typeface="+mn-lt"/>
                          <a:ea typeface="맑은 고딕"/>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Snapshot </a:t>
                      </a:r>
                      <a:r>
                        <a:rPr lang="ko-KR" altLang="en-US" sz="1200" b="0" i="0" dirty="0">
                          <a:solidFill>
                            <a:srgbClr val="404040"/>
                          </a:solidFill>
                          <a:latin typeface="+mn-lt"/>
                          <a:ea typeface="맑은 고딕"/>
                        </a:rPr>
                        <a:t>스키마</a:t>
                      </a:r>
                      <a:r>
                        <a:rPr lang="en-US" altLang="ko-KR" sz="1200" b="0" i="0" dirty="0">
                          <a:solidFill>
                            <a:srgbClr val="404040"/>
                          </a:solidFill>
                          <a:latin typeface="+mn-lt"/>
                          <a:ea typeface="맑은 고딕"/>
                        </a:rPr>
                        <a:t>,</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Command Queue </a:t>
                      </a:r>
                      <a:r>
                        <a:rPr lang="ko-KR" altLang="en-US" sz="1200" b="0" i="0" dirty="0">
                          <a:solidFill>
                            <a:srgbClr val="404040"/>
                          </a:solidFill>
                          <a:latin typeface="+mn-lt"/>
                          <a:ea typeface="맑은 고딕"/>
                        </a:rPr>
                        <a:t>인터페이스가 바뀌면 </a:t>
                      </a:r>
                      <a:r>
                        <a:rPr lang="en-US" altLang="ko-KR" sz="1200" b="0" i="0" dirty="0">
                          <a:solidFill>
                            <a:srgbClr val="404040"/>
                          </a:solidFill>
                          <a:latin typeface="+mn-lt"/>
                          <a:ea typeface="맑은 고딕"/>
                        </a:rPr>
                        <a:t>Resource,</a:t>
                      </a:r>
                      <a:r>
                        <a:rPr lang="en-US" altLang="ko-KR" sz="1200" b="0" i="0" baseline="0" dirty="0">
                          <a:solidFill>
                            <a:srgbClr val="404040"/>
                          </a:solidFill>
                          <a:latin typeface="+mn-lt"/>
                          <a:ea typeface="맑은 고딕"/>
                        </a:rPr>
                        <a:t> </a:t>
                      </a:r>
                      <a:r>
                        <a:rPr lang="en-US" altLang="ko-KR" sz="1200" b="0" i="0" dirty="0">
                          <a:solidFill>
                            <a:srgbClr val="404040"/>
                          </a:solidFill>
                          <a:latin typeface="+mn-lt"/>
                          <a:ea typeface="맑은 고딕"/>
                        </a:rPr>
                        <a:t>Data</a:t>
                      </a:r>
                      <a:r>
                        <a:rPr lang="ko-KR" altLang="en-US" sz="1200" b="0" i="0" dirty="0">
                          <a:solidFill>
                            <a:srgbClr val="404040"/>
                          </a:solidFill>
                          <a:latin typeface="+mn-lt"/>
                          <a:ea typeface="맑은 고딕"/>
                        </a:rPr>
                        <a:t> </a:t>
                      </a:r>
                      <a:r>
                        <a:rPr lang="en-US" altLang="ko-KR" sz="1200" b="0" i="0" dirty="0">
                          <a:solidFill>
                            <a:srgbClr val="404040"/>
                          </a:solidFill>
                          <a:latin typeface="+mn-lt"/>
                          <a:ea typeface="맑은 고딕"/>
                        </a:rPr>
                        <a:t>Plane </a:t>
                      </a:r>
                      <a:r>
                        <a:rPr lang="ko-KR" altLang="en-US" sz="1200" b="0" i="0" dirty="0">
                          <a:solidFill>
                            <a:srgbClr val="404040"/>
                          </a:solidFill>
                          <a:latin typeface="+mn-lt"/>
                          <a:ea typeface="맑은 고딕"/>
                        </a:rPr>
                        <a:t>동반 수정 필요 </a:t>
                      </a:r>
                      <a:r>
                        <a:rPr lang="en-US" altLang="ko-KR" sz="1200" b="0" i="0" dirty="0">
                          <a:solidFill>
                            <a:srgbClr val="404040"/>
                          </a:solidFill>
                          <a:latin typeface="+mn-lt"/>
                          <a:ea typeface="맑은 고딕"/>
                        </a:rPr>
                        <a:t>(Q4)</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a:t>
                      </a:r>
                      <a:r>
                        <a:rPr lang="en-US" altLang="ko-KR" sz="1200" b="0" strike="noStrike" baseline="0" dirty="0">
                          <a:solidFill>
                            <a:schemeClr val="tx1"/>
                          </a:solidFill>
                        </a:rPr>
                        <a:t> </a:t>
                      </a:r>
                      <a:r>
                        <a:rPr lang="en-US" altLang="ko-KR" sz="1200" b="0" strike="noStrike" dirty="0">
                          <a:solidFill>
                            <a:schemeClr val="tx1"/>
                          </a:solidFill>
                        </a:rPr>
                        <a:t>Performance </a:t>
                      </a:r>
                      <a:r>
                        <a:rPr lang="ko-KR" altLang="en-US" sz="1200" b="0" strike="noStrike" dirty="0">
                          <a:solidFill>
                            <a:schemeClr val="tx1"/>
                          </a:solidFill>
                        </a:rPr>
                        <a:t>처리량</a:t>
                      </a:r>
                      <a:endParaRPr lang="en-US" altLang="ko-KR" sz="10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sz="1200" b="0">
                          <a:solidFill>
                            <a:srgbClr val="FFFFFF"/>
                          </a:solidFill>
                          <a:latin typeface="맑은 고딕"/>
                          <a:ea typeface="맑은 고딕"/>
                        </a:rPr>
                        <a:t> </a:t>
                      </a:r>
                      <a:endParaRPr lang="en-US" altLang="ko-KR" sz="1000" b="0" strike="noStrike" dirty="0">
                        <a:solidFill>
                          <a:schemeClr val="tx1"/>
                        </a:solidFill>
                      </a:endParaRPr>
                    </a:p>
                    <a:p>
                      <a:r>
                        <a:rPr sz="1200" b="0">
                          <a:solidFill>
                            <a:srgbClr val="FFFFFF"/>
                          </a:solidFill>
                          <a:latin typeface="맑은 고딕"/>
                          <a:ea typeface="맑은 고딕"/>
                        </a:rPr>
                        <a:t> </a:t>
                      </a:r>
                      <a:r>
                        <a:rPr sz="750" b="0">
                          <a:solidFill>
                            <a:srgbClr val="0000FF"/>
                          </a:solidFill>
                          <a:latin typeface="맑은 고딕"/>
                          <a:ea typeface="맑은 고딕"/>
                        </a:rPr>
                        <a:t>▸ 예상보다 낮음</a:t>
                      </a:r>
                    </a:p>
                    <a:p>
                      <a:r>
                        <a:rPr sz="1200" b="0">
                          <a:solidFill>
                            <a:srgbClr val="FFFFFF"/>
                          </a:solidFill>
                          <a:latin typeface="맑은 고딕"/>
                          <a:ea typeface="맑은 고딕"/>
                        </a:rPr>
                        <a:t> </a:t>
                      </a:r>
                    </a:p>
                    <a:p>
                      <a:r>
                        <a:rPr sz="1200" b="0">
                          <a:solidFill>
                            <a:srgbClr val="FFFFFF"/>
                          </a:solidFill>
                          <a:latin typeface="맑은 고딕"/>
                          <a:ea typeface="맑은 고딕"/>
                        </a:rPr>
                        <a:t> </a:t>
                      </a:r>
                      <a:r>
                        <a:rPr sz="750" b="0">
                          <a:solidFill>
                            <a:srgbClr val="0000FF"/>
                          </a:solidFill>
                          <a:latin typeface="맑은 고딕"/>
                          <a:ea typeface="맑은 고딕"/>
                        </a:rPr>
                        <a:t>▸ 예상보다 높음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맑은 고딕" panose="020B0503020000020004" pitchFamily="50" charset="-127"/>
                        </a:rPr>
                        <a:t>◐</a:t>
                      </a:r>
                      <a:r>
                        <a:rPr lang="en-US" altLang="ko-KR" sz="1200" b="0" dirty="0">
                          <a:solidFill>
                            <a:schemeClr val="tx1"/>
                          </a:solidFill>
                          <a:latin typeface="맑은 고딕" panose="020B0503020000020004" pitchFamily="50" charset="-127"/>
                          <a:ea typeface="+mn-ea"/>
                        </a:rPr>
                        <a:t>○  </a:t>
                      </a:r>
                      <a:r>
                        <a:rPr sz="630" b="0">
                          <a:solidFill>
                            <a:srgbClr val="404040"/>
                          </a:solidFill>
                          <a:latin typeface="맑은 고딕"/>
                          <a:ea typeface="맑은 고딕"/>
                        </a:rPr>
                        <a:t> 786→947 tok/s (+20%)</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425→340 GiB (−20%)</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TTFT 1.9→1.3 s (−30%)</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1.75m·0.38MM</a:t>
                      </a:r>
                    </a:p>
                  </a:txBody>
                  <a:tcPr anchor="ctr" marR="0">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2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 Resource Efficiency </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Q5. Modifiability </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sz="1200" b="0">
                          <a:solidFill>
                            <a:srgbClr val="FFFFFF"/>
                          </a:solidFill>
                          <a:latin typeface="맑은 고딕"/>
                          <a:ea typeface="맑은 고딕"/>
                        </a:rPr>
                        <a:t> </a:t>
                      </a:r>
                      <a:r>
                        <a:rPr sz="750" b="0">
                          <a:solidFill>
                            <a:srgbClr val="0000FF"/>
                          </a:solidFill>
                          <a:latin typeface="맑은 고딕"/>
                          <a:ea typeface="맑은 고딕"/>
                        </a:rPr>
                        <a:t>▸ 예상보다 낮음</a:t>
                      </a:r>
                      <a:endParaRPr lang="en-US" altLang="ko-KR" sz="1000" b="0" strike="noStrike" dirty="0">
                        <a:solidFill>
                          <a:schemeClr val="tx1"/>
                        </a:solidFill>
                      </a:endParaRPr>
                    </a:p>
                    <a:p>
                      <a:r>
                        <a:rPr sz="1200" b="0">
                          <a:solidFill>
                            <a:srgbClr val="FFFFFF"/>
                          </a:solidFill>
                          <a:latin typeface="맑은 고딕"/>
                          <a:ea typeface="맑은 고딕"/>
                        </a:rPr>
                        <a:t> </a:t>
                      </a:r>
                      <a:r>
                        <a:rPr sz="750" b="0">
                          <a:solidFill>
                            <a:srgbClr val="0000FF"/>
                          </a:solidFill>
                          <a:latin typeface="맑은 고딕"/>
                          <a:ea typeface="맑은 고딕"/>
                        </a:rPr>
                        <a:t>▸ 예상보다 낮음</a:t>
                      </a:r>
                    </a:p>
                    <a:p>
                      <a:r>
                        <a:rPr sz="1200" b="0">
                          <a:solidFill>
                            <a:srgbClr val="FFFFFF"/>
                          </a:solidFill>
                          <a:latin typeface="맑은 고딕"/>
                          <a:ea typeface="맑은 고딕"/>
                        </a:rPr>
                        <a:t> </a:t>
                      </a:r>
                      <a:r>
                        <a:rPr sz="750" b="0">
                          <a:solidFill>
                            <a:srgbClr val="0000FF"/>
                          </a:solidFill>
                          <a:latin typeface="맑은 고딕"/>
                          <a:ea typeface="맑은 고딕"/>
                        </a:rPr>
                        <a:t>▸ 예상보다 낮음</a:t>
                      </a:r>
                    </a:p>
                    <a:p>
                      <a:r>
                        <a:rPr sz="1200" b="0">
                          <a:solidFill>
                            <a:srgbClr val="FFFFFF"/>
                          </a:solidFill>
                          <a:latin typeface="맑은 고딕"/>
                          <a:ea typeface="맑은 고딕"/>
                        </a:rPr>
                        <a:t> </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ko-KR" altLang="en-US" sz="1200" strike="noStrike" dirty="0">
                          <a:solidFill>
                            <a:schemeClr val="accent5"/>
                          </a:solidFill>
                          <a:latin typeface="맑은 고딕" panose="020B0503020000020004" pitchFamily="50" charset="-127"/>
                          <a:ea typeface="+mn-ea"/>
                        </a:rPr>
                        <a:t> </a:t>
                      </a:r>
                      <a:r>
                        <a:rPr sz="630" b="0">
                          <a:solidFill>
                            <a:srgbClr val="404040"/>
                          </a:solidFill>
                          <a:latin typeface="맑은 고딕"/>
                          <a:ea typeface="맑은 고딕"/>
                        </a:rPr>
                        <a:t> 786→1,041 tok/s (+32%)</a:t>
                      </a:r>
                      <a:endParaRPr lang="en-US" altLang="ko-KR" sz="1200" strike="noStrike" dirty="0">
                        <a:solidFill>
                          <a:schemeClr val="accent5"/>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425→404 GiB (−5%)</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TTFT 1.9→1.2 s (−38%)</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2.5m·0.51MM</a:t>
                      </a:r>
                      <a:endParaRPr lang="en-US" altLang="ko-KR" sz="1200" b="0" dirty="0">
                        <a:solidFill>
                          <a:srgbClr val="0070C0"/>
                        </a:solidFill>
                        <a:latin typeface="+mn-lt"/>
                        <a:ea typeface="맑은 고딕"/>
                      </a:endParaRPr>
                    </a:p>
                  </a:txBody>
                  <a:tcPr anchor="ctr" marR="0">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DP1. Data Migration</a:t>
            </a:r>
            <a:r>
              <a:rPr lang="ko-KR" altLang="en-US" dirty="0"/>
              <a:t> 결정 구조</a:t>
            </a:r>
            <a:r>
              <a:rPr lang="en-US" altLang="ko-KR" dirty="0"/>
              <a:t> - </a:t>
            </a:r>
            <a:r>
              <a:rPr lang="ko-KR" altLang="en-US" dirty="0"/>
              <a:t>설계</a:t>
            </a:r>
          </a:p>
        </p:txBody>
      </p:sp>
      <p:sp>
        <p:nvSpPr>
          <p:cNvPr id="57" name="슬라이드 번호 개체 틀 1"/>
          <p:cNvSpPr>
            <a:spLocks noGrp="1"/>
          </p:cNvSpPr>
          <p:nvPr>
            <p:ph type="sldNum" sz="quarter" idx="4294967295"/>
          </p:nvPr>
        </p:nvSpPr>
        <p:spPr>
          <a:xfrm>
            <a:off x="0" y="6597650"/>
            <a:ext cx="457200" cy="209550"/>
          </a:xfrm>
        </p:spPr>
        <p:txBody>
          <a:bodyPr/>
          <a:lstStyle/>
          <a:p>
            <a:fld id="{7F889C64-266A-4D07-AD8F-5B592E61CCE1}" type="slidenum">
              <a:rPr lang="ko-KR" altLang="en-US" smtClean="0"/>
              <a:pPr/>
              <a:t>2</a:t>
            </a:fld>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8021421" cy="307777"/>
          </a:xfrm>
          <a:prstGeom prst="rect">
            <a:avLst/>
          </a:prstGeom>
          <a:noFill/>
        </p:spPr>
        <p:txBody>
          <a:bodyPr wrap="square" rtlCol="0">
            <a:spAutoFit/>
          </a:bodyPr>
          <a:lstStyle/>
          <a:p>
            <a:pPr lvl="0">
              <a:defRPr/>
            </a:pPr>
            <a:r>
              <a:rPr lang="ko-KR" altLang="en-US" sz="1400" b="1" dirty="0">
                <a:solidFill>
                  <a:schemeClr val="bg1"/>
                </a:solidFill>
              </a:rPr>
              <a:t>메모리 자원 상태와 데이터 특성을 고려한 데이터 이동</a:t>
            </a:r>
            <a:r>
              <a:rPr lang="en-US" altLang="ko-KR" sz="1400" b="1" dirty="0">
                <a:solidFill>
                  <a:schemeClr val="bg1"/>
                </a:solidFill>
              </a:rPr>
              <a:t> </a:t>
            </a:r>
            <a:r>
              <a:rPr lang="ko-KR" altLang="en-US" sz="1400" b="1" dirty="0">
                <a:solidFill>
                  <a:schemeClr val="bg1"/>
                </a:solidFill>
              </a:rPr>
              <a:t>결정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자원 상태에 우선한 이동 결정</a:t>
            </a:r>
            <a:r>
              <a:rPr lang="en-US" altLang="ko-KR" sz="1100" dirty="0"/>
              <a:t>“ </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ko-KR" altLang="en-US" sz="1100" dirty="0"/>
              <a:t>데이터 특성에 우선한 이동 결정</a:t>
            </a:r>
            <a:r>
              <a:rPr lang="en-US" altLang="ko-KR" sz="1100" dirty="0"/>
              <a:t>”</a:t>
            </a:r>
            <a:endParaRPr lang="en-US" altLang="ko-KR" sz="1100" strike="sngStrike" dirty="0"/>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94" name="TextBox 93">
            <a:extLst>
              <a:ext uri="{FF2B5EF4-FFF2-40B4-BE49-F238E27FC236}">
                <a16:creationId xmlns:a16="http://schemas.microsoft.com/office/drawing/2014/main" id="{C680BD5A-8E5D-4229-B9CD-EE7278C05436}"/>
              </a:ext>
            </a:extLst>
          </p:cNvPr>
          <p:cNvSpPr txBox="1"/>
          <p:nvPr/>
        </p:nvSpPr>
        <p:spPr>
          <a:xfrm>
            <a:off x="4617258" y="6563925"/>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sp>
        <p:nvSpPr>
          <p:cNvPr id="95" name="TextBox 94">
            <a:extLst>
              <a:ext uri="{FF2B5EF4-FFF2-40B4-BE49-F238E27FC236}">
                <a16:creationId xmlns:a16="http://schemas.microsoft.com/office/drawing/2014/main" id="{3D91191D-072D-4CEC-A0E8-E3D891FF373D}"/>
              </a:ext>
            </a:extLst>
          </p:cNvPr>
          <p:cNvSpPr txBox="1"/>
          <p:nvPr/>
        </p:nvSpPr>
        <p:spPr>
          <a:xfrm>
            <a:off x="10016983" y="6578106"/>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4" name="실행 단추: 앞으로 또는 다음으로 이동 3">
            <a:hlinkClick r:id="" action="ppaction://noaction" highlightClick="1"/>
            <a:extLst>
              <a:ext uri="{FF2B5EF4-FFF2-40B4-BE49-F238E27FC236}">
                <a16:creationId xmlns:a16="http://schemas.microsoft.com/office/drawing/2014/main" id="{D45EE784-4191-4924-833C-F4E4E1D195A6}"/>
              </a:ext>
            </a:extLst>
          </p:cNvPr>
          <p:cNvSpPr/>
          <p:nvPr/>
        </p:nvSpPr>
        <p:spPr>
          <a:xfrm>
            <a:off x="580860" y="6144357"/>
            <a:ext cx="199763" cy="17731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실행 단추: 앞으로 또는 다음 99">
            <a:hlinkClick r:id="" action="ppaction://noaction" highlightClick="1"/>
          </p:cNvPr>
          <p:cNvSpPr/>
          <p:nvPr/>
        </p:nvSpPr>
        <p:spPr>
          <a:xfrm>
            <a:off x="6115324"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실행 단추: 앞으로 또는 다음 101">
            <a:hlinkClick r:id="" action="ppaction://noaction" highlightClick="1"/>
          </p:cNvPr>
          <p:cNvSpPr/>
          <p:nvPr/>
        </p:nvSpPr>
        <p:spPr>
          <a:xfrm>
            <a:off x="11618261" y="1095164"/>
            <a:ext cx="199762" cy="22422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04"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err="1">
                <a:latin typeface="맑은 고딕" panose="020B0503020000020004" pitchFamily="50" charset="-127"/>
              </a:rPr>
              <a:t>변경용이성</a:t>
            </a:r>
            <a:endParaRPr lang="ko-KR" altLang="en-US" sz="700" dirty="0">
              <a:latin typeface="맑은 고딕" panose="020B0503020000020004" pitchFamily="50" charset="-127"/>
            </a:endParaRPr>
          </a:p>
        </p:txBody>
      </p:sp>
      <p:grpSp>
        <p:nvGrpSpPr>
          <p:cNvPr id="84" name="그룹 83"/>
          <p:cNvGrpSpPr/>
          <p:nvPr/>
        </p:nvGrpSpPr>
        <p:grpSpPr>
          <a:xfrm>
            <a:off x="6621854" y="1744599"/>
            <a:ext cx="5128953" cy="2685098"/>
            <a:chOff x="6236208" y="1758886"/>
            <a:chExt cx="5641848" cy="2685098"/>
          </a:xfrm>
        </p:grpSpPr>
        <p:sp>
          <p:nvSpPr>
            <p:cNvPr id="309" name="Rectangle 71"/>
            <p:cNvSpPr/>
            <p:nvPr/>
          </p:nvSpPr>
          <p:spPr>
            <a:xfrm>
              <a:off x="6236208" y="1758886"/>
              <a:ext cx="5641848" cy="819721"/>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10" name="TextBox 309"/>
            <p:cNvSpPr txBox="1"/>
            <p:nvPr/>
          </p:nvSpPr>
          <p:spPr>
            <a:xfrm>
              <a:off x="6236208" y="1800440"/>
              <a:ext cx="5641848" cy="146194"/>
            </a:xfrm>
            <a:prstGeom prst="rect">
              <a:avLst/>
            </a:prstGeom>
            <a:noFill/>
          </p:spPr>
          <p:txBody>
            <a:bodyPr wrap="square" lIns="0" tIns="0" rIns="0" bIns="0" anchor="ctr">
              <a:spAutoFit/>
            </a:bodyPr>
            <a:lstStyle/>
            <a:p>
              <a:pPr algn="ctr"/>
              <a:r>
                <a:rPr lang="en-US" altLang="ko-KR" sz="950" b="1" i="0" dirty="0">
                  <a:solidFill>
                    <a:srgbClr val="1F4E79"/>
                  </a:solidFill>
                  <a:latin typeface="맑은 고딕"/>
                  <a:ea typeface="맑은 고딕"/>
                </a:rPr>
                <a:t>Control Plane</a:t>
              </a:r>
              <a:endParaRPr sz="950" b="1" i="0" dirty="0">
                <a:solidFill>
                  <a:srgbClr val="1F4E79"/>
                </a:solidFill>
                <a:latin typeface="맑은 고딕"/>
                <a:ea typeface="맑은 고딕"/>
              </a:endParaRPr>
            </a:p>
          </p:txBody>
        </p:sp>
        <p:sp>
          <p:nvSpPr>
            <p:cNvPr id="311" name="Rectangle 73"/>
            <p:cNvSpPr/>
            <p:nvPr/>
          </p:nvSpPr>
          <p:spPr>
            <a:xfrm>
              <a:off x="6345935" y="2011680"/>
              <a:ext cx="1449321" cy="45720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50" b="1" i="0" dirty="0">
                  <a:solidFill>
                    <a:srgbClr val="7F5F00"/>
                  </a:solidFill>
                  <a:latin typeface="맑은 고딕"/>
                  <a:ea typeface="맑은 고딕"/>
                </a:rPr>
                <a:t>Decision Scheduler</a:t>
              </a:r>
            </a:p>
            <a:p>
              <a:pPr algn="ctr">
                <a:lnSpc>
                  <a:spcPct val="125000"/>
                </a:lnSpc>
              </a:pP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주기</a:t>
              </a:r>
              <a:r>
                <a:rPr sz="650" b="0" i="0" dirty="0">
                  <a:solidFill>
                    <a:srgbClr val="7F5F00"/>
                  </a:solidFill>
                  <a:latin typeface="맑은 고딕"/>
                  <a:ea typeface="맑은 고딕"/>
                </a:rPr>
                <a:t> </a:t>
              </a:r>
              <a:r>
                <a:rPr lang="ko-KR" altLang="en-US" sz="650" b="0" i="0" dirty="0">
                  <a:solidFill>
                    <a:srgbClr val="7F5F00"/>
                  </a:solidFill>
                  <a:latin typeface="맑은 고딕"/>
                  <a:ea typeface="맑은 고딕"/>
                </a:rPr>
                <a:t>독립 </a:t>
              </a:r>
              <a:r>
                <a:rPr sz="650" b="0" i="0" dirty="0" err="1">
                  <a:solidFill>
                    <a:srgbClr val="7F5F00"/>
                  </a:solidFill>
                  <a:latin typeface="맑은 고딕"/>
                  <a:ea typeface="맑은 고딕"/>
                </a:rPr>
                <a:t>보유</a:t>
              </a:r>
              <a:endParaRPr sz="650" b="0" i="0" dirty="0">
                <a:solidFill>
                  <a:srgbClr val="7F5F00"/>
                </a:solidFill>
                <a:latin typeface="맑은 고딕"/>
                <a:ea typeface="맑은 고딕"/>
              </a:endParaRPr>
            </a:p>
          </p:txBody>
        </p:sp>
        <p:sp>
          <p:nvSpPr>
            <p:cNvPr id="312" name="Rectangle 74"/>
            <p:cNvSpPr/>
            <p:nvPr/>
          </p:nvSpPr>
          <p:spPr>
            <a:xfrm>
              <a:off x="7968995" y="2011680"/>
              <a:ext cx="1046988"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lang="ko-KR" altLang="en-US" sz="700" dirty="0">
                  <a:solidFill>
                    <a:srgbClr val="404040"/>
                  </a:solidFill>
                  <a:latin typeface="맑은 고딕"/>
                  <a:ea typeface="맑은 고딕"/>
                </a:rPr>
                <a:t>데이터</a:t>
              </a:r>
              <a:r>
                <a:rPr lang="en-US" altLang="ko-KR" sz="700" dirty="0">
                  <a:solidFill>
                    <a:srgbClr val="404040"/>
                  </a:solidFill>
                  <a:latin typeface="맑은 고딕"/>
                  <a:ea typeface="맑은 고딕"/>
                </a:rPr>
                <a:t>,</a:t>
              </a:r>
              <a:r>
                <a:rPr lang="ko-KR" altLang="en-US" sz="700" dirty="0">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13" name="Rectangle 75"/>
            <p:cNvSpPr/>
            <p:nvPr/>
          </p:nvSpPr>
          <p:spPr>
            <a:xfrm>
              <a:off x="9162288" y="2011680"/>
              <a:ext cx="1280160"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14" name="Rectangle 76"/>
            <p:cNvSpPr/>
            <p:nvPr/>
          </p:nvSpPr>
          <p:spPr>
            <a:xfrm>
              <a:off x="10588752" y="2011680"/>
              <a:ext cx="1280160" cy="4572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9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15" name="Connector 77"/>
            <p:cNvCxnSpPr/>
            <p:nvPr/>
          </p:nvCxnSpPr>
          <p:spPr>
            <a:xfrm>
              <a:off x="7804402" y="2240280"/>
              <a:ext cx="164593" cy="0"/>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6" name="Oval 78"/>
            <p:cNvSpPr/>
            <p:nvPr/>
          </p:nvSpPr>
          <p:spPr>
            <a:xfrm>
              <a:off x="7774975" y="2318004"/>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②</a:t>
              </a:r>
            </a:p>
          </p:txBody>
        </p:sp>
        <p:cxnSp>
          <p:nvCxnSpPr>
            <p:cNvPr id="317" name="Connector 79"/>
            <p:cNvCxnSpPr/>
            <p:nvPr/>
          </p:nvCxnSpPr>
          <p:spPr>
            <a:xfrm>
              <a:off x="9015984"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8" name="Connector 80"/>
            <p:cNvCxnSpPr/>
            <p:nvPr/>
          </p:nvCxnSpPr>
          <p:spPr>
            <a:xfrm>
              <a:off x="10442448" y="2240280"/>
              <a:ext cx="146304"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9" name="Rectangle 81"/>
            <p:cNvSpPr/>
            <p:nvPr/>
          </p:nvSpPr>
          <p:spPr>
            <a:xfrm>
              <a:off x="6236208" y="2775204"/>
              <a:ext cx="2779776" cy="1266444"/>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20" name="TextBox 319"/>
            <p:cNvSpPr txBox="1"/>
            <p:nvPr/>
          </p:nvSpPr>
          <p:spPr>
            <a:xfrm>
              <a:off x="6236208" y="2807263"/>
              <a:ext cx="2779776" cy="146194"/>
            </a:xfrm>
            <a:prstGeom prst="rect">
              <a:avLst/>
            </a:prstGeom>
            <a:noFill/>
          </p:spPr>
          <p:txBody>
            <a:bodyPr wrap="square" lIns="0" tIns="0" rIns="0" bIns="0" anchor="ctr">
              <a:spAutoFit/>
            </a:bodyPr>
            <a:lstStyle/>
            <a:p>
              <a:pPr algn="ctr"/>
              <a:r>
                <a:rPr lang="en-US" altLang="ko-KR" sz="950" b="1" i="0" dirty="0">
                  <a:solidFill>
                    <a:srgbClr val="1F4E79"/>
                  </a:solidFill>
                  <a:latin typeface="맑은 고딕"/>
                  <a:ea typeface="맑은 고딕"/>
                </a:rPr>
                <a:t>Resource Plane</a:t>
              </a:r>
              <a:endParaRPr sz="950" b="1" i="0" dirty="0">
                <a:solidFill>
                  <a:srgbClr val="1F4E79"/>
                </a:solidFill>
                <a:latin typeface="맑은 고딕"/>
                <a:ea typeface="맑은 고딕"/>
              </a:endParaRPr>
            </a:p>
          </p:txBody>
        </p:sp>
        <p:sp>
          <p:nvSpPr>
            <p:cNvPr id="321" name="Rectangle 83"/>
            <p:cNvSpPr/>
            <p:nvPr/>
          </p:nvSpPr>
          <p:spPr>
            <a:xfrm>
              <a:off x="6345936" y="3035808"/>
              <a:ext cx="2560320" cy="274320"/>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dirty="0">
                  <a:solidFill>
                    <a:srgbClr val="7F5F00"/>
                  </a:solidFill>
                  <a:latin typeface="맑은 고딕"/>
                  <a:ea typeface="맑은 고딕"/>
                </a:rPr>
                <a:t>State Snapshot Builder</a:t>
              </a:r>
            </a:p>
            <a:p>
              <a:pPr algn="ctr">
                <a:lnSpc>
                  <a:spcPct val="125000"/>
                </a:lnSpc>
              </a:pPr>
              <a:r>
                <a:rPr sz="650" b="0" i="0" dirty="0" err="1">
                  <a:solidFill>
                    <a:srgbClr val="7F5F00"/>
                  </a:solidFill>
                  <a:latin typeface="맑은 고딕"/>
                  <a:ea typeface="맑은 고딕"/>
                </a:rPr>
                <a:t>일관</a:t>
              </a:r>
              <a:r>
                <a:rPr sz="650" b="0" i="0" dirty="0">
                  <a:solidFill>
                    <a:srgbClr val="7F5F00"/>
                  </a:solidFill>
                  <a:latin typeface="맑은 고딕"/>
                  <a:ea typeface="맑은 고딕"/>
                </a:rPr>
                <a:t> </a:t>
              </a:r>
              <a:r>
                <a:rPr sz="650" b="0" i="0" dirty="0" err="1">
                  <a:solidFill>
                    <a:srgbClr val="7F5F00"/>
                  </a:solidFill>
                  <a:latin typeface="맑은 고딕"/>
                  <a:ea typeface="맑은 고딕"/>
                </a:rPr>
                <a:t>복사본</a:t>
              </a:r>
              <a:r>
                <a:rPr sz="650" b="0" i="0" dirty="0">
                  <a:solidFill>
                    <a:srgbClr val="7F5F00"/>
                  </a:solidFill>
                  <a:latin typeface="맑은 고딕"/>
                  <a:ea typeface="맑은 고딕"/>
                </a:rPr>
                <a:t> </a:t>
              </a:r>
              <a:r>
                <a:rPr sz="650" b="0" i="0" dirty="0" err="1">
                  <a:solidFill>
                    <a:srgbClr val="7F5F00"/>
                  </a:solidFill>
                  <a:latin typeface="맑은 고딕"/>
                  <a:ea typeface="맑은 고딕"/>
                </a:rPr>
                <a:t>생성</a:t>
              </a:r>
              <a:r>
                <a:rPr sz="650" b="0" i="0" dirty="0">
                  <a:solidFill>
                    <a:srgbClr val="7F5F00"/>
                  </a:solidFill>
                  <a:latin typeface="맑은 고딕"/>
                  <a:ea typeface="맑은 고딕"/>
                </a:rPr>
                <a:t> · object 수 </a:t>
              </a:r>
              <a:r>
                <a:rPr sz="650" b="0" i="0" dirty="0" err="1">
                  <a:solidFill>
                    <a:srgbClr val="7F5F00"/>
                  </a:solidFill>
                  <a:latin typeface="맑은 고딕"/>
                  <a:ea typeface="맑은 고딕"/>
                </a:rPr>
                <a:t>비례</a:t>
              </a:r>
              <a:r>
                <a:rPr sz="650" b="0" i="0" dirty="0">
                  <a:solidFill>
                    <a:srgbClr val="7F5F00"/>
                  </a:solidFill>
                  <a:latin typeface="맑은 고딕"/>
                  <a:ea typeface="맑은 고딕"/>
                </a:rPr>
                <a:t> </a:t>
              </a:r>
              <a:r>
                <a:rPr sz="650" b="0" i="0" dirty="0" err="1">
                  <a:solidFill>
                    <a:srgbClr val="7F5F00"/>
                  </a:solidFill>
                  <a:latin typeface="맑은 고딕"/>
                  <a:ea typeface="맑은 고딕"/>
                </a:rPr>
                <a:t>비용</a:t>
              </a:r>
              <a:endParaRPr sz="650" b="0" i="0" dirty="0">
                <a:solidFill>
                  <a:srgbClr val="7F5F00"/>
                </a:solidFill>
                <a:latin typeface="맑은 고딕"/>
                <a:ea typeface="맑은 고딕"/>
              </a:endParaRPr>
            </a:p>
          </p:txBody>
        </p:sp>
        <p:sp>
          <p:nvSpPr>
            <p:cNvPr id="322" name="Rectangle 84"/>
            <p:cNvSpPr/>
            <p:nvPr/>
          </p:nvSpPr>
          <p:spPr>
            <a:xfrm>
              <a:off x="6345936" y="3364992"/>
              <a:ext cx="122529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0" i="0">
                  <a:solidFill>
                    <a:srgbClr val="404040"/>
                  </a:solidFill>
                  <a:latin typeface="맑은 고딕"/>
                  <a:ea typeface="맑은 고딕"/>
                </a:rPr>
                <a:t>Telemetry Collector</a:t>
              </a:r>
            </a:p>
          </p:txBody>
        </p:sp>
        <p:sp>
          <p:nvSpPr>
            <p:cNvPr id="323" name="Rectangle 85"/>
            <p:cNvSpPr/>
            <p:nvPr/>
          </p:nvSpPr>
          <p:spPr>
            <a:xfrm>
              <a:off x="7680960" y="3364992"/>
              <a:ext cx="122529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24" name="Rectangle 86"/>
            <p:cNvSpPr/>
            <p:nvPr/>
          </p:nvSpPr>
          <p:spPr>
            <a:xfrm>
              <a:off x="6345936" y="3675887"/>
              <a:ext cx="2560320"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Memory·Data Object Registry</a:t>
              </a:r>
            </a:p>
          </p:txBody>
        </p:sp>
        <p:cxnSp>
          <p:nvCxnSpPr>
            <p:cNvPr id="325" name="Connector 87"/>
            <p:cNvCxnSpPr/>
            <p:nvPr/>
          </p:nvCxnSpPr>
          <p:spPr>
            <a:xfrm flipV="1">
              <a:off x="6958584"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6" name="Connector 88"/>
            <p:cNvCxnSpPr/>
            <p:nvPr/>
          </p:nvCxnSpPr>
          <p:spPr>
            <a:xfrm flipV="1">
              <a:off x="8293608" y="3310128"/>
              <a:ext cx="0" cy="54864"/>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7" name="Connector 89"/>
            <p:cNvCxnSpPr/>
            <p:nvPr/>
          </p:nvCxnSpPr>
          <p:spPr>
            <a:xfrm flipV="1">
              <a:off x="7626096" y="3310128"/>
              <a:ext cx="0" cy="365759"/>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Oval 90"/>
            <p:cNvSpPr/>
            <p:nvPr/>
          </p:nvSpPr>
          <p:spPr>
            <a:xfrm>
              <a:off x="7548371" y="3433572"/>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dirty="0">
                  <a:solidFill>
                    <a:srgbClr val="FFFFFF"/>
                  </a:solidFill>
                  <a:latin typeface="맑은 고딕"/>
                  <a:ea typeface="맑은 고딕"/>
                </a:rPr>
                <a:t>①</a:t>
              </a:r>
            </a:p>
          </p:txBody>
        </p:sp>
        <p:cxnSp>
          <p:nvCxnSpPr>
            <p:cNvPr id="329" name="Connector 91"/>
            <p:cNvCxnSpPr/>
            <p:nvPr/>
          </p:nvCxnSpPr>
          <p:spPr>
            <a:xfrm flipV="1">
              <a:off x="8686800" y="2468880"/>
              <a:ext cx="0" cy="566928"/>
            </a:xfrm>
            <a:prstGeom prst="line">
              <a:avLst/>
            </a:prstGeom>
            <a:ln w="12700">
              <a:solidFill>
                <a:srgbClr val="BF8F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0" name="Oval 92"/>
            <p:cNvSpPr/>
            <p:nvPr/>
          </p:nvSpPr>
          <p:spPr>
            <a:xfrm>
              <a:off x="8773667" y="2647188"/>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③</a:t>
              </a:r>
            </a:p>
          </p:txBody>
        </p:sp>
        <p:sp>
          <p:nvSpPr>
            <p:cNvPr id="331" name="Rectangle 93"/>
            <p:cNvSpPr/>
            <p:nvPr/>
          </p:nvSpPr>
          <p:spPr>
            <a:xfrm>
              <a:off x="9345168" y="2816352"/>
              <a:ext cx="2532888" cy="1225296"/>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32" name="TextBox 331"/>
            <p:cNvSpPr txBox="1"/>
            <p:nvPr/>
          </p:nvSpPr>
          <p:spPr>
            <a:xfrm>
              <a:off x="9345168" y="2852928"/>
              <a:ext cx="2532888"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33" name="Rectangle 95"/>
            <p:cNvSpPr/>
            <p:nvPr/>
          </p:nvSpPr>
          <p:spPr>
            <a:xfrm>
              <a:off x="9454896" y="3035808"/>
              <a:ext cx="2313432" cy="292608"/>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a:solidFill>
                    <a:srgbClr val="7F5F00"/>
                  </a:solidFill>
                  <a:latin typeface="맑은 고딕"/>
                  <a:ea typeface="맑은 고딕"/>
                </a:rPr>
                <a:t>Migration Command Queue</a:t>
              </a:r>
            </a:p>
            <a:p>
              <a:pPr algn="ctr">
                <a:lnSpc>
                  <a:spcPct val="125000"/>
                </a:lnSpc>
              </a:pPr>
              <a:r>
                <a:rPr sz="650" b="0" i="0">
                  <a:solidFill>
                    <a:srgbClr val="7F5F00"/>
                  </a:solidFill>
                  <a:latin typeface="맑은 고딕"/>
                  <a:ea typeface="맑은 고딕"/>
                </a:rPr>
                <a:t>비동기 판단 결과 버퍼 · 순서 보장</a:t>
              </a:r>
            </a:p>
          </p:txBody>
        </p:sp>
        <p:sp>
          <p:nvSpPr>
            <p:cNvPr id="334" name="Rectangle 96"/>
            <p:cNvSpPr/>
            <p:nvPr/>
          </p:nvSpPr>
          <p:spPr>
            <a:xfrm>
              <a:off x="9454896" y="3401568"/>
              <a:ext cx="2313432" cy="23774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35" name="Rectangle 97"/>
            <p:cNvSpPr/>
            <p:nvPr/>
          </p:nvSpPr>
          <p:spPr>
            <a:xfrm>
              <a:off x="9454896" y="3694176"/>
              <a:ext cx="2313432" cy="219456"/>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36" name="Connector 98"/>
            <p:cNvCxnSpPr/>
            <p:nvPr/>
          </p:nvCxnSpPr>
          <p:spPr>
            <a:xfrm>
              <a:off x="10616184" y="3328416"/>
              <a:ext cx="0" cy="73152"/>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Oval 99"/>
            <p:cNvSpPr/>
            <p:nvPr/>
          </p:nvSpPr>
          <p:spPr>
            <a:xfrm>
              <a:off x="10703051" y="3287268"/>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⑤</a:t>
              </a:r>
            </a:p>
          </p:txBody>
        </p:sp>
        <p:cxnSp>
          <p:nvCxnSpPr>
            <p:cNvPr id="338" name="Connector 100"/>
            <p:cNvCxnSpPr/>
            <p:nvPr/>
          </p:nvCxnSpPr>
          <p:spPr>
            <a:xfrm>
              <a:off x="10616184" y="3639312"/>
              <a:ext cx="0" cy="5486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9" name="Oval 101"/>
            <p:cNvSpPr/>
            <p:nvPr/>
          </p:nvSpPr>
          <p:spPr>
            <a:xfrm>
              <a:off x="10703051" y="3589020"/>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⑥</a:t>
              </a:r>
            </a:p>
          </p:txBody>
        </p:sp>
        <p:cxnSp>
          <p:nvCxnSpPr>
            <p:cNvPr id="340" name="Connector 102"/>
            <p:cNvCxnSpPr/>
            <p:nvPr/>
          </p:nvCxnSpPr>
          <p:spPr>
            <a:xfrm>
              <a:off x="11228832" y="2468880"/>
              <a:ext cx="0" cy="566928"/>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1" name="Oval 103"/>
            <p:cNvSpPr/>
            <p:nvPr/>
          </p:nvSpPr>
          <p:spPr>
            <a:xfrm>
              <a:off x="11315700" y="26654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④</a:t>
              </a:r>
            </a:p>
          </p:txBody>
        </p:sp>
        <p:cxnSp>
          <p:nvCxnSpPr>
            <p:cNvPr id="342" name="Connector 104"/>
            <p:cNvCxnSpPr/>
            <p:nvPr/>
          </p:nvCxnSpPr>
          <p:spPr>
            <a:xfrm flipH="1">
              <a:off x="9125712" y="3520440"/>
              <a:ext cx="329184"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3" name="Connector 105"/>
            <p:cNvCxnSpPr/>
            <p:nvPr/>
          </p:nvCxnSpPr>
          <p:spPr>
            <a:xfrm>
              <a:off x="9125712" y="3520440"/>
              <a:ext cx="0" cy="59436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4" name="Connector 106"/>
            <p:cNvCxnSpPr/>
            <p:nvPr/>
          </p:nvCxnSpPr>
          <p:spPr>
            <a:xfrm flipH="1">
              <a:off x="6958584" y="4114800"/>
              <a:ext cx="2167128"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45" name="Connector 107"/>
            <p:cNvCxnSpPr/>
            <p:nvPr/>
          </p:nvCxnSpPr>
          <p:spPr>
            <a:xfrm flipV="1">
              <a:off x="6958584" y="3931920"/>
              <a:ext cx="0" cy="18288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6" name="Oval 108"/>
            <p:cNvSpPr/>
            <p:nvPr/>
          </p:nvSpPr>
          <p:spPr>
            <a:xfrm>
              <a:off x="7968996" y="4037076"/>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1000" b="1" i="0">
                  <a:solidFill>
                    <a:srgbClr val="FFFFFF"/>
                  </a:solidFill>
                  <a:latin typeface="맑은 고딕"/>
                  <a:ea typeface="맑은 고딕"/>
                </a:rPr>
                <a:t>⑦</a:t>
              </a:r>
            </a:p>
          </p:txBody>
        </p:sp>
        <p:sp>
          <p:nvSpPr>
            <p:cNvPr id="347" name="Rectangle 109"/>
            <p:cNvSpPr/>
            <p:nvPr/>
          </p:nvSpPr>
          <p:spPr>
            <a:xfrm>
              <a:off x="6236208" y="4206240"/>
              <a:ext cx="5641848"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1" i="0">
                  <a:solidFill>
                    <a:srgbClr val="FFFFFF"/>
                  </a:solidFill>
                  <a:latin typeface="맑은 고딕"/>
                  <a:ea typeface="맑은 고딕"/>
                </a:rPr>
                <a:t>Common Memory Backend Interface</a:t>
              </a:r>
            </a:p>
          </p:txBody>
        </p:sp>
      </p:grpSp>
      <p:grpSp>
        <p:nvGrpSpPr>
          <p:cNvPr id="85" name="그룹 84"/>
          <p:cNvGrpSpPr/>
          <p:nvPr/>
        </p:nvGrpSpPr>
        <p:grpSpPr>
          <a:xfrm>
            <a:off x="1408113" y="1686551"/>
            <a:ext cx="4919472" cy="2708716"/>
            <a:chOff x="2178826" y="3859237"/>
            <a:chExt cx="4919472" cy="2708716"/>
          </a:xfrm>
        </p:grpSpPr>
        <p:sp>
          <p:nvSpPr>
            <p:cNvPr id="357" name="Rectangle 37"/>
            <p:cNvSpPr/>
            <p:nvPr/>
          </p:nvSpPr>
          <p:spPr>
            <a:xfrm>
              <a:off x="2178826" y="3859237"/>
              <a:ext cx="3785615" cy="1904043"/>
            </a:xfrm>
            <a:prstGeom prst="rect">
              <a:avLst/>
            </a:prstGeom>
            <a:solidFill>
              <a:srgbClr val="DCE9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58" name="TextBox 357"/>
            <p:cNvSpPr txBox="1"/>
            <p:nvPr/>
          </p:nvSpPr>
          <p:spPr>
            <a:xfrm>
              <a:off x="2178826" y="3872870"/>
              <a:ext cx="3785615" cy="146194"/>
            </a:xfrm>
            <a:prstGeom prst="rect">
              <a:avLst/>
            </a:prstGeom>
            <a:noFill/>
          </p:spPr>
          <p:txBody>
            <a:bodyPr wrap="square" lIns="0" tIns="0" rIns="0" bIns="0" anchor="ctr">
              <a:spAutoFit/>
            </a:bodyPr>
            <a:lstStyle/>
            <a:p>
              <a:pPr algn="ctr"/>
              <a:r>
                <a:rPr lang="en-US" sz="950" b="1" dirty="0">
                  <a:solidFill>
                    <a:srgbClr val="1F4E79"/>
                  </a:solidFill>
                  <a:latin typeface="맑은 고딕"/>
                  <a:ea typeface="맑은 고딕"/>
                </a:rPr>
                <a:t>Resource + Control Plane</a:t>
              </a:r>
              <a:endParaRPr sz="950" b="1" i="0" dirty="0">
                <a:solidFill>
                  <a:srgbClr val="1F4E79"/>
                </a:solidFill>
                <a:latin typeface="맑은 고딕"/>
                <a:ea typeface="맑은 고딕"/>
              </a:endParaRPr>
            </a:p>
          </p:txBody>
        </p:sp>
        <p:sp>
          <p:nvSpPr>
            <p:cNvPr id="360" name="Rectangle 39"/>
            <p:cNvSpPr/>
            <p:nvPr/>
          </p:nvSpPr>
          <p:spPr>
            <a:xfrm>
              <a:off x="2288554"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Trend Analyzer</a:t>
              </a:r>
            </a:p>
            <a:p>
              <a:pPr algn="ctr">
                <a:lnSpc>
                  <a:spcPct val="125000"/>
                </a:lnSpc>
              </a:pPr>
              <a:r>
                <a:rPr sz="700" dirty="0" err="1">
                  <a:solidFill>
                    <a:srgbClr val="404040"/>
                  </a:solidFill>
                  <a:latin typeface="맑은 고딕"/>
                  <a:ea typeface="맑은 고딕"/>
                </a:rPr>
                <a:t>자원</a:t>
              </a:r>
              <a:r>
                <a:rPr sz="700" dirty="0">
                  <a:solidFill>
                    <a:srgbClr val="404040"/>
                  </a:solidFill>
                  <a:latin typeface="맑은 고딕"/>
                  <a:ea typeface="맑은 고딕"/>
                </a:rPr>
                <a:t> </a:t>
              </a:r>
              <a:r>
                <a:rPr sz="700" dirty="0" err="1">
                  <a:solidFill>
                    <a:srgbClr val="404040"/>
                  </a:solidFill>
                  <a:latin typeface="맑은 고딕"/>
                  <a:ea typeface="맑은 고딕"/>
                </a:rPr>
                <a:t>추세</a:t>
              </a:r>
              <a:r>
                <a:rPr sz="700" dirty="0">
                  <a:solidFill>
                    <a:srgbClr val="404040"/>
                  </a:solidFill>
                  <a:latin typeface="맑은 고딕"/>
                  <a:ea typeface="맑은 고딕"/>
                </a:rPr>
                <a:t> </a:t>
              </a:r>
              <a:r>
                <a:rPr sz="700" dirty="0" err="1">
                  <a:solidFill>
                    <a:srgbClr val="404040"/>
                  </a:solidFill>
                  <a:latin typeface="맑은 고딕"/>
                  <a:ea typeface="맑은 고딕"/>
                </a:rPr>
                <a:t>판단</a:t>
              </a:r>
              <a:endParaRPr sz="700" dirty="0">
                <a:solidFill>
                  <a:srgbClr val="404040"/>
                </a:solidFill>
                <a:latin typeface="맑은 고딕"/>
                <a:ea typeface="맑은 고딕"/>
              </a:endParaRPr>
            </a:p>
          </p:txBody>
        </p:sp>
        <p:sp>
          <p:nvSpPr>
            <p:cNvPr id="361" name="Rectangle 40"/>
            <p:cNvSpPr/>
            <p:nvPr/>
          </p:nvSpPr>
          <p:spPr>
            <a:xfrm>
              <a:off x="3532138"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Affinity Mapper</a:t>
              </a:r>
            </a:p>
            <a:p>
              <a:pPr algn="ctr">
                <a:lnSpc>
                  <a:spcPct val="125000"/>
                </a:lnSpc>
              </a:pPr>
              <a:r>
                <a:rPr sz="700" dirty="0" err="1">
                  <a:solidFill>
                    <a:srgbClr val="404040"/>
                  </a:solidFill>
                  <a:latin typeface="맑은 고딕"/>
                  <a:ea typeface="맑은 고딕"/>
                </a:rPr>
                <a:t>데이터·메모리</a:t>
              </a:r>
              <a:r>
                <a:rPr sz="700" dirty="0">
                  <a:solidFill>
                    <a:srgbClr val="404040"/>
                  </a:solidFill>
                  <a:latin typeface="맑은 고딕"/>
                  <a:ea typeface="맑은 고딕"/>
                </a:rPr>
                <a:t> </a:t>
              </a:r>
              <a:r>
                <a:rPr sz="700" dirty="0" err="1">
                  <a:solidFill>
                    <a:srgbClr val="404040"/>
                  </a:solidFill>
                  <a:latin typeface="맑은 고딕"/>
                  <a:ea typeface="맑은 고딕"/>
                </a:rPr>
                <a:t>적합도</a:t>
              </a:r>
              <a:endParaRPr sz="700" dirty="0">
                <a:solidFill>
                  <a:srgbClr val="404040"/>
                </a:solidFill>
                <a:latin typeface="맑은 고딕"/>
                <a:ea typeface="맑은 고딕"/>
              </a:endParaRPr>
            </a:p>
          </p:txBody>
        </p:sp>
        <p:sp>
          <p:nvSpPr>
            <p:cNvPr id="362" name="Rectangle 41"/>
            <p:cNvSpPr/>
            <p:nvPr/>
          </p:nvSpPr>
          <p:spPr>
            <a:xfrm>
              <a:off x="4775722" y="4099073"/>
              <a:ext cx="1133856" cy="420624"/>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dirty="0">
                  <a:solidFill>
                    <a:srgbClr val="404040"/>
                  </a:solidFill>
                  <a:latin typeface="맑은 고딕"/>
                  <a:ea typeface="맑은 고딕"/>
                </a:rPr>
                <a:t>Policy Engine</a:t>
              </a:r>
            </a:p>
            <a:p>
              <a:pPr algn="ctr">
                <a:lnSpc>
                  <a:spcPct val="125000"/>
                </a:lnSpc>
              </a:pPr>
              <a:r>
                <a:rPr sz="700" dirty="0" err="1">
                  <a:solidFill>
                    <a:srgbClr val="404040"/>
                  </a:solidFill>
                  <a:latin typeface="맑은 고딕"/>
                  <a:ea typeface="맑은 고딕"/>
                </a:rPr>
                <a:t>이동</a:t>
              </a:r>
              <a:r>
                <a:rPr sz="700" dirty="0">
                  <a:solidFill>
                    <a:srgbClr val="404040"/>
                  </a:solidFill>
                  <a:latin typeface="맑은 고딕"/>
                  <a:ea typeface="맑은 고딕"/>
                </a:rPr>
                <a:t> </a:t>
              </a:r>
              <a:r>
                <a:rPr sz="700" dirty="0" err="1">
                  <a:solidFill>
                    <a:srgbClr val="404040"/>
                  </a:solidFill>
                  <a:latin typeface="맑은 고딕"/>
                  <a:ea typeface="맑은 고딕"/>
                </a:rPr>
                <a:t>명령</a:t>
              </a:r>
              <a:r>
                <a:rPr sz="700" dirty="0">
                  <a:solidFill>
                    <a:srgbClr val="404040"/>
                  </a:solidFill>
                  <a:latin typeface="맑은 고딕"/>
                  <a:ea typeface="맑은 고딕"/>
                </a:rPr>
                <a:t> </a:t>
              </a:r>
              <a:r>
                <a:rPr sz="700" dirty="0" err="1">
                  <a:solidFill>
                    <a:srgbClr val="404040"/>
                  </a:solidFill>
                  <a:latin typeface="맑은 고딕"/>
                  <a:ea typeface="맑은 고딕"/>
                </a:rPr>
                <a:t>확정</a:t>
              </a:r>
              <a:endParaRPr sz="700" dirty="0">
                <a:solidFill>
                  <a:srgbClr val="404040"/>
                </a:solidFill>
                <a:latin typeface="맑은 고딕"/>
                <a:ea typeface="맑은 고딕"/>
              </a:endParaRPr>
            </a:p>
          </p:txBody>
        </p:sp>
        <p:cxnSp>
          <p:nvCxnSpPr>
            <p:cNvPr id="363" name="Connector 42"/>
            <p:cNvCxnSpPr/>
            <p:nvPr/>
          </p:nvCxnSpPr>
          <p:spPr>
            <a:xfrm>
              <a:off x="3422410"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4" name="Connector 43"/>
            <p:cNvCxnSpPr/>
            <p:nvPr/>
          </p:nvCxnSpPr>
          <p:spPr>
            <a:xfrm>
              <a:off x="4665994" y="4309385"/>
              <a:ext cx="109728" cy="0"/>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5" name="Oval 44"/>
            <p:cNvSpPr/>
            <p:nvPr/>
          </p:nvSpPr>
          <p:spPr>
            <a:xfrm>
              <a:off x="3399550" y="423166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②</a:t>
              </a:r>
            </a:p>
          </p:txBody>
        </p:sp>
        <p:sp>
          <p:nvSpPr>
            <p:cNvPr id="367" name="Rectangle 45"/>
            <p:cNvSpPr/>
            <p:nvPr/>
          </p:nvSpPr>
          <p:spPr>
            <a:xfrm>
              <a:off x="2288554" y="4629425"/>
              <a:ext cx="1133856" cy="310896"/>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25000"/>
                </a:lnSpc>
              </a:pPr>
              <a:r>
                <a:rPr sz="800" b="1" i="0" dirty="0">
                  <a:solidFill>
                    <a:srgbClr val="7F5F00"/>
                  </a:solidFill>
                  <a:latin typeface="맑은 고딕"/>
                  <a:ea typeface="맑은 고딕"/>
                </a:rPr>
                <a:t>Threshold Trigger</a:t>
              </a:r>
            </a:p>
            <a:p>
              <a:pPr algn="ctr">
                <a:lnSpc>
                  <a:spcPct val="125000"/>
                </a:lnSpc>
              </a:pPr>
              <a:r>
                <a:rPr sz="650" b="0" i="0" dirty="0" err="1">
                  <a:solidFill>
                    <a:srgbClr val="7F5F00"/>
                  </a:solidFill>
                  <a:latin typeface="맑은 고딕"/>
                  <a:ea typeface="맑은 고딕"/>
                </a:rPr>
                <a:t>임계치</a:t>
              </a:r>
              <a:r>
                <a:rPr sz="650" b="0" i="0" dirty="0">
                  <a:solidFill>
                    <a:srgbClr val="7F5F00"/>
                  </a:solidFill>
                  <a:latin typeface="맑은 고딕"/>
                  <a:ea typeface="맑은 고딕"/>
                </a:rPr>
                <a:t> </a:t>
              </a:r>
              <a:r>
                <a:rPr sz="650" b="0" i="0" dirty="0" err="1">
                  <a:solidFill>
                    <a:srgbClr val="7F5F00"/>
                  </a:solidFill>
                  <a:latin typeface="맑은 고딕"/>
                  <a:ea typeface="맑은 고딕"/>
                </a:rPr>
                <a:t>교차</a:t>
              </a:r>
              <a:r>
                <a:rPr sz="650" b="0" i="0" dirty="0">
                  <a:solidFill>
                    <a:srgbClr val="7F5F00"/>
                  </a:solidFill>
                  <a:latin typeface="맑은 고딕"/>
                  <a:ea typeface="맑은 고딕"/>
                </a:rPr>
                <a:t> 시 </a:t>
              </a:r>
              <a:r>
                <a:rPr sz="650" b="0" i="0" dirty="0" err="1">
                  <a:solidFill>
                    <a:srgbClr val="7F5F00"/>
                  </a:solidFill>
                  <a:latin typeface="맑은 고딕"/>
                  <a:ea typeface="맑은 고딕"/>
                </a:rPr>
                <a:t>판단</a:t>
              </a:r>
              <a:r>
                <a:rPr sz="650" b="0" i="0" dirty="0">
                  <a:solidFill>
                    <a:srgbClr val="7F5F00"/>
                  </a:solidFill>
                  <a:latin typeface="맑은 고딕"/>
                  <a:ea typeface="맑은 고딕"/>
                </a:rPr>
                <a:t> </a:t>
              </a:r>
              <a:r>
                <a:rPr sz="650" b="0" i="0" dirty="0" err="1">
                  <a:solidFill>
                    <a:srgbClr val="7F5F00"/>
                  </a:solidFill>
                  <a:latin typeface="맑은 고딕"/>
                  <a:ea typeface="맑은 고딕"/>
                </a:rPr>
                <a:t>기동</a:t>
              </a:r>
              <a:endParaRPr sz="650" b="0" i="0" dirty="0">
                <a:solidFill>
                  <a:srgbClr val="7F5F00"/>
                </a:solidFill>
                <a:latin typeface="맑은 고딕"/>
                <a:ea typeface="맑은 고딕"/>
              </a:endParaRPr>
            </a:p>
          </p:txBody>
        </p:sp>
        <p:cxnSp>
          <p:nvCxnSpPr>
            <p:cNvPr id="368" name="Connector 46"/>
            <p:cNvCxnSpPr/>
            <p:nvPr/>
          </p:nvCxnSpPr>
          <p:spPr>
            <a:xfrm flipV="1">
              <a:off x="2855482" y="4519697"/>
              <a:ext cx="0" cy="109728"/>
            </a:xfrm>
            <a:prstGeom prst="line">
              <a:avLst/>
            </a:prstGeom>
            <a:ln w="12700">
              <a:solidFill>
                <a:srgbClr val="BF8F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9" name="Oval 47"/>
            <p:cNvSpPr/>
            <p:nvPr/>
          </p:nvSpPr>
          <p:spPr>
            <a:xfrm>
              <a:off x="2942350" y="4496837"/>
              <a:ext cx="155448" cy="155448"/>
            </a:xfrm>
            <a:prstGeom prst="ellipse">
              <a:avLst/>
            </a:prstGeom>
            <a:solidFill>
              <a:srgbClr val="BF8F0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①</a:t>
              </a:r>
            </a:p>
          </p:txBody>
        </p:sp>
        <p:sp>
          <p:nvSpPr>
            <p:cNvPr id="370" name="Rectangle 48"/>
            <p:cNvSpPr/>
            <p:nvPr/>
          </p:nvSpPr>
          <p:spPr>
            <a:xfrm>
              <a:off x="2233690" y="4995185"/>
              <a:ext cx="2523744" cy="694944"/>
            </a:xfrm>
            <a:prstGeom prst="rect">
              <a:avLst/>
            </a:prstGeom>
            <a:noFill/>
            <a:ln w="12700">
              <a:solidFill>
                <a:srgbClr val="BF8F00"/>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71" name="Rectangle 49"/>
            <p:cNvSpPr/>
            <p:nvPr/>
          </p:nvSpPr>
          <p:spPr>
            <a:xfrm>
              <a:off x="2288554" y="5050049"/>
              <a:ext cx="1133856" cy="25603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State Monitor</a:t>
              </a:r>
            </a:p>
          </p:txBody>
        </p:sp>
        <p:sp>
          <p:nvSpPr>
            <p:cNvPr id="372" name="Rectangle 50"/>
            <p:cNvSpPr/>
            <p:nvPr/>
          </p:nvSpPr>
          <p:spPr>
            <a:xfrm>
              <a:off x="2288554" y="5360945"/>
              <a:ext cx="1133856" cy="25603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a:solidFill>
                    <a:srgbClr val="404040"/>
                  </a:solidFill>
                  <a:latin typeface="맑은 고딕"/>
                  <a:ea typeface="맑은 고딕"/>
                </a:rPr>
                <a:t>Telemetry Collector</a:t>
              </a:r>
            </a:p>
          </p:txBody>
        </p:sp>
        <p:sp>
          <p:nvSpPr>
            <p:cNvPr id="373" name="Rectangle 51"/>
            <p:cNvSpPr/>
            <p:nvPr/>
          </p:nvSpPr>
          <p:spPr>
            <a:xfrm>
              <a:off x="3550426" y="5104913"/>
              <a:ext cx="1133856" cy="34747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0" i="0" dirty="0" err="1">
                  <a:solidFill>
                    <a:srgbClr val="404040"/>
                  </a:solidFill>
                  <a:latin typeface="맑은 고딕"/>
                  <a:ea typeface="맑은 고딕"/>
                </a:rPr>
                <a:t>Memory·Data</a:t>
              </a:r>
              <a:endParaRPr sz="800" b="0" i="0" dirty="0">
                <a:solidFill>
                  <a:srgbClr val="404040"/>
                </a:solidFill>
                <a:latin typeface="맑은 고딕"/>
                <a:ea typeface="맑은 고딕"/>
              </a:endParaRPr>
            </a:p>
            <a:p>
              <a:pPr algn="ctr">
                <a:lnSpc>
                  <a:spcPct val="95000"/>
                </a:lnSpc>
              </a:pPr>
              <a:r>
                <a:rPr sz="800" b="0" i="0" dirty="0">
                  <a:solidFill>
                    <a:srgbClr val="404040"/>
                  </a:solidFill>
                  <a:latin typeface="맑은 고딕"/>
                  <a:ea typeface="맑은 고딕"/>
                </a:rPr>
                <a:t>Object Registry</a:t>
              </a:r>
            </a:p>
          </p:txBody>
        </p:sp>
        <p:sp>
          <p:nvSpPr>
            <p:cNvPr id="374" name="TextBox 373"/>
            <p:cNvSpPr txBox="1"/>
            <p:nvPr/>
          </p:nvSpPr>
          <p:spPr>
            <a:xfrm>
              <a:off x="3550426" y="5488961"/>
              <a:ext cx="1133856" cy="137160"/>
            </a:xfrm>
            <a:prstGeom prst="rect">
              <a:avLst/>
            </a:prstGeom>
            <a:noFill/>
          </p:spPr>
          <p:txBody>
            <a:bodyPr wrap="square" lIns="0" tIns="0" rIns="0" bIns="0" anchor="ctr">
              <a:spAutoFit/>
            </a:bodyPr>
            <a:lstStyle/>
            <a:p>
              <a:pPr algn="ctr"/>
              <a:r>
                <a:rPr sz="620" b="1" i="0">
                  <a:solidFill>
                    <a:srgbClr val="7F5F00"/>
                  </a:solidFill>
                  <a:latin typeface="맑은 고딕"/>
                  <a:ea typeface="맑은 고딕"/>
                </a:rPr>
                <a:t>State Lock Manager</a:t>
              </a:r>
            </a:p>
          </p:txBody>
        </p:sp>
        <p:cxnSp>
          <p:nvCxnSpPr>
            <p:cNvPr id="375" name="Connector 53"/>
            <p:cNvCxnSpPr/>
            <p:nvPr/>
          </p:nvCxnSpPr>
          <p:spPr>
            <a:xfrm flipV="1">
              <a:off x="2855482" y="5306081"/>
              <a:ext cx="0" cy="5486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6" name="Connector 54"/>
            <p:cNvCxnSpPr/>
            <p:nvPr/>
          </p:nvCxnSpPr>
          <p:spPr>
            <a:xfrm flipV="1">
              <a:off x="2855482" y="4940321"/>
              <a:ext cx="0" cy="10972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7" name="Connector 55"/>
            <p:cNvCxnSpPr/>
            <p:nvPr/>
          </p:nvCxnSpPr>
          <p:spPr>
            <a:xfrm flipV="1">
              <a:off x="4117354" y="4519697"/>
              <a:ext cx="0" cy="585216"/>
            </a:xfrm>
            <a:prstGeom prst="line">
              <a:avLst/>
            </a:prstGeom>
            <a:ln w="12700">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8" name="Oval 56"/>
            <p:cNvSpPr/>
            <p:nvPr/>
          </p:nvSpPr>
          <p:spPr>
            <a:xfrm>
              <a:off x="4204222" y="4734581"/>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③</a:t>
              </a:r>
            </a:p>
          </p:txBody>
        </p:sp>
        <p:sp>
          <p:nvSpPr>
            <p:cNvPr id="379" name="Rectangle 57"/>
            <p:cNvSpPr/>
            <p:nvPr/>
          </p:nvSpPr>
          <p:spPr>
            <a:xfrm>
              <a:off x="4190506" y="5854721"/>
              <a:ext cx="2907792" cy="713232"/>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80" name="TextBox 379"/>
            <p:cNvSpPr txBox="1"/>
            <p:nvPr/>
          </p:nvSpPr>
          <p:spPr>
            <a:xfrm>
              <a:off x="4190506" y="5891297"/>
              <a:ext cx="2907792" cy="182880"/>
            </a:xfrm>
            <a:prstGeom prst="rect">
              <a:avLst/>
            </a:prstGeom>
            <a:noFill/>
          </p:spPr>
          <p:txBody>
            <a:bodyPr wrap="square" lIns="0" tIns="0" rIns="0" bIns="0" anchor="ctr">
              <a:spAutoFit/>
            </a:bodyPr>
            <a:lstStyle/>
            <a:p>
              <a:pPr algn="ctr"/>
              <a:r>
                <a:rPr sz="900" b="1" i="0">
                  <a:solidFill>
                    <a:srgbClr val="1F4E79"/>
                  </a:solidFill>
                  <a:latin typeface="맑은 고딕"/>
                  <a:ea typeface="맑은 고딕"/>
                </a:rPr>
                <a:t>Data Plane</a:t>
              </a:r>
            </a:p>
          </p:txBody>
        </p:sp>
        <p:sp>
          <p:nvSpPr>
            <p:cNvPr id="381" name="Rectangle 59"/>
            <p:cNvSpPr/>
            <p:nvPr/>
          </p:nvSpPr>
          <p:spPr>
            <a:xfrm>
              <a:off x="4300234" y="6092465"/>
              <a:ext cx="2688336" cy="228600"/>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50" b="0" i="0">
                  <a:solidFill>
                    <a:srgbClr val="404040"/>
                  </a:solidFill>
                  <a:latin typeface="맑은 고딕"/>
                  <a:ea typeface="맑은 고딕"/>
                </a:rPr>
                <a:t>Migration Executor</a:t>
              </a:r>
            </a:p>
          </p:txBody>
        </p:sp>
        <p:sp>
          <p:nvSpPr>
            <p:cNvPr id="382" name="Rectangle 60"/>
            <p:cNvSpPr/>
            <p:nvPr/>
          </p:nvSpPr>
          <p:spPr>
            <a:xfrm>
              <a:off x="4300234" y="6330209"/>
              <a:ext cx="2688336" cy="21031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Transfer Handler  (Background DMA)</a:t>
              </a:r>
            </a:p>
          </p:txBody>
        </p:sp>
        <p:cxnSp>
          <p:nvCxnSpPr>
            <p:cNvPr id="383" name="Connector 61"/>
            <p:cNvCxnSpPr/>
            <p:nvPr/>
          </p:nvCxnSpPr>
          <p:spPr>
            <a:xfrm>
              <a:off x="5644402" y="6321065"/>
              <a:ext cx="0" cy="9144"/>
            </a:xfrm>
            <a:prstGeom prst="line">
              <a:avLst/>
            </a:prstGeom>
            <a:ln w="127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4" name="Oval 62"/>
            <p:cNvSpPr/>
            <p:nvPr/>
          </p:nvSpPr>
          <p:spPr>
            <a:xfrm>
              <a:off x="5731270" y="62524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⑥</a:t>
              </a:r>
            </a:p>
          </p:txBody>
        </p:sp>
        <p:cxnSp>
          <p:nvCxnSpPr>
            <p:cNvPr id="385" name="Connector 63"/>
            <p:cNvCxnSpPr/>
            <p:nvPr/>
          </p:nvCxnSpPr>
          <p:spPr>
            <a:xfrm>
              <a:off x="5342650" y="4519697"/>
              <a:ext cx="0" cy="1335024"/>
            </a:xfrm>
            <a:prstGeom prst="line">
              <a:avLst/>
            </a:prstGeom>
            <a:ln w="12700">
              <a:solidFill>
                <a:srgbClr val="2E75B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6" name="Oval 64"/>
            <p:cNvSpPr/>
            <p:nvPr/>
          </p:nvSpPr>
          <p:spPr>
            <a:xfrm>
              <a:off x="5429518" y="5155205"/>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④</a:t>
              </a:r>
            </a:p>
          </p:txBody>
        </p:sp>
        <p:cxnSp>
          <p:nvCxnSpPr>
            <p:cNvPr id="387" name="Connector 65"/>
            <p:cNvCxnSpPr/>
            <p:nvPr/>
          </p:nvCxnSpPr>
          <p:spPr>
            <a:xfrm flipH="1">
              <a:off x="4117354" y="6202193"/>
              <a:ext cx="18288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388" name="Connector 66"/>
            <p:cNvCxnSpPr/>
            <p:nvPr/>
          </p:nvCxnSpPr>
          <p:spPr>
            <a:xfrm flipV="1">
              <a:off x="4117354" y="5452385"/>
              <a:ext cx="0" cy="749808"/>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9" name="Oval 67"/>
            <p:cNvSpPr/>
            <p:nvPr/>
          </p:nvSpPr>
          <p:spPr>
            <a:xfrm>
              <a:off x="3875038" y="5795284"/>
              <a:ext cx="155448" cy="15544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50" b="1" i="0">
                  <a:solidFill>
                    <a:srgbClr val="FFFFFF"/>
                  </a:solidFill>
                  <a:latin typeface="맑은 고딕"/>
                  <a:ea typeface="맑은 고딕"/>
                </a:rPr>
                <a:t>⑤</a:t>
              </a:r>
            </a:p>
          </p:txBody>
        </p:sp>
        <p:sp>
          <p:nvSpPr>
            <p:cNvPr id="390" name="Rectangle 68"/>
            <p:cNvSpPr/>
            <p:nvPr/>
          </p:nvSpPr>
          <p:spPr>
            <a:xfrm>
              <a:off x="2178826" y="5982737"/>
              <a:ext cx="1920240" cy="237744"/>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b="1" i="0">
                  <a:solidFill>
                    <a:srgbClr val="FFFFFF"/>
                  </a:solidFill>
                  <a:latin typeface="맑은 고딕"/>
                  <a:ea typeface="맑은 고딕"/>
                </a:rPr>
                <a:t>Common Memory Backend Interface</a:t>
              </a:r>
            </a:p>
          </p:txBody>
        </p:sp>
        <p:cxnSp>
          <p:nvCxnSpPr>
            <p:cNvPr id="391" name="Connector 69"/>
            <p:cNvCxnSpPr/>
            <p:nvPr/>
          </p:nvCxnSpPr>
          <p:spPr>
            <a:xfrm flipV="1">
              <a:off x="2855482" y="5616977"/>
              <a:ext cx="0" cy="36576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7" name="그룹 6"/>
          <p:cNvGrpSpPr/>
          <p:nvPr/>
        </p:nvGrpSpPr>
        <p:grpSpPr>
          <a:xfrm>
            <a:off x="311665" y="3341561"/>
            <a:ext cx="768096" cy="1115568"/>
            <a:chOff x="292545" y="3435232"/>
            <a:chExt cx="768096" cy="1115568"/>
          </a:xfrm>
        </p:grpSpPr>
        <p:sp>
          <p:nvSpPr>
            <p:cNvPr id="392" name="Rectangle 28"/>
            <p:cNvSpPr/>
            <p:nvPr/>
          </p:nvSpPr>
          <p:spPr>
            <a:xfrm>
              <a:off x="292545" y="3435232"/>
              <a:ext cx="768096" cy="1115568"/>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endParaRPr/>
            </a:p>
          </p:txBody>
        </p:sp>
        <p:sp>
          <p:nvSpPr>
            <p:cNvPr id="393" name="TextBox 392"/>
            <p:cNvSpPr txBox="1"/>
            <p:nvPr/>
          </p:nvSpPr>
          <p:spPr>
            <a:xfrm>
              <a:off x="319977" y="3480952"/>
              <a:ext cx="713232" cy="146304"/>
            </a:xfrm>
            <a:prstGeom prst="rect">
              <a:avLst/>
            </a:prstGeom>
            <a:noFill/>
          </p:spPr>
          <p:txBody>
            <a:bodyPr wrap="square" lIns="0" tIns="0" rIns="0" bIns="0" anchor="ctr">
              <a:spAutoFit/>
            </a:bodyPr>
            <a:lstStyle/>
            <a:p>
              <a:pPr algn="ctr"/>
              <a:r>
                <a:rPr sz="800" b="1" i="0">
                  <a:solidFill>
                    <a:srgbClr val="404040"/>
                  </a:solidFill>
                  <a:latin typeface="맑은 고딕"/>
                  <a:ea typeface="맑은 고딕"/>
                </a:rPr>
                <a:t>Legend</a:t>
              </a:r>
            </a:p>
          </p:txBody>
        </p:sp>
        <p:sp>
          <p:nvSpPr>
            <p:cNvPr id="394" name="Rectangle 30"/>
            <p:cNvSpPr/>
            <p:nvPr/>
          </p:nvSpPr>
          <p:spPr>
            <a:xfrm>
              <a:off x="319977" y="3672976"/>
              <a:ext cx="713232" cy="187452"/>
            </a:xfrm>
            <a:prstGeom prst="rect">
              <a:avLst/>
            </a:prstGeom>
            <a:solidFill>
              <a:srgbClr val="FFFFFF"/>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DP 설계 모듈</a:t>
              </a:r>
            </a:p>
          </p:txBody>
        </p:sp>
        <p:sp>
          <p:nvSpPr>
            <p:cNvPr id="395" name="Rectangle 31"/>
            <p:cNvSpPr/>
            <p:nvPr/>
          </p:nvSpPr>
          <p:spPr>
            <a:xfrm>
              <a:off x="319977" y="3887860"/>
              <a:ext cx="713232" cy="187452"/>
            </a:xfrm>
            <a:prstGeom prst="rect">
              <a:avLst/>
            </a:prstGeom>
            <a:solidFill>
              <a:srgbClr val="FFF2CC"/>
            </a:solidFill>
            <a:ln w="9525">
              <a:solidFill>
                <a:srgbClr val="BF8F00"/>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7F5F00"/>
                  </a:solidFill>
                  <a:latin typeface="맑은 고딕"/>
                  <a:ea typeface="맑은 고딕"/>
                </a:rPr>
                <a:t>후보 특화 모듈</a:t>
              </a:r>
            </a:p>
          </p:txBody>
        </p:sp>
        <p:sp>
          <p:nvSpPr>
            <p:cNvPr id="396" name="Rectangle 32"/>
            <p:cNvSpPr/>
            <p:nvPr/>
          </p:nvSpPr>
          <p:spPr>
            <a:xfrm>
              <a:off x="319977" y="4102744"/>
              <a:ext cx="713232" cy="187452"/>
            </a:xfrm>
            <a:prstGeom prst="rect">
              <a:avLst/>
            </a:prstGeom>
            <a:solidFill>
              <a:srgbClr val="D9D9D9"/>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404040"/>
                  </a:solidFill>
                  <a:latin typeface="맑은 고딕"/>
                  <a:ea typeface="맑은 고딕"/>
                </a:rPr>
                <a:t>공통 모듈</a:t>
              </a:r>
            </a:p>
          </p:txBody>
        </p:sp>
        <p:sp>
          <p:nvSpPr>
            <p:cNvPr id="397" name="Rectangle 33"/>
            <p:cNvSpPr/>
            <p:nvPr/>
          </p:nvSpPr>
          <p:spPr>
            <a:xfrm>
              <a:off x="319977" y="4317627"/>
              <a:ext cx="713232" cy="187452"/>
            </a:xfrm>
            <a:prstGeom prst="rect">
              <a:avLst/>
            </a:prstGeom>
            <a:solidFill>
              <a:srgbClr val="595959"/>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700" b="0" i="0">
                  <a:solidFill>
                    <a:srgbClr val="FFFFFF"/>
                  </a:solidFill>
                  <a:latin typeface="맑은 고딕"/>
                  <a:ea typeface="맑은 고딕"/>
                </a:rPr>
                <a:t>Device SW I/F</a:t>
              </a:r>
            </a:p>
          </p:txBody>
        </p:sp>
      </p:grpSp>
      <p:sp>
        <p:nvSpPr>
          <p:cNvPr id="6" name="TextBox 5"/>
          <p:cNvSpPr txBox="1"/>
          <p:nvPr/>
        </p:nvSpPr>
        <p:spPr>
          <a:xfrm>
            <a:off x="7746999" y="6212308"/>
            <a:ext cx="2935621" cy="215444"/>
          </a:xfrm>
          <a:prstGeom prst="rect">
            <a:avLst/>
          </a:prstGeom>
          <a:noFill/>
        </p:spPr>
        <p:txBody>
          <a:bodyPr wrap="square" rtlCol="0">
            <a:spAutoFit/>
          </a:bodyPr>
          <a:lstStyle/>
          <a:p>
            <a:r>
              <a:rPr lang="ko-KR" altLang="en-US" sz="800" dirty="0">
                <a:solidFill>
                  <a:srgbClr val="0000FF"/>
                </a:solidFill>
              </a:rPr>
              <a:t>새 메모리 추가</a:t>
            </a:r>
            <a:r>
              <a:rPr lang="en-US" altLang="ko-KR" sz="800" dirty="0">
                <a:solidFill>
                  <a:srgbClr val="0000FF"/>
                </a:solidFill>
              </a:rPr>
              <a:t>, </a:t>
            </a:r>
            <a:r>
              <a:rPr lang="ko-KR" altLang="en-US" sz="800" dirty="0">
                <a:solidFill>
                  <a:srgbClr val="0000FF"/>
                </a:solidFill>
              </a:rPr>
              <a:t>이동 정책</a:t>
            </a:r>
            <a:r>
              <a:rPr lang="en-US" altLang="ko-KR" sz="800" dirty="0">
                <a:solidFill>
                  <a:srgbClr val="0000FF"/>
                </a:solidFill>
              </a:rPr>
              <a:t> </a:t>
            </a:r>
            <a:r>
              <a:rPr lang="ko-KR" altLang="en-US" sz="800" dirty="0">
                <a:solidFill>
                  <a:srgbClr val="0000FF"/>
                </a:solidFill>
              </a:rPr>
              <a:t>변경에 따른 변경 비용차 적음</a:t>
            </a:r>
          </a:p>
        </p:txBody>
      </p:sp>
      <p:sp>
        <p:nvSpPr>
          <p:cNvPr id="113" name="모서리가 둥근 직사각형 112"/>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398" name="legend_v4"/>
          <p:cNvSpPr txBox="1"/>
          <p:nvPr/>
        </p:nvSpPr>
        <p:spPr>
          <a:xfrm>
            <a:off x="566928" y="6583680"/>
            <a:ext cx="3931920" cy="256032"/>
          </a:xfrm>
          <a:prstGeom prst="rect">
            <a:avLst/>
          </a:prstGeom>
          <a:noFill/>
        </p:spPr>
        <p:txBody>
          <a:bodyPr wrap="square" lIns="18288" tIns="0" rIns="18288" bIns="0" anchor="t">
            <a:spAutoFit/>
          </a:bodyPr>
          <a:lstStyle/>
          <a:p>
            <a:pPr algn="l">
              <a:lnSpc>
                <a:spcPct val="95000"/>
              </a:lnSpc>
              <a:spcAft>
                <a:spcPts val="0"/>
              </a:spcAft>
            </a:pPr>
            <a:r>
              <a:rPr sz="630" b="0">
                <a:solidFill>
                  <a:srgbClr val="595959"/>
                </a:solidFill>
                <a:latin typeface="맑은 고딕"/>
                <a:ea typeface="맑은 고딕"/>
              </a:rPr>
              <a:t>작은 수치 = B1(정적 offload) → 후보의 이론 예상값(분석 모델, 시뮬레이션 아님)과 개선율. </a:t>
            </a:r>
            <a:r>
              <a:rPr sz="630" b="0">
                <a:solidFill>
                  <a:srgbClr val="0000FF"/>
                </a:solidFill>
                <a:latin typeface="맑은 고딕"/>
                <a:ea typeface="맑은 고딕"/>
              </a:rPr>
              <a:t>파란 글씨 = 소유자 별 대비 코멘트.</a:t>
            </a:r>
          </a:p>
        </p:txBody>
      </p:sp>
    </p:spTree>
    <p:extLst>
      <p:ext uri="{BB962C8B-B14F-4D97-AF65-F5344CB8AC3E}">
        <p14:creationId xmlns:p14="http://schemas.microsoft.com/office/powerpoint/2010/main" val="2715811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304992" y="1061955"/>
          <a:ext cx="11759184" cy="551439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840480">
                  <a:extLst>
                    <a:ext uri="{9D8B030D-6E8A-4147-A177-3AD203B41FA5}">
                      <a16:colId xmlns:a16="http://schemas.microsoft.com/office/drawing/2014/main" val="5654497"/>
                    </a:ext>
                  </a:extLst>
                </a:gridCol>
                <a:gridCol w="1600200">
                  <a:extLst>
                    <a:ext uri="{9D8B030D-6E8A-4147-A177-3AD203B41FA5}">
                      <a16:colId xmlns:a16="http://schemas.microsoft.com/office/drawing/2014/main" val="2953438935"/>
                    </a:ext>
                  </a:extLst>
                </a:gridCol>
                <a:gridCol w="3840480">
                  <a:extLst>
                    <a:ext uri="{9D8B030D-6E8A-4147-A177-3AD203B41FA5}">
                      <a16:colId xmlns:a16="http://schemas.microsoft.com/office/drawing/2014/main" val="3070054508"/>
                    </a:ext>
                  </a:extLst>
                </a:gridCol>
                <a:gridCol w="1600200">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(Plan + Decision</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동시 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(Plan, Decision </a:t>
                      </a:r>
                      <a:r>
                        <a:rPr lang="ko-KR" altLang="en-US" sz="1050" b="1" kern="1200" baseline="0" dirty="0">
                          <a:solidFill>
                            <a:schemeClr val="bg1">
                              <a:lumMod val="50000"/>
                            </a:schemeClr>
                          </a:solidFill>
                          <a:latin typeface="+mn-lt"/>
                          <a:ea typeface="+mn-ea"/>
                          <a:cs typeface="+mn-cs"/>
                        </a:rPr>
                        <a:t>분리 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실시간 부하</a:t>
                      </a:r>
                      <a:r>
                        <a:rPr lang="en-US" altLang="ko-KR" sz="1200" strike="noStrike" dirty="0">
                          <a:solidFill>
                            <a:schemeClr val="tx1"/>
                          </a:solidFill>
                          <a:effectLst/>
                          <a:latin typeface="맑은 고딕" panose="020B0503020000020004" pitchFamily="50" charset="-127"/>
                          <a:ea typeface="+mn-ea"/>
                        </a:rPr>
                        <a:t>∙</a:t>
                      </a:r>
                      <a:r>
                        <a:rPr lang="ko-KR" altLang="en-US" sz="1200" strike="noStrike" kern="1200" baseline="0" dirty="0">
                          <a:solidFill>
                            <a:schemeClr val="tx1"/>
                          </a:solidFill>
                          <a:effectLst/>
                          <a:latin typeface="+mn-lt"/>
                          <a:ea typeface="+mn-ea"/>
                          <a:cs typeface="+mn-cs"/>
                        </a:rPr>
                        <a:t>리소스 상태를 반영하여 메모리 압력에 대응하기 유리 </a:t>
                      </a:r>
                      <a:r>
                        <a:rPr lang="en-US" altLang="ko-KR" sz="1200" strike="noStrike" kern="1200" baseline="0" dirty="0">
                          <a:solidFill>
                            <a:schemeClr val="tx1"/>
                          </a:solidFill>
                          <a:effectLst/>
                          <a:latin typeface="+mn-lt"/>
                          <a:ea typeface="+mn-ea"/>
                          <a:cs typeface="+mn-cs"/>
                        </a:rPr>
                        <a:t>(Q2)</a:t>
                      </a:r>
                      <a:endParaRPr lang="ko-KR" altLang="en-US"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계획 확정 후 즉시 실행하여</a:t>
                      </a:r>
                      <a:r>
                        <a:rPr lang="en-US" altLang="ko-KR" sz="1200" strike="noStrike" kern="1200" baseline="0" dirty="0">
                          <a:solidFill>
                            <a:schemeClr val="tx1"/>
                          </a:solidFill>
                          <a:effectLst/>
                          <a:latin typeface="+mn-lt"/>
                          <a:ea typeface="+mn-ea"/>
                          <a:cs typeface="+mn-cs"/>
                        </a:rPr>
                        <a:t> tail latency </a:t>
                      </a:r>
                      <a:r>
                        <a:rPr lang="ko-KR" altLang="en-US" sz="1200" strike="noStrike" kern="1200" baseline="0" dirty="0">
                          <a:solidFill>
                            <a:schemeClr val="tx1"/>
                          </a:solidFill>
                          <a:effectLst/>
                          <a:latin typeface="+mn-lt"/>
                          <a:ea typeface="+mn-ea"/>
                          <a:cs typeface="+mn-cs"/>
                        </a:rPr>
                        <a:t>완화 </a:t>
                      </a:r>
                      <a:r>
                        <a:rPr lang="en-US" altLang="ko-KR" sz="1200" strike="noStrike" kern="1200" baseline="0" dirty="0">
                          <a:solidFill>
                            <a:schemeClr val="tx1"/>
                          </a:solidFill>
                          <a:effectLst/>
                          <a:latin typeface="+mn-lt"/>
                          <a:ea typeface="+mn-ea"/>
                          <a:cs typeface="+mn-cs"/>
                        </a:rPr>
                        <a:t>(Q3)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연산 위치 결정을 </a:t>
                      </a:r>
                      <a:r>
                        <a:rPr lang="en-US" altLang="ko-KR" sz="1200" strike="noStrike" dirty="0">
                          <a:solidFill>
                            <a:schemeClr val="tx1"/>
                          </a:solidFill>
                          <a:effectLst/>
                        </a:rPr>
                        <a:t>critical path </a:t>
                      </a:r>
                      <a:r>
                        <a:rPr lang="ko-KR" altLang="en-US" sz="1200" strike="noStrike" dirty="0">
                          <a:solidFill>
                            <a:schemeClr val="tx1"/>
                          </a:solidFill>
                          <a:effectLst/>
                        </a:rPr>
                        <a:t>밖으로 분리하여 </a:t>
                      </a:r>
                      <a:r>
                        <a:rPr lang="en-US" altLang="ko-KR" sz="1200" strike="noStrike" dirty="0">
                          <a:solidFill>
                            <a:schemeClr val="tx1"/>
                          </a:solidFill>
                          <a:effectLst/>
                        </a:rPr>
                        <a:t>latency </a:t>
                      </a:r>
                      <a:r>
                        <a:rPr lang="ko-KR" altLang="en-US" sz="1200" strike="noStrike" dirty="0">
                          <a:solidFill>
                            <a:schemeClr val="tx1"/>
                          </a:solidFill>
                          <a:effectLst/>
                        </a:rPr>
                        <a:t>절감 </a:t>
                      </a:r>
                      <a:r>
                        <a:rPr lang="en-US" altLang="ko-KR" sz="1200" strike="noStrike"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연산 자원 증가 시 계획 </a:t>
                      </a:r>
                      <a:r>
                        <a:rPr lang="en-US" altLang="ko-KR" sz="1200" strike="noStrike" dirty="0">
                          <a:solidFill>
                            <a:schemeClr val="tx1"/>
                          </a:solidFill>
                          <a:effectLst/>
                        </a:rPr>
                        <a:t>worker, batch evaluation </a:t>
                      </a:r>
                      <a:r>
                        <a:rPr lang="ko-KR" altLang="en-US" sz="1200" strike="noStrike" dirty="0">
                          <a:solidFill>
                            <a:schemeClr val="tx1"/>
                          </a:solidFill>
                          <a:effectLst/>
                        </a:rPr>
                        <a:t>등으로 계획 컴포넌트를 독립 확장 가능 </a:t>
                      </a:r>
                      <a:r>
                        <a:rPr lang="en-US" altLang="ko-KR" sz="1200" strike="noStrike" dirty="0">
                          <a:solidFill>
                            <a:schemeClr val="tx1"/>
                          </a:solidFill>
                          <a:effectLst/>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위치에 인한 </a:t>
                      </a:r>
                      <a:r>
                        <a:rPr lang="en-US" altLang="ko-KR" sz="1200" strike="noStrike" baseline="0" dirty="0">
                          <a:solidFill>
                            <a:schemeClr val="tx1"/>
                          </a:solidFill>
                          <a:effectLst/>
                        </a:rPr>
                        <a:t>decision latency</a:t>
                      </a:r>
                      <a:r>
                        <a:rPr lang="ko-KR" altLang="en-US" sz="1200" strike="noStrike" baseline="0" dirty="0">
                          <a:solidFill>
                            <a:schemeClr val="tx1"/>
                          </a:solidFill>
                          <a:effectLst/>
                        </a:rPr>
                        <a:t>가 </a:t>
                      </a:r>
                      <a:r>
                        <a:rPr lang="en-US" altLang="ko-KR" sz="1200" strike="noStrike" baseline="0" dirty="0">
                          <a:solidFill>
                            <a:schemeClr val="tx1"/>
                          </a:solidFill>
                          <a:effectLst/>
                        </a:rPr>
                        <a:t>critical path</a:t>
                      </a:r>
                      <a:r>
                        <a:rPr lang="ko-KR" altLang="en-US" sz="1200" strike="noStrike" baseline="0" dirty="0">
                          <a:solidFill>
                            <a:schemeClr val="tx1"/>
                          </a:solidFill>
                          <a:effectLst/>
                        </a:rPr>
                        <a:t>에 포함 </a:t>
                      </a:r>
                      <a:r>
                        <a:rPr lang="en-US" altLang="ko-KR" sz="1200" strike="noStrike" baseline="0" dirty="0">
                          <a:solidFill>
                            <a:schemeClr val="tx1"/>
                          </a:solidFill>
                          <a:effectLst/>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자원 종류 증가 시 </a:t>
                      </a:r>
                      <a:r>
                        <a:rPr lang="en-US" altLang="ko-KR" sz="1200" strike="noStrike" baseline="0" dirty="0">
                          <a:solidFill>
                            <a:schemeClr val="tx1"/>
                          </a:solidFill>
                          <a:effectLst/>
                        </a:rPr>
                        <a:t>monitoring </a:t>
                      </a:r>
                      <a:r>
                        <a:rPr lang="ko-KR" altLang="en-US" sz="1200" strike="noStrike" baseline="0" dirty="0">
                          <a:solidFill>
                            <a:schemeClr val="tx1"/>
                          </a:solidFill>
                          <a:effectLst/>
                        </a:rPr>
                        <a:t>비용이 증가 해 스케줄링 병목 위험 </a:t>
                      </a:r>
                      <a:r>
                        <a:rPr lang="en-US" altLang="ko-KR" sz="1200" strike="noStrike" baseline="0" dirty="0">
                          <a:solidFill>
                            <a:schemeClr val="tx1"/>
                          </a:solidFill>
                          <a:effectLst/>
                        </a:rPr>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대규모 고부하 시 계획·실행 상태 Mismatch로 Re-plan 발생 높음 </a:t>
                      </a:r>
                      <a:r>
                        <a:rPr lang="en-US" altLang="ko-KR" sz="1200" strike="noStrike" baseline="0" dirty="0">
                          <a:solidFill>
                            <a:schemeClr val="tx1"/>
                          </a:solidFill>
                          <a:effectLst/>
                        </a:rPr>
                        <a:t>(Q3)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endParaRPr lang="en-US" altLang="ko-KR" sz="1000" b="0" strike="noStrike" dirty="0">
                        <a:solidFill>
                          <a:schemeClr val="tx1"/>
                        </a:solidFill>
                      </a:endParaRPr>
                    </a:p>
                    <a:p>
                      <a:pPr marL="0" indent="0" latinLnBrk="1">
                        <a:lnSpc>
                          <a:spcPct val="100000"/>
                        </a:lnSpc>
                        <a:buFont typeface="Wingdings" panose="05000000000000000000" pitchFamily="2" charset="2"/>
                        <a:buNone/>
                      </a:pPr>
                      <a:r>
                        <a:rPr lang="en-US" altLang="ko-KR" sz="1200" b="0" strike="noStrike" dirty="0">
                          <a:solidFill>
                            <a:schemeClr val="tx1"/>
                          </a:solidFill>
                        </a:rPr>
                        <a:t>Q2.</a:t>
                      </a:r>
                      <a:r>
                        <a:rPr lang="en-US" altLang="ko-KR" sz="1200" b="0" strike="noStrike" baseline="0" dirty="0">
                          <a:solidFill>
                            <a:schemeClr val="tx1"/>
                          </a:solidFill>
                        </a:rPr>
                        <a:t> </a:t>
                      </a:r>
                      <a:r>
                        <a:rPr lang="en-US" altLang="ko-KR" sz="1200" b="0" strike="noStrike" dirty="0">
                          <a:solidFill>
                            <a:schemeClr val="tx1"/>
                          </a:solidFill>
                        </a:rPr>
                        <a:t>Resource Efficiency</a:t>
                      </a:r>
                      <a:r>
                        <a:rPr sz="750" b="0">
                          <a:solidFill>
                            <a:srgbClr val="0000FF"/>
                          </a:solidFill>
                          <a:latin typeface="맑은 고딕"/>
                          <a:ea typeface="맑은 고딕"/>
                        </a:rPr>
                        <a:t>   ▸ 예상보다 낮음</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r>
                        <a:rPr sz="750" b="0">
                          <a:solidFill>
                            <a:srgbClr val="0000FF"/>
                          </a:solidFill>
                          <a:latin typeface="맑은 고딕"/>
                          <a:ea typeface="맑은 고딕"/>
                        </a:rPr>
                        <a:t>   ▸ 예상보다 낮음</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r>
                        <a:rPr sz="750" b="0">
                          <a:solidFill>
                            <a:srgbClr val="0000FF"/>
                          </a:solidFill>
                          <a:latin typeface="맑은 고딕"/>
                          <a:ea typeface="맑은 고딕"/>
                        </a:rPr>
                        <a:t>   ▸ 예상보다 낮음</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sz="630" b="0">
                          <a:solidFill>
                            <a:srgbClr val="404040"/>
                          </a:solidFill>
                          <a:latin typeface="맑은 고딕"/>
                          <a:ea typeface="맑은 고딕"/>
                        </a:rPr>
                        <a:t> 1,573→1,981 tok/s (+26%)</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850→722 GiB (−15%)</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TTFT 1.9→1.2 s (−36%)</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  </a:t>
                      </a:r>
                      <a:r>
                        <a:rPr sz="630" b="0">
                          <a:solidFill>
                            <a:srgbClr val="404040"/>
                          </a:solidFill>
                          <a:latin typeface="맑은 고딕"/>
                          <a:ea typeface="맑은 고딕"/>
                        </a:rPr>
                        <a:t> SE 98→51%</a:t>
                      </a:r>
                      <a:endParaRPr lang="en-US" altLang="ko-KR" sz="1200" b="0" dirty="0">
                        <a:solidFill>
                          <a:schemeClr val="tx1"/>
                        </a:solidFill>
                        <a:latin typeface="+mn-lt"/>
                        <a:ea typeface="맑은 고딕"/>
                      </a:endParaRPr>
                    </a:p>
                  </a:txBody>
                  <a:tcPr anchor="ctr" marR="0">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Q2. Resource Efficiency</a:t>
                      </a:r>
                      <a:r>
                        <a:rPr sz="750" b="0">
                          <a:solidFill>
                            <a:srgbClr val="0000FF"/>
                          </a:solidFill>
                          <a:latin typeface="맑은 고딕"/>
                          <a:ea typeface="맑은 고딕"/>
                        </a:rPr>
                        <a:t>   ▸ 예상보다 낮음</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mn-ea"/>
                        </a:rPr>
                        <a:t>○  </a:t>
                      </a:r>
                      <a:r>
                        <a:rPr sz="630" b="0">
                          <a:solidFill>
                            <a:srgbClr val="404040"/>
                          </a:solidFill>
                          <a:latin typeface="맑은 고딕"/>
                          <a:ea typeface="맑은 고딕"/>
                        </a:rPr>
                        <a:t> 1,573→2,418 tok/s (+54%)</a:t>
                      </a:r>
                      <a:endParaRPr lang="en-US" altLang="ko-KR" sz="1200" b="0" dirty="0">
                        <a:solidFill>
                          <a:schemeClr val="tx1"/>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tx1"/>
                          </a:solidFill>
                          <a:latin typeface="맑은 고딕" panose="020B0503020000020004" pitchFamily="50" charset="-127"/>
                          <a:ea typeface="맑은 고딕" panose="020B0503020000020004" pitchFamily="50" charset="-127"/>
                        </a:rPr>
                        <a:t>◐</a:t>
                      </a: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850→782 GiB (−8%)</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TTFT 1.9→1.0 s (−46%)</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SE 98→97%</a:t>
                      </a:r>
                      <a:endParaRPr lang="en-US" altLang="ko-KR" sz="1200" b="0" dirty="0">
                        <a:solidFill>
                          <a:schemeClr val="accent5"/>
                        </a:solidFill>
                        <a:latin typeface="+mn-lt"/>
                        <a:ea typeface="맑은 고딕"/>
                      </a:endParaRPr>
                    </a:p>
                  </a:txBody>
                  <a:tcPr anchor="ctr" marR="0">
                    <a:lnL w="12700" cap="flat" cmpd="sng" algn="ctr">
                      <a:solidFill>
                        <a:schemeClr val="bg1"/>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 name="슬라이드 번호 개체 틀 1"/>
          <p:cNvSpPr>
            <a:spLocks noGrp="1"/>
          </p:cNvSpPr>
          <p:nvPr>
            <p:ph type="sldNum" sz="quarter" idx="4294967295"/>
          </p:nvPr>
        </p:nvSpPr>
        <p:spPr>
          <a:xfrm>
            <a:off x="5620080" y="6597650"/>
            <a:ext cx="456466" cy="209550"/>
          </a:xfrm>
        </p:spPr>
        <p:txBody>
          <a:bodyPr/>
          <a:lstStyle/>
          <a:p>
            <a:fld id="{7F889C64-266A-4D07-AD8F-5B592E61CCE1}" type="slidenum">
              <a:rPr lang="ko-KR" altLang="en-US" smtClean="0"/>
              <a:pPr/>
              <a:t>3</a:t>
            </a:fld>
            <a:endParaRPr lang="ko-KR" altLang="en-US" dirty="0"/>
          </a:p>
        </p:txBody>
      </p:sp>
      <p:sp>
        <p:nvSpPr>
          <p:cNvPr id="3" name="제목 2"/>
          <p:cNvSpPr>
            <a:spLocks noGrp="1"/>
          </p:cNvSpPr>
          <p:nvPr>
            <p:ph type="title"/>
          </p:nvPr>
        </p:nvSpPr>
        <p:spPr/>
        <p:txBody>
          <a:bodyPr/>
          <a:lstStyle/>
          <a:p>
            <a:r>
              <a:rPr lang="en-US" altLang="ko-KR" dirty="0"/>
              <a:t>DP2. </a:t>
            </a:r>
            <a:r>
              <a:rPr lang="ko-KR" altLang="en-US" dirty="0"/>
              <a:t>연산</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en-US" altLang="ko-KR" sz="1400" b="1" dirty="0">
                <a:solidFill>
                  <a:schemeClr val="bg1"/>
                </a:solidFill>
              </a:rPr>
              <a:t>Cost </a:t>
            </a:r>
            <a:r>
              <a:rPr lang="ko-KR" altLang="en-US" sz="1400" b="1" dirty="0">
                <a:solidFill>
                  <a:schemeClr val="bg1"/>
                </a:solidFill>
              </a:rPr>
              <a:t>기반 연산 실행 위치의 결정 시점과 방식을 최적화하는 스케줄링 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 name="TextBox 1"/>
          <p:cNvSpPr txBox="1"/>
          <p:nvPr/>
        </p:nvSpPr>
        <p:spPr>
          <a:xfrm>
            <a:off x="1162983"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연산 실행 위치 결정 </a:t>
            </a:r>
            <a:r>
              <a:rPr lang="en-US" altLang="ko-KR" sz="1100" dirty="0"/>
              <a:t>“</a:t>
            </a:r>
          </a:p>
        </p:txBody>
      </p:sp>
      <p:sp>
        <p:nvSpPr>
          <p:cNvPr id="106" name="TextBox 105"/>
          <p:cNvSpPr txBox="1"/>
          <p:nvPr/>
        </p:nvSpPr>
        <p:spPr>
          <a:xfrm>
            <a:off x="6657051" y="1383052"/>
            <a:ext cx="4953001" cy="261610"/>
          </a:xfrm>
          <a:prstGeom prst="rect">
            <a:avLst/>
          </a:prstGeom>
          <a:noFill/>
        </p:spPr>
        <p:txBody>
          <a:bodyPr wrap="square" rtlCol="0">
            <a:spAutoFit/>
          </a:bodyPr>
          <a:lstStyle/>
          <a:p>
            <a:r>
              <a:rPr lang="en-US" altLang="ko-KR" sz="1100" dirty="0"/>
              <a:t>“</a:t>
            </a:r>
            <a:r>
              <a:rPr lang="ko-KR" altLang="en-US" sz="1100" dirty="0"/>
              <a:t>스케줄링 시점과 연산 실행 시점을 분리</a:t>
            </a:r>
            <a:r>
              <a:rPr lang="en-US" altLang="ko-KR" sz="1100" dirty="0"/>
              <a:t>”</a:t>
            </a:r>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sp>
        <p:nvSpPr>
          <p:cNvPr id="112" name="Shape 31">
            <a:extLst>
              <a:ext uri="{FF2B5EF4-FFF2-40B4-BE49-F238E27FC236}">
                <a16:creationId xmlns:a16="http://schemas.microsoft.com/office/drawing/2014/main" id="{823D7D32-6771-4AA4-9581-77C6BEA03C53}"/>
              </a:ext>
            </a:extLst>
          </p:cNvPr>
          <p:cNvSpPr/>
          <p:nvPr/>
        </p:nvSpPr>
        <p:spPr>
          <a:xfrm>
            <a:off x="2862635" y="1853692"/>
            <a:ext cx="1411795" cy="292607"/>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44" idx="0"/>
          </p:cNvCxnSpPr>
          <p:nvPr/>
        </p:nvCxnSpPr>
        <p:spPr>
          <a:xfrm>
            <a:off x="3568533" y="2146299"/>
            <a:ext cx="1889" cy="289506"/>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2394012"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25" name="Shape 31">
            <a:extLst>
              <a:ext uri="{FF2B5EF4-FFF2-40B4-BE49-F238E27FC236}">
                <a16:creationId xmlns:a16="http://schemas.microsoft.com/office/drawing/2014/main" id="{823D7D32-6771-4AA4-9581-77C6BEA03C53}"/>
              </a:ext>
            </a:extLst>
          </p:cNvPr>
          <p:cNvSpPr/>
          <p:nvPr/>
        </p:nvSpPr>
        <p:spPr>
          <a:xfrm>
            <a:off x="1434016" y="4212297"/>
            <a:ext cx="795864"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26" name="Shape 31">
            <a:extLst>
              <a:ext uri="{FF2B5EF4-FFF2-40B4-BE49-F238E27FC236}">
                <a16:creationId xmlns:a16="http://schemas.microsoft.com/office/drawing/2014/main" id="{823D7D32-6771-4AA4-9581-77C6BEA03C53}"/>
              </a:ext>
            </a:extLst>
          </p:cNvPr>
          <p:cNvSpPr/>
          <p:nvPr/>
        </p:nvSpPr>
        <p:spPr>
          <a:xfrm>
            <a:off x="3337592" y="4212297"/>
            <a:ext cx="875450"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51" idx="2"/>
            <a:endCxn id="125" idx="0"/>
          </p:cNvCxnSpPr>
          <p:nvPr/>
        </p:nvCxnSpPr>
        <p:spPr>
          <a:xfrm rot="5400000">
            <a:off x="2567161" y="3209036"/>
            <a:ext cx="268048" cy="1738474"/>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51" idx="2"/>
            <a:endCxn id="126" idx="0"/>
          </p:cNvCxnSpPr>
          <p:nvPr/>
        </p:nvCxnSpPr>
        <p:spPr>
          <a:xfrm rot="16200000" flipH="1">
            <a:off x="3538845" y="3975825"/>
            <a:ext cx="268048" cy="204895"/>
          </a:xfrm>
          <a:prstGeom prst="bentConnector3">
            <a:avLst>
              <a:gd name="adj1" fmla="val 50000"/>
            </a:avLst>
          </a:prstGeom>
          <a:noFill/>
          <a:ln w="11430">
            <a:solidFill>
              <a:srgbClr val="888C91"/>
            </a:solidFill>
            <a:prstDash val="solid"/>
            <a:headEnd type="none"/>
            <a:tailEnd type="triangle"/>
          </a:ln>
        </p:spPr>
      </p:cxnSp>
      <p:sp>
        <p:nvSpPr>
          <p:cNvPr id="77" name="TextBox 76"/>
          <p:cNvSpPr txBox="1"/>
          <p:nvPr/>
        </p:nvSpPr>
        <p:spPr>
          <a:xfrm>
            <a:off x="4482797" y="3231336"/>
            <a:ext cx="1600000" cy="276999"/>
          </a:xfrm>
          <a:prstGeom prst="rect">
            <a:avLst/>
          </a:prstGeom>
          <a:noFill/>
        </p:spPr>
        <p:txBody>
          <a:bodyPr wrap="square" lIns="0" tIns="0" rIns="0" bIns="0" anchor="ctr">
            <a:spAutoFit/>
          </a:bodyPr>
          <a:lstStyle/>
          <a:p>
            <a:pPr algn="l">
              <a:lnSpc>
                <a:spcPct val="100000"/>
              </a:lnSpc>
            </a:pPr>
            <a:r>
              <a:rPr lang="en-US" altLang="ko-KR" sz="900" b="0" i="0" dirty="0">
                <a:solidFill>
                  <a:srgbClr val="808080"/>
                </a:solidFill>
                <a:latin typeface="맑은 고딕"/>
                <a:ea typeface="맑은 고딕"/>
              </a:rPr>
              <a:t>Cost </a:t>
            </a:r>
            <a:r>
              <a:rPr lang="ko-KR" altLang="en-US" sz="900" b="0" i="0" dirty="0">
                <a:solidFill>
                  <a:srgbClr val="808080"/>
                </a:solidFill>
                <a:latin typeface="맑은 고딕"/>
                <a:ea typeface="맑은 고딕"/>
              </a:rPr>
              <a:t>계산이</a:t>
            </a:r>
          </a:p>
          <a:p>
            <a:pPr algn="l">
              <a:lnSpc>
                <a:spcPct val="100000"/>
              </a:lnSpc>
            </a:pPr>
            <a:r>
              <a:rPr lang="en-US" altLang="ko-KR" sz="900" b="0" i="0" dirty="0">
                <a:solidFill>
                  <a:srgbClr val="808080"/>
                </a:solidFill>
                <a:latin typeface="맑은 고딕"/>
                <a:ea typeface="맑은 고딕"/>
              </a:rPr>
              <a:t>critical path  </a:t>
            </a:r>
            <a:r>
              <a:rPr lang="ko-KR" altLang="en-US" sz="900" b="0" i="0" dirty="0">
                <a:solidFill>
                  <a:srgbClr val="808080"/>
                </a:solidFill>
                <a:latin typeface="맑은 고딕"/>
                <a:ea typeface="맑은 고딕"/>
              </a:rPr>
              <a:t>내부</a:t>
            </a:r>
          </a:p>
        </p:txBody>
      </p:sp>
      <p:sp>
        <p:nvSpPr>
          <p:cNvPr id="87" name="TextBox 86">
            <a:extLst>
              <a:ext uri="{FF2B5EF4-FFF2-40B4-BE49-F238E27FC236}">
                <a16:creationId xmlns:a16="http://schemas.microsoft.com/office/drawing/2014/main" id="{E4B7B1EF-FC16-4E50-A15A-074EA647B636}"/>
              </a:ext>
            </a:extLst>
          </p:cNvPr>
          <p:cNvSpPr txBox="1"/>
          <p:nvPr/>
        </p:nvSpPr>
        <p:spPr>
          <a:xfrm>
            <a:off x="5999943" y="6524910"/>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88" name="TextBox 87">
            <a:extLst>
              <a:ext uri="{FF2B5EF4-FFF2-40B4-BE49-F238E27FC236}">
                <a16:creationId xmlns:a16="http://schemas.microsoft.com/office/drawing/2014/main" id="{44A952AB-42E1-41D1-AF63-055E8135DA99}"/>
              </a:ext>
            </a:extLst>
          </p:cNvPr>
          <p:cNvSpPr txBox="1"/>
          <p:nvPr/>
        </p:nvSpPr>
        <p:spPr>
          <a:xfrm>
            <a:off x="11253522" y="6525007"/>
            <a:ext cx="750526" cy="276999"/>
          </a:xfrm>
          <a:prstGeom prst="rect">
            <a:avLst/>
          </a:prstGeom>
          <a:noFill/>
        </p:spPr>
        <p:txBody>
          <a:bodyPr wrap="none" rtlCol="0">
            <a:spAutoFit/>
          </a:bodyPr>
          <a:lstStyle/>
          <a:p>
            <a:r>
              <a:rPr lang="ko-KR" altLang="en-US" sz="1200" dirty="0"/>
              <a:t>총</a:t>
            </a:r>
            <a:r>
              <a:rPr lang="en-US" altLang="ko-KR" sz="1200" dirty="0"/>
              <a:t> 7.5</a:t>
            </a:r>
            <a:r>
              <a:rPr lang="ko-KR" altLang="en-US" sz="1200" dirty="0"/>
              <a:t>점</a:t>
            </a:r>
          </a:p>
        </p:txBody>
      </p:sp>
      <p:sp>
        <p:nvSpPr>
          <p:cNvPr id="136" name="Shape 37">
            <a:extLst>
              <a:ext uri="{FF2B5EF4-FFF2-40B4-BE49-F238E27FC236}">
                <a16:creationId xmlns:a16="http://schemas.microsoft.com/office/drawing/2014/main" id="{7F2072DD-19B6-48CA-BD3D-876E8DDC9C60}"/>
              </a:ext>
            </a:extLst>
          </p:cNvPr>
          <p:cNvSpPr/>
          <p:nvPr/>
        </p:nvSpPr>
        <p:spPr>
          <a:xfrm>
            <a:off x="4737207" y="2129473"/>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43" name="직선 화살표 연결선 185">
            <a:extLst>
              <a:ext uri="{FF2B5EF4-FFF2-40B4-BE49-F238E27FC236}">
                <a16:creationId xmlns:a16="http://schemas.microsoft.com/office/drawing/2014/main" id="{BA0CBBE8-3F10-4B7D-B934-710047CDD61C}"/>
              </a:ext>
            </a:extLst>
          </p:cNvPr>
          <p:cNvCxnSpPr>
            <a:cxnSpLocks/>
            <a:stCxn id="144" idx="3"/>
            <a:endCxn id="136" idx="1"/>
          </p:cNvCxnSpPr>
          <p:nvPr/>
        </p:nvCxnSpPr>
        <p:spPr>
          <a:xfrm flipV="1">
            <a:off x="4324906" y="2292936"/>
            <a:ext cx="412301" cy="322679"/>
          </a:xfrm>
          <a:prstGeom prst="bentConnector3">
            <a:avLst>
              <a:gd name="adj1" fmla="val 50000"/>
            </a:avLst>
          </a:prstGeom>
          <a:noFill/>
          <a:ln w="9525">
            <a:solidFill>
              <a:schemeClr val="tx1"/>
            </a:solidFill>
            <a:prstDash val="solid"/>
            <a:headEnd type="none" w="med" len="med"/>
            <a:tailEnd type="triangle" w="med" len="med"/>
          </a:ln>
        </p:spPr>
      </p:cxnSp>
      <p:sp>
        <p:nvSpPr>
          <p:cNvPr id="144" name="Shape 37">
            <a:extLst>
              <a:ext uri="{FF2B5EF4-FFF2-40B4-BE49-F238E27FC236}">
                <a16:creationId xmlns:a16="http://schemas.microsoft.com/office/drawing/2014/main" id="{70E92FE8-4878-4154-BB88-F90E93B7B850}"/>
              </a:ext>
            </a:extLst>
          </p:cNvPr>
          <p:cNvSpPr/>
          <p:nvPr/>
        </p:nvSpPr>
        <p:spPr>
          <a:xfrm>
            <a:off x="2815938" y="2435805"/>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a:t>
            </a:r>
          </a:p>
          <a:p>
            <a:pPr algn="ctr"/>
            <a:r>
              <a:rPr lang="en-US" altLang="ko-KR" sz="900" b="1" dirty="0">
                <a:solidFill>
                  <a:srgbClr val="FF0000"/>
                </a:solidFill>
              </a:rPr>
              <a:t>(Plan)</a:t>
            </a:r>
          </a:p>
        </p:txBody>
      </p:sp>
      <p:sp>
        <p:nvSpPr>
          <p:cNvPr id="145" name="Shape 37">
            <a:extLst>
              <a:ext uri="{FF2B5EF4-FFF2-40B4-BE49-F238E27FC236}">
                <a16:creationId xmlns:a16="http://schemas.microsoft.com/office/drawing/2014/main" id="{7EA846FB-2BF9-4A17-B933-665E6BCC5A1E}"/>
              </a:ext>
            </a:extLst>
          </p:cNvPr>
          <p:cNvSpPr/>
          <p:nvPr/>
        </p:nvSpPr>
        <p:spPr>
          <a:xfrm>
            <a:off x="4737207" y="2582530"/>
            <a:ext cx="1262736" cy="326926"/>
          </a:xfrm>
          <a:prstGeom prst="rect">
            <a:avLst/>
          </a:prstGeom>
          <a:solidFill>
            <a:schemeClr val="bg1">
              <a:lumMod val="85000"/>
            </a:schemeClr>
          </a:solidFill>
          <a:ln w="9525">
            <a:solidFill>
              <a:schemeClr val="tx1"/>
            </a:solidFill>
            <a:prstDash val="solid"/>
          </a:ln>
        </p:spPr>
        <p:txBody>
          <a:bodyPr anchor="ctr"/>
          <a:lstStyle/>
          <a:p>
            <a:pPr algn="ctr"/>
            <a:r>
              <a:rPr lang="en-US" altLang="ko-KR" sz="1000">
                <a:solidFill>
                  <a:srgbClr val="1A1A1A"/>
                </a:solidFill>
                <a:latin typeface="Malgun Gothic" pitchFamily="34" charset="0"/>
                <a:ea typeface="Malgun Gothic" pitchFamily="34" charset="-122"/>
                <a:cs typeface="Malgun Gothic" pitchFamily="34" charset="-120"/>
              </a:rPr>
              <a:t>Resource State</a:t>
            </a:r>
          </a:p>
          <a:p>
            <a:pPr algn="ctr"/>
            <a:r>
              <a:rPr lang="en-US" altLang="ko-KR" sz="1000">
                <a:solidFill>
                  <a:srgbClr val="1A1A1A"/>
                </a:solidFill>
                <a:latin typeface="Malgun Gothic" pitchFamily="34" charset="0"/>
                <a:ea typeface="Malgun Gothic" pitchFamily="34" charset="-122"/>
                <a:cs typeface="Malgun Gothic" pitchFamily="34" charset="-120"/>
              </a:rPr>
              <a:t>Monitor</a:t>
            </a:r>
            <a:endParaRPr lang="en-US" altLang="ko-KR" sz="1000" dirty="0">
              <a:solidFill>
                <a:srgbClr val="1A1A1A"/>
              </a:solidFill>
              <a:latin typeface="Malgun Gothic" pitchFamily="34" charset="0"/>
              <a:ea typeface="Malgun Gothic" pitchFamily="34" charset="-122"/>
              <a:cs typeface="Malgun Gothic" pitchFamily="34" charset="-120"/>
            </a:endParaRPr>
          </a:p>
        </p:txBody>
      </p:sp>
      <p:cxnSp>
        <p:nvCxnSpPr>
          <p:cNvPr id="146" name="직선 화살표 연결선 185">
            <a:extLst>
              <a:ext uri="{FF2B5EF4-FFF2-40B4-BE49-F238E27FC236}">
                <a16:creationId xmlns:a16="http://schemas.microsoft.com/office/drawing/2014/main" id="{866738E6-B5E2-485B-BCC3-7AB7D686059C}"/>
              </a:ext>
            </a:extLst>
          </p:cNvPr>
          <p:cNvCxnSpPr>
            <a:cxnSpLocks/>
            <a:stCxn id="144" idx="3"/>
            <a:endCxn id="145" idx="1"/>
          </p:cNvCxnSpPr>
          <p:nvPr/>
        </p:nvCxnSpPr>
        <p:spPr>
          <a:xfrm>
            <a:off x="4324906" y="2615615"/>
            <a:ext cx="412301" cy="130378"/>
          </a:xfrm>
          <a:prstGeom prst="bentConnector3">
            <a:avLst>
              <a:gd name="adj1" fmla="val 50000"/>
            </a:avLst>
          </a:prstGeom>
          <a:noFill/>
          <a:ln w="9525">
            <a:solidFill>
              <a:schemeClr val="tx1"/>
            </a:solidFill>
            <a:prstDash val="solid"/>
            <a:headEnd type="none" w="med" len="med"/>
            <a:tailEnd type="triangle" w="med" len="med"/>
          </a:ln>
        </p:spPr>
      </p:cxnSp>
      <p:sp>
        <p:nvSpPr>
          <p:cNvPr id="149" name="Shape 37">
            <a:extLst>
              <a:ext uri="{FF2B5EF4-FFF2-40B4-BE49-F238E27FC236}">
                <a16:creationId xmlns:a16="http://schemas.microsoft.com/office/drawing/2014/main" id="{D29B8A49-AE77-46A5-BF3C-C5FFF88BE9D4}"/>
              </a:ext>
            </a:extLst>
          </p:cNvPr>
          <p:cNvSpPr/>
          <p:nvPr/>
        </p:nvSpPr>
        <p:spPr>
          <a:xfrm>
            <a:off x="2815938" y="3112583"/>
            <a:ext cx="1508968" cy="297205"/>
          </a:xfrm>
          <a:prstGeom prst="rect">
            <a:avLst/>
          </a:prstGeom>
          <a:solidFill>
            <a:srgbClr val="FFFFFF"/>
          </a:solidFill>
          <a:ln w="9525">
            <a:solidFill>
              <a:schemeClr val="tx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Cost Evaluator</a:t>
            </a:r>
            <a:endParaRPr lang="en-US" altLang="ko-KR" sz="1000" b="1" dirty="0">
              <a:solidFill>
                <a:srgbClr val="1A1A1A"/>
              </a:solidFill>
              <a:latin typeface="Malgun Gothic" pitchFamily="34" charset="0"/>
              <a:ea typeface="Malgun Gothic" pitchFamily="34" charset="-122"/>
            </a:endParaRPr>
          </a:p>
        </p:txBody>
      </p:sp>
      <p:cxnSp>
        <p:nvCxnSpPr>
          <p:cNvPr id="150" name="직선 화살표 연결선 185">
            <a:extLst>
              <a:ext uri="{FF2B5EF4-FFF2-40B4-BE49-F238E27FC236}">
                <a16:creationId xmlns:a16="http://schemas.microsoft.com/office/drawing/2014/main" id="{EFEBEDC4-80EE-4735-B71E-6C1DFDD6FCDC}"/>
              </a:ext>
            </a:extLst>
          </p:cNvPr>
          <p:cNvCxnSpPr>
            <a:cxnSpLocks/>
            <a:stCxn id="144" idx="2"/>
            <a:endCxn id="149" idx="0"/>
          </p:cNvCxnSpPr>
          <p:nvPr/>
        </p:nvCxnSpPr>
        <p:spPr>
          <a:xfrm>
            <a:off x="3570422" y="2795424"/>
            <a:ext cx="0" cy="317159"/>
          </a:xfrm>
          <a:prstGeom prst="straightConnector1">
            <a:avLst/>
          </a:prstGeom>
          <a:noFill/>
          <a:ln w="9525">
            <a:solidFill>
              <a:schemeClr val="tx1"/>
            </a:solidFill>
            <a:prstDash val="solid"/>
            <a:headEnd type="none" w="med" len="med"/>
            <a:tailEnd type="triangle" w="med" len="med"/>
          </a:ln>
        </p:spPr>
      </p:cxnSp>
      <p:sp>
        <p:nvSpPr>
          <p:cNvPr id="151" name="Shape 37">
            <a:extLst>
              <a:ext uri="{FF2B5EF4-FFF2-40B4-BE49-F238E27FC236}">
                <a16:creationId xmlns:a16="http://schemas.microsoft.com/office/drawing/2014/main" id="{1AFCAFB9-F8C0-41A8-8E3E-3B7ACC234BE6}"/>
              </a:ext>
            </a:extLst>
          </p:cNvPr>
          <p:cNvSpPr/>
          <p:nvPr/>
        </p:nvSpPr>
        <p:spPr>
          <a:xfrm>
            <a:off x="2815938" y="3584630"/>
            <a:ext cx="1508968" cy="359619"/>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algn="ctr"/>
            <a:r>
              <a:rPr lang="en-US" altLang="ko-KR" sz="900" b="1" dirty="0">
                <a:solidFill>
                  <a:srgbClr val="FF0000"/>
                </a:solidFill>
                <a:latin typeface="Malgun Gothic" pitchFamily="34" charset="0"/>
                <a:ea typeface="Malgun Gothic" pitchFamily="34" charset="-122"/>
              </a:rPr>
              <a:t>(Decision)</a:t>
            </a:r>
          </a:p>
        </p:txBody>
      </p:sp>
      <p:cxnSp>
        <p:nvCxnSpPr>
          <p:cNvPr id="152" name="직선 화살표 연결선 185">
            <a:extLst>
              <a:ext uri="{FF2B5EF4-FFF2-40B4-BE49-F238E27FC236}">
                <a16:creationId xmlns:a16="http://schemas.microsoft.com/office/drawing/2014/main" id="{A5D1AF10-B4E4-4F84-8D33-8BACD09A70C2}"/>
              </a:ext>
            </a:extLst>
          </p:cNvPr>
          <p:cNvCxnSpPr>
            <a:cxnSpLocks/>
            <a:stCxn id="149" idx="2"/>
            <a:endCxn id="151" idx="0"/>
          </p:cNvCxnSpPr>
          <p:nvPr/>
        </p:nvCxnSpPr>
        <p:spPr>
          <a:xfrm>
            <a:off x="3570422" y="3409788"/>
            <a:ext cx="0" cy="174842"/>
          </a:xfrm>
          <a:prstGeom prst="straightConnector1">
            <a:avLst/>
          </a:prstGeom>
          <a:noFill/>
          <a:ln w="11430">
            <a:solidFill>
              <a:srgbClr val="888C91"/>
            </a:solidFill>
            <a:prstDash val="solid"/>
            <a:headEnd type="none"/>
            <a:tailEnd type="triangle"/>
          </a:ln>
        </p:spPr>
      </p:cxnSp>
      <p:cxnSp>
        <p:nvCxnSpPr>
          <p:cNvPr id="153" name="직선 화살표 연결선 185">
            <a:extLst>
              <a:ext uri="{FF2B5EF4-FFF2-40B4-BE49-F238E27FC236}">
                <a16:creationId xmlns:a16="http://schemas.microsoft.com/office/drawing/2014/main" id="{667011A0-7D9C-4D04-BD0D-206D0F921C23}"/>
              </a:ext>
            </a:extLst>
          </p:cNvPr>
          <p:cNvCxnSpPr>
            <a:cxnSpLocks/>
            <a:stCxn id="151" idx="2"/>
            <a:endCxn id="124" idx="0"/>
          </p:cNvCxnSpPr>
          <p:nvPr/>
        </p:nvCxnSpPr>
        <p:spPr>
          <a:xfrm rot="5400000">
            <a:off x="3047159" y="3689034"/>
            <a:ext cx="268048" cy="778478"/>
          </a:xfrm>
          <a:prstGeom prst="bentConnector3">
            <a:avLst>
              <a:gd name="adj1" fmla="val 50000"/>
            </a:avLst>
          </a:prstGeom>
          <a:noFill/>
          <a:ln w="11430">
            <a:solidFill>
              <a:srgbClr val="888C91"/>
            </a:solidFill>
            <a:prstDash val="solid"/>
            <a:headEnd type="none"/>
            <a:tailEnd type="triangle"/>
          </a:ln>
        </p:spPr>
      </p:cxnSp>
      <p:sp>
        <p:nvSpPr>
          <p:cNvPr id="155" name="Shape 31">
            <a:extLst>
              <a:ext uri="{FF2B5EF4-FFF2-40B4-BE49-F238E27FC236}">
                <a16:creationId xmlns:a16="http://schemas.microsoft.com/office/drawing/2014/main" id="{C0494BB5-740B-474B-8EDE-7DEE62853B08}"/>
              </a:ext>
            </a:extLst>
          </p:cNvPr>
          <p:cNvSpPr/>
          <p:nvPr/>
        </p:nvSpPr>
        <p:spPr>
          <a:xfrm>
            <a:off x="4393753" y="4212297"/>
            <a:ext cx="87545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57" name="직선 화살표 연결선 185">
            <a:extLst>
              <a:ext uri="{FF2B5EF4-FFF2-40B4-BE49-F238E27FC236}">
                <a16:creationId xmlns:a16="http://schemas.microsoft.com/office/drawing/2014/main" id="{D2EDFE24-B445-4346-8805-83EFFC8CB053}"/>
              </a:ext>
            </a:extLst>
          </p:cNvPr>
          <p:cNvCxnSpPr>
            <a:cxnSpLocks/>
            <a:stCxn id="151" idx="2"/>
            <a:endCxn id="155" idx="0"/>
          </p:cNvCxnSpPr>
          <p:nvPr/>
        </p:nvCxnSpPr>
        <p:spPr>
          <a:xfrm rot="16200000" flipH="1">
            <a:off x="4066926" y="3447745"/>
            <a:ext cx="268048" cy="1261056"/>
          </a:xfrm>
          <a:prstGeom prst="bentConnector3">
            <a:avLst>
              <a:gd name="adj1" fmla="val 50000"/>
            </a:avLst>
          </a:prstGeom>
          <a:noFill/>
          <a:ln w="11430">
            <a:solidFill>
              <a:srgbClr val="888C91"/>
            </a:solidFill>
            <a:prstDash val="dash"/>
            <a:headEnd type="none"/>
            <a:tailEnd type="triangle"/>
          </a:ln>
        </p:spPr>
      </p:cxnSp>
      <p:sp>
        <p:nvSpPr>
          <p:cNvPr id="1271" name="C1 Critical path boundary"/>
          <p:cNvSpPr/>
          <p:nvPr/>
        </p:nvSpPr>
        <p:spPr>
          <a:xfrm>
            <a:off x="2695773" y="1800000"/>
            <a:ext cx="3420000" cy="2185000"/>
          </a:xfrm>
          <a:prstGeom prst="rect">
            <a:avLst/>
          </a:prstGeom>
          <a:noFill/>
          <a:ln w="12700">
            <a:solidFill>
              <a:srgbClr val="C76E31"/>
            </a:solidFill>
            <a:prstDash val="dash"/>
          </a:ln>
        </p:spPr>
        <p:txBody>
          <a:bodyPr rtlCol="0" anchor="ctr"/>
          <a:lstStyle/>
          <a:p>
            <a:pPr algn="ctr"/>
            <a:endParaRPr lang="en-US" altLang="ko-KR" sz="900" dirty="0">
              <a:solidFill>
                <a:schemeClr val="bg1">
                  <a:lumMod val="50000"/>
                </a:schemeClr>
              </a:solidFill>
            </a:endParaRPr>
          </a:p>
        </p:txBody>
      </p:sp>
      <p:sp>
        <p:nvSpPr>
          <p:cNvPr id="2293" name="C1 Critical path label"/>
          <p:cNvSpPr/>
          <p:nvPr/>
        </p:nvSpPr>
        <p:spPr>
          <a:xfrm>
            <a:off x="4330000" y="1815000"/>
            <a:ext cx="1440000" cy="250000"/>
          </a:xfrm>
          <a:prstGeom prst="rect">
            <a:avLst/>
          </a:prstGeom>
          <a:noFill/>
          <a:ln w="12700">
            <a:noFill/>
            <a:prstDash val="dash"/>
          </a:ln>
        </p:spPr>
        <p:txBody>
          <a:bodyPr rtlCol="0" anchor="ctr"/>
          <a:lstStyle/>
          <a:p>
            <a:pPr algn="ctr"/>
            <a:r>
              <a:rPr lang="en-US" altLang="ko-KR" sz="900" dirty="0">
                <a:solidFill>
                  <a:srgbClr val="FF0000"/>
                </a:solidFill>
              </a:rPr>
              <a:t>Plan + Decision</a:t>
            </a:r>
          </a:p>
        </p:txBody>
      </p:sp>
      <p:grpSp>
        <p:nvGrpSpPr>
          <p:cNvPr id="130" name="그룹 129">
            <a:extLst>
              <a:ext uri="{FF2B5EF4-FFF2-40B4-BE49-F238E27FC236}">
                <a16:creationId xmlns:a16="http://schemas.microsoft.com/office/drawing/2014/main" id="{CA2D3743-1992-478F-B82E-9DE9B085B94D}"/>
              </a:ext>
            </a:extLst>
          </p:cNvPr>
          <p:cNvGrpSpPr/>
          <p:nvPr/>
        </p:nvGrpSpPr>
        <p:grpSpPr>
          <a:xfrm>
            <a:off x="334761" y="3538083"/>
            <a:ext cx="822008" cy="1106192"/>
            <a:chOff x="269738" y="3554621"/>
            <a:chExt cx="822008" cy="1106192"/>
          </a:xfrm>
        </p:grpSpPr>
        <p:sp>
          <p:nvSpPr>
            <p:cNvPr id="131" name="KV Cache Manager">
              <a:extLst>
                <a:ext uri="{FF2B5EF4-FFF2-40B4-BE49-F238E27FC236}">
                  <a16:creationId xmlns:a16="http://schemas.microsoft.com/office/drawing/2014/main" id="{97729FA2-8208-495A-88B5-6AB9793CB4B9}"/>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32" name="KV Cache Manager">
              <a:extLst>
                <a:ext uri="{FF2B5EF4-FFF2-40B4-BE49-F238E27FC236}">
                  <a16:creationId xmlns:a16="http://schemas.microsoft.com/office/drawing/2014/main" id="{5E4E7F90-5323-48ED-A793-E537EC85E83D}"/>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34" name="KV Cache Manager">
              <a:extLst>
                <a:ext uri="{FF2B5EF4-FFF2-40B4-BE49-F238E27FC236}">
                  <a16:creationId xmlns:a16="http://schemas.microsoft.com/office/drawing/2014/main" id="{F1372DCD-DBB8-422B-8D97-E7C565A45741}"/>
                </a:ext>
              </a:extLst>
            </p:cNvPr>
            <p:cNvSpPr/>
            <p:nvPr/>
          </p:nvSpPr>
          <p:spPr>
            <a:xfrm>
              <a:off x="275753" y="4404880"/>
              <a:ext cx="784423" cy="194036"/>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bg1"/>
                  </a:solidFill>
                </a:rPr>
                <a:t>타</a:t>
              </a:r>
              <a:r>
                <a:rPr lang="en-US" altLang="ko-KR" sz="800" b="1" dirty="0">
                  <a:solidFill>
                    <a:schemeClr val="bg1"/>
                  </a:solidFill>
                </a:rPr>
                <a:t> </a:t>
              </a:r>
              <a:r>
                <a:rPr lang="ko-KR" altLang="en-US" sz="800" b="1" dirty="0">
                  <a:solidFill>
                    <a:schemeClr val="bg1"/>
                  </a:solidFill>
                </a:rPr>
                <a:t>모듈</a:t>
              </a:r>
              <a:r>
                <a:rPr lang="en-US" altLang="ko-KR" sz="800" b="1" dirty="0">
                  <a:solidFill>
                    <a:schemeClr val="bg1"/>
                  </a:solidFill>
                </a:rPr>
                <a:t> I/F</a:t>
              </a:r>
              <a:endParaRPr lang="ko-KR" altLang="en-US" sz="800" b="1" dirty="0">
                <a:solidFill>
                  <a:schemeClr val="bg1"/>
                </a:solidFill>
              </a:endParaRPr>
            </a:p>
          </p:txBody>
        </p:sp>
        <p:sp>
          <p:nvSpPr>
            <p:cNvPr id="135" name="직사각형 134">
              <a:extLst>
                <a:ext uri="{FF2B5EF4-FFF2-40B4-BE49-F238E27FC236}">
                  <a16:creationId xmlns:a16="http://schemas.microsoft.com/office/drawing/2014/main" id="{33666AC1-1D1F-4D44-8ABD-9FC7C996F49A}"/>
                </a:ext>
              </a:extLst>
            </p:cNvPr>
            <p:cNvSpPr/>
            <p:nvPr/>
          </p:nvSpPr>
          <p:spPr>
            <a:xfrm>
              <a:off x="269738" y="3554621"/>
              <a:ext cx="822008" cy="1106192"/>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37" name="KV Cache Manager">
              <a:extLst>
                <a:ext uri="{FF2B5EF4-FFF2-40B4-BE49-F238E27FC236}">
                  <a16:creationId xmlns:a16="http://schemas.microsoft.com/office/drawing/2014/main" id="{3DAC31F2-953F-4F50-9270-4AC41B0280B9}"/>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cxnSp>
        <p:nvCxnSpPr>
          <p:cNvPr id="120" name="직선 화살표 연결선 185">
            <a:extLst>
              <a:ext uri="{FF2B5EF4-FFF2-40B4-BE49-F238E27FC236}">
                <a16:creationId xmlns:a16="http://schemas.microsoft.com/office/drawing/2014/main" id="{6B405AD3-50C7-4140-923C-39C9EC62E997}"/>
              </a:ext>
            </a:extLst>
          </p:cNvPr>
          <p:cNvCxnSpPr>
            <a:cxnSpLocks/>
            <a:stCxn id="149" idx="1"/>
            <a:endCxn id="123" idx="0"/>
          </p:cNvCxnSpPr>
          <p:nvPr/>
        </p:nvCxnSpPr>
        <p:spPr>
          <a:xfrm rot="10800000" flipV="1">
            <a:off x="1977484" y="3261185"/>
            <a:ext cx="838455" cy="122381"/>
          </a:xfrm>
          <a:prstGeom prst="bentConnector2">
            <a:avLst/>
          </a:prstGeom>
          <a:noFill/>
          <a:ln w="9525">
            <a:solidFill>
              <a:schemeClr val="tx1"/>
            </a:solidFill>
            <a:prstDash val="solid"/>
            <a:headEnd type="none" w="med" len="med"/>
            <a:tailEnd type="triangle" w="med" len="med"/>
          </a:ln>
        </p:spPr>
      </p:cxnSp>
      <p:sp>
        <p:nvSpPr>
          <p:cNvPr id="123" name="KV Cache Manager">
            <a:extLst>
              <a:ext uri="{FF2B5EF4-FFF2-40B4-BE49-F238E27FC236}">
                <a16:creationId xmlns:a16="http://schemas.microsoft.com/office/drawing/2014/main" id="{AF50C5FD-82D2-49A4-BB8D-5B9CCB95E6F0}"/>
              </a:ext>
            </a:extLst>
          </p:cNvPr>
          <p:cNvSpPr/>
          <p:nvPr/>
        </p:nvSpPr>
        <p:spPr>
          <a:xfrm>
            <a:off x="1422351" y="3383567"/>
            <a:ext cx="1110263" cy="284090"/>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dirty="0">
                <a:solidFill>
                  <a:schemeClr val="bg1"/>
                </a:solidFill>
              </a:rPr>
              <a:t>Common Memory Backend Interface</a:t>
            </a:r>
            <a:endParaRPr lang="ko-KR" altLang="en-US" sz="900" dirty="0">
              <a:solidFill>
                <a:schemeClr val="bg1"/>
              </a:solidFill>
            </a:endParaRPr>
          </a:p>
        </p:txBody>
      </p:sp>
      <p:grpSp>
        <p:nvGrpSpPr>
          <p:cNvPr id="2260" name="그룹 2259">
            <a:extLst>
              <a:ext uri="{FF2B5EF4-FFF2-40B4-BE49-F238E27FC236}">
                <a16:creationId xmlns:a16="http://schemas.microsoft.com/office/drawing/2014/main" id="{2D332D0F-0324-46B1-B1F2-8FDFA83DC440}"/>
              </a:ext>
            </a:extLst>
          </p:cNvPr>
          <p:cNvGrpSpPr/>
          <p:nvPr/>
        </p:nvGrpSpPr>
        <p:grpSpPr>
          <a:xfrm>
            <a:off x="6650290" y="1792641"/>
            <a:ext cx="5377940" cy="2718256"/>
            <a:chOff x="6650290" y="1836885"/>
            <a:chExt cx="5377940" cy="2718256"/>
          </a:xfrm>
        </p:grpSpPr>
        <p:sp>
          <p:nvSpPr>
            <p:cNvPr id="122" name="Shape 31">
              <a:extLst>
                <a:ext uri="{FF2B5EF4-FFF2-40B4-BE49-F238E27FC236}">
                  <a16:creationId xmlns:a16="http://schemas.microsoft.com/office/drawing/2014/main" id="{2CB8AAFC-DFAB-4056-A6EA-BB95D28E11E9}"/>
                </a:ext>
              </a:extLst>
            </p:cNvPr>
            <p:cNvSpPr/>
            <p:nvPr/>
          </p:nvSpPr>
          <p:spPr>
            <a:xfrm>
              <a:off x="6968158" y="2229906"/>
              <a:ext cx="1332516" cy="199855"/>
            </a:xfrm>
            <a:prstGeom prst="roundRect">
              <a:avLst>
                <a:gd name="adj" fmla="val 37674"/>
              </a:avLst>
            </a:prstGeom>
            <a:noFill/>
            <a:ln w="12700">
              <a:no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52643" y="4250503"/>
              <a:ext cx="1106485" cy="301105"/>
            </a:xfrm>
            <a:prstGeom prst="can">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p:txBody>
        </p:sp>
        <p:cxnSp>
          <p:nvCxnSpPr>
            <p:cNvPr id="164" name="직선 화살표 연결선 185">
              <a:extLst>
                <a:ext uri="{FF2B5EF4-FFF2-40B4-BE49-F238E27FC236}">
                  <a16:creationId xmlns:a16="http://schemas.microsoft.com/office/drawing/2014/main" id="{D76D373A-AD73-4958-8644-743AF962871F}"/>
                </a:ext>
              </a:extLst>
            </p:cNvPr>
            <p:cNvCxnSpPr>
              <a:cxnSpLocks/>
            </p:cNvCxnSpPr>
            <p:nvPr/>
          </p:nvCxnSpPr>
          <p:spPr>
            <a:xfrm flipH="1">
              <a:off x="7585118" y="3976053"/>
              <a:ext cx="127" cy="242833"/>
            </a:xfrm>
            <a:prstGeom prst="straightConnector1">
              <a:avLst/>
            </a:prstGeom>
            <a:noFill/>
            <a:ln w="12700">
              <a:solidFill>
                <a:srgbClr val="C76E31"/>
              </a:solidFill>
              <a:prstDash val="solid"/>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flipH="1">
              <a:off x="10700123" y="2548568"/>
              <a:ext cx="1" cy="359667"/>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1966" y="1864405"/>
              <a:ext cx="2152357" cy="271459"/>
            </a:xfrm>
            <a:prstGeom prst="rect">
              <a:avLst/>
            </a:prstGeom>
            <a:noFill/>
            <a:ln w="12700">
              <a:noFill/>
              <a:prstDash val="dash"/>
            </a:ln>
          </p:spPr>
          <p:txBody>
            <a:bodyPr rtlCol="0" anchor="ctr"/>
            <a:lstStyle/>
            <a:p>
              <a:pPr algn="ctr"/>
              <a:r>
                <a:rPr lang="en-US" altLang="ko-KR" sz="900" dirty="0">
                  <a:solidFill>
                    <a:srgbClr val="FF0000"/>
                  </a:solidFill>
                </a:rPr>
                <a:t>Plan -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rgbClr val="FF0000"/>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58398" y="2282562"/>
              <a:ext cx="1283450" cy="1629131"/>
              <a:chOff x="13158709" y="2383427"/>
              <a:chExt cx="1283450" cy="1629131"/>
            </a:xfrm>
          </p:grpSpPr>
          <p:sp>
            <p:nvSpPr>
              <p:cNvPr id="186" name="Shape 31">
                <a:extLst>
                  <a:ext uri="{FF2B5EF4-FFF2-40B4-BE49-F238E27FC236}">
                    <a16:creationId xmlns:a16="http://schemas.microsoft.com/office/drawing/2014/main" id="{2CB8AAFC-DFAB-4056-A6EA-BB95D28E11E9}"/>
                  </a:ext>
                </a:extLst>
              </p:cNvPr>
              <p:cNvSpPr/>
              <p:nvPr/>
            </p:nvSpPr>
            <p:spPr>
              <a:xfrm>
                <a:off x="13217048" y="2383427"/>
                <a:ext cx="1166773" cy="26600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rPr>
                  <a:t>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158709" y="3009100"/>
                <a:ext cx="1283450" cy="324035"/>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Validator</a:t>
                </a:r>
              </a:p>
            </p:txBody>
          </p:sp>
          <p:sp>
            <p:nvSpPr>
              <p:cNvPr id="188" name="Shape 31">
                <a:extLst>
                  <a:ext uri="{FF2B5EF4-FFF2-40B4-BE49-F238E27FC236}">
                    <a16:creationId xmlns:a16="http://schemas.microsoft.com/office/drawing/2014/main" id="{2CB8AAFC-DFAB-4056-A6EA-BB95D28E11E9}"/>
                  </a:ext>
                </a:extLst>
              </p:cNvPr>
              <p:cNvSpPr/>
              <p:nvPr/>
            </p:nvSpPr>
            <p:spPr>
              <a:xfrm>
                <a:off x="13158709" y="3623097"/>
                <a:ext cx="1283450" cy="38946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Router</a:t>
                </a:r>
              </a:p>
              <a:p>
                <a:pPr lvl="0" algn="ctr"/>
                <a:r>
                  <a:rPr lang="en-US" altLang="ko-KR" sz="900" b="1" dirty="0">
                    <a:solidFill>
                      <a:srgbClr val="FF0000"/>
                    </a:solidFill>
                    <a:latin typeface="Malgun Gothic" pitchFamily="34" charset="0"/>
                    <a:ea typeface="Malgun Gothic" pitchFamily="34" charset="-122"/>
                    <a:cs typeface="Malgun Gothic" pitchFamily="34" charset="-120"/>
                  </a:rPr>
                  <a:t>(Decision)</a:t>
                </a:r>
                <a:endParaRPr lang="ko-KR" altLang="en-US" sz="900" b="1" dirty="0">
                  <a:solidFill>
                    <a:srgbClr val="FF0000"/>
                  </a:solidFill>
                  <a:latin typeface="Malgun Gothic" pitchFamily="34" charset="0"/>
                  <a:ea typeface="Malgun Gothic" pitchFamily="34" charset="-122"/>
                  <a:cs typeface="Malgun Gothic" pitchFamily="34" charset="-120"/>
                </a:endParaRPr>
              </a:p>
            </p:txBody>
          </p:sp>
        </p:grp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188" idx="0"/>
            </p:cNvCxnSpPr>
            <p:nvPr/>
          </p:nvCxnSpPr>
          <p:spPr>
            <a:xfrm>
              <a:off x="10700123" y="3232270"/>
              <a:ext cx="0" cy="289962"/>
            </a:xfrm>
            <a:prstGeom prst="straightConnector1">
              <a:avLst/>
            </a:prstGeom>
            <a:noFill/>
            <a:ln w="11430">
              <a:solidFill>
                <a:srgbClr val="888C91"/>
              </a:solidFill>
              <a:prstDash val="solid"/>
              <a:headEnd type="none"/>
              <a:tailEnd type="triangle"/>
            </a:ln>
          </p:spPr>
        </p:cxnSp>
        <p:cxnSp>
          <p:nvCxnSpPr>
            <p:cNvPr id="99" name="직선 화살표 연결선 185">
              <a:extLst>
                <a:ext uri="{FF2B5EF4-FFF2-40B4-BE49-F238E27FC236}">
                  <a16:creationId xmlns:a16="http://schemas.microsoft.com/office/drawing/2014/main" id="{D76D373A-AD73-4958-8644-743AF962871F}"/>
                </a:ext>
              </a:extLst>
            </p:cNvPr>
            <p:cNvCxnSpPr>
              <a:cxnSpLocks/>
            </p:cNvCxnSpPr>
            <p:nvPr/>
          </p:nvCxnSpPr>
          <p:spPr>
            <a:xfrm rot="10800000">
              <a:off x="8164462" y="2717377"/>
              <a:ext cx="1893937" cy="259939"/>
            </a:xfrm>
            <a:prstGeom prst="bentConnector3">
              <a:avLst>
                <a:gd name="adj1" fmla="val 30143"/>
              </a:avLst>
            </a:prstGeom>
            <a:noFill/>
            <a:ln w="9525">
              <a:solidFill>
                <a:srgbClr val="C76E31"/>
              </a:solidFill>
              <a:prstDash val="dash"/>
              <a:headEnd type="none" w="med" len="med"/>
              <a:tailEnd type="triangle" w="med" len="med"/>
            </a:ln>
          </p:spPr>
        </p:cxn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92" idx="0"/>
            </p:cNvCxnSpPr>
            <p:nvPr/>
          </p:nvCxnSpPr>
          <p:spPr>
            <a:xfrm rot="5400000">
              <a:off x="10094192" y="3627684"/>
              <a:ext cx="321923" cy="88994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95" idx="0"/>
            </p:cNvCxnSpPr>
            <p:nvPr/>
          </p:nvCxnSpPr>
          <p:spPr>
            <a:xfrm rot="16200000" flipH="1">
              <a:off x="11038780" y="3573035"/>
              <a:ext cx="321923" cy="999237"/>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91" idx="0"/>
            </p:cNvCxnSpPr>
            <p:nvPr/>
          </p:nvCxnSpPr>
          <p:spPr>
            <a:xfrm rot="5400000">
              <a:off x="10386001" y="3919493"/>
              <a:ext cx="321923" cy="306322"/>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9" idx="0"/>
            </p:cNvCxnSpPr>
            <p:nvPr/>
          </p:nvCxnSpPr>
          <p:spPr>
            <a:xfrm>
              <a:off x="7634416" y="2429761"/>
              <a:ext cx="2" cy="231001"/>
            </a:xfrm>
            <a:prstGeom prst="straightConnector1">
              <a:avLst/>
            </a:prstGeom>
            <a:noFill/>
            <a:ln w="11430">
              <a:solidFill>
                <a:srgbClr val="888C91"/>
              </a:solidFill>
              <a:prstDash val="solid"/>
              <a:headEnd type="none"/>
              <a:tailEnd type="triangle"/>
            </a:ln>
          </p:spPr>
        </p:cxnSp>
        <p:sp>
          <p:nvSpPr>
            <p:cNvPr id="78" name="TextBox 77"/>
            <p:cNvSpPr txBox="1"/>
            <p:nvPr/>
          </p:nvSpPr>
          <p:spPr>
            <a:xfrm>
              <a:off x="8406016" y="2555570"/>
              <a:ext cx="827393" cy="138499"/>
            </a:xfrm>
            <a:prstGeom prst="rect">
              <a:avLst/>
            </a:prstGeom>
            <a:noFill/>
          </p:spPr>
          <p:txBody>
            <a:bodyPr wrap="square" lIns="0" tIns="0" rIns="0" bIns="0" anchor="ctr">
              <a:spAutoFit/>
            </a:bodyPr>
            <a:lstStyle/>
            <a:p>
              <a:pPr algn="l">
                <a:lnSpc>
                  <a:spcPct val="100000"/>
                </a:lnSpc>
              </a:pPr>
              <a:r>
                <a:rPr sz="900" b="0" i="0" dirty="0">
                  <a:solidFill>
                    <a:srgbClr val="C55A11"/>
                  </a:solidFill>
                  <a:latin typeface="맑은 고딕"/>
                  <a:ea typeface="맑은 고딕"/>
                </a:rPr>
                <a:t>Async</a:t>
              </a:r>
              <a:r>
                <a:rPr lang="en-US" sz="900" b="0" i="0" dirty="0">
                  <a:solidFill>
                    <a:srgbClr val="C55A11"/>
                  </a:solidFill>
                  <a:latin typeface="맑은 고딕"/>
                  <a:ea typeface="맑은 고딕"/>
                </a:rPr>
                <a:t> </a:t>
              </a:r>
              <a:r>
                <a:rPr sz="900" b="0" i="0" dirty="0">
                  <a:solidFill>
                    <a:srgbClr val="C55A11"/>
                  </a:solidFill>
                  <a:latin typeface="맑은 고딕"/>
                  <a:ea typeface="맑은 고딕"/>
                </a:rPr>
                <a:t>re-plan</a:t>
              </a: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rgbClr val="FF0000"/>
                  </a:solidFill>
                </a:rPr>
                <a:t>Decision - </a:t>
              </a:r>
              <a:r>
                <a:rPr lang="en-US" altLang="ko-KR" sz="900" dirty="0">
                  <a:solidFill>
                    <a:schemeClr val="bg1">
                      <a:lumMod val="50000"/>
                    </a:schemeClr>
                  </a:solidFill>
                </a:rPr>
                <a:t>Critical path </a:t>
              </a:r>
              <a:r>
                <a:rPr lang="ko-KR" altLang="en-US" sz="900" dirty="0">
                  <a:solidFill>
                    <a:schemeClr val="bg1">
                      <a:lumMod val="50000"/>
                    </a:schemeClr>
                  </a:solidFill>
                </a:rPr>
                <a:t>내</a:t>
              </a:r>
              <a:endParaRPr lang="en-US" altLang="ko-KR" sz="900" dirty="0">
                <a:solidFill>
                  <a:srgbClr val="FF0000"/>
                </a:solidFill>
              </a:endParaRPr>
            </a:p>
          </p:txBody>
        </p:sp>
        <p:grpSp>
          <p:nvGrpSpPr>
            <p:cNvPr id="55" name="그룹 54">
              <a:extLst>
                <a:ext uri="{FF2B5EF4-FFF2-40B4-BE49-F238E27FC236}">
                  <a16:creationId xmlns:a16="http://schemas.microsoft.com/office/drawing/2014/main" id="{20247864-5FE1-4F69-9F2A-D6FA572B779B}"/>
                </a:ext>
              </a:extLst>
            </p:cNvPr>
            <p:cNvGrpSpPr/>
            <p:nvPr/>
          </p:nvGrpSpPr>
          <p:grpSpPr>
            <a:xfrm>
              <a:off x="6959257" y="2660762"/>
              <a:ext cx="2250800" cy="1353122"/>
              <a:chOff x="6334829" y="2532795"/>
              <a:chExt cx="3029193" cy="1637279"/>
            </a:xfrm>
          </p:grpSpPr>
          <p:sp>
            <p:nvSpPr>
              <p:cNvPr id="167" name="Shape 37">
                <a:extLst>
                  <a:ext uri="{FF2B5EF4-FFF2-40B4-BE49-F238E27FC236}">
                    <a16:creationId xmlns:a16="http://schemas.microsoft.com/office/drawing/2014/main" id="{90DAE390-C546-4459-96AF-4143F55DB1B8}"/>
                  </a:ext>
                </a:extLst>
              </p:cNvPr>
              <p:cNvSpPr/>
              <p:nvPr/>
            </p:nvSpPr>
            <p:spPr>
              <a:xfrm>
                <a:off x="8340414" y="2718034"/>
                <a:ext cx="1023608" cy="395581"/>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KV State Monitor</a:t>
                </a:r>
              </a:p>
            </p:txBody>
          </p:sp>
          <p:cxnSp>
            <p:nvCxnSpPr>
              <p:cNvPr id="168" name="직선 화살표 연결선 185">
                <a:extLst>
                  <a:ext uri="{FF2B5EF4-FFF2-40B4-BE49-F238E27FC236}">
                    <a16:creationId xmlns:a16="http://schemas.microsoft.com/office/drawing/2014/main" id="{5147715F-B5AF-48FB-9317-FF7DCBEA214E}"/>
                  </a:ext>
                </a:extLst>
              </p:cNvPr>
              <p:cNvCxnSpPr>
                <a:cxnSpLocks/>
                <a:stCxn id="169" idx="3"/>
                <a:endCxn id="167" idx="1"/>
              </p:cNvCxnSpPr>
              <p:nvPr/>
            </p:nvCxnSpPr>
            <p:spPr>
              <a:xfrm>
                <a:off x="7929375" y="2750365"/>
                <a:ext cx="411039" cy="165459"/>
              </a:xfrm>
              <a:prstGeom prst="bentConnector3">
                <a:avLst>
                  <a:gd name="adj1" fmla="val 50000"/>
                </a:avLst>
              </a:prstGeom>
              <a:noFill/>
              <a:ln w="9525">
                <a:solidFill>
                  <a:schemeClr val="tx1"/>
                </a:solidFill>
                <a:prstDash val="solid"/>
                <a:headEnd type="none" w="med" len="med"/>
                <a:tailEnd type="triangle" w="med" len="med"/>
              </a:ln>
            </p:spPr>
          </p:cxnSp>
          <p:sp>
            <p:nvSpPr>
              <p:cNvPr id="169" name="Shape 37">
                <a:extLst>
                  <a:ext uri="{FF2B5EF4-FFF2-40B4-BE49-F238E27FC236}">
                    <a16:creationId xmlns:a16="http://schemas.microsoft.com/office/drawing/2014/main" id="{5A9E902C-C762-43E4-8FBB-2BC7D8D934DC}"/>
                  </a:ext>
                </a:extLst>
              </p:cNvPr>
              <p:cNvSpPr/>
              <p:nvPr/>
            </p:nvSpPr>
            <p:spPr>
              <a:xfrm>
                <a:off x="6557585" y="2532795"/>
                <a:ext cx="1371789" cy="435141"/>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Execution Planner </a:t>
                </a:r>
                <a:r>
                  <a:rPr lang="en-US" altLang="ko-KR" sz="900" b="1" dirty="0">
                    <a:solidFill>
                      <a:srgbClr val="FF0000"/>
                    </a:solidFill>
                  </a:rPr>
                  <a:t>(Plan)</a:t>
                </a:r>
              </a:p>
            </p:txBody>
          </p:sp>
          <p:sp>
            <p:nvSpPr>
              <p:cNvPr id="170" name="Shape 37">
                <a:extLst>
                  <a:ext uri="{FF2B5EF4-FFF2-40B4-BE49-F238E27FC236}">
                    <a16:creationId xmlns:a16="http://schemas.microsoft.com/office/drawing/2014/main" id="{6CC00633-A2ED-4E85-98F5-915767F01623}"/>
                  </a:ext>
                </a:extLst>
              </p:cNvPr>
              <p:cNvSpPr/>
              <p:nvPr/>
            </p:nvSpPr>
            <p:spPr>
              <a:xfrm>
                <a:off x="8340407" y="3195654"/>
                <a:ext cx="1023610" cy="555486"/>
              </a:xfrm>
              <a:prstGeom prst="rect">
                <a:avLst/>
              </a:prstGeom>
              <a:solidFill>
                <a:schemeClr val="bg1">
                  <a:lumMod val="85000"/>
                </a:schemeClr>
              </a:solidFill>
              <a:ln w="9525">
                <a:solidFill>
                  <a:schemeClr val="tx1"/>
                </a:solidFill>
                <a:prstDash val="solid"/>
              </a:ln>
            </p:spPr>
            <p:txBody>
              <a:bodyPr anchor="ctr"/>
              <a:lstStyle/>
              <a:p>
                <a:pPr algn="ctr"/>
                <a:r>
                  <a:rPr lang="en-US" altLang="ko-KR" sz="1000"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dirty="0">
                    <a:solidFill>
                      <a:srgbClr val="1A1A1A"/>
                    </a:solidFill>
                    <a:latin typeface="Malgun Gothic" pitchFamily="34" charset="0"/>
                    <a:ea typeface="Malgun Gothic" pitchFamily="34" charset="-122"/>
                    <a:cs typeface="Malgun Gothic" pitchFamily="34" charset="-120"/>
                  </a:rPr>
                  <a:t>Monitor</a:t>
                </a:r>
              </a:p>
            </p:txBody>
          </p:sp>
          <p:cxnSp>
            <p:nvCxnSpPr>
              <p:cNvPr id="171" name="직선 화살표 연결선 185">
                <a:extLst>
                  <a:ext uri="{FF2B5EF4-FFF2-40B4-BE49-F238E27FC236}">
                    <a16:creationId xmlns:a16="http://schemas.microsoft.com/office/drawing/2014/main" id="{A10F8AFC-DE84-4F55-A9D7-1E2452D3B196}"/>
                  </a:ext>
                </a:extLst>
              </p:cNvPr>
              <p:cNvCxnSpPr>
                <a:cxnSpLocks/>
                <a:stCxn id="169" idx="3"/>
                <a:endCxn id="170" idx="1"/>
              </p:cNvCxnSpPr>
              <p:nvPr/>
            </p:nvCxnSpPr>
            <p:spPr>
              <a:xfrm>
                <a:off x="7929375" y="2750365"/>
                <a:ext cx="411032" cy="723032"/>
              </a:xfrm>
              <a:prstGeom prst="bentConnector3">
                <a:avLst>
                  <a:gd name="adj1" fmla="val 50000"/>
                </a:avLst>
              </a:prstGeom>
              <a:noFill/>
              <a:ln w="9525">
                <a:solidFill>
                  <a:schemeClr val="tx1"/>
                </a:solidFill>
                <a:prstDash val="solid"/>
                <a:headEnd type="none" w="med" len="med"/>
                <a:tailEnd type="triangle" w="med" len="med"/>
              </a:ln>
            </p:spPr>
          </p:cxnSp>
          <p:sp>
            <p:nvSpPr>
              <p:cNvPr id="172" name="Shape 37">
                <a:extLst>
                  <a:ext uri="{FF2B5EF4-FFF2-40B4-BE49-F238E27FC236}">
                    <a16:creationId xmlns:a16="http://schemas.microsoft.com/office/drawing/2014/main" id="{70B458B8-8383-4A34-B3D0-8FE89C2B733A}"/>
                  </a:ext>
                </a:extLst>
              </p:cNvPr>
              <p:cNvSpPr/>
              <p:nvPr/>
            </p:nvSpPr>
            <p:spPr>
              <a:xfrm>
                <a:off x="6561862" y="3253418"/>
                <a:ext cx="1371789" cy="359618"/>
              </a:xfrm>
              <a:prstGeom prst="rect">
                <a:avLst/>
              </a:prstGeom>
              <a:solidFill>
                <a:srgbClr val="FFFFFF"/>
              </a:solidFill>
              <a:ln w="9525">
                <a:solidFill>
                  <a:schemeClr val="tx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Cost Evaluator</a:t>
                </a:r>
              </a:p>
            </p:txBody>
          </p:sp>
          <p:cxnSp>
            <p:nvCxnSpPr>
              <p:cNvPr id="173" name="직선 화살표 연결선 185">
                <a:extLst>
                  <a:ext uri="{FF2B5EF4-FFF2-40B4-BE49-F238E27FC236}">
                    <a16:creationId xmlns:a16="http://schemas.microsoft.com/office/drawing/2014/main" id="{95D5E7CF-8934-4F6E-B767-D7C6E910F7F6}"/>
                  </a:ext>
                </a:extLst>
              </p:cNvPr>
              <p:cNvCxnSpPr>
                <a:cxnSpLocks/>
                <a:stCxn id="169" idx="2"/>
                <a:endCxn id="172" idx="0"/>
              </p:cNvCxnSpPr>
              <p:nvPr/>
            </p:nvCxnSpPr>
            <p:spPr>
              <a:xfrm>
                <a:off x="7243481" y="2967936"/>
                <a:ext cx="4277" cy="285483"/>
              </a:xfrm>
              <a:prstGeom prst="straightConnector1">
                <a:avLst/>
              </a:prstGeom>
              <a:noFill/>
              <a:ln w="9525">
                <a:solidFill>
                  <a:schemeClr val="tx1"/>
                </a:solidFill>
                <a:prstDash val="solid"/>
                <a:headEnd type="none" w="med" len="med"/>
                <a:tailEnd type="triangle" w="med" len="med"/>
              </a:ln>
            </p:spPr>
          </p:cxnSp>
          <p:sp>
            <p:nvSpPr>
              <p:cNvPr id="174" name="Shape 37">
                <a:extLst>
                  <a:ext uri="{FF2B5EF4-FFF2-40B4-BE49-F238E27FC236}">
                    <a16:creationId xmlns:a16="http://schemas.microsoft.com/office/drawing/2014/main" id="{F35F2B03-9D6C-46EF-9020-017926F86EEA}"/>
                  </a:ext>
                </a:extLst>
              </p:cNvPr>
              <p:cNvSpPr/>
              <p:nvPr/>
            </p:nvSpPr>
            <p:spPr>
              <a:xfrm>
                <a:off x="6334829" y="3810455"/>
                <a:ext cx="1825852" cy="359619"/>
              </a:xfrm>
              <a:prstGeom prst="rect">
                <a:avLst/>
              </a:prstGeom>
              <a:solidFill>
                <a:schemeClr val="accent4">
                  <a:lumMod val="20000"/>
                  <a:lumOff val="80000"/>
                </a:schemeClr>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Publisher</a:t>
                </a:r>
              </a:p>
            </p:txBody>
          </p:sp>
          <p:cxnSp>
            <p:nvCxnSpPr>
              <p:cNvPr id="175" name="직선 화살표 연결선 185">
                <a:extLst>
                  <a:ext uri="{FF2B5EF4-FFF2-40B4-BE49-F238E27FC236}">
                    <a16:creationId xmlns:a16="http://schemas.microsoft.com/office/drawing/2014/main" id="{68BFF503-4C29-43B1-9353-9A83B9332F63}"/>
                  </a:ext>
                </a:extLst>
              </p:cNvPr>
              <p:cNvCxnSpPr>
                <a:cxnSpLocks/>
                <a:stCxn id="172" idx="2"/>
                <a:endCxn id="174" idx="0"/>
              </p:cNvCxnSpPr>
              <p:nvPr/>
            </p:nvCxnSpPr>
            <p:spPr>
              <a:xfrm flipH="1">
                <a:off x="7247755" y="3613036"/>
                <a:ext cx="3" cy="197419"/>
              </a:xfrm>
              <a:prstGeom prst="straightConnector1">
                <a:avLst/>
              </a:prstGeom>
              <a:noFill/>
              <a:ln w="11430">
                <a:solidFill>
                  <a:srgbClr val="888C91"/>
                </a:solidFill>
                <a:prstDash val="solid"/>
                <a:headEnd type="none"/>
                <a:tailEnd type="triangle"/>
              </a:ln>
            </p:spPr>
          </p:cxnSp>
        </p:grpSp>
        <p:sp>
          <p:nvSpPr>
            <p:cNvPr id="191" name="Shape 31">
              <a:extLst>
                <a:ext uri="{FF2B5EF4-FFF2-40B4-BE49-F238E27FC236}">
                  <a16:creationId xmlns:a16="http://schemas.microsoft.com/office/drawing/2014/main" id="{7AB93E39-C877-4F6E-91E3-4818D5AD8143}"/>
                </a:ext>
              </a:extLst>
            </p:cNvPr>
            <p:cNvSpPr/>
            <p:nvPr/>
          </p:nvSpPr>
          <p:spPr>
            <a:xfrm>
              <a:off x="10122008"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CPU Worker</a:t>
              </a:r>
              <a:endParaRPr lang="ko-KR" altLang="en-US" sz="800" dirty="0">
                <a:solidFill>
                  <a:schemeClr val="bg1"/>
                </a:solidFill>
              </a:endParaRPr>
            </a:p>
          </p:txBody>
        </p:sp>
        <p:sp>
          <p:nvSpPr>
            <p:cNvPr id="192" name="Shape 31">
              <a:extLst>
                <a:ext uri="{FF2B5EF4-FFF2-40B4-BE49-F238E27FC236}">
                  <a16:creationId xmlns:a16="http://schemas.microsoft.com/office/drawing/2014/main" id="{0FE145B6-CE91-4FE8-9E63-351A03D67391}"/>
                </a:ext>
              </a:extLst>
            </p:cNvPr>
            <p:cNvSpPr/>
            <p:nvPr/>
          </p:nvSpPr>
          <p:spPr>
            <a:xfrm>
              <a:off x="9538389" y="4233616"/>
              <a:ext cx="543586"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GPU Worker</a:t>
              </a:r>
              <a:endParaRPr lang="ko-KR" altLang="en-US" sz="800" dirty="0">
                <a:solidFill>
                  <a:schemeClr val="bg1"/>
                </a:solidFill>
              </a:endParaRPr>
            </a:p>
          </p:txBody>
        </p:sp>
        <p:sp>
          <p:nvSpPr>
            <p:cNvPr id="194" name="Shape 31">
              <a:extLst>
                <a:ext uri="{FF2B5EF4-FFF2-40B4-BE49-F238E27FC236}">
                  <a16:creationId xmlns:a16="http://schemas.microsoft.com/office/drawing/2014/main" id="{9355122B-B076-4AD6-8266-92347533977C}"/>
                </a:ext>
              </a:extLst>
            </p:cNvPr>
            <p:cNvSpPr/>
            <p:nvPr/>
          </p:nvSpPr>
          <p:spPr>
            <a:xfrm>
              <a:off x="10723037" y="4233616"/>
              <a:ext cx="597945" cy="32152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CXL-PNM Worker</a:t>
              </a:r>
              <a:endParaRPr lang="ko-KR" altLang="en-US" sz="800" dirty="0">
                <a:solidFill>
                  <a:schemeClr val="bg1"/>
                </a:solidFill>
              </a:endParaRPr>
            </a:p>
          </p:txBody>
        </p:sp>
        <p:sp>
          <p:nvSpPr>
            <p:cNvPr id="195" name="Shape 31">
              <a:extLst>
                <a:ext uri="{FF2B5EF4-FFF2-40B4-BE49-F238E27FC236}">
                  <a16:creationId xmlns:a16="http://schemas.microsoft.com/office/drawing/2014/main" id="{5B34D1C2-0536-47F9-A4E3-D0D324ADCE23}"/>
                </a:ext>
              </a:extLst>
            </p:cNvPr>
            <p:cNvSpPr/>
            <p:nvPr/>
          </p:nvSpPr>
          <p:spPr>
            <a:xfrm>
              <a:off x="11370490" y="4233616"/>
              <a:ext cx="657740" cy="321525"/>
            </a:xfrm>
            <a:prstGeom prst="rect">
              <a:avLst/>
            </a:prstGeom>
            <a:solidFill>
              <a:schemeClr val="bg1">
                <a:lumMod val="75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dirty="0">
                  <a:solidFill>
                    <a:schemeClr val="bg1"/>
                  </a:solidFill>
                </a:rPr>
                <a:t>New Device Worker</a:t>
              </a:r>
              <a:endParaRPr lang="ko-KR" altLang="en-US" sz="800" dirty="0">
                <a:solidFill>
                  <a:schemeClr val="bg1"/>
                </a:solidFill>
              </a:endParaRPr>
            </a:p>
          </p:txBody>
        </p:sp>
        <p:cxnSp>
          <p:nvCxnSpPr>
            <p:cNvPr id="196" name="직선 화살표 연결선 185">
              <a:extLst>
                <a:ext uri="{FF2B5EF4-FFF2-40B4-BE49-F238E27FC236}">
                  <a16:creationId xmlns:a16="http://schemas.microsoft.com/office/drawing/2014/main" id="{64718AD8-8AEE-402C-9432-118EAEC37816}"/>
                </a:ext>
              </a:extLst>
            </p:cNvPr>
            <p:cNvCxnSpPr>
              <a:cxnSpLocks/>
              <a:stCxn id="188" idx="2"/>
              <a:endCxn id="194" idx="0"/>
            </p:cNvCxnSpPr>
            <p:nvPr/>
          </p:nvCxnSpPr>
          <p:spPr>
            <a:xfrm rot="16200000" flipH="1">
              <a:off x="10700105" y="3911710"/>
              <a:ext cx="321923" cy="321887"/>
            </a:xfrm>
            <a:prstGeom prst="bentConnector3">
              <a:avLst>
                <a:gd name="adj1" fmla="val 50000"/>
              </a:avLst>
            </a:prstGeom>
            <a:noFill/>
            <a:ln w="11430">
              <a:solidFill>
                <a:srgbClr val="888C91"/>
              </a:solidFill>
              <a:prstDash val="solid"/>
              <a:headEnd type="none"/>
              <a:tailEnd type="triangle"/>
            </a:ln>
          </p:spPr>
        </p:cxnSp>
        <p:sp>
          <p:nvSpPr>
            <p:cNvPr id="3310" name="C2 freshness note"/>
            <p:cNvSpPr txBox="1"/>
            <p:nvPr/>
          </p:nvSpPr>
          <p:spPr>
            <a:xfrm>
              <a:off x="7679898" y="4028093"/>
              <a:ext cx="1452235"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Execution</a:t>
              </a:r>
              <a:r>
                <a:rPr lang="ko-KR" altLang="en-US" sz="900" b="0" i="0" dirty="0">
                  <a:solidFill>
                    <a:srgbClr val="808080"/>
                  </a:solidFill>
                  <a:latin typeface="맑은 고딕"/>
                  <a:ea typeface="맑은 고딕"/>
                </a:rPr>
                <a:t> </a:t>
              </a:r>
              <a:r>
                <a:rPr lang="en-US" altLang="ko-KR" sz="900" b="0" i="0" dirty="0">
                  <a:solidFill>
                    <a:srgbClr val="808080"/>
                  </a:solidFill>
                  <a:latin typeface="맑은 고딕"/>
                  <a:ea typeface="맑은 고딕"/>
                </a:rPr>
                <a:t>Plan</a:t>
              </a:r>
              <a:r>
                <a:rPr lang="ko-KR" altLang="en-US" sz="900" b="0" i="0" dirty="0">
                  <a:solidFill>
                    <a:srgbClr val="808080"/>
                  </a:solidFill>
                  <a:latin typeface="맑은 고딕"/>
                  <a:ea typeface="맑은 고딕"/>
                </a:rPr>
                <a:t> 및 </a:t>
              </a:r>
              <a:r>
                <a:rPr lang="ko-KR" altLang="en-US" sz="900" dirty="0">
                  <a:solidFill>
                    <a:srgbClr val="808080"/>
                  </a:solidFill>
                  <a:latin typeface="맑은 고딕"/>
                  <a:ea typeface="맑은 고딕"/>
                </a:rPr>
                <a:t>상태 저장</a:t>
              </a:r>
              <a:endParaRPr sz="900" b="0" i="0" dirty="0">
                <a:solidFill>
                  <a:srgbClr val="808080"/>
                </a:solidFill>
                <a:latin typeface="맑은 고딕"/>
                <a:ea typeface="맑은 고딕"/>
              </a:endParaRPr>
            </a:p>
          </p:txBody>
        </p:sp>
        <p:sp>
          <p:nvSpPr>
            <p:cNvPr id="110" name="C2 freshness note">
              <a:extLst>
                <a:ext uri="{FF2B5EF4-FFF2-40B4-BE49-F238E27FC236}">
                  <a16:creationId xmlns:a16="http://schemas.microsoft.com/office/drawing/2014/main" id="{127B7BA2-AF32-48BD-B4B6-6292B5DF4C0B}"/>
                </a:ext>
              </a:extLst>
            </p:cNvPr>
            <p:cNvSpPr txBox="1"/>
            <p:nvPr/>
          </p:nvSpPr>
          <p:spPr>
            <a:xfrm>
              <a:off x="10762871" y="3300036"/>
              <a:ext cx="542659" cy="138499"/>
            </a:xfrm>
            <a:prstGeom prst="rect">
              <a:avLst/>
            </a:prstGeom>
            <a:noFill/>
          </p:spPr>
          <p:txBody>
            <a:bodyPr wrap="square" lIns="0" tIns="0" rIns="0" bIns="0" anchor="ctr">
              <a:spAutoFit/>
            </a:bodyPr>
            <a:lstStyle/>
            <a:p>
              <a:pPr algn="l">
                <a:lnSpc>
                  <a:spcPct val="100000"/>
                </a:lnSpc>
              </a:pPr>
              <a:r>
                <a:rPr lang="en-US" sz="900" b="0" i="0" dirty="0">
                  <a:solidFill>
                    <a:srgbClr val="808080"/>
                  </a:solidFill>
                  <a:latin typeface="맑은 고딕"/>
                  <a:ea typeface="맑은 고딕"/>
                </a:rPr>
                <a:t>If match </a:t>
              </a:r>
              <a:endParaRPr sz="900" b="0" i="0" dirty="0">
                <a:solidFill>
                  <a:srgbClr val="808080"/>
                </a:solidFill>
                <a:latin typeface="맑은 고딕"/>
                <a:ea typeface="맑은 고딕"/>
              </a:endParaRPr>
            </a:p>
          </p:txBody>
        </p:sp>
        <p:sp>
          <p:nvSpPr>
            <p:cNvPr id="113" name="TextBox 112">
              <a:extLst>
                <a:ext uri="{FF2B5EF4-FFF2-40B4-BE49-F238E27FC236}">
                  <a16:creationId xmlns:a16="http://schemas.microsoft.com/office/drawing/2014/main" id="{21A4406A-848C-40A9-8F3E-43EAB95C7998}"/>
                </a:ext>
              </a:extLst>
            </p:cNvPr>
            <p:cNvSpPr txBox="1"/>
            <p:nvPr/>
          </p:nvSpPr>
          <p:spPr>
            <a:xfrm>
              <a:off x="9528263" y="2716734"/>
              <a:ext cx="640080" cy="138499"/>
            </a:xfrm>
            <a:prstGeom prst="rect">
              <a:avLst/>
            </a:prstGeom>
            <a:noFill/>
          </p:spPr>
          <p:txBody>
            <a:bodyPr wrap="square" lIns="0" tIns="0" rIns="0" bIns="0" anchor="ctr">
              <a:spAutoFit/>
            </a:bodyPr>
            <a:lstStyle/>
            <a:p>
              <a:pPr algn="ctr">
                <a:lnSpc>
                  <a:spcPct val="100000"/>
                </a:lnSpc>
              </a:pPr>
              <a:r>
                <a:rPr lang="en-US" sz="900" b="0" i="0" dirty="0">
                  <a:solidFill>
                    <a:srgbClr val="C55A11"/>
                  </a:solidFill>
                  <a:latin typeface="맑은 고딕"/>
                  <a:ea typeface="맑은 고딕"/>
                </a:rPr>
                <a:t>If </a:t>
              </a:r>
              <a:r>
                <a:rPr lang="en-US" sz="900" dirty="0">
                  <a:solidFill>
                    <a:srgbClr val="C55A11"/>
                  </a:solidFill>
                  <a:latin typeface="맑은 고딕"/>
                  <a:ea typeface="맑은 고딕"/>
                </a:rPr>
                <a:t>m</a:t>
              </a:r>
              <a:r>
                <a:rPr lang="en-US" sz="900" b="0" i="0" dirty="0">
                  <a:solidFill>
                    <a:srgbClr val="C55A11"/>
                  </a:solidFill>
                  <a:latin typeface="맑은 고딕"/>
                  <a:ea typeface="맑은 고딕"/>
                </a:rPr>
                <a:t>ismatch</a:t>
              </a:r>
              <a:endParaRPr sz="900" b="0" i="0" dirty="0">
                <a:solidFill>
                  <a:srgbClr val="C55A11"/>
                </a:solidFill>
                <a:latin typeface="맑은 고딕"/>
                <a:ea typeface="맑은 고딕"/>
              </a:endParaRPr>
            </a:p>
          </p:txBody>
        </p:sp>
        <p:sp>
          <p:nvSpPr>
            <p:cNvPr id="162" name="Rectangle 9065">
              <a:extLst>
                <a:ext uri="{FF2B5EF4-FFF2-40B4-BE49-F238E27FC236}">
                  <a16:creationId xmlns:a16="http://schemas.microsoft.com/office/drawing/2014/main" id="{DC0FC1D3-B7E6-42CE-84E0-E28CE1ED44E9}"/>
                </a:ext>
              </a:extLst>
            </p:cNvPr>
            <p:cNvSpPr/>
            <p:nvPr/>
          </p:nvSpPr>
          <p:spPr>
            <a:xfrm>
              <a:off x="6650290" y="2283984"/>
              <a:ext cx="265546" cy="1121705"/>
            </a:xfrm>
            <a:prstGeom prst="rect">
              <a:avLst/>
            </a:prstGeom>
            <a:solidFill>
              <a:schemeClr val="bg2">
                <a:lumMod val="5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eaVert" lIns="36000" tIns="18000" rIns="36000" bIns="18000" rtlCol="0" anchor="ctr">
              <a:noAutofit/>
            </a:bodyPr>
            <a:lstStyle/>
            <a:p>
              <a:pPr algn="ctr"/>
              <a:r>
                <a:rPr lang="en-US" sz="900" dirty="0">
                  <a:solidFill>
                    <a:schemeClr val="bg1"/>
                  </a:solidFill>
                </a:rPr>
                <a:t>Common Memory</a:t>
              </a:r>
            </a:p>
            <a:p>
              <a:pPr algn="ctr"/>
              <a:r>
                <a:rPr lang="en-US" sz="900" dirty="0">
                  <a:solidFill>
                    <a:schemeClr val="bg1"/>
                  </a:solidFill>
                </a:rPr>
                <a:t> Backend Interface</a:t>
              </a:r>
            </a:p>
          </p:txBody>
        </p:sp>
        <p:cxnSp>
          <p:nvCxnSpPr>
            <p:cNvPr id="177" name="직선 화살표 연결선 185">
              <a:extLst>
                <a:ext uri="{FF2B5EF4-FFF2-40B4-BE49-F238E27FC236}">
                  <a16:creationId xmlns:a16="http://schemas.microsoft.com/office/drawing/2014/main" id="{643E492D-CE08-4786-9B0D-A7E6F1A63A29}"/>
                </a:ext>
              </a:extLst>
            </p:cNvPr>
            <p:cNvCxnSpPr>
              <a:cxnSpLocks/>
              <a:stCxn id="162" idx="3"/>
              <a:endCxn id="169" idx="1"/>
            </p:cNvCxnSpPr>
            <p:nvPr/>
          </p:nvCxnSpPr>
          <p:spPr>
            <a:xfrm flipV="1">
              <a:off x="6915836" y="2840572"/>
              <a:ext cx="208937" cy="4265"/>
            </a:xfrm>
            <a:prstGeom prst="straightConnector1">
              <a:avLst/>
            </a:prstGeom>
            <a:noFill/>
            <a:ln w="11430">
              <a:solidFill>
                <a:srgbClr val="888C91"/>
              </a:solidFill>
              <a:prstDash val="solid"/>
              <a:headEnd type="none"/>
              <a:tailEnd type="triangle"/>
            </a:ln>
          </p:spPr>
        </p:cxnSp>
      </p:grpSp>
      <p:cxnSp>
        <p:nvCxnSpPr>
          <p:cNvPr id="14" name="직선 연결선 13"/>
          <p:cNvCxnSpPr/>
          <p:nvPr/>
        </p:nvCxnSpPr>
        <p:spPr>
          <a:xfrm>
            <a:off x="9348289" y="1809408"/>
            <a:ext cx="0" cy="2790583"/>
          </a:xfrm>
          <a:prstGeom prst="line">
            <a:avLst/>
          </a:prstGeom>
          <a:noFill/>
          <a:ln w="12700">
            <a:solidFill>
              <a:srgbClr val="C76E31"/>
            </a:solidFill>
            <a:prstDash val="dash"/>
          </a:ln>
        </p:spPr>
      </p:cxnSp>
      <p:sp>
        <p:nvSpPr>
          <p:cNvPr id="114" name="TextBox 113"/>
          <p:cNvSpPr txBox="1"/>
          <p:nvPr/>
        </p:nvSpPr>
        <p:spPr>
          <a:xfrm>
            <a:off x="8296768" y="5956025"/>
            <a:ext cx="2821942" cy="215444"/>
          </a:xfrm>
          <a:prstGeom prst="rect">
            <a:avLst/>
          </a:prstGeom>
          <a:noFill/>
        </p:spPr>
        <p:txBody>
          <a:bodyPr wrap="square" rtlCol="0">
            <a:spAutoFit/>
          </a:bodyPr>
          <a:lstStyle/>
          <a:p>
            <a:r>
              <a:rPr lang="en-US" altLang="ko-KR" sz="800" dirty="0">
                <a:solidFill>
                  <a:srgbClr val="0000FF"/>
                </a:solidFill>
              </a:rPr>
              <a:t>Re-plan</a:t>
            </a:r>
            <a:r>
              <a:rPr lang="ko-KR" altLang="en-US" sz="800" dirty="0">
                <a:solidFill>
                  <a:srgbClr val="0000FF"/>
                </a:solidFill>
              </a:rPr>
              <a:t>으로 인한 메모리 압박 대응 지연의 영향이 적음</a:t>
            </a:r>
          </a:p>
        </p:txBody>
      </p:sp>
      <p:sp>
        <p:nvSpPr>
          <p:cNvPr id="115" name="모서리가 둥근 직사각형 114"/>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F2 </a:t>
            </a:r>
            <a:r>
              <a:rPr lang="ko-KR" altLang="en-US" sz="700" dirty="0">
                <a:latin typeface="맑은 고딕" panose="020B0503020000020004" pitchFamily="50" charset="-127"/>
              </a:rPr>
              <a:t>추론 스케줄링</a:t>
            </a:r>
          </a:p>
        </p:txBody>
      </p:sp>
      <p:sp>
        <p:nvSpPr>
          <p:cNvPr id="116"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17" name="모서리가 둥근 직사각형 37">
            <a:extLst>
              <a:ext uri="{FF2B5EF4-FFF2-40B4-BE49-F238E27FC236}">
                <a16:creationId xmlns:a16="http://schemas.microsoft.com/office/drawing/2014/main" id="{E99FD0CC-4F44-40AB-8E8E-E5E878FDD956}"/>
              </a:ext>
            </a:extLst>
          </p:cNvPr>
          <p:cNvSpPr/>
          <p:nvPr/>
        </p:nvSpPr>
        <p:spPr>
          <a:xfrm>
            <a:off x="8617288"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18" name="모서리가 둥근 직사각형 37">
            <a:extLst>
              <a:ext uri="{FF2B5EF4-FFF2-40B4-BE49-F238E27FC236}">
                <a16:creationId xmlns:a16="http://schemas.microsoft.com/office/drawing/2014/main" id="{63E127C8-1374-4049-8A7A-84E9B191F365}"/>
              </a:ext>
            </a:extLst>
          </p:cNvPr>
          <p:cNvSpPr/>
          <p:nvPr/>
        </p:nvSpPr>
        <p:spPr>
          <a:xfrm>
            <a:off x="9506874"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119"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21" name="모서리가 둥근 직사각형 37">
            <a:extLst>
              <a:ext uri="{FF2B5EF4-FFF2-40B4-BE49-F238E27FC236}">
                <a16:creationId xmlns:a16="http://schemas.microsoft.com/office/drawing/2014/main" id="{476B6E1C-7561-417D-A669-4DEFCE610223}"/>
              </a:ext>
            </a:extLst>
          </p:cNvPr>
          <p:cNvSpPr/>
          <p:nvPr/>
        </p:nvSpPr>
        <p:spPr>
          <a:xfrm>
            <a:off x="7876884"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27"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29" name="모서리가 둥근 직사각형 128"/>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추론 요청 관리</a:t>
            </a:r>
          </a:p>
        </p:txBody>
      </p:sp>
      <p:sp>
        <p:nvSpPr>
          <p:cNvPr id="3311" name="legend_v4"/>
          <p:cNvSpPr txBox="1"/>
          <p:nvPr/>
        </p:nvSpPr>
        <p:spPr>
          <a:xfrm>
            <a:off x="566928" y="6583680"/>
            <a:ext cx="3931920" cy="256032"/>
          </a:xfrm>
          <a:prstGeom prst="rect">
            <a:avLst/>
          </a:prstGeom>
          <a:noFill/>
        </p:spPr>
        <p:txBody>
          <a:bodyPr wrap="square" lIns="18288" tIns="0" rIns="18288" bIns="0" anchor="t">
            <a:spAutoFit/>
          </a:bodyPr>
          <a:lstStyle/>
          <a:p>
            <a:pPr algn="l">
              <a:lnSpc>
                <a:spcPct val="95000"/>
              </a:lnSpc>
              <a:spcAft>
                <a:spcPts val="0"/>
              </a:spcAft>
            </a:pPr>
            <a:r>
              <a:rPr sz="630" b="0">
                <a:solidFill>
                  <a:srgbClr val="595959"/>
                </a:solidFill>
                <a:latin typeface="맑은 고딕"/>
                <a:ea typeface="맑은 고딕"/>
              </a:rPr>
              <a:t>작은 수치 = B1(정적 offload) → 후보의 이론 예상값(분석 모델, 시뮬레이션 아님)과 개선율. </a:t>
            </a:r>
            <a:r>
              <a:rPr sz="630" b="0">
                <a:solidFill>
                  <a:srgbClr val="0000FF"/>
                </a:solidFill>
                <a:latin typeface="맑은 고딕"/>
                <a:ea typeface="맑은 고딕"/>
              </a:rPr>
              <a:t>파란 글씨 = 소유자 별 대비 코멘트.</a:t>
            </a:r>
          </a:p>
        </p:txBody>
      </p:sp>
    </p:spTree>
    <p:extLst>
      <p:ext uri="{BB962C8B-B14F-4D97-AF65-F5344CB8AC3E}">
        <p14:creationId xmlns:p14="http://schemas.microsoft.com/office/powerpoint/2010/main" val="3177051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3699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840480">
                  <a:extLst>
                    <a:ext uri="{9D8B030D-6E8A-4147-A177-3AD203B41FA5}">
                      <a16:colId xmlns:a16="http://schemas.microsoft.com/office/drawing/2014/main" val="5654497"/>
                    </a:ext>
                  </a:extLst>
                </a:gridCol>
                <a:gridCol w="1600200">
                  <a:extLst>
                    <a:ext uri="{9D8B030D-6E8A-4147-A177-3AD203B41FA5}">
                      <a16:colId xmlns:a16="http://schemas.microsoft.com/office/drawing/2014/main" val="4114062400"/>
                    </a:ext>
                  </a:extLst>
                </a:gridCol>
                <a:gridCol w="3840480">
                  <a:extLst>
                    <a:ext uri="{9D8B030D-6E8A-4147-A177-3AD203B41FA5}">
                      <a16:colId xmlns:a16="http://schemas.microsoft.com/office/drawing/2014/main" val="3070054508"/>
                    </a:ext>
                  </a:extLst>
                </a:gridCol>
                <a:gridCol w="1600200">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Pipe-and-Filter</a:t>
                      </a:r>
                      <a:r>
                        <a:rPr lang="en-US" altLang="ko-KR" sz="1200" b="1" baseline="0" dirty="0"/>
                        <a:t> </a:t>
                      </a:r>
                      <a:r>
                        <a:rPr lang="ko-KR" altLang="en-US" sz="1200" b="1" baseline="0" dirty="0"/>
                        <a:t>구조</a:t>
                      </a:r>
                      <a:r>
                        <a:rPr lang="en-US" altLang="ko-KR" sz="1200" b="1" baseline="0" dirty="0"/>
                        <a:t>: </a:t>
                      </a:r>
                      <a:r>
                        <a:rPr lang="ko-KR" altLang="en-US" sz="1200" b="1" baseline="0" dirty="0" err="1">
                          <a:solidFill>
                            <a:srgbClr val="0066FF"/>
                          </a:solidFill>
                        </a:rPr>
                        <a:t>요청마다</a:t>
                      </a:r>
                      <a:r>
                        <a:rPr lang="ko-KR" altLang="en-US" sz="1200" b="1" baseline="0" dirty="0">
                          <a:solidFill>
                            <a:srgbClr val="0066FF"/>
                          </a:solidFill>
                        </a:rPr>
                        <a:t> 전체 체인 실행</a:t>
                      </a:r>
                      <a:endParaRPr lang="en-US" altLang="ko-KR" sz="1050" b="1" kern="1200" baseline="0" dirty="0">
                        <a:solidFill>
                          <a:srgbClr val="0066FF"/>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Shared</a:t>
                      </a:r>
                      <a:r>
                        <a:rPr lang="en-US" altLang="ko-KR" sz="1200" b="1" baseline="0" dirty="0"/>
                        <a:t> </a:t>
                      </a:r>
                      <a:r>
                        <a:rPr lang="en-US" altLang="ko-KR" sz="1200" b="1" dirty="0"/>
                        <a:t>Repository </a:t>
                      </a:r>
                      <a:r>
                        <a:rPr lang="ko-KR" altLang="en-US" sz="1200" b="1" dirty="0"/>
                        <a:t>구조</a:t>
                      </a:r>
                      <a:r>
                        <a:rPr lang="en-US" altLang="ko-KR" sz="1200" b="1" dirty="0"/>
                        <a:t>:</a:t>
                      </a:r>
                      <a:r>
                        <a:rPr lang="en-US" altLang="ko-KR" sz="1200" b="1" baseline="0" dirty="0"/>
                        <a:t> </a:t>
                      </a:r>
                      <a:r>
                        <a:rPr lang="ko-KR" altLang="en-US" sz="1200" b="1" baseline="0" dirty="0">
                          <a:solidFill>
                            <a:schemeClr val="accent2"/>
                          </a:solidFill>
                        </a:rPr>
                        <a:t>분석 </a:t>
                      </a:r>
                      <a:r>
                        <a:rPr lang="en-US" altLang="ko-KR" sz="1200" b="1" baseline="0" dirty="0">
                          <a:solidFill>
                            <a:schemeClr val="accent2"/>
                          </a:solidFill>
                        </a:rPr>
                        <a:t>1</a:t>
                      </a:r>
                      <a:r>
                        <a:rPr lang="ko-KR" altLang="en-US" sz="1200" b="1" baseline="0" dirty="0">
                          <a:solidFill>
                            <a:schemeClr val="accent2"/>
                          </a:solidFill>
                        </a:rPr>
                        <a:t>회 </a:t>
                      </a:r>
                      <a:r>
                        <a:rPr lang="en-US" altLang="ko-KR" sz="1200" b="1" baseline="0" dirty="0">
                          <a:solidFill>
                            <a:schemeClr val="accent2"/>
                          </a:solidFill>
                        </a:rPr>
                        <a:t>+ </a:t>
                      </a:r>
                      <a:r>
                        <a:rPr lang="ko-KR" altLang="en-US" sz="1200" b="1" baseline="0" dirty="0" err="1">
                          <a:solidFill>
                            <a:schemeClr val="accent2"/>
                          </a:solidFill>
                        </a:rPr>
                        <a:t>요청마다</a:t>
                      </a:r>
                      <a:r>
                        <a:rPr lang="ko-KR" altLang="en-US" sz="1200" b="1" baseline="0" dirty="0">
                          <a:solidFill>
                            <a:schemeClr val="accent2"/>
                          </a:solidFill>
                        </a:rPr>
                        <a:t> 조회 </a:t>
                      </a:r>
                      <a:endParaRPr lang="ko-KR" altLang="en-US" sz="1200" b="1" dirty="0">
                        <a:solidFill>
                          <a:schemeClr val="accent2"/>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573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lnSpc>
                          <a:spcPct val="150000"/>
                        </a:lnSpc>
                      </a:pPr>
                      <a:endParaRPr lang="en-US" altLang="ko-KR" sz="1200" dirty="0"/>
                    </a:p>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endParaRPr lang="en-US" altLang="ko-KR" sz="1050" dirty="0">
                        <a:effectLst/>
                      </a:endParaRPr>
                    </a:p>
                    <a:p>
                      <a:pPr latinLnBrk="1"/>
                      <a:endParaRPr lang="en-US" altLang="ko-KR" sz="1050" dirty="0">
                        <a:effectLst/>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입력 </a:t>
                      </a:r>
                      <a:r>
                        <a:rPr lang="en-US" altLang="ko-KR" sz="1200" strike="noStrike" baseline="0" dirty="0">
                          <a:effectLst/>
                        </a:rPr>
                        <a:t>Query</a:t>
                      </a:r>
                      <a:r>
                        <a:rPr lang="ko-KR" altLang="en-US" sz="1200" strike="noStrike" baseline="0" dirty="0">
                          <a:effectLst/>
                        </a:rPr>
                        <a:t>에 맞게 재사용할 </a:t>
                      </a:r>
                      <a:r>
                        <a:rPr lang="en-US" altLang="ko-KR" sz="1200" strike="noStrike" baseline="0" dirty="0">
                          <a:effectLst/>
                        </a:rPr>
                        <a:t>KV </a:t>
                      </a:r>
                      <a:r>
                        <a:rPr lang="ko-KR" altLang="en-US" sz="1200" strike="noStrike" baseline="0" dirty="0">
                          <a:effectLst/>
                        </a:rPr>
                        <a:t>캐시만 보유 </a:t>
                      </a:r>
                      <a:r>
                        <a:rPr lang="en-US" altLang="ko-KR" sz="1200" strike="noStrike" baseline="0" dirty="0">
                          <a:effectLst/>
                        </a:rPr>
                        <a:t>(Q2)</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effectLst/>
                        </a:rPr>
                        <a:t>Filter</a:t>
                      </a:r>
                      <a:r>
                        <a:rPr lang="ko-KR" altLang="en-US" sz="1200" strike="noStrike" baseline="0" dirty="0">
                          <a:effectLst/>
                        </a:rPr>
                        <a:t>별 병렬 실행으로 요청 간 경합을 분산 </a:t>
                      </a:r>
                      <a:r>
                        <a:rPr lang="en-US" altLang="ko-KR" sz="1200" strike="noStrike" baseline="0" dirty="0">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b="0" i="0" dirty="0">
                          <a:solidFill>
                            <a:srgbClr val="404040"/>
                          </a:solidFill>
                          <a:latin typeface="+mn-lt"/>
                          <a:ea typeface="맑은 고딕"/>
                        </a:rPr>
                        <a:t>사전에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재계산 위치를 결정하므로 </a:t>
                      </a:r>
                      <a:r>
                        <a:rPr lang="ko-KR" altLang="en-US" sz="1200" b="0" i="0" dirty="0" err="1">
                          <a:solidFill>
                            <a:srgbClr val="404040"/>
                          </a:solidFill>
                          <a:latin typeface="+mn-lt"/>
                          <a:ea typeface="맑은 고딕"/>
                        </a:rPr>
                        <a:t>서빙</a:t>
                      </a:r>
                      <a:r>
                        <a:rPr lang="ko-KR" altLang="en-US" sz="1200" b="0" i="0" dirty="0">
                          <a:solidFill>
                            <a:srgbClr val="404040"/>
                          </a:solidFill>
                          <a:latin typeface="+mn-lt"/>
                          <a:ea typeface="맑은 고딕"/>
                        </a:rPr>
                        <a:t> 경로 절감</a:t>
                      </a:r>
                      <a:r>
                        <a:rPr lang="en-US" altLang="ko-KR" sz="1200" b="0" i="0" dirty="0">
                          <a:solidFill>
                            <a:srgbClr val="404040"/>
                          </a:solidFill>
                          <a:latin typeface="+mn-lt"/>
                          <a:ea typeface="맑은 고딕"/>
                        </a:rPr>
                        <a:t>, </a:t>
                      </a:r>
                      <a:r>
                        <a:rPr lang="ko-KR" altLang="en-US" sz="1200" b="0" i="0" dirty="0">
                          <a:solidFill>
                            <a:srgbClr val="404040"/>
                          </a:solidFill>
                          <a:latin typeface="+mn-lt"/>
                          <a:ea typeface="맑은 고딕"/>
                        </a:rPr>
                        <a:t>처리량 유리 </a:t>
                      </a:r>
                      <a:r>
                        <a:rPr lang="en-US" altLang="ko-KR" sz="1200" b="0" i="0" dirty="0">
                          <a:solidFill>
                            <a:srgbClr val="404040"/>
                          </a:solidFill>
                          <a:latin typeface="+mn-lt"/>
                          <a:ea typeface="맑은 고딕"/>
                        </a:rPr>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i="0" dirty="0">
                          <a:solidFill>
                            <a:srgbClr val="404040"/>
                          </a:solidFill>
                          <a:latin typeface="+mn-lt"/>
                          <a:ea typeface="맑은 고딕"/>
                        </a:rPr>
                        <a:t>Critical</a:t>
                      </a:r>
                      <a:r>
                        <a:rPr lang="en-US" altLang="ko-KR" sz="1200" b="0" i="0" baseline="0" dirty="0">
                          <a:solidFill>
                            <a:srgbClr val="404040"/>
                          </a:solidFill>
                          <a:latin typeface="+mn-lt"/>
                          <a:ea typeface="맑은 고딕"/>
                        </a:rPr>
                        <a:t> path</a:t>
                      </a:r>
                      <a:r>
                        <a:rPr lang="ko-KR" altLang="en-US" sz="1200" b="0" i="0" baseline="0" dirty="0">
                          <a:solidFill>
                            <a:srgbClr val="404040"/>
                          </a:solidFill>
                          <a:latin typeface="+mn-lt"/>
                          <a:ea typeface="맑은 고딕"/>
                        </a:rPr>
                        <a:t>가 </a:t>
                      </a:r>
                      <a:r>
                        <a:rPr lang="en-US" altLang="ko-KR" sz="1200" b="0" i="0" baseline="0" dirty="0">
                          <a:solidFill>
                            <a:srgbClr val="404040"/>
                          </a:solidFill>
                          <a:latin typeface="+mn-lt"/>
                          <a:ea typeface="맑은 고딕"/>
                        </a:rPr>
                        <a:t>SR </a:t>
                      </a:r>
                      <a:r>
                        <a:rPr lang="ko-KR" altLang="en-US" sz="1200" b="0" i="0" baseline="0" dirty="0">
                          <a:solidFill>
                            <a:srgbClr val="404040"/>
                          </a:solidFill>
                          <a:latin typeface="+mn-lt"/>
                          <a:ea typeface="맑은 고딕"/>
                        </a:rPr>
                        <a:t>조회 </a:t>
                      </a:r>
                      <a:r>
                        <a:rPr lang="en-US" altLang="ko-KR" sz="1200" b="0" i="0" baseline="0" dirty="0">
                          <a:solidFill>
                            <a:srgbClr val="404040"/>
                          </a:solidFill>
                          <a:latin typeface="+mn-lt"/>
                          <a:ea typeface="맑은 고딕"/>
                        </a:rPr>
                        <a:t>1</a:t>
                      </a:r>
                      <a:r>
                        <a:rPr lang="ko-KR" altLang="en-US" sz="1200" b="0" i="0" baseline="0" dirty="0">
                          <a:solidFill>
                            <a:srgbClr val="404040"/>
                          </a:solidFill>
                          <a:latin typeface="+mn-lt"/>
                          <a:ea typeface="맑은 고딕"/>
                        </a:rPr>
                        <a:t>회 뿐 </a:t>
                      </a:r>
                      <a:r>
                        <a:rPr lang="ko-KR" altLang="en-US" sz="1200" strike="noStrike" baseline="0" dirty="0">
                          <a:effectLst/>
                          <a:latin typeface="맑은 고딕" panose="020B0503020000020004" pitchFamily="50" charset="-127"/>
                          <a:ea typeface="+mn-ea"/>
                        </a:rPr>
                        <a:t>→</a:t>
                      </a:r>
                      <a:r>
                        <a:rPr lang="en-US" altLang="ko-KR" sz="1200" b="0" i="0" baseline="0" dirty="0">
                          <a:solidFill>
                            <a:srgbClr val="404040"/>
                          </a:solidFill>
                          <a:latin typeface="+mn-lt"/>
                          <a:ea typeface="맑은 고딕"/>
                        </a:rPr>
                        <a:t> </a:t>
                      </a:r>
                      <a:r>
                        <a:rPr lang="ko-KR" altLang="en-US" sz="1200" b="0" i="0" baseline="0" dirty="0">
                          <a:solidFill>
                            <a:srgbClr val="404040"/>
                          </a:solidFill>
                          <a:latin typeface="+mn-lt"/>
                          <a:ea typeface="맑은 고딕"/>
                        </a:rPr>
                        <a:t>부하가 올라도 </a:t>
                      </a:r>
                      <a:r>
                        <a:rPr lang="en-US" altLang="ko-KR" sz="1200" b="0" i="0" baseline="0" dirty="0">
                          <a:solidFill>
                            <a:srgbClr val="404040"/>
                          </a:solidFill>
                          <a:latin typeface="+mn-lt"/>
                          <a:ea typeface="맑은 고딕"/>
                        </a:rPr>
                        <a:t>tail latency </a:t>
                      </a:r>
                      <a:r>
                        <a:rPr lang="ko-KR" altLang="en-US" sz="1200" b="0" i="0" baseline="0" dirty="0">
                          <a:solidFill>
                            <a:srgbClr val="404040"/>
                          </a:solidFill>
                          <a:latin typeface="+mn-lt"/>
                          <a:ea typeface="맑은 고딕"/>
                        </a:rPr>
                        <a:t>평탄 </a:t>
                      </a:r>
                      <a:r>
                        <a:rPr lang="en-US" altLang="ko-KR" sz="1200" b="0" i="0" baseline="0" dirty="0">
                          <a:solidFill>
                            <a:srgbClr val="404040"/>
                          </a:solidFill>
                          <a:latin typeface="+mn-lt"/>
                          <a:ea typeface="맑은 고딕"/>
                        </a:rPr>
                        <a:t>(Q3)</a:t>
                      </a:r>
                      <a:endParaRPr lang="en-US" altLang="ko-KR" sz="1200" b="0" i="0" dirty="0">
                        <a:solidFill>
                          <a:srgbClr val="404040"/>
                        </a:solidFill>
                        <a:latin typeface="+mn-lt"/>
                        <a:ea typeface="맑은 고딕"/>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72466">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동일한 </a:t>
                      </a:r>
                      <a:r>
                        <a:rPr lang="en-US" altLang="ko-KR" sz="1200" strike="noStrike" baseline="0" dirty="0">
                          <a:effectLst/>
                        </a:rPr>
                        <a:t>Query</a:t>
                      </a:r>
                      <a:r>
                        <a:rPr lang="ko-KR" altLang="en-US" sz="1200" strike="noStrike" baseline="0" dirty="0">
                          <a:effectLst/>
                        </a:rPr>
                        <a:t>의 요청이 들어오는 경우 전체 체인을 재실행하는 중복 계산 발생 우려</a:t>
                      </a:r>
                      <a:r>
                        <a:rPr lang="en-US" altLang="ko-KR" sz="1200" strike="noStrike" baseline="0" dirty="0">
                          <a:effectLst/>
                        </a:rPr>
                        <a:t>, </a:t>
                      </a:r>
                      <a:r>
                        <a:rPr lang="ko-KR" altLang="en-US" sz="1200" strike="noStrike" baseline="0" dirty="0">
                          <a:effectLst/>
                        </a:rPr>
                        <a:t>처리량 불리 </a:t>
                      </a:r>
                      <a:r>
                        <a:rPr lang="en-US" altLang="ko-KR" sz="1200" strike="noStrike" baseline="0" dirty="0">
                          <a:effectLst/>
                        </a:rPr>
                        <a:t>(Q1)</a:t>
                      </a:r>
                    </a:p>
                    <a:p>
                      <a:pPr marL="228600" indent="-228600" latinLnBrk="1">
                        <a:lnSpc>
                          <a:spcPct val="100000"/>
                        </a:lnSpc>
                        <a:buFont typeface="Wingdings" panose="05000000000000000000" pitchFamily="2" charset="2"/>
                        <a:buChar char="§"/>
                      </a:pPr>
                      <a:r>
                        <a:rPr lang="ko-KR" altLang="en-US" sz="1200" strike="noStrike" baseline="0" dirty="0">
                          <a:effectLst/>
                        </a:rPr>
                        <a:t>고부하 시 체인 지연이 </a:t>
                      </a:r>
                      <a:r>
                        <a:rPr lang="ko-KR" altLang="en-US" sz="1200" strike="noStrike" baseline="0" dirty="0" err="1">
                          <a:effectLst/>
                        </a:rPr>
                        <a:t>큐잉과</a:t>
                      </a:r>
                      <a:r>
                        <a:rPr lang="ko-KR" altLang="en-US" sz="1200" strike="noStrike" baseline="0" dirty="0">
                          <a:effectLst/>
                        </a:rPr>
                        <a:t> 겹쳐 </a:t>
                      </a:r>
                      <a:r>
                        <a:rPr lang="en-US" altLang="ko-KR" sz="1200" strike="noStrike" baseline="0" dirty="0">
                          <a:effectLst/>
                        </a:rPr>
                        <a:t>tail latency </a:t>
                      </a:r>
                      <a:r>
                        <a:rPr lang="ko-KR" altLang="en-US" sz="1200" strike="noStrike" baseline="0" dirty="0">
                          <a:effectLst/>
                        </a:rPr>
                        <a:t>발산 </a:t>
                      </a:r>
                      <a:r>
                        <a:rPr lang="en-US" altLang="ko-KR" sz="1200" strike="noStrike" baseline="0" dirty="0">
                          <a:effectLst/>
                        </a:rPr>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재사용 </a:t>
                      </a:r>
                      <a:r>
                        <a:rPr lang="en-US" altLang="ko-KR" sz="1200" strike="noStrike" baseline="0" dirty="0">
                          <a:effectLst/>
                        </a:rPr>
                        <a:t>KV </a:t>
                      </a:r>
                      <a:r>
                        <a:rPr lang="ko-KR" altLang="en-US" sz="1200" strike="noStrike" baseline="0" dirty="0">
                          <a:effectLst/>
                        </a:rPr>
                        <a:t>캐시 및 재계산 위치를 사전에 보유 </a:t>
                      </a:r>
                      <a:r>
                        <a:rPr lang="ko-KR" altLang="en-US" sz="1200" strike="noStrike" baseline="0" dirty="0">
                          <a:effectLst/>
                          <a:latin typeface="맑은 고딕" panose="020B0503020000020004" pitchFamily="50" charset="-127"/>
                          <a:ea typeface="맑은 고딕" panose="020B0503020000020004" pitchFamily="50" charset="-127"/>
                        </a:rPr>
                        <a:t>→ </a:t>
                      </a:r>
                      <a:r>
                        <a:rPr lang="ko-KR" altLang="en-US" sz="1200" strike="noStrike" baseline="0" dirty="0">
                          <a:effectLst/>
                        </a:rPr>
                        <a:t>메모리 점유 증가</a:t>
                      </a:r>
                      <a:r>
                        <a:rPr lang="en-US" altLang="ko-KR" sz="1200" strike="noStrike" baseline="0" dirty="0">
                          <a:effectLst/>
                        </a:rPr>
                        <a:t>(Q2)</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a:t>
                      </a:r>
                      <a:r>
                        <a:rPr sz="750" b="0">
                          <a:solidFill>
                            <a:srgbClr val="0000FF"/>
                          </a:solidFill>
                          <a:latin typeface="맑은 고딕"/>
                          <a:ea typeface="맑은 고딕"/>
                        </a:rPr>
                        <a:t>   ▸ 2안과 동일</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b="0" strike="noStrike" dirty="0">
                          <a:solidFill>
                            <a:schemeClr val="tx1"/>
                          </a:solidFill>
                        </a:rPr>
                        <a:t>Q2.</a:t>
                      </a:r>
                      <a:r>
                        <a:rPr lang="en-US" altLang="ko-KR" sz="1200" b="0" strike="noStrike" baseline="0" dirty="0">
                          <a:solidFill>
                            <a:schemeClr val="tx1"/>
                          </a:solidFill>
                        </a:rPr>
                        <a:t> </a:t>
                      </a:r>
                      <a:r>
                        <a:rPr lang="en-US" altLang="ko-KR" sz="1200" b="0" strike="noStrike" dirty="0">
                          <a:solidFill>
                            <a:schemeClr val="tx1"/>
                          </a:solidFill>
                        </a:rPr>
                        <a:t>Resource Efficiency </a:t>
                      </a:r>
                      <a:r>
                        <a:rPr sz="750" b="0">
                          <a:solidFill>
                            <a:srgbClr val="0000FF"/>
                          </a:solidFill>
                          <a:latin typeface="맑은 고딕"/>
                          <a:ea typeface="맑은 고딕"/>
                        </a:rPr>
                        <a:t>   ▸ 예상보다 낮음</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r>
                        <a:rPr sz="750" b="0">
                          <a:solidFill>
                            <a:srgbClr val="0000FF"/>
                          </a:solidFill>
                          <a:latin typeface="맑은 고딕"/>
                          <a:ea typeface="맑은 고딕"/>
                        </a:rPr>
                        <a:t>   ▸ 예상보다 높음</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786→1,123 tok/s (+43%)</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425→255 GiB (−40%)</a:t>
                      </a:r>
                      <a:endParaRPr lang="en-US" altLang="ko-KR" sz="1200" b="0" dirty="0">
                        <a:solidFill>
                          <a:schemeClr val="accent5"/>
                        </a:solidFill>
                        <a:latin typeface="+mn-lt"/>
                        <a:ea typeface="맑은 고딕"/>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TTFT 1.9→0.8 s (−57%)</a:t>
                      </a:r>
                      <a:endParaRPr lang="en-US" altLang="ko-KR" sz="1200" b="0" dirty="0">
                        <a:solidFill>
                          <a:schemeClr val="accent5"/>
                        </a:solidFill>
                        <a:latin typeface="+mn-lt"/>
                        <a:ea typeface="맑은 고딕"/>
                      </a:endParaRPr>
                    </a:p>
                  </a:txBody>
                  <a:tcPr anchor="ctr" marR="0">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 </a:t>
                      </a:r>
                      <a:r>
                        <a:rPr lang="en-US" altLang="ko-KR" sz="1000" b="0" strike="noStrike" dirty="0">
                          <a:solidFill>
                            <a:schemeClr val="tx1"/>
                          </a:solidFill>
                        </a:rPr>
                        <a:t>(tokens/second)</a:t>
                      </a:r>
                      <a:r>
                        <a:rPr sz="750" b="0">
                          <a:solidFill>
                            <a:srgbClr val="0000FF"/>
                          </a:solidFill>
                          <a:latin typeface="맑은 고딕"/>
                          <a:ea typeface="맑은 고딕"/>
                        </a:rPr>
                        <a:t>   ▸ 1안과 동일</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Q2. Resource Efficiency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(HBM </a:t>
                      </a:r>
                      <a:r>
                        <a:rPr kumimoji="0" lang="ko-KR" altLang="en-US" sz="1000" b="0" i="0" u="none" strike="noStrike" kern="1200" cap="none" spc="0" normalizeH="0" baseline="0" noProof="0" dirty="0">
                          <a:ln>
                            <a:noFill/>
                          </a:ln>
                          <a:solidFill>
                            <a:prstClr val="black"/>
                          </a:solidFill>
                          <a:effectLst/>
                          <a:uLnTx/>
                          <a:uFillTx/>
                          <a:latin typeface="+mn-lt"/>
                          <a:ea typeface="+mn-ea"/>
                          <a:cs typeface="+mn-cs"/>
                        </a:rPr>
                        <a:t>사용량 </a:t>
                      </a:r>
                      <a:r>
                        <a:rPr kumimoji="0" lang="en-US" altLang="ko-KR" sz="1000" b="0" i="0" u="none" strike="noStrike" kern="1200" cap="none" spc="0" normalizeH="0" baseline="0" noProof="0" dirty="0">
                          <a:ln>
                            <a:noFill/>
                          </a:ln>
                          <a:solidFill>
                            <a:prstClr val="black"/>
                          </a:solidFill>
                          <a:effectLst/>
                          <a:uLnTx/>
                          <a:uFillTx/>
                          <a:latin typeface="+mn-lt"/>
                          <a:ea typeface="+mn-ea"/>
                          <a:cs typeface="+mn-cs"/>
                        </a:rPr>
                        <a:t>GB)</a:t>
                      </a:r>
                      <a:r>
                        <a:rPr sz="750" b="0">
                          <a:solidFill>
                            <a:srgbClr val="0000FF"/>
                          </a:solidFill>
                          <a:latin typeface="맑은 고딕"/>
                          <a:ea typeface="맑은 고딕"/>
                        </a:rPr>
                        <a:t>   ▸ 예상보다 낮음</a:t>
                      </a: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endParaRPr kumimoji="0" lang="en-US" altLang="ko-KR" sz="12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786→1,123 tok/s (+43%)</a:t>
                      </a:r>
                      <a:endParaRPr lang="en-US" altLang="ko-KR" sz="1200" strike="noStrike" dirty="0">
                        <a:solidFill>
                          <a:schemeClr val="accent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425→319 GiB (−25%)</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dirty="0">
                          <a:solidFill>
                            <a:schemeClr val="accent5"/>
                          </a:solidFill>
                          <a:latin typeface="맑은 고딕" panose="020B0503020000020004" pitchFamily="50" charset="-127"/>
                          <a:ea typeface="+mn-ea"/>
                        </a:rPr>
                        <a:t>●●◐</a:t>
                      </a:r>
                      <a:r>
                        <a:rPr sz="630" b="0">
                          <a:solidFill>
                            <a:srgbClr val="404040"/>
                          </a:solidFill>
                          <a:latin typeface="맑은 고딕"/>
                          <a:ea typeface="맑은 고딕"/>
                        </a:rPr>
                        <a:t> TTFT 1.9→0.8 s (−59%)</a:t>
                      </a:r>
                      <a:endParaRPr lang="en-US" altLang="ko-KR" sz="1200" strike="noStrike" dirty="0">
                        <a:solidFill>
                          <a:schemeClr val="accent5"/>
                        </a:solidFill>
                        <a:latin typeface="맑은 고딕" panose="020B0503020000020004" pitchFamily="50" charset="-127"/>
                        <a:ea typeface="+mn-ea"/>
                      </a:endParaRPr>
                    </a:p>
                  </a:txBody>
                  <a:tcPr anchor="ctr" marR="0">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p:txBody>
          <a:bodyPr/>
          <a:lstStyle/>
          <a:p>
            <a:r>
              <a:rPr lang="en-US" altLang="ko-KR" dirty="0"/>
              <a:t>DP3. KV </a:t>
            </a:r>
            <a:r>
              <a:rPr lang="ko-KR" altLang="en-US" dirty="0"/>
              <a:t>캐시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114927" cy="307777"/>
          </a:xfrm>
          <a:prstGeom prst="rect">
            <a:avLst/>
          </a:prstGeom>
          <a:noFill/>
        </p:spPr>
        <p:txBody>
          <a:bodyPr wrap="square" rtlCol="0">
            <a:spAutoFit/>
          </a:bodyPr>
          <a:lstStyle/>
          <a:p>
            <a:r>
              <a:rPr lang="en-US" altLang="ko-KR" sz="1400" b="1" dirty="0">
                <a:solidFill>
                  <a:schemeClr val="bg1"/>
                </a:solidFill>
              </a:rPr>
              <a:t>KV </a:t>
            </a:r>
            <a:r>
              <a:rPr lang="ko-KR" altLang="en-US" sz="1400" b="1" dirty="0" err="1">
                <a:solidFill>
                  <a:schemeClr val="bg1"/>
                </a:solidFill>
              </a:rPr>
              <a:t>재사용률을</a:t>
            </a:r>
            <a:r>
              <a:rPr lang="ko-KR" altLang="en-US" sz="1400" b="1" dirty="0">
                <a:solidFill>
                  <a:schemeClr val="bg1"/>
                </a:solidFill>
              </a:rPr>
              <a:t> 높이기 위한 재계산 대상 선정 시점과 방식을 최적화하는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a:t>
            </a:r>
            <a:r>
              <a:rPr lang="ko-KR" altLang="en-US" sz="1100" dirty="0" err="1"/>
              <a:t>요청마다</a:t>
            </a:r>
            <a:r>
              <a:rPr lang="ko-KR" altLang="en-US" sz="1100" dirty="0"/>
              <a:t> 입력되는 </a:t>
            </a:r>
            <a:r>
              <a:rPr lang="en-US" altLang="ko-KR" sz="1100" dirty="0"/>
              <a:t>Query</a:t>
            </a:r>
            <a:r>
              <a:rPr lang="ko-KR" altLang="en-US" sz="1100" dirty="0"/>
              <a:t>에 맞게 재사용</a:t>
            </a:r>
            <a:r>
              <a:rPr lang="en-US" altLang="ko-KR" sz="1100" dirty="0"/>
              <a:t>/</a:t>
            </a:r>
            <a:r>
              <a:rPr lang="ko-KR" altLang="en-US" sz="1100" dirty="0"/>
              <a:t>재계산 토큰 위치를 선정하는 구조</a:t>
            </a:r>
            <a:r>
              <a:rPr lang="en-US" altLang="ko-KR" sz="1100" dirty="0"/>
              <a:t>＂</a:t>
            </a:r>
          </a:p>
        </p:txBody>
      </p:sp>
      <p:sp>
        <p:nvSpPr>
          <p:cNvPr id="138" name="TextBox 137"/>
          <p:cNvSpPr txBox="1"/>
          <p:nvPr/>
        </p:nvSpPr>
        <p:spPr>
          <a:xfrm>
            <a:off x="6534149" y="1416420"/>
            <a:ext cx="5143327" cy="261610"/>
          </a:xfrm>
          <a:prstGeom prst="rect">
            <a:avLst/>
          </a:prstGeom>
          <a:noFill/>
        </p:spPr>
        <p:txBody>
          <a:bodyPr wrap="square" rtlCol="0">
            <a:spAutoFit/>
          </a:bodyPr>
          <a:lstStyle/>
          <a:p>
            <a:r>
              <a:rPr lang="en-US" altLang="ko-KR" sz="1100" dirty="0"/>
              <a:t>“</a:t>
            </a:r>
            <a:r>
              <a:rPr lang="ko-KR" altLang="en-US" sz="1100" dirty="0"/>
              <a:t>사전에 재사용</a:t>
            </a:r>
            <a:r>
              <a:rPr lang="en-US" altLang="ko-KR" sz="1100" dirty="0"/>
              <a:t>/</a:t>
            </a:r>
            <a:r>
              <a:rPr lang="ko-KR" altLang="en-US" sz="1100" dirty="0"/>
              <a:t>재계산 토큰 위치를 선정하고</a:t>
            </a:r>
            <a:r>
              <a:rPr lang="en-US" altLang="ko-KR" sz="1100" dirty="0"/>
              <a:t>, </a:t>
            </a:r>
            <a:r>
              <a:rPr lang="ko-KR" altLang="en-US" sz="1100" dirty="0"/>
              <a:t>요청은 이를 활용</a:t>
            </a:r>
            <a:r>
              <a:rPr lang="en-US" altLang="ko-KR" sz="1100" dirty="0"/>
              <a:t>＂</a:t>
            </a:r>
          </a:p>
        </p:txBody>
      </p:sp>
      <p:sp>
        <p:nvSpPr>
          <p:cNvPr id="239" name="TextBox 238">
            <a:extLst>
              <a:ext uri="{FF2B5EF4-FFF2-40B4-BE49-F238E27FC236}">
                <a16:creationId xmlns:a16="http://schemas.microsoft.com/office/drawing/2014/main" id="{5EDBAE0C-74A5-43A7-8D12-CE3C549C093E}"/>
              </a:ext>
            </a:extLst>
          </p:cNvPr>
          <p:cNvSpPr txBox="1"/>
          <p:nvPr/>
        </p:nvSpPr>
        <p:spPr>
          <a:xfrm>
            <a:off x="4711271" y="6397263"/>
            <a:ext cx="631904" cy="276999"/>
          </a:xfrm>
          <a:prstGeom prst="rect">
            <a:avLst/>
          </a:prstGeom>
          <a:noFill/>
        </p:spPr>
        <p:txBody>
          <a:bodyPr wrap="none" rtlCol="0">
            <a:spAutoFit/>
          </a:bodyPr>
          <a:lstStyle/>
          <a:p>
            <a:r>
              <a:rPr lang="ko-KR" altLang="en-US" sz="1200" dirty="0"/>
              <a:t>총</a:t>
            </a:r>
            <a:r>
              <a:rPr lang="en-US" altLang="ko-KR" sz="1200" dirty="0"/>
              <a:t> 6</a:t>
            </a:r>
            <a:r>
              <a:rPr lang="ko-KR" altLang="en-US" sz="1200" dirty="0"/>
              <a:t>점</a:t>
            </a:r>
          </a:p>
        </p:txBody>
      </p:sp>
      <p:sp>
        <p:nvSpPr>
          <p:cNvPr id="242" name="TextBox 241">
            <a:extLst>
              <a:ext uri="{FF2B5EF4-FFF2-40B4-BE49-F238E27FC236}">
                <a16:creationId xmlns:a16="http://schemas.microsoft.com/office/drawing/2014/main" id="{8E497195-BDD1-47C1-A342-40321C4585CB}"/>
              </a:ext>
            </a:extLst>
          </p:cNvPr>
          <p:cNvSpPr txBox="1"/>
          <p:nvPr/>
        </p:nvSpPr>
        <p:spPr>
          <a:xfrm>
            <a:off x="10204983" y="6418143"/>
            <a:ext cx="631904" cy="276999"/>
          </a:xfrm>
          <a:prstGeom prst="rect">
            <a:avLst/>
          </a:prstGeom>
          <a:noFill/>
        </p:spPr>
        <p:txBody>
          <a:bodyPr wrap="none" rtlCol="0">
            <a:spAutoFit/>
          </a:bodyPr>
          <a:lstStyle/>
          <a:p>
            <a:r>
              <a:rPr lang="ko-KR" altLang="en-US" sz="1200" dirty="0"/>
              <a:t>총</a:t>
            </a:r>
            <a:r>
              <a:rPr lang="en-US" altLang="ko-KR" sz="1200" dirty="0"/>
              <a:t> 7</a:t>
            </a:r>
            <a:r>
              <a:rPr lang="ko-KR" altLang="en-US" sz="1200" dirty="0"/>
              <a:t>점</a:t>
            </a:r>
          </a:p>
        </p:txBody>
      </p:sp>
      <p:sp>
        <p:nvSpPr>
          <p:cNvPr id="103" name="TextBox 102"/>
          <p:cNvSpPr txBox="1"/>
          <p:nvPr/>
        </p:nvSpPr>
        <p:spPr>
          <a:xfrm>
            <a:off x="1192849" y="2077239"/>
            <a:ext cx="420518" cy="190261"/>
          </a:xfrm>
          <a:prstGeom prst="rect">
            <a:avLst/>
          </a:prstGeom>
          <a:noFill/>
        </p:spPr>
        <p:txBody>
          <a:bodyPr wrap="square" lIns="45720" tIns="27432" rIns="45720" bIns="27432" anchor="t">
            <a:spAutoFit/>
          </a:bodyPr>
          <a:lstStyle/>
          <a:p>
            <a:pPr algn="l">
              <a:spcAft>
                <a:spcPts val="200"/>
              </a:spcAft>
            </a:pPr>
            <a:r>
              <a:rPr lang="ko-KR" altLang="en-US" sz="1000" b="1" dirty="0">
                <a:solidFill>
                  <a:srgbClr val="595959"/>
                </a:solidFill>
                <a:latin typeface="맑은 고딕"/>
                <a:ea typeface="맑은 고딕"/>
                <a:cs typeface="맑은 고딕"/>
              </a:rPr>
              <a:t>요청</a:t>
            </a:r>
            <a:r>
              <a:rPr sz="1000" b="1" dirty="0">
                <a:solidFill>
                  <a:srgbClr val="595959"/>
                </a:solidFill>
                <a:latin typeface="맑은 고딕"/>
                <a:ea typeface="맑은 고딕"/>
                <a:cs typeface="맑은 고딕"/>
              </a:rPr>
              <a:t>1</a:t>
            </a:r>
          </a:p>
        </p:txBody>
      </p:sp>
      <p:sp>
        <p:nvSpPr>
          <p:cNvPr id="104" name="Rectangle 19"/>
          <p:cNvSpPr/>
          <p:nvPr/>
        </p:nvSpPr>
        <p:spPr>
          <a:xfrm>
            <a:off x="1611630" y="2004178"/>
            <a:ext cx="660317" cy="323930"/>
          </a:xfrm>
          <a:prstGeom prst="rect">
            <a:avLst/>
          </a:prstGeom>
          <a:solidFill>
            <a:schemeClr val="accent3">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유사도 계산</a:t>
            </a:r>
            <a:endParaRPr sz="800" b="1" dirty="0">
              <a:solidFill>
                <a:srgbClr val="000000"/>
              </a:solidFill>
              <a:latin typeface="맑은 고딕"/>
              <a:ea typeface="맑은 고딕"/>
              <a:cs typeface="맑은 고딕"/>
            </a:endParaRPr>
          </a:p>
        </p:txBody>
      </p:sp>
      <p:cxnSp>
        <p:nvCxnSpPr>
          <p:cNvPr id="105" name="Connector 20"/>
          <p:cNvCxnSpPr/>
          <p:nvPr/>
        </p:nvCxnSpPr>
        <p:spPr>
          <a:xfrm>
            <a:off x="2271947"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06" name="Rectangle 21"/>
          <p:cNvSpPr/>
          <p:nvPr/>
        </p:nvSpPr>
        <p:spPr>
          <a:xfrm>
            <a:off x="2445714" y="2004178"/>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재사용 토큰 선정</a:t>
            </a:r>
            <a:endParaRPr sz="800" b="1" dirty="0">
              <a:solidFill>
                <a:srgbClr val="000000"/>
              </a:solidFill>
              <a:latin typeface="맑은 고딕"/>
              <a:ea typeface="맑은 고딕"/>
              <a:cs typeface="맑은 고딕"/>
            </a:endParaRPr>
          </a:p>
        </p:txBody>
      </p:sp>
      <p:cxnSp>
        <p:nvCxnSpPr>
          <p:cNvPr id="107" name="Connector 22"/>
          <p:cNvCxnSpPr/>
          <p:nvPr/>
        </p:nvCxnSpPr>
        <p:spPr>
          <a:xfrm>
            <a:off x="3106033"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3" name="Rectangle 23"/>
          <p:cNvSpPr/>
          <p:nvPr/>
        </p:nvSpPr>
        <p:spPr>
          <a:xfrm>
            <a:off x="3279801" y="2004178"/>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err="1">
                <a:solidFill>
                  <a:srgbClr val="000000"/>
                </a:solidFill>
                <a:latin typeface="맑은 고딕"/>
                <a:ea typeface="맑은 고딕"/>
                <a:cs typeface="맑은 고딕"/>
              </a:rPr>
              <a:t>재연산</a:t>
            </a:r>
            <a:r>
              <a:rPr lang="ko-KR" altLang="en-US" sz="800" b="1" dirty="0">
                <a:solidFill>
                  <a:srgbClr val="000000"/>
                </a:solidFill>
                <a:latin typeface="맑은 고딕"/>
                <a:ea typeface="맑은 고딕"/>
                <a:cs typeface="맑은 고딕"/>
              </a:rPr>
              <a:t> 토큰 선정</a:t>
            </a:r>
            <a:endParaRPr sz="800" b="1" dirty="0">
              <a:solidFill>
                <a:srgbClr val="000000"/>
              </a:solidFill>
              <a:latin typeface="맑은 고딕"/>
              <a:ea typeface="맑은 고딕"/>
              <a:cs typeface="맑은 고딕"/>
            </a:endParaRPr>
          </a:p>
        </p:txBody>
      </p:sp>
      <p:cxnSp>
        <p:nvCxnSpPr>
          <p:cNvPr id="115" name="Connector 24"/>
          <p:cNvCxnSpPr/>
          <p:nvPr/>
        </p:nvCxnSpPr>
        <p:spPr>
          <a:xfrm>
            <a:off x="3940118" y="2166143"/>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17" name="Rectangle 25"/>
          <p:cNvSpPr/>
          <p:nvPr/>
        </p:nvSpPr>
        <p:spPr>
          <a:xfrm>
            <a:off x="4113885" y="2004177"/>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선택적 </a:t>
            </a:r>
            <a:endParaRPr lang="en-US" altLang="ko-KR" sz="800" b="1" dirty="0">
              <a:solidFill>
                <a:srgbClr val="000000"/>
              </a:solidFill>
              <a:latin typeface="맑은 고딕"/>
              <a:ea typeface="맑은 고딕"/>
              <a:cs typeface="맑은 고딕"/>
            </a:endParaRPr>
          </a:p>
          <a:p>
            <a:pPr algn="ctr">
              <a:spcAft>
                <a:spcPts val="200"/>
              </a:spcAft>
            </a:pPr>
            <a:r>
              <a:rPr lang="ko-KR" altLang="en-US" sz="800" b="1" dirty="0">
                <a:solidFill>
                  <a:srgbClr val="000000"/>
                </a:solidFill>
                <a:latin typeface="맑은 고딕"/>
                <a:ea typeface="맑은 고딕"/>
                <a:cs typeface="맑은 고딕"/>
              </a:rPr>
              <a:t>재계산</a:t>
            </a:r>
            <a:endParaRPr sz="800" b="1" dirty="0">
              <a:solidFill>
                <a:srgbClr val="000000"/>
              </a:solidFill>
              <a:latin typeface="맑은 고딕"/>
              <a:ea typeface="맑은 고딕"/>
              <a:cs typeface="맑은 고딕"/>
            </a:endParaRPr>
          </a:p>
        </p:txBody>
      </p:sp>
      <p:sp>
        <p:nvSpPr>
          <p:cNvPr id="118" name="TextBox 117"/>
          <p:cNvSpPr txBox="1"/>
          <p:nvPr/>
        </p:nvSpPr>
        <p:spPr>
          <a:xfrm>
            <a:off x="1192849" y="2567182"/>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2</a:t>
            </a:r>
            <a:endParaRPr lang="ko-KR" altLang="en-US" sz="1000" b="1" dirty="0">
              <a:solidFill>
                <a:srgbClr val="595959"/>
              </a:solidFill>
              <a:ea typeface="맑은 고딕"/>
              <a:cs typeface="맑은 고딕"/>
            </a:endParaRPr>
          </a:p>
        </p:txBody>
      </p:sp>
      <p:sp>
        <p:nvSpPr>
          <p:cNvPr id="120" name="Rectangle 27"/>
          <p:cNvSpPr/>
          <p:nvPr/>
        </p:nvSpPr>
        <p:spPr>
          <a:xfrm>
            <a:off x="2444860" y="2494121"/>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32" name="Connector 28"/>
          <p:cNvCxnSpPr/>
          <p:nvPr/>
        </p:nvCxnSpPr>
        <p:spPr>
          <a:xfrm>
            <a:off x="3105177"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29"/>
          <p:cNvSpPr/>
          <p:nvPr/>
        </p:nvSpPr>
        <p:spPr>
          <a:xfrm>
            <a:off x="3278944" y="2494121"/>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36" name="Connector 30"/>
          <p:cNvCxnSpPr/>
          <p:nvPr/>
        </p:nvCxnSpPr>
        <p:spPr>
          <a:xfrm>
            <a:off x="3939263"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4" name="Rectangle 31"/>
          <p:cNvSpPr/>
          <p:nvPr/>
        </p:nvSpPr>
        <p:spPr>
          <a:xfrm>
            <a:off x="4113031" y="2494121"/>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45" name="Connector 32"/>
          <p:cNvCxnSpPr/>
          <p:nvPr/>
        </p:nvCxnSpPr>
        <p:spPr>
          <a:xfrm>
            <a:off x="4773348" y="2656087"/>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47" name="Rectangle 33"/>
          <p:cNvSpPr/>
          <p:nvPr/>
        </p:nvSpPr>
        <p:spPr>
          <a:xfrm>
            <a:off x="4947115" y="2494121"/>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48" name="TextBox 147"/>
          <p:cNvSpPr txBox="1"/>
          <p:nvPr/>
        </p:nvSpPr>
        <p:spPr>
          <a:xfrm>
            <a:off x="1192849" y="3057126"/>
            <a:ext cx="420518" cy="190261"/>
          </a:xfrm>
          <a:prstGeom prst="rect">
            <a:avLst/>
          </a:prstGeom>
          <a:noFill/>
        </p:spPr>
        <p:txBody>
          <a:bodyPr wrap="square" lIns="45720" tIns="27432" rIns="45720" bIns="27432" anchor="t">
            <a:spAutoFit/>
          </a:bodyPr>
          <a:lstStyle/>
          <a:p>
            <a:pPr>
              <a:spcAft>
                <a:spcPts val="200"/>
              </a:spcAft>
            </a:pPr>
            <a:r>
              <a:rPr lang="ko-KR" altLang="en-US" sz="1000" b="1" dirty="0">
                <a:solidFill>
                  <a:srgbClr val="595959"/>
                </a:solidFill>
                <a:ea typeface="맑은 고딕"/>
                <a:cs typeface="맑은 고딕"/>
              </a:rPr>
              <a:t>요청</a:t>
            </a:r>
            <a:r>
              <a:rPr lang="en-US" altLang="ko-KR" sz="1000" b="1" dirty="0">
                <a:solidFill>
                  <a:srgbClr val="595959"/>
                </a:solidFill>
                <a:ea typeface="맑은 고딕"/>
                <a:cs typeface="맑은 고딕"/>
              </a:rPr>
              <a:t>3</a:t>
            </a:r>
            <a:endParaRPr lang="ko-KR" altLang="en-US" sz="1000" b="1" dirty="0">
              <a:solidFill>
                <a:srgbClr val="595959"/>
              </a:solidFill>
              <a:ea typeface="맑은 고딕"/>
              <a:cs typeface="맑은 고딕"/>
            </a:endParaRPr>
          </a:p>
        </p:txBody>
      </p:sp>
      <p:sp>
        <p:nvSpPr>
          <p:cNvPr id="150" name="Rectangle 35"/>
          <p:cNvSpPr/>
          <p:nvPr/>
        </p:nvSpPr>
        <p:spPr>
          <a:xfrm>
            <a:off x="3272288" y="2984064"/>
            <a:ext cx="660317" cy="323930"/>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53" name="Connector 36"/>
          <p:cNvCxnSpPr/>
          <p:nvPr/>
        </p:nvCxnSpPr>
        <p:spPr>
          <a:xfrm>
            <a:off x="3932605"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4" name="Rectangle 37"/>
          <p:cNvSpPr/>
          <p:nvPr/>
        </p:nvSpPr>
        <p:spPr>
          <a:xfrm>
            <a:off x="4106372" y="2984064"/>
            <a:ext cx="660317" cy="323930"/>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55" name="Connector 38"/>
          <p:cNvCxnSpPr/>
          <p:nvPr/>
        </p:nvCxnSpPr>
        <p:spPr>
          <a:xfrm>
            <a:off x="4766691"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57" name="Rectangle 39"/>
          <p:cNvSpPr/>
          <p:nvPr/>
        </p:nvSpPr>
        <p:spPr>
          <a:xfrm>
            <a:off x="4940459" y="2984064"/>
            <a:ext cx="660317" cy="323930"/>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cxnSp>
        <p:nvCxnSpPr>
          <p:cNvPr id="158" name="Connector 40"/>
          <p:cNvCxnSpPr/>
          <p:nvPr/>
        </p:nvCxnSpPr>
        <p:spPr>
          <a:xfrm>
            <a:off x="5600776" y="3146030"/>
            <a:ext cx="173768" cy="0"/>
          </a:xfrm>
          <a:prstGeom prst="line">
            <a:avLst/>
          </a:prstGeom>
          <a:ln w="28575">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41"/>
          <p:cNvSpPr/>
          <p:nvPr/>
        </p:nvSpPr>
        <p:spPr>
          <a:xfrm>
            <a:off x="5774543" y="2984065"/>
            <a:ext cx="660317" cy="323930"/>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선택적 </a:t>
            </a:r>
          </a:p>
          <a:p>
            <a:pPr lvl="0" algn="ctr">
              <a:spcAft>
                <a:spcPts val="200"/>
              </a:spcAft>
            </a:pPr>
            <a:r>
              <a:rPr lang="ko-KR" altLang="en-US" sz="800" b="1" dirty="0">
                <a:solidFill>
                  <a:srgbClr val="000000"/>
                </a:solidFill>
                <a:ea typeface="맑은 고딕"/>
                <a:cs typeface="맑은 고딕"/>
              </a:rPr>
              <a:t>재계산</a:t>
            </a:r>
          </a:p>
        </p:txBody>
      </p:sp>
      <p:sp>
        <p:nvSpPr>
          <p:cNvPr id="161" name="TextBox 160"/>
          <p:cNvSpPr txBox="1"/>
          <p:nvPr/>
        </p:nvSpPr>
        <p:spPr>
          <a:xfrm>
            <a:off x="2308831" y="1718927"/>
            <a:ext cx="1503466" cy="186205"/>
          </a:xfrm>
          <a:prstGeom prst="rect">
            <a:avLst/>
          </a:prstGeom>
          <a:noFill/>
        </p:spPr>
        <p:txBody>
          <a:bodyPr wrap="square" lIns="45720" tIns="27432" rIns="45720" bIns="27432" anchor="t">
            <a:spAutoFit/>
          </a:bodyPr>
          <a:lstStyle/>
          <a:p>
            <a:pPr algn="l">
              <a:spcAft>
                <a:spcPts val="200"/>
              </a:spcAft>
            </a:pPr>
            <a:r>
              <a:rPr sz="850" b="1" dirty="0" err="1">
                <a:solidFill>
                  <a:srgbClr val="FF0000"/>
                </a:solidFill>
                <a:latin typeface="맑은 고딕"/>
                <a:ea typeface="맑은 고딕"/>
                <a:cs typeface="맑은 고딕"/>
              </a:rPr>
              <a:t>요청마다</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분석</a:t>
            </a:r>
            <a:r>
              <a:rPr lang="en-US" sz="850" b="1" dirty="0">
                <a:solidFill>
                  <a:srgbClr val="FF0000"/>
                </a:solidFill>
                <a:latin typeface="맑은 고딕"/>
                <a:ea typeface="맑은 고딕"/>
                <a:cs typeface="맑은 고딕"/>
              </a:rPr>
              <a:t> </a:t>
            </a:r>
            <a:r>
              <a:rPr sz="850" b="1" dirty="0">
                <a:solidFill>
                  <a:srgbClr val="FF0000"/>
                </a:solidFill>
                <a:latin typeface="맑은 고딕"/>
                <a:ea typeface="맑은 고딕"/>
                <a:cs typeface="맑은 고딕"/>
              </a:rPr>
              <a:t>3단계 </a:t>
            </a:r>
            <a:r>
              <a:rPr sz="850" b="1" dirty="0" err="1">
                <a:solidFill>
                  <a:srgbClr val="FF0000"/>
                </a:solidFill>
                <a:latin typeface="맑은 고딕"/>
                <a:ea typeface="맑은 고딕"/>
                <a:cs typeface="맑은 고딕"/>
              </a:rPr>
              <a:t>반복</a:t>
            </a:r>
            <a:endParaRPr sz="850" b="1" dirty="0">
              <a:solidFill>
                <a:srgbClr val="FF0000"/>
              </a:solidFill>
              <a:latin typeface="맑은 고딕"/>
              <a:ea typeface="맑은 고딕"/>
              <a:cs typeface="맑은 고딕"/>
            </a:endParaRPr>
          </a:p>
        </p:txBody>
      </p:sp>
      <p:sp>
        <p:nvSpPr>
          <p:cNvPr id="163" name="TextBox 162"/>
          <p:cNvSpPr txBox="1"/>
          <p:nvPr/>
        </p:nvSpPr>
        <p:spPr>
          <a:xfrm>
            <a:off x="6703766" y="2047236"/>
            <a:ext cx="410082" cy="243433"/>
          </a:xfrm>
          <a:prstGeom prst="rect">
            <a:avLst/>
          </a:prstGeom>
          <a:noFill/>
        </p:spPr>
        <p:txBody>
          <a:bodyPr wrap="square" lIns="45720" tIns="27432" rIns="45720" bIns="27432" anchor="t">
            <a:spAutoFit/>
          </a:bodyPr>
          <a:lstStyle/>
          <a:p>
            <a:pPr algn="l">
              <a:spcAft>
                <a:spcPts val="200"/>
              </a:spcAft>
            </a:pPr>
            <a:r>
              <a:rPr sz="900" b="1">
                <a:solidFill>
                  <a:srgbClr val="C55A11"/>
                </a:solidFill>
                <a:latin typeface="맑은 고딕"/>
                <a:ea typeface="맑은 고딕"/>
                <a:cs typeface="맑은 고딕"/>
              </a:rPr>
              <a:t>사전</a:t>
            </a:r>
          </a:p>
        </p:txBody>
      </p:sp>
      <p:sp>
        <p:nvSpPr>
          <p:cNvPr id="164" name="Rectangle 45"/>
          <p:cNvSpPr/>
          <p:nvPr/>
        </p:nvSpPr>
        <p:spPr>
          <a:xfrm>
            <a:off x="7113848" y="2006664"/>
            <a:ext cx="671043" cy="324578"/>
          </a:xfrm>
          <a:prstGeom prst="rect">
            <a:avLst/>
          </a:prstGeom>
          <a:solidFill>
            <a:srgbClr val="FBE5D6"/>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800" b="1" dirty="0">
                <a:solidFill>
                  <a:srgbClr val="000000"/>
                </a:solidFill>
                <a:latin typeface="맑은 고딕"/>
                <a:ea typeface="맑은 고딕"/>
                <a:cs typeface="맑은 고딕"/>
              </a:rPr>
              <a:t>대표 쿼리 추출</a:t>
            </a:r>
            <a:endParaRPr sz="800" b="1" dirty="0">
              <a:solidFill>
                <a:srgbClr val="000000"/>
              </a:solidFill>
              <a:latin typeface="맑은 고딕"/>
              <a:ea typeface="맑은 고딕"/>
              <a:cs typeface="맑은 고딕"/>
            </a:endParaRPr>
          </a:p>
        </p:txBody>
      </p:sp>
      <p:cxnSp>
        <p:nvCxnSpPr>
          <p:cNvPr id="165" name="Connector 46"/>
          <p:cNvCxnSpPr/>
          <p:nvPr/>
        </p:nvCxnSpPr>
        <p:spPr>
          <a:xfrm>
            <a:off x="7784891"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6" name="Rectangle 47"/>
          <p:cNvSpPr/>
          <p:nvPr/>
        </p:nvSpPr>
        <p:spPr>
          <a:xfrm>
            <a:off x="7971291" y="2006664"/>
            <a:ext cx="671043" cy="324578"/>
          </a:xfrm>
          <a:prstGeom prst="rect">
            <a:avLst/>
          </a:prstGeom>
          <a:solidFill>
            <a:srgbClr val="F0F1F3"/>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유사도 계산</a:t>
            </a:r>
          </a:p>
        </p:txBody>
      </p:sp>
      <p:cxnSp>
        <p:nvCxnSpPr>
          <p:cNvPr id="167" name="Connector 48"/>
          <p:cNvCxnSpPr/>
          <p:nvPr/>
        </p:nvCxnSpPr>
        <p:spPr>
          <a:xfrm>
            <a:off x="8642334"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8" name="Rectangle 49"/>
          <p:cNvSpPr/>
          <p:nvPr/>
        </p:nvSpPr>
        <p:spPr>
          <a:xfrm>
            <a:off x="8828734" y="2006664"/>
            <a:ext cx="671043" cy="324578"/>
          </a:xfrm>
          <a:prstGeom prst="rect">
            <a:avLst/>
          </a:prstGeom>
          <a:solidFill>
            <a:schemeClr val="accent1">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a:solidFill>
                  <a:srgbClr val="000000"/>
                </a:solidFill>
                <a:ea typeface="맑은 고딕"/>
                <a:cs typeface="맑은 고딕"/>
              </a:rPr>
              <a:t>재사용 토큰 선정</a:t>
            </a:r>
          </a:p>
        </p:txBody>
      </p:sp>
      <p:cxnSp>
        <p:nvCxnSpPr>
          <p:cNvPr id="169" name="Connector 50"/>
          <p:cNvCxnSpPr/>
          <p:nvPr/>
        </p:nvCxnSpPr>
        <p:spPr>
          <a:xfrm>
            <a:off x="9499777" y="2168953"/>
            <a:ext cx="186401" cy="0"/>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Rectangle 51"/>
          <p:cNvSpPr/>
          <p:nvPr/>
        </p:nvSpPr>
        <p:spPr>
          <a:xfrm>
            <a:off x="9686178" y="2006664"/>
            <a:ext cx="671043" cy="324578"/>
          </a:xfrm>
          <a:prstGeom prst="rect">
            <a:avLst/>
          </a:prstGeom>
          <a:solidFill>
            <a:schemeClr val="accent6">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lvl="0" algn="ctr">
              <a:spcAft>
                <a:spcPts val="200"/>
              </a:spcAft>
            </a:pPr>
            <a:r>
              <a:rPr lang="ko-KR" altLang="en-US" sz="800" b="1" dirty="0" err="1">
                <a:solidFill>
                  <a:srgbClr val="000000"/>
                </a:solidFill>
                <a:ea typeface="맑은 고딕"/>
                <a:cs typeface="맑은 고딕"/>
              </a:rPr>
              <a:t>재연산</a:t>
            </a:r>
            <a:r>
              <a:rPr lang="ko-KR" altLang="en-US" sz="800" b="1" dirty="0">
                <a:solidFill>
                  <a:srgbClr val="000000"/>
                </a:solidFill>
                <a:ea typeface="맑은 고딕"/>
                <a:cs typeface="맑은 고딕"/>
              </a:rPr>
              <a:t> 토큰 선정</a:t>
            </a:r>
          </a:p>
        </p:txBody>
      </p:sp>
      <p:sp>
        <p:nvSpPr>
          <p:cNvPr id="201" name="TextBox 200"/>
          <p:cNvSpPr txBox="1"/>
          <p:nvPr/>
        </p:nvSpPr>
        <p:spPr>
          <a:xfrm>
            <a:off x="9460723" y="2342034"/>
            <a:ext cx="560312"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write 1회</a:t>
            </a:r>
          </a:p>
        </p:txBody>
      </p:sp>
      <p:sp>
        <p:nvSpPr>
          <p:cNvPr id="230" name="TextBox 229"/>
          <p:cNvSpPr txBox="1"/>
          <p:nvPr/>
        </p:nvSpPr>
        <p:spPr>
          <a:xfrm>
            <a:off x="10520935" y="1801680"/>
            <a:ext cx="1473198" cy="186205"/>
          </a:xfrm>
          <a:prstGeom prst="rect">
            <a:avLst/>
          </a:prstGeom>
          <a:noFill/>
        </p:spPr>
        <p:txBody>
          <a:bodyPr wrap="square" lIns="45720" tIns="27432" rIns="45720" bIns="27432" anchor="t">
            <a:spAutoFit/>
          </a:bodyPr>
          <a:lstStyle/>
          <a:p>
            <a:pPr algn="l">
              <a:spcAft>
                <a:spcPts val="100"/>
              </a:spcAft>
            </a:pPr>
            <a:r>
              <a:rPr sz="850" b="1" dirty="0" err="1">
                <a:solidFill>
                  <a:srgbClr val="FF0000"/>
                </a:solidFill>
                <a:latin typeface="맑은 고딕"/>
                <a:ea typeface="맑은 고딕"/>
                <a:cs typeface="맑은 고딕"/>
              </a:rPr>
              <a:t>서빙</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경로에는</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SR만</a:t>
            </a:r>
            <a:r>
              <a:rPr sz="850" b="1" dirty="0">
                <a:solidFill>
                  <a:srgbClr val="FF0000"/>
                </a:solidFill>
                <a:latin typeface="맑은 고딕"/>
                <a:ea typeface="맑은 고딕"/>
                <a:cs typeface="맑은 고딕"/>
              </a:rPr>
              <a:t> </a:t>
            </a:r>
            <a:r>
              <a:rPr sz="850" b="1" dirty="0" err="1">
                <a:solidFill>
                  <a:srgbClr val="FF0000"/>
                </a:solidFill>
                <a:latin typeface="맑은 고딕"/>
                <a:ea typeface="맑은 고딕"/>
                <a:cs typeface="맑은 고딕"/>
              </a:rPr>
              <a:t>남음</a:t>
            </a:r>
            <a:endParaRPr sz="850" b="1" dirty="0">
              <a:solidFill>
                <a:srgbClr val="FF0000"/>
              </a:solidFill>
              <a:latin typeface="맑은 고딕"/>
              <a:ea typeface="맑은 고딕"/>
              <a:cs typeface="맑은 고딕"/>
            </a:endParaRPr>
          </a:p>
        </p:txBody>
      </p:sp>
      <p:sp>
        <p:nvSpPr>
          <p:cNvPr id="16" name="실행 단추: 앞으로 또는 다음 15">
            <a:hlinkClick r:id="" action="ppaction://noaction" highlightClick="1"/>
          </p:cNvPr>
          <p:cNvSpPr/>
          <p:nvPr/>
        </p:nvSpPr>
        <p:spPr>
          <a:xfrm>
            <a:off x="561954" y="3168086"/>
            <a:ext cx="213360" cy="18435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Rectangle 51"/>
          <p:cNvSpPr/>
          <p:nvPr/>
        </p:nvSpPr>
        <p:spPr>
          <a:xfrm>
            <a:off x="11215449" y="2005839"/>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a:ea typeface="맑은 고딕"/>
                <a:cs typeface="맑은 고딕"/>
              </a:rPr>
              <a:t>요청</a:t>
            </a:r>
            <a:r>
              <a:rPr lang="en-US" altLang="ko-KR" sz="900" b="1" dirty="0">
                <a:solidFill>
                  <a:srgbClr val="000000"/>
                </a:solidFill>
                <a:latin typeface="맑은 고딕"/>
                <a:ea typeface="맑은 고딕"/>
                <a:cs typeface="맑은 고딕"/>
              </a:rPr>
              <a:t>1: SR</a:t>
            </a:r>
            <a:endParaRPr sz="900" b="1" dirty="0">
              <a:solidFill>
                <a:srgbClr val="000000"/>
              </a:solidFill>
              <a:latin typeface="맑은 고딕"/>
              <a:ea typeface="맑은 고딕"/>
              <a:cs typeface="맑은 고딕"/>
            </a:endParaRPr>
          </a:p>
        </p:txBody>
      </p:sp>
      <p:sp>
        <p:nvSpPr>
          <p:cNvPr id="98" name="Rectangle 51"/>
          <p:cNvSpPr/>
          <p:nvPr/>
        </p:nvSpPr>
        <p:spPr>
          <a:xfrm>
            <a:off x="11215449" y="2449551"/>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a:ea typeface="맑은 고딕"/>
                <a:cs typeface="맑은 고딕"/>
              </a:rPr>
              <a:t>요청</a:t>
            </a:r>
            <a:r>
              <a:rPr lang="en-US" altLang="ko-KR" sz="900" b="1" dirty="0">
                <a:solidFill>
                  <a:srgbClr val="000000"/>
                </a:solidFill>
                <a:latin typeface="맑은 고딕"/>
                <a:ea typeface="맑은 고딕"/>
                <a:cs typeface="맑은 고딕"/>
              </a:rPr>
              <a:t>2: SR</a:t>
            </a:r>
            <a:endParaRPr sz="900" b="1" dirty="0">
              <a:solidFill>
                <a:srgbClr val="000000"/>
              </a:solidFill>
              <a:latin typeface="맑은 고딕"/>
              <a:ea typeface="맑은 고딕"/>
              <a:cs typeface="맑은 고딕"/>
            </a:endParaRPr>
          </a:p>
        </p:txBody>
      </p:sp>
      <p:sp>
        <p:nvSpPr>
          <p:cNvPr id="108" name="Rectangle 51"/>
          <p:cNvSpPr/>
          <p:nvPr/>
        </p:nvSpPr>
        <p:spPr>
          <a:xfrm>
            <a:off x="11215449" y="2896448"/>
            <a:ext cx="671043" cy="324578"/>
          </a:xfrm>
          <a:prstGeom prst="rect">
            <a:avLst/>
          </a:prstGeom>
          <a:solidFill>
            <a:schemeClr val="accent4">
              <a:lumMod val="20000"/>
              <a:lumOff val="80000"/>
            </a:schemeClr>
          </a:solidFill>
          <a:ln w="1524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ko-KR" altLang="en-US" sz="900" b="1" dirty="0">
                <a:solidFill>
                  <a:srgbClr val="000000"/>
                </a:solidFill>
                <a:latin typeface="맑은 고딕"/>
                <a:ea typeface="맑은 고딕"/>
                <a:cs typeface="맑은 고딕"/>
              </a:rPr>
              <a:t>요청</a:t>
            </a:r>
            <a:r>
              <a:rPr lang="en-US" altLang="ko-KR" sz="900" b="1" dirty="0">
                <a:solidFill>
                  <a:srgbClr val="000000"/>
                </a:solidFill>
                <a:latin typeface="맑은 고딕"/>
                <a:ea typeface="맑은 고딕"/>
                <a:cs typeface="맑은 고딕"/>
              </a:rPr>
              <a:t>3: SR</a:t>
            </a:r>
            <a:endParaRPr sz="900" b="1" dirty="0">
              <a:solidFill>
                <a:srgbClr val="000000"/>
              </a:solidFill>
              <a:latin typeface="맑은 고딕"/>
              <a:ea typeface="맑은 고딕"/>
              <a:cs typeface="맑은 고딕"/>
            </a:endParaRPr>
          </a:p>
        </p:txBody>
      </p:sp>
      <p:sp>
        <p:nvSpPr>
          <p:cNvPr id="96" name="Rectangle 52"/>
          <p:cNvSpPr/>
          <p:nvPr/>
        </p:nvSpPr>
        <p:spPr>
          <a:xfrm>
            <a:off x="8691026" y="2544126"/>
            <a:ext cx="1836041" cy="355375"/>
          </a:xfrm>
          <a:prstGeom prst="rect">
            <a:avLst/>
          </a:prstGeom>
          <a:solidFill>
            <a:schemeClr val="bg1"/>
          </a:solidFill>
          <a:ln w="1524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sz="800" b="1" dirty="0">
                <a:solidFill>
                  <a:srgbClr val="000000"/>
                </a:solidFill>
                <a:latin typeface="맑은 고딕"/>
                <a:ea typeface="맑은 고딕"/>
                <a:cs typeface="맑은 고딕"/>
              </a:rPr>
              <a:t>Shared </a:t>
            </a:r>
            <a:r>
              <a:rPr sz="800" b="1" dirty="0">
                <a:solidFill>
                  <a:srgbClr val="000000"/>
                </a:solidFill>
                <a:latin typeface="맑은 고딕"/>
                <a:ea typeface="맑은 고딕"/>
                <a:cs typeface="맑은 고딕"/>
              </a:rPr>
              <a:t>Repository </a:t>
            </a:r>
            <a:endParaRPr lang="en-US" sz="800" b="1" dirty="0">
              <a:solidFill>
                <a:srgbClr val="000000"/>
              </a:solidFill>
              <a:latin typeface="맑은 고딕"/>
              <a:ea typeface="맑은 고딕"/>
              <a:cs typeface="맑은 고딕"/>
            </a:endParaRPr>
          </a:p>
          <a:p>
            <a:pPr algn="ctr">
              <a:spcAft>
                <a:spcPts val="200"/>
              </a:spcAft>
            </a:pPr>
            <a:r>
              <a:rPr lang="ko-KR" altLang="en-US" sz="700" b="1" dirty="0">
                <a:solidFill>
                  <a:schemeClr val="bg1">
                    <a:lumMod val="50000"/>
                  </a:schemeClr>
                </a:solidFill>
                <a:latin typeface="맑은 고딕"/>
                <a:ea typeface="맑은 고딕"/>
                <a:cs typeface="맑은 고딕"/>
              </a:rPr>
              <a:t>재사용 </a:t>
            </a:r>
            <a:r>
              <a:rPr lang="en-US" altLang="ko-KR" sz="700" b="1" dirty="0">
                <a:solidFill>
                  <a:schemeClr val="bg1">
                    <a:lumMod val="50000"/>
                  </a:schemeClr>
                </a:solidFill>
                <a:latin typeface="맑은 고딕"/>
                <a:ea typeface="맑은 고딕"/>
                <a:cs typeface="맑은 고딕"/>
              </a:rPr>
              <a:t>KV </a:t>
            </a:r>
            <a:r>
              <a:rPr lang="ko-KR" altLang="en-US" sz="700" b="1" dirty="0">
                <a:solidFill>
                  <a:schemeClr val="bg1">
                    <a:lumMod val="50000"/>
                  </a:schemeClr>
                </a:solidFill>
                <a:latin typeface="맑은 고딕"/>
                <a:ea typeface="맑은 고딕"/>
                <a:cs typeface="맑은 고딕"/>
              </a:rPr>
              <a:t>캐시</a:t>
            </a:r>
            <a:r>
              <a:rPr lang="en-US" altLang="ko-KR" sz="700" b="1" dirty="0">
                <a:solidFill>
                  <a:schemeClr val="bg1">
                    <a:lumMod val="50000"/>
                  </a:schemeClr>
                </a:solidFill>
                <a:latin typeface="맑은 고딕"/>
                <a:ea typeface="맑은 고딕"/>
                <a:cs typeface="맑은 고딕"/>
              </a:rPr>
              <a:t>, </a:t>
            </a:r>
            <a:r>
              <a:rPr sz="700" b="1" dirty="0" err="1">
                <a:solidFill>
                  <a:schemeClr val="bg1">
                    <a:lumMod val="50000"/>
                  </a:schemeClr>
                </a:solidFill>
                <a:latin typeface="맑은 고딕"/>
                <a:ea typeface="맑은 고딕"/>
                <a:cs typeface="맑은 고딕"/>
              </a:rPr>
              <a:t>재계산</a:t>
            </a:r>
            <a:r>
              <a:rPr lang="ko-KR" altLang="en-US" sz="700" b="1" dirty="0">
                <a:solidFill>
                  <a:schemeClr val="bg1">
                    <a:lumMod val="50000"/>
                  </a:schemeClr>
                </a:solidFill>
                <a:latin typeface="맑은 고딕"/>
                <a:ea typeface="맑은 고딕"/>
                <a:cs typeface="맑은 고딕"/>
              </a:rPr>
              <a:t> 토큰 </a:t>
            </a:r>
            <a:r>
              <a:rPr sz="700" b="1" dirty="0" err="1">
                <a:solidFill>
                  <a:schemeClr val="bg1">
                    <a:lumMod val="50000"/>
                  </a:schemeClr>
                </a:solidFill>
                <a:latin typeface="맑은 고딕"/>
                <a:ea typeface="맑은 고딕"/>
                <a:cs typeface="맑은 고딕"/>
              </a:rPr>
              <a:t>위치</a:t>
            </a:r>
            <a:r>
              <a:rPr lang="en-US" sz="700" b="1" dirty="0">
                <a:solidFill>
                  <a:schemeClr val="bg1">
                    <a:lumMod val="50000"/>
                  </a:schemeClr>
                </a:solidFill>
                <a:latin typeface="맑은 고딕"/>
                <a:ea typeface="맑은 고딕"/>
                <a:cs typeface="맑은 고딕"/>
              </a:rPr>
              <a:t> </a:t>
            </a:r>
            <a:r>
              <a:rPr sz="700" b="1" dirty="0">
                <a:solidFill>
                  <a:schemeClr val="bg1">
                    <a:lumMod val="50000"/>
                  </a:schemeClr>
                </a:solidFill>
                <a:latin typeface="맑은 고딕"/>
                <a:ea typeface="맑은 고딕"/>
                <a:cs typeface="맑은 고딕"/>
              </a:rPr>
              <a:t> </a:t>
            </a:r>
          </a:p>
        </p:txBody>
      </p:sp>
      <p:cxnSp>
        <p:nvCxnSpPr>
          <p:cNvPr id="99" name="Connector 50"/>
          <p:cNvCxnSpPr/>
          <p:nvPr/>
        </p:nvCxnSpPr>
        <p:spPr>
          <a:xfrm flipH="1">
            <a:off x="10019099" y="2331242"/>
            <a:ext cx="2602" cy="222995"/>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 name="Connector 60"/>
          <p:cNvCxnSpPr/>
          <p:nvPr/>
        </p:nvCxnSpPr>
        <p:spPr>
          <a:xfrm flipV="1">
            <a:off x="10550687" y="2193542"/>
            <a:ext cx="570978" cy="397681"/>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Connector 60"/>
          <p:cNvCxnSpPr/>
          <p:nvPr/>
        </p:nvCxnSpPr>
        <p:spPr>
          <a:xfrm flipV="1">
            <a:off x="10596254" y="2677120"/>
            <a:ext cx="535628" cy="37890"/>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Connector 60"/>
          <p:cNvCxnSpPr/>
          <p:nvPr/>
        </p:nvCxnSpPr>
        <p:spPr>
          <a:xfrm>
            <a:off x="10556860" y="2781919"/>
            <a:ext cx="550948" cy="275207"/>
          </a:xfrm>
          <a:prstGeom prst="straightConnector1">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10520935" y="2095565"/>
            <a:ext cx="501541" cy="170816"/>
          </a:xfrm>
          <a:prstGeom prst="rect">
            <a:avLst/>
          </a:prstGeom>
          <a:noFill/>
        </p:spPr>
        <p:txBody>
          <a:bodyPr wrap="square" lIns="45720" tIns="27432" rIns="45720" bIns="27432" anchor="t">
            <a:spAutoFit/>
          </a:bodyPr>
          <a:lstStyle/>
          <a:p>
            <a:pPr algn="l">
              <a:spcAft>
                <a:spcPts val="200"/>
              </a:spcAft>
            </a:pPr>
            <a:r>
              <a:rPr sz="750" b="0" dirty="0">
                <a:solidFill>
                  <a:srgbClr val="C55A11"/>
                </a:solidFill>
                <a:latin typeface="맑은 고딕"/>
                <a:ea typeface="맑은 고딕"/>
                <a:cs typeface="맑은 고딕"/>
              </a:rPr>
              <a:t>read × N</a:t>
            </a:r>
          </a:p>
        </p:txBody>
      </p:sp>
      <p:sp>
        <p:nvSpPr>
          <p:cNvPr id="128" name="Rectangle 55"/>
          <p:cNvSpPr/>
          <p:nvPr/>
        </p:nvSpPr>
        <p:spPr>
          <a:xfrm>
            <a:off x="7726026" y="2550682"/>
            <a:ext cx="662975" cy="339501"/>
          </a:xfrm>
          <a:prstGeom prst="rect">
            <a:avLst/>
          </a:prstGeom>
          <a:solidFill>
            <a:srgbClr val="F0D8FA"/>
          </a:solidFill>
          <a:ln w="15240">
            <a:solidFill>
              <a:schemeClr val="bg1">
                <a:lumMod val="50000"/>
              </a:schemeClr>
            </a:solidFill>
            <a:prstDash val="solid"/>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200"/>
              </a:spcAft>
            </a:pPr>
            <a:r>
              <a:rPr lang="en-US" altLang="ko-KR" sz="800" dirty="0">
                <a:solidFill>
                  <a:schemeClr val="tx1"/>
                </a:solidFill>
                <a:ea typeface="맑은 고딕"/>
                <a:cs typeface="맑은 고딕"/>
              </a:rPr>
              <a:t>Validator</a:t>
            </a:r>
            <a:endParaRPr sz="800" b="1" dirty="0">
              <a:solidFill>
                <a:schemeClr val="tx1"/>
              </a:solidFill>
              <a:latin typeface="맑은 고딕"/>
              <a:ea typeface="맑은 고딕"/>
              <a:cs typeface="맑은 고딕"/>
            </a:endParaRPr>
          </a:p>
        </p:txBody>
      </p:sp>
      <p:cxnSp>
        <p:nvCxnSpPr>
          <p:cNvPr id="129" name="Connector 46"/>
          <p:cNvCxnSpPr>
            <a:stCxn id="128" idx="3"/>
            <a:endCxn id="96" idx="1"/>
          </p:cNvCxnSpPr>
          <p:nvPr/>
        </p:nvCxnSpPr>
        <p:spPr>
          <a:xfrm>
            <a:off x="8389001" y="2720433"/>
            <a:ext cx="302025" cy="1381"/>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grpSp>
        <p:nvGrpSpPr>
          <p:cNvPr id="4" name="그룹 3"/>
          <p:cNvGrpSpPr/>
          <p:nvPr/>
        </p:nvGrpSpPr>
        <p:grpSpPr>
          <a:xfrm>
            <a:off x="1390821" y="3556351"/>
            <a:ext cx="10286655" cy="885231"/>
            <a:chOff x="1190992" y="3862952"/>
            <a:chExt cx="10286655" cy="885231"/>
          </a:xfrm>
        </p:grpSpPr>
        <p:sp>
          <p:nvSpPr>
            <p:cNvPr id="15" name="직사각형 14"/>
            <p:cNvSpPr/>
            <p:nvPr/>
          </p:nvSpPr>
          <p:spPr>
            <a:xfrm>
              <a:off x="1190992" y="3862952"/>
              <a:ext cx="10286655" cy="885231"/>
            </a:xfrm>
            <a:prstGeom prst="rect">
              <a:avLst/>
            </a:prstGeom>
            <a:solidFill>
              <a:schemeClr val="bg1"/>
            </a:solidFill>
            <a:ln>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1" name="TextBox 300"/>
            <p:cNvSpPr txBox="1"/>
            <p:nvPr/>
          </p:nvSpPr>
          <p:spPr>
            <a:xfrm>
              <a:off x="1887027" y="3952198"/>
              <a:ext cx="3149522" cy="314445"/>
            </a:xfrm>
            <a:prstGeom prst="rect">
              <a:avLst/>
            </a:prstGeom>
            <a:solidFill>
              <a:schemeClr val="accent3">
                <a:lumMod val="20000"/>
                <a:lumOff val="80000"/>
              </a:schemeClr>
            </a:solidFill>
          </p:spPr>
          <p:txBody>
            <a:bodyPr wrap="square" lIns="45720" tIns="27432" rIns="45720" bIns="27432" anchor="ctr">
              <a:spAutoFit/>
            </a:bodyPr>
            <a:lstStyle/>
            <a:p>
              <a:pPr>
                <a:spcAft>
                  <a:spcPts val="100"/>
                </a:spcAft>
              </a:pPr>
              <a:r>
                <a:rPr lang="ko-KR" altLang="en-US" sz="800" b="1" dirty="0">
                  <a:latin typeface="맑은 고딕"/>
                  <a:ea typeface="맑은 고딕"/>
                  <a:cs typeface="맑은 고딕"/>
                </a:rPr>
                <a:t>유사도 계산</a:t>
              </a:r>
              <a:r>
                <a:rPr lang="en-US" sz="800" b="1" dirty="0">
                  <a:latin typeface="맑은 고딕"/>
                  <a:ea typeface="맑은 고딕"/>
                  <a:cs typeface="맑은 고딕"/>
                </a:rPr>
                <a:t>: Query</a:t>
              </a:r>
              <a:r>
                <a:rPr lang="ko-KR" altLang="en-US" sz="800" b="1" dirty="0">
                  <a:latin typeface="맑은 고딕"/>
                  <a:ea typeface="맑은 고딕"/>
                  <a:cs typeface="맑은 고딕"/>
                </a:rPr>
                <a:t>와 </a:t>
              </a:r>
              <a:r>
                <a:rPr lang="en-US" altLang="ko-KR" sz="800" b="1" dirty="0">
                  <a:latin typeface="맑은 고딕"/>
                  <a:ea typeface="맑은 고딕"/>
                  <a:cs typeface="맑은 고딕"/>
                </a:rPr>
                <a:t>KV </a:t>
              </a:r>
              <a:r>
                <a:rPr lang="ko-KR" altLang="en-US" sz="800" b="1" dirty="0">
                  <a:latin typeface="맑은 고딕"/>
                  <a:ea typeface="맑은 고딕"/>
                  <a:cs typeface="맑은 고딕"/>
                </a:rPr>
                <a:t>캐시 간의 </a:t>
              </a:r>
              <a:r>
                <a:rPr lang="ko-KR" altLang="en-US" sz="800" b="1" dirty="0" err="1">
                  <a:latin typeface="맑은 고딕"/>
                  <a:ea typeface="맑은 고딕"/>
                  <a:cs typeface="맑은 고딕"/>
                </a:rPr>
                <a:t>유사도를</a:t>
              </a:r>
              <a:r>
                <a:rPr lang="ko-KR" altLang="en-US" sz="800" b="1" dirty="0">
                  <a:latin typeface="맑은 고딕"/>
                  <a:ea typeface="맑은 고딕"/>
                  <a:cs typeface="맑은 고딕"/>
                </a:rPr>
                <a:t> 계산</a:t>
              </a:r>
              <a:endParaRPr lang="en-US" altLang="ko-KR" sz="800" b="1" dirty="0">
                <a:latin typeface="맑은 고딕"/>
                <a:ea typeface="맑은 고딕"/>
                <a:cs typeface="맑은 고딕"/>
              </a:endParaRPr>
            </a:p>
            <a:p>
              <a:pPr>
                <a:spcAft>
                  <a:spcPts val="100"/>
                </a:spcAft>
              </a:pPr>
              <a:r>
                <a:rPr lang="en-US" altLang="ko-KR" sz="800" b="1" dirty="0">
                  <a:latin typeface="맑은 고딕"/>
                  <a:ea typeface="맑은 고딕"/>
                  <a:cs typeface="맑은 고딕"/>
                </a:rPr>
                <a:t>(</a:t>
              </a:r>
              <a:r>
                <a:rPr lang="en-US" sz="800" b="1" dirty="0">
                  <a:latin typeface="맑은 고딕"/>
                  <a:ea typeface="맑은 고딕"/>
                  <a:cs typeface="맑은 고딕"/>
                </a:rPr>
                <a:t>Attention Manager)</a:t>
              </a:r>
              <a:endParaRPr sz="800" b="0" dirty="0">
                <a:latin typeface="맑은 고딕"/>
                <a:ea typeface="맑은 고딕"/>
                <a:cs typeface="맑은 고딕"/>
              </a:endParaRPr>
            </a:p>
          </p:txBody>
        </p:sp>
        <p:sp>
          <p:nvSpPr>
            <p:cNvPr id="302" name="TextBox 301"/>
            <p:cNvSpPr txBox="1"/>
            <p:nvPr/>
          </p:nvSpPr>
          <p:spPr>
            <a:xfrm>
              <a:off x="1887027" y="4353852"/>
              <a:ext cx="3149522" cy="314445"/>
            </a:xfrm>
            <a:prstGeom prst="rect">
              <a:avLst/>
            </a:prstGeom>
            <a:solidFill>
              <a:schemeClr val="accent1">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재사용 토큰 선정</a:t>
              </a:r>
              <a:r>
                <a:rPr lang="en-US" altLang="ko-KR" sz="800" b="1" dirty="0">
                  <a:ea typeface="맑은 고딕"/>
                  <a:cs typeface="맑은 고딕"/>
                </a:rPr>
                <a:t>: </a:t>
              </a:r>
              <a:r>
                <a:rPr lang="ko-KR" altLang="en-US" sz="800" b="1" dirty="0">
                  <a:ea typeface="맑은 고딕"/>
                  <a:cs typeface="맑은 고딕"/>
                </a:rPr>
                <a:t>유사도 점수로 재사용할 토큰 선정 </a:t>
              </a:r>
              <a:endParaRPr lang="en-US" altLang="ko-KR" sz="800" b="1" dirty="0">
                <a:ea typeface="맑은 고딕"/>
                <a:cs typeface="맑은 고딕"/>
              </a:endParaRPr>
            </a:p>
            <a:p>
              <a:pPr>
                <a:spcAft>
                  <a:spcPts val="100"/>
                </a:spcAft>
              </a:pPr>
              <a:r>
                <a:rPr lang="en-US" altLang="ko-KR" sz="800" b="1" dirty="0">
                  <a:ea typeface="맑은 고딕"/>
                  <a:cs typeface="맑은 고딕"/>
                </a:rPr>
                <a:t>(KV Sampler)</a:t>
              </a:r>
            </a:p>
          </p:txBody>
        </p:sp>
        <p:sp>
          <p:nvSpPr>
            <p:cNvPr id="303" name="TextBox 302"/>
            <p:cNvSpPr txBox="1"/>
            <p:nvPr/>
          </p:nvSpPr>
          <p:spPr>
            <a:xfrm>
              <a:off x="5093777" y="3954047"/>
              <a:ext cx="3149522" cy="314445"/>
            </a:xfrm>
            <a:prstGeom prst="rect">
              <a:avLst/>
            </a:prstGeom>
            <a:solidFill>
              <a:schemeClr val="accent6">
                <a:lumMod val="20000"/>
                <a:lumOff val="80000"/>
              </a:schemeClr>
            </a:solidFill>
          </p:spPr>
          <p:txBody>
            <a:bodyPr wrap="square" lIns="45720" tIns="27432" rIns="45720" bIns="27432" anchor="ctr">
              <a:spAutoFit/>
            </a:bodyPr>
            <a:lstStyle/>
            <a:p>
              <a:pPr lvl="0">
                <a:spcAft>
                  <a:spcPts val="100"/>
                </a:spcAft>
              </a:pPr>
              <a:r>
                <a:rPr lang="ko-KR" altLang="en-US" sz="800" b="1" dirty="0" err="1">
                  <a:solidFill>
                    <a:prstClr val="black"/>
                  </a:solidFill>
                  <a:ea typeface="맑은 고딕"/>
                  <a:cs typeface="맑은 고딕"/>
                </a:rPr>
                <a:t>재연산</a:t>
              </a:r>
              <a:r>
                <a:rPr lang="ko-KR" altLang="en-US" sz="800" b="1" dirty="0">
                  <a:solidFill>
                    <a:prstClr val="black"/>
                  </a:solidFill>
                  <a:ea typeface="맑은 고딕"/>
                  <a:cs typeface="맑은 고딕"/>
                </a:rPr>
                <a:t> 토큰 선정</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재계산할 토큰 선정</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a:t>
              </a:r>
              <a:r>
                <a:rPr lang="en-US" altLang="ko-KR" sz="800" b="1" dirty="0" err="1">
                  <a:solidFill>
                    <a:prstClr val="black"/>
                  </a:solidFill>
                  <a:ea typeface="맑은 고딕"/>
                  <a:cs typeface="맑은 고딕"/>
                </a:rPr>
                <a:t>Recompute</a:t>
              </a:r>
              <a:r>
                <a:rPr lang="en-US" altLang="ko-KR" sz="800" b="1" dirty="0">
                  <a:solidFill>
                    <a:prstClr val="black"/>
                  </a:solidFill>
                  <a:ea typeface="맑은 고딕"/>
                  <a:cs typeface="맑은 고딕"/>
                </a:rPr>
                <a:t>-Token Selector)</a:t>
              </a:r>
            </a:p>
          </p:txBody>
        </p:sp>
        <p:sp>
          <p:nvSpPr>
            <p:cNvPr id="304" name="TextBox 303"/>
            <p:cNvSpPr txBox="1"/>
            <p:nvPr/>
          </p:nvSpPr>
          <p:spPr>
            <a:xfrm>
              <a:off x="5093777" y="4366396"/>
              <a:ext cx="3149522" cy="316242"/>
            </a:xfrm>
            <a:prstGeom prst="rect">
              <a:avLst/>
            </a:prstGeom>
            <a:solidFill>
              <a:schemeClr val="accent4">
                <a:lumMod val="20000"/>
                <a:lumOff val="80000"/>
              </a:schemeClr>
            </a:solidFill>
          </p:spPr>
          <p:txBody>
            <a:bodyPr wrap="square" lIns="45720" tIns="27432" rIns="45720" bIns="27432" anchor="ctr">
              <a:spAutoFit/>
            </a:bodyPr>
            <a:lstStyle/>
            <a:p>
              <a:pPr>
                <a:spcAft>
                  <a:spcPts val="100"/>
                </a:spcAft>
              </a:pPr>
              <a:r>
                <a:rPr lang="ko-KR" altLang="en-US" sz="800" b="1" dirty="0">
                  <a:ea typeface="맑은 고딕"/>
                  <a:cs typeface="맑은 고딕"/>
                </a:rPr>
                <a:t>선택적 재계산</a:t>
              </a:r>
              <a:r>
                <a:rPr lang="en-US" altLang="ko-KR" sz="800" b="1" dirty="0">
                  <a:ea typeface="맑은 고딕"/>
                  <a:cs typeface="맑은 고딕"/>
                </a:rPr>
                <a:t>: </a:t>
              </a:r>
              <a:r>
                <a:rPr lang="ko-KR" altLang="en-US" sz="800" b="1" dirty="0">
                  <a:ea typeface="맑은 고딕"/>
                  <a:cs typeface="맑은 고딕"/>
                </a:rPr>
                <a:t>선정한 토큰만 재계산</a:t>
              </a:r>
              <a:endParaRPr lang="en-US" altLang="ko-KR" sz="800" b="1" dirty="0">
                <a:ea typeface="맑은 고딕"/>
                <a:cs typeface="맑은 고딕"/>
              </a:endParaRPr>
            </a:p>
            <a:p>
              <a:pPr>
                <a:spcAft>
                  <a:spcPts val="100"/>
                </a:spcAft>
              </a:pPr>
              <a:r>
                <a:rPr lang="en-US" altLang="ko-KR" sz="800" b="1" dirty="0">
                  <a:ea typeface="맑은 고딕"/>
                  <a:cs typeface="맑은 고딕"/>
                </a:rPr>
                <a:t>(Selective </a:t>
              </a:r>
              <a:r>
                <a:rPr lang="en-US" altLang="ko-KR" sz="800" b="1" dirty="0" err="1">
                  <a:ea typeface="맑은 고딕"/>
                  <a:cs typeface="맑은 고딕"/>
                </a:rPr>
                <a:t>Recomputer</a:t>
              </a:r>
              <a:r>
                <a:rPr lang="en-US" altLang="ko-KR" sz="800" b="1" dirty="0">
                  <a:ea typeface="맑은 고딕"/>
                  <a:cs typeface="맑은 고딕"/>
                </a:rPr>
                <a:t>)</a:t>
              </a:r>
              <a:endParaRPr lang="en-US" altLang="ko-KR" sz="800" dirty="0">
                <a:ea typeface="맑은 고딕"/>
                <a:cs typeface="맑은 고딕"/>
              </a:endParaRPr>
            </a:p>
          </p:txBody>
        </p:sp>
        <p:sp>
          <p:nvSpPr>
            <p:cNvPr id="305" name="TextBox 304"/>
            <p:cNvSpPr txBox="1"/>
            <p:nvPr/>
          </p:nvSpPr>
          <p:spPr>
            <a:xfrm>
              <a:off x="8352247" y="3952198"/>
              <a:ext cx="2863202" cy="314445"/>
            </a:xfrm>
            <a:prstGeom prst="rect">
              <a:avLst/>
            </a:prstGeom>
            <a:solidFill>
              <a:schemeClr val="accent2">
                <a:lumMod val="20000"/>
                <a:lumOff val="80000"/>
              </a:schemeClr>
            </a:solidFill>
          </p:spPr>
          <p:txBody>
            <a:bodyPr wrap="square" lIns="45720" tIns="27432" rIns="45720" bIns="27432" anchor="ctr">
              <a:spAutoFit/>
            </a:bodyPr>
            <a:lstStyle/>
            <a:p>
              <a:pPr lvl="0">
                <a:spcAft>
                  <a:spcPts val="100"/>
                </a:spcAft>
              </a:pPr>
              <a:r>
                <a:rPr lang="ko-KR" altLang="en-US" sz="800" b="1" dirty="0">
                  <a:solidFill>
                    <a:prstClr val="black"/>
                  </a:solidFill>
                  <a:ea typeface="맑은 고딕"/>
                  <a:cs typeface="맑은 고딕"/>
                </a:rPr>
                <a:t>대표 쿼리 추출 </a:t>
              </a:r>
              <a:r>
                <a:rPr lang="en-US" altLang="ko-KR" sz="800" b="1" dirty="0">
                  <a:solidFill>
                    <a:prstClr val="black"/>
                  </a:solidFill>
                  <a:ea typeface="맑은 고딕"/>
                  <a:cs typeface="맑은 고딕"/>
                </a:rPr>
                <a:t>: </a:t>
              </a:r>
              <a:r>
                <a:rPr lang="ko-KR" altLang="en-US" sz="800" b="1" dirty="0">
                  <a:solidFill>
                    <a:prstClr val="black"/>
                  </a:solidFill>
                  <a:ea typeface="맑은 고딕"/>
                  <a:cs typeface="맑은 고딕"/>
                </a:rPr>
                <a:t>워크로드 별 대표 </a:t>
              </a:r>
              <a:r>
                <a:rPr lang="en-US" altLang="ko-KR" sz="800" b="1" dirty="0">
                  <a:solidFill>
                    <a:prstClr val="black"/>
                  </a:solidFill>
                  <a:ea typeface="맑은 고딕"/>
                  <a:cs typeface="맑은 고딕"/>
                </a:rPr>
                <a:t>Query </a:t>
              </a:r>
              <a:r>
                <a:rPr lang="ko-KR" altLang="en-US" sz="800" b="1" dirty="0">
                  <a:solidFill>
                    <a:prstClr val="black"/>
                  </a:solidFill>
                  <a:ea typeface="맑은 고딕"/>
                  <a:cs typeface="맑은 고딕"/>
                </a:rPr>
                <a:t>추출 </a:t>
              </a:r>
              <a:endParaRPr lang="en-US" altLang="ko-KR" sz="800" b="1" dirty="0">
                <a:solidFill>
                  <a:prstClr val="black"/>
                </a:solidFill>
                <a:ea typeface="맑은 고딕"/>
                <a:cs typeface="맑은 고딕"/>
              </a:endParaRPr>
            </a:p>
            <a:p>
              <a:pPr lvl="0">
                <a:spcAft>
                  <a:spcPts val="100"/>
                </a:spcAft>
              </a:pPr>
              <a:r>
                <a:rPr lang="en-US" altLang="ko-KR" sz="800" b="1" dirty="0">
                  <a:solidFill>
                    <a:prstClr val="black"/>
                  </a:solidFill>
                  <a:ea typeface="맑은 고딕"/>
                  <a:cs typeface="맑은 고딕"/>
                </a:rPr>
                <a:t>(Query Sampler)</a:t>
              </a:r>
            </a:p>
          </p:txBody>
        </p:sp>
        <p:sp>
          <p:nvSpPr>
            <p:cNvPr id="18" name="직사각형 17"/>
            <p:cNvSpPr/>
            <p:nvPr/>
          </p:nvSpPr>
          <p:spPr>
            <a:xfrm>
              <a:off x="1238713" y="4256303"/>
              <a:ext cx="587020" cy="230832"/>
            </a:xfrm>
            <a:prstGeom prst="rect">
              <a:avLst/>
            </a:prstGeom>
          </p:spPr>
          <p:txBody>
            <a:bodyPr wrap="none" anchor="ctr">
              <a:spAutoFit/>
            </a:bodyPr>
            <a:lstStyle/>
            <a:p>
              <a:r>
                <a:rPr lang="en-US" altLang="ko-KR" sz="900" b="1" dirty="0">
                  <a:solidFill>
                    <a:prstClr val="black"/>
                  </a:solidFill>
                </a:rPr>
                <a:t>Legend</a:t>
              </a:r>
              <a:endParaRPr lang="ko-KR" altLang="en-US" sz="2000" dirty="0"/>
            </a:p>
          </p:txBody>
        </p:sp>
        <p:sp>
          <p:nvSpPr>
            <p:cNvPr id="135" name="TextBox 134"/>
            <p:cNvSpPr txBox="1"/>
            <p:nvPr/>
          </p:nvSpPr>
          <p:spPr>
            <a:xfrm>
              <a:off x="8352247" y="4360264"/>
              <a:ext cx="2863202" cy="301621"/>
            </a:xfrm>
            <a:prstGeom prst="rect">
              <a:avLst/>
            </a:prstGeom>
            <a:solidFill>
              <a:srgbClr val="F0D8FA"/>
            </a:solidFill>
          </p:spPr>
          <p:txBody>
            <a:bodyPr wrap="square" lIns="45720" tIns="27432" rIns="45720" bIns="27432" anchor="ctr">
              <a:spAutoFit/>
            </a:bodyPr>
            <a:lstStyle/>
            <a:p>
              <a:pPr lvl="0">
                <a:spcAft>
                  <a:spcPts val="100"/>
                </a:spcAft>
              </a:pPr>
              <a:r>
                <a:rPr lang="en-US" altLang="ko-KR" sz="800" b="1" dirty="0">
                  <a:solidFill>
                    <a:prstClr val="black"/>
                  </a:solidFill>
                  <a:ea typeface="맑은 고딕"/>
                  <a:cs typeface="맑은 고딕"/>
                </a:rPr>
                <a:t>Validator: </a:t>
              </a:r>
              <a:r>
                <a:rPr lang="ko-KR" altLang="en-US" sz="800" b="1" dirty="0">
                  <a:solidFill>
                    <a:prstClr val="black"/>
                  </a:solidFill>
                  <a:ea typeface="맑은 고딕"/>
                  <a:cs typeface="맑은 고딕"/>
                </a:rPr>
                <a:t>사전에 계산한 재계산 토큰 위치를 업데이트 함으로써 </a:t>
              </a:r>
              <a:r>
                <a:rPr lang="en-US" altLang="ko-KR" sz="800" b="1" dirty="0">
                  <a:solidFill>
                    <a:prstClr val="black"/>
                  </a:solidFill>
                  <a:ea typeface="맑은 고딕"/>
                  <a:cs typeface="맑은 고딕"/>
                </a:rPr>
                <a:t>stale </a:t>
              </a:r>
              <a:r>
                <a:rPr lang="ko-KR" altLang="en-US" sz="800" b="1" dirty="0">
                  <a:solidFill>
                    <a:prstClr val="black"/>
                  </a:solidFill>
                  <a:ea typeface="맑은 고딕"/>
                  <a:cs typeface="맑은 고딕"/>
                </a:rPr>
                <a:t>정보 보완</a:t>
              </a:r>
              <a:endParaRPr lang="en-US" altLang="ko-KR" sz="800" b="1" dirty="0">
                <a:solidFill>
                  <a:prstClr val="black"/>
                </a:solidFill>
                <a:ea typeface="맑은 고딕"/>
                <a:cs typeface="맑은 고딕"/>
              </a:endParaRPr>
            </a:p>
          </p:txBody>
        </p:sp>
      </p:grpSp>
      <p:sp>
        <p:nvSpPr>
          <p:cNvPr id="78" name="모서리가 둥근 직사각형 37">
            <a:extLst>
              <a:ext uri="{FF2B5EF4-FFF2-40B4-BE49-F238E27FC236}">
                <a16:creationId xmlns:a16="http://schemas.microsoft.com/office/drawing/2014/main" id="{476B6E1C-7561-417D-A669-4DEFCE610223}"/>
              </a:ext>
            </a:extLst>
          </p:cNvPr>
          <p:cNvSpPr/>
          <p:nvPr/>
        </p:nvSpPr>
        <p:spPr>
          <a:xfrm>
            <a:off x="7784892" y="619129"/>
            <a:ext cx="1095752"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 </a:t>
            </a:r>
            <a:r>
              <a:rPr lang="ko-KR" altLang="en-US" sz="700" dirty="0">
                <a:latin typeface="맑은 고딕" panose="020B0503020000020004" pitchFamily="50" charset="-127"/>
              </a:rPr>
              <a:t>추론 정확도 보장</a:t>
            </a:r>
          </a:p>
        </p:txBody>
      </p:sp>
      <p:sp>
        <p:nvSpPr>
          <p:cNvPr id="82" name="모서리가 둥근 직사각형 81"/>
          <p:cNvSpPr/>
          <p:nvPr/>
        </p:nvSpPr>
        <p:spPr>
          <a:xfrm>
            <a:off x="10024136" y="624622"/>
            <a:ext cx="910691" cy="13449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LLM </a:t>
            </a:r>
            <a:r>
              <a:rPr lang="ko-KR" altLang="en-US" sz="700" dirty="0">
                <a:latin typeface="맑은 고딕" panose="020B0503020000020004" pitchFamily="50" charset="-127"/>
                <a:ea typeface="맑은 고딕" panose="020B0503020000020004" pitchFamily="50" charset="-127"/>
              </a:rPr>
              <a:t>추론 실행</a:t>
            </a:r>
          </a:p>
        </p:txBody>
      </p:sp>
      <p:sp>
        <p:nvSpPr>
          <p:cNvPr id="83" name="모서리가 둥근 직사각형 37">
            <a:extLst>
              <a:ext uri="{FF2B5EF4-FFF2-40B4-BE49-F238E27FC236}">
                <a16:creationId xmlns:a16="http://schemas.microsoft.com/office/drawing/2014/main" id="{824F5705-7E02-467A-970F-D2A9FCD95DC7}"/>
              </a:ext>
            </a:extLst>
          </p:cNvPr>
          <p:cNvSpPr/>
          <p:nvPr/>
        </p:nvSpPr>
        <p:spPr>
          <a:xfrm>
            <a:off x="1098339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KV </a:t>
            </a:r>
            <a:r>
              <a:rPr lang="ko-KR" altLang="en-US" sz="700" dirty="0">
                <a:latin typeface="맑은 고딕" panose="020B0503020000020004" pitchFamily="50" charset="-127"/>
                <a:ea typeface="맑은 고딕" panose="020B0503020000020004" pitchFamily="50" charset="-127"/>
              </a:rPr>
              <a:t>캐시 관리</a:t>
            </a:r>
          </a:p>
        </p:txBody>
      </p:sp>
      <p:sp>
        <p:nvSpPr>
          <p:cNvPr id="84" name="모서리가 둥근 직사각형 37">
            <a:extLst>
              <a:ext uri="{FF2B5EF4-FFF2-40B4-BE49-F238E27FC236}">
                <a16:creationId xmlns:a16="http://schemas.microsoft.com/office/drawing/2014/main" id="{E99FD0CC-4F44-40AB-8E8E-E5E878FDD956}"/>
              </a:ext>
            </a:extLst>
          </p:cNvPr>
          <p:cNvSpPr/>
          <p:nvPr/>
        </p:nvSpPr>
        <p:spPr>
          <a:xfrm>
            <a:off x="9430793" y="808072"/>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5" name="모서리가 둥근 직사각형 37">
            <a:extLst>
              <a:ext uri="{FF2B5EF4-FFF2-40B4-BE49-F238E27FC236}">
                <a16:creationId xmlns:a16="http://schemas.microsoft.com/office/drawing/2014/main" id="{63E127C8-1374-4049-8A7A-84E9B191F365}"/>
              </a:ext>
            </a:extLst>
          </p:cNvPr>
          <p:cNvSpPr/>
          <p:nvPr/>
        </p:nvSpPr>
        <p:spPr>
          <a:xfrm>
            <a:off x="10320379" y="815469"/>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HBM </a:t>
            </a:r>
            <a:r>
              <a:rPr lang="ko-KR" altLang="en-US" sz="700" dirty="0">
                <a:latin typeface="맑은 고딕" panose="020B0503020000020004" pitchFamily="50" charset="-127"/>
              </a:rPr>
              <a:t>점유율</a:t>
            </a:r>
          </a:p>
        </p:txBody>
      </p:sp>
      <p:sp>
        <p:nvSpPr>
          <p:cNvPr id="86" name="모서리가 둥근 직사각형 37">
            <a:extLst>
              <a:ext uri="{FF2B5EF4-FFF2-40B4-BE49-F238E27FC236}">
                <a16:creationId xmlns:a16="http://schemas.microsoft.com/office/drawing/2014/main" id="{8B476E63-C72E-465A-98C8-0CB6FC0C7249}"/>
              </a:ext>
            </a:extLst>
          </p:cNvPr>
          <p:cNvSpPr/>
          <p:nvPr/>
        </p:nvSpPr>
        <p:spPr>
          <a:xfrm>
            <a:off x="11209965" y="808072"/>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a:t>
            </a:r>
          </a:p>
        </p:txBody>
      </p:sp>
      <p:sp>
        <p:nvSpPr>
          <p:cNvPr id="88" name="모서리가 둥근 직사각형 87"/>
          <p:cNvSpPr/>
          <p:nvPr/>
        </p:nvSpPr>
        <p:spPr>
          <a:xfrm>
            <a:off x="8958662" y="617897"/>
            <a:ext cx="100176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latin typeface="맑은 고딕" panose="020B0503020000020004" pitchFamily="50" charset="-127"/>
                <a:ea typeface="맑은 고딕" panose="020B0503020000020004" pitchFamily="50" charset="-127"/>
              </a:rPr>
              <a:t>추론 스케줄링</a:t>
            </a:r>
          </a:p>
        </p:txBody>
      </p:sp>
      <p:sp>
        <p:nvSpPr>
          <p:cNvPr id="2" name="직사각형 1"/>
          <p:cNvSpPr/>
          <p:nvPr/>
        </p:nvSpPr>
        <p:spPr>
          <a:xfrm>
            <a:off x="1583025" y="1946905"/>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직사각형 88"/>
          <p:cNvSpPr/>
          <p:nvPr/>
        </p:nvSpPr>
        <p:spPr>
          <a:xfrm>
            <a:off x="7917970" y="1954240"/>
            <a:ext cx="2519397"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직사각형 89"/>
          <p:cNvSpPr/>
          <p:nvPr/>
        </p:nvSpPr>
        <p:spPr>
          <a:xfrm>
            <a:off x="2397518" y="2426770"/>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직사각형 90"/>
          <p:cNvSpPr/>
          <p:nvPr/>
        </p:nvSpPr>
        <p:spPr>
          <a:xfrm>
            <a:off x="3241867" y="2937037"/>
            <a:ext cx="2387054" cy="418755"/>
          </a:xfrm>
          <a:prstGeom prst="rect">
            <a:avLst/>
          </a:prstGeom>
          <a:noFill/>
          <a:ln w="9525">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6" name="legend_v4"/>
          <p:cNvSpPr txBox="1"/>
          <p:nvPr/>
        </p:nvSpPr>
        <p:spPr>
          <a:xfrm>
            <a:off x="566928" y="6583680"/>
            <a:ext cx="3931920" cy="256032"/>
          </a:xfrm>
          <a:prstGeom prst="rect">
            <a:avLst/>
          </a:prstGeom>
          <a:noFill/>
        </p:spPr>
        <p:txBody>
          <a:bodyPr wrap="square" lIns="18288" tIns="0" rIns="18288" bIns="0" anchor="t">
            <a:spAutoFit/>
          </a:bodyPr>
          <a:lstStyle/>
          <a:p>
            <a:pPr algn="l">
              <a:lnSpc>
                <a:spcPct val="95000"/>
              </a:lnSpc>
              <a:spcAft>
                <a:spcPts val="0"/>
              </a:spcAft>
            </a:pPr>
            <a:r>
              <a:rPr sz="630" b="0">
                <a:solidFill>
                  <a:srgbClr val="595959"/>
                </a:solidFill>
                <a:latin typeface="맑은 고딕"/>
                <a:ea typeface="맑은 고딕"/>
              </a:rPr>
              <a:t>작은 수치 = B1(정적 offload) → 후보의 이론 예상값(분석 모델, 시뮬레이션 아님)과 개선율. </a:t>
            </a:r>
            <a:r>
              <a:rPr sz="630" b="0">
                <a:solidFill>
                  <a:srgbClr val="0000FF"/>
                </a:solidFill>
                <a:latin typeface="맑은 고딕"/>
                <a:ea typeface="맑은 고딕"/>
              </a:rPr>
              <a:t>파란 글씨 = 소유자 별 대비 코멘트.</a:t>
            </a:r>
          </a:p>
        </p:txBody>
      </p:sp>
    </p:spTree>
    <p:extLst>
      <p:ext uri="{BB962C8B-B14F-4D97-AF65-F5344CB8AC3E}">
        <p14:creationId xmlns:p14="http://schemas.microsoft.com/office/powerpoint/2010/main" val="2447615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0040" cy="544740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831336">
                  <a:extLst>
                    <a:ext uri="{9D8B030D-6E8A-4147-A177-3AD203B41FA5}">
                      <a16:colId xmlns:a16="http://schemas.microsoft.com/office/drawing/2014/main" val="5654497"/>
                    </a:ext>
                  </a:extLst>
                </a:gridCol>
                <a:gridCol w="1600200">
                  <a:extLst>
                    <a:ext uri="{9D8B030D-6E8A-4147-A177-3AD203B41FA5}">
                      <a16:colId xmlns:a16="http://schemas.microsoft.com/office/drawing/2014/main" val="4114062400"/>
                    </a:ext>
                  </a:extLst>
                </a:gridCol>
                <a:gridCol w="3840480">
                  <a:extLst>
                    <a:ext uri="{9D8B030D-6E8A-4147-A177-3AD203B41FA5}">
                      <a16:colId xmlns:a16="http://schemas.microsoft.com/office/drawing/2014/main" val="3070054508"/>
                    </a:ext>
                  </a:extLst>
                </a:gridCol>
                <a:gridCol w="1600200">
                  <a:extLst>
                    <a:ext uri="{9D8B030D-6E8A-4147-A177-3AD203B41FA5}">
                      <a16:colId xmlns:a16="http://schemas.microsoft.com/office/drawing/2014/main" val="2026705357"/>
                    </a:ext>
                  </a:extLst>
                </a:gridCol>
              </a:tblGrid>
              <a:tr h="358421">
                <a:tc>
                  <a:txBody>
                    <a:bodyPr/>
                    <a:lstStyle/>
                    <a:p>
                      <a:pPr algn="ctr" latinLnBrk="1"/>
                      <a:r>
                        <a:rPr lang="ko-KR" altLang="en-US" sz="1200">
                          <a:solidFill>
                            <a:schemeClr val="tx1">
                              <a:lumMod val="50000"/>
                              <a:lumOff val="50000"/>
                            </a:schemeClr>
                          </a:solidFill>
                        </a:rPr>
                        <a:t>설계 안</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중앙 서버 중재 구조 </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락 </a:t>
                      </a:r>
                      <a:r>
                        <a:rPr lang="ko-KR" altLang="en-US" sz="1200" b="1" dirty="0"/>
                        <a:t>기반 직접 접근 </a:t>
                      </a:r>
                      <a:r>
                        <a:rPr lang="en-US" altLang="ko-KR" sz="1200" b="1" dirty="0" err="1"/>
                        <a:t>구조</a:t>
                      </a:r>
                      <a:endParaRPr lang="en-US" altLang="ko-KR"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51768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중앙에서 동기화를 일괄 처리하여 요청당 동기화 오버헤드가 작음 </a:t>
                      </a:r>
                      <a:r>
                        <a:rPr lang="en-US" altLang="ko-KR" sz="1200" dirty="0"/>
                        <a:t>(Q1)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중앙에서 요청 순서와 동시 처리량을 제어하여 경합 관리에 유리 </a:t>
                      </a:r>
                      <a:r>
                        <a:rPr lang="en-US" altLang="ko-KR" sz="1200" dirty="0"/>
                        <a:t>(Q3)</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중앙 병목은 회피 및 분산 병렬 처리에 유리</a:t>
                      </a:r>
                      <a:r>
                        <a:rPr lang="en-US" altLang="ko-KR" sz="1200" dirty="0"/>
                        <a:t>(Q1,</a:t>
                      </a:r>
                      <a:r>
                        <a:rPr lang="en-US" altLang="ko-KR" sz="1200" baseline="0" dirty="0"/>
                        <a:t> Q3</a:t>
                      </a:r>
                      <a:r>
                        <a:rPr lang="en-US" altLang="ko-KR" sz="1200" dirty="0"/>
                        <a: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노드별</a:t>
                      </a:r>
                      <a:r>
                        <a:rPr lang="ko-KR" altLang="en-US" sz="1200" dirty="0"/>
                        <a:t> 분산 처리로 </a:t>
                      </a:r>
                      <a:r>
                        <a:rPr lang="ko-KR" altLang="en-US" sz="1200" dirty="0" err="1"/>
                        <a:t>병렬성</a:t>
                      </a:r>
                      <a:r>
                        <a:rPr lang="ko-KR" altLang="en-US" sz="1200" dirty="0"/>
                        <a:t> 확보 및 수평 확장에 유리 </a:t>
                      </a:r>
                      <a:r>
                        <a:rPr lang="en-US" altLang="ko-KR" sz="1200" dirty="0"/>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고부하 시 서버 집중에 따른 병목 가능 </a:t>
                      </a:r>
                      <a:r>
                        <a:rPr lang="en-US" altLang="ko-KR" sz="1200" dirty="0"/>
                        <a:t>(</a:t>
                      </a:r>
                      <a:r>
                        <a:rPr lang="en-US" altLang="ko-KR" sz="1200" baseline="0" dirty="0"/>
                        <a:t>Q3) </a:t>
                      </a:r>
                      <a:endParaRPr lang="en-US" altLang="ko-KR" sz="1200" dirty="0"/>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노드 증가 시 중앙 서버의 처리 용량이 확장 한계로 작용</a:t>
                      </a:r>
                      <a:r>
                        <a:rPr lang="en-US" altLang="ko-KR" sz="1200" dirty="0"/>
                        <a:t>(Q5)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err="1"/>
                        <a:t>락</a:t>
                      </a:r>
                      <a:r>
                        <a:rPr lang="ko-KR" altLang="en-US" sz="1200" dirty="0"/>
                        <a:t> 획득 및 공유 데이터 접근에 따른 동기화 오버헤드 발생</a:t>
                      </a:r>
                      <a:r>
                        <a:rPr lang="en-US" altLang="ko-KR" sz="1200" baseline="0" dirty="0"/>
                        <a:t> (Q1)</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dirty="0"/>
                        <a:t>고부하 시 </a:t>
                      </a:r>
                      <a:r>
                        <a:rPr lang="ko-KR" altLang="en-US" sz="1200" dirty="0" err="1"/>
                        <a:t>락</a:t>
                      </a:r>
                      <a:r>
                        <a:rPr lang="ko-KR" altLang="en-US" sz="1200" dirty="0"/>
                        <a:t> 경합 및 대기시간 증가로 지연 편차 확대 </a:t>
                      </a:r>
                      <a:r>
                        <a:rPr lang="en-US" altLang="ko-KR" sz="1200" dirty="0"/>
                        <a:t>(Q3)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404823">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indent="0" latinLnBrk="1">
                        <a:lnSpc>
                          <a:spcPct val="100000"/>
                        </a:lnSpc>
                        <a:buFont typeface="Wingdings" panose="05000000000000000000" pitchFamily="2" charset="2"/>
                        <a:buNone/>
                      </a:pPr>
                      <a:r>
                        <a:rPr lang="en-US" altLang="ko-KR" sz="1200" b="0" strike="noStrike" dirty="0">
                          <a:solidFill>
                            <a:schemeClr val="tx1"/>
                          </a:solidFill>
                        </a:rPr>
                        <a:t>Q1. Performance </a:t>
                      </a:r>
                      <a:r>
                        <a:rPr lang="ko-KR" altLang="en-US" sz="1200" b="0" strike="noStrike" dirty="0">
                          <a:solidFill>
                            <a:schemeClr val="tx1"/>
                          </a:solidFill>
                        </a:rPr>
                        <a:t>처리량 </a:t>
                      </a:r>
                      <a:r>
                        <a:rPr sz="750" b="0">
                          <a:solidFill>
                            <a:srgbClr val="0000FF"/>
                          </a:solidFill>
                          <a:latin typeface="맑은 고딕"/>
                          <a:ea typeface="맑은 고딕"/>
                        </a:rPr>
                        <a:t>   ▸ 2안과 동일</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r>
                        <a:rPr sz="750" b="0">
                          <a:solidFill>
                            <a:srgbClr val="0000FF"/>
                          </a:solidFill>
                          <a:latin typeface="맑은 고딕"/>
                          <a:ea typeface="맑은 고딕"/>
                        </a:rPr>
                        <a:t>   ▸ 예상보다 높음</a:t>
                      </a:r>
                      <a:endParaRPr lang="en-US" altLang="ko-KR" sz="1000" b="0" strike="noStrike" dirty="0">
                        <a:solidFill>
                          <a:schemeClr val="tx1"/>
                        </a:solidFill>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r>
                        <a:rPr sz="750" b="0">
                          <a:solidFill>
                            <a:srgbClr val="0000FF"/>
                          </a:solidFill>
                          <a:latin typeface="맑은 고딕"/>
                          <a:ea typeface="맑은 고딕"/>
                        </a:rPr>
                        <a:t>   ▸ 2안과 동일</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r>
                        <a:rPr lang="ko-KR" altLang="en-US" sz="1200" b="0" dirty="0">
                          <a:solidFill>
                            <a:srgbClr val="0066FF"/>
                          </a:solidFill>
                          <a:latin typeface="맑은 고딕" panose="020B0503020000020004" pitchFamily="50" charset="-127"/>
                          <a:ea typeface="+mn-ea"/>
                        </a:rPr>
                        <a:t>●●◐</a:t>
                      </a:r>
                      <a:r>
                        <a:rPr sz="630" b="0">
                          <a:solidFill>
                            <a:srgbClr val="404040"/>
                          </a:solidFill>
                          <a:latin typeface="맑은 고딕"/>
                          <a:ea typeface="맑은 고딕"/>
                        </a:rPr>
                        <a:t> 2,973→4,941 tok/s (+66%)</a:t>
                      </a:r>
                      <a:endParaRPr lang="en-US" altLang="ko-KR" sz="1200" b="0" dirty="0">
                        <a:solidFill>
                          <a:srgbClr val="0066FF"/>
                        </a:solidFill>
                        <a:latin typeface="맑은 고딕" panose="020B0503020000020004" pitchFamily="50" charset="-127"/>
                        <a:ea typeface="+mn-ea"/>
                      </a:endParaRPr>
                    </a:p>
                    <a:p>
                      <a:pPr lvl="0"/>
                      <a:r>
                        <a:rPr lang="ko-KR" altLang="en-US" sz="1200" b="0" dirty="0">
                          <a:solidFill>
                            <a:srgbClr val="0066FF"/>
                          </a:solidFill>
                          <a:latin typeface="맑은 고딕" panose="020B0503020000020004" pitchFamily="50" charset="-127"/>
                          <a:ea typeface="+mn-ea"/>
                        </a:rPr>
                        <a:t>●●○</a:t>
                      </a:r>
                      <a:r>
                        <a:rPr sz="630" b="0">
                          <a:solidFill>
                            <a:srgbClr val="404040"/>
                          </a:solidFill>
                          <a:latin typeface="맑은 고딕"/>
                          <a:ea typeface="맑은 고딕"/>
                        </a:rPr>
                        <a:t> TTFT 2.1→0.4 s (−80%)</a:t>
                      </a:r>
                      <a:endParaRPr lang="en-US" altLang="ko-KR" sz="1200" b="0" dirty="0">
                        <a:solidFill>
                          <a:srgbClr val="0066FF"/>
                        </a:solidFill>
                        <a:latin typeface="맑은 고딕" panose="020B0503020000020004" pitchFamily="50" charset="-127"/>
                        <a:ea typeface="+mn-ea"/>
                      </a:endParaRPr>
                    </a:p>
                    <a:p>
                      <a:pPr lvl="0"/>
                      <a:r>
                        <a:rPr lang="ko-KR" altLang="en-US"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SE 98→99%</a:t>
                      </a:r>
                      <a:endParaRPr lang="en-US" altLang="ko-KR" sz="1200" b="0" dirty="0">
                        <a:solidFill>
                          <a:schemeClr val="tx1"/>
                        </a:solidFill>
                        <a:latin typeface="맑은 고딕" panose="020B0503020000020004" pitchFamily="50" charset="-127"/>
                        <a:ea typeface="+mn-ea"/>
                      </a:endParaRPr>
                    </a:p>
                  </a:txBody>
                  <a:tcPr anchor="ctr" marR="0">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Q1.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처리량 </a:t>
                      </a:r>
                      <a:r>
                        <a:rPr sz="750" b="0">
                          <a:solidFill>
                            <a:srgbClr val="0000FF"/>
                          </a:solidFill>
                          <a:latin typeface="맑은 고딕"/>
                          <a:ea typeface="맑은 고딕"/>
                        </a:rPr>
                        <a:t>   ▸ 1안과 동일</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Q3. Performance </a:t>
                      </a:r>
                      <a:r>
                        <a:rPr kumimoji="0" lang="ko-KR" altLang="en-US" sz="1200" b="0" i="0" u="none" strike="noStrike" kern="1200" cap="none" spc="0" normalizeH="0" baseline="0" noProof="0" dirty="0">
                          <a:ln>
                            <a:noFill/>
                          </a:ln>
                          <a:solidFill>
                            <a:prstClr val="black"/>
                          </a:solidFill>
                          <a:effectLst/>
                          <a:uLnTx/>
                          <a:uFillTx/>
                          <a:latin typeface="+mn-lt"/>
                          <a:ea typeface="+mn-ea"/>
                          <a:cs typeface="+mn-cs"/>
                        </a:rPr>
                        <a:t>고부하 지연시간</a:t>
                      </a:r>
                      <a:r>
                        <a:rPr sz="750" b="0">
                          <a:solidFill>
                            <a:srgbClr val="0000FF"/>
                          </a:solidFill>
                          <a:latin typeface="맑은 고딕"/>
                          <a:ea typeface="맑은 고딕"/>
                        </a:rPr>
                        <a:t>   ▸ 예상보다 높음</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kumimoji="0" lang="en-US" altLang="ko-KR" sz="1200" b="0" i="0" u="none" strike="noStrike" kern="1200" cap="none" spc="0" normalizeH="0" baseline="0" noProof="0" dirty="0">
                          <a:ln>
                            <a:noFill/>
                          </a:ln>
                          <a:solidFill>
                            <a:prstClr val="black"/>
                          </a:solidFill>
                          <a:effectLst/>
                          <a:uLnTx/>
                          <a:uFillTx/>
                          <a:latin typeface="+mn-lt"/>
                          <a:ea typeface="+mn-ea"/>
                          <a:cs typeface="+mn-cs"/>
                        </a:rPr>
                        <a:t>Q4. Scalability </a:t>
                      </a:r>
                      <a:r>
                        <a:rPr sz="750" b="0">
                          <a:solidFill>
                            <a:srgbClr val="0000FF"/>
                          </a:solidFill>
                          <a:latin typeface="맑은 고딕"/>
                          <a:ea typeface="맑은 고딕"/>
                        </a:rPr>
                        <a:t>   ▸ 1안과 동일</a:t>
                      </a:r>
                      <a:endParaRPr kumimoji="0" lang="en-US" altLang="ko-KR" sz="1000" b="0" i="0" u="none" strike="noStrike" kern="1200" cap="none" spc="0" normalizeH="0" baseline="0" noProof="0" dirty="0">
                        <a:ln>
                          <a:noFill/>
                        </a:ln>
                        <a:solidFill>
                          <a:prstClr val="black"/>
                        </a:solidFill>
                        <a:effectLst/>
                        <a:uLnTx/>
                        <a:uFillTx/>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2,973→4,941 tok/s (+66%)</a:t>
                      </a:r>
                      <a:endParaRPr lang="ko-KR" altLang="en-US" sz="1200" strike="noStrike" dirty="0">
                        <a:solidFill>
                          <a:srgbClr val="0066FF"/>
                        </a:solidFill>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b="0" dirty="0">
                          <a:solidFill>
                            <a:schemeClr val="tx1"/>
                          </a:solidFill>
                          <a:latin typeface="맑은 고딕" panose="020B0503020000020004" pitchFamily="50" charset="-127"/>
                          <a:ea typeface="+mn-ea"/>
                        </a:rPr>
                        <a:t>●◐○</a:t>
                      </a:r>
                      <a:r>
                        <a:rPr sz="630" b="0">
                          <a:solidFill>
                            <a:srgbClr val="404040"/>
                          </a:solidFill>
                          <a:latin typeface="맑은 고딕"/>
                          <a:ea typeface="맑은 고딕"/>
                        </a:rPr>
                        <a:t> TTFT 2.1→0.4 s (−80%)</a:t>
                      </a:r>
                      <a:endParaRPr lang="ko-KR" altLang="en-US" sz="1200" strike="noStrike" dirty="0">
                        <a:solidFill>
                          <a:srgbClr val="0066FF"/>
                        </a:solidFill>
                      </a:endParaRPr>
                    </a:p>
                    <a:p>
                      <a:pPr lvl="0"/>
                      <a:r>
                        <a:rPr lang="ko-KR" altLang="en-US" sz="1200" b="0" dirty="0">
                          <a:solidFill>
                            <a:srgbClr val="0066FF"/>
                          </a:solidFill>
                          <a:latin typeface="맑은 고딕" panose="020B0503020000020004" pitchFamily="50" charset="-127"/>
                          <a:ea typeface="+mn-ea"/>
                        </a:rPr>
                        <a:t>●●●</a:t>
                      </a:r>
                      <a:r>
                        <a:rPr sz="630" b="0">
                          <a:solidFill>
                            <a:srgbClr val="404040"/>
                          </a:solidFill>
                          <a:latin typeface="맑은 고딕"/>
                          <a:ea typeface="맑은 고딕"/>
                        </a:rPr>
                        <a:t> SE 98→99%</a:t>
                      </a:r>
                      <a:endParaRPr lang="en-US" altLang="ko-KR" sz="1200" b="0" dirty="0">
                        <a:solidFill>
                          <a:srgbClr val="0066FF"/>
                        </a:solidFill>
                        <a:latin typeface="맑은 고딕" panose="020B0503020000020004" pitchFamily="50" charset="-127"/>
                        <a:ea typeface="+mn-ea"/>
                      </a:endParaRPr>
                    </a:p>
                  </a:txBody>
                  <a:tcPr anchor="ctr" marR="0">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182" name="Rectangle 181"/>
          <p:cNvSpPr/>
          <p:nvPr/>
        </p:nvSpPr>
        <p:spPr>
          <a:xfrm>
            <a:off x="8269663" y="2029256"/>
            <a:ext cx="1874519" cy="1532336"/>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3" name="Rectangle 182"/>
          <p:cNvSpPr/>
          <p:nvPr/>
        </p:nvSpPr>
        <p:spPr>
          <a:xfrm>
            <a:off x="8269663" y="2029256"/>
            <a:ext cx="141549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lang="ko-KR" altLang="en-US" sz="700" b="1" dirty="0">
                <a:solidFill>
                  <a:srgbClr val="FFFFFF"/>
                </a:solidFill>
                <a:ea typeface="맑은 고딕"/>
              </a:rPr>
              <a:t>공유 메모리 풀</a:t>
            </a:r>
          </a:p>
        </p:txBody>
      </p:sp>
      <p:sp>
        <p:nvSpPr>
          <p:cNvPr id="184" name="Rectangle 183"/>
          <p:cNvSpPr/>
          <p:nvPr/>
        </p:nvSpPr>
        <p:spPr>
          <a:xfrm>
            <a:off x="8361103" y="2349296"/>
            <a:ext cx="1691640"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85" name="Rectangle 184"/>
          <p:cNvSpPr/>
          <p:nvPr/>
        </p:nvSpPr>
        <p:spPr>
          <a:xfrm>
            <a:off x="8361103" y="2733344"/>
            <a:ext cx="1691640" cy="381208"/>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lnSpc>
                <a:spcPct val="150000"/>
              </a:lnSpc>
            </a:pPr>
            <a:r>
              <a:rPr lang="ko-KR" altLang="en-US" sz="900" b="1" dirty="0">
                <a:solidFill>
                  <a:schemeClr val="tx1"/>
                </a:solidFill>
                <a:ea typeface="맑은 고딕"/>
              </a:rPr>
              <a:t>공유 메타데이터</a:t>
            </a:r>
          </a:p>
          <a:p>
            <a:pPr algn="ctr">
              <a:lnSpc>
                <a:spcPct val="150000"/>
              </a:lnSpc>
            </a:pPr>
            <a:r>
              <a:rPr lang="ko-KR" altLang="en-US" sz="700" dirty="0">
                <a:solidFill>
                  <a:schemeClr val="tx1"/>
                </a:solidFill>
                <a:ea typeface="맑은 고딕"/>
              </a:rPr>
              <a:t>해시 테이블 </a:t>
            </a:r>
            <a:r>
              <a:rPr lang="en-US" altLang="ko-KR" sz="700" dirty="0">
                <a:solidFill>
                  <a:schemeClr val="tx1"/>
                </a:solidFill>
                <a:ea typeface="맑은 고딕"/>
              </a:rPr>
              <a:t>· allocator · LRU</a:t>
            </a:r>
          </a:p>
        </p:txBody>
      </p:sp>
      <p:sp>
        <p:nvSpPr>
          <p:cNvPr id="186" name="Rectangle 185"/>
          <p:cNvSpPr/>
          <p:nvPr/>
        </p:nvSpPr>
        <p:spPr>
          <a:xfrm>
            <a:off x="8361103" y="3195993"/>
            <a:ext cx="1691640" cy="2743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00" b="0" i="0" dirty="0" err="1">
                <a:solidFill>
                  <a:schemeClr val="tx1"/>
                </a:solidFill>
                <a:latin typeface="맑은 고딕"/>
                <a:ea typeface="맑은 고딕"/>
              </a:rPr>
              <a:t>전역</a:t>
            </a:r>
            <a:r>
              <a:rPr sz="800" b="0" i="0" dirty="0">
                <a:solidFill>
                  <a:schemeClr val="tx1"/>
                </a:solidFill>
                <a:latin typeface="맑은 고딕"/>
                <a:ea typeface="맑은 고딕"/>
              </a:rPr>
              <a:t> 락 </a:t>
            </a:r>
            <a:r>
              <a:rPr sz="800" b="0" i="0" dirty="0" err="1">
                <a:solidFill>
                  <a:schemeClr val="tx1"/>
                </a:solidFill>
                <a:latin typeface="맑은 고딕"/>
                <a:ea typeface="맑은 고딕"/>
              </a:rPr>
              <a:t>배열</a:t>
            </a:r>
            <a:r>
              <a:rPr sz="800" b="0" i="0" dirty="0">
                <a:solidFill>
                  <a:schemeClr val="tx1"/>
                </a:solidFill>
                <a:latin typeface="맑은 고딕"/>
                <a:ea typeface="맑은 고딕"/>
              </a:rPr>
              <a:t> (</a:t>
            </a:r>
            <a:r>
              <a:rPr sz="800" b="0" i="0" dirty="0" err="1">
                <a:solidFill>
                  <a:schemeClr val="tx1"/>
                </a:solidFill>
                <a:latin typeface="맑은 고딕"/>
                <a:ea typeface="맑은 고딕"/>
              </a:rPr>
              <a:t>노드별</a:t>
            </a:r>
            <a:r>
              <a:rPr sz="800" b="0" i="0" dirty="0">
                <a:solidFill>
                  <a:schemeClr val="tx1"/>
                </a:solidFill>
                <a:latin typeface="맑은 고딕"/>
                <a:ea typeface="맑은 고딕"/>
              </a:rPr>
              <a:t> </a:t>
            </a:r>
            <a:r>
              <a:rPr sz="800" b="0" i="0" dirty="0" err="1">
                <a:solidFill>
                  <a:schemeClr val="tx1"/>
                </a:solidFill>
                <a:latin typeface="맑은 고딕"/>
                <a:ea typeface="맑은 고딕"/>
              </a:rPr>
              <a:t>슬롯</a:t>
            </a:r>
            <a:r>
              <a:rPr sz="800" b="0" i="0" dirty="0">
                <a:solidFill>
                  <a:schemeClr val="tx1"/>
                </a:solidFill>
                <a:latin typeface="맑은 고딕"/>
                <a:ea typeface="맑은 고딕"/>
              </a:rPr>
              <a:t>)</a:t>
            </a:r>
          </a:p>
        </p:txBody>
      </p:sp>
      <p:sp>
        <p:nvSpPr>
          <p:cNvPr id="3" name="제목 2"/>
          <p:cNvSpPr>
            <a:spLocks noGrp="1"/>
          </p:cNvSpPr>
          <p:nvPr>
            <p:ph type="title"/>
          </p:nvPr>
        </p:nvSpPr>
        <p:spPr/>
        <p:txBody>
          <a:bodyPr/>
          <a:lstStyle/>
          <a:p>
            <a:r>
              <a:rPr lang="en-US" altLang="ko-KR" dirty="0"/>
              <a:t>DP4. </a:t>
            </a:r>
            <a:r>
              <a:rPr lang="en-US" altLang="ko-KR" dirty="0" err="1"/>
              <a:t>서버</a:t>
            </a:r>
            <a:r>
              <a:rPr lang="en-US" altLang="ko-KR" dirty="0"/>
              <a:t> 간 KV </a:t>
            </a:r>
            <a:r>
              <a:rPr lang="ko-KR" altLang="en-US" dirty="0"/>
              <a:t>캐시 </a:t>
            </a:r>
            <a:r>
              <a:rPr lang="en-US" altLang="ko-KR" dirty="0" err="1"/>
              <a:t>공유</a:t>
            </a:r>
            <a:r>
              <a:rPr lang="en-US" altLang="ko-KR" dirty="0"/>
              <a:t> </a:t>
            </a:r>
            <a:r>
              <a:rPr lang="en-US" altLang="ko-KR" dirty="0" err="1"/>
              <a:t>구조</a:t>
            </a:r>
            <a:r>
              <a:rPr lang="en-US" altLang="ko-KR" dirty="0"/>
              <a:t> – </a:t>
            </a:r>
            <a:r>
              <a:rPr lang="ko-KR" altLang="en-US" dirty="0"/>
              <a:t>설계</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9405760" cy="307777"/>
          </a:xfrm>
          <a:prstGeom prst="rect">
            <a:avLst/>
          </a:prstGeom>
          <a:noFill/>
        </p:spPr>
        <p:txBody>
          <a:bodyPr wrap="square" rtlCol="0">
            <a:spAutoFit/>
          </a:bodyPr>
          <a:lstStyle/>
          <a:p>
            <a:r>
              <a:rPr lang="ko-KR" altLang="en-US" sz="1400" b="1" dirty="0">
                <a:solidFill>
                  <a:schemeClr val="bg1"/>
                </a:solidFill>
              </a:rPr>
              <a:t>공유 </a:t>
            </a:r>
            <a:r>
              <a:rPr lang="en-US" altLang="ko-KR" sz="1400" b="1" dirty="0">
                <a:solidFill>
                  <a:schemeClr val="bg1"/>
                </a:solidFill>
              </a:rPr>
              <a:t>KV </a:t>
            </a:r>
            <a:r>
              <a:rPr lang="ko-KR" altLang="en-US" sz="1400" b="1" dirty="0">
                <a:solidFill>
                  <a:schemeClr val="bg1"/>
                </a:solidFill>
              </a:rPr>
              <a:t>캐시의 데이터 정합성을 보장하면서 동기화 방식을 최적화하는 구조 </a:t>
            </a:r>
            <a:endParaRPr lang="en-US" altLang="ko-KR"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“메타데이터 서버가 </a:t>
            </a:r>
            <a:r>
              <a:rPr lang="en-US" altLang="ko-KR" sz="1100" dirty="0" err="1"/>
              <a:t>모든</a:t>
            </a:r>
            <a:r>
              <a:rPr lang="en-US" altLang="ko-KR" sz="1100" dirty="0"/>
              <a:t> </a:t>
            </a:r>
            <a:r>
              <a:rPr lang="en-US" altLang="ko-KR" sz="1100" dirty="0" err="1"/>
              <a:t>갱신을</a:t>
            </a:r>
            <a:r>
              <a:rPr lang="en-US" altLang="ko-KR" sz="1100" dirty="0"/>
              <a:t> </a:t>
            </a:r>
            <a:r>
              <a:rPr lang="ko-KR" altLang="en-US" sz="1100" dirty="0"/>
              <a:t>관리</a:t>
            </a:r>
            <a:r>
              <a:rPr lang="en-US" altLang="ko-KR" sz="1100" dirty="0" err="1"/>
              <a:t>하고</a:t>
            </a:r>
            <a:r>
              <a:rPr lang="en-US" altLang="ko-KR" sz="1100" dirty="0"/>
              <a:t>, </a:t>
            </a:r>
            <a:r>
              <a:rPr lang="ko-KR" altLang="en-US" sz="1100" dirty="0"/>
              <a:t>각 </a:t>
            </a:r>
            <a:r>
              <a:rPr lang="en-US" altLang="ko-KR" sz="1100" dirty="0" err="1"/>
              <a:t>노드</a:t>
            </a:r>
            <a:r>
              <a:rPr lang="en-US" altLang="ko-KR" sz="1100" dirty="0"/>
              <a:t>(Client)</a:t>
            </a:r>
            <a:r>
              <a:rPr lang="ko-KR" altLang="en-US" sz="1100" dirty="0"/>
              <a:t>가 서버에 </a:t>
            </a:r>
            <a:r>
              <a:rPr lang="en-US" altLang="ko-KR" sz="1100" dirty="0" err="1"/>
              <a:t>요청</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“메타데이터를 공유 메모리에 두고 모든 </a:t>
            </a:r>
            <a:r>
              <a:rPr lang="en-US" altLang="ko-KR" sz="1100" dirty="0" err="1"/>
              <a:t>노드가</a:t>
            </a:r>
            <a:r>
              <a:rPr lang="en-US" altLang="ko-KR" sz="1100" dirty="0"/>
              <a:t> </a:t>
            </a:r>
            <a:r>
              <a:rPr lang="en-US" altLang="ko-KR" sz="1100" dirty="0" err="1"/>
              <a:t>락으로</a:t>
            </a:r>
            <a:r>
              <a:rPr lang="en-US" altLang="ko-KR" sz="1100" dirty="0"/>
              <a:t> </a:t>
            </a:r>
            <a:r>
              <a:rPr lang="en-US" altLang="ko-KR" sz="1100" dirty="0" err="1"/>
              <a:t>직접</a:t>
            </a:r>
            <a:r>
              <a:rPr lang="en-US" altLang="ko-KR" sz="1100" dirty="0"/>
              <a:t> </a:t>
            </a:r>
            <a:r>
              <a:rPr lang="en-US" altLang="ko-KR" sz="1100" dirty="0" err="1"/>
              <a:t>갱신</a:t>
            </a:r>
            <a:r>
              <a:rPr lang="en-US" altLang="ko-KR" sz="1100" dirty="0"/>
              <a:t>”</a:t>
            </a:r>
          </a:p>
        </p:txBody>
      </p:sp>
      <p:sp>
        <p:nvSpPr>
          <p:cNvPr id="140" name="Rectangle 139"/>
          <p:cNvSpPr/>
          <p:nvPr/>
        </p:nvSpPr>
        <p:spPr>
          <a:xfrm>
            <a:off x="1261872" y="2120695"/>
            <a:ext cx="1417320" cy="2000031"/>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1" name="Rectangle 140"/>
          <p:cNvSpPr/>
          <p:nvPr/>
        </p:nvSpPr>
        <p:spPr>
          <a:xfrm>
            <a:off x="1261872" y="2120695"/>
            <a:ext cx="1161620" cy="183217"/>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chemeClr val="tx1"/>
                </a:solidFill>
                <a:latin typeface="맑은 고딕"/>
                <a:ea typeface="맑은 고딕"/>
              </a:rPr>
              <a:t>«node» P </a:t>
            </a:r>
            <a:r>
              <a:rPr sz="700" b="1" i="0" dirty="0" err="1">
                <a:solidFill>
                  <a:schemeClr val="tx1"/>
                </a:solidFill>
                <a:latin typeface="맑은 고딕"/>
                <a:ea typeface="맑은 고딕"/>
              </a:rPr>
              <a:t>노드</a:t>
            </a:r>
            <a:r>
              <a:rPr lang="en-US" sz="700" b="1" i="0" dirty="0">
                <a:solidFill>
                  <a:schemeClr val="tx1"/>
                </a:solidFill>
                <a:latin typeface="맑은 고딕"/>
                <a:ea typeface="맑은 고딕"/>
              </a:rPr>
              <a:t> (Client)</a:t>
            </a:r>
            <a:endParaRPr sz="700" b="1" i="0" dirty="0">
              <a:solidFill>
                <a:schemeClr val="tx1"/>
              </a:solidFill>
              <a:latin typeface="맑은 고딕"/>
              <a:ea typeface="맑은 고딕"/>
            </a:endParaRPr>
          </a:p>
        </p:txBody>
      </p:sp>
      <p:sp>
        <p:nvSpPr>
          <p:cNvPr id="142" name="Rectangle 141"/>
          <p:cNvSpPr/>
          <p:nvPr/>
        </p:nvSpPr>
        <p:spPr>
          <a:xfrm>
            <a:off x="1371600"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sz="800" dirty="0">
                <a:solidFill>
                  <a:srgbClr val="1A1A1A"/>
                </a:solidFill>
                <a:latin typeface="Malgun Gothic" pitchFamily="34" charset="0"/>
                <a:ea typeface="Malgun Gothic" pitchFamily="34" charset="-122"/>
              </a:rPr>
              <a:t>Migration Executor</a:t>
            </a:r>
            <a:endParaRPr sz="800" dirty="0">
              <a:solidFill>
                <a:srgbClr val="1A1A1A"/>
              </a:solidFill>
              <a:latin typeface="Malgun Gothic" pitchFamily="34" charset="0"/>
              <a:ea typeface="Malgun Gothic" pitchFamily="34" charset="-122"/>
            </a:endParaRPr>
          </a:p>
        </p:txBody>
      </p:sp>
      <p:sp>
        <p:nvSpPr>
          <p:cNvPr id="146" name="Rectangle 145"/>
          <p:cNvSpPr/>
          <p:nvPr/>
        </p:nvSpPr>
        <p:spPr>
          <a:xfrm>
            <a:off x="4979855" y="2120696"/>
            <a:ext cx="1417320" cy="200003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sp>
        <p:nvSpPr>
          <p:cNvPr id="147" name="Rectangle 146"/>
          <p:cNvSpPr/>
          <p:nvPr/>
        </p:nvSpPr>
        <p:spPr>
          <a:xfrm>
            <a:off x="4979854" y="2120696"/>
            <a:ext cx="1096691" cy="18321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dirty="0">
                <a:solidFill>
                  <a:schemeClr val="tx1"/>
                </a:solidFill>
                <a:latin typeface="맑은 고딕"/>
                <a:ea typeface="맑은 고딕"/>
              </a:rPr>
              <a:t>«node» D </a:t>
            </a:r>
            <a:r>
              <a:rPr sz="700" b="1" dirty="0" err="1">
                <a:solidFill>
                  <a:schemeClr val="tx1"/>
                </a:solidFill>
                <a:latin typeface="맑은 고딕"/>
                <a:ea typeface="맑은 고딕"/>
              </a:rPr>
              <a:t>노드</a:t>
            </a:r>
            <a:r>
              <a:rPr lang="en-US" sz="700" b="1" dirty="0">
                <a:solidFill>
                  <a:schemeClr val="tx1"/>
                </a:solidFill>
                <a:latin typeface="맑은 고딕"/>
                <a:ea typeface="맑은 고딕"/>
              </a:rPr>
              <a:t> (Client)</a:t>
            </a:r>
            <a:endParaRPr sz="700" b="1" dirty="0">
              <a:solidFill>
                <a:schemeClr val="tx1"/>
              </a:solidFill>
              <a:latin typeface="맑은 고딕"/>
              <a:ea typeface="맑은 고딕"/>
            </a:endParaRPr>
          </a:p>
        </p:txBody>
      </p:sp>
      <p:sp>
        <p:nvSpPr>
          <p:cNvPr id="148" name="Rectangle 147"/>
          <p:cNvSpPr/>
          <p:nvPr/>
        </p:nvSpPr>
        <p:spPr>
          <a:xfrm>
            <a:off x="5089583"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52" name="Rectangle 151"/>
          <p:cNvSpPr/>
          <p:nvPr/>
        </p:nvSpPr>
        <p:spPr>
          <a:xfrm>
            <a:off x="3019667" y="2029255"/>
            <a:ext cx="1704108" cy="1532337"/>
          </a:xfrm>
          <a:prstGeom prst="rect">
            <a:avLst/>
          </a:prstGeom>
          <a:solidFill>
            <a:schemeClr val="bg1"/>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3017852" y="2029256"/>
            <a:ext cx="128681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ko-KR" altLang="en-US" sz="700" b="1" i="0" dirty="0">
                <a:solidFill>
                  <a:srgbClr val="FFFFFF"/>
                </a:solidFill>
                <a:latin typeface="맑은 고딕"/>
                <a:ea typeface="맑은 고딕"/>
              </a:rPr>
              <a:t>공유 메모리 풀</a:t>
            </a:r>
            <a:endParaRPr sz="700" b="1" i="0" dirty="0">
              <a:solidFill>
                <a:srgbClr val="FFFFFF"/>
              </a:solidFill>
              <a:latin typeface="맑은 고딕"/>
              <a:ea typeface="맑은 고딕"/>
            </a:endParaRPr>
          </a:p>
        </p:txBody>
      </p:sp>
      <p:sp>
        <p:nvSpPr>
          <p:cNvPr id="154" name="Rectangle 153"/>
          <p:cNvSpPr/>
          <p:nvPr/>
        </p:nvSpPr>
        <p:spPr>
          <a:xfrm>
            <a:off x="3124504" y="2373264"/>
            <a:ext cx="1537855" cy="292608"/>
          </a:xfrm>
          <a:prstGeom prst="rect">
            <a:avLst/>
          </a:prstGeom>
          <a:solidFill>
            <a:schemeClr val="bg1"/>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lang="ko-KR" altLang="en-US" sz="900" dirty="0">
                <a:solidFill>
                  <a:schemeClr val="tx1"/>
                </a:solidFill>
              </a:rPr>
              <a:t>공유 데이터 </a:t>
            </a:r>
            <a:endParaRPr lang="en-US" altLang="ko-KR" sz="900" dirty="0">
              <a:solidFill>
                <a:schemeClr val="tx1"/>
              </a:solidFill>
            </a:endParaRPr>
          </a:p>
        </p:txBody>
      </p:sp>
      <p:sp>
        <p:nvSpPr>
          <p:cNvPr id="156" name="Rectangle 155"/>
          <p:cNvSpPr/>
          <p:nvPr/>
        </p:nvSpPr>
        <p:spPr>
          <a:xfrm>
            <a:off x="3044952" y="3850388"/>
            <a:ext cx="1691640" cy="427805"/>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lnSpc>
                <a:spcPct val="150000"/>
              </a:lnSpc>
            </a:pPr>
            <a:r>
              <a:rPr lang="ko-KR" altLang="en-US" sz="900" b="1" dirty="0">
                <a:solidFill>
                  <a:schemeClr val="tx1"/>
                </a:solidFill>
                <a:ea typeface="맑은 고딕"/>
              </a:rPr>
              <a:t>메타데이터 </a:t>
            </a:r>
            <a:r>
              <a:rPr lang="en-US" altLang="ko-KR" sz="900" b="1" dirty="0">
                <a:solidFill>
                  <a:schemeClr val="tx1"/>
                </a:solidFill>
                <a:ea typeface="맑은 고딕"/>
              </a:rPr>
              <a:t>Server</a:t>
            </a:r>
          </a:p>
          <a:p>
            <a:pPr algn="ctr">
              <a:lnSpc>
                <a:spcPct val="150000"/>
              </a:lnSpc>
            </a:pPr>
            <a:r>
              <a:rPr lang="ko-KR" altLang="en-US" sz="700" dirty="0">
                <a:solidFill>
                  <a:schemeClr val="tx1"/>
                </a:solidFill>
                <a:ea typeface="맑은 고딕"/>
              </a:rPr>
              <a:t>해시 테이블</a:t>
            </a:r>
            <a:r>
              <a:rPr lang="en-US" altLang="ko-KR" sz="700" dirty="0">
                <a:solidFill>
                  <a:schemeClr val="tx1"/>
                </a:solidFill>
                <a:ea typeface="맑은 고딕"/>
              </a:rPr>
              <a:t> · allocator · LRU</a:t>
            </a:r>
          </a:p>
        </p:txBody>
      </p:sp>
      <p:cxnSp>
        <p:nvCxnSpPr>
          <p:cNvPr id="159" name="Connector 158"/>
          <p:cNvCxnSpPr/>
          <p:nvPr/>
        </p:nvCxnSpPr>
        <p:spPr>
          <a:xfrm>
            <a:off x="2549632" y="3344010"/>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2701812" y="324303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cxnSp>
        <p:nvCxnSpPr>
          <p:cNvPr id="161" name="Connector 160"/>
          <p:cNvCxnSpPr/>
          <p:nvPr/>
        </p:nvCxnSpPr>
        <p:spPr>
          <a:xfrm flipH="1">
            <a:off x="4621340" y="3285858"/>
            <a:ext cx="47434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2" name="Oval 161"/>
          <p:cNvSpPr/>
          <p:nvPr/>
        </p:nvSpPr>
        <p:spPr>
          <a:xfrm>
            <a:off x="4778047" y="31885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sp>
        <p:nvSpPr>
          <p:cNvPr id="170" name="Rectangle 169"/>
          <p:cNvSpPr/>
          <p:nvPr/>
        </p:nvSpPr>
        <p:spPr>
          <a:xfrm>
            <a:off x="6675120" y="2120696"/>
            <a:ext cx="1417320" cy="187972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6751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P 노드</a:t>
            </a:r>
          </a:p>
        </p:txBody>
      </p:sp>
      <p:sp>
        <p:nvSpPr>
          <p:cNvPr id="172" name="Rectangle 171"/>
          <p:cNvSpPr/>
          <p:nvPr/>
        </p:nvSpPr>
        <p:spPr>
          <a:xfrm>
            <a:off x="67848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sp>
        <p:nvSpPr>
          <p:cNvPr id="176" name="Rectangle 175"/>
          <p:cNvSpPr/>
          <p:nvPr/>
        </p:nvSpPr>
        <p:spPr>
          <a:xfrm>
            <a:off x="10332720" y="2120696"/>
            <a:ext cx="1417320" cy="1821540"/>
          </a:xfrm>
          <a:prstGeom prst="rect">
            <a:avLst/>
          </a:prstGeom>
          <a:solidFill>
            <a:schemeClr val="bg1"/>
          </a:solidFill>
          <a:ln w="952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7" name="Rectangle 176"/>
          <p:cNvSpPr/>
          <p:nvPr/>
        </p:nvSpPr>
        <p:spPr>
          <a:xfrm>
            <a:off x="10332720" y="2120696"/>
            <a:ext cx="822960" cy="173736"/>
          </a:xfrm>
          <a:prstGeom prst="rect">
            <a:avLst/>
          </a:prstGeom>
          <a:solidFill>
            <a:schemeClr val="bg1">
              <a:lumMod val="95000"/>
            </a:schemeClr>
          </a:solidFill>
          <a:ln w="12700">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r>
              <a:rPr sz="700" b="1">
                <a:solidFill>
                  <a:schemeClr val="tx1"/>
                </a:solidFill>
                <a:latin typeface="맑은 고딕"/>
                <a:ea typeface="맑은 고딕"/>
              </a:rPr>
              <a:t>«node» D 노드</a:t>
            </a:r>
          </a:p>
        </p:txBody>
      </p:sp>
      <p:sp>
        <p:nvSpPr>
          <p:cNvPr id="178" name="Rectangle 177"/>
          <p:cNvSpPr/>
          <p:nvPr/>
        </p:nvSpPr>
        <p:spPr>
          <a:xfrm>
            <a:off x="10442448" y="2440496"/>
            <a:ext cx="1188720" cy="274801"/>
          </a:xfrm>
          <a:prstGeom prst="rect">
            <a:avLst/>
          </a:prstGeom>
          <a:solidFill>
            <a:schemeClr val="bg1">
              <a:lumMod val="85000"/>
            </a:schemeClr>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Executor</a:t>
            </a:r>
          </a:p>
        </p:txBody>
      </p:sp>
      <p:grpSp>
        <p:nvGrpSpPr>
          <p:cNvPr id="44" name="그룹 43"/>
          <p:cNvGrpSpPr/>
          <p:nvPr/>
        </p:nvGrpSpPr>
        <p:grpSpPr>
          <a:xfrm>
            <a:off x="8327898" y="3851498"/>
            <a:ext cx="1737360" cy="438382"/>
            <a:chOff x="8412480" y="3948814"/>
            <a:chExt cx="1737360" cy="482220"/>
          </a:xfrm>
        </p:grpSpPr>
        <p:sp>
          <p:nvSpPr>
            <p:cNvPr id="187" name="Rectangle 186"/>
            <p:cNvSpPr/>
            <p:nvPr/>
          </p:nvSpPr>
          <p:spPr>
            <a:xfrm>
              <a:off x="8458200" y="3948814"/>
              <a:ext cx="1691640" cy="482220"/>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lvl="0" algn="ctr" defTabSz="457200" latinLnBrk="0">
                <a:lnSpc>
                  <a:spcPct val="150000"/>
                </a:lnSpc>
              </a:pPr>
              <a:r>
                <a:rPr lang="ko-KR" altLang="en-US" sz="900" b="1" dirty="0" err="1">
                  <a:solidFill>
                    <a:schemeClr val="tx1"/>
                  </a:solidFill>
                  <a:ea typeface="맑은 고딕"/>
                </a:rPr>
                <a:t>락</a:t>
              </a:r>
              <a:r>
                <a:rPr lang="ko-KR" altLang="en-US" sz="900" b="1" dirty="0">
                  <a:solidFill>
                    <a:schemeClr val="tx1"/>
                  </a:solidFill>
                  <a:ea typeface="맑은 고딕"/>
                </a:rPr>
                <a:t> 매니저 스레드</a:t>
              </a:r>
              <a:endParaRPr lang="en-US" altLang="ko-KR" sz="900" b="1" dirty="0">
                <a:solidFill>
                  <a:schemeClr val="tx1"/>
                </a:solidFill>
                <a:ea typeface="맑은 고딕"/>
              </a:endParaRPr>
            </a:p>
            <a:p>
              <a:pPr lvl="0" algn="ctr" defTabSz="457200" latinLnBrk="0">
                <a:lnSpc>
                  <a:spcPct val="150000"/>
                </a:lnSpc>
              </a:pPr>
              <a:r>
                <a:rPr lang="ko-KR" altLang="en-US" sz="700" dirty="0">
                  <a:solidFill>
                    <a:schemeClr val="tx1"/>
                  </a:solidFill>
                  <a:ea typeface="맑은 고딕"/>
                </a:rPr>
                <a:t>슬롯 </a:t>
              </a:r>
              <a:r>
                <a:rPr lang="en-US" altLang="ko-KR" sz="700" dirty="0">
                  <a:solidFill>
                    <a:schemeClr val="tx1"/>
                  </a:solidFill>
                  <a:ea typeface="맑은 고딕"/>
                </a:rPr>
                <a:t>scan → LOCKED grant</a:t>
              </a:r>
            </a:p>
          </p:txBody>
        </p:sp>
        <p:sp>
          <p:nvSpPr>
            <p:cNvPr id="188" name="Rectangle 187"/>
            <p:cNvSpPr/>
            <p:nvPr/>
          </p:nvSpPr>
          <p:spPr>
            <a:xfrm>
              <a:off x="8412480" y="4003678"/>
              <a:ext cx="91440" cy="50292"/>
            </a:xfrm>
            <a:prstGeom prst="rect">
              <a:avLst/>
            </a:prstGeom>
            <a:solidFill>
              <a:srgbClr val="FDECEA"/>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dirty="0"/>
            </a:p>
          </p:txBody>
        </p:sp>
      </p:grpSp>
      <p:cxnSp>
        <p:nvCxnSpPr>
          <p:cNvPr id="190" name="Connector 189"/>
          <p:cNvCxnSpPr/>
          <p:nvPr/>
        </p:nvCxnSpPr>
        <p:spPr>
          <a:xfrm>
            <a:off x="7986148" y="254132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1" name="Oval 190"/>
          <p:cNvSpPr/>
          <p:nvPr/>
        </p:nvSpPr>
        <p:spPr>
          <a:xfrm>
            <a:off x="8092440" y="246359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192" name="Connector 191"/>
          <p:cNvCxnSpPr/>
          <p:nvPr/>
        </p:nvCxnSpPr>
        <p:spPr>
          <a:xfrm flipH="1">
            <a:off x="10063089" y="2605795"/>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93" name="Oval 192"/>
          <p:cNvSpPr/>
          <p:nvPr/>
        </p:nvSpPr>
        <p:spPr>
          <a:xfrm>
            <a:off x="10163555" y="2411486"/>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r>
              <a:rPr lang="en-US" sz="650" b="1" i="0" dirty="0">
                <a:solidFill>
                  <a:srgbClr val="FFFFFF"/>
                </a:solidFill>
                <a:latin typeface="맑은 고딕"/>
                <a:ea typeface="맑은 고딕"/>
              </a:rPr>
              <a:t>0</a:t>
            </a:r>
            <a:endParaRPr sz="650" b="1" i="0" dirty="0">
              <a:solidFill>
                <a:srgbClr val="FFFFFF"/>
              </a:solidFill>
              <a:latin typeface="맑은 고딕"/>
              <a:ea typeface="맑은 고딕"/>
            </a:endParaRPr>
          </a:p>
        </p:txBody>
      </p:sp>
      <p:cxnSp>
        <p:nvCxnSpPr>
          <p:cNvPr id="194" name="Connector 193"/>
          <p:cNvCxnSpPr/>
          <p:nvPr/>
        </p:nvCxnSpPr>
        <p:spPr>
          <a:xfrm>
            <a:off x="7962138" y="3254552"/>
            <a:ext cx="36576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95" name="Oval 194"/>
          <p:cNvSpPr/>
          <p:nvPr/>
        </p:nvSpPr>
        <p:spPr>
          <a:xfrm>
            <a:off x="8067294" y="317682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96" name="Connector 195"/>
          <p:cNvCxnSpPr/>
          <p:nvPr/>
        </p:nvCxnSpPr>
        <p:spPr>
          <a:xfrm flipH="1">
            <a:off x="10063089" y="3286920"/>
            <a:ext cx="356382"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10163555" y="310246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8</a:t>
            </a:r>
            <a:endParaRPr sz="650" b="1" i="0" dirty="0">
              <a:solidFill>
                <a:srgbClr val="FFFFFF"/>
              </a:solidFill>
              <a:latin typeface="맑은 고딕"/>
              <a:ea typeface="맑은 고딕"/>
            </a:endParaRPr>
          </a:p>
        </p:txBody>
      </p:sp>
      <p:cxnSp>
        <p:nvCxnSpPr>
          <p:cNvPr id="204" name="C1 slot-server link"/>
          <p:cNvCxnSpPr/>
          <p:nvPr/>
        </p:nvCxnSpPr>
        <p:spPr>
          <a:xfrm>
            <a:off x="3890772" y="3573688"/>
            <a:ext cx="0" cy="236681"/>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5" name="C1 link label"/>
          <p:cNvSpPr txBox="1"/>
          <p:nvPr/>
        </p:nvSpPr>
        <p:spPr>
          <a:xfrm>
            <a:off x="3981451" y="3630728"/>
            <a:ext cx="880000" cy="100027"/>
          </a:xfrm>
          <a:prstGeom prst="rect">
            <a:avLst/>
          </a:prstGeom>
          <a:noFill/>
        </p:spPr>
        <p:txBody>
          <a:bodyPr wrap="square" lIns="0" tIns="0" rIns="0" bIns="0" anchor="t">
            <a:spAutoFit/>
          </a:bodyPr>
          <a:lstStyle/>
          <a:p>
            <a:pPr algn="l"/>
            <a:r>
              <a:rPr lang="en-US" sz="650" dirty="0">
                <a:solidFill>
                  <a:srgbClr val="404040"/>
                </a:solidFill>
                <a:latin typeface="맑은 고딕"/>
                <a:ea typeface="맑은 고딕"/>
              </a:rPr>
              <a:t>Polling</a:t>
            </a:r>
            <a:endParaRPr sz="650" b="0" i="0" dirty="0">
              <a:solidFill>
                <a:srgbClr val="404040"/>
              </a:solidFill>
              <a:latin typeface="맑은 고딕"/>
              <a:ea typeface="맑은 고딕"/>
            </a:endParaRPr>
          </a:p>
        </p:txBody>
      </p:sp>
      <p:cxnSp>
        <p:nvCxnSpPr>
          <p:cNvPr id="206" name="C2 lock-manager link"/>
          <p:cNvCxnSpPr/>
          <p:nvPr/>
        </p:nvCxnSpPr>
        <p:spPr>
          <a:xfrm>
            <a:off x="9304020" y="3556764"/>
            <a:ext cx="0" cy="248704"/>
          </a:xfrm>
          <a:prstGeom prst="line">
            <a:avLst/>
          </a:prstGeom>
          <a:ln w="15875">
            <a:solidFill>
              <a:srgbClr val="2F5597"/>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7" name="C2 link label"/>
          <p:cNvSpPr txBox="1"/>
          <p:nvPr/>
        </p:nvSpPr>
        <p:spPr>
          <a:xfrm>
            <a:off x="9360000" y="3618501"/>
            <a:ext cx="880000" cy="100027"/>
          </a:xfrm>
          <a:prstGeom prst="rect">
            <a:avLst/>
          </a:prstGeom>
          <a:noFill/>
        </p:spPr>
        <p:txBody>
          <a:bodyPr wrap="square" lIns="0" tIns="0" rIns="0" bIns="0" anchor="t">
            <a:spAutoFit/>
          </a:bodyPr>
          <a:lstStyle/>
          <a:p>
            <a:pPr algn="l"/>
            <a:r>
              <a:rPr sz="650" b="0" i="0" dirty="0" err="1">
                <a:solidFill>
                  <a:srgbClr val="404040"/>
                </a:solidFill>
                <a:latin typeface="맑은 고딕"/>
                <a:ea typeface="맑은 고딕"/>
              </a:rPr>
              <a:t>슬롯</a:t>
            </a:r>
            <a:r>
              <a:rPr sz="650" b="0" i="0" dirty="0">
                <a:solidFill>
                  <a:srgbClr val="404040"/>
                </a:solidFill>
                <a:latin typeface="맑은 고딕"/>
                <a:ea typeface="맑은 고딕"/>
              </a:rPr>
              <a:t> scan</a:t>
            </a:r>
            <a:r>
              <a:rPr lang="en-US" sz="650" b="0" i="0" dirty="0">
                <a:solidFill>
                  <a:srgbClr val="404040"/>
                </a:solidFill>
                <a:latin typeface="맑은 고딕"/>
                <a:ea typeface="맑은 고딕"/>
              </a:rPr>
              <a:t>, </a:t>
            </a:r>
            <a:r>
              <a:rPr lang="ko-KR" altLang="en-US" sz="650" dirty="0" err="1">
                <a:solidFill>
                  <a:srgbClr val="404040"/>
                </a:solidFill>
                <a:latin typeface="맑은 고딕"/>
                <a:ea typeface="맑은 고딕"/>
              </a:rPr>
              <a:t>락</a:t>
            </a:r>
            <a:r>
              <a:rPr lang="ko-KR" altLang="en-US" sz="650" dirty="0">
                <a:solidFill>
                  <a:srgbClr val="404040"/>
                </a:solidFill>
                <a:latin typeface="맑은 고딕"/>
                <a:ea typeface="맑은 고딕"/>
              </a:rPr>
              <a:t> </a:t>
            </a:r>
            <a:r>
              <a:rPr sz="650" b="0" i="0" dirty="0">
                <a:solidFill>
                  <a:srgbClr val="404040"/>
                </a:solidFill>
                <a:latin typeface="맑은 고딕"/>
                <a:ea typeface="맑은 고딕"/>
              </a:rPr>
              <a:t>grant</a:t>
            </a:r>
          </a:p>
        </p:txBody>
      </p:sp>
      <p:sp>
        <p:nvSpPr>
          <p:cNvPr id="130" name="Rectangle 35"/>
          <p:cNvSpPr/>
          <p:nvPr/>
        </p:nvSpPr>
        <p:spPr>
          <a:xfrm>
            <a:off x="1368310"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 </a:t>
            </a:r>
            <a:r>
              <a:rPr lang="en-US" altLang="ko-KR" sz="700" dirty="0">
                <a:solidFill>
                  <a:schemeClr val="tx1"/>
                </a:solidFill>
                <a:ea typeface="맑은 고딕"/>
              </a:rPr>
              <a:t>/ </a:t>
            </a:r>
            <a:r>
              <a:rPr lang="ko-KR" altLang="en-US" sz="700" dirty="0">
                <a:solidFill>
                  <a:schemeClr val="tx1"/>
                </a:solidFill>
                <a:ea typeface="맑은 고딕"/>
              </a:rPr>
              <a:t>응답 읽기</a:t>
            </a:r>
          </a:p>
        </p:txBody>
      </p:sp>
      <p:sp>
        <p:nvSpPr>
          <p:cNvPr id="132" name="Rectangle 35"/>
          <p:cNvSpPr/>
          <p:nvPr/>
        </p:nvSpPr>
        <p:spPr>
          <a:xfrm>
            <a:off x="5090865" y="2966024"/>
            <a:ext cx="1147156" cy="60167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defTabSz="457200" latinLnBrk="0">
              <a:lnSpc>
                <a:spcPct val="150000"/>
              </a:lnSpc>
            </a:pPr>
            <a:r>
              <a:rPr sz="900" b="1" dirty="0">
                <a:solidFill>
                  <a:schemeClr val="tx1"/>
                </a:solidFill>
                <a:latin typeface="맑은 고딕"/>
                <a:ea typeface="맑은 고딕"/>
              </a:rPr>
              <a:t>Client Library</a:t>
            </a:r>
          </a:p>
          <a:p>
            <a:pPr algn="ctr">
              <a:lnSpc>
                <a:spcPct val="150000"/>
              </a:lnSpc>
            </a:pPr>
            <a:r>
              <a:rPr lang="ko-KR" altLang="en-US" sz="700" dirty="0">
                <a:solidFill>
                  <a:schemeClr val="tx1"/>
                </a:solidFill>
                <a:ea typeface="맑은 고딕"/>
              </a:rPr>
              <a:t>요청 쓰기</a:t>
            </a:r>
            <a:r>
              <a:rPr lang="en-US" altLang="ko-KR" sz="700" dirty="0">
                <a:solidFill>
                  <a:schemeClr val="tx1"/>
                </a:solidFill>
                <a:ea typeface="맑은 고딕"/>
              </a:rPr>
              <a:t> / </a:t>
            </a:r>
            <a:r>
              <a:rPr lang="ko-KR" altLang="en-US" sz="700" dirty="0">
                <a:solidFill>
                  <a:schemeClr val="tx1"/>
                </a:solidFill>
                <a:ea typeface="맑은 고딕"/>
              </a:rPr>
              <a:t>응답 읽기</a:t>
            </a:r>
          </a:p>
        </p:txBody>
      </p:sp>
      <p:sp>
        <p:nvSpPr>
          <p:cNvPr id="135" name="Rectangle 37"/>
          <p:cNvSpPr/>
          <p:nvPr/>
        </p:nvSpPr>
        <p:spPr>
          <a:xfrm>
            <a:off x="1399032" y="3719744"/>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136" name="Rectangle 37"/>
          <p:cNvSpPr/>
          <p:nvPr/>
        </p:nvSpPr>
        <p:spPr>
          <a:xfrm>
            <a:off x="5118493" y="3726096"/>
            <a:ext cx="1078992" cy="274320"/>
          </a:xfrm>
          <a:prstGeom prst="rect">
            <a:avLst/>
          </a:prstGeom>
          <a:noFill/>
          <a:ln w="952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5000"/>
              </a:lnSpc>
            </a:pPr>
            <a:r>
              <a:rPr sz="800" b="0" i="0" dirty="0">
                <a:solidFill>
                  <a:srgbClr val="808080"/>
                </a:solidFill>
                <a:latin typeface="맑은 고딕"/>
                <a:ea typeface="맑은 고딕"/>
              </a:rPr>
              <a:t>락 </a:t>
            </a:r>
            <a:r>
              <a:rPr sz="800" b="0" i="0" dirty="0" err="1">
                <a:solidFill>
                  <a:srgbClr val="808080"/>
                </a:solidFill>
                <a:latin typeface="맑은 고딕"/>
                <a:ea typeface="맑은 고딕"/>
              </a:rPr>
              <a:t>불필요</a:t>
            </a:r>
            <a:endParaRPr sz="800" b="0" i="0" dirty="0">
              <a:solidFill>
                <a:srgbClr val="808080"/>
              </a:solidFill>
              <a:latin typeface="맑은 고딕"/>
              <a:ea typeface="맑은 고딕"/>
            </a:endParaRPr>
          </a:p>
        </p:txBody>
      </p:sp>
      <p:sp>
        <p:nvSpPr>
          <p:cNvPr id="208" name="Rectangle 35"/>
          <p:cNvSpPr/>
          <p:nvPr/>
        </p:nvSpPr>
        <p:spPr>
          <a:xfrm>
            <a:off x="6784848" y="2865932"/>
            <a:ext cx="1147156" cy="55521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09" name="Rectangle 35"/>
          <p:cNvSpPr/>
          <p:nvPr/>
        </p:nvSpPr>
        <p:spPr>
          <a:xfrm>
            <a:off x="10447020" y="2865932"/>
            <a:ext cx="1147156" cy="542552"/>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lvl="0" algn="ctr" defTabSz="457200" latinLnBrk="0">
              <a:lnSpc>
                <a:spcPct val="150000"/>
              </a:lnSpc>
            </a:pPr>
            <a:r>
              <a:rPr lang="en-US" altLang="ko-KR" sz="900" b="1" dirty="0">
                <a:solidFill>
                  <a:schemeClr val="tx1"/>
                </a:solidFill>
                <a:ea typeface="맑은 고딕"/>
              </a:rPr>
              <a:t>Client Library</a:t>
            </a:r>
          </a:p>
          <a:p>
            <a:pPr lvl="0" algn="ctr">
              <a:lnSpc>
                <a:spcPct val="150000"/>
              </a:lnSpc>
            </a:pPr>
            <a:r>
              <a:rPr lang="ko-KR" altLang="en-US" sz="700" dirty="0">
                <a:solidFill>
                  <a:schemeClr val="tx1"/>
                </a:solidFill>
                <a:ea typeface="맑은 고딕"/>
              </a:rPr>
              <a:t>로컬 </a:t>
            </a:r>
            <a:r>
              <a:rPr lang="ko-KR" altLang="en-US" sz="700" dirty="0" err="1">
                <a:solidFill>
                  <a:schemeClr val="tx1"/>
                </a:solidFill>
                <a:ea typeface="맑은 고딕"/>
              </a:rPr>
              <a:t>락</a:t>
            </a:r>
            <a:r>
              <a:rPr lang="ko-KR" altLang="en-US" sz="700" dirty="0">
                <a:solidFill>
                  <a:schemeClr val="tx1"/>
                </a:solidFill>
                <a:ea typeface="맑은 고딕"/>
              </a:rPr>
              <a:t> </a:t>
            </a:r>
            <a:endParaRPr lang="en-US" altLang="ko-KR" sz="700" dirty="0">
              <a:solidFill>
                <a:schemeClr val="tx1"/>
              </a:solidFill>
              <a:ea typeface="맑은 고딕"/>
            </a:endParaRPr>
          </a:p>
          <a:p>
            <a:pPr lvl="0" algn="ctr"/>
            <a:r>
              <a:rPr lang="ko-KR" altLang="en-US" sz="700" dirty="0">
                <a:solidFill>
                  <a:schemeClr val="tx1"/>
                </a:solidFill>
                <a:ea typeface="맑은 고딕"/>
              </a:rPr>
              <a:t>메타데이터 직접 갱신</a:t>
            </a:r>
          </a:p>
        </p:txBody>
      </p:sp>
      <p:sp>
        <p:nvSpPr>
          <p:cNvPr id="211" name="Rectangle 77"/>
          <p:cNvSpPr/>
          <p:nvPr/>
        </p:nvSpPr>
        <p:spPr>
          <a:xfrm>
            <a:off x="678484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2" name="Rectangle 84"/>
          <p:cNvSpPr/>
          <p:nvPr/>
        </p:nvSpPr>
        <p:spPr>
          <a:xfrm>
            <a:off x="10423398" y="3591783"/>
            <a:ext cx="1152144" cy="274320"/>
          </a:xfrm>
          <a:prstGeom prst="round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95000"/>
              </a:lnSpc>
            </a:pPr>
            <a:r>
              <a:rPr sz="800" i="0" dirty="0" err="1">
                <a:solidFill>
                  <a:srgbClr val="404040"/>
                </a:solidFill>
                <a:latin typeface="맑은 고딕"/>
                <a:ea typeface="맑은 고딕"/>
              </a:rPr>
              <a:t>노드</a:t>
            </a:r>
            <a:r>
              <a:rPr sz="800" i="0" dirty="0">
                <a:solidFill>
                  <a:srgbClr val="404040"/>
                </a:solidFill>
                <a:latin typeface="맑은 고딕"/>
                <a:ea typeface="맑은 고딕"/>
              </a:rPr>
              <a:t> </a:t>
            </a:r>
            <a:r>
              <a:rPr sz="800" i="0" dirty="0" err="1">
                <a:solidFill>
                  <a:srgbClr val="404040"/>
                </a:solidFill>
                <a:latin typeface="맑은 고딕"/>
                <a:ea typeface="맑은 고딕"/>
              </a:rPr>
              <a:t>로컬</a:t>
            </a:r>
            <a:r>
              <a:rPr sz="800" i="0" dirty="0">
                <a:solidFill>
                  <a:srgbClr val="404040"/>
                </a:solidFill>
                <a:latin typeface="맑은 고딕"/>
                <a:ea typeface="맑은 고딕"/>
              </a:rPr>
              <a:t> 락 (DRAM)</a:t>
            </a:r>
          </a:p>
        </p:txBody>
      </p:sp>
      <p:sp>
        <p:nvSpPr>
          <p:cNvPr id="213" name="Rectangle 48"/>
          <p:cNvSpPr/>
          <p:nvPr/>
        </p:nvSpPr>
        <p:spPr>
          <a:xfrm>
            <a:off x="3110754" y="2891678"/>
            <a:ext cx="1511405" cy="519971"/>
          </a:xfrm>
          <a:prstGeom prst="rect">
            <a:avLst/>
          </a:prstGeom>
          <a:solidFill>
            <a:schemeClr val="accent4">
              <a:lumMod val="20000"/>
              <a:lumOff val="80000"/>
            </a:schemeClr>
          </a:solidFill>
          <a:ln w="9525">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50000"/>
              </a:lnSpc>
            </a:pPr>
            <a:r>
              <a:rPr sz="900" b="1" i="0" dirty="0" err="1">
                <a:solidFill>
                  <a:schemeClr val="tx1"/>
                </a:solidFill>
                <a:latin typeface="맑은 고딕"/>
                <a:ea typeface="맑은 고딕"/>
              </a:rPr>
              <a:t>요청</a:t>
            </a:r>
            <a:r>
              <a:rPr sz="900" b="1" i="0" dirty="0">
                <a:solidFill>
                  <a:schemeClr val="tx1"/>
                </a:solidFill>
                <a:latin typeface="맑은 고딕"/>
                <a:ea typeface="맑은 고딕"/>
              </a:rPr>
              <a:t> / </a:t>
            </a:r>
            <a:r>
              <a:rPr sz="900" b="1" dirty="0" err="1">
                <a:solidFill>
                  <a:schemeClr val="tx1"/>
                </a:solidFill>
                <a:ea typeface="맑은 고딕"/>
              </a:rPr>
              <a:t>응답</a:t>
            </a:r>
            <a:r>
              <a:rPr sz="900" b="1" i="0" dirty="0">
                <a:solidFill>
                  <a:schemeClr val="tx1"/>
                </a:solidFill>
                <a:latin typeface="맑은 고딕"/>
                <a:ea typeface="맑은 고딕"/>
              </a:rPr>
              <a:t> </a:t>
            </a:r>
            <a:r>
              <a:rPr sz="900" b="1" i="0" dirty="0" err="1">
                <a:solidFill>
                  <a:schemeClr val="tx1"/>
                </a:solidFill>
                <a:latin typeface="맑은 고딕"/>
                <a:ea typeface="맑은 고딕"/>
              </a:rPr>
              <a:t>슬롯</a:t>
            </a:r>
            <a:r>
              <a:rPr lang="en-US" sz="900" b="1" i="0" dirty="0">
                <a:solidFill>
                  <a:schemeClr val="tx1"/>
                </a:solidFill>
                <a:latin typeface="맑은 고딕"/>
                <a:ea typeface="맑은 고딕"/>
              </a:rPr>
              <a:t> (</a:t>
            </a:r>
            <a:r>
              <a:rPr lang="en-US" sz="900" b="1" dirty="0">
                <a:solidFill>
                  <a:schemeClr val="tx1"/>
                </a:solidFill>
                <a:latin typeface="맑은 고딕"/>
                <a:ea typeface="맑은 고딕"/>
              </a:rPr>
              <a:t>RPC)</a:t>
            </a:r>
            <a:endParaRPr sz="900" b="1" i="0" dirty="0">
              <a:solidFill>
                <a:schemeClr val="tx1"/>
              </a:solidFill>
              <a:latin typeface="맑은 고딕"/>
              <a:ea typeface="맑은 고딕"/>
            </a:endParaRPr>
          </a:p>
        </p:txBody>
      </p:sp>
      <p:sp>
        <p:nvSpPr>
          <p:cNvPr id="214" name="Oval 159"/>
          <p:cNvSpPr/>
          <p:nvPr/>
        </p:nvSpPr>
        <p:spPr>
          <a:xfrm>
            <a:off x="3667251" y="362504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2</a:t>
            </a:r>
            <a:endParaRPr sz="650" b="1" i="0" dirty="0">
              <a:solidFill>
                <a:srgbClr val="FFFFFF"/>
              </a:solidFill>
              <a:latin typeface="맑은 고딕"/>
              <a:ea typeface="맑은 고딕"/>
            </a:endParaRPr>
          </a:p>
        </p:txBody>
      </p:sp>
      <p:cxnSp>
        <p:nvCxnSpPr>
          <p:cNvPr id="217" name="Connector 158"/>
          <p:cNvCxnSpPr/>
          <p:nvPr/>
        </p:nvCxnSpPr>
        <p:spPr>
          <a:xfrm>
            <a:off x="2542776" y="3078856"/>
            <a:ext cx="458759" cy="0"/>
          </a:xfrm>
          <a:prstGeom prst="line">
            <a:avLst/>
          </a:prstGeom>
          <a:ln w="15875">
            <a:solidFill>
              <a:srgbClr val="2F5597"/>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18" name="Oval 159"/>
          <p:cNvSpPr/>
          <p:nvPr/>
        </p:nvSpPr>
        <p:spPr>
          <a:xfrm>
            <a:off x="2699716" y="2977884"/>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21" name="Connector 158"/>
          <p:cNvCxnSpPr/>
          <p:nvPr/>
        </p:nvCxnSpPr>
        <p:spPr>
          <a:xfrm>
            <a:off x="2574036" y="2519568"/>
            <a:ext cx="458759"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0" name="Oval 159"/>
          <p:cNvSpPr/>
          <p:nvPr/>
        </p:nvSpPr>
        <p:spPr>
          <a:xfrm>
            <a:off x="2716149" y="2427509"/>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24" name="Connector 158"/>
          <p:cNvCxnSpPr/>
          <p:nvPr/>
        </p:nvCxnSpPr>
        <p:spPr>
          <a:xfrm>
            <a:off x="4629714" y="3046260"/>
            <a:ext cx="458759"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5" name="Oval 159"/>
          <p:cNvSpPr/>
          <p:nvPr/>
        </p:nvSpPr>
        <p:spPr>
          <a:xfrm>
            <a:off x="4781894" y="29452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sp>
        <p:nvSpPr>
          <p:cNvPr id="226" name="Oval 159"/>
          <p:cNvSpPr/>
          <p:nvPr/>
        </p:nvSpPr>
        <p:spPr>
          <a:xfrm>
            <a:off x="3465443" y="3622817"/>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5</a:t>
            </a:r>
            <a:endParaRPr sz="650" b="1" i="0" dirty="0">
              <a:solidFill>
                <a:srgbClr val="FFFFFF"/>
              </a:solidFill>
              <a:latin typeface="맑은 고딕"/>
              <a:ea typeface="맑은 고딕"/>
            </a:endParaRPr>
          </a:p>
        </p:txBody>
      </p:sp>
      <p:cxnSp>
        <p:nvCxnSpPr>
          <p:cNvPr id="227" name="Connector 158"/>
          <p:cNvCxnSpPr/>
          <p:nvPr/>
        </p:nvCxnSpPr>
        <p:spPr>
          <a:xfrm>
            <a:off x="4647136" y="2519568"/>
            <a:ext cx="417054" cy="0"/>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8" name="Oval 159"/>
          <p:cNvSpPr/>
          <p:nvPr/>
        </p:nvSpPr>
        <p:spPr>
          <a:xfrm>
            <a:off x="4796974" y="2427509"/>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cxnSp>
        <p:nvCxnSpPr>
          <p:cNvPr id="229" name="Connector 189"/>
          <p:cNvCxnSpPr/>
          <p:nvPr/>
        </p:nvCxnSpPr>
        <p:spPr>
          <a:xfrm>
            <a:off x="7379970" y="3424292"/>
            <a:ext cx="0" cy="16921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0" name="Oval 190"/>
          <p:cNvSpPr/>
          <p:nvPr/>
        </p:nvSpPr>
        <p:spPr>
          <a:xfrm>
            <a:off x="7412712" y="3423957"/>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1</a:t>
            </a:r>
          </a:p>
        </p:txBody>
      </p:sp>
      <p:sp>
        <p:nvSpPr>
          <p:cNvPr id="233" name="Oval 196"/>
          <p:cNvSpPr/>
          <p:nvPr/>
        </p:nvSpPr>
        <p:spPr>
          <a:xfrm>
            <a:off x="9089291" y="36020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3</a:t>
            </a:r>
            <a:endParaRPr sz="650" b="1" i="0" dirty="0">
              <a:solidFill>
                <a:srgbClr val="FFFFFF"/>
              </a:solidFill>
              <a:latin typeface="맑은 고딕"/>
              <a:ea typeface="맑은 고딕"/>
            </a:endParaRPr>
          </a:p>
        </p:txBody>
      </p:sp>
      <p:cxnSp>
        <p:nvCxnSpPr>
          <p:cNvPr id="234" name="Connector 189"/>
          <p:cNvCxnSpPr/>
          <p:nvPr/>
        </p:nvCxnSpPr>
        <p:spPr>
          <a:xfrm>
            <a:off x="10982024" y="3430701"/>
            <a:ext cx="0" cy="156047"/>
          </a:xfrm>
          <a:prstGeom prst="line">
            <a:avLst/>
          </a:prstGeom>
          <a:ln w="15875">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5" name="Oval 190"/>
          <p:cNvSpPr/>
          <p:nvPr/>
        </p:nvSpPr>
        <p:spPr>
          <a:xfrm>
            <a:off x="11014766" y="3408484"/>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6</a:t>
            </a:r>
            <a:endParaRPr sz="650" b="1" i="0" dirty="0">
              <a:solidFill>
                <a:srgbClr val="FFFFFF"/>
              </a:solidFill>
              <a:latin typeface="맑은 고딕"/>
              <a:ea typeface="맑은 고딕"/>
            </a:endParaRPr>
          </a:p>
        </p:txBody>
      </p:sp>
      <p:cxnSp>
        <p:nvCxnSpPr>
          <p:cNvPr id="236" name="Connector 189"/>
          <p:cNvCxnSpPr/>
          <p:nvPr/>
        </p:nvCxnSpPr>
        <p:spPr>
          <a:xfrm>
            <a:off x="7986148" y="2989000"/>
            <a:ext cx="372604"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7" name="Oval 190"/>
          <p:cNvSpPr/>
          <p:nvPr/>
        </p:nvSpPr>
        <p:spPr>
          <a:xfrm>
            <a:off x="8092440" y="29112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4</a:t>
            </a:r>
            <a:endParaRPr sz="650" b="1" i="0" dirty="0">
              <a:solidFill>
                <a:srgbClr val="FFFFFF"/>
              </a:solidFill>
              <a:latin typeface="맑은 고딕"/>
              <a:ea typeface="맑은 고딕"/>
            </a:endParaRPr>
          </a:p>
        </p:txBody>
      </p:sp>
      <p:cxnSp>
        <p:nvCxnSpPr>
          <p:cNvPr id="238" name="Connector 195"/>
          <p:cNvCxnSpPr/>
          <p:nvPr/>
        </p:nvCxnSpPr>
        <p:spPr>
          <a:xfrm flipH="1">
            <a:off x="10086022" y="3004943"/>
            <a:ext cx="356382" cy="0"/>
          </a:xfrm>
          <a:prstGeom prst="line">
            <a:avLst/>
          </a:prstGeom>
          <a:ln w="15875">
            <a:solidFill>
              <a:schemeClr val="accent1">
                <a:lumMod val="60000"/>
                <a:lumOff val="4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39" name="Oval 196"/>
          <p:cNvSpPr/>
          <p:nvPr/>
        </p:nvSpPr>
        <p:spPr>
          <a:xfrm>
            <a:off x="10163555" y="2818422"/>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i="0" dirty="0">
                <a:solidFill>
                  <a:srgbClr val="FFFFFF"/>
                </a:solidFill>
                <a:latin typeface="맑은 고딕"/>
                <a:ea typeface="맑은 고딕"/>
              </a:rPr>
              <a:t>9</a:t>
            </a:r>
            <a:endParaRPr sz="650" b="1" i="0" dirty="0">
              <a:solidFill>
                <a:srgbClr val="FFFFFF"/>
              </a:solidFill>
              <a:latin typeface="맑은 고딕"/>
              <a:ea typeface="맑은 고딕"/>
            </a:endParaRPr>
          </a:p>
        </p:txBody>
      </p:sp>
      <p:sp>
        <p:nvSpPr>
          <p:cNvPr id="240" name="Oval 196"/>
          <p:cNvSpPr/>
          <p:nvPr/>
        </p:nvSpPr>
        <p:spPr>
          <a:xfrm>
            <a:off x="8887483" y="3602088"/>
            <a:ext cx="155448" cy="155448"/>
          </a:xfrm>
          <a:prstGeom prst="ellipse">
            <a:avLst/>
          </a:prstGeom>
          <a:solidFill>
            <a:schemeClr val="accent1">
              <a:lumMod val="60000"/>
              <a:lumOff val="40000"/>
            </a:scheme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lang="en-US" sz="650" b="1" dirty="0">
                <a:solidFill>
                  <a:srgbClr val="FFFFFF"/>
                </a:solidFill>
                <a:latin typeface="맑은 고딕"/>
                <a:ea typeface="맑은 고딕"/>
              </a:rPr>
              <a:t>7</a:t>
            </a:r>
            <a:endParaRPr sz="650" b="1" i="0" dirty="0">
              <a:solidFill>
                <a:srgbClr val="FFFFFF"/>
              </a:solidFill>
              <a:latin typeface="맑은 고딕"/>
              <a:ea typeface="맑은 고딕"/>
            </a:endParaRPr>
          </a:p>
        </p:txBody>
      </p:sp>
      <p:grpSp>
        <p:nvGrpSpPr>
          <p:cNvPr id="241" name="그룹 240">
            <a:extLst>
              <a:ext uri="{FF2B5EF4-FFF2-40B4-BE49-F238E27FC236}">
                <a16:creationId xmlns:a16="http://schemas.microsoft.com/office/drawing/2014/main" id="{40FF77C7-CD72-4303-A0A9-900338825FA2}"/>
              </a:ext>
            </a:extLst>
          </p:cNvPr>
          <p:cNvGrpSpPr/>
          <p:nvPr/>
        </p:nvGrpSpPr>
        <p:grpSpPr>
          <a:xfrm>
            <a:off x="2313776" y="4381265"/>
            <a:ext cx="1009528" cy="100027"/>
            <a:chOff x="600198" y="4114184"/>
            <a:chExt cx="1009528" cy="100027"/>
          </a:xfrm>
        </p:grpSpPr>
        <p:cxnSp>
          <p:nvCxnSpPr>
            <p:cNvPr id="242" name="직선 연결선 241">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3" name="TextBox 242">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44" name="그룹 243">
            <a:extLst>
              <a:ext uri="{FF2B5EF4-FFF2-40B4-BE49-F238E27FC236}">
                <a16:creationId xmlns:a16="http://schemas.microsoft.com/office/drawing/2014/main" id="{247D65F3-C7FD-460C-BED7-DDB7768C9266}"/>
              </a:ext>
            </a:extLst>
          </p:cNvPr>
          <p:cNvGrpSpPr/>
          <p:nvPr/>
        </p:nvGrpSpPr>
        <p:grpSpPr>
          <a:xfrm>
            <a:off x="1276762" y="4381265"/>
            <a:ext cx="1009528" cy="100027"/>
            <a:chOff x="2473452" y="4689663"/>
            <a:chExt cx="1009528" cy="100027"/>
          </a:xfrm>
        </p:grpSpPr>
        <p:cxnSp>
          <p:nvCxnSpPr>
            <p:cNvPr id="245" name="직선 연결선 244">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6" name="TextBox 245">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grpSp>
        <p:nvGrpSpPr>
          <p:cNvPr id="247" name="그룹 246">
            <a:extLst>
              <a:ext uri="{FF2B5EF4-FFF2-40B4-BE49-F238E27FC236}">
                <a16:creationId xmlns:a16="http://schemas.microsoft.com/office/drawing/2014/main" id="{40FF77C7-CD72-4303-A0A9-900338825FA2}"/>
              </a:ext>
            </a:extLst>
          </p:cNvPr>
          <p:cNvGrpSpPr/>
          <p:nvPr/>
        </p:nvGrpSpPr>
        <p:grpSpPr>
          <a:xfrm>
            <a:off x="7655936" y="4381265"/>
            <a:ext cx="1009528" cy="100027"/>
            <a:chOff x="600198" y="4114184"/>
            <a:chExt cx="1009528" cy="100027"/>
          </a:xfrm>
        </p:grpSpPr>
        <p:cxnSp>
          <p:nvCxnSpPr>
            <p:cNvPr id="248" name="직선 연결선 247">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chemeClr val="accent1">
                  <a:lumMod val="60000"/>
                  <a:lumOff val="40000"/>
                </a:schemeClr>
              </a:solidFill>
              <a:prstDash val="solid"/>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9" name="TextBox 248">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수신</a:t>
              </a:r>
              <a:endParaRPr sz="650" b="0" i="0" dirty="0">
                <a:solidFill>
                  <a:srgbClr val="7F7F7F"/>
                </a:solidFill>
                <a:latin typeface="맑은 고딕"/>
                <a:ea typeface="맑은 고딕"/>
              </a:endParaRPr>
            </a:p>
          </p:txBody>
        </p:sp>
      </p:grpSp>
      <p:grpSp>
        <p:nvGrpSpPr>
          <p:cNvPr id="250" name="그룹 249">
            <a:extLst>
              <a:ext uri="{FF2B5EF4-FFF2-40B4-BE49-F238E27FC236}">
                <a16:creationId xmlns:a16="http://schemas.microsoft.com/office/drawing/2014/main" id="{247D65F3-C7FD-460C-BED7-DDB7768C9266}"/>
              </a:ext>
            </a:extLst>
          </p:cNvPr>
          <p:cNvGrpSpPr/>
          <p:nvPr/>
        </p:nvGrpSpPr>
        <p:grpSpPr>
          <a:xfrm>
            <a:off x="6618922" y="4381265"/>
            <a:ext cx="1009528" cy="100027"/>
            <a:chOff x="2473452" y="4689663"/>
            <a:chExt cx="1009528" cy="100027"/>
          </a:xfrm>
        </p:grpSpPr>
        <p:cxnSp>
          <p:nvCxnSpPr>
            <p:cNvPr id="251" name="직선 연결선 250">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52" name="TextBox 251">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데이터 송신</a:t>
              </a:r>
              <a:endParaRPr sz="650" b="0" i="0" dirty="0">
                <a:solidFill>
                  <a:srgbClr val="7F7F7F"/>
                </a:solidFill>
                <a:latin typeface="맑은 고딕"/>
                <a:ea typeface="맑은 고딕"/>
              </a:endParaRPr>
            </a:p>
          </p:txBody>
        </p:sp>
      </p:grpSp>
      <p:sp>
        <p:nvSpPr>
          <p:cNvPr id="121" name="TextBox 120">
            <a:extLst>
              <a:ext uri="{FF2B5EF4-FFF2-40B4-BE49-F238E27FC236}">
                <a16:creationId xmlns:a16="http://schemas.microsoft.com/office/drawing/2014/main" id="{B43D3EF8-B471-48F1-9D45-16F7D655739A}"/>
              </a:ext>
            </a:extLst>
          </p:cNvPr>
          <p:cNvSpPr txBox="1"/>
          <p:nvPr/>
        </p:nvSpPr>
        <p:spPr>
          <a:xfrm>
            <a:off x="4855663" y="6490017"/>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sp>
        <p:nvSpPr>
          <p:cNvPr id="122" name="TextBox 121">
            <a:extLst>
              <a:ext uri="{FF2B5EF4-FFF2-40B4-BE49-F238E27FC236}">
                <a16:creationId xmlns:a16="http://schemas.microsoft.com/office/drawing/2014/main" id="{B8DC1248-6E5A-4524-B4E0-6696C64CA357}"/>
              </a:ext>
            </a:extLst>
          </p:cNvPr>
          <p:cNvSpPr txBox="1"/>
          <p:nvPr/>
        </p:nvSpPr>
        <p:spPr>
          <a:xfrm>
            <a:off x="10103519" y="6492491"/>
            <a:ext cx="750526" cy="276999"/>
          </a:xfrm>
          <a:prstGeom prst="rect">
            <a:avLst/>
          </a:prstGeom>
          <a:noFill/>
        </p:spPr>
        <p:txBody>
          <a:bodyPr wrap="none" rtlCol="0">
            <a:spAutoFit/>
          </a:bodyPr>
          <a:lstStyle/>
          <a:p>
            <a:r>
              <a:rPr lang="ko-KR" altLang="en-US" sz="1200" dirty="0"/>
              <a:t>총</a:t>
            </a:r>
            <a:r>
              <a:rPr lang="en-US" altLang="ko-KR" sz="1200" dirty="0"/>
              <a:t> 6.5</a:t>
            </a:r>
            <a:r>
              <a:rPr lang="ko-KR" altLang="en-US" sz="1200" dirty="0"/>
              <a:t>점</a:t>
            </a:r>
          </a:p>
        </p:txBody>
      </p:sp>
      <p:grpSp>
        <p:nvGrpSpPr>
          <p:cNvPr id="124" name="그룹 123">
            <a:extLst>
              <a:ext uri="{FF2B5EF4-FFF2-40B4-BE49-F238E27FC236}">
                <a16:creationId xmlns:a16="http://schemas.microsoft.com/office/drawing/2014/main" id="{A69AFFBD-B15E-4345-BC17-2CBDA6C5882F}"/>
              </a:ext>
            </a:extLst>
          </p:cNvPr>
          <p:cNvGrpSpPr/>
          <p:nvPr/>
        </p:nvGrpSpPr>
        <p:grpSpPr>
          <a:xfrm>
            <a:off x="265124" y="3729542"/>
            <a:ext cx="822008" cy="868736"/>
            <a:chOff x="269738" y="3554621"/>
            <a:chExt cx="822008" cy="868736"/>
          </a:xfrm>
        </p:grpSpPr>
        <p:sp>
          <p:nvSpPr>
            <p:cNvPr id="125" name="KV Cache Manager">
              <a:extLst>
                <a:ext uri="{FF2B5EF4-FFF2-40B4-BE49-F238E27FC236}">
                  <a16:creationId xmlns:a16="http://schemas.microsoft.com/office/drawing/2014/main" id="{6C761331-2BCA-4B25-8B1F-1540F95D53B4}"/>
                </a:ext>
              </a:extLst>
            </p:cNvPr>
            <p:cNvSpPr/>
            <p:nvPr/>
          </p:nvSpPr>
          <p:spPr>
            <a:xfrm>
              <a:off x="275753" y="3965871"/>
              <a:ext cx="784423" cy="194036"/>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후보 특화 모듈</a:t>
              </a:r>
              <a:endParaRPr lang="en-US" altLang="ko-KR" sz="800" b="1" dirty="0">
                <a:solidFill>
                  <a:schemeClr val="tx1"/>
                </a:solidFill>
              </a:endParaRPr>
            </a:p>
          </p:txBody>
        </p:sp>
        <p:sp>
          <p:nvSpPr>
            <p:cNvPr id="126" name="KV Cache Manager">
              <a:extLst>
                <a:ext uri="{FF2B5EF4-FFF2-40B4-BE49-F238E27FC236}">
                  <a16:creationId xmlns:a16="http://schemas.microsoft.com/office/drawing/2014/main" id="{50A34A3F-254D-4A8E-AFBB-2D33544166EF}"/>
                </a:ext>
              </a:extLst>
            </p:cNvPr>
            <p:cNvSpPr/>
            <p:nvPr/>
          </p:nvSpPr>
          <p:spPr>
            <a:xfrm>
              <a:off x="275753" y="4186396"/>
              <a:ext cx="784423" cy="194036"/>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ko-KR" altLang="en-US" sz="800" b="1" dirty="0">
                  <a:solidFill>
                    <a:schemeClr val="tx1"/>
                  </a:solidFill>
                </a:rPr>
                <a:t>공통 모듈</a:t>
              </a:r>
              <a:endParaRPr lang="en-US" altLang="ko-KR" sz="800" b="1" dirty="0">
                <a:solidFill>
                  <a:schemeClr val="tx1"/>
                </a:solidFill>
              </a:endParaRPr>
            </a:p>
          </p:txBody>
        </p:sp>
        <p:sp>
          <p:nvSpPr>
            <p:cNvPr id="128" name="직사각형 127">
              <a:extLst>
                <a:ext uri="{FF2B5EF4-FFF2-40B4-BE49-F238E27FC236}">
                  <a16:creationId xmlns:a16="http://schemas.microsoft.com/office/drawing/2014/main" id="{39937169-9026-48D9-88B9-68810CA154C4}"/>
                </a:ext>
              </a:extLst>
            </p:cNvPr>
            <p:cNvSpPr/>
            <p:nvPr/>
          </p:nvSpPr>
          <p:spPr>
            <a:xfrm>
              <a:off x="269738" y="3554621"/>
              <a:ext cx="822008" cy="868736"/>
            </a:xfrm>
            <a:prstGeom prst="rect">
              <a:avLst/>
            </a:prstGeom>
            <a:noFill/>
            <a:ln w="19050">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36000" rtlCol="0" anchor="t"/>
            <a:lstStyle/>
            <a:p>
              <a:pPr algn="ctr"/>
              <a:r>
                <a:rPr lang="en-US" altLang="ko-KR" sz="800" b="1" dirty="0">
                  <a:solidFill>
                    <a:schemeClr val="tx1"/>
                  </a:solidFill>
                </a:rPr>
                <a:t>Legend</a:t>
              </a:r>
              <a:endParaRPr lang="ko-KR" altLang="en-US" sz="800" b="1" dirty="0">
                <a:solidFill>
                  <a:schemeClr val="tx1"/>
                </a:solidFill>
              </a:endParaRPr>
            </a:p>
          </p:txBody>
        </p:sp>
        <p:sp>
          <p:nvSpPr>
            <p:cNvPr id="129" name="KV Cache Manager">
              <a:extLst>
                <a:ext uri="{FF2B5EF4-FFF2-40B4-BE49-F238E27FC236}">
                  <a16:creationId xmlns:a16="http://schemas.microsoft.com/office/drawing/2014/main" id="{A05D98C4-4FFA-431C-A8CA-46BD263987A4}"/>
                </a:ext>
              </a:extLst>
            </p:cNvPr>
            <p:cNvSpPr/>
            <p:nvPr/>
          </p:nvSpPr>
          <p:spPr>
            <a:xfrm>
              <a:off x="275753" y="3750457"/>
              <a:ext cx="784423" cy="19403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800" b="1" dirty="0">
                  <a:solidFill>
                    <a:schemeClr val="tx1"/>
                  </a:solidFill>
                </a:rPr>
                <a:t>DP </a:t>
              </a:r>
              <a:r>
                <a:rPr lang="ko-KR" altLang="en-US" sz="800" b="1" dirty="0">
                  <a:solidFill>
                    <a:schemeClr val="tx1"/>
                  </a:solidFill>
                </a:rPr>
                <a:t>설계 모듈</a:t>
              </a:r>
              <a:endParaRPr lang="en-US" altLang="ko-KR" sz="800" b="1" dirty="0">
                <a:solidFill>
                  <a:schemeClr val="tx1"/>
                </a:solidFill>
              </a:endParaRPr>
            </a:p>
          </p:txBody>
        </p:sp>
      </p:grpSp>
      <p:sp>
        <p:nvSpPr>
          <p:cNvPr id="119" name="모서리가 둥근 직사각형 37">
            <a:extLst>
              <a:ext uri="{FF2B5EF4-FFF2-40B4-BE49-F238E27FC236}">
                <a16:creationId xmlns:a16="http://schemas.microsoft.com/office/drawing/2014/main" id="{824F5705-7E02-467A-970F-D2A9FCD95DC7}"/>
              </a:ext>
            </a:extLst>
          </p:cNvPr>
          <p:cNvSpPr/>
          <p:nvPr/>
        </p:nvSpPr>
        <p:spPr>
          <a:xfrm>
            <a:off x="9930631"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F3 LLM </a:t>
            </a:r>
            <a:r>
              <a:rPr lang="ko-KR" altLang="en-US" sz="700" dirty="0">
                <a:latin typeface="맑은 고딕" panose="020B0503020000020004" pitchFamily="50" charset="-127"/>
              </a:rPr>
              <a:t>추론 실행</a:t>
            </a:r>
          </a:p>
        </p:txBody>
      </p:sp>
      <p:sp>
        <p:nvSpPr>
          <p:cNvPr id="120" name="모서리가 둥근 직사각형 37">
            <a:extLst>
              <a:ext uri="{FF2B5EF4-FFF2-40B4-BE49-F238E27FC236}">
                <a16:creationId xmlns:a16="http://schemas.microsoft.com/office/drawing/2014/main" id="{E99FD0CC-4F44-40AB-8E8E-E5E878FDD956}"/>
              </a:ext>
            </a:extLst>
          </p:cNvPr>
          <p:cNvSpPr/>
          <p:nvPr/>
        </p:nvSpPr>
        <p:spPr>
          <a:xfrm>
            <a:off x="9509777"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27" name="모서리가 둥근 직사각형 37">
            <a:extLst>
              <a:ext uri="{FF2B5EF4-FFF2-40B4-BE49-F238E27FC236}">
                <a16:creationId xmlns:a16="http://schemas.microsoft.com/office/drawing/2014/main" id="{8B476E63-C72E-465A-98C8-0CB6FC0C7249}"/>
              </a:ext>
            </a:extLst>
          </p:cNvPr>
          <p:cNvSpPr/>
          <p:nvPr/>
        </p:nvSpPr>
        <p:spPr>
          <a:xfrm>
            <a:off x="10396460"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a:t>
            </a:r>
            <a:r>
              <a:rPr lang="ko-KR" altLang="en-US" sz="700" dirty="0">
                <a:latin typeface="맑은 고딕" panose="020B0503020000020004" pitchFamily="50" charset="-127"/>
              </a:rPr>
              <a:t>고부하 성능 </a:t>
            </a:r>
          </a:p>
        </p:txBody>
      </p:sp>
      <p:sp>
        <p:nvSpPr>
          <p:cNvPr id="131" name="모서리가 둥근 직사각형 37">
            <a:extLst>
              <a:ext uri="{FF2B5EF4-FFF2-40B4-BE49-F238E27FC236}">
                <a16:creationId xmlns:a16="http://schemas.microsoft.com/office/drawing/2014/main" id="{476B6E1C-7561-417D-A669-4DEFCE610223}"/>
              </a:ext>
            </a:extLst>
          </p:cNvPr>
          <p:cNvSpPr/>
          <p:nvPr/>
        </p:nvSpPr>
        <p:spPr>
          <a:xfrm>
            <a:off x="8858120" y="619129"/>
            <a:ext cx="1003759"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 </a:t>
            </a:r>
            <a:r>
              <a:rPr lang="en-US" altLang="ko-KR" sz="700" dirty="0" err="1">
                <a:latin typeface="맑은 고딕" panose="020B0503020000020004" pitchFamily="50" charset="-127"/>
              </a:rPr>
              <a:t>vLLM</a:t>
            </a:r>
            <a:r>
              <a:rPr lang="en-US" altLang="ko-KR" sz="700" dirty="0">
                <a:latin typeface="맑은 고딕" panose="020B0503020000020004" pitchFamily="50" charset="-127"/>
              </a:rPr>
              <a:t> </a:t>
            </a:r>
            <a:r>
              <a:rPr lang="ko-KR" altLang="en-US" sz="700" dirty="0">
                <a:latin typeface="맑은 고딕" panose="020B0503020000020004" pitchFamily="50" charset="-127"/>
              </a:rPr>
              <a:t>개발 환경</a:t>
            </a:r>
          </a:p>
        </p:txBody>
      </p:sp>
      <p:sp>
        <p:nvSpPr>
          <p:cNvPr id="133" name="모서리가 둥근 직사각형 37">
            <a:extLst>
              <a:ext uri="{FF2B5EF4-FFF2-40B4-BE49-F238E27FC236}">
                <a16:creationId xmlns:a16="http://schemas.microsoft.com/office/drawing/2014/main" id="{849CB062-936D-4F72-BDB2-73AE9FDAA773}"/>
              </a:ext>
            </a:extLst>
          </p:cNvPr>
          <p:cNvSpPr/>
          <p:nvPr/>
        </p:nvSpPr>
        <p:spPr>
          <a:xfrm>
            <a:off x="11209965"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확장성</a:t>
            </a:r>
          </a:p>
        </p:txBody>
      </p:sp>
      <p:sp>
        <p:nvSpPr>
          <p:cNvPr id="134" name="모서리가 둥근 직사각형 37">
            <a:extLst>
              <a:ext uri="{FF2B5EF4-FFF2-40B4-BE49-F238E27FC236}">
                <a16:creationId xmlns:a16="http://schemas.microsoft.com/office/drawing/2014/main" id="{824F5705-7E02-467A-970F-D2A9FCD95DC7}"/>
              </a:ext>
            </a:extLst>
          </p:cNvPr>
          <p:cNvSpPr/>
          <p:nvPr/>
        </p:nvSpPr>
        <p:spPr>
          <a:xfrm>
            <a:off x="10995070" y="621146"/>
            <a:ext cx="98738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F4 KV </a:t>
            </a:r>
            <a:r>
              <a:rPr lang="ko-KR" altLang="en-US" sz="700" dirty="0">
                <a:latin typeface="맑은 고딕" panose="020B0503020000020004" pitchFamily="50" charset="-127"/>
              </a:rPr>
              <a:t>캐시 관리</a:t>
            </a:r>
          </a:p>
        </p:txBody>
      </p:sp>
      <p:sp>
        <p:nvSpPr>
          <p:cNvPr id="253" name="legend_v4"/>
          <p:cNvSpPr txBox="1"/>
          <p:nvPr/>
        </p:nvSpPr>
        <p:spPr>
          <a:xfrm>
            <a:off x="566928" y="6583680"/>
            <a:ext cx="3931920" cy="256032"/>
          </a:xfrm>
          <a:prstGeom prst="rect">
            <a:avLst/>
          </a:prstGeom>
          <a:noFill/>
        </p:spPr>
        <p:txBody>
          <a:bodyPr wrap="square" lIns="18288" tIns="0" rIns="18288" bIns="0" anchor="t">
            <a:spAutoFit/>
          </a:bodyPr>
          <a:lstStyle/>
          <a:p>
            <a:pPr algn="l">
              <a:lnSpc>
                <a:spcPct val="95000"/>
              </a:lnSpc>
              <a:spcAft>
                <a:spcPts val="0"/>
              </a:spcAft>
            </a:pPr>
            <a:r>
              <a:rPr sz="630" b="0">
                <a:solidFill>
                  <a:srgbClr val="595959"/>
                </a:solidFill>
                <a:latin typeface="맑은 고딕"/>
                <a:ea typeface="맑은 고딕"/>
              </a:rPr>
              <a:t>작은 수치 = B1(정적 offload) → 후보의 이론 예상값(분석 모델, 시뮬레이션 아님)과 개선율. </a:t>
            </a:r>
            <a:r>
              <a:rPr sz="630" b="0">
                <a:solidFill>
                  <a:srgbClr val="0000FF"/>
                </a:solidFill>
                <a:latin typeface="맑은 고딕"/>
                <a:ea typeface="맑은 고딕"/>
              </a:rPr>
              <a:t>파란 글씨 = 소유자 별 대비 코멘트.</a:t>
            </a:r>
          </a:p>
        </p:txBody>
      </p:sp>
    </p:spTree>
    <p:extLst>
      <p:ext uri="{BB962C8B-B14F-4D97-AF65-F5344CB8AC3E}">
        <p14:creationId xmlns:p14="http://schemas.microsoft.com/office/powerpoint/2010/main" val="5949071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처리량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B1(정적 offload) 대비, SLO를 만족하는 조건에서의 처리량(Max값) 증가율 — B0(GPU-only) 대비는 참고</a:t>
            </a:r>
            <a:endParaRPr lang="en-US" altLang="ko-KR" sz="1100" b="0" dirty="0">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DirectKV OSDI'26 · KVFlow (arXiv 2507.07400) · InfiniGen OSDI'24 (arXiv 2406.19707). 'up to' 보고값이며 지표·baseline이 달라 직접 비교 아님. 절대값은 theory_model.py의 분석 모델(시뮬레이션 아님)</a:t>
            </a:r>
          </a:p>
        </p:txBody>
      </p:sp>
      <p:sp>
        <p:nvSpPr>
          <p:cNvPr id="9" name="실행 단추: 뒤로 또는 이전 8">
            <a:hlinkClick r:id="rId2"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metric"/>
          <p:cNvSpPr txBox="1"/>
          <p:nvPr/>
        </p:nvSpPr>
        <p:spPr>
          <a:xfrm>
            <a:off x="365760" y="1069848"/>
            <a:ext cx="11430000" cy="960120"/>
          </a:xfrm>
          <a:prstGeom prst="rect">
            <a:avLst/>
          </a:prstGeom>
          <a:noFill/>
        </p:spPr>
        <p:txBody>
          <a:bodyPr wrap="square" lIns="73152" tIns="36576" rIns="73152" bIns="36576" anchor="t">
            <a:spAutoFit/>
          </a:bodyPr>
          <a:lstStyle/>
          <a:p>
            <a:pPr algn="l">
              <a:lnSpc>
                <a:spcPct val="112000"/>
              </a:lnSpc>
              <a:spcAft>
                <a:spcPts val="0"/>
              </a:spcAft>
            </a:pPr>
            <a:r>
              <a:rPr sz="1050" b="1">
                <a:solidFill>
                  <a:srgbClr val="2F5597"/>
                </a:solidFill>
                <a:latin typeface="맑은 고딕"/>
                <a:ea typeface="맑은 고딕"/>
              </a:rPr>
              <a:t>[Metric] R = Max SLO goodput(후보) ÷ Max SLO goodput(B1)</a:t>
            </a:r>
          </a:p>
          <a:p>
            <a:pPr algn="l">
              <a:lnSpc>
                <a:spcPct val="112000"/>
              </a:lnSpc>
              <a:spcAft>
                <a:spcPts val="0"/>
              </a:spcAft>
            </a:pPr>
            <a:r>
              <a:rPr sz="950" b="0">
                <a:solidFill>
                  <a:srgbClr val="000000"/>
                </a:solidFill>
                <a:latin typeface="맑은 고딕"/>
                <a:ea typeface="맑은 고딕"/>
              </a:rPr>
              <a:t>- B0 = vLLM 기본(HBM만, 부족하면 recompute) · B1 = HBM이 차면 LRU로 DRAM, DRAM이 차면 SSD로 옮기는 정적 offload(스케줄링·prefetch 없음). 판정은 B1 대비</a:t>
            </a:r>
          </a:p>
          <a:p>
            <a:pPr algn="l">
              <a:lnSpc>
                <a:spcPct val="112000"/>
              </a:lnSpc>
              <a:spcAft>
                <a:spcPts val="0"/>
              </a:spcAft>
            </a:pPr>
            <a:r>
              <a:rPr sz="950" b="0">
                <a:solidFill>
                  <a:srgbClr val="000000"/>
                </a:solidFill>
                <a:latin typeface="맑은 고딕"/>
                <a:ea typeface="맑은 고딕"/>
              </a:rPr>
              <a:t>- Baseline 절대값(이론, Agent KV Fleet 1노드): B0 451 tok/s · B1 786 tok/s (B1 = B0의 1.74x). ★1 ≥ 944 · ★2 ≥ 1,179 · ★3 ≥ 1,415 tok/s</a:t>
            </a:r>
          </a:p>
          <a:p>
            <a:pPr algn="l">
              <a:lnSpc>
                <a:spcPct val="112000"/>
              </a:lnSpc>
              <a:spcAft>
                <a:spcPts val="0"/>
              </a:spcAft>
            </a:pPr>
            <a:r>
              <a:rPr sz="950" b="0">
                <a:solidFill>
                  <a:srgbClr val="000000"/>
                </a:solidFill>
                <a:latin typeface="맑은 고딕"/>
                <a:ea typeface="맑은 고딕"/>
              </a:rPr>
              <a:t>- 구간 규칙: ★1 = 문헌 최소 개선 1.2x, ★3 = 1.8x(KVFlow 1.83x, 시나리오 이론 상한 2.3x의 약 80%), ★2 = 중점 1.5x, 반 단계는 중점</a:t>
            </a:r>
          </a:p>
        </p:txBody>
      </p:sp>
      <p:graphicFrame>
        <p:nvGraphicFramePr>
          <p:cNvPr id="11" name="tbl"/>
          <p:cNvGraphicFramePr>
            <a:graphicFrameLocks noGrp="1"/>
          </p:cNvGraphicFramePr>
          <p:nvPr/>
        </p:nvGraphicFramePr>
        <p:xfrm>
          <a:off x="365760" y="2011680"/>
          <a:ext cx="11457432" cy="2029968"/>
        </p:xfrm>
        <a:graphic>
          <a:graphicData uri="http://schemas.openxmlformats.org/drawingml/2006/table">
            <a:tbl>
              <a:tblPr firstRow="0" bandRow="0">
                <a:tableStyleId>{2D5ABB26-0587-4C30-8999-92F81FD0307C}</a:tableStyleId>
              </a:tblPr>
              <a:tblGrid>
                <a:gridCol w="685800"/>
                <a:gridCol w="1600200"/>
                <a:gridCol w="6949440"/>
                <a:gridCol w="2221992"/>
              </a:tblGrid>
              <a:tr h="219456">
                <a:tc>
                  <a:txBody>
                    <a:bodyPr wrap="square"/>
                    <a:lstStyle/>
                    <a:p>
                      <a:pPr algn="ctr"/>
                      <a:r>
                        <a:rPr sz="900" b="1">
                          <a:solidFill>
                            <a:srgbClr val="FFFFFF"/>
                          </a:solidFill>
                          <a:latin typeface="맑은 고딕"/>
                          <a:ea typeface="맑은 고딕"/>
                        </a:rPr>
                        <a:t>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기준 (정량)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출처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301752">
                <a:tc>
                  <a:txBody>
                    <a:bodyPr wrap="square"/>
                    <a:lstStyle/>
                    <a:p>
                      <a:pPr algn="ctr"/>
                      <a:r>
                        <a:rPr sz="830" b="1">
                          <a:solidFill>
                            <a:srgbClr val="000000"/>
                          </a:solidFill>
                          <a:latin typeface="맑은 고딕"/>
                          <a:ea typeface="맑은 고딕"/>
                        </a:rPr>
                        <a:t>★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R ≥ 1.8</a:t>
                      </a:r>
                    </a:p>
                    <a:p>
                      <a:pPr algn="l"/>
                      <a:r>
                        <a:rPr sz="750" b="0">
                          <a:solidFill>
                            <a:srgbClr val="595959"/>
                          </a:solidFill>
                          <a:latin typeface="맑은 고딕"/>
                          <a:ea typeface="맑은 고딕"/>
                        </a:rPr>
                        <a:t>(≥ 1,415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KVFlow: agentic workflow에서 SGLang(HiCache, 계층 캐시 baseline) 대비 최대 1.83x(단일)·2.19x(동시 다수). 시나리오 이론 상한(GPU 한계) 2.3x의 약 80%. InfiniGen 3.0x(FlexGen 대비)는 weight까지 offload하는 다른 regime이라 앵커에서 제외</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KVFlow, InfiniGen</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r>
              <a:tr h="301752">
                <a:tc>
                  <a:txBody>
                    <a:bodyPr wrap="square"/>
                    <a:lstStyle/>
                    <a:p>
                      <a:pPr algn="ctr"/>
                      <a:r>
                        <a:rPr sz="830" b="1">
                          <a:solidFill>
                            <a:srgbClr val="000000"/>
                          </a:solidFill>
                          <a:latin typeface="맑은 고딕"/>
                          <a:ea typeface="맑은 고딕"/>
                        </a:rPr>
                        <a:t>★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1.65 ≤ R &lt; 1.8</a:t>
                      </a:r>
                    </a:p>
                    <a:p>
                      <a:pPr algn="l"/>
                      <a:r>
                        <a:rPr sz="750" b="0">
                          <a:solidFill>
                            <a:srgbClr val="595959"/>
                          </a:solidFill>
                          <a:latin typeface="맑은 고딕"/>
                          <a:ea typeface="맑은 고딕"/>
                        </a:rPr>
                        <a:t>(≥ 1,297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★2와 ★3의 중점(1.65x)</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r>
              <a:tr h="301752">
                <a:tc>
                  <a:txBody>
                    <a:bodyPr wrap="square"/>
                    <a:lstStyle/>
                    <a:p>
                      <a:pPr algn="ctr"/>
                      <a:r>
                        <a:rPr sz="830" b="1">
                          <a:solidFill>
                            <a:srgbClr val="000000"/>
                          </a:solidFill>
                          <a:latin typeface="맑은 고딕"/>
                          <a:ea typeface="맑은 고딕"/>
                        </a:rPr>
                        <a:t>★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1.5 ≤ R &lt; 1.65</a:t>
                      </a:r>
                    </a:p>
                    <a:p>
                      <a:pPr algn="l"/>
                      <a:r>
                        <a:rPr sz="750" b="0">
                          <a:solidFill>
                            <a:srgbClr val="595959"/>
                          </a:solidFill>
                          <a:latin typeface="맑은 고딕"/>
                          <a:ea typeface="맑은 고딕"/>
                        </a:rPr>
                        <a:t>(≥ 1,179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★1과 ★3의 중점(1.5x). 문헌 보고 1.2~1.83x의 중간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r>
              <a:tr h="301752">
                <a:tc>
                  <a:txBody>
                    <a:bodyPr wrap="square"/>
                    <a:lstStyle/>
                    <a:p>
                      <a:pPr algn="ctr"/>
                      <a:r>
                        <a:rPr sz="830" b="1">
                          <a:solidFill>
                            <a:srgbClr val="000000"/>
                          </a:solidFill>
                          <a:latin typeface="맑은 고딕"/>
                          <a:ea typeface="맑은 고딕"/>
                        </a:rPr>
                        <a:t>★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1.35 ≤ R &lt; 1.5</a:t>
                      </a:r>
                    </a:p>
                    <a:p>
                      <a:pPr algn="l"/>
                      <a:r>
                        <a:rPr sz="750" b="0">
                          <a:solidFill>
                            <a:srgbClr val="595959"/>
                          </a:solidFill>
                          <a:latin typeface="맑은 고딕"/>
                          <a:ea typeface="맑은 고딕"/>
                        </a:rPr>
                        <a:t>(≥ 1,061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★1과 ★2의 중점(1.35x)</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r>
              <a:tr h="301752">
                <a:tc>
                  <a:txBody>
                    <a:bodyPr wrap="square"/>
                    <a:lstStyle/>
                    <a:p>
                      <a:pPr algn="ctr"/>
                      <a:r>
                        <a:rPr sz="830" b="1">
                          <a:solidFill>
                            <a:srgbClr val="000000"/>
                          </a:solidFill>
                          <a:latin typeface="맑은 고딕"/>
                          <a:ea typeface="맑은 고딕"/>
                        </a:rPr>
                        <a:t>★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1.2 ≤ R &lt; 1.35</a:t>
                      </a:r>
                    </a:p>
                    <a:p>
                      <a:pPr algn="l"/>
                      <a:r>
                        <a:rPr sz="750" b="0">
                          <a:solidFill>
                            <a:srgbClr val="595959"/>
                          </a:solidFill>
                          <a:latin typeface="맑은 고딕"/>
                          <a:ea typeface="맑은 고딕"/>
                        </a:rPr>
                        <a:t>(≥ 944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DirectKV(OSDI'26): 기존 offload 방식 대비 end-to-end 최대 1.2x = 'offload만으로 얻는 것 위의 최소 개선'. 참고: 기존 요구 '처리량 2배'는 B0 대비이며 B1이 이미 B0의 1.74x라 B1 대비로는 1.15x에 해당</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DirectKV, Stakeholder 요구(B0 대비)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r>
              <a:tr h="301752">
                <a:tc>
                  <a:txBody>
                    <a:bodyPr wrap="square"/>
                    <a:lstStyle/>
                    <a:p>
                      <a:pPr algn="ctr"/>
                      <a:r>
                        <a:rPr sz="830" b="1">
                          <a:solidFill>
                            <a:srgbClr val="000000"/>
                          </a:solidFill>
                          <a:latin typeface="맑은 고딕"/>
                          <a:ea typeface="맑은 고딕"/>
                        </a:rPr>
                        <a:t>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R &lt; 1.2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B1 대비 최소 개선(1.2x) 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r>
            </a:tbl>
          </a:graphicData>
        </a:graphic>
      </p:graphicFrame>
      <p:sp>
        <p:nvSpPr>
          <p:cNvPr id="12" name="TextBox 11"/>
          <p:cNvSpPr txBox="1"/>
          <p:nvPr/>
        </p:nvSpPr>
        <p:spPr>
          <a:xfrm>
            <a:off x="365760" y="4169663"/>
            <a:ext cx="1143000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(B1 대비 R)</a:t>
            </a:r>
          </a:p>
        </p:txBody>
      </p:sp>
      <p:sp>
        <p:nvSpPr>
          <p:cNvPr id="13" name="Rectangle 12"/>
          <p:cNvSpPr/>
          <p:nvPr/>
        </p:nvSpPr>
        <p:spPr>
          <a:xfrm>
            <a:off x="411480" y="4407407"/>
            <a:ext cx="1030778"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4407407"/>
            <a:ext cx="103077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15" name="Rectangle 14"/>
          <p:cNvSpPr/>
          <p:nvPr/>
        </p:nvSpPr>
        <p:spPr>
          <a:xfrm>
            <a:off x="1442258" y="4407407"/>
            <a:ext cx="773083"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42258" y="4407407"/>
            <a:ext cx="773083"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17" name="Rectangle 16"/>
          <p:cNvSpPr/>
          <p:nvPr/>
        </p:nvSpPr>
        <p:spPr>
          <a:xfrm>
            <a:off x="2215341" y="4407407"/>
            <a:ext cx="773083"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15341" y="4407407"/>
            <a:ext cx="773083"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19" name="Rectangle 18"/>
          <p:cNvSpPr/>
          <p:nvPr/>
        </p:nvSpPr>
        <p:spPr>
          <a:xfrm>
            <a:off x="2988425" y="4407407"/>
            <a:ext cx="773083"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88425" y="4407407"/>
            <a:ext cx="773083"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21" name="Rectangle 20"/>
          <p:cNvSpPr/>
          <p:nvPr/>
        </p:nvSpPr>
        <p:spPr>
          <a:xfrm>
            <a:off x="3761509" y="4407407"/>
            <a:ext cx="773083"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61509" y="4407407"/>
            <a:ext cx="773083"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23" name="Rectangle 22"/>
          <p:cNvSpPr/>
          <p:nvPr/>
        </p:nvSpPr>
        <p:spPr>
          <a:xfrm>
            <a:off x="4534592" y="4407407"/>
            <a:ext cx="7215447"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4592" y="4407407"/>
            <a:ext cx="721544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25" name="TextBox 24"/>
          <p:cNvSpPr txBox="1"/>
          <p:nvPr/>
        </p:nvSpPr>
        <p:spPr>
          <a:xfrm>
            <a:off x="91440" y="468172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1x</a:t>
            </a:r>
          </a:p>
        </p:txBody>
      </p:sp>
      <p:sp>
        <p:nvSpPr>
          <p:cNvPr id="26" name="TextBox 25"/>
          <p:cNvSpPr txBox="1"/>
          <p:nvPr/>
        </p:nvSpPr>
        <p:spPr>
          <a:xfrm>
            <a:off x="2668385" y="468172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1.5x</a:t>
            </a:r>
          </a:p>
        </p:txBody>
      </p:sp>
      <p:sp>
        <p:nvSpPr>
          <p:cNvPr id="27" name="TextBox 26"/>
          <p:cNvSpPr txBox="1"/>
          <p:nvPr/>
        </p:nvSpPr>
        <p:spPr>
          <a:xfrm>
            <a:off x="5245330" y="468172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2x</a:t>
            </a:r>
          </a:p>
        </p:txBody>
      </p:sp>
      <p:sp>
        <p:nvSpPr>
          <p:cNvPr id="28" name="TextBox 27"/>
          <p:cNvSpPr txBox="1"/>
          <p:nvPr/>
        </p:nvSpPr>
        <p:spPr>
          <a:xfrm>
            <a:off x="7822276" y="468172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2.5x</a:t>
            </a:r>
          </a:p>
        </p:txBody>
      </p:sp>
      <p:sp>
        <p:nvSpPr>
          <p:cNvPr id="29" name="TextBox 28"/>
          <p:cNvSpPr txBox="1"/>
          <p:nvPr/>
        </p:nvSpPr>
        <p:spPr>
          <a:xfrm>
            <a:off x="10399221" y="468172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3x</a:t>
            </a:r>
          </a:p>
        </p:txBody>
      </p:sp>
      <p:cxnSp>
        <p:nvCxnSpPr>
          <p:cNvPr id="30" name="Connector 29"/>
          <p:cNvCxnSpPr/>
          <p:nvPr/>
        </p:nvCxnSpPr>
        <p:spPr>
          <a:xfrm>
            <a:off x="1442258" y="4818888"/>
            <a:ext cx="0" cy="1161287"/>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215341" y="4818888"/>
            <a:ext cx="0" cy="1161287"/>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88425" y="4818888"/>
            <a:ext cx="0" cy="1161287"/>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61509" y="4818888"/>
            <a:ext cx="0" cy="1161287"/>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34592" y="4818888"/>
            <a:ext cx="0" cy="1161287"/>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35" name="Diamond 34"/>
          <p:cNvSpPr/>
          <p:nvPr/>
        </p:nvSpPr>
        <p:spPr>
          <a:xfrm>
            <a:off x="1105293" y="4871465"/>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37881" y="4837175"/>
            <a:ext cx="2157984"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Stakeholder '2배'(B0 대비) = B1 대비 1.15x</a:t>
            </a:r>
          </a:p>
        </p:txBody>
      </p:sp>
      <p:sp>
        <p:nvSpPr>
          <p:cNvPr id="37" name="Oval 36"/>
          <p:cNvSpPr/>
          <p:nvPr/>
        </p:nvSpPr>
        <p:spPr>
          <a:xfrm>
            <a:off x="1391966" y="5068062"/>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515410" y="5024627"/>
            <a:ext cx="2098548"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DirectKV: 기존 offload 대비 e2e 최대 1.2x</a:t>
            </a:r>
          </a:p>
        </p:txBody>
      </p:sp>
      <p:sp>
        <p:nvSpPr>
          <p:cNvPr id="39" name="Oval 38"/>
          <p:cNvSpPr/>
          <p:nvPr/>
        </p:nvSpPr>
        <p:spPr>
          <a:xfrm>
            <a:off x="4638917" y="5255514"/>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62361" y="5212079"/>
            <a:ext cx="2752344"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KVFlow: SGLang HiCache 대비 최대 1.83x (단일 workflow)</a:t>
            </a:r>
          </a:p>
        </p:txBody>
      </p:sp>
      <p:sp>
        <p:nvSpPr>
          <p:cNvPr id="41" name="Oval 40"/>
          <p:cNvSpPr/>
          <p:nvPr/>
        </p:nvSpPr>
        <p:spPr>
          <a:xfrm>
            <a:off x="6494318" y="5442966"/>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17762" y="5399531"/>
            <a:ext cx="1897379"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KVFlow: 동시 다수 workflow 최대 2.19x</a:t>
            </a:r>
          </a:p>
        </p:txBody>
      </p:sp>
      <p:sp>
        <p:nvSpPr>
          <p:cNvPr id="43" name="Isosceles Triangle 42"/>
          <p:cNvSpPr/>
          <p:nvPr/>
        </p:nvSpPr>
        <p:spPr>
          <a:xfrm>
            <a:off x="7074685" y="5625846"/>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07273" y="5586983"/>
            <a:ext cx="2802636"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이론 상한: GPU 한계 8.85 turn/s ÷ B1 3.84 turn/s = 2.3x</a:t>
            </a:r>
          </a:p>
        </p:txBody>
      </p:sp>
      <p:sp>
        <p:nvSpPr>
          <p:cNvPr id="45" name="Oval 44"/>
          <p:cNvSpPr/>
          <p:nvPr/>
        </p:nvSpPr>
        <p:spPr>
          <a:xfrm>
            <a:off x="10668969" y="5817870"/>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23917" y="5774436"/>
            <a:ext cx="3822192" cy="187452"/>
          </a:xfrm>
          <a:prstGeom prst="rect">
            <a:avLst/>
          </a:prstGeom>
          <a:noFill/>
        </p:spPr>
        <p:txBody>
          <a:bodyPr wrap="none" lIns="0" tIns="0" rIns="0" bIns="0" anchor="ctr">
            <a:spAutoFit/>
          </a:bodyPr>
          <a:lstStyle/>
          <a:p>
            <a:pPr algn="r">
              <a:spcAft>
                <a:spcPts val="0"/>
              </a:spcAft>
            </a:pPr>
            <a:r>
              <a:rPr sz="720" b="0">
                <a:solidFill>
                  <a:srgbClr val="7F7F7F"/>
                </a:solidFill>
                <a:latin typeface="맑은 고딕"/>
                <a:ea typeface="맑은 고딕"/>
              </a:rPr>
              <a:t>InfiniGen: 이전 KV 관리(FlexGen) 대비 최대 3.0x (weight offload 포함 regime)</a:t>
            </a:r>
          </a:p>
        </p:txBody>
      </p:sp>
      <p:sp>
        <p:nvSpPr>
          <p:cNvPr id="47" name="Oval 46"/>
          <p:cNvSpPr/>
          <p:nvPr/>
        </p:nvSpPr>
        <p:spPr>
          <a:xfrm>
            <a:off x="384048" y="6048755"/>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2920" y="6007607"/>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49" name="Diamond 48"/>
          <p:cNvSpPr/>
          <p:nvPr/>
        </p:nvSpPr>
        <p:spPr>
          <a:xfrm>
            <a:off x="1539748" y="6048755"/>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658620" y="6007607"/>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51" name="Isosceles Triangle 50"/>
          <p:cNvSpPr/>
          <p:nvPr/>
        </p:nvSpPr>
        <p:spPr>
          <a:xfrm>
            <a:off x="3028823" y="6048755"/>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47695" y="6007607"/>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53" name="Oval 52"/>
          <p:cNvSpPr/>
          <p:nvPr/>
        </p:nvSpPr>
        <p:spPr>
          <a:xfrm>
            <a:off x="3753358" y="6048755"/>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72230" y="6007607"/>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Tree>
    <p:extLst>
      <p:ext uri="{BB962C8B-B14F-4D97-AF65-F5344CB8AC3E}">
        <p14:creationId xmlns:p14="http://schemas.microsoft.com/office/powerpoint/2010/main" val="3218258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자원(HBM) 효율성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B1(정적 offload) 대비 HBM 사용량 감소율 (KV 캐시 관리, 압축 제외, 같은 부하·SLO 유지)</a:t>
            </a:r>
            <a:endParaRP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출처[1]: DirectKV OSDI'26 · HeadInfer (arXiv 2502.12574, 검색 요약 기준) · ShadowKV ICML'25 (arXiv 2410.21465). 40~80% 범위는 사용자 인용(원문 대조 필요). 절대값은 분석 모델</a:t>
            </a:r>
          </a:p>
        </p:txBody>
      </p:sp>
      <p:sp>
        <p:nvSpPr>
          <p:cNvPr id="14" name="실행 단추: 뒤로 또는 이전 13">
            <a:hlinkClick r:id="rId2"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metric"/>
          <p:cNvSpPr txBox="1"/>
          <p:nvPr/>
        </p:nvSpPr>
        <p:spPr>
          <a:xfrm>
            <a:off x="365760" y="1069848"/>
            <a:ext cx="11430000" cy="1051560"/>
          </a:xfrm>
          <a:prstGeom prst="rect">
            <a:avLst/>
          </a:prstGeom>
          <a:noFill/>
        </p:spPr>
        <p:txBody>
          <a:bodyPr wrap="square" lIns="73152" tIns="36576" rIns="73152" bIns="36576" anchor="t">
            <a:spAutoFit/>
          </a:bodyPr>
          <a:lstStyle/>
          <a:p>
            <a:pPr algn="l">
              <a:lnSpc>
                <a:spcPct val="112000"/>
              </a:lnSpc>
              <a:spcAft>
                <a:spcPts val="0"/>
              </a:spcAft>
            </a:pPr>
            <a:r>
              <a:rPr sz="1050" b="1">
                <a:solidFill>
                  <a:srgbClr val="2F5597"/>
                </a:solidFill>
                <a:latin typeface="맑은 고딕"/>
                <a:ea typeface="맑은 고딕"/>
              </a:rPr>
              <a:t>[Metric] 감소율 = (B1 HBM 사용 − 후보 HBM 사용) ÷ B1 HBM 사용  (HBM 사용 = HBM에 올라와 있는 KV 크기의 시간 평균)</a:t>
            </a:r>
          </a:p>
          <a:p>
            <a:pPr algn="l">
              <a:lnSpc>
                <a:spcPct val="112000"/>
              </a:lnSpc>
              <a:spcAft>
                <a:spcPts val="0"/>
              </a:spcAft>
            </a:pPr>
            <a:r>
              <a:rPr sz="950" b="0">
                <a:solidFill>
                  <a:srgbClr val="000000"/>
                </a:solidFill>
                <a:latin typeface="맑은 고딕"/>
                <a:ea typeface="맑은 고딕"/>
              </a:rPr>
              <a:t>- Baseline 절대값(이론): B0 425 GiB · B1 425 GiB — B1은 HBM이 찰 때까지 채우므로 HBM KV 풀(640×0.9 − 가중치 131 − 활성값 20) 전체를 쓴다. ★1 ≤ 340 · ★2 ≤ 255 · ★3 ≤ 170 GiB</a:t>
            </a:r>
          </a:p>
          <a:p>
            <a:pPr algn="l">
              <a:lnSpc>
                <a:spcPct val="112000"/>
              </a:lnSpc>
              <a:spcAft>
                <a:spcPts val="0"/>
              </a:spcAft>
            </a:pPr>
            <a:r>
              <a:rPr sz="950" b="0">
                <a:solidFill>
                  <a:srgbClr val="000000"/>
                </a:solidFill>
                <a:latin typeface="맑은 고딕"/>
                <a:ea typeface="맑은 고딕"/>
              </a:rPr>
              <a:t>- 이론 상한: 같은 부하에서 decode 상주분(≈33 GiB)과 버퍼(≈20 GiB)만 남기면 ≈ 88% 감소 가능(성능 유지 조건에서는 prefetch 적중에 의존)</a:t>
            </a:r>
          </a:p>
          <a:p>
            <a:pPr algn="l">
              <a:lnSpc>
                <a:spcPct val="112000"/>
              </a:lnSpc>
              <a:spcAft>
                <a:spcPts val="0"/>
              </a:spcAft>
            </a:pPr>
            <a:r>
              <a:rPr sz="950" b="0">
                <a:solidFill>
                  <a:srgbClr val="000000"/>
                </a:solidFill>
                <a:latin typeface="맑은 고딕"/>
                <a:ea typeface="맑은 고딕"/>
              </a:rPr>
              <a:t>- 구간 규칙: ★1 = 요구 20%, ★2 = 40%(DirectKV 43%, 'offload 대비' 보고), ★3 = 60%, 반 단계는 중점(10%p 등간격)</a:t>
            </a:r>
          </a:p>
        </p:txBody>
      </p:sp>
      <p:graphicFrame>
        <p:nvGraphicFramePr>
          <p:cNvPr id="16" name="tbl"/>
          <p:cNvGraphicFramePr>
            <a:graphicFrameLocks noGrp="1"/>
          </p:cNvGraphicFramePr>
          <p:nvPr/>
        </p:nvGraphicFramePr>
        <p:xfrm>
          <a:off x="365760" y="2148840"/>
          <a:ext cx="11457432" cy="2029968"/>
        </p:xfrm>
        <a:graphic>
          <a:graphicData uri="http://schemas.openxmlformats.org/drawingml/2006/table">
            <a:tbl>
              <a:tblPr firstRow="0" bandRow="0">
                <a:tableStyleId>{2D5ABB26-0587-4C30-8999-92F81FD0307C}</a:tableStyleId>
              </a:tblPr>
              <a:tblGrid>
                <a:gridCol w="685800"/>
                <a:gridCol w="1600200"/>
                <a:gridCol w="6949440"/>
                <a:gridCol w="2221992"/>
              </a:tblGrid>
              <a:tr h="219456">
                <a:tc>
                  <a:txBody>
                    <a:bodyPr wrap="square"/>
                    <a:lstStyle/>
                    <a:p>
                      <a:pPr algn="ctr"/>
                      <a:r>
                        <a:rPr sz="900" b="1">
                          <a:solidFill>
                            <a:srgbClr val="FFFFFF"/>
                          </a:solidFill>
                          <a:latin typeface="맑은 고딕"/>
                          <a:ea typeface="맑은 고딕"/>
                        </a:rPr>
                        <a:t>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기준 (정량)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출처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301752">
                <a:tc>
                  <a:txBody>
                    <a:bodyPr wrap="square"/>
                    <a:lstStyle/>
                    <a:p>
                      <a:pPr algn="ctr"/>
                      <a:r>
                        <a:rPr sz="830" b="1">
                          <a:solidFill>
                            <a:srgbClr val="000000"/>
                          </a:solidFill>
                          <a:latin typeface="맑은 고딕"/>
                          <a:ea typeface="맑은 고딕"/>
                        </a:rPr>
                        <a:t>★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감소율 ≥ 60%</a:t>
                      </a:r>
                    </a:p>
                    <a:p>
                      <a:pPr algn="l"/>
                      <a:r>
                        <a:rPr sz="750" b="0">
                          <a:solidFill>
                            <a:srgbClr val="595959"/>
                          </a:solidFill>
                          <a:latin typeface="맑은 고딕"/>
                          <a:ea typeface="맑은 고딕"/>
                        </a:rPr>
                        <a:t>(HBM ≤ 170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이론 상한(≈88%)과 문헌 상단(HeadInfer 92%, 1M ctx 단일 요청 극단)보다 보수적인 60%. ShadowKV(batch 6x)는 key 저랭크 압축 포함이라 제외</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DirectKV, HeadInfer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r>
              <a:tr h="301752">
                <a:tc>
                  <a:txBody>
                    <a:bodyPr wrap="square"/>
                    <a:lstStyle/>
                    <a:p>
                      <a:pPr algn="ctr"/>
                      <a:r>
                        <a:rPr sz="830" b="1">
                          <a:solidFill>
                            <a:srgbClr val="000000"/>
                          </a:solidFill>
                          <a:latin typeface="맑은 고딕"/>
                          <a:ea typeface="맑은 고딕"/>
                        </a:rPr>
                        <a:t>★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50 ≤ 감소율 &lt; 60%</a:t>
                      </a:r>
                    </a:p>
                    <a:p>
                      <a:pPr algn="l"/>
                      <a:r>
                        <a:rPr sz="750" b="0">
                          <a:solidFill>
                            <a:srgbClr val="595959"/>
                          </a:solidFill>
                          <a:latin typeface="맑은 고딕"/>
                          <a:ea typeface="맑은 고딕"/>
                        </a:rPr>
                        <a:t>(HBM ≤ 212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★2와 ★3의 중점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r>
              <a:tr h="301752">
                <a:tc>
                  <a:txBody>
                    <a:bodyPr wrap="square"/>
                    <a:lstStyle/>
                    <a:p>
                      <a:pPr algn="ctr"/>
                      <a:r>
                        <a:rPr sz="830" b="1">
                          <a:solidFill>
                            <a:srgbClr val="000000"/>
                          </a:solidFill>
                          <a:latin typeface="맑은 고딕"/>
                          <a:ea typeface="맑은 고딕"/>
                        </a:rPr>
                        <a:t>★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40 ≤ 감소율 &lt; 50%</a:t>
                      </a:r>
                    </a:p>
                    <a:p>
                      <a:pPr algn="l"/>
                      <a:r>
                        <a:rPr sz="750" b="0">
                          <a:solidFill>
                            <a:srgbClr val="595959"/>
                          </a:solidFill>
                          <a:latin typeface="맑은 고딕"/>
                          <a:ea typeface="맑은 고딕"/>
                        </a:rPr>
                        <a:t>(HBM ≤ 255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DirectKV: CPU 메모리 직접 접근으로 GPU 메모리 43% 감소(GH200). 기존 offload 방식 대비 보고라 B1과 같은 종류의 baseline</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DirectKV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r>
              <a:tr h="301752">
                <a:tc>
                  <a:txBody>
                    <a:bodyPr wrap="square"/>
                    <a:lstStyle/>
                    <a:p>
                      <a:pPr algn="ctr"/>
                      <a:r>
                        <a:rPr sz="830" b="1">
                          <a:solidFill>
                            <a:srgbClr val="000000"/>
                          </a:solidFill>
                          <a:latin typeface="맑은 고딕"/>
                          <a:ea typeface="맑은 고딕"/>
                        </a:rPr>
                        <a:t>★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30 ≤ 감소율 &lt; 40%</a:t>
                      </a:r>
                    </a:p>
                    <a:p>
                      <a:pPr algn="l"/>
                      <a:r>
                        <a:rPr sz="750" b="0">
                          <a:solidFill>
                            <a:srgbClr val="595959"/>
                          </a:solidFill>
                          <a:latin typeface="맑은 고딕"/>
                          <a:ea typeface="맑은 고딕"/>
                        </a:rPr>
                        <a:t>(HBM ≤ 298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★1과 ★2의 중점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r>
              <a:tr h="301752">
                <a:tc>
                  <a:txBody>
                    <a:bodyPr wrap="square"/>
                    <a:lstStyle/>
                    <a:p>
                      <a:pPr algn="ctr"/>
                      <a:r>
                        <a:rPr sz="830" b="1">
                          <a:solidFill>
                            <a:srgbClr val="000000"/>
                          </a:solidFill>
                          <a:latin typeface="맑은 고딕"/>
                          <a:ea typeface="맑은 고딕"/>
                        </a:rPr>
                        <a:t>★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20 ≤ 감소율 &lt; 30%</a:t>
                      </a:r>
                    </a:p>
                    <a:p>
                      <a:pPr algn="l"/>
                      <a:r>
                        <a:rPr sz="750" b="0">
                          <a:solidFill>
                            <a:srgbClr val="595959"/>
                          </a:solidFill>
                          <a:latin typeface="맑은 고딕"/>
                          <a:ea typeface="맑은 고딕"/>
                        </a:rPr>
                        <a:t>(HBM ≤ 340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시나리오 요구 20%. 계산: HBM 20% 감소 = 같은 HBM에 KV 1/0.8 = 1.25배 수용</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시나리오 요구 / 이론 계산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r>
              <a:tr h="301752">
                <a:tc>
                  <a:txBody>
                    <a:bodyPr wrap="square"/>
                    <a:lstStyle/>
                    <a:p>
                      <a:pPr algn="ctr"/>
                      <a:r>
                        <a:rPr sz="830" b="1">
                          <a:solidFill>
                            <a:srgbClr val="000000"/>
                          </a:solidFill>
                          <a:latin typeface="맑은 고딕"/>
                          <a:ea typeface="맑은 고딕"/>
                        </a:rPr>
                        <a:t>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감소율 &lt; 20%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시나리오 요구(20%) 미충족. 음수는 후보가 HBM을 더 쓴 경우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r>
            </a:tbl>
          </a:graphicData>
        </a:graphic>
      </p:graphicFrame>
      <p:sp>
        <p:nvSpPr>
          <p:cNvPr id="17" name="TextBox 16"/>
          <p:cNvSpPr txBox="1"/>
          <p:nvPr/>
        </p:nvSpPr>
        <p:spPr>
          <a:xfrm>
            <a:off x="4434840" y="4306824"/>
            <a:ext cx="740664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(HBM 감소율 %, B1 대비)</a:t>
            </a:r>
          </a:p>
        </p:txBody>
      </p:sp>
      <p:sp>
        <p:nvSpPr>
          <p:cNvPr id="18" name="Rectangle 17"/>
          <p:cNvSpPr/>
          <p:nvPr/>
        </p:nvSpPr>
        <p:spPr>
          <a:xfrm>
            <a:off x="4480559" y="4544568"/>
            <a:ext cx="1463040"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59" y="4544568"/>
            <a:ext cx="146304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20" name="Rectangle 19"/>
          <p:cNvSpPr/>
          <p:nvPr/>
        </p:nvSpPr>
        <p:spPr>
          <a:xfrm>
            <a:off x="5943600" y="4544568"/>
            <a:ext cx="731519"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0" y="4544568"/>
            <a:ext cx="73151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22" name="Rectangle 21"/>
          <p:cNvSpPr/>
          <p:nvPr/>
        </p:nvSpPr>
        <p:spPr>
          <a:xfrm>
            <a:off x="6675119" y="4544568"/>
            <a:ext cx="731520"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19" y="4544568"/>
            <a:ext cx="73152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24" name="Rectangle 23"/>
          <p:cNvSpPr/>
          <p:nvPr/>
        </p:nvSpPr>
        <p:spPr>
          <a:xfrm>
            <a:off x="7406640" y="4544568"/>
            <a:ext cx="731519"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0" y="4544568"/>
            <a:ext cx="73151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26" name="Rectangle 25"/>
          <p:cNvSpPr/>
          <p:nvPr/>
        </p:nvSpPr>
        <p:spPr>
          <a:xfrm>
            <a:off x="8138159" y="4544568"/>
            <a:ext cx="731520"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38159" y="4544568"/>
            <a:ext cx="73152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28" name="Rectangle 27"/>
          <p:cNvSpPr/>
          <p:nvPr/>
        </p:nvSpPr>
        <p:spPr>
          <a:xfrm>
            <a:off x="8869680" y="4544568"/>
            <a:ext cx="2926079"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0" y="4544568"/>
            <a:ext cx="292607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30" name="TextBox 29"/>
          <p:cNvSpPr txBox="1"/>
          <p:nvPr/>
        </p:nvSpPr>
        <p:spPr>
          <a:xfrm>
            <a:off x="416052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31" name="TextBox 30"/>
          <p:cNvSpPr txBox="1"/>
          <p:nvPr/>
        </p:nvSpPr>
        <p:spPr>
          <a:xfrm>
            <a:off x="562356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20%</a:t>
            </a:r>
          </a:p>
        </p:txBody>
      </p:sp>
      <p:sp>
        <p:nvSpPr>
          <p:cNvPr id="32" name="TextBox 31"/>
          <p:cNvSpPr txBox="1"/>
          <p:nvPr/>
        </p:nvSpPr>
        <p:spPr>
          <a:xfrm>
            <a:off x="708660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40%</a:t>
            </a:r>
          </a:p>
        </p:txBody>
      </p:sp>
      <p:sp>
        <p:nvSpPr>
          <p:cNvPr id="33" name="TextBox 32"/>
          <p:cNvSpPr txBox="1"/>
          <p:nvPr/>
        </p:nvSpPr>
        <p:spPr>
          <a:xfrm>
            <a:off x="854964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60%</a:t>
            </a:r>
          </a:p>
        </p:txBody>
      </p:sp>
      <p:sp>
        <p:nvSpPr>
          <p:cNvPr id="34" name="TextBox 33"/>
          <p:cNvSpPr txBox="1"/>
          <p:nvPr/>
        </p:nvSpPr>
        <p:spPr>
          <a:xfrm>
            <a:off x="10012680"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80%</a:t>
            </a:r>
          </a:p>
        </p:txBody>
      </p:sp>
      <p:sp>
        <p:nvSpPr>
          <p:cNvPr id="35" name="TextBox 34"/>
          <p:cNvSpPr txBox="1"/>
          <p:nvPr/>
        </p:nvSpPr>
        <p:spPr>
          <a:xfrm>
            <a:off x="11475719" y="48188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100%</a:t>
            </a:r>
          </a:p>
        </p:txBody>
      </p:sp>
      <p:cxnSp>
        <p:nvCxnSpPr>
          <p:cNvPr id="36" name="Connector 35"/>
          <p:cNvCxnSpPr/>
          <p:nvPr/>
        </p:nvCxnSpPr>
        <p:spPr>
          <a:xfrm>
            <a:off x="5943600" y="4956048"/>
            <a:ext cx="0" cy="1161288"/>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75119" y="4956048"/>
            <a:ext cx="0" cy="1161288"/>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406640" y="4956048"/>
            <a:ext cx="0" cy="1161288"/>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138159" y="4956048"/>
            <a:ext cx="0" cy="1161288"/>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869680" y="4956048"/>
            <a:ext cx="0" cy="1161288"/>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1" name="Diamond 40"/>
          <p:cNvSpPr/>
          <p:nvPr/>
        </p:nvSpPr>
        <p:spPr>
          <a:xfrm>
            <a:off x="5884164" y="5008625"/>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16752" y="4974336"/>
            <a:ext cx="1851660"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시나리오 요구 20% (≈ 동시 수용 +25%)</a:t>
            </a:r>
          </a:p>
        </p:txBody>
      </p:sp>
      <p:sp>
        <p:nvSpPr>
          <p:cNvPr id="43" name="Oval 42"/>
          <p:cNvSpPr/>
          <p:nvPr/>
        </p:nvSpPr>
        <p:spPr>
          <a:xfrm>
            <a:off x="7575804" y="5205222"/>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99248" y="5161788"/>
            <a:ext cx="2875788"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DirectKV (OSDI'26): 기존 offload 대비 GPU 메모리 43% 감소</a:t>
            </a:r>
          </a:p>
        </p:txBody>
      </p:sp>
      <p:sp>
        <p:nvSpPr>
          <p:cNvPr id="45" name="Rectangle 44"/>
          <p:cNvSpPr/>
          <p:nvPr/>
        </p:nvSpPr>
        <p:spPr>
          <a:xfrm>
            <a:off x="7406640" y="5406390"/>
            <a:ext cx="2926080" cy="7315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7406640" y="5378957"/>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332720" y="5378957"/>
            <a:ext cx="0" cy="128017"/>
          </a:xfrm>
          <a:prstGeom prst="line">
            <a:avLst/>
          </a:prstGeom>
          <a:ln w="12700">
            <a:solidFill>
              <a:srgbClr val="2F5597"/>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623560" y="5349240"/>
            <a:ext cx="1709927"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오프로딩 계열 보고 범위 40~80% [1]</a:t>
            </a:r>
          </a:p>
        </p:txBody>
      </p:sp>
      <p:sp>
        <p:nvSpPr>
          <p:cNvPr id="49" name="Isosceles Triangle 48"/>
          <p:cNvSpPr/>
          <p:nvPr/>
        </p:nvSpPr>
        <p:spPr>
          <a:xfrm>
            <a:off x="10824075" y="5575554"/>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58115" y="5536692"/>
            <a:ext cx="1952244"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이론 상한 ≈ 88% (decode 상주분만 남김)</a:t>
            </a:r>
          </a:p>
        </p:txBody>
      </p:sp>
      <p:sp>
        <p:nvSpPr>
          <p:cNvPr id="51" name="Oval 50"/>
          <p:cNvSpPr/>
          <p:nvPr/>
        </p:nvSpPr>
        <p:spPr>
          <a:xfrm>
            <a:off x="10501884" y="5767578"/>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45551" y="5724144"/>
            <a:ext cx="2633472" cy="187452"/>
          </a:xfrm>
          <a:prstGeom prst="rect">
            <a:avLst/>
          </a:prstGeom>
          <a:noFill/>
        </p:spPr>
        <p:txBody>
          <a:bodyPr wrap="none" lIns="0" tIns="0" rIns="0" bIns="0" anchor="ctr">
            <a:spAutoFit/>
          </a:bodyPr>
          <a:lstStyle/>
          <a:p>
            <a:pPr algn="r">
              <a:spcAft>
                <a:spcPts val="0"/>
              </a:spcAft>
            </a:pPr>
            <a:r>
              <a:rPr sz="720" b="0">
                <a:solidFill>
                  <a:srgbClr val="7F7F7F"/>
                </a:solidFill>
                <a:latin typeface="맑은 고딕"/>
                <a:ea typeface="맑은 고딕"/>
              </a:rPr>
              <a:t>ShadowKV: batch 6x ≈ 83%/seq (key 저랭크 압축 포함)</a:t>
            </a:r>
          </a:p>
        </p:txBody>
      </p:sp>
      <p:sp>
        <p:nvSpPr>
          <p:cNvPr id="53" name="Oval 52"/>
          <p:cNvSpPr/>
          <p:nvPr/>
        </p:nvSpPr>
        <p:spPr>
          <a:xfrm>
            <a:off x="11160252" y="5955030"/>
            <a:ext cx="100584" cy="100584"/>
          </a:xfrm>
          <a:prstGeom prst="ellipse">
            <a:avLst/>
          </a:prstGeom>
          <a:solidFill>
            <a:srgbClr val="FFFFFF"/>
          </a:solidFill>
          <a:ln w="1587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71915" y="5911596"/>
            <a:ext cx="2665476" cy="187452"/>
          </a:xfrm>
          <a:prstGeom prst="rect">
            <a:avLst/>
          </a:prstGeom>
          <a:noFill/>
        </p:spPr>
        <p:txBody>
          <a:bodyPr wrap="none" lIns="0" tIns="0" rIns="0" bIns="0" anchor="ctr">
            <a:spAutoFit/>
          </a:bodyPr>
          <a:lstStyle/>
          <a:p>
            <a:pPr algn="r">
              <a:spcAft>
                <a:spcPts val="0"/>
              </a:spcAft>
            </a:pPr>
            <a:r>
              <a:rPr sz="720" b="0">
                <a:solidFill>
                  <a:srgbClr val="7F7F7F"/>
                </a:solidFill>
                <a:latin typeface="맑은 고딕"/>
                <a:ea typeface="맑은 고딕"/>
              </a:rPr>
              <a:t>HeadInfer: 총 GPU 메모리 92% (1M ctx 단일 요청, 극단)</a:t>
            </a:r>
          </a:p>
        </p:txBody>
      </p:sp>
      <p:sp>
        <p:nvSpPr>
          <p:cNvPr id="55" name="Oval 54"/>
          <p:cNvSpPr/>
          <p:nvPr/>
        </p:nvSpPr>
        <p:spPr>
          <a:xfrm>
            <a:off x="4453127" y="6185916"/>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1999" y="6144768"/>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57" name="Diamond 56"/>
          <p:cNvSpPr/>
          <p:nvPr/>
        </p:nvSpPr>
        <p:spPr>
          <a:xfrm>
            <a:off x="5608828" y="6185916"/>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27700" y="6144768"/>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59" name="Isosceles Triangle 58"/>
          <p:cNvSpPr/>
          <p:nvPr/>
        </p:nvSpPr>
        <p:spPr>
          <a:xfrm>
            <a:off x="7097903" y="6185916"/>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16775" y="6144768"/>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61" name="Oval 60"/>
          <p:cNvSpPr/>
          <p:nvPr/>
        </p:nvSpPr>
        <p:spPr>
          <a:xfrm>
            <a:off x="7822438" y="6185916"/>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941310" y="6144768"/>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63" name="TextBox 62"/>
          <p:cNvSpPr txBox="1"/>
          <p:nvPr/>
        </p:nvSpPr>
        <p:spPr>
          <a:xfrm>
            <a:off x="365760" y="4572000"/>
            <a:ext cx="3931920" cy="173736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HBM 사용량과 전체 Data 대비 사용률</a:t>
            </a:r>
          </a:p>
          <a:p>
            <a:pPr algn="l">
              <a:lnSpc>
                <a:spcPct val="110000"/>
              </a:lnSpc>
              <a:spcAft>
                <a:spcPts val="0"/>
              </a:spcAft>
            </a:pPr>
            <a:r>
              <a:rPr sz="850" b="0">
                <a:solidFill>
                  <a:srgbClr val="000000"/>
                </a:solidFill>
                <a:latin typeface="맑은 고딕"/>
                <a:ea typeface="맑은 고딕"/>
              </a:rPr>
              <a:t>• HBM 사용량: HBM에 올라와 있는 KV의 시간 평균 크기</a:t>
            </a:r>
          </a:p>
          <a:p>
            <a:pPr algn="l">
              <a:lnSpc>
                <a:spcPct val="110000"/>
              </a:lnSpc>
              <a:spcAft>
                <a:spcPts val="0"/>
              </a:spcAft>
            </a:pPr>
            <a:r>
              <a:rPr sz="850" b="0">
                <a:solidFill>
                  <a:srgbClr val="404040"/>
                </a:solidFill>
                <a:latin typeface="맑은 고딕"/>
                <a:ea typeface="맑은 고딕"/>
              </a:rPr>
              <a:t>  예) 100초 중 40초 100 GiB, 60초 50 GiB → 70 GiB</a:t>
            </a:r>
          </a:p>
          <a:p>
            <a:pPr algn="l">
              <a:lnSpc>
                <a:spcPct val="110000"/>
              </a:lnSpc>
              <a:spcAft>
                <a:spcPts val="0"/>
              </a:spcAft>
            </a:pPr>
            <a:r>
              <a:rPr sz="850" b="0">
                <a:solidFill>
                  <a:srgbClr val="000000"/>
                </a:solidFill>
                <a:latin typeface="맑은 고딕"/>
                <a:ea typeface="맑은 고딕"/>
              </a:rPr>
              <a:t>• 요청이 늘면 HBM 크기 내 점유율은 포화되어 이동 효율을 가리지 못한다 → 전체 KV 대비 사용률을 병기</a:t>
            </a:r>
          </a:p>
          <a:p>
            <a:pPr algn="l">
              <a:lnSpc>
                <a:spcPct val="110000"/>
              </a:lnSpc>
              <a:spcAft>
                <a:spcPts val="0"/>
              </a:spcAft>
            </a:pPr>
            <a:r>
              <a:rPr sz="850" b="0">
                <a:solidFill>
                  <a:srgbClr val="404040"/>
                </a:solidFill>
                <a:latin typeface="맑은 고딕"/>
                <a:ea typeface="맑은 고딕"/>
              </a:rPr>
              <a:t>  예) HBM 점유 40→64 GiB, KV 120 GiB: 크기 내 50→80%, 전체 대비 66→53%</a:t>
            </a:r>
          </a:p>
          <a:p>
            <a:pPr algn="l">
              <a:lnSpc>
                <a:spcPct val="110000"/>
              </a:lnSpc>
              <a:spcAft>
                <a:spcPts val="0"/>
              </a:spcAft>
            </a:pPr>
            <a:r>
              <a:rPr sz="850" b="0">
                <a:solidFill>
                  <a:srgbClr val="000000"/>
                </a:solidFill>
                <a:latin typeface="맑은 고딕"/>
                <a:ea typeface="맑은 고딕"/>
              </a:rPr>
              <a:t>• 압축이 아니므로 정확도(출력)는 변하지 않는다.</a:t>
            </a:r>
          </a:p>
        </p:txBody>
      </p:sp>
    </p:spTree>
    <p:extLst>
      <p:ext uri="{BB962C8B-B14F-4D97-AF65-F5344CB8AC3E}">
        <p14:creationId xmlns:p14="http://schemas.microsoft.com/office/powerpoint/2010/main" val="3332357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고부하 지연시간(Tail Latency)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B1 대비 TTFT·TPOT P99 개선 r (고부하 = B1 Max SLO goodput의 90% 부하, SLO 충족 전제)</a:t>
            </a:r>
            <a:endParaRPr lang="en-US"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DirectKV OSDI'26 · KVFlow (arXiv 2507.07400) · LMCache (arXiv 2510.09665, 검색 요약 기준). 'up to' 보고값. 절대값은 분석 모델(시뮬레이션 아님)</a:t>
            </a:r>
          </a:p>
        </p:txBody>
      </p:sp>
      <p:pic>
        <p:nvPicPr>
          <p:cNvPr id="14" name="그림 13"/>
          <p:cNvPicPr>
            <a:picLocks noChangeAspect="1"/>
          </p:cNvPicPr>
          <p:nvPr/>
        </p:nvPicPr>
        <p:blipFill rotWithShape="1">
          <a:blip r:embed="rId2"/>
          <a:srcRect l="3011" r="635" b="11226"/>
          <a:stretch/>
        </p:blipFill>
        <p:spPr>
          <a:xfrm>
            <a:off x="411480" y="4617720"/>
            <a:ext cx="3728265" cy="1691640"/>
          </a:xfrm>
          <a:prstGeom prst="rect">
            <a:avLst/>
          </a:prstGeom>
        </p:spPr>
      </p:pic>
      <p:sp>
        <p:nvSpPr>
          <p:cNvPr id="15" name="실행 단추: 뒤로 또는 이전 14">
            <a:hlinkClick r:id="rId3"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metric"/>
          <p:cNvSpPr txBox="1"/>
          <p:nvPr/>
        </p:nvSpPr>
        <p:spPr>
          <a:xfrm>
            <a:off x="365760" y="1069848"/>
            <a:ext cx="11430000" cy="868680"/>
          </a:xfrm>
          <a:prstGeom prst="rect">
            <a:avLst/>
          </a:prstGeom>
          <a:noFill/>
        </p:spPr>
        <p:txBody>
          <a:bodyPr wrap="square" lIns="73152" tIns="36576" rIns="73152" bIns="36576" anchor="t">
            <a:spAutoFit/>
          </a:bodyPr>
          <a:lstStyle/>
          <a:p>
            <a:pPr algn="l">
              <a:lnSpc>
                <a:spcPct val="112000"/>
              </a:lnSpc>
              <a:spcAft>
                <a:spcPts val="0"/>
              </a:spcAft>
            </a:pPr>
            <a:r>
              <a:rPr sz="1050" b="1">
                <a:solidFill>
                  <a:srgbClr val="2F5597"/>
                </a:solidFill>
                <a:latin typeface="맑은 고딕"/>
                <a:ea typeface="맑은 고딕"/>
              </a:rPr>
              <a:t>[Metric] r = √[ (B1 TTFT P99 ÷ 후보 TTFT P99) × (B1 TPOT P99 ÷ 후보 TPOT P99) ],  감소율 = 1 − 1/r</a:t>
            </a:r>
          </a:p>
          <a:p>
            <a:pPr algn="l">
              <a:lnSpc>
                <a:spcPct val="112000"/>
              </a:lnSpc>
              <a:spcAft>
                <a:spcPts val="0"/>
              </a:spcAft>
            </a:pPr>
            <a:r>
              <a:rPr sz="950" b="0">
                <a:solidFill>
                  <a:srgbClr val="000000"/>
                </a:solidFill>
                <a:latin typeface="맑은 고딕"/>
                <a:ea typeface="맑은 고딕"/>
              </a:rPr>
              <a:t>- Baseline 절대값(이론): B1 TTFT P99 1.91 s · TPOT P99 24.6 ms (B0는 같은 부하에서 과부하: TTFT 7.8 s). TPOT이 같으면 TTFT가 ★1 ≤ 1.33 · ★2 ≤ 0.85 · ★3 ≤ 0.59 s</a:t>
            </a:r>
          </a:p>
          <a:p>
            <a:pPr algn="l">
              <a:lnSpc>
                <a:spcPct val="112000"/>
              </a:lnSpc>
              <a:spcAft>
                <a:spcPts val="0"/>
              </a:spcAft>
            </a:pPr>
            <a:r>
              <a:rPr sz="950" b="0">
                <a:solidFill>
                  <a:srgbClr val="000000"/>
                </a:solidFill>
                <a:latin typeface="맑은 고딕"/>
                <a:ea typeface="맑은 고딕"/>
              </a:rPr>
              <a:t>- 고부하: 부하를 B1 Max SLO goodput의 90%에 고정(후보 기준이 아님) · SLO(TTFT ≤ 2 s, TPOT ≤ 50 ms) 충족 필수. 구간 규칙: Q1과 같은 앵커 r 1.2 / 1.5 / 1.8</a:t>
            </a:r>
          </a:p>
        </p:txBody>
      </p:sp>
      <p:graphicFrame>
        <p:nvGraphicFramePr>
          <p:cNvPr id="17" name="tbl"/>
          <p:cNvGraphicFramePr>
            <a:graphicFrameLocks noGrp="1"/>
          </p:cNvGraphicFramePr>
          <p:nvPr/>
        </p:nvGraphicFramePr>
        <p:xfrm>
          <a:off x="365760" y="1920240"/>
          <a:ext cx="11457432" cy="2029968"/>
        </p:xfrm>
        <a:graphic>
          <a:graphicData uri="http://schemas.openxmlformats.org/drawingml/2006/table">
            <a:tbl>
              <a:tblPr firstRow="0" bandRow="0">
                <a:tableStyleId>{2D5ABB26-0587-4C30-8999-92F81FD0307C}</a:tableStyleId>
              </a:tblPr>
              <a:tblGrid>
                <a:gridCol w="685800"/>
                <a:gridCol w="1600200"/>
                <a:gridCol w="6949440"/>
                <a:gridCol w="2221992"/>
              </a:tblGrid>
              <a:tr h="219456">
                <a:tc>
                  <a:txBody>
                    <a:bodyPr wrap="square"/>
                    <a:lstStyle/>
                    <a:p>
                      <a:pPr algn="ctr"/>
                      <a:r>
                        <a:rPr sz="900" b="1">
                          <a:solidFill>
                            <a:srgbClr val="FFFFFF"/>
                          </a:solidFill>
                          <a:latin typeface="맑은 고딕"/>
                          <a:ea typeface="맑은 고딕"/>
                        </a:rPr>
                        <a:t>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기준 (정량)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출처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301752">
                <a:tc>
                  <a:txBody>
                    <a:bodyPr wrap="square"/>
                    <a:lstStyle/>
                    <a:p>
                      <a:pPr algn="ctr"/>
                      <a:r>
                        <a:rPr sz="830" b="1">
                          <a:solidFill>
                            <a:srgbClr val="000000"/>
                          </a:solidFill>
                          <a:latin typeface="맑은 고딕"/>
                          <a:ea typeface="맑은 고딕"/>
                        </a:rPr>
                        <a:t>★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r ≥ 1.8 (감소율 44%)</a:t>
                      </a:r>
                    </a:p>
                    <a:p>
                      <a:pPr algn="l"/>
                      <a:r>
                        <a:rPr sz="750" b="0">
                          <a:solidFill>
                            <a:srgbClr val="595959"/>
                          </a:solidFill>
                          <a:latin typeface="맑은 고딕"/>
                          <a:ea typeface="맑은 고딕"/>
                        </a:rPr>
                        <a:t>(TPOT 동일 시 TTFT ≤ 0.59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KVFlow: 계층 캐시 baseline 대비 최대 1.83x(단일)·2.19x(동시 다수) workflow 가속의 하단. r 1.8 = 감소율 44%</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KVFlow</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r>
              <a:tr h="301752">
                <a:tc>
                  <a:txBody>
                    <a:bodyPr wrap="square"/>
                    <a:lstStyle/>
                    <a:p>
                      <a:pPr algn="ctr"/>
                      <a:r>
                        <a:rPr sz="830" b="1">
                          <a:solidFill>
                            <a:srgbClr val="000000"/>
                          </a:solidFill>
                          <a:latin typeface="맑은 고딕"/>
                          <a:ea typeface="맑은 고딕"/>
                        </a:rPr>
                        <a:t>★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1.65 ≤ r &lt; 1.8 (감소율 39%)</a:t>
                      </a:r>
                    </a:p>
                    <a:p>
                      <a:pPr algn="l"/>
                      <a:r>
                        <a:rPr sz="750" b="0">
                          <a:solidFill>
                            <a:srgbClr val="595959"/>
                          </a:solidFill>
                          <a:latin typeface="맑은 고딕"/>
                          <a:ea typeface="맑은 고딕"/>
                        </a:rPr>
                        <a:t>(TPOT 동일 시 TTFT ≤ 0.70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★2와 ★3의 중점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r>
              <a:tr h="301752">
                <a:tc>
                  <a:txBody>
                    <a:bodyPr wrap="square"/>
                    <a:lstStyle/>
                    <a:p>
                      <a:pPr algn="ctr"/>
                      <a:r>
                        <a:rPr sz="830" b="1">
                          <a:solidFill>
                            <a:srgbClr val="000000"/>
                          </a:solidFill>
                          <a:latin typeface="맑은 고딕"/>
                          <a:ea typeface="맑은 고딕"/>
                        </a:rPr>
                        <a:t>★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1.5 ≤ r &lt; 1.65 (감소율 33%)</a:t>
                      </a:r>
                    </a:p>
                    <a:p>
                      <a:pPr algn="l"/>
                      <a:r>
                        <a:rPr sz="750" b="0">
                          <a:solidFill>
                            <a:srgbClr val="595959"/>
                          </a:solidFill>
                          <a:latin typeface="맑은 고딕"/>
                          <a:ea typeface="맑은 고딕"/>
                        </a:rPr>
                        <a:t>(TPOT 동일 시 TTFT ≤ 0.85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★1과 ★3의 중점(r 1.5). 문헌 보고 1.2~1.83x의 중간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r>
              <a:tr h="301752">
                <a:tc>
                  <a:txBody>
                    <a:bodyPr wrap="square"/>
                    <a:lstStyle/>
                    <a:p>
                      <a:pPr algn="ctr"/>
                      <a:r>
                        <a:rPr sz="830" b="1">
                          <a:solidFill>
                            <a:srgbClr val="000000"/>
                          </a:solidFill>
                          <a:latin typeface="맑은 고딕"/>
                          <a:ea typeface="맑은 고딕"/>
                        </a:rPr>
                        <a:t>★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1.35 ≤ r &lt; 1.5 (감소율 26%)</a:t>
                      </a:r>
                    </a:p>
                    <a:p>
                      <a:pPr algn="l"/>
                      <a:r>
                        <a:rPr sz="750" b="0">
                          <a:solidFill>
                            <a:srgbClr val="595959"/>
                          </a:solidFill>
                          <a:latin typeface="맑은 고딕"/>
                          <a:ea typeface="맑은 고딕"/>
                        </a:rPr>
                        <a:t>(TPOT 동일 시 TTFT ≤ 1.05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★1과 ★2의 중점. 기존 Stakeholder '체감 30% 감소'(r 1.43, B0 대비 요구)는 B1 기준에서 이 구간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Stakeholder 요구사항</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r>
              <a:tr h="301752">
                <a:tc>
                  <a:txBody>
                    <a:bodyPr wrap="square"/>
                    <a:lstStyle/>
                    <a:p>
                      <a:pPr algn="ctr"/>
                      <a:r>
                        <a:rPr sz="830" b="1">
                          <a:solidFill>
                            <a:srgbClr val="000000"/>
                          </a:solidFill>
                          <a:latin typeface="맑은 고딕"/>
                          <a:ea typeface="맑은 고딕"/>
                        </a:rPr>
                        <a:t>★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1.2 ≤ r &lt; 1.35 (감소율 17%)</a:t>
                      </a:r>
                    </a:p>
                    <a:p>
                      <a:pPr algn="l"/>
                      <a:r>
                        <a:rPr sz="750" b="0">
                          <a:solidFill>
                            <a:srgbClr val="595959"/>
                          </a:solidFill>
                          <a:latin typeface="맑은 고딕"/>
                          <a:ea typeface="맑은 고딕"/>
                        </a:rPr>
                        <a:t>(TPOT 동일 시 TTFT ≤ 1.33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DirectKV: 기존 offload 대비 e2e 최대 1.2x(지연 17% 감소) = offload 위의 최소 개선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DirectKV</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r>
              <a:tr h="301752">
                <a:tc>
                  <a:txBody>
                    <a:bodyPr wrap="square"/>
                    <a:lstStyle/>
                    <a:p>
                      <a:pPr algn="ctr"/>
                      <a:r>
                        <a:rPr sz="830" b="1">
                          <a:solidFill>
                            <a:srgbClr val="000000"/>
                          </a:solidFill>
                          <a:latin typeface="맑은 고딕"/>
                          <a:ea typeface="맑은 고딕"/>
                        </a:rPr>
                        <a:t>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r &lt; 1.2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r &lt; 1.2 또는 SLO 위반. 음수는 B1보다 나빠진 경우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r>
            </a:tbl>
          </a:graphicData>
        </a:graphic>
      </p:graphicFrame>
      <p:sp>
        <p:nvSpPr>
          <p:cNvPr id="18" name="TextBox 17"/>
          <p:cNvSpPr txBox="1"/>
          <p:nvPr/>
        </p:nvSpPr>
        <p:spPr>
          <a:xfrm>
            <a:off x="4434840" y="4078224"/>
            <a:ext cx="740664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(P99 개선 r, B1 대비)</a:t>
            </a:r>
          </a:p>
        </p:txBody>
      </p:sp>
      <p:sp>
        <p:nvSpPr>
          <p:cNvPr id="19" name="Rectangle 18"/>
          <p:cNvSpPr/>
          <p:nvPr/>
        </p:nvSpPr>
        <p:spPr>
          <a:xfrm>
            <a:off x="4480559" y="4315968"/>
            <a:ext cx="731519"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59" y="4315968"/>
            <a:ext cx="73151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21" name="Rectangle 20"/>
          <p:cNvSpPr/>
          <p:nvPr/>
        </p:nvSpPr>
        <p:spPr>
          <a:xfrm>
            <a:off x="5212079" y="4315968"/>
            <a:ext cx="548640"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79" y="4315968"/>
            <a:ext cx="54864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23" name="Rectangle 22"/>
          <p:cNvSpPr/>
          <p:nvPr/>
        </p:nvSpPr>
        <p:spPr>
          <a:xfrm>
            <a:off x="5760720" y="4315968"/>
            <a:ext cx="548639"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0" y="4315968"/>
            <a:ext cx="548639"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★1.5</a:t>
            </a:r>
          </a:p>
        </p:txBody>
      </p:sp>
      <p:sp>
        <p:nvSpPr>
          <p:cNvPr id="25" name="Rectangle 24"/>
          <p:cNvSpPr/>
          <p:nvPr/>
        </p:nvSpPr>
        <p:spPr>
          <a:xfrm>
            <a:off x="6309359" y="4315968"/>
            <a:ext cx="548639"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59" y="4315968"/>
            <a:ext cx="548639"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★2</a:t>
            </a:r>
          </a:p>
        </p:txBody>
      </p:sp>
      <p:sp>
        <p:nvSpPr>
          <p:cNvPr id="27" name="Rectangle 26"/>
          <p:cNvSpPr/>
          <p:nvPr/>
        </p:nvSpPr>
        <p:spPr>
          <a:xfrm>
            <a:off x="6857999" y="4315968"/>
            <a:ext cx="548640"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9" y="4315968"/>
            <a:ext cx="54864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29" name="Rectangle 28"/>
          <p:cNvSpPr/>
          <p:nvPr/>
        </p:nvSpPr>
        <p:spPr>
          <a:xfrm>
            <a:off x="7406640" y="4315968"/>
            <a:ext cx="4389119"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0" y="4315968"/>
            <a:ext cx="4389119"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31" name="TextBox 30"/>
          <p:cNvSpPr txBox="1"/>
          <p:nvPr/>
        </p:nvSpPr>
        <p:spPr>
          <a:xfrm>
            <a:off x="4160520" y="45902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1x</a:t>
            </a:r>
          </a:p>
        </p:txBody>
      </p:sp>
      <p:sp>
        <p:nvSpPr>
          <p:cNvPr id="32" name="TextBox 31"/>
          <p:cNvSpPr txBox="1"/>
          <p:nvPr/>
        </p:nvSpPr>
        <p:spPr>
          <a:xfrm>
            <a:off x="5989320" y="45902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1.5x</a:t>
            </a:r>
          </a:p>
        </p:txBody>
      </p:sp>
      <p:sp>
        <p:nvSpPr>
          <p:cNvPr id="33" name="TextBox 32"/>
          <p:cNvSpPr txBox="1"/>
          <p:nvPr/>
        </p:nvSpPr>
        <p:spPr>
          <a:xfrm>
            <a:off x="7818119" y="45902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2x</a:t>
            </a:r>
          </a:p>
        </p:txBody>
      </p:sp>
      <p:sp>
        <p:nvSpPr>
          <p:cNvPr id="34" name="TextBox 33"/>
          <p:cNvSpPr txBox="1"/>
          <p:nvPr/>
        </p:nvSpPr>
        <p:spPr>
          <a:xfrm>
            <a:off x="9646919" y="45902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2.5x</a:t>
            </a:r>
          </a:p>
        </p:txBody>
      </p:sp>
      <p:sp>
        <p:nvSpPr>
          <p:cNvPr id="35" name="TextBox 34"/>
          <p:cNvSpPr txBox="1"/>
          <p:nvPr/>
        </p:nvSpPr>
        <p:spPr>
          <a:xfrm>
            <a:off x="11475719" y="4590288"/>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3x</a:t>
            </a:r>
          </a:p>
        </p:txBody>
      </p:sp>
      <p:cxnSp>
        <p:nvCxnSpPr>
          <p:cNvPr id="36" name="Connector 35"/>
          <p:cNvCxnSpPr/>
          <p:nvPr/>
        </p:nvCxnSpPr>
        <p:spPr>
          <a:xfrm>
            <a:off x="5212079" y="4727448"/>
            <a:ext cx="0" cy="973835"/>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60720" y="4727448"/>
            <a:ext cx="0" cy="973835"/>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309359" y="4727448"/>
            <a:ext cx="0" cy="973835"/>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857999" y="4727448"/>
            <a:ext cx="0" cy="973835"/>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406640" y="4727448"/>
            <a:ext cx="0" cy="973835"/>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1" name="Diamond 40"/>
          <p:cNvSpPr/>
          <p:nvPr/>
        </p:nvSpPr>
        <p:spPr>
          <a:xfrm>
            <a:off x="5993891" y="4780025"/>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26479" y="4745736"/>
            <a:ext cx="2432304"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기존 Stakeholder: 30% 감소(r 1.43, B0 대비 요구)</a:t>
            </a:r>
          </a:p>
        </p:txBody>
      </p:sp>
      <p:sp>
        <p:nvSpPr>
          <p:cNvPr id="43" name="Oval 42"/>
          <p:cNvSpPr/>
          <p:nvPr/>
        </p:nvSpPr>
        <p:spPr>
          <a:xfrm>
            <a:off x="5161788" y="4976622"/>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85231" y="4933188"/>
            <a:ext cx="2098548"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DirectKV: 기존 offload 대비 e2e 최대 1.2x</a:t>
            </a:r>
          </a:p>
        </p:txBody>
      </p:sp>
      <p:sp>
        <p:nvSpPr>
          <p:cNvPr id="45" name="Oval 44"/>
          <p:cNvSpPr/>
          <p:nvPr/>
        </p:nvSpPr>
        <p:spPr>
          <a:xfrm>
            <a:off x="7466075" y="5164074"/>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89519" y="5120640"/>
            <a:ext cx="1613916"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KVFlow: HiCache 대비 최대 1.83x</a:t>
            </a:r>
          </a:p>
        </p:txBody>
      </p:sp>
      <p:sp>
        <p:nvSpPr>
          <p:cNvPr id="47" name="Oval 46"/>
          <p:cNvSpPr/>
          <p:nvPr/>
        </p:nvSpPr>
        <p:spPr>
          <a:xfrm>
            <a:off x="8782812" y="5351526"/>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06256" y="5308092"/>
            <a:ext cx="1897379"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KVFlow: 동시 다수 workflow 최대 2.19x</a:t>
            </a:r>
          </a:p>
        </p:txBody>
      </p:sp>
      <p:sp>
        <p:nvSpPr>
          <p:cNvPr id="49" name="Rectangle 48"/>
          <p:cNvSpPr/>
          <p:nvPr/>
        </p:nvSpPr>
        <p:spPr>
          <a:xfrm>
            <a:off x="6382512" y="5552694"/>
            <a:ext cx="3145535" cy="73152"/>
          </a:xfrm>
          <a:prstGeom prst="rect">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6382512" y="5525262"/>
            <a:ext cx="0" cy="128016"/>
          </a:xfrm>
          <a:prstGeom prst="line">
            <a:avLst/>
          </a:prstGeom>
          <a:ln w="1270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528047" y="5525262"/>
            <a:ext cx="0" cy="128016"/>
          </a:xfrm>
          <a:prstGeom prst="line">
            <a:avLst/>
          </a:prstGeom>
          <a:ln w="12700">
            <a:solidFill>
              <a:srgbClr val="A6A6A6"/>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601199" y="5495544"/>
            <a:ext cx="2209546" cy="187452"/>
          </a:xfrm>
          <a:prstGeom prst="rect">
            <a:avLst/>
          </a:prstGeom>
          <a:noFill/>
        </p:spPr>
        <p:txBody>
          <a:bodyPr wrap="none" lIns="0" tIns="0" rIns="0" bIns="0" anchor="ctr">
            <a:spAutoFit/>
          </a:bodyPr>
          <a:lstStyle/>
          <a:p>
            <a:pPr algn="l">
              <a:spcAft>
                <a:spcPts val="0"/>
              </a:spcAft>
            </a:pPr>
            <a:r>
              <a:rPr sz="619" b="0">
                <a:solidFill>
                  <a:srgbClr val="7F7F7F"/>
                </a:solidFill>
                <a:latin typeface="맑은 고딕"/>
                <a:ea typeface="맑은 고딕"/>
              </a:rPr>
              <a:t>LMCache ITL 34~58% 감소 (vLLM·GPU-only 대비, 참고)</a:t>
            </a:r>
          </a:p>
        </p:txBody>
      </p:sp>
      <p:sp>
        <p:nvSpPr>
          <p:cNvPr id="53" name="Oval 52"/>
          <p:cNvSpPr/>
          <p:nvPr/>
        </p:nvSpPr>
        <p:spPr>
          <a:xfrm>
            <a:off x="4453127" y="5769864"/>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1999" y="5728716"/>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55" name="Diamond 54"/>
          <p:cNvSpPr/>
          <p:nvPr/>
        </p:nvSpPr>
        <p:spPr>
          <a:xfrm>
            <a:off x="5608828" y="5769864"/>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27700" y="5728716"/>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57" name="Isosceles Triangle 56"/>
          <p:cNvSpPr/>
          <p:nvPr/>
        </p:nvSpPr>
        <p:spPr>
          <a:xfrm>
            <a:off x="7097903" y="5769864"/>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16775" y="5728716"/>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59" name="Oval 58"/>
          <p:cNvSpPr/>
          <p:nvPr/>
        </p:nvSpPr>
        <p:spPr>
          <a:xfrm>
            <a:off x="7822438" y="5769864"/>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41310" y="5728716"/>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
        <p:nvSpPr>
          <p:cNvPr id="61" name="TextBox 60"/>
          <p:cNvSpPr txBox="1"/>
          <p:nvPr/>
        </p:nvSpPr>
        <p:spPr>
          <a:xfrm>
            <a:off x="365760" y="4069080"/>
            <a:ext cx="3931920" cy="502920"/>
          </a:xfrm>
          <a:prstGeom prst="rect">
            <a:avLst/>
          </a:prstGeom>
          <a:noFill/>
        </p:spPr>
        <p:txBody>
          <a:bodyPr wrap="square" lIns="73152" tIns="36576" rIns="73152" bIns="36576" anchor="t">
            <a:spAutoFit/>
          </a:bodyPr>
          <a:lstStyle/>
          <a:p>
            <a:pPr algn="l">
              <a:lnSpc>
                <a:spcPct val="105000"/>
              </a:lnSpc>
              <a:spcAft>
                <a:spcPts val="0"/>
              </a:spcAft>
            </a:pPr>
            <a:r>
              <a:rPr sz="950" b="1">
                <a:solidFill>
                  <a:srgbClr val="2F5597"/>
                </a:solidFill>
                <a:latin typeface="맑은 고딕"/>
                <a:ea typeface="맑은 고딕"/>
              </a:rPr>
              <a:t>P99의 의미</a:t>
            </a:r>
          </a:p>
          <a:p>
            <a:pPr algn="l">
              <a:lnSpc>
                <a:spcPct val="105000"/>
              </a:lnSpc>
              <a:spcAft>
                <a:spcPts val="0"/>
              </a:spcAft>
            </a:pPr>
            <a:r>
              <a:rPr sz="850" b="0">
                <a:solidFill>
                  <a:srgbClr val="000000"/>
                </a:solidFill>
                <a:latin typeface="맑은 고딕"/>
                <a:ea typeface="맑은 고딕"/>
              </a:rPr>
              <a:t>상위 1%의 극단적 지연을 포착해 고부하 서비스 끊김을 검증</a:t>
            </a:r>
          </a:p>
        </p:txBody>
      </p:sp>
    </p:spTree>
    <p:extLst>
      <p:ext uri="{BB962C8B-B14F-4D97-AF65-F5344CB8AC3E}">
        <p14:creationId xmlns:p14="http://schemas.microsoft.com/office/powerpoint/2010/main" val="19415386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SLO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TTFT·TPOT의 측정 정의, 절대 기준, 근거 계산과 적용 규칙 (모든 DP·후보·Baseline에 동일 적용)</a:t>
            </a:r>
            <a:endParaRPr lang="en-US"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공통 SLO 기준 · MLPerf Inference(2차) · Brysbaert 2019. 계산: 가중치 141 GB, H100×8 3.35 TB/s·989 TFLOPS, B200×8 8 TB/s, MFU 0.45. 하한은 attention 2차 항·통신·커널 제외</a:t>
            </a:r>
          </a:p>
        </p:txBody>
      </p:sp>
      <p:sp>
        <p:nvSpPr>
          <p:cNvPr id="15" name="실행 단추: 뒤로 또는 이전 14">
            <a:hlinkClick r:id="rId2"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16" name="tbl"/>
          <p:cNvGraphicFramePr>
            <a:graphicFrameLocks noGrp="1"/>
          </p:cNvGraphicFramePr>
          <p:nvPr/>
        </p:nvGraphicFramePr>
        <p:xfrm>
          <a:off x="365760" y="1143000"/>
          <a:ext cx="11457432" cy="1737360"/>
        </p:xfrm>
        <a:graphic>
          <a:graphicData uri="http://schemas.openxmlformats.org/drawingml/2006/table">
            <a:tbl>
              <a:tblPr firstRow="0" bandRow="0">
                <a:tableStyleId>{2D5ABB26-0587-4C30-8999-92F81FD0307C}</a:tableStyleId>
              </a:tblPr>
              <a:tblGrid>
                <a:gridCol w="1371600"/>
                <a:gridCol w="3017520"/>
                <a:gridCol w="1371600"/>
                <a:gridCol w="5696712"/>
              </a:tblGrid>
              <a:tr h="237744">
                <a:tc>
                  <a:txBody>
                    <a:bodyPr wrap="square"/>
                    <a:lstStyle/>
                    <a:p>
                      <a:pPr algn="ctr"/>
                      <a:r>
                        <a:rPr sz="900" b="1">
                          <a:solidFill>
                            <a:srgbClr val="FFFFFF"/>
                          </a:solidFill>
                          <a:latin typeface="맑은 고딕"/>
                          <a:ea typeface="맑은 고딕"/>
                        </a:rPr>
                        <a:t>Metric</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측정 정의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절대 SLO</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 (계산)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749808">
                <a:tc>
                  <a:txBody>
                    <a:bodyPr wrap="square"/>
                    <a:lstStyle/>
                    <a:p>
                      <a:pPr algn="l"/>
                      <a:r>
                        <a:rPr sz="830" b="0">
                          <a:solidFill>
                            <a:srgbClr val="000000"/>
                          </a:solidFill>
                          <a:latin typeface="맑은 고딕"/>
                          <a:ea typeface="맑은 고딕"/>
                        </a:rPr>
                        <a:t>TTFT
(첫 토큰까지의 시간)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30" b="0">
                          <a:solidFill>
                            <a:srgbClr val="000000"/>
                          </a:solidFill>
                          <a:latin typeface="맑은 고딕"/>
                          <a:ea typeface="맑은 고딕"/>
                        </a:rPr>
                        <a:t>요청 도착 → 첫 출력 토큰 수신. 큐잉 + prefill + (필요 시) KV 복원 시간 포함. 요청별 값의 P99로 판정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30" b="1">
                          <a:solidFill>
                            <a:srgbClr val="000000"/>
                          </a:solidFill>
                          <a:latin typeface="맑은 고딕"/>
                          <a:ea typeface="맑은 고딕"/>
                        </a:rPr>
                        <a:t>TTFT P99 ≤ 2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30" b="0">
                          <a:solidFill>
                            <a:srgbClr val="000000"/>
                          </a:solidFill>
                          <a:latin typeface="맑은 고딕"/>
                          <a:ea typeface="맑은 고딕"/>
                        </a:rPr>
                        <a:t>8K prefill 이론 0.32 s = (2 × 70.6B × 8,192 = 1.16 PFLOP) ÷ (H100×8 989 TFLOPS×8 × MFU 0.45 = 3.56 PFLOP/s). 2 s는 이의 약 6배(큐잉 여유).</a:t>
                      </a:r>
                    </a:p>
                    <a:p>
                      <a:pPr algn="l"/>
                      <a:r>
                        <a:rPr sz="830" b="0">
                          <a:solidFill>
                            <a:srgbClr val="000000"/>
                          </a:solidFill>
                          <a:latin typeface="맑은 고딕"/>
                          <a:ea typeface="맑은 고딕"/>
                        </a:rPr>
                        <a:t>Agent KV Fleet의 16K 컨텍스트 재prefill은 0.65 s라 약 3배 여유. MLPerf Llama-2-70B 표준 시나리오와 같은 자릿수(2차 자료)</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749808">
                <a:tc>
                  <a:txBody>
                    <a:bodyPr wrap="square"/>
                    <a:lstStyle/>
                    <a:p>
                      <a:pPr algn="l"/>
                      <a:r>
                        <a:rPr sz="830" b="0">
                          <a:solidFill>
                            <a:srgbClr val="000000"/>
                          </a:solidFill>
                          <a:latin typeface="맑은 고딕"/>
                          <a:ea typeface="맑은 고딕"/>
                        </a:rPr>
                        <a:t>TPOT
(출력 토큰당 시간)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30" b="0">
                          <a:solidFill>
                            <a:srgbClr val="000000"/>
                          </a:solidFill>
                          <a:latin typeface="맑은 고딕"/>
                          <a:ea typeface="맑은 고딕"/>
                        </a:rPr>
                        <a:t>(요청 E2E − TTFT) ÷ (출력 토큰 수 − 1). 토큰 간 지연의 요청별 평균에 대한 P99로 판정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30" b="1">
                          <a:solidFill>
                            <a:srgbClr val="000000"/>
                          </a:solidFill>
                          <a:latin typeface="맑은 고딕"/>
                          <a:ea typeface="맑은 고딕"/>
                        </a:rPr>
                        <a:t>TPOT P99 ≤ 50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30" b="0">
                          <a:solidFill>
                            <a:srgbClr val="000000"/>
                          </a:solidFill>
                          <a:latin typeface="맑은 고딕"/>
                          <a:ea typeface="맑은 고딕"/>
                        </a:rPr>
                        <a:t>50 ms = 20 tok/s = 성인 묵독(5~6 tok/s)의 약 3.5배. MLPerf interactive 40 ms와 표준 200 ms 사이(2차 자료).</a:t>
                      </a:r>
                    </a:p>
                    <a:p>
                      <a:pPr algn="l"/>
                      <a:r>
                        <a:rPr sz="830" b="0">
                          <a:solidFill>
                            <a:srgbClr val="000000"/>
                          </a:solidFill>
                          <a:latin typeface="맑은 고딕"/>
                          <a:ea typeface="맑은 고딕"/>
                        </a:rPr>
                        <a:t>이론 하한: 가중치 141 GB를 step마다 읽으면 H100×8 5.3 ms, B200×8 2.2 ms. 16K KV(5 GiB/세션) batch 64를 더하면 H100 약 18 ms. 50 ms는 이의 약 2.8배 여유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17" name="TextBox 16"/>
          <p:cNvSpPr txBox="1"/>
          <p:nvPr/>
        </p:nvSpPr>
        <p:spPr>
          <a:xfrm>
            <a:off x="365760" y="3017520"/>
            <a:ext cx="11430000" cy="219456"/>
          </a:xfrm>
          <a:prstGeom prst="rect">
            <a:avLst/>
          </a:prstGeom>
          <a:noFill/>
        </p:spPr>
        <p:txBody>
          <a:bodyPr wrap="square" lIns="18288" tIns="0" rIns="0" bIns="0" anchor="t">
            <a:spAutoFit/>
          </a:bodyPr>
          <a:lstStyle/>
          <a:p>
            <a:pPr algn="l">
              <a:spcAft>
                <a:spcPts val="0"/>
              </a:spcAft>
            </a:pPr>
            <a:r>
              <a:rPr sz="1000" b="1">
                <a:solidFill>
                  <a:srgbClr val="2F5597"/>
                </a:solidFill>
                <a:latin typeface="맑은 고딕"/>
                <a:ea typeface="맑은 고딕"/>
              </a:rPr>
              <a:t>SLO 대비 이론 예산 (대역폭·연산 한계 기준 하한이며 실측이 아니다)</a:t>
            </a:r>
          </a:p>
        </p:txBody>
      </p:sp>
      <p:sp>
        <p:nvSpPr>
          <p:cNvPr id="18" name="TextBox 17"/>
          <p:cNvSpPr txBox="1"/>
          <p:nvPr/>
        </p:nvSpPr>
        <p:spPr>
          <a:xfrm>
            <a:off x="365760" y="3310128"/>
            <a:ext cx="5486400" cy="182880"/>
          </a:xfrm>
          <a:prstGeom prst="rect">
            <a:avLst/>
          </a:prstGeom>
          <a:noFill/>
        </p:spPr>
        <p:txBody>
          <a:bodyPr wrap="square" lIns="18288" tIns="0" rIns="0" bIns="0" anchor="t">
            <a:spAutoFit/>
          </a:bodyPr>
          <a:lstStyle/>
          <a:p>
            <a:pPr algn="l">
              <a:spcAft>
                <a:spcPts val="0"/>
              </a:spcAft>
            </a:pPr>
            <a:r>
              <a:rPr sz="900" b="1">
                <a:solidFill>
                  <a:srgbClr val="2F5597"/>
                </a:solidFill>
                <a:latin typeface="맑은 고딕"/>
                <a:ea typeface="맑은 고딕"/>
              </a:rPr>
              <a:t>TTFT 예산 (s)</a:t>
            </a:r>
          </a:p>
        </p:txBody>
      </p:sp>
      <p:sp>
        <p:nvSpPr>
          <p:cNvPr id="19" name="Rectangle 18"/>
          <p:cNvSpPr/>
          <p:nvPr/>
        </p:nvSpPr>
        <p:spPr>
          <a:xfrm>
            <a:off x="384048" y="3566160"/>
            <a:ext cx="5449824" cy="219456"/>
          </a:xfrm>
          <a:prstGeom prst="rect">
            <a:avLst/>
          </a:prstGeom>
          <a:solidFill>
            <a:srgbClr val="F2F2F2"/>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4048" y="3831336"/>
            <a:ext cx="5449824" cy="219456"/>
          </a:xfrm>
          <a:prstGeom prst="rect">
            <a:avLst/>
          </a:prstGeom>
          <a:solidFill>
            <a:srgbClr val="F2F2F2"/>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4048" y="3566160"/>
            <a:ext cx="726643" cy="219456"/>
          </a:xfrm>
          <a:prstGeom prst="rect">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3566160"/>
            <a:ext cx="726643" cy="219456"/>
          </a:xfrm>
          <a:prstGeom prst="rect">
            <a:avLst/>
          </a:prstGeom>
          <a:noFill/>
        </p:spPr>
        <p:txBody>
          <a:bodyPr wrap="none" lIns="0" tIns="0" rIns="0" bIns="0" anchor="ctr">
            <a:spAutoFit/>
          </a:bodyPr>
          <a:lstStyle/>
          <a:p>
            <a:pPr algn="ctr">
              <a:spcAft>
                <a:spcPts val="0"/>
              </a:spcAft>
            </a:pPr>
            <a:r>
              <a:rPr sz="750" b="0">
                <a:solidFill>
                  <a:srgbClr val="FFFFFF"/>
                </a:solidFill>
                <a:latin typeface="맑은 고딕"/>
                <a:ea typeface="맑은 고딕"/>
              </a:rPr>
              <a:t>8K 0.32 s</a:t>
            </a:r>
          </a:p>
        </p:txBody>
      </p:sp>
      <p:sp>
        <p:nvSpPr>
          <p:cNvPr id="23" name="Rectangle 22"/>
          <p:cNvSpPr/>
          <p:nvPr/>
        </p:nvSpPr>
        <p:spPr>
          <a:xfrm>
            <a:off x="384048" y="3831336"/>
            <a:ext cx="1475994" cy="219456"/>
          </a:xfrm>
          <a:prstGeom prst="rect">
            <a:avLst/>
          </a:prstGeom>
          <a:solidFill>
            <a:srgbClr val="7F7F7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3831336"/>
            <a:ext cx="1475994" cy="219456"/>
          </a:xfrm>
          <a:prstGeom prst="rect">
            <a:avLst/>
          </a:prstGeom>
          <a:noFill/>
        </p:spPr>
        <p:txBody>
          <a:bodyPr wrap="none" lIns="0" tIns="0" rIns="0" bIns="0" anchor="ctr">
            <a:spAutoFit/>
          </a:bodyPr>
          <a:lstStyle/>
          <a:p>
            <a:pPr algn="ctr">
              <a:spcAft>
                <a:spcPts val="0"/>
              </a:spcAft>
            </a:pPr>
            <a:r>
              <a:rPr sz="750" b="0">
                <a:solidFill>
                  <a:srgbClr val="FFFFFF"/>
                </a:solidFill>
                <a:latin typeface="맑은 고딕"/>
                <a:ea typeface="맑은 고딕"/>
              </a:rPr>
              <a:t>16K 0.65 s</a:t>
            </a:r>
          </a:p>
        </p:txBody>
      </p:sp>
      <p:cxnSp>
        <p:nvCxnSpPr>
          <p:cNvPr id="25" name="Connector 24"/>
          <p:cNvCxnSpPr/>
          <p:nvPr/>
        </p:nvCxnSpPr>
        <p:spPr>
          <a:xfrm>
            <a:off x="4925568" y="3529584"/>
            <a:ext cx="0" cy="566928"/>
          </a:xfrm>
          <a:prstGeom prst="line">
            <a:avLst/>
          </a:prstGeom>
          <a:ln w="22225">
            <a:solidFill>
              <a:srgbClr val="C000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45408" y="3310128"/>
            <a:ext cx="1261872" cy="182880"/>
          </a:xfrm>
          <a:prstGeom prst="rect">
            <a:avLst/>
          </a:prstGeom>
          <a:noFill/>
        </p:spPr>
        <p:txBody>
          <a:bodyPr wrap="none" lIns="0" tIns="0" rIns="0" bIns="0" anchor="t">
            <a:spAutoFit/>
          </a:bodyPr>
          <a:lstStyle/>
          <a:p>
            <a:pPr algn="r">
              <a:spcAft>
                <a:spcPts val="0"/>
              </a:spcAft>
            </a:pPr>
            <a:r>
              <a:rPr sz="800" b="0">
                <a:solidFill>
                  <a:srgbClr val="C00000"/>
                </a:solidFill>
                <a:latin typeface="맑은 고딕"/>
                <a:ea typeface="맑은 고딕"/>
              </a:rPr>
              <a:t>SLO 2 s</a:t>
            </a:r>
          </a:p>
        </p:txBody>
      </p:sp>
      <p:sp>
        <p:nvSpPr>
          <p:cNvPr id="27" name="TextBox 26"/>
          <p:cNvSpPr txBox="1"/>
          <p:nvPr/>
        </p:nvSpPr>
        <p:spPr>
          <a:xfrm>
            <a:off x="384048" y="4114800"/>
            <a:ext cx="5449824" cy="310896"/>
          </a:xfrm>
          <a:prstGeom prst="rect">
            <a:avLst/>
          </a:prstGeom>
          <a:noFill/>
        </p:spPr>
        <p:txBody>
          <a:bodyPr wrap="square" lIns="0" tIns="0" rIns="0" bIns="0" anchor="t">
            <a:spAutoFit/>
          </a:bodyPr>
          <a:lstStyle/>
          <a:p>
            <a:pPr algn="l">
              <a:spcAft>
                <a:spcPts val="0"/>
              </a:spcAft>
            </a:pPr>
            <a:r>
              <a:rPr sz="750" b="0">
                <a:solidFill>
                  <a:srgbClr val="404040"/>
                </a:solidFill>
                <a:latin typeface="맑은 고딕"/>
                <a:ea typeface="맑은 고딕"/>
              </a:rPr>
              <a:t>8K·16K 입력의 재계산 prefill 시간. 남는 시간이 큐잉·KV 복원·결정 지연의 예산이다(16K에서 1.35 s).</a:t>
            </a:r>
          </a:p>
        </p:txBody>
      </p:sp>
      <p:sp>
        <p:nvSpPr>
          <p:cNvPr id="28" name="TextBox 27"/>
          <p:cNvSpPr txBox="1"/>
          <p:nvPr/>
        </p:nvSpPr>
        <p:spPr>
          <a:xfrm>
            <a:off x="6309360" y="3310128"/>
            <a:ext cx="5486400" cy="182880"/>
          </a:xfrm>
          <a:prstGeom prst="rect">
            <a:avLst/>
          </a:prstGeom>
          <a:noFill/>
        </p:spPr>
        <p:txBody>
          <a:bodyPr wrap="square" lIns="18288" tIns="0" rIns="0" bIns="0" anchor="t">
            <a:spAutoFit/>
          </a:bodyPr>
          <a:lstStyle/>
          <a:p>
            <a:pPr algn="l">
              <a:spcAft>
                <a:spcPts val="0"/>
              </a:spcAft>
            </a:pPr>
            <a:r>
              <a:rPr sz="900" b="1">
                <a:solidFill>
                  <a:srgbClr val="2F5597"/>
                </a:solidFill>
                <a:latin typeface="맑은 고딕"/>
                <a:ea typeface="맑은 고딕"/>
              </a:rPr>
              <a:t>TPOT 예산 (ms, H100×8)</a:t>
            </a:r>
          </a:p>
        </p:txBody>
      </p:sp>
      <p:sp>
        <p:nvSpPr>
          <p:cNvPr id="29" name="Rectangle 28"/>
          <p:cNvSpPr/>
          <p:nvPr/>
        </p:nvSpPr>
        <p:spPr>
          <a:xfrm>
            <a:off x="6327648" y="3566160"/>
            <a:ext cx="5449824" cy="219456"/>
          </a:xfrm>
          <a:prstGeom prst="rect">
            <a:avLst/>
          </a:prstGeom>
          <a:solidFill>
            <a:srgbClr val="F2F2F2"/>
          </a:solid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27648" y="3566160"/>
            <a:ext cx="481401" cy="219456"/>
          </a:xfrm>
          <a:prstGeom prst="rect">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8" y="3566160"/>
            <a:ext cx="481401" cy="219456"/>
          </a:xfrm>
          <a:prstGeom prst="rect">
            <a:avLst/>
          </a:prstGeom>
          <a:noFill/>
        </p:spPr>
        <p:txBody>
          <a:bodyPr wrap="none" lIns="0" tIns="0" rIns="0" bIns="0" anchor="ctr">
            <a:spAutoFit/>
          </a:bodyPr>
          <a:lstStyle/>
          <a:p>
            <a:pPr algn="ctr">
              <a:spcAft>
                <a:spcPts val="0"/>
              </a:spcAft>
            </a:pPr>
            <a:r>
              <a:rPr sz="750" b="0">
                <a:solidFill>
                  <a:srgbClr val="FFFFFF"/>
                </a:solidFill>
                <a:latin typeface="맑은 고딕"/>
                <a:ea typeface="맑은 고딕"/>
              </a:rPr>
              <a:t>가중치 5.3</a:t>
            </a:r>
          </a:p>
        </p:txBody>
      </p:sp>
      <p:sp>
        <p:nvSpPr>
          <p:cNvPr id="32" name="Rectangle 31"/>
          <p:cNvSpPr/>
          <p:nvPr/>
        </p:nvSpPr>
        <p:spPr>
          <a:xfrm>
            <a:off x="6809049" y="3566160"/>
            <a:ext cx="1162629" cy="219456"/>
          </a:xfrm>
          <a:prstGeom prst="rect">
            <a:avLst/>
          </a:prstGeom>
          <a:solidFill>
            <a:srgbClr val="7F7F7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09049" y="3566160"/>
            <a:ext cx="1162629" cy="219456"/>
          </a:xfrm>
          <a:prstGeom prst="rect">
            <a:avLst/>
          </a:prstGeom>
          <a:noFill/>
        </p:spPr>
        <p:txBody>
          <a:bodyPr wrap="none" lIns="0" tIns="0" rIns="0" bIns="0" anchor="ctr">
            <a:spAutoFit/>
          </a:bodyPr>
          <a:lstStyle/>
          <a:p>
            <a:pPr algn="ctr">
              <a:spcAft>
                <a:spcPts val="0"/>
              </a:spcAft>
            </a:pPr>
            <a:r>
              <a:rPr sz="750" b="0">
                <a:solidFill>
                  <a:srgbClr val="FFFFFF"/>
                </a:solidFill>
                <a:latin typeface="맑은 고딕"/>
                <a:ea typeface="맑은 고딕"/>
              </a:rPr>
              <a:t>KV 12.8 (batch 64, 16K)</a:t>
            </a:r>
          </a:p>
        </p:txBody>
      </p:sp>
      <p:cxnSp>
        <p:nvCxnSpPr>
          <p:cNvPr id="34" name="Connector 33"/>
          <p:cNvCxnSpPr/>
          <p:nvPr/>
        </p:nvCxnSpPr>
        <p:spPr>
          <a:xfrm>
            <a:off x="10869168" y="3529584"/>
            <a:ext cx="0" cy="301752"/>
          </a:xfrm>
          <a:prstGeom prst="line">
            <a:avLst/>
          </a:prstGeom>
          <a:ln w="22225">
            <a:solidFill>
              <a:srgbClr val="C000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589008" y="3310128"/>
            <a:ext cx="1261872" cy="182880"/>
          </a:xfrm>
          <a:prstGeom prst="rect">
            <a:avLst/>
          </a:prstGeom>
          <a:noFill/>
        </p:spPr>
        <p:txBody>
          <a:bodyPr wrap="none" lIns="0" tIns="0" rIns="0" bIns="0" anchor="t">
            <a:spAutoFit/>
          </a:bodyPr>
          <a:lstStyle/>
          <a:p>
            <a:pPr algn="r">
              <a:spcAft>
                <a:spcPts val="0"/>
              </a:spcAft>
            </a:pPr>
            <a:r>
              <a:rPr sz="800" b="0">
                <a:solidFill>
                  <a:srgbClr val="C00000"/>
                </a:solidFill>
                <a:latin typeface="맑은 고딕"/>
                <a:ea typeface="맑은 고딕"/>
              </a:rPr>
              <a:t>SLO 50 ms</a:t>
            </a:r>
          </a:p>
        </p:txBody>
      </p:sp>
      <p:sp>
        <p:nvSpPr>
          <p:cNvPr id="36" name="TextBox 35"/>
          <p:cNvSpPr txBox="1"/>
          <p:nvPr/>
        </p:nvSpPr>
        <p:spPr>
          <a:xfrm>
            <a:off x="6327648" y="3849624"/>
            <a:ext cx="5449824" cy="310896"/>
          </a:xfrm>
          <a:prstGeom prst="rect">
            <a:avLst/>
          </a:prstGeom>
          <a:noFill/>
        </p:spPr>
        <p:txBody>
          <a:bodyPr wrap="square" lIns="0" tIns="0" rIns="0" bIns="0" anchor="t">
            <a:spAutoFit/>
          </a:bodyPr>
          <a:lstStyle/>
          <a:p>
            <a:pPr algn="l">
              <a:spcAft>
                <a:spcPts val="0"/>
              </a:spcAft>
            </a:pPr>
            <a:r>
              <a:rPr sz="750" b="0">
                <a:solidFill>
                  <a:srgbClr val="404040"/>
                </a:solidFill>
                <a:latin typeface="맑은 고딕"/>
                <a:ea typeface="맑은 고딕"/>
              </a:rPr>
              <a:t>B200×8은 가중치 하한이 2.2 ms. 오타였던 TPOT 2 ms는 이 모델에서 가중치 읽기 하한보다 낮아 달성 불가.</a:t>
            </a:r>
          </a:p>
        </p:txBody>
      </p:sp>
      <p:sp>
        <p:nvSpPr>
          <p:cNvPr id="37" name="TextBox 36"/>
          <p:cNvSpPr txBox="1"/>
          <p:nvPr/>
        </p:nvSpPr>
        <p:spPr>
          <a:xfrm>
            <a:off x="365760" y="4526280"/>
            <a:ext cx="11430000" cy="2011680"/>
          </a:xfrm>
          <a:prstGeom prst="rect">
            <a:avLst/>
          </a:prstGeom>
          <a:noFill/>
        </p:spPr>
        <p:txBody>
          <a:bodyPr wrap="square" lIns="73152" tIns="36576" rIns="73152" bIns="36576" anchor="t">
            <a:spAutoFit/>
          </a:bodyPr>
          <a:lstStyle/>
          <a:p>
            <a:pPr algn="l">
              <a:lnSpc>
                <a:spcPct val="115000"/>
              </a:lnSpc>
              <a:spcAft>
                <a:spcPts val="0"/>
              </a:spcAft>
            </a:pPr>
            <a:r>
              <a:rPr sz="1000" b="1">
                <a:solidFill>
                  <a:srgbClr val="2F5597"/>
                </a:solidFill>
                <a:latin typeface="맑은 고딕"/>
                <a:ea typeface="맑은 고딕"/>
              </a:rPr>
              <a:t>적용 규칙</a:t>
            </a:r>
          </a:p>
          <a:p>
            <a:pPr algn="l">
              <a:lnSpc>
                <a:spcPct val="115000"/>
              </a:lnSpc>
              <a:spcAft>
                <a:spcPts val="0"/>
              </a:spcAft>
            </a:pPr>
            <a:r>
              <a:rPr sz="900" b="0">
                <a:solidFill>
                  <a:srgbClr val="000000"/>
                </a:solidFill>
                <a:latin typeface="맑은 고딕"/>
                <a:ea typeface="맑은 고딕"/>
              </a:rPr>
              <a:t>• Q1 SLO goodput: 요청별로 TTFT ≤ 2 s 그리고 TPOT ≤ 50 ms를 함께 만족한 요청의 출력 토큰만 합산한다. 부하 sweep의 최댓값이 Max SLO goodput이다.</a:t>
            </a:r>
          </a:p>
          <a:p>
            <a:pPr algn="l">
              <a:lnSpc>
                <a:spcPct val="115000"/>
              </a:lnSpc>
              <a:spcAft>
                <a:spcPts val="0"/>
              </a:spcAft>
            </a:pPr>
            <a:r>
              <a:rPr sz="900" b="0">
                <a:solidFill>
                  <a:srgbClr val="000000"/>
                </a:solidFill>
                <a:latin typeface="맑은 고딕"/>
                <a:ea typeface="맑은 고딕"/>
              </a:rPr>
              <a:t>• Q3 고부하 지연: 부하는 Baseline Max SLO goodput의 90%로 고정하고 TTFT·TPOT P99로 r을 계산한다. 후보가 SLO(P99)를 넘으면 개선 폭과 무관하게 ☆로 본다.</a:t>
            </a:r>
          </a:p>
          <a:p>
            <a:pPr algn="l">
              <a:lnSpc>
                <a:spcPct val="115000"/>
              </a:lnSpc>
              <a:spcAft>
                <a:spcPts val="0"/>
              </a:spcAft>
            </a:pPr>
            <a:r>
              <a:rPr sz="900" b="0">
                <a:solidFill>
                  <a:srgbClr val="000000"/>
                </a:solidFill>
                <a:latin typeface="맑은 고딕"/>
                <a:ea typeface="맑은 고딕"/>
              </a:rPr>
              <a:t>• 같은 값을 모든 DP 후보와 Baseline에 적용하고, 결과를 본 뒤 바꾸지 않는다. 바꾸면 새 버전으로 취급해 이전 결과와 비교하지 않는다.</a:t>
            </a:r>
          </a:p>
          <a:p>
            <a:pPr algn="l">
              <a:lnSpc>
                <a:spcPct val="115000"/>
              </a:lnSpc>
              <a:spcAft>
                <a:spcPts val="0"/>
              </a:spcAft>
            </a:pPr>
            <a:r>
              <a:rPr sz="900" b="0">
                <a:solidFill>
                  <a:srgbClr val="000000"/>
                </a:solidFill>
                <a:latin typeface="맑은 고딕"/>
                <a:ea typeface="맑은 고딕"/>
              </a:rPr>
              <a:t>• Baseline이 SLO를 만족하지 못하는 시나리오는 조용히 제외하지 않고 infeasible로 표시한다. P99 판정에는 구간당 요청 수 ≥ 1,000(seed별)을 확보한다 [가정].</a:t>
            </a:r>
          </a:p>
          <a:p>
            <a:pPr algn="l">
              <a:lnSpc>
                <a:spcPct val="115000"/>
              </a:lnSpc>
              <a:spcAft>
                <a:spcPts val="0"/>
              </a:spcAft>
            </a:pPr>
            <a:r>
              <a:rPr sz="900" b="0">
                <a:solidFill>
                  <a:srgbClr val="C00000"/>
                </a:solidFill>
                <a:latin typeface="맑은 고딕"/>
                <a:ea typeface="맑은 고딕"/>
              </a:rPr>
              <a:t>• 이전 요구에 적힌 TPOT 2 ms는 50 ms의 오타로 확정해 이 덱의 모든 페이지에 50 ms를 쓴다 (소유자 확인 필요).</a:t>
            </a:r>
          </a:p>
        </p:txBody>
      </p:sp>
    </p:spTree>
    <p:extLst>
      <p:ext uri="{BB962C8B-B14F-4D97-AF65-F5344CB8AC3E}">
        <p14:creationId xmlns:p14="http://schemas.microsoft.com/office/powerpoint/2010/main" val="445002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시스템 확장성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시스템 및 자원의 증가분 대비 처리량의 증가분 비율</a:t>
            </a:r>
            <a:endParaRPr lang="en-US" altLang="ko-KR" sz="1100" b="0" dirty="0">
              <a:solidFill>
                <a:srgbClr val="404040"/>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출처: AthenaK (arXiv 2409.16053, 학습 workload) · USL 환산. 90% '효율적' 기준은 관례(정책)이며 인용 논문을 확인하지 못해 출처로 삼지 않았다</a:t>
            </a:r>
          </a:p>
        </p:txBody>
      </p:sp>
      <p:sp>
        <p:nvSpPr>
          <p:cNvPr id="11" name="실행 단추: 뒤로 또는 이전 10">
            <a:hlinkClick r:id="rId2"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metric"/>
          <p:cNvSpPr txBox="1"/>
          <p:nvPr/>
        </p:nvSpPr>
        <p:spPr>
          <a:xfrm>
            <a:off x="365760" y="1069848"/>
            <a:ext cx="11430000" cy="960120"/>
          </a:xfrm>
          <a:prstGeom prst="rect">
            <a:avLst/>
          </a:prstGeom>
          <a:noFill/>
        </p:spPr>
        <p:txBody>
          <a:bodyPr wrap="square" lIns="73152" tIns="36576" rIns="73152" bIns="36576" anchor="t">
            <a:spAutoFit/>
          </a:bodyPr>
          <a:lstStyle/>
          <a:p>
            <a:pPr algn="l">
              <a:lnSpc>
                <a:spcPct val="112000"/>
              </a:lnSpc>
              <a:spcAft>
                <a:spcPts val="0"/>
              </a:spcAft>
            </a:pPr>
            <a:r>
              <a:rPr sz="1050" b="1">
                <a:solidFill>
                  <a:srgbClr val="2F5597"/>
                </a:solidFill>
                <a:latin typeface="맑은 고딕"/>
                <a:ea typeface="맑은 고딕"/>
              </a:rPr>
              <a:t>[Metric] SE(N) = Goodput 증가 배율 ÷ N 증가 배율  (N = 노드 수, 평가는 N=16 시뮬레이션)</a:t>
            </a:r>
          </a:p>
          <a:p>
            <a:pPr algn="l">
              <a:lnSpc>
                <a:spcPct val="112000"/>
              </a:lnSpc>
              <a:spcAft>
                <a:spcPts val="0"/>
              </a:spcAft>
            </a:pPr>
            <a:r>
              <a:rPr sz="950" b="0">
                <a:solidFill>
                  <a:srgbClr val="000000"/>
                </a:solidFill>
                <a:latin typeface="맑은 고딕"/>
                <a:ea typeface="맑은 고딕"/>
              </a:rPr>
              <a:t>- USL 환산: SE(N) = 1 ÷ (1 + σ(N−1)), σ = 조율 계층의 직렬 비중. N=16에서 SE 80%↔σ 1.67%, 85%↔1.18%, 90%↔0.74%, 92.5%↔0.54%, 95%↔0.35%</a:t>
            </a:r>
          </a:p>
          <a:p>
            <a:pPr algn="l">
              <a:lnSpc>
                <a:spcPct val="112000"/>
              </a:lnSpc>
              <a:spcAft>
                <a:spcPts val="0"/>
              </a:spcAft>
            </a:pPr>
            <a:r>
              <a:rPr sz="950" b="0">
                <a:solidFill>
                  <a:srgbClr val="000000"/>
                </a:solidFill>
                <a:latin typeface="맑은 고딕"/>
                <a:ea typeface="맑은 고딕"/>
              </a:rPr>
              <a:t>- Baseline 절대값(이론): B0·B1 모두 노드 독립이라 조율 비용이 없다 → SE 98%(부하 불균형 2% [가정]). 기준은 이상적 선형 확장 대비라 Baseline을 B1로 바꿔도 구간은 같다</a:t>
            </a:r>
          </a:p>
          <a:p>
            <a:pPr algn="l">
              <a:lnSpc>
                <a:spcPct val="112000"/>
              </a:lnSpc>
              <a:spcAft>
                <a:spcPts val="0"/>
              </a:spcAft>
            </a:pPr>
            <a:r>
              <a:rPr sz="950" b="0">
                <a:solidFill>
                  <a:srgbClr val="000000"/>
                </a:solidFill>
                <a:latin typeface="맑은 고딕"/>
                <a:ea typeface="맑은 고딕"/>
              </a:rPr>
              <a:t>- 구간 규칙: ★1 = 요구 80%, ★2 = 90%(손실 10% 이내), ★3 = 95%(손실 5% 이내), 반 단계는 중점</a:t>
            </a:r>
          </a:p>
        </p:txBody>
      </p:sp>
      <p:graphicFrame>
        <p:nvGraphicFramePr>
          <p:cNvPr id="13" name="tbl"/>
          <p:cNvGraphicFramePr>
            <a:graphicFrameLocks noGrp="1"/>
          </p:cNvGraphicFramePr>
          <p:nvPr/>
        </p:nvGraphicFramePr>
        <p:xfrm>
          <a:off x="365760" y="2103120"/>
          <a:ext cx="11457432" cy="2029968"/>
        </p:xfrm>
        <a:graphic>
          <a:graphicData uri="http://schemas.openxmlformats.org/drawingml/2006/table">
            <a:tbl>
              <a:tblPr firstRow="0" bandRow="0">
                <a:tableStyleId>{2D5ABB26-0587-4C30-8999-92F81FD0307C}</a:tableStyleId>
              </a:tblPr>
              <a:tblGrid>
                <a:gridCol w="685800"/>
                <a:gridCol w="1600200"/>
                <a:gridCol w="6949440"/>
                <a:gridCol w="2221992"/>
              </a:tblGrid>
              <a:tr h="219456">
                <a:tc>
                  <a:txBody>
                    <a:bodyPr wrap="square"/>
                    <a:lstStyle/>
                    <a:p>
                      <a:pPr algn="ctr"/>
                      <a:r>
                        <a:rPr sz="900" b="1">
                          <a:solidFill>
                            <a:srgbClr val="FFFFFF"/>
                          </a:solidFill>
                          <a:latin typeface="맑은 고딕"/>
                          <a:ea typeface="맑은 고딕"/>
                        </a:rPr>
                        <a:t>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기준 (정량)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출처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301752">
                <a:tc>
                  <a:txBody>
                    <a:bodyPr wrap="square"/>
                    <a:lstStyle/>
                    <a:p>
                      <a:pPr algn="ctr"/>
                      <a:r>
                        <a:rPr sz="830" b="1">
                          <a:solidFill>
                            <a:srgbClr val="000000"/>
                          </a:solidFill>
                          <a:latin typeface="맑은 고딕"/>
                          <a:ea typeface="맑은 고딕"/>
                        </a:rPr>
                        <a:t>★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SE ≥ 95%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처리량 손실 5% 이내(16노드에서 15.2노드분 효과). 조율 계층 직렬 비중 σ ≤ 0.35%(USL 환산, 정책 선택)</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USL 환산 / 정책</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r>
              <a:tr h="301752">
                <a:tc>
                  <a:txBody>
                    <a:bodyPr wrap="square"/>
                    <a:lstStyle/>
                    <a:p>
                      <a:pPr algn="ctr"/>
                      <a:r>
                        <a:rPr sz="830" b="1">
                          <a:solidFill>
                            <a:srgbClr val="000000"/>
                          </a:solidFill>
                          <a:latin typeface="맑은 고딕"/>
                          <a:ea typeface="맑은 고딕"/>
                        </a:rPr>
                        <a:t>★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92.5 ≤ SE &lt; 95%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★2와 ★3의 중점(손실 7.5%)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r>
              <a:tr h="301752">
                <a:tc>
                  <a:txBody>
                    <a:bodyPr wrap="square"/>
                    <a:lstStyle/>
                    <a:p>
                      <a:pPr algn="ctr"/>
                      <a:r>
                        <a:rPr sz="830" b="1">
                          <a:solidFill>
                            <a:srgbClr val="000000"/>
                          </a:solidFill>
                          <a:latin typeface="맑은 고딕"/>
                          <a:ea typeface="맑은 고딕"/>
                        </a:rPr>
                        <a:t>★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90 ≤ SE &lt; 92.5%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처리량 손실 10% 이내(16노드에서 14.4노드분 효과). 병렬 효율에서 '효율적'이라 부르는 관례 수준(정책 선택)</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정책 선택</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r>
              <a:tr h="301752">
                <a:tc>
                  <a:txBody>
                    <a:bodyPr wrap="square"/>
                    <a:lstStyle/>
                    <a:p>
                      <a:pPr algn="ctr"/>
                      <a:r>
                        <a:rPr sz="830" b="1">
                          <a:solidFill>
                            <a:srgbClr val="000000"/>
                          </a:solidFill>
                          <a:latin typeface="맑은 고딕"/>
                          <a:ea typeface="맑은 고딕"/>
                        </a:rPr>
                        <a:t>★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85 ≤ SE &lt; 90%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★1과 ★2의 중점(손실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r>
              <a:tr h="301752">
                <a:tc>
                  <a:txBody>
                    <a:bodyPr wrap="square"/>
                    <a:lstStyle/>
                    <a:p>
                      <a:pPr algn="ctr"/>
                      <a:r>
                        <a:rPr sz="830" b="1">
                          <a:solidFill>
                            <a:srgbClr val="000000"/>
                          </a:solidFill>
                          <a:latin typeface="맑은 고딕"/>
                          <a:ea typeface="맑은 고딕"/>
                        </a:rPr>
                        <a:t>★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80 ≤ SE &lt; 85%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Stakeholder 요구: SE &gt; 80%. 문헌: 65,536 GPU에서 병렬 효율 80% 보고(AthenaK, 학습 workload라 서빙 SE와 의미가 다름)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Stakeholder 요구사항, arXiv 2409.16053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r>
              <a:tr h="301752">
                <a:tc>
                  <a:txBody>
                    <a:bodyPr wrap="square"/>
                    <a:lstStyle/>
                    <a:p>
                      <a:pPr algn="ctr"/>
                      <a:r>
                        <a:rPr sz="830" b="1">
                          <a:solidFill>
                            <a:srgbClr val="000000"/>
                          </a:solidFill>
                          <a:latin typeface="맑은 고딕"/>
                          <a:ea typeface="맑은 고딕"/>
                        </a:rPr>
                        <a:t>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SE &lt; 80%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확장은 되지만 조율 계층이 병목. 시나리오 요구(80%) 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r>
            </a:tbl>
          </a:graphicData>
        </a:graphic>
      </p:graphicFrame>
      <p:sp>
        <p:nvSpPr>
          <p:cNvPr id="14" name="TextBox 13"/>
          <p:cNvSpPr txBox="1"/>
          <p:nvPr/>
        </p:nvSpPr>
        <p:spPr>
          <a:xfrm>
            <a:off x="365760" y="4261103"/>
            <a:ext cx="1143000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구간 대비 근거 위치 (SE %, N=16)</a:t>
            </a:r>
          </a:p>
        </p:txBody>
      </p:sp>
      <p:sp>
        <p:nvSpPr>
          <p:cNvPr id="15" name="Rectangle 14"/>
          <p:cNvSpPr/>
          <p:nvPr/>
        </p:nvSpPr>
        <p:spPr>
          <a:xfrm>
            <a:off x="411480" y="4498847"/>
            <a:ext cx="6803136"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4498847"/>
            <a:ext cx="680313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17" name="Rectangle 16"/>
          <p:cNvSpPr/>
          <p:nvPr/>
        </p:nvSpPr>
        <p:spPr>
          <a:xfrm>
            <a:off x="7214616" y="4498847"/>
            <a:ext cx="1133855"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14616" y="4498847"/>
            <a:ext cx="1133855"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19" name="Rectangle 18"/>
          <p:cNvSpPr/>
          <p:nvPr/>
        </p:nvSpPr>
        <p:spPr>
          <a:xfrm>
            <a:off x="8348471" y="4498847"/>
            <a:ext cx="1133856"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8471" y="4498847"/>
            <a:ext cx="113385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21" name="Rectangle 20"/>
          <p:cNvSpPr/>
          <p:nvPr/>
        </p:nvSpPr>
        <p:spPr>
          <a:xfrm>
            <a:off x="9482328" y="4498847"/>
            <a:ext cx="566927"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82328" y="4498847"/>
            <a:ext cx="56692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a:t>
            </a:r>
          </a:p>
        </p:txBody>
      </p:sp>
      <p:sp>
        <p:nvSpPr>
          <p:cNvPr id="23" name="Rectangle 22"/>
          <p:cNvSpPr/>
          <p:nvPr/>
        </p:nvSpPr>
        <p:spPr>
          <a:xfrm>
            <a:off x="10049255" y="4498847"/>
            <a:ext cx="566928"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49255" y="4498847"/>
            <a:ext cx="56692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★2.5</a:t>
            </a:r>
          </a:p>
        </p:txBody>
      </p:sp>
      <p:sp>
        <p:nvSpPr>
          <p:cNvPr id="25" name="Rectangle 24"/>
          <p:cNvSpPr/>
          <p:nvPr/>
        </p:nvSpPr>
        <p:spPr>
          <a:xfrm>
            <a:off x="10616184" y="4498847"/>
            <a:ext cx="1133856"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16184" y="4498847"/>
            <a:ext cx="1133856"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27" name="TextBox 26"/>
          <p:cNvSpPr txBox="1"/>
          <p:nvPr/>
        </p:nvSpPr>
        <p:spPr>
          <a:xfrm>
            <a:off x="91440"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50%</a:t>
            </a:r>
          </a:p>
        </p:txBody>
      </p:sp>
      <p:sp>
        <p:nvSpPr>
          <p:cNvPr id="28" name="TextBox 27"/>
          <p:cNvSpPr txBox="1"/>
          <p:nvPr/>
        </p:nvSpPr>
        <p:spPr>
          <a:xfrm>
            <a:off x="2359152"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60%</a:t>
            </a:r>
          </a:p>
        </p:txBody>
      </p:sp>
      <p:sp>
        <p:nvSpPr>
          <p:cNvPr id="29" name="TextBox 28"/>
          <p:cNvSpPr txBox="1"/>
          <p:nvPr/>
        </p:nvSpPr>
        <p:spPr>
          <a:xfrm>
            <a:off x="4626864"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70%</a:t>
            </a:r>
          </a:p>
        </p:txBody>
      </p:sp>
      <p:sp>
        <p:nvSpPr>
          <p:cNvPr id="30" name="TextBox 29"/>
          <p:cNvSpPr txBox="1"/>
          <p:nvPr/>
        </p:nvSpPr>
        <p:spPr>
          <a:xfrm>
            <a:off x="6894576"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80%</a:t>
            </a:r>
          </a:p>
        </p:txBody>
      </p:sp>
      <p:sp>
        <p:nvSpPr>
          <p:cNvPr id="31" name="TextBox 30"/>
          <p:cNvSpPr txBox="1"/>
          <p:nvPr/>
        </p:nvSpPr>
        <p:spPr>
          <a:xfrm>
            <a:off x="9162288"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90%</a:t>
            </a:r>
          </a:p>
        </p:txBody>
      </p:sp>
      <p:sp>
        <p:nvSpPr>
          <p:cNvPr id="32" name="TextBox 31"/>
          <p:cNvSpPr txBox="1"/>
          <p:nvPr/>
        </p:nvSpPr>
        <p:spPr>
          <a:xfrm>
            <a:off x="11430000" y="4773167"/>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100%</a:t>
            </a:r>
          </a:p>
        </p:txBody>
      </p:sp>
      <p:cxnSp>
        <p:nvCxnSpPr>
          <p:cNvPr id="33" name="Connector 32"/>
          <p:cNvCxnSpPr/>
          <p:nvPr/>
        </p:nvCxnSpPr>
        <p:spPr>
          <a:xfrm>
            <a:off x="7214616" y="4910327"/>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348471" y="4910327"/>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482328" y="4910327"/>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049255" y="4910327"/>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616184" y="4910327"/>
            <a:ext cx="0" cy="786384"/>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155179" y="4962905"/>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87768" y="4928615"/>
            <a:ext cx="1380743"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Stakeholder 요구: SE &gt; 80%</a:t>
            </a:r>
          </a:p>
        </p:txBody>
      </p:sp>
      <p:sp>
        <p:nvSpPr>
          <p:cNvPr id="40" name="Oval 39"/>
          <p:cNvSpPr/>
          <p:nvPr/>
        </p:nvSpPr>
        <p:spPr>
          <a:xfrm>
            <a:off x="7164324" y="5159501"/>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87768" y="5116067"/>
            <a:ext cx="2231136"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AthenaK: 65,536 GPU에서 병렬 효율 80% (학습)</a:t>
            </a:r>
          </a:p>
        </p:txBody>
      </p:sp>
      <p:sp>
        <p:nvSpPr>
          <p:cNvPr id="42" name="Isosceles Triangle 41"/>
          <p:cNvSpPr/>
          <p:nvPr/>
        </p:nvSpPr>
        <p:spPr>
          <a:xfrm>
            <a:off x="9422892" y="5342381"/>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55480" y="5303519"/>
            <a:ext cx="2185416" cy="187452"/>
          </a:xfrm>
          <a:prstGeom prst="rect">
            <a:avLst/>
          </a:prstGeom>
          <a:noFill/>
        </p:spPr>
        <p:txBody>
          <a:bodyPr wrap="none" lIns="0" tIns="0" rIns="0" bIns="0" anchor="ctr">
            <a:spAutoFit/>
          </a:bodyPr>
          <a:lstStyle/>
          <a:p>
            <a:pPr algn="l">
              <a:spcAft>
                <a:spcPts val="0"/>
              </a:spcAft>
            </a:pPr>
            <a:r>
              <a:rPr sz="720" b="0">
                <a:solidFill>
                  <a:srgbClr val="262626"/>
                </a:solidFill>
                <a:latin typeface="맑은 고딕"/>
                <a:ea typeface="맑은 고딕"/>
              </a:rPr>
              <a:t>'효율적' 보고 관례 90% (정책, 손실 10% 이내)</a:t>
            </a:r>
          </a:p>
        </p:txBody>
      </p:sp>
      <p:sp>
        <p:nvSpPr>
          <p:cNvPr id="44" name="Rectangle 43"/>
          <p:cNvSpPr/>
          <p:nvPr/>
        </p:nvSpPr>
        <p:spPr>
          <a:xfrm>
            <a:off x="7214616" y="5548121"/>
            <a:ext cx="3401568"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214616" y="5520689"/>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616184" y="5520689"/>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805171" y="5490971"/>
            <a:ext cx="2336292" cy="187452"/>
          </a:xfrm>
          <a:prstGeom prst="rect">
            <a:avLst/>
          </a:prstGeom>
          <a:noFill/>
        </p:spPr>
        <p:txBody>
          <a:bodyPr wrap="none" lIns="0" tIns="0" rIns="0" bIns="0" anchor="ctr">
            <a:spAutoFit/>
          </a:bodyPr>
          <a:lstStyle/>
          <a:p>
            <a:pPr algn="r">
              <a:spcAft>
                <a:spcPts val="0"/>
              </a:spcAft>
            </a:pPr>
            <a:r>
              <a:rPr sz="720" b="0">
                <a:solidFill>
                  <a:srgbClr val="262626"/>
                </a:solidFill>
                <a:latin typeface="맑은 고딕"/>
                <a:ea typeface="맑은 고딕"/>
              </a:rPr>
              <a:t>USL 환산 σ: 80%↔1.67% · 90%↔0.74% · 95%↔0.35%</a:t>
            </a:r>
          </a:p>
        </p:txBody>
      </p:sp>
      <p:sp>
        <p:nvSpPr>
          <p:cNvPr id="48" name="Oval 47"/>
          <p:cNvSpPr/>
          <p:nvPr/>
        </p:nvSpPr>
        <p:spPr>
          <a:xfrm>
            <a:off x="384048" y="5765291"/>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5724143"/>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50" name="Diamond 49"/>
          <p:cNvSpPr/>
          <p:nvPr/>
        </p:nvSpPr>
        <p:spPr>
          <a:xfrm>
            <a:off x="1539748" y="5765291"/>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658620" y="5724143"/>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52" name="Isosceles Triangle 51"/>
          <p:cNvSpPr/>
          <p:nvPr/>
        </p:nvSpPr>
        <p:spPr>
          <a:xfrm>
            <a:off x="3028823" y="5765291"/>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47695" y="5724143"/>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54" name="Oval 53"/>
          <p:cNvSpPr/>
          <p:nvPr/>
        </p:nvSpPr>
        <p:spPr>
          <a:xfrm>
            <a:off x="3753358" y="5765291"/>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872230" y="5724143"/>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Tree>
    <p:extLst>
      <p:ext uri="{BB962C8B-B14F-4D97-AF65-F5344CB8AC3E}">
        <p14:creationId xmlns:p14="http://schemas.microsoft.com/office/powerpoint/2010/main" val="1403645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변경 용이성 - 평가 기준</a:t>
            </a:r>
            <a:endParaRPr sz="2200" b="1" dirty="0">
              <a:solidFill>
                <a:srgbClr val="2F5597"/>
              </a:solidFill>
              <a:latin typeface="맑은 고딕"/>
              <a:ea typeface="맑은 고딕"/>
            </a:endParaRP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50"/>
              </a:spcAft>
            </a:pPr>
            <a:r>
              <a:rPr sz="1100" b="0">
                <a:solidFill>
                  <a:srgbClr val="404040"/>
                </a:solidFill>
                <a:latin typeface="맑은 고딕"/>
                <a:ea typeface="맑은 고딕"/>
              </a:rPr>
              <a:t>변경 module 수 AND M/M(개발 공수) — 시나리오 평균, 두 지표 중 낮은 별</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실행 단추: 뒤로 또는 이전 10">
            <a:hlinkClick r:id="rId2" action="ppaction://hlinksldjump" highlightClick="1"/>
          </p:cNvPr>
          <p:cNvSpPr/>
          <p:nvPr/>
        </p:nvSpPr>
        <p:spPr>
          <a:xfrm>
            <a:off x="11365523" y="515815"/>
            <a:ext cx="298939" cy="316523"/>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0"/>
              </a:spcAft>
            </a:pPr>
            <a:r>
              <a:rPr sz="750" b="0">
                <a:solidFill>
                  <a:srgbClr val="404040"/>
                </a:solidFill>
                <a:latin typeface="맑은 고딕"/>
                <a:ea typeface="맑은 고딕"/>
              </a:rPr>
              <a:t>출처: SWE-bench (arXiv 2310.06770) · vLLM 저장소 kv_connector/v1 직접 계수(최상위 파일 192~1,190 LOC, 중앙값 356) · DP1 qa4-preregistration(공식·상수 ASSUMED)</a:t>
            </a:r>
          </a:p>
        </p:txBody>
      </p:sp>
      <p:sp>
        <p:nvSpPr>
          <p:cNvPr id="13" name="metric"/>
          <p:cNvSpPr txBox="1"/>
          <p:nvPr/>
        </p:nvSpPr>
        <p:spPr>
          <a:xfrm>
            <a:off x="365760" y="1069848"/>
            <a:ext cx="11430000" cy="457200"/>
          </a:xfrm>
          <a:prstGeom prst="rect">
            <a:avLst/>
          </a:prstGeom>
          <a:noFill/>
        </p:spPr>
        <p:txBody>
          <a:bodyPr wrap="square" lIns="73152" tIns="36576" rIns="73152" bIns="36576" anchor="t">
            <a:spAutoFit/>
          </a:bodyPr>
          <a:lstStyle/>
          <a:p>
            <a:pPr algn="l">
              <a:lnSpc>
                <a:spcPct val="110000"/>
              </a:lnSpc>
              <a:spcAft>
                <a:spcPts val="0"/>
              </a:spcAft>
            </a:pPr>
            <a:r>
              <a:rPr sz="1000" b="1">
                <a:solidFill>
                  <a:srgbClr val="2F5597"/>
                </a:solidFill>
                <a:latin typeface="맑은 고딕"/>
                <a:ea typeface="맑은 고딕"/>
              </a:rPr>
              <a:t>[변경 시나리오 3종, KV 캐시 관리 범위] </a:t>
            </a:r>
            <a:r>
              <a:rPr sz="950" b="0">
                <a:solidFill>
                  <a:srgbClr val="000000"/>
                </a:solidFill>
                <a:latin typeface="맑은 고딕"/>
                <a:ea typeface="맑은 고딕"/>
              </a:rPr>
              <a:t>S1 새 메모리 tier 추가 · S2 이동·배치·재사용 정책 교체 · S3 vLLM upstream 갱신 대응(block pool, kv_offload, CUDA graph, async scheduling 접점 수정). 시나리오 단순 평균으로 판정. module = 설계 문서의 component 단위(한 줄이라도 바꾸면 1개).</a:t>
            </a:r>
          </a:p>
        </p:txBody>
      </p:sp>
      <p:graphicFrame>
        <p:nvGraphicFramePr>
          <p:cNvPr id="14" name="tbl"/>
          <p:cNvGraphicFramePr>
            <a:graphicFrameLocks noGrp="1"/>
          </p:cNvGraphicFramePr>
          <p:nvPr/>
        </p:nvGraphicFramePr>
        <p:xfrm>
          <a:off x="365760" y="1554480"/>
          <a:ext cx="11457432" cy="2103120"/>
        </p:xfrm>
        <a:graphic>
          <a:graphicData uri="http://schemas.openxmlformats.org/drawingml/2006/table">
            <a:tbl>
              <a:tblPr firstRow="0" bandRow="0">
                <a:tableStyleId>{2D5ABB26-0587-4C30-8999-92F81FD0307C}</a:tableStyleId>
              </a:tblPr>
              <a:tblGrid>
                <a:gridCol w="685800"/>
                <a:gridCol w="1463040"/>
                <a:gridCol w="1463040"/>
                <a:gridCol w="5532120"/>
                <a:gridCol w="2313432"/>
              </a:tblGrid>
              <a:tr h="237744">
                <a:tc>
                  <a:txBody>
                    <a:bodyPr wrap="square"/>
                    <a:lstStyle/>
                    <a:p>
                      <a:pPr algn="ctr"/>
                      <a:r>
                        <a:rPr sz="900" b="1">
                          <a:solidFill>
                            <a:srgbClr val="FFFFFF"/>
                          </a:solidFill>
                          <a:latin typeface="맑은 고딕"/>
                          <a:ea typeface="맑은 고딕"/>
                        </a:rPr>
                        <a:t>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① 변경 module 수 (평균)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② 개발 공수 (M/M, 평균)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출처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310896">
                <a:tc>
                  <a:txBody>
                    <a:bodyPr wrap="square"/>
                    <a:lstStyle/>
                    <a:p>
                      <a:pPr algn="ctr"/>
                      <a:r>
                        <a:rPr sz="830" b="1">
                          <a:solidFill>
                            <a:srgbClr val="000000"/>
                          </a:solidFill>
                          <a:latin typeface="맑은 고딕"/>
                          <a:ea typeface="맑은 고딕"/>
                        </a:rPr>
                        <a:t>★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ctr"/>
                      <a:r>
                        <a:rPr sz="830" b="0">
                          <a:solidFill>
                            <a:srgbClr val="000000"/>
                          </a:solidFill>
                          <a:latin typeface="맑은 고딕"/>
                          <a:ea typeface="맑은 고딕"/>
                        </a:rPr>
                        <a:t>≤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ctr"/>
                      <a:r>
                        <a:rPr sz="830" b="0">
                          <a:solidFill>
                            <a:srgbClr val="000000"/>
                          </a:solidFill>
                          <a:latin typeface="맑은 고딕"/>
                          <a:ea typeface="맑은 고딕"/>
                        </a:rPr>
                        <a:t>≤ 0.5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일상 변경 규모: SWE-bench 평균 패치 1.7 file·32.8 line ≈ 0.32 MM(아래 공식 환산). 0.5 MM = 1인 2주 sprint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c>
                  <a:txBody>
                    <a:bodyPr wrap="square"/>
                    <a:lstStyle/>
                    <a:p>
                      <a:pPr algn="l"/>
                      <a:r>
                        <a:rPr sz="830" b="0">
                          <a:solidFill>
                            <a:srgbClr val="000000"/>
                          </a:solidFill>
                          <a:latin typeface="맑은 고딕"/>
                          <a:ea typeface="맑은 고딕"/>
                        </a:rPr>
                        <a:t>SWE-bench (arXiv 2310.06770), 사전 등록 가정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2EFDA"/>
                    </a:solidFill>
                  </a:tcPr>
                </a:tc>
              </a:tr>
              <a:tr h="310896">
                <a:tc>
                  <a:txBody>
                    <a:bodyPr wrap="square"/>
                    <a:lstStyle/>
                    <a:p>
                      <a:pPr algn="ctr"/>
                      <a:r>
                        <a:rPr sz="830" b="1">
                          <a:solidFill>
                            <a:srgbClr val="000000"/>
                          </a:solidFill>
                          <a:latin typeface="맑은 고딕"/>
                          <a:ea typeface="맑은 고딕"/>
                        </a:rPr>
                        <a:t>★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ctr"/>
                      <a:r>
                        <a:rPr sz="830" b="0">
                          <a:solidFill>
                            <a:srgbClr val="000000"/>
                          </a:solidFill>
                          <a:latin typeface="맑은 고딕"/>
                          <a:ea typeface="맑은 고딕"/>
                        </a:rPr>
                        <a:t>≤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ctr"/>
                      <a:r>
                        <a:rPr sz="830" b="0">
                          <a:solidFill>
                            <a:srgbClr val="000000"/>
                          </a:solidFill>
                          <a:latin typeface="맑은 고딕"/>
                          <a:ea typeface="맑은 고딕"/>
                        </a:rPr>
                        <a:t>≤ 0.625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★2와 ★3의 중점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F3D5"/>
                    </a:solidFill>
                  </a:tcPr>
                </a:tc>
              </a:tr>
              <a:tr h="310896">
                <a:tc>
                  <a:txBody>
                    <a:bodyPr wrap="square"/>
                    <a:lstStyle/>
                    <a:p>
                      <a:pPr algn="ctr"/>
                      <a:r>
                        <a:rPr sz="830" b="1">
                          <a:solidFill>
                            <a:srgbClr val="000000"/>
                          </a:solidFill>
                          <a:latin typeface="맑은 고딕"/>
                          <a:ea typeface="맑은 고딕"/>
                        </a:rPr>
                        <a:t>★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ctr"/>
                      <a:r>
                        <a:rPr sz="830" b="0">
                          <a:solidFill>
                            <a:srgbClr val="000000"/>
                          </a:solidFill>
                          <a:latin typeface="맑은 고딕"/>
                          <a:ea typeface="맑은 고딕"/>
                        </a:rPr>
                        <a:t>≤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ctr"/>
                      <a:r>
                        <a:rPr sz="830" b="0">
                          <a:solidFill>
                            <a:srgbClr val="000000"/>
                          </a:solidFill>
                          <a:latin typeface="맑은 고딕"/>
                          <a:ea typeface="맑은 고딕"/>
                        </a:rPr>
                        <a:t>≤ 0.75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변경이 한 Plane/Layer 안에 머무는 규모(설계 component 12~14개의 약 1/4), 3주</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r>
              <a:tr h="310896">
                <a:tc>
                  <a:txBody>
                    <a:bodyPr wrap="square"/>
                    <a:lstStyle/>
                    <a:p>
                      <a:pPr algn="ctr"/>
                      <a:r>
                        <a:rPr sz="830" b="1">
                          <a:solidFill>
                            <a:srgbClr val="000000"/>
                          </a:solidFill>
                          <a:latin typeface="맑은 고딕"/>
                          <a:ea typeface="맑은 고딕"/>
                        </a:rPr>
                        <a:t>★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ctr"/>
                      <a:r>
                        <a:rPr sz="830" b="0">
                          <a:solidFill>
                            <a:srgbClr val="000000"/>
                          </a:solidFill>
                          <a:latin typeface="맑은 고딕"/>
                          <a:ea typeface="맑은 고딕"/>
                        </a:rPr>
                        <a:t>≤ 4</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ctr"/>
                      <a:r>
                        <a:rPr sz="830" b="0">
                          <a:solidFill>
                            <a:srgbClr val="000000"/>
                          </a:solidFill>
                          <a:latin typeface="맑은 고딕"/>
                          <a:ea typeface="맑은 고딕"/>
                        </a:rPr>
                        <a:t>≤ 0.875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★1과 ★2의 중점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DE9D2"/>
                    </a:solidFill>
                  </a:tcPr>
                </a:tc>
              </a:tr>
              <a:tr h="310896">
                <a:tc>
                  <a:txBody>
                    <a:bodyPr wrap="square"/>
                    <a:lstStyle/>
                    <a:p>
                      <a:pPr algn="ctr"/>
                      <a:r>
                        <a:rPr sz="830" b="1">
                          <a:solidFill>
                            <a:srgbClr val="000000"/>
                          </a:solidFill>
                          <a:latin typeface="맑은 고딕"/>
                          <a:ea typeface="맑은 고딕"/>
                        </a:rPr>
                        <a:t>★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ctr"/>
                      <a:r>
                        <a:rPr sz="830" b="0">
                          <a:solidFill>
                            <a:srgbClr val="000000"/>
                          </a:solidFill>
                          <a:latin typeface="맑은 고딕"/>
                          <a:ea typeface="맑은 고딕"/>
                        </a:rPr>
                        <a:t>≤ 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ctr"/>
                      <a:r>
                        <a:rPr sz="830" b="0">
                          <a:solidFill>
                            <a:srgbClr val="000000"/>
                          </a:solidFill>
                          <a:latin typeface="맑은 고딕"/>
                          <a:ea typeface="맑은 고딕"/>
                        </a:rPr>
                        <a:t>≤ 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최소 충족. module: 설계 component 12~14개 중 5개(36~42%) 초과 시 확장 지점이 없다고 본다. M/M: vLLM 최상위 KV connector 중앙값 356 LOC를 1개 신규 구현하는 비용 ≈ 1.0 MM(공식 환산) = 1인 1개월</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c>
                  <a:txBody>
                    <a:bodyPr wrap="square"/>
                    <a:lstStyle/>
                    <a:p>
                      <a:pPr algn="l"/>
                      <a:r>
                        <a:rPr sz="830" b="0">
                          <a:solidFill>
                            <a:srgbClr val="000000"/>
                          </a:solidFill>
                          <a:latin typeface="맑은 고딕"/>
                          <a:ea typeface="맑은 고딕"/>
                        </a:rPr>
                        <a:t>DP1 사전 등록 component 목록, vLLM 저장소 LOC 계수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FBE0D6"/>
                    </a:solidFill>
                  </a:tcPr>
                </a:tc>
              </a:tr>
              <a:tr h="310896">
                <a:tc>
                  <a:txBody>
                    <a:bodyPr wrap="square"/>
                    <a:lstStyle/>
                    <a:p>
                      <a:pPr algn="ctr"/>
                      <a:r>
                        <a:rPr sz="830" b="1">
                          <a:solidFill>
                            <a:srgbClr val="000000"/>
                          </a:solidFill>
                          <a:latin typeface="맑은 고딕"/>
                          <a:ea typeface="맑은 고딕"/>
                        </a:rPr>
                        <a:t>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ctr"/>
                      <a:r>
                        <a:rPr sz="830" b="0">
                          <a:solidFill>
                            <a:srgbClr val="000000"/>
                          </a:solidFill>
                          <a:latin typeface="맑은 고딕"/>
                          <a:ea typeface="맑은 고딕"/>
                        </a:rPr>
                        <a:t>≥ 6 또는 major interface 변경</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ctr"/>
                      <a:r>
                        <a:rPr sz="830" b="0">
                          <a:solidFill>
                            <a:srgbClr val="000000"/>
                          </a:solidFill>
                          <a:latin typeface="맑은 고딕"/>
                          <a:ea typeface="맑은 고딕"/>
                        </a:rPr>
                        <a:t>&gt; 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한 항목이라도 ★1 기준을 넘으면 미충족. 기존 필드 의미 변경(Backend I/F, Event schema)은 module 수와 무관하게 미충족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c>
                  <a:txBody>
                    <a:bodyPr wrap="square"/>
                    <a:lstStyle/>
                    <a:p>
                      <a:pPr algn="l"/>
                      <a:r>
                        <a:rPr sz="83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EDEDED"/>
                    </a:solidFill>
                  </a:tcPr>
                </a:tc>
              </a:tr>
            </a:tbl>
          </a:graphicData>
        </a:graphic>
      </p:graphicFrame>
      <p:sp>
        <p:nvSpPr>
          <p:cNvPr id="15" name="formula"/>
          <p:cNvSpPr/>
          <p:nvPr/>
        </p:nvSpPr>
        <p:spPr>
          <a:xfrm>
            <a:off x="365760" y="3749039"/>
            <a:ext cx="11457432" cy="566928"/>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ormula_text"/>
          <p:cNvSpPr txBox="1"/>
          <p:nvPr/>
        </p:nvSpPr>
        <p:spPr>
          <a:xfrm>
            <a:off x="457200" y="3767328"/>
            <a:ext cx="11247120" cy="5486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M/M = [ module 수 n × module당 고정 공수 3일 + 추가 LOC L ÷ 하루 생산성 40 LOC × 테스트·리뷰 overhead 2.0 ] ÷ 21일/MM</a:t>
            </a:r>
          </a:p>
          <a:p>
            <a:pPr algn="l">
              <a:lnSpc>
                <a:spcPct val="110000"/>
              </a:lnSpc>
              <a:spcAft>
                <a:spcPts val="0"/>
              </a:spcAft>
            </a:pPr>
            <a:r>
              <a:rPr sz="850" b="0">
                <a:solidFill>
                  <a:srgbClr val="404040"/>
                </a:solidFill>
                <a:latin typeface="맑은 고딕"/>
                <a:ea typeface="맑은 고딕"/>
              </a:rPr>
              <a:t>환산 예: SWE-bench 평균 패치 n=1.7, L=32.8 → 6.7일 = 0.32 MM · vLLM connector 중앙값 n=1, L=356 → 20.8일 = 0.99 MM. (LOC는 실제 vLLM 통합 기준. 시뮬레이터 proxy LOC는 ×5 배율로 환산한다.) 토큰 비용은 기준에서 제외했다.</a:t>
            </a:r>
          </a:p>
        </p:txBody>
      </p:sp>
      <p:sp>
        <p:nvSpPr>
          <p:cNvPr id="17" name="TextBox 16"/>
          <p:cNvSpPr txBox="1"/>
          <p:nvPr/>
        </p:nvSpPr>
        <p:spPr>
          <a:xfrm>
            <a:off x="365760" y="4352544"/>
            <a:ext cx="11430000" cy="274320"/>
          </a:xfrm>
          <a:prstGeom prst="rect">
            <a:avLst/>
          </a:prstGeom>
          <a:noFill/>
        </p:spPr>
        <p:txBody>
          <a:bodyPr wrap="square" lIns="73152" tIns="36576" rIns="73152" bIns="36576" anchor="t">
            <a:spAutoFit/>
          </a:bodyPr>
          <a:lstStyle/>
          <a:p>
            <a:pPr algn="l">
              <a:lnSpc>
                <a:spcPct val="105000"/>
              </a:lnSpc>
              <a:spcAft>
                <a:spcPts val="0"/>
              </a:spcAft>
            </a:pPr>
            <a:r>
              <a:rPr sz="900" b="1">
                <a:solidFill>
                  <a:srgbClr val="2F5597"/>
                </a:solidFill>
                <a:latin typeface="맑은 고딕"/>
                <a:ea typeface="맑은 고딕"/>
              </a:rPr>
              <a:t>두 지표의 관계: </a:t>
            </a:r>
            <a:r>
              <a:rPr sz="850" b="0">
                <a:solidFill>
                  <a:srgbClr val="000000"/>
                </a:solidFill>
                <a:latin typeface="맑은 고딕"/>
                <a:ea typeface="맑은 고딕"/>
              </a:rPr>
              <a:t>module 수 n이 M/M 안에 3일×n으로 들어 있어 독립이 아니다(n=2면 0.29 MM, n=5면 0.71 MM 선점). module 수가 M/M의 하한을 정하고, AND 판정은 'LOC까지 큰 변경'을 추가로 걸러 낸다.</a:t>
            </a:r>
          </a:p>
        </p:txBody>
      </p:sp>
      <p:sp>
        <p:nvSpPr>
          <p:cNvPr id="18" name="TextBox 17"/>
          <p:cNvSpPr txBox="1"/>
          <p:nvPr/>
        </p:nvSpPr>
        <p:spPr>
          <a:xfrm>
            <a:off x="365760" y="4709160"/>
            <a:ext cx="548640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① module 수 (시나리오 평균)</a:t>
            </a:r>
          </a:p>
        </p:txBody>
      </p:sp>
      <p:sp>
        <p:nvSpPr>
          <p:cNvPr id="19" name="Rectangle 18"/>
          <p:cNvSpPr/>
          <p:nvPr/>
        </p:nvSpPr>
        <p:spPr>
          <a:xfrm>
            <a:off x="411480" y="4946904"/>
            <a:ext cx="1541417"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4946904"/>
            <a:ext cx="154141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21" name="Rectangle 20"/>
          <p:cNvSpPr/>
          <p:nvPr/>
        </p:nvSpPr>
        <p:spPr>
          <a:xfrm>
            <a:off x="1952897" y="4946904"/>
            <a:ext cx="385354"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52897" y="4946904"/>
            <a:ext cx="385354"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★2.5</a:t>
            </a:r>
          </a:p>
        </p:txBody>
      </p:sp>
      <p:sp>
        <p:nvSpPr>
          <p:cNvPr id="23" name="Rectangle 22"/>
          <p:cNvSpPr/>
          <p:nvPr/>
        </p:nvSpPr>
        <p:spPr>
          <a:xfrm>
            <a:off x="2338251" y="4946904"/>
            <a:ext cx="385354"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38251" y="4946904"/>
            <a:ext cx="385354"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★2</a:t>
            </a:r>
          </a:p>
        </p:txBody>
      </p:sp>
      <p:sp>
        <p:nvSpPr>
          <p:cNvPr id="25" name="Rectangle 24"/>
          <p:cNvSpPr/>
          <p:nvPr/>
        </p:nvSpPr>
        <p:spPr>
          <a:xfrm>
            <a:off x="2723605" y="4946904"/>
            <a:ext cx="770708"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23605" y="4946904"/>
            <a:ext cx="77070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★1.5</a:t>
            </a:r>
          </a:p>
        </p:txBody>
      </p:sp>
      <p:sp>
        <p:nvSpPr>
          <p:cNvPr id="27" name="Rectangle 26"/>
          <p:cNvSpPr/>
          <p:nvPr/>
        </p:nvSpPr>
        <p:spPr>
          <a:xfrm>
            <a:off x="3494314" y="4946904"/>
            <a:ext cx="770708"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94314" y="4946904"/>
            <a:ext cx="770708"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★1</a:t>
            </a:r>
          </a:p>
        </p:txBody>
      </p:sp>
      <p:sp>
        <p:nvSpPr>
          <p:cNvPr id="29" name="Rectangle 28"/>
          <p:cNvSpPr/>
          <p:nvPr/>
        </p:nvSpPr>
        <p:spPr>
          <a:xfrm>
            <a:off x="4265022" y="4946904"/>
            <a:ext cx="1541417"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022" y="4946904"/>
            <a:ext cx="1541417"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31" name="TextBox 30"/>
          <p:cNvSpPr txBox="1"/>
          <p:nvPr/>
        </p:nvSpPr>
        <p:spPr>
          <a:xfrm>
            <a:off x="9144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32" name="TextBox 31"/>
          <p:cNvSpPr txBox="1"/>
          <p:nvPr/>
        </p:nvSpPr>
        <p:spPr>
          <a:xfrm>
            <a:off x="862148"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33" name="TextBox 32"/>
          <p:cNvSpPr txBox="1"/>
          <p:nvPr/>
        </p:nvSpPr>
        <p:spPr>
          <a:xfrm>
            <a:off x="1632857"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2</a:t>
            </a:r>
          </a:p>
        </p:txBody>
      </p:sp>
      <p:sp>
        <p:nvSpPr>
          <p:cNvPr id="34" name="TextBox 33"/>
          <p:cNvSpPr txBox="1"/>
          <p:nvPr/>
        </p:nvSpPr>
        <p:spPr>
          <a:xfrm>
            <a:off x="2403565"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3</a:t>
            </a:r>
          </a:p>
        </p:txBody>
      </p:sp>
      <p:sp>
        <p:nvSpPr>
          <p:cNvPr id="35" name="TextBox 34"/>
          <p:cNvSpPr txBox="1"/>
          <p:nvPr/>
        </p:nvSpPr>
        <p:spPr>
          <a:xfrm>
            <a:off x="3174274"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4</a:t>
            </a:r>
          </a:p>
        </p:txBody>
      </p:sp>
      <p:sp>
        <p:nvSpPr>
          <p:cNvPr id="36" name="TextBox 35"/>
          <p:cNvSpPr txBox="1"/>
          <p:nvPr/>
        </p:nvSpPr>
        <p:spPr>
          <a:xfrm>
            <a:off x="3944982"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5</a:t>
            </a:r>
          </a:p>
        </p:txBody>
      </p:sp>
      <p:sp>
        <p:nvSpPr>
          <p:cNvPr id="37" name="TextBox 36"/>
          <p:cNvSpPr txBox="1"/>
          <p:nvPr/>
        </p:nvSpPr>
        <p:spPr>
          <a:xfrm>
            <a:off x="4715691"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6</a:t>
            </a:r>
          </a:p>
        </p:txBody>
      </p:sp>
      <p:sp>
        <p:nvSpPr>
          <p:cNvPr id="38" name="TextBox 37"/>
          <p:cNvSpPr txBox="1"/>
          <p:nvPr/>
        </p:nvSpPr>
        <p:spPr>
          <a:xfrm>
            <a:off x="548640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7</a:t>
            </a:r>
          </a:p>
        </p:txBody>
      </p:sp>
      <p:cxnSp>
        <p:nvCxnSpPr>
          <p:cNvPr id="39" name="Connector 38"/>
          <p:cNvCxnSpPr/>
          <p:nvPr/>
        </p:nvCxnSpPr>
        <p:spPr>
          <a:xfrm>
            <a:off x="1952897" y="5358384"/>
            <a:ext cx="0" cy="530352"/>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338251" y="5358384"/>
            <a:ext cx="0" cy="530352"/>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723605" y="5358384"/>
            <a:ext cx="0" cy="530352"/>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494314" y="5358384"/>
            <a:ext cx="0" cy="530352"/>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265022" y="5358384"/>
            <a:ext cx="0" cy="530352"/>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1671392" y="5408676"/>
            <a:ext cx="100584" cy="100584"/>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94836" y="5376672"/>
            <a:ext cx="1978405" cy="164592"/>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SWE-bench 평균 패치 1.7 file (★3 경계 2)</a:t>
            </a:r>
          </a:p>
        </p:txBody>
      </p:sp>
      <p:sp>
        <p:nvSpPr>
          <p:cNvPr id="46" name="Isosceles Triangle 45"/>
          <p:cNvSpPr/>
          <p:nvPr/>
        </p:nvSpPr>
        <p:spPr>
          <a:xfrm>
            <a:off x="2664169" y="5568696"/>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96757" y="5541264"/>
            <a:ext cx="1797049" cy="164592"/>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★2 경계 3 ≈ component 12~14개의 1/4</a:t>
            </a:r>
          </a:p>
        </p:txBody>
      </p:sp>
      <p:sp>
        <p:nvSpPr>
          <p:cNvPr id="48" name="Diamond 47"/>
          <p:cNvSpPr/>
          <p:nvPr/>
        </p:nvSpPr>
        <p:spPr>
          <a:xfrm>
            <a:off x="4205586" y="5728716"/>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57330" y="5705856"/>
            <a:ext cx="2034539" cy="164592"/>
          </a:xfrm>
          <a:prstGeom prst="rect">
            <a:avLst/>
          </a:prstGeom>
          <a:noFill/>
        </p:spPr>
        <p:txBody>
          <a:bodyPr wrap="none" lIns="0" tIns="0" rIns="0" bIns="0" anchor="ctr">
            <a:spAutoFit/>
          </a:bodyPr>
          <a:lstStyle/>
          <a:p>
            <a:pPr algn="r">
              <a:spcAft>
                <a:spcPts val="0"/>
              </a:spcAft>
            </a:pPr>
            <a:r>
              <a:rPr sz="680" b="0">
                <a:solidFill>
                  <a:srgbClr val="262626"/>
                </a:solidFill>
                <a:latin typeface="맑은 고딕"/>
                <a:ea typeface="맑은 고딕"/>
              </a:rPr>
              <a:t>★1 경계: component 12~14개 중 5개(36~42%)</a:t>
            </a:r>
          </a:p>
        </p:txBody>
      </p:sp>
      <p:sp>
        <p:nvSpPr>
          <p:cNvPr id="50" name="TextBox 49"/>
          <p:cNvSpPr txBox="1"/>
          <p:nvPr/>
        </p:nvSpPr>
        <p:spPr>
          <a:xfrm>
            <a:off x="6126480" y="4709160"/>
            <a:ext cx="5669280" cy="219456"/>
          </a:xfrm>
          <a:prstGeom prst="rect">
            <a:avLst/>
          </a:prstGeom>
          <a:noFill/>
        </p:spPr>
        <p:txBody>
          <a:bodyPr wrap="square" lIns="18288" tIns="18288" rIns="18288" bIns="0" anchor="t">
            <a:spAutoFit/>
          </a:bodyPr>
          <a:lstStyle/>
          <a:p>
            <a:pPr algn="l">
              <a:spcAft>
                <a:spcPts val="0"/>
              </a:spcAft>
            </a:pPr>
            <a:r>
              <a:rPr sz="950" b="1">
                <a:solidFill>
                  <a:srgbClr val="2F5597"/>
                </a:solidFill>
                <a:latin typeface="맑은 고딕"/>
                <a:ea typeface="맑은 고딕"/>
              </a:rPr>
              <a:t>② 개발 공수 M/M</a:t>
            </a:r>
          </a:p>
        </p:txBody>
      </p:sp>
      <p:sp>
        <p:nvSpPr>
          <p:cNvPr id="51" name="Rectangle 50"/>
          <p:cNvSpPr/>
          <p:nvPr/>
        </p:nvSpPr>
        <p:spPr>
          <a:xfrm>
            <a:off x="6172200" y="4946904"/>
            <a:ext cx="1859280" cy="274320"/>
          </a:xfrm>
          <a:prstGeom prst="rect">
            <a:avLst/>
          </a:prstGeom>
          <a:solidFill>
            <a:srgbClr val="E2EFD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0" y="4946904"/>
            <a:ext cx="185928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★3</a:t>
            </a:r>
          </a:p>
        </p:txBody>
      </p:sp>
      <p:sp>
        <p:nvSpPr>
          <p:cNvPr id="53" name="Rectangle 52"/>
          <p:cNvSpPr/>
          <p:nvPr/>
        </p:nvSpPr>
        <p:spPr>
          <a:xfrm>
            <a:off x="8031480" y="4946904"/>
            <a:ext cx="464820" cy="274320"/>
          </a:xfrm>
          <a:prstGeom prst="rect">
            <a:avLst/>
          </a:prstGeom>
          <a:solidFill>
            <a:srgbClr val="EDF3D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031480" y="4946904"/>
            <a:ext cx="464820"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★2.5</a:t>
            </a:r>
          </a:p>
        </p:txBody>
      </p:sp>
      <p:sp>
        <p:nvSpPr>
          <p:cNvPr id="55" name="Rectangle 54"/>
          <p:cNvSpPr/>
          <p:nvPr/>
        </p:nvSpPr>
        <p:spPr>
          <a:xfrm>
            <a:off x="8496300" y="4946904"/>
            <a:ext cx="464819" cy="27432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496300" y="4946904"/>
            <a:ext cx="464819"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★2</a:t>
            </a:r>
          </a:p>
        </p:txBody>
      </p:sp>
      <p:sp>
        <p:nvSpPr>
          <p:cNvPr id="57" name="Rectangle 56"/>
          <p:cNvSpPr/>
          <p:nvPr/>
        </p:nvSpPr>
        <p:spPr>
          <a:xfrm>
            <a:off x="8961120" y="4946904"/>
            <a:ext cx="464819" cy="274320"/>
          </a:xfrm>
          <a:prstGeom prst="rect">
            <a:avLst/>
          </a:prstGeom>
          <a:solidFill>
            <a:srgbClr val="FDE9D2"/>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61120" y="4946904"/>
            <a:ext cx="464819"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★1.5</a:t>
            </a:r>
          </a:p>
        </p:txBody>
      </p:sp>
      <p:sp>
        <p:nvSpPr>
          <p:cNvPr id="59" name="Rectangle 58"/>
          <p:cNvSpPr/>
          <p:nvPr/>
        </p:nvSpPr>
        <p:spPr>
          <a:xfrm>
            <a:off x="9425940" y="4946904"/>
            <a:ext cx="464819" cy="274320"/>
          </a:xfrm>
          <a:prstGeom prst="rect">
            <a:avLst/>
          </a:prstGeom>
          <a:solidFill>
            <a:srgbClr val="FBE0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425940" y="4946904"/>
            <a:ext cx="464819" cy="274320"/>
          </a:xfrm>
          <a:prstGeom prst="rect">
            <a:avLst/>
          </a:prstGeom>
          <a:noFill/>
        </p:spPr>
        <p:txBody>
          <a:bodyPr wrap="square" lIns="0" tIns="0" rIns="0" bIns="0" anchor="ctr">
            <a:spAutoFit/>
          </a:bodyPr>
          <a:lstStyle/>
          <a:p>
            <a:pPr algn="ctr">
              <a:spcAft>
                <a:spcPts val="0"/>
              </a:spcAft>
            </a:pPr>
            <a:r>
              <a:rPr sz="750" b="1">
                <a:solidFill>
                  <a:srgbClr val="000000"/>
                </a:solidFill>
                <a:latin typeface="맑은 고딕"/>
                <a:ea typeface="맑은 고딕"/>
              </a:rPr>
              <a:t>★1</a:t>
            </a:r>
          </a:p>
        </p:txBody>
      </p:sp>
      <p:sp>
        <p:nvSpPr>
          <p:cNvPr id="61" name="Rectangle 60"/>
          <p:cNvSpPr/>
          <p:nvPr/>
        </p:nvSpPr>
        <p:spPr>
          <a:xfrm>
            <a:off x="9890760" y="4946904"/>
            <a:ext cx="1859280" cy="274320"/>
          </a:xfrm>
          <a:prstGeom prst="rect">
            <a:avLst/>
          </a:prstGeom>
          <a:solidFill>
            <a:srgbClr val="EDEDE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890760" y="4946904"/>
            <a:ext cx="1859280" cy="274320"/>
          </a:xfrm>
          <a:prstGeom prst="rect">
            <a:avLst/>
          </a:prstGeom>
          <a:noFill/>
        </p:spPr>
        <p:txBody>
          <a:bodyPr wrap="square" lIns="0" tIns="0" rIns="0" bIns="0" anchor="ctr">
            <a:spAutoFit/>
          </a:bodyPr>
          <a:lstStyle/>
          <a:p>
            <a:pPr algn="ctr">
              <a:spcAft>
                <a:spcPts val="0"/>
              </a:spcAft>
            </a:pPr>
            <a:r>
              <a:rPr sz="850" b="1">
                <a:solidFill>
                  <a:srgbClr val="000000"/>
                </a:solidFill>
                <a:latin typeface="맑은 고딕"/>
                <a:ea typeface="맑은 고딕"/>
              </a:rPr>
              <a:t>☆ 미충족</a:t>
            </a:r>
          </a:p>
        </p:txBody>
      </p:sp>
      <p:sp>
        <p:nvSpPr>
          <p:cNvPr id="63" name="TextBox 62"/>
          <p:cNvSpPr txBox="1"/>
          <p:nvPr/>
        </p:nvSpPr>
        <p:spPr>
          <a:xfrm>
            <a:off x="585216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a:t>
            </a:r>
          </a:p>
        </p:txBody>
      </p:sp>
      <p:sp>
        <p:nvSpPr>
          <p:cNvPr id="64" name="TextBox 63"/>
          <p:cNvSpPr txBox="1"/>
          <p:nvPr/>
        </p:nvSpPr>
        <p:spPr>
          <a:xfrm>
            <a:off x="678180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0.25</a:t>
            </a:r>
          </a:p>
        </p:txBody>
      </p:sp>
      <p:sp>
        <p:nvSpPr>
          <p:cNvPr id="65" name="TextBox 64"/>
          <p:cNvSpPr txBox="1"/>
          <p:nvPr/>
        </p:nvSpPr>
        <p:spPr>
          <a:xfrm>
            <a:off x="771144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0.5</a:t>
            </a:r>
          </a:p>
        </p:txBody>
      </p:sp>
      <p:sp>
        <p:nvSpPr>
          <p:cNvPr id="66" name="TextBox 65"/>
          <p:cNvSpPr txBox="1"/>
          <p:nvPr/>
        </p:nvSpPr>
        <p:spPr>
          <a:xfrm>
            <a:off x="864108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0.75</a:t>
            </a:r>
          </a:p>
        </p:txBody>
      </p:sp>
      <p:sp>
        <p:nvSpPr>
          <p:cNvPr id="67" name="TextBox 66"/>
          <p:cNvSpPr txBox="1"/>
          <p:nvPr/>
        </p:nvSpPr>
        <p:spPr>
          <a:xfrm>
            <a:off x="957072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a:t>
            </a:r>
          </a:p>
        </p:txBody>
      </p:sp>
      <p:sp>
        <p:nvSpPr>
          <p:cNvPr id="68" name="TextBox 67"/>
          <p:cNvSpPr txBox="1"/>
          <p:nvPr/>
        </p:nvSpPr>
        <p:spPr>
          <a:xfrm>
            <a:off x="1050036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1.25</a:t>
            </a:r>
          </a:p>
        </p:txBody>
      </p:sp>
      <p:sp>
        <p:nvSpPr>
          <p:cNvPr id="69" name="TextBox 68"/>
          <p:cNvSpPr txBox="1"/>
          <p:nvPr/>
        </p:nvSpPr>
        <p:spPr>
          <a:xfrm>
            <a:off x="11430000" y="5221224"/>
            <a:ext cx="640080" cy="146304"/>
          </a:xfrm>
          <a:prstGeom prst="rect">
            <a:avLst/>
          </a:prstGeom>
          <a:noFill/>
        </p:spPr>
        <p:txBody>
          <a:bodyPr wrap="square" lIns="0" tIns="0" rIns="0" bIns="0" anchor="t">
            <a:spAutoFit/>
          </a:bodyPr>
          <a:lstStyle/>
          <a:p>
            <a:pPr algn="ctr">
              <a:spcAft>
                <a:spcPts val="0"/>
              </a:spcAft>
            </a:pPr>
            <a:r>
              <a:rPr sz="680" b="0">
                <a:solidFill>
                  <a:srgbClr val="595959"/>
                </a:solidFill>
                <a:latin typeface="맑은 고딕"/>
                <a:ea typeface="맑은 고딕"/>
              </a:rPr>
              <a:t>1.5</a:t>
            </a:r>
          </a:p>
        </p:txBody>
      </p:sp>
      <p:cxnSp>
        <p:nvCxnSpPr>
          <p:cNvPr id="70" name="Connector 69"/>
          <p:cNvCxnSpPr/>
          <p:nvPr/>
        </p:nvCxnSpPr>
        <p:spPr>
          <a:xfrm>
            <a:off x="8031480" y="5358384"/>
            <a:ext cx="0" cy="69494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496300" y="5358384"/>
            <a:ext cx="0" cy="69494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961120" y="5358384"/>
            <a:ext cx="0" cy="69494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9425940" y="5358384"/>
            <a:ext cx="0" cy="69494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9890760" y="5358384"/>
            <a:ext cx="0" cy="694943"/>
          </a:xfrm>
          <a:prstGeom prst="line">
            <a:avLst/>
          </a:prstGeom>
          <a:ln w="6350">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75" name="Isosceles Triangle 74"/>
          <p:cNvSpPr/>
          <p:nvPr/>
        </p:nvSpPr>
        <p:spPr>
          <a:xfrm>
            <a:off x="7302703" y="5404104"/>
            <a:ext cx="118872" cy="109728"/>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435291" y="5376672"/>
            <a:ext cx="1559559" cy="164592"/>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SWE-bench 평균 패치 환산 0.32 MM</a:t>
            </a:r>
          </a:p>
        </p:txBody>
      </p:sp>
      <p:sp>
        <p:nvSpPr>
          <p:cNvPr id="77" name="Diamond 76"/>
          <p:cNvSpPr/>
          <p:nvPr/>
        </p:nvSpPr>
        <p:spPr>
          <a:xfrm>
            <a:off x="7972044" y="5564123"/>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04632" y="5541264"/>
            <a:ext cx="1235710" cy="164592"/>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1인 2주 sprint (★3 경계)</a:t>
            </a:r>
          </a:p>
        </p:txBody>
      </p:sp>
      <p:sp>
        <p:nvSpPr>
          <p:cNvPr id="79" name="Diamond 78"/>
          <p:cNvSpPr/>
          <p:nvPr/>
        </p:nvSpPr>
        <p:spPr>
          <a:xfrm>
            <a:off x="9831324" y="5728716"/>
            <a:ext cx="118872" cy="118872"/>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963912" y="5705856"/>
            <a:ext cx="989584" cy="164592"/>
          </a:xfrm>
          <a:prstGeom prst="rect">
            <a:avLst/>
          </a:prstGeom>
          <a:noFill/>
        </p:spPr>
        <p:txBody>
          <a:bodyPr wrap="none" lIns="0" tIns="0" rIns="0" bIns="0" anchor="ctr">
            <a:spAutoFit/>
          </a:bodyPr>
          <a:lstStyle/>
          <a:p>
            <a:pPr algn="l">
              <a:spcAft>
                <a:spcPts val="0"/>
              </a:spcAft>
            </a:pPr>
            <a:r>
              <a:rPr sz="680" b="0">
                <a:solidFill>
                  <a:srgbClr val="262626"/>
                </a:solidFill>
                <a:latin typeface="맑은 고딕"/>
                <a:ea typeface="맑은 고딕"/>
              </a:rPr>
              <a:t>1인 1개월 (★1 경계)</a:t>
            </a:r>
          </a:p>
        </p:txBody>
      </p:sp>
      <p:sp>
        <p:nvSpPr>
          <p:cNvPr id="81" name="Rectangle 80"/>
          <p:cNvSpPr/>
          <p:nvPr/>
        </p:nvSpPr>
        <p:spPr>
          <a:xfrm>
            <a:off x="8403336" y="5916168"/>
            <a:ext cx="3346704" cy="7315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a:off x="8403336" y="5888736"/>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1750040" y="5888736"/>
            <a:ext cx="0" cy="128016"/>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5958967" y="5870448"/>
            <a:ext cx="2371216" cy="164592"/>
          </a:xfrm>
          <a:prstGeom prst="rect">
            <a:avLst/>
          </a:prstGeom>
          <a:noFill/>
        </p:spPr>
        <p:txBody>
          <a:bodyPr wrap="none" lIns="0" tIns="0" rIns="0" bIns="0" anchor="ctr">
            <a:spAutoFit/>
          </a:bodyPr>
          <a:lstStyle/>
          <a:p>
            <a:pPr algn="r">
              <a:spcAft>
                <a:spcPts val="0"/>
              </a:spcAft>
            </a:pPr>
            <a:r>
              <a:rPr sz="579" b="0">
                <a:solidFill>
                  <a:srgbClr val="262626"/>
                </a:solidFill>
                <a:latin typeface="맑은 고딕"/>
                <a:ea typeface="맑은 고딕"/>
              </a:rPr>
              <a:t>vLLM connector 신규 구현 0.60(192 LOC)~2.98(1,190 LOC) MM</a:t>
            </a:r>
          </a:p>
        </p:txBody>
      </p:sp>
      <p:sp>
        <p:nvSpPr>
          <p:cNvPr id="85" name="Oval 84"/>
          <p:cNvSpPr/>
          <p:nvPr/>
        </p:nvSpPr>
        <p:spPr>
          <a:xfrm>
            <a:off x="6144768" y="6121907"/>
            <a:ext cx="82296" cy="82296"/>
          </a:xfrm>
          <a:prstGeom prst="ellipse">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6080759"/>
            <a:ext cx="9271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문헌 보고값(up to)</a:t>
            </a:r>
          </a:p>
        </p:txBody>
      </p:sp>
      <p:sp>
        <p:nvSpPr>
          <p:cNvPr id="87" name="Diamond 86"/>
          <p:cNvSpPr/>
          <p:nvPr/>
        </p:nvSpPr>
        <p:spPr>
          <a:xfrm>
            <a:off x="7300468" y="6121907"/>
            <a:ext cx="91440" cy="9144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19340" y="6080759"/>
            <a:ext cx="1260475"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Stakeholder·시나리오 요구</a:t>
            </a:r>
          </a:p>
        </p:txBody>
      </p:sp>
      <p:sp>
        <p:nvSpPr>
          <p:cNvPr id="89" name="Isosceles Triangle 88"/>
          <p:cNvSpPr/>
          <p:nvPr/>
        </p:nvSpPr>
        <p:spPr>
          <a:xfrm>
            <a:off x="8789543" y="6121907"/>
            <a:ext cx="91440" cy="82296"/>
          </a:xfrm>
          <a:prstGeom prst="triangle">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908415" y="6080759"/>
            <a:ext cx="495934"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계산·정책</a:t>
            </a:r>
          </a:p>
        </p:txBody>
      </p:sp>
      <p:sp>
        <p:nvSpPr>
          <p:cNvPr id="91" name="Oval 90"/>
          <p:cNvSpPr/>
          <p:nvPr/>
        </p:nvSpPr>
        <p:spPr>
          <a:xfrm>
            <a:off x="9514078" y="6121907"/>
            <a:ext cx="82296" cy="82296"/>
          </a:xfrm>
          <a:prstGeom prst="ellipse">
            <a:avLst/>
          </a:prstGeom>
          <a:solidFill>
            <a:srgbClr val="FFFFFF"/>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632950" y="6080759"/>
            <a:ext cx="1727200" cy="164592"/>
          </a:xfrm>
          <a:prstGeom prst="rect">
            <a:avLst/>
          </a:prstGeom>
          <a:noFill/>
        </p:spPr>
        <p:txBody>
          <a:bodyPr wrap="none" lIns="0" tIns="0" rIns="0" bIns="0" anchor="ctr">
            <a:spAutoFit/>
          </a:bodyPr>
          <a:lstStyle/>
          <a:p>
            <a:pPr algn="l">
              <a:spcAft>
                <a:spcPts val="0"/>
              </a:spcAft>
            </a:pPr>
            <a:r>
              <a:rPr sz="700" b="0">
                <a:solidFill>
                  <a:srgbClr val="404040"/>
                </a:solidFill>
                <a:latin typeface="맑은 고딕"/>
                <a:ea typeface="맑은 고딕"/>
              </a:rPr>
              <a:t>참고(극단 조건·압축 혼합, 앵커 제외)</a:t>
            </a:r>
          </a:p>
        </p:txBody>
      </p:sp>
    </p:spTree>
    <p:extLst>
      <p:ext uri="{BB962C8B-B14F-4D97-AF65-F5344CB8AC3E}">
        <p14:creationId xmlns:p14="http://schemas.microsoft.com/office/powerpoint/2010/main" val="1122340138"/>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평가 시나리오 - Agent KV Fleet (DP1~4 공통)</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근거: Llama-3.1-70B KV 327,680 B/token · H100×8 HBM 640 GiB, 가중치 약 131 GiB · prefill ≈ 25k tok/s(MFU 0.45) · DRAM 1 TiB, NVMe 16 GB/s(system-specs). 부하·idle 분포는 설계값[가정]</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KV 캐시 관리만 대상(RAG·LoRA·MoE 제외). KV가 HBM·DRAM 용량을 넘고 재사용할 history가 있는 구간을 겨냥한 통합 시나리오</a:t>
            </a:r>
            <a:endParaRPr lang="en-US" altLang="ko-KR" sz="1100" b="0" dirty="0">
              <a:latin typeface="맑은 고딕"/>
              <a:ea typeface="맑은 고딕"/>
            </a:endParaRPr>
          </a:p>
        </p:txBody>
      </p:sp>
      <p:graphicFrame>
        <p:nvGraphicFramePr>
          <p:cNvPr id="7" name="tbl"/>
          <p:cNvGraphicFramePr>
            <a:graphicFrameLocks noGrp="1"/>
          </p:cNvGraphicFramePr>
          <p:nvPr/>
        </p:nvGraphicFramePr>
        <p:xfrm>
          <a:off x="365760" y="1097280"/>
          <a:ext cx="11457432" cy="4261104"/>
        </p:xfrm>
        <a:graphic>
          <a:graphicData uri="http://schemas.openxmlformats.org/drawingml/2006/table">
            <a:tbl>
              <a:tblPr firstRow="0" bandRow="0">
                <a:tableStyleId>{2D5ABB26-0587-4C30-8999-92F81FD0307C}</a:tableStyleId>
              </a:tblPr>
              <a:tblGrid>
                <a:gridCol w="1417320"/>
                <a:gridCol w="5760720"/>
                <a:gridCol w="4279392"/>
              </a:tblGrid>
              <a:tr h="237744">
                <a:tc>
                  <a:txBody>
                    <a:bodyPr wrap="square"/>
                    <a:lstStyle/>
                    <a:p>
                      <a:pPr algn="ctr"/>
                      <a:r>
                        <a:rPr sz="900" b="1">
                          <a:solidFill>
                            <a:srgbClr val="FFFFFF"/>
                          </a:solidFill>
                          <a:latin typeface="맑은 고딕"/>
                          <a:ea typeface="맑은 고딕"/>
                        </a:rPr>
                        <a:t>항목</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값</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근거 / 계산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502920">
                <a:tc>
                  <a:txBody>
                    <a:bodyPr wrap="square"/>
                    <a:lstStyle/>
                    <a:p>
                      <a:pPr algn="l"/>
                      <a:r>
                        <a:rPr sz="819" b="0">
                          <a:solidFill>
                            <a:srgbClr val="000000"/>
                          </a:solidFill>
                          <a:latin typeface="맑은 고딕"/>
                          <a:ea typeface="맑은 고딕"/>
                        </a:rPr>
                        <a:t>모델·HW</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Llama-3.1-70B BF16, 8-GPU 노드(SYS-H100): HBM 640 GiB, DRAM 1 TiB(호스트 링크 64 GB/s), NVMe 16 GB/s. DP2·DP4는 4~16 노드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기존 평가 환경과 동일(비교 가능성). 노드 간 링크는 RDMA 50 GB/s [ASSUMED]</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요청 모델</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open-loop. 세션 idle 시간 지수분포 평균 60 s(tool·사용자 대기, 0.2 s~수 분), 컨텍스트 평균 16K, 턴당 +1K 입력·출력 256, 세션당 10~20턴</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16K 세션 KV = 327,680 B × 16,384 ≈ 5.0 GiB. 동시 세션 수 = λ × (idle + 응답) ≈ 250~330 (λ 3.8~5 turn/s)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메모리 압박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HBM KV 풀 ≈ 425 GiB(≈85 세션분) + DRAM 922 GiB(≈184 세션분). 동시 세션 KV 1.3~1.6 TiB는 HBM+DRAM(1.35 TiB)도 넘어 SSD가 쓰인다</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반환 세션이 HBM/DRAM/SSD에서 발견될 확률은 LRU stack distance로 계산(idle ~ Exp(60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재사용</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세션 간 공유 문서 청크 30%, 그중 50%는 non-prefix 위치. 선택 재계산 15% 토큰 [가정]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DP3 재사용·선택 재계산이 겨냥하는 조건. B0·B1은 세션마다 복제 저장</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부하·SLO</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Q1: 부하 sweep의 Max SLO goodput(이용률 상한 0.8 [가정]). Q3: B1 Max SLO goodput의 90% 고정 부하. TTFT P99 ≤ 2 s, TPOT P99 ≤ 50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Q4: 노드 2→16 sweep, SE(16)</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B0 GPU-only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vLLM 기본: HBM prefix cache + preemption recompute, DRAM·SSD 사용 없음</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HBM에 없으면 16K 재prefill ≈ 0.65 s. '스케줄링도 offload도 없는' 하한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B1 정적 offload (판정 Baseline)</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HBM이 차면 LRU로 DRAM, DRAM이 차면 SSD로 옮김. 전체 write-back, 요청 시 동기 복원, prefetch·예측·배치 정책 없음</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DP1의 '정적 DRAM swap/offload'를 SSD 계층까지 확장한 정의. 후보와 같은 메모리·대역폭을 쓴다(후보 전용 메모리는 B1이 쓰지 않음)</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02920">
                <a:tc>
                  <a:txBody>
                    <a:bodyPr wrap="square"/>
                    <a:lstStyle/>
                    <a:p>
                      <a:pPr algn="l"/>
                      <a:r>
                        <a:rPr sz="819" b="0">
                          <a:solidFill>
                            <a:srgbClr val="000000"/>
                          </a:solidFill>
                          <a:latin typeface="맑은 고딕"/>
                          <a:ea typeface="맑은 고딕"/>
                        </a:rPr>
                        <a:t>반복</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분석 모델은 결정적(deterministic). 시뮬레이션 전환 시 seed ≥ 5, median, 95% CI</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단일 seed로 별점을 매기지 않는다</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8" name="TextBox 7"/>
          <p:cNvSpPr txBox="1"/>
          <p:nvPr/>
        </p:nvSpPr>
        <p:spPr>
          <a:xfrm>
            <a:off x="365760" y="5669280"/>
            <a:ext cx="11430000" cy="73152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C00000"/>
                </a:solidFill>
                <a:latin typeface="맑은 고딕"/>
                <a:ea typeface="맑은 고딕"/>
              </a:rPr>
              <a:t>조건부 별: </a:t>
            </a:r>
            <a:r>
              <a:rPr sz="900" b="0">
                <a:solidFill>
                  <a:srgbClr val="000000"/>
                </a:solidFill>
                <a:latin typeface="맑은 고딕"/>
                <a:ea typeface="맑은 고딕"/>
              </a:rPr>
              <a:t>이 시나리오는 KV가 HBM·DRAM을 넘고 재사용할 history가 있는 구간을 의도적으로 겨냥한다(문헌이 이득을 보고한 조건과 같은 영역). 짧은 컨텍스트·KV 여유 구간에서는 B1과의 차이가 줄어들므로 별은 '이 regime에서의 별'로 읽는다. 값은 분석 모델의 예상값이며 시뮬레이션 전이다.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평가 시나리오 - 구간(Phase)과 DP·QA 대응</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N 노드 확장(P4)은 별도 run(N = 2, 4, 8, 16, 세션 수 ∝ N). 모든 값은 분석 모델 기반 설계값이다.</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한 시나리오 안에서 DP별 메커니즘이 작동하는 구간을 나누고, QA별 측정 규칙을 정한다</a:t>
            </a:r>
            <a:endParaRPr lang="en-US" altLang="ko-KR" sz="1100" b="0" dirty="0">
              <a:latin typeface="맑은 고딕"/>
              <a:ea typeface="맑은 고딕"/>
            </a:endParaRPr>
          </a:p>
        </p:txBody>
      </p:sp>
      <p:graphicFrame>
        <p:nvGraphicFramePr>
          <p:cNvPr id="7" name="tbl"/>
          <p:cNvGraphicFramePr>
            <a:graphicFrameLocks noGrp="1"/>
          </p:cNvGraphicFramePr>
          <p:nvPr/>
        </p:nvGraphicFramePr>
        <p:xfrm>
          <a:off x="365760" y="1097280"/>
          <a:ext cx="11457432" cy="3072384"/>
        </p:xfrm>
        <a:graphic>
          <a:graphicData uri="http://schemas.openxmlformats.org/drawingml/2006/table">
            <a:tbl>
              <a:tblPr firstRow="0" bandRow="0">
                <a:tableStyleId>{2D5ABB26-0587-4C30-8999-92F81FD0307C}</a:tableStyleId>
              </a:tblPr>
              <a:tblGrid>
                <a:gridCol w="1463040"/>
                <a:gridCol w="3566160"/>
                <a:gridCol w="5029200"/>
                <a:gridCol w="1399032"/>
              </a:tblGrid>
              <a:tr h="237744">
                <a:tc>
                  <a:txBody>
                    <a:bodyPr wrap="square"/>
                    <a:lstStyle/>
                    <a:p>
                      <a:pPr algn="ctr"/>
                      <a:r>
                        <a:rPr sz="900" b="1">
                          <a:solidFill>
                            <a:srgbClr val="FFFFFF"/>
                          </a:solidFill>
                          <a:latin typeface="맑은 고딕"/>
                          <a:ea typeface="맑은 고딕"/>
                        </a:rPr>
                        <a:t>Phase</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구간 내용</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겨냥하는 DP 메커니즘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측정 QA</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566928">
                <a:tc>
                  <a:txBody>
                    <a:bodyPr wrap="square"/>
                    <a:lstStyle/>
                    <a:p>
                      <a:pPr algn="l"/>
                      <a:r>
                        <a:rPr sz="850" b="0">
                          <a:solidFill>
                            <a:srgbClr val="000000"/>
                          </a:solidFill>
                          <a:latin typeface="맑은 고딕"/>
                          <a:ea typeface="맑은 고딕"/>
                        </a:rPr>
                        <a:t>P1 정상 multi-turn
(0~10분)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agent 세션이 idle을 두고 턴을 이어 감. 유휴 KV가 HBM을 점유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DP1: 유휴 KV 하위 tier 이동(demote)과 재개 시 승격·prefetch. 1안 = 자원 상태 기반, 2안 = 데이터 접근 특성 기반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50" b="0">
                          <a:solidFill>
                            <a:srgbClr val="000000"/>
                          </a:solidFill>
                          <a:latin typeface="맑은 고딕"/>
                          <a:ea typeface="맑은 고딕"/>
                        </a:rPr>
                        <a:t>Q1, Q2, Q3, Q5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66928">
                <a:tc>
                  <a:txBody>
                    <a:bodyPr wrap="square"/>
                    <a:lstStyle/>
                    <a:p>
                      <a:pPr algn="l"/>
                      <a:r>
                        <a:rPr sz="850" b="0">
                          <a:solidFill>
                            <a:srgbClr val="000000"/>
                          </a:solidFill>
                          <a:latin typeface="맑은 고딕"/>
                          <a:ea typeface="맑은 고딕"/>
                        </a:rPr>
                        <a:t>P2 burst
(10~15분)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신규 세션 3배 폭주 + 기존 세션 decode가 겹침(prefill burst + decode-heavy)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DP2: Prefill/Decode 실행 위치 결정. 1안 = 스케줄링 시점 결정, 2안 = 사전 계획 결정(Re-plan 위험)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50" b="0">
                          <a:solidFill>
                            <a:srgbClr val="000000"/>
                          </a:solidFill>
                          <a:latin typeface="맑은 고딕"/>
                          <a:ea typeface="맑은 고딕"/>
                        </a:rPr>
                        <a:t>Q1, Q2, Q3, Q4</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66928">
                <a:tc>
                  <a:txBody>
                    <a:bodyPr wrap="square"/>
                    <a:lstStyle/>
                    <a:p>
                      <a:pPr algn="l"/>
                      <a:r>
                        <a:rPr sz="850" b="0">
                          <a:solidFill>
                            <a:srgbClr val="000000"/>
                          </a:solidFill>
                          <a:latin typeface="맑은 고딕"/>
                          <a:ea typeface="맑은 고딕"/>
                        </a:rPr>
                        <a:t>P3 공유 문서 wave
(15~25분)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같은 문서 청크를 여러 세션이 연달아 참조(non-prefix 50%)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DP3: 재사용·재계산 대상 선정. 1안 = Pipe-and-Filter(요청마다 체인), 2안 = Shared Repository(분석 1회 + 조회), 둘 다 선택 재계산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50" b="0">
                          <a:solidFill>
                            <a:srgbClr val="000000"/>
                          </a:solidFill>
                          <a:latin typeface="맑은 고딕"/>
                          <a:ea typeface="맑은 고딕"/>
                        </a:rPr>
                        <a:t>Q1, Q2, Q3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66928">
                <a:tc>
                  <a:txBody>
                    <a:bodyPr wrap="square"/>
                    <a:lstStyle/>
                    <a:p>
                      <a:pPr algn="l"/>
                      <a:r>
                        <a:rPr sz="850" b="0">
                          <a:solidFill>
                            <a:srgbClr val="000000"/>
                          </a:solidFill>
                          <a:latin typeface="맑은 고딕"/>
                          <a:ea typeface="맑은 고딕"/>
                        </a:rPr>
                        <a:t>P4 노드 확장
(별도 run)</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노드 2→16, 세션 수 ∝ 노드 수. 노드 간 KV 블록 조회·소유권 이동 발생</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DP4: 서버 간 KV 공유. 1안 = 중앙 서버 중재, 2안 = 락 기반 직접 접근. CXL 공유 풀이 SSD를 대체</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50" b="0">
                          <a:solidFill>
                            <a:srgbClr val="000000"/>
                          </a:solidFill>
                          <a:latin typeface="맑은 고딕"/>
                          <a:ea typeface="맑은 고딕"/>
                        </a:rPr>
                        <a:t>Q1, Q3, Q4</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566928">
                <a:tc>
                  <a:txBody>
                    <a:bodyPr wrap="square"/>
                    <a:lstStyle/>
                    <a:p>
                      <a:pPr algn="l"/>
                      <a:r>
                        <a:rPr sz="850" b="0">
                          <a:solidFill>
                            <a:srgbClr val="000000"/>
                          </a:solidFill>
                          <a:latin typeface="맑은 고딕"/>
                          <a:ea typeface="맑은 고딕"/>
                        </a:rPr>
                        <a:t>변경 시나리오
(구현 측정)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S1 새 메모리 tier · S2 정책 교체 · S3 vLLM upstream 갱신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0">
                          <a:solidFill>
                            <a:srgbClr val="000000"/>
                          </a:solidFill>
                          <a:latin typeface="맑은 고딕"/>
                          <a:ea typeface="맑은 고딕"/>
                        </a:rPr>
                        <a:t>모든 DP 후보의 module 수·M/M (시나리오 평균)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50" b="0">
                          <a:solidFill>
                            <a:srgbClr val="000000"/>
                          </a:solidFill>
                          <a:latin typeface="맑은 고딕"/>
                          <a:ea typeface="맑은 고딕"/>
                        </a:rPr>
                        <a:t>Q5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8" name="TextBox 7"/>
          <p:cNvSpPr txBox="1"/>
          <p:nvPr/>
        </p:nvSpPr>
        <p:spPr>
          <a:xfrm>
            <a:off x="365760" y="4480560"/>
            <a:ext cx="11430000" cy="1371600"/>
          </a:xfrm>
          <a:prstGeom prst="rect">
            <a:avLst/>
          </a:prstGeom>
          <a:noFill/>
        </p:spPr>
        <p:txBody>
          <a:bodyPr wrap="square" lIns="73152" tIns="36576" rIns="73152" bIns="36576" anchor="t">
            <a:spAutoFit/>
          </a:bodyPr>
          <a:lstStyle/>
          <a:p>
            <a:pPr algn="l">
              <a:lnSpc>
                <a:spcPct val="112000"/>
              </a:lnSpc>
              <a:spcAft>
                <a:spcPts val="0"/>
              </a:spcAft>
            </a:pPr>
            <a:r>
              <a:rPr sz="1000" b="1">
                <a:solidFill>
                  <a:srgbClr val="2F5597"/>
                </a:solidFill>
                <a:latin typeface="맑은 고딕"/>
                <a:ea typeface="맑은 고딕"/>
              </a:rPr>
              <a:t>측정 규칙</a:t>
            </a:r>
          </a:p>
          <a:p>
            <a:pPr algn="l">
              <a:lnSpc>
                <a:spcPct val="112000"/>
              </a:lnSpc>
              <a:spcAft>
                <a:spcPts val="0"/>
              </a:spcAft>
            </a:pPr>
            <a:r>
              <a:rPr sz="900" b="0">
                <a:solidFill>
                  <a:srgbClr val="000000"/>
                </a:solidFill>
                <a:latin typeface="맑은 고딕"/>
                <a:ea typeface="맑은 고딕"/>
              </a:rPr>
              <a:t>• Q1: 부하 sweep 최댓값끼리 R = 후보 ÷ B1 · Q2: HBM 상주 KV 시간 평균의 B1 대비 감소율 · Q3: B1 Max SLO goodput의 90% 부하에서 TTFT·TPOT P99로 r 계산</a:t>
            </a:r>
          </a:p>
          <a:p>
            <a:pPr algn="l">
              <a:lnSpc>
                <a:spcPct val="112000"/>
              </a:lnSpc>
              <a:spcAft>
                <a:spcPts val="0"/>
              </a:spcAft>
            </a:pPr>
            <a:r>
              <a:rPr sz="900" b="0">
                <a:solidFill>
                  <a:srgbClr val="000000"/>
                </a:solidFill>
                <a:latin typeface="맑은 고딕"/>
                <a:ea typeface="맑은 고딕"/>
              </a:rPr>
              <a:t>• Q4: 노드 2→16 sweep, SE(16) = goodput 배율 ÷ 노드 배율 · Q5: 변경 시나리오 3종을 각 후보에 구현해 module 수·M/M 평균</a:t>
            </a:r>
          </a:p>
          <a:p>
            <a:pPr algn="l">
              <a:lnSpc>
                <a:spcPct val="112000"/>
              </a:lnSpc>
              <a:spcAft>
                <a:spcPts val="0"/>
              </a:spcAft>
            </a:pPr>
            <a:r>
              <a:rPr sz="900" b="0">
                <a:solidFill>
                  <a:srgbClr val="000000"/>
                </a:solidFill>
                <a:latin typeface="맑은 고딕"/>
                <a:ea typeface="맑은 고딕"/>
              </a:rPr>
              <a:t>• 기준·시나리오 값은 결과를 보기 전에 고정한다. 기존 중립 벤치마크(8K 입력, batch 32) 시뮬 결과는 md의 참고 표에만 두고 이 시나리오 값과 섞지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평가 Baseline 정의와 절대 수치</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분석 모델: theory_model.py (GPU 한계 · DRAM 링크 51 GB/s · SSD 링크 12.8 GB/s 중 최솟값 × 이용률 0.8). 시뮬레이션이 아니며 후보 파라미터는 [가정]</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판정은 B1(정적 offload) 대비. B0(GPU-only)는 참고. 절대값은 이론 계산(Agent KV Fleet, SYS-H100)</a:t>
            </a:r>
            <a:endParaRPr lang="en-US" altLang="ko-KR" sz="1100" b="0" dirty="0">
              <a:latin typeface="맑은 고딕"/>
              <a:ea typeface="맑은 고딕"/>
            </a:endParaRPr>
          </a:p>
        </p:txBody>
      </p:sp>
      <p:graphicFrame>
        <p:nvGraphicFramePr>
          <p:cNvPr id="7" name="tbl"/>
          <p:cNvGraphicFramePr>
            <a:graphicFrameLocks noGrp="1"/>
          </p:cNvGraphicFramePr>
          <p:nvPr/>
        </p:nvGraphicFramePr>
        <p:xfrm>
          <a:off x="365760" y="1097280"/>
          <a:ext cx="11457432" cy="3035808"/>
        </p:xfrm>
        <a:graphic>
          <a:graphicData uri="http://schemas.openxmlformats.org/drawingml/2006/table">
            <a:tbl>
              <a:tblPr firstRow="0" bandRow="0">
                <a:tableStyleId>{2D5ABB26-0587-4C30-8999-92F81FD0307C}</a:tableStyleId>
              </a:tblPr>
              <a:tblGrid>
                <a:gridCol w="1234440"/>
                <a:gridCol w="1600200"/>
                <a:gridCol w="2103120"/>
                <a:gridCol w="1417320"/>
                <a:gridCol w="1371600"/>
                <a:gridCol w="1234440"/>
                <a:gridCol w="822960"/>
                <a:gridCol w="822960"/>
                <a:gridCol w="850392"/>
              </a:tblGrid>
              <a:tr h="256032">
                <a:tc>
                  <a:txBody>
                    <a:bodyPr wrap="square"/>
                    <a:lstStyle/>
                    <a:p>
                      <a:pPr algn="ctr"/>
                      <a:r>
                        <a:rPr sz="900" b="1">
                          <a:solidFill>
                            <a:srgbClr val="FFFFFF"/>
                          </a:solidFill>
                          <a:latin typeface="맑은 고딕"/>
                          <a:ea typeface="맑은 고딕"/>
                        </a:rPr>
                        <a:t>QA</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범위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지표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B0 GPU-only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B1 정적 offload</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이론 상한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347472">
                <a:tc>
                  <a:txBody>
                    <a:bodyPr wrap="square"/>
                    <a:lstStyle/>
                    <a:p>
                      <a:pPr algn="l"/>
                      <a:r>
                        <a:rPr sz="800" b="0">
                          <a:solidFill>
                            <a:srgbClr val="000000"/>
                          </a:solidFill>
                          <a:latin typeface="맑은 고딕"/>
                          <a:ea typeface="맑은 고딕"/>
                        </a:rPr>
                        <a:t>Q1 처리량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1 노드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Max SLO goodput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451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786</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1,812 (GPU 한계)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944</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1,179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1,415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DP2 4노드 (P2+D2 고정)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Max SLO goodput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901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1,573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1,887</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2,359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2,831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DP4 4노드 (노드 독립)</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Max SLO goodput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1,802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2,973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3,567</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4,459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5,351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Q2 HBM 효율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1 노드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HBM 상주 KV (GiB, 낮을수록 좋음)</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425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425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53 (decode 상주분)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340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255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170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DP2 4노드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HBM 상주 KV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850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850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680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510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340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Q3 고부하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B1 90% 부하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TTFT P99 (s) / TPOT P99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7.8 s / 26.7 ms (과부하)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1.91 s / 24.6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TTFT ≤ 1.33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0.85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0.59 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Q4 확장성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N=16</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SE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98 (노드 독립)</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98 (노드 독립)</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100 (선형)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80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90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 95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347472">
                <a:tc>
                  <a:txBody>
                    <a:bodyPr wrap="square"/>
                    <a:lstStyle/>
                    <a:p>
                      <a:pPr algn="l"/>
                      <a:r>
                        <a:rPr sz="800" b="0">
                          <a:solidFill>
                            <a:srgbClr val="000000"/>
                          </a:solidFill>
                          <a:latin typeface="맑은 고딕"/>
                          <a:ea typeface="맑은 고딕"/>
                        </a:rPr>
                        <a:t>Q5 변경 용이성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후보 구현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000000"/>
                          </a:solidFill>
                          <a:latin typeface="맑은 고딕"/>
                          <a:ea typeface="맑은 고딕"/>
                        </a:rPr>
                        <a:t>module 수 · M/M (절대 기준)</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≤5 · ≤1.0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≤3 · ≤0.75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00" b="0">
                          <a:solidFill>
                            <a:srgbClr val="000000"/>
                          </a:solidFill>
                          <a:latin typeface="맑은 고딕"/>
                          <a:ea typeface="맑은 고딕"/>
                        </a:rPr>
                        <a:t>≤2 · ≤0.5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8" name="TextBox 7"/>
          <p:cNvSpPr txBox="1"/>
          <p:nvPr/>
        </p:nvSpPr>
        <p:spPr>
          <a:xfrm>
            <a:off x="365760" y="4297680"/>
            <a:ext cx="5577840" cy="2194560"/>
          </a:xfrm>
          <a:prstGeom prst="rect">
            <a:avLst/>
          </a:prstGeom>
          <a:noFill/>
        </p:spPr>
        <p:txBody>
          <a:bodyPr wrap="square" lIns="73152" tIns="36576" rIns="73152" bIns="36576" anchor="t">
            <a:spAutoFit/>
          </a:bodyPr>
          <a:lstStyle/>
          <a:p>
            <a:pPr algn="l">
              <a:lnSpc>
                <a:spcPct val="112000"/>
              </a:lnSpc>
              <a:spcAft>
                <a:spcPts val="0"/>
              </a:spcAft>
            </a:pPr>
            <a:r>
              <a:rPr sz="1000" b="1">
                <a:solidFill>
                  <a:srgbClr val="2F5597"/>
                </a:solidFill>
                <a:latin typeface="맑은 고딕"/>
                <a:ea typeface="맑은 고딕"/>
              </a:rPr>
              <a:t>Baseline 정의</a:t>
            </a:r>
          </a:p>
          <a:p>
            <a:pPr algn="l">
              <a:lnSpc>
                <a:spcPct val="112000"/>
              </a:lnSpc>
              <a:spcAft>
                <a:spcPts val="0"/>
              </a:spcAft>
            </a:pPr>
            <a:r>
              <a:rPr sz="880" b="0">
                <a:solidFill>
                  <a:srgbClr val="000000"/>
                </a:solidFill>
                <a:latin typeface="맑은 고딕"/>
                <a:ea typeface="맑은 고딕"/>
              </a:rPr>
              <a:t>• B0 GPU-only: vLLM 기본. KV가 HBM에 없으면 16K 재prefill(≈0.65 s). 스케줄링도 offload도 없음</a:t>
            </a:r>
          </a:p>
          <a:p>
            <a:pPr algn="l">
              <a:lnSpc>
                <a:spcPct val="112000"/>
              </a:lnSpc>
              <a:spcAft>
                <a:spcPts val="0"/>
              </a:spcAft>
            </a:pPr>
            <a:r>
              <a:rPr sz="880" b="0">
                <a:solidFill>
                  <a:srgbClr val="000000"/>
                </a:solidFill>
                <a:latin typeface="맑은 고딕"/>
                <a:ea typeface="맑은 고딕"/>
              </a:rPr>
              <a:t>• B1 정적 offload(판정 기준): HBM이 차면 LRU로 DRAM, DRAM이 차면 SSD로 이동. 전체 write-back, 요청 시 동기 복원, prefetch·예측 없음. DP1의 정적 DRAM swap/offload를 SSD 계층까지 확장</a:t>
            </a:r>
          </a:p>
          <a:p>
            <a:pPr algn="l">
              <a:lnSpc>
                <a:spcPct val="112000"/>
              </a:lnSpc>
              <a:spcAft>
                <a:spcPts val="0"/>
              </a:spcAft>
            </a:pPr>
            <a:r>
              <a:rPr sz="880" b="0">
                <a:solidFill>
                  <a:srgbClr val="000000"/>
                </a:solidFill>
                <a:latin typeface="맑은 고딕"/>
                <a:ea typeface="맑은 고딕"/>
              </a:rPr>
              <a:t>• 후보는 B1과 같은 메모리·대역폭을 쓴다. DP2의 B1은 P/D 고정 역할, DP4의 B1은 노드 독립(교차 라우팅 25%는 재계산)</a:t>
            </a:r>
          </a:p>
        </p:txBody>
      </p:sp>
      <p:sp>
        <p:nvSpPr>
          <p:cNvPr id="9" name="TextBox 8"/>
          <p:cNvSpPr txBox="1"/>
          <p:nvPr/>
        </p:nvSpPr>
        <p:spPr>
          <a:xfrm>
            <a:off x="6126480" y="4297680"/>
            <a:ext cx="5669280" cy="2194560"/>
          </a:xfrm>
          <a:prstGeom prst="rect">
            <a:avLst/>
          </a:prstGeom>
          <a:noFill/>
        </p:spPr>
        <p:txBody>
          <a:bodyPr wrap="square" lIns="73152" tIns="36576" rIns="73152" bIns="36576" anchor="t">
            <a:spAutoFit/>
          </a:bodyPr>
          <a:lstStyle/>
          <a:p>
            <a:pPr algn="l">
              <a:lnSpc>
                <a:spcPct val="112000"/>
              </a:lnSpc>
              <a:spcAft>
                <a:spcPts val="0"/>
              </a:spcAft>
            </a:pPr>
            <a:r>
              <a:rPr sz="1000" b="1">
                <a:solidFill>
                  <a:srgbClr val="2F5597"/>
                </a:solidFill>
                <a:latin typeface="맑은 고딕"/>
                <a:ea typeface="맑은 고딕"/>
              </a:rPr>
              <a:t>읽는 법</a:t>
            </a:r>
          </a:p>
          <a:p>
            <a:pPr algn="l">
              <a:lnSpc>
                <a:spcPct val="112000"/>
              </a:lnSpc>
              <a:spcAft>
                <a:spcPts val="0"/>
              </a:spcAft>
            </a:pPr>
            <a:r>
              <a:rPr sz="880" b="0">
                <a:solidFill>
                  <a:srgbClr val="000000"/>
                </a:solidFill>
                <a:latin typeface="맑은 고딕"/>
                <a:ea typeface="맑은 고딕"/>
              </a:rPr>
              <a:t>• B1은 B0의 1.74배: 정적 offload만으로 얻는 이득이 이미 크다. 이 위에서의 개선이 DP 후보의 몫이다</a:t>
            </a:r>
          </a:p>
          <a:p>
            <a:pPr algn="l">
              <a:lnSpc>
                <a:spcPct val="112000"/>
              </a:lnSpc>
              <a:spcAft>
                <a:spcPts val="0"/>
              </a:spcAft>
            </a:pPr>
            <a:r>
              <a:rPr sz="880" b="0">
                <a:solidFill>
                  <a:srgbClr val="000000"/>
                </a:solidFill>
                <a:latin typeface="맑은 고딕"/>
                <a:ea typeface="맑은 고딕"/>
              </a:rPr>
              <a:t>• 기존 요구 '처리량 2배'(B0 대비)는 B1 대비 1.15배와 같다 → ★1(1.2배)과 거의 일치</a:t>
            </a:r>
          </a:p>
          <a:p>
            <a:pPr algn="l">
              <a:lnSpc>
                <a:spcPct val="112000"/>
              </a:lnSpc>
              <a:spcAft>
                <a:spcPts val="0"/>
              </a:spcAft>
            </a:pPr>
            <a:r>
              <a:rPr sz="880" b="0">
                <a:solidFill>
                  <a:srgbClr val="000000"/>
                </a:solidFill>
                <a:latin typeface="맑은 고딕"/>
                <a:ea typeface="맑은 고딕"/>
              </a:rPr>
              <a:t>• 이론 상한: GPU 한계(8.85 turn/s)에서 B1(3.84 turn/s)까지의 여유 = 2.3배. 어떤 설계도 이 이상은 못 얻는다</a:t>
            </a:r>
          </a:p>
          <a:p>
            <a:pPr algn="l">
              <a:lnSpc>
                <a:spcPct val="112000"/>
              </a:lnSpc>
              <a:spcAft>
                <a:spcPts val="0"/>
              </a:spcAft>
            </a:pPr>
            <a:r>
              <a:rPr sz="880" b="0">
                <a:solidFill>
                  <a:srgbClr val="000000"/>
                </a:solidFill>
                <a:latin typeface="맑은 고딕"/>
                <a:ea typeface="맑은 고딕"/>
              </a:rPr>
              <a:t>• Q2·Q3 이론 상한: HBM ≈ 88% 절감, TTFT는 prefill(≈41 ms)까지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이론 계산 기반 예상값 산출 방식</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코드: doc-mk/QA-criteria-v4/theory_model.py. 후보 파라미터는 덱의 장단점과 DP1 요구 수치(prefetch 적중 ≥ 60~70%, 낭비 ≤ 30%)에서 방향만 가져온 [가정]이며 시뮬레이션으로 교체한다</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B0·B1은 물리 한계에서 계산하고, 후보는 같은 식에 설계 파라미터만 바꿔 넣는다 (시뮬레이션 아님)</a:t>
            </a:r>
            <a:endParaRPr lang="en-US" altLang="ko-KR" sz="1100" b="0" dirty="0">
              <a:latin typeface="맑은 고딕"/>
              <a:ea typeface="맑은 고딕"/>
            </a:endParaRPr>
          </a:p>
        </p:txBody>
      </p:sp>
      <p:sp>
        <p:nvSpPr>
          <p:cNvPr id="7" name="TextBox 6"/>
          <p:cNvSpPr txBox="1"/>
          <p:nvPr/>
        </p:nvSpPr>
        <p:spPr>
          <a:xfrm>
            <a:off x="365760" y="1069848"/>
            <a:ext cx="5669280" cy="2743200"/>
          </a:xfrm>
          <a:prstGeom prst="rect">
            <a:avLst/>
          </a:prstGeom>
          <a:noFill/>
        </p:spPr>
        <p:txBody>
          <a:bodyPr wrap="square" lIns="73152" tIns="36576" rIns="73152" bIns="36576" anchor="t">
            <a:spAutoFit/>
          </a:bodyPr>
          <a:lstStyle/>
          <a:p>
            <a:pPr algn="l">
              <a:lnSpc>
                <a:spcPct val="110000"/>
              </a:lnSpc>
              <a:spcAft>
                <a:spcPts val="0"/>
              </a:spcAft>
            </a:pPr>
            <a:r>
              <a:rPr sz="1000" b="1">
                <a:solidFill>
                  <a:srgbClr val="2F5597"/>
                </a:solidFill>
                <a:latin typeface="맑은 고딕"/>
                <a:ea typeface="맑은 고딕"/>
              </a:rPr>
              <a:t>계산 구조</a:t>
            </a:r>
          </a:p>
          <a:p>
            <a:pPr algn="l">
              <a:lnSpc>
                <a:spcPct val="110000"/>
              </a:lnSpc>
              <a:spcAft>
                <a:spcPts val="0"/>
              </a:spcAft>
            </a:pPr>
            <a:r>
              <a:rPr sz="850" b="0">
                <a:solidFill>
                  <a:srgbClr val="000000"/>
                </a:solidFill>
                <a:latin typeface="맑은 고딕"/>
                <a:ea typeface="맑은 고딕"/>
              </a:rPr>
              <a:t>① 반환 세션 hit: LRU stack distance. idle ~ Exp(60 s), 그 사이 서로 다른 세션 λT개 접근 → HBM(85 세션분)·DRAM(184 세션분)에서 발견될 확률</a:t>
            </a:r>
          </a:p>
          <a:p>
            <a:pPr algn="l">
              <a:lnSpc>
                <a:spcPct val="110000"/>
              </a:lnSpc>
              <a:spcAft>
                <a:spcPts val="0"/>
              </a:spcAft>
            </a:pPr>
            <a:r>
              <a:rPr sz="850" b="0">
                <a:solidFill>
                  <a:srgbClr val="000000"/>
                </a:solidFill>
                <a:latin typeface="맑은 고딕"/>
                <a:ea typeface="맑은 고딕"/>
              </a:rPr>
              <a:t>② 처리 한계 λ = min(GPU 1/0.113 s, DRAM 링크 51 GB/s ÷ 이동 바이트, SSD 링크 12.8 GB/s ÷ 이동 바이트). Max SLO goodput = 0.8 × 256 tok × λ</a:t>
            </a:r>
          </a:p>
          <a:p>
            <a:pPr algn="l">
              <a:lnSpc>
                <a:spcPct val="110000"/>
              </a:lnSpc>
              <a:spcAft>
                <a:spcPts val="0"/>
              </a:spcAft>
            </a:pPr>
            <a:r>
              <a:rPr sz="850" b="0">
                <a:solidFill>
                  <a:srgbClr val="000000"/>
                </a:solidFill>
                <a:latin typeface="맑은 고딕"/>
                <a:ea typeface="맑은 고딕"/>
              </a:rPr>
              <a:t>③ 이동 바이트 = miss × (1−π) 동기 복원 + miss × π × (1+ω) prefetch + w × miss write-back (π 적시율, ω 낭비, w write-back 비율)</a:t>
            </a:r>
          </a:p>
          <a:p>
            <a:pPr algn="l">
              <a:lnSpc>
                <a:spcPct val="110000"/>
              </a:lnSpc>
              <a:spcAft>
                <a:spcPts val="0"/>
              </a:spcAft>
            </a:pPr>
            <a:r>
              <a:rPr sz="850" b="0">
                <a:solidFill>
                  <a:srgbClr val="000000"/>
                </a:solidFill>
                <a:latin typeface="맑은 고딕"/>
                <a:ea typeface="맑은 고딕"/>
              </a:rPr>
              <a:t>④ TTFT P99 = 새 입력 prefill 41 ms + 결정 지연 + 99% 복원 경로 ÷ (1 − 링크 이용률). TPOT P99 = 18.1 ms × (1 + 0.5 × 이용률)</a:t>
            </a:r>
          </a:p>
          <a:p>
            <a:pPr algn="l">
              <a:lnSpc>
                <a:spcPct val="110000"/>
              </a:lnSpc>
              <a:spcAft>
                <a:spcPts val="0"/>
              </a:spcAft>
            </a:pPr>
            <a:r>
              <a:rPr sz="850" b="0">
                <a:solidFill>
                  <a:srgbClr val="000000"/>
                </a:solidFill>
                <a:latin typeface="맑은 고딕"/>
                <a:ea typeface="맑은 고딕"/>
              </a:rPr>
              <a:t>⑤ SE(16) = min(1, 결정 용량 ÷ 요구 결정률). 결정 비용은 후보 수에 선형(2 ms × N) [기존 평가의 ASSUMED]</a:t>
            </a:r>
          </a:p>
        </p:txBody>
      </p:sp>
      <p:sp>
        <p:nvSpPr>
          <p:cNvPr id="8" name="TextBox 7"/>
          <p:cNvSpPr txBox="1"/>
          <p:nvPr/>
        </p:nvSpPr>
        <p:spPr>
          <a:xfrm>
            <a:off x="6217920" y="1069848"/>
            <a:ext cx="5577840" cy="2743200"/>
          </a:xfrm>
          <a:prstGeom prst="rect">
            <a:avLst/>
          </a:prstGeom>
          <a:noFill/>
        </p:spPr>
        <p:txBody>
          <a:bodyPr wrap="square" lIns="73152" tIns="36576" rIns="73152" bIns="36576" anchor="t">
            <a:spAutoFit/>
          </a:bodyPr>
          <a:lstStyle/>
          <a:p>
            <a:pPr algn="l">
              <a:lnSpc>
                <a:spcPct val="110000"/>
              </a:lnSpc>
              <a:spcAft>
                <a:spcPts val="0"/>
              </a:spcAft>
            </a:pPr>
            <a:r>
              <a:rPr sz="1000" b="1">
                <a:solidFill>
                  <a:srgbClr val="C00000"/>
                </a:solidFill>
                <a:latin typeface="맑은 고딕"/>
                <a:ea typeface="맑은 고딕"/>
              </a:rPr>
              <a:t>한계(정직하게)</a:t>
            </a:r>
          </a:p>
          <a:p>
            <a:pPr algn="l">
              <a:lnSpc>
                <a:spcPct val="110000"/>
              </a:lnSpc>
              <a:spcAft>
                <a:spcPts val="0"/>
              </a:spcAft>
            </a:pPr>
            <a:r>
              <a:rPr sz="850" b="0">
                <a:solidFill>
                  <a:srgbClr val="000000"/>
                </a:solidFill>
                <a:latin typeface="맑은 고딕"/>
                <a:ea typeface="맑은 고딕"/>
              </a:rPr>
              <a:t>• 후보 파라미터(θ, w, π, ω, watermark, u_P …)는 가정이다. 값이 바뀌면 별이 바뀐다</a:t>
            </a:r>
          </a:p>
          <a:p>
            <a:pPr algn="l">
              <a:lnSpc>
                <a:spcPct val="110000"/>
              </a:lnSpc>
              <a:spcAft>
                <a:spcPts val="0"/>
              </a:spcAft>
            </a:pPr>
            <a:r>
              <a:rPr sz="850" b="0">
                <a:solidFill>
                  <a:srgbClr val="000000"/>
                </a:solidFill>
                <a:latin typeface="맑은 고딕"/>
                <a:ea typeface="맑은 고딕"/>
              </a:rPr>
              <a:t>• 큐잉은 링크 이용률 1/(1−ρ)로 근사했다. 연속 배칭·chunked prefill의 세부는 반영하지 않았다</a:t>
            </a:r>
          </a:p>
          <a:p>
            <a:pPr algn="l">
              <a:lnSpc>
                <a:spcPct val="110000"/>
              </a:lnSpc>
              <a:spcAft>
                <a:spcPts val="0"/>
              </a:spcAft>
            </a:pPr>
            <a:r>
              <a:rPr sz="850" b="0">
                <a:solidFill>
                  <a:srgbClr val="000000"/>
                </a:solidFill>
                <a:latin typeface="맑은 고딕"/>
                <a:ea typeface="맑은 고딕"/>
              </a:rPr>
              <a:t>• 이용률 상한 0.8, idle 평균 60 s, 공유 문서 30%는 설계값이다</a:t>
            </a:r>
          </a:p>
          <a:p>
            <a:pPr algn="l">
              <a:lnSpc>
                <a:spcPct val="110000"/>
              </a:lnSpc>
              <a:spcAft>
                <a:spcPts val="0"/>
              </a:spcAft>
            </a:pPr>
            <a:r>
              <a:rPr sz="850" b="0">
                <a:solidFill>
                  <a:srgbClr val="000000"/>
                </a:solidFill>
                <a:latin typeface="맑은 고딕"/>
                <a:ea typeface="맑은 고딕"/>
              </a:rPr>
              <a:t>• DP2·DP4는 4노드 요약 모델이다. 결정 용량·제어 평면 지연은 기존 평가의 상수를 썼다</a:t>
            </a:r>
          </a:p>
          <a:p>
            <a:pPr algn="l">
              <a:lnSpc>
                <a:spcPct val="110000"/>
              </a:lnSpc>
              <a:spcAft>
                <a:spcPts val="0"/>
              </a:spcAft>
            </a:pPr>
            <a:r>
              <a:rPr sz="850" b="0">
                <a:solidFill>
                  <a:srgbClr val="000000"/>
                </a:solidFill>
                <a:latin typeface="맑은 고딕"/>
                <a:ea typeface="맑은 고딕"/>
              </a:rPr>
              <a:t>• 기존 중립 벤치마크 시뮬(8K, batch 32)과 값이 다르다. 그쪽은 압박이 없는 조건이라 B1 대비 이득이 작다</a:t>
            </a:r>
          </a:p>
        </p:txBody>
      </p:sp>
      <p:graphicFrame>
        <p:nvGraphicFramePr>
          <p:cNvPr id="9" name="tbl"/>
          <p:cNvGraphicFramePr>
            <a:graphicFrameLocks noGrp="1"/>
          </p:cNvGraphicFramePr>
          <p:nvPr/>
        </p:nvGraphicFramePr>
        <p:xfrm>
          <a:off x="365760" y="3840480"/>
          <a:ext cx="11457432" cy="2651760"/>
        </p:xfrm>
        <a:graphic>
          <a:graphicData uri="http://schemas.openxmlformats.org/drawingml/2006/table">
            <a:tbl>
              <a:tblPr firstRow="0" bandRow="0">
                <a:tableStyleId>{2D5ABB26-0587-4C30-8999-92F81FD0307C}</a:tableStyleId>
              </a:tblPr>
              <a:tblGrid>
                <a:gridCol w="1737360"/>
                <a:gridCol w="1234440"/>
                <a:gridCol w="777240"/>
                <a:gridCol w="960120"/>
                <a:gridCol w="640080"/>
                <a:gridCol w="1737360"/>
                <a:gridCol w="914400"/>
                <a:gridCol w="3456432"/>
              </a:tblGrid>
              <a:tr h="274320">
                <a:tc>
                  <a:txBody>
                    <a:bodyPr wrap="square"/>
                    <a:lstStyle/>
                    <a:p>
                      <a:pPr algn="ctr"/>
                      <a:r>
                        <a:rPr sz="800" b="1">
                          <a:solidFill>
                            <a:srgbClr val="FFFFFF"/>
                          </a:solidFill>
                          <a:latin typeface="맑은 고딕"/>
                          <a:ea typeface="맑은 고딕"/>
                        </a:rPr>
                        <a:t>후보</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θ 배치 효율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w write-back</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π prefetch 적시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ω 낭비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추가 GPU·결정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HBM watermark</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800" b="1">
                          <a:solidFill>
                            <a:srgbClr val="FFFFFF"/>
                          </a:solidFill>
                          <a:latin typeface="맑은 고딕"/>
                          <a:ea typeface="맑은 고딕"/>
                        </a:rPr>
                        <a:t>근거(덱 장단점·요구 수치)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297180">
                <a:tc>
                  <a:txBody>
                    <a:bodyPr wrap="square"/>
                    <a:lstStyle/>
                    <a:p>
                      <a:pPr algn="l"/>
                      <a:r>
                        <a:rPr sz="740" b="0">
                          <a:solidFill>
                            <a:srgbClr val="000000"/>
                          </a:solidFill>
                          <a:latin typeface="맑은 고딕"/>
                          <a:ea typeface="맑은 고딕"/>
                        </a:rPr>
                        <a:t>B1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1.00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정의상 정적 LRU, 전체 write-back, 동기 복원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DP1 1안 자원 상태</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결정 3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0.80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임계 trigger로 HBM 압박 구간 단축, 접근 특성 구분 한계</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DP1 2안 데이터 특성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0.6</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0.95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접근 특성 기반 이동·prefetch(요구 70%에서 낭비 차감), snapshot stale로 HBM 확보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DP2 1안 스케줄링 시점</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유휴 P 노드 활용 u_P 0.2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결정 8 ms(2 ms × N)</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0.85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실시간 상태 반영, 결정 지연이 critical path</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DP2 2안 사전 계획</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u_P 0.5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Re-plan P99 +40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0.92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결정은 critical path 밖, 고부하 시 Re-plan(31%), plan 예약으로 HBM 여유 필요</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DP3 1안 Pipe-and-Filter</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dedup 0.70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GPU +27 ms, 체인 tail 25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0.60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관련 KV만 보유(HBM↓), 요청마다 체인 중복 계산, 고부하 tail</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DP3 2안 Shared Repository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dedup 0.70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GPU +3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0.75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분석 1회+조회라 처리량·tail 유리, 재사용 KV·위치 사전 보유로 점유↑</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297180">
                <a:tc>
                  <a:txBody>
                    <a:bodyPr wrap="square"/>
                    <a:lstStyle/>
                    <a:p>
                      <a:pPr algn="l"/>
                      <a:r>
                        <a:rPr sz="740" b="0">
                          <a:solidFill>
                            <a:srgbClr val="000000"/>
                          </a:solidFill>
                          <a:latin typeface="맑은 고딕"/>
                          <a:ea typeface="맑은 고딕"/>
                        </a:rPr>
                        <a:t>DP4 1안 / 2안</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CXL 풀이 SSD 대체</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1.0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0</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RPC 7 µs / 락 P99 804 µs × 4 op</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740"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740" b="0">
                          <a:solidFill>
                            <a:srgbClr val="000000"/>
                          </a:solidFill>
                          <a:latin typeface="맑은 고딕"/>
                          <a:ea typeface="맑은 고딕"/>
                        </a:rPr>
                        <a:t>노드 유효 63 GB/s, 교차 라우팅 25% 재계산 제거, 제어 평면은 요청당 ms 이하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DP1. Data Migration 결정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예상값은 theory_model.py 분석 모델(시뮬레이션 아님, 후보 파라미터 [가정]). 별은 B1 대비 새 기준(5구간) 적용 결과이고 괄호는 소유자 trade-off 별. 구간·근거는 평가 기준 페이지 참조</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평가 환경·시나리오와 GPU-only(B0)·단순 offload(B1) 대비 개선 요약 (이론 계산 기반 예상값)</a:t>
            </a:r>
            <a:endParaRPr lang="en-US" altLang="ko-KR" sz="1100" b="0" dirty="0">
              <a:latin typeface="맑은 고딕"/>
              <a:ea typeface="맑은 고딕"/>
            </a:endParaRPr>
          </a:p>
        </p:txBody>
      </p:sp>
      <p:sp>
        <p:nvSpPr>
          <p:cNvPr id="7" name="TextBox 6"/>
          <p:cNvSpPr txBox="1"/>
          <p:nvPr/>
        </p:nvSpPr>
        <p:spPr>
          <a:xfrm>
            <a:off x="36576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환경</a:t>
            </a:r>
          </a:p>
          <a:p>
            <a:pPr algn="l">
              <a:lnSpc>
                <a:spcPct val="110000"/>
              </a:lnSpc>
              <a:spcAft>
                <a:spcPts val="0"/>
              </a:spcAft>
            </a:pPr>
            <a:r>
              <a:rPr sz="860" b="0">
                <a:solidFill>
                  <a:srgbClr val="000000"/>
                </a:solidFill>
                <a:latin typeface="맑은 고딕"/>
                <a:ea typeface="맑은 고딕"/>
              </a:rPr>
              <a:t>• 1 노드: H100×8(HBM 640 GiB), DRAM 1 TiB(호스트 링크 64 GB/s), NVMe 16 GB/s</a:t>
            </a:r>
          </a:p>
          <a:p>
            <a:pPr algn="l">
              <a:lnSpc>
                <a:spcPct val="110000"/>
              </a:lnSpc>
              <a:spcAft>
                <a:spcPts val="0"/>
              </a:spcAft>
            </a:pPr>
            <a:r>
              <a:rPr sz="860" b="0">
                <a:solidFill>
                  <a:srgbClr val="000000"/>
                </a:solidFill>
                <a:latin typeface="맑은 고딕"/>
                <a:ea typeface="맑은 고딕"/>
              </a:rPr>
              <a:t>• Llama-3.1-70B BF16, SYS-H100 (B200은 같은 모델의 세대 민감도)</a:t>
            </a:r>
          </a:p>
        </p:txBody>
      </p:sp>
      <p:sp>
        <p:nvSpPr>
          <p:cNvPr id="8" name="TextBox 7"/>
          <p:cNvSpPr txBox="1"/>
          <p:nvPr/>
        </p:nvSpPr>
        <p:spPr>
          <a:xfrm>
            <a:off x="617220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시나리오</a:t>
            </a:r>
          </a:p>
          <a:p>
            <a:pPr algn="l">
              <a:lnSpc>
                <a:spcPct val="110000"/>
              </a:lnSpc>
              <a:spcAft>
                <a:spcPts val="0"/>
              </a:spcAft>
            </a:pPr>
            <a:r>
              <a:rPr sz="860" b="0">
                <a:solidFill>
                  <a:srgbClr val="000000"/>
                </a:solidFill>
                <a:latin typeface="맑은 고딕"/>
                <a:ea typeface="맑은 고딕"/>
              </a:rPr>
              <a:t>• Agent KV Fleet P1 정상 multi-turn: 컨텍스트 16K, 턴당 +1K·출력 256, idle 평균 60 s(open-loop)</a:t>
            </a:r>
          </a:p>
          <a:p>
            <a:pPr algn="l">
              <a:lnSpc>
                <a:spcPct val="110000"/>
              </a:lnSpc>
              <a:spcAft>
                <a:spcPts val="0"/>
              </a:spcAft>
            </a:pPr>
            <a:r>
              <a:rPr sz="860" b="0">
                <a:solidFill>
                  <a:srgbClr val="000000"/>
                </a:solidFill>
                <a:latin typeface="맑은 고딕"/>
                <a:ea typeface="맑은 고딕"/>
              </a:rPr>
              <a:t>• 동시 세션 ≈ 250~330 → KV 1.3~1.6 TiB(HBM 풀 425 GiB의 3~4배, HBM+DRAM도 초과)</a:t>
            </a:r>
          </a:p>
        </p:txBody>
      </p:sp>
      <p:graphicFrame>
        <p:nvGraphicFramePr>
          <p:cNvPr id="9" name="tbl"/>
          <p:cNvGraphicFramePr>
            <a:graphicFrameLocks noGrp="1"/>
          </p:cNvGraphicFramePr>
          <p:nvPr/>
        </p:nvGraphicFramePr>
        <p:xfrm>
          <a:off x="365760" y="2194560"/>
          <a:ext cx="11457432" cy="2907792"/>
        </p:xfrm>
        <a:graphic>
          <a:graphicData uri="http://schemas.openxmlformats.org/drawingml/2006/table">
            <a:tbl>
              <a:tblPr firstRow="0" bandRow="0">
                <a:tableStyleId>{2D5ABB26-0587-4C30-8999-92F81FD0307C}</a:tableStyleId>
              </a:tblPr>
              <a:tblGrid>
                <a:gridCol w="1188720"/>
                <a:gridCol w="2331720"/>
                <a:gridCol w="1325880"/>
                <a:gridCol w="1600200"/>
                <a:gridCol w="2505456"/>
                <a:gridCol w="2505456"/>
              </a:tblGrid>
              <a:tr h="274320">
                <a:tc>
                  <a:txBody>
                    <a:bodyPr wrap="square"/>
                    <a:lstStyle/>
                    <a:p>
                      <a:pPr algn="ctr"/>
                      <a:r>
                        <a:rPr sz="900" b="1">
                          <a:solidFill>
                            <a:srgbClr val="FFFFFF"/>
                          </a:solidFill>
                          <a:latin typeface="맑은 고딕"/>
                          <a:ea typeface="맑은 고딕"/>
                        </a:rPr>
                        <a:t>QA</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무엇을 평가했나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B0 GPU-only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B1 단순 offload</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1안 상태 관측+이동 결정 통합</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2안 관측·결정 분리</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658368">
                <a:tc>
                  <a:txBody>
                    <a:bodyPr wrap="square"/>
                    <a:lstStyle/>
                    <a:p>
                      <a:pPr algn="l"/>
                      <a:r>
                        <a:rPr sz="819" b="1">
                          <a:solidFill>
                            <a:srgbClr val="000000"/>
                          </a:solidFill>
                          <a:latin typeface="맑은 고딕"/>
                          <a:ea typeface="맑은 고딕"/>
                        </a:rPr>
                        <a:t>Q1 처리량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SLO(TTFT ≤ 2 s, TPOT ≤ 50 ms) 만족 Max goodput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451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786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947 tok/s</a:t>
                      </a:r>
                    </a:p>
                    <a:p>
                      <a:pPr algn="l"/>
                      <a:r>
                        <a:rPr sz="780" b="0">
                          <a:solidFill>
                            <a:srgbClr val="404040"/>
                          </a:solidFill>
                          <a:latin typeface="맑은 고딕"/>
                          <a:ea typeface="맑은 고딕"/>
                        </a:rPr>
                        <a:t>B1 +20% · B0 ×2.1</a:t>
                      </a:r>
                    </a:p>
                    <a:p>
                      <a:pPr algn="l"/>
                      <a:r>
                        <a:rPr sz="800" b="1">
                          <a:solidFill>
                            <a:srgbClr val="2F5597"/>
                          </a:solidFill>
                          <a:latin typeface="맑은 고딕"/>
                          <a:ea typeface="맑은 고딕"/>
                        </a:rPr>
                        <a:t>★1 (소유자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1,041 tok/s</a:t>
                      </a:r>
                    </a:p>
                    <a:p>
                      <a:pPr algn="l"/>
                      <a:r>
                        <a:rPr sz="780" b="0">
                          <a:solidFill>
                            <a:srgbClr val="404040"/>
                          </a:solidFill>
                          <a:latin typeface="맑은 고딕"/>
                          <a:ea typeface="맑은 고딕"/>
                        </a:rPr>
                        <a:t>B1 +32% · B0 ×2.3</a:t>
                      </a:r>
                    </a:p>
                    <a:p>
                      <a:pPr algn="l"/>
                      <a:r>
                        <a:rPr sz="800" b="1">
                          <a:solidFill>
                            <a:srgbClr val="2F5597"/>
                          </a:solidFill>
                          <a:latin typeface="맑은 고딕"/>
                          <a:ea typeface="맑은 고딕"/>
                        </a:rPr>
                        <a:t>★1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Q2 HBM 효율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HBM 상주 KV 시간 평균(GiB), 같은 부하·SLO</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425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425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340 GiB</a:t>
                      </a:r>
                    </a:p>
                    <a:p>
                      <a:pPr algn="l"/>
                      <a:r>
                        <a:rPr sz="780" b="0">
                          <a:solidFill>
                            <a:srgbClr val="404040"/>
                          </a:solidFill>
                          <a:latin typeface="맑은 고딕"/>
                          <a:ea typeface="맑은 고딕"/>
                        </a:rPr>
                        <a:t>B1·B0 대비 -20%</a:t>
                      </a:r>
                    </a:p>
                    <a:p>
                      <a:pPr algn="l"/>
                      <a:r>
                        <a:rPr sz="800" b="1">
                          <a:solidFill>
                            <a:srgbClr val="2F5597"/>
                          </a:solidFill>
                          <a:latin typeface="맑은 고딕"/>
                          <a:ea typeface="맑은 고딕"/>
                        </a:rPr>
                        <a:t>★1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404 GiB</a:t>
                      </a:r>
                    </a:p>
                    <a:p>
                      <a:pPr algn="l"/>
                      <a:r>
                        <a:rPr sz="780" b="0">
                          <a:solidFill>
                            <a:srgbClr val="404040"/>
                          </a:solidFill>
                          <a:latin typeface="맑은 고딕"/>
                          <a:ea typeface="맑은 고딕"/>
                        </a:rPr>
                        <a:t>B1·B0 대비 -5%</a:t>
                      </a:r>
                    </a:p>
                    <a:p>
                      <a:pPr algn="l"/>
                      <a:r>
                        <a:rPr sz="800" b="1">
                          <a:solidFill>
                            <a:srgbClr val="2F5597"/>
                          </a:solidFill>
                          <a:latin typeface="맑은 고딕"/>
                          <a:ea typeface="맑은 고딕"/>
                        </a:rPr>
                        <a:t>☆ (소유자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Q3 고부하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B1 Max SLO goodput의 90% 부하에서 TTFT·TPOT P99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SLO 초과(과부하)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TTFT 1.91 s · TPOT 24.6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1.35 s · TPOT 23.5 ms</a:t>
                      </a:r>
                    </a:p>
                    <a:p>
                      <a:pPr algn="l"/>
                      <a:r>
                        <a:rPr sz="780" b="0">
                          <a:solidFill>
                            <a:srgbClr val="404040"/>
                          </a:solidFill>
                          <a:latin typeface="맑은 고딕"/>
                          <a:ea typeface="맑은 고딕"/>
                        </a:rPr>
                        <a:t>B1 대비 r 1.22 (TTFT -30%)</a:t>
                      </a:r>
                    </a:p>
                    <a:p>
                      <a:pPr algn="l"/>
                      <a:r>
                        <a:rPr sz="800" b="1">
                          <a:solidFill>
                            <a:srgbClr val="2F5597"/>
                          </a:solidFill>
                          <a:latin typeface="맑은 고딕"/>
                          <a:ea typeface="맑은 고딕"/>
                        </a:rPr>
                        <a:t>★1 (소유자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1.19 s · TPOT 23.0 ms</a:t>
                      </a:r>
                    </a:p>
                    <a:p>
                      <a:pPr algn="l"/>
                      <a:r>
                        <a:rPr sz="780" b="0">
                          <a:solidFill>
                            <a:srgbClr val="404040"/>
                          </a:solidFill>
                          <a:latin typeface="맑은 고딕"/>
                          <a:ea typeface="맑은 고딕"/>
                        </a:rPr>
                        <a:t>B1 대비 r 1.31 (TTFT -38%)</a:t>
                      </a:r>
                    </a:p>
                    <a:p>
                      <a:pPr algn="l"/>
                      <a:r>
                        <a:rPr sz="800" b="1">
                          <a:solidFill>
                            <a:srgbClr val="2F5597"/>
                          </a:solidFill>
                          <a:latin typeface="맑은 고딕"/>
                          <a:ea typeface="맑은 고딕"/>
                        </a:rPr>
                        <a:t>★1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Q5 변경 용이성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변경 시나리오 평균 module 수·M/M (기존 구현 측정)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1.75 module · 0.38 MM</a:t>
                      </a:r>
                    </a:p>
                    <a:p>
                      <a:pPr algn="l"/>
                      <a:r>
                        <a:rPr sz="780" b="0">
                          <a:solidFill>
                            <a:srgbClr val="404040"/>
                          </a:solidFill>
                          <a:latin typeface="맑은 고딕"/>
                          <a:ea typeface="맑은 고딕"/>
                        </a:rPr>
                        <a:t>절대 기준(Baseline 없음)</a:t>
                      </a:r>
                    </a:p>
                    <a:p>
                      <a:pPr algn="l"/>
                      <a:r>
                        <a:rPr sz="800" b="1">
                          <a:solidFill>
                            <a:srgbClr val="2F5597"/>
                          </a:solidFill>
                          <a:latin typeface="맑은 고딕"/>
                          <a:ea typeface="맑은 고딕"/>
                        </a:rPr>
                        <a:t>★3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2.5 module · 0.51 MM</a:t>
                      </a:r>
                    </a:p>
                    <a:p>
                      <a:pPr algn="l"/>
                      <a:r>
                        <a:rPr sz="780" b="0">
                          <a:solidFill>
                            <a:srgbClr val="404040"/>
                          </a:solidFill>
                          <a:latin typeface="맑은 고딕"/>
                          <a:ea typeface="맑은 고딕"/>
                        </a:rPr>
                        <a:t>절대 기준(Baseline 없음)</a:t>
                      </a:r>
                    </a:p>
                    <a:p>
                      <a:pPr algn="l"/>
                      <a:r>
                        <a:rPr sz="800" b="1">
                          <a:solidFill>
                            <a:srgbClr val="2F5597"/>
                          </a:solidFill>
                          <a:latin typeface="맑은 고딕"/>
                          <a:ea typeface="맑은 고딕"/>
                        </a:rPr>
                        <a:t>★2.5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10" name="Rounded Rectangle 9"/>
          <p:cNvSpPr/>
          <p:nvPr/>
        </p:nvSpPr>
        <p:spPr>
          <a:xfrm>
            <a:off x="365760" y="5212080"/>
            <a:ext cx="11457432" cy="868680"/>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239512"/>
            <a:ext cx="11247120" cy="82296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요약 (심사용)</a:t>
            </a:r>
          </a:p>
          <a:p>
            <a:pPr algn="l">
              <a:lnSpc>
                <a:spcPct val="110000"/>
              </a:lnSpc>
              <a:spcAft>
                <a:spcPts val="0"/>
              </a:spcAft>
            </a:pPr>
            <a:r>
              <a:rPr sz="880" b="0">
                <a:solidFill>
                  <a:srgbClr val="000000"/>
                </a:solidFill>
                <a:latin typeface="맑은 고딕"/>
                <a:ea typeface="맑은 고딕"/>
              </a:rPr>
              <a:t>• 2안(데이터 특성 기반)은 B1 대비 처리량 +32%·TTFT P99 -38%로 성능에서 앞서고, 1안(자원 상태 기반)은 HBM -20%로 자원 효율에서 앞선다 — 소유자 평가의 trade-off 방향과 같다.</a:t>
            </a:r>
          </a:p>
          <a:p>
            <a:pPr algn="l">
              <a:lnSpc>
                <a:spcPct val="110000"/>
              </a:lnSpc>
              <a:spcAft>
                <a:spcPts val="0"/>
              </a:spcAft>
            </a:pPr>
            <a:r>
              <a:rPr sz="880" b="0">
                <a:solidFill>
                  <a:srgbClr val="000000"/>
                </a:solidFill>
                <a:latin typeface="맑은 고딕"/>
                <a:ea typeface="맑은 고딕"/>
              </a:rPr>
              <a:t>• GPU-only(B0) 대비 처리량은 ×2.1~×2.3. 다만 B1 대비 처리량·지연 개선은 ★1 구간(1.2~1.35배)에 머문다.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DP2. 연산(Prefill/Decode) 실행 위치 결정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예상값은 theory_model.py 분석 모델(시뮬레이션 아님, 후보 파라미터 [가정]). 별은 B1 대비 새 기준(5구간) 적용 결과이고 괄호는 소유자 trade-off 별. 구간·근거는 평가 기준 페이지 참조</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평가 환경·시나리오와 GPU-only(B0)·단순 offload(B1) 대비 개선 요약 (이론 계산 기반 예상값)</a:t>
            </a:r>
            <a:endParaRPr lang="en-US" altLang="ko-KR" sz="1100" b="0" dirty="0">
              <a:latin typeface="맑은 고딕"/>
              <a:ea typeface="맑은 고딕"/>
            </a:endParaRPr>
          </a:p>
        </p:txBody>
      </p:sp>
      <p:sp>
        <p:nvSpPr>
          <p:cNvPr id="7" name="TextBox 6"/>
          <p:cNvSpPr txBox="1"/>
          <p:nvPr/>
        </p:nvSpPr>
        <p:spPr>
          <a:xfrm>
            <a:off x="36576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환경</a:t>
            </a:r>
          </a:p>
          <a:p>
            <a:pPr algn="l">
              <a:lnSpc>
                <a:spcPct val="110000"/>
              </a:lnSpc>
              <a:spcAft>
                <a:spcPts val="0"/>
              </a:spcAft>
            </a:pPr>
            <a:r>
              <a:rPr sz="860" b="0">
                <a:solidFill>
                  <a:srgbClr val="000000"/>
                </a:solidFill>
                <a:latin typeface="맑은 고딕"/>
                <a:ea typeface="맑은 고딕"/>
              </a:rPr>
              <a:t>• 4 노드 클러스터: B1 = P 2대 + D 2대 고정 역할, 각 노드 정적 offload</a:t>
            </a:r>
          </a:p>
          <a:p>
            <a:pPr algn="l">
              <a:lnSpc>
                <a:spcPct val="110000"/>
              </a:lnSpc>
              <a:spcAft>
                <a:spcPts val="0"/>
              </a:spcAft>
            </a:pPr>
            <a:r>
              <a:rPr sz="860" b="0">
                <a:solidFill>
                  <a:srgbClr val="000000"/>
                </a:solidFill>
                <a:latin typeface="맑은 고딕"/>
                <a:ea typeface="맑은 고딕"/>
              </a:rPr>
              <a:t>• 노드 간 RDMA 50 GB/s [ASSUMED], 결정 비용은 후보 수에 선형(2 ms × N)</a:t>
            </a:r>
          </a:p>
        </p:txBody>
      </p:sp>
      <p:sp>
        <p:nvSpPr>
          <p:cNvPr id="8" name="TextBox 7"/>
          <p:cNvSpPr txBox="1"/>
          <p:nvPr/>
        </p:nvSpPr>
        <p:spPr>
          <a:xfrm>
            <a:off x="617220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시나리오</a:t>
            </a:r>
          </a:p>
          <a:p>
            <a:pPr algn="l">
              <a:lnSpc>
                <a:spcPct val="110000"/>
              </a:lnSpc>
              <a:spcAft>
                <a:spcPts val="0"/>
              </a:spcAft>
            </a:pPr>
            <a:r>
              <a:rPr sz="860" b="0">
                <a:solidFill>
                  <a:srgbClr val="000000"/>
                </a:solidFill>
                <a:latin typeface="맑은 고딕"/>
                <a:ea typeface="맑은 고딕"/>
              </a:rPr>
              <a:t>• Agent KV Fleet P2 burst: 신규 세션 3배 폭주 + decode 중첩. 동적 배치가 유휴 P 노드의 tier·링크를 쓰는 정도 평가</a:t>
            </a:r>
          </a:p>
          <a:p>
            <a:pPr algn="l">
              <a:lnSpc>
                <a:spcPct val="110000"/>
              </a:lnSpc>
              <a:spcAft>
                <a:spcPts val="0"/>
              </a:spcAft>
            </a:pPr>
            <a:r>
              <a:rPr sz="860" b="0">
                <a:solidFill>
                  <a:srgbClr val="000000"/>
                </a:solidFill>
                <a:latin typeface="맑은 고딕"/>
                <a:ea typeface="맑은 고딕"/>
              </a:rPr>
              <a:t>• 확장성은 N=16 sweep(scheduler 결정 용량 대 요구 결정률)</a:t>
            </a:r>
          </a:p>
        </p:txBody>
      </p:sp>
      <p:graphicFrame>
        <p:nvGraphicFramePr>
          <p:cNvPr id="9" name="tbl"/>
          <p:cNvGraphicFramePr>
            <a:graphicFrameLocks noGrp="1"/>
          </p:cNvGraphicFramePr>
          <p:nvPr/>
        </p:nvGraphicFramePr>
        <p:xfrm>
          <a:off x="365760" y="2194560"/>
          <a:ext cx="11457432" cy="2907792"/>
        </p:xfrm>
        <a:graphic>
          <a:graphicData uri="http://schemas.openxmlformats.org/drawingml/2006/table">
            <a:tbl>
              <a:tblPr firstRow="0" bandRow="0">
                <a:tableStyleId>{2D5ABB26-0587-4C30-8999-92F81FD0307C}</a:tableStyleId>
              </a:tblPr>
              <a:tblGrid>
                <a:gridCol w="1188720"/>
                <a:gridCol w="2331720"/>
                <a:gridCol w="1325880"/>
                <a:gridCol w="1600200"/>
                <a:gridCol w="2505456"/>
                <a:gridCol w="2505456"/>
              </a:tblGrid>
              <a:tr h="274320">
                <a:tc>
                  <a:txBody>
                    <a:bodyPr wrap="square"/>
                    <a:lstStyle/>
                    <a:p>
                      <a:pPr algn="ctr"/>
                      <a:r>
                        <a:rPr sz="900" b="1">
                          <a:solidFill>
                            <a:srgbClr val="FFFFFF"/>
                          </a:solidFill>
                          <a:latin typeface="맑은 고딕"/>
                          <a:ea typeface="맑은 고딕"/>
                        </a:rPr>
                        <a:t>QA</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무엇을 평가했나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B0 GPU-only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B1 단순 offload</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1안 스케줄링 시점 결정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2안 사전 계획 결정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658368">
                <a:tc>
                  <a:txBody>
                    <a:bodyPr wrap="square"/>
                    <a:lstStyle/>
                    <a:p>
                      <a:pPr algn="l"/>
                      <a:r>
                        <a:rPr sz="819" b="1">
                          <a:solidFill>
                            <a:srgbClr val="000000"/>
                          </a:solidFill>
                          <a:latin typeface="맑은 고딕"/>
                          <a:ea typeface="맑은 고딕"/>
                        </a:rPr>
                        <a:t>Q1 처리량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SLO(TTFT ≤ 2 s, TPOT ≤ 50 ms) 만족 Max goodput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901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1,573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1,981 tok/s</a:t>
                      </a:r>
                    </a:p>
                    <a:p>
                      <a:pPr algn="l"/>
                      <a:r>
                        <a:rPr sz="780" b="0">
                          <a:solidFill>
                            <a:srgbClr val="404040"/>
                          </a:solidFill>
                          <a:latin typeface="맑은 고딕"/>
                          <a:ea typeface="맑은 고딕"/>
                        </a:rPr>
                        <a:t>B1 +26% · B0 ×2.2</a:t>
                      </a:r>
                    </a:p>
                    <a:p>
                      <a:pPr algn="l"/>
                      <a:r>
                        <a:rPr sz="800" b="1">
                          <a:solidFill>
                            <a:srgbClr val="2F5597"/>
                          </a:solidFill>
                          <a:latin typeface="맑은 고딕"/>
                          <a:ea typeface="맑은 고딕"/>
                        </a:rPr>
                        <a:t>★1 (소유자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2,418 tok/s</a:t>
                      </a:r>
                    </a:p>
                    <a:p>
                      <a:pPr algn="l"/>
                      <a:r>
                        <a:rPr sz="780" b="0">
                          <a:solidFill>
                            <a:srgbClr val="404040"/>
                          </a:solidFill>
                          <a:latin typeface="맑은 고딕"/>
                          <a:ea typeface="맑은 고딕"/>
                        </a:rPr>
                        <a:t>B1 +54% · B0 ×2.7</a:t>
                      </a:r>
                    </a:p>
                    <a:p>
                      <a:pPr algn="l"/>
                      <a:r>
                        <a:rPr sz="800" b="1">
                          <a:solidFill>
                            <a:srgbClr val="2F5597"/>
                          </a:solidFill>
                          <a:latin typeface="맑은 고딕"/>
                          <a:ea typeface="맑은 고딕"/>
                        </a:rPr>
                        <a:t>★2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Q2 HBM 효율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HBM 상주 KV 시간 평균(GiB), 같은 부하·SLO</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850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850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722 GiB</a:t>
                      </a:r>
                    </a:p>
                    <a:p>
                      <a:pPr algn="l"/>
                      <a:r>
                        <a:rPr sz="780" b="0">
                          <a:solidFill>
                            <a:srgbClr val="404040"/>
                          </a:solidFill>
                          <a:latin typeface="맑은 고딕"/>
                          <a:ea typeface="맑은 고딕"/>
                        </a:rPr>
                        <a:t>B1·B0 대비 -15%</a:t>
                      </a:r>
                    </a:p>
                    <a:p>
                      <a:pPr algn="l"/>
                      <a:r>
                        <a:rPr sz="800" b="1">
                          <a:solidFill>
                            <a:srgbClr val="2F5597"/>
                          </a:solidFill>
                          <a:latin typeface="맑은 고딕"/>
                          <a:ea typeface="맑은 고딕"/>
                        </a:rPr>
                        <a:t>☆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782 GiB</a:t>
                      </a:r>
                    </a:p>
                    <a:p>
                      <a:pPr algn="l"/>
                      <a:r>
                        <a:rPr sz="780" b="0">
                          <a:solidFill>
                            <a:srgbClr val="404040"/>
                          </a:solidFill>
                          <a:latin typeface="맑은 고딕"/>
                          <a:ea typeface="맑은 고딕"/>
                        </a:rPr>
                        <a:t>B1·B0 대비 -8%</a:t>
                      </a:r>
                    </a:p>
                    <a:p>
                      <a:pPr algn="l"/>
                      <a:r>
                        <a:rPr sz="800" b="1">
                          <a:solidFill>
                            <a:srgbClr val="2F5597"/>
                          </a:solidFill>
                          <a:latin typeface="맑은 고딕"/>
                          <a:ea typeface="맑은 고딕"/>
                        </a:rPr>
                        <a:t>☆ (소유자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Q3 고부하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B1 Max SLO goodput의 90% 부하에서 TTFT·TPOT P99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SLO 초과(과부하)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TTFT 1.91 s · TPOT 24.6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1.23 s · TPOT 23.5 ms</a:t>
                      </a:r>
                    </a:p>
                    <a:p>
                      <a:pPr algn="l"/>
                      <a:r>
                        <a:rPr sz="780" b="0">
                          <a:solidFill>
                            <a:srgbClr val="404040"/>
                          </a:solidFill>
                          <a:latin typeface="맑은 고딕"/>
                          <a:ea typeface="맑은 고딕"/>
                        </a:rPr>
                        <a:t>B1 대비 r 1.28 (TTFT -36%)</a:t>
                      </a:r>
                    </a:p>
                    <a:p>
                      <a:pPr algn="l"/>
                      <a:r>
                        <a:rPr sz="800" b="1">
                          <a:solidFill>
                            <a:srgbClr val="2F5597"/>
                          </a:solidFill>
                          <a:latin typeface="맑은 고딕"/>
                          <a:ea typeface="맑은 고딕"/>
                        </a:rPr>
                        <a:t>★1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1.04 s · TPOT 22.4 ms</a:t>
                      </a:r>
                    </a:p>
                    <a:p>
                      <a:pPr algn="l"/>
                      <a:r>
                        <a:rPr sz="780" b="0">
                          <a:solidFill>
                            <a:srgbClr val="404040"/>
                          </a:solidFill>
                          <a:latin typeface="맑은 고딕"/>
                          <a:ea typeface="맑은 고딕"/>
                        </a:rPr>
                        <a:t>B1 대비 r 1.42 (TTFT -46%)</a:t>
                      </a:r>
                    </a:p>
                    <a:p>
                      <a:pPr algn="l"/>
                      <a:r>
                        <a:rPr sz="800" b="1">
                          <a:solidFill>
                            <a:srgbClr val="2F5597"/>
                          </a:solidFill>
                          <a:latin typeface="맑은 고딕"/>
                          <a:ea typeface="맑은 고딕"/>
                        </a:rPr>
                        <a:t>★1.5 (소유자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Q4 확장성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SE(N=16) = goodput 배율 ÷ 노드 배율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SE 98%</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SE 98%</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SE 51%</a:t>
                      </a:r>
                    </a:p>
                    <a:p>
                      <a:pPr algn="l"/>
                      <a:r>
                        <a:rPr sz="780" b="0">
                          <a:solidFill>
                            <a:srgbClr val="404040"/>
                          </a:solidFill>
                          <a:latin typeface="맑은 고딕"/>
                          <a:ea typeface="맑은 고딕"/>
                        </a:rPr>
                        <a:t>B1 대비 -47%p</a:t>
                      </a:r>
                    </a:p>
                    <a:p>
                      <a:pPr algn="l"/>
                      <a:r>
                        <a:rPr sz="800" b="1">
                          <a:solidFill>
                            <a:srgbClr val="2F5597"/>
                          </a:solidFill>
                          <a:latin typeface="맑은 고딕"/>
                          <a:ea typeface="맑은 고딕"/>
                        </a:rPr>
                        <a:t>☆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SE 97%</a:t>
                      </a:r>
                    </a:p>
                    <a:p>
                      <a:pPr algn="l"/>
                      <a:r>
                        <a:rPr sz="780" b="0">
                          <a:solidFill>
                            <a:srgbClr val="404040"/>
                          </a:solidFill>
                          <a:latin typeface="맑은 고딕"/>
                          <a:ea typeface="맑은 고딕"/>
                        </a:rPr>
                        <a:t>B1 대비 -1%p</a:t>
                      </a:r>
                    </a:p>
                    <a:p>
                      <a:pPr algn="l"/>
                      <a:r>
                        <a:rPr sz="800" b="1">
                          <a:solidFill>
                            <a:srgbClr val="2F5597"/>
                          </a:solidFill>
                          <a:latin typeface="맑은 고딕"/>
                          <a:ea typeface="맑은 고딕"/>
                        </a:rPr>
                        <a:t>★3 (소유자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10" name="Rounded Rectangle 9"/>
          <p:cNvSpPr/>
          <p:nvPr/>
        </p:nvSpPr>
        <p:spPr>
          <a:xfrm>
            <a:off x="365760" y="5212080"/>
            <a:ext cx="11457432" cy="868680"/>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239512"/>
            <a:ext cx="11247120" cy="82296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요약 (심사용)</a:t>
            </a:r>
          </a:p>
          <a:p>
            <a:pPr algn="l">
              <a:lnSpc>
                <a:spcPct val="110000"/>
              </a:lnSpc>
              <a:spcAft>
                <a:spcPts val="0"/>
              </a:spcAft>
            </a:pPr>
            <a:r>
              <a:rPr sz="880" b="0">
                <a:solidFill>
                  <a:srgbClr val="000000"/>
                </a:solidFill>
                <a:latin typeface="맑은 고딕"/>
                <a:ea typeface="맑은 고딕"/>
              </a:rPr>
              <a:t>• B1(P/D 고정 + 정적 offload) 대비 2안(사전 계획)이 처리량 +54%·TTFT -46%, 1안(스케줄링 시점)이 +26%·-36%. 유휴 P 노드의 tier·링크를 더 쓰는 쪽이 앞선다.</a:t>
            </a:r>
          </a:p>
          <a:p>
            <a:pPr algn="l">
              <a:lnSpc>
                <a:spcPct val="110000"/>
              </a:lnSpc>
              <a:spcAft>
                <a:spcPts val="0"/>
              </a:spcAft>
            </a:pPr>
            <a:r>
              <a:rPr sz="880" b="0">
                <a:solidFill>
                  <a:srgbClr val="000000"/>
                </a:solidFill>
                <a:latin typeface="맑은 고딕"/>
                <a:ea typeface="맑은 고딕"/>
              </a:rPr>
              <a:t>• 확장성은 1안이 단일 scheduler 결정 용량에 막혀 N=16에서 SE 51%, 2안은 worker 분산으로 97%. HBM은 두 안 모두 -8%~-15%로 ★1(20%) 미달.</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DP3. KV 캐시 재사용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예상값은 theory_model.py 분석 모델(시뮬레이션 아님, 후보 파라미터 [가정]). 별은 B1 대비 새 기준(5구간) 적용 결과이고 괄호는 소유자 trade-off 별. 구간·근거는 평가 기준 페이지 참조</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평가 환경·시나리오와 GPU-only(B0)·단순 offload(B1) 대비 개선 요약 (이론 계산 기반 예상값)</a:t>
            </a:r>
            <a:endParaRPr lang="en-US" altLang="ko-KR" sz="1100" b="0" dirty="0">
              <a:latin typeface="맑은 고딕"/>
              <a:ea typeface="맑은 고딕"/>
            </a:endParaRPr>
          </a:p>
        </p:txBody>
      </p:sp>
      <p:sp>
        <p:nvSpPr>
          <p:cNvPr id="7" name="TextBox 6"/>
          <p:cNvSpPr txBox="1"/>
          <p:nvPr/>
        </p:nvSpPr>
        <p:spPr>
          <a:xfrm>
            <a:off x="36576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환경</a:t>
            </a:r>
          </a:p>
          <a:p>
            <a:pPr algn="l">
              <a:lnSpc>
                <a:spcPct val="110000"/>
              </a:lnSpc>
              <a:spcAft>
                <a:spcPts val="0"/>
              </a:spcAft>
            </a:pPr>
            <a:r>
              <a:rPr sz="860" b="0">
                <a:solidFill>
                  <a:srgbClr val="000000"/>
                </a:solidFill>
                <a:latin typeface="맑은 고딕"/>
                <a:ea typeface="맑은 고딕"/>
              </a:rPr>
              <a:t>• 1 노드(DP1과 같은 HW). 압축은 범위 밖, 선택 재계산만 사용</a:t>
            </a:r>
          </a:p>
          <a:p>
            <a:pPr algn="l">
              <a:lnSpc>
                <a:spcPct val="110000"/>
              </a:lnSpc>
              <a:spcAft>
                <a:spcPts val="0"/>
              </a:spcAft>
            </a:pPr>
            <a:r>
              <a:rPr sz="860" b="0">
                <a:solidFill>
                  <a:srgbClr val="000000"/>
                </a:solidFill>
                <a:latin typeface="맑은 고딕"/>
                <a:ea typeface="맑은 고딕"/>
              </a:rPr>
              <a:t>• Llama-3.1-70B BF16, SYS-H100</a:t>
            </a:r>
          </a:p>
        </p:txBody>
      </p:sp>
      <p:sp>
        <p:nvSpPr>
          <p:cNvPr id="8" name="TextBox 7"/>
          <p:cNvSpPr txBox="1"/>
          <p:nvPr/>
        </p:nvSpPr>
        <p:spPr>
          <a:xfrm>
            <a:off x="617220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시나리오</a:t>
            </a:r>
          </a:p>
          <a:p>
            <a:pPr algn="l">
              <a:lnSpc>
                <a:spcPct val="110000"/>
              </a:lnSpc>
              <a:spcAft>
                <a:spcPts val="0"/>
              </a:spcAft>
            </a:pPr>
            <a:r>
              <a:rPr sz="860" b="0">
                <a:solidFill>
                  <a:srgbClr val="000000"/>
                </a:solidFill>
                <a:latin typeface="맑은 고딕"/>
                <a:ea typeface="맑은 고딕"/>
              </a:rPr>
              <a:t>• Agent KV Fleet P3 공유 문서 wave: 컨텍스트의 30%가 세션 간 공유 문서(그중 50% non-prefix)</a:t>
            </a:r>
          </a:p>
          <a:p>
            <a:pPr algn="l">
              <a:lnSpc>
                <a:spcPct val="110000"/>
              </a:lnSpc>
              <a:spcAft>
                <a:spcPts val="0"/>
              </a:spcAft>
            </a:pPr>
            <a:r>
              <a:rPr sz="860" b="0">
                <a:solidFill>
                  <a:srgbClr val="000000"/>
                </a:solidFill>
                <a:latin typeface="맑은 고딕"/>
                <a:ea typeface="맑은 고딕"/>
              </a:rPr>
              <a:t>• B0·B1은 세션마다 복제 저장, DP3는 1회 보관 + 선택 재계산(15% 토큰) [가정]</a:t>
            </a:r>
          </a:p>
        </p:txBody>
      </p:sp>
      <p:graphicFrame>
        <p:nvGraphicFramePr>
          <p:cNvPr id="9" name="tbl"/>
          <p:cNvGraphicFramePr>
            <a:graphicFrameLocks noGrp="1"/>
          </p:cNvGraphicFramePr>
          <p:nvPr/>
        </p:nvGraphicFramePr>
        <p:xfrm>
          <a:off x="365760" y="2194560"/>
          <a:ext cx="11457432" cy="2249424"/>
        </p:xfrm>
        <a:graphic>
          <a:graphicData uri="http://schemas.openxmlformats.org/drawingml/2006/table">
            <a:tbl>
              <a:tblPr firstRow="0" bandRow="0">
                <a:tableStyleId>{2D5ABB26-0587-4C30-8999-92F81FD0307C}</a:tableStyleId>
              </a:tblPr>
              <a:tblGrid>
                <a:gridCol w="1188720"/>
                <a:gridCol w="2331720"/>
                <a:gridCol w="1325880"/>
                <a:gridCol w="1600200"/>
                <a:gridCol w="2505456"/>
                <a:gridCol w="2505456"/>
              </a:tblGrid>
              <a:tr h="274320">
                <a:tc>
                  <a:txBody>
                    <a:bodyPr wrap="square"/>
                    <a:lstStyle/>
                    <a:p>
                      <a:pPr algn="ctr"/>
                      <a:r>
                        <a:rPr sz="900" b="1">
                          <a:solidFill>
                            <a:srgbClr val="FFFFFF"/>
                          </a:solidFill>
                          <a:latin typeface="맑은 고딕"/>
                          <a:ea typeface="맑은 고딕"/>
                        </a:rPr>
                        <a:t>QA</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무엇을 평가했나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B0 GPU-only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B1 단순 offload</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1안 Pipe-and-Filter</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2안 Shared Repository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658368">
                <a:tc>
                  <a:txBody>
                    <a:bodyPr wrap="square"/>
                    <a:lstStyle/>
                    <a:p>
                      <a:pPr algn="l"/>
                      <a:r>
                        <a:rPr sz="819" b="1">
                          <a:solidFill>
                            <a:srgbClr val="000000"/>
                          </a:solidFill>
                          <a:latin typeface="맑은 고딕"/>
                          <a:ea typeface="맑은 고딕"/>
                        </a:rPr>
                        <a:t>Q1 처리량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SLO(TTFT ≤ 2 s, TPOT ≤ 50 ms) 만족 Max goodput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451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786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1,123 tok/s</a:t>
                      </a:r>
                    </a:p>
                    <a:p>
                      <a:pPr algn="l"/>
                      <a:r>
                        <a:rPr sz="780" b="0">
                          <a:solidFill>
                            <a:srgbClr val="404040"/>
                          </a:solidFill>
                          <a:latin typeface="맑은 고딕"/>
                          <a:ea typeface="맑은 고딕"/>
                        </a:rPr>
                        <a:t>B1 +43% · B0 ×2.5</a:t>
                      </a:r>
                    </a:p>
                    <a:p>
                      <a:pPr algn="l"/>
                      <a:r>
                        <a:rPr sz="800" b="1">
                          <a:solidFill>
                            <a:srgbClr val="2F5597"/>
                          </a:solidFill>
                          <a:latin typeface="맑은 고딕"/>
                          <a:ea typeface="맑은 고딕"/>
                        </a:rPr>
                        <a:t>★1.5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1,123 tok/s</a:t>
                      </a:r>
                    </a:p>
                    <a:p>
                      <a:pPr algn="l"/>
                      <a:r>
                        <a:rPr sz="780" b="0">
                          <a:solidFill>
                            <a:srgbClr val="404040"/>
                          </a:solidFill>
                          <a:latin typeface="맑은 고딕"/>
                          <a:ea typeface="맑은 고딕"/>
                        </a:rPr>
                        <a:t>B1 +43% · B0 ×2.5</a:t>
                      </a:r>
                    </a:p>
                    <a:p>
                      <a:pPr algn="l"/>
                      <a:r>
                        <a:rPr sz="800" b="1">
                          <a:solidFill>
                            <a:srgbClr val="2F5597"/>
                          </a:solidFill>
                          <a:latin typeface="맑은 고딕"/>
                          <a:ea typeface="맑은 고딕"/>
                        </a:rPr>
                        <a:t>★1.5 (소유자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Q2 HBM 효율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HBM 상주 KV 시간 평균(GiB), 같은 부하·SLO</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425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425 GiB</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255 GiB</a:t>
                      </a:r>
                    </a:p>
                    <a:p>
                      <a:pPr algn="l"/>
                      <a:r>
                        <a:rPr sz="780" b="0">
                          <a:solidFill>
                            <a:srgbClr val="404040"/>
                          </a:solidFill>
                          <a:latin typeface="맑은 고딕"/>
                          <a:ea typeface="맑은 고딕"/>
                        </a:rPr>
                        <a:t>B1·B0 대비 -40%</a:t>
                      </a:r>
                    </a:p>
                    <a:p>
                      <a:pPr algn="l"/>
                      <a:r>
                        <a:rPr sz="800" b="1">
                          <a:solidFill>
                            <a:srgbClr val="2F5597"/>
                          </a:solidFill>
                          <a:latin typeface="맑은 고딕"/>
                          <a:ea typeface="맑은 고딕"/>
                        </a:rPr>
                        <a:t>★2 (소유자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319 GiB</a:t>
                      </a:r>
                    </a:p>
                    <a:p>
                      <a:pPr algn="l"/>
                      <a:r>
                        <a:rPr sz="780" b="0">
                          <a:solidFill>
                            <a:srgbClr val="404040"/>
                          </a:solidFill>
                          <a:latin typeface="맑은 고딕"/>
                          <a:ea typeface="맑은 고딕"/>
                        </a:rPr>
                        <a:t>B1·B0 대비 -25%</a:t>
                      </a:r>
                    </a:p>
                    <a:p>
                      <a:pPr algn="l"/>
                      <a:r>
                        <a:rPr sz="800" b="1">
                          <a:solidFill>
                            <a:srgbClr val="2F5597"/>
                          </a:solidFill>
                          <a:latin typeface="맑은 고딕"/>
                          <a:ea typeface="맑은 고딕"/>
                        </a:rPr>
                        <a:t>★1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Q3 고부하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B1 Max SLO goodput의 90% 부하에서 TTFT·TPOT P99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SLO 초과(과부하)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TTFT 1.91 s · TPOT 24.6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0.82 s · TPOT 22.7 ms</a:t>
                      </a:r>
                    </a:p>
                    <a:p>
                      <a:pPr algn="l"/>
                      <a:r>
                        <a:rPr sz="780" b="0">
                          <a:solidFill>
                            <a:srgbClr val="404040"/>
                          </a:solidFill>
                          <a:latin typeface="맑은 고딕"/>
                          <a:ea typeface="맑은 고딕"/>
                        </a:rPr>
                        <a:t>B1 대비 r 1.59 (TTFT -57%)</a:t>
                      </a:r>
                    </a:p>
                    <a:p>
                      <a:pPr algn="l"/>
                      <a:r>
                        <a:rPr sz="800" b="1">
                          <a:solidFill>
                            <a:srgbClr val="2F5597"/>
                          </a:solidFill>
                          <a:latin typeface="맑은 고딕"/>
                          <a:ea typeface="맑은 고딕"/>
                        </a:rPr>
                        <a:t>★2 (소유자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0.78 s · TPOT 22.7 ms</a:t>
                      </a:r>
                    </a:p>
                    <a:p>
                      <a:pPr algn="l"/>
                      <a:r>
                        <a:rPr sz="780" b="0">
                          <a:solidFill>
                            <a:srgbClr val="404040"/>
                          </a:solidFill>
                          <a:latin typeface="맑은 고딕"/>
                          <a:ea typeface="맑은 고딕"/>
                        </a:rPr>
                        <a:t>B1 대비 r 1.63 (TTFT -59%)</a:t>
                      </a:r>
                    </a:p>
                    <a:p>
                      <a:pPr algn="l"/>
                      <a:r>
                        <a:rPr sz="800" b="1">
                          <a:solidFill>
                            <a:srgbClr val="2F5597"/>
                          </a:solidFill>
                          <a:latin typeface="맑은 고딕"/>
                          <a:ea typeface="맑은 고딕"/>
                        </a:rPr>
                        <a:t>★2 (소유자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10" name="Rounded Rectangle 9"/>
          <p:cNvSpPr/>
          <p:nvPr/>
        </p:nvSpPr>
        <p:spPr>
          <a:xfrm>
            <a:off x="365760" y="4553712"/>
            <a:ext cx="11457432" cy="868680"/>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4581144"/>
            <a:ext cx="11247120" cy="82296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요약 (심사용)</a:t>
            </a:r>
          </a:p>
          <a:p>
            <a:pPr algn="l">
              <a:lnSpc>
                <a:spcPct val="110000"/>
              </a:lnSpc>
              <a:spcAft>
                <a:spcPts val="0"/>
              </a:spcAft>
            </a:pPr>
            <a:r>
              <a:rPr sz="880" b="0">
                <a:solidFill>
                  <a:srgbClr val="000000"/>
                </a:solidFill>
                <a:latin typeface="맑은 고딕"/>
                <a:ea typeface="맑은 고딕"/>
              </a:rPr>
              <a:t>• 두 안 모두 공유 문서를 1회만 보관(−30%)해 B1 대비 처리량 +43%, TTFT P99 -57%~-59%. 1안은 관련 KV만 보유해 HBM -40%, 2안은 사전 보유로 -25%.</a:t>
            </a:r>
          </a:p>
          <a:p>
            <a:pPr algn="l">
              <a:lnSpc>
                <a:spcPct val="110000"/>
              </a:lnSpc>
              <a:spcAft>
                <a:spcPts val="0"/>
              </a:spcAft>
            </a:pPr>
            <a:r>
              <a:rPr sz="880" b="0">
                <a:solidFill>
                  <a:srgbClr val="000000"/>
                </a:solidFill>
                <a:latin typeface="맑은 고딕"/>
                <a:ea typeface="맑은 고딕"/>
              </a:rPr>
              <a:t>• 안 간 처리량 차이는 링크 병목 구간이라 거의 없다(1안의 체인 비용은 GPU 병목이 아님). 소유자가 예상한 1안의 고부하 tail 발산은 90% 부하에서는 나타나지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DP4. 서버 간 KV 캐시 공유 구조 — Trade-off 평가 결과</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예상값은 theory_model.py 분석 모델(시뮬레이션 아님, 후보 파라미터 [가정]). 별은 B1 대비 새 기준(5구간) 적용 결과이고 괄호는 소유자 trade-off 별. 구간·근거는 평가 기준 페이지 참조</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평가 환경·시나리오와 GPU-only(B0)·단순 offload(B1) 대비 개선 요약 (이론 계산 기반 예상값)</a:t>
            </a:r>
            <a:endParaRPr lang="en-US" altLang="ko-KR" sz="1100" b="0" dirty="0">
              <a:latin typeface="맑은 고딕"/>
              <a:ea typeface="맑은 고딕"/>
            </a:endParaRPr>
          </a:p>
        </p:txBody>
      </p:sp>
      <p:sp>
        <p:nvSpPr>
          <p:cNvPr id="7" name="TextBox 6"/>
          <p:cNvSpPr txBox="1"/>
          <p:nvPr/>
        </p:nvSpPr>
        <p:spPr>
          <a:xfrm>
            <a:off x="36576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환경</a:t>
            </a:r>
          </a:p>
          <a:p>
            <a:pPr algn="l">
              <a:lnSpc>
                <a:spcPct val="110000"/>
              </a:lnSpc>
              <a:spcAft>
                <a:spcPts val="0"/>
              </a:spcAft>
            </a:pPr>
            <a:r>
              <a:rPr sz="860" b="0">
                <a:solidFill>
                  <a:srgbClr val="000000"/>
                </a:solidFill>
                <a:latin typeface="맑은 고딕"/>
                <a:ea typeface="맑은 고딕"/>
              </a:rPr>
              <a:t>• 4 노드 + CXL 공유 풀 8 TiB(노드당 유효 63 GB/s). B1은 노드 독립(SSD 16 GB/s)</a:t>
            </a:r>
          </a:p>
          <a:p>
            <a:pPr algn="l">
              <a:lnSpc>
                <a:spcPct val="110000"/>
              </a:lnSpc>
              <a:spcAft>
                <a:spcPts val="0"/>
              </a:spcAft>
            </a:pPr>
            <a:r>
              <a:rPr sz="860" b="0">
                <a:solidFill>
                  <a:srgbClr val="000000"/>
                </a:solidFill>
                <a:latin typeface="맑은 고딕"/>
                <a:ea typeface="맑은 고딕"/>
              </a:rPr>
              <a:t>• 교차 라우팅 25%는 B1에서 재계산, 후보는 풀에서 공유</a:t>
            </a:r>
          </a:p>
        </p:txBody>
      </p:sp>
      <p:sp>
        <p:nvSpPr>
          <p:cNvPr id="8" name="TextBox 7"/>
          <p:cNvSpPr txBox="1"/>
          <p:nvPr/>
        </p:nvSpPr>
        <p:spPr>
          <a:xfrm>
            <a:off x="6172200" y="1078992"/>
            <a:ext cx="5623560" cy="100584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평가 시나리오</a:t>
            </a:r>
          </a:p>
          <a:p>
            <a:pPr algn="l">
              <a:lnSpc>
                <a:spcPct val="110000"/>
              </a:lnSpc>
              <a:spcAft>
                <a:spcPts val="0"/>
              </a:spcAft>
            </a:pPr>
            <a:r>
              <a:rPr sz="860" b="0">
                <a:solidFill>
                  <a:srgbClr val="000000"/>
                </a:solidFill>
                <a:latin typeface="맑은 고딕"/>
                <a:ea typeface="맑은 고딕"/>
              </a:rPr>
              <a:t>• Agent KV Fleet P4 노드 확장: 2→16 노드(세션 ∝ 노드), 노드 간 KV 블록 조회·소유권 이동</a:t>
            </a:r>
          </a:p>
          <a:p>
            <a:pPr algn="l">
              <a:lnSpc>
                <a:spcPct val="110000"/>
              </a:lnSpc>
              <a:spcAft>
                <a:spcPts val="0"/>
              </a:spcAft>
            </a:pPr>
            <a:r>
              <a:rPr sz="860" b="0">
                <a:solidFill>
                  <a:srgbClr val="000000"/>
                </a:solidFill>
                <a:latin typeface="맑은 고딕"/>
                <a:ea typeface="맑은 고딕"/>
              </a:rPr>
              <a:t>• 제어 평면: 중앙 RPC ≈ 7 µs vs 분산 락 P99 ≈ 804 µs (요청당 4 op)</a:t>
            </a:r>
          </a:p>
        </p:txBody>
      </p:sp>
      <p:graphicFrame>
        <p:nvGraphicFramePr>
          <p:cNvPr id="9" name="tbl"/>
          <p:cNvGraphicFramePr>
            <a:graphicFrameLocks noGrp="1"/>
          </p:cNvGraphicFramePr>
          <p:nvPr/>
        </p:nvGraphicFramePr>
        <p:xfrm>
          <a:off x="365760" y="2194560"/>
          <a:ext cx="11457432" cy="2249424"/>
        </p:xfrm>
        <a:graphic>
          <a:graphicData uri="http://schemas.openxmlformats.org/drawingml/2006/table">
            <a:tbl>
              <a:tblPr firstRow="0" bandRow="0">
                <a:tableStyleId>{2D5ABB26-0587-4C30-8999-92F81FD0307C}</a:tableStyleId>
              </a:tblPr>
              <a:tblGrid>
                <a:gridCol w="1188720"/>
                <a:gridCol w="2331720"/>
                <a:gridCol w="1325880"/>
                <a:gridCol w="1600200"/>
                <a:gridCol w="2505456"/>
                <a:gridCol w="2505456"/>
              </a:tblGrid>
              <a:tr h="274320">
                <a:tc>
                  <a:txBody>
                    <a:bodyPr wrap="square"/>
                    <a:lstStyle/>
                    <a:p>
                      <a:pPr algn="ctr"/>
                      <a:r>
                        <a:rPr sz="900" b="1">
                          <a:solidFill>
                            <a:srgbClr val="FFFFFF"/>
                          </a:solidFill>
                          <a:latin typeface="맑은 고딕"/>
                          <a:ea typeface="맑은 고딕"/>
                        </a:rPr>
                        <a:t>QA</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무엇을 평가했나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B0 GPU-only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B1 단순 offload</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1안 중앙 서버 중재</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후보 2안 락 기반 직접 접근</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658368">
                <a:tc>
                  <a:txBody>
                    <a:bodyPr wrap="square"/>
                    <a:lstStyle/>
                    <a:p>
                      <a:pPr algn="l"/>
                      <a:r>
                        <a:rPr sz="819" b="1">
                          <a:solidFill>
                            <a:srgbClr val="000000"/>
                          </a:solidFill>
                          <a:latin typeface="맑은 고딕"/>
                          <a:ea typeface="맑은 고딕"/>
                        </a:rPr>
                        <a:t>Q1 처리량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SLO(TTFT ≤ 2 s, TPOT ≤ 50 ms) 만족 Max goodput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1,802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2,973 tok/s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4,941 tok/s</a:t>
                      </a:r>
                    </a:p>
                    <a:p>
                      <a:pPr algn="l"/>
                      <a:r>
                        <a:rPr sz="780" b="0">
                          <a:solidFill>
                            <a:srgbClr val="404040"/>
                          </a:solidFill>
                          <a:latin typeface="맑은 고딕"/>
                          <a:ea typeface="맑은 고딕"/>
                        </a:rPr>
                        <a:t>B1 +66% · B0 ×2.7</a:t>
                      </a:r>
                    </a:p>
                    <a:p>
                      <a:pPr algn="l"/>
                      <a:r>
                        <a:rPr sz="800" b="1">
                          <a:solidFill>
                            <a:srgbClr val="2F5597"/>
                          </a:solidFill>
                          <a:latin typeface="맑은 고딕"/>
                          <a:ea typeface="맑은 고딕"/>
                        </a:rPr>
                        <a:t>★2.5 (소유자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4,941 tok/s</a:t>
                      </a:r>
                    </a:p>
                    <a:p>
                      <a:pPr algn="l"/>
                      <a:r>
                        <a:rPr sz="780" b="0">
                          <a:solidFill>
                            <a:srgbClr val="404040"/>
                          </a:solidFill>
                          <a:latin typeface="맑은 고딕"/>
                          <a:ea typeface="맑은 고딕"/>
                        </a:rPr>
                        <a:t>B1 +66% · B0 ×2.7</a:t>
                      </a:r>
                    </a:p>
                    <a:p>
                      <a:pPr algn="l"/>
                      <a:r>
                        <a:rPr sz="800" b="1">
                          <a:solidFill>
                            <a:srgbClr val="2F5597"/>
                          </a:solidFill>
                          <a:latin typeface="맑은 고딕"/>
                          <a:ea typeface="맑은 고딕"/>
                        </a:rPr>
                        <a:t>★2.5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Q3 고부하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B1 Max SLO goodput의 90% 부하에서 TTFT·TPOT P99</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SLO 초과(과부하)</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TTFT 2.08 s · TPOT 24.6 ms</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0.41 s · TPOT 22.0 ms</a:t>
                      </a:r>
                    </a:p>
                    <a:p>
                      <a:pPr algn="l"/>
                      <a:r>
                        <a:rPr sz="780" b="0">
                          <a:solidFill>
                            <a:srgbClr val="404040"/>
                          </a:solidFill>
                          <a:latin typeface="맑은 고딕"/>
                          <a:ea typeface="맑은 고딕"/>
                        </a:rPr>
                        <a:t>B1 대비 r 2.37 (TTFT -80%)</a:t>
                      </a:r>
                    </a:p>
                    <a:p>
                      <a:pPr algn="l"/>
                      <a:r>
                        <a:rPr sz="800" b="1">
                          <a:solidFill>
                            <a:srgbClr val="2F5597"/>
                          </a:solidFill>
                          <a:latin typeface="맑은 고딕"/>
                          <a:ea typeface="맑은 고딕"/>
                        </a:rPr>
                        <a:t>★3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TTFT 0.42 s · TPOT 22.0 ms</a:t>
                      </a:r>
                    </a:p>
                    <a:p>
                      <a:pPr algn="l"/>
                      <a:r>
                        <a:rPr sz="780" b="0">
                          <a:solidFill>
                            <a:srgbClr val="404040"/>
                          </a:solidFill>
                          <a:latin typeface="맑은 고딕"/>
                          <a:ea typeface="맑은 고딕"/>
                        </a:rPr>
                        <a:t>B1 대비 r 2.36 (TTFT -80%)</a:t>
                      </a:r>
                    </a:p>
                    <a:p>
                      <a:pPr algn="l"/>
                      <a:r>
                        <a:rPr sz="800" b="1">
                          <a:solidFill>
                            <a:srgbClr val="2F5597"/>
                          </a:solidFill>
                          <a:latin typeface="맑은 고딕"/>
                          <a:ea typeface="맑은 고딕"/>
                        </a:rPr>
                        <a:t>★3 (소유자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658368">
                <a:tc>
                  <a:txBody>
                    <a:bodyPr wrap="square"/>
                    <a:lstStyle/>
                    <a:p>
                      <a:pPr algn="l"/>
                      <a:r>
                        <a:rPr sz="819" b="1">
                          <a:solidFill>
                            <a:srgbClr val="000000"/>
                          </a:solidFill>
                          <a:latin typeface="맑은 고딕"/>
                          <a:ea typeface="맑은 고딕"/>
                        </a:rPr>
                        <a:t>Q4 확장성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19" b="0">
                          <a:solidFill>
                            <a:srgbClr val="000000"/>
                          </a:solidFill>
                          <a:latin typeface="맑은 고딕"/>
                          <a:ea typeface="맑은 고딕"/>
                        </a:rPr>
                        <a:t>SE(N=16) = goodput 배율 ÷ 노드 배율</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SE 98%</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ctr"/>
                      <a:r>
                        <a:rPr sz="819" b="0">
                          <a:solidFill>
                            <a:srgbClr val="000000"/>
                          </a:solidFill>
                          <a:latin typeface="맑은 고딕"/>
                          <a:ea typeface="맑은 고딕"/>
                        </a:rPr>
                        <a:t>SE 98%</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SE 99%</a:t>
                      </a:r>
                    </a:p>
                    <a:p>
                      <a:pPr algn="l"/>
                      <a:r>
                        <a:rPr sz="780" b="0">
                          <a:solidFill>
                            <a:srgbClr val="404040"/>
                          </a:solidFill>
                          <a:latin typeface="맑은 고딕"/>
                          <a:ea typeface="맑은 고딕"/>
                        </a:rPr>
                        <a:t>B1 대비 +1%p</a:t>
                      </a:r>
                    </a:p>
                    <a:p>
                      <a:pPr algn="l"/>
                      <a:r>
                        <a:rPr sz="800" b="1">
                          <a:solidFill>
                            <a:srgbClr val="2F5597"/>
                          </a:solidFill>
                          <a:latin typeface="맑은 고딕"/>
                          <a:ea typeface="맑은 고딕"/>
                        </a:rPr>
                        <a:t>★3 (소유자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50" b="1">
                          <a:solidFill>
                            <a:srgbClr val="000000"/>
                          </a:solidFill>
                          <a:latin typeface="맑은 고딕"/>
                          <a:ea typeface="맑은 고딕"/>
                        </a:rPr>
                        <a:t>SE 99%</a:t>
                      </a:r>
                    </a:p>
                    <a:p>
                      <a:pPr algn="l"/>
                      <a:r>
                        <a:rPr sz="780" b="0">
                          <a:solidFill>
                            <a:srgbClr val="404040"/>
                          </a:solidFill>
                          <a:latin typeface="맑은 고딕"/>
                          <a:ea typeface="맑은 고딕"/>
                        </a:rPr>
                        <a:t>B1 대비 +1%p</a:t>
                      </a:r>
                    </a:p>
                    <a:p>
                      <a:pPr algn="l"/>
                      <a:r>
                        <a:rPr sz="800" b="1">
                          <a:solidFill>
                            <a:srgbClr val="2F5597"/>
                          </a:solidFill>
                          <a:latin typeface="맑은 고딕"/>
                          <a:ea typeface="맑은 고딕"/>
                        </a:rPr>
                        <a:t>★3 (소유자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10" name="Rounded Rectangle 9"/>
          <p:cNvSpPr/>
          <p:nvPr/>
        </p:nvSpPr>
        <p:spPr>
          <a:xfrm>
            <a:off x="365760" y="4553712"/>
            <a:ext cx="11457432" cy="868680"/>
          </a:xfrm>
          <a:prstGeom prst="roundRect">
            <a:avLst/>
          </a:prstGeom>
          <a:solidFill>
            <a:srgbClr val="F2F6FC"/>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4581144"/>
            <a:ext cx="11247120" cy="822960"/>
          </a:xfrm>
          <a:prstGeom prst="rect">
            <a:avLst/>
          </a:prstGeom>
          <a:noFill/>
        </p:spPr>
        <p:txBody>
          <a:bodyPr wrap="square" lIns="73152" tIns="36576" rIns="73152" bIns="36576" anchor="t">
            <a:spAutoFit/>
          </a:bodyPr>
          <a:lstStyle/>
          <a:p>
            <a:pPr algn="l">
              <a:lnSpc>
                <a:spcPct val="110000"/>
              </a:lnSpc>
              <a:spcAft>
                <a:spcPts val="0"/>
              </a:spcAft>
            </a:pPr>
            <a:r>
              <a:rPr sz="950" b="1">
                <a:solidFill>
                  <a:srgbClr val="2F5597"/>
                </a:solidFill>
                <a:latin typeface="맑은 고딕"/>
                <a:ea typeface="맑은 고딕"/>
              </a:rPr>
              <a:t>요약 (심사용)</a:t>
            </a:r>
          </a:p>
          <a:p>
            <a:pPr algn="l">
              <a:lnSpc>
                <a:spcPct val="110000"/>
              </a:lnSpc>
              <a:spcAft>
                <a:spcPts val="0"/>
              </a:spcAft>
            </a:pPr>
            <a:r>
              <a:rPr sz="880" b="0">
                <a:solidFill>
                  <a:srgbClr val="000000"/>
                </a:solidFill>
                <a:latin typeface="맑은 고딕"/>
                <a:ea typeface="맑은 고딕"/>
              </a:rPr>
              <a:t>• CXL 공유 풀이 SSD(16 GB/s)를 대체하고 교차 라우팅 재계산을 없애 B1 대비 처리량 +66%, TTFT P99 -80%(r 2.4). B0 대비 ×2.7.</a:t>
            </a:r>
          </a:p>
          <a:p>
            <a:pPr algn="l">
              <a:lnSpc>
                <a:spcPct val="110000"/>
              </a:lnSpc>
              <a:spcAft>
                <a:spcPts val="0"/>
              </a:spcAft>
            </a:pPr>
            <a:r>
              <a:rPr sz="880" b="0">
                <a:solidFill>
                  <a:srgbClr val="000000"/>
                </a:solidFill>
                <a:latin typeface="맑은 고딕"/>
                <a:ea typeface="맑은 고딕"/>
              </a:rPr>
              <a:t>• 두 안의 제어 평면 차이(중앙 RPC 7 µs vs 락 P99 804 µs)는 요청당 수 ms 이하라 성능이 거의 같고, N=16에서 SE 99%로 동일하다. 소유자가 예상한 락 기반의 확장 우위는 이 규모에서는 드러나지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23557"/>
            <a:ext cx="11430000" cy="412421"/>
          </a:xfrm>
          <a:prstGeom prst="rect">
            <a:avLst/>
          </a:prstGeom>
          <a:noFill/>
        </p:spPr>
        <p:txBody>
          <a:bodyPr wrap="square" lIns="73152" tIns="36576" rIns="73152" bIns="36576" anchor="ctr">
            <a:spAutoFit/>
          </a:bodyPr>
          <a:lstStyle/>
          <a:p>
            <a:pPr algn="l">
              <a:spcAft>
                <a:spcPts val="250"/>
              </a:spcAft>
            </a:pPr>
            <a:r>
              <a:rPr sz="2200" b="1">
                <a:solidFill>
                  <a:srgbClr val="2F5597"/>
                </a:solidFill>
                <a:latin typeface="맑은 고딕"/>
                <a:ea typeface="맑은 고딕"/>
              </a:rPr>
              <a:t>Trade-off 별 ↔ 평가 기준 구간 ↔ 이론 예상값</a:t>
            </a:r>
            <a:endParaRPr sz="2200" b="1" dirty="0">
              <a:solidFill>
                <a:srgbClr val="2F5597"/>
              </a:solidFill>
              <a:latin typeface="맑은 고딕"/>
              <a:ea typeface="맑은 고딕"/>
            </a:endParaRP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rc"/>
          <p:cNvSpPr txBox="1"/>
          <p:nvPr/>
        </p:nvSpPr>
        <p:spPr>
          <a:xfrm>
            <a:off x="365760" y="6601968"/>
            <a:ext cx="11430000" cy="201168"/>
          </a:xfrm>
          <a:prstGeom prst="rect">
            <a:avLst/>
          </a:prstGeom>
          <a:noFill/>
        </p:spPr>
        <p:txBody>
          <a:bodyPr wrap="square" lIns="73152" tIns="36576" rIns="73152" bIns="36576" anchor="t">
            <a:spAutoFit/>
          </a:bodyPr>
          <a:lstStyle/>
          <a:p>
            <a:pPr algn="l">
              <a:spcAft>
                <a:spcPts val="250"/>
              </a:spcAft>
            </a:pPr>
            <a:r>
              <a:rPr sz="750" b="0">
                <a:solidFill>
                  <a:srgbClr val="404040"/>
                </a:solidFill>
                <a:latin typeface="맑은 고딕"/>
                <a:ea typeface="맑은 고딕"/>
              </a:rPr>
              <a:t>예상값 = theory_model.py 분석 모델(시뮬레이션 아님). 붉은 글씨 = 예상값이 소유자 별 구간보다 낮음, 파란 글씨 = 같거나 높음. 기존 중립 벤치마크 시뮬 값은 qa-criteria-v4.md 참조</a:t>
            </a:r>
          </a:p>
        </p:txBody>
      </p:sp>
      <p:sp>
        <p:nvSpPr>
          <p:cNvPr id="3" name="subtitle"/>
          <p:cNvSpPr txBox="1"/>
          <p:nvPr/>
        </p:nvSpPr>
        <p:spPr>
          <a:xfrm>
            <a:off x="365760" y="676656"/>
            <a:ext cx="11430000" cy="243143"/>
          </a:xfrm>
          <a:prstGeom prst="rect">
            <a:avLst/>
          </a:prstGeom>
          <a:noFill/>
        </p:spPr>
        <p:txBody>
          <a:bodyPr wrap="square" lIns="73152" tIns="36576" rIns="73152" bIns="36576" anchor="t">
            <a:spAutoFit/>
          </a:bodyPr>
          <a:lstStyle/>
          <a:p>
            <a:pPr>
              <a:spcAft>
                <a:spcPts val="250"/>
              </a:spcAft>
            </a:pPr>
            <a:r>
              <a:rPr sz="1100" b="0">
                <a:solidFill>
                  <a:srgbClr val="404040"/>
                </a:solidFill>
                <a:latin typeface="맑은 고딕"/>
                <a:ea typeface="맑은 고딕"/>
              </a:rPr>
              <a:t>DP 후보별 소유자 별이 새 기준(B1 대비)의 어떤 수치 구간에 해당하는지, 이론 예상값은 어디에 놓이는지</a:t>
            </a:r>
            <a:endParaRPr lang="en-US" altLang="ko-KR" sz="1100" b="0" dirty="0">
              <a:latin typeface="맑은 고딕"/>
              <a:ea typeface="맑은 고딕"/>
            </a:endParaRPr>
          </a:p>
        </p:txBody>
      </p:sp>
      <p:graphicFrame>
        <p:nvGraphicFramePr>
          <p:cNvPr id="7" name="tbl"/>
          <p:cNvGraphicFramePr>
            <a:graphicFrameLocks noGrp="1"/>
          </p:cNvGraphicFramePr>
          <p:nvPr/>
        </p:nvGraphicFramePr>
        <p:xfrm>
          <a:off x="365760" y="1097280"/>
          <a:ext cx="11457432" cy="3913632"/>
        </p:xfrm>
        <a:graphic>
          <a:graphicData uri="http://schemas.openxmlformats.org/drawingml/2006/table">
            <a:tbl>
              <a:tblPr firstRow="0" bandRow="0">
                <a:tableStyleId>{2D5ABB26-0587-4C30-8999-92F81FD0307C}</a:tableStyleId>
              </a:tblPr>
              <a:tblGrid>
                <a:gridCol w="2011680"/>
                <a:gridCol w="1965960"/>
                <a:gridCol w="1965960"/>
                <a:gridCol w="1965960"/>
                <a:gridCol w="1783080"/>
                <a:gridCol w="1764792"/>
              </a:tblGrid>
              <a:tr h="256032">
                <a:tc>
                  <a:txBody>
                    <a:bodyPr wrap="square"/>
                    <a:lstStyle/>
                    <a:p>
                      <a:pPr algn="ctr"/>
                      <a:r>
                        <a:rPr sz="900" b="1">
                          <a:solidFill>
                            <a:srgbClr val="FFFFFF"/>
                          </a:solidFill>
                          <a:latin typeface="맑은 고딕"/>
                          <a:ea typeface="맑은 고딕"/>
                        </a:rPr>
                        <a:t>DP / 안</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Q1 처리량</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Q2 HBM</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Q3 고부하 지연</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Q4 확장성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c>
                  <a:txBody>
                    <a:bodyPr wrap="square"/>
                    <a:lstStyle/>
                    <a:p>
                      <a:pPr algn="ctr"/>
                      <a:r>
                        <a:rPr sz="900" b="1">
                          <a:solidFill>
                            <a:srgbClr val="FFFFFF"/>
                          </a:solidFill>
                          <a:latin typeface="맑은 고딕"/>
                          <a:ea typeface="맑은 고딕"/>
                        </a:rPr>
                        <a:t>Q5 변경 용이성</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solidFill>
                      <a:srgbClr val="2F5597"/>
                    </a:solidFill>
                  </a:tcPr>
                </a:tc>
              </a:tr>
              <a:tr h="457200">
                <a:tc>
                  <a:txBody>
                    <a:bodyPr wrap="square"/>
                    <a:lstStyle/>
                    <a:p>
                      <a:pPr algn="l"/>
                      <a:r>
                        <a:rPr sz="800" b="1">
                          <a:solidFill>
                            <a:srgbClr val="000000"/>
                          </a:solidFill>
                          <a:latin typeface="맑은 고딕"/>
                          <a:ea typeface="맑은 고딕"/>
                        </a:rPr>
                        <a:t>DP1 1안 상태 관측+이동 결정 통합</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★1.5 → 1.35~1.5x</a:t>
                      </a:r>
                    </a:p>
                    <a:p>
                      <a:pPr algn="l"/>
                      <a:r>
                        <a:rPr sz="720" b="0">
                          <a:solidFill>
                            <a:srgbClr val="C00000"/>
                          </a:solidFill>
                          <a:latin typeface="맑은 고딕"/>
                          <a:ea typeface="맑은 고딕"/>
                        </a:rPr>
                        <a:t>786→947 tok/s (+20%)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40~50%</a:t>
                      </a:r>
                    </a:p>
                    <a:p>
                      <a:pPr algn="l"/>
                      <a:r>
                        <a:rPr sz="720" b="0">
                          <a:solidFill>
                            <a:srgbClr val="C00000"/>
                          </a:solidFill>
                          <a:latin typeface="맑은 고딕"/>
                          <a:ea typeface="맑은 고딕"/>
                        </a:rPr>
                        <a:t>425→340 GiB (−20%)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 → r 1.2~1.35</a:t>
                      </a:r>
                    </a:p>
                    <a:p>
                      <a:pPr algn="l"/>
                      <a:r>
                        <a:rPr sz="720" b="0">
                          <a:solidFill>
                            <a:srgbClr val="2F5597"/>
                          </a:solidFill>
                          <a:latin typeface="맑은 고딕"/>
                          <a:ea typeface="맑은 고딕"/>
                        </a:rPr>
                        <a:t>TTFT 1.9→1.3 s (−30%)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≤3·≤0.75</a:t>
                      </a:r>
                    </a:p>
                    <a:p>
                      <a:pPr algn="l"/>
                      <a:r>
                        <a:rPr sz="720" b="0">
                          <a:solidFill>
                            <a:srgbClr val="2F5597"/>
                          </a:solidFill>
                          <a:latin typeface="맑은 고딕"/>
                          <a:ea typeface="맑은 고딕"/>
                        </a:rPr>
                        <a:t>1.75m·0.38MM →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DP1 2안 관측·결정 분리</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1.5~1.65x</a:t>
                      </a:r>
                    </a:p>
                    <a:p>
                      <a:pPr algn="l"/>
                      <a:r>
                        <a:rPr sz="720" b="0">
                          <a:solidFill>
                            <a:srgbClr val="C00000"/>
                          </a:solidFill>
                          <a:latin typeface="맑은 고딕"/>
                          <a:ea typeface="맑은 고딕"/>
                        </a:rPr>
                        <a:t>786→1,041 tok/s (+32%)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 → 20~30%</a:t>
                      </a:r>
                    </a:p>
                    <a:p>
                      <a:pPr algn="l"/>
                      <a:r>
                        <a:rPr sz="720" b="0">
                          <a:solidFill>
                            <a:srgbClr val="C00000"/>
                          </a:solidFill>
                          <a:latin typeface="맑은 고딕"/>
                          <a:ea typeface="맑은 고딕"/>
                        </a:rPr>
                        <a:t>425→404 GiB (−5%) →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r 1.5~1.65</a:t>
                      </a:r>
                    </a:p>
                    <a:p>
                      <a:pPr algn="l"/>
                      <a:r>
                        <a:rPr sz="720" b="0">
                          <a:solidFill>
                            <a:srgbClr val="C00000"/>
                          </a:solidFill>
                          <a:latin typeface="맑은 고딕"/>
                          <a:ea typeface="맑은 고딕"/>
                        </a:rPr>
                        <a:t>TTFT 1.9→1.2 s (−38%)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≤3·≤0.75</a:t>
                      </a:r>
                    </a:p>
                    <a:p>
                      <a:pPr algn="l"/>
                      <a:r>
                        <a:rPr sz="720" b="0">
                          <a:solidFill>
                            <a:srgbClr val="2F5597"/>
                          </a:solidFill>
                          <a:latin typeface="맑은 고딕"/>
                          <a:ea typeface="맑은 고딕"/>
                        </a:rPr>
                        <a:t>2.5m·0.51MM →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DP2 1안 스케줄링 시점 결정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 → 1.2~1.35x</a:t>
                      </a:r>
                    </a:p>
                    <a:p>
                      <a:pPr algn="l"/>
                      <a:r>
                        <a:rPr sz="720" b="0">
                          <a:solidFill>
                            <a:srgbClr val="2F5597"/>
                          </a:solidFill>
                          <a:latin typeface="맑은 고딕"/>
                          <a:ea typeface="맑은 고딕"/>
                        </a:rPr>
                        <a:t>1,573→1,981 tok/s (+26%)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40~50%</a:t>
                      </a:r>
                    </a:p>
                    <a:p>
                      <a:pPr algn="l"/>
                      <a:r>
                        <a:rPr sz="720" b="0">
                          <a:solidFill>
                            <a:srgbClr val="C00000"/>
                          </a:solidFill>
                          <a:latin typeface="맑은 고딕"/>
                          <a:ea typeface="맑은 고딕"/>
                        </a:rPr>
                        <a:t>850→722 GiB (−15%) →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r 1.5~1.65</a:t>
                      </a:r>
                    </a:p>
                    <a:p>
                      <a:pPr algn="l"/>
                      <a:r>
                        <a:rPr sz="720" b="0">
                          <a:solidFill>
                            <a:srgbClr val="C00000"/>
                          </a:solidFill>
                          <a:latin typeface="맑은 고딕"/>
                          <a:ea typeface="맑은 고딕"/>
                        </a:rPr>
                        <a:t>TTFT 1.9→1.2 s (−36%)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90~92.5%</a:t>
                      </a:r>
                    </a:p>
                    <a:p>
                      <a:pPr algn="l"/>
                      <a:r>
                        <a:rPr sz="720" b="0">
                          <a:solidFill>
                            <a:srgbClr val="C00000"/>
                          </a:solidFill>
                          <a:latin typeface="맑은 고딕"/>
                          <a:ea typeface="맑은 고딕"/>
                        </a:rPr>
                        <a:t>SE 98→51% →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DP2 2안 사전 계획 결정</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1.5~1.65x</a:t>
                      </a:r>
                    </a:p>
                    <a:p>
                      <a:pPr algn="l"/>
                      <a:r>
                        <a:rPr sz="720" b="0">
                          <a:solidFill>
                            <a:srgbClr val="2F5597"/>
                          </a:solidFill>
                          <a:latin typeface="맑은 고딕"/>
                          <a:ea typeface="맑은 고딕"/>
                        </a:rPr>
                        <a:t>1,573→2,418 tok/s (+54%) →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★1.5 → 30~40%</a:t>
                      </a:r>
                    </a:p>
                    <a:p>
                      <a:pPr algn="l"/>
                      <a:r>
                        <a:rPr sz="720" b="0">
                          <a:solidFill>
                            <a:srgbClr val="C00000"/>
                          </a:solidFill>
                          <a:latin typeface="맑은 고딕"/>
                          <a:ea typeface="맑은 고딕"/>
                        </a:rPr>
                        <a:t>850→782 GiB (−8%) → ☆</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 → r 1.2~1.35</a:t>
                      </a:r>
                    </a:p>
                    <a:p>
                      <a:pPr algn="l"/>
                      <a:r>
                        <a:rPr sz="720" b="0">
                          <a:solidFill>
                            <a:srgbClr val="2F5597"/>
                          </a:solidFill>
                          <a:latin typeface="맑은 고딕"/>
                          <a:ea typeface="맑은 고딕"/>
                        </a:rPr>
                        <a:t>TTFT 1.9→1.0 s (−46%) →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★3 → ≥95%</a:t>
                      </a:r>
                    </a:p>
                    <a:p>
                      <a:pPr algn="l"/>
                      <a:r>
                        <a:rPr sz="720" b="0">
                          <a:solidFill>
                            <a:srgbClr val="2F5597"/>
                          </a:solidFill>
                          <a:latin typeface="맑은 고딕"/>
                          <a:ea typeface="맑은 고딕"/>
                        </a:rPr>
                        <a:t>SE 98→97% →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DP3 1안 Pipe-and-Filter</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1.5~1.65x</a:t>
                      </a:r>
                    </a:p>
                    <a:p>
                      <a:pPr algn="l"/>
                      <a:r>
                        <a:rPr sz="720" b="0">
                          <a:solidFill>
                            <a:srgbClr val="C00000"/>
                          </a:solidFill>
                          <a:latin typeface="맑은 고딕"/>
                          <a:ea typeface="맑은 고딕"/>
                        </a:rPr>
                        <a:t>786→1,123 tok/s (+43%) →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★3 → ≥60%</a:t>
                      </a:r>
                    </a:p>
                    <a:p>
                      <a:pPr algn="l"/>
                      <a:r>
                        <a:rPr sz="720" b="0">
                          <a:solidFill>
                            <a:srgbClr val="C00000"/>
                          </a:solidFill>
                          <a:latin typeface="맑은 고딕"/>
                          <a:ea typeface="맑은 고딕"/>
                        </a:rPr>
                        <a:t>425→255 GiB (−40%) →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 → r 1.2~1.35</a:t>
                      </a:r>
                    </a:p>
                    <a:p>
                      <a:pPr algn="l"/>
                      <a:r>
                        <a:rPr sz="720" b="0">
                          <a:solidFill>
                            <a:srgbClr val="2F5597"/>
                          </a:solidFill>
                          <a:latin typeface="맑은 고딕"/>
                          <a:ea typeface="맑은 고딕"/>
                        </a:rPr>
                        <a:t>TTFT 1.9→0.8 s (−57%) →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DP3 2안 Shared Repository</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★2.5 → 1.65~1.8x</a:t>
                      </a:r>
                    </a:p>
                    <a:p>
                      <a:pPr algn="l"/>
                      <a:r>
                        <a:rPr sz="720" b="0">
                          <a:solidFill>
                            <a:srgbClr val="C00000"/>
                          </a:solidFill>
                          <a:latin typeface="맑은 고딕"/>
                          <a:ea typeface="맑은 고딕"/>
                        </a:rPr>
                        <a:t>786→1,123 tok/s (+43%) → ★1.5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40~50%</a:t>
                      </a:r>
                    </a:p>
                    <a:p>
                      <a:pPr algn="l"/>
                      <a:r>
                        <a:rPr sz="720" b="0">
                          <a:solidFill>
                            <a:srgbClr val="C00000"/>
                          </a:solidFill>
                          <a:latin typeface="맑은 고딕"/>
                          <a:ea typeface="맑은 고딕"/>
                        </a:rPr>
                        <a:t>425→319 GiB (−25%) → ★1</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★2.5 → r 1.65~1.8</a:t>
                      </a:r>
                    </a:p>
                    <a:p>
                      <a:pPr algn="l"/>
                      <a:r>
                        <a:rPr sz="720" b="0">
                          <a:solidFill>
                            <a:srgbClr val="C00000"/>
                          </a:solidFill>
                          <a:latin typeface="맑은 고딕"/>
                          <a:ea typeface="맑은 고딕"/>
                        </a:rPr>
                        <a:t>TTFT 1.9→0.8 s (−59%) → ★2</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DP4 1안 중앙 서버 중재</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★2.5 → 1.65~1.8x</a:t>
                      </a:r>
                    </a:p>
                    <a:p>
                      <a:pPr algn="l"/>
                      <a:r>
                        <a:rPr sz="720" b="0">
                          <a:solidFill>
                            <a:srgbClr val="2F5597"/>
                          </a:solidFill>
                          <a:latin typeface="맑은 고딕"/>
                          <a:ea typeface="맑은 고딕"/>
                        </a:rPr>
                        <a:t>2,973→4,941 tok/s (+66%) →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r 1.5~1.65</a:t>
                      </a:r>
                    </a:p>
                    <a:p>
                      <a:pPr algn="l"/>
                      <a:r>
                        <a:rPr sz="720" b="0">
                          <a:solidFill>
                            <a:srgbClr val="2F5597"/>
                          </a:solidFill>
                          <a:latin typeface="맑은 고딕"/>
                          <a:ea typeface="맑은 고딕"/>
                        </a:rPr>
                        <a:t>TTFT 2.1→0.4 s (−80%) →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90~92.5%</a:t>
                      </a:r>
                    </a:p>
                    <a:p>
                      <a:pPr algn="l"/>
                      <a:r>
                        <a:rPr sz="720" b="0">
                          <a:solidFill>
                            <a:srgbClr val="2F5597"/>
                          </a:solidFill>
                          <a:latin typeface="맑은 고딕"/>
                          <a:ea typeface="맑은 고딕"/>
                        </a:rPr>
                        <a:t>SE 98→99% →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r h="457200">
                <a:tc>
                  <a:txBody>
                    <a:bodyPr wrap="square"/>
                    <a:lstStyle/>
                    <a:p>
                      <a:pPr algn="l"/>
                      <a:r>
                        <a:rPr sz="800" b="1">
                          <a:solidFill>
                            <a:srgbClr val="000000"/>
                          </a:solidFill>
                          <a:latin typeface="맑은 고딕"/>
                          <a:ea typeface="맑은 고딕"/>
                        </a:rPr>
                        <a:t>DP4 2안 락 기반 직접 접근</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★2 → 1.5~1.65x</a:t>
                      </a:r>
                    </a:p>
                    <a:p>
                      <a:pPr algn="l"/>
                      <a:r>
                        <a:rPr sz="720" b="0">
                          <a:solidFill>
                            <a:srgbClr val="2F5597"/>
                          </a:solidFill>
                          <a:latin typeface="맑은 고딕"/>
                          <a:ea typeface="맑은 고딕"/>
                        </a:rPr>
                        <a:t>2,973→4,941 tok/s (+66%) → ★2.5</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★1.5 → r 1.35~1.5</a:t>
                      </a:r>
                    </a:p>
                    <a:p>
                      <a:pPr algn="l"/>
                      <a:r>
                        <a:rPr sz="720" b="0">
                          <a:solidFill>
                            <a:srgbClr val="2F5597"/>
                          </a:solidFill>
                          <a:latin typeface="맑은 고딕"/>
                          <a:ea typeface="맑은 고딕"/>
                        </a:rPr>
                        <a:t>TTFT 2.1→0.4 s (−80%) →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1">
                          <a:solidFill>
                            <a:srgbClr val="000000"/>
                          </a:solidFill>
                          <a:latin typeface="맑은 고딕"/>
                          <a:ea typeface="맑은 고딕"/>
                        </a:rPr>
                        <a:t>★3 → ≥95%</a:t>
                      </a:r>
                    </a:p>
                    <a:p>
                      <a:pPr algn="l"/>
                      <a:r>
                        <a:rPr sz="720" b="0">
                          <a:solidFill>
                            <a:srgbClr val="2F5597"/>
                          </a:solidFill>
                          <a:latin typeface="맑은 고딕"/>
                          <a:ea typeface="맑은 고딕"/>
                        </a:rPr>
                        <a:t>SE 98→99% → ★3</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c>
                  <a:txBody>
                    <a:bodyPr wrap="square"/>
                    <a:lstStyle/>
                    <a:p>
                      <a:pPr algn="l"/>
                      <a:r>
                        <a:rPr sz="800" b="0">
                          <a:solidFill>
                            <a:srgbClr val="A6A6A6"/>
                          </a:solidFill>
                          <a:latin typeface="맑은 고딕"/>
                          <a:ea typeface="맑은 고딕"/>
                        </a:rPr>
                        <a:t>—</a:t>
                      </a:r>
                    </a:p>
                  </a:txBody>
                  <a:tcPr marL="54864" marT="22860" marR="54864" marB="22860" anchor="ctr">
                    <a:lnL w="6350">
                      <a:solidFill>
                        <a:srgbClr val="BFBFBF"/>
                      </a:solidFill>
                    </a:lnL>
                    <a:lnR w="6350">
                      <a:solidFill>
                        <a:srgbClr val="BFBFBF"/>
                      </a:solidFill>
                    </a:lnR>
                    <a:lnT w="6350">
                      <a:solidFill>
                        <a:srgbClr val="BFBFBF"/>
                      </a:solidFill>
                    </a:lnT>
                    <a:lnB w="6350">
                      <a:solidFill>
                        <a:srgbClr val="BFBFBF"/>
                      </a:solidFill>
                    </a:lnB>
                  </a:tcPr>
                </a:tc>
              </a:tr>
            </a:tbl>
          </a:graphicData>
        </a:graphic>
      </p:graphicFrame>
      <p:sp>
        <p:nvSpPr>
          <p:cNvPr id="8" name="TextBox 7"/>
          <p:cNvSpPr txBox="1"/>
          <p:nvPr/>
        </p:nvSpPr>
        <p:spPr>
          <a:xfrm>
            <a:off x="365760" y="5120640"/>
            <a:ext cx="11430000" cy="1371600"/>
          </a:xfrm>
          <a:prstGeom prst="rect">
            <a:avLst/>
          </a:prstGeom>
          <a:noFill/>
        </p:spPr>
        <p:txBody>
          <a:bodyPr wrap="square" lIns="73152" tIns="36576" rIns="73152" bIns="36576" anchor="t">
            <a:spAutoFit/>
          </a:bodyPr>
          <a:lstStyle/>
          <a:p>
            <a:pPr algn="l">
              <a:lnSpc>
                <a:spcPct val="112000"/>
              </a:lnSpc>
              <a:spcAft>
                <a:spcPts val="0"/>
              </a:spcAft>
            </a:pPr>
            <a:r>
              <a:rPr sz="1000" b="1">
                <a:solidFill>
                  <a:srgbClr val="2F5597"/>
                </a:solidFill>
                <a:latin typeface="맑은 고딕"/>
                <a:ea typeface="맑은 고딕"/>
              </a:rPr>
              <a:t>읽는 법</a:t>
            </a:r>
          </a:p>
          <a:p>
            <a:pPr algn="l">
              <a:lnSpc>
                <a:spcPct val="112000"/>
              </a:lnSpc>
              <a:spcAft>
                <a:spcPts val="0"/>
              </a:spcAft>
            </a:pPr>
            <a:r>
              <a:rPr sz="900" b="0">
                <a:solidFill>
                  <a:srgbClr val="000000"/>
                </a:solidFill>
                <a:latin typeface="맑은 고딕"/>
                <a:ea typeface="맑은 고딕"/>
              </a:rPr>
              <a:t>• 굵은 줄: 소유자 별과 그 별이 요구하는 새 기준 구간. 작은 줄: 이론 예상값(B1 → 후보)과 새 기준으로 환산한 별.</a:t>
            </a:r>
          </a:p>
          <a:p>
            <a:pPr algn="l">
              <a:lnSpc>
                <a:spcPct val="112000"/>
              </a:lnSpc>
              <a:spcAft>
                <a:spcPts val="0"/>
              </a:spcAft>
            </a:pPr>
            <a:r>
              <a:rPr sz="900" b="0">
                <a:solidFill>
                  <a:srgbClr val="000000"/>
                </a:solidFill>
                <a:latin typeface="맑은 고딕"/>
                <a:ea typeface="맑은 고딕"/>
              </a:rPr>
              <a:t>• 소유자 별과 ±0.5 이내로 맞는 칸: 12 / 28. 후보 간 순위가 소유자 평가와 같은 곳: DP1 Q1~Q3, DP2 Q1·Q2·Q4, DP3 Q2.</a:t>
            </a:r>
          </a:p>
          <a:p>
            <a:pPr algn="l">
              <a:lnSpc>
                <a:spcPct val="112000"/>
              </a:lnSpc>
              <a:spcAft>
                <a:spcPts val="0"/>
              </a:spcAft>
            </a:pPr>
            <a:r>
              <a:rPr sz="900" b="0">
                <a:solidFill>
                  <a:srgbClr val="000000"/>
                </a:solidFill>
                <a:latin typeface="맑은 고딕"/>
                <a:ea typeface="맑은 고딕"/>
              </a:rPr>
              <a:t>• 어긋나는 곳: DP2 Q3(소유자는 1안이 유리, 예상값은 2안이 유리: Re-plan 비용이 작음), DP3 Q1·Q3(두 안 거의 동일), DP4 Q1·Q3·Q4(두 안 동일, 소유자는 안 간 차이를 예상). 파라미터를 바꾸면 달라지는 값이며 가정은 방법 페이지에 적었다.</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TotalTime>
  <Words>4049</Words>
  <Application>Microsoft Office PowerPoint</Application>
  <PresentationFormat>와이드스크린</PresentationFormat>
  <Paragraphs>678</Paragraphs>
  <Slides>11</Slides>
  <Notes>5</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11</vt:i4>
      </vt:variant>
    </vt:vector>
  </HeadingPairs>
  <TitlesOfParts>
    <vt:vector size="17" baseType="lpstr">
      <vt:lpstr>Mona Sans VF</vt:lpstr>
      <vt:lpstr>Malgun Gothic</vt:lpstr>
      <vt:lpstr>Malgun Gothic</vt:lpstr>
      <vt:lpstr>Arial</vt:lpstr>
      <vt:lpstr>Wingdings</vt:lpstr>
      <vt:lpstr>Office 테마</vt:lpstr>
      <vt:lpstr>품질 요구사항</vt:lpstr>
      <vt:lpstr>DP1. Data Migration 결정 구조 - 설계</vt:lpstr>
      <vt:lpstr>DP2. 연산(Prefill/Decode) 실행 위치 결정 구조 - 설계</vt:lpstr>
      <vt:lpstr>DP3. KV 캐시 재사용 구조 – 설계 </vt:lpstr>
      <vt:lpstr>DP4. 서버 간 KV 캐시 공유 구조 – 설계</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품질 요구사항</dc:title>
  <dc:creator>Myeong Woo Kim</dc:creator>
  <cp:lastModifiedBy>Myeong Woo Kim</cp:lastModifiedBy>
  <cp:revision>3</cp:revision>
  <dcterms:created xsi:type="dcterms:W3CDTF">2026-10-23T15:38:13Z</dcterms:created>
  <dcterms:modified xsi:type="dcterms:W3CDTF">2026-10-23T16:03:48Z</dcterms:modified>
</cp:coreProperties>
</file>
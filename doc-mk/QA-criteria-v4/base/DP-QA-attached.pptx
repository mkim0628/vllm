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943" r:id="rId2"/>
    <p:sldId id="931" r:id="rId3"/>
    <p:sldId id="945" r:id="rId4"/>
    <p:sldId id="926" r:id="rId5"/>
    <p:sldId id="959" r:id="rId6"/>
    <p:sldId id="719" r:id="rId7"/>
    <p:sldId id="721" r:id="rId8"/>
    <p:sldId id="933" r:id="rId9"/>
    <p:sldId id="961" r:id="rId10"/>
    <p:sldId id="724" r:id="rId11"/>
    <p:sldId id="72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78A91-A2AF-4AFF-956C-ED60CBCEC2CA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1F2B9-5959-42CE-B508-EC1F8FE5D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7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행위를 분석하고 마이그레이션 정책을 결정하는 계층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상태를 수집하고 관리하는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복사 및 전송을 전담하는 실행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pressure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발생했을 때 빠르게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pipeline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단순해서 제어 오버헤드가 작음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cacahe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miss/reload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줄이고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hit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높여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더 잘 보존할 가능성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Resource pressure </a:t>
            </a:r>
            <a:r>
              <a:rPr lang="ko-KR" altLang="en-US" dirty="0"/>
              <a:t>기반 즉시 대응으로 병목 완화 ② 단순 </a:t>
            </a:r>
            <a:r>
              <a:rPr lang="en-US" altLang="ko-KR" dirty="0"/>
              <a:t>decision logic</a:t>
            </a:r>
            <a:r>
              <a:rPr lang="ko-KR" altLang="en-US" dirty="0"/>
              <a:t>으로 제어 오버헤드 최소화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Hot/Cold </a:t>
            </a:r>
            <a:r>
              <a:rPr lang="ko-KR" altLang="en-US" dirty="0"/>
              <a:t>기반 선별 </a:t>
            </a:r>
            <a:r>
              <a:rPr lang="en-US" altLang="ko-KR" dirty="0"/>
              <a:t>migration</a:t>
            </a:r>
            <a:r>
              <a:rPr lang="ko-KR" altLang="en-US" dirty="0"/>
              <a:t>으로 불필요한 </a:t>
            </a:r>
            <a:r>
              <a:rPr lang="en-US" altLang="ko-KR" dirty="0"/>
              <a:t>reload </a:t>
            </a:r>
            <a:r>
              <a:rPr lang="ko-KR" altLang="en-US" dirty="0"/>
              <a:t>감소 ② 향후 </a:t>
            </a:r>
            <a:r>
              <a:rPr lang="en-US" altLang="ko-KR" dirty="0"/>
              <a:t>reuse</a:t>
            </a:r>
            <a:r>
              <a:rPr lang="ko-KR" altLang="en-US" dirty="0"/>
              <a:t>를 고려해 고성능 </a:t>
            </a:r>
            <a:r>
              <a:rPr lang="en-US" altLang="ko-KR" dirty="0"/>
              <a:t>tier </a:t>
            </a:r>
            <a:r>
              <a:rPr lang="ko-KR" altLang="en-US" dirty="0"/>
              <a:t>활용 극대화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Modifiability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Mona Sans VF"/>
              </a:rPr>
              <a:t>가 상대적으로 높음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 새로운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memory resource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추가 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Registry / affinity mapping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확장으로 대응 가능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6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쉬운 비유</a:t>
            </a:r>
            <a:r>
              <a:rPr lang="en-US" altLang="ko-KR" dirty="0"/>
              <a:t>: </a:t>
            </a:r>
            <a:r>
              <a:rPr lang="ko-KR" altLang="en-US" dirty="0" err="1"/>
              <a:t>네이게이션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출발 직전에 경로 계산 </a:t>
            </a:r>
            <a:r>
              <a:rPr lang="en-US" altLang="ko-KR" dirty="0"/>
              <a:t>-&gt; </a:t>
            </a:r>
            <a:r>
              <a:rPr lang="ko-KR" altLang="en-US" dirty="0"/>
              <a:t>경로 계산 기다렸다가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미리 경로 계산 </a:t>
            </a:r>
            <a:r>
              <a:rPr lang="en-US" altLang="ko-KR" dirty="0"/>
              <a:t>-&gt; </a:t>
            </a:r>
            <a:r>
              <a:rPr lang="ko-KR" altLang="en-US" dirty="0"/>
              <a:t>그대로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 단점</a:t>
            </a:r>
            <a:r>
              <a:rPr lang="en-US" altLang="ko-KR" dirty="0"/>
              <a:t>:</a:t>
            </a:r>
            <a:r>
              <a:rPr lang="en-US" altLang="ko-KR" baseline="0" dirty="0"/>
              <a:t> </a:t>
            </a:r>
            <a:r>
              <a:rPr lang="ko-KR" altLang="en-US" baseline="0" dirty="0"/>
              <a:t>가는 동안 정체 시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다시 계산</a:t>
            </a:r>
            <a:endParaRPr lang="en-US" altLang="ko-KR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상태 정보</a:t>
            </a:r>
            <a:r>
              <a:rPr lang="en-US" altLang="ko-KR" dirty="0"/>
              <a:t>: Prefill </a:t>
            </a:r>
            <a:r>
              <a:rPr lang="ko-KR" altLang="en-US" dirty="0"/>
              <a:t>노드의 대기 토큰 수와 </a:t>
            </a:r>
            <a:r>
              <a:rPr lang="en-US" altLang="ko-KR" dirty="0"/>
              <a:t>Decode </a:t>
            </a:r>
            <a:r>
              <a:rPr lang="ko-KR" altLang="en-US" dirty="0"/>
              <a:t>수</a:t>
            </a:r>
            <a:r>
              <a:rPr lang="en-US" altLang="ko-KR" dirty="0"/>
              <a:t>, Decode </a:t>
            </a:r>
            <a:r>
              <a:rPr lang="ko-KR" altLang="en-US" dirty="0"/>
              <a:t>노드의 </a:t>
            </a:r>
            <a:r>
              <a:rPr lang="en-US" altLang="ko-KR" dirty="0"/>
              <a:t>Tier </a:t>
            </a:r>
            <a:r>
              <a:rPr lang="ko-KR" altLang="en-US" dirty="0"/>
              <a:t>여유 용량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History KV </a:t>
            </a:r>
            <a:r>
              <a:rPr lang="ko-KR" altLang="en-US" dirty="0"/>
              <a:t>위치를 저장하고</a:t>
            </a:r>
            <a:r>
              <a:rPr lang="en-US" altLang="ko-KR" dirty="0"/>
              <a:t>, </a:t>
            </a:r>
            <a:r>
              <a:rPr lang="ko-KR" altLang="en-US" dirty="0"/>
              <a:t>생성 시각도 함께 기록합니다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dirty="0"/>
              <a:t>. ranked alt </a:t>
            </a:r>
            <a:r>
              <a:rPr lang="ko-KR" altLang="en-US" dirty="0"/>
              <a:t>중 </a:t>
            </a:r>
            <a:r>
              <a:rPr lang="en-US" altLang="ko-KR" dirty="0"/>
              <a:t>guard </a:t>
            </a:r>
            <a:r>
              <a:rPr lang="ko-KR" altLang="en-US" dirty="0"/>
              <a:t>통과하는 것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ko-KR" dirty="0"/>
              <a:t>. fallback </a:t>
            </a:r>
            <a:r>
              <a:rPr lang="ko-KR" altLang="en-US" dirty="0"/>
              <a:t>규칙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ko-KR" dirty="0"/>
              <a:t>. </a:t>
            </a:r>
            <a:r>
              <a:rPr lang="ko-KR" altLang="en-US" dirty="0"/>
              <a:t>동기 </a:t>
            </a:r>
            <a:r>
              <a:rPr lang="en-US" altLang="ko-KR" dirty="0"/>
              <a:t>re-plan --&gt; </a:t>
            </a:r>
            <a:r>
              <a:rPr lang="ko-KR" altLang="en-US" dirty="0"/>
              <a:t>결과 직접 반환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en-US" altLang="ko-KR" dirty="0"/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US" altLang="ko-KR" dirty="0"/>
              <a:t> </a:t>
            </a:r>
            <a:r>
              <a:rPr lang="ko-KR" altLang="en-US" dirty="0"/>
              <a:t>갱신 </a:t>
            </a:r>
            <a:r>
              <a:rPr lang="en-US" altLang="ko-KR" dirty="0"/>
              <a:t>= </a:t>
            </a:r>
            <a:r>
              <a:rPr lang="ko-KR" altLang="en-US" dirty="0"/>
              <a:t>다음 </a:t>
            </a:r>
            <a:r>
              <a:rPr lang="ko-KR" altLang="en-US" dirty="0" err="1"/>
              <a:t>요청용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2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선택 이유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안은 사전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재계산량이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저장본이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불어남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안의 </a:t>
            </a:r>
            <a:r>
              <a:rPr lang="en-US" altLang="ko-KR" dirty="0"/>
              <a:t>Performance ★★★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때만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군이 실제 분포를 못 따라가면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(W/L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신규 패턴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hit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율이 떨어지고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장점과 제약이 동시에 무너짐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729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050" dirty="0"/>
              <a:t>[DP4 </a:t>
            </a:r>
            <a:r>
              <a:rPr sz="1050" dirty="0" err="1"/>
              <a:t>설계</a:t>
            </a:r>
            <a:r>
              <a:rPr sz="1050" dirty="0"/>
              <a:t> -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직렬화</a:t>
            </a:r>
            <a:r>
              <a:rPr sz="1050" dirty="0"/>
              <a:t> vs </a:t>
            </a:r>
            <a:r>
              <a:rPr sz="1050" dirty="0" err="1"/>
              <a:t>분산</a:t>
            </a:r>
            <a:r>
              <a:rPr sz="1050" dirty="0"/>
              <a:t> 락]</a:t>
            </a:r>
          </a:p>
          <a:p>
            <a:r>
              <a:rPr sz="1050" dirty="0"/>
              <a:t>두 </a:t>
            </a:r>
            <a:r>
              <a:rPr sz="1050" dirty="0" err="1"/>
              <a:t>안은</a:t>
            </a:r>
            <a:r>
              <a:rPr sz="1050" dirty="0"/>
              <a:t> </a:t>
            </a:r>
            <a:r>
              <a:rPr sz="1050" dirty="0" err="1"/>
              <a:t>공통</a:t>
            </a:r>
            <a:r>
              <a:rPr sz="1050" dirty="0"/>
              <a:t> </a:t>
            </a:r>
            <a:r>
              <a:rPr sz="1050" dirty="0" err="1"/>
              <a:t>전제를</a:t>
            </a:r>
            <a:r>
              <a:rPr sz="1050" dirty="0"/>
              <a:t> </a:t>
            </a:r>
            <a:r>
              <a:rPr sz="1050" dirty="0" err="1"/>
              <a:t>공유합니다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/>
              <a:t>KV </a:t>
            </a:r>
            <a:r>
              <a:rPr sz="1050" dirty="0" err="1"/>
              <a:t>블록은</a:t>
            </a:r>
            <a:r>
              <a:rPr sz="1050" dirty="0"/>
              <a:t> 한 번 </a:t>
            </a:r>
            <a:r>
              <a:rPr sz="1050" dirty="0" err="1"/>
              <a:t>쓰면</a:t>
            </a:r>
            <a:r>
              <a:rPr sz="1050" dirty="0"/>
              <a:t> </a:t>
            </a:r>
            <a:r>
              <a:rPr sz="1050" dirty="0" err="1"/>
              <a:t>바뀌지</a:t>
            </a:r>
            <a:r>
              <a:rPr sz="1050" dirty="0"/>
              <a:t> </a:t>
            </a:r>
            <a:r>
              <a:rPr sz="1050" dirty="0" err="1"/>
              <a:t>않고</a:t>
            </a:r>
            <a:r>
              <a:rPr sz="1050" dirty="0"/>
              <a:t> </a:t>
            </a:r>
            <a:r>
              <a:rPr sz="1050" dirty="0" err="1"/>
              <a:t>해시로</a:t>
            </a:r>
            <a:r>
              <a:rPr sz="1050" dirty="0"/>
              <a:t> </a:t>
            </a:r>
            <a:r>
              <a:rPr sz="1050" dirty="0" err="1"/>
              <a:t>식별되며</a:t>
            </a:r>
            <a:r>
              <a:rPr sz="1050" dirty="0"/>
              <a:t>, </a:t>
            </a:r>
            <a:r>
              <a:rPr sz="1050" dirty="0" err="1"/>
              <a:t>페이로드는</a:t>
            </a:r>
            <a:r>
              <a:rPr sz="1050" dirty="0"/>
              <a:t> GPU </a:t>
            </a:r>
            <a:r>
              <a:rPr sz="1050" dirty="0" err="1"/>
              <a:t>DMA가</a:t>
            </a:r>
            <a:r>
              <a:rPr sz="1050" dirty="0"/>
              <a:t> CPU </a:t>
            </a:r>
            <a:r>
              <a:rPr sz="1050" dirty="0" err="1"/>
              <a:t>캐시를</a:t>
            </a:r>
            <a:r>
              <a:rPr sz="1050" dirty="0"/>
              <a:t> </a:t>
            </a:r>
            <a:r>
              <a:rPr sz="1050" dirty="0" err="1"/>
              <a:t>우회하므로</a:t>
            </a:r>
            <a:r>
              <a:rPr sz="1050" dirty="0"/>
              <a:t>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READY로</a:t>
            </a:r>
            <a:r>
              <a:rPr sz="1050" dirty="0"/>
              <a:t> </a:t>
            </a:r>
            <a:r>
              <a:rPr sz="1050" dirty="0" err="1"/>
              <a:t>publish하는</a:t>
            </a:r>
            <a:r>
              <a:rPr sz="1050" dirty="0"/>
              <a:t> </a:t>
            </a:r>
            <a:r>
              <a:rPr sz="1050" dirty="0" err="1"/>
              <a:t>시점을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경계로</a:t>
            </a:r>
            <a:r>
              <a:rPr sz="1050" dirty="0"/>
              <a:t> </a:t>
            </a:r>
            <a:r>
              <a:rPr sz="1050" dirty="0" err="1"/>
              <a:t>삼습니다</a:t>
            </a:r>
            <a:r>
              <a:rPr sz="1050" dirty="0"/>
              <a:t>. </a:t>
            </a:r>
            <a:r>
              <a:rPr sz="1050" dirty="0" err="1"/>
              <a:t>차이는</a:t>
            </a:r>
            <a:r>
              <a:rPr sz="1050" dirty="0"/>
              <a:t> </a:t>
            </a:r>
            <a:r>
              <a:rPr sz="1050" dirty="0" err="1"/>
              <a:t>메타데이터</a:t>
            </a:r>
            <a:r>
              <a:rPr sz="1050" dirty="0"/>
              <a:t>, 즉 prefix </a:t>
            </a:r>
            <a:r>
              <a:rPr sz="1050" dirty="0" err="1"/>
              <a:t>인덱스와</a:t>
            </a:r>
            <a:r>
              <a:rPr sz="1050" dirty="0"/>
              <a:t> </a:t>
            </a:r>
            <a:r>
              <a:rPr sz="1050" dirty="0" err="1"/>
              <a:t>refcount</a:t>
            </a:r>
            <a:r>
              <a:rPr sz="1050" dirty="0"/>
              <a:t>, </a:t>
            </a:r>
            <a:r>
              <a:rPr sz="1050" dirty="0" err="1"/>
              <a:t>할당기</a:t>
            </a:r>
            <a:r>
              <a:rPr sz="1050" dirty="0"/>
              <a:t>, </a:t>
            </a:r>
            <a:r>
              <a:rPr sz="1050" dirty="0" err="1"/>
              <a:t>LRU의</a:t>
            </a:r>
            <a:r>
              <a:rPr sz="1050" dirty="0"/>
              <a:t> </a:t>
            </a:r>
            <a:r>
              <a:rPr sz="1050" dirty="0" err="1"/>
              <a:t>일관성</a:t>
            </a:r>
            <a:r>
              <a:rPr sz="1050" dirty="0"/>
              <a:t> </a:t>
            </a:r>
            <a:r>
              <a:rPr sz="1050" dirty="0" err="1"/>
              <a:t>책임을</a:t>
            </a:r>
            <a:r>
              <a:rPr sz="1050" dirty="0"/>
              <a:t> </a:t>
            </a:r>
            <a:r>
              <a:rPr sz="1050" dirty="0" err="1"/>
              <a:t>누가</a:t>
            </a:r>
            <a:r>
              <a:rPr sz="1050" dirty="0"/>
              <a:t> </a:t>
            </a:r>
            <a:r>
              <a:rPr sz="1050" dirty="0" err="1"/>
              <a:t>지는가입니다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C1은 </a:t>
            </a:r>
            <a:r>
              <a:rPr sz="1050" dirty="0" err="1"/>
              <a:t>메타데이터</a:t>
            </a:r>
            <a:r>
              <a:rPr sz="1050" dirty="0"/>
              <a:t> </a:t>
            </a:r>
            <a:r>
              <a:rPr sz="1050" dirty="0" err="1"/>
              <a:t>서버</a:t>
            </a:r>
            <a:r>
              <a:rPr sz="1050" dirty="0"/>
              <a:t> 한 </a:t>
            </a:r>
            <a:r>
              <a:rPr sz="1050" dirty="0" err="1"/>
              <a:t>곳이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연산을</a:t>
            </a:r>
            <a:r>
              <a:rPr sz="1050" dirty="0"/>
              <a:t> </a:t>
            </a:r>
            <a:r>
              <a:rPr sz="1050" dirty="0" err="1"/>
              <a:t>직렬화하고</a:t>
            </a:r>
            <a:r>
              <a:rPr sz="1050" dirty="0"/>
              <a:t> </a:t>
            </a:r>
            <a:r>
              <a:rPr sz="1050" dirty="0" err="1"/>
              <a:t>노드는</a:t>
            </a:r>
            <a:r>
              <a:rPr sz="1050" dirty="0"/>
              <a:t> CXL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기반</a:t>
            </a:r>
            <a:r>
              <a:rPr sz="1050" dirty="0"/>
              <a:t> </a:t>
            </a:r>
            <a:r>
              <a:rPr sz="1050" dirty="0" err="1"/>
              <a:t>RPC로</a:t>
            </a:r>
            <a:r>
              <a:rPr sz="1050" dirty="0"/>
              <a:t> </a:t>
            </a:r>
            <a:r>
              <a:rPr sz="1050" dirty="0" err="1"/>
              <a:t>요청합니다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Beluga가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락이</a:t>
            </a:r>
            <a:r>
              <a:rPr sz="1050" dirty="0"/>
              <a:t> </a:t>
            </a:r>
            <a:r>
              <a:rPr sz="1050" dirty="0" err="1"/>
              <a:t>필요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SPOF이자</a:t>
            </a:r>
            <a:r>
              <a:rPr sz="1050" dirty="0"/>
              <a:t> </a:t>
            </a:r>
            <a:r>
              <a:rPr sz="1050" dirty="0" err="1"/>
              <a:t>처리량</a:t>
            </a:r>
            <a:r>
              <a:rPr sz="1050" dirty="0"/>
              <a:t> </a:t>
            </a:r>
            <a:r>
              <a:rPr sz="1050" dirty="0" err="1"/>
              <a:t>상한입니다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C2는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공유</a:t>
            </a:r>
            <a:r>
              <a:rPr sz="1050" dirty="0"/>
              <a:t> </a:t>
            </a:r>
            <a:r>
              <a:rPr sz="1050" dirty="0" err="1"/>
              <a:t>메모리에</a:t>
            </a:r>
            <a:r>
              <a:rPr sz="1050" dirty="0"/>
              <a:t> </a:t>
            </a:r>
            <a:r>
              <a:rPr sz="1050" dirty="0" err="1"/>
              <a:t>두고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노드가</a:t>
            </a:r>
            <a:r>
              <a:rPr sz="1050" dirty="0"/>
              <a:t> 2단 </a:t>
            </a:r>
            <a:r>
              <a:rPr sz="1050" dirty="0" err="1"/>
              <a:t>락으로</a:t>
            </a:r>
            <a:r>
              <a:rPr sz="1050" dirty="0"/>
              <a:t> </a:t>
            </a:r>
            <a:r>
              <a:rPr sz="1050" dirty="0" err="1"/>
              <a:t>직접</a:t>
            </a:r>
            <a:r>
              <a:rPr sz="1050" dirty="0"/>
              <a:t> </a:t>
            </a:r>
            <a:r>
              <a:rPr sz="1050" dirty="0" err="1"/>
              <a:t>갱신합니다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TraCT가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락 </a:t>
            </a:r>
            <a:r>
              <a:rPr sz="1050" dirty="0" err="1"/>
              <a:t>매니저의</a:t>
            </a:r>
            <a:r>
              <a:rPr sz="1050" dirty="0"/>
              <a:t> </a:t>
            </a:r>
            <a:r>
              <a:rPr sz="1050" dirty="0" err="1"/>
              <a:t>스캔</a:t>
            </a:r>
            <a:r>
              <a:rPr sz="1050" dirty="0"/>
              <a:t> </a:t>
            </a:r>
            <a:r>
              <a:rPr sz="1050" dirty="0" err="1"/>
              <a:t>비용이</a:t>
            </a:r>
            <a:r>
              <a:rPr sz="1050" dirty="0"/>
              <a:t> </a:t>
            </a:r>
            <a:r>
              <a:rPr sz="1050" dirty="0" err="1"/>
              <a:t>노드와</a:t>
            </a:r>
            <a:r>
              <a:rPr sz="1050" dirty="0"/>
              <a:t>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수에</a:t>
            </a:r>
            <a:r>
              <a:rPr sz="1050" dirty="0"/>
              <a:t> </a:t>
            </a:r>
            <a:r>
              <a:rPr sz="1050" dirty="0" err="1"/>
              <a:t>비례하고</a:t>
            </a:r>
            <a:r>
              <a:rPr sz="1050" dirty="0"/>
              <a:t>, </a:t>
            </a:r>
            <a:r>
              <a:rPr sz="1050" dirty="0" err="1"/>
              <a:t>락을</a:t>
            </a:r>
            <a:r>
              <a:rPr sz="1050" dirty="0"/>
              <a:t> 쥔 </a:t>
            </a:r>
            <a:r>
              <a:rPr sz="1050" dirty="0" err="1"/>
              <a:t>노드가</a:t>
            </a:r>
            <a:r>
              <a:rPr sz="1050" dirty="0"/>
              <a:t> </a:t>
            </a:r>
            <a:r>
              <a:rPr sz="1050" dirty="0" err="1"/>
              <a:t>죽으면</a:t>
            </a:r>
            <a:r>
              <a:rPr sz="1050" dirty="0"/>
              <a:t> </a:t>
            </a:r>
            <a:r>
              <a:rPr sz="1050" dirty="0" err="1"/>
              <a:t>정체되며</a:t>
            </a:r>
            <a:r>
              <a:rPr sz="1050" dirty="0"/>
              <a:t>, </a:t>
            </a:r>
            <a:r>
              <a:rPr sz="1050" dirty="0" err="1"/>
              <a:t>clflush</a:t>
            </a:r>
            <a:r>
              <a:rPr sz="1050" dirty="0"/>
              <a:t> </a:t>
            </a:r>
            <a:r>
              <a:rPr sz="1050" dirty="0" err="1"/>
              <a:t>누락</a:t>
            </a:r>
            <a:r>
              <a:rPr sz="1050" dirty="0"/>
              <a:t> </a:t>
            </a:r>
            <a:r>
              <a:rPr sz="1050" dirty="0" err="1"/>
              <a:t>같은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버그</a:t>
            </a:r>
            <a:r>
              <a:rPr sz="1050" dirty="0"/>
              <a:t> </a:t>
            </a:r>
            <a:r>
              <a:rPr sz="1050" dirty="0" err="1"/>
              <a:t>위험이</a:t>
            </a:r>
            <a:r>
              <a:rPr sz="1050" dirty="0"/>
              <a:t> </a:t>
            </a:r>
            <a:r>
              <a:rPr sz="1050" dirty="0" err="1"/>
              <a:t>있습니다</a:t>
            </a:r>
            <a:r>
              <a:rPr sz="105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209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7BF61-C4E3-46F2-976A-DB71B3C1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952DBF-B21A-48FA-BC39-6A8AE61AB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4439D-0C75-4898-8A51-D73AFB26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B2237-742D-4469-AD43-1727915B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0FECAC-EB5B-4CEC-8DEA-4607E2E6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05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5A6F2-0A9C-4C62-B7FC-BA83EB21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7F6CF-1F7F-4D8D-ABEB-BA6C340D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4E37C-BD60-4EB1-A385-0DE2F7F5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7B1C9-7FF6-4126-879D-9AD271A5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FC973-18E9-4BEE-B4E3-33F10BF2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2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E77B3-1FCE-4434-AFA7-9B8F1F25F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AEFA20-081C-4E8D-AFC1-5A7F5B59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9797DE-F355-4D3F-9AE3-30788265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12DBF-DBA1-4546-A29D-6DB6D3B0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F532D-5C40-4A4F-83DE-7CB1DE22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33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FDC3A-7D41-4D6C-A1F2-FEE558FC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378EC-3B40-4F08-8DF9-7CF643BAC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1E0DA1-61C0-4ECD-8DC6-9A1A1A490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1DD359-40A9-4D37-B364-775CC0EB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FF8DE4-06AC-41E4-B9F4-5149D5D5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C11F1-ACB4-48F9-ABE4-E67889E6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4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7192D-37A9-442E-A961-0AC5E48C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60C0C-CCE7-46A5-AE37-6BADD5EB8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BB593E-534D-4C68-B007-4DDA37DFC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1085C3-D1F2-4718-B146-AA78B6D41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397293-6B7E-45FA-930E-C6F160170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38B3EB-9E31-4C6A-8C64-B1B3FC00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56D33E-FCBC-40E5-ABEC-2160DE9F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FFA1E9-98A8-45E6-9827-35E02D1E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35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BC120-0B4C-4C6A-95F7-21277A86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D0EBC-5CF9-4A9C-A42A-9EFD7F2F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B663AE-454E-4DBD-9A7C-09DA836B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5097A-826B-4C56-9511-B9B3AC7D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49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D1965F-A2DF-4CA3-8B0F-156819D0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53C49F-5039-4FC6-98AE-AAEA3EB3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3BB90-AABB-431D-B967-5817929C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42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6B979-BDBB-491F-97FC-5B1B63EF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8D9D6-24D3-41B9-85F2-DA5F5B98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8894B1-E41A-4F8E-B331-993DD9214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A855F1-6A21-4737-8E20-AA8330DA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545FF-3B82-46AF-BF9E-CE560AD8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7B1D7-A84C-4EA3-AAD8-17DD49E8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8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EFE94-E9ED-4D01-BD1E-9A1566FF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1BA952-DBA5-41FD-8B00-42CEE24DF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8D9DEA-9228-4BD1-A1FA-C1B331E6A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BB937-BA11-4499-AC02-FEF41F70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E7F680-2B69-4E1D-832E-A2486EAF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181AB6-6B74-4EB7-BF6D-5CDE1E5C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61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9F32-1A27-489C-9865-CBEB3C5D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C9ECD8-1D79-4B48-8376-FFDAC3D1C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4052F-E62A-4793-9765-8F70AEFA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E728C-9D4E-4988-8CAD-F40D8C45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341E0-57B9-4F5B-8DA3-1A747E2D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FC14BD-5747-4120-B50D-EF09DA2BC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DF3F4-E9A0-42C1-8E59-19AAE21C2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03052-1383-4EB9-AA1C-6D065F36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90F0F-F70E-46D3-BFD8-6AFEB5D1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FDBC6-5438-443D-BE35-98DE543A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545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393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79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AC9B4-2FED-4499-8F20-384B4A83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D1163-3C5C-44D4-BAD1-A6E73A9F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84C45-0880-4ACB-B7DA-D5C51A5AC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7FB3B-226C-46BC-AA62-1D73139C3283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8C919-9592-46E7-9922-7C91198B6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C4C1E-3602-490A-A8F7-9D5858EAB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DA211-7CE5-45C8-B2A1-FCC39468B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9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1.png"/><Relationship Id="rId7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95748"/>
              </p:ext>
            </p:extLst>
          </p:nvPr>
        </p:nvGraphicFramePr>
        <p:xfrm>
          <a:off x="278859" y="996757"/>
          <a:ext cx="11709382" cy="37690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942142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55932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574713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440675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4231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서비스 수준 목표</a:t>
                      </a:r>
                      <a:r>
                        <a:rPr lang="en-US" altLang="ko-KR" sz="900" dirty="0"/>
                        <a:t>(SLO)</a:t>
                      </a:r>
                      <a:r>
                        <a:rPr lang="ko-KR" altLang="en-US" sz="900" dirty="0"/>
                        <a:t>를 만족하는 토큰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다수의 </a:t>
                      </a:r>
                      <a:r>
                        <a:rPr lang="en-US" altLang="ko-KR" sz="900" dirty="0"/>
                        <a:t>agent </a:t>
                      </a:r>
                      <a:r>
                        <a:rPr lang="ko-KR" altLang="en-US" sz="900" dirty="0"/>
                        <a:t>세션이 동시에 요청하는 상황에서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지정한 </a:t>
                      </a:r>
                      <a:r>
                        <a:rPr lang="en-US" altLang="ko-KR" sz="900" dirty="0"/>
                        <a:t>SLO*(Elapsed Time)</a:t>
                      </a:r>
                      <a:r>
                        <a:rPr lang="ko-KR" altLang="en-US" sz="900" dirty="0"/>
                        <a:t>를 만족하며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처리할 수 있는 최대 </a:t>
                      </a:r>
                      <a:r>
                        <a:rPr lang="ko-KR" altLang="en-US" sz="900" dirty="0" err="1"/>
                        <a:t>요청량이</a:t>
                      </a:r>
                      <a:r>
                        <a:rPr lang="ko-KR" altLang="en-US" sz="900" dirty="0"/>
                        <a:t> 기존 시스템</a:t>
                      </a:r>
                      <a:r>
                        <a:rPr lang="en-US" altLang="ko-KR" sz="900" dirty="0"/>
                        <a:t>(Baseline)</a:t>
                      </a:r>
                      <a:r>
                        <a:rPr lang="ko-KR" altLang="en-US" sz="900" dirty="0"/>
                        <a:t>보다 커야 한다</a:t>
                      </a:r>
                      <a:r>
                        <a:rPr lang="en-US" altLang="ko-KR" sz="900" dirty="0"/>
                        <a:t>. (*SLO: Service Level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Objective)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SLO </a:t>
                      </a:r>
                      <a:r>
                        <a:rPr lang="ko-KR" altLang="en-US" sz="900" b="1" dirty="0"/>
                        <a:t>만족 최대 처리량 </a:t>
                      </a:r>
                      <a:r>
                        <a:rPr lang="en-US" altLang="ko-KR" sz="900" b="1" dirty="0"/>
                        <a:t>≥ Baseline </a:t>
                      </a:r>
                      <a:r>
                        <a:rPr lang="ko-KR" altLang="en-US" sz="900" b="1" dirty="0"/>
                        <a:t>대비 증가율 </a:t>
                      </a:r>
                      <a:r>
                        <a:rPr lang="en-US" altLang="ko-KR" sz="900" b="1" dirty="0"/>
                        <a:t>2x (Stakeholder </a:t>
                      </a:r>
                      <a:r>
                        <a:rPr lang="ko-KR" altLang="en-US" sz="900" b="1" dirty="0"/>
                        <a:t>요구사항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H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Resource</a:t>
                      </a:r>
                      <a:r>
                        <a:rPr lang="en-US" sz="900" baseline="0" dirty="0"/>
                        <a:t> </a:t>
                      </a:r>
                    </a:p>
                    <a:p>
                      <a:r>
                        <a:rPr lang="en-US" sz="900" baseline="0" dirty="0"/>
                        <a:t>Efficiency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HBM </a:t>
                      </a:r>
                      <a:r>
                        <a:rPr lang="ko-KR" altLang="en-US" sz="900" dirty="0"/>
                        <a:t>점유율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동일한 성능 조건에서 </a:t>
                      </a:r>
                      <a:r>
                        <a:rPr lang="en-US" altLang="ko-KR" sz="900" dirty="0"/>
                        <a:t>HBM </a:t>
                      </a:r>
                      <a:r>
                        <a:rPr lang="ko-KR" altLang="en-US" sz="900" dirty="0"/>
                        <a:t>점유율이 </a:t>
                      </a:r>
                      <a:r>
                        <a:rPr lang="en-US" altLang="ko-KR" sz="900" dirty="0"/>
                        <a:t>Baseline</a:t>
                      </a:r>
                      <a:r>
                        <a:rPr lang="ko-KR" altLang="en-US" sz="900" dirty="0"/>
                        <a:t>보다 낮아야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HBM </a:t>
                      </a:r>
                      <a:r>
                        <a:rPr lang="ko-KR" altLang="en-US" sz="900" b="1" dirty="0"/>
                        <a:t>점유율 </a:t>
                      </a:r>
                      <a:r>
                        <a:rPr lang="en-US" altLang="ko-KR" sz="900" b="1" dirty="0"/>
                        <a:t>&gt;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20% ]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5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r>
                        <a:rPr lang="en-US" sz="900" dirty="0"/>
                        <a:t>(Tail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Latency)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고부하 지연시간 </a:t>
                      </a:r>
                      <a:r>
                        <a:rPr lang="en-US" altLang="ko-KR" sz="9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/>
                        <a:t>고부하 환경에서 최악 응답 지연</a:t>
                      </a:r>
                      <a:r>
                        <a:rPr lang="en-US" altLang="ko-KR" sz="900" b="0" baseline="0" dirty="0"/>
                        <a:t>(Tail Latency)</a:t>
                      </a:r>
                      <a:r>
                        <a:rPr lang="ko-KR" altLang="en-US" sz="900" b="0" baseline="0" dirty="0"/>
                        <a:t>을 </a:t>
                      </a:r>
                      <a:r>
                        <a:rPr lang="en-US" altLang="ko-KR" sz="900" b="0" baseline="0" dirty="0"/>
                        <a:t>baseline </a:t>
                      </a:r>
                      <a:r>
                        <a:rPr lang="ko-KR" altLang="en-US" sz="900" b="0" baseline="0" dirty="0"/>
                        <a:t>대비 개선해야 한다</a:t>
                      </a:r>
                      <a:r>
                        <a:rPr lang="en-US" altLang="ko-KR" sz="9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TTFT·TPOT(P99) ≥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30% (</a:t>
                      </a:r>
                      <a:r>
                        <a:rPr lang="ko-KR" altLang="en-US" sz="900" b="1" dirty="0"/>
                        <a:t>사용자 체감 성능 개선 기준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600" b="1" dirty="0"/>
                        <a:t>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늘어난 자원에 비례해 성능이 증가해야 한다 </a:t>
                      </a:r>
                      <a:endParaRPr lang="en-US" altLang="ko-KR" sz="900" dirty="0"/>
                    </a:p>
                    <a:p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Scaling Efficiency &gt; 80%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새로운 메모리 </a:t>
                      </a:r>
                      <a:r>
                        <a:rPr lang="en-US" altLang="ko-KR" sz="900" dirty="0"/>
                        <a:t>tier, </a:t>
                      </a:r>
                      <a:r>
                        <a:rPr lang="ko-KR" altLang="en-US" sz="900" dirty="0"/>
                        <a:t>이동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배치 정책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데이터 객체 유형을 추가할 때 서빙 경로를 수정하지 않고 반영할 수 있어야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모듈 수 </a:t>
                      </a:r>
                      <a:r>
                        <a:rPr lang="en-US" altLang="ko-KR" sz="900" b="1" dirty="0"/>
                        <a:t>&lt; [], </a:t>
                      </a:r>
                      <a:r>
                        <a:rPr lang="ko-KR" altLang="en-US" sz="900" b="1" dirty="0"/>
                        <a:t>공수 </a:t>
                      </a:r>
                      <a:r>
                        <a:rPr lang="en-US" altLang="ko-KR" sz="900" b="1" dirty="0"/>
                        <a:t>&lt; [ ] M/M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전송</a:t>
                      </a:r>
                      <a:r>
                        <a:rPr lang="en-US" altLang="ko-KR" sz="900" dirty="0"/>
                        <a:t>·offload </a:t>
                      </a:r>
                      <a:r>
                        <a:rPr lang="ko-KR" altLang="en-US" sz="9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b="0" dirty="0"/>
                        <a:t>KV </a:t>
                      </a:r>
                      <a:r>
                        <a:rPr lang="ko-KR" altLang="en-US" sz="900" b="0" dirty="0"/>
                        <a:t>전송이나 </a:t>
                      </a:r>
                      <a:r>
                        <a:rPr lang="en-US" altLang="ko-KR" sz="900" b="0" dirty="0"/>
                        <a:t>offload</a:t>
                      </a:r>
                      <a:r>
                        <a:rPr lang="ko-KR" altLang="en-US" sz="9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측정</a:t>
                      </a:r>
                      <a:r>
                        <a:rPr lang="en-US" altLang="ko-KR" sz="900" b="0" dirty="0"/>
                        <a:t>: fallback </a:t>
                      </a:r>
                      <a:r>
                        <a:rPr lang="ko-KR" altLang="en-US" sz="900" b="0" dirty="0"/>
                        <a:t>성공률 </a:t>
                      </a:r>
                      <a:r>
                        <a:rPr lang="en-US" altLang="ko-KR" sz="900" b="0" dirty="0"/>
                        <a:t>&gt; 99.9 ]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Adaptability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워크로드 변화 적응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0" dirty="0"/>
                        <a:t>입력 분포나 접근 패턴이 바뀌어도 접근 통계를 반영해 배치를 다시 맞추고 성능을 회복해야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92613" y="1128409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167984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16118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642517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149425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56547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9553819" y="1750706"/>
            <a:ext cx="155331" cy="11085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37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2618081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591491">
                  <a:extLst>
                    <a:ext uri="{9D8B030D-6E8A-4147-A177-3AD203B41FA5}">
                      <a16:colId xmlns:a16="http://schemas.microsoft.com/office/drawing/2014/main" val="1488648967"/>
                    </a:ext>
                  </a:extLst>
                </a:gridCol>
                <a:gridCol w="12264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279252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340394">
                  <a:extLst>
                    <a:ext uri="{9D8B030D-6E8A-4147-A177-3AD203B41FA5}">
                      <a16:colId xmlns:a16="http://schemas.microsoft.com/office/drawing/2014/main" val="4076489270"/>
                    </a:ext>
                  </a:extLst>
                </a:gridCol>
                <a:gridCol w="130313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baseline="0" dirty="0"/>
                        <a:t>상태 관측과 이동 결정을 한 곳에서 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상태 관측과 이동 결정을 분리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3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Threshold trigger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즉시 판단을 기동해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압박 구간이 짧음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 </a:t>
                      </a:r>
                      <a:endParaRPr lang="ko-KR" altLang="en-US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간 인터페이스 호출이 없어 정책 수정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범위 제한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object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특성에 맞게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이동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다양한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workload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혼재 시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 behavior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 기반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migration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효과 증가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다양한 </a:t>
                      </a:r>
                      <a:r>
                        <a:rPr lang="en-US" altLang="ko-KR" sz="1200" dirty="0"/>
                        <a:t>workload </a:t>
                      </a:r>
                      <a:r>
                        <a:rPr lang="ko-KR" altLang="en-US" sz="1200" dirty="0"/>
                        <a:t>혼재 시 </a:t>
                      </a:r>
                      <a:r>
                        <a:rPr lang="en-US" altLang="ko-KR" sz="1200" dirty="0"/>
                        <a:t>resource pressure </a:t>
                      </a:r>
                      <a:r>
                        <a:rPr lang="ko-KR" altLang="en-US" sz="1200" dirty="0"/>
                        <a:t>대응 한계 증가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age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만큼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stale → 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확보 지연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스키마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Command Queue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인터페이스가 바뀌면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Resource,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Data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동반 수정 필요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70C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DP1. Data Migration</a:t>
            </a:r>
            <a:r>
              <a:rPr lang="ko-KR" altLang="en-US" dirty="0"/>
              <a:t> 결정 구조</a:t>
            </a:r>
            <a:r>
              <a:rPr lang="en-US" altLang="ko-KR" dirty="0"/>
              <a:t> - </a:t>
            </a:r>
            <a:r>
              <a:rPr lang="ko-KR" altLang="en-US" dirty="0"/>
              <a:t>설계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0" y="6597650"/>
            <a:ext cx="457200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5814" y="632567"/>
            <a:ext cx="802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메모리 자원 상태와 데이터 특성을 고려한 데이터 이동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결정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자원 상태에 우선한 이동 결정</a:t>
            </a:r>
            <a:r>
              <a:rPr lang="en-US" altLang="ko-KR" sz="1100" dirty="0"/>
              <a:t>“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데이터 특성에 우선한 이동 결정</a:t>
            </a:r>
            <a:r>
              <a:rPr lang="en-US" altLang="ko-KR" sz="1100" dirty="0"/>
              <a:t>”</a:t>
            </a:r>
            <a:endParaRPr lang="en-US" altLang="ko-KR" sz="1100" strike="sngStrike" dirty="0"/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8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0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91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0BD5A-8E5D-4229-B9CD-EE7278C05436}"/>
              </a:ext>
            </a:extLst>
          </p:cNvPr>
          <p:cNvSpPr txBox="1"/>
          <p:nvPr/>
        </p:nvSpPr>
        <p:spPr>
          <a:xfrm>
            <a:off x="4617258" y="6563925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91191D-072D-4CEC-A0E8-E3D891FF373D}"/>
              </a:ext>
            </a:extLst>
          </p:cNvPr>
          <p:cNvSpPr txBox="1"/>
          <p:nvPr/>
        </p:nvSpPr>
        <p:spPr>
          <a:xfrm>
            <a:off x="10016983" y="657810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5EE784-4191-4924-833C-F4E4E1D195A6}"/>
              </a:ext>
            </a:extLst>
          </p:cNvPr>
          <p:cNvSpPr/>
          <p:nvPr/>
        </p:nvSpPr>
        <p:spPr>
          <a:xfrm>
            <a:off x="580860" y="6144357"/>
            <a:ext cx="199763" cy="17731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실행 단추: 앞으로 또는 다음 99">
            <a:hlinkClick r:id="" action="ppaction://noaction" highlightClick="1"/>
          </p:cNvPr>
          <p:cNvSpPr/>
          <p:nvPr/>
        </p:nvSpPr>
        <p:spPr>
          <a:xfrm>
            <a:off x="6115324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11618261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04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Q5 </a:t>
            </a:r>
            <a:r>
              <a:rPr lang="ko-KR" altLang="en-US" sz="700" dirty="0" err="1">
                <a:latin typeface="맑은 고딕" panose="020B0503020000020004" pitchFamily="50" charset="-127"/>
              </a:rPr>
              <a:t>변경용이성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6621854" y="1744599"/>
            <a:ext cx="5128953" cy="2685098"/>
            <a:chOff x="6236208" y="1758886"/>
            <a:chExt cx="5641848" cy="2685098"/>
          </a:xfrm>
        </p:grpSpPr>
        <p:sp>
          <p:nvSpPr>
            <p:cNvPr id="309" name="Rectangle 71"/>
            <p:cNvSpPr/>
            <p:nvPr/>
          </p:nvSpPr>
          <p:spPr>
            <a:xfrm>
              <a:off x="6236208" y="1758886"/>
              <a:ext cx="5641848" cy="819721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6236208" y="1800440"/>
              <a:ext cx="5641848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1" name="Rectangle 73"/>
            <p:cNvSpPr/>
            <p:nvPr/>
          </p:nvSpPr>
          <p:spPr>
            <a:xfrm>
              <a:off x="6345935" y="2011680"/>
              <a:ext cx="1449321" cy="45720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5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Decision Scheduler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주기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독립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보유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2" name="Rectangle 74"/>
            <p:cNvSpPr/>
            <p:nvPr/>
          </p:nvSpPr>
          <p:spPr>
            <a:xfrm>
              <a:off x="7968995" y="2011680"/>
              <a:ext cx="1046988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데이터</a:t>
              </a:r>
              <a:r>
                <a:rPr lang="en-US" altLang="ko-KR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3" name="Rectangle 75"/>
            <p:cNvSpPr/>
            <p:nvPr/>
          </p:nvSpPr>
          <p:spPr>
            <a:xfrm>
              <a:off x="9162288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4" name="Rectangle 76"/>
            <p:cNvSpPr/>
            <p:nvPr/>
          </p:nvSpPr>
          <p:spPr>
            <a:xfrm>
              <a:off x="10588752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15" name="Connector 77"/>
            <p:cNvCxnSpPr/>
            <p:nvPr/>
          </p:nvCxnSpPr>
          <p:spPr>
            <a:xfrm>
              <a:off x="7804402" y="2240280"/>
              <a:ext cx="164593" cy="0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Oval 78"/>
            <p:cNvSpPr/>
            <p:nvPr/>
          </p:nvSpPr>
          <p:spPr>
            <a:xfrm>
              <a:off x="7774975" y="2318004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cxnSp>
          <p:nvCxnSpPr>
            <p:cNvPr id="317" name="Connector 79"/>
            <p:cNvCxnSpPr/>
            <p:nvPr/>
          </p:nvCxnSpPr>
          <p:spPr>
            <a:xfrm>
              <a:off x="9015984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80"/>
            <p:cNvCxnSpPr/>
            <p:nvPr/>
          </p:nvCxnSpPr>
          <p:spPr>
            <a:xfrm>
              <a:off x="10442448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81"/>
            <p:cNvSpPr/>
            <p:nvPr/>
          </p:nvSpPr>
          <p:spPr>
            <a:xfrm>
              <a:off x="6236208" y="2775204"/>
              <a:ext cx="2779776" cy="1266444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6236208" y="2807263"/>
              <a:ext cx="2779776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1" name="Rectangle 83"/>
            <p:cNvSpPr/>
            <p:nvPr/>
          </p:nvSpPr>
          <p:spPr>
            <a:xfrm>
              <a:off x="6345936" y="3035808"/>
              <a:ext cx="2560320" cy="27432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State Snapshot Builder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일관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복사본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생성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· object 수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비용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2" name="Rectangle 84"/>
            <p:cNvSpPr/>
            <p:nvPr/>
          </p:nvSpPr>
          <p:spPr>
            <a:xfrm>
              <a:off x="6345936" y="3364992"/>
              <a:ext cx="122529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23" name="Rectangle 85"/>
            <p:cNvSpPr/>
            <p:nvPr/>
          </p:nvSpPr>
          <p:spPr>
            <a:xfrm>
              <a:off x="7680960" y="3364992"/>
              <a:ext cx="122529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24" name="Rectangle 86"/>
            <p:cNvSpPr/>
            <p:nvPr/>
          </p:nvSpPr>
          <p:spPr>
            <a:xfrm>
              <a:off x="6345936" y="3675887"/>
              <a:ext cx="256032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Memory·Data Object Registry</a:t>
              </a:r>
            </a:p>
          </p:txBody>
        </p:sp>
        <p:cxnSp>
          <p:nvCxnSpPr>
            <p:cNvPr id="325" name="Connector 87"/>
            <p:cNvCxnSpPr/>
            <p:nvPr/>
          </p:nvCxnSpPr>
          <p:spPr>
            <a:xfrm flipV="1">
              <a:off x="6958584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nector 88"/>
            <p:cNvCxnSpPr/>
            <p:nvPr/>
          </p:nvCxnSpPr>
          <p:spPr>
            <a:xfrm flipV="1">
              <a:off x="8293608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 89"/>
            <p:cNvCxnSpPr/>
            <p:nvPr/>
          </p:nvCxnSpPr>
          <p:spPr>
            <a:xfrm flipV="1">
              <a:off x="7626096" y="3310128"/>
              <a:ext cx="0" cy="365759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Oval 90"/>
            <p:cNvSpPr/>
            <p:nvPr/>
          </p:nvSpPr>
          <p:spPr>
            <a:xfrm>
              <a:off x="7548371" y="3433572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cxnSp>
          <p:nvCxnSpPr>
            <p:cNvPr id="329" name="Connector 91"/>
            <p:cNvCxnSpPr/>
            <p:nvPr/>
          </p:nvCxnSpPr>
          <p:spPr>
            <a:xfrm flipV="1">
              <a:off x="8686800" y="2468880"/>
              <a:ext cx="0" cy="566928"/>
            </a:xfrm>
            <a:prstGeom prst="line">
              <a:avLst/>
            </a:prstGeom>
            <a:ln w="12700">
              <a:solidFill>
                <a:srgbClr val="BF8F0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92"/>
            <p:cNvSpPr/>
            <p:nvPr/>
          </p:nvSpPr>
          <p:spPr>
            <a:xfrm>
              <a:off x="8773667" y="2647188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31" name="Rectangle 93"/>
            <p:cNvSpPr/>
            <p:nvPr/>
          </p:nvSpPr>
          <p:spPr>
            <a:xfrm>
              <a:off x="9345168" y="2816352"/>
              <a:ext cx="2532888" cy="1225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9345168" y="2852928"/>
              <a:ext cx="2532888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33" name="Rectangle 95"/>
            <p:cNvSpPr/>
            <p:nvPr/>
          </p:nvSpPr>
          <p:spPr>
            <a:xfrm>
              <a:off x="9454896" y="3035808"/>
              <a:ext cx="2313432" cy="292608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>
                  <a:solidFill>
                    <a:srgbClr val="7F5F00"/>
                  </a:solidFill>
                  <a:latin typeface="맑은 고딕"/>
                  <a:ea typeface="맑은 고딕"/>
                </a:rPr>
                <a:t>Migration Command Queue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>
                  <a:solidFill>
                    <a:srgbClr val="7F5F00"/>
                  </a:solidFill>
                  <a:latin typeface="맑은 고딕"/>
                  <a:ea typeface="맑은 고딕"/>
                </a:rPr>
                <a:t>비동기 판단 결과 버퍼 · 순서 보장</a:t>
              </a:r>
            </a:p>
          </p:txBody>
        </p:sp>
        <p:sp>
          <p:nvSpPr>
            <p:cNvPr id="334" name="Rectangle 96"/>
            <p:cNvSpPr/>
            <p:nvPr/>
          </p:nvSpPr>
          <p:spPr>
            <a:xfrm>
              <a:off x="9454896" y="3401568"/>
              <a:ext cx="2313432" cy="2377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35" name="Rectangle 97"/>
            <p:cNvSpPr/>
            <p:nvPr/>
          </p:nvSpPr>
          <p:spPr>
            <a:xfrm>
              <a:off x="9454896" y="3694176"/>
              <a:ext cx="2313432" cy="219456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36" name="Connector 98"/>
            <p:cNvCxnSpPr/>
            <p:nvPr/>
          </p:nvCxnSpPr>
          <p:spPr>
            <a:xfrm>
              <a:off x="10616184" y="3328416"/>
              <a:ext cx="0" cy="73152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Oval 99"/>
            <p:cNvSpPr/>
            <p:nvPr/>
          </p:nvSpPr>
          <p:spPr>
            <a:xfrm>
              <a:off x="10703051" y="3287268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cxnSp>
          <p:nvCxnSpPr>
            <p:cNvPr id="338" name="Connector 100"/>
            <p:cNvCxnSpPr/>
            <p:nvPr/>
          </p:nvCxnSpPr>
          <p:spPr>
            <a:xfrm>
              <a:off x="10616184" y="3639312"/>
              <a:ext cx="0" cy="5486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Oval 101"/>
            <p:cNvSpPr/>
            <p:nvPr/>
          </p:nvSpPr>
          <p:spPr>
            <a:xfrm>
              <a:off x="10703051" y="3589020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40" name="Connector 102"/>
            <p:cNvCxnSpPr/>
            <p:nvPr/>
          </p:nvCxnSpPr>
          <p:spPr>
            <a:xfrm>
              <a:off x="11228832" y="2468880"/>
              <a:ext cx="0" cy="566928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Oval 103"/>
            <p:cNvSpPr/>
            <p:nvPr/>
          </p:nvSpPr>
          <p:spPr>
            <a:xfrm>
              <a:off x="11315700" y="26654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42" name="Connector 104"/>
            <p:cNvCxnSpPr/>
            <p:nvPr/>
          </p:nvCxnSpPr>
          <p:spPr>
            <a:xfrm flipH="1">
              <a:off x="9125712" y="3520440"/>
              <a:ext cx="329184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or 105"/>
            <p:cNvCxnSpPr/>
            <p:nvPr/>
          </p:nvCxnSpPr>
          <p:spPr>
            <a:xfrm>
              <a:off x="9125712" y="3520440"/>
              <a:ext cx="0" cy="5943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or 106"/>
            <p:cNvCxnSpPr/>
            <p:nvPr/>
          </p:nvCxnSpPr>
          <p:spPr>
            <a:xfrm flipH="1">
              <a:off x="6958584" y="4114800"/>
              <a:ext cx="2167128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or 107"/>
            <p:cNvCxnSpPr/>
            <p:nvPr/>
          </p:nvCxnSpPr>
          <p:spPr>
            <a:xfrm flipV="1">
              <a:off x="6958584" y="3931920"/>
              <a:ext cx="0" cy="18288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Oval 108"/>
            <p:cNvSpPr/>
            <p:nvPr/>
          </p:nvSpPr>
          <p:spPr>
            <a:xfrm>
              <a:off x="7968996" y="40370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⑦</a:t>
              </a:r>
            </a:p>
          </p:txBody>
        </p:sp>
        <p:sp>
          <p:nvSpPr>
            <p:cNvPr id="347" name="Rectangle 109"/>
            <p:cNvSpPr/>
            <p:nvPr/>
          </p:nvSpPr>
          <p:spPr>
            <a:xfrm>
              <a:off x="6236208" y="4206240"/>
              <a:ext cx="5641848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408113" y="1686551"/>
            <a:ext cx="4919472" cy="2708716"/>
            <a:chOff x="2178826" y="3859237"/>
            <a:chExt cx="4919472" cy="2708716"/>
          </a:xfrm>
        </p:grpSpPr>
        <p:sp>
          <p:nvSpPr>
            <p:cNvPr id="357" name="Rectangle 37"/>
            <p:cNvSpPr/>
            <p:nvPr/>
          </p:nvSpPr>
          <p:spPr>
            <a:xfrm>
              <a:off x="2178826" y="3859237"/>
              <a:ext cx="3785615" cy="1904043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178826" y="3872870"/>
              <a:ext cx="3785615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50" b="1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+ 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0" name="Rectangle 39"/>
            <p:cNvSpPr/>
            <p:nvPr/>
          </p:nvSpPr>
          <p:spPr>
            <a:xfrm>
              <a:off x="2288554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1" name="Rectangle 40"/>
            <p:cNvSpPr/>
            <p:nvPr/>
          </p:nvSpPr>
          <p:spPr>
            <a:xfrm>
              <a:off x="3532138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2" name="Rectangle 41"/>
            <p:cNvSpPr/>
            <p:nvPr/>
          </p:nvSpPr>
          <p:spPr>
            <a:xfrm>
              <a:off x="4775722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3" name="Connector 42"/>
            <p:cNvCxnSpPr/>
            <p:nvPr/>
          </p:nvCxnSpPr>
          <p:spPr>
            <a:xfrm>
              <a:off x="3422410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or 43"/>
            <p:cNvCxnSpPr/>
            <p:nvPr/>
          </p:nvCxnSpPr>
          <p:spPr>
            <a:xfrm>
              <a:off x="4665994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Oval 44"/>
            <p:cNvSpPr/>
            <p:nvPr/>
          </p:nvSpPr>
          <p:spPr>
            <a:xfrm>
              <a:off x="3399550" y="423166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sp>
          <p:nvSpPr>
            <p:cNvPr id="367" name="Rectangle 45"/>
            <p:cNvSpPr/>
            <p:nvPr/>
          </p:nvSpPr>
          <p:spPr>
            <a:xfrm>
              <a:off x="2288554" y="4629425"/>
              <a:ext cx="1133856" cy="310896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Threshold Trigger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임계치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교차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시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기동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8" name="Connector 46"/>
            <p:cNvCxnSpPr/>
            <p:nvPr/>
          </p:nvCxnSpPr>
          <p:spPr>
            <a:xfrm flipV="1">
              <a:off x="2855482" y="4519697"/>
              <a:ext cx="0" cy="109728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47"/>
            <p:cNvSpPr/>
            <p:nvPr/>
          </p:nvSpPr>
          <p:spPr>
            <a:xfrm>
              <a:off x="2942350" y="4496837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sp>
          <p:nvSpPr>
            <p:cNvPr id="370" name="Rectangle 48"/>
            <p:cNvSpPr/>
            <p:nvPr/>
          </p:nvSpPr>
          <p:spPr>
            <a:xfrm>
              <a:off x="2233690" y="4995185"/>
              <a:ext cx="2523744" cy="694944"/>
            </a:xfrm>
            <a:prstGeom prst="rect">
              <a:avLst/>
            </a:prstGeom>
            <a:noFill/>
            <a:ln w="12700">
              <a:solidFill>
                <a:srgbClr val="BF8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71" name="Rectangle 49"/>
            <p:cNvSpPr/>
            <p:nvPr/>
          </p:nvSpPr>
          <p:spPr>
            <a:xfrm>
              <a:off x="2288554" y="5050049"/>
              <a:ext cx="113385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72" name="Rectangle 50"/>
            <p:cNvSpPr/>
            <p:nvPr/>
          </p:nvSpPr>
          <p:spPr>
            <a:xfrm>
              <a:off x="2288554" y="5360945"/>
              <a:ext cx="113385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73" name="Rectangle 51"/>
            <p:cNvSpPr/>
            <p:nvPr/>
          </p:nvSpPr>
          <p:spPr>
            <a:xfrm>
              <a:off x="3550426" y="5104913"/>
              <a:ext cx="1133856" cy="347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Memory·Data</a:t>
              </a:r>
              <a:endParaRPr sz="800" b="0" i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95000"/>
                </a:lnSpc>
              </a:pPr>
              <a:r>
                <a:rPr sz="800" b="0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Object Registry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3550426" y="5488961"/>
              <a:ext cx="1133856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20" b="1" i="0">
                  <a:solidFill>
                    <a:srgbClr val="7F5F00"/>
                  </a:solidFill>
                  <a:latin typeface="맑은 고딕"/>
                  <a:ea typeface="맑은 고딕"/>
                </a:rPr>
                <a:t>State Lock Manager</a:t>
              </a:r>
            </a:p>
          </p:txBody>
        </p:sp>
        <p:cxnSp>
          <p:nvCxnSpPr>
            <p:cNvPr id="375" name="Connector 53"/>
            <p:cNvCxnSpPr/>
            <p:nvPr/>
          </p:nvCxnSpPr>
          <p:spPr>
            <a:xfrm flipV="1">
              <a:off x="2855482" y="5306081"/>
              <a:ext cx="0" cy="54864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54"/>
            <p:cNvCxnSpPr/>
            <p:nvPr/>
          </p:nvCxnSpPr>
          <p:spPr>
            <a:xfrm flipV="1">
              <a:off x="2855482" y="4940321"/>
              <a:ext cx="0" cy="109728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or 55"/>
            <p:cNvCxnSpPr/>
            <p:nvPr/>
          </p:nvCxnSpPr>
          <p:spPr>
            <a:xfrm flipV="1">
              <a:off x="4117354" y="4519697"/>
              <a:ext cx="0" cy="585216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Oval 56"/>
            <p:cNvSpPr/>
            <p:nvPr/>
          </p:nvSpPr>
          <p:spPr>
            <a:xfrm>
              <a:off x="4204222" y="473458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79" name="Rectangle 57"/>
            <p:cNvSpPr/>
            <p:nvPr/>
          </p:nvSpPr>
          <p:spPr>
            <a:xfrm>
              <a:off x="4190506" y="5854721"/>
              <a:ext cx="2907792" cy="713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4190506" y="5891297"/>
              <a:ext cx="290779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81" name="Rectangle 59"/>
            <p:cNvSpPr/>
            <p:nvPr/>
          </p:nvSpPr>
          <p:spPr>
            <a:xfrm>
              <a:off x="4300234" y="6092465"/>
              <a:ext cx="2688336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82" name="Rectangle 60"/>
            <p:cNvSpPr/>
            <p:nvPr/>
          </p:nvSpPr>
          <p:spPr>
            <a:xfrm>
              <a:off x="4300234" y="6330209"/>
              <a:ext cx="2688336" cy="21031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83" name="Connector 61"/>
            <p:cNvCxnSpPr/>
            <p:nvPr/>
          </p:nvCxnSpPr>
          <p:spPr>
            <a:xfrm>
              <a:off x="5644402" y="6321065"/>
              <a:ext cx="0" cy="914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62"/>
            <p:cNvSpPr/>
            <p:nvPr/>
          </p:nvSpPr>
          <p:spPr>
            <a:xfrm>
              <a:off x="5731270" y="62524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85" name="Connector 63"/>
            <p:cNvCxnSpPr/>
            <p:nvPr/>
          </p:nvCxnSpPr>
          <p:spPr>
            <a:xfrm>
              <a:off x="5342650" y="4519697"/>
              <a:ext cx="0" cy="1335024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64"/>
            <p:cNvSpPr/>
            <p:nvPr/>
          </p:nvSpPr>
          <p:spPr>
            <a:xfrm>
              <a:off x="5429518" y="5155205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87" name="Connector 65"/>
            <p:cNvCxnSpPr/>
            <p:nvPr/>
          </p:nvCxnSpPr>
          <p:spPr>
            <a:xfrm flipH="1">
              <a:off x="4117354" y="6202193"/>
              <a:ext cx="182880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ctor 66"/>
            <p:cNvCxnSpPr/>
            <p:nvPr/>
          </p:nvCxnSpPr>
          <p:spPr>
            <a:xfrm flipV="1">
              <a:off x="4117354" y="5452385"/>
              <a:ext cx="0" cy="749808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Oval 67"/>
            <p:cNvSpPr/>
            <p:nvPr/>
          </p:nvSpPr>
          <p:spPr>
            <a:xfrm>
              <a:off x="3875038" y="57952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sp>
          <p:nvSpPr>
            <p:cNvPr id="390" name="Rectangle 68"/>
            <p:cNvSpPr/>
            <p:nvPr/>
          </p:nvSpPr>
          <p:spPr>
            <a:xfrm>
              <a:off x="2178826" y="5982737"/>
              <a:ext cx="1920240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  <p:cxnSp>
          <p:nvCxnSpPr>
            <p:cNvPr id="391" name="Connector 69"/>
            <p:cNvCxnSpPr/>
            <p:nvPr/>
          </p:nvCxnSpPr>
          <p:spPr>
            <a:xfrm flipV="1">
              <a:off x="2855482" y="5616977"/>
              <a:ext cx="0" cy="3657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/>
          <p:cNvGrpSpPr/>
          <p:nvPr/>
        </p:nvGrpSpPr>
        <p:grpSpPr>
          <a:xfrm>
            <a:off x="311665" y="3341561"/>
            <a:ext cx="768096" cy="1115568"/>
            <a:chOff x="292545" y="3435232"/>
            <a:chExt cx="768096" cy="1115568"/>
          </a:xfrm>
        </p:grpSpPr>
        <p:sp>
          <p:nvSpPr>
            <p:cNvPr id="392" name="Rectangle 28"/>
            <p:cNvSpPr/>
            <p:nvPr/>
          </p:nvSpPr>
          <p:spPr>
            <a:xfrm>
              <a:off x="292545" y="3435232"/>
              <a:ext cx="768096" cy="1115568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319977" y="3480952"/>
              <a:ext cx="71323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404040"/>
                  </a:solidFill>
                  <a:latin typeface="맑은 고딕"/>
                  <a:ea typeface="맑은 고딕"/>
                </a:rPr>
                <a:t>Legend</a:t>
              </a:r>
            </a:p>
          </p:txBody>
        </p:sp>
        <p:sp>
          <p:nvSpPr>
            <p:cNvPr id="394" name="Rectangle 30"/>
            <p:cNvSpPr/>
            <p:nvPr/>
          </p:nvSpPr>
          <p:spPr>
            <a:xfrm>
              <a:off x="319977" y="3672976"/>
              <a:ext cx="713232" cy="1874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DP 설계 모듈</a:t>
              </a:r>
            </a:p>
          </p:txBody>
        </p:sp>
        <p:sp>
          <p:nvSpPr>
            <p:cNvPr id="395" name="Rectangle 31"/>
            <p:cNvSpPr/>
            <p:nvPr/>
          </p:nvSpPr>
          <p:spPr>
            <a:xfrm>
              <a:off x="319977" y="3887860"/>
              <a:ext cx="713232" cy="187452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7F5F00"/>
                  </a:solidFill>
                  <a:latin typeface="맑은 고딕"/>
                  <a:ea typeface="맑은 고딕"/>
                </a:rPr>
                <a:t>후보 특화 모듈</a:t>
              </a:r>
            </a:p>
          </p:txBody>
        </p:sp>
        <p:sp>
          <p:nvSpPr>
            <p:cNvPr id="396" name="Rectangle 32"/>
            <p:cNvSpPr/>
            <p:nvPr/>
          </p:nvSpPr>
          <p:spPr>
            <a:xfrm>
              <a:off x="319977" y="4102744"/>
              <a:ext cx="713232" cy="18745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공통 모듈</a:t>
              </a:r>
            </a:p>
          </p:txBody>
        </p:sp>
        <p:sp>
          <p:nvSpPr>
            <p:cNvPr id="397" name="Rectangle 33"/>
            <p:cNvSpPr/>
            <p:nvPr/>
          </p:nvSpPr>
          <p:spPr>
            <a:xfrm>
              <a:off x="319977" y="4317627"/>
              <a:ext cx="713232" cy="18745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FFFFFF"/>
                  </a:solidFill>
                  <a:latin typeface="맑은 고딕"/>
                  <a:ea typeface="맑은 고딕"/>
                </a:rPr>
                <a:t>Device SW I/F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746999" y="6212308"/>
            <a:ext cx="29356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</a:rPr>
              <a:t>새 메모리 추가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이동 정책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변경에 따른 변경 비용차 적음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</p:spTree>
    <p:extLst>
      <p:ext uri="{BB962C8B-B14F-4D97-AF65-F5344CB8AC3E}">
        <p14:creationId xmlns:p14="http://schemas.microsoft.com/office/powerpoint/2010/main" val="271581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304992" y="1061955"/>
          <a:ext cx="11759184" cy="55143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0358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137096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446687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73810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</a:t>
                      </a:r>
                      <a:r>
                        <a:rPr lang="en-US" altLang="ko-KR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(Plan + Decision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동시 구조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(Plan, Decision </a:t>
                      </a:r>
                      <a:r>
                        <a:rPr lang="ko-KR" altLang="en-US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 구조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부하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리소스 상태를 반영하여 메모리 압력에 대응하기 유리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(Q2)</a:t>
                      </a:r>
                      <a:endParaRPr lang="ko-KR" altLang="en-US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 확정 후 즉시 실행하여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tail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완화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위치 결정을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분리하여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latency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절감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자원 증가 시 계획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worker, batch evaluation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등으로 계획 컴포넌트를 독립 확장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위치에 인한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decision latency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포함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자원 종류 증가 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monitoring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비용이 증가 해 스케줄링 병목 위험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대규모 고부하 시 계획·실행 상태 Mismatch로 Re-plan 발생 높음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(Q3)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연산</a:t>
            </a:r>
            <a:r>
              <a:rPr lang="en-US" altLang="ko-KR" dirty="0"/>
              <a:t>(Prefill/Decode)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Cost </a:t>
            </a:r>
            <a:r>
              <a:rPr lang="ko-KR" altLang="en-US" sz="1400" b="1" dirty="0">
                <a:solidFill>
                  <a:schemeClr val="bg1"/>
                </a:solidFill>
              </a:rPr>
              <a:t>기반 연산 실행 위치의 결정 시점과 방식을 최적화하는 스케줄링 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1162983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연산 실행 위치 결정 </a:t>
            </a:r>
            <a:r>
              <a:rPr lang="en-US" altLang="ko-KR" sz="1100" dirty="0"/>
              <a:t>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7051" y="1383052"/>
            <a:ext cx="4953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 시점과 연산 실행 시점을 분리</a:t>
            </a:r>
            <a:r>
              <a:rPr lang="en-US" altLang="ko-KR" sz="1100" dirty="0"/>
              <a:t>”</a:t>
            </a:r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862635" y="1853692"/>
            <a:ext cx="1411795" cy="29260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Scheduler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9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12" idx="2"/>
            <a:endCxn id="144" idx="0"/>
          </p:cNvCxnSpPr>
          <p:nvPr/>
        </p:nvCxnSpPr>
        <p:spPr>
          <a:xfrm>
            <a:off x="3568533" y="2146299"/>
            <a:ext cx="1889" cy="289506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24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394012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5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434016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GPU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6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3337592" y="4212297"/>
            <a:ext cx="875450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CXL-PNM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28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5" idx="0"/>
          </p:cNvCxnSpPr>
          <p:nvPr/>
        </p:nvCxnSpPr>
        <p:spPr>
          <a:xfrm rot="5400000">
            <a:off x="2567161" y="3209036"/>
            <a:ext cx="268048" cy="173847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3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6" idx="0"/>
          </p:cNvCxnSpPr>
          <p:nvPr/>
        </p:nvCxnSpPr>
        <p:spPr>
          <a:xfrm rot="16200000" flipH="1">
            <a:off x="3538845" y="3975825"/>
            <a:ext cx="268048" cy="20489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77" name="TextBox 76"/>
          <p:cNvSpPr txBox="1"/>
          <p:nvPr/>
        </p:nvSpPr>
        <p:spPr>
          <a:xfrm>
            <a:off x="4482797" y="3231336"/>
            <a:ext cx="16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Cost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계산이</a:t>
            </a:r>
          </a:p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critical path 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내부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B7B1EF-FC16-4E50-A15A-074EA647B636}"/>
              </a:ext>
            </a:extLst>
          </p:cNvPr>
          <p:cNvSpPr txBox="1"/>
          <p:nvPr/>
        </p:nvSpPr>
        <p:spPr>
          <a:xfrm>
            <a:off x="5999943" y="6524910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A952AB-42E1-41D1-AF63-055E8135DA99}"/>
              </a:ext>
            </a:extLst>
          </p:cNvPr>
          <p:cNvSpPr txBox="1"/>
          <p:nvPr/>
        </p:nvSpPr>
        <p:spPr>
          <a:xfrm>
            <a:off x="11253522" y="652500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7.5</a:t>
            </a:r>
            <a:r>
              <a:rPr lang="ko-KR" altLang="en-US" sz="1200" dirty="0"/>
              <a:t>점</a:t>
            </a:r>
          </a:p>
        </p:txBody>
      </p:sp>
      <p:sp>
        <p:nvSpPr>
          <p:cNvPr id="136" name="Shape 37">
            <a:extLst>
              <a:ext uri="{FF2B5EF4-FFF2-40B4-BE49-F238E27FC236}">
                <a16:creationId xmlns:a16="http://schemas.microsoft.com/office/drawing/2014/main" id="{7F2072DD-19B6-48CA-BD3D-876E8DDC9C60}"/>
              </a:ext>
            </a:extLst>
          </p:cNvPr>
          <p:cNvSpPr/>
          <p:nvPr/>
        </p:nvSpPr>
        <p:spPr>
          <a:xfrm>
            <a:off x="4737207" y="2129473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State Monitor</a:t>
            </a:r>
          </a:p>
        </p:txBody>
      </p:sp>
      <p:cxnSp>
        <p:nvCxnSpPr>
          <p:cNvPr id="143" name="직선 화살표 연결선 185">
            <a:extLst>
              <a:ext uri="{FF2B5EF4-FFF2-40B4-BE49-F238E27FC236}">
                <a16:creationId xmlns:a16="http://schemas.microsoft.com/office/drawing/2014/main" id="{BA0CBBE8-3F10-4B7D-B934-710047CDD61C}"/>
              </a:ext>
            </a:extLst>
          </p:cNvPr>
          <p:cNvCxnSpPr>
            <a:cxnSpLocks/>
            <a:stCxn id="144" idx="3"/>
            <a:endCxn id="136" idx="1"/>
          </p:cNvCxnSpPr>
          <p:nvPr/>
        </p:nvCxnSpPr>
        <p:spPr>
          <a:xfrm flipV="1">
            <a:off x="4324906" y="2292936"/>
            <a:ext cx="412301" cy="3226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4" name="Shape 37">
            <a:extLst>
              <a:ext uri="{FF2B5EF4-FFF2-40B4-BE49-F238E27FC236}">
                <a16:creationId xmlns:a16="http://schemas.microsoft.com/office/drawing/2014/main" id="{70E92FE8-4878-4154-BB88-F90E93B7B850}"/>
              </a:ext>
            </a:extLst>
          </p:cNvPr>
          <p:cNvSpPr/>
          <p:nvPr/>
        </p:nvSpPr>
        <p:spPr>
          <a:xfrm>
            <a:off x="2815938" y="2435805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Planner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(Plan)</a:t>
            </a:r>
          </a:p>
        </p:txBody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7EA846FB-2BF9-4A17-B933-665E6BCC5A1E}"/>
              </a:ext>
            </a:extLst>
          </p:cNvPr>
          <p:cNvSpPr/>
          <p:nvPr/>
        </p:nvSpPr>
        <p:spPr>
          <a:xfrm>
            <a:off x="4737207" y="2582530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State</a:t>
            </a:r>
          </a:p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altLang="ko-KR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46" name="직선 화살표 연결선 185">
            <a:extLst>
              <a:ext uri="{FF2B5EF4-FFF2-40B4-BE49-F238E27FC236}">
                <a16:creationId xmlns:a16="http://schemas.microsoft.com/office/drawing/2014/main" id="{866738E6-B5E2-485B-BCC3-7AB7D686059C}"/>
              </a:ext>
            </a:extLst>
          </p:cNvPr>
          <p:cNvCxnSpPr>
            <a:cxnSpLocks/>
            <a:stCxn id="144" idx="3"/>
            <a:endCxn id="145" idx="1"/>
          </p:cNvCxnSpPr>
          <p:nvPr/>
        </p:nvCxnSpPr>
        <p:spPr>
          <a:xfrm>
            <a:off x="4324906" y="2615615"/>
            <a:ext cx="412301" cy="13037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9" name="Shape 37">
            <a:extLst>
              <a:ext uri="{FF2B5EF4-FFF2-40B4-BE49-F238E27FC236}">
                <a16:creationId xmlns:a16="http://schemas.microsoft.com/office/drawing/2014/main" id="{D29B8A49-AE77-46A5-BF3C-C5FFF88BE9D4}"/>
              </a:ext>
            </a:extLst>
          </p:cNvPr>
          <p:cNvSpPr/>
          <p:nvPr/>
        </p:nvSpPr>
        <p:spPr>
          <a:xfrm>
            <a:off x="2815938" y="3112583"/>
            <a:ext cx="1508968" cy="29720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Cost Evaluator</a:t>
            </a:r>
            <a:endParaRPr lang="en-US" altLang="ko-KR" sz="1000" b="1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50" name="직선 화살표 연결선 185">
            <a:extLst>
              <a:ext uri="{FF2B5EF4-FFF2-40B4-BE49-F238E27FC236}">
                <a16:creationId xmlns:a16="http://schemas.microsoft.com/office/drawing/2014/main" id="{EFEBEDC4-80EE-4735-B71E-6C1DFDD6FCDC}"/>
              </a:ext>
            </a:extLst>
          </p:cNvPr>
          <p:cNvCxnSpPr>
            <a:cxnSpLocks/>
            <a:stCxn id="144" idx="2"/>
            <a:endCxn id="149" idx="0"/>
          </p:cNvCxnSpPr>
          <p:nvPr/>
        </p:nvCxnSpPr>
        <p:spPr>
          <a:xfrm>
            <a:off x="3570422" y="2795424"/>
            <a:ext cx="0" cy="317159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1" name="Shape 37">
            <a:extLst>
              <a:ext uri="{FF2B5EF4-FFF2-40B4-BE49-F238E27FC236}">
                <a16:creationId xmlns:a16="http://schemas.microsoft.com/office/drawing/2014/main" id="{1AFCAFB9-F8C0-41A8-8E3E-3B7ACC234BE6}"/>
              </a:ext>
            </a:extLst>
          </p:cNvPr>
          <p:cNvSpPr/>
          <p:nvPr/>
        </p:nvSpPr>
        <p:spPr>
          <a:xfrm>
            <a:off x="2815938" y="3584630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Router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</a:rPr>
              <a:t>(Decision)</a:t>
            </a:r>
          </a:p>
        </p:txBody>
      </p:sp>
      <p:cxnSp>
        <p:nvCxnSpPr>
          <p:cNvPr id="152" name="직선 화살표 연결선 185">
            <a:extLst>
              <a:ext uri="{FF2B5EF4-FFF2-40B4-BE49-F238E27FC236}">
                <a16:creationId xmlns:a16="http://schemas.microsoft.com/office/drawing/2014/main" id="{A5D1AF10-B4E4-4F84-8D33-8BACD09A70C2}"/>
              </a:ext>
            </a:extLst>
          </p:cNvPr>
          <p:cNvCxnSpPr>
            <a:cxnSpLocks/>
            <a:stCxn id="149" idx="2"/>
            <a:endCxn id="151" idx="0"/>
          </p:cNvCxnSpPr>
          <p:nvPr/>
        </p:nvCxnSpPr>
        <p:spPr>
          <a:xfrm>
            <a:off x="3570422" y="3409788"/>
            <a:ext cx="0" cy="174842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53" name="직선 화살표 연결선 185">
            <a:extLst>
              <a:ext uri="{FF2B5EF4-FFF2-40B4-BE49-F238E27FC236}">
                <a16:creationId xmlns:a16="http://schemas.microsoft.com/office/drawing/2014/main" id="{667011A0-7D9C-4D04-BD0D-206D0F921C23}"/>
              </a:ext>
            </a:extLst>
          </p:cNvPr>
          <p:cNvCxnSpPr>
            <a:cxnSpLocks/>
            <a:stCxn id="151" idx="2"/>
            <a:endCxn id="124" idx="0"/>
          </p:cNvCxnSpPr>
          <p:nvPr/>
        </p:nvCxnSpPr>
        <p:spPr>
          <a:xfrm rot="5400000">
            <a:off x="3047159" y="3689034"/>
            <a:ext cx="268048" cy="778478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55" name="Shape 31">
            <a:extLst>
              <a:ext uri="{FF2B5EF4-FFF2-40B4-BE49-F238E27FC236}">
                <a16:creationId xmlns:a16="http://schemas.microsoft.com/office/drawing/2014/main" id="{C0494BB5-740B-474B-8EDE-7DEE62853B08}"/>
              </a:ext>
            </a:extLst>
          </p:cNvPr>
          <p:cNvSpPr/>
          <p:nvPr/>
        </p:nvSpPr>
        <p:spPr>
          <a:xfrm>
            <a:off x="4393753" y="4212297"/>
            <a:ext cx="875450" cy="3215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New Device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57" name="직선 화살표 연결선 185">
            <a:extLst>
              <a:ext uri="{FF2B5EF4-FFF2-40B4-BE49-F238E27FC236}">
                <a16:creationId xmlns:a16="http://schemas.microsoft.com/office/drawing/2014/main" id="{D2EDFE24-B445-4346-8805-83EFFC8CB053}"/>
              </a:ext>
            </a:extLst>
          </p:cNvPr>
          <p:cNvCxnSpPr>
            <a:cxnSpLocks/>
            <a:stCxn id="151" idx="2"/>
            <a:endCxn id="155" idx="0"/>
          </p:cNvCxnSpPr>
          <p:nvPr/>
        </p:nvCxnSpPr>
        <p:spPr>
          <a:xfrm rot="16200000" flipH="1">
            <a:off x="4066926" y="3447745"/>
            <a:ext cx="268048" cy="126105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dash"/>
            <a:headEnd type="none"/>
            <a:tailEnd type="triangle"/>
          </a:ln>
        </p:spPr>
      </p:cxnSp>
      <p:sp>
        <p:nvSpPr>
          <p:cNvPr id="1271" name="C1 Critical path boundary"/>
          <p:cNvSpPr/>
          <p:nvPr/>
        </p:nvSpPr>
        <p:spPr>
          <a:xfrm>
            <a:off x="2695773" y="1800000"/>
            <a:ext cx="3420000" cy="2185000"/>
          </a:xfrm>
          <a:prstGeom prst="rect">
            <a:avLst/>
          </a:prstGeom>
          <a:noFill/>
          <a:ln w="12700">
            <a:solidFill>
              <a:srgbClr val="C76E3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93" name="C1 Critical path label"/>
          <p:cNvSpPr/>
          <p:nvPr/>
        </p:nvSpPr>
        <p:spPr>
          <a:xfrm>
            <a:off x="4330000" y="1815000"/>
            <a:ext cx="1440000" cy="25000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Plan + Decision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A2D3743-1992-478F-B82E-9DE9B085B94D}"/>
              </a:ext>
            </a:extLst>
          </p:cNvPr>
          <p:cNvGrpSpPr/>
          <p:nvPr/>
        </p:nvGrpSpPr>
        <p:grpSpPr>
          <a:xfrm>
            <a:off x="334761" y="3538083"/>
            <a:ext cx="822008" cy="1106192"/>
            <a:chOff x="269738" y="3554621"/>
            <a:chExt cx="822008" cy="1106192"/>
          </a:xfrm>
        </p:grpSpPr>
        <p:sp>
          <p:nvSpPr>
            <p:cNvPr id="131" name="KV Cache Manager">
              <a:extLst>
                <a:ext uri="{FF2B5EF4-FFF2-40B4-BE49-F238E27FC236}">
                  <a16:creationId xmlns:a16="http://schemas.microsoft.com/office/drawing/2014/main" id="{97729FA2-8208-495A-88B5-6AB9793CB4B9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KV Cache Manager">
              <a:extLst>
                <a:ext uri="{FF2B5EF4-FFF2-40B4-BE49-F238E27FC236}">
                  <a16:creationId xmlns:a16="http://schemas.microsoft.com/office/drawing/2014/main" id="{5E4E7F90-5323-48ED-A793-E537EC85E83D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4" name="KV Cache Manager">
              <a:extLst>
                <a:ext uri="{FF2B5EF4-FFF2-40B4-BE49-F238E27FC236}">
                  <a16:creationId xmlns:a16="http://schemas.microsoft.com/office/drawing/2014/main" id="{F1372DCD-DBB8-422B-8D97-E7C565A45741}"/>
                </a:ext>
              </a:extLst>
            </p:cNvPr>
            <p:cNvSpPr/>
            <p:nvPr/>
          </p:nvSpPr>
          <p:spPr>
            <a:xfrm>
              <a:off x="275753" y="4404880"/>
              <a:ext cx="784423" cy="1940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타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모듈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I/F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3666AC1-1D1F-4D44-8ABD-9FC7C996F49A}"/>
                </a:ext>
              </a:extLst>
            </p:cNvPr>
            <p:cNvSpPr/>
            <p:nvPr/>
          </p:nvSpPr>
          <p:spPr>
            <a:xfrm>
              <a:off x="269738" y="3554621"/>
              <a:ext cx="822008" cy="1106192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7" name="KV Cache Manager">
              <a:extLst>
                <a:ext uri="{FF2B5EF4-FFF2-40B4-BE49-F238E27FC236}">
                  <a16:creationId xmlns:a16="http://schemas.microsoft.com/office/drawing/2014/main" id="{3DAC31F2-953F-4F50-9270-4AC41B0280B9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0" name="직선 화살표 연결선 185">
            <a:extLst>
              <a:ext uri="{FF2B5EF4-FFF2-40B4-BE49-F238E27FC236}">
                <a16:creationId xmlns:a16="http://schemas.microsoft.com/office/drawing/2014/main" id="{6B405AD3-50C7-4140-923C-39C9EC62E997}"/>
              </a:ext>
            </a:extLst>
          </p:cNvPr>
          <p:cNvCxnSpPr>
            <a:cxnSpLocks/>
            <a:stCxn id="149" idx="1"/>
            <a:endCxn id="123" idx="0"/>
          </p:cNvCxnSpPr>
          <p:nvPr/>
        </p:nvCxnSpPr>
        <p:spPr>
          <a:xfrm rot="10800000" flipV="1">
            <a:off x="1977484" y="3261185"/>
            <a:ext cx="838455" cy="122381"/>
          </a:xfrm>
          <a:prstGeom prst="bentConnector2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3" name="KV Cache Manager">
            <a:extLst>
              <a:ext uri="{FF2B5EF4-FFF2-40B4-BE49-F238E27FC236}">
                <a16:creationId xmlns:a16="http://schemas.microsoft.com/office/drawing/2014/main" id="{AF50C5FD-82D2-49A4-BB8D-5B9CCB95E6F0}"/>
              </a:ext>
            </a:extLst>
          </p:cNvPr>
          <p:cNvSpPr/>
          <p:nvPr/>
        </p:nvSpPr>
        <p:spPr>
          <a:xfrm>
            <a:off x="1422351" y="3383567"/>
            <a:ext cx="1110263" cy="28409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Common Memory Backend Interface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260" name="그룹 2259">
            <a:extLst>
              <a:ext uri="{FF2B5EF4-FFF2-40B4-BE49-F238E27FC236}">
                <a16:creationId xmlns:a16="http://schemas.microsoft.com/office/drawing/2014/main" id="{2D332D0F-0324-46B1-B1F2-8FDFA83DC440}"/>
              </a:ext>
            </a:extLst>
          </p:cNvPr>
          <p:cNvGrpSpPr/>
          <p:nvPr/>
        </p:nvGrpSpPr>
        <p:grpSpPr>
          <a:xfrm>
            <a:off x="6650290" y="1792641"/>
            <a:ext cx="5377940" cy="2718256"/>
            <a:chOff x="6650290" y="1836885"/>
            <a:chExt cx="5377940" cy="2718256"/>
          </a:xfrm>
        </p:grpSpPr>
        <p:sp>
          <p:nvSpPr>
            <p:cNvPr id="122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6968158" y="2229906"/>
              <a:ext cx="1332516" cy="199855"/>
            </a:xfrm>
            <a:prstGeom prst="roundRect">
              <a:avLst>
                <a:gd name="adj" fmla="val 37674"/>
              </a:avLst>
            </a:prstGeom>
            <a:noFill/>
            <a:ln w="12700">
              <a:noFill/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Waiting Queue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6" name="원통 5"/>
            <p:cNvSpPr/>
            <p:nvPr/>
          </p:nvSpPr>
          <p:spPr>
            <a:xfrm>
              <a:off x="7352643" y="4250503"/>
              <a:ext cx="1106485" cy="301105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Cache</a:t>
              </a:r>
            </a:p>
          </p:txBody>
        </p:sp>
        <p:cxnSp>
          <p:nvCxnSpPr>
            <p:cNvPr id="164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5118" y="3976053"/>
              <a:ext cx="127" cy="242833"/>
            </a:xfrm>
            <a:prstGeom prst="straightConnector1">
              <a:avLst/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0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6" idx="2"/>
              <a:endCxn id="187" idx="0"/>
            </p:cNvCxnSpPr>
            <p:nvPr/>
          </p:nvCxnSpPr>
          <p:spPr>
            <a:xfrm flipH="1">
              <a:off x="10700123" y="2548568"/>
              <a:ext cx="1" cy="359667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6761966" y="186440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Plan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밖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F768021-5962-4FEE-86A6-9A65D654BAE1}"/>
                </a:ext>
              </a:extLst>
            </p:cNvPr>
            <p:cNvGrpSpPr/>
            <p:nvPr/>
          </p:nvGrpSpPr>
          <p:grpSpPr>
            <a:xfrm>
              <a:off x="10058398" y="2282562"/>
              <a:ext cx="1283450" cy="1629131"/>
              <a:chOff x="13158709" y="2383427"/>
              <a:chExt cx="1283450" cy="1629131"/>
            </a:xfrm>
          </p:grpSpPr>
          <p:sp>
            <p:nvSpPr>
              <p:cNvPr id="186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217048" y="2383427"/>
                <a:ext cx="1166773" cy="2660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Scheduler</a:t>
                </a:r>
                <a:endParaRPr lang="ko-KR" altLang="en-US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  <p:sp>
            <p:nvSpPr>
              <p:cNvPr id="187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009100"/>
                <a:ext cx="1283450" cy="3240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Validator</a:t>
                </a:r>
              </a:p>
            </p:txBody>
          </p:sp>
          <p:sp>
            <p:nvSpPr>
              <p:cNvPr id="188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623097"/>
                <a:ext cx="1283450" cy="38946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Router</a:t>
                </a:r>
              </a:p>
              <a:p>
                <a:pPr lvl="0" algn="ctr"/>
                <a:r>
                  <a:rPr lang="en-US" altLang="ko-KR" sz="900" b="1" dirty="0">
                    <a:solidFill>
                      <a:srgbClr val="FF000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(Decision)</a:t>
                </a:r>
                <a:endParaRPr lang="ko-KR" altLang="en-US" sz="9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</p:grpSp>
        <p:cxnSp>
          <p:nvCxnSpPr>
            <p:cNvPr id="100" name="직선 화살표 연결선 185">
              <a:extLst>
                <a:ext uri="{FF2B5EF4-FFF2-40B4-BE49-F238E27FC236}">
                  <a16:creationId xmlns:a16="http://schemas.microsoft.com/office/drawing/2014/main" id="{56498C45-0D93-4C3F-B12A-A34B786B2E88}"/>
                </a:ext>
              </a:extLst>
            </p:cNvPr>
            <p:cNvCxnSpPr>
              <a:cxnSpLocks/>
              <a:stCxn id="187" idx="2"/>
              <a:endCxn id="188" idx="0"/>
            </p:cNvCxnSpPr>
            <p:nvPr/>
          </p:nvCxnSpPr>
          <p:spPr>
            <a:xfrm>
              <a:off x="10700123" y="3232270"/>
              <a:ext cx="0" cy="289962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99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64462" y="2717377"/>
              <a:ext cx="1893937" cy="259939"/>
            </a:xfrm>
            <a:prstGeom prst="bentConnector3">
              <a:avLst>
                <a:gd name="adj1" fmla="val 30143"/>
              </a:avLst>
            </a:prstGeom>
            <a:noFill/>
            <a:ln w="9525">
              <a:solidFill>
                <a:srgbClr val="C76E31"/>
              </a:solidFill>
              <a:prstDash val="dash"/>
              <a:headEnd type="none" w="med" len="med"/>
              <a:tailEnd type="triangle" w="med" len="med"/>
            </a:ln>
          </p:spPr>
        </p:cxnSp>
        <p:cxnSp>
          <p:nvCxnSpPr>
            <p:cNvPr id="140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2" idx="0"/>
            </p:cNvCxnSpPr>
            <p:nvPr/>
          </p:nvCxnSpPr>
          <p:spPr>
            <a:xfrm rot="5400000">
              <a:off x="10094192" y="3627684"/>
              <a:ext cx="321923" cy="889941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1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5" idx="0"/>
            </p:cNvCxnSpPr>
            <p:nvPr/>
          </p:nvCxnSpPr>
          <p:spPr>
            <a:xfrm rot="16200000" flipH="1">
              <a:off x="11038780" y="3573035"/>
              <a:ext cx="321923" cy="99923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1" idx="0"/>
            </p:cNvCxnSpPr>
            <p:nvPr/>
          </p:nvCxnSpPr>
          <p:spPr>
            <a:xfrm rot="5400000">
              <a:off x="10386001" y="3919493"/>
              <a:ext cx="321923" cy="306322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6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2" idx="2"/>
              <a:endCxn id="169" idx="0"/>
            </p:cNvCxnSpPr>
            <p:nvPr/>
          </p:nvCxnSpPr>
          <p:spPr>
            <a:xfrm>
              <a:off x="7634416" y="2429761"/>
              <a:ext cx="2" cy="231001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78" name="TextBox 77"/>
            <p:cNvSpPr txBox="1"/>
            <p:nvPr/>
          </p:nvSpPr>
          <p:spPr>
            <a:xfrm>
              <a:off x="8406016" y="2555570"/>
              <a:ext cx="827393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Async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 </a:t>
              </a: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re-plan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9528263" y="183688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Decision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내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0247864-5FE1-4F69-9F2A-D6FA572B779B}"/>
                </a:ext>
              </a:extLst>
            </p:cNvPr>
            <p:cNvGrpSpPr/>
            <p:nvPr/>
          </p:nvGrpSpPr>
          <p:grpSpPr>
            <a:xfrm>
              <a:off x="6959257" y="2660762"/>
              <a:ext cx="2250800" cy="1353122"/>
              <a:chOff x="6334829" y="2532795"/>
              <a:chExt cx="3029193" cy="1637279"/>
            </a:xfrm>
          </p:grpSpPr>
          <p:sp>
            <p:nvSpPr>
              <p:cNvPr id="167" name="Shape 37">
                <a:extLst>
                  <a:ext uri="{FF2B5EF4-FFF2-40B4-BE49-F238E27FC236}">
                    <a16:creationId xmlns:a16="http://schemas.microsoft.com/office/drawing/2014/main" id="{90DAE390-C546-4459-96AF-4143F55DB1B8}"/>
                  </a:ext>
                </a:extLst>
              </p:cNvPr>
              <p:cNvSpPr/>
              <p:nvPr/>
            </p:nvSpPr>
            <p:spPr>
              <a:xfrm>
                <a:off x="8340414" y="2718034"/>
                <a:ext cx="1023608" cy="3955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KV State Monitor</a:t>
                </a:r>
              </a:p>
            </p:txBody>
          </p:sp>
          <p:cxnSp>
            <p:nvCxnSpPr>
              <p:cNvPr id="168" name="직선 화살표 연결선 185">
                <a:extLst>
                  <a:ext uri="{FF2B5EF4-FFF2-40B4-BE49-F238E27FC236}">
                    <a16:creationId xmlns:a16="http://schemas.microsoft.com/office/drawing/2014/main" id="{5147715F-B5AF-48FB-9317-FF7DCBEA214E}"/>
                  </a:ext>
                </a:extLst>
              </p:cNvPr>
              <p:cNvCxnSpPr>
                <a:cxnSpLocks/>
                <a:stCxn id="169" idx="3"/>
                <a:endCxn id="167" idx="1"/>
              </p:cNvCxnSpPr>
              <p:nvPr/>
            </p:nvCxnSpPr>
            <p:spPr>
              <a:xfrm>
                <a:off x="7929375" y="2750365"/>
                <a:ext cx="411039" cy="16545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69" name="Shape 37">
                <a:extLst>
                  <a:ext uri="{FF2B5EF4-FFF2-40B4-BE49-F238E27FC236}">
                    <a16:creationId xmlns:a16="http://schemas.microsoft.com/office/drawing/2014/main" id="{5A9E902C-C762-43E4-8FBB-2BC7D8D934DC}"/>
                  </a:ext>
                </a:extLst>
              </p:cNvPr>
              <p:cNvSpPr/>
              <p:nvPr/>
            </p:nvSpPr>
            <p:spPr>
              <a:xfrm>
                <a:off x="6557585" y="2532795"/>
                <a:ext cx="1371789" cy="435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Planner </a:t>
                </a:r>
                <a:r>
                  <a:rPr lang="en-US" altLang="ko-KR" sz="900" b="1" dirty="0">
                    <a:solidFill>
                      <a:srgbClr val="FF0000"/>
                    </a:solidFill>
                  </a:rPr>
                  <a:t>(Plan)</a:t>
                </a:r>
              </a:p>
            </p:txBody>
          </p:sp>
          <p:sp>
            <p:nvSpPr>
              <p:cNvPr id="170" name="Shape 37">
                <a:extLst>
                  <a:ext uri="{FF2B5EF4-FFF2-40B4-BE49-F238E27FC236}">
                    <a16:creationId xmlns:a16="http://schemas.microsoft.com/office/drawing/2014/main" id="{6CC00633-A2ED-4E85-98F5-915767F01623}"/>
                  </a:ext>
                </a:extLst>
              </p:cNvPr>
              <p:cNvSpPr/>
              <p:nvPr/>
            </p:nvSpPr>
            <p:spPr>
              <a:xfrm>
                <a:off x="8340407" y="3195654"/>
                <a:ext cx="1023610" cy="5554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Resource State</a:t>
                </a:r>
              </a:p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Monitor</a:t>
                </a:r>
              </a:p>
            </p:txBody>
          </p:sp>
          <p:cxnSp>
            <p:nvCxnSpPr>
              <p:cNvPr id="171" name="직선 화살표 연결선 185">
                <a:extLst>
                  <a:ext uri="{FF2B5EF4-FFF2-40B4-BE49-F238E27FC236}">
                    <a16:creationId xmlns:a16="http://schemas.microsoft.com/office/drawing/2014/main" id="{A10F8AFC-DE84-4F55-A9D7-1E2452D3B196}"/>
                  </a:ext>
                </a:extLst>
              </p:cNvPr>
              <p:cNvCxnSpPr>
                <a:cxnSpLocks/>
                <a:stCxn id="169" idx="3"/>
                <a:endCxn id="170" idx="1"/>
              </p:cNvCxnSpPr>
              <p:nvPr/>
            </p:nvCxnSpPr>
            <p:spPr>
              <a:xfrm>
                <a:off x="7929375" y="2750365"/>
                <a:ext cx="411032" cy="72303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2" name="Shape 37">
                <a:extLst>
                  <a:ext uri="{FF2B5EF4-FFF2-40B4-BE49-F238E27FC236}">
                    <a16:creationId xmlns:a16="http://schemas.microsoft.com/office/drawing/2014/main" id="{70B458B8-8383-4A34-B3D0-8FE89C2B733A}"/>
                  </a:ext>
                </a:extLst>
              </p:cNvPr>
              <p:cNvSpPr/>
              <p:nvPr/>
            </p:nvSpPr>
            <p:spPr>
              <a:xfrm>
                <a:off x="6561862" y="3253418"/>
                <a:ext cx="1371789" cy="35961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Cost Evaluator</a:t>
                </a:r>
              </a:p>
            </p:txBody>
          </p:sp>
          <p:cxnSp>
            <p:nvCxnSpPr>
              <p:cNvPr id="173" name="직선 화살표 연결선 185">
                <a:extLst>
                  <a:ext uri="{FF2B5EF4-FFF2-40B4-BE49-F238E27FC236}">
                    <a16:creationId xmlns:a16="http://schemas.microsoft.com/office/drawing/2014/main" id="{95D5E7CF-8934-4F6E-B767-D7C6E910F7F6}"/>
                  </a:ext>
                </a:extLst>
              </p:cNvPr>
              <p:cNvCxnSpPr>
                <a:cxnSpLocks/>
                <a:stCxn id="169" idx="2"/>
                <a:endCxn id="172" idx="0"/>
              </p:cNvCxnSpPr>
              <p:nvPr/>
            </p:nvCxnSpPr>
            <p:spPr>
              <a:xfrm>
                <a:off x="7243481" y="2967936"/>
                <a:ext cx="4277" cy="28548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4" name="Shape 37">
                <a:extLst>
                  <a:ext uri="{FF2B5EF4-FFF2-40B4-BE49-F238E27FC236}">
                    <a16:creationId xmlns:a16="http://schemas.microsoft.com/office/drawing/2014/main" id="{F35F2B03-9D6C-46EF-9020-017926F86EEA}"/>
                  </a:ext>
                </a:extLst>
              </p:cNvPr>
              <p:cNvSpPr/>
              <p:nvPr/>
            </p:nvSpPr>
            <p:spPr>
              <a:xfrm>
                <a:off x="6334829" y="3810455"/>
                <a:ext cx="1825852" cy="3596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Publisher</a:t>
                </a:r>
              </a:p>
            </p:txBody>
          </p:sp>
          <p:cxnSp>
            <p:nvCxnSpPr>
              <p:cNvPr id="175" name="직선 화살표 연결선 185">
                <a:extLst>
                  <a:ext uri="{FF2B5EF4-FFF2-40B4-BE49-F238E27FC236}">
                    <a16:creationId xmlns:a16="http://schemas.microsoft.com/office/drawing/2014/main" id="{68BFF503-4C29-43B1-9353-9A83B9332F63}"/>
                  </a:ext>
                </a:extLst>
              </p:cNvPr>
              <p:cNvCxnSpPr>
                <a:cxnSpLocks/>
                <a:stCxn id="172" idx="2"/>
                <a:endCxn id="174" idx="0"/>
              </p:cNvCxnSpPr>
              <p:nvPr/>
            </p:nvCxnSpPr>
            <p:spPr>
              <a:xfrm flipH="1">
                <a:off x="7247755" y="3613036"/>
                <a:ext cx="3" cy="197419"/>
              </a:xfrm>
              <a:prstGeom prst="straightConnector1">
                <a:avLst/>
              </a:prstGeom>
              <a:noFill/>
              <a:ln w="11430">
                <a:solidFill>
                  <a:srgbClr val="888C91"/>
                </a:solidFill>
                <a:prstDash val="solid"/>
                <a:headEnd type="none"/>
                <a:tailEnd type="triangle"/>
              </a:ln>
            </p:spPr>
          </p:cxnSp>
        </p:grpSp>
        <p:sp>
          <p:nvSpPr>
            <p:cNvPr id="191" name="Shape 31">
              <a:extLst>
                <a:ext uri="{FF2B5EF4-FFF2-40B4-BE49-F238E27FC236}">
                  <a16:creationId xmlns:a16="http://schemas.microsoft.com/office/drawing/2014/main" id="{7AB93E39-C877-4F6E-91E3-4818D5AD8143}"/>
                </a:ext>
              </a:extLst>
            </p:cNvPr>
            <p:cNvSpPr/>
            <p:nvPr/>
          </p:nvSpPr>
          <p:spPr>
            <a:xfrm>
              <a:off x="10122008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2" name="Shape 31">
              <a:extLst>
                <a:ext uri="{FF2B5EF4-FFF2-40B4-BE49-F238E27FC236}">
                  <a16:creationId xmlns:a16="http://schemas.microsoft.com/office/drawing/2014/main" id="{0FE145B6-CE91-4FE8-9E63-351A03D67391}"/>
                </a:ext>
              </a:extLst>
            </p:cNvPr>
            <p:cNvSpPr/>
            <p:nvPr/>
          </p:nvSpPr>
          <p:spPr>
            <a:xfrm>
              <a:off x="9538389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GPU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4" name="Shape 31">
              <a:extLst>
                <a:ext uri="{FF2B5EF4-FFF2-40B4-BE49-F238E27FC236}">
                  <a16:creationId xmlns:a16="http://schemas.microsoft.com/office/drawing/2014/main" id="{9355122B-B076-4AD6-8266-92347533977C}"/>
                </a:ext>
              </a:extLst>
            </p:cNvPr>
            <p:cNvSpPr/>
            <p:nvPr/>
          </p:nvSpPr>
          <p:spPr>
            <a:xfrm>
              <a:off x="10723037" y="4233616"/>
              <a:ext cx="597945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CXL-PNM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5" name="Shape 31">
              <a:extLst>
                <a:ext uri="{FF2B5EF4-FFF2-40B4-BE49-F238E27FC236}">
                  <a16:creationId xmlns:a16="http://schemas.microsoft.com/office/drawing/2014/main" id="{5B34D1C2-0536-47F9-A4E3-D0D324ADCE23}"/>
                </a:ext>
              </a:extLst>
            </p:cNvPr>
            <p:cNvSpPr/>
            <p:nvPr/>
          </p:nvSpPr>
          <p:spPr>
            <a:xfrm>
              <a:off x="11370490" y="4233616"/>
              <a:ext cx="657740" cy="3215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New Device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96" name="직선 화살표 연결선 185">
              <a:extLst>
                <a:ext uri="{FF2B5EF4-FFF2-40B4-BE49-F238E27FC236}">
                  <a16:creationId xmlns:a16="http://schemas.microsoft.com/office/drawing/2014/main" id="{64718AD8-8AEE-402C-9432-118EAEC37816}"/>
                </a:ext>
              </a:extLst>
            </p:cNvPr>
            <p:cNvCxnSpPr>
              <a:cxnSpLocks/>
              <a:stCxn id="188" idx="2"/>
              <a:endCxn id="194" idx="0"/>
            </p:cNvCxnSpPr>
            <p:nvPr/>
          </p:nvCxnSpPr>
          <p:spPr>
            <a:xfrm rot="16200000" flipH="1">
              <a:off x="10700105" y="3911710"/>
              <a:ext cx="321923" cy="32188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3310" name="C2 freshness note"/>
            <p:cNvSpPr txBox="1"/>
            <p:nvPr/>
          </p:nvSpPr>
          <p:spPr>
            <a:xfrm>
              <a:off x="7679898" y="4028093"/>
              <a:ext cx="1452235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Execution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Plan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및 </a:t>
              </a:r>
              <a:r>
                <a:rPr lang="ko-KR" altLang="en-US" sz="900" dirty="0">
                  <a:solidFill>
                    <a:srgbClr val="808080"/>
                  </a:solidFill>
                  <a:latin typeface="맑은 고딕"/>
                  <a:ea typeface="맑은 고딕"/>
                </a:rPr>
                <a:t>상태 저장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0" name="C2 freshness note">
              <a:extLst>
                <a:ext uri="{FF2B5EF4-FFF2-40B4-BE49-F238E27FC236}">
                  <a16:creationId xmlns:a16="http://schemas.microsoft.com/office/drawing/2014/main" id="{127B7BA2-AF32-48BD-B4B6-6292B5DF4C0B}"/>
                </a:ext>
              </a:extLst>
            </p:cNvPr>
            <p:cNvSpPr txBox="1"/>
            <p:nvPr/>
          </p:nvSpPr>
          <p:spPr>
            <a:xfrm>
              <a:off x="10762871" y="3300036"/>
              <a:ext cx="542659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If match 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A4406A-848C-40A9-8F3E-43EAB95C7998}"/>
                </a:ext>
              </a:extLst>
            </p:cNvPr>
            <p:cNvSpPr txBox="1"/>
            <p:nvPr/>
          </p:nvSpPr>
          <p:spPr>
            <a:xfrm>
              <a:off x="9528263" y="2716734"/>
              <a:ext cx="64008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If </a:t>
              </a:r>
              <a:r>
                <a:rPr lang="en-US" sz="900" dirty="0">
                  <a:solidFill>
                    <a:srgbClr val="C55A11"/>
                  </a:solidFill>
                  <a:latin typeface="맑은 고딕"/>
                  <a:ea typeface="맑은 고딕"/>
                </a:rPr>
                <a:t>m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ismatch</a:t>
              </a:r>
              <a:endParaRPr sz="900" b="0" i="0" dirty="0">
                <a:solidFill>
                  <a:srgbClr val="C55A1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2" name="Rectangle 9065">
              <a:extLst>
                <a:ext uri="{FF2B5EF4-FFF2-40B4-BE49-F238E27FC236}">
                  <a16:creationId xmlns:a16="http://schemas.microsoft.com/office/drawing/2014/main" id="{DC0FC1D3-B7E6-42CE-84E0-E28CE1ED44E9}"/>
                </a:ext>
              </a:extLst>
            </p:cNvPr>
            <p:cNvSpPr/>
            <p:nvPr/>
          </p:nvSpPr>
          <p:spPr>
            <a:xfrm>
              <a:off x="6650290" y="2283984"/>
              <a:ext cx="265546" cy="112170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36000" tIns="18000" rIns="36000" bIns="18000" rtlCol="0" anchor="ctr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Common Memory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 Backend Interface</a:t>
              </a:r>
            </a:p>
          </p:txBody>
        </p:sp>
        <p:cxnSp>
          <p:nvCxnSpPr>
            <p:cNvPr id="177" name="직선 화살표 연결선 185">
              <a:extLst>
                <a:ext uri="{FF2B5EF4-FFF2-40B4-BE49-F238E27FC236}">
                  <a16:creationId xmlns:a16="http://schemas.microsoft.com/office/drawing/2014/main" id="{643E492D-CE08-4786-9B0D-A7E6F1A63A29}"/>
                </a:ext>
              </a:extLst>
            </p:cNvPr>
            <p:cNvCxnSpPr>
              <a:cxnSpLocks/>
              <a:stCxn id="162" idx="3"/>
              <a:endCxn id="169" idx="1"/>
            </p:cNvCxnSpPr>
            <p:nvPr/>
          </p:nvCxnSpPr>
          <p:spPr>
            <a:xfrm flipV="1">
              <a:off x="6915836" y="2840572"/>
              <a:ext cx="208937" cy="4265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</p:grpSp>
      <p:cxnSp>
        <p:nvCxnSpPr>
          <p:cNvPr id="14" name="직선 연결선 13"/>
          <p:cNvCxnSpPr/>
          <p:nvPr/>
        </p:nvCxnSpPr>
        <p:spPr>
          <a:xfrm>
            <a:off x="9348289" y="1809408"/>
            <a:ext cx="0" cy="2790583"/>
          </a:xfrm>
          <a:prstGeom prst="line">
            <a:avLst/>
          </a:prstGeom>
          <a:noFill/>
          <a:ln w="12700">
            <a:solidFill>
              <a:srgbClr val="C76E31"/>
            </a:solidFill>
            <a:prstDash val="dash"/>
          </a:ln>
        </p:spPr>
      </p:cxnSp>
      <p:sp>
        <p:nvSpPr>
          <p:cNvPr id="114" name="TextBox 113"/>
          <p:cNvSpPr txBox="1"/>
          <p:nvPr/>
        </p:nvSpPr>
        <p:spPr>
          <a:xfrm>
            <a:off x="8296768" y="5956025"/>
            <a:ext cx="2821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Re-plan</a:t>
            </a:r>
            <a:r>
              <a:rPr lang="ko-KR" altLang="en-US" sz="800" dirty="0">
                <a:solidFill>
                  <a:srgbClr val="0000FF"/>
                </a:solidFill>
              </a:rPr>
              <a:t>으로 인한 메모리 압박 대응 지연의 영향이 적음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11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17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18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2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요청 관리</a:t>
            </a:r>
          </a:p>
        </p:txBody>
      </p:sp>
    </p:spTree>
    <p:extLst>
      <p:ext uri="{BB962C8B-B14F-4D97-AF65-F5344CB8AC3E}">
        <p14:creationId xmlns:p14="http://schemas.microsoft.com/office/powerpoint/2010/main" val="317705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59184" cy="5369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15847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82206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2794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161182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Pipe-and-Filter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구조</a:t>
                      </a:r>
                      <a:r>
                        <a:rPr lang="en-US" altLang="ko-KR" sz="1200" b="1" baseline="0" dirty="0"/>
                        <a:t>: </a:t>
                      </a:r>
                      <a:r>
                        <a:rPr lang="ko-KR" altLang="en-US" sz="1200" b="1" baseline="0" dirty="0" err="1">
                          <a:solidFill>
                            <a:srgbClr val="0066FF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rgbClr val="0066FF"/>
                          </a:solidFill>
                        </a:rPr>
                        <a:t> 전체 체인 실행</a:t>
                      </a:r>
                      <a:endParaRPr lang="en-US" altLang="ko-KR" sz="1050" b="1" kern="1200" baseline="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Shared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en-US" altLang="ko-KR" sz="1200" b="1" dirty="0"/>
                        <a:t>Repository </a:t>
                      </a:r>
                      <a:r>
                        <a:rPr lang="ko-KR" altLang="en-US" sz="1200" b="1" dirty="0"/>
                        <a:t>구조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분석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회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+ </a:t>
                      </a:r>
                      <a:r>
                        <a:rPr lang="ko-KR" altLang="en-US" sz="1200" b="1" baseline="0" dirty="0" err="1">
                          <a:solidFill>
                            <a:schemeClr val="accent2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 조회 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573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입력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에 맞게 재사용할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캐시만 보유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effectLst/>
                        </a:rPr>
                        <a:t>Filter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별 병렬 실행으로 요청 간 경합을 분산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사전에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재계산 위치를 결정하므로 </a:t>
                      </a:r>
                      <a:r>
                        <a:rPr lang="ko-KR" altLang="en-US" sz="1200" b="0" i="0" dirty="0" err="1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서빙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경로 절감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처리량 유리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Critical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path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SR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조회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회 뿐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부하가 올라도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tail latency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평탄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(Q3)</a:t>
                      </a:r>
                      <a:endParaRPr lang="en-US" altLang="ko-KR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57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의 요청이 들어오는 경우 전체 체인을 재실행하는 중복 계산 발생 우려</a:t>
                      </a:r>
                      <a:r>
                        <a:rPr lang="en-US" altLang="ko-KR" sz="1200" strike="noStrike" baseline="0" dirty="0">
                          <a:effectLst/>
                        </a:rPr>
                        <a:t>,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처리량 불리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(Q1)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고부하 시 체인 지연이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큐잉과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겹쳐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tail latency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발산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재사용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 및 재계산 위치를 사전에 보유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메모리 점유 증가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(HBM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사용량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DP3. KV </a:t>
            </a:r>
            <a:r>
              <a:rPr lang="ko-KR" altLang="en-US" dirty="0"/>
              <a:t>캐시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114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 err="1">
                <a:solidFill>
                  <a:schemeClr val="bg1"/>
                </a:solidFill>
              </a:rPr>
              <a:t>재사용률을</a:t>
            </a:r>
            <a:r>
              <a:rPr lang="ko-KR" altLang="en-US" sz="1400" b="1" dirty="0">
                <a:solidFill>
                  <a:schemeClr val="bg1"/>
                </a:solidFill>
              </a:rPr>
              <a:t> 높이기 위한 재계산 대상 선정 시점과 방식을 최적화하는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 err="1"/>
              <a:t>요청마다</a:t>
            </a:r>
            <a:r>
              <a:rPr lang="ko-KR" altLang="en-US" sz="1100" dirty="0"/>
              <a:t> 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에 맞게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선정하는 구조</a:t>
            </a:r>
            <a:r>
              <a:rPr lang="en-US" altLang="ko-KR" sz="1100" dirty="0"/>
              <a:t>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143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사전에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선정하고</a:t>
            </a:r>
            <a:r>
              <a:rPr lang="en-US" altLang="ko-KR" sz="1100" dirty="0"/>
              <a:t>, </a:t>
            </a:r>
            <a:r>
              <a:rPr lang="ko-KR" altLang="en-US" sz="1100" dirty="0"/>
              <a:t>요청은 이를 활용</a:t>
            </a:r>
            <a:r>
              <a:rPr lang="en-US" altLang="ko-KR" sz="1100" dirty="0"/>
              <a:t>＂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EDBAE0C-74A5-43A7-8D12-CE3C549C093E}"/>
              </a:ext>
            </a:extLst>
          </p:cNvPr>
          <p:cNvSpPr txBox="1"/>
          <p:nvPr/>
        </p:nvSpPr>
        <p:spPr>
          <a:xfrm>
            <a:off x="4711271" y="639726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</a:t>
            </a:r>
            <a:r>
              <a:rPr lang="ko-KR" altLang="en-US" sz="1200" dirty="0"/>
              <a:t>점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E497195-BDD1-47C1-A342-40321C4585CB}"/>
              </a:ext>
            </a:extLst>
          </p:cNvPr>
          <p:cNvSpPr txBox="1"/>
          <p:nvPr/>
        </p:nvSpPr>
        <p:spPr>
          <a:xfrm>
            <a:off x="10204983" y="641814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2849" y="2077239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4" name="Rectangle 19"/>
          <p:cNvSpPr/>
          <p:nvPr/>
        </p:nvSpPr>
        <p:spPr>
          <a:xfrm>
            <a:off x="1611630" y="2004178"/>
            <a:ext cx="660317" cy="3239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유사도 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5" name="Connector 20"/>
          <p:cNvCxnSpPr/>
          <p:nvPr/>
        </p:nvCxnSpPr>
        <p:spPr>
          <a:xfrm>
            <a:off x="2271947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21"/>
          <p:cNvSpPr/>
          <p:nvPr/>
        </p:nvSpPr>
        <p:spPr>
          <a:xfrm>
            <a:off x="2445714" y="2004178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7" name="Connector 22"/>
          <p:cNvCxnSpPr/>
          <p:nvPr/>
        </p:nvCxnSpPr>
        <p:spPr>
          <a:xfrm>
            <a:off x="3106033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23"/>
          <p:cNvSpPr/>
          <p:nvPr/>
        </p:nvSpPr>
        <p:spPr>
          <a:xfrm>
            <a:off x="3279801" y="2004178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15" name="Connector 24"/>
          <p:cNvCxnSpPr/>
          <p:nvPr/>
        </p:nvCxnSpPr>
        <p:spPr>
          <a:xfrm>
            <a:off x="3940118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25"/>
          <p:cNvSpPr/>
          <p:nvPr/>
        </p:nvSpPr>
        <p:spPr>
          <a:xfrm>
            <a:off x="4113885" y="2004177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선택적 </a:t>
            </a:r>
            <a:endParaRPr lang="en-US" altLang="ko-KR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92849" y="2567182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2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20" name="Rectangle 27"/>
          <p:cNvSpPr/>
          <p:nvPr/>
        </p:nvSpPr>
        <p:spPr>
          <a:xfrm>
            <a:off x="2444860" y="2494121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32" name="Connector 28"/>
          <p:cNvCxnSpPr/>
          <p:nvPr/>
        </p:nvCxnSpPr>
        <p:spPr>
          <a:xfrm>
            <a:off x="3105177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29"/>
          <p:cNvSpPr/>
          <p:nvPr/>
        </p:nvSpPr>
        <p:spPr>
          <a:xfrm>
            <a:off x="3278944" y="2494121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36" name="Connector 30"/>
          <p:cNvCxnSpPr/>
          <p:nvPr/>
        </p:nvCxnSpPr>
        <p:spPr>
          <a:xfrm>
            <a:off x="3939263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31"/>
          <p:cNvSpPr/>
          <p:nvPr/>
        </p:nvSpPr>
        <p:spPr>
          <a:xfrm>
            <a:off x="4113031" y="2494121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45" name="Connector 32"/>
          <p:cNvCxnSpPr/>
          <p:nvPr/>
        </p:nvCxnSpPr>
        <p:spPr>
          <a:xfrm>
            <a:off x="4773348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33"/>
          <p:cNvSpPr/>
          <p:nvPr/>
        </p:nvSpPr>
        <p:spPr>
          <a:xfrm>
            <a:off x="4947115" y="2494121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2849" y="3057126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3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50" name="Rectangle 35"/>
          <p:cNvSpPr/>
          <p:nvPr/>
        </p:nvSpPr>
        <p:spPr>
          <a:xfrm>
            <a:off x="3272288" y="2984064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53" name="Connector 36"/>
          <p:cNvCxnSpPr/>
          <p:nvPr/>
        </p:nvCxnSpPr>
        <p:spPr>
          <a:xfrm>
            <a:off x="3932605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37"/>
          <p:cNvSpPr/>
          <p:nvPr/>
        </p:nvSpPr>
        <p:spPr>
          <a:xfrm>
            <a:off x="4106372" y="2984064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55" name="Connector 38"/>
          <p:cNvCxnSpPr/>
          <p:nvPr/>
        </p:nvCxnSpPr>
        <p:spPr>
          <a:xfrm>
            <a:off x="4766691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39"/>
          <p:cNvSpPr/>
          <p:nvPr/>
        </p:nvSpPr>
        <p:spPr>
          <a:xfrm>
            <a:off x="4940459" y="2984064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58" name="Connector 40"/>
          <p:cNvCxnSpPr/>
          <p:nvPr/>
        </p:nvCxnSpPr>
        <p:spPr>
          <a:xfrm>
            <a:off x="5600776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41"/>
          <p:cNvSpPr/>
          <p:nvPr/>
        </p:nvSpPr>
        <p:spPr>
          <a:xfrm>
            <a:off x="5774543" y="2984065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308831" y="1718927"/>
            <a:ext cx="1503466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요청마다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lang="en-US"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3단계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반복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6703766" y="2047236"/>
            <a:ext cx="410082" cy="24343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사전</a:t>
            </a:r>
          </a:p>
        </p:txBody>
      </p:sp>
      <p:sp>
        <p:nvSpPr>
          <p:cNvPr id="164" name="Rectangle 45"/>
          <p:cNvSpPr/>
          <p:nvPr/>
        </p:nvSpPr>
        <p:spPr>
          <a:xfrm>
            <a:off x="7113848" y="2006664"/>
            <a:ext cx="671043" cy="324578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쿼리 추출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65" name="Connector 46"/>
          <p:cNvCxnSpPr/>
          <p:nvPr/>
        </p:nvCxnSpPr>
        <p:spPr>
          <a:xfrm>
            <a:off x="7784891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47"/>
          <p:cNvSpPr/>
          <p:nvPr/>
        </p:nvSpPr>
        <p:spPr>
          <a:xfrm>
            <a:off x="7971291" y="2006664"/>
            <a:ext cx="671043" cy="32457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67" name="Connector 48"/>
          <p:cNvCxnSpPr/>
          <p:nvPr/>
        </p:nvCxnSpPr>
        <p:spPr>
          <a:xfrm>
            <a:off x="8642334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49"/>
          <p:cNvSpPr/>
          <p:nvPr/>
        </p:nvSpPr>
        <p:spPr>
          <a:xfrm>
            <a:off x="8828734" y="2006664"/>
            <a:ext cx="671043" cy="324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69" name="Connector 50"/>
          <p:cNvCxnSpPr/>
          <p:nvPr/>
        </p:nvCxnSpPr>
        <p:spPr>
          <a:xfrm>
            <a:off x="9499777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51"/>
          <p:cNvSpPr/>
          <p:nvPr/>
        </p:nvSpPr>
        <p:spPr>
          <a:xfrm>
            <a:off x="9686178" y="2006664"/>
            <a:ext cx="671043" cy="324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60723" y="2342034"/>
            <a:ext cx="560312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 1회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520935" y="1801680"/>
            <a:ext cx="1473198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서빙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경로에는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SR만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남음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실행 단추: 앞으로 또는 다음 15">
            <a:hlinkClick r:id="" action="ppaction://noaction" highlightClick="1"/>
          </p:cNvPr>
          <p:cNvSpPr/>
          <p:nvPr/>
        </p:nvSpPr>
        <p:spPr>
          <a:xfrm>
            <a:off x="561954" y="3168086"/>
            <a:ext cx="213360" cy="18435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Rectangle 51"/>
          <p:cNvSpPr/>
          <p:nvPr/>
        </p:nvSpPr>
        <p:spPr>
          <a:xfrm>
            <a:off x="11215449" y="2005839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8" name="Rectangle 51"/>
          <p:cNvSpPr/>
          <p:nvPr/>
        </p:nvSpPr>
        <p:spPr>
          <a:xfrm>
            <a:off x="11215449" y="2449551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Rectangle 51"/>
          <p:cNvSpPr/>
          <p:nvPr/>
        </p:nvSpPr>
        <p:spPr>
          <a:xfrm>
            <a:off x="11215449" y="2896448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Rectangle 52"/>
          <p:cNvSpPr/>
          <p:nvPr/>
        </p:nvSpPr>
        <p:spPr>
          <a:xfrm>
            <a:off x="8691026" y="2544126"/>
            <a:ext cx="1836041" cy="355375"/>
          </a:xfrm>
          <a:prstGeom prst="rect">
            <a:avLst/>
          </a:prstGeom>
          <a:solidFill>
            <a:schemeClr val="bg1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 </a:t>
            </a:r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Repository </a:t>
            </a:r>
            <a:endParaRPr lang="en-US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재사용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KV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캐시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재계산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토큰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위치</a:t>
            </a:r>
            <a:r>
              <a:rPr 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99" name="Connector 50"/>
          <p:cNvCxnSpPr/>
          <p:nvPr/>
        </p:nvCxnSpPr>
        <p:spPr>
          <a:xfrm flipH="1">
            <a:off x="10019099" y="2331242"/>
            <a:ext cx="2602" cy="222995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60"/>
          <p:cNvCxnSpPr/>
          <p:nvPr/>
        </p:nvCxnSpPr>
        <p:spPr>
          <a:xfrm flipV="1">
            <a:off x="10550687" y="2193542"/>
            <a:ext cx="570978" cy="397681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60"/>
          <p:cNvCxnSpPr/>
          <p:nvPr/>
        </p:nvCxnSpPr>
        <p:spPr>
          <a:xfrm flipV="1">
            <a:off x="10596254" y="2677120"/>
            <a:ext cx="535628" cy="37890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60"/>
          <p:cNvCxnSpPr/>
          <p:nvPr/>
        </p:nvCxnSpPr>
        <p:spPr>
          <a:xfrm>
            <a:off x="10556860" y="2781919"/>
            <a:ext cx="550948" cy="27520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520935" y="2095565"/>
            <a:ext cx="501541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read × N</a:t>
            </a:r>
          </a:p>
        </p:txBody>
      </p:sp>
      <p:sp>
        <p:nvSpPr>
          <p:cNvPr id="128" name="Rectangle 55"/>
          <p:cNvSpPr/>
          <p:nvPr/>
        </p:nvSpPr>
        <p:spPr>
          <a:xfrm>
            <a:off x="7726026" y="2550682"/>
            <a:ext cx="662975" cy="339501"/>
          </a:xfrm>
          <a:prstGeom prst="rect">
            <a:avLst/>
          </a:prstGeom>
          <a:solidFill>
            <a:srgbClr val="F0D8FA"/>
          </a:solidFill>
          <a:ln w="15240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altLang="ko-KR" sz="800" dirty="0">
                <a:solidFill>
                  <a:schemeClr val="tx1"/>
                </a:solidFill>
                <a:ea typeface="맑은 고딕"/>
                <a:cs typeface="맑은 고딕"/>
              </a:rPr>
              <a:t>Validator</a:t>
            </a:r>
            <a:endParaRPr sz="800" b="1" dirty="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29" name="Connector 46"/>
          <p:cNvCxnSpPr>
            <a:stCxn id="128" idx="3"/>
            <a:endCxn id="96" idx="1"/>
          </p:cNvCxnSpPr>
          <p:nvPr/>
        </p:nvCxnSpPr>
        <p:spPr>
          <a:xfrm>
            <a:off x="8389001" y="2720433"/>
            <a:ext cx="302025" cy="1381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390821" y="3556351"/>
            <a:ext cx="10286655" cy="885231"/>
            <a:chOff x="1190992" y="3862952"/>
            <a:chExt cx="10286655" cy="885231"/>
          </a:xfrm>
        </p:grpSpPr>
        <p:sp>
          <p:nvSpPr>
            <p:cNvPr id="15" name="직사각형 14"/>
            <p:cNvSpPr/>
            <p:nvPr/>
          </p:nvSpPr>
          <p:spPr>
            <a:xfrm>
              <a:off x="1190992" y="3862952"/>
              <a:ext cx="10286655" cy="8852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887027" y="3952198"/>
              <a:ext cx="3149522" cy="31444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유사도 계산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: Query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와 </a:t>
              </a: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KV 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캐시 간의 </a:t>
              </a:r>
              <a:r>
                <a:rPr lang="ko-KR" altLang="en-US" sz="800" b="1" dirty="0" err="1">
                  <a:latin typeface="맑은 고딕"/>
                  <a:ea typeface="맑은 고딕"/>
                  <a:cs typeface="맑은 고딕"/>
                </a:rPr>
                <a:t>유사도를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 계산</a:t>
              </a:r>
              <a:endParaRPr lang="en-US" altLang="ko-KR" sz="800" b="1" dirty="0">
                <a:latin typeface="맑은 고딕"/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(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Attention Manager)</a:t>
              </a:r>
              <a:endParaRPr sz="800" b="0" dirty="0"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887027" y="4353852"/>
              <a:ext cx="3149522" cy="3144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재사용 토큰 선정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유사도 점수로 재사용할 토큰 선정 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(KV Sampler)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5093777" y="3954047"/>
              <a:ext cx="3149522" cy="3144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재연산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 토큰 선정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재계산할 토큰 선정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</a:t>
              </a:r>
              <a:r>
                <a:rPr lang="en-US" altLang="ko-KR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Recompute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-Token Selector)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5093777" y="4366396"/>
              <a:ext cx="3149522" cy="3162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선택적 재계산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선정한 토큰만 재계산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(Selective </a:t>
              </a:r>
              <a:r>
                <a:rPr lang="en-US" altLang="ko-KR" sz="800" b="1" dirty="0" err="1">
                  <a:ea typeface="맑은 고딕"/>
                  <a:cs typeface="맑은 고딕"/>
                </a:rPr>
                <a:t>Recomputer</a:t>
              </a:r>
              <a:r>
                <a:rPr lang="en-US" altLang="ko-KR" sz="800" b="1" dirty="0">
                  <a:ea typeface="맑은 고딕"/>
                  <a:cs typeface="맑은 고딕"/>
                </a:rPr>
                <a:t>)</a:t>
              </a:r>
              <a:endParaRPr lang="en-US" altLang="ko-KR" sz="800" dirty="0">
                <a:ea typeface="맑은 고딕"/>
                <a:cs typeface="맑은 고딕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8352247" y="3952198"/>
              <a:ext cx="2863202" cy="3144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대표 쿼리 추출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워크로드 별 대표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Query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추출 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(Query Sampler)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238713" y="4256303"/>
              <a:ext cx="587020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altLang="ko-KR" sz="900" b="1" dirty="0">
                  <a:solidFill>
                    <a:prstClr val="black"/>
                  </a:solidFill>
                </a:rPr>
                <a:t>Legend</a:t>
              </a:r>
              <a:endParaRPr lang="ko-KR" altLang="en-US" sz="2000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352247" y="4360264"/>
              <a:ext cx="2863202" cy="301621"/>
            </a:xfrm>
            <a:prstGeom prst="rect">
              <a:avLst/>
            </a:prstGeom>
            <a:solidFill>
              <a:srgbClr val="F0D8FA"/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Validator: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사전에 계산한 재계산 토큰 위치를 업데이트 함으로써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stale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정보 보완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</p:txBody>
        </p:sp>
      </p:grpSp>
      <p:sp>
        <p:nvSpPr>
          <p:cNvPr id="78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784892" y="619129"/>
            <a:ext cx="1095752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정확도 보장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83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4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430793" y="808072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85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10320379" y="815469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1209965" y="808072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</a:t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583025" y="1946905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7917970" y="1954240"/>
            <a:ext cx="2519397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2397518" y="2426770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>
          <a:xfrm>
            <a:off x="3241867" y="2937037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1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447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중앙 서버 중재 구조 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락 </a:t>
                      </a:r>
                      <a:r>
                        <a:rPr lang="ko-KR" altLang="en-US" sz="1200" b="1" dirty="0"/>
                        <a:t>기반 직접 접근 </a:t>
                      </a:r>
                      <a:r>
                        <a:rPr lang="en-US" altLang="ko-KR" sz="1200" b="1" dirty="0" err="1"/>
                        <a:t>구조</a:t>
                      </a:r>
                      <a:endParaRPr lang="en-US" altLang="ko-KR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17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동기화를 일괄 처리하여 요청당 동기화 오버헤드가 작음 </a:t>
                      </a:r>
                      <a:r>
                        <a:rPr lang="en-US" altLang="ko-KR" sz="1200" dirty="0"/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요청 순서와 동시 처리량을 제어하여 경합 관리에 유리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 병목은 회피 및 분산 병렬 처리에 유리</a:t>
                      </a:r>
                      <a:r>
                        <a:rPr lang="en-US" altLang="ko-KR" sz="1200" dirty="0"/>
                        <a:t>(Q1,</a:t>
                      </a:r>
                      <a:r>
                        <a:rPr lang="en-US" altLang="ko-KR" sz="1200" baseline="0" dirty="0"/>
                        <a:t> Q3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노드별</a:t>
                      </a:r>
                      <a:r>
                        <a:rPr lang="ko-KR" altLang="en-US" sz="1200" dirty="0"/>
                        <a:t> 분산 처리로 </a:t>
                      </a:r>
                      <a:r>
                        <a:rPr lang="ko-KR" altLang="en-US" sz="1200" dirty="0" err="1"/>
                        <a:t>병렬성</a:t>
                      </a:r>
                      <a:r>
                        <a:rPr lang="ko-KR" altLang="en-US" sz="1200" dirty="0"/>
                        <a:t> 확보 및 수평 확장에 유리 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서버 집중에 따른 병목 가능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baseline="0" dirty="0"/>
                        <a:t>Q3) 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노드 증가 시 중앙 서버의 처리 용량이 확장 한계로 작용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획득 및 공유 데이터 접근에 따른 동기화 오버헤드 발생</a:t>
                      </a:r>
                      <a:r>
                        <a:rPr lang="en-US" altLang="ko-KR" sz="1200" baseline="0" dirty="0"/>
                        <a:t> 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</a:t>
                      </a: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경합 및 대기시간 증가로 지연 편차 확대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048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82" name="Rectangle 181"/>
          <p:cNvSpPr/>
          <p:nvPr/>
        </p:nvSpPr>
        <p:spPr>
          <a:xfrm>
            <a:off x="8269663" y="2029256"/>
            <a:ext cx="1874519" cy="1532336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69663" y="2029256"/>
            <a:ext cx="1415491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lang="ko-KR" altLang="en-US" sz="700" b="1" dirty="0">
                <a:solidFill>
                  <a:srgbClr val="FFFFFF"/>
                </a:solidFill>
                <a:ea typeface="맑은 고딕"/>
              </a:rPr>
              <a:t>공유 메모리 풀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361103" y="2349296"/>
            <a:ext cx="169164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8361103" y="2733344"/>
            <a:ext cx="1691640" cy="38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공유 메타데이터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· allocator · LRU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361103" y="3195993"/>
            <a:ext cx="169164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전역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락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배열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노드별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DP4. </a:t>
            </a:r>
            <a:r>
              <a:rPr lang="en-US" altLang="ko-KR" dirty="0" err="1"/>
              <a:t>서버</a:t>
            </a:r>
            <a:r>
              <a:rPr lang="en-US" altLang="ko-KR" dirty="0"/>
              <a:t> 간 KV </a:t>
            </a:r>
            <a:r>
              <a:rPr lang="ko-KR" altLang="en-US" dirty="0"/>
              <a:t>캐시 </a:t>
            </a:r>
            <a:r>
              <a:rPr lang="en-US" altLang="ko-KR" dirty="0" err="1"/>
              <a:t>공유</a:t>
            </a:r>
            <a:r>
              <a:rPr lang="en-US" altLang="ko-KR" dirty="0"/>
              <a:t> </a:t>
            </a:r>
            <a:r>
              <a:rPr lang="en-US" altLang="ko-KR" dirty="0" err="1"/>
              <a:t>구조</a:t>
            </a:r>
            <a:r>
              <a:rPr lang="en-US" altLang="ko-KR" dirty="0"/>
              <a:t> – </a:t>
            </a:r>
            <a:r>
              <a:rPr lang="ko-KR" altLang="en-US" dirty="0"/>
              <a:t>설계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40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공유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캐시의 데이터 정합성을 보장하면서 동기화 방식을 최적화하는 구조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 서버가 </a:t>
            </a:r>
            <a:r>
              <a:rPr lang="en-US" altLang="ko-KR" sz="1100" dirty="0" err="1"/>
              <a:t>모든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갱신을</a:t>
            </a:r>
            <a:r>
              <a:rPr lang="en-US" altLang="ko-KR" sz="1100" dirty="0"/>
              <a:t> </a:t>
            </a:r>
            <a:r>
              <a:rPr lang="ko-KR" altLang="en-US" sz="1100" dirty="0"/>
              <a:t>관리</a:t>
            </a:r>
            <a:r>
              <a:rPr lang="en-US" altLang="ko-KR" sz="1100" dirty="0" err="1"/>
              <a:t>하고</a:t>
            </a:r>
            <a:r>
              <a:rPr lang="en-US" altLang="ko-KR" sz="1100" dirty="0"/>
              <a:t>, </a:t>
            </a:r>
            <a:r>
              <a:rPr lang="ko-KR" altLang="en-US" sz="1100" dirty="0"/>
              <a:t>각 </a:t>
            </a:r>
            <a:r>
              <a:rPr lang="en-US" altLang="ko-KR" sz="1100" dirty="0" err="1"/>
              <a:t>노드</a:t>
            </a:r>
            <a:r>
              <a:rPr lang="en-US" altLang="ko-KR" sz="1100" dirty="0"/>
              <a:t>(Client)</a:t>
            </a:r>
            <a:r>
              <a:rPr lang="ko-KR" altLang="en-US" sz="1100" dirty="0"/>
              <a:t>가 서버에 </a:t>
            </a:r>
            <a:r>
              <a:rPr lang="en-US" altLang="ko-KR" sz="1100" dirty="0" err="1"/>
              <a:t>요청</a:t>
            </a:r>
            <a:r>
              <a:rPr lang="en-US" altLang="ko-KR" sz="1100" dirty="0"/>
              <a:t>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“메타데이터를 공유 메모리에 두고 모든 </a:t>
            </a:r>
            <a:r>
              <a:rPr lang="en-US" altLang="ko-KR" sz="1100" dirty="0" err="1"/>
              <a:t>노드가</a:t>
            </a:r>
            <a:r>
              <a:rPr lang="en-US" altLang="ko-KR" sz="1100" dirty="0"/>
              <a:t> </a:t>
            </a:r>
            <a:r>
              <a:rPr lang="en-US" altLang="ko-KR" sz="1100" dirty="0" err="1"/>
              <a:t>락으로</a:t>
            </a:r>
            <a:r>
              <a:rPr lang="en-US" altLang="ko-KR" sz="1100" dirty="0"/>
              <a:t> </a:t>
            </a:r>
            <a:r>
              <a:rPr lang="en-US" altLang="ko-KR" sz="1100" dirty="0" err="1"/>
              <a:t>직접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</a:t>
            </a:r>
            <a:r>
              <a:rPr lang="en-US" altLang="ko-KR" sz="1100" dirty="0"/>
              <a:t>”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61872" y="2120695"/>
            <a:ext cx="1417320" cy="200003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261872" y="2120695"/>
            <a:ext cx="1161620" cy="1832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«node» P </a:t>
            </a:r>
            <a:r>
              <a:rPr sz="7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371600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  <a:endParaRPr sz="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4979855" y="2120696"/>
            <a:ext cx="1417320" cy="20000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 dirty="0"/>
          </a:p>
        </p:txBody>
      </p:sp>
      <p:sp>
        <p:nvSpPr>
          <p:cNvPr id="147" name="Rectangle 146"/>
          <p:cNvSpPr/>
          <p:nvPr/>
        </p:nvSpPr>
        <p:spPr>
          <a:xfrm>
            <a:off x="4979854" y="2120696"/>
            <a:ext cx="1096691" cy="18321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 dirty="0">
                <a:solidFill>
                  <a:schemeClr val="tx1"/>
                </a:solidFill>
                <a:latin typeface="맑은 고딕"/>
                <a:ea typeface="맑은 고딕"/>
              </a:rPr>
              <a:t>«node» D </a:t>
            </a:r>
            <a:r>
              <a:rPr sz="700" b="1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089583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019667" y="2029255"/>
            <a:ext cx="1704108" cy="1532337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3017852" y="2029256"/>
            <a:ext cx="1286810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lang="ko-KR" alt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공유 메모리 풀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124504" y="2373264"/>
            <a:ext cx="1537855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044952" y="3850388"/>
            <a:ext cx="1691640" cy="427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메타데이터 </a:t>
            </a: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Server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· allocator · LRU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2549632" y="3344010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2701812" y="324303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4621340" y="3285858"/>
            <a:ext cx="47434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4778047" y="31885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6675120" y="2120696"/>
            <a:ext cx="1417320" cy="1879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6751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P 노드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848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332720" y="2120696"/>
            <a:ext cx="1417320" cy="18215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3327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D 노드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424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8327898" y="3851498"/>
            <a:ext cx="1737360" cy="438382"/>
            <a:chOff x="8412480" y="3948814"/>
            <a:chExt cx="1737360" cy="482220"/>
          </a:xfrm>
        </p:grpSpPr>
        <p:sp>
          <p:nvSpPr>
            <p:cNvPr id="187" name="Rectangle 186"/>
            <p:cNvSpPr/>
            <p:nvPr/>
          </p:nvSpPr>
          <p:spPr>
            <a:xfrm>
              <a:off x="8458200" y="3948814"/>
              <a:ext cx="1691640" cy="482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18288" rIns="27432" bIns="18288" rtlCol="0" anchor="ctr"/>
            <a:lstStyle/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락</a:t>
              </a:r>
              <a:r>
                <a:rPr lang="ko-KR" altLang="en-US" sz="900" b="1" dirty="0">
                  <a:solidFill>
                    <a:schemeClr val="tx1"/>
                  </a:solidFill>
                  <a:ea typeface="맑은 고딕"/>
                </a:rPr>
                <a:t> 매니저 스레드</a:t>
              </a:r>
              <a:endParaRPr lang="en-US" altLang="ko-KR" sz="900" b="1" dirty="0">
                <a:solidFill>
                  <a:schemeClr val="tx1"/>
                </a:solidFill>
                <a:ea typeface="맑은 고딕"/>
              </a:endParaRPr>
            </a:p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슬롯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scan → LOCKED grant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412480" y="4003678"/>
              <a:ext cx="91440" cy="50292"/>
            </a:xfrm>
            <a:prstGeom prst="rect">
              <a:avLst/>
            </a:prstGeom>
            <a:solidFill>
              <a:srgbClr val="FDECEA"/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 dirty="0"/>
            </a:p>
          </p:txBody>
        </p:sp>
      </p:grpSp>
      <p:cxnSp>
        <p:nvCxnSpPr>
          <p:cNvPr id="190" name="Connector 189"/>
          <p:cNvCxnSpPr/>
          <p:nvPr/>
        </p:nvCxnSpPr>
        <p:spPr>
          <a:xfrm>
            <a:off x="7986148" y="254132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092440" y="24635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2" name="Connector 191"/>
          <p:cNvCxnSpPr/>
          <p:nvPr/>
        </p:nvCxnSpPr>
        <p:spPr>
          <a:xfrm flipH="1">
            <a:off x="10063089" y="2605795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10163555" y="2411486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4" name="Connector 193"/>
          <p:cNvCxnSpPr/>
          <p:nvPr/>
        </p:nvCxnSpPr>
        <p:spPr>
          <a:xfrm>
            <a:off x="7962138" y="3254552"/>
            <a:ext cx="3657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067294" y="317682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10063089" y="3286920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10163555" y="31024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04" name="C1 slot-server link"/>
          <p:cNvCxnSpPr/>
          <p:nvPr/>
        </p:nvCxnSpPr>
        <p:spPr>
          <a:xfrm>
            <a:off x="3890772" y="3573688"/>
            <a:ext cx="0" cy="236681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C1 link label"/>
          <p:cNvSpPr txBox="1"/>
          <p:nvPr/>
        </p:nvSpPr>
        <p:spPr>
          <a:xfrm>
            <a:off x="3981451" y="3630728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Polling</a:t>
            </a:r>
            <a:endParaRPr sz="65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cxnSp>
        <p:nvCxnSpPr>
          <p:cNvPr id="206" name="C2 lock-manager link"/>
          <p:cNvCxnSpPr/>
          <p:nvPr/>
        </p:nvCxnSpPr>
        <p:spPr>
          <a:xfrm>
            <a:off x="9304020" y="3556764"/>
            <a:ext cx="0" cy="248704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2 link label"/>
          <p:cNvSpPr txBox="1"/>
          <p:nvPr/>
        </p:nvSpPr>
        <p:spPr>
          <a:xfrm>
            <a:off x="9360000" y="3618501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슬롯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scan</a:t>
            </a:r>
            <a:r>
              <a:rPr lang="en-US"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 err="1">
                <a:solidFill>
                  <a:srgbClr val="404040"/>
                </a:solidFill>
                <a:latin typeface="맑은 고딕"/>
                <a:ea typeface="맑은 고딕"/>
              </a:rPr>
              <a:t>락</a:t>
            </a:r>
            <a:r>
              <a:rPr lang="ko-KR" alt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grant</a:t>
            </a:r>
          </a:p>
        </p:txBody>
      </p:sp>
      <p:sp>
        <p:nvSpPr>
          <p:cNvPr id="130" name="Rectangle 35"/>
          <p:cNvSpPr/>
          <p:nvPr/>
        </p:nvSpPr>
        <p:spPr>
          <a:xfrm>
            <a:off x="1368310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2" name="Rectangle 35"/>
          <p:cNvSpPr/>
          <p:nvPr/>
        </p:nvSpPr>
        <p:spPr>
          <a:xfrm>
            <a:off x="5090865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5" name="Rectangle 37"/>
          <p:cNvSpPr/>
          <p:nvPr/>
        </p:nvSpPr>
        <p:spPr>
          <a:xfrm>
            <a:off x="1399032" y="3719744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136" name="Rectangle 37"/>
          <p:cNvSpPr/>
          <p:nvPr/>
        </p:nvSpPr>
        <p:spPr>
          <a:xfrm>
            <a:off x="5118493" y="3726096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208" name="Rectangle 35"/>
          <p:cNvSpPr/>
          <p:nvPr/>
        </p:nvSpPr>
        <p:spPr>
          <a:xfrm>
            <a:off x="6784848" y="2865932"/>
            <a:ext cx="1147156" cy="555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09" name="Rectangle 35"/>
          <p:cNvSpPr/>
          <p:nvPr/>
        </p:nvSpPr>
        <p:spPr>
          <a:xfrm>
            <a:off x="10447020" y="2865932"/>
            <a:ext cx="1147156" cy="54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11" name="Rectangle 77"/>
          <p:cNvSpPr/>
          <p:nvPr/>
        </p:nvSpPr>
        <p:spPr>
          <a:xfrm>
            <a:off x="678484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2" name="Rectangle 84"/>
          <p:cNvSpPr/>
          <p:nvPr/>
        </p:nvSpPr>
        <p:spPr>
          <a:xfrm>
            <a:off x="1042339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3" name="Rectangle 48"/>
          <p:cNvSpPr/>
          <p:nvPr/>
        </p:nvSpPr>
        <p:spPr>
          <a:xfrm>
            <a:off x="3110754" y="2891678"/>
            <a:ext cx="1511405" cy="5199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50000"/>
              </a:lnSpc>
            </a:pP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요청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/ </a:t>
            </a:r>
            <a:r>
              <a:rPr sz="900" b="1" dirty="0" err="1">
                <a:solidFill>
                  <a:schemeClr val="tx1"/>
                </a:solidFill>
                <a:ea typeface="맑은 고딕"/>
              </a:rPr>
              <a:t>응답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lang="en-US"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lang="en-US" sz="900" b="1" dirty="0">
                <a:solidFill>
                  <a:schemeClr val="tx1"/>
                </a:solidFill>
                <a:latin typeface="맑은 고딕"/>
                <a:ea typeface="맑은 고딕"/>
              </a:rPr>
              <a:t>RPC)</a:t>
            </a:r>
            <a:endParaRPr sz="9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14" name="Oval 159"/>
          <p:cNvSpPr/>
          <p:nvPr/>
        </p:nvSpPr>
        <p:spPr>
          <a:xfrm>
            <a:off x="3667251" y="362504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17" name="Connector 158"/>
          <p:cNvCxnSpPr/>
          <p:nvPr/>
        </p:nvCxnSpPr>
        <p:spPr>
          <a:xfrm>
            <a:off x="2542776" y="3078856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Oval 159"/>
          <p:cNvSpPr/>
          <p:nvPr/>
        </p:nvSpPr>
        <p:spPr>
          <a:xfrm>
            <a:off x="2699716" y="297788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1" name="Connector 158"/>
          <p:cNvCxnSpPr/>
          <p:nvPr/>
        </p:nvCxnSpPr>
        <p:spPr>
          <a:xfrm>
            <a:off x="2574036" y="2519568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159"/>
          <p:cNvSpPr/>
          <p:nvPr/>
        </p:nvSpPr>
        <p:spPr>
          <a:xfrm>
            <a:off x="2716149" y="2427509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4" name="Connector 158"/>
          <p:cNvCxnSpPr/>
          <p:nvPr/>
        </p:nvCxnSpPr>
        <p:spPr>
          <a:xfrm>
            <a:off x="4629714" y="3046260"/>
            <a:ext cx="458759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159"/>
          <p:cNvSpPr/>
          <p:nvPr/>
        </p:nvSpPr>
        <p:spPr>
          <a:xfrm>
            <a:off x="4781894" y="29452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6" name="Oval 159"/>
          <p:cNvSpPr/>
          <p:nvPr/>
        </p:nvSpPr>
        <p:spPr>
          <a:xfrm>
            <a:off x="3465443" y="3622817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7" name="Connector 158"/>
          <p:cNvCxnSpPr/>
          <p:nvPr/>
        </p:nvCxnSpPr>
        <p:spPr>
          <a:xfrm>
            <a:off x="4647136" y="2519568"/>
            <a:ext cx="41705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159"/>
          <p:cNvSpPr/>
          <p:nvPr/>
        </p:nvSpPr>
        <p:spPr>
          <a:xfrm>
            <a:off x="4796974" y="2427509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9" name="Connector 189"/>
          <p:cNvCxnSpPr/>
          <p:nvPr/>
        </p:nvCxnSpPr>
        <p:spPr>
          <a:xfrm>
            <a:off x="7379970" y="3424292"/>
            <a:ext cx="0" cy="16921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190"/>
          <p:cNvSpPr/>
          <p:nvPr/>
        </p:nvSpPr>
        <p:spPr>
          <a:xfrm>
            <a:off x="7412712" y="3423957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33" name="Oval 196"/>
          <p:cNvSpPr/>
          <p:nvPr/>
        </p:nvSpPr>
        <p:spPr>
          <a:xfrm>
            <a:off x="9089291" y="36020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4" name="Connector 189"/>
          <p:cNvCxnSpPr/>
          <p:nvPr/>
        </p:nvCxnSpPr>
        <p:spPr>
          <a:xfrm>
            <a:off x="10982024" y="3430701"/>
            <a:ext cx="0" cy="156047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190"/>
          <p:cNvSpPr/>
          <p:nvPr/>
        </p:nvSpPr>
        <p:spPr>
          <a:xfrm>
            <a:off x="11014766" y="3408484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6" name="Connector 189"/>
          <p:cNvCxnSpPr/>
          <p:nvPr/>
        </p:nvCxnSpPr>
        <p:spPr>
          <a:xfrm>
            <a:off x="7986148" y="298900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190"/>
          <p:cNvSpPr/>
          <p:nvPr/>
        </p:nvSpPr>
        <p:spPr>
          <a:xfrm>
            <a:off x="8092440" y="29112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8" name="Connector 195"/>
          <p:cNvCxnSpPr/>
          <p:nvPr/>
        </p:nvCxnSpPr>
        <p:spPr>
          <a:xfrm flipH="1">
            <a:off x="10086022" y="3004943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196"/>
          <p:cNvSpPr/>
          <p:nvPr/>
        </p:nvSpPr>
        <p:spPr>
          <a:xfrm>
            <a:off x="10163555" y="281842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0" name="Oval 196"/>
          <p:cNvSpPr/>
          <p:nvPr/>
        </p:nvSpPr>
        <p:spPr>
          <a:xfrm>
            <a:off x="8887483" y="36020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2313776" y="4381265"/>
            <a:ext cx="1009528" cy="100027"/>
            <a:chOff x="600198" y="4114184"/>
            <a:chExt cx="1009528" cy="100027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1276762" y="4381265"/>
            <a:ext cx="1009528" cy="100027"/>
            <a:chOff x="2473452" y="4689663"/>
            <a:chExt cx="1009528" cy="100027"/>
          </a:xfrm>
        </p:grpSpPr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7655936" y="4381265"/>
            <a:ext cx="1009528" cy="100027"/>
            <a:chOff x="600198" y="4114184"/>
            <a:chExt cx="1009528" cy="100027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6618922" y="4381265"/>
            <a:ext cx="1009528" cy="100027"/>
            <a:chOff x="2473452" y="4689663"/>
            <a:chExt cx="1009528" cy="100027"/>
          </a:xfrm>
        </p:grpSpPr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43D3EF8-B471-48F1-9D45-16F7D655739A}"/>
              </a:ext>
            </a:extLst>
          </p:cNvPr>
          <p:cNvSpPr txBox="1"/>
          <p:nvPr/>
        </p:nvSpPr>
        <p:spPr>
          <a:xfrm>
            <a:off x="4855663" y="649001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C1248-6E5A-4524-B4E0-6696C64CA357}"/>
              </a:ext>
            </a:extLst>
          </p:cNvPr>
          <p:cNvSpPr txBox="1"/>
          <p:nvPr/>
        </p:nvSpPr>
        <p:spPr>
          <a:xfrm>
            <a:off x="10103519" y="6492491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69AFFBD-B15E-4345-BC17-2CBDA6C5882F}"/>
              </a:ext>
            </a:extLst>
          </p:cNvPr>
          <p:cNvGrpSpPr/>
          <p:nvPr/>
        </p:nvGrpSpPr>
        <p:grpSpPr>
          <a:xfrm>
            <a:off x="265124" y="3729542"/>
            <a:ext cx="822008" cy="868736"/>
            <a:chOff x="269738" y="3554621"/>
            <a:chExt cx="822008" cy="868736"/>
          </a:xfrm>
        </p:grpSpPr>
        <p:sp>
          <p:nvSpPr>
            <p:cNvPr id="125" name="KV Cache Manager">
              <a:extLst>
                <a:ext uri="{FF2B5EF4-FFF2-40B4-BE49-F238E27FC236}">
                  <a16:creationId xmlns:a16="http://schemas.microsoft.com/office/drawing/2014/main" id="{6C761331-2BCA-4B25-8B1F-1540F95D53B4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KV Cache Manager">
              <a:extLst>
                <a:ext uri="{FF2B5EF4-FFF2-40B4-BE49-F238E27FC236}">
                  <a16:creationId xmlns:a16="http://schemas.microsoft.com/office/drawing/2014/main" id="{50A34A3F-254D-4A8E-AFBB-2D33544166EF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9937169-9026-48D9-88B9-68810CA154C4}"/>
                </a:ext>
              </a:extLst>
            </p:cNvPr>
            <p:cNvSpPr/>
            <p:nvPr/>
          </p:nvSpPr>
          <p:spPr>
            <a:xfrm>
              <a:off x="269738" y="3554621"/>
              <a:ext cx="822008" cy="86873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KV Cache Manager">
              <a:extLst>
                <a:ext uri="{FF2B5EF4-FFF2-40B4-BE49-F238E27FC236}">
                  <a16:creationId xmlns:a16="http://schemas.microsoft.com/office/drawing/2014/main" id="{A05D98C4-4FFA-431C-A8CA-46BD263987A4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9930631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20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509777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3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8858120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33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34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9507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</a:rPr>
              <a:t>캐시 관리</a:t>
            </a:r>
          </a:p>
        </p:txBody>
      </p:sp>
    </p:spTree>
    <p:extLst>
      <p:ext uri="{BB962C8B-B14F-4D97-AF65-F5344CB8AC3E}">
        <p14:creationId xmlns:p14="http://schemas.microsoft.com/office/powerpoint/2010/main" val="59490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처리량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대비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, SLO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를 만족하는 조건에서의 처리량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(Max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값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 증가율 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vLLM SOSP 2023 (arxiv.org/abs/2309.06180) · Sarathi-Serve OSDI 2024 (arxiv.org/abs/2403.02310) · Orca OSDI 2022 (usenix.org/conference/osdi22/presentation/yu)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2625832"/>
          <a:ext cx="11457432" cy="1963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806"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9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53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LMCache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에서 컨텍스트가 매우 길고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(10K~20K 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토큰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), 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캐시 적중률이 극단적으로 높은 경우 최대 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14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 처리량 개선</a:t>
                      </a:r>
                      <a:endParaRPr lang="en-US" altLang="ko-KR" sz="950" b="0" baseline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논문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538"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R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&lt;</a:t>
                      </a:r>
                      <a:r>
                        <a:rPr 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실제 기업 서비스 </a:t>
                      </a:r>
                      <a:r>
                        <a:rPr lang="ko-KR" altLang="en-US" sz="95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트레이스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기반 평가에서 </a:t>
                      </a:r>
                      <a:r>
                        <a:rPr lang="en-US" altLang="ko-KR" sz="95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LMCache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는 높은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QPS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구간 기준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TTFT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를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3.7~6.8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 단축시켰으며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이를 동일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TTFT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제약의 처리량으로 환산하면 통상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4~6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 수준의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QPS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확장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지원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논문 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3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 ≤ R &lt;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5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</a:t>
                      </a:r>
                      <a:r>
                        <a:rPr 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“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 개선 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 이상 되어야 제품화 논의 가능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“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 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단일 노드 로컬 </a:t>
                      </a:r>
                      <a:r>
                        <a:rPr lang="en-US" altLang="ko-KR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CPU 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오프로딩의 다중 턴 질의응답</a:t>
                      </a:r>
                      <a:r>
                        <a:rPr lang="en-US" altLang="ko-KR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(10K~20K 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토큰</a:t>
                      </a:r>
                      <a:r>
                        <a:rPr lang="en-US" altLang="ko-KR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) 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워크로드에서 개선 하한선</a:t>
                      </a:r>
                      <a:r>
                        <a:rPr lang="ko-KR" altLang="en-US" sz="900" b="0" kern="120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2.3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배</a:t>
                      </a:r>
                      <a:r>
                        <a:rPr lang="en-US" altLang="ko-KR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확보 </a:t>
                      </a:r>
                      <a:endParaRPr lang="en-US" altLang="ko-KR" sz="900" b="0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Stakeholder</a:t>
                      </a:r>
                      <a:r>
                        <a:rPr lang="en-US" altLang="ko-KR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9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요구사항</a:t>
                      </a:r>
                      <a:endParaRPr lang="en-US" altLang="ko-KR" sz="950" b="0" baseline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LMCache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논문 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ubtitle">
            <a:extLst>
              <a:ext uri="{FF2B5EF4-FFF2-40B4-BE49-F238E27FC236}">
                <a16:creationId xmlns:a16="http://schemas.microsoft.com/office/drawing/2014/main" id="{83FC6577-760C-41A6-A45B-D5727304942A}"/>
              </a:ext>
            </a:extLst>
          </p:cNvPr>
          <p:cNvSpPr txBox="1"/>
          <p:nvPr/>
        </p:nvSpPr>
        <p:spPr>
          <a:xfrm>
            <a:off x="365760" y="1100189"/>
            <a:ext cx="11430000" cy="120494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R = Max SLO goodput ÷ Baseline 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sz="1100" b="0" dirty="0">
                <a:latin typeface="맑은 고딕"/>
                <a:ea typeface="맑은 고딕"/>
              </a:rPr>
              <a:t>SLO </a:t>
            </a:r>
            <a:r>
              <a:rPr lang="en-US" sz="1100" b="0" dirty="0">
                <a:latin typeface="맑은 고딕"/>
                <a:ea typeface="맑은 고딕"/>
              </a:rPr>
              <a:t>(Service Level Objective):</a:t>
            </a:r>
            <a:r>
              <a:rPr sz="1100" b="0" dirty="0">
                <a:latin typeface="맑은 고딕"/>
                <a:ea typeface="맑은 고딕"/>
              </a:rPr>
              <a:t> TTFT P99 ≤ 2 s, TPOT P99 ≤ 50 </a:t>
            </a:r>
            <a:r>
              <a:rPr sz="1100" b="0" dirty="0" err="1">
                <a:latin typeface="맑은 고딕"/>
                <a:ea typeface="맑은 고딕"/>
              </a:rPr>
              <a:t>ms</a:t>
            </a:r>
            <a:r>
              <a:rPr lang="en-US" sz="1100" b="0" dirty="0">
                <a:latin typeface="맑은 고딕"/>
                <a:ea typeface="맑은 고딕"/>
              </a:rPr>
              <a:t> (</a:t>
            </a:r>
            <a:r>
              <a:rPr lang="en-US" altLang="ko-KR" sz="800" b="0" dirty="0" err="1">
                <a:latin typeface="맑은 고딕"/>
                <a:ea typeface="맑은 고딕"/>
              </a:rPr>
              <a:t>MLPerf</a:t>
            </a:r>
            <a:r>
              <a:rPr lang="en-US" altLang="ko-KR" sz="800" b="0" dirty="0">
                <a:latin typeface="맑은 고딕"/>
                <a:ea typeface="맑은 고딕"/>
              </a:rPr>
              <a:t> Inference </a:t>
            </a:r>
            <a:r>
              <a:rPr lang="ko-KR" altLang="en-US" sz="800" b="0" dirty="0">
                <a:latin typeface="맑은 고딕"/>
                <a:ea typeface="맑은 고딕"/>
              </a:rPr>
              <a:t>출처</a:t>
            </a:r>
            <a:r>
              <a:rPr lang="en-US" altLang="ko-KR" sz="800" b="0" dirty="0">
                <a:latin typeface="맑은 고딕"/>
                <a:ea typeface="맑은 고딕"/>
              </a:rPr>
              <a:t>)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SLO goodput: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SLO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를 만족하는 요청의 처리량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처리된 요청 수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경과 시간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Max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의 의미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동시 요청 수가 증가할 수록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SLO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를 만족하는 처리량이 증가하다가 떨어질 수 있기 때문에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가장 높은 성능의 조건을 비교하기 위함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9" name="실행 단추: 뒤로 또는 이전 8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25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자원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(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HBM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효율성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대비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사용량 감소율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[1]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ShadowKV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ICML 2025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proceedings.mlr.press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/v267/sun25b.html)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DirectKV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OSDI 2026 (usenix.org/conference/osdi26/presentation/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luo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HeadInfer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(arxiv.org/abs/2502.12574)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901190"/>
          <a:ext cx="11457432" cy="1894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2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9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 ≥ 40%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배치·오프로딩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계열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시스템이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보고한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전체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GPU </a:t>
                      </a:r>
                      <a:r>
                        <a:rPr sz="950" b="0" kern="120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메모리</a:t>
                      </a:r>
                      <a:r>
                        <a:rPr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절</a:t>
                      </a:r>
                      <a:r>
                        <a:rPr lang="ko-KR" altLang="en-US"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감률</a:t>
                      </a:r>
                      <a:r>
                        <a:rPr lang="en-US" altLang="ko-KR"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(40~80%)</a:t>
                      </a:r>
                      <a:endParaRPr lang="en-US" sz="950" b="0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GPU HBM </a:t>
                      </a:r>
                      <a:r>
                        <a:rPr lang="ko-KR" altLang="en-US"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오프로딩 연구 문헌 </a:t>
                      </a:r>
                      <a:r>
                        <a:rPr lang="en-US" altLang="ko-KR" sz="950" b="0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[1] </a:t>
                      </a:r>
                      <a:endParaRPr lang="ko-KR" altLang="en-US" sz="950" b="0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% ≤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40%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  <a:endParaRPr lang="en-US"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정책 선택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20%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HBM 20%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감소 시 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Throughput (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처리량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): +25% ~ 40%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향상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동시 처리 </a:t>
                      </a:r>
                      <a:r>
                        <a:rPr lang="ko-KR" altLang="en-US" sz="95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수용량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확대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Queueing Latency (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대기 지연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): -30%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이상 단축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메모리 병목 해소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endParaRPr lang="en-US" altLang="ko-KR" sz="95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이론적 계산 수치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l"/>
          <p:cNvSpPr txBox="1"/>
          <p:nvPr/>
        </p:nvSpPr>
        <p:spPr>
          <a:xfrm>
            <a:off x="365759" y="3980878"/>
            <a:ext cx="11091671" cy="5816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endParaRPr lang="en-US" altLang="ko-KR" sz="10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HBM에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올라와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있는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데이터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의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크기</a:t>
            </a:r>
            <a:endParaRPr lang="en-US" sz="9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예: 100초 중 40초 100 GiB, 60초 50 GiB → 70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GiB.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감소율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67%면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HBM을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1/3만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쓴다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48BBF660-AA47-4A57-BCE4-0896E47FBB12}"/>
              </a:ext>
            </a:extLst>
          </p:cNvPr>
          <p:cNvSpPr txBox="1"/>
          <p:nvPr/>
        </p:nvSpPr>
        <p:spPr>
          <a:xfrm>
            <a:off x="365760" y="1079932"/>
            <a:ext cx="11430000" cy="6201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(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△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사용률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) ÷ Baseline 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사용률</a:t>
            </a:r>
            <a:endParaRPr lang="en-US" altLang="ko-KR" sz="11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사용률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HBM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에 위치하는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Data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크기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전체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Data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크기 </a:t>
            </a:r>
            <a:endParaRPr lang="en-US" altLang="ko-KR" sz="11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2" name="l">
            <a:extLst>
              <a:ext uri="{FF2B5EF4-FFF2-40B4-BE49-F238E27FC236}">
                <a16:creationId xmlns:a16="http://schemas.microsoft.com/office/drawing/2014/main" id="{C7317DA6-7038-4C74-866A-99DE76D41639}"/>
              </a:ext>
            </a:extLst>
          </p:cNvPr>
          <p:cNvSpPr txBox="1"/>
          <p:nvPr/>
        </p:nvSpPr>
        <p:spPr>
          <a:xfrm>
            <a:off x="365759" y="4819606"/>
            <a:ext cx="11091671" cy="12895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전체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사용률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= HBM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사용량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/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전체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Data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  <a:ea typeface="맑은 고딕"/>
              </a:rPr>
              <a:t>크기</a:t>
            </a:r>
            <a:endParaRPr lang="en-US" altLang="ko-KR" sz="10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전체 크기 중 </a:t>
            </a:r>
            <a: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  <a:t>HBM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에 배치된 크기 </a:t>
            </a:r>
            <a:endParaRPr lang="en-US" altLang="ko-KR" sz="9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  <a:t>  -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KV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120GB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중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HBM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에 배치된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KV 60GB: 50%</a:t>
            </a:r>
            <a:endParaRPr lang="en-US" sz="9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</a:t>
            </a:r>
            <a:r>
              <a:rPr 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전체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 HBM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크기 내 </a:t>
            </a:r>
            <a:r>
              <a:rPr 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HBM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 점유율과 다른 점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요청이 많아지면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HBM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 크기 내 </a:t>
            </a:r>
            <a:r>
              <a:rPr lang="ko-KR" altLang="en-US" sz="900" dirty="0" err="1">
                <a:solidFill>
                  <a:srgbClr val="000000"/>
                </a:solidFill>
                <a:latin typeface="맑은 고딕"/>
                <a:ea typeface="맑은 고딕"/>
              </a:rPr>
              <a:t>점유율로만으로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 데이터 이동 효율성을 평가할 수 없음</a:t>
            </a:r>
            <a:endParaRPr lang="en-US" altLang="ko-KR" sz="9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  -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: HBM 80GB, KV 60GB, HBM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점유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40GB -&gt; KV 120GB, HBM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</a:rPr>
              <a:t>점유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64GB </a:t>
            </a:r>
          </a:p>
          <a:p>
            <a:pPr algn="l">
              <a:spcAft>
                <a:spcPts val="250"/>
              </a:spcAft>
            </a:pP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</a:rPr>
              <a:t>       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HBM 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크기 내 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HBM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점유율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: 50% (40/80) -&gt; 80% (64/80)</a:t>
            </a:r>
          </a:p>
          <a:p>
            <a:pPr algn="l">
              <a:spcAft>
                <a:spcPts val="250"/>
              </a:spcAft>
            </a:pPr>
            <a:r>
              <a:rPr lang="en-US" altLang="ko-KR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        </a:t>
            </a:r>
            <a:r>
              <a:rPr lang="ko-KR" altLang="en-US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전체 </a:t>
            </a:r>
            <a:r>
              <a:rPr lang="en-US" altLang="ko-KR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Data</a:t>
            </a:r>
            <a:r>
              <a:rPr lang="ko-KR" altLang="en-US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의 </a:t>
            </a:r>
            <a:r>
              <a:rPr lang="en-US" altLang="ko-KR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HBM </a:t>
            </a:r>
            <a:r>
              <a:rPr lang="ko-KR" altLang="en-US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사용률</a:t>
            </a:r>
            <a:r>
              <a:rPr lang="en-US" altLang="ko-KR" sz="900" b="1" dirty="0">
                <a:solidFill>
                  <a:srgbClr val="0000FF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: 66% (60/80) -&gt; 53% (64/120)</a:t>
            </a:r>
            <a:endParaRPr lang="en-US" altLang="ko-KR" sz="900" b="1" dirty="0">
              <a:solidFill>
                <a:srgbClr val="0000FF"/>
              </a:solidFill>
              <a:latin typeface="맑은 고딕"/>
              <a:ea typeface="맑은 고딕"/>
            </a:endParaRPr>
          </a:p>
        </p:txBody>
      </p:sp>
      <p:sp>
        <p:nvSpPr>
          <p:cNvPr id="14" name="실행 단추: 뒤로 또는 이전 13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35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지연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시간 </a:t>
            </a:r>
            <a:r>
              <a:rPr lang="en-US" altLang="ko-KR" sz="2200" b="1" dirty="0">
                <a:solidFill>
                  <a:srgbClr val="2F5597"/>
                </a:solidFill>
                <a:latin typeface="맑은 고딕"/>
                <a:ea typeface="맑은 고딕"/>
              </a:rPr>
              <a:t>-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 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대비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TTFT, TPOT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Tail Latency (P99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감소율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단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, SLO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를 넘으면 ★로 강등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QA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문서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§5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MLPerf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Inference v5.1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요약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marktechpost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, it-online) [2차]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Brysbaert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2019 · DP3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시뮬레이션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seed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분산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· tools/unified_stars.py</a:t>
            </a:r>
          </a:p>
        </p:txBody>
      </p:sp>
      <p:sp>
        <p:nvSpPr>
          <p:cNvPr id="7" name="r_formula"/>
          <p:cNvSpPr txBox="1"/>
          <p:nvPr/>
        </p:nvSpPr>
        <p:spPr>
          <a:xfrm>
            <a:off x="365760" y="1143000"/>
            <a:ext cx="7498079" cy="22775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altLang="ko-KR" sz="10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r = √[ (Baseline ÷ TTFT P99) × (Baseline ÷ TPOT P99) ]</a:t>
            </a:r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365759" y="1463040"/>
          <a:ext cx="11457432" cy="1822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858">
                  <a:extLst>
                    <a:ext uri="{9D8B030D-6E8A-4147-A177-3AD203B41FA5}">
                      <a16:colId xmlns:a16="http://schemas.microsoft.com/office/drawing/2014/main" val="180638827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그리고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SLO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Context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벤치마크 기준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E2E Latency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50~75%</a:t>
                      </a:r>
                      <a:r>
                        <a:rPr lang="en-US" altLang="ko-KR" sz="90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감소분의 하한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LMLache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2.0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그리고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SLO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충족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1.3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≤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r &lt; 1.5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그리고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SLO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충족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사용자 체감하는 응답시간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개선률이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30% 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Anthropic (Claude Haiku 5.5 Release / Industry Benchmark)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l"/>
          <p:cNvSpPr txBox="1"/>
          <p:nvPr/>
        </p:nvSpPr>
        <p:spPr>
          <a:xfrm>
            <a:off x="365760" y="3562541"/>
            <a:ext cx="8098790" cy="55861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P99</a:t>
            </a:r>
            <a:r>
              <a:rPr lang="ko-KR" alt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의 의미 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>
              <a:spcAft>
                <a:spcPts val="250"/>
              </a:spcAft>
            </a:pP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•</a:t>
            </a:r>
            <a:r>
              <a:rPr lang="en-US" sz="85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850" dirty="0">
                <a:solidFill>
                  <a:srgbClr val="000000"/>
                </a:solidFill>
                <a:latin typeface="맑은 고딕"/>
                <a:ea typeface="맑은 고딕"/>
              </a:rPr>
              <a:t>평균 지연시간이 은폐하는 상위 </a:t>
            </a:r>
            <a:r>
              <a:rPr lang="en-US" altLang="ko-KR" sz="850" dirty="0">
                <a:solidFill>
                  <a:srgbClr val="000000"/>
                </a:solidFill>
                <a:latin typeface="맑은 고딕"/>
                <a:ea typeface="맑은 고딕"/>
              </a:rPr>
              <a:t>1%</a:t>
            </a:r>
            <a:r>
              <a:rPr lang="ko-KR" altLang="en-US" sz="850" dirty="0">
                <a:solidFill>
                  <a:srgbClr val="000000"/>
                </a:solidFill>
                <a:latin typeface="맑은 고딕"/>
                <a:ea typeface="맑은 고딕"/>
              </a:rPr>
              <a:t>의 극단적 지연을 포착하여</a:t>
            </a:r>
            <a:r>
              <a:rPr lang="en-US" altLang="ko-KR" sz="8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맑은 고딕"/>
                <a:ea typeface="맑은 고딕"/>
              </a:rPr>
              <a:t>대규모 동시 요청 환경에서 발생하는 </a:t>
            </a:r>
            <a:r>
              <a:rPr lang="en-US" altLang="ko-KR" sz="850" b="1" dirty="0">
                <a:solidFill>
                  <a:srgbClr val="000000"/>
                </a:solidFill>
                <a:latin typeface="맑은 고딕"/>
                <a:ea typeface="맑은 고딕"/>
              </a:rPr>
              <a:t>Tail Latency </a:t>
            </a:r>
            <a:r>
              <a:rPr lang="ko-KR" altLang="en-US" sz="850" b="1" dirty="0">
                <a:solidFill>
                  <a:srgbClr val="000000"/>
                </a:solidFill>
                <a:latin typeface="맑은 고딕"/>
                <a:ea typeface="맑은 고딕"/>
              </a:rPr>
              <a:t>병목 현상과 서비스 멈춤</a:t>
            </a:r>
            <a:r>
              <a:rPr lang="en-US" altLang="ko-KR" sz="850" b="1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850" b="1" dirty="0">
                <a:solidFill>
                  <a:srgbClr val="000000"/>
                </a:solidFill>
                <a:latin typeface="맑은 고딕"/>
                <a:ea typeface="맑은 고딕"/>
              </a:rPr>
              <a:t>끊김을 명확히 검증</a:t>
            </a:r>
            <a:endParaRPr lang="en-US" altLang="ko-KR" sz="85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lang="en-US" altLang="ko-KR" sz="850" b="1" dirty="0">
                <a:solidFill>
                  <a:srgbClr val="0000FF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850" b="1" dirty="0">
                <a:solidFill>
                  <a:srgbClr val="0000FF"/>
                </a:solidFill>
                <a:latin typeface="맑은 고딕"/>
                <a:ea typeface="맑은 고딕"/>
              </a:rPr>
              <a:t>처리량</a:t>
            </a:r>
            <a:r>
              <a:rPr lang="en-US" altLang="ko-KR" sz="850" b="1" dirty="0">
                <a:solidFill>
                  <a:srgbClr val="0000FF"/>
                </a:solidFill>
                <a:latin typeface="맑은 고딕"/>
                <a:ea typeface="맑은 고딕"/>
              </a:rPr>
              <a:t> </a:t>
            </a:r>
            <a:r>
              <a:rPr lang="ko-KR" altLang="en-US" sz="850" b="1" dirty="0">
                <a:solidFill>
                  <a:srgbClr val="0000FF"/>
                </a:solidFill>
                <a:latin typeface="맑은 고딕"/>
                <a:ea typeface="맑은 고딕"/>
              </a:rPr>
              <a:t>증대만으로는 측정할 수 없는 실제 사용자의 반응 속도 및 응답 품질 안전성 평가 필요 </a:t>
            </a:r>
            <a:endParaRPr lang="en-US" altLang="ko-KR" sz="850" b="1" dirty="0">
              <a:solidFill>
                <a:srgbClr val="0000FF"/>
              </a:solidFill>
              <a:latin typeface="맑은 고딕"/>
              <a:ea typeface="맑은 고딕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l="3011" r="635" b="11226"/>
          <a:stretch/>
        </p:blipFill>
        <p:spPr>
          <a:xfrm>
            <a:off x="457745" y="4217543"/>
            <a:ext cx="3870488" cy="1756171"/>
          </a:xfrm>
          <a:prstGeom prst="rect">
            <a:avLst/>
          </a:prstGeom>
        </p:spPr>
      </p:pic>
      <p:sp>
        <p:nvSpPr>
          <p:cNvPr id="15" name="실행 단추: 뒤로 또는 이전 14">
            <a:hlinkClick r:id="rId3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53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SLO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TTFT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첫 토큰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), TPOT (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출력 토큰 당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QA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문서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§5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MLPerf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Inference v5.1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요약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marktechpost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, it-online) [2차]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Brysbaert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2019 · DP3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시뮬레이션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seed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분산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· tools/unified_stars.py</a:t>
            </a: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76174" y="1219176"/>
          <a:ext cx="11430000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663">
                  <a:extLst>
                    <a:ext uri="{9D8B030D-6E8A-4147-A177-3AD203B41FA5}">
                      <a16:colId xmlns:a16="http://schemas.microsoft.com/office/drawing/2014/main" val="3217912404"/>
                    </a:ext>
                  </a:extLst>
                </a:gridCol>
                <a:gridCol w="5206244">
                  <a:extLst>
                    <a:ext uri="{9D8B030D-6E8A-4147-A177-3AD203B41FA5}">
                      <a16:colId xmlns:a16="http://schemas.microsoft.com/office/drawing/2014/main" val="120462107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Metric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절대 </a:t>
                      </a:r>
                      <a:r>
                        <a:rPr lang="en-US" altLang="ko-KR" sz="900" b="1" dirty="0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SLO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첫 토큰 생성까지 걸리는 시간으로 사용자에게 첫 응답하는 시간을 의미 </a:t>
                      </a:r>
                      <a:endParaRPr lang="en-US" altLang="ko-KR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8K prefill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이론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0.32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초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(H100×8, MFU 0.45)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큐잉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여유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표준 시나리오와 같은 자릿수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 토큰당 생성 시간으로 총 지연시간에 큰 영향을 미침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≤ 50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ms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= 20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는 성인 묵독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5~6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3.5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interactive 40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와 표준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200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사이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00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시스템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확장성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시스템 및 자원의 증가분 대비 처리량의 증가분 비율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cvw.cac.cornell.edu/parallel/efficiency/scaling · arxiv.org/abs/1704.03329 · arxiv.org/abs/2409.16053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2234938"/>
          <a:ext cx="11457432" cy="2329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0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5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10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10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≥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N배로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늘릴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때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(16노드에서 14.4노드분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논문에서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'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효율적'이라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보고할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때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흔히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쓰는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90%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추론 서빙 시나리오에서는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90%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이상</a:t>
                      </a:r>
                      <a:endParaRPr lang="en-US" altLang="ko-KR" sz="100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연구 문헌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- Cornell CVW ·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arXiv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1704.03329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Inference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결과</a:t>
                      </a:r>
                      <a:endParaRPr lang="en-US" altLang="ko-KR" sz="1000" b="0" dirty="0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N_max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 ~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N_max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확장은 되지만 조율 계층이 병목 조짐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. 70%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하한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= 10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대 증설에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7</a:t>
                      </a:r>
                      <a:r>
                        <a:rPr lang="ko-KR" altLang="en-US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대분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효과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(3</a:t>
                      </a:r>
                      <a:r>
                        <a:rPr lang="ko-KR" altLang="en-US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대분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낭비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).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매우 큰 규모에서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70~80%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도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'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우수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'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로 보고한 사례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연구 문헌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-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arXiv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2409.16053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AthenaK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(65,536 GPU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에서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80%)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ubtitle">
            <a:extLst>
              <a:ext uri="{FF2B5EF4-FFF2-40B4-BE49-F238E27FC236}">
                <a16:creationId xmlns:a16="http://schemas.microsoft.com/office/drawing/2014/main" id="{32653FD5-C1D3-455C-A719-4E31D24F5B29}"/>
              </a:ext>
            </a:extLst>
          </p:cNvPr>
          <p:cNvSpPr txBox="1"/>
          <p:nvPr/>
        </p:nvSpPr>
        <p:spPr>
          <a:xfrm>
            <a:off x="365760" y="1079932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SE(N) = Goodput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증가 배율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÷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N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 증가 배율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N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은 시스템 노드 수 또는 자원 수</a:t>
            </a:r>
            <a:endParaRPr lang="en-US" altLang="ko-KR" sz="11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Rack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스케일 한도 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64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용이성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토큰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비용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AND 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M/M(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개발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공수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188720"/>
          <a:ext cx="11457432" cy="1353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strike="sngStrike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</a:t>
                      </a:r>
                      <a:r>
                        <a:rPr sz="950" b="1" strike="sngStrike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50" b="1" strike="sngStrike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strike="sngStrike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  <a:r>
                        <a:rPr sz="950" b="1" strike="sngStrike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($/</a:t>
                      </a:r>
                      <a:r>
                        <a:rPr sz="950" b="1" strike="sngStrike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50" b="1" strike="sngStrike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, mid tier)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②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(M/M)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trike="sng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$0.5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①과 ②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★★★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trike="sng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①과 ②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★★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하나라도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★★★ 밖)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trike="sng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$2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또는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②가 ★★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밖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ormula"/>
          <p:cNvSpPr/>
          <p:nvPr/>
        </p:nvSpPr>
        <p:spPr>
          <a:xfrm>
            <a:off x="365760" y="2606039"/>
            <a:ext cx="11457432" cy="1353311"/>
          </a:xfrm>
          <a:prstGeom prst="roundRect">
            <a:avLst/>
          </a:prstGeom>
          <a:solidFill>
            <a:srgbClr val="EAF0FA"/>
          </a:solidFill>
          <a:ln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 dirty="0" err="1">
                <a:solidFill>
                  <a:srgbClr val="2F5597"/>
                </a:solidFill>
                <a:latin typeface="맑은 고딕"/>
              </a:rPr>
              <a:t>토큰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</a:rPr>
              <a:t>비용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($) = [ </a:t>
            </a:r>
            <a:r>
              <a:rPr sz="1000" b="1" dirty="0">
                <a:solidFill>
                  <a:srgbClr val="FF0000"/>
                </a:solidFill>
                <a:latin typeface="맑은 고딕"/>
              </a:rPr>
              <a:t>C̄</a:t>
            </a:r>
            <a:r>
              <a:rPr lang="en-US" sz="1000" b="1" dirty="0">
                <a:solidFill>
                  <a:srgbClr val="FF0000"/>
                </a:solidFill>
                <a:latin typeface="맑은 고딕"/>
              </a:rPr>
              <a:t>(Context </a:t>
            </a:r>
            <a:r>
              <a:rPr lang="ko-KR" altLang="en-US" sz="1000" b="1" dirty="0">
                <a:solidFill>
                  <a:srgbClr val="FF0000"/>
                </a:solidFill>
                <a:latin typeface="맑은 고딕"/>
              </a:rPr>
              <a:t>크기</a:t>
            </a:r>
            <a:r>
              <a:rPr lang="en-US" altLang="ko-KR" sz="1000" b="1" dirty="0">
                <a:solidFill>
                  <a:srgbClr val="FF0000"/>
                </a:solidFill>
                <a:latin typeface="맑은 고딕"/>
              </a:rPr>
              <a:t>)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 × 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Input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비용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(2$)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+ </a:t>
            </a:r>
            <a:r>
              <a:rPr lang="en-US" sz="1000" b="1" dirty="0">
                <a:solidFill>
                  <a:srgbClr val="FF0000"/>
                </a:solidFill>
                <a:latin typeface="맑은 고딕"/>
              </a:rPr>
              <a:t>N(turn</a:t>
            </a:r>
            <a:r>
              <a:rPr lang="ko-KR" altLang="en-US" sz="1000" b="1" dirty="0">
                <a:solidFill>
                  <a:srgbClr val="FF0000"/>
                </a:solidFill>
                <a:latin typeface="맑은 고딕"/>
              </a:rPr>
              <a:t>수</a:t>
            </a:r>
            <a:r>
              <a:rPr lang="en-US" altLang="ko-KR" sz="1000" b="1" dirty="0">
                <a:solidFill>
                  <a:srgbClr val="FF0000"/>
                </a:solidFill>
                <a:latin typeface="맑은 고딕"/>
              </a:rPr>
              <a:t>)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 × </a:t>
            </a:r>
            <a:r>
              <a:rPr sz="1000" b="1" dirty="0">
                <a:solidFill>
                  <a:srgbClr val="FF0000"/>
                </a:solidFill>
                <a:latin typeface="맑은 고딕"/>
              </a:rPr>
              <a:t>C̄ 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× 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Cache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R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비용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(0.1$)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+ </a:t>
            </a:r>
            <a:r>
              <a:rPr sz="1000" b="1" dirty="0" err="1">
                <a:solidFill>
                  <a:srgbClr val="2F5597"/>
                </a:solidFill>
                <a:latin typeface="맑은 고딕"/>
              </a:rPr>
              <a:t>T_out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(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토큰 생성 수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)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× 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Output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비용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(10$)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]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 / 1M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토큰</a:t>
            </a:r>
            <a:r>
              <a:rPr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lang="en-US" sz="1000" b="1" dirty="0">
                <a:solidFill>
                  <a:srgbClr val="2F5597"/>
                </a:solidFill>
                <a:latin typeface="맑은 고딕"/>
              </a:rPr>
              <a:t>     (Claude Code Sonnet 5.5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기준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) </a:t>
            </a:r>
          </a:p>
          <a:p>
            <a:pPr algn="l"/>
            <a:endParaRPr sz="1000" b="1" dirty="0">
              <a:solidFill>
                <a:srgbClr val="2F5597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2F5597"/>
                </a:solidFill>
                <a:latin typeface="맑은 고딕"/>
              </a:rPr>
              <a:t>C̄ 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(Context 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크기</a:t>
            </a:r>
            <a:r>
              <a:rPr lang="en-US" altLang="ko-KR" sz="1000" b="0" dirty="0">
                <a:solidFill>
                  <a:srgbClr val="2F5597"/>
                </a:solidFill>
                <a:latin typeface="맑은 고딕"/>
              </a:rPr>
              <a:t>) 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= C0</a:t>
            </a:r>
            <a:r>
              <a:rPr lang="en-US" sz="1000" dirty="0">
                <a:solidFill>
                  <a:srgbClr val="2F5597"/>
                </a:solidFill>
                <a:latin typeface="맑은 고딕"/>
              </a:rPr>
              <a:t>(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고정 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context 25k token)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+ </a:t>
            </a:r>
            <a:r>
              <a:rPr sz="1000" dirty="0">
                <a:solidFill>
                  <a:srgbClr val="2F5597"/>
                </a:solidFill>
                <a:latin typeface="맑은 고딕"/>
              </a:rPr>
              <a:t>S(읽</a:t>
            </a:r>
            <a:r>
              <a:rPr lang="ko-KR" altLang="en-US" sz="1000" dirty="0">
                <a:solidFill>
                  <a:srgbClr val="2F5597"/>
                </a:solidFill>
                <a:latin typeface="맑은 고딕"/>
              </a:rPr>
              <a:t>어야 하는 </a:t>
            </a:r>
            <a:r>
              <a:rPr sz="1000" dirty="0">
                <a:solidFill>
                  <a:srgbClr val="2F5597"/>
                </a:solidFill>
                <a:latin typeface="맑은 고딕"/>
              </a:rPr>
              <a:t>module </a:t>
            </a:r>
            <a:r>
              <a:rPr sz="1000" dirty="0" err="1">
                <a:solidFill>
                  <a:srgbClr val="2F5597"/>
                </a:solidFill>
                <a:latin typeface="맑은 고딕"/>
              </a:rPr>
              <a:t>크기</a:t>
            </a:r>
            <a:r>
              <a:rPr sz="1000" dirty="0">
                <a:solidFill>
                  <a:srgbClr val="2F5597"/>
                </a:solidFill>
                <a:latin typeface="맑은 고딕"/>
              </a:rPr>
              <a:t>)     </a:t>
            </a:r>
            <a:endParaRPr lang="en-US" sz="1000" dirty="0">
              <a:solidFill>
                <a:srgbClr val="2F5597"/>
              </a:solidFill>
              <a:latin typeface="맑은 고딕"/>
            </a:endParaRPr>
          </a:p>
          <a:p>
            <a:pPr algn="l"/>
            <a:r>
              <a:rPr sz="1000" b="0" dirty="0">
                <a:solidFill>
                  <a:srgbClr val="2F5597"/>
                </a:solidFill>
                <a:latin typeface="맑은 고딕"/>
              </a:rPr>
              <a:t>N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(turn 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수</a:t>
            </a:r>
            <a:r>
              <a:rPr lang="en-US" altLang="ko-KR" sz="1000" b="0" dirty="0">
                <a:solidFill>
                  <a:srgbClr val="2F5597"/>
                </a:solidFill>
                <a:latin typeface="맑은 고딕"/>
              </a:rPr>
              <a:t>)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= n0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(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기본 </a:t>
            </a:r>
            <a:r>
              <a:rPr lang="en-US" altLang="ko-KR" sz="1000" b="0" dirty="0">
                <a:solidFill>
                  <a:srgbClr val="2F5597"/>
                </a:solidFill>
                <a:latin typeface="맑은 고딕"/>
              </a:rPr>
              <a:t>turn 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수</a:t>
            </a:r>
            <a:r>
              <a:rPr lang="en-US" altLang="ko-KR" sz="1000" b="0" dirty="0">
                <a:solidFill>
                  <a:srgbClr val="2F5597"/>
                </a:solidFill>
                <a:latin typeface="맑은 고딕"/>
              </a:rPr>
              <a:t>)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+ </a:t>
            </a:r>
            <a:r>
              <a:rPr sz="1000" b="0" dirty="0" err="1">
                <a:solidFill>
                  <a:srgbClr val="2F5597"/>
                </a:solidFill>
                <a:latin typeface="맑은 고딕"/>
              </a:rPr>
              <a:t>n_m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(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모듈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 1</a:t>
            </a:r>
            <a:r>
              <a:rPr lang="ko-KR" altLang="en-US" sz="1000" b="0" dirty="0">
                <a:solidFill>
                  <a:srgbClr val="2F5597"/>
                </a:solidFill>
                <a:latin typeface="맑은 고딕"/>
              </a:rPr>
              <a:t>개당 추가</a:t>
            </a:r>
            <a:r>
              <a:rPr lang="en-US" altLang="ko-KR" sz="1000" dirty="0">
                <a:solidFill>
                  <a:srgbClr val="2F5597"/>
                </a:solidFill>
                <a:latin typeface="맑은 고딕"/>
              </a:rPr>
              <a:t> turn)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× n </a:t>
            </a:r>
            <a:r>
              <a:rPr lang="en-US" sz="1000" b="0" dirty="0">
                <a:solidFill>
                  <a:srgbClr val="2F5597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2F5597"/>
                </a:solidFill>
                <a:latin typeface="맑은 고딕"/>
              </a:rPr>
              <a:t>변경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</a:t>
            </a:r>
            <a:r>
              <a:rPr lang="ko-KR" altLang="en-US" sz="1000" dirty="0">
                <a:solidFill>
                  <a:srgbClr val="2F5597"/>
                </a:solidFill>
                <a:latin typeface="맑은 고딕"/>
              </a:rPr>
              <a:t>모듈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수)     </a:t>
            </a:r>
            <a:endParaRPr lang="en-US" sz="1000" b="0" dirty="0">
              <a:solidFill>
                <a:srgbClr val="2F5597"/>
              </a:solidFill>
              <a:latin typeface="맑은 고딕"/>
            </a:endParaRPr>
          </a:p>
          <a:p>
            <a:pPr algn="l"/>
            <a:r>
              <a:rPr sz="1000" b="0" dirty="0" err="1">
                <a:solidFill>
                  <a:srgbClr val="2F5597"/>
                </a:solidFill>
                <a:latin typeface="맑은 고딕"/>
              </a:rPr>
              <a:t>T_out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= </a:t>
            </a:r>
            <a:r>
              <a:rPr sz="1000" dirty="0">
                <a:solidFill>
                  <a:srgbClr val="00B050"/>
                </a:solidFill>
                <a:latin typeface="맑은 고딕"/>
              </a:rPr>
              <a:t>L</a:t>
            </a:r>
            <a:r>
              <a:rPr lang="en-US" sz="1000" dirty="0">
                <a:solidFill>
                  <a:srgbClr val="00B050"/>
                </a:solidFill>
                <a:latin typeface="맑은 고딕"/>
              </a:rPr>
              <a:t>(</a:t>
            </a:r>
            <a:r>
              <a:rPr lang="ko-KR" altLang="en-US" sz="1000" dirty="0">
                <a:solidFill>
                  <a:srgbClr val="00B050"/>
                </a:solidFill>
                <a:latin typeface="맑은 고딕"/>
              </a:rPr>
              <a:t>추가하는 </a:t>
            </a:r>
            <a:r>
              <a:rPr lang="en-US" sz="1000" dirty="0">
                <a:solidFill>
                  <a:srgbClr val="00B050"/>
                </a:solidFill>
                <a:latin typeface="맑은 고딕"/>
              </a:rPr>
              <a:t>LOC)</a:t>
            </a:r>
            <a:r>
              <a:rPr lang="en-US" sz="1000" dirty="0">
                <a:solidFill>
                  <a:srgbClr val="2F5597"/>
                </a:solidFill>
                <a:latin typeface="맑은 고딕"/>
              </a:rPr>
              <a:t> 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× </a:t>
            </a:r>
            <a:r>
              <a:rPr sz="1000" b="0" dirty="0" err="1">
                <a:solidFill>
                  <a:srgbClr val="2F5597"/>
                </a:solidFill>
                <a:latin typeface="맑은 고딕"/>
              </a:rPr>
              <a:t>n_iter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+ </a:t>
            </a:r>
            <a:r>
              <a:rPr sz="1000" b="0" dirty="0" err="1">
                <a:solidFill>
                  <a:srgbClr val="2F5597"/>
                </a:solidFill>
                <a:latin typeface="맑은 고딕"/>
              </a:rPr>
              <a:t>o_turn</a:t>
            </a:r>
            <a:r>
              <a:rPr sz="1000" b="0" dirty="0">
                <a:solidFill>
                  <a:srgbClr val="2F5597"/>
                </a:solidFill>
                <a:latin typeface="맑은 고딕"/>
              </a:rPr>
              <a:t> × </a:t>
            </a:r>
            <a:r>
              <a:rPr sz="1000" b="0" dirty="0">
                <a:solidFill>
                  <a:srgbClr val="FF0000"/>
                </a:solidFill>
                <a:latin typeface="맑은 고딕"/>
              </a:rPr>
              <a:t>N</a:t>
            </a:r>
            <a:endParaRPr lang="en-US" sz="1000" b="0" dirty="0">
              <a:solidFill>
                <a:srgbClr val="FF0000"/>
              </a:solidFill>
              <a:latin typeface="맑은 고딕"/>
            </a:endParaRPr>
          </a:p>
          <a:p>
            <a:pPr algn="l"/>
            <a:endParaRPr lang="en-US" sz="1000" b="1" dirty="0">
              <a:solidFill>
                <a:srgbClr val="2F5597"/>
              </a:solidFill>
              <a:latin typeface="맑은 고딕"/>
            </a:endParaRPr>
          </a:p>
          <a:p>
            <a:pPr algn="l"/>
            <a:r>
              <a:rPr sz="1000" b="1" dirty="0">
                <a:solidFill>
                  <a:srgbClr val="2F5597"/>
                </a:solidFill>
                <a:latin typeface="맑은 고딕"/>
              </a:rPr>
              <a:t>M/M = </a:t>
            </a:r>
            <a:r>
              <a:rPr lang="en-US" altLang="ko-KR" sz="1000" b="1" dirty="0">
                <a:solidFill>
                  <a:srgbClr val="FF0000"/>
                </a:solidFill>
                <a:latin typeface="맑은 고딕"/>
              </a:rPr>
              <a:t>module </a:t>
            </a:r>
            <a:r>
              <a:rPr lang="ko-KR" altLang="en-US" sz="1000" b="1" dirty="0">
                <a:solidFill>
                  <a:srgbClr val="FF0000"/>
                </a:solidFill>
                <a:latin typeface="맑은 고딕"/>
              </a:rPr>
              <a:t>수</a:t>
            </a:r>
            <a:r>
              <a:rPr lang="en-US" altLang="ko-KR" sz="1000" b="1" dirty="0">
                <a:solidFill>
                  <a:srgbClr val="FF0000"/>
                </a:solidFill>
                <a:latin typeface="맑은 고딕"/>
              </a:rPr>
              <a:t>(n)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× module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당 고정 공수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3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일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 +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코딩 일수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(</a:t>
            </a:r>
            <a:r>
              <a:rPr lang="en-US" altLang="ko-KR" sz="1000" b="1" dirty="0">
                <a:solidFill>
                  <a:srgbClr val="FF0000"/>
                </a:solidFill>
                <a:latin typeface="맑은 고딕"/>
              </a:rPr>
              <a:t>L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/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하루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LOC)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×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 테스트와 리뷰 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overhead 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배율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(2.0) ÷ (1 MM = 21</a:t>
            </a:r>
            <a:r>
              <a:rPr lang="ko-KR" altLang="en-US" sz="1000" b="1" dirty="0">
                <a:solidFill>
                  <a:srgbClr val="2F5597"/>
                </a:solidFill>
                <a:latin typeface="맑은 고딕"/>
              </a:rPr>
              <a:t>일</a:t>
            </a:r>
            <a:r>
              <a:rPr lang="en-US" altLang="ko-KR" sz="1000" b="1" dirty="0">
                <a:solidFill>
                  <a:srgbClr val="2F5597"/>
                </a:solidFill>
                <a:latin typeface="맑은 고딕"/>
              </a:rPr>
              <a:t>)</a:t>
            </a:r>
            <a:endParaRPr sz="1000" b="1" dirty="0">
              <a:solidFill>
                <a:srgbClr val="2F5597"/>
              </a:solidFill>
              <a:latin typeface="맑은 고딕"/>
            </a:endParaRPr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4142230"/>
          <a:ext cx="11457432" cy="973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 비용 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M/M ②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674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지배하는</a:t>
                      </a:r>
                      <a:r>
                        <a:rPr sz="8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  <a:endParaRPr sz="85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turn 수</a:t>
                      </a: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context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길이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읽는 비용이 훨씬 크다</a:t>
                      </a:r>
                      <a:endParaRPr sz="8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module 수 n(n ×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c_mod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)와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추가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LOC L(L ×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k_real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÷ P)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추가 LOC L의 영향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작다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쓰는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코드의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비용이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전체의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1~13%</a:t>
                      </a: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쓰는 비용은 적다</a:t>
                      </a:r>
                      <a:endParaRPr sz="8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크다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LOC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항이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공수의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8~66%, </a:t>
                      </a:r>
                      <a:r>
                        <a:rPr sz="8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나머지가</a:t>
                      </a:r>
                      <a:r>
                        <a:rPr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module 항(34~92%)</a:t>
                      </a: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sym typeface="Wingdings" panose="05000000000000000000" pitchFamily="2" charset="2"/>
                        </a:rPr>
                        <a:t>쓰는 비용이 크다</a:t>
                      </a:r>
                      <a:endParaRPr sz="8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l"/>
          <p:cNvSpPr txBox="1"/>
          <p:nvPr/>
        </p:nvSpPr>
        <p:spPr>
          <a:xfrm>
            <a:off x="365760" y="5440680"/>
            <a:ext cx="10353040" cy="69711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두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지표의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관계</a:t>
            </a:r>
            <a:endParaRPr sz="9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비용은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module 수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n과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읽는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크기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S가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정하고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추가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LOC는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거의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영향이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없다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(이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모델의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). '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LOC·module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수가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비용을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결정한다'는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module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수와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읽는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크기에만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맞다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50"/>
              </a:spcAft>
            </a:pP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• M/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M은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n과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L의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함수다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(LOC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항이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비교적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크다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endParaRPr lang="en-US" sz="8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50"/>
              </a:spcAft>
            </a:pPr>
            <a:r>
              <a:rPr lang="en-US" sz="800" dirty="0">
                <a:solidFill>
                  <a:srgbClr val="00000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큰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module을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읽는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800" dirty="0">
                <a:solidFill>
                  <a:srgbClr val="000000"/>
                </a:solidFill>
                <a:latin typeface="맑은 고딕"/>
                <a:ea typeface="맑은 고딕"/>
              </a:rPr>
              <a:t>토큰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비용이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LOC를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많이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쓰는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변경은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M/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M이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 더 </a:t>
            </a:r>
            <a:r>
              <a:rPr sz="800" b="0" dirty="0" err="1">
                <a:solidFill>
                  <a:srgbClr val="000000"/>
                </a:solidFill>
                <a:latin typeface="맑은 고딕"/>
                <a:ea typeface="맑은 고딕"/>
              </a:rPr>
              <a:t>커진다</a:t>
            </a:r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34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4049</Words>
  <Application>Microsoft Office PowerPoint</Application>
  <PresentationFormat>와이드스크린</PresentationFormat>
  <Paragraphs>678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Mona Sans VF</vt:lpstr>
      <vt:lpstr>Malgun Gothic</vt:lpstr>
      <vt:lpstr>Malgun Gothic</vt:lpstr>
      <vt:lpstr>Arial</vt:lpstr>
      <vt:lpstr>Wingdings</vt:lpstr>
      <vt:lpstr>Office 테마</vt:lpstr>
      <vt:lpstr>품질 요구사항</vt:lpstr>
      <vt:lpstr>DP1. Data Migration 결정 구조 - 설계</vt:lpstr>
      <vt:lpstr>DP2. 연산(Prefill/Decode) 실행 위치 결정 구조 - 설계</vt:lpstr>
      <vt:lpstr>DP3. KV 캐시 재사용 구조 – 설계 </vt:lpstr>
      <vt:lpstr>DP4. 서버 간 KV 캐시 공유 구조 –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 요구사항</dc:title>
  <dc:creator>Myeong Woo Kim</dc:creator>
  <cp:lastModifiedBy>Myeong Woo Kim</cp:lastModifiedBy>
  <cp:revision>3</cp:revision>
  <dcterms:created xsi:type="dcterms:W3CDTF">2026-10-23T15:38:13Z</dcterms:created>
  <dcterms:modified xsi:type="dcterms:W3CDTF">2026-10-23T16:03:48Z</dcterms:modified>
</cp:coreProperties>
</file>
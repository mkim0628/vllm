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182880" y="73152"/>
            <a:ext cx="10607040" cy="502920"/>
          </a:xfrm>
          <a:prstGeom prst="rect">
            <a:avLst/>
          </a:prstGeom>
          <a:noFill/>
          <a:ln/>
        </p:spPr>
        <p:txBody>
          <a:bodyPr wrap="square" lIns="0" tIns="0" rIns="0" bIns="0" rtlCol="0" anchor="ctr"/>
          <a:lstStyle/>
          <a:p>
            <a:pPr indent="0" marL="0">
              <a:buNone/>
            </a:pPr>
            <a:r>
              <a:rPr lang="en-US" sz="3000" b="1" dirty="0">
                <a:solidFill>
                  <a:srgbClr val="2F5597"/>
                </a:solidFill>
                <a:latin typeface="Malgun Gothic" pitchFamily="34" charset="0"/>
                <a:ea typeface="Malgun Gothic" pitchFamily="34" charset="-122"/>
                <a:cs typeface="Malgun Gothic" pitchFamily="34" charset="-120"/>
              </a:rPr>
              <a:t>지연시간(고부하 악화 폭) - 평가 기준</a:t>
            </a:r>
            <a:endParaRPr lang="en-US" sz="3000" dirty="0"/>
          </a:p>
        </p:txBody>
      </p:sp>
      <p:sp>
        <p:nvSpPr>
          <p:cNvPr id="3" name="subtitle"/>
          <p:cNvSpPr txBox="1"/>
          <p:nvPr/>
        </p:nvSpPr>
        <p:spPr>
          <a:xfrm>
            <a:off x="182880" y="603504"/>
            <a:ext cx="11247120" cy="274320"/>
          </a:xfrm>
          <a:prstGeom prst="rect">
            <a:avLst/>
          </a:prstGeom>
          <a:noFill/>
          <a:ln/>
        </p:spPr>
        <p:txBody>
          <a:bodyPr wrap="square" lIns="0" tIns="0" rIns="0" bIns="0" rtlCol="0" anchor="ctr"/>
          <a:lstStyle/>
          <a:p>
            <a:pPr indent="0" marL="0">
              <a:buNone/>
            </a:pPr>
            <a:r>
              <a:rPr lang="en-US" sz="1400" dirty="0">
                <a:solidFill>
                  <a:srgbClr val="222222"/>
                </a:solidFill>
                <a:latin typeface="Malgun Gothic" pitchFamily="34" charset="0"/>
                <a:ea typeface="Malgun Gothic" pitchFamily="34" charset="-122"/>
                <a:cs typeface="Malgun Gothic" pitchFamily="34" charset="-120"/>
              </a:rPr>
              <a:t>활성 decode·컨텍스트가 같을 때 대기 세션이 늘어도 TTFT가 일반 부하 대비 크게 늘지 않아야 함 (단, SLO 초과 시 ★)</a:t>
            </a:r>
            <a:endParaRPr lang="en-US" sz="1400" dirty="0"/>
          </a:p>
        </p:txBody>
      </p:sp>
      <p:sp>
        <p:nvSpPr>
          <p:cNvPr id="4" name="rule"/>
          <p:cNvSpPr/>
          <p:nvPr/>
        </p:nvSpPr>
        <p:spPr>
          <a:xfrm>
            <a:off x="100584" y="914400"/>
            <a:ext cx="11978640" cy="0"/>
          </a:xfrm>
          <a:prstGeom prst="line">
            <a:avLst/>
          </a:prstGeom>
          <a:noFill/>
          <a:ln w="28575">
            <a:solidFill>
              <a:srgbClr val="2F5597"/>
            </a:solidFill>
            <a:prstDash val="solid"/>
          </a:ln>
        </p:spPr>
      </p:sp>
      <p:sp>
        <p:nvSpPr>
          <p:cNvPr id="5" name="back-btn"/>
          <p:cNvSpPr/>
          <p:nvPr/>
        </p:nvSpPr>
        <p:spPr>
          <a:xfrm>
            <a:off x="11612880" y="164592"/>
            <a:ext cx="457200" cy="457200"/>
          </a:xfrm>
          <a:prstGeom prst="rect">
            <a:avLst/>
          </a:prstGeom>
          <a:solidFill>
            <a:srgbClr val="5B9BD5"/>
          </a:solidFill>
          <a:ln w="19050">
            <a:solidFill>
              <a:srgbClr val="2F5597"/>
            </a:solidFill>
            <a:prstDash val="solid"/>
          </a:ln>
        </p:spPr>
      </p:sp>
      <p:sp>
        <p:nvSpPr>
          <p:cNvPr id="6" name="back-arrow"/>
          <p:cNvSpPr/>
          <p:nvPr/>
        </p:nvSpPr>
        <p:spPr>
          <a:xfrm rot="16200000">
            <a:off x="11722608" y="256032"/>
            <a:ext cx="256032" cy="274320"/>
          </a:xfrm>
          <a:prstGeom prst="triangle">
            <a:avLst/>
          </a:prstGeom>
          <a:solidFill>
            <a:srgbClr val="2F5597"/>
          </a:solidFill>
          <a:ln w="6350">
            <a:solidFill>
              <a:srgbClr val="2F5597"/>
            </a:solidFill>
            <a:prstDash val="solid"/>
          </a:ln>
        </p:spPr>
      </p:sp>
      <p:sp>
        <p:nvSpPr>
          <p:cNvPr id="7" name="metric"/>
          <p:cNvSpPr txBox="1"/>
          <p:nvPr/>
        </p:nvSpPr>
        <p:spPr>
          <a:xfrm>
            <a:off x="182880" y="987552"/>
            <a:ext cx="11795760" cy="512064"/>
          </a:xfrm>
          <a:prstGeom prst="rect">
            <a:avLst/>
          </a:prstGeom>
          <a:noFill/>
          <a:ln/>
        </p:spPr>
        <p:txBody>
          <a:bodyPr wrap="square" lIns="0" tIns="0" rIns="0" bIns="0" rtlCol="0" anchor="t"/>
          <a:lstStyle/>
          <a:p>
            <a:pPr indent="0" marL="0">
              <a:buNone/>
            </a:pPr>
            <a:r>
              <a:rPr lang="en-US" sz="1300" b="1" dirty="0">
                <a:solidFill>
                  <a:srgbClr val="2F5597"/>
                </a:solidFill>
                <a:latin typeface="Malgun Gothic" pitchFamily="34" charset="0"/>
                <a:ea typeface="Malgun Gothic" pitchFamily="34" charset="-122"/>
                <a:cs typeface="Malgun Gothic" pitchFamily="34" charset="-120"/>
              </a:rPr>
              <a:t>[Metric] D = (TTFT_고부하 − TTFT_일반) ÷ TTFT_일반</a:t>
            </a:r>
            <a:endParaRPr lang="en-US" sz="1300" dirty="0"/>
          </a:p>
          <a:p>
            <a:pPr indent="0" marL="0">
              <a:buNone/>
            </a:pPr>
            <a:r>
              <a:rPr lang="en-US" sz="1300" dirty="0">
                <a:solidFill>
                  <a:srgbClr val="2F5597"/>
                </a:solidFill>
                <a:latin typeface="Malgun Gothic" pitchFamily="34" charset="0"/>
                <a:ea typeface="Malgun Gothic" pitchFamily="34" charset="-122"/>
                <a:cs typeface="Malgun Gothic" pitchFamily="34" charset="-120"/>
              </a:rPr>
              <a:t>TTFT 평균, 후보 자신의 일반 부하 대비 증가율. 두 부하에서 같은 probe 세션을 짝지어 비교. 작을수록 overhead 적음. TPOT 증가율은 보고만</a:t>
            </a:r>
            <a:endParaRPr lang="en-US" sz="1300" dirty="0"/>
          </a:p>
        </p:txBody>
      </p:sp>
      <p:graphicFrame>
        <p:nvGraphicFramePr>
          <p:cNvPr id="2" name="star-table"/>
          <p:cNvGraphicFramePr>
            <a:graphicFrameLocks noGrp="1"/>
          </p:cNvGraphicFramePr>
          <p:nvPr>
            <p:extLst>
              <p:ext uri="{D42A27DB-BD31-4B8C-83A1-F6EECF244321}">
                <p14:modId xmlns:p14="http://schemas.microsoft.com/office/powerpoint/2010/main" val="1579011935"/>
              </p:ext>
            </p:extLst>
          </p:nvPr>
        </p:nvGraphicFramePr>
        <p:xfrm>
          <a:off x="100584" y="1591056"/>
          <a:ext cx="11978640" cy="914400"/>
        </p:xfrm>
        <a:graphic>
          <a:graphicData uri="http://schemas.openxmlformats.org/drawingml/2006/table">
            <a:tbl>
              <a:tblPr/>
              <a:tblGrid>
                <a:gridCol w="822960"/>
                <a:gridCol w="3200400"/>
                <a:gridCol w="4572000"/>
                <a:gridCol w="3383280"/>
              </a:tblGrid>
              <a:tr h="310896">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별</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기준</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근거</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출처</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2F5597"/>
                    </a:solidFill>
                  </a:tcPr>
                </a:tc>
              </a:tr>
              <a:tr h="566928">
                <a:tc>
                  <a:txBody>
                    <a:bodyPr/>
                    <a:lstStyle/>
                    <a:p>
                      <a:pPr algn="ctr" indent="0" marL="0">
                        <a:buNone/>
                      </a:pPr>
                      <a:r>
                        <a:rPr lang="en-US" sz="1400" b="1" dirty="0">
                          <a:solidFill>
                            <a:srgbClr val="222222"/>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E2EFDA"/>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D ≤ 10% 그리고 SLO 충족</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E2EFDA"/>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대기 세션이 늘어도 TTFT가 일반 부하 대비 10% 이내 = KV 축출·복원, tier 이동, prefix 적중 실패 overhead가 거의 없음. seed ≥ 5의 기하평균으로 판정 [10%는 가정]</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E2EFDA"/>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요구 시나리오(일반 부하 대비 크게 늘지 않아야 함) / 공통 QA 문서 §5</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E2EFDA"/>
                    </a:solidFill>
                  </a:tcPr>
                </a:tc>
              </a:tr>
              <a:tr h="457200">
                <a:tc>
                  <a:txBody>
                    <a:bodyPr/>
                    <a:lstStyle/>
                    <a:p>
                      <a:pPr algn="ctr" indent="0" marL="0">
                        <a:buNone/>
                      </a:pPr>
                      <a:r>
                        <a:rPr lang="en-US" sz="1400" b="1" dirty="0">
                          <a:solidFill>
                            <a:srgbClr val="222222"/>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2CC"/>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10% &lt; D ≤ 30% 그리고 SLO 충족</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2CC"/>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늘긴 늘지만 크게 늘지는 않은 구간. 상한 30%는 정책 선택 [가정, 확정 필요]</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2CC"/>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정책 선택 [가정]</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2CC"/>
                    </a:solidFill>
                  </a:tcPr>
                </a:tc>
              </a:tr>
              <a:tr h="457200">
                <a:tc>
                  <a:txBody>
                    <a:bodyPr/>
                    <a:lstStyle/>
                    <a:p>
                      <a:pPr algn="ctr" indent="0" marL="0">
                        <a:buNone/>
                      </a:pPr>
                      <a:r>
                        <a:rPr lang="en-US" sz="1400" b="1" dirty="0">
                          <a:solidFill>
                            <a:srgbClr val="222222"/>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BE5D6"/>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D &gt; 30%, 또는 SLO 초과 (TTFT P99 &gt; 2 s 또는 TPOT P99 &gt; 50 ms)</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BE5D6"/>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일반 부하 대비 30% 넘게 악화. SLO 초과는 D와 무관하게 ★로 강등</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BE5D6"/>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공통 QA 문서 §5 (SLO 강등 규칙)</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BE5D6"/>
                    </a:solidFill>
                  </a:tcPr>
                </a:tc>
              </a:tr>
            </a:tbl>
          </a:graphicData>
        </a:graphic>
      </p:graphicFrame>
      <p:graphicFrame>
        <p:nvGraphicFramePr>
          <p:cNvPr id="3" name="slo-table"/>
          <p:cNvGraphicFramePr>
            <a:graphicFrameLocks noGrp="1"/>
          </p:cNvGraphicFramePr>
          <p:nvPr>
            <p:extLst>
              <p:ext uri="{D42A27DB-BD31-4B8C-83A1-F6EECF244321}">
                <p14:modId xmlns:p14="http://schemas.microsoft.com/office/powerpoint/2010/main" val="1579011935"/>
              </p:ext>
            </p:extLst>
          </p:nvPr>
        </p:nvGraphicFramePr>
        <p:xfrm>
          <a:off x="100584" y="3584448"/>
          <a:ext cx="11978640" cy="914400"/>
        </p:xfrm>
        <a:graphic>
          <a:graphicData uri="http://schemas.openxmlformats.org/drawingml/2006/table">
            <a:tbl>
              <a:tblPr/>
              <a:tblGrid>
                <a:gridCol w="822960"/>
                <a:gridCol w="4023360"/>
                <a:gridCol w="1737360"/>
                <a:gridCol w="5394960"/>
              </a:tblGrid>
              <a:tr h="310896">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Metric</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의미</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절대 SLO (P99 가드)</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2F5597"/>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근거</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2F5597"/>
                    </a:solidFill>
                  </a:tcPr>
                </a:tc>
              </a:tr>
              <a:tr h="457200">
                <a:tc>
                  <a:txBody>
                    <a:bodyPr/>
                    <a:lstStyle/>
                    <a:p>
                      <a:pPr algn="ctr" indent="0" marL="0">
                        <a:buNone/>
                      </a:pPr>
                      <a:r>
                        <a:rPr lang="en-US" sz="1100" dirty="0">
                          <a:solidFill>
                            <a:srgbClr val="222222"/>
                          </a:solidFill>
                          <a:latin typeface="Malgun Gothic" pitchFamily="34" charset="0"/>
                          <a:ea typeface="Malgun Gothic" pitchFamily="34" charset="-122"/>
                          <a:cs typeface="Malgun Gothic" pitchFamily="34" charset="-120"/>
                        </a:rPr>
                        <a:t>TTFT</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첫 토큰 생성까지 걸리는 시간. 사용자에게 첫 응답이 나오는 시간</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algun Gothic" pitchFamily="34" charset="0"/>
                          <a:ea typeface="Malgun Gothic" pitchFamily="34" charset="-122"/>
                          <a:cs typeface="Malgun Gothic" pitchFamily="34" charset="-120"/>
                        </a:rPr>
                        <a:t>TTFT P99 ≤ 2 s</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70B 모델 8K prefill 이론 0.32 s(H100×8, MFU 0.45)의 약 6배(큐잉 여유). MLPerf Llama-2-70B 표준 시나리오와 같은 자릿수</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222222"/>
                          </a:solidFill>
                          <a:latin typeface="Malgun Gothic" pitchFamily="34" charset="0"/>
                          <a:ea typeface="Malgun Gothic" pitchFamily="34" charset="-122"/>
                          <a:cs typeface="Malgun Gothic" pitchFamily="34" charset="-120"/>
                        </a:rPr>
                        <a:t>TPOT</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토큰 사이 생성 간격. 스트리밍 응답의 체감 속도. 별에는 쓰지 않고 SLO 가드와 증가율 보고만 함</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algun Gothic" pitchFamily="34" charset="0"/>
                          <a:ea typeface="Malgun Gothic" pitchFamily="34" charset="-122"/>
                          <a:cs typeface="Malgun Gothic" pitchFamily="34" charset="-120"/>
                        </a:rPr>
                        <a:t>TPOT P99 ≤ 50 ms</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algun Gothic" pitchFamily="34" charset="0"/>
                          <a:ea typeface="Malgun Gothic" pitchFamily="34" charset="-122"/>
                          <a:cs typeface="Malgun Gothic" pitchFamily="34" charset="-120"/>
                        </a:rPr>
                        <a:t>50 ms = 20 tok/s는 성인 묵독(약 5~6 tok/s)의 약 3.5배. MLPerf interactive 40 ms와 표준 200 ms 사이</a:t>
                      </a:r>
                      <a:endParaRPr lang="en-US" sz="1100" dirty="0">
                        <a:latin typeface="Malgun Gothic" charset="0"/>
                        <a:ea typeface="Malgun Gothic" charset="0"/>
                        <a:cs typeface="Malgun Gothic" charset="0"/>
                      </a:endParaRPr>
                    </a:p>
                  </a:txBody>
                  <a:tcPr marL="73152" marR="73152" marT="36576" marB="36576" anchor="ctr">
                    <a:lnL w="12700" cap="flat" cmpd="sng" algn="ctr">
                      <a:solidFill>
                        <a:srgbClr val="9DB2D6"/>
                      </a:solidFill>
                      <a:prstDash val="solid"/>
                      <a:round/>
                      <a:headEnd type="none" w="med" len="med"/>
                      <a:tailEnd type="none" w="med" len="med"/>
                    </a:lnL>
                    <a:lnR w="12700" cap="flat" cmpd="sng" algn="ctr">
                      <a:solidFill>
                        <a:srgbClr val="9DB2D6"/>
                      </a:solidFill>
                      <a:prstDash val="solid"/>
                      <a:round/>
                      <a:headEnd type="none" w="med" len="med"/>
                      <a:tailEnd type="none" w="med" len="med"/>
                    </a:lnR>
                    <a:lnT w="12700" cap="flat" cmpd="sng" algn="ctr">
                      <a:solidFill>
                        <a:srgbClr val="9DB2D6"/>
                      </a:solidFill>
                      <a:prstDash val="solid"/>
                      <a:round/>
                      <a:headEnd type="none" w="med" len="med"/>
                      <a:tailEnd type="none" w="med" len="med"/>
                    </a:lnT>
                    <a:lnB w="12700" cap="flat" cmpd="sng" algn="ctr">
                      <a:solidFill>
                        <a:srgbClr val="9DB2D6"/>
                      </a:solidFill>
                      <a:prstDash val="solid"/>
                      <a:round/>
                      <a:headEnd type="none" w="med" len="med"/>
                      <a:tailEnd type="none" w="med" len="med"/>
                    </a:lnB>
                    <a:solidFill>
                      <a:srgbClr val="FFFFFF"/>
                    </a:solidFill>
                  </a:tcPr>
                </a:tc>
              </a:tr>
            </a:tbl>
          </a:graphicData>
        </a:graphic>
      </p:graphicFrame>
      <p:sp>
        <p:nvSpPr>
          <p:cNvPr id="10" name="meaning-title"/>
          <p:cNvSpPr txBox="1"/>
          <p:nvPr/>
        </p:nvSpPr>
        <p:spPr>
          <a:xfrm>
            <a:off x="182880" y="5029200"/>
            <a:ext cx="5486400" cy="256032"/>
          </a:xfrm>
          <a:prstGeom prst="rect">
            <a:avLst/>
          </a:prstGeom>
          <a:noFill/>
          <a:ln/>
        </p:spPr>
        <p:txBody>
          <a:bodyPr wrap="square" lIns="0" tIns="0" rIns="0" bIns="0" rtlCol="0" anchor="ctr"/>
          <a:lstStyle/>
          <a:p>
            <a:pPr indent="0" marL="0">
              <a:buNone/>
            </a:pPr>
            <a:r>
              <a:rPr lang="en-US" sz="1300" b="1" dirty="0">
                <a:solidFill>
                  <a:srgbClr val="2F5597"/>
                </a:solidFill>
                <a:latin typeface="Malgun Gothic" pitchFamily="34" charset="0"/>
                <a:ea typeface="Malgun Gothic" pitchFamily="34" charset="-122"/>
                <a:cs typeface="Malgun Gothic" pitchFamily="34" charset="-120"/>
              </a:rPr>
              <a:t>고부하·D의 의미</a:t>
            </a:r>
            <a:endParaRPr lang="en-US" sz="1300" dirty="0"/>
          </a:p>
        </p:txBody>
      </p:sp>
      <p:sp>
        <p:nvSpPr>
          <p:cNvPr id="11" name="meaning-body"/>
          <p:cNvSpPr txBox="1"/>
          <p:nvPr/>
        </p:nvSpPr>
        <p:spPr>
          <a:xfrm>
            <a:off x="182880" y="5303520"/>
            <a:ext cx="11795760" cy="10972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22222"/>
                </a:solidFill>
                <a:latin typeface="Malgun Gothic" pitchFamily="34" charset="0"/>
                <a:ea typeface="Malgun Gothic" pitchFamily="34" charset="-122"/>
                <a:cs typeface="Malgun Gothic" pitchFamily="34" charset="-120"/>
              </a:rPr>
              <a:t>고정 조건: 일반·고부하에서 활성 decode batch 수, 컨텍스트 길이, 도착률, workload mix를 같게 유지. 고부하는 메모리에 올라 있는 대기 세션 수만 늘려 만듦(연산 포화 전). batch·컨텍스트가 커지면 KV read가 늘어 TPOT이 설계와 무관하게 증가하기 때문 [부하 점은 가정]</a:t>
            </a:r>
            <a:endParaRPr lang="en-US" sz="1100" dirty="0"/>
          </a:p>
          <a:p>
            <a:pPr marL="342900" indent="-342900">
              <a:spcAft>
                <a:spcPts val="300"/>
              </a:spcAft>
              <a:buSzPct val="100000"/>
              <a:buChar char="•"/>
            </a:pPr>
            <a:r>
              <a:rPr lang="en-US" sz="1100" dirty="0">
                <a:solidFill>
                  <a:srgbClr val="222222"/>
                </a:solidFill>
                <a:latin typeface="Malgun Gothic" pitchFamily="34" charset="0"/>
                <a:ea typeface="Malgun Gothic" pitchFamily="34" charset="-122"/>
                <a:cs typeface="Malgun Gothic" pitchFamily="34" charset="-120"/>
              </a:rPr>
              <a:t>진단(별에 불포함): KV 복원 latency P99, step당 stall, 토큰 단위 prefix hit rate 변화, TPOT 평균 증가율. As-Is(Baseline)의 D도 참고값으로 병기</a:t>
            </a:r>
            <a:endParaRPr lang="en-US" sz="1100" dirty="0"/>
          </a:p>
          <a:p>
            <a:pPr marL="342900" indent="-342900">
              <a:spcAft>
                <a:spcPts val="300"/>
              </a:spcAft>
              <a:buSzPct val="100000"/>
              <a:buChar char="•"/>
            </a:pPr>
            <a:r>
              <a:rPr lang="en-US" sz="1100" dirty="0">
                <a:solidFill>
                  <a:srgbClr val="222222"/>
                </a:solidFill>
                <a:latin typeface="Malgun Gothic" pitchFamily="34" charset="0"/>
                <a:ea typeface="Malgun Gothic" pitchFamily="34" charset="-122"/>
                <a:cs typeface="Malgun Gothic" pitchFamily="34" charset="-120"/>
              </a:rPr>
              <a:t>별은 TTFT 평균 D로 판정, P99는 SLO 가드. admission control로 D를 낮추는 것을 막기 위해 거부·타임아웃 비율을 함께 보고. As-Is가 SLO를 넘는 점은 infeasible로 표시</a:t>
            </a:r>
            <a:endParaRPr lang="en-US" sz="1100" dirty="0"/>
          </a:p>
        </p:txBody>
      </p:sp>
      <p:sp>
        <p:nvSpPr>
          <p:cNvPr id="12" name="source"/>
          <p:cNvSpPr txBox="1"/>
          <p:nvPr/>
        </p:nvSpPr>
        <p:spPr>
          <a:xfrm>
            <a:off x="182880" y="6492240"/>
            <a:ext cx="11795760" cy="256032"/>
          </a:xfrm>
          <a:prstGeom prst="rect">
            <a:avLst/>
          </a:prstGeom>
          <a:noFill/>
          <a:ln/>
        </p:spPr>
        <p:txBody>
          <a:bodyPr wrap="square" lIns="0" tIns="0" rIns="0" bIns="0" rtlCol="0" anchor="ctr"/>
          <a:lstStyle/>
          <a:p>
            <a:pPr indent="0" marL="0">
              <a:buNone/>
            </a:pPr>
            <a:r>
              <a:rPr lang="en-US" sz="900" dirty="0">
                <a:solidFill>
                  <a:srgbClr val="555555"/>
                </a:solidFill>
                <a:latin typeface="Malgun Gothic" pitchFamily="34" charset="0"/>
                <a:ea typeface="Malgun Gothic" pitchFamily="34" charset="-122"/>
                <a:cs typeface="Malgun Gothic" pitchFamily="34" charset="-120"/>
              </a:rPr>
              <a:t>출처: 공통 QA 문서 §5 · MLPerf Inference v5.1 요약(marktechpost, it-online) [2차] · Brysbaert 2019 · tools/unified_stars.py   (★★★ 10%, ★★ 30%, 일반/고부하 점 = [가정])</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지연시간(고부하 악화 폭) 평가 기준</dc:title>
  <dc:subject>PptxGenJS Presentation</dc:subject>
  <dc:creator>PptxGenJS</dc:creator>
  <cp:lastModifiedBy>PptxGenJS</cp:lastModifiedBy>
  <cp:revision>1</cp:revision>
  <dcterms:created xsi:type="dcterms:W3CDTF">2026-10-22T16:22:10Z</dcterms:created>
  <dcterms:modified xsi:type="dcterms:W3CDTF">2026-10-22T16:22:10Z</dcterms:modified>
</cp:coreProperties>
</file>
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698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0" Type="http://schemas.openxmlformats.org/officeDocument/2006/relationships/presProps" Target="presProps.xml"/><Relationship Id="rId53" Type="http://schemas.openxmlformats.org/officeDocument/2006/relationships/tableStyles" Target="tableStyles.xml"/><Relationship Id="rId52" Type="http://schemas.openxmlformats.org/officeDocument/2006/relationships/theme" Target="theme/theme1.xml"/><Relationship Id="rId5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49" Type="http://schemas.openxmlformats.org/officeDocument/2006/relationships/notesMaster" Target="notesMasters/notesMaster1.xml"/>  <Relationship Id="rId54" Type="http://schemas.openxmlformats.org/officeDocument/2006/relationships/slide" Target="slides/slide4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6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269D-86BE-454D-95E7-7AB7335B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Architecture 분석 – DP-1 ~ DP-5 전체 Module View (후보 1 기준)</a:t>
            </a:r>
            <a:endParaRPr lang="ko-KR" altLang="en-US" dirty="0"/>
          </a:p>
        </p:txBody>
      </p:sp>
      <p:sp>
        <p:nvSpPr>
          <p:cNvPr id="101" name="note"/>
          <p:cNvSpPr txBox="1"/>
          <p:nvPr/>
        </p:nvSpPr>
        <p:spPr>
          <a:xfrm>
            <a:off x="400000" y="620000"/>
            <a:ext cx="114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800" dirty="0">
                <a:solidFill>
                  <a:schemeClr val="tx1"/>
                </a:solidFill>
              </a:rPr>
              <a:t>노란색: 신규/수정 모듈  ·  점선 박스: 설계 범위 (빨강 DP-1, 주황 DP-5)  ·  굵은 화살표: DP 간 · 프로세스 간 경계  ·  후보 2는 Data Location Store와 commit이 Worker 쪽으로 이동</a:t>
            </a:r>
          </a:p>
        </p:txBody>
      </p:sp>
      <p:sp>
        <p:nvSpPr>
          <p:cNvPr id="102" name="EngineCore"/>
          <p:cNvSpPr/>
          <p:nvPr/>
        </p:nvSpPr>
        <p:spPr>
          <a:xfrm>
            <a:off x="400000" y="950000"/>
            <a:ext cx="7550000" cy="455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EngineCore 프로세스</a:t>
            </a:r>
          </a:p>
        </p:txBody>
      </p:sp>
      <p:sp>
        <p:nvSpPr>
          <p:cNvPr id="103" name="Worker"/>
          <p:cNvSpPr/>
          <p:nvPr/>
        </p:nvSpPr>
        <p:spPr>
          <a:xfrm>
            <a:off x="8650000" y="950000"/>
            <a:ext cx="3150000" cy="455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Worker 프로세스 (GPU당 1개)</a:t>
            </a:r>
          </a:p>
        </p:txBody>
      </p:sp>
      <p:sp>
        <p:nvSpPr>
          <p:cNvPr id="104" name="Generation"/>
          <p:cNvSpPr/>
          <p:nvPr/>
        </p:nvSpPr>
        <p:spPr>
          <a:xfrm>
            <a:off x="550000" y="1450000"/>
            <a:ext cx="7300000" cy="7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Generation (기존 엔진)</a:t>
            </a:r>
          </a:p>
        </p:txBody>
      </p:sp>
      <p:sp>
        <p:nvSpPr>
          <p:cNvPr id="105" name="Generation tab"/>
          <p:cNvSpPr/>
          <p:nvPr/>
        </p:nvSpPr>
        <p:spPr>
          <a:xfrm>
            <a:off x="550000" y="132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06" name="KV Cache Manager"/>
          <p:cNvSpPr/>
          <p:nvPr/>
        </p:nvSpPr>
        <p:spPr>
          <a:xfrm>
            <a:off x="650000" y="1800000"/>
            <a:ext cx="15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 Cache Manager</a:t>
            </a:r>
          </a:p>
        </p:txBody>
      </p:sp>
      <p:sp>
        <p:nvSpPr>
          <p:cNvPr id="107" name="KVDataAdapter"/>
          <p:cNvSpPr/>
          <p:nvPr/>
        </p:nvSpPr>
        <p:spPr>
          <a:xfrm>
            <a:off x="2350000" y="1800000"/>
            <a:ext cx="15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KVDataAdapter</a:t>
            </a:r>
          </a:p>
        </p:txBody>
      </p:sp>
      <p:sp>
        <p:nvSpPr>
          <p:cNvPr id="108" name="Scheduler"/>
          <p:cNvSpPr/>
          <p:nvPr/>
        </p:nvSpPr>
        <p:spPr>
          <a:xfrm>
            <a:off x="5030000" y="1800000"/>
            <a:ext cx="125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109" name="DecisionPlane"/>
          <p:cNvSpPr/>
          <p:nvPr/>
        </p:nvSpPr>
        <p:spPr>
          <a:xfrm>
            <a:off x="550000" y="2500000"/>
            <a:ext cx="335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Decision Plane · DP-1 (정책)</a:t>
            </a:r>
          </a:p>
        </p:txBody>
      </p:sp>
      <p:sp>
        <p:nvSpPr>
          <p:cNvPr id="110" name="DecisionPlane tab"/>
          <p:cNvSpPr/>
          <p:nvPr/>
        </p:nvSpPr>
        <p:spPr>
          <a:xfrm>
            <a:off x="55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11" name="Migration Scheduler"/>
          <p:cNvSpPr/>
          <p:nvPr/>
        </p:nvSpPr>
        <p:spPr>
          <a:xfrm>
            <a:off x="650000" y="2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Scheduler</a:t>
            </a:r>
          </a:p>
        </p:txBody>
      </p:sp>
      <p:sp>
        <p:nvSpPr>
          <p:cNvPr id="112" name="Resource · Behavior Analyzer"/>
          <p:cNvSpPr/>
          <p:nvPr/>
        </p:nvSpPr>
        <p:spPr>
          <a:xfrm>
            <a:off x="650000" y="3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Resource · Behavior Analyzer</a:t>
            </a:r>
          </a:p>
        </p:txBody>
      </p:sp>
      <p:sp>
        <p:nvSpPr>
          <p:cNvPr id="113" name="Eviction · Affinity Mapper"/>
          <p:cNvSpPr/>
          <p:nvPr/>
        </p:nvSpPr>
        <p:spPr>
          <a:xfrm>
            <a:off x="650000" y="3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Eviction · Affinity Mapper</a:t>
            </a:r>
          </a:p>
        </p:txBody>
      </p:sp>
      <p:sp>
        <p:nvSpPr>
          <p:cNvPr id="114" name="Destination Tier Selector"/>
          <p:cNvSpPr/>
          <p:nvPr/>
        </p:nvSpPr>
        <p:spPr>
          <a:xfrm>
            <a:off x="650000" y="4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Destination Tier Selector</a:t>
            </a:r>
          </a:p>
        </p:txBody>
      </p:sp>
      <p:sp>
        <p:nvSpPr>
          <p:cNvPr id="115" name="Access Cost Estimator"/>
          <p:cNvSpPr/>
          <p:nvPr/>
        </p:nvSpPr>
        <p:spPr>
          <a:xfrm>
            <a:off x="650000" y="4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Access Cost Estimator</a:t>
            </a:r>
          </a:p>
        </p:txBody>
      </p:sp>
      <p:sp>
        <p:nvSpPr>
          <p:cNvPr id="116" name="Resource Manager"/>
          <p:cNvSpPr/>
          <p:nvPr/>
        </p:nvSpPr>
        <p:spPr>
          <a:xfrm>
            <a:off x="2350000" y="2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Resource Manager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(Telemetry · Registry)</a:t>
            </a:r>
          </a:p>
        </p:txBody>
      </p:sp>
      <p:sp>
        <p:nvSpPr>
          <p:cNvPr id="117" name="Migration Data Selector"/>
          <p:cNvSpPr/>
          <p:nvPr/>
        </p:nvSpPr>
        <p:spPr>
          <a:xfrm>
            <a:off x="2350000" y="44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Data Selector</a:t>
            </a:r>
          </a:p>
        </p:txBody>
      </p:sp>
      <p:sp>
        <p:nvSpPr>
          <p:cNvPr id="118" name="Data Object Registry"/>
          <p:cNvSpPr/>
          <p:nvPr/>
        </p:nvSpPr>
        <p:spPr>
          <a:xfrm>
            <a:off x="2350000" y="4900000"/>
            <a:ext cx="14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Data Object Registry</a:t>
            </a:r>
          </a:p>
        </p:txBody>
      </p:sp>
      <p:sp>
        <p:nvSpPr>
          <p:cNvPr id="119" name="ControlPlane"/>
          <p:cNvSpPr/>
          <p:nvPr/>
        </p:nvSpPr>
        <p:spPr>
          <a:xfrm>
            <a:off x="4950000" y="2500000"/>
            <a:ext cx="290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Control Plane · DP-5 (EngineCore 측)</a:t>
            </a:r>
          </a:p>
        </p:txBody>
      </p:sp>
      <p:sp>
        <p:nvSpPr>
          <p:cNvPr id="120" name="ControlPlane tab"/>
          <p:cNvSpPr/>
          <p:nvPr/>
        </p:nvSpPr>
        <p:spPr>
          <a:xfrm>
            <a:off x="495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21" name="Migration Planner / Queue"/>
          <p:cNvSpPr/>
          <p:nvPr/>
        </p:nvSpPr>
        <p:spPr>
          <a:xfrm>
            <a:off x="6500000" y="2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Planner / Queue</a:t>
            </a:r>
          </a:p>
        </p:txBody>
      </p:sp>
      <p:sp>
        <p:nvSpPr>
          <p:cNvPr id="122" name="Access Guard"/>
          <p:cNvSpPr/>
          <p:nvPr/>
        </p:nvSpPr>
        <p:spPr>
          <a:xfrm>
            <a:off x="6500000" y="3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Access Guard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(pin · epoch)</a:t>
            </a:r>
          </a:p>
        </p:txBody>
      </p:sp>
      <p:sp>
        <p:nvSpPr>
          <p:cNvPr id="123" name="Data Location Store"/>
          <p:cNvSpPr/>
          <p:nvPr/>
        </p:nvSpPr>
        <p:spPr>
          <a:xfrm>
            <a:off x="6500000" y="44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Data Location Store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(authoritative)</a:t>
            </a:r>
          </a:p>
        </p:txBody>
      </p:sp>
      <p:sp>
        <p:nvSpPr>
          <p:cNvPr id="124" name="Migration Coordinator"/>
          <p:cNvSpPr/>
          <p:nvPr/>
        </p:nvSpPr>
        <p:spPr>
          <a:xfrm>
            <a:off x="5030000" y="44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Coordinator</a:t>
            </a:r>
          </a:p>
        </p:txBody>
      </p:sp>
      <p:sp>
        <p:nvSpPr>
          <p:cNvPr id="125" name="Completion Reconciler"/>
          <p:cNvSpPr/>
          <p:nvPr/>
        </p:nvSpPr>
        <p:spPr>
          <a:xfrm>
            <a:off x="5030000" y="4900000"/>
            <a:ext cx="12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Completion Reconciler</a:t>
            </a:r>
          </a:p>
        </p:txBody>
      </p:sp>
      <p:sp>
        <p:nvSpPr>
          <p:cNvPr id="126" name="Compute"/>
          <p:cNvSpPr/>
          <p:nvPr/>
        </p:nvSpPr>
        <p:spPr>
          <a:xfrm>
            <a:off x="8800000" y="1450000"/>
            <a:ext cx="2850000" cy="7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Compute Management</a:t>
            </a:r>
          </a:p>
        </p:txBody>
      </p:sp>
      <p:sp>
        <p:nvSpPr>
          <p:cNvPr id="127" name="Compute tab"/>
          <p:cNvSpPr/>
          <p:nvPr/>
        </p:nvSpPr>
        <p:spPr>
          <a:xfrm>
            <a:off x="8800000" y="132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28" name="Worker"/>
          <p:cNvSpPr/>
          <p:nvPr/>
        </p:nvSpPr>
        <p:spPr>
          <a:xfrm>
            <a:off x="8880000" y="1800000"/>
            <a:ext cx="110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Worker</a:t>
            </a:r>
          </a:p>
        </p:txBody>
      </p:sp>
      <p:sp>
        <p:nvSpPr>
          <p:cNvPr id="129" name="Model Runner · Block Table"/>
          <p:cNvSpPr/>
          <p:nvPr/>
        </p:nvSpPr>
        <p:spPr>
          <a:xfrm>
            <a:off x="10080000" y="1800000"/>
            <a:ext cx="1490000" cy="3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Model Runner · Block Table</a:t>
            </a:r>
          </a:p>
        </p:txBody>
      </p:sp>
      <p:sp>
        <p:nvSpPr>
          <p:cNvPr id="130" name="DataPlane"/>
          <p:cNvSpPr/>
          <p:nvPr/>
        </p:nvSpPr>
        <p:spPr>
          <a:xfrm>
            <a:off x="8800000" y="2500000"/>
            <a:ext cx="2850000" cy="2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Data Plane · DP-5 (Worker 측)</a:t>
            </a:r>
          </a:p>
        </p:txBody>
      </p:sp>
      <p:sp>
        <p:nvSpPr>
          <p:cNvPr id="131" name="DataPlane tab"/>
          <p:cNvSpPr/>
          <p:nvPr/>
        </p:nvSpPr>
        <p:spPr>
          <a:xfrm>
            <a:off x="8800000" y="23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32" name="Migration Executor"/>
          <p:cNvSpPr/>
          <p:nvPr/>
        </p:nvSpPr>
        <p:spPr>
          <a:xfrm>
            <a:off x="8880000" y="2900000"/>
            <a:ext cx="269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Migration Executor</a:t>
            </a:r>
          </a:p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(copy 실행)</a:t>
            </a:r>
          </a:p>
        </p:txBody>
      </p:sp>
      <p:sp>
        <p:nvSpPr>
          <p:cNvPr id="133" name="Transfer Router"/>
          <p:cNvSpPr/>
          <p:nvPr/>
        </p:nvSpPr>
        <p:spPr>
          <a:xfrm>
            <a:off x="10020000" y="3900000"/>
            <a:ext cx="155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Router</a:t>
            </a:r>
          </a:p>
        </p:txBody>
      </p:sp>
      <p:sp>
        <p:nvSpPr>
          <p:cNvPr id="134" name="DeviceRuntime"/>
          <p:cNvSpPr/>
          <p:nvPr/>
        </p:nvSpPr>
        <p:spPr>
          <a:xfrm>
            <a:off x="400000" y="5800000"/>
            <a:ext cx="11400000" cy="65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Device Runtime Interface</a:t>
            </a:r>
          </a:p>
        </p:txBody>
      </p:sp>
      <p:sp>
        <p:nvSpPr>
          <p:cNvPr id="135" name="DeviceRuntime tab"/>
          <p:cNvSpPr/>
          <p:nvPr/>
        </p:nvSpPr>
        <p:spPr>
          <a:xfrm>
            <a:off x="400000" y="5670000"/>
            <a:ext cx="264000" cy="131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36" name="Memory Backend I/F · Common Memory · PIM · PNM · ScHBM Backend"/>
          <p:cNvSpPr/>
          <p:nvPr/>
        </p:nvSpPr>
        <p:spPr>
          <a:xfrm>
            <a:off x="550000" y="6070000"/>
            <a:ext cx="5950000" cy="3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Memory Backend I/F · Common Memory · PIM · PNM · ScHBM Backend</a:t>
            </a:r>
          </a:p>
        </p:txBody>
      </p:sp>
      <p:sp>
        <p:nvSpPr>
          <p:cNvPr id="137" name="Transfer Handler (DMA · P2P · CXL · NVMe)"/>
          <p:cNvSpPr/>
          <p:nvPr/>
        </p:nvSpPr>
        <p:spPr>
          <a:xfrm>
            <a:off x="8880000" y="6070000"/>
            <a:ext cx="2690000" cy="3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tIns="18000" bIns="1800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Transfer Handler (DMA · P2P · CXL · NVMe)</a:t>
            </a:r>
          </a:p>
        </p:txBody>
      </p:sp>
      <p:sp>
        <p:nvSpPr>
          <p:cNvPr id="138" name="DP1 범위"/>
          <p:cNvSpPr/>
          <p:nvPr/>
        </p:nvSpPr>
        <p:spPr>
          <a:xfrm>
            <a:off x="600000" y="2840000"/>
            <a:ext cx="3250000" cy="2520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39" name="DP5 control 범위"/>
          <p:cNvSpPr/>
          <p:nvPr/>
        </p:nvSpPr>
        <p:spPr>
          <a:xfrm>
            <a:off x="5000000" y="2840000"/>
            <a:ext cx="2800000" cy="252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40" name="DP5 data 범위"/>
          <p:cNvSpPr/>
          <p:nvPr/>
        </p:nvSpPr>
        <p:spPr>
          <a:xfrm>
            <a:off x="8840000" y="2840000"/>
            <a:ext cx="2770000" cy="148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41" name="DP5 수정 Scheduler"/>
          <p:cNvSpPr/>
          <p:nvPr/>
        </p:nvSpPr>
        <p:spPr>
          <a:xfrm>
            <a:off x="4980000" y="1740000"/>
            <a:ext cx="1350000" cy="46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42" name="DP5 수정 Worker Model Runner"/>
          <p:cNvSpPr/>
          <p:nvPr/>
        </p:nvSpPr>
        <p:spPr>
          <a:xfrm>
            <a:off x="8840000" y="1740000"/>
            <a:ext cx="2770000" cy="46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43" name="DP1 Backend I/F"/>
          <p:cNvSpPr/>
          <p:nvPr/>
        </p:nvSpPr>
        <p:spPr>
          <a:xfrm>
            <a:off x="480000" y="6030000"/>
            <a:ext cx="6100000" cy="390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44" name="DP5 Transfer Handler"/>
          <p:cNvSpPr/>
          <p:nvPr/>
        </p:nvSpPr>
        <p:spPr>
          <a:xfrm>
            <a:off x="8820000" y="6030000"/>
            <a:ext cx="2810000" cy="3900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cxnSp>
        <p:nvCxnSpPr>
          <p:cNvPr id="145" name="DP1 flow 1"/>
          <p:cNvCxnSpPr>
            <a:cxnSpLocks/>
          </p:cNvCxnSpPr>
          <p:nvPr/>
        </p:nvCxnSpPr>
        <p:spPr>
          <a:xfrm>
            <a:off x="1375000" y="3260000"/>
            <a:ext cx="0" cy="1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DP1 flow 2"/>
          <p:cNvCxnSpPr>
            <a:cxnSpLocks/>
          </p:cNvCxnSpPr>
          <p:nvPr/>
        </p:nvCxnSpPr>
        <p:spPr>
          <a:xfrm>
            <a:off x="1375000" y="3760000"/>
            <a:ext cx="0" cy="1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DP1 flow 3"/>
          <p:cNvCxnSpPr>
            <a:cxnSpLocks/>
          </p:cNvCxnSpPr>
          <p:nvPr/>
        </p:nvCxnSpPr>
        <p:spPr>
          <a:xfrm>
            <a:off x="1375000" y="4260000"/>
            <a:ext cx="0" cy="1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DP1 flow 4"/>
          <p:cNvCxnSpPr>
            <a:cxnSpLocks/>
          </p:cNvCxnSpPr>
          <p:nvPr/>
        </p:nvCxnSpPr>
        <p:spPr>
          <a:xfrm>
            <a:off x="1375000" y="4760000"/>
            <a:ext cx="0" cy="1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TS to MDS"/>
          <p:cNvCxnSpPr>
            <a:cxnSpLocks/>
          </p:cNvCxnSpPr>
          <p:nvPr/>
        </p:nvCxnSpPr>
        <p:spPr>
          <a:xfrm>
            <a:off x="2100000" y="4580000"/>
            <a:ext cx="25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③ binding"/>
          <p:cNvCxnSpPr>
            <a:cxnSpLocks/>
          </p:cNvCxnSpPr>
          <p:nvPr/>
        </p:nvCxnSpPr>
        <p:spPr>
          <a:xfrm flipV="1">
            <a:off x="3800000" y="3030000"/>
            <a:ext cx="2700000" cy="5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③ label"/>
          <p:cNvSpPr txBox="1"/>
          <p:nvPr/>
        </p:nvSpPr>
        <p:spPr>
          <a:xfrm>
            <a:off x="3930000" y="2740000"/>
            <a:ext cx="98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③ binding · topology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(읽기 전용)</a:t>
            </a:r>
          </a:p>
        </p:txBody>
      </p:sp>
      <p:cxnSp>
        <p:nvCxnSpPr>
          <p:cNvPr id="152" name="② MigrationIntent"/>
          <p:cNvCxnSpPr>
            <a:cxnSpLocks/>
          </p:cNvCxnSpPr>
          <p:nvPr/>
        </p:nvCxnSpPr>
        <p:spPr>
          <a:xfrm>
            <a:off x="3800000" y="4580000"/>
            <a:ext cx="12300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② label"/>
          <p:cNvSpPr txBox="1"/>
          <p:nvPr/>
        </p:nvSpPr>
        <p:spPr>
          <a:xfrm>
            <a:off x="3930000" y="4280000"/>
            <a:ext cx="980000" cy="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② MigrationIntent</a:t>
            </a:r>
          </a:p>
        </p:txBody>
      </p:sp>
      <p:cxnSp>
        <p:nvCxnSpPr>
          <p:cNvPr id="154" name="④ 이벤트"/>
          <p:cNvCxnSpPr>
            <a:cxnSpLocks/>
          </p:cNvCxnSpPr>
          <p:nvPr/>
        </p:nvCxnSpPr>
        <p:spPr>
          <a:xfrm flipH="1">
            <a:off x="3800000" y="5080000"/>
            <a:ext cx="123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④ label"/>
          <p:cNvSpPr txBox="1"/>
          <p:nvPr/>
        </p:nvSpPr>
        <p:spPr>
          <a:xfrm>
            <a:off x="3930000" y="4620000"/>
            <a:ext cx="980000" cy="4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④ 완료 · 실패 ·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commit 결과 ·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실측 비용</a:t>
            </a:r>
          </a:p>
        </p:txBody>
      </p:sp>
      <p:sp>
        <p:nvSpPr>
          <p:cNvPr id="156" name="Coordinator to Planner"/>
          <p:cNvSpPr/>
          <p:nvPr/>
        </p:nvSpPr>
        <p:spPr>
          <a:xfrm>
            <a:off x="5450000" y="3160000"/>
            <a:ext cx="1050000" cy="1240000"/>
          </a:xfrm>
          <a:custGeom>
            <a:avLst/>
            <a:gdLst/>
            <a:ahLst/>
            <a:cxnLst/>
            <a:rect l="0" t="0" r="r" b="b"/>
            <a:pathLst>
              <a:path w="1050000" h="1240000" fill="none">
                <a:moveTo>
                  <a:pt x="0" y="1240000"/>
                </a:moveTo>
                <a:lnTo>
                  <a:pt x="0" y="0"/>
                </a:lnTo>
                <a:lnTo>
                  <a:pt x="1050000" y="0"/>
                </a:lnTo>
              </a:path>
            </a:pathLst>
          </a:custGeom>
          <a:noFill/>
          <a:ln w="12700">
            <a:solidFill>
              <a:schemeClr val="tx1"/>
            </a:solidFill>
            <a:prstDash val="dash"/>
            <a:tailEnd type="arrow"/>
          </a:ln>
        </p:spPr>
      </p:sp>
      <p:cxnSp>
        <p:nvCxnSpPr>
          <p:cNvPr id="157" name="Coordinator to Location Store"/>
          <p:cNvCxnSpPr>
            <a:cxnSpLocks/>
          </p:cNvCxnSpPr>
          <p:nvPr/>
        </p:nvCxnSpPr>
        <p:spPr>
          <a:xfrm>
            <a:off x="6280000" y="4580000"/>
            <a:ext cx="22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Reconciler to Coordinator"/>
          <p:cNvCxnSpPr>
            <a:cxnSpLocks/>
          </p:cNvCxnSpPr>
          <p:nvPr/>
        </p:nvCxnSpPr>
        <p:spPr>
          <a:xfrm flipV="1">
            <a:off x="5650000" y="4760000"/>
            <a:ext cx="0" cy="1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① Event"/>
          <p:cNvCxnSpPr>
            <a:cxnSpLocks/>
          </p:cNvCxnSpPr>
          <p:nvPr/>
        </p:nvCxnSpPr>
        <p:spPr>
          <a:xfrm>
            <a:off x="1425000" y="2140000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① label"/>
          <p:cNvSpPr txBox="1"/>
          <p:nvPr/>
        </p:nvSpPr>
        <p:spPr>
          <a:xfrm>
            <a:off x="1500000" y="2200000"/>
            <a:ext cx="2400000" cy="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① Event (할당 · 해제 · 재사용 · pressure)</a:t>
            </a:r>
          </a:p>
        </p:txBody>
      </p:sp>
      <p:cxnSp>
        <p:nvCxnSpPr>
          <p:cNvPr id="161" name="⑤ Scheduler와 Control Plane"/>
          <p:cNvCxnSpPr>
            <a:cxnSpLocks/>
          </p:cNvCxnSpPr>
          <p:nvPr/>
        </p:nvCxnSpPr>
        <p:spPr>
          <a:xfrm>
            <a:off x="5650000" y="2140000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⑤ label"/>
          <p:cNvSpPr txBox="1"/>
          <p:nvPr/>
        </p:nvSpPr>
        <p:spPr>
          <a:xfrm>
            <a:off x="5730000" y="217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⑤ 필수 접근 promotion (BLOCKING Intent)</a:t>
            </a:r>
          </a:p>
          <a:p>
            <a:pPr algn="l"/>
            <a:r>
              <a:rPr lang="ko-KR" altLang="en-US" sz="700" dirty="0">
                <a:solidFill>
                  <a:schemeClr val="tx1"/>
                </a:solidFill>
              </a:rPr>
              <a:t>↔ 위치 · 준비 상태 · dependency</a:t>
            </a:r>
          </a:p>
        </p:txBody>
      </p:sp>
      <p:cxnSp>
        <p:nvCxnSpPr>
          <p:cNvPr id="163" name="⑥ command"/>
          <p:cNvCxnSpPr>
            <a:cxnSpLocks/>
          </p:cNvCxnSpPr>
          <p:nvPr/>
        </p:nvCxnSpPr>
        <p:spPr>
          <a:xfrm>
            <a:off x="7750000" y="3080000"/>
            <a:ext cx="11300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⑥ label"/>
          <p:cNvSpPr txBox="1"/>
          <p:nvPr/>
        </p:nvSpPr>
        <p:spPr>
          <a:xfrm>
            <a:off x="7970000" y="2720000"/>
            <a:ext cx="6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⑥ command ·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165" name="⑦ completion"/>
          <p:cNvSpPr/>
          <p:nvPr/>
        </p:nvSpPr>
        <p:spPr>
          <a:xfrm>
            <a:off x="6280000" y="3260000"/>
            <a:ext cx="2770000" cy="1820000"/>
          </a:xfrm>
          <a:custGeom>
            <a:avLst/>
            <a:gdLst/>
            <a:ahLst/>
            <a:cxnLst/>
            <a:rect l="0" t="0" r="r" b="b"/>
            <a:pathLst>
              <a:path w="2770000" h="1820000" fill="none">
                <a:moveTo>
                  <a:pt x="2770000" y="0"/>
                </a:moveTo>
                <a:lnTo>
                  <a:pt x="2770000" y="1820000"/>
                </a:lnTo>
                <a:lnTo>
                  <a:pt x="0" y="18200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tailEnd type="arrow"/>
          </a:ln>
        </p:spPr>
      </p:sp>
      <p:sp>
        <p:nvSpPr>
          <p:cNvPr id="166" name="⑦ label"/>
          <p:cNvSpPr txBox="1"/>
          <p:nvPr/>
        </p:nvSpPr>
        <p:spPr>
          <a:xfrm>
            <a:off x="6550000" y="4840000"/>
            <a:ext cx="125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⑦ completion 보고</a:t>
            </a:r>
          </a:p>
        </p:txBody>
      </p:sp>
      <p:cxnSp>
        <p:nvCxnSpPr>
          <p:cNvPr id="167" name="⑧ dependency 대기"/>
          <p:cNvCxnSpPr>
            <a:cxnSpLocks/>
          </p:cNvCxnSpPr>
          <p:nvPr/>
        </p:nvCxnSpPr>
        <p:spPr>
          <a:xfrm flipV="1">
            <a:off x="11350000" y="2140000"/>
            <a:ext cx="0" cy="76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⑧ label"/>
          <p:cNvSpPr txBox="1"/>
          <p:nvPr/>
        </p:nvSpPr>
        <p:spPr>
          <a:xfrm>
            <a:off x="9200000" y="2220000"/>
            <a:ext cx="2100000" cy="2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750" dirty="0">
                <a:solidFill>
                  <a:schemeClr val="tx1"/>
                </a:solidFill>
              </a:rPr>
              <a:t>⑧ dependency 대기 ↔ 완료</a:t>
            </a:r>
          </a:p>
        </p:txBody>
      </p:sp>
      <p:cxnSp>
        <p:nvCxnSpPr>
          <p:cNvPr id="169" name="Executor to Router"/>
          <p:cNvCxnSpPr>
            <a:cxnSpLocks/>
          </p:cNvCxnSpPr>
          <p:nvPr/>
        </p:nvCxnSpPr>
        <p:spPr>
          <a:xfrm>
            <a:off x="10795000" y="3260000"/>
            <a:ext cx="0" cy="6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⑩ Backend I/F"/>
          <p:cNvCxnSpPr>
            <a:cxnSpLocks/>
          </p:cNvCxnSpPr>
          <p:nvPr/>
        </p:nvCxnSpPr>
        <p:spPr>
          <a:xfrm>
            <a:off x="2225000" y="5400000"/>
            <a:ext cx="0" cy="40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⑩ label"/>
          <p:cNvSpPr txBox="1"/>
          <p:nvPr/>
        </p:nvSpPr>
        <p:spPr>
          <a:xfrm>
            <a:off x="2330000" y="550000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⑩ Backend I/F (descriptor · telemetry · binding)</a:t>
            </a:r>
          </a:p>
        </p:txBody>
      </p:sp>
      <p:cxnSp>
        <p:nvCxnSpPr>
          <p:cNvPr id="172" name="⑨ 전송 실행"/>
          <p:cNvCxnSpPr>
            <a:cxnSpLocks/>
          </p:cNvCxnSpPr>
          <p:nvPr/>
        </p:nvCxnSpPr>
        <p:spPr>
          <a:xfrm>
            <a:off x="10795000" y="4260000"/>
            <a:ext cx="0" cy="15400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⑨ label"/>
          <p:cNvSpPr txBox="1"/>
          <p:nvPr/>
        </p:nvSpPr>
        <p:spPr>
          <a:xfrm>
            <a:off x="10890000" y="4550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⑨ 전송</a:t>
            </a:r>
          </a:p>
          <a:p>
            <a:pPr algn="l"/>
            <a:r>
              <a:rPr lang="ko-KR" altLang="en-US" sz="750" dirty="0">
                <a:solidFill>
                  <a:schemeClr val="tx1"/>
                </a:solidFill>
              </a:rPr>
              <a:t>실행</a:t>
            </a:r>
          </a:p>
        </p:txBody>
      </p:sp>
      <p:cxnSp>
        <p:nvCxnSpPr>
          <p:cNvPr id="174" name="⑪ staging"/>
          <p:cNvCxnSpPr>
            <a:cxnSpLocks/>
          </p:cNvCxnSpPr>
          <p:nvPr/>
        </p:nvCxnSpPr>
        <p:spPr>
          <a:xfrm flipH="1">
            <a:off x="6500000" y="6225000"/>
            <a:ext cx="238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⑪ label"/>
          <p:cNvSpPr txBox="1"/>
          <p:nvPr/>
        </p:nvSpPr>
        <p:spPr>
          <a:xfrm>
            <a:off x="6550000" y="5980000"/>
            <a:ext cx="2300000" cy="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</a:rPr>
              <a:t>⑪ staging primitive</a:t>
            </a:r>
          </a:p>
        </p:txBody>
      </p:sp>
    </p:spTree>
    <p:extLst>
      <p:ext uri="{BB962C8B-B14F-4D97-AF65-F5344CB8AC3E}">
        <p14:creationId xmlns:p14="http://schemas.microsoft.com/office/powerpoint/2010/main" val="3699801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13258</Words>
  <Application>Microsoft Office PowerPoint</Application>
  <PresentationFormat>와이드스크린</PresentationFormat>
  <Paragraphs>2243</Paragraphs>
  <Slides>47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Mona Sans VF</vt:lpstr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Architecture 분석 – Overall System (Context View)</vt:lpstr>
      <vt:lpstr>Architecture 분석 – Overall Architecture (Module View)</vt:lpstr>
      <vt:lpstr>Architecture 분석 – DP 연결성</vt:lpstr>
      <vt:lpstr>Architecture 분석 – Overall Architecture (Module View)</vt:lpstr>
      <vt:lpstr>PowerPoint 프레젠테이션</vt:lpstr>
      <vt:lpstr>vLLM – 모듈 별 역할</vt:lpstr>
      <vt:lpstr>Memory Backend I/F 의 모듈 별 역할</vt:lpstr>
      <vt:lpstr>Architecture 분석</vt:lpstr>
      <vt:lpstr>vLLM 중요 모듈별 책임 요약</vt:lpstr>
      <vt:lpstr>PowerPoint 프레젠테이션</vt:lpstr>
      <vt:lpstr>PowerPoint 프레젠테이션</vt:lpstr>
      <vt:lpstr>전체 DP 연결</vt:lpstr>
      <vt:lpstr>PowerPoint 프레젠테이션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DP1. C1 구조 보완 (QA1 complement) - 설계</vt:lpstr>
      <vt:lpstr>DP1. 이기종 메모리 기반 Data Migration 결정 구조 - 설계</vt:lpstr>
      <vt:lpstr>DP1. 이기종 메모리 기반 Data Migration 결정 구조 - 설계</vt:lpstr>
      <vt:lpstr>PowerPoint 프레젠테이션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  <vt:lpstr>PowerPoint 프레젠테이션</vt:lpstr>
      <vt:lpstr>DP4. 서버 간 KV 공유 구조 – 배경</vt:lpstr>
      <vt:lpstr>DP4. 서버 간 KV 공유 구조 – 설계</vt:lpstr>
      <vt:lpstr>PowerPoint 프레젠테이션</vt:lpstr>
      <vt:lpstr>DP1. 이기종 메모리 기반 Data Migration 결정 구조 - 설계</vt:lpstr>
      <vt:lpstr>DP1. 이기종 메모리 기반 Data Migration 결정 구조 – 1안 상세</vt:lpstr>
      <vt:lpstr>DP1. 이기종 메모리 기반 Data Migration 결정 구조 – 1안 상세</vt:lpstr>
      <vt:lpstr>DP1. 이기종 메모리 기반 Data Migration 결정 구조 – 2안 상세</vt:lpstr>
      <vt:lpstr>DP1. 이기종 메모리 기반 Data Migration 결정 구조 – 2안 상세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DP1. 이기종 메모리 기반 Data Migration 구조 - Appendix</vt:lpstr>
      <vt:lpstr>S-LORA: SERVING THOUSANDS OF CONCURRENT LORA ADAPTERS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Myeong Woo Kim</cp:lastModifiedBy>
  <cp:revision>75</cp:revision>
  <dcterms:created xsi:type="dcterms:W3CDTF">2026-10-01T14:27:36Z</dcterms:created>
  <dcterms:modified xsi:type="dcterms:W3CDTF">2026-10-06T00:30:38Z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
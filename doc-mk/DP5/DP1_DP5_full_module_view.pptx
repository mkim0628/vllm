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5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701" r:id="rId5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249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50" Type="http://schemas.openxmlformats.org/officeDocument/2006/relationships/presProps" Target="presProps.xml"/><Relationship Id="rId53" Type="http://schemas.openxmlformats.org/officeDocument/2006/relationships/tableStyles" Target="tableStyles.xml"/><Relationship Id="rId52" Type="http://schemas.openxmlformats.org/officeDocument/2006/relationships/theme" Target="theme/theme1.xml"/><Relationship Id="rId5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49" Type="http://schemas.openxmlformats.org/officeDocument/2006/relationships/notesMaster" Target="notesMasters/notesMaster1.xml"/>  
  
  
  <Relationship Id="rId57" Type="http://schemas.openxmlformats.org/officeDocument/2006/relationships/slide" Target="slides/slide51.xml"/>
  
  
  
  
  
  
  
  
  
  
  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2693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1E269D-86BE-454D-95E7-7AB7335B5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DP5. 전체 Module View - 3 Plane 구조 (후보 1)</a:t>
            </a:r>
            <a:endParaRPr lang="ko-KR" altLang="en-US" dirty="0"/>
          </a:p>
        </p:txBody>
      </p:sp>
      <p:sp>
        <p:nvSpPr>
          <p:cNvPr id="101" name="note"/>
          <p:cNvSpPr txBox="1"/>
          <p:nvPr/>
        </p:nvSpPr>
        <p:spPr>
          <a:xfrm>
            <a:off x="400000" y="600000"/>
            <a:ext cx="11400000" cy="2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800" dirty="0">
                <a:solidFill>
                  <a:schemeClr val="tx1"/>
                </a:solidFill>
              </a:rPr>
              <a:t>Decision = 무엇을·언제·어디로 (정책)  ·  Control = 이동 lifecycle·위치 권한 (상태·조율)  ·  Data Transfer = 복사 실행   |   노랑: 신규·수정, 회색: 기존, 점선: 설계 범위 (빨강 DP-1, 주황 DP-5), 굵은 화살표: plane·프로세스 경계</a:t>
            </a:r>
          </a:p>
        </p:txBody>
      </p:sp>
      <p:sp>
        <p:nvSpPr>
          <p:cNvPr id="102" name="proc EC"/>
          <p:cNvSpPr/>
          <p:nvPr/>
        </p:nvSpPr>
        <p:spPr>
          <a:xfrm>
            <a:off x="400000" y="860000"/>
            <a:ext cx="7650000" cy="220000"/>
          </a:xfrm>
          <a:prstGeom prst="rect">
            <a:avLst/>
          </a:prstGeom>
          <a:solidFill>
            <a:srgbClr val="D9D9D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EngineCore 프로세스</a:t>
            </a:r>
          </a:p>
        </p:txBody>
      </p:sp>
      <p:sp>
        <p:nvSpPr>
          <p:cNvPr id="103" name="proc W"/>
          <p:cNvSpPr/>
          <p:nvPr/>
        </p:nvSpPr>
        <p:spPr>
          <a:xfrm>
            <a:off x="8750000" y="860000"/>
            <a:ext cx="3050000" cy="220000"/>
          </a:xfrm>
          <a:prstGeom prst="rect">
            <a:avLst/>
          </a:prstGeom>
          <a:solidFill>
            <a:srgbClr val="D9D9D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Worker 프로세스 (GPU당 1개)</a:t>
            </a:r>
          </a:p>
        </p:txBody>
      </p:sp>
      <p:sp>
        <p:nvSpPr>
          <p:cNvPr id="104" name="Generation"/>
          <p:cNvSpPr/>
          <p:nvPr/>
        </p:nvSpPr>
        <p:spPr>
          <a:xfrm>
            <a:off x="400000" y="1320000"/>
            <a:ext cx="7650000" cy="70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Generation (기존 엔진)</a:t>
            </a:r>
          </a:p>
        </p:txBody>
      </p:sp>
      <p:sp>
        <p:nvSpPr>
          <p:cNvPr id="105" name="Generation tab"/>
          <p:cNvSpPr/>
          <p:nvPr/>
        </p:nvSpPr>
        <p:spPr>
          <a:xfrm>
            <a:off x="400000" y="119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06" name="KV Cache Manager"/>
          <p:cNvSpPr/>
          <p:nvPr/>
        </p:nvSpPr>
        <p:spPr>
          <a:xfrm>
            <a:off x="550000" y="1660000"/>
            <a:ext cx="1550000" cy="3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KV Cache Manager</a:t>
            </a:r>
          </a:p>
        </p:txBody>
      </p:sp>
      <p:sp>
        <p:nvSpPr>
          <p:cNvPr id="107" name="KVDataAdapter"/>
          <p:cNvSpPr/>
          <p:nvPr/>
        </p:nvSpPr>
        <p:spPr>
          <a:xfrm>
            <a:off x="2300000" y="1660000"/>
            <a:ext cx="1550000" cy="3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KVDataAdapter</a:t>
            </a:r>
          </a:p>
        </p:txBody>
      </p:sp>
      <p:sp>
        <p:nvSpPr>
          <p:cNvPr id="108" name="Scheduler"/>
          <p:cNvSpPr/>
          <p:nvPr/>
        </p:nvSpPr>
        <p:spPr>
          <a:xfrm>
            <a:off x="6500000" y="1660000"/>
            <a:ext cx="1450000" cy="30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Scheduler</a:t>
            </a:r>
          </a:p>
        </p:txBody>
      </p:sp>
      <p:sp>
        <p:nvSpPr>
          <p:cNvPr id="109" name="Compute"/>
          <p:cNvSpPr/>
          <p:nvPr/>
        </p:nvSpPr>
        <p:spPr>
          <a:xfrm>
            <a:off x="8750000" y="1320000"/>
            <a:ext cx="3050000" cy="70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Compute Management (기존)</a:t>
            </a:r>
          </a:p>
        </p:txBody>
      </p:sp>
      <p:sp>
        <p:nvSpPr>
          <p:cNvPr id="110" name="Compute tab"/>
          <p:cNvSpPr/>
          <p:nvPr/>
        </p:nvSpPr>
        <p:spPr>
          <a:xfrm>
            <a:off x="8750000" y="119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1" name="Worker"/>
          <p:cNvSpPr/>
          <p:nvPr/>
        </p:nvSpPr>
        <p:spPr>
          <a:xfrm>
            <a:off x="8850000" y="1660000"/>
            <a:ext cx="900000" cy="3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Worker</a:t>
            </a:r>
          </a:p>
        </p:txBody>
      </p:sp>
      <p:sp>
        <p:nvSpPr>
          <p:cNvPr id="112" name="Model Runner · Block Table"/>
          <p:cNvSpPr/>
          <p:nvPr/>
        </p:nvSpPr>
        <p:spPr>
          <a:xfrm>
            <a:off x="9850000" y="1660000"/>
            <a:ext cx="1850000" cy="30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Model Runner · Block Table</a:t>
            </a:r>
          </a:p>
        </p:txBody>
      </p:sp>
      <p:sp>
        <p:nvSpPr>
          <p:cNvPr id="113" name="DecisionPlane"/>
          <p:cNvSpPr/>
          <p:nvPr/>
        </p:nvSpPr>
        <p:spPr>
          <a:xfrm>
            <a:off x="400000" y="2360000"/>
            <a:ext cx="3550000" cy="295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Decision Plane · DP-1</a:t>
            </a:r>
          </a:p>
        </p:txBody>
      </p:sp>
      <p:sp>
        <p:nvSpPr>
          <p:cNvPr id="114" name="DecisionPlane tab"/>
          <p:cNvSpPr/>
          <p:nvPr/>
        </p:nvSpPr>
        <p:spPr>
          <a:xfrm>
            <a:off x="400000" y="223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5" name="ControlPlane"/>
          <p:cNvSpPr/>
          <p:nvPr/>
        </p:nvSpPr>
        <p:spPr>
          <a:xfrm>
            <a:off x="4850000" y="2360000"/>
            <a:ext cx="3200000" cy="295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Control Plane · DP-5</a:t>
            </a:r>
          </a:p>
        </p:txBody>
      </p:sp>
      <p:sp>
        <p:nvSpPr>
          <p:cNvPr id="116" name="ControlPlane tab"/>
          <p:cNvSpPr/>
          <p:nvPr/>
        </p:nvSpPr>
        <p:spPr>
          <a:xfrm>
            <a:off x="4850000" y="223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7" name="DataTransferPlane"/>
          <p:cNvSpPr/>
          <p:nvPr/>
        </p:nvSpPr>
        <p:spPr>
          <a:xfrm>
            <a:off x="8750000" y="2360000"/>
            <a:ext cx="3050000" cy="295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Data Transfer Plane · DP-5</a:t>
            </a:r>
          </a:p>
        </p:txBody>
      </p:sp>
      <p:sp>
        <p:nvSpPr>
          <p:cNvPr id="118" name="DataTransferPlane tab"/>
          <p:cNvSpPr/>
          <p:nvPr/>
        </p:nvSpPr>
        <p:spPr>
          <a:xfrm>
            <a:off x="8750000" y="223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9" name="Migration Scheduler"/>
          <p:cNvSpPr/>
          <p:nvPr/>
        </p:nvSpPr>
        <p:spPr>
          <a:xfrm>
            <a:off x="500000" y="2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Scheduler</a:t>
            </a:r>
          </a:p>
        </p:txBody>
      </p:sp>
      <p:sp>
        <p:nvSpPr>
          <p:cNvPr id="120" name="Resource · Behavior Analyzer"/>
          <p:cNvSpPr/>
          <p:nvPr/>
        </p:nvSpPr>
        <p:spPr>
          <a:xfrm>
            <a:off x="500000" y="32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Resource · Behavior Analyzer</a:t>
            </a:r>
          </a:p>
        </p:txBody>
      </p:sp>
      <p:sp>
        <p:nvSpPr>
          <p:cNvPr id="121" name="Eviction · Affinity Mapper"/>
          <p:cNvSpPr/>
          <p:nvPr/>
        </p:nvSpPr>
        <p:spPr>
          <a:xfrm>
            <a:off x="500000" y="3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Eviction · Affinity Mapper</a:t>
            </a:r>
          </a:p>
        </p:txBody>
      </p:sp>
      <p:sp>
        <p:nvSpPr>
          <p:cNvPr id="122" name="Destination Tier Selector"/>
          <p:cNvSpPr/>
          <p:nvPr/>
        </p:nvSpPr>
        <p:spPr>
          <a:xfrm>
            <a:off x="500000" y="42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Destination Tier Selector</a:t>
            </a:r>
          </a:p>
        </p:txBody>
      </p:sp>
      <p:sp>
        <p:nvSpPr>
          <p:cNvPr id="123" name="Access Cost Estimator"/>
          <p:cNvSpPr/>
          <p:nvPr/>
        </p:nvSpPr>
        <p:spPr>
          <a:xfrm>
            <a:off x="500000" y="4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Access Cost Estimator</a:t>
            </a:r>
          </a:p>
        </p:txBody>
      </p:sp>
      <p:sp>
        <p:nvSpPr>
          <p:cNvPr id="124" name="Resource Manager"/>
          <p:cNvSpPr/>
          <p:nvPr/>
        </p:nvSpPr>
        <p:spPr>
          <a:xfrm>
            <a:off x="2200000" y="2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Resource Manager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(Telemetry · Registry)</a:t>
            </a:r>
          </a:p>
        </p:txBody>
      </p:sp>
      <p:sp>
        <p:nvSpPr>
          <p:cNvPr id="125" name="Migration Data Selector"/>
          <p:cNvSpPr/>
          <p:nvPr/>
        </p:nvSpPr>
        <p:spPr>
          <a:xfrm>
            <a:off x="2200000" y="42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Data Selector</a:t>
            </a:r>
          </a:p>
        </p:txBody>
      </p:sp>
      <p:sp>
        <p:nvSpPr>
          <p:cNvPr id="126" name="Data Object Registry"/>
          <p:cNvSpPr/>
          <p:nvPr/>
        </p:nvSpPr>
        <p:spPr>
          <a:xfrm>
            <a:off x="2200000" y="4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Data Object Registry</a:t>
            </a:r>
          </a:p>
        </p:txBody>
      </p:sp>
      <p:sp>
        <p:nvSpPr>
          <p:cNvPr id="127" name="Migration Planner / Queue"/>
          <p:cNvSpPr/>
          <p:nvPr/>
        </p:nvSpPr>
        <p:spPr>
          <a:xfrm>
            <a:off x="6500000" y="2780000"/>
            <a:ext cx="14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Planner / Queue</a:t>
            </a:r>
          </a:p>
        </p:txBody>
      </p:sp>
      <p:sp>
        <p:nvSpPr>
          <p:cNvPr id="128" name="Access Guard"/>
          <p:cNvSpPr/>
          <p:nvPr/>
        </p:nvSpPr>
        <p:spPr>
          <a:xfrm>
            <a:off x="6500000" y="3780000"/>
            <a:ext cx="14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Access Guard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(pin · epoch)</a:t>
            </a:r>
          </a:p>
        </p:txBody>
      </p:sp>
      <p:sp>
        <p:nvSpPr>
          <p:cNvPr id="129" name="Data Location Store"/>
          <p:cNvSpPr/>
          <p:nvPr/>
        </p:nvSpPr>
        <p:spPr>
          <a:xfrm>
            <a:off x="6500000" y="4280000"/>
            <a:ext cx="14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Data Location Store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(authoritative)</a:t>
            </a:r>
          </a:p>
        </p:txBody>
      </p:sp>
      <p:sp>
        <p:nvSpPr>
          <p:cNvPr id="130" name="Migration Coordinator"/>
          <p:cNvSpPr/>
          <p:nvPr/>
        </p:nvSpPr>
        <p:spPr>
          <a:xfrm>
            <a:off x="4950000" y="4280000"/>
            <a:ext cx="14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Coordinator</a:t>
            </a:r>
          </a:p>
        </p:txBody>
      </p:sp>
      <p:sp>
        <p:nvSpPr>
          <p:cNvPr id="131" name="Completion Reconciler"/>
          <p:cNvSpPr/>
          <p:nvPr/>
        </p:nvSpPr>
        <p:spPr>
          <a:xfrm>
            <a:off x="4950000" y="4780000"/>
            <a:ext cx="14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Completion Reconciler</a:t>
            </a:r>
          </a:p>
        </p:txBody>
      </p:sp>
      <p:sp>
        <p:nvSpPr>
          <p:cNvPr id="132" name="Migration Executor"/>
          <p:cNvSpPr/>
          <p:nvPr/>
        </p:nvSpPr>
        <p:spPr>
          <a:xfrm>
            <a:off x="8850000" y="2780000"/>
            <a:ext cx="28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Executor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(copy 실행)</a:t>
            </a:r>
          </a:p>
        </p:txBody>
      </p:sp>
      <p:sp>
        <p:nvSpPr>
          <p:cNvPr id="133" name="Transfer Router"/>
          <p:cNvSpPr/>
          <p:nvPr/>
        </p:nvSpPr>
        <p:spPr>
          <a:xfrm>
            <a:off x="10050000" y="3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Transfer Router</a:t>
            </a:r>
          </a:p>
        </p:txBody>
      </p:sp>
      <p:sp>
        <p:nvSpPr>
          <p:cNvPr id="134" name="DeviceRuntime"/>
          <p:cNvSpPr/>
          <p:nvPr/>
        </p:nvSpPr>
        <p:spPr>
          <a:xfrm>
            <a:off x="400000" y="5800000"/>
            <a:ext cx="11400000" cy="6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Device Runtime Interface</a:t>
            </a:r>
          </a:p>
        </p:txBody>
      </p:sp>
      <p:sp>
        <p:nvSpPr>
          <p:cNvPr id="135" name="DeviceRuntime tab"/>
          <p:cNvSpPr/>
          <p:nvPr/>
        </p:nvSpPr>
        <p:spPr>
          <a:xfrm>
            <a:off x="400000" y="567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36" name="Memory Backend I/F · Common Memory · PIM · PNM · ScHBM Backend"/>
          <p:cNvSpPr/>
          <p:nvPr/>
        </p:nvSpPr>
        <p:spPr>
          <a:xfrm>
            <a:off x="550000" y="6070000"/>
            <a:ext cx="5950000" cy="30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Memory Backend I/F · Common Memory · PIM · PNM · ScHBM Backend</a:t>
            </a:r>
          </a:p>
        </p:txBody>
      </p:sp>
      <p:sp>
        <p:nvSpPr>
          <p:cNvPr id="137" name="Transfer Handler (DMA · P2P · CXL · NVMe)"/>
          <p:cNvSpPr/>
          <p:nvPr/>
        </p:nvSpPr>
        <p:spPr>
          <a:xfrm>
            <a:off x="8850000" y="6070000"/>
            <a:ext cx="2850000" cy="30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Transfer Handler (DMA · P2P · CXL · NVMe)</a:t>
            </a:r>
          </a:p>
        </p:txBody>
      </p:sp>
      <p:sp>
        <p:nvSpPr>
          <p:cNvPr id="138" name="DP1 범위"/>
          <p:cNvSpPr/>
          <p:nvPr/>
        </p:nvSpPr>
        <p:spPr>
          <a:xfrm>
            <a:off x="450000" y="2700000"/>
            <a:ext cx="3450000" cy="2520000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39" name="DP5 control 범위"/>
          <p:cNvSpPr/>
          <p:nvPr/>
        </p:nvSpPr>
        <p:spPr>
          <a:xfrm>
            <a:off x="4900000" y="2700000"/>
            <a:ext cx="3100000" cy="2520000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0" name="DP5 data 범위"/>
          <p:cNvSpPr/>
          <p:nvPr/>
        </p:nvSpPr>
        <p:spPr>
          <a:xfrm>
            <a:off x="8800000" y="2700000"/>
            <a:ext cx="2950000" cy="1520000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1" name="DP5 수정 Scheduler"/>
          <p:cNvSpPr/>
          <p:nvPr/>
        </p:nvSpPr>
        <p:spPr>
          <a:xfrm>
            <a:off x="6450000" y="1600000"/>
            <a:ext cx="1550000" cy="420000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2" name="DP5 수정 Model Runner"/>
          <p:cNvSpPr/>
          <p:nvPr/>
        </p:nvSpPr>
        <p:spPr>
          <a:xfrm>
            <a:off x="9800000" y="1600000"/>
            <a:ext cx="1950000" cy="420000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3" name="DP1 Backend I/F"/>
          <p:cNvSpPr/>
          <p:nvPr/>
        </p:nvSpPr>
        <p:spPr>
          <a:xfrm>
            <a:off x="480000" y="6030000"/>
            <a:ext cx="6100000" cy="380000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4" name="DP5 Transfer Handler"/>
          <p:cNvSpPr/>
          <p:nvPr/>
        </p:nvSpPr>
        <p:spPr>
          <a:xfrm>
            <a:off x="8800000" y="6030000"/>
            <a:ext cx="2950000" cy="380000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cxnSp>
        <p:nvCxnSpPr>
          <p:cNvPr id="145" name="flow 0"/>
          <p:cNvCxnSpPr/>
          <p:nvPr/>
        </p:nvCxnSpPr>
        <p:spPr>
          <a:xfrm>
            <a:off x="1325000" y="3140000"/>
            <a:ext cx="0" cy="1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46" name="flow 1"/>
          <p:cNvCxnSpPr/>
          <p:nvPr/>
        </p:nvCxnSpPr>
        <p:spPr>
          <a:xfrm>
            <a:off x="1325000" y="3640000"/>
            <a:ext cx="0" cy="1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47" name="flow 2"/>
          <p:cNvCxnSpPr/>
          <p:nvPr/>
        </p:nvCxnSpPr>
        <p:spPr>
          <a:xfrm>
            <a:off x="1325000" y="4140000"/>
            <a:ext cx="0" cy="1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48" name="flow 4"/>
          <p:cNvCxnSpPr/>
          <p:nvPr/>
        </p:nvCxnSpPr>
        <p:spPr>
          <a:xfrm>
            <a:off x="1325000" y="4640000"/>
            <a:ext cx="0" cy="1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49" name="DTS to MDS"/>
          <p:cNvCxnSpPr/>
          <p:nvPr/>
        </p:nvCxnSpPr>
        <p:spPr>
          <a:xfrm>
            <a:off x="2150000" y="4460000"/>
            <a:ext cx="50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50" name="③ binding"/>
          <p:cNvCxnSpPr/>
          <p:nvPr/>
        </p:nvCxnSpPr>
        <p:spPr>
          <a:xfrm flipV="1">
            <a:off x="3850000" y="2910000"/>
            <a:ext cx="2650000" cy="5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51" name="③ label"/>
          <p:cNvSpPr txBox="1"/>
          <p:nvPr/>
        </p:nvSpPr>
        <p:spPr>
          <a:xfrm>
            <a:off x="3970000" y="2600000"/>
            <a:ext cx="860000" cy="3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③ binding ·</a:t>
            </a:r>
          </a:p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topology (읽기)</a:t>
            </a:r>
          </a:p>
        </p:txBody>
      </p:sp>
      <p:cxnSp>
        <p:nvCxnSpPr>
          <p:cNvPr id="152" name="② MigrationIntent"/>
          <p:cNvCxnSpPr/>
          <p:nvPr/>
        </p:nvCxnSpPr>
        <p:spPr>
          <a:xfrm>
            <a:off x="3850000" y="4460000"/>
            <a:ext cx="1100000" cy="0"/>
          </a:xfrm>
          <a:prstGeom prst="line">
            <a:avLst/>
          </a:prstGeom>
          <a:ln w="2857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53" name="② label"/>
          <p:cNvSpPr txBox="1"/>
          <p:nvPr/>
        </p:nvSpPr>
        <p:spPr>
          <a:xfrm>
            <a:off x="3970000" y="4120000"/>
            <a:ext cx="86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② Migration</a:t>
            </a:r>
          </a:p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Intent</a:t>
            </a:r>
          </a:p>
        </p:txBody>
      </p:sp>
      <p:cxnSp>
        <p:nvCxnSpPr>
          <p:cNvPr id="154" name="④ 이벤트"/>
          <p:cNvCxnSpPr/>
          <p:nvPr/>
        </p:nvCxnSpPr>
        <p:spPr>
          <a:xfrm flipH="1">
            <a:off x="3850000" y="4960000"/>
            <a:ext cx="1100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55" name="④ label"/>
          <p:cNvSpPr txBox="1"/>
          <p:nvPr/>
        </p:nvSpPr>
        <p:spPr>
          <a:xfrm>
            <a:off x="3970000" y="5000000"/>
            <a:ext cx="860000" cy="4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④ 완료 · 실패 ·</a:t>
            </a:r>
          </a:p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commit 결과 ·</a:t>
            </a:r>
          </a:p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실측 비용</a:t>
            </a:r>
          </a:p>
        </p:txBody>
      </p:sp>
      <p:sp>
        <p:nvSpPr>
          <p:cNvPr id="156" name="Coordinator to Planner"/>
          <p:cNvSpPr/>
          <p:nvPr/>
        </p:nvSpPr>
        <p:spPr>
          <a:xfrm>
            <a:off x="5370000" y="3040000"/>
            <a:ext cx="1130000" cy="1240000"/>
          </a:xfrm>
          <a:custGeom>
            <a:avLst/>
            <a:gdLst/>
            <a:ahLst/>
            <a:cxnLst/>
            <a:rect l="0" t="0" r="r" b="b"/>
            <a:pathLst>
              <a:path w="1130000" h="1240000" fill="none">
                <a:moveTo>
                  <a:pt x="0" y="1240000"/>
                </a:moveTo>
                <a:lnTo>
                  <a:pt x="0" y="0"/>
                </a:lnTo>
                <a:lnTo>
                  <a:pt x="1130000" y="0"/>
                </a:lnTo>
              </a:path>
            </a:pathLst>
          </a:custGeom>
          <a:noFill/>
          <a:ln w="12700">
            <a:solidFill>
              <a:schemeClr val="tx1"/>
            </a:solidFill>
            <a:prstDash val="dash"/>
            <a:tailEnd type="arrow"/>
          </a:ln>
        </p:spPr>
      </p:sp>
      <p:cxnSp>
        <p:nvCxnSpPr>
          <p:cNvPr id="157" name="Coordinator to Store"/>
          <p:cNvCxnSpPr/>
          <p:nvPr/>
        </p:nvCxnSpPr>
        <p:spPr>
          <a:xfrm>
            <a:off x="6400000" y="4460000"/>
            <a:ext cx="100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58" name="Reconciler to Coordinator"/>
          <p:cNvCxnSpPr/>
          <p:nvPr/>
        </p:nvCxnSpPr>
        <p:spPr>
          <a:xfrm flipV="1">
            <a:off x="5570000" y="4640000"/>
            <a:ext cx="0" cy="1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59" name="① Event"/>
          <p:cNvCxnSpPr/>
          <p:nvPr/>
        </p:nvCxnSpPr>
        <p:spPr>
          <a:xfrm>
            <a:off x="1000000" y="1960000"/>
            <a:ext cx="0" cy="7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60" name="① label"/>
          <p:cNvSpPr txBox="1"/>
          <p:nvPr/>
        </p:nvSpPr>
        <p:spPr>
          <a:xfrm>
            <a:off x="1100000" y="2040000"/>
            <a:ext cx="2800000" cy="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750" dirty="0">
                <a:solidFill>
                  <a:schemeClr val="tx1"/>
                </a:solidFill>
              </a:rPr>
              <a:t>① Event (할당 · 해제 · 재사용 · pressure)</a:t>
            </a:r>
          </a:p>
        </p:txBody>
      </p:sp>
      <p:cxnSp>
        <p:nvCxnSpPr>
          <p:cNvPr id="161" name="⑤ Scheduler와 Control Plane"/>
          <p:cNvCxnSpPr/>
          <p:nvPr/>
        </p:nvCxnSpPr>
        <p:spPr>
          <a:xfrm>
            <a:off x="7600000" y="1960000"/>
            <a:ext cx="0" cy="7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</p:cxnSp>
      <p:sp>
        <p:nvSpPr>
          <p:cNvPr id="162" name="⑤ label"/>
          <p:cNvSpPr txBox="1"/>
          <p:nvPr/>
        </p:nvSpPr>
        <p:spPr>
          <a:xfrm>
            <a:off x="5300000" y="2040000"/>
            <a:ext cx="2220000" cy="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ko-KR" altLang="en-US" sz="700" dirty="0">
                <a:solidFill>
                  <a:schemeClr val="tx1"/>
                </a:solidFill>
              </a:rPr>
              <a:t>⑤ 필수 접근 promotion (BLOCKING Intent)</a:t>
            </a:r>
          </a:p>
          <a:p>
            <a:pPr algn="r"/>
            <a:r>
              <a:rPr lang="ko-KR" altLang="en-US" sz="700" dirty="0">
                <a:solidFill>
                  <a:schemeClr val="tx1"/>
                </a:solidFill>
              </a:rPr>
              <a:t>↔ 위치 · 준비 상태 · dependency</a:t>
            </a:r>
          </a:p>
        </p:txBody>
      </p:sp>
      <p:cxnSp>
        <p:nvCxnSpPr>
          <p:cNvPr id="163" name="⑥ command"/>
          <p:cNvCxnSpPr/>
          <p:nvPr/>
        </p:nvCxnSpPr>
        <p:spPr>
          <a:xfrm>
            <a:off x="7950000" y="2960000"/>
            <a:ext cx="900000" cy="0"/>
          </a:xfrm>
          <a:prstGeom prst="line">
            <a:avLst/>
          </a:prstGeom>
          <a:ln w="2857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64" name="⑥ label"/>
          <p:cNvSpPr txBox="1"/>
          <p:nvPr/>
        </p:nvSpPr>
        <p:spPr>
          <a:xfrm>
            <a:off x="8070000" y="2580000"/>
            <a:ext cx="660000" cy="34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⑥ command</a:t>
            </a:r>
          </a:p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· dependency</a:t>
            </a:r>
          </a:p>
        </p:txBody>
      </p:sp>
      <p:sp>
        <p:nvSpPr>
          <p:cNvPr id="165" name="⑦ completion"/>
          <p:cNvSpPr/>
          <p:nvPr/>
        </p:nvSpPr>
        <p:spPr>
          <a:xfrm>
            <a:off x="6400000" y="3140000"/>
            <a:ext cx="2650000" cy="1820000"/>
          </a:xfrm>
          <a:custGeom>
            <a:avLst/>
            <a:gdLst/>
            <a:ahLst/>
            <a:cxnLst/>
            <a:rect l="0" t="0" r="r" b="b"/>
            <a:pathLst>
              <a:path w="2650000" h="1820000" fill="none">
                <a:moveTo>
                  <a:pt x="2650000" y="0"/>
                </a:moveTo>
                <a:lnTo>
                  <a:pt x="2650000" y="1820000"/>
                </a:lnTo>
                <a:lnTo>
                  <a:pt x="0" y="1820000"/>
                </a:lnTo>
              </a:path>
            </a:pathLst>
          </a:custGeom>
          <a:noFill/>
          <a:ln w="28575">
            <a:solidFill>
              <a:schemeClr val="tx1"/>
            </a:solidFill>
            <a:prstDash val="dash"/>
            <a:tailEnd type="arrow"/>
          </a:ln>
        </p:spPr>
      </p:sp>
      <p:sp>
        <p:nvSpPr>
          <p:cNvPr id="166" name="⑦ label"/>
          <p:cNvSpPr txBox="1"/>
          <p:nvPr/>
        </p:nvSpPr>
        <p:spPr>
          <a:xfrm>
            <a:off x="6550000" y="4720000"/>
            <a:ext cx="2050000" cy="1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⑦ completion 보고</a:t>
            </a:r>
          </a:p>
        </p:txBody>
      </p:sp>
      <p:cxnSp>
        <p:nvCxnSpPr>
          <p:cNvPr id="167" name="⑧ dependency 대기"/>
          <p:cNvCxnSpPr/>
          <p:nvPr/>
        </p:nvCxnSpPr>
        <p:spPr>
          <a:xfrm flipV="1">
            <a:off x="11500000" y="1960000"/>
            <a:ext cx="0" cy="82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</p:cxnSp>
      <p:sp>
        <p:nvSpPr>
          <p:cNvPr id="168" name="⑧ label"/>
          <p:cNvSpPr txBox="1"/>
          <p:nvPr/>
        </p:nvSpPr>
        <p:spPr>
          <a:xfrm>
            <a:off x="9050000" y="2060000"/>
            <a:ext cx="2250000" cy="2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ko-KR" altLang="en-US" sz="750" dirty="0">
                <a:solidFill>
                  <a:schemeClr val="tx1"/>
                </a:solidFill>
              </a:rPr>
              <a:t>⑧ dependency 대기 ↔ 완료</a:t>
            </a:r>
          </a:p>
        </p:txBody>
      </p:sp>
      <p:cxnSp>
        <p:nvCxnSpPr>
          <p:cNvPr id="169" name="Executor to Router"/>
          <p:cNvCxnSpPr/>
          <p:nvPr/>
        </p:nvCxnSpPr>
        <p:spPr>
          <a:xfrm>
            <a:off x="10870000" y="3140000"/>
            <a:ext cx="0" cy="6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70" name="⑨ 전송 실행"/>
          <p:cNvCxnSpPr/>
          <p:nvPr/>
        </p:nvCxnSpPr>
        <p:spPr>
          <a:xfrm>
            <a:off x="10870000" y="4140000"/>
            <a:ext cx="0" cy="166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71" name="⑨ label"/>
          <p:cNvSpPr txBox="1"/>
          <p:nvPr/>
        </p:nvSpPr>
        <p:spPr>
          <a:xfrm>
            <a:off x="10950000" y="4700000"/>
            <a:ext cx="80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750" dirty="0">
                <a:solidFill>
                  <a:schemeClr val="tx1"/>
                </a:solidFill>
              </a:rPr>
              <a:t>⑨ 전송</a:t>
            </a:r>
          </a:p>
          <a:p>
            <a:pPr algn="l"/>
            <a:r>
              <a:rPr lang="ko-KR" altLang="en-US" sz="750" dirty="0">
                <a:solidFill>
                  <a:schemeClr val="tx1"/>
                </a:solidFill>
              </a:rPr>
              <a:t>실행</a:t>
            </a:r>
          </a:p>
        </p:txBody>
      </p:sp>
      <p:cxnSp>
        <p:nvCxnSpPr>
          <p:cNvPr id="172" name="⑩ Backend I/F"/>
          <p:cNvCxnSpPr/>
          <p:nvPr/>
        </p:nvCxnSpPr>
        <p:spPr>
          <a:xfrm>
            <a:off x="2250000" y="5310000"/>
            <a:ext cx="0" cy="49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73" name="⑩ label"/>
          <p:cNvSpPr txBox="1"/>
          <p:nvPr/>
        </p:nvSpPr>
        <p:spPr>
          <a:xfrm>
            <a:off x="2330000" y="5450000"/>
            <a:ext cx="3400000" cy="2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750" dirty="0">
                <a:solidFill>
                  <a:schemeClr val="tx1"/>
                </a:solidFill>
              </a:rPr>
              <a:t>⑩ Backend I/F (descriptor · telemetry · binding)</a:t>
            </a:r>
          </a:p>
        </p:txBody>
      </p:sp>
      <p:cxnSp>
        <p:nvCxnSpPr>
          <p:cNvPr id="174" name="⑪ staging"/>
          <p:cNvCxnSpPr/>
          <p:nvPr/>
        </p:nvCxnSpPr>
        <p:spPr>
          <a:xfrm flipH="1">
            <a:off x="6500000" y="6220000"/>
            <a:ext cx="2350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75" name="⑪ label"/>
          <p:cNvSpPr txBox="1"/>
          <p:nvPr/>
        </p:nvSpPr>
        <p:spPr>
          <a:xfrm>
            <a:off x="6550000" y="5950000"/>
            <a:ext cx="2100000" cy="2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⑪ staging primitive</a:t>
            </a:r>
          </a:p>
        </p:txBody>
      </p:sp>
    </p:spTree>
    <p:extLst>
      <p:ext uri="{BB962C8B-B14F-4D97-AF65-F5344CB8AC3E}">
        <p14:creationId xmlns:p14="http://schemas.microsoft.com/office/powerpoint/2010/main" val="36998018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4861</TotalTime>
  <Words>13258</Words>
  <Application>Microsoft Office PowerPoint</Application>
  <PresentationFormat>와이드스크린</PresentationFormat>
  <Paragraphs>2243</Paragraphs>
  <Slides>47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4" baseType="lpstr">
      <vt:lpstr>Mona Sans VF</vt:lpstr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Architecture 분석 – Overall System (Context View)</vt:lpstr>
      <vt:lpstr>Architecture 분석 – Overall Architecture (Module View)</vt:lpstr>
      <vt:lpstr>Architecture 분석 – DP 연결성</vt:lpstr>
      <vt:lpstr>Architecture 분석 – Overall Architecture (Module View)</vt:lpstr>
      <vt:lpstr>PowerPoint 프레젠테이션</vt:lpstr>
      <vt:lpstr>vLLM – 모듈 별 역할</vt:lpstr>
      <vt:lpstr>Memory Backend I/F 의 모듈 별 역할</vt:lpstr>
      <vt:lpstr>Architecture 분석</vt:lpstr>
      <vt:lpstr>vLLM 중요 모듈별 책임 요약</vt:lpstr>
      <vt:lpstr>PowerPoint 프레젠테이션</vt:lpstr>
      <vt:lpstr>PowerPoint 프레젠테이션</vt:lpstr>
      <vt:lpstr>전체 DP 연결</vt:lpstr>
      <vt:lpstr>PowerPoint 프레젠테이션</vt:lpstr>
      <vt:lpstr>DP1. 이기종 메모리 기반 Data Migration 결정 구조 - 배경</vt:lpstr>
      <vt:lpstr>DP1. 이기종 메모리 기반 Data Migration 결정 구조 - 배경</vt:lpstr>
      <vt:lpstr>DP1. 이기종 메모리 기반 Data Migration 결정 구조 - 설계</vt:lpstr>
      <vt:lpstr>DP1. 이기종 메모리 기반 Data Migration 결정 구조 - 설계</vt:lpstr>
      <vt:lpstr>DP1. C1 구조 보완 (QA1 complement) - 설계</vt:lpstr>
      <vt:lpstr>DP1. 이기종 메모리 기반 Data Migration 결정 구조 - 설계</vt:lpstr>
      <vt:lpstr>DP1. 이기종 메모리 기반 Data Migration 결정 구조 - 설계</vt:lpstr>
      <vt:lpstr>PowerPoint 프레젠테이션</vt:lpstr>
      <vt:lpstr>DP2. 이기종 메모리 환경의 Prefill/Decode 실행 위치 결정 구조 - 사전 지식</vt:lpstr>
      <vt:lpstr>DP2. 이기종 메모리 환경의 Prefill/Decode 실행 위치 결정 구조 - 배경</vt:lpstr>
      <vt:lpstr>DP2. 이기종 메모리 환경의 Prefill/Decode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  <vt:lpstr>PowerPoint 프레젠테이션</vt:lpstr>
      <vt:lpstr>DP4. 서버 간 KV 공유 구조 – 배경</vt:lpstr>
      <vt:lpstr>DP4. 서버 간 KV 공유 구조 – 설계</vt:lpstr>
      <vt:lpstr>PowerPoint 프레젠테이션</vt:lpstr>
      <vt:lpstr>DP1. 이기종 메모리 기반 Data Migration 결정 구조 - 설계</vt:lpstr>
      <vt:lpstr>DP1. 이기종 메모리 기반 Data Migration 결정 구조 – 1안 상세</vt:lpstr>
      <vt:lpstr>DP1. 이기종 메모리 기반 Data Migration 결정 구조 – 1안 상세</vt:lpstr>
      <vt:lpstr>DP1. 이기종 메모리 기반 Data Migration 결정 구조 – 2안 상세</vt:lpstr>
      <vt:lpstr>DP1. 이기종 메모리 기반 Data Migration 결정 구조 – 2안 상세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S-LORA: SERVING THOUSANDS OF CONCURRENT LORA ADAPTERS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Myeong Woo Kim</cp:lastModifiedBy>
  <cp:revision>75</cp:revision>
  <dcterms:created xsi:type="dcterms:W3CDTF">2026-10-01T14:27:36Z</dcterms:created>
  <dcterms:modified xsi:type="dcterms:W3CDTF">2026-10-06T00:30:38Z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
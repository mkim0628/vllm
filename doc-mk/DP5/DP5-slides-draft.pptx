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698" r:id="rId54"/>
    <p:sldId id="699" r:id="rId55"/>
    <p:sldId id="700" r:id="rId56"/>
    <p:sldId id="701" r:id="rId57"/>
    <p:sldId id="702" r:id="rId58"/>
    <p:sldId id="703" r:id="rId59"/>
    <p:sldId id="704" r:id="rId60"/>
    <p:sldId id="705" r:id="rId61"/>
    <p:sldId id="706" r:id="rId62"/>
    <p:sldId id="707" r:id="rId63"/>
    <p:sldId id="708" r:id="rId64"/>
    <p:sldId id="709" r:id="rId65"/>
    <p:sldId id="710" r:id="rId66"/>
    <p:sldId id="711" r:id="rId67"/>
    <p:sldId id="712" r:id="rId6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0" Type="http://schemas.openxmlformats.org/officeDocument/2006/relationships/presProps" Target="presProps.xml"/><Relationship Id="rId53" Type="http://schemas.openxmlformats.org/officeDocument/2006/relationships/tableStyles" Target="tableStyles.xml"/><Relationship Id="rId52" Type="http://schemas.openxmlformats.org/officeDocument/2006/relationships/theme" Target="theme/theme1.xml"/><Relationship Id="rId5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49" Type="http://schemas.openxmlformats.org/officeDocument/2006/relationships/notesMaster" Target="notesMasters/notesMaster1.xml"/>  <Relationship Id="rId54" Type="http://schemas.openxmlformats.org/officeDocument/2006/relationships/slide" Target="slides/slide48.xml"/>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  <Relationship Id="rId62" Type="http://schemas.openxmlformats.org/officeDocument/2006/relationships/slide" Target="slides/slide56.xml"/>
  <Relationship Id="rId63" Type="http://schemas.openxmlformats.org/officeDocument/2006/relationships/slide" Target="slides/slide57.xml"/>
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  <Relationship Id="rId67" Type="http://schemas.openxmlformats.org/officeDocument/2006/relationships/slide" Target="slides/slide61.xml"/>
  <Relationship Id="rId68" Type="http://schemas.openxmlformats.org/officeDocument/2006/relationships/slide" Target="slides/slide6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6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DP5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585930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배경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asis frame"/>
          <p:cNvSpPr/>
          <p:nvPr/>
        </p:nvSpPr>
        <p:spPr>
          <a:xfrm>
            <a:off x="274320" y="1188720"/>
            <a:ext cx="5760720" cy="324612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02" name="As-Is: vLLM 은 논리 블록 = HBM 슬롯 번호"/>
          <p:cNvSpPr/>
          <p:nvPr/>
        </p:nvSpPr>
        <p:spPr>
          <a:xfrm>
            <a:off x="1234440" y="1069848"/>
            <a:ext cx="3840480" cy="246888"/>
          </a:xfrm>
          <a:prstGeom prst="roundRect">
            <a:avLst>
              <a:gd name="adj" fmla="val 3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As-Is: vLLM 은 논리 블록 = HBM 슬롯 번호</a:t>
            </a:r>
          </a:p>
        </p:txBody>
      </p:sp>
      <p:sp>
        <p:nvSpPr>
          <p:cNvPr id="103" name="Scheduler + KVCacheManager"/>
          <p:cNvSpPr/>
          <p:nvPr/>
        </p:nvSpPr>
        <p:spPr>
          <a:xfrm>
            <a:off x="502920" y="1508760"/>
            <a:ext cx="16002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Scheduler + KVCacheManager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block_id = GPU KV 슬롯 번호</a:t>
            </a:r>
          </a:p>
        </p:txBody>
      </p:sp>
      <p:sp>
        <p:nvSpPr>
          <p:cNvPr id="104" name="SchedulerOutput"/>
          <p:cNvSpPr/>
          <p:nvPr/>
        </p:nvSpPr>
        <p:spPr>
          <a:xfrm>
            <a:off x="2423160" y="1508760"/>
            <a:ext cx="16002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SchedulerOutput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new_block_ids: append 만 가능</a:t>
            </a:r>
          </a:p>
        </p:txBody>
      </p:sp>
      <p:sp>
        <p:nvSpPr>
          <p:cNvPr id="105" name="Worker BlockTable"/>
          <p:cNvSpPr/>
          <p:nvPr/>
        </p:nvSpPr>
        <p:spPr>
          <a:xfrm>
            <a:off x="4343400" y="1508760"/>
            <a:ext cx="146304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Worker BlockTable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append_row / add_row</a:t>
            </a:r>
          </a:p>
        </p:txBody>
      </p:sp>
      <p:cxnSp>
        <p:nvCxnSpPr>
          <p:cNvPr id="106" name="a1"/>
          <p:cNvCxnSpPr/>
          <p:nvPr/>
        </p:nvCxnSpPr>
        <p:spPr>
          <a:xfrm>
            <a:off x="2103120" y="1737360"/>
            <a:ext cx="32004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07" name="a2"/>
          <p:cNvCxnSpPr/>
          <p:nvPr/>
        </p:nvCxnSpPr>
        <p:spPr>
          <a:xfrm>
            <a:off x="4023360" y="1737360"/>
            <a:ext cx="32004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08" name="GPU KV tensor (HBM)"/>
          <p:cNvSpPr/>
          <p:nvPr/>
        </p:nvSpPr>
        <p:spPr>
          <a:xfrm>
            <a:off x="2423160" y="2331720"/>
            <a:ext cx="3383280" cy="411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GPU KV tensor (HBM)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slot 0 ~ num_gpu_blocks-1 = 식별자</a:t>
            </a:r>
          </a:p>
        </p:txBody>
      </p:sp>
      <p:cxnSp>
        <p:nvCxnSpPr>
          <p:cNvPr id="109" name="a3"/>
          <p:cNvCxnSpPr/>
          <p:nvPr/>
        </p:nvCxnSpPr>
        <p:spPr>
          <a:xfrm>
            <a:off x="5074920" y="1965960"/>
            <a:ext cx="0" cy="36576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10" name="asis problems"/>
          <p:cNvSpPr/>
          <p:nvPr/>
        </p:nvSpPr>
        <p:spPr>
          <a:xfrm>
            <a:off x="502920" y="2880360"/>
            <a:ext cx="5303520" cy="141732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50" b="1" dirty="0">
                <a:solidFill>
                  <a:schemeClr val="tx1"/>
                </a:solidFill>
              </a:rPr>
              <a:t>이동 경로 부재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배정된 블록의 물리 슬롯을 바꾸는 갱신 경로 없음 (block_table.py:276-280)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KV 이동은 offload 전용(HBM↔CPU), 데이터 타입·tier 구분 없음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위치를 소유하는 registry, 이동을 실행하는 계층 없음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async_scheduling 으로 step 이 겹치면 해제된 슬롯을 읽을 위험</a:t>
            </a:r>
          </a:p>
        </p:txBody>
      </p:sp>
      <p:sp>
        <p:nvSpPr>
          <p:cNvPr id="111" name="tobe frame"/>
          <p:cNvSpPr/>
          <p:nvPr/>
        </p:nvSpPr>
        <p:spPr>
          <a:xfrm>
            <a:off x="6263640" y="1188720"/>
            <a:ext cx="5669280" cy="324612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12" name="To-Be: 논리 블록 아래의 위치 이동 계층"/>
          <p:cNvSpPr/>
          <p:nvPr/>
        </p:nvSpPr>
        <p:spPr>
          <a:xfrm>
            <a:off x="7360920" y="1069848"/>
            <a:ext cx="3474720" cy="246888"/>
          </a:xfrm>
          <a:prstGeom prst="roundRect">
            <a:avLst>
              <a:gd name="adj" fmla="val 3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To-Be: 논리 블록 아래의 위치 이동 계층</a:t>
            </a:r>
          </a:p>
        </p:txBody>
      </p:sp>
      <p:sp>
        <p:nvSpPr>
          <p:cNvPr id="113" name="Serving Engine (Scheduler · KV Cache Manager) — 논리 ID(data_ref)와 준비 상태만 안다"/>
          <p:cNvSpPr/>
          <p:nvPr/>
        </p:nvSpPr>
        <p:spPr>
          <a:xfrm>
            <a:off x="6446520" y="1481328"/>
            <a:ext cx="53035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Serving Engine (Scheduler · KV Cache Manager) — 논리 ID(data_ref)와 준비 상태만 안다</a:t>
            </a:r>
          </a:p>
        </p:txBody>
      </p:sp>
      <p:sp>
        <p:nvSpPr>
          <p:cNvPr id="114" name="DP1 결정 평면"/>
          <p:cNvSpPr/>
          <p:nvPr/>
        </p:nvSpPr>
        <p:spPr>
          <a:xfrm>
            <a:off x="6446520" y="2103120"/>
            <a:ext cx="224028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DP1 결정 평면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MigrationIntent 생성</a:t>
            </a:r>
          </a:p>
        </p:txBody>
      </p:sp>
      <p:sp>
        <p:nvSpPr>
          <p:cNvPr id="115" name="dp5 box"/>
          <p:cNvSpPr/>
          <p:nvPr/>
        </p:nvSpPr>
        <p:spPr>
          <a:xfrm>
            <a:off x="8915400" y="1965960"/>
            <a:ext cx="2834640" cy="960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50" b="1" dirty="0">
                <a:solidFill>
                  <a:schemeClr val="tx1"/>
                </a:solidFill>
              </a:rPr>
              <a:t>DP5  Migration 실행 · 위치 일관 접근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copy-then-commit, 원자적 위치 전환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이동 중·후 접근 hazard 방어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위치 변화를 엔진에 일관되게 전달</a:t>
            </a:r>
          </a:p>
        </p:txBody>
      </p:sp>
      <p:cxnSp>
        <p:nvCxnSpPr>
          <p:cNvPr id="116" name="b1"/>
          <p:cNvCxnSpPr/>
          <p:nvPr/>
        </p:nvCxnSpPr>
        <p:spPr>
          <a:xfrm>
            <a:off x="8686800" y="2350008"/>
            <a:ext cx="2286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17" name="b2"/>
          <p:cNvCxnSpPr/>
          <p:nvPr/>
        </p:nvCxnSpPr>
        <p:spPr>
          <a:xfrm>
            <a:off x="9966960" y="1865376"/>
            <a:ext cx="0" cy="100584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</p:cxnSp>
      <p:sp>
        <p:nvSpPr>
          <p:cNvPr id="118" name="Memory Backend I/F + Transfer Handler (HBM · DRAM · CXL · HBF · SSD)"/>
          <p:cNvSpPr/>
          <p:nvPr/>
        </p:nvSpPr>
        <p:spPr>
          <a:xfrm>
            <a:off x="6446520" y="3246120"/>
            <a:ext cx="53035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50" b="1" dirty="0">
                <a:solidFill>
                  <a:schemeClr val="tx1"/>
                </a:solidFill>
              </a:rPr>
              <a:t>Memory Backend I/F + Transfer Handler (HBM · DRAM · CXL · HBF · SSD)</a:t>
            </a:r>
          </a:p>
        </p:txBody>
      </p:sp>
      <p:cxnSp>
        <p:nvCxnSpPr>
          <p:cNvPr id="119" name="b3"/>
          <p:cNvCxnSpPr/>
          <p:nvPr/>
        </p:nvCxnSpPr>
        <p:spPr>
          <a:xfrm>
            <a:off x="10332720" y="2926080"/>
            <a:ext cx="0" cy="32004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20" name="tobe notes"/>
          <p:cNvSpPr txBox="1"/>
          <p:nvPr/>
        </p:nvSpPr>
        <p:spPr>
          <a:xfrm>
            <a:off x="6446520" y="374904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marL="114300" indent="-114300">
              <a:buFont typeface="Arial"/>
              <a:buChar char="•"/>
            </a:pPr>
            <a:r>
              <a:rPr lang="ko-KR" altLang="en-US" sz="850" dirty="0">
                <a:solidFill>
                  <a:schemeClr val="tx1"/>
                </a:solidFill>
              </a:rPr>
              <a:t>엔진은 물리 위치를 모르고 이동 사실만 안다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50" dirty="0">
                <a:solidFill>
                  <a:schemeClr val="tx1"/>
                </a:solidFill>
              </a:rPr>
              <a:t>신규 memory = Backend plug-in 1개, 엔진 · 결정 평면 무변경</a:t>
            </a:r>
          </a:p>
        </p:txBody>
      </p:sp>
      <p:sp>
        <p:nvSpPr>
          <p:cNvPr id="121" name="problem box"/>
          <p:cNvSpPr/>
          <p:nvPr/>
        </p:nvSpPr>
        <p:spPr>
          <a:xfrm>
            <a:off x="274320" y="4617720"/>
            <a:ext cx="11658600" cy="1143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>
              <a:spcBef>
                <a:spcPts val="300"/>
              </a:spcBef>
            </a:pPr>
            <a:r>
              <a:rPr lang="ko-KR" altLang="en-US" sz="1000" b="1" dirty="0">
                <a:solidFill>
                  <a:schemeClr val="tx1"/>
                </a:solidFill>
              </a:rPr>
              <a:t>문제 5가지</a:t>
            </a:r>
            <a:r>
              <a:rPr lang="ko-KR" altLang="en-US" sz="1000" dirty="0">
                <a:solidFill>
                  <a:schemeClr val="tx1"/>
                </a:solidFill>
              </a:rPr>
              <a:t>    P1 식별자-위치 결합 (블록 ID = HBM 슬롯)   ·   P2 위치 변경 경로 부재   ·   P3 복사-위치 전환 원자성·실패 처리 부재</a:t>
            </a:r>
          </a:p>
          <a:p>
            <a:pPr algn="l">
              <a:spcBef>
                <a:spcPts val="300"/>
              </a:spcBef>
            </a:pPr>
            <a:r>
              <a:rPr lang="ko-KR" altLang="en-US" sz="1000" dirty="0">
                <a:solidFill>
                  <a:schemeClr val="tx1"/>
                </a:solidFill>
              </a:rPr>
              <a:t>                          P4 이동 중 접근 hazard (부분 복사 · 해제된 슬롯 · 이동 중 쓰기 · 이동 중 prefix hit)   ·   P5 엔진-tier 결합 (신규 메모리마다 엔진 수정)</a:t>
            </a:r>
          </a:p>
          <a:p>
            <a:pPr algn="l">
              <a:spcBef>
                <a:spcPts val="300"/>
              </a:spcBef>
            </a:pPr>
            <a:r>
              <a:rPr lang="ko-KR" altLang="en-US" sz="1000" b="1" dirty="0">
                <a:solidFill>
                  <a:schemeClr val="tx1"/>
                </a:solidFill>
              </a:rPr>
              <a:t>왜 풀어야 하나</a:t>
            </a:r>
            <a:r>
              <a:rPr lang="ko-KR" altLang="en-US" sz="1000" dirty="0">
                <a:solidFill>
                  <a:schemeClr val="tx1"/>
                </a:solidFill>
              </a:rPr>
              <a:t>    ① DP1 의 효과는 이 계층 없이 실현되지 않음   ② DP1 평가는 이상적 이동 가정 (commit · 장애 · 접근 보호 비용 미반영)</a:t>
            </a:r>
          </a:p>
          <a:p>
            <a:pPr algn="l">
              <a:spcBef>
                <a:spcPts val="300"/>
              </a:spcBef>
            </a:pPr>
            <a:r>
              <a:rPr lang="ko-KR" altLang="en-US" sz="1000" dirty="0">
                <a:solidFill>
                  <a:schemeClr val="tx1"/>
                </a:solidFill>
              </a:rPr>
              <a:t>                          ③ 잘못된 이동은 조용한 오답 (stale KV 를 읽어도 오류 없음)   ④ 이동 중 stall 은 TPOT SLO 에 직결   ⑤ 엔진을 tier 변경에서 격리해야 확장 용이</a:t>
            </a:r>
          </a:p>
        </p:txBody>
      </p:sp>
      <p:sp>
        <p:nvSpPr>
          <p:cNvPr id="122" name="message"/>
          <p:cNvSpPr txBox="1"/>
          <p:nvPr/>
        </p:nvSpPr>
        <p:spPr>
          <a:xfrm>
            <a:off x="274320" y="5989320"/>
            <a:ext cx="11658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</a:rPr>
              <a:t>DP1 이 정한 이동을 서빙 중에 안전하게 실행하고,</a:t>
            </a: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</a:rPr>
              <a:t>위치 변화를 엔진이 어떻게 인지·반영할지 정하는 구조 설계 필요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DP1 과의 관계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이동을 "정하는" DP1 과 이동을 "실행하는" DP5 의 접점 계약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1"/>
          <p:cNvSpPr txBox="1"/>
          <p:nvPr/>
        </p:nvSpPr>
        <p:spPr>
          <a:xfrm>
            <a:off x="274320" y="1097280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DP1 ↔ DP5 계약 (Migration Coordinator = DP5 입구)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274320" y="1371600"/>
          <a:ext cx="5669280" cy="3136392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324612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방향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근거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DP1 → DP5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MigrationIntent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: action (MOVE · REPLICATE · DROP · REMAP · RECLASSIFY), data_refs, source, target, reason, priority, dependency_type. Migration Data Selector 가 DTS 의 target 으로 조립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§2, §5.6, §5.7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Scheduler → DP5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필수 접근 promotion 을 같은 형식 (목적지 HBM 고정, BLOCKING) 으로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Coordinator 에 직접 제출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. DP1 selector 를 거치지 않음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§2.2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DP5 → DP1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완료 · 실패 이벤트 (사유 포함) → 재시도 · 억제 판단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§5.9.7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DP5 → DP1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commit 결과로 DP1 Registry 동기화. commit 전에는 위치 불변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§5.9.7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DP5 → DP1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실측 전송 BW · latency 를 Telemetry 로 보고 (측정–추정 closed loop)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§5.9.6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DP5 ↔ 엔진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논리 블록 lifecycle 수신, 위치 · 준비 상태와 dependency 제공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공통 migration 문서 §11, §15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producers"/>
          <p:cNvSpPr/>
          <p:nvPr/>
        </p:nvSpPr>
        <p:spPr>
          <a:xfrm>
            <a:off x="274320" y="5074920"/>
            <a:ext cx="566928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50" b="1" dirty="0">
                <a:solidFill>
                  <a:schemeClr val="tx1"/>
                </a:solidFill>
              </a:rPr>
              <a:t>Intent 입구는 Coordinator 하나, 생산자는 둘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DP1 (Migration Data Selector) : 정책적 이동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Scheduler : 필수 접근 promotion (BLOCKING)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Coordinator 가 object 당 in-flight job 1개 규칙으로 중재</a:t>
            </a:r>
          </a:p>
        </p:txBody>
      </p:sp>
      <p:sp>
        <p:nvSpPr>
          <p:cNvPr id="104" name="c2"/>
          <p:cNvSpPr txBox="1"/>
          <p:nvPr/>
        </p:nvSpPr>
        <p:spPr>
          <a:xfrm>
            <a:off x="6217920" y="1097280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DP1 이 DP5 에 요구하는 사항 (top-down)</a:t>
            </a:r>
          </a:p>
        </p:txBody>
      </p:sp>
      <p:graphicFrame>
        <p:nvGraphicFramePr>
          <p:cNvPr id="105" name="table"/>
          <p:cNvGraphicFramePr>
            <a:graphicFrameLocks noGrp="1"/>
          </p:cNvGraphicFramePr>
          <p:nvPr/>
        </p:nvGraphicFramePr>
        <p:xfrm>
          <a:off x="6217920" y="1371600"/>
          <a:ext cx="5715000" cy="3584448"/>
        </p:xfrm>
        <a:graphic>
          <a:graphicData uri="http://schemas.openxmlformats.org/drawingml/2006/table">
            <a:tbl>
              <a:tblPr firstRow="1"/>
              <a:tblGrid>
                <a:gridCol w="411480"/>
                <a:gridCol w="53035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요구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5개 action 의 의미를 그대로 실행. copy 없는 action (DROP · REMAP · RECLASSIFY) 도 일관성 검증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copy-then-commit: 복사 완료 전에는 위치가 바뀌지 않음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실패는 사유와 함께 이벤트로 반환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경로 hop 수 · 병목 BW · setup 비용을 binding 으로 노출하고 실측으로 보정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신규 memory 는 Backend plug-in 1개 (+ TransferHandler 1개). 엔진 · decision plane 무변경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demand fetch &gt; promotion prefetch &gt; background demotion, 공유 링크 budget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R7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이동 단위 · 정렬 제약 (coalescing, 패딩) 준수, write-limited 매체 (HBF, SSD-PIM) 보호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" name="outscope"/>
          <p:cNvSpPr txBox="1"/>
          <p:nvPr/>
        </p:nvSpPr>
        <p:spPr>
          <a:xfrm>
            <a:off x="6217920" y="507492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범위 밖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이동 정책 (무엇을 · 언제 · 어디로) — DP1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노드 간 이동 — DP0   • near-data compute 배치 — 연산 배치 DP</a:t>
            </a:r>
          </a:p>
          <a:p>
            <a:pPr algn="l"/>
            <a:r>
              <a:rPr lang="ko-KR" altLang="en-US" sz="850" dirty="0">
                <a:solidFill>
                  <a:schemeClr val="tx1"/>
                </a:solidFill>
              </a:rPr>
              <a:t>• KV 압축 · 재사용 — 별도 DP   • 벤더 드라이버 구현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269D-86BE-454D-95E7-7AB7335B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DP5. 전체 Module View - DP1 ~ DP5 (후보 1 기준)</a:t>
            </a:r>
            <a:endParaRPr lang="ko-KR" altLang="en-US" dirty="0"/>
          </a:p>
        </p:txBody>
      </p:sp>
      <p:sp>
        <p:nvSpPr>
          <p:cNvPr id="101" name="note"/>
          <p:cNvSpPr txBox="1"/>
          <p:nvPr/>
        </p:nvSpPr>
        <p:spPr>
          <a:xfrm>
            <a:off x="400000" y="620000"/>
            <a:ext cx="114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노란색: 신규/수정 모듈  ·  점선 박스: 설계 범위 (빨강 DP-1, 주황 DP-5)  ·  굵은 화살표: DP 간 · 프로세스 간 경계  ·  후보 2는 Data Location Store와 commit이 Worker 쪽으로 이동</a:t>
            </a:r>
          </a:p>
        </p:txBody>
      </p:sp>
      <p:sp>
        <p:nvSpPr>
          <p:cNvPr id="102" name="EngineCore"/>
          <p:cNvSpPr/>
          <p:nvPr/>
        </p:nvSpPr>
        <p:spPr>
          <a:xfrm>
            <a:off x="400000" y="950000"/>
            <a:ext cx="7550000" cy="455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EngineCore 프로세스</a:t>
            </a:r>
          </a:p>
        </p:txBody>
      </p:sp>
      <p:sp>
        <p:nvSpPr>
          <p:cNvPr id="103" name="Worker"/>
          <p:cNvSpPr/>
          <p:nvPr/>
        </p:nvSpPr>
        <p:spPr>
          <a:xfrm>
            <a:off x="8650000" y="950000"/>
            <a:ext cx="3150000" cy="455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Worker 프로세스 (GPU당 1개)</a:t>
            </a:r>
          </a:p>
        </p:txBody>
      </p:sp>
      <p:sp>
        <p:nvSpPr>
          <p:cNvPr id="104" name="Generation"/>
          <p:cNvSpPr/>
          <p:nvPr/>
        </p:nvSpPr>
        <p:spPr>
          <a:xfrm>
            <a:off x="550000" y="1450000"/>
            <a:ext cx="7300000" cy="7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Generation (기존 엔진)</a:t>
            </a:r>
          </a:p>
        </p:txBody>
      </p:sp>
      <p:sp>
        <p:nvSpPr>
          <p:cNvPr id="105" name="Generation tab"/>
          <p:cNvSpPr/>
          <p:nvPr/>
        </p:nvSpPr>
        <p:spPr>
          <a:xfrm>
            <a:off x="550000" y="132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06" name="KV Cache Manager"/>
          <p:cNvSpPr/>
          <p:nvPr/>
        </p:nvSpPr>
        <p:spPr>
          <a:xfrm>
            <a:off x="650000" y="1800000"/>
            <a:ext cx="15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 Cache Manager</a:t>
            </a:r>
          </a:p>
        </p:txBody>
      </p:sp>
      <p:sp>
        <p:nvSpPr>
          <p:cNvPr id="107" name="KVDataAdapter"/>
          <p:cNvSpPr/>
          <p:nvPr/>
        </p:nvSpPr>
        <p:spPr>
          <a:xfrm>
            <a:off x="2350000" y="1800000"/>
            <a:ext cx="15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KVDataAdapter</a:t>
            </a:r>
          </a:p>
        </p:txBody>
      </p:sp>
      <p:sp>
        <p:nvSpPr>
          <p:cNvPr id="108" name="Scheduler"/>
          <p:cNvSpPr/>
          <p:nvPr/>
        </p:nvSpPr>
        <p:spPr>
          <a:xfrm>
            <a:off x="5030000" y="1800000"/>
            <a:ext cx="12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09" name="DecisionPlane"/>
          <p:cNvSpPr/>
          <p:nvPr/>
        </p:nvSpPr>
        <p:spPr>
          <a:xfrm>
            <a:off x="550000" y="2500000"/>
            <a:ext cx="335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Decision Plane · DP-1 (정책)</a:t>
            </a:r>
          </a:p>
        </p:txBody>
      </p:sp>
      <p:sp>
        <p:nvSpPr>
          <p:cNvPr id="110" name="DecisionPlane tab"/>
          <p:cNvSpPr/>
          <p:nvPr/>
        </p:nvSpPr>
        <p:spPr>
          <a:xfrm>
            <a:off x="55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11" name="Migration Scheduler"/>
          <p:cNvSpPr/>
          <p:nvPr/>
        </p:nvSpPr>
        <p:spPr>
          <a:xfrm>
            <a:off x="650000" y="2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Scheduler</a:t>
            </a:r>
          </a:p>
        </p:txBody>
      </p:sp>
      <p:sp>
        <p:nvSpPr>
          <p:cNvPr id="112" name="Resource · Behavior Analyzer"/>
          <p:cNvSpPr/>
          <p:nvPr/>
        </p:nvSpPr>
        <p:spPr>
          <a:xfrm>
            <a:off x="650000" y="3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Resource · Behavior Analyzer</a:t>
            </a:r>
          </a:p>
        </p:txBody>
      </p:sp>
      <p:sp>
        <p:nvSpPr>
          <p:cNvPr id="113" name="Eviction · Affinity Mapper"/>
          <p:cNvSpPr/>
          <p:nvPr/>
        </p:nvSpPr>
        <p:spPr>
          <a:xfrm>
            <a:off x="650000" y="3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Eviction · Affinity Mapper</a:t>
            </a:r>
          </a:p>
        </p:txBody>
      </p:sp>
      <p:sp>
        <p:nvSpPr>
          <p:cNvPr id="114" name="Destination Tier Selector"/>
          <p:cNvSpPr/>
          <p:nvPr/>
        </p:nvSpPr>
        <p:spPr>
          <a:xfrm>
            <a:off x="650000" y="4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Destination Tier Selector</a:t>
            </a:r>
          </a:p>
        </p:txBody>
      </p:sp>
      <p:sp>
        <p:nvSpPr>
          <p:cNvPr id="115" name="Access Cost Estimator"/>
          <p:cNvSpPr/>
          <p:nvPr/>
        </p:nvSpPr>
        <p:spPr>
          <a:xfrm>
            <a:off x="650000" y="4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Access Cost Estimator</a:t>
            </a:r>
          </a:p>
        </p:txBody>
      </p:sp>
      <p:sp>
        <p:nvSpPr>
          <p:cNvPr id="116" name="Resource Manager"/>
          <p:cNvSpPr/>
          <p:nvPr/>
        </p:nvSpPr>
        <p:spPr>
          <a:xfrm>
            <a:off x="2350000" y="2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Resource Manager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(Telemetry · Registry)</a:t>
            </a:r>
          </a:p>
        </p:txBody>
      </p:sp>
      <p:sp>
        <p:nvSpPr>
          <p:cNvPr id="117" name="Migration Data Selector"/>
          <p:cNvSpPr/>
          <p:nvPr/>
        </p:nvSpPr>
        <p:spPr>
          <a:xfrm>
            <a:off x="2350000" y="4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Data Selector</a:t>
            </a:r>
          </a:p>
        </p:txBody>
      </p:sp>
      <p:sp>
        <p:nvSpPr>
          <p:cNvPr id="118" name="Data Object Registry"/>
          <p:cNvSpPr/>
          <p:nvPr/>
        </p:nvSpPr>
        <p:spPr>
          <a:xfrm>
            <a:off x="2350000" y="4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Data Object Registry</a:t>
            </a:r>
          </a:p>
        </p:txBody>
      </p:sp>
      <p:sp>
        <p:nvSpPr>
          <p:cNvPr id="119" name="ControlPlane"/>
          <p:cNvSpPr/>
          <p:nvPr/>
        </p:nvSpPr>
        <p:spPr>
          <a:xfrm>
            <a:off x="4950000" y="2500000"/>
            <a:ext cx="290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Control Plane · DP-5 (EngineCore 측)</a:t>
            </a:r>
          </a:p>
        </p:txBody>
      </p:sp>
      <p:sp>
        <p:nvSpPr>
          <p:cNvPr id="120" name="ControlPlane tab"/>
          <p:cNvSpPr/>
          <p:nvPr/>
        </p:nvSpPr>
        <p:spPr>
          <a:xfrm>
            <a:off x="495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21" name="Migration Planner / Queue"/>
          <p:cNvSpPr/>
          <p:nvPr/>
        </p:nvSpPr>
        <p:spPr>
          <a:xfrm>
            <a:off x="6500000" y="2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Planner / Queue</a:t>
            </a:r>
          </a:p>
        </p:txBody>
      </p:sp>
      <p:sp>
        <p:nvSpPr>
          <p:cNvPr id="122" name="Access Guard"/>
          <p:cNvSpPr/>
          <p:nvPr/>
        </p:nvSpPr>
        <p:spPr>
          <a:xfrm>
            <a:off x="6500000" y="3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Access Guard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(pin · epoch)</a:t>
            </a:r>
          </a:p>
        </p:txBody>
      </p:sp>
      <p:sp>
        <p:nvSpPr>
          <p:cNvPr id="123" name="Data Location Store"/>
          <p:cNvSpPr/>
          <p:nvPr/>
        </p:nvSpPr>
        <p:spPr>
          <a:xfrm>
            <a:off x="6500000" y="44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Data Location Store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(authoritative)</a:t>
            </a:r>
          </a:p>
        </p:txBody>
      </p:sp>
      <p:sp>
        <p:nvSpPr>
          <p:cNvPr id="124" name="Migration Coordinator"/>
          <p:cNvSpPr/>
          <p:nvPr/>
        </p:nvSpPr>
        <p:spPr>
          <a:xfrm>
            <a:off x="5030000" y="44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Coordinator</a:t>
            </a:r>
          </a:p>
        </p:txBody>
      </p:sp>
      <p:sp>
        <p:nvSpPr>
          <p:cNvPr id="125" name="Completion Reconciler"/>
          <p:cNvSpPr/>
          <p:nvPr/>
        </p:nvSpPr>
        <p:spPr>
          <a:xfrm>
            <a:off x="5030000" y="4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Completion Reconciler</a:t>
            </a:r>
          </a:p>
        </p:txBody>
      </p:sp>
      <p:sp>
        <p:nvSpPr>
          <p:cNvPr id="126" name="Compute"/>
          <p:cNvSpPr/>
          <p:nvPr/>
        </p:nvSpPr>
        <p:spPr>
          <a:xfrm>
            <a:off x="8800000" y="1450000"/>
            <a:ext cx="2850000" cy="7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Compute Management</a:t>
            </a:r>
          </a:p>
        </p:txBody>
      </p:sp>
      <p:sp>
        <p:nvSpPr>
          <p:cNvPr id="127" name="Compute tab"/>
          <p:cNvSpPr/>
          <p:nvPr/>
        </p:nvSpPr>
        <p:spPr>
          <a:xfrm>
            <a:off x="8800000" y="132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28" name="Worker"/>
          <p:cNvSpPr/>
          <p:nvPr/>
        </p:nvSpPr>
        <p:spPr>
          <a:xfrm>
            <a:off x="8880000" y="1800000"/>
            <a:ext cx="110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</a:t>
            </a:r>
          </a:p>
        </p:txBody>
      </p:sp>
      <p:sp>
        <p:nvSpPr>
          <p:cNvPr id="129" name="Model Runner · Block Table"/>
          <p:cNvSpPr/>
          <p:nvPr/>
        </p:nvSpPr>
        <p:spPr>
          <a:xfrm>
            <a:off x="10080000" y="1800000"/>
            <a:ext cx="149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Model Runner · Block Table</a:t>
            </a:r>
          </a:p>
        </p:txBody>
      </p:sp>
      <p:sp>
        <p:nvSpPr>
          <p:cNvPr id="130" name="DataPlane"/>
          <p:cNvSpPr/>
          <p:nvPr/>
        </p:nvSpPr>
        <p:spPr>
          <a:xfrm>
            <a:off x="8800000" y="2500000"/>
            <a:ext cx="285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Data Plane · DP-5 (Worker 측)</a:t>
            </a:r>
          </a:p>
        </p:txBody>
      </p:sp>
      <p:sp>
        <p:nvSpPr>
          <p:cNvPr id="131" name="DataPlane tab"/>
          <p:cNvSpPr/>
          <p:nvPr/>
        </p:nvSpPr>
        <p:spPr>
          <a:xfrm>
            <a:off x="880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32" name="Migration Executor"/>
          <p:cNvSpPr/>
          <p:nvPr/>
        </p:nvSpPr>
        <p:spPr>
          <a:xfrm>
            <a:off x="8880000" y="2900000"/>
            <a:ext cx="269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Executor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(copy 실행)</a:t>
            </a:r>
          </a:p>
        </p:txBody>
      </p:sp>
      <p:sp>
        <p:nvSpPr>
          <p:cNvPr id="133" name="Transfer Router"/>
          <p:cNvSpPr/>
          <p:nvPr/>
        </p:nvSpPr>
        <p:spPr>
          <a:xfrm>
            <a:off x="10020000" y="3900000"/>
            <a:ext cx="15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Router</a:t>
            </a:r>
          </a:p>
        </p:txBody>
      </p:sp>
      <p:sp>
        <p:nvSpPr>
          <p:cNvPr id="134" name="DeviceRuntime"/>
          <p:cNvSpPr/>
          <p:nvPr/>
        </p:nvSpPr>
        <p:spPr>
          <a:xfrm>
            <a:off x="400000" y="5800000"/>
            <a:ext cx="11400000" cy="6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Device Runtime Interface</a:t>
            </a:r>
          </a:p>
        </p:txBody>
      </p:sp>
      <p:sp>
        <p:nvSpPr>
          <p:cNvPr id="135" name="DeviceRuntime tab"/>
          <p:cNvSpPr/>
          <p:nvPr/>
        </p:nvSpPr>
        <p:spPr>
          <a:xfrm>
            <a:off x="400000" y="56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36" name="Memory Backend I/F · Common Memory · PIM · PNM · ScHBM Backend"/>
          <p:cNvSpPr/>
          <p:nvPr/>
        </p:nvSpPr>
        <p:spPr>
          <a:xfrm>
            <a:off x="550000" y="6070000"/>
            <a:ext cx="5950000" cy="3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Memory Backend I/F · Common Memory · PIM · PNM · ScHBM Backend</a:t>
            </a:r>
          </a:p>
        </p:txBody>
      </p:sp>
      <p:sp>
        <p:nvSpPr>
          <p:cNvPr id="137" name="Transfer Handler (DMA · P2P · CXL · NVMe)"/>
          <p:cNvSpPr/>
          <p:nvPr/>
        </p:nvSpPr>
        <p:spPr>
          <a:xfrm>
            <a:off x="8880000" y="6070000"/>
            <a:ext cx="2690000" cy="3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Handler (DMA · P2P · CXL · NVMe)</a:t>
            </a:r>
          </a:p>
        </p:txBody>
      </p:sp>
      <p:sp>
        <p:nvSpPr>
          <p:cNvPr id="138" name="DP1 범위"/>
          <p:cNvSpPr/>
          <p:nvPr/>
        </p:nvSpPr>
        <p:spPr>
          <a:xfrm>
            <a:off x="600000" y="2840000"/>
            <a:ext cx="3250000" cy="2520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39" name="DP5 control 범위"/>
          <p:cNvSpPr/>
          <p:nvPr/>
        </p:nvSpPr>
        <p:spPr>
          <a:xfrm>
            <a:off x="5000000" y="2840000"/>
            <a:ext cx="2800000" cy="252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40" name="DP5 data 범위"/>
          <p:cNvSpPr/>
          <p:nvPr/>
        </p:nvSpPr>
        <p:spPr>
          <a:xfrm>
            <a:off x="8840000" y="2840000"/>
            <a:ext cx="2770000" cy="148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41" name="DP5 수정 Scheduler"/>
          <p:cNvSpPr/>
          <p:nvPr/>
        </p:nvSpPr>
        <p:spPr>
          <a:xfrm>
            <a:off x="4980000" y="1740000"/>
            <a:ext cx="1350000" cy="46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42" name="DP5 수정 Worker Model Runner"/>
          <p:cNvSpPr/>
          <p:nvPr/>
        </p:nvSpPr>
        <p:spPr>
          <a:xfrm>
            <a:off x="8840000" y="1740000"/>
            <a:ext cx="2770000" cy="46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43" name="DP1 Backend I/F"/>
          <p:cNvSpPr/>
          <p:nvPr/>
        </p:nvSpPr>
        <p:spPr>
          <a:xfrm>
            <a:off x="480000" y="6030000"/>
            <a:ext cx="6100000" cy="390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44" name="DP5 Transfer Handler"/>
          <p:cNvSpPr/>
          <p:nvPr/>
        </p:nvSpPr>
        <p:spPr>
          <a:xfrm>
            <a:off x="8820000" y="6030000"/>
            <a:ext cx="2810000" cy="39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cxnSp>
        <p:nvCxnSpPr>
          <p:cNvPr id="145" name="DP1 flow 1"/>
          <p:cNvCxnSpPr/>
          <p:nvPr/>
        </p:nvCxnSpPr>
        <p:spPr>
          <a:xfrm>
            <a:off x="1375000" y="3260000"/>
            <a:ext cx="0" cy="1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6" name="DP1 flow 2"/>
          <p:cNvCxnSpPr/>
          <p:nvPr/>
        </p:nvCxnSpPr>
        <p:spPr>
          <a:xfrm>
            <a:off x="1375000" y="3760000"/>
            <a:ext cx="0" cy="1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7" name="DP1 flow 3"/>
          <p:cNvCxnSpPr/>
          <p:nvPr/>
        </p:nvCxnSpPr>
        <p:spPr>
          <a:xfrm>
            <a:off x="1375000" y="4260000"/>
            <a:ext cx="0" cy="1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8" name="DP1 flow 4"/>
          <p:cNvCxnSpPr/>
          <p:nvPr/>
        </p:nvCxnSpPr>
        <p:spPr>
          <a:xfrm>
            <a:off x="1375000" y="4760000"/>
            <a:ext cx="0" cy="1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9" name="DTS to MDS"/>
          <p:cNvCxnSpPr/>
          <p:nvPr/>
        </p:nvCxnSpPr>
        <p:spPr>
          <a:xfrm>
            <a:off x="2100000" y="4580000"/>
            <a:ext cx="25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50" name="③ binding"/>
          <p:cNvCxnSpPr/>
          <p:nvPr/>
        </p:nvCxnSpPr>
        <p:spPr>
          <a:xfrm flipV="1">
            <a:off x="3800000" y="3030000"/>
            <a:ext cx="2700000" cy="5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51" name="③ label"/>
          <p:cNvSpPr txBox="1"/>
          <p:nvPr/>
        </p:nvSpPr>
        <p:spPr>
          <a:xfrm>
            <a:off x="3930000" y="2740000"/>
            <a:ext cx="98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③ binding · topology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(읽기 전용)</a:t>
            </a:r>
          </a:p>
        </p:txBody>
      </p:sp>
      <p:cxnSp>
        <p:nvCxnSpPr>
          <p:cNvPr id="152" name="② MigrationIntent"/>
          <p:cNvCxnSpPr/>
          <p:nvPr/>
        </p:nvCxnSpPr>
        <p:spPr>
          <a:xfrm>
            <a:off x="3800000" y="4580000"/>
            <a:ext cx="12300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53" name="② label"/>
          <p:cNvSpPr txBox="1"/>
          <p:nvPr/>
        </p:nvSpPr>
        <p:spPr>
          <a:xfrm>
            <a:off x="3930000" y="4280000"/>
            <a:ext cx="980000" cy="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② MigrationIntent</a:t>
            </a:r>
          </a:p>
        </p:txBody>
      </p:sp>
      <p:cxnSp>
        <p:nvCxnSpPr>
          <p:cNvPr id="154" name="④ 이벤트"/>
          <p:cNvCxnSpPr/>
          <p:nvPr/>
        </p:nvCxnSpPr>
        <p:spPr>
          <a:xfrm flipH="1">
            <a:off x="3800000" y="5080000"/>
            <a:ext cx="123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55" name="④ label"/>
          <p:cNvSpPr txBox="1"/>
          <p:nvPr/>
        </p:nvSpPr>
        <p:spPr>
          <a:xfrm>
            <a:off x="3930000" y="4620000"/>
            <a:ext cx="980000" cy="4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④ 완료 · 실패 ·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commit 결과 ·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실측 비용</a:t>
            </a:r>
          </a:p>
        </p:txBody>
      </p:sp>
      <p:sp>
        <p:nvSpPr>
          <p:cNvPr id="156" name="Coordinator to Planner"/>
          <p:cNvSpPr/>
          <p:nvPr/>
        </p:nvSpPr>
        <p:spPr>
          <a:xfrm>
            <a:off x="5450000" y="3160000"/>
            <a:ext cx="1050000" cy="1240000"/>
          </a:xfrm>
          <a:custGeom>
            <a:avLst/>
            <a:gdLst/>
            <a:ahLst/>
            <a:cxnLst/>
            <a:rect l="0" t="0" r="r" b="b"/>
            <a:pathLst>
              <a:path w="1050000" h="1240000" fill="none">
                <a:moveTo>
                  <a:pt x="0" y="1240000"/>
                </a:moveTo>
                <a:lnTo>
                  <a:pt x="0" y="0"/>
                </a:lnTo>
                <a:lnTo>
                  <a:pt x="1050000" y="0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  <a:tailEnd type="arrow"/>
          </a:ln>
        </p:spPr>
      </p:sp>
      <p:cxnSp>
        <p:nvCxnSpPr>
          <p:cNvPr id="157" name="Coordinator to Location Store"/>
          <p:cNvCxnSpPr/>
          <p:nvPr/>
        </p:nvCxnSpPr>
        <p:spPr>
          <a:xfrm>
            <a:off x="6280000" y="4580000"/>
            <a:ext cx="22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58" name="Reconciler to Coordinator"/>
          <p:cNvCxnSpPr/>
          <p:nvPr/>
        </p:nvCxnSpPr>
        <p:spPr>
          <a:xfrm flipV="1">
            <a:off x="5650000" y="4760000"/>
            <a:ext cx="0" cy="1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59" name="① Event"/>
          <p:cNvCxnSpPr/>
          <p:nvPr/>
        </p:nvCxnSpPr>
        <p:spPr>
          <a:xfrm>
            <a:off x="1425000" y="2140000"/>
            <a:ext cx="0" cy="36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60" name="① label"/>
          <p:cNvSpPr txBox="1"/>
          <p:nvPr/>
        </p:nvSpPr>
        <p:spPr>
          <a:xfrm>
            <a:off x="1500000" y="2200000"/>
            <a:ext cx="2400000" cy="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① Event (할당 · 해제 · 재사용 · pressure)</a:t>
            </a:r>
          </a:p>
        </p:txBody>
      </p:sp>
      <p:cxnSp>
        <p:nvCxnSpPr>
          <p:cNvPr id="161" name="⑤ Scheduler와 Control Plane"/>
          <p:cNvCxnSpPr/>
          <p:nvPr/>
        </p:nvCxnSpPr>
        <p:spPr>
          <a:xfrm>
            <a:off x="5650000" y="2140000"/>
            <a:ext cx="0" cy="36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</p:cxnSp>
      <p:sp>
        <p:nvSpPr>
          <p:cNvPr id="162" name="⑤ label"/>
          <p:cNvSpPr txBox="1"/>
          <p:nvPr/>
        </p:nvSpPr>
        <p:spPr>
          <a:xfrm>
            <a:off x="5730000" y="217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⑤ 필수 접근 promotion (BLOCKING Intent)</a:t>
            </a:r>
          </a:p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↔ 위치 · 준비 상태 · dependency</a:t>
            </a:r>
          </a:p>
        </p:txBody>
      </p:sp>
      <p:cxnSp>
        <p:nvCxnSpPr>
          <p:cNvPr id="163" name="⑥ command"/>
          <p:cNvCxnSpPr/>
          <p:nvPr/>
        </p:nvCxnSpPr>
        <p:spPr>
          <a:xfrm>
            <a:off x="7750000" y="3080000"/>
            <a:ext cx="11300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64" name="⑥ label"/>
          <p:cNvSpPr txBox="1"/>
          <p:nvPr/>
        </p:nvSpPr>
        <p:spPr>
          <a:xfrm>
            <a:off x="7970000" y="2720000"/>
            <a:ext cx="6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⑥ command ·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165" name="⑦ completion"/>
          <p:cNvSpPr/>
          <p:nvPr/>
        </p:nvSpPr>
        <p:spPr>
          <a:xfrm>
            <a:off x="6280000" y="3260000"/>
            <a:ext cx="2770000" cy="1820000"/>
          </a:xfrm>
          <a:custGeom>
            <a:avLst/>
            <a:gdLst/>
            <a:ahLst/>
            <a:cxnLst/>
            <a:rect l="0" t="0" r="r" b="b"/>
            <a:pathLst>
              <a:path w="2770000" h="1820000" fill="none">
                <a:moveTo>
                  <a:pt x="2770000" y="0"/>
                </a:moveTo>
                <a:lnTo>
                  <a:pt x="2770000" y="1820000"/>
                </a:lnTo>
                <a:lnTo>
                  <a:pt x="0" y="18200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sp>
        <p:nvSpPr>
          <p:cNvPr id="166" name="⑦ label"/>
          <p:cNvSpPr txBox="1"/>
          <p:nvPr/>
        </p:nvSpPr>
        <p:spPr>
          <a:xfrm>
            <a:off x="6550000" y="4840000"/>
            <a:ext cx="125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⑦ completion 보고</a:t>
            </a:r>
          </a:p>
        </p:txBody>
      </p:sp>
      <p:cxnSp>
        <p:nvCxnSpPr>
          <p:cNvPr id="167" name="⑧ dependency 대기"/>
          <p:cNvCxnSpPr/>
          <p:nvPr/>
        </p:nvCxnSpPr>
        <p:spPr>
          <a:xfrm flipV="1">
            <a:off x="11350000" y="2140000"/>
            <a:ext cx="0" cy="76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arrow"/>
            <a:tailEnd type="arrow"/>
          </a:ln>
        </p:spPr>
      </p:cxnSp>
      <p:sp>
        <p:nvSpPr>
          <p:cNvPr id="168" name="⑧ label"/>
          <p:cNvSpPr txBox="1"/>
          <p:nvPr/>
        </p:nvSpPr>
        <p:spPr>
          <a:xfrm>
            <a:off x="9200000" y="2220000"/>
            <a:ext cx="2100000" cy="2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750" dirty="0">
                <a:solidFill>
                  <a:schemeClr val="tx1"/>
                </a:solidFill>
              </a:rPr>
              <a:t>⑧ dependency 대기 ↔ 완료</a:t>
            </a:r>
          </a:p>
        </p:txBody>
      </p:sp>
      <p:cxnSp>
        <p:nvCxnSpPr>
          <p:cNvPr id="169" name="Executor to Router"/>
          <p:cNvCxnSpPr/>
          <p:nvPr/>
        </p:nvCxnSpPr>
        <p:spPr>
          <a:xfrm>
            <a:off x="10795000" y="3260000"/>
            <a:ext cx="0" cy="6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70" name="⑩ Backend I/F"/>
          <p:cNvCxnSpPr/>
          <p:nvPr/>
        </p:nvCxnSpPr>
        <p:spPr>
          <a:xfrm>
            <a:off x="2225000" y="5400000"/>
            <a:ext cx="0" cy="40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71" name="⑩ label"/>
          <p:cNvSpPr txBox="1"/>
          <p:nvPr/>
        </p:nvSpPr>
        <p:spPr>
          <a:xfrm>
            <a:off x="2330000" y="550000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⑩ Backend I/F (descriptor · telemetry · binding)</a:t>
            </a:r>
          </a:p>
        </p:txBody>
      </p:sp>
      <p:cxnSp>
        <p:nvCxnSpPr>
          <p:cNvPr id="172" name="⑨ 전송 실행"/>
          <p:cNvCxnSpPr/>
          <p:nvPr/>
        </p:nvCxnSpPr>
        <p:spPr>
          <a:xfrm>
            <a:off x="10795000" y="4260000"/>
            <a:ext cx="0" cy="154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73" name="⑨ label"/>
          <p:cNvSpPr txBox="1"/>
          <p:nvPr/>
        </p:nvSpPr>
        <p:spPr>
          <a:xfrm>
            <a:off x="10890000" y="4550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⑨ 전송</a:t>
            </a:r>
          </a:p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실행</a:t>
            </a:r>
          </a:p>
        </p:txBody>
      </p:sp>
      <p:cxnSp>
        <p:nvCxnSpPr>
          <p:cNvPr id="174" name="⑪ staging"/>
          <p:cNvCxnSpPr/>
          <p:nvPr/>
        </p:nvCxnSpPr>
        <p:spPr>
          <a:xfrm flipH="1">
            <a:off x="6500000" y="6225000"/>
            <a:ext cx="23800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75" name="⑪ label"/>
          <p:cNvSpPr txBox="1"/>
          <p:nvPr/>
        </p:nvSpPr>
        <p:spPr>
          <a:xfrm>
            <a:off x="6550000" y="5980000"/>
            <a:ext cx="23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⑪ staging primitive</a:t>
            </a:r>
          </a:p>
        </p:txBody>
      </p:sp>
    </p:spTree>
    <p:extLst>
      <p:ext uri="{BB962C8B-B14F-4D97-AF65-F5344CB8AC3E}">
        <p14:creationId xmlns:p14="http://schemas.microsoft.com/office/powerpoint/2010/main" val="3699801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설계 쟁점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두 후보에 공통인 전제와, 후보를 가르는 세 가지 설계 쟁점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1"/>
          <p:cNvSpPr txBox="1"/>
          <p:nvPr/>
        </p:nvSpPr>
        <p:spPr>
          <a:xfrm>
            <a:off x="274320" y="1097280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공통 전제 (두 후보 모두 고정)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274320" y="1371600"/>
          <a:ext cx="5760720" cy="3511296"/>
        </p:xfrm>
        <a:graphic>
          <a:graphicData uri="http://schemas.openxmlformats.org/drawingml/2006/table">
            <a:tbl>
              <a:tblPr firstRow="1"/>
              <a:tblGrid>
                <a:gridCol w="365760"/>
                <a:gridCol w="53949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전제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논리 식별자는 안정적.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엔진은 논리 ID(data_ref)와 준비 상태만 안다. block_id 는 HBM 상주 시에만 부여되는 슬롯 번호. 논리 ID 는 KVDataAdapter 가 부여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copy-then-commit.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object 당 authoritative location 1개, in-flight job 1개, version 검증 후 commit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sealed block 우선.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active tail block 은 Phase 1 에서 이동 defer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전송은 Backend I/F staging primitive + TransferHandler (직접 경로는 fast-path override)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GPU 커널은 HBM(+HBF 직접) 주소만 읽는다.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6종 memory 중 4종이 gpu_reachable=false → hazard 의 중심은 "HBM 슬롯의 가시성 · 재사용 시점"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Intent 입구는 Coordinator 하나, 생산자 둘 (DP1 · Scheduler), 중재는 Coordinator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2"/>
          <p:cNvSpPr txBox="1"/>
          <p:nvPr/>
        </p:nvSpPr>
        <p:spPr>
          <a:xfrm>
            <a:off x="6217920" y="1097280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설계 쟁점 D1 ~ D3 (후보는 이를 일관된 묶음으로 선택)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6217920" y="1371600"/>
          <a:ext cx="5669280" cy="2816352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80160"/>
                <a:gridCol w="1645920"/>
                <a:gridCol w="16916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쟁점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질문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후보 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후보 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D1</a:t>
                      </a:r>
                    </a:p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위치 권한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물리 위치의 유일한 기록을 어디에 두는가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EngineCore 의 DataLocationStore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Worker 의 버전 매핑 표. EngineCore 는 사본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D2</a:t>
                      </a:r>
                    </a:p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commit · 접근 보호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위치 전환을 언제 보이게 하고 진행 중 접근을 무엇으로 보호하나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Scheduler step 경계에서 commit, epoch 로 해제 보류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Worker 가 다음 step 시작 시 flip, step 별 lease 로 해제 보류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D3</a:t>
                      </a:r>
                    </a:p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위치 인지 경로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엔진은 위치 변화를 어떻게 아는가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같은 프로세스 동기 조회 (view = authority)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비동기 이벤트로 갱신되는 사본 + late validation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excluded"/>
          <p:cNvSpPr/>
          <p:nvPr/>
        </p:nvSpPr>
        <p:spPr>
          <a:xfrm>
            <a:off x="6217920" y="4343400"/>
            <a:ext cx="5669280" cy="105156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chemeClr val="tx1"/>
                </a:solidFill>
              </a:rPr>
              <a:t>제외한 후보</a:t>
            </a:r>
          </a:p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UVM/HMM 단일 가상 주소: 4/6 memory 가 GPU 직접 접근 불가, DROP · REPLICATE · REMAP · RECLASSIFY 표현 불가, fault 기반 이동은 kernel stall</a:t>
            </a:r>
          </a:p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attention 커널이 descriptor 직접 해석: 모든 attention backend 수정 필요 → QA4 악화</a:t>
            </a:r>
          </a:p>
        </p:txBody>
      </p:sp>
      <p:sp>
        <p:nvSpPr>
          <p:cNvPr id="106" name="message"/>
          <p:cNvSpPr txBox="1"/>
          <p:nvPr/>
        </p:nvSpPr>
        <p:spPr>
          <a:xfrm>
            <a:off x="274320" y="5806440"/>
            <a:ext cx="11658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</a:rPr>
              <a:t>"혼합안 (중앙 권한 + lease 등)" 은 후속 후보로 둠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위치 권한 (authority) 을 EngineCore 에 둘 것인가, Worker 에 둘 것인가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h1"/>
          <p:cNvSpPr txBox="1"/>
          <p:nvPr/>
        </p:nvSpPr>
        <p:spPr>
          <a:xfrm>
            <a:off x="274320" y="1069848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chemeClr val="tx1"/>
                </a:solidFill>
              </a:rPr>
              <a:t>(1안) 중앙 권한 + step 경계 commit</a:t>
            </a:r>
          </a:p>
        </p:txBody>
      </p:sp>
      <p:sp>
        <p:nvSpPr>
          <p:cNvPr id="102" name="h2"/>
          <p:cNvSpPr txBox="1"/>
          <p:nvPr/>
        </p:nvSpPr>
        <p:spPr>
          <a:xfrm>
            <a:off x="6217920" y="1069848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chemeClr val="tx1"/>
                </a:solidFill>
              </a:rPr>
              <a:t>(2안) Worker 로컬 버전 매핑 + lease 비동기 commit</a:t>
            </a:r>
          </a:p>
        </p:txBody>
      </p:sp>
      <p:sp>
        <p:nvSpPr>
          <p:cNvPr id="103" name="q1"/>
          <p:cNvSpPr txBox="1"/>
          <p:nvPr/>
        </p:nvSpPr>
        <p:spPr>
          <a:xfrm>
            <a:off x="274320" y="1325880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850" dirty="0">
                <a:solidFill>
                  <a:srgbClr val="0070C0"/>
                </a:solidFill>
              </a:rPr>
              <a:t>"위치의 진실은 EngineCore 한 곳, commit 과 해제는 step 경계에서만"</a:t>
            </a:r>
          </a:p>
        </p:txBody>
      </p:sp>
      <p:sp>
        <p:nvSpPr>
          <p:cNvPr id="104" name="q2"/>
          <p:cNvSpPr txBox="1"/>
          <p:nvPr/>
        </p:nvSpPr>
        <p:spPr>
          <a:xfrm>
            <a:off x="6217920" y="1325880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850" dirty="0">
                <a:solidFill>
                  <a:srgbClr val="0070C0"/>
                </a:solidFill>
              </a:rPr>
              <a:t>"위치의 진실은 데이터를 가진 Worker, 복사 직후 flip + lease 보호"</a:t>
            </a:r>
          </a:p>
        </p:txBody>
      </p:sp>
      <p:sp>
        <p:nvSpPr>
          <p:cNvPr id="105" name="C1 Engine"/>
          <p:cNvSpPr/>
          <p:nvPr/>
        </p:nvSpPr>
        <p:spPr>
          <a:xfrm>
            <a:off x="274320" y="1645920"/>
            <a:ext cx="3246120" cy="2514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EngineCore (위치 권한)</a:t>
            </a:r>
          </a:p>
        </p:txBody>
      </p:sp>
      <p:sp>
        <p:nvSpPr>
          <p:cNvPr id="106" name="C1 Worker"/>
          <p:cNvSpPr/>
          <p:nvPr/>
        </p:nvSpPr>
        <p:spPr>
          <a:xfrm>
            <a:off x="3703320" y="1645920"/>
            <a:ext cx="1874520" cy="2514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 (실행자)</a:t>
            </a:r>
          </a:p>
        </p:txBody>
      </p:sp>
      <p:sp>
        <p:nvSpPr>
          <p:cNvPr id="107" name="Scheduler"/>
          <p:cNvSpPr/>
          <p:nvPr/>
        </p:nvSpPr>
        <p:spPr>
          <a:xfrm>
            <a:off x="365760" y="1965960"/>
            <a:ext cx="141732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08" name="KVDataAdapter"/>
          <p:cNvSpPr/>
          <p:nvPr/>
        </p:nvSpPr>
        <p:spPr>
          <a:xfrm>
            <a:off x="2011680" y="1965960"/>
            <a:ext cx="141732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KVDataAdapter</a:t>
            </a:r>
          </a:p>
        </p:txBody>
      </p:sp>
      <p:sp>
        <p:nvSpPr>
          <p:cNvPr id="109" name="Migration Coordinator"/>
          <p:cNvSpPr/>
          <p:nvPr/>
        </p:nvSpPr>
        <p:spPr>
          <a:xfrm>
            <a:off x="365760" y="2468880"/>
            <a:ext cx="141732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Coordinator</a:t>
            </a:r>
          </a:p>
        </p:txBody>
      </p:sp>
      <p:sp>
        <p:nvSpPr>
          <p:cNvPr id="110" name="Data Location Store"/>
          <p:cNvSpPr/>
          <p:nvPr/>
        </p:nvSpPr>
        <p:spPr>
          <a:xfrm>
            <a:off x="2011680" y="2468880"/>
            <a:ext cx="141732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Data Location Store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(authoritative)</a:t>
            </a:r>
          </a:p>
        </p:txBody>
      </p:sp>
      <p:sp>
        <p:nvSpPr>
          <p:cNvPr id="111" name="Migration Planner / Queue"/>
          <p:cNvSpPr/>
          <p:nvPr/>
        </p:nvSpPr>
        <p:spPr>
          <a:xfrm>
            <a:off x="365760" y="2971800"/>
            <a:ext cx="141732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Planner / Queue</a:t>
            </a:r>
          </a:p>
        </p:txBody>
      </p:sp>
      <p:sp>
        <p:nvSpPr>
          <p:cNvPr id="112" name="Completion Reconciler"/>
          <p:cNvSpPr/>
          <p:nvPr/>
        </p:nvSpPr>
        <p:spPr>
          <a:xfrm>
            <a:off x="2011680" y="2971800"/>
            <a:ext cx="141732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Completion Reconciler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(step 경계 commit)</a:t>
            </a:r>
          </a:p>
        </p:txBody>
      </p:sp>
      <p:sp>
        <p:nvSpPr>
          <p:cNvPr id="113" name="Epoch Tracker"/>
          <p:cNvSpPr/>
          <p:nvPr/>
        </p:nvSpPr>
        <p:spPr>
          <a:xfrm>
            <a:off x="2011680" y="3520440"/>
            <a:ext cx="141732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Epoch Tracker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(참조 슬롯, 해제 보류)</a:t>
            </a:r>
          </a:p>
        </p:txBody>
      </p:sp>
      <p:sp>
        <p:nvSpPr>
          <p:cNvPr id="114" name="legend"/>
          <p:cNvSpPr txBox="1"/>
          <p:nvPr/>
        </p:nvSpPr>
        <p:spPr>
          <a:xfrm>
            <a:off x="365760" y="3474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굵은 선</a:t>
            </a:r>
          </a:p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→ command · dependency</a:t>
            </a:r>
          </a:p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← completion</a:t>
            </a:r>
          </a:p>
        </p:txBody>
      </p:sp>
      <p:sp>
        <p:nvSpPr>
          <p:cNvPr id="115" name="Migration Executor"/>
          <p:cNvSpPr/>
          <p:nvPr/>
        </p:nvSpPr>
        <p:spPr>
          <a:xfrm>
            <a:off x="3794760" y="1965960"/>
            <a:ext cx="169164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Executor</a:t>
            </a:r>
          </a:p>
        </p:txBody>
      </p:sp>
      <p:sp>
        <p:nvSpPr>
          <p:cNvPr id="116" name="Transfer Router · Handler"/>
          <p:cNvSpPr/>
          <p:nvPr/>
        </p:nvSpPr>
        <p:spPr>
          <a:xfrm>
            <a:off x="3794760" y="2468880"/>
            <a:ext cx="169164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Router · Handler</a:t>
            </a:r>
          </a:p>
        </p:txBody>
      </p:sp>
      <p:sp>
        <p:nvSpPr>
          <p:cNvPr id="117" name="Block Table"/>
          <p:cNvSpPr/>
          <p:nvPr/>
        </p:nvSpPr>
        <p:spPr>
          <a:xfrm>
            <a:off x="3794760" y="2971800"/>
            <a:ext cx="169164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Block Table</a:t>
            </a:r>
          </a:p>
        </p:txBody>
      </p:sp>
      <p:sp>
        <p:nvSpPr>
          <p:cNvPr id="118" name="Model Runner"/>
          <p:cNvSpPr/>
          <p:nvPr/>
        </p:nvSpPr>
        <p:spPr>
          <a:xfrm>
            <a:off x="3794760" y="3520440"/>
            <a:ext cx="169164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Model Runner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(dependency wait hook)</a:t>
            </a:r>
          </a:p>
        </p:txBody>
      </p:sp>
      <p:cxnSp>
        <p:nvCxnSpPr>
          <p:cNvPr id="119" name="c1"/>
          <p:cNvCxnSpPr/>
          <p:nvPr/>
        </p:nvCxnSpPr>
        <p:spPr>
          <a:xfrm>
            <a:off x="1078992" y="227685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20" name="c2"/>
          <p:cNvCxnSpPr/>
          <p:nvPr/>
        </p:nvCxnSpPr>
        <p:spPr>
          <a:xfrm>
            <a:off x="1783080" y="2624328"/>
            <a:ext cx="2286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21" name="c3"/>
          <p:cNvCxnSpPr/>
          <p:nvPr/>
        </p:nvCxnSpPr>
        <p:spPr>
          <a:xfrm>
            <a:off x="1078992" y="277977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22" name="c4"/>
          <p:cNvCxnSpPr/>
          <p:nvPr/>
        </p:nvCxnSpPr>
        <p:spPr>
          <a:xfrm flipV="1">
            <a:off x="2724912" y="277977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23" name="c5"/>
          <p:cNvCxnSpPr/>
          <p:nvPr/>
        </p:nvCxnSpPr>
        <p:spPr>
          <a:xfrm>
            <a:off x="2724912" y="3282696"/>
            <a:ext cx="0" cy="23774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24" name="command"/>
          <p:cNvSpPr/>
          <p:nvPr/>
        </p:nvSpPr>
        <p:spPr>
          <a:xfrm>
            <a:off x="1078992" y="2057400"/>
            <a:ext cx="2715768" cy="1344168"/>
          </a:xfrm>
          <a:custGeom>
            <a:avLst/>
            <a:gdLst/>
            <a:ahLst/>
            <a:cxnLst/>
            <a:rect l="0" t="0" r="r" b="b"/>
            <a:pathLst>
              <a:path w="2715768" h="1344168" fill="none">
                <a:moveTo>
                  <a:pt x="0" y="1225296"/>
                </a:moveTo>
                <a:lnTo>
                  <a:pt x="0" y="1344168"/>
                </a:lnTo>
                <a:lnTo>
                  <a:pt x="2505456" y="1344168"/>
                </a:lnTo>
                <a:lnTo>
                  <a:pt x="2505456" y="0"/>
                </a:lnTo>
                <a:lnTo>
                  <a:pt x="2715768" y="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sp>
        <p:nvSpPr>
          <p:cNvPr id="125" name="completion"/>
          <p:cNvSpPr/>
          <p:nvPr/>
        </p:nvSpPr>
        <p:spPr>
          <a:xfrm>
            <a:off x="3429000" y="2212848"/>
            <a:ext cx="365760" cy="914400"/>
          </a:xfrm>
          <a:custGeom>
            <a:avLst/>
            <a:gdLst/>
            <a:ahLst/>
            <a:cxnLst/>
            <a:rect l="0" t="0" r="r" b="b"/>
            <a:pathLst>
              <a:path w="365760" h="914400" fill="none">
                <a:moveTo>
                  <a:pt x="365760" y="0"/>
                </a:moveTo>
                <a:lnTo>
                  <a:pt x="219456" y="0"/>
                </a:lnTo>
                <a:lnTo>
                  <a:pt x="219456" y="914400"/>
                </a:lnTo>
                <a:lnTo>
                  <a:pt x="0" y="9144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cxnSp>
        <p:nvCxnSpPr>
          <p:cNvPr id="126" name="c6"/>
          <p:cNvCxnSpPr/>
          <p:nvPr/>
        </p:nvCxnSpPr>
        <p:spPr>
          <a:xfrm>
            <a:off x="4636008" y="227685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27" name="c7"/>
          <p:cNvCxnSpPr/>
          <p:nvPr/>
        </p:nvCxnSpPr>
        <p:spPr>
          <a:xfrm flipV="1">
            <a:off x="4636008" y="3282696"/>
            <a:ext cx="0" cy="23774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28" name="C2 Engine"/>
          <p:cNvSpPr/>
          <p:nvPr/>
        </p:nvSpPr>
        <p:spPr>
          <a:xfrm>
            <a:off x="6217920" y="1645920"/>
            <a:ext cx="2240280" cy="2514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EngineCore (중재 + 사본)</a:t>
            </a:r>
          </a:p>
        </p:txBody>
      </p:sp>
      <p:sp>
        <p:nvSpPr>
          <p:cNvPr id="129" name="C2 Worker"/>
          <p:cNvSpPr/>
          <p:nvPr/>
        </p:nvSpPr>
        <p:spPr>
          <a:xfrm>
            <a:off x="8641080" y="1645920"/>
            <a:ext cx="2880360" cy="2514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 (위치 권한)</a:t>
            </a:r>
          </a:p>
        </p:txBody>
      </p:sp>
      <p:sp>
        <p:nvSpPr>
          <p:cNvPr id="130" name="Scheduler"/>
          <p:cNvSpPr/>
          <p:nvPr/>
        </p:nvSpPr>
        <p:spPr>
          <a:xfrm>
            <a:off x="6309360" y="1965960"/>
            <a:ext cx="96012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31" name="KVDataAdapter"/>
          <p:cNvSpPr/>
          <p:nvPr/>
        </p:nvSpPr>
        <p:spPr>
          <a:xfrm>
            <a:off x="7360920" y="1965960"/>
            <a:ext cx="100584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KVDataAdapter</a:t>
            </a:r>
          </a:p>
        </p:txBody>
      </p:sp>
      <p:sp>
        <p:nvSpPr>
          <p:cNvPr id="132" name="Migration Coordinator"/>
          <p:cNvSpPr/>
          <p:nvPr/>
        </p:nvSpPr>
        <p:spPr>
          <a:xfrm>
            <a:off x="6309360" y="2468880"/>
            <a:ext cx="205740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Coordinator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(object 당 job 1개 중재)</a:t>
            </a:r>
          </a:p>
        </p:txBody>
      </p:sp>
      <p:sp>
        <p:nvSpPr>
          <p:cNvPr id="133" name="Location Mirror"/>
          <p:cNvSpPr/>
          <p:nvPr/>
        </p:nvSpPr>
        <p:spPr>
          <a:xfrm>
            <a:off x="6309360" y="2971800"/>
            <a:ext cx="205740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Location Mirror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(이벤트로 갱신되는 사본)</a:t>
            </a:r>
          </a:p>
        </p:txBody>
      </p:sp>
      <p:sp>
        <p:nvSpPr>
          <p:cNvPr id="134" name="Placement Event Receiver"/>
          <p:cNvSpPr/>
          <p:nvPr/>
        </p:nvSpPr>
        <p:spPr>
          <a:xfrm>
            <a:off x="6309360" y="3520440"/>
            <a:ext cx="205740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Placement Event Receiver</a:t>
            </a:r>
          </a:p>
        </p:txBody>
      </p:sp>
      <p:sp>
        <p:nvSpPr>
          <p:cNvPr id="135" name="Migration Executor"/>
          <p:cNvSpPr/>
          <p:nvPr/>
        </p:nvSpPr>
        <p:spPr>
          <a:xfrm>
            <a:off x="8732520" y="1965960"/>
            <a:ext cx="132588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Executor</a:t>
            </a:r>
          </a:p>
        </p:txBody>
      </p:sp>
      <p:sp>
        <p:nvSpPr>
          <p:cNvPr id="136" name="Transfer Router"/>
          <p:cNvSpPr/>
          <p:nvPr/>
        </p:nvSpPr>
        <p:spPr>
          <a:xfrm>
            <a:off x="10149840" y="1965960"/>
            <a:ext cx="128016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Router</a:t>
            </a:r>
          </a:p>
        </p:txBody>
      </p:sp>
      <p:sp>
        <p:nvSpPr>
          <p:cNvPr id="137" name="Commit Agent"/>
          <p:cNvSpPr/>
          <p:nvPr/>
        </p:nvSpPr>
        <p:spPr>
          <a:xfrm>
            <a:off x="8732520" y="2468880"/>
            <a:ext cx="132588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Commit Agent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(flip, version CAS)</a:t>
            </a:r>
          </a:p>
        </p:txBody>
      </p:sp>
      <p:sp>
        <p:nvSpPr>
          <p:cNvPr id="138" name="Rank Sync"/>
          <p:cNvSpPr/>
          <p:nvPr/>
        </p:nvSpPr>
        <p:spPr>
          <a:xfrm>
            <a:off x="10149840" y="2468880"/>
            <a:ext cx="128016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Rank Sync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(TP flip 합의)</a:t>
            </a:r>
          </a:p>
        </p:txBody>
      </p:sp>
      <p:sp>
        <p:nvSpPr>
          <p:cNvPr id="139" name="Local Mapping Table"/>
          <p:cNvSpPr/>
          <p:nvPr/>
        </p:nvSpPr>
        <p:spPr>
          <a:xfrm>
            <a:off x="8732520" y="2971800"/>
            <a:ext cx="132588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Local Mapping Table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(authoritative)</a:t>
            </a:r>
          </a:p>
        </p:txBody>
      </p:sp>
      <p:sp>
        <p:nvSpPr>
          <p:cNvPr id="140" name="Lease Manager"/>
          <p:cNvSpPr/>
          <p:nvPr/>
        </p:nvSpPr>
        <p:spPr>
          <a:xfrm>
            <a:off x="10149840" y="2971800"/>
            <a:ext cx="128016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Lease Manager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(step epoch)</a:t>
            </a:r>
          </a:p>
        </p:txBody>
      </p:sp>
      <p:sp>
        <p:nvSpPr>
          <p:cNvPr id="141" name="Model Runner"/>
          <p:cNvSpPr/>
          <p:nvPr/>
        </p:nvSpPr>
        <p:spPr>
          <a:xfrm>
            <a:off x="8732520" y="3520440"/>
            <a:ext cx="2697480" cy="310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Model Runner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(step 시작: flip 적용, lease 획득)</a:t>
            </a:r>
          </a:p>
        </p:txBody>
      </p:sp>
      <p:cxnSp>
        <p:nvCxnSpPr>
          <p:cNvPr id="142" name="c0"/>
          <p:cNvCxnSpPr/>
          <p:nvPr/>
        </p:nvCxnSpPr>
        <p:spPr>
          <a:xfrm>
            <a:off x="7022592" y="227685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43" name="command"/>
          <p:cNvSpPr/>
          <p:nvPr/>
        </p:nvSpPr>
        <p:spPr>
          <a:xfrm>
            <a:off x="8366760" y="2057400"/>
            <a:ext cx="365760" cy="566928"/>
          </a:xfrm>
          <a:custGeom>
            <a:avLst/>
            <a:gdLst/>
            <a:ahLst/>
            <a:cxnLst/>
            <a:rect l="0" t="0" r="r" b="b"/>
            <a:pathLst>
              <a:path w="365760" h="566928" fill="none">
                <a:moveTo>
                  <a:pt x="0" y="566928"/>
                </a:moveTo>
                <a:lnTo>
                  <a:pt x="155448" y="566928"/>
                </a:lnTo>
                <a:lnTo>
                  <a:pt x="155448" y="0"/>
                </a:lnTo>
                <a:lnTo>
                  <a:pt x="365760" y="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cxnSp>
        <p:nvCxnSpPr>
          <p:cNvPr id="144" name="c1"/>
          <p:cNvCxnSpPr/>
          <p:nvPr/>
        </p:nvCxnSpPr>
        <p:spPr>
          <a:xfrm>
            <a:off x="9390888" y="227685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5" name="c2"/>
          <p:cNvCxnSpPr/>
          <p:nvPr/>
        </p:nvCxnSpPr>
        <p:spPr>
          <a:xfrm>
            <a:off x="10058400" y="2624328"/>
            <a:ext cx="9144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6" name="c3"/>
          <p:cNvCxnSpPr/>
          <p:nvPr/>
        </p:nvCxnSpPr>
        <p:spPr>
          <a:xfrm>
            <a:off x="9390888" y="277977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7" name="c4"/>
          <p:cNvCxnSpPr/>
          <p:nvPr/>
        </p:nvCxnSpPr>
        <p:spPr>
          <a:xfrm flipV="1">
            <a:off x="9390888" y="3282696"/>
            <a:ext cx="0" cy="23774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48" name="c5"/>
          <p:cNvCxnSpPr/>
          <p:nvPr/>
        </p:nvCxnSpPr>
        <p:spPr>
          <a:xfrm flipV="1">
            <a:off x="10789920" y="3282696"/>
            <a:ext cx="0" cy="23774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49" name="event"/>
          <p:cNvSpPr/>
          <p:nvPr/>
        </p:nvSpPr>
        <p:spPr>
          <a:xfrm>
            <a:off x="8366760" y="2715768"/>
            <a:ext cx="365760" cy="960120"/>
          </a:xfrm>
          <a:custGeom>
            <a:avLst/>
            <a:gdLst/>
            <a:ahLst/>
            <a:cxnLst/>
            <a:rect l="0" t="0" r="r" b="b"/>
            <a:pathLst>
              <a:path w="365760" h="960120" fill="none">
                <a:moveTo>
                  <a:pt x="365760" y="0"/>
                </a:moveTo>
                <a:lnTo>
                  <a:pt x="219456" y="0"/>
                </a:lnTo>
                <a:lnTo>
                  <a:pt x="219456" y="960120"/>
                </a:lnTo>
                <a:lnTo>
                  <a:pt x="0" y="96012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cxnSp>
        <p:nvCxnSpPr>
          <p:cNvPr id="150" name="c6"/>
          <p:cNvCxnSpPr/>
          <p:nvPr/>
        </p:nvCxnSpPr>
        <p:spPr>
          <a:xfrm flipV="1">
            <a:off x="7333488" y="3282696"/>
            <a:ext cx="0" cy="23774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51" name="c7"/>
          <p:cNvCxnSpPr/>
          <p:nvPr/>
        </p:nvCxnSpPr>
        <p:spPr>
          <a:xfrm flipV="1">
            <a:off x="6583680" y="2779776"/>
            <a:ext cx="0" cy="192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52" name="leg2"/>
          <p:cNvSpPr txBox="1"/>
          <p:nvPr/>
        </p:nvSpPr>
        <p:spPr>
          <a:xfrm>
            <a:off x="6217920" y="4160520"/>
            <a:ext cx="56692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굵은 선: → command (Coordinator → Worker),  ← placement event (Worker → Coordinator)</a:t>
            </a:r>
          </a:p>
        </p:txBody>
      </p:sp>
      <p:sp>
        <p:nvSpPr>
          <p:cNvPr id="153" name="adv"/>
          <p:cNvSpPr txBox="1"/>
          <p:nvPr/>
        </p:nvSpPr>
        <p:spPr>
          <a:xfrm>
            <a:off x="274320" y="43891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595959"/>
                </a:solidFill>
              </a:rPr>
              <a:t>장점</a:t>
            </a:r>
          </a:p>
        </p:txBody>
      </p:sp>
      <p:sp>
        <p:nvSpPr>
          <p:cNvPr id="154" name="dis"/>
          <p:cNvSpPr txBox="1"/>
          <p:nvPr/>
        </p:nvSpPr>
        <p:spPr>
          <a:xfrm>
            <a:off x="274320" y="54406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595959"/>
                </a:solidFill>
              </a:rPr>
              <a:t>단점</a:t>
            </a:r>
          </a:p>
        </p:txBody>
      </p:sp>
      <p:sp>
        <p:nvSpPr>
          <p:cNvPr id="155" name="c1 adv"/>
          <p:cNvSpPr/>
          <p:nvPr/>
        </p:nvSpPr>
        <p:spPr>
          <a:xfrm>
            <a:off x="731520" y="4297680"/>
            <a:ext cx="5303520" cy="1069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위치 기록이 한 곳 → 불변식 I1~I4 검증이 쉬움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Scheduler view = authority → 사본 불일치 (H5) 없음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평상시 커널 · Worker 경로에 추가 비용 없음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새 data type · 일관성 규칙 변경이 EngineCore 한 곳에 집중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실패 의미 단순: commit 전이면 abort, 기존 위치 유지</a:t>
            </a:r>
          </a:p>
        </p:txBody>
      </p:sp>
      <p:sp>
        <p:nvSpPr>
          <p:cNvPr id="156" name="c1 dis"/>
          <p:cNvSpPr/>
          <p:nvPr/>
        </p:nvSpPr>
        <p:spPr>
          <a:xfrm>
            <a:off x="731520" y="5394960"/>
            <a:ext cx="530352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모든 commit 이 EngineCore 루프를 지나 직렬화 → Worker · 이동량 증가 시 병목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commit · 해제가 step 경계에 양자화 (반영이 1~2 step 지연)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blocking barrier 가 느린 복사에 배치 전체를 묶을 수 있음 (timeout + recompute 필요)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scheduler.py, output.py, kv_cache_manager.py, block_pool.py 수정 → upstream 추종 부담</a:t>
            </a:r>
          </a:p>
        </p:txBody>
      </p:sp>
      <p:sp>
        <p:nvSpPr>
          <p:cNvPr id="157" name="c2 adv"/>
          <p:cNvSpPr/>
          <p:nvPr/>
        </p:nvSpPr>
        <p:spPr>
          <a:xfrm>
            <a:off x="6217920" y="4297680"/>
            <a:ext cx="5669280" cy="1069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commit 이 Scheduler 루프를 거치지 않음 → EngineCore 병목 없고 Worker 별 분산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복사 완료 후 다음 Worker step 에 즉시 반영, 한 Worker 의 느린 복사가 배치를 안 묶음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장애가 그 Worker 의 해당 object 에 머묾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Scheduler 코어 변경 작음, layer 단위 overlap 등 후속 최적화 여지</a:t>
            </a:r>
          </a:p>
        </p:txBody>
      </p:sp>
      <p:sp>
        <p:nvSpPr>
          <p:cNvPr id="158" name="c2 dis"/>
          <p:cNvSpPr/>
          <p:nvPr/>
        </p:nvSpPr>
        <p:spPr>
          <a:xfrm>
            <a:off x="6217920" y="5394960"/>
            <a:ext cx="566928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TP rank 간 flip 합의 필요, 부분 장애 상태로 불변식 증명 부담 증가 (I6)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Scheduler 가 stale 사본으로 스케줄 가능 → late validation 낭비 (H5)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매핑 · lease · RankSync 가 Worker · ModelRunner 에 분산 → 변경 큼</a:t>
            </a:r>
          </a:p>
          <a:p>
            <a:pPr algn="l" marL="114300" indent="-114300">
              <a:buFont typeface="Arial"/>
              <a:buChar char="•"/>
            </a:pPr>
            <a:r>
              <a:rPr lang="ko-KR" altLang="en-US" sz="820" dirty="0">
                <a:solidFill>
                  <a:schemeClr val="tx1"/>
                </a:solidFill>
              </a:rPr>
              <a:t>평상시에도 매핑 해석 · lease 갱신 비용, DP1 Registry 가 약간 지연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두 후보의 차이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후보 1 = 본사 장부 한 곳 + 점검 시간에만 선언 / 후보 2 = 창고 담당자가 즉시 기록 후 통보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1"/>
          <p:cNvSpPr txBox="1"/>
          <p:nvPr/>
        </p:nvSpPr>
        <p:spPr>
          <a:xfrm>
            <a:off x="274320" y="109728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용어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274320" y="1371600"/>
          <a:ext cx="4114800" cy="2944368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306324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용어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쉬운 뜻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논리 블록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엔진이 보는 "KV 조각 B1" 이름. 어디 있든 이름은 그대로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물리 슬롯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실제 놓인 자리 (HBM 120번 칸, CXL 주소 ...)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authority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"B1 은 지금 여기"를 공식 기록하는 곳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commit / flip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복사 후 공식 기록을 새 자리로 바꾸는 순간 (후보 1: commit, 후보 2: flip)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epoch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scheduler 가 실행한 step 번호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lease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"이번 step 이 이 슬롯을 쓰는 중" 표시. 남아 있으면 비우지 않음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mirror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후보 2 에서 EngineCore 가 갖는 위치 사본. 원본보다 늦을 수 있음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2"/>
          <p:cNvSpPr txBox="1"/>
          <p:nvPr/>
        </p:nvSpPr>
        <p:spPr>
          <a:xfrm>
            <a:off x="4526280" y="10972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차이 한눈에 (같은 시나리오: R 이 CXL 의 B1 을 필요로 함)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4526280" y="1371600"/>
          <a:ext cx="7360920" cy="2798064"/>
        </p:xfrm>
        <a:graphic>
          <a:graphicData uri="http://schemas.openxmlformats.org/drawingml/2006/table">
            <a:tbl>
              <a:tblPr firstRow="1"/>
              <a:tblGrid>
                <a:gridCol w="1691640"/>
                <a:gridCol w="2743200"/>
                <a:gridCol w="292608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질문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후보 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후보 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누가 "이동 끝"을 선언하나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EngineCore 가 다음 step 시작 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Worker 가 복사 직후, 다음 Worker step 시작 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엔진은 언제 아나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선언과 동시 (같은 곳)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조금 뒤 이벤트로. 그동안 사본이 낡을 수 있음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반쯤 복사된 블록을 안 읽는 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복사 끝날 때까지 forward 를 막는 barrier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복사 전엔 위치 기록을 안 바꿈. 일찍 스케줄된 요청은 Worker 가 거름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쓰는 중인 옛 슬롯을 안 비우는 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EpochTracker: 마지막으로 쓴 step 이 끝난 뒤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step 별 lease 가 남은 슬롯은 보류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복사 실패 · 지연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commit 전이면 취소 · 원위치. barrier 가 배치를 묶어 timeout 필요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그 Worker 의 그 블록에서 끝남. 배치 전체는 안 묶임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rgbClr val="595959"/>
                          </a:solidFill>
                        </a:rPr>
                        <a:t>치르는 대가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모든 commit 이 EngineCore 를 지나 직렬화, 1~2 step 늦음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사본 불일치 낭비, 평상시 매핑 · lease 비용, TP 합의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mini1"/>
          <p:cNvSpPr/>
          <p:nvPr/>
        </p:nvSpPr>
        <p:spPr>
          <a:xfrm>
            <a:off x="274320" y="4754880"/>
            <a:ext cx="5532120" cy="109728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06" name="mini2"/>
          <p:cNvSpPr/>
          <p:nvPr/>
        </p:nvSpPr>
        <p:spPr>
          <a:xfrm>
            <a:off x="6035040" y="4754880"/>
            <a:ext cx="5852160" cy="109728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07" name="m1"/>
          <p:cNvSpPr txBox="1"/>
          <p:nvPr/>
        </p:nvSpPr>
        <p:spPr>
          <a:xfrm>
            <a:off x="365760" y="477316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chemeClr val="tx1"/>
                </a:solidFill>
              </a:rPr>
              <a:t>후보 1</a:t>
            </a:r>
          </a:p>
        </p:txBody>
      </p:sp>
      <p:sp>
        <p:nvSpPr>
          <p:cNvPr id="108" name="m2"/>
          <p:cNvSpPr txBox="1"/>
          <p:nvPr/>
        </p:nvSpPr>
        <p:spPr>
          <a:xfrm>
            <a:off x="6126480" y="477316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chemeClr val="tx1"/>
                </a:solidFill>
              </a:rPr>
              <a:t>후보 2</a:t>
            </a:r>
          </a:p>
        </p:txBody>
      </p:sp>
      <p:sp>
        <p:nvSpPr>
          <p:cNvPr id="109" name="EngineCore"/>
          <p:cNvSpPr/>
          <p:nvPr/>
        </p:nvSpPr>
        <p:spPr>
          <a:xfrm>
            <a:off x="502920" y="5074920"/>
            <a:ext cx="210312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EngineCore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위치 기록 원본</a:t>
            </a:r>
          </a:p>
        </p:txBody>
      </p:sp>
      <p:sp>
        <p:nvSpPr>
          <p:cNvPr id="110" name="Worker"/>
          <p:cNvSpPr/>
          <p:nvPr/>
        </p:nvSpPr>
        <p:spPr>
          <a:xfrm>
            <a:off x="3291840" y="5074920"/>
            <a:ext cx="210312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복사만 한다</a:t>
            </a:r>
          </a:p>
        </p:txBody>
      </p:sp>
      <p:cxnSp>
        <p:nvCxnSpPr>
          <p:cNvPr id="111" name="m a"/>
          <p:cNvCxnSpPr/>
          <p:nvPr/>
        </p:nvCxnSpPr>
        <p:spPr>
          <a:xfrm flipH="1">
            <a:off x="2606040" y="5212080"/>
            <a:ext cx="6858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12" name="x"/>
          <p:cNvSpPr txBox="1"/>
          <p:nvPr/>
        </p:nvSpPr>
        <p:spPr>
          <a:xfrm>
            <a:off x="2560320" y="495604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복사 완료 보고</a:t>
            </a:r>
          </a:p>
        </p:txBody>
      </p:sp>
      <p:cxnSp>
        <p:nvCxnSpPr>
          <p:cNvPr id="113" name="m b"/>
          <p:cNvCxnSpPr/>
          <p:nvPr/>
        </p:nvCxnSpPr>
        <p:spPr>
          <a:xfrm>
            <a:off x="2606040" y="5413248"/>
            <a:ext cx="6858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14" name="x2"/>
          <p:cNvSpPr txBox="1"/>
          <p:nvPr/>
        </p:nvSpPr>
        <p:spPr>
          <a:xfrm>
            <a:off x="2560320" y="55321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650" dirty="0">
                <a:solidFill>
                  <a:schemeClr val="tx1"/>
                </a:solidFill>
              </a:rPr>
              <a:t>새 위치를</a:t>
            </a:r>
          </a:p>
          <a:p>
            <a:pPr algn="ctr"/>
            <a:r>
              <a:rPr lang="ko-KR" altLang="en-US" sz="650" dirty="0">
                <a:solidFill>
                  <a:schemeClr val="tx1"/>
                </a:solidFill>
              </a:rPr>
              <a:t>SchedulerOutput 으로</a:t>
            </a:r>
          </a:p>
        </p:txBody>
      </p:sp>
      <p:sp>
        <p:nvSpPr>
          <p:cNvPr id="115" name="Worker"/>
          <p:cNvSpPr/>
          <p:nvPr/>
        </p:nvSpPr>
        <p:spPr>
          <a:xfrm>
            <a:off x="6355080" y="5074920"/>
            <a:ext cx="210312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위치 기록 원본</a:t>
            </a:r>
          </a:p>
        </p:txBody>
      </p:sp>
      <p:sp>
        <p:nvSpPr>
          <p:cNvPr id="116" name="EngineCore"/>
          <p:cNvSpPr/>
          <p:nvPr/>
        </p:nvSpPr>
        <p:spPr>
          <a:xfrm>
            <a:off x="9509760" y="5074920"/>
            <a:ext cx="210312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EngineCore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위치 사본 (mirror)</a:t>
            </a:r>
          </a:p>
        </p:txBody>
      </p:sp>
      <p:cxnSp>
        <p:nvCxnSpPr>
          <p:cNvPr id="117" name="m c"/>
          <p:cNvCxnSpPr/>
          <p:nvPr/>
        </p:nvCxnSpPr>
        <p:spPr>
          <a:xfrm>
            <a:off x="8458200" y="5303520"/>
            <a:ext cx="105156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118" name="x3"/>
          <p:cNvSpPr txBox="1"/>
          <p:nvPr/>
        </p:nvSpPr>
        <p:spPr>
          <a:xfrm>
            <a:off x="8458200" y="498348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복사 직후 flip,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이후 placement event</a:t>
            </a:r>
          </a:p>
        </p:txBody>
      </p:sp>
      <p:sp>
        <p:nvSpPr>
          <p:cNvPr id="119" name="message"/>
          <p:cNvSpPr txBox="1"/>
          <p:nvPr/>
        </p:nvSpPr>
        <p:spPr>
          <a:xfrm>
            <a:off x="274320" y="5989320"/>
            <a:ext cx="11658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</a:rPr>
              <a:t>이동이 드물고 증명이 쉬워야 하면 후보 1,  이동이 잦고 Worker 가 많으면 후보 2 가 유리할 수 있음 (가설)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후보 1 Runtime View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(1안) 전경 promotion: R 이 CXL 의 B1 을 필요로 하는 시나리오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ifeline 0"/>
          <p:cNvCxnSpPr/>
          <p:nvPr/>
        </p:nvCxnSpPr>
        <p:spPr>
          <a:xfrm>
            <a:off x="102870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2" name="lifeline 1"/>
          <p:cNvCxnSpPr/>
          <p:nvPr/>
        </p:nvCxnSpPr>
        <p:spPr>
          <a:xfrm>
            <a:off x="271272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3" name="lifeline 2"/>
          <p:cNvCxnSpPr/>
          <p:nvPr/>
        </p:nvCxnSpPr>
        <p:spPr>
          <a:xfrm>
            <a:off x="439674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4" name="lifeline 3"/>
          <p:cNvCxnSpPr/>
          <p:nvPr/>
        </p:nvCxnSpPr>
        <p:spPr>
          <a:xfrm>
            <a:off x="608076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5" name="lifeline 4"/>
          <p:cNvCxnSpPr/>
          <p:nvPr/>
        </p:nvCxnSpPr>
        <p:spPr>
          <a:xfrm>
            <a:off x="776478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6" name="lifeline 5"/>
          <p:cNvCxnSpPr/>
          <p:nvPr/>
        </p:nvCxnSpPr>
        <p:spPr>
          <a:xfrm>
            <a:off x="944880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7" name="lifeline 6"/>
          <p:cNvCxnSpPr/>
          <p:nvPr/>
        </p:nvCxnSpPr>
        <p:spPr>
          <a:xfrm>
            <a:off x="1113282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sp>
        <p:nvSpPr>
          <p:cNvPr id="108" name="Scheduler"/>
          <p:cNvSpPr/>
          <p:nvPr/>
        </p:nvSpPr>
        <p:spPr>
          <a:xfrm>
            <a:off x="32004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09" name="KVDataAdapter"/>
          <p:cNvSpPr/>
          <p:nvPr/>
        </p:nvSpPr>
        <p:spPr>
          <a:xfrm>
            <a:off x="200406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KVDataAdapter</a:t>
            </a:r>
          </a:p>
        </p:txBody>
      </p:sp>
      <p:sp>
        <p:nvSpPr>
          <p:cNvPr id="110" name="Migration Coordinator"/>
          <p:cNvSpPr/>
          <p:nvPr/>
        </p:nvSpPr>
        <p:spPr>
          <a:xfrm>
            <a:off x="368808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Migration Coordinator</a:t>
            </a:r>
          </a:p>
        </p:txBody>
      </p:sp>
      <p:sp>
        <p:nvSpPr>
          <p:cNvPr id="111" name="Data Location Store"/>
          <p:cNvSpPr/>
          <p:nvPr/>
        </p:nvSpPr>
        <p:spPr>
          <a:xfrm>
            <a:off x="537210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Data Location Store</a:t>
            </a:r>
          </a:p>
        </p:txBody>
      </p:sp>
      <p:sp>
        <p:nvSpPr>
          <p:cNvPr id="112" name="Worker"/>
          <p:cNvSpPr/>
          <p:nvPr/>
        </p:nvSpPr>
        <p:spPr>
          <a:xfrm>
            <a:off x="705612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Worker</a:t>
            </a:r>
          </a:p>
        </p:txBody>
      </p:sp>
      <p:sp>
        <p:nvSpPr>
          <p:cNvPr id="113" name="Migration Executor"/>
          <p:cNvSpPr/>
          <p:nvPr/>
        </p:nvSpPr>
        <p:spPr>
          <a:xfrm>
            <a:off x="874014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Migration Executor</a:t>
            </a:r>
          </a:p>
        </p:txBody>
      </p:sp>
      <p:sp>
        <p:nvSpPr>
          <p:cNvPr id="114" name="GPU ModelRunner"/>
          <p:cNvSpPr/>
          <p:nvPr/>
        </p:nvSpPr>
        <p:spPr>
          <a:xfrm>
            <a:off x="10424160" y="1143000"/>
            <a:ext cx="141732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GPU ModelRunner</a:t>
            </a:r>
          </a:p>
        </p:txBody>
      </p:sp>
      <p:sp>
        <p:nvSpPr>
          <p:cNvPr id="115" name="step"/>
          <p:cNvSpPr/>
          <p:nvPr/>
        </p:nvSpPr>
        <p:spPr>
          <a:xfrm>
            <a:off x="320040" y="1472184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S1 트리거 — R 이 B1 을 필요로 한다</a:t>
            </a:r>
          </a:p>
        </p:txBody>
      </p:sp>
      <p:cxnSp>
        <p:nvCxnSpPr>
          <p:cNvPr id="116" name="msg"/>
          <p:cNvCxnSpPr/>
          <p:nvPr/>
        </p:nvCxnSpPr>
        <p:spPr>
          <a:xfrm>
            <a:off x="1028700" y="1889150"/>
            <a:ext cx="168402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17" name="msg"/>
          <p:cNvSpPr txBox="1"/>
          <p:nvPr/>
        </p:nvSpPr>
        <p:spPr>
          <a:xfrm>
            <a:off x="1065276" y="1719072"/>
            <a:ext cx="16108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locate B1 for R</a:t>
            </a:r>
          </a:p>
        </p:txBody>
      </p:sp>
      <p:cxnSp>
        <p:nvCxnSpPr>
          <p:cNvPr id="118" name="msg"/>
          <p:cNvCxnSpPr/>
          <p:nvPr/>
        </p:nvCxnSpPr>
        <p:spPr>
          <a:xfrm>
            <a:off x="2712720" y="2163470"/>
            <a:ext cx="33680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19" name="msg"/>
          <p:cNvSpPr txBox="1"/>
          <p:nvPr/>
        </p:nvSpPr>
        <p:spPr>
          <a:xfrm>
            <a:off x="2749296" y="1993392"/>
            <a:ext cx="32948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get location</a:t>
            </a:r>
          </a:p>
        </p:txBody>
      </p:sp>
      <p:cxnSp>
        <p:nvCxnSpPr>
          <p:cNvPr id="120" name="msg"/>
          <p:cNvCxnSpPr/>
          <p:nvPr/>
        </p:nvCxnSpPr>
        <p:spPr>
          <a:xfrm flipH="1">
            <a:off x="1028700" y="2437790"/>
            <a:ext cx="5052060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21" name="msg"/>
          <p:cNvSpPr txBox="1"/>
          <p:nvPr/>
        </p:nvSpPr>
        <p:spPr>
          <a:xfrm>
            <a:off x="1065276" y="2267712"/>
            <a:ext cx="497890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CXL, READY, version 7 → B1 not in HBM</a:t>
            </a:r>
          </a:p>
        </p:txBody>
      </p:sp>
      <p:cxnSp>
        <p:nvCxnSpPr>
          <p:cNvPr id="122" name="msg"/>
          <p:cNvCxnSpPr/>
          <p:nvPr/>
        </p:nvCxnSpPr>
        <p:spPr>
          <a:xfrm>
            <a:off x="1028700" y="2712110"/>
            <a:ext cx="33680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3" name="msg"/>
          <p:cNvSpPr txBox="1"/>
          <p:nvPr/>
        </p:nvSpPr>
        <p:spPr>
          <a:xfrm>
            <a:off x="1065276" y="2542032"/>
            <a:ext cx="32948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submit Intent: B1 → HBM, BLOCKING</a:t>
            </a:r>
          </a:p>
        </p:txBody>
      </p:sp>
      <p:sp>
        <p:nvSpPr>
          <p:cNvPr id="124" name="step"/>
          <p:cNvSpPr/>
          <p:nvPr/>
        </p:nvSpPr>
        <p:spPr>
          <a:xfrm>
            <a:off x="320040" y="2816352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S2 목적지 확보 — Coordinator 가 위치 기록에 직접 INFLIGHT 기록</a:t>
            </a:r>
          </a:p>
        </p:txBody>
      </p:sp>
      <p:cxnSp>
        <p:nvCxnSpPr>
          <p:cNvPr id="125" name="msg"/>
          <p:cNvCxnSpPr/>
          <p:nvPr/>
        </p:nvCxnSpPr>
        <p:spPr>
          <a:xfrm>
            <a:off x="4396740" y="3233318"/>
            <a:ext cx="168402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6" name="msg"/>
          <p:cNvSpPr txBox="1"/>
          <p:nvPr/>
        </p:nvSpPr>
        <p:spPr>
          <a:xfrm>
            <a:off x="4433316" y="3063240"/>
            <a:ext cx="16108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reserve slot 120, pin source, INFLIGHT</a:t>
            </a:r>
          </a:p>
        </p:txBody>
      </p:sp>
      <p:cxnSp>
        <p:nvCxnSpPr>
          <p:cNvPr id="127" name="msg"/>
          <p:cNvCxnSpPr/>
          <p:nvPr/>
        </p:nvCxnSpPr>
        <p:spPr>
          <a:xfrm>
            <a:off x="1028700" y="3507638"/>
            <a:ext cx="673608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8" name="msg"/>
          <p:cNvSpPr txBox="1"/>
          <p:nvPr/>
        </p:nvSpPr>
        <p:spPr>
          <a:xfrm>
            <a:off x="1065276" y="3337560"/>
            <a:ext cx="666292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SchedulerOutput: job 42 + dependency + block_ids(slot 120)</a:t>
            </a:r>
          </a:p>
        </p:txBody>
      </p:sp>
      <p:sp>
        <p:nvSpPr>
          <p:cNvPr id="129" name="step"/>
          <p:cNvSpPr/>
          <p:nvPr/>
        </p:nvSpPr>
        <p:spPr>
          <a:xfrm>
            <a:off x="320040" y="3611880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S3~S4 복사 · 읽기 허용 — barrier 가 복사 완료 전 forward 진입을 막는다</a:t>
            </a:r>
          </a:p>
        </p:txBody>
      </p:sp>
      <p:cxnSp>
        <p:nvCxnSpPr>
          <p:cNvPr id="130" name="msg"/>
          <p:cNvCxnSpPr/>
          <p:nvPr/>
        </p:nvCxnSpPr>
        <p:spPr>
          <a:xfrm>
            <a:off x="7764780" y="4028846"/>
            <a:ext cx="168402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31" name="msg"/>
          <p:cNvSpPr txBox="1"/>
          <p:nvPr/>
        </p:nvSpPr>
        <p:spPr>
          <a:xfrm>
            <a:off x="7801356" y="3858768"/>
            <a:ext cx="16108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start copy job 42</a:t>
            </a:r>
          </a:p>
        </p:txBody>
      </p:sp>
      <p:cxnSp>
        <p:nvCxnSpPr>
          <p:cNvPr id="132" name="msg"/>
          <p:cNvCxnSpPr/>
          <p:nvPr/>
        </p:nvCxnSpPr>
        <p:spPr>
          <a:xfrm flipH="1">
            <a:off x="7764780" y="4303166"/>
            <a:ext cx="1684020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33" name="msg"/>
          <p:cNvSpPr txBox="1"/>
          <p:nvPr/>
        </p:nvSpPr>
        <p:spPr>
          <a:xfrm>
            <a:off x="7801356" y="4133088"/>
            <a:ext cx="16108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copy done</a:t>
            </a:r>
          </a:p>
        </p:txBody>
      </p:sp>
      <p:cxnSp>
        <p:nvCxnSpPr>
          <p:cNvPr id="134" name="msg"/>
          <p:cNvCxnSpPr/>
          <p:nvPr/>
        </p:nvCxnSpPr>
        <p:spPr>
          <a:xfrm>
            <a:off x="7764780" y="4577486"/>
            <a:ext cx="33680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35" name="msg"/>
          <p:cNvSpPr txBox="1"/>
          <p:nvPr/>
        </p:nvSpPr>
        <p:spPr>
          <a:xfrm>
            <a:off x="7801356" y="4407408"/>
            <a:ext cx="32948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execute_model (reads slot 120)</a:t>
            </a:r>
          </a:p>
        </p:txBody>
      </p:sp>
      <p:cxnSp>
        <p:nvCxnSpPr>
          <p:cNvPr id="136" name="msg"/>
          <p:cNvCxnSpPr/>
          <p:nvPr/>
        </p:nvCxnSpPr>
        <p:spPr>
          <a:xfrm flipH="1">
            <a:off x="1028700" y="4851806"/>
            <a:ext cx="6736080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37" name="msg"/>
          <p:cNvSpPr txBox="1"/>
          <p:nvPr/>
        </p:nvSpPr>
        <p:spPr>
          <a:xfrm>
            <a:off x="1065276" y="4681728"/>
            <a:ext cx="666292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ModelRunnerOutput + completed job 42</a:t>
            </a:r>
          </a:p>
        </p:txBody>
      </p:sp>
      <p:sp>
        <p:nvSpPr>
          <p:cNvPr id="138" name="step"/>
          <p:cNvSpPr/>
          <p:nvPr/>
        </p:nvSpPr>
        <p:spPr>
          <a:xfrm>
            <a:off x="320040" y="4956048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S5~S6 commit — 다음 schedule() 시작 시 EngineCore 가, 같은 프로세스라 즉시 새 위치를 안다</a:t>
            </a:r>
          </a:p>
        </p:txBody>
      </p:sp>
      <p:cxnSp>
        <p:nvCxnSpPr>
          <p:cNvPr id="139" name="msg"/>
          <p:cNvCxnSpPr/>
          <p:nvPr/>
        </p:nvCxnSpPr>
        <p:spPr>
          <a:xfrm>
            <a:off x="1028700" y="5373014"/>
            <a:ext cx="505206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40" name="msg"/>
          <p:cNvSpPr txBox="1"/>
          <p:nvPr/>
        </p:nvSpPr>
        <p:spPr>
          <a:xfrm>
            <a:off x="1065276" y="5202936"/>
            <a:ext cx="497890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reconcile: version check → commit B1 @ HBM slot 120, v8</a:t>
            </a:r>
          </a:p>
        </p:txBody>
      </p:sp>
      <p:sp>
        <p:nvSpPr>
          <p:cNvPr id="141" name="S7"/>
          <p:cNvSpPr/>
          <p:nvPr/>
        </p:nvSpPr>
        <p:spPr>
          <a:xfrm>
            <a:off x="320040" y="5687568"/>
            <a:ext cx="5669280" cy="54864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20" b="1" dirty="0">
                <a:solidFill>
                  <a:schemeClr val="tx1"/>
                </a:solidFill>
              </a:rPr>
              <a:t>S7 옛 자원 해제</a:t>
            </a:r>
            <a:r>
              <a:rPr lang="ko-KR" altLang="en-US" sz="820" dirty="0">
                <a:solidFill>
                  <a:schemeClr val="tx1"/>
                </a:solidFill>
              </a:rPr>
              <a:t>: commit 후 source pin 해제. demotion 슬롯은 EpochTracker 가 그 슬롯을 참조한 마지막 step 완료를 확인한 뒤 해제</a:t>
            </a:r>
          </a:p>
        </p:txBody>
      </p:sp>
      <p:sp>
        <p:nvSpPr>
          <p:cNvPr id="142" name="S8"/>
          <p:cNvSpPr/>
          <p:nvPr/>
        </p:nvSpPr>
        <p:spPr>
          <a:xfrm>
            <a:off x="6172200" y="5687568"/>
            <a:ext cx="5669280" cy="548640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20" b="1" dirty="0">
                <a:solidFill>
                  <a:schemeClr val="tx1"/>
                </a:solidFill>
              </a:rPr>
              <a:t>S8 복사 실패</a:t>
            </a:r>
            <a:r>
              <a:rPr lang="ko-KR" altLang="en-US" sz="820" dirty="0">
                <a:solidFill>
                  <a:schemeClr val="tx1"/>
                </a:solidFill>
              </a:rPr>
              <a:t>: commit 전이므로 abort, 기존 위치 · version 7 유지, slot 120 · pin 반납. barrier 대기는 timeout 후 recompute fallback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후보 2 Runtime View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(2안) 같은 시나리오: Scheduler 는 낙관적으로 스케줄하고 Worker 가 flip · 검증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ifeline 0"/>
          <p:cNvCxnSpPr/>
          <p:nvPr/>
        </p:nvCxnSpPr>
        <p:spPr>
          <a:xfrm>
            <a:off x="112014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2" name="lifeline 1"/>
          <p:cNvCxnSpPr/>
          <p:nvPr/>
        </p:nvCxnSpPr>
        <p:spPr>
          <a:xfrm>
            <a:off x="277368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3" name="lifeline 2"/>
          <p:cNvCxnSpPr/>
          <p:nvPr/>
        </p:nvCxnSpPr>
        <p:spPr>
          <a:xfrm>
            <a:off x="442722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4" name="lifeline 3"/>
          <p:cNvCxnSpPr/>
          <p:nvPr/>
        </p:nvCxnSpPr>
        <p:spPr>
          <a:xfrm>
            <a:off x="608076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5" name="lifeline 4"/>
          <p:cNvCxnSpPr/>
          <p:nvPr/>
        </p:nvCxnSpPr>
        <p:spPr>
          <a:xfrm>
            <a:off x="773430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6" name="lifeline 5"/>
          <p:cNvCxnSpPr/>
          <p:nvPr/>
        </p:nvCxnSpPr>
        <p:spPr>
          <a:xfrm>
            <a:off x="938784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cxnSp>
        <p:nvCxnSpPr>
          <p:cNvPr id="107" name="lifeline 6"/>
          <p:cNvCxnSpPr/>
          <p:nvPr/>
        </p:nvCxnSpPr>
        <p:spPr>
          <a:xfrm>
            <a:off x="11041380" y="1417320"/>
            <a:ext cx="0" cy="4050792"/>
          </a:xfrm>
          <a:prstGeom prst="line">
            <a:avLst/>
          </a:prstGeom>
          <a:ln w="9525">
            <a:solidFill>
              <a:srgbClr val="7F7F7F"/>
            </a:solidFill>
            <a:prstDash val="sysDash"/>
          </a:ln>
        </p:spPr>
      </p:cxnSp>
      <p:sp>
        <p:nvSpPr>
          <p:cNvPr id="108" name="Scheduler"/>
          <p:cNvSpPr/>
          <p:nvPr/>
        </p:nvSpPr>
        <p:spPr>
          <a:xfrm>
            <a:off x="32004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09" name="KVDataAdapter / Location Mirror"/>
          <p:cNvSpPr/>
          <p:nvPr/>
        </p:nvSpPr>
        <p:spPr>
          <a:xfrm>
            <a:off x="197358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KVDataAdapter / Location Mirror</a:t>
            </a:r>
          </a:p>
        </p:txBody>
      </p:sp>
      <p:sp>
        <p:nvSpPr>
          <p:cNvPr id="110" name="Migration Coordinator"/>
          <p:cNvSpPr/>
          <p:nvPr/>
        </p:nvSpPr>
        <p:spPr>
          <a:xfrm>
            <a:off x="362712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Migration Coordinator</a:t>
            </a:r>
          </a:p>
        </p:txBody>
      </p:sp>
      <p:sp>
        <p:nvSpPr>
          <p:cNvPr id="111" name="Worker"/>
          <p:cNvSpPr/>
          <p:nvPr/>
        </p:nvSpPr>
        <p:spPr>
          <a:xfrm>
            <a:off x="528066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Worker</a:t>
            </a:r>
          </a:p>
        </p:txBody>
      </p:sp>
      <p:sp>
        <p:nvSpPr>
          <p:cNvPr id="112" name="Migration Executor"/>
          <p:cNvSpPr/>
          <p:nvPr/>
        </p:nvSpPr>
        <p:spPr>
          <a:xfrm>
            <a:off x="693420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Migration Executor</a:t>
            </a:r>
          </a:p>
        </p:txBody>
      </p:sp>
      <p:sp>
        <p:nvSpPr>
          <p:cNvPr id="113" name="Commit Agent / Mapping Table"/>
          <p:cNvSpPr/>
          <p:nvPr/>
        </p:nvSpPr>
        <p:spPr>
          <a:xfrm>
            <a:off x="858774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Commit Agent / Mapping Table</a:t>
            </a:r>
          </a:p>
        </p:txBody>
      </p:sp>
      <p:sp>
        <p:nvSpPr>
          <p:cNvPr id="114" name="ModelRunner / Lease Mgr"/>
          <p:cNvSpPr/>
          <p:nvPr/>
        </p:nvSpPr>
        <p:spPr>
          <a:xfrm>
            <a:off x="10241280" y="1143000"/>
            <a:ext cx="160020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ModelRunner / Lease Mgr</a:t>
            </a:r>
          </a:p>
        </p:txBody>
      </p:sp>
      <p:sp>
        <p:nvSpPr>
          <p:cNvPr id="115" name="step"/>
          <p:cNvSpPr/>
          <p:nvPr/>
        </p:nvSpPr>
        <p:spPr>
          <a:xfrm>
            <a:off x="320040" y="1472184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S1 트리거 — 조회처가 권한이 아니라 사본 (stale 가능)</a:t>
            </a:r>
          </a:p>
        </p:txBody>
      </p:sp>
      <p:cxnSp>
        <p:nvCxnSpPr>
          <p:cNvPr id="116" name="msg"/>
          <p:cNvCxnSpPr/>
          <p:nvPr/>
        </p:nvCxnSpPr>
        <p:spPr>
          <a:xfrm>
            <a:off x="1120140" y="1889150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17" name="msg"/>
          <p:cNvSpPr txBox="1"/>
          <p:nvPr/>
        </p:nvSpPr>
        <p:spPr>
          <a:xfrm>
            <a:off x="1156716" y="1719072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locate B1 → CXL, last known v7</a:t>
            </a:r>
          </a:p>
        </p:txBody>
      </p:sp>
      <p:cxnSp>
        <p:nvCxnSpPr>
          <p:cNvPr id="118" name="msg"/>
          <p:cNvCxnSpPr/>
          <p:nvPr/>
        </p:nvCxnSpPr>
        <p:spPr>
          <a:xfrm>
            <a:off x="1120140" y="2163470"/>
            <a:ext cx="330708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19" name="msg"/>
          <p:cNvSpPr txBox="1"/>
          <p:nvPr/>
        </p:nvSpPr>
        <p:spPr>
          <a:xfrm>
            <a:off x="1156716" y="1993392"/>
            <a:ext cx="323392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submit Intent: B1 → HBM, BLOCKING</a:t>
            </a:r>
          </a:p>
        </p:txBody>
      </p:sp>
      <p:sp>
        <p:nvSpPr>
          <p:cNvPr id="120" name="step"/>
          <p:cNvSpPr/>
          <p:nvPr/>
        </p:nvSpPr>
        <p:spPr>
          <a:xfrm>
            <a:off x="320040" y="2267712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S2~S3 목적지 · 복사 — Coordinator 는 중재만, 매핑은 Worker 에 있고 v7 그대로</a:t>
            </a:r>
          </a:p>
        </p:txBody>
      </p:sp>
      <p:cxnSp>
        <p:nvCxnSpPr>
          <p:cNvPr id="121" name="msg"/>
          <p:cNvCxnSpPr/>
          <p:nvPr/>
        </p:nvCxnSpPr>
        <p:spPr>
          <a:xfrm>
            <a:off x="4427220" y="2684678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2" name="msg"/>
          <p:cNvSpPr txBox="1"/>
          <p:nvPr/>
        </p:nvSpPr>
        <p:spPr>
          <a:xfrm>
            <a:off x="4463796" y="2514600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command: job 42, target slot 120</a:t>
            </a:r>
          </a:p>
        </p:txBody>
      </p:sp>
      <p:cxnSp>
        <p:nvCxnSpPr>
          <p:cNvPr id="123" name="msg"/>
          <p:cNvCxnSpPr/>
          <p:nvPr/>
        </p:nvCxnSpPr>
        <p:spPr>
          <a:xfrm>
            <a:off x="6080760" y="2958998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4" name="msg"/>
          <p:cNvSpPr txBox="1"/>
          <p:nvPr/>
        </p:nvSpPr>
        <p:spPr>
          <a:xfrm>
            <a:off x="6117336" y="2788920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start copy job 42</a:t>
            </a:r>
          </a:p>
        </p:txBody>
      </p:sp>
      <p:cxnSp>
        <p:nvCxnSpPr>
          <p:cNvPr id="125" name="msg"/>
          <p:cNvCxnSpPr/>
          <p:nvPr/>
        </p:nvCxnSpPr>
        <p:spPr>
          <a:xfrm>
            <a:off x="1120140" y="3233318"/>
            <a:ext cx="496062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6" name="msg"/>
          <p:cNvSpPr txBox="1"/>
          <p:nvPr/>
        </p:nvSpPr>
        <p:spPr>
          <a:xfrm>
            <a:off x="1156716" y="3063240"/>
            <a:ext cx="48874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SchedulerOutput: R, 논리 ID 만 (dependency 없음)</a:t>
            </a:r>
          </a:p>
        </p:txBody>
      </p:sp>
      <p:sp>
        <p:nvSpPr>
          <p:cNvPr id="127" name="step"/>
          <p:cNvSpPr/>
          <p:nvPr/>
        </p:nvSpPr>
        <p:spPr>
          <a:xfrm>
            <a:off x="320040" y="3337560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S4~S5 flip — barrier 없음. 복사 직후 flip 을 보류 등록, 다음 Worker step 시작 시 적용</a:t>
            </a:r>
          </a:p>
        </p:txBody>
      </p:sp>
      <p:cxnSp>
        <p:nvCxnSpPr>
          <p:cNvPr id="128" name="msg"/>
          <p:cNvCxnSpPr/>
          <p:nvPr/>
        </p:nvCxnSpPr>
        <p:spPr>
          <a:xfrm>
            <a:off x="7734300" y="3754526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29" name="msg"/>
          <p:cNvSpPr txBox="1"/>
          <p:nvPr/>
        </p:nvSpPr>
        <p:spPr>
          <a:xfrm>
            <a:off x="7770876" y="3584448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copy done → stage flip (CAS v7→v8)</a:t>
            </a:r>
          </a:p>
        </p:txBody>
      </p:sp>
      <p:cxnSp>
        <p:nvCxnSpPr>
          <p:cNvPr id="130" name="msg"/>
          <p:cNvCxnSpPr/>
          <p:nvPr/>
        </p:nvCxnSpPr>
        <p:spPr>
          <a:xfrm>
            <a:off x="6080760" y="4028846"/>
            <a:ext cx="496062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31" name="msg"/>
          <p:cNvSpPr txBox="1"/>
          <p:nvPr/>
        </p:nvSpPr>
        <p:spPr>
          <a:xfrm>
            <a:off x="6117336" y="3858768"/>
            <a:ext cx="48874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execute_model step n</a:t>
            </a:r>
          </a:p>
        </p:txBody>
      </p:sp>
      <p:cxnSp>
        <p:nvCxnSpPr>
          <p:cNvPr id="132" name="msg"/>
          <p:cNvCxnSpPr/>
          <p:nvPr/>
        </p:nvCxnSpPr>
        <p:spPr>
          <a:xfrm flipH="1">
            <a:off x="9387840" y="4303166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33" name="msg"/>
          <p:cNvSpPr txBox="1"/>
          <p:nvPr/>
        </p:nvSpPr>
        <p:spPr>
          <a:xfrm>
            <a:off x="9424416" y="4133088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apply flip, resolve slot 120, lease(n)</a:t>
            </a:r>
          </a:p>
        </p:txBody>
      </p:sp>
      <p:cxnSp>
        <p:nvCxnSpPr>
          <p:cNvPr id="134" name="msg"/>
          <p:cNvCxnSpPr/>
          <p:nvPr/>
        </p:nvCxnSpPr>
        <p:spPr>
          <a:xfrm flipH="1">
            <a:off x="1120140" y="4577486"/>
            <a:ext cx="4960620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35" name="msg"/>
          <p:cNvSpPr txBox="1"/>
          <p:nvPr/>
        </p:nvSpPr>
        <p:spPr>
          <a:xfrm>
            <a:off x="1156716" y="4407408"/>
            <a:ext cx="48874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ModelRunnerOutput</a:t>
            </a:r>
          </a:p>
        </p:txBody>
      </p:sp>
      <p:sp>
        <p:nvSpPr>
          <p:cNvPr id="136" name="step"/>
          <p:cNvSpPr/>
          <p:nvPr/>
        </p:nvSpPr>
        <p:spPr>
          <a:xfrm>
            <a:off x="320040" y="4681728"/>
            <a:ext cx="11521440" cy="2194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0" rIns="54000" bIns="0" rtlCol="0" anchor="ctr">
            <a:noAutofit/>
          </a:bodyPr>
          <a:lstStyle/>
          <a:p>
            <a:pPr algn="l"/>
            <a:r>
              <a:rPr lang="ko-KR" altLang="en-US" sz="780" b="1" dirty="0">
                <a:solidFill>
                  <a:schemeClr val="tx1"/>
                </a:solidFill>
              </a:rPr>
              <a:t>S6 Scheduler 가 새 위치를 아는 시점 — flip 보다 늦음 (비동기 event)</a:t>
            </a:r>
          </a:p>
        </p:txBody>
      </p:sp>
      <p:cxnSp>
        <p:nvCxnSpPr>
          <p:cNvPr id="137" name="msg"/>
          <p:cNvCxnSpPr/>
          <p:nvPr/>
        </p:nvCxnSpPr>
        <p:spPr>
          <a:xfrm flipH="1">
            <a:off x="4427220" y="5098694"/>
            <a:ext cx="4960620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38" name="msg"/>
          <p:cNvSpPr txBox="1"/>
          <p:nvPr/>
        </p:nvSpPr>
        <p:spPr>
          <a:xfrm>
            <a:off x="4463796" y="4928616"/>
            <a:ext cx="488746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placement event: B1 @ HBM v8</a:t>
            </a:r>
          </a:p>
        </p:txBody>
      </p:sp>
      <p:cxnSp>
        <p:nvCxnSpPr>
          <p:cNvPr id="139" name="msg"/>
          <p:cNvCxnSpPr/>
          <p:nvPr/>
        </p:nvCxnSpPr>
        <p:spPr>
          <a:xfrm flipH="1">
            <a:off x="2773680" y="5373014"/>
            <a:ext cx="1653540" cy="0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</p:cxnSp>
      <p:sp>
        <p:nvSpPr>
          <p:cNvPr id="140" name="msg"/>
          <p:cNvSpPr txBox="1"/>
          <p:nvPr/>
        </p:nvSpPr>
        <p:spPr>
          <a:xfrm>
            <a:off x="2810256" y="5202936"/>
            <a:ext cx="1580388" cy="15910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ko-KR" altLang="en-US" sz="780" dirty="0">
                <a:solidFill>
                  <a:schemeClr val="tx1"/>
                </a:solidFill>
              </a:rPr>
              <a:t>update mirror</a:t>
            </a:r>
          </a:p>
        </p:txBody>
      </p:sp>
      <p:sp>
        <p:nvSpPr>
          <p:cNvPr id="141" name="S7"/>
          <p:cNvSpPr/>
          <p:nvPr/>
        </p:nvSpPr>
        <p:spPr>
          <a:xfrm>
            <a:off x="320040" y="5687568"/>
            <a:ext cx="3749040" cy="59436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chemeClr val="tx1"/>
                </a:solidFill>
              </a:rPr>
              <a:t>S7 해제</a:t>
            </a:r>
            <a:r>
              <a:rPr lang="ko-KR" altLang="en-US" sz="800" dirty="0">
                <a:solidFill>
                  <a:schemeClr val="tx1"/>
                </a:solidFill>
              </a:rPr>
              <a:t>: source pin 은 flip 후 해제. demotion 슬롯은 LeaseManager 가 lease 소진 후에만 해제</a:t>
            </a:r>
          </a:p>
        </p:txBody>
      </p:sp>
      <p:sp>
        <p:nvSpPr>
          <p:cNvPr id="142" name="LV"/>
          <p:cNvSpPr/>
          <p:nvPr/>
        </p:nvSpPr>
        <p:spPr>
          <a:xfrm>
            <a:off x="4206240" y="5687568"/>
            <a:ext cx="3749040" cy="59436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chemeClr val="tx1"/>
                </a:solidFill>
              </a:rPr>
              <a:t>late validation</a:t>
            </a:r>
            <a:r>
              <a:rPr lang="ko-KR" altLang="en-US" sz="800" dirty="0">
                <a:solidFill>
                  <a:schemeClr val="tx1"/>
                </a:solidFill>
              </a:rPr>
              <a:t>: flip 전에 R 이 step n 에 들어왔다면 Worker 가 R 을 제외하고 보고, 다음 step 에 재시도</a:t>
            </a:r>
          </a:p>
        </p:txBody>
      </p:sp>
      <p:sp>
        <p:nvSpPr>
          <p:cNvPr id="143" name="S8"/>
          <p:cNvSpPr/>
          <p:nvPr/>
        </p:nvSpPr>
        <p:spPr>
          <a:xfrm>
            <a:off x="8092440" y="5687568"/>
            <a:ext cx="3749040" cy="594360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chemeClr val="tx1"/>
                </a:solidFill>
              </a:rPr>
              <a:t>S8 복사 실패</a:t>
            </a:r>
            <a:r>
              <a:rPr lang="ko-KR" altLang="en-US" sz="800" dirty="0">
                <a:solidFill>
                  <a:schemeClr val="tx1"/>
                </a:solidFill>
              </a:rPr>
              <a:t>: flip 하지 않아 v7 유지, 영향은 그 Worker 의 B1 에 머묾. TP&gt;1 은 RankSync 로 모든 rank 가 같은 step · version 에서 flip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같은 시나리오 비교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B1: CXL (v7) → HBM slot 120 (v8), 같은 trace 에서 단계별로 어떻게 다른가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"/>
          <p:cNvGraphicFramePr>
            <a:graphicFrameLocks noGrp="1"/>
          </p:cNvGraphicFramePr>
          <p:nvPr/>
        </p:nvGraphicFramePr>
        <p:xfrm>
          <a:off x="274320" y="1143000"/>
          <a:ext cx="11658600" cy="3913632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5074920"/>
                <a:gridCol w="51663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후보 1 (중앙 권한, step 경계)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후보 2 (Worker 로컬, lease)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S1 트리거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Scheduler 가 DataLocationStore(권한) 조회 → B1 이 HBM 에 없음 → BLOCKING intent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같은 흐름이나 조회처가 LocationMirror(사본). stale 일 수 있음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S2 목적지 · 슬롯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Coordinator 가 위치 기록에 slot 120 예약, source pin, INFLIGHT 를 직접 기록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Coordinator 는 job 42 와 target slot 만 정해 Worker 에 명령. 위치 기록은 Worker 매핑 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S3 복사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Worker MigrationExecutor 가 복사. command 는 SchedulerOutput 에 실려 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같음. command 는 Coordinator 가 Worker 로 직접 전송. 매핑은 v7 그대로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S4 R 이 읽는 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dependency barrier 가 job 42 완료까지 forward 진입을 막음. 복사가 느리면 배치 전체 대기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barrier 없음. flip 적용된 step 부터 읽음. 일찍 스케줄된 R 은 Worker 가 제외 (late validation)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S5 commit 주체 · 시점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EngineCore(CompletionReconciler) 가 다음 schedule() 시작 시 version 검증 후 commit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Worker(CommitAgent) 가 복사 직후 flip 등록, 다음 Worker step 시작 시 version CAS 로 적용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S6 Scheduler 가 아는 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commit 과 동시 (view = authority)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flip 보다 늦음 (placement event → mirror 갱신 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S7 옛 자원 해제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source pin 해제, demotion 슬롯은 EpochTracker 가 마지막 참조 step 완료 후 해제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source pin 해제, demotion 슬롯은 LeaseManager 가 lease 소진 후 해제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S8 복사 실패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commit 전 abort, v7 유지, slot · pin 반납. barrier 대기 배치는 timeout + recompute fallback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flip 안 함, 매핑 그대로. 영향은 그 Worker 의 B1. 배치 전체는 안 묶임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tp"/>
          <p:cNvSpPr/>
          <p:nvPr/>
        </p:nvSpPr>
        <p:spPr>
          <a:xfrm>
            <a:off x="274320" y="5806440"/>
            <a:ext cx="11658600" cy="566928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50" b="1" dirty="0">
                <a:solidFill>
                  <a:schemeClr val="tx1"/>
                </a:solidFill>
              </a:rPr>
              <a:t>TP&gt;1 추가</a:t>
            </a:r>
            <a:r>
              <a:rPr lang="ko-KR" altLang="en-US" sz="850" dirty="0">
                <a:solidFill>
                  <a:schemeClr val="tx1"/>
                </a:solidFill>
              </a:rPr>
              <a:t>: 후보 1 은 한 번의 commit 이 같은 SchedulerOutput 으로 전 rank 에 전달되어 rank 간 version 불일치가 구조적으로 없음. 후보 2 는 RankSync 가 모든 rank 의 복사 완료를 확인하고 flip step 을 합의해야 함 (I6, H6) — 이 DP 의 가장 큰 검증 부담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접근 측 계약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이동 중 사본의 읽기 · 교체 · 반납 규칙 (forward 전 → 중 → 후)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"/>
          <p:cNvGraphicFramePr>
            <a:graphicFrameLocks noGrp="1"/>
          </p:cNvGraphicFramePr>
          <p:nvPr/>
        </p:nvGraphicFramePr>
        <p:xfrm>
          <a:off x="274320" y="1143000"/>
          <a:ext cx="11658600" cy="5166360"/>
        </p:xfrm>
        <a:graphic>
          <a:graphicData uri="http://schemas.openxmlformats.org/drawingml/2006/table">
            <a:tbl>
              <a:tblPr firstRow="1"/>
              <a:tblGrid>
                <a:gridCol w="365760"/>
                <a:gridCol w="1417320"/>
                <a:gridCol w="2743200"/>
                <a:gridCol w="2926080"/>
                <a:gridCol w="2240280"/>
                <a:gridCol w="19659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무엇 (후보 1 기준)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후보 1 : 누가·언제 / 후보 2 : 차이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왜 필요한가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b="1" dirty="0">
                          <a:solidFill>
                            <a:schemeClr val="tx1"/>
                          </a:solidFill>
                        </a:rPr>
                        <a:t>B1 예시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resolve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(forward 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논리 블록이 어느 물리 슬롯인지 찾아 block table 에 넣을 슬롯 결정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Scheduler 가 schedule() 안에서, HBM 준비 블록만 block_ids 에 실음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Worker 가 step 시작 시 LocalMappingTable 로 해석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커널은 HBM 슬롯만 읽음 (F5). 준비 안 된 슬롯이 실리면 H1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B1 은 CXL → HBM 슬롯 없음 → promotion 필요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readiness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(forward 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읽을 준비 상태 (READY / INFLIGHT / ABSENT) 확인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같은 프로세스 DataLocationStore 동기 조회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LocationMirror 조회 (stale 가능), ensure_ready 비동기 요청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이동 중 블록을 모르고 스케줄하면 H1, H4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CXL, READY, v7 → BLOCKING Intent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pin / lease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(복사 · forward 중)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쓰는 중인 사본이 반납 · 재사용되지 않도록 붙들기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source pin + EpochTracker (step 별 참조 슬롯)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source pin + step epoch lease (LeaseManager)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해제된 슬롯을 읽는 H2 (async scheduling 중첩)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job 42 동안 CXL source pin, step 이 slot 120 참조 기록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읽기 허용 시점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(forward 중)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복사 끝나기 전엔 R 이 B1 을 못 읽게 하는 장치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blocking dependency barrier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flip (복사 후 다음 step 시작 시 적용)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부분 복사 슬롯을 읽는 H1, rank 간 version 불일치 H6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R 은 "copy done" 뒤에만 slot 120 을 읽음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completion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(forward 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복사 완료 확정, 새 위치를 공식 기록으로 변경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CompletionReconciler 가 다음 schedule() 시작 시 version 검증 + commit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placement event 로 mirror · Registry 비동기 갱신 (commit = flip 은 A4 에서 끝남)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이동 중 쓰기 · version 불일치 H3. commit 전엔 위치 불변 (I3)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v7 일치 → B1 = HBM slot 120, v8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확장 필요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(두 후보 공통)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BlockTable 이 기존 블록의 슬롯 값을 교체할 수 있게 함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현재는 append 만 가능 (block_table.py:276-280) → 구현 시 변경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위치 변경 반영 경로 없음 (P2)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R 의 block table 에서 B1 자리를 slot 120 으로 교체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A7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late validation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(후보 2 만)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stale 사본으로 스케줄된 요청을 Worker 가 step 시작에 검증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C1: 없음 (view = authority, H5 구조적으로 없음)</a:t>
                      </a:r>
                    </a:p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C2: 준비 안 된 요청을 그 step 에서 제외 · 보고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사본 지연에서 오는 H5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60" dirty="0">
                          <a:solidFill>
                            <a:schemeClr val="tx1"/>
                          </a:solidFill>
                        </a:rPr>
                        <a:t>flip 전 R 은 step n 에서 제외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Hazard 와 불변식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안전성은 성능 항목이 아니라 선결 조건 (QA Reliability - Faultlessness gate)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1"/>
          <p:cNvSpPr txBox="1"/>
          <p:nvPr/>
        </p:nvSpPr>
        <p:spPr>
          <a:xfrm>
            <a:off x="274320" y="10972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접근 hazard 와 후보별 처리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274320" y="1371600"/>
          <a:ext cx="7360920" cy="3438144"/>
        </p:xfrm>
        <a:graphic>
          <a:graphicData uri="http://schemas.openxmlformats.org/drawingml/2006/table">
            <a:tbl>
              <a:tblPr firstRow="1"/>
              <a:tblGrid>
                <a:gridCol w="365760"/>
                <a:gridCol w="1874520"/>
                <a:gridCol w="2560320"/>
                <a:gridCol w="25603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hazard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후보 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후보 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부분 복사된 target 을 읽음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blocking dependency barrier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flip 은 모든 rank 복사 완료 후에만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해제된 source 슬롯을 읽음 (async scheduling)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EpochTracker: 마지막 참조 step 완료 후 해제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step epoch: lease 남은 슬롯은 해제 보류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이동 중 쓰기 / version 불일치 commit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sealed 만 이동, version 검증 후 commit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같음. flip = version CAS, 불일치 시 abort 후 재복사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이동 중 블록에 prefix hit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pin + INFLIGHT 노출, source 에서 읽거나 후순위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같은 정책, 상태가 사본이라 늦게 반영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엔진 view 와 실제 위치 불일치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없음 (view = authority)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사본 지연으로 발생, late validation 으로 흡수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H6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TP rank 간 version 불일치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한 commit 이 같은 SchedulerOutput 으로 전 rank 전달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RankSync 합의 프로토콜 — 가장 큰 검증 부담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2"/>
          <p:cNvSpPr txBox="1"/>
          <p:nvPr/>
        </p:nvSpPr>
        <p:spPr>
          <a:xfrm>
            <a:off x="8001000" y="1097280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불변식 I1 ~ I6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8001000" y="1371600"/>
          <a:ext cx="3931920" cy="3328416"/>
        </p:xfrm>
        <a:graphic>
          <a:graphicData uri="http://schemas.openxmlformats.org/drawingml/2006/table">
            <a:tbl>
              <a:tblPr firstRow="1"/>
              <a:tblGrid>
                <a:gridCol w="365760"/>
                <a:gridCol w="3566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불변식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object 당 authoritative location 은 정확히 하나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object 당 in-flight job 은 하나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commit 전에는 위치 불변, version 일치 시에만 commit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pin 또는 lease 가 남은 동안 source 해제 금지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커널이 읽는 슬롯은 항상 완전히 복사된 데이터 (이 DP 추가)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I6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TP rank 간 같은 논리 블록은 같은 version (이 DP 추가)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verify"/>
          <p:cNvSpPr/>
          <p:nvPr/>
        </p:nvSpPr>
        <p:spPr>
          <a:xfrm>
            <a:off x="274320" y="5074920"/>
            <a:ext cx="11658600" cy="68580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>
              <a:spcBef>
                <a:spcPts val="200"/>
              </a:spcBef>
            </a:pPr>
            <a:r>
              <a:rPr lang="ko-KR" altLang="en-US" sz="900" b="1" dirty="0">
                <a:solidFill>
                  <a:schemeClr val="tx1"/>
                </a:solidFill>
              </a:rPr>
              <a:t>검증 방식</a:t>
            </a:r>
            <a:r>
              <a:rPr lang="ko-KR" altLang="en-US" sz="900" dirty="0">
                <a:solidFill>
                  <a:schemeClr val="tx1"/>
                </a:solidFill>
              </a:rPr>
              <a:t>: model check 로 I1~I6 검증 + 결함 변종을 심어 검출 확인. 위반 0건이 선결 조건 (점수가 아니라 탈락 기준).</a:t>
            </a:r>
          </a:p>
          <a:p>
            <a:pPr algn="l">
              <a:spcBef>
                <a:spcPts val="200"/>
              </a:spcBef>
            </a:pPr>
            <a:r>
              <a:rPr lang="ko-KR" altLang="en-US" sz="900" b="1" dirty="0">
                <a:solidFill>
                  <a:schemeClr val="tx1"/>
                </a:solidFill>
              </a:rPr>
              <a:t>해석</a:t>
            </a:r>
            <a:r>
              <a:rPr lang="ko-KR" altLang="en-US" sz="900" dirty="0">
                <a:solidFill>
                  <a:schemeClr val="tx1"/>
                </a:solidFill>
              </a:rPr>
              <a:t>: 후보 1 은 위치 기록이 한 곳이라 H5 · H6 이 구조적으로 없어 증명이 쉽고, 후보 2 는 RankSync 의 정확성(I6)을 증명하지 못하면 점수와 무관하게 선택할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풀려는 QA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핵심 QA: Reliability (Fault tolerance) · Latency · Scalability · Modifiability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"/>
          <p:cNvGraphicFramePr>
            <a:graphicFrameLocks noGrp="1"/>
          </p:cNvGraphicFramePr>
          <p:nvPr/>
        </p:nvGraphicFramePr>
        <p:xfrm>
          <a:off x="274320" y="1143000"/>
          <a:ext cx="11658600" cy="2953512"/>
        </p:xfrm>
        <a:graphic>
          <a:graphicData uri="http://schemas.openxmlformats.org/drawingml/2006/table">
            <a:tbl>
              <a:tblPr firstRow="1"/>
              <a:tblGrid>
                <a:gridCol w="1783080"/>
                <a:gridCol w="960120"/>
                <a:gridCol w="89154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역할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이 DP 의 metric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Reliability</a:t>
                      </a:r>
                    </a:p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(Fault tolerance)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핵심 1순위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FTR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= 장애 주입 후 관측 구간의 SLO Goodput ÷ 장애 없는 구간의 SLO Goodput (기하평균). 선결 조건: 불변식 I1~I6 위반 0건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Latency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핵심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TTFT P99, TPOT P99 분리 보고 (이동이 많은 구간 vs 평상시). 진단: promotion 대기, barrier · commit 지연, 평상시 resolve 오버헤드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Scalability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핵심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chemeClr val="tx1"/>
                          </a:solidFill>
                        </a:rPr>
                        <a:t>SE(N)</a:t>
                      </a:r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 = Goodput(N) / ((N/N0) · Goodput(N0)), N = GPU Worker 수 1, 2, 4, 8. 진단: 중앙 권한 CPU 점유, commit 큐 대기 P99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Modifiability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핵심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변경 시나리오별 module 수 · 공수 · 에이전트 비용 (M-a 신규 memory, M-b 신규 data type, M-c 신규 일관성 규칙, M-d 신규 copy engine)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Resource Utilization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보조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일시적 추가 점유 피크 (GiB): source · target 이중 상주 + bounce buffer + 매핑 메타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Throughput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회귀 가드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Max SLO Goodput 이 Baseline (As-Is kv_offload) 보다 나빠지지 않는지만 확인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b="1" dirty="0">
                          <a:solidFill>
                            <a:srgbClr val="595959"/>
                          </a:solidFill>
                        </a:rPr>
                        <a:t>Functional Correctness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선택 안 함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50" dirty="0">
                          <a:solidFill>
                            <a:schemeClr val="tx1"/>
                          </a:solidFill>
                        </a:rPr>
                        <a:t>이동은 복사라 모델 정확도(F1) 불변. 후보를 가르지 못하므로 변화 없음을 확인하는 가드로만 사용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t"/>
          <p:cNvSpPr txBox="1"/>
          <p:nvPr/>
        </p:nvSpPr>
        <p:spPr>
          <a:xfrm>
            <a:off x="274320" y="4617720"/>
            <a:ext cx="11612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QA 시나리오 (요약)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274320" y="4892040"/>
          <a:ext cx="11658600" cy="996696"/>
        </p:xfrm>
        <a:graphic>
          <a:graphicData uri="http://schemas.openxmlformats.org/drawingml/2006/table">
            <a:tbl>
              <a:tblPr firstRow="1"/>
              <a:tblGrid>
                <a:gridCol w="1371600"/>
                <a:gridCol w="4023360"/>
                <a:gridCol w="3108960"/>
                <a:gridCol w="315468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자극 · 환경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응답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응답 측정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Reliability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복사 중 전송 실패 · 타임아웃, 목적지 할당 실패, Worker/coordinator 중단 (복사 전 · 중 · commit 직전 · 직후)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서비스 유지, 영향 범위 한정, 복구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FTR, 복구 시간, 불변식 위반 건수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Latency / Scalability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HBM pressure 로 demotion 폭증 + prefix hit promotion / Worker 수 증가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일반 요청 지연 최소화 / 선형 확장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TTFT · TPOT P99 / SE(N_max)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QA Trade-off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▲ 유리 / ▼ 불리 / ≈ 차이 작음 — 모두 결과 전 구조 논증 (가설)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"/>
          <p:cNvGraphicFramePr>
            <a:graphicFrameLocks noGrp="1"/>
          </p:cNvGraphicFramePr>
          <p:nvPr/>
        </p:nvGraphicFramePr>
        <p:xfrm>
          <a:off x="274320" y="1143000"/>
          <a:ext cx="11658600" cy="3749040"/>
        </p:xfrm>
        <a:graphic>
          <a:graphicData uri="http://schemas.openxmlformats.org/drawingml/2006/table">
            <a:tbl>
              <a:tblPr firstRow="1"/>
              <a:tblGrid>
                <a:gridCol w="1828800"/>
                <a:gridCol w="2423160"/>
                <a:gridCol w="2423160"/>
                <a:gridCol w="224028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후보 1 (중앙 권한, step 경계)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후보 2 (Worker 로컬, lease)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가르는 메커니즘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80" b="1" dirty="0">
                          <a:solidFill>
                            <a:schemeClr val="tx1"/>
                          </a:solidFill>
                        </a:rPr>
                        <a:t>뒤집히는 조건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Reliability 선결</a:t>
                      </a:r>
                    </a:p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불변식 증명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위치 기록이 한 곳, H5 · H6 구조적으로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 rank 합의와 사본 지연으로 상태 공간 큼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권한이 하나인가 여럿인가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RankSync 가 단순하게 검증되면 격차 축소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Reliability FTR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▼~≈ barrier 가 느린 · 멈춘 복사에 결합 (timeout · recompute 로 완화)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한 Worker 의 장애가 그 object 에 머묾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장애 전파 경로 (배치 barrier vs Worker 로컬)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합의 도중 부분 장애가 잦으면 후보 2 크게 불리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Latency 평상시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커널 · Worker 경로 추가 비용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 매핑 해석 · lease 갱신이 항상 존재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resolve 가 CPU 스케줄 시점 vs Worker step 시작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step epoch 가 싸면 μs 수준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Latency 이동 多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 commit 이 step 경계에 양자화, barrier 의 head-of-line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복사 후 다음 Worker step 에 반영, barrier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commit 가시화 시점, barrier 범위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이동 1회가 수백 ms 면 step 양자화는 묻힘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Scalability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 모든 commit 이 EngineCore 루프 통과, N=8 에서 포화 가능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commit 이 Worker 에 분산. 단 rank 합의 비용은 N 에 증가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직렬화 지점의 위치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N 이 작으면 차이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Modifiability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▲ 새 type · 규칙이 EngineCore 한 곳. 단 엔진 코어 변경량 큼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▼ 매핑 · lease · 합의가 Worker 에 분산. 엔진 코어 변경은 작음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변경 집중 vs 엔진 코어 접촉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M1 과 upstream 충돌 위험이 반대 방향 → 정의에 따라 순위 변동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b="1" dirty="0">
                          <a:solidFill>
                            <a:srgbClr val="595959"/>
                          </a:solidFill>
                        </a:rPr>
                        <a:t>Resource / Throughput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≈ 이중 상주가 commit · epoch 해제까지 지속 / ≈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≈ lease 해제 빠름, 매핑 메타 추가 / ≈ (이동 多 시 약간 ▲)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이중 상주 지속 시간, barrier 대기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80" dirty="0">
                          <a:solidFill>
                            <a:schemeClr val="tx1"/>
                          </a:solidFill>
                        </a:rPr>
                        <a:t>이동이 짧고 드물면 차이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reading"/>
          <p:cNvSpPr/>
          <p:nvPr/>
        </p:nvSpPr>
        <p:spPr>
          <a:xfrm>
            <a:off x="274320" y="5760720"/>
            <a:ext cx="11658600" cy="594360"/>
          </a:xfrm>
          <a:prstGeom prst="rect">
            <a:avLst/>
          </a:prstGeom>
          <a:noFill/>
          <a:ln w="1270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후보 1: 검증 가능성 · 평상시 비용 · 변경 집중에서 유리.  후보 2: 이동 多 지연 · 장애 격리 · 규모 확장에서 유리.  우열은 </a:t>
            </a:r>
            <a:r>
              <a:rPr lang="ko-KR" altLang="en-US" sz="800" b="1" dirty="0">
                <a:solidFill>
                  <a:schemeClr val="tx1"/>
                </a:solidFill>
              </a:rPr>
              <a:t>이동 빈도와 Worker 수</a:t>
            </a:r>
            <a:r>
              <a:rPr lang="ko-KR" altLang="en-US" sz="800" dirty="0">
                <a:solidFill>
                  <a:schemeClr val="tx1"/>
                </a:solidFill>
              </a:rPr>
              <a:t>라는 워크로드 축에 의존</a:t>
            </a:r>
          </a:p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이동 1회 (수십~수백 ms) 에 비해 step 양자화 (수십 ms) 는 작아 Latency 우열이 사라질 수 있음 → 그 경우 Reliability(검증)·Scalability·Modifiability 와 구조 논증으로 선택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80960" cy="365125"/>
          </a:xfrm>
        </p:spPr>
        <p:txBody>
          <a:bodyPr/>
          <a:lstStyle/>
          <a:p>
            <a:r>
              <a:rPr lang="en-US" altLang="ko-KR" dirty="0"/>
              <a:t>DP5. Migration 실행과 위치 일관 접근 - 평가 방향과 열린 질문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6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평가 계획은 확정 후 Evaluation/DP5 에 사전 등록 (현재는 방향만)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2288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Latency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113264" y="629703"/>
            <a:ext cx="896112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</a:rPr>
              <a:t>Scalability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211312" y="627572"/>
            <a:ext cx="896112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Reliability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1064240" y="627572"/>
            <a:ext cx="896112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Modifiability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1"/>
          <p:cNvSpPr txBox="1"/>
          <p:nvPr/>
        </p:nvSpPr>
        <p:spPr>
          <a:xfrm>
            <a:off x="274320" y="109728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평가 방향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274320" y="1371600"/>
          <a:ext cx="5212080" cy="3172968"/>
        </p:xfrm>
        <a:graphic>
          <a:graphicData uri="http://schemas.openxmlformats.org/drawingml/2006/table">
            <a:tbl>
              <a:tblPr firstRow="1"/>
              <a:tblGrid>
                <a:gridCol w="1234440"/>
                <a:gridCol w="397764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20" b="1" dirty="0">
                          <a:solidFill>
                            <a:schemeClr val="tx1"/>
                          </a:solidFill>
                        </a:rPr>
                        <a:t>방향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DP1 결정 고정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같은 MigrationIntent trace 를 두 후보와 Baseline 에 replay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Baseline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As-Is vLLM kv_offload (HBM↔CPU, 위치 권한 없음)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환경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단일 서버 GPU 8장. HBM↔DRAM 복사 · Worker 1~8 는 실측 [A], 나머지는 시뮬레이션 [B+C]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시뮬레이터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장애 · commit · epoch · 합의 모델 추가 필요 (M class 변경, 사유 · 전후 값 기록)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불변식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model check 로 I1~I6, 결함 변종 심어 검출 확인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b="1" dirty="0">
                          <a:solidFill>
                            <a:srgbClr val="595959"/>
                          </a:solidFill>
                        </a:rPr>
                        <a:t>사전 등록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20" dirty="0">
                          <a:solidFill>
                            <a:schemeClr val="tx1"/>
                          </a:solidFill>
                        </a:rPr>
                        <a:t>장애 시나리오 · 관측 구간 W · QA4 변경 시나리오와 공식 · 별점 경계를 결과 전에 등록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2"/>
          <p:cNvSpPr txBox="1"/>
          <p:nvPr/>
        </p:nvSpPr>
        <p:spPr>
          <a:xfrm>
            <a:off x="5669280" y="1097280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chemeClr val="tx1"/>
                </a:solidFill>
              </a:rPr>
              <a:t>열린 질문과 위험</a:t>
            </a:r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5669280" y="1371600"/>
          <a:ext cx="6263640" cy="4142232"/>
        </p:xfrm>
        <a:graphic>
          <a:graphicData uri="http://schemas.openxmlformats.org/drawingml/2006/table">
            <a:tbl>
              <a:tblPr firstRow="1"/>
              <a:tblGrid>
                <a:gridCol w="320040"/>
                <a:gridCol w="4709160"/>
                <a:gridCol w="123444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영향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TP rank 간 flip 합의 (후보 2) 의 비용 · 부분 장애 처리는 설계만 있고 검증된 것이 없음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Rel., Scal.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async_scheduling 에서 step 이 몇 개 중첩되는지, epoch 해제가 이를 어떻게 따를지 코드 수준 미확인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H2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BlockTable 을 "기존 슬롯 교체" 로 확장하는 변경 범위 미측정 (공통)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Modif.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active tail block defer 가 DP1 이득을 얼마나 깎는지 모름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Thr., Lat.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혼합안 (중앙 권한 + lease) 은 미검토. 평가에서 약점이 반대 방향이면 후속 후보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후보 정의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후보 2: command 를 Coordinator 가 Worker 로 직접 보낼지, SchedulerOutput 에 실을지 미정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Modif., Lat.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후보 2: target HBM 슬롯 (예: 120) 을 누가 확보하는지 미정 (현재 Coordinator 가 BlockPool 에서 받는 것으로 가정)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후보 정의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시뮬레이터의 이상적 이동 가정이 DP5 결과로 얼마나 바뀔지 평가 후에야 앎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DP1 해석</a:t>
                      </a:r>
                    </a:p>
                  </a:txBody>
                  <a:tcPr marL="54000" marR="54000" marT="27000" marB="270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numbering"/>
          <p:cNvSpPr/>
          <p:nvPr/>
        </p:nvSpPr>
        <p:spPr>
          <a:xfrm>
            <a:off x="274320" y="5074920"/>
            <a:ext cx="5212080" cy="731520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36000" rIns="54000" bIns="36000" rtlCol="0" anchor="t">
            <a:noAutofit/>
          </a:bodyPr>
          <a:lstStyle/>
          <a:p>
            <a:pPr algn="l"/>
            <a:r>
              <a:rPr lang="ko-KR" altLang="en-US" sz="800" b="1" dirty="0">
                <a:solidFill>
                  <a:schemeClr val="tx1"/>
                </a:solidFill>
              </a:rPr>
              <a:t>번호 · QA 정합성 확인 필요</a:t>
            </a:r>
          </a:p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DP5 는 임시 번호 (확정안: DP1 바로 뒤 DP2, 기존 DP2~4 후순위)</a:t>
            </a:r>
          </a:p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• Reliability 의 QA 번호: 공통 QA 문서는 QA5, 이 덱의 QA 표는 QA5 = Functional Correctness</a:t>
            </a:r>
          </a:p>
        </p:txBody>
      </p:sp>
    </p:spTree>
    <p:extLst>
      <p:ext uri="{BB962C8B-B14F-4D97-AF65-F5344CB8AC3E}">
        <p14:creationId xmlns:p14="http://schemas.microsoft.com/office/powerpoint/2010/main" val="498243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13258</Words>
  <Application>Microsoft Office PowerPoint</Application>
  <PresentationFormat>와이드스크린</PresentationFormat>
  <Paragraphs>2243</Paragraphs>
  <Slides>47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Mona Sans VF</vt:lpstr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Architecture 분석 – Overall System (Context View)</vt:lpstr>
      <vt:lpstr>Architecture 분석 – Overall Architecture (Module View)</vt:lpstr>
      <vt:lpstr>Architecture 분석 – DP 연결성</vt:lpstr>
      <vt:lpstr>Architecture 분석 – Overall Architecture (Module View)</vt:lpstr>
      <vt:lpstr>PowerPoint 프레젠테이션</vt:lpstr>
      <vt:lpstr>vLLM – 모듈 별 역할</vt:lpstr>
      <vt:lpstr>Memory Backend I/F 의 모듈 별 역할</vt:lpstr>
      <vt:lpstr>Architecture 분석</vt:lpstr>
      <vt:lpstr>vLLM 중요 모듈별 책임 요약</vt:lpstr>
      <vt:lpstr>PowerPoint 프레젠테이션</vt:lpstr>
      <vt:lpstr>PowerPoint 프레젠테이션</vt:lpstr>
      <vt:lpstr>전체 DP 연결</vt:lpstr>
      <vt:lpstr>PowerPoint 프레젠테이션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DP1. C1 구조 보완 (QA1 complement) - 설계</vt:lpstr>
      <vt:lpstr>DP1. 이기종 메모리 기반 Data Migration 결정 구조 - 설계</vt:lpstr>
      <vt:lpstr>DP1. 이기종 메모리 기반 Data Migration 결정 구조 - 설계</vt:lpstr>
      <vt:lpstr>PowerPoint 프레젠테이션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  <vt:lpstr>PowerPoint 프레젠테이션</vt:lpstr>
      <vt:lpstr>DP4. 서버 간 KV 공유 구조 – 배경</vt:lpstr>
      <vt:lpstr>DP4. 서버 간 KV 공유 구조 – 설계</vt:lpstr>
      <vt:lpstr>PowerPoint 프레젠테이션</vt:lpstr>
      <vt:lpstr>DP1. 이기종 메모리 기반 Data Migration 결정 구조 - 설계</vt:lpstr>
      <vt:lpstr>DP1. 이기종 메모리 기반 Data Migration 결정 구조 – 1안 상세</vt:lpstr>
      <vt:lpstr>DP1. 이기종 메모리 기반 Data Migration 결정 구조 – 1안 상세</vt:lpstr>
      <vt:lpstr>DP1. 이기종 메모리 기반 Data Migration 결정 구조 – 2안 상세</vt:lpstr>
      <vt:lpstr>DP1. 이기종 메모리 기반 Data Migration 결정 구조 – 2안 상세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S-LORA: SERVING THOUSANDS OF CONCURRENT LORA ADAPTERS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Myeong Woo Kim</cp:lastModifiedBy>
  <cp:revision>75</cp:revision>
  <dcterms:created xsi:type="dcterms:W3CDTF">2026-10-01T14:27:36Z</dcterms:created>
  <dcterms:modified xsi:type="dcterms:W3CDTF">2026-10-06T00:30:38Z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
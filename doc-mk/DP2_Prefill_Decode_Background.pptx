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28.xml" ContentType="application/vnd.openxmlformats-officedocument.presentationml.slide+xml"/>
  <Override PartName="/ppt/slides/slide2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0"/>
  </p:notesMasterIdLst>
  <p:sldIdLst>
    <p:sldId id="493" r:id="rId29"/>
    <p:sldId id="511" r:id="rId3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7118AFE9-5D72-4ADD-986E-7181C34260F3}">
          <p14:sldIdLst>
            <p14:sldId id="256"/>
            <p14:sldId id="257"/>
            <p14:sldId id="398"/>
            <p14:sldId id="428"/>
            <p14:sldId id="407"/>
            <p14:sldId id="427"/>
            <p14:sldId id="425"/>
            <p14:sldId id="431"/>
            <p14:sldId id="414"/>
            <p14:sldId id="439"/>
            <p14:sldId id="440"/>
            <p14:sldId id="437"/>
            <p14:sldId id="455"/>
          </p14:sldIdLst>
        </p14:section>
        <p14:section name="DP1" id="{31AE5E82-1D1F-425E-85AE-6E92077EDF4D}">
          <p14:sldIdLst>
            <p14:sldId id="489"/>
            <p14:sldId id="502"/>
            <p14:sldId id="500"/>
          </p14:sldIdLst>
        </p14:section>
        <p14:section name="DP1-stale" id="{7FBB2859-53B8-44D0-A64A-F427A157152A}">
          <p14:sldIdLst>
            <p14:sldId id="504"/>
            <p14:sldId id="503"/>
            <p14:sldId id="501"/>
            <p14:sldId id="485"/>
            <p14:sldId id="496"/>
            <p14:sldId id="490"/>
            <p14:sldId id="488"/>
            <p14:sldId id="487"/>
            <p14:sldId id="454"/>
            <p14:sldId id="481"/>
            <p14:sldId id="445"/>
          </p14:sldIdLst>
        </p14:section>
        <p14:section name="DP2" id="{78FD15F7-14D8-4B6E-AF7B-BC49579EF0CE}">
          <p14:sldIdLst>
            <p14:sldId id="493"/>
            <p14:sldId id="511"/>
            <p14:sldId id="494"/>
            <p14:sldId id="510"/>
          </p14:sldIdLst>
        </p14:section>
        <p14:section name="DP2-stale" id="{04C2DC1B-B75D-49C3-8C4B-258B35B266BF}">
          <p14:sldIdLst>
            <p14:sldId id="507"/>
            <p14:sldId id="508"/>
            <p14:sldId id="505"/>
            <p14:sldId id="509"/>
            <p14:sldId id="498"/>
            <p14:sldId id="499"/>
            <p14:sldId id="495"/>
            <p14:sldId id="497"/>
            <p14:sldId id="491"/>
            <p14:sldId id="492"/>
            <p14:sldId id="473"/>
            <p14:sldId id="469"/>
          </p14:sldIdLst>
        </p14:section>
        <p14:section name="DP3" id="{5053DDD8-1FF6-4628-88BD-15248D14C26A}">
          <p14:sldIdLst>
            <p14:sldId id="474"/>
            <p14:sldId id="475"/>
          </p14:sldIdLst>
        </p14:section>
        <p14:section name="DP3-stale" id="{3C07D0D1-354C-45BA-8E5E-CA726A33E42E}">
          <p14:sldIdLst>
            <p14:sldId id="478"/>
            <p14:sldId id="479"/>
            <p14:sldId id="480"/>
            <p14:sldId id="476"/>
            <p14:sldId id="477"/>
            <p14:sldId id="450"/>
            <p14:sldId id="451"/>
            <p14:sldId id="483"/>
            <p14:sldId id="463"/>
            <p14:sldId id="457"/>
            <p14:sldId id="465"/>
            <p14:sldId id="466"/>
            <p14:sldId id="458"/>
            <p14:sldId id="459"/>
            <p14:sldId id="456"/>
            <p14:sldId id="464"/>
            <p14:sldId id="460"/>
            <p14:sldId id="462"/>
            <p14:sldId id="467"/>
            <p14:sldId id="468"/>
            <p14:sldId id="470"/>
            <p14:sldId id="471"/>
            <p14:sldId id="472"/>
            <p14:sldId id="435"/>
            <p14:sldId id="442"/>
            <p14:sldId id="447"/>
            <p14:sldId id="448"/>
            <p14:sldId id="449"/>
            <p14:sldId id="446"/>
            <p14:sldId id="436"/>
            <p14:sldId id="438"/>
            <p14:sldId id="441"/>
            <p14:sldId id="434"/>
            <p14:sldId id="433"/>
            <p14:sldId id="429"/>
            <p14:sldId id="413"/>
            <p14:sldId id="417"/>
            <p14:sldId id="415"/>
            <p14:sldId id="419"/>
            <p14:sldId id="418"/>
            <p14:sldId id="420"/>
            <p14:sldId id="421"/>
            <p14:sldId id="424"/>
            <p14:sldId id="422"/>
            <p14:sldId id="423"/>
            <p14:sldId id="401"/>
            <p14:sldId id="402"/>
            <p14:sldId id="391"/>
            <p14:sldId id="392"/>
            <p14:sldId id="403"/>
            <p14:sldId id="393"/>
            <p14:sldId id="404"/>
            <p14:sldId id="405"/>
            <p14:sldId id="396"/>
            <p14:sldId id="389"/>
            <p14:sldId id="400"/>
            <p14:sldId id="394"/>
            <p14:sldId id="409"/>
            <p14:sldId id="259"/>
            <p14:sldId id="367"/>
            <p14:sldId id="276"/>
            <p14:sldId id="277"/>
            <p14:sldId id="261"/>
            <p14:sldId id="383"/>
            <p14:sldId id="364"/>
            <p14:sldId id="361"/>
            <p14:sldId id="362"/>
            <p14:sldId id="263"/>
            <p14:sldId id="265"/>
            <p14:sldId id="360"/>
            <p14:sldId id="363"/>
            <p14:sldId id="264"/>
            <p14:sldId id="268"/>
            <p14:sldId id="270"/>
            <p14:sldId id="271"/>
            <p14:sldId id="272"/>
            <p14:sldId id="369"/>
            <p14:sldId id="376"/>
            <p14:sldId id="377"/>
            <p14:sldId id="382"/>
            <p14:sldId id="388"/>
            <p14:sldId id="372"/>
            <p14:sldId id="384"/>
            <p14:sldId id="381"/>
            <p14:sldId id="378"/>
            <p14:sldId id="379"/>
            <p14:sldId id="380"/>
            <p14:sldId id="274"/>
            <p14:sldId id="275"/>
            <p14:sldId id="278"/>
            <p14:sldId id="368"/>
            <p14:sldId id="386"/>
            <p14:sldId id="365"/>
            <p14:sldId id="366"/>
            <p14:sldId id="387"/>
            <p14:sldId id="385"/>
            <p14:sldId id="373"/>
            <p14:sldId id="374"/>
            <p14:sldId id="375"/>
            <p14:sldId id="370"/>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406"/>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 id="349"/>
            <p14:sldId id="350"/>
            <p14:sldId id="351"/>
            <p14:sldId id="352"/>
            <p14:sldId id="353"/>
            <p14:sldId id="354"/>
            <p14:sldId id="355"/>
            <p14:sldId id="356"/>
            <p14:sldId id="357"/>
            <p14:sldId id="358"/>
            <p14:sldId id="408"/>
            <p14:sldId id="410"/>
            <p14:sldId id="43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0000FF"/>
    <a:srgbClr val="F5F9FD"/>
    <a:srgbClr val="F1E1FF"/>
    <a:srgbClr val="E6D4FE"/>
    <a:srgbClr val="FDD5FA"/>
    <a:srgbClr val="FFFFFF"/>
    <a:srgbClr val="FDF3ED"/>
    <a:srgbClr val="D9D9D9"/>
    <a:srgbClr val="E7F0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67" autoAdjust="0"/>
    <p:restoredTop sz="90806" autoAdjust="0"/>
  </p:normalViewPr>
  <p:slideViewPr>
    <p:cSldViewPr snapToGrid="0">
      <p:cViewPr varScale="1">
        <p:scale>
          <a:sx n="90" d="100"/>
          <a:sy n="90" d="100"/>
        </p:scale>
        <p:origin x="114" y="141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9" Type="http://schemas.openxmlformats.org/officeDocument/2006/relationships/slide" Target="slides/slide28.xml"/><Relationship Id="rId30" Type="http://schemas.openxmlformats.org/officeDocument/2006/relationships/slide" Target="slides/slide29.xml"/><Relationship Id="rId230" Type="http://schemas.openxmlformats.org/officeDocument/2006/relationships/notesMaster" Target="notesMasters/notesMaster1.xml"/><Relationship Id="rId231" Type="http://schemas.openxmlformats.org/officeDocument/2006/relationships/presProps" Target="presProps.xml"/><Relationship Id="rId232" Type="http://schemas.openxmlformats.org/officeDocument/2006/relationships/viewProps" Target="viewProps.xml"/><Relationship Id="rId233" Type="http://schemas.openxmlformats.org/officeDocument/2006/relationships/theme" Target="theme/theme1.xml"/><Relationship Id="rId2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E6DFF4-997A-46AB-885E-08C25B81A166}" type="datetimeFigureOut">
              <a:rPr lang="ko-KR" altLang="en-US" smtClean="0"/>
              <a:t>2026-09-09</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B17B06-B204-4E73-B04E-053CD704EFD3}" type="slidenum">
              <a:rPr lang="ko-KR" altLang="en-US" smtClean="0"/>
              <a:t>‹#›</a:t>
            </a:fld>
            <a:endParaRPr lang="ko-KR" altLang="en-US"/>
          </a:p>
        </p:txBody>
      </p:sp>
    </p:spTree>
    <p:extLst>
      <p:ext uri="{BB962C8B-B14F-4D97-AF65-F5344CB8AC3E}">
        <p14:creationId xmlns:p14="http://schemas.microsoft.com/office/powerpoint/2010/main" val="145527027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[Prefill / Decode 배경 설명]</a:t>
            </a:r>
          </a:p>
          <a:p>
            <a:r>
              <a:t>1) LLM이 답 하나를 만드는 과정은 두 단계입니다. 먼저 Prefill에서 질문 전체(여기서는 2,000 토큰)를 한 번에 읽어 KV 캐시를 만들고, 그 다음 Decode에서 답을 토큰 1개씩 순차적으로 생성합니다. Prefill 시간이 첫 글자가 나오기까지의 대기 시간을, Decode 속도가 글자가 이어지는 속도를 결정합니다.</a:t>
            </a:r>
          </a:p>
          <a:p>
            <a:r>
              <a:t>2) 두 단계는 필요로 하는 자원이 정반대입니다. Prefill은 수천 토큰을 한꺼번에 처리하므로 GPU 연산기를 포화시키는 compute-bound 작업이고, Decode는 토큰 1개를 만들 때마다 KV 캐시 전체를 다시 읽어야 하므로 메모리 대역폭이 병목인 memory-bound 작업입니다.</a:t>
            </a:r>
          </a:p>
          <a:p>
            <a:r>
              <a:t>3) 두 작업을 같은 GPU에서 섞으면 긴 Prefill이 진행 중인 Decode를 멈춰 세워 응답이 끊깁니다. 그래서 최근 추론 시스템은 Prefill 전용 노드(P)와 Decode 전용 노드(D)를 분리합니다. 다만 분리하면 P에서 만든 KV 캐시를 D로 옮겨야 하므로 전송 비용이 새로 생깁니다.</a:t>
            </a:r>
          </a:p>
          <a:p>
            <a:r>
              <a:t>4) 즉 P/D 분리는 공짜가 아니며, 입력이 작거나 KV가 이미 D에 있는 경우에는 D에서 바로 Prefill 하는 편이 나을 수 있습니다. 어느 쪽이 유리한지가 상황마다 달라진다는 점이 DP2의 출발점입니다.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[Turn 예시 - 왜 Prefill 실행 위치가 매번 문제가 되는가]</a:t>
            </a:r>
          </a:p>
          <a:p>
            <a:r>
              <a:t>먼저 P 노드와 D 노드는 물리적으로 분리된 서버이고, 그 사이를 넘는 KV 캐시에는 전송 비용이 붙습니다. 그림의 점선이 그 경계입니다.</a:t>
            </a:r>
          </a:p>
          <a:p>
            <a:r>
              <a:t>Turn 1에서는 P 노드가 사용자 질문 2,000 토큰을 Prefill 하고, 만들어진 KV 캐시가 D 노드로 넘어가 Decode가 돕니다. 이 시점부터 History KV는 D 노드에 있습니다.</a:t>
            </a:r>
          </a:p>
          <a:p>
            <a:r>
              <a:t>Turn 2에서 Tool 결과가 도착하면 선택지가 두 개 생깁니다. ① D에서 그대로 Prefill 하면 KV를 옮길 필요가 없어 전송 비용이 0이지만, D가 돌리고 있던 Decode와 GPU 자원을 다투게 되어 진행 중인 응답이 느려집니다. ② History KV를 P로 보내 P에서 Prefill 하면 D의 Decode는 그대로 두고 P의 연산 자원을 쓸 수 있지만, History KV 크기만큼 전송 비용을 새로 냅니다.</a:t>
            </a:r>
          </a:p>
          <a:p>
            <a:r>
              <a:t>핵심은 어느 쪽이 싼지가 고정되어 있지 않다는 점입니다. Tool 결과가 작으면 옮겨봐야 전송비가 연산 이득보다 크므로 ①이 낫고, Tool 결과가 크거나 D가 혼잡하면 전송비를 내더라도 ②가 낫습니다. History KV가 커질수록 ②의 전송 비용도 함께 커지므로 Turn이 진행될수록 판단이 또 달라집니다.</a:t>
            </a:r>
          </a:p>
          <a:p>
            <a:r>
              <a:t>즉 Tool 결과 크기, History KV 크기, P/D 노드 부하가 매 Turn 바뀌기 때문에 고정된 규칙 하나로는 대응할 수 없고, 이것이 아래 설계 쟁점에서 말하는 동적 결정 구조가 필요한 이유입니다.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cxnSp>
        <p:nvCxnSpPr>
          <p:cNvPr id="12" name="직선 연결선 11"/>
          <p:cNvCxnSpPr/>
          <p:nvPr userDrawn="1"/>
        </p:nvCxnSpPr>
        <p:spPr>
          <a:xfrm>
            <a:off x="234950" y="6540500"/>
            <a:ext cx="11766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5"/>
          <p:cNvSpPr>
            <a:spLocks noGrp="1"/>
          </p:cNvSpPr>
          <p:nvPr>
            <p:ph type="sldNum" sz="quarter" idx="4"/>
          </p:nvPr>
        </p:nvSpPr>
        <p:spPr>
          <a:xfrm>
            <a:off x="5620080" y="6597650"/>
            <a:ext cx="456466" cy="209550"/>
          </a:xfrm>
          <a:prstGeom prst="rect">
            <a:avLst/>
          </a:prstGeom>
        </p:spPr>
        <p:txBody>
          <a:bodyPr vert="horz" lIns="91440" tIns="45720" rIns="91440" bIns="45720" rtlCol="0" anchor="ctr"/>
          <a:lstStyle>
            <a:lvl1pPr algn="r">
              <a:defRPr sz="1200">
                <a:solidFill>
                  <a:schemeClr val="tx1">
                    <a:tint val="75000"/>
                  </a:schemeClr>
                </a:solidFill>
              </a:defRPr>
            </a:lvl1pPr>
          </a:lstStyle>
          <a:p>
            <a:fld id="{7F889C64-266A-4D07-AD8F-5B592E61CCE1}" type="slidenum">
              <a:rPr lang="ko-KR" altLang="en-US" smtClean="0"/>
              <a:pPr/>
              <a:t>‹#›</a:t>
            </a:fld>
            <a:endParaRPr lang="ko-KR" altLang="en-US" dirty="0"/>
          </a:p>
        </p:txBody>
      </p:sp>
      <p:cxnSp>
        <p:nvCxnSpPr>
          <p:cNvPr id="20" name="직선 연결선 19"/>
          <p:cNvCxnSpPr/>
          <p:nvPr userDrawn="1"/>
        </p:nvCxnSpPr>
        <p:spPr>
          <a:xfrm>
            <a:off x="234950" y="539750"/>
            <a:ext cx="11766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제목 개체 틀 1"/>
          <p:cNvSpPr>
            <a:spLocks noGrp="1"/>
          </p:cNvSpPr>
          <p:nvPr>
            <p:ph type="title"/>
          </p:nvPr>
        </p:nvSpPr>
        <p:spPr>
          <a:xfrm>
            <a:off x="234948" y="137379"/>
            <a:ext cx="7042151" cy="365125"/>
          </a:xfrm>
          <a:prstGeom prst="rect">
            <a:avLst/>
          </a:prstGeom>
        </p:spPr>
        <p:txBody>
          <a:bodyPr vert="horz" lIns="91440" tIns="45720" rIns="91440" bIns="45720" rtlCol="0" anchor="ctr">
            <a:noAutofit/>
          </a:bodyPr>
          <a:lstStyle>
            <a:lvl1pPr>
              <a:defRPr sz="1800" b="1"/>
            </a:lvl1pPr>
          </a:lstStyle>
          <a:p>
            <a:r>
              <a:rPr lang="ko-KR" altLang="en-US" dirty="0"/>
              <a:t>마스터 제목 스타일 편집</a:t>
            </a:r>
          </a:p>
        </p:txBody>
      </p:sp>
      <p:sp>
        <p:nvSpPr>
          <p:cNvPr id="22" name="갈매기형 수장 21"/>
          <p:cNvSpPr/>
          <p:nvPr userDrawn="1"/>
        </p:nvSpPr>
        <p:spPr>
          <a:xfrm>
            <a:off x="7390047" y="137379"/>
            <a:ext cx="1031887" cy="357521"/>
          </a:xfrm>
          <a:prstGeom prst="chevron">
            <a:avLst/>
          </a:prstGeom>
          <a:solidFill>
            <a:schemeClr val="tx1">
              <a:lumMod val="65000"/>
              <a:lumOff val="35000"/>
            </a:schemeClr>
          </a:solidFill>
          <a:ln>
            <a:noFill/>
          </a:ln>
        </p:spPr>
        <p:style>
          <a:lnRef idx="2">
            <a:schemeClr val="dk1">
              <a:shade val="50000"/>
            </a:schemeClr>
          </a:lnRef>
          <a:fillRef idx="1">
            <a:schemeClr val="dk1"/>
          </a:fillRef>
          <a:effectRef idx="0">
            <a:schemeClr val="dk1"/>
          </a:effectRef>
          <a:fontRef idx="minor">
            <a:schemeClr val="lt1"/>
          </a:fontRef>
        </p:style>
        <p:txBody>
          <a:bodyPr lIns="0" tIns="0" rIns="0" bIns="0" rtlCol="0" anchor="ctr"/>
          <a:lstStyle/>
          <a:p>
            <a:pPr lvl="0" algn="ctr"/>
            <a:r>
              <a:rPr lang="ko-KR" altLang="en-US" sz="1000" b="1" dirty="0">
                <a:solidFill>
                  <a:schemeClr val="bg1"/>
                </a:solidFill>
              </a:rPr>
              <a:t>과제 소개</a:t>
            </a:r>
          </a:p>
        </p:txBody>
      </p:sp>
      <p:sp>
        <p:nvSpPr>
          <p:cNvPr id="23" name="갈매기형 수장 22"/>
          <p:cNvSpPr/>
          <p:nvPr userDrawn="1"/>
        </p:nvSpPr>
        <p:spPr>
          <a:xfrm>
            <a:off x="8282529" y="137379"/>
            <a:ext cx="1031887"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요구사항</a:t>
            </a:r>
          </a:p>
        </p:txBody>
      </p:sp>
      <p:sp>
        <p:nvSpPr>
          <p:cNvPr id="25" name="갈매기형 수장 24"/>
          <p:cNvSpPr/>
          <p:nvPr userDrawn="1"/>
        </p:nvSpPr>
        <p:spPr>
          <a:xfrm>
            <a:off x="9181447" y="137379"/>
            <a:ext cx="1031887"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설계</a:t>
            </a:r>
          </a:p>
        </p:txBody>
      </p:sp>
      <p:sp>
        <p:nvSpPr>
          <p:cNvPr id="26" name="갈매기형 수장 25"/>
          <p:cNvSpPr/>
          <p:nvPr userDrawn="1"/>
        </p:nvSpPr>
        <p:spPr>
          <a:xfrm>
            <a:off x="10073928" y="137379"/>
            <a:ext cx="1031887"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구현</a:t>
            </a:r>
            <a:r>
              <a:rPr lang="en-US" altLang="ko-KR" sz="1000" b="1" dirty="0">
                <a:solidFill>
                  <a:schemeClr val="bg1"/>
                </a:solidFill>
              </a:rPr>
              <a:t>/</a:t>
            </a:r>
            <a:r>
              <a:rPr lang="ko-KR" altLang="en-US" sz="1000" b="1" dirty="0">
                <a:solidFill>
                  <a:schemeClr val="bg1"/>
                </a:solidFill>
              </a:rPr>
              <a:t>검증</a:t>
            </a:r>
          </a:p>
        </p:txBody>
      </p:sp>
      <p:sp>
        <p:nvSpPr>
          <p:cNvPr id="27" name="갈매기형 수장 26"/>
          <p:cNvSpPr/>
          <p:nvPr userDrawn="1"/>
        </p:nvSpPr>
        <p:spPr>
          <a:xfrm>
            <a:off x="10966411" y="137379"/>
            <a:ext cx="1031887"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결론</a:t>
            </a:r>
          </a:p>
        </p:txBody>
      </p:sp>
      <p:sp>
        <p:nvSpPr>
          <p:cNvPr id="29" name="직사각형 28"/>
          <p:cNvSpPr/>
          <p:nvPr userDrawn="1"/>
        </p:nvSpPr>
        <p:spPr>
          <a:xfrm>
            <a:off x="11789373" y="137379"/>
            <a:ext cx="212127" cy="357521"/>
          </a:xfrm>
          <a:prstGeom prst="rect">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endParaRPr lang="ko-KR" altLang="en-US" sz="1000" b="1">
              <a:solidFill>
                <a:schemeClr val="bg1"/>
              </a:solidFill>
            </a:endParaRPr>
          </a:p>
        </p:txBody>
      </p:sp>
      <p:sp>
        <p:nvSpPr>
          <p:cNvPr id="30" name="직사각형 29"/>
          <p:cNvSpPr/>
          <p:nvPr userDrawn="1"/>
        </p:nvSpPr>
        <p:spPr>
          <a:xfrm>
            <a:off x="7386845" y="137379"/>
            <a:ext cx="212127" cy="357521"/>
          </a:xfrm>
          <a:prstGeom prst="rect">
            <a:avLst/>
          </a:prstGeom>
          <a:solidFill>
            <a:schemeClr val="tx1">
              <a:lumMod val="65000"/>
              <a:lumOff val="35000"/>
            </a:schemeClr>
          </a:solidFill>
          <a:ln>
            <a:noFill/>
          </a:ln>
        </p:spPr>
        <p:style>
          <a:lnRef idx="2">
            <a:schemeClr val="dk1">
              <a:shade val="50000"/>
            </a:schemeClr>
          </a:lnRef>
          <a:fillRef idx="1">
            <a:schemeClr val="dk1"/>
          </a:fillRef>
          <a:effectRef idx="0">
            <a:schemeClr val="dk1"/>
          </a:effectRef>
          <a:fontRef idx="minor">
            <a:schemeClr val="lt1"/>
          </a:fontRef>
        </p:style>
        <p:txBody>
          <a:bodyPr lIns="0" tIns="0" rIns="0" bIns="0" rtlCol="0" anchor="ctr"/>
          <a:lstStyle/>
          <a:p>
            <a:pPr lvl="0" algn="ctr"/>
            <a:endParaRPr lang="ko-KR" altLang="en-US" sz="1000" b="1">
              <a:solidFill>
                <a:schemeClr val="bg1"/>
              </a:solidFill>
            </a:endParaRPr>
          </a:p>
        </p:txBody>
      </p:sp>
      <p:sp>
        <p:nvSpPr>
          <p:cNvPr id="2" name="TextBox 1"/>
          <p:cNvSpPr txBox="1"/>
          <p:nvPr userDrawn="1"/>
        </p:nvSpPr>
        <p:spPr>
          <a:xfrm>
            <a:off x="5975555" y="6563925"/>
            <a:ext cx="470643" cy="276999"/>
          </a:xfrm>
          <a:prstGeom prst="rect">
            <a:avLst/>
          </a:prstGeom>
          <a:noFill/>
        </p:spPr>
        <p:txBody>
          <a:bodyPr wrap="square" rtlCol="0">
            <a:spAutoFit/>
          </a:bodyPr>
          <a:lstStyle/>
          <a:p>
            <a:r>
              <a:rPr lang="en-US" altLang="ko-KR" sz="1200" dirty="0">
                <a:solidFill>
                  <a:schemeClr val="bg1">
                    <a:lumMod val="50000"/>
                  </a:schemeClr>
                </a:solidFill>
              </a:rPr>
              <a:t>/ 23</a:t>
            </a:r>
            <a:endParaRPr lang="ko-KR" altLang="en-US" sz="1200" dirty="0">
              <a:solidFill>
                <a:schemeClr val="bg1">
                  <a:lumMod val="50000"/>
                </a:schemeClr>
              </a:solidFill>
            </a:endParaRPr>
          </a:p>
        </p:txBody>
      </p:sp>
    </p:spTree>
    <p:extLst>
      <p:ext uri="{BB962C8B-B14F-4D97-AF65-F5344CB8AC3E}">
        <p14:creationId xmlns:p14="http://schemas.microsoft.com/office/powerpoint/2010/main" val="597889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9883F9-11C6-43F9-9CCF-256006557EC2}" type="datetimeFigureOut">
              <a:rPr lang="ko-KR" altLang="en-US" smtClean="0"/>
              <a:t>2026-09-09</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4F6AC5-D4FC-4374-A58A-50B206F924DB}" type="slidenum">
              <a:rPr lang="ko-KR" altLang="en-US" smtClean="0"/>
              <a:t>‹#›</a:t>
            </a:fld>
            <a:endParaRPr lang="ko-KR" altLang="en-US"/>
          </a:p>
        </p:txBody>
      </p:sp>
    </p:spTree>
    <p:extLst>
      <p:ext uri="{BB962C8B-B14F-4D97-AF65-F5344CB8AC3E}">
        <p14:creationId xmlns:p14="http://schemas.microsoft.com/office/powerpoint/2010/main" val="1323046487"/>
      </p:ext>
    </p:extLst>
  </p:cSld>
  <p:clrMap bg1="lt1" tx1="dk1" bg2="lt2" tx2="dk2" accent1="accent1" accent2="accent2" accent3="accent3" accent4="accent4" accent5="accent5" accent6="accent6" hlink="hlink" folHlink="folHlink"/>
  <p:sldLayoutIdLst>
    <p:sldLayoutId id="2147483677" r:id="rId3"/>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0" Type="http://schemas.openxmlformats.org/officeDocument/2006/relationships/notesSlide" Target="../notesSlides/notesSlide174.xml"/></Relationships>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234949" y="137379"/>
            <a:ext cx="8128859" cy="365125"/>
          </a:xfrm>
        </p:spPr>
        <p:txBody>
          <a:bodyPr/>
          <a:lstStyle/>
          <a:p>
            <a:r>
              <a:rPr lang="en-US" altLang="ko-KR" dirty="0" smtClean="0"/>
              <a:t>DP2. </a:t>
            </a:r>
            <a:r>
              <a:rPr lang="ko-KR" altLang="en-US" dirty="0" smtClean="0"/>
              <a:t>이기종 메모리 환경의 </a:t>
            </a:r>
            <a:r>
              <a:rPr lang="en-US" altLang="ko-KR" dirty="0" smtClean="0"/>
              <a:t>Prefill </a:t>
            </a:r>
            <a:r>
              <a:rPr lang="ko-KR" altLang="en-US" dirty="0" smtClean="0"/>
              <a:t>실행 위치 결정 구조 </a:t>
            </a:r>
            <a:r>
              <a:rPr lang="en-US" altLang="ko-KR" dirty="0" smtClean="0"/>
              <a:t>- </a:t>
            </a:r>
            <a:r>
              <a:rPr lang="en-US" altLang="ko-KR" dirty="0" smtClean="0"/>
              <a:t>배경</a:t>
            </a:r>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2" name="Rounded Rectangle 101"/>
          <p:cNvSpPr/>
          <p:nvPr/>
        </p:nvSpPr>
        <p:spPr>
          <a:xfrm>
            <a:off x="347472" y="621792"/>
            <a:ext cx="1691640" cy="301752"/>
          </a:xfrm>
          <a:prstGeom prst="roundRect">
            <a:avLst>
              <a:gd name="adj" fmla="val 16000"/>
            </a:avLst>
          </a:prstGeom>
          <a:solidFill>
            <a:srgbClr val="A8C6E8"/>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0"/>
              </a:spcAft>
            </a:pPr>
            <a:r>
              <a:rPr sz="1150" b="1" i="0">
                <a:solidFill>
                  <a:srgbClr val="1F3864"/>
                </a:solidFill>
                <a:latin typeface="맑은 고딕"/>
                <a:ea typeface="맑은 고딕"/>
                <a:cs typeface="맑은 고딕"/>
              </a:rPr>
              <a:t>Prefill / Decode 란?</a:t>
            </a:r>
          </a:p>
        </p:txBody>
      </p:sp>
      <p:sp>
        <p:nvSpPr>
          <p:cNvPr id="103" name="TextBox 102"/>
          <p:cNvSpPr txBox="1"/>
          <p:nvPr/>
        </p:nvSpPr>
        <p:spPr>
          <a:xfrm>
            <a:off x="2157984" y="621792"/>
            <a:ext cx="9683496" cy="301752"/>
          </a:xfrm>
          <a:prstGeom prst="rect">
            <a:avLst/>
          </a:prstGeom>
          <a:noFill/>
        </p:spPr>
        <p:txBody>
          <a:bodyPr wrap="square" lIns="0" rIns="0" tIns="0" bIns="0" anchor="ctr">
            <a:spAutoFit/>
          </a:bodyPr>
          <a:lstStyle/>
          <a:p>
            <a:pPr algn="l">
              <a:lnSpc>
                <a:spcPct val="100000"/>
              </a:lnSpc>
              <a:spcAft>
                <a:spcPts val="0"/>
              </a:spcAft>
            </a:pPr>
            <a:r>
              <a:rPr sz="1050" b="0" i="0">
                <a:solidFill>
                  <a:srgbClr val="000000"/>
                </a:solidFill>
                <a:latin typeface="맑은 고딕"/>
                <a:ea typeface="맑은 고딕"/>
                <a:cs typeface="맑은 고딕"/>
              </a:rPr>
              <a:t>LLM 추론은 질문을 한 번에 읽는 Prefill과 답을 한 토큰씩 쓰는 Decode로 나뉨   </a:t>
            </a:r>
            <a:r>
              <a:rPr sz="1050" b="1" i="0">
                <a:solidFill>
                  <a:srgbClr val="2E75B6"/>
                </a:solidFill>
                <a:latin typeface="맑은 고딕"/>
                <a:ea typeface="맑은 고딕"/>
                <a:cs typeface="맑은 고딕"/>
              </a:rPr>
              <a:t>→ 두 단계는 필요로 하는 자원이 정반대</a:t>
            </a:r>
          </a:p>
        </p:txBody>
      </p:sp>
      <p:sp>
        <p:nvSpPr>
          <p:cNvPr id="104" name="Rounded Rectangle 103"/>
          <p:cNvSpPr/>
          <p:nvPr/>
        </p:nvSpPr>
        <p:spPr>
          <a:xfrm>
            <a:off x="347472" y="1051560"/>
            <a:ext cx="11494008" cy="1719072"/>
          </a:xfrm>
          <a:prstGeom prst="roundRect">
            <a:avLst>
              <a:gd name="adj" fmla="val 35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0"/>
              </a:spcAft>
            </a:pPr>
            <a:r>
              <a:rPr sz="100" b="0" i="0">
                <a:solidFill>
                  <a:srgbClr val="000000"/>
                </a:solidFill>
                <a:latin typeface="맑은 고딕"/>
                <a:ea typeface="맑은 고딕"/>
                <a:cs typeface="맑은 고딕"/>
              </a:rPr>
              <a:t/>
            </a:r>
          </a:p>
        </p:txBody>
      </p:sp>
      <p:sp>
        <p:nvSpPr>
          <p:cNvPr id="105" name="Oval 104"/>
          <p:cNvSpPr/>
          <p:nvPr/>
        </p:nvSpPr>
        <p:spPr>
          <a:xfrm>
            <a:off x="493776" y="1188719"/>
            <a:ext cx="274320" cy="274320"/>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0"/>
              </a:spcAft>
            </a:pPr>
            <a:r>
              <a:rPr sz="1100" b="1" i="0">
                <a:solidFill>
                  <a:srgbClr val="FFFFFF"/>
                </a:solidFill>
                <a:latin typeface="맑은 고딕"/>
                <a:ea typeface="맑은 고딕"/>
                <a:cs typeface="맑은 고딕"/>
              </a:rPr>
              <a:t>1</a:t>
            </a:r>
          </a:p>
        </p:txBody>
      </p:sp>
      <p:sp>
        <p:nvSpPr>
          <p:cNvPr id="106" name="TextBox 105"/>
          <p:cNvSpPr txBox="1"/>
          <p:nvPr/>
        </p:nvSpPr>
        <p:spPr>
          <a:xfrm>
            <a:off x="841248" y="1197863"/>
            <a:ext cx="10853928" cy="274320"/>
          </a:xfrm>
          <a:prstGeom prst="rect">
            <a:avLst/>
          </a:prstGeom>
          <a:noFill/>
        </p:spPr>
        <p:txBody>
          <a:bodyPr wrap="square" lIns="0" rIns="0" tIns="0" bIns="0" anchor="ctr">
            <a:spAutoFit/>
          </a:bodyPr>
          <a:lstStyle/>
          <a:p>
            <a:pPr algn="l">
              <a:lnSpc>
                <a:spcPct val="100000"/>
              </a:lnSpc>
              <a:spcAft>
                <a:spcPts val="0"/>
              </a:spcAft>
            </a:pPr>
            <a:r>
              <a:rPr sz="1150" b="1" i="0">
                <a:solidFill>
                  <a:srgbClr val="1F3864"/>
                </a:solidFill>
                <a:latin typeface="맑은 고딕"/>
                <a:ea typeface="맑은 고딕"/>
                <a:cs typeface="맑은 고딕"/>
              </a:rPr>
              <a:t>답 하나를 만드는 과정</a:t>
            </a:r>
          </a:p>
        </p:txBody>
      </p:sp>
      <p:sp>
        <p:nvSpPr>
          <p:cNvPr id="107" name="Rounded Rectangle 106"/>
          <p:cNvSpPr/>
          <p:nvPr/>
        </p:nvSpPr>
        <p:spPr>
          <a:xfrm>
            <a:off x="566928" y="1618488"/>
            <a:ext cx="1700784" cy="566928"/>
          </a:xfrm>
          <a:prstGeom prst="roundRect">
            <a:avLst>
              <a:gd name="adj" fmla="val 10000"/>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100"/>
              </a:spcAft>
            </a:pPr>
            <a:r>
              <a:rPr sz="900" b="1" i="0">
                <a:solidFill>
                  <a:srgbClr val="000000"/>
                </a:solidFill>
                <a:latin typeface="맑은 고딕"/>
                <a:ea typeface="맑은 고딕"/>
                <a:cs typeface="맑은 고딕"/>
              </a:rPr>
              <a:t>사용자 질문</a:t>
            </a:r>
          </a:p>
          <a:p>
            <a:pPr algn="ctr">
              <a:lnSpc>
                <a:spcPct val="100000"/>
              </a:lnSpc>
              <a:spcAft>
                <a:spcPts val="0"/>
              </a:spcAft>
            </a:pPr>
            <a:r>
              <a:rPr sz="800" b="0" i="0">
                <a:solidFill>
                  <a:srgbClr val="595959"/>
                </a:solidFill>
                <a:latin typeface="맑은 고딕"/>
                <a:ea typeface="맑은 고딕"/>
                <a:cs typeface="맑은 고딕"/>
              </a:rPr>
              <a:t>2,000 토큰</a:t>
            </a:r>
          </a:p>
        </p:txBody>
      </p:sp>
      <p:sp>
        <p:nvSpPr>
          <p:cNvPr id="108" name="Right Arrow 107"/>
          <p:cNvSpPr/>
          <p:nvPr/>
        </p:nvSpPr>
        <p:spPr>
          <a:xfrm>
            <a:off x="2340864" y="1819656"/>
            <a:ext cx="237744" cy="164592"/>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0"/>
              </a:spcAft>
            </a:pPr>
            <a:r>
              <a:rPr sz="100" b="0" i="0">
                <a:solidFill>
                  <a:srgbClr val="000000"/>
                </a:solidFill>
                <a:latin typeface="맑은 고딕"/>
                <a:ea typeface="맑은 고딕"/>
                <a:cs typeface="맑은 고딕"/>
              </a:rPr>
              <a:t/>
            </a:r>
          </a:p>
        </p:txBody>
      </p:sp>
      <p:sp>
        <p:nvSpPr>
          <p:cNvPr id="109" name="Rounded Rectangle 108"/>
          <p:cNvSpPr/>
          <p:nvPr/>
        </p:nvSpPr>
        <p:spPr>
          <a:xfrm>
            <a:off x="2688336" y="1618488"/>
            <a:ext cx="2962656" cy="566928"/>
          </a:xfrm>
          <a:prstGeom prst="roundRect">
            <a:avLst>
              <a:gd name="adj" fmla="val 10000"/>
            </a:avLst>
          </a:prstGeom>
          <a:solidFill>
            <a:srgbClr val="FBE5D6"/>
          </a:solidFill>
          <a:ln w="952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100"/>
              </a:spcAft>
            </a:pPr>
            <a:r>
              <a:rPr sz="1100" b="1" i="0">
                <a:solidFill>
                  <a:srgbClr val="C55A11"/>
                </a:solidFill>
                <a:latin typeface="맑은 고딕"/>
                <a:ea typeface="맑은 고딕"/>
                <a:cs typeface="맑은 고딕"/>
              </a:rPr>
              <a:t>Prefill</a:t>
            </a:r>
          </a:p>
          <a:p>
            <a:pPr algn="ctr">
              <a:lnSpc>
                <a:spcPct val="100000"/>
              </a:lnSpc>
              <a:spcAft>
                <a:spcPts val="0"/>
              </a:spcAft>
            </a:pPr>
            <a:r>
              <a:rPr sz="800" b="0" i="0">
                <a:solidFill>
                  <a:srgbClr val="595959"/>
                </a:solidFill>
                <a:latin typeface="맑은 고딕"/>
                <a:ea typeface="맑은 고딕"/>
                <a:cs typeface="맑은 고딕"/>
              </a:rPr>
              <a:t>입력 2,000 토큰을 한 번에 읽어 KV 캐시 생성</a:t>
            </a:r>
          </a:p>
        </p:txBody>
      </p:sp>
      <p:sp>
        <p:nvSpPr>
          <p:cNvPr id="110" name="Right Arrow 109"/>
          <p:cNvSpPr/>
          <p:nvPr/>
        </p:nvSpPr>
        <p:spPr>
          <a:xfrm>
            <a:off x="5724144" y="1819656"/>
            <a:ext cx="237744" cy="164592"/>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0"/>
              </a:spcAft>
            </a:pPr>
            <a:r>
              <a:rPr sz="100" b="0" i="0">
                <a:solidFill>
                  <a:srgbClr val="000000"/>
                </a:solidFill>
                <a:latin typeface="맑은 고딕"/>
                <a:ea typeface="맑은 고딕"/>
                <a:cs typeface="맑은 고딕"/>
              </a:rPr>
              <a:t/>
            </a:r>
          </a:p>
        </p:txBody>
      </p:sp>
      <p:sp>
        <p:nvSpPr>
          <p:cNvPr id="111" name="Rounded Rectangle 110"/>
          <p:cNvSpPr/>
          <p:nvPr/>
        </p:nvSpPr>
        <p:spPr>
          <a:xfrm>
            <a:off x="6071616" y="1618488"/>
            <a:ext cx="384048" cy="566928"/>
          </a:xfrm>
          <a:prstGeom prst="roundRect">
            <a:avLst>
              <a:gd name="adj" fmla="val 14000"/>
            </a:avLst>
          </a:prstGeom>
          <a:solidFill>
            <a:srgbClr val="DEEBF7"/>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spcAft>
                <a:spcPts val="0"/>
              </a:spcAft>
            </a:pPr>
            <a:r>
              <a:rPr sz="950" b="1" i="0">
                <a:solidFill>
                  <a:srgbClr val="1F3864"/>
                </a:solidFill>
                <a:latin typeface="맑은 고딕"/>
                <a:ea typeface="맑은 고딕"/>
                <a:cs typeface="맑은 고딕"/>
              </a:rPr>
              <a:t>오</a:t>
            </a:r>
          </a:p>
        </p:txBody>
      </p:sp>
      <p:sp>
        <p:nvSpPr>
          <p:cNvPr id="112" name="Rounded Rectangle 111"/>
          <p:cNvSpPr/>
          <p:nvPr/>
        </p:nvSpPr>
        <p:spPr>
          <a:xfrm>
            <a:off x="6510527" y="1618488"/>
            <a:ext cx="384048" cy="566928"/>
          </a:xfrm>
          <a:prstGeom prst="roundRect">
            <a:avLst>
              <a:gd name="adj" fmla="val 14000"/>
            </a:avLst>
          </a:prstGeom>
          <a:solidFill>
            <a:srgbClr val="DEEBF7"/>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spcAft>
                <a:spcPts val="0"/>
              </a:spcAft>
            </a:pPr>
            <a:r>
              <a:rPr sz="950" b="1" i="0">
                <a:solidFill>
                  <a:srgbClr val="1F3864"/>
                </a:solidFill>
                <a:latin typeface="맑은 고딕"/>
                <a:ea typeface="맑은 고딕"/>
                <a:cs typeface="맑은 고딕"/>
              </a:rPr>
              <a:t>늘</a:t>
            </a:r>
          </a:p>
        </p:txBody>
      </p:sp>
      <p:sp>
        <p:nvSpPr>
          <p:cNvPr id="113" name="Rounded Rectangle 112"/>
          <p:cNvSpPr/>
          <p:nvPr/>
        </p:nvSpPr>
        <p:spPr>
          <a:xfrm>
            <a:off x="6949440" y="1618488"/>
            <a:ext cx="384048" cy="566928"/>
          </a:xfrm>
          <a:prstGeom prst="roundRect">
            <a:avLst>
              <a:gd name="adj" fmla="val 14000"/>
            </a:avLst>
          </a:prstGeom>
          <a:solidFill>
            <a:srgbClr val="DEEBF7"/>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spcAft>
                <a:spcPts val="0"/>
              </a:spcAft>
            </a:pPr>
            <a:r>
              <a:rPr sz="950" b="1" i="0">
                <a:solidFill>
                  <a:srgbClr val="1F3864"/>
                </a:solidFill>
                <a:latin typeface="맑은 고딕"/>
                <a:ea typeface="맑은 고딕"/>
                <a:cs typeface="맑은 고딕"/>
              </a:rPr>
              <a:t>은</a:t>
            </a:r>
          </a:p>
        </p:txBody>
      </p:sp>
      <p:sp>
        <p:nvSpPr>
          <p:cNvPr id="114" name="Rounded Rectangle 113"/>
          <p:cNvSpPr/>
          <p:nvPr/>
        </p:nvSpPr>
        <p:spPr>
          <a:xfrm>
            <a:off x="7388352" y="1618488"/>
            <a:ext cx="384048" cy="566928"/>
          </a:xfrm>
          <a:prstGeom prst="roundRect">
            <a:avLst>
              <a:gd name="adj" fmla="val 14000"/>
            </a:avLst>
          </a:prstGeom>
          <a:solidFill>
            <a:srgbClr val="DEEBF7"/>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spcAft>
                <a:spcPts val="0"/>
              </a:spcAft>
            </a:pPr>
            <a:r>
              <a:rPr sz="950" b="1" i="0">
                <a:solidFill>
                  <a:srgbClr val="1F3864"/>
                </a:solidFill>
                <a:latin typeface="맑은 고딕"/>
                <a:ea typeface="맑은 고딕"/>
                <a:cs typeface="맑은 고딕"/>
              </a:rPr>
              <a:t>맑</a:t>
            </a:r>
          </a:p>
        </p:txBody>
      </p:sp>
      <p:sp>
        <p:nvSpPr>
          <p:cNvPr id="115" name="Rounded Rectangle 114"/>
          <p:cNvSpPr/>
          <p:nvPr/>
        </p:nvSpPr>
        <p:spPr>
          <a:xfrm>
            <a:off x="7827264" y="1618488"/>
            <a:ext cx="384048" cy="566928"/>
          </a:xfrm>
          <a:prstGeom prst="roundRect">
            <a:avLst>
              <a:gd name="adj" fmla="val 14000"/>
            </a:avLst>
          </a:prstGeom>
          <a:solidFill>
            <a:srgbClr val="DEEBF7"/>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spcAft>
                <a:spcPts val="0"/>
              </a:spcAft>
            </a:pPr>
            <a:r>
              <a:rPr sz="950" b="1" i="0">
                <a:solidFill>
                  <a:srgbClr val="1F3864"/>
                </a:solidFill>
                <a:latin typeface="맑은 고딕"/>
                <a:ea typeface="맑은 고딕"/>
                <a:cs typeface="맑은 고딕"/>
              </a:rPr>
              <a:t>고</a:t>
            </a:r>
          </a:p>
        </p:txBody>
      </p:sp>
      <p:sp>
        <p:nvSpPr>
          <p:cNvPr id="116" name="Rounded Rectangle 115"/>
          <p:cNvSpPr/>
          <p:nvPr/>
        </p:nvSpPr>
        <p:spPr>
          <a:xfrm>
            <a:off x="8266176" y="1618488"/>
            <a:ext cx="384048" cy="566928"/>
          </a:xfrm>
          <a:prstGeom prst="roundRect">
            <a:avLst>
              <a:gd name="adj" fmla="val 14000"/>
            </a:avLst>
          </a:prstGeom>
          <a:solidFill>
            <a:srgbClr val="DEEBF7"/>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spcAft>
                <a:spcPts val="0"/>
              </a:spcAft>
            </a:pPr>
            <a:r>
              <a:rPr sz="950" b="1" i="0">
                <a:solidFill>
                  <a:srgbClr val="1F3864"/>
                </a:solidFill>
                <a:latin typeface="맑은 고딕"/>
                <a:ea typeface="맑은 고딕"/>
                <a:cs typeface="맑은 고딕"/>
              </a:rPr>
              <a:t>바</a:t>
            </a:r>
          </a:p>
        </p:txBody>
      </p:sp>
      <p:sp>
        <p:nvSpPr>
          <p:cNvPr id="117" name="Rounded Rectangle 116"/>
          <p:cNvSpPr/>
          <p:nvPr/>
        </p:nvSpPr>
        <p:spPr>
          <a:xfrm>
            <a:off x="8705088" y="1618488"/>
            <a:ext cx="384048" cy="566928"/>
          </a:xfrm>
          <a:prstGeom prst="roundRect">
            <a:avLst>
              <a:gd name="adj" fmla="val 14000"/>
            </a:avLst>
          </a:prstGeom>
          <a:solidFill>
            <a:srgbClr val="DEEBF7"/>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spcAft>
                <a:spcPts val="0"/>
              </a:spcAft>
            </a:pPr>
            <a:r>
              <a:rPr sz="950" b="1" i="0">
                <a:solidFill>
                  <a:srgbClr val="1F3864"/>
                </a:solidFill>
                <a:latin typeface="맑은 고딕"/>
                <a:ea typeface="맑은 고딕"/>
                <a:cs typeface="맑은 고딕"/>
              </a:rPr>
              <a:t>람</a:t>
            </a:r>
          </a:p>
        </p:txBody>
      </p:sp>
      <p:sp>
        <p:nvSpPr>
          <p:cNvPr id="118" name="Rounded Rectangle 117"/>
          <p:cNvSpPr/>
          <p:nvPr/>
        </p:nvSpPr>
        <p:spPr>
          <a:xfrm>
            <a:off x="9144000" y="1618488"/>
            <a:ext cx="384048" cy="566928"/>
          </a:xfrm>
          <a:prstGeom prst="roundRect">
            <a:avLst>
              <a:gd name="adj" fmla="val 14000"/>
            </a:avLst>
          </a:prstGeom>
          <a:solidFill>
            <a:srgbClr val="DEEBF7"/>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spcAft>
                <a:spcPts val="0"/>
              </a:spcAft>
            </a:pPr>
            <a:r>
              <a:rPr sz="950" b="1" i="0">
                <a:solidFill>
                  <a:srgbClr val="1F3864"/>
                </a:solidFill>
                <a:latin typeface="맑은 고딕"/>
                <a:ea typeface="맑은 고딕"/>
                <a:cs typeface="맑은 고딕"/>
              </a:rPr>
              <a:t>이</a:t>
            </a:r>
          </a:p>
        </p:txBody>
      </p:sp>
      <p:sp>
        <p:nvSpPr>
          <p:cNvPr id="119" name="Rounded Rectangle 118"/>
          <p:cNvSpPr/>
          <p:nvPr/>
        </p:nvSpPr>
        <p:spPr>
          <a:xfrm>
            <a:off x="9582912" y="1618488"/>
            <a:ext cx="384048" cy="566928"/>
          </a:xfrm>
          <a:prstGeom prst="roundRect">
            <a:avLst>
              <a:gd name="adj" fmla="val 14000"/>
            </a:avLst>
          </a:prstGeom>
          <a:solidFill>
            <a:srgbClr val="DEEBF7"/>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spcAft>
                <a:spcPts val="0"/>
              </a:spcAft>
            </a:pPr>
            <a:r>
              <a:rPr sz="950" b="1" i="0">
                <a:solidFill>
                  <a:srgbClr val="1F3864"/>
                </a:solidFill>
                <a:latin typeface="맑은 고딕"/>
                <a:ea typeface="맑은 고딕"/>
                <a:cs typeface="맑은 고딕"/>
              </a:rPr>
              <a:t>…</a:t>
            </a:r>
          </a:p>
        </p:txBody>
      </p:sp>
      <p:sp>
        <p:nvSpPr>
          <p:cNvPr id="120" name="Rounded Rectangle 119"/>
          <p:cNvSpPr/>
          <p:nvPr/>
        </p:nvSpPr>
        <p:spPr>
          <a:xfrm>
            <a:off x="10113264" y="1618488"/>
            <a:ext cx="1517904" cy="566928"/>
          </a:xfrm>
          <a:prstGeom prst="roundRect">
            <a:avLst>
              <a:gd name="adj" fmla="val 10000"/>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0"/>
              </a:spcAft>
            </a:pPr>
            <a:r>
              <a:rPr sz="900" b="1" i="0">
                <a:solidFill>
                  <a:srgbClr val="000000"/>
                </a:solidFill>
                <a:latin typeface="맑은 고딕"/>
                <a:ea typeface="맑은 고딕"/>
                <a:cs typeface="맑은 고딕"/>
              </a:rPr>
              <a:t>답 완성</a:t>
            </a:r>
          </a:p>
        </p:txBody>
      </p:sp>
      <p:sp>
        <p:nvSpPr>
          <p:cNvPr id="121" name="TextBox 120"/>
          <p:cNvSpPr txBox="1"/>
          <p:nvPr/>
        </p:nvSpPr>
        <p:spPr>
          <a:xfrm>
            <a:off x="2688336" y="2240280"/>
            <a:ext cx="2962656" cy="219456"/>
          </a:xfrm>
          <a:prstGeom prst="rect">
            <a:avLst/>
          </a:prstGeom>
          <a:noFill/>
        </p:spPr>
        <p:txBody>
          <a:bodyPr wrap="square" lIns="0" rIns="0" tIns="0" bIns="0" anchor="t">
            <a:spAutoFit/>
          </a:bodyPr>
          <a:lstStyle/>
          <a:p>
            <a:pPr algn="ctr">
              <a:lnSpc>
                <a:spcPct val="100000"/>
              </a:lnSpc>
              <a:spcAft>
                <a:spcPts val="0"/>
              </a:spcAft>
            </a:pPr>
            <a:r>
              <a:rPr sz="800" b="0" i="0">
                <a:solidFill>
                  <a:srgbClr val="C55A11"/>
                </a:solidFill>
                <a:latin typeface="맑은 고딕"/>
                <a:ea typeface="맑은 고딕"/>
                <a:cs typeface="맑은 고딕"/>
              </a:rPr>
              <a:t>한 번 실행 · 오래 걸림</a:t>
            </a:r>
          </a:p>
        </p:txBody>
      </p:sp>
      <p:sp>
        <p:nvSpPr>
          <p:cNvPr id="122" name="TextBox 121"/>
          <p:cNvSpPr txBox="1"/>
          <p:nvPr/>
        </p:nvSpPr>
        <p:spPr>
          <a:xfrm>
            <a:off x="6071616" y="2240280"/>
            <a:ext cx="3895344" cy="219456"/>
          </a:xfrm>
          <a:prstGeom prst="rect">
            <a:avLst/>
          </a:prstGeom>
          <a:noFill/>
        </p:spPr>
        <p:txBody>
          <a:bodyPr wrap="square" lIns="0" rIns="0" tIns="0" bIns="0" anchor="t">
            <a:spAutoFit/>
          </a:bodyPr>
          <a:lstStyle/>
          <a:p>
            <a:pPr algn="ctr">
              <a:lnSpc>
                <a:spcPct val="100000"/>
              </a:lnSpc>
              <a:spcAft>
                <a:spcPts val="0"/>
              </a:spcAft>
            </a:pPr>
            <a:r>
              <a:rPr sz="800" b="1" i="0">
                <a:solidFill>
                  <a:srgbClr val="1F3864"/>
                </a:solidFill>
                <a:latin typeface="맑은 고딕"/>
                <a:ea typeface="맑은 고딕"/>
                <a:cs typeface="맑은 고딕"/>
              </a:rPr>
              <a:t>Decode — 토큰 1개씩 순차 생성 (답 길이만큼 반복)</a:t>
            </a:r>
          </a:p>
        </p:txBody>
      </p:sp>
      <p:sp>
        <p:nvSpPr>
          <p:cNvPr id="123" name="TextBox 122"/>
          <p:cNvSpPr txBox="1"/>
          <p:nvPr/>
        </p:nvSpPr>
        <p:spPr>
          <a:xfrm>
            <a:off x="566928" y="2459736"/>
            <a:ext cx="5084064" cy="201168"/>
          </a:xfrm>
          <a:prstGeom prst="rect">
            <a:avLst/>
          </a:prstGeom>
          <a:noFill/>
        </p:spPr>
        <p:txBody>
          <a:bodyPr wrap="square" lIns="0" rIns="0" tIns="0" bIns="0" anchor="t">
            <a:spAutoFit/>
          </a:bodyPr>
          <a:lstStyle/>
          <a:p>
            <a:pPr algn="l">
              <a:lnSpc>
                <a:spcPct val="100000"/>
              </a:lnSpc>
              <a:spcAft>
                <a:spcPts val="0"/>
              </a:spcAft>
            </a:pPr>
            <a:r>
              <a:rPr sz="800" b="0" i="0">
                <a:solidFill>
                  <a:srgbClr val="808080"/>
                </a:solidFill>
                <a:latin typeface="맑은 고딕"/>
                <a:ea typeface="맑은 고딕"/>
                <a:cs typeface="맑은 고딕"/>
              </a:rPr>
              <a:t>↳ 첫 글자가 나오기까지의 시간을 결정</a:t>
            </a:r>
          </a:p>
        </p:txBody>
      </p:sp>
      <p:sp>
        <p:nvSpPr>
          <p:cNvPr id="124" name="TextBox 123"/>
          <p:cNvSpPr txBox="1"/>
          <p:nvPr/>
        </p:nvSpPr>
        <p:spPr>
          <a:xfrm>
            <a:off x="6071616" y="2459736"/>
            <a:ext cx="5559552" cy="201168"/>
          </a:xfrm>
          <a:prstGeom prst="rect">
            <a:avLst/>
          </a:prstGeom>
          <a:noFill/>
        </p:spPr>
        <p:txBody>
          <a:bodyPr wrap="square" lIns="0" rIns="0" tIns="0" bIns="0" anchor="t">
            <a:spAutoFit/>
          </a:bodyPr>
          <a:lstStyle/>
          <a:p>
            <a:pPr algn="l">
              <a:lnSpc>
                <a:spcPct val="100000"/>
              </a:lnSpc>
              <a:spcAft>
                <a:spcPts val="0"/>
              </a:spcAft>
            </a:pPr>
            <a:r>
              <a:rPr sz="800" b="0" i="0">
                <a:solidFill>
                  <a:srgbClr val="808080"/>
                </a:solidFill>
                <a:latin typeface="맑은 고딕"/>
                <a:ea typeface="맑은 고딕"/>
                <a:cs typeface="맑은 고딕"/>
              </a:rPr>
              <a:t>↳ 글자가 이어져 나오는 속도를 결정</a:t>
            </a:r>
          </a:p>
        </p:txBody>
      </p:sp>
      <p:sp>
        <p:nvSpPr>
          <p:cNvPr id="125" name="Rounded Rectangle 124"/>
          <p:cNvSpPr/>
          <p:nvPr/>
        </p:nvSpPr>
        <p:spPr>
          <a:xfrm>
            <a:off x="347472" y="2907792"/>
            <a:ext cx="6766560" cy="2157984"/>
          </a:xfrm>
          <a:prstGeom prst="roundRect">
            <a:avLst>
              <a:gd name="adj" fmla="val 35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0"/>
              </a:spcAft>
            </a:pPr>
            <a:r>
              <a:rPr sz="100" b="0" i="0">
                <a:solidFill>
                  <a:srgbClr val="000000"/>
                </a:solidFill>
                <a:latin typeface="맑은 고딕"/>
                <a:ea typeface="맑은 고딕"/>
                <a:cs typeface="맑은 고딕"/>
              </a:rPr>
              <a:t/>
            </a:r>
          </a:p>
        </p:txBody>
      </p:sp>
      <p:sp>
        <p:nvSpPr>
          <p:cNvPr id="126" name="Oval 125"/>
          <p:cNvSpPr/>
          <p:nvPr/>
        </p:nvSpPr>
        <p:spPr>
          <a:xfrm>
            <a:off x="493776" y="3044952"/>
            <a:ext cx="274320" cy="274320"/>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0"/>
              </a:spcAft>
            </a:pPr>
            <a:r>
              <a:rPr sz="1100" b="1" i="0">
                <a:solidFill>
                  <a:srgbClr val="FFFFFF"/>
                </a:solidFill>
                <a:latin typeface="맑은 고딕"/>
                <a:ea typeface="맑은 고딕"/>
                <a:cs typeface="맑은 고딕"/>
              </a:rPr>
              <a:t>2</a:t>
            </a:r>
          </a:p>
        </p:txBody>
      </p:sp>
      <p:sp>
        <p:nvSpPr>
          <p:cNvPr id="127" name="TextBox 126"/>
          <p:cNvSpPr txBox="1"/>
          <p:nvPr/>
        </p:nvSpPr>
        <p:spPr>
          <a:xfrm>
            <a:off x="841248" y="3054096"/>
            <a:ext cx="6126480" cy="274320"/>
          </a:xfrm>
          <a:prstGeom prst="rect">
            <a:avLst/>
          </a:prstGeom>
          <a:noFill/>
        </p:spPr>
        <p:txBody>
          <a:bodyPr wrap="square" lIns="0" rIns="0" tIns="0" bIns="0" anchor="ctr">
            <a:spAutoFit/>
          </a:bodyPr>
          <a:lstStyle/>
          <a:p>
            <a:pPr algn="l">
              <a:lnSpc>
                <a:spcPct val="100000"/>
              </a:lnSpc>
              <a:spcAft>
                <a:spcPts val="0"/>
              </a:spcAft>
            </a:pPr>
            <a:r>
              <a:rPr sz="1150" b="1" i="0">
                <a:solidFill>
                  <a:srgbClr val="1F3864"/>
                </a:solidFill>
                <a:latin typeface="맑은 고딕"/>
                <a:ea typeface="맑은 고딕"/>
                <a:cs typeface="맑은 고딕"/>
              </a:rPr>
              <a:t>두 단계는 필요로 하는 자원이 정반대</a:t>
            </a:r>
          </a:p>
        </p:txBody>
      </p:sp>
      <p:sp>
        <p:nvSpPr>
          <p:cNvPr id="128" name="Rounded Rectangle 127"/>
          <p:cNvSpPr/>
          <p:nvPr/>
        </p:nvSpPr>
        <p:spPr>
          <a:xfrm>
            <a:off x="1627631" y="3346704"/>
            <a:ext cx="2615184" cy="256032"/>
          </a:xfrm>
          <a:prstGeom prst="roundRect">
            <a:avLst>
              <a:gd name="adj" fmla="val 14000"/>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0"/>
              </a:spcAft>
            </a:pPr>
            <a:r>
              <a:rPr sz="950" b="1" i="0">
                <a:solidFill>
                  <a:srgbClr val="C55A11"/>
                </a:solidFill>
                <a:latin typeface="맑은 고딕"/>
                <a:ea typeface="맑은 고딕"/>
                <a:cs typeface="맑은 고딕"/>
              </a:rPr>
              <a:t>Prefill  (읽기)</a:t>
            </a:r>
          </a:p>
        </p:txBody>
      </p:sp>
      <p:sp>
        <p:nvSpPr>
          <p:cNvPr id="129" name="Rounded Rectangle 128"/>
          <p:cNvSpPr/>
          <p:nvPr/>
        </p:nvSpPr>
        <p:spPr>
          <a:xfrm>
            <a:off x="4261104" y="3346704"/>
            <a:ext cx="2651760" cy="256032"/>
          </a:xfrm>
          <a:prstGeom prst="roundRect">
            <a:avLst>
              <a:gd name="adj" fmla="val 14000"/>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0"/>
              </a:spcAft>
            </a:pPr>
            <a:r>
              <a:rPr sz="950" b="1" i="0">
                <a:solidFill>
                  <a:srgbClr val="1F3864"/>
                </a:solidFill>
                <a:latin typeface="맑은 고딕"/>
                <a:ea typeface="맑은 고딕"/>
                <a:cs typeface="맑은 고딕"/>
              </a:rPr>
              <a:t>Decode  (쓰기)</a:t>
            </a:r>
          </a:p>
        </p:txBody>
      </p:sp>
      <p:sp>
        <p:nvSpPr>
          <p:cNvPr id="130" name="TextBox 129"/>
          <p:cNvSpPr txBox="1"/>
          <p:nvPr/>
        </p:nvSpPr>
        <p:spPr>
          <a:xfrm>
            <a:off x="512064" y="3639312"/>
            <a:ext cx="1097280" cy="347472"/>
          </a:xfrm>
          <a:prstGeom prst="rect">
            <a:avLst/>
          </a:prstGeom>
          <a:noFill/>
        </p:spPr>
        <p:txBody>
          <a:bodyPr wrap="square" lIns="0" rIns="0" tIns="0" bIns="0" anchor="ctr">
            <a:spAutoFit/>
          </a:bodyPr>
          <a:lstStyle/>
          <a:p>
            <a:pPr algn="l">
              <a:lnSpc>
                <a:spcPct val="100000"/>
              </a:lnSpc>
              <a:spcAft>
                <a:spcPts val="0"/>
              </a:spcAft>
            </a:pPr>
            <a:r>
              <a:rPr sz="850" b="1" i="0">
                <a:solidFill>
                  <a:srgbClr val="595959"/>
                </a:solidFill>
                <a:latin typeface="맑은 고딕"/>
                <a:ea typeface="맑은 고딕"/>
                <a:cs typeface="맑은 고딕"/>
              </a:rPr>
              <a:t>하는 일</a:t>
            </a:r>
          </a:p>
        </p:txBody>
      </p:sp>
      <p:sp>
        <p:nvSpPr>
          <p:cNvPr id="131" name="TextBox 130"/>
          <p:cNvSpPr txBox="1"/>
          <p:nvPr/>
        </p:nvSpPr>
        <p:spPr>
          <a:xfrm>
            <a:off x="1700784" y="3639312"/>
            <a:ext cx="2468879" cy="347472"/>
          </a:xfrm>
          <a:prstGeom prst="rect">
            <a:avLst/>
          </a:prstGeom>
          <a:noFill/>
        </p:spPr>
        <p:txBody>
          <a:bodyPr wrap="square" lIns="0" rIns="0" tIns="0" bIns="0" anchor="ctr">
            <a:spAutoFit/>
          </a:bodyPr>
          <a:lstStyle/>
          <a:p>
            <a:pPr algn="l">
              <a:lnSpc>
                <a:spcPct val="115000"/>
              </a:lnSpc>
              <a:spcAft>
                <a:spcPts val="0"/>
              </a:spcAft>
            </a:pPr>
            <a:r>
              <a:rPr sz="850" b="0" i="0">
                <a:solidFill>
                  <a:srgbClr val="000000"/>
                </a:solidFill>
                <a:latin typeface="맑은 고딕"/>
                <a:ea typeface="맑은 고딕"/>
                <a:cs typeface="맑은 고딕"/>
              </a:rPr>
              <a:t>입력 전체를 한 번에 읽어
KV 캐시를 만듦</a:t>
            </a:r>
          </a:p>
        </p:txBody>
      </p:sp>
      <p:sp>
        <p:nvSpPr>
          <p:cNvPr id="132" name="TextBox 131"/>
          <p:cNvSpPr txBox="1"/>
          <p:nvPr/>
        </p:nvSpPr>
        <p:spPr>
          <a:xfrm>
            <a:off x="4334256" y="3639312"/>
            <a:ext cx="2505456" cy="347472"/>
          </a:xfrm>
          <a:prstGeom prst="rect">
            <a:avLst/>
          </a:prstGeom>
          <a:noFill/>
        </p:spPr>
        <p:txBody>
          <a:bodyPr wrap="square" lIns="0" rIns="0" tIns="0" bIns="0" anchor="ctr">
            <a:spAutoFit/>
          </a:bodyPr>
          <a:lstStyle/>
          <a:p>
            <a:pPr algn="l">
              <a:lnSpc>
                <a:spcPct val="115000"/>
              </a:lnSpc>
              <a:spcAft>
                <a:spcPts val="0"/>
              </a:spcAft>
            </a:pPr>
            <a:r>
              <a:rPr sz="850" b="0" i="0">
                <a:solidFill>
                  <a:srgbClr val="000000"/>
                </a:solidFill>
                <a:latin typeface="맑은 고딕"/>
                <a:ea typeface="맑은 고딕"/>
                <a:cs typeface="맑은 고딕"/>
              </a:rPr>
              <a:t>토큰 1개를 만들 때마다
KV 캐시 전체를 다시 읽음</a:t>
            </a:r>
          </a:p>
        </p:txBody>
      </p:sp>
      <p:cxnSp>
        <p:nvCxnSpPr>
          <p:cNvPr id="133" name="Connector 132"/>
          <p:cNvCxnSpPr/>
          <p:nvPr/>
        </p:nvCxnSpPr>
        <p:spPr>
          <a:xfrm>
            <a:off x="512064" y="4005072"/>
            <a:ext cx="643737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512064" y="4041648"/>
            <a:ext cx="1097280" cy="237744"/>
          </a:xfrm>
          <a:prstGeom prst="rect">
            <a:avLst/>
          </a:prstGeom>
          <a:noFill/>
        </p:spPr>
        <p:txBody>
          <a:bodyPr wrap="square" lIns="0" rIns="0" tIns="0" bIns="0" anchor="ctr">
            <a:spAutoFit/>
          </a:bodyPr>
          <a:lstStyle/>
          <a:p>
            <a:pPr algn="l">
              <a:lnSpc>
                <a:spcPct val="100000"/>
              </a:lnSpc>
              <a:spcAft>
                <a:spcPts val="0"/>
              </a:spcAft>
            </a:pPr>
            <a:r>
              <a:rPr sz="850" b="1" i="0">
                <a:solidFill>
                  <a:srgbClr val="595959"/>
                </a:solidFill>
                <a:latin typeface="맑은 고딕"/>
                <a:ea typeface="맑은 고딕"/>
                <a:cs typeface="맑은 고딕"/>
              </a:rPr>
              <a:t>처리 단위</a:t>
            </a:r>
          </a:p>
        </p:txBody>
      </p:sp>
      <p:sp>
        <p:nvSpPr>
          <p:cNvPr id="135" name="TextBox 134"/>
          <p:cNvSpPr txBox="1"/>
          <p:nvPr/>
        </p:nvSpPr>
        <p:spPr>
          <a:xfrm>
            <a:off x="1700784" y="4041648"/>
            <a:ext cx="2468879" cy="237744"/>
          </a:xfrm>
          <a:prstGeom prst="rect">
            <a:avLst/>
          </a:prstGeom>
          <a:noFill/>
        </p:spPr>
        <p:txBody>
          <a:bodyPr wrap="square" lIns="0" rIns="0" tIns="0" bIns="0" anchor="ctr">
            <a:spAutoFit/>
          </a:bodyPr>
          <a:lstStyle/>
          <a:p>
            <a:pPr algn="l">
              <a:lnSpc>
                <a:spcPct val="115000"/>
              </a:lnSpc>
              <a:spcAft>
                <a:spcPts val="0"/>
              </a:spcAft>
            </a:pPr>
            <a:r>
              <a:rPr sz="850" b="0" i="0">
                <a:solidFill>
                  <a:srgbClr val="000000"/>
                </a:solidFill>
                <a:latin typeface="맑은 고딕"/>
                <a:ea typeface="맑은 고딕"/>
                <a:cs typeface="맑은 고딕"/>
              </a:rPr>
              <a:t>수천 토큰을 한꺼번에 (병렬)</a:t>
            </a:r>
          </a:p>
        </p:txBody>
      </p:sp>
      <p:sp>
        <p:nvSpPr>
          <p:cNvPr id="136" name="TextBox 135"/>
          <p:cNvSpPr txBox="1"/>
          <p:nvPr/>
        </p:nvSpPr>
        <p:spPr>
          <a:xfrm>
            <a:off x="4334256" y="4041648"/>
            <a:ext cx="2505456" cy="237744"/>
          </a:xfrm>
          <a:prstGeom prst="rect">
            <a:avLst/>
          </a:prstGeom>
          <a:noFill/>
        </p:spPr>
        <p:txBody>
          <a:bodyPr wrap="square" lIns="0" rIns="0" tIns="0" bIns="0" anchor="ctr">
            <a:spAutoFit/>
          </a:bodyPr>
          <a:lstStyle/>
          <a:p>
            <a:pPr algn="l">
              <a:lnSpc>
                <a:spcPct val="115000"/>
              </a:lnSpc>
              <a:spcAft>
                <a:spcPts val="0"/>
              </a:spcAft>
            </a:pPr>
            <a:r>
              <a:rPr sz="850" b="0" i="0">
                <a:solidFill>
                  <a:srgbClr val="000000"/>
                </a:solidFill>
                <a:latin typeface="맑은 고딕"/>
                <a:ea typeface="맑은 고딕"/>
                <a:cs typeface="맑은 고딕"/>
              </a:rPr>
              <a:t>1 토큰씩 순차 반복</a:t>
            </a:r>
          </a:p>
        </p:txBody>
      </p:sp>
      <p:cxnSp>
        <p:nvCxnSpPr>
          <p:cNvPr id="137" name="Connector 136"/>
          <p:cNvCxnSpPr/>
          <p:nvPr/>
        </p:nvCxnSpPr>
        <p:spPr>
          <a:xfrm>
            <a:off x="512064" y="4297680"/>
            <a:ext cx="643737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512064" y="4334256"/>
            <a:ext cx="1097280" cy="347472"/>
          </a:xfrm>
          <a:prstGeom prst="rect">
            <a:avLst/>
          </a:prstGeom>
          <a:noFill/>
        </p:spPr>
        <p:txBody>
          <a:bodyPr wrap="square" lIns="0" rIns="0" tIns="0" bIns="0" anchor="ctr">
            <a:spAutoFit/>
          </a:bodyPr>
          <a:lstStyle/>
          <a:p>
            <a:pPr algn="l">
              <a:lnSpc>
                <a:spcPct val="100000"/>
              </a:lnSpc>
              <a:spcAft>
                <a:spcPts val="0"/>
              </a:spcAft>
            </a:pPr>
            <a:r>
              <a:rPr sz="850" b="1" i="0">
                <a:solidFill>
                  <a:srgbClr val="595959"/>
                </a:solidFill>
                <a:latin typeface="맑은 고딕"/>
                <a:ea typeface="맑은 고딕"/>
                <a:cs typeface="맑은 고딕"/>
              </a:rPr>
              <a:t>병목 자원</a:t>
            </a:r>
          </a:p>
        </p:txBody>
      </p:sp>
      <p:sp>
        <p:nvSpPr>
          <p:cNvPr id="139" name="TextBox 138"/>
          <p:cNvSpPr txBox="1"/>
          <p:nvPr/>
        </p:nvSpPr>
        <p:spPr>
          <a:xfrm>
            <a:off x="1700784" y="4334256"/>
            <a:ext cx="2468879" cy="347472"/>
          </a:xfrm>
          <a:prstGeom prst="rect">
            <a:avLst/>
          </a:prstGeom>
          <a:noFill/>
        </p:spPr>
        <p:txBody>
          <a:bodyPr wrap="square" lIns="0" rIns="0" tIns="0" bIns="0" anchor="ctr">
            <a:spAutoFit/>
          </a:bodyPr>
          <a:lstStyle/>
          <a:p>
            <a:pPr algn="l">
              <a:lnSpc>
                <a:spcPct val="115000"/>
              </a:lnSpc>
              <a:spcAft>
                <a:spcPts val="0"/>
              </a:spcAft>
            </a:pPr>
            <a:r>
              <a:rPr sz="850" b="1" i="0">
                <a:solidFill>
                  <a:srgbClr val="C55A11"/>
                </a:solidFill>
                <a:latin typeface="맑은 고딕"/>
                <a:ea typeface="맑은 고딕"/>
                <a:cs typeface="맑은 고딕"/>
              </a:rPr>
              <a:t>GPU 연산기
(Compute-bound)</a:t>
            </a:r>
          </a:p>
        </p:txBody>
      </p:sp>
      <p:sp>
        <p:nvSpPr>
          <p:cNvPr id="140" name="TextBox 139"/>
          <p:cNvSpPr txBox="1"/>
          <p:nvPr/>
        </p:nvSpPr>
        <p:spPr>
          <a:xfrm>
            <a:off x="4334256" y="4334256"/>
            <a:ext cx="2505456" cy="347472"/>
          </a:xfrm>
          <a:prstGeom prst="rect">
            <a:avLst/>
          </a:prstGeom>
          <a:noFill/>
        </p:spPr>
        <p:txBody>
          <a:bodyPr wrap="square" lIns="0" rIns="0" tIns="0" bIns="0" anchor="ctr">
            <a:spAutoFit/>
          </a:bodyPr>
          <a:lstStyle/>
          <a:p>
            <a:pPr algn="l">
              <a:lnSpc>
                <a:spcPct val="115000"/>
              </a:lnSpc>
              <a:spcAft>
                <a:spcPts val="0"/>
              </a:spcAft>
            </a:pPr>
            <a:r>
              <a:rPr sz="850" b="1" i="0">
                <a:solidFill>
                  <a:srgbClr val="1F3864"/>
                </a:solidFill>
                <a:latin typeface="맑은 고딕"/>
                <a:ea typeface="맑은 고딕"/>
                <a:cs typeface="맑은 고딕"/>
              </a:rPr>
              <a:t>메모리 대역폭
(Memory-bound)</a:t>
            </a:r>
          </a:p>
        </p:txBody>
      </p:sp>
      <p:cxnSp>
        <p:nvCxnSpPr>
          <p:cNvPr id="141" name="Connector 140"/>
          <p:cNvCxnSpPr/>
          <p:nvPr/>
        </p:nvCxnSpPr>
        <p:spPr>
          <a:xfrm>
            <a:off x="512064" y="4700016"/>
            <a:ext cx="643737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512064" y="4736592"/>
            <a:ext cx="1097280" cy="237744"/>
          </a:xfrm>
          <a:prstGeom prst="rect">
            <a:avLst/>
          </a:prstGeom>
          <a:noFill/>
        </p:spPr>
        <p:txBody>
          <a:bodyPr wrap="square" lIns="0" rIns="0" tIns="0" bIns="0" anchor="ctr">
            <a:spAutoFit/>
          </a:bodyPr>
          <a:lstStyle/>
          <a:p>
            <a:pPr algn="l">
              <a:lnSpc>
                <a:spcPct val="100000"/>
              </a:lnSpc>
              <a:spcAft>
                <a:spcPts val="0"/>
              </a:spcAft>
            </a:pPr>
            <a:r>
              <a:rPr sz="850" b="1" i="0">
                <a:solidFill>
                  <a:srgbClr val="595959"/>
                </a:solidFill>
                <a:latin typeface="맑은 고딕"/>
                <a:ea typeface="맑은 고딕"/>
                <a:cs typeface="맑은 고딕"/>
              </a:rPr>
              <a:t>사용자 체감</a:t>
            </a:r>
          </a:p>
        </p:txBody>
      </p:sp>
      <p:sp>
        <p:nvSpPr>
          <p:cNvPr id="143" name="TextBox 142"/>
          <p:cNvSpPr txBox="1"/>
          <p:nvPr/>
        </p:nvSpPr>
        <p:spPr>
          <a:xfrm>
            <a:off x="1700784" y="4736592"/>
            <a:ext cx="2468879" cy="237744"/>
          </a:xfrm>
          <a:prstGeom prst="rect">
            <a:avLst/>
          </a:prstGeom>
          <a:noFill/>
        </p:spPr>
        <p:txBody>
          <a:bodyPr wrap="square" lIns="0" rIns="0" tIns="0" bIns="0" anchor="ctr">
            <a:spAutoFit/>
          </a:bodyPr>
          <a:lstStyle/>
          <a:p>
            <a:pPr algn="l">
              <a:lnSpc>
                <a:spcPct val="115000"/>
              </a:lnSpc>
              <a:spcAft>
                <a:spcPts val="0"/>
              </a:spcAft>
            </a:pPr>
            <a:r>
              <a:rPr sz="850" b="0" i="0">
                <a:solidFill>
                  <a:srgbClr val="000000"/>
                </a:solidFill>
                <a:latin typeface="맑은 고딕"/>
                <a:ea typeface="맑은 고딕"/>
                <a:cs typeface="맑은 고딕"/>
              </a:rPr>
              <a:t>첫 글자까지의 대기 시간</a:t>
            </a:r>
          </a:p>
        </p:txBody>
      </p:sp>
      <p:sp>
        <p:nvSpPr>
          <p:cNvPr id="144" name="TextBox 143"/>
          <p:cNvSpPr txBox="1"/>
          <p:nvPr/>
        </p:nvSpPr>
        <p:spPr>
          <a:xfrm>
            <a:off x="4334256" y="4736592"/>
            <a:ext cx="2505456" cy="237744"/>
          </a:xfrm>
          <a:prstGeom prst="rect">
            <a:avLst/>
          </a:prstGeom>
          <a:noFill/>
        </p:spPr>
        <p:txBody>
          <a:bodyPr wrap="square" lIns="0" rIns="0" tIns="0" bIns="0" anchor="ctr">
            <a:spAutoFit/>
          </a:bodyPr>
          <a:lstStyle/>
          <a:p>
            <a:pPr algn="l">
              <a:lnSpc>
                <a:spcPct val="115000"/>
              </a:lnSpc>
              <a:spcAft>
                <a:spcPts val="0"/>
              </a:spcAft>
            </a:pPr>
            <a:r>
              <a:rPr sz="850" b="0" i="0">
                <a:solidFill>
                  <a:srgbClr val="000000"/>
                </a:solidFill>
                <a:latin typeface="맑은 고딕"/>
                <a:ea typeface="맑은 고딕"/>
                <a:cs typeface="맑은 고딕"/>
              </a:rPr>
              <a:t>글자가 이어지는 속도</a:t>
            </a:r>
          </a:p>
        </p:txBody>
      </p:sp>
      <p:sp>
        <p:nvSpPr>
          <p:cNvPr id="145" name="Rounded Rectangle 144"/>
          <p:cNvSpPr/>
          <p:nvPr/>
        </p:nvSpPr>
        <p:spPr>
          <a:xfrm>
            <a:off x="7342631" y="2907792"/>
            <a:ext cx="4498848" cy="2157984"/>
          </a:xfrm>
          <a:prstGeom prst="roundRect">
            <a:avLst>
              <a:gd name="adj" fmla="val 35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0"/>
              </a:spcAft>
            </a:pPr>
            <a:r>
              <a:rPr sz="100" b="0" i="0">
                <a:solidFill>
                  <a:srgbClr val="000000"/>
                </a:solidFill>
                <a:latin typeface="맑은 고딕"/>
                <a:ea typeface="맑은 고딕"/>
                <a:cs typeface="맑은 고딕"/>
              </a:rPr>
              <a:t/>
            </a:r>
          </a:p>
        </p:txBody>
      </p:sp>
      <p:sp>
        <p:nvSpPr>
          <p:cNvPr id="146" name="Oval 145"/>
          <p:cNvSpPr/>
          <p:nvPr/>
        </p:nvSpPr>
        <p:spPr>
          <a:xfrm>
            <a:off x="7488936" y="3044952"/>
            <a:ext cx="274320" cy="274320"/>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0"/>
              </a:spcAft>
            </a:pPr>
            <a:r>
              <a:rPr sz="1100" b="1" i="0">
                <a:solidFill>
                  <a:srgbClr val="FFFFFF"/>
                </a:solidFill>
                <a:latin typeface="맑은 고딕"/>
                <a:ea typeface="맑은 고딕"/>
                <a:cs typeface="맑은 고딕"/>
              </a:rPr>
              <a:t>3</a:t>
            </a:r>
          </a:p>
        </p:txBody>
      </p:sp>
      <p:sp>
        <p:nvSpPr>
          <p:cNvPr id="147" name="TextBox 146"/>
          <p:cNvSpPr txBox="1"/>
          <p:nvPr/>
        </p:nvSpPr>
        <p:spPr>
          <a:xfrm>
            <a:off x="7836408" y="3054096"/>
            <a:ext cx="3858768" cy="274320"/>
          </a:xfrm>
          <a:prstGeom prst="rect">
            <a:avLst/>
          </a:prstGeom>
          <a:noFill/>
        </p:spPr>
        <p:txBody>
          <a:bodyPr wrap="square" lIns="0" rIns="0" tIns="0" bIns="0" anchor="ctr">
            <a:spAutoFit/>
          </a:bodyPr>
          <a:lstStyle/>
          <a:p>
            <a:pPr algn="l">
              <a:lnSpc>
                <a:spcPct val="100000"/>
              </a:lnSpc>
              <a:spcAft>
                <a:spcPts val="0"/>
              </a:spcAft>
            </a:pPr>
            <a:r>
              <a:rPr sz="1150" b="1" i="0">
                <a:solidFill>
                  <a:srgbClr val="1F3864"/>
                </a:solidFill>
                <a:latin typeface="맑은 고딕"/>
                <a:ea typeface="맑은 고딕"/>
                <a:cs typeface="맑은 고딕"/>
              </a:rPr>
              <a:t>그래서 P / D 노드를 분리함</a:t>
            </a:r>
          </a:p>
        </p:txBody>
      </p:sp>
      <p:sp>
        <p:nvSpPr>
          <p:cNvPr id="148" name="Rounded Rectangle 147"/>
          <p:cNvSpPr/>
          <p:nvPr/>
        </p:nvSpPr>
        <p:spPr>
          <a:xfrm>
            <a:off x="7543800" y="3419856"/>
            <a:ext cx="1737360" cy="603504"/>
          </a:xfrm>
          <a:prstGeom prst="roundRect">
            <a:avLst>
              <a:gd name="adj" fmla="val 8000"/>
            </a:avLst>
          </a:prstGeom>
          <a:solidFill>
            <a:srgbClr val="FBE5D6"/>
          </a:solidFill>
          <a:ln w="952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100"/>
              </a:spcAft>
            </a:pPr>
            <a:r>
              <a:rPr sz="1050" b="1" i="0">
                <a:solidFill>
                  <a:srgbClr val="C55A11"/>
                </a:solidFill>
                <a:latin typeface="맑은 고딕"/>
                <a:ea typeface="맑은 고딕"/>
                <a:cs typeface="맑은 고딕"/>
              </a:rPr>
              <a:t>P 노드</a:t>
            </a:r>
          </a:p>
          <a:p>
            <a:pPr algn="ctr">
              <a:lnSpc>
                <a:spcPct val="100000"/>
              </a:lnSpc>
              <a:spcAft>
                <a:spcPts val="0"/>
              </a:spcAft>
            </a:pPr>
            <a:r>
              <a:rPr sz="800" b="0" i="0">
                <a:solidFill>
                  <a:srgbClr val="595959"/>
                </a:solidFill>
                <a:latin typeface="맑은 고딕"/>
                <a:ea typeface="맑은 고딕"/>
                <a:cs typeface="맑은 고딕"/>
              </a:rPr>
              <a:t>Prefill 전용</a:t>
            </a:r>
          </a:p>
        </p:txBody>
      </p:sp>
      <p:sp>
        <p:nvSpPr>
          <p:cNvPr id="149" name="Right Arrow 148"/>
          <p:cNvSpPr/>
          <p:nvPr/>
        </p:nvSpPr>
        <p:spPr>
          <a:xfrm>
            <a:off x="9390888" y="3639312"/>
            <a:ext cx="402336" cy="164592"/>
          </a:xfrm>
          <a:prstGeom prst="rightArrow">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0"/>
              </a:spcAft>
            </a:pPr>
            <a:r>
              <a:rPr sz="100" b="0" i="0">
                <a:solidFill>
                  <a:srgbClr val="000000"/>
                </a:solidFill>
                <a:latin typeface="맑은 고딕"/>
                <a:ea typeface="맑은 고딕"/>
                <a:cs typeface="맑은 고딕"/>
              </a:rPr>
              <a:t/>
            </a:r>
          </a:p>
        </p:txBody>
      </p:sp>
      <p:sp>
        <p:nvSpPr>
          <p:cNvPr id="150" name="Rounded Rectangle 149"/>
          <p:cNvSpPr/>
          <p:nvPr/>
        </p:nvSpPr>
        <p:spPr>
          <a:xfrm>
            <a:off x="9902951" y="3419856"/>
            <a:ext cx="1737360" cy="603504"/>
          </a:xfrm>
          <a:prstGeom prst="roundRect">
            <a:avLst>
              <a:gd name="adj" fmla="val 8000"/>
            </a:avLst>
          </a:prstGeom>
          <a:solidFill>
            <a:srgbClr val="DEEBF7"/>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100"/>
              </a:spcAft>
            </a:pPr>
            <a:r>
              <a:rPr sz="1050" b="1" i="0">
                <a:solidFill>
                  <a:srgbClr val="1F3864"/>
                </a:solidFill>
                <a:latin typeface="맑은 고딕"/>
                <a:ea typeface="맑은 고딕"/>
                <a:cs typeface="맑은 고딕"/>
              </a:rPr>
              <a:t>D 노드</a:t>
            </a:r>
          </a:p>
          <a:p>
            <a:pPr algn="ctr">
              <a:lnSpc>
                <a:spcPct val="100000"/>
              </a:lnSpc>
              <a:spcAft>
                <a:spcPts val="0"/>
              </a:spcAft>
            </a:pPr>
            <a:r>
              <a:rPr sz="800" b="0" i="0">
                <a:solidFill>
                  <a:srgbClr val="595959"/>
                </a:solidFill>
                <a:latin typeface="맑은 고딕"/>
                <a:ea typeface="맑은 고딕"/>
                <a:cs typeface="맑은 고딕"/>
              </a:rPr>
              <a:t>Decode 전용</a:t>
            </a:r>
          </a:p>
        </p:txBody>
      </p:sp>
      <p:sp>
        <p:nvSpPr>
          <p:cNvPr id="151" name="TextBox 150"/>
          <p:cNvSpPr txBox="1"/>
          <p:nvPr/>
        </p:nvSpPr>
        <p:spPr>
          <a:xfrm>
            <a:off x="9262872" y="3822192"/>
            <a:ext cx="658368" cy="182880"/>
          </a:xfrm>
          <a:prstGeom prst="rect">
            <a:avLst/>
          </a:prstGeom>
          <a:noFill/>
        </p:spPr>
        <p:txBody>
          <a:bodyPr wrap="square" lIns="0" rIns="0" tIns="0" bIns="0" anchor="t">
            <a:spAutoFit/>
          </a:bodyPr>
          <a:lstStyle/>
          <a:p>
            <a:pPr algn="ctr">
              <a:lnSpc>
                <a:spcPct val="100000"/>
              </a:lnSpc>
              <a:spcAft>
                <a:spcPts val="0"/>
              </a:spcAft>
            </a:pPr>
            <a:r>
              <a:rPr sz="700" b="0" i="0">
                <a:solidFill>
                  <a:srgbClr val="2E75B6"/>
                </a:solidFill>
                <a:latin typeface="맑은 고딕"/>
                <a:ea typeface="맑은 고딕"/>
                <a:cs typeface="맑은 고딕"/>
              </a:rPr>
              <a:t>KV 캐시</a:t>
            </a:r>
          </a:p>
        </p:txBody>
      </p:sp>
      <p:sp>
        <p:nvSpPr>
          <p:cNvPr id="152" name="TextBox 151"/>
          <p:cNvSpPr txBox="1"/>
          <p:nvPr/>
        </p:nvSpPr>
        <p:spPr>
          <a:xfrm>
            <a:off x="7543800" y="4169664"/>
            <a:ext cx="4096511" cy="786384"/>
          </a:xfrm>
          <a:prstGeom prst="rect">
            <a:avLst/>
          </a:prstGeom>
          <a:noFill/>
        </p:spPr>
        <p:txBody>
          <a:bodyPr wrap="square" lIns="0" rIns="0" tIns="0" bIns="0" anchor="t">
            <a:spAutoFit/>
          </a:bodyPr>
          <a:lstStyle/>
          <a:p>
            <a:pPr algn="l">
              <a:lnSpc>
                <a:spcPct val="120000"/>
              </a:lnSpc>
              <a:spcAft>
                <a:spcPts val="400"/>
              </a:spcAft>
            </a:pPr>
            <a:r>
              <a:rPr sz="900" b="0" i="0">
                <a:solidFill>
                  <a:srgbClr val="000000"/>
                </a:solidFill>
                <a:latin typeface="맑은 고딕"/>
                <a:ea typeface="맑은 고딕"/>
                <a:cs typeface="맑은 고딕"/>
              </a:rPr>
              <a:t>• 같은 GPU에서 섞으면 </a:t>
            </a:r>
            <a:r>
              <a:rPr sz="900" b="1" i="0">
                <a:solidFill>
                  <a:srgbClr val="C00000"/>
                </a:solidFill>
                <a:latin typeface="맑은 고딕"/>
                <a:ea typeface="맑은 고딕"/>
                <a:cs typeface="맑은 고딕"/>
              </a:rPr>
              <a:t>긴 Prefill이 진행 중인 Decode를 멈춰 세움</a:t>
            </a:r>
          </a:p>
          <a:p>
            <a:pPr algn="l">
              <a:lnSpc>
                <a:spcPct val="120000"/>
              </a:lnSpc>
              <a:spcAft>
                <a:spcPts val="0"/>
              </a:spcAft>
            </a:pPr>
            <a:r>
              <a:rPr sz="900" b="0" i="0">
                <a:solidFill>
                  <a:srgbClr val="000000"/>
                </a:solidFill>
                <a:latin typeface="맑은 고딕"/>
                <a:ea typeface="맑은 고딕"/>
                <a:cs typeface="맑은 고딕"/>
              </a:rPr>
              <a:t>• 나누면 대신 </a:t>
            </a:r>
            <a:r>
              <a:rPr sz="900" b="1" i="0">
                <a:solidFill>
                  <a:srgbClr val="2E75B6"/>
                </a:solidFill>
                <a:latin typeface="맑은 고딕"/>
                <a:ea typeface="맑은 고딕"/>
                <a:cs typeface="맑은 고딕"/>
              </a:rPr>
              <a:t>KV 캐시를 노드 간에 옮기는 전송 비용</a:t>
            </a:r>
            <a:r>
              <a:rPr sz="900" b="0" i="0">
                <a:solidFill>
                  <a:srgbClr val="000000"/>
                </a:solidFill>
                <a:latin typeface="맑은 고딕"/>
                <a:ea typeface="맑은 고딕"/>
                <a:cs typeface="맑은 고딕"/>
              </a:rPr>
              <a:t>이 새로 생김</a:t>
            </a:r>
          </a:p>
        </p:txBody>
      </p:sp>
      <p:sp>
        <p:nvSpPr>
          <p:cNvPr id="153" name="Rounded Rectangle 152"/>
          <p:cNvSpPr/>
          <p:nvPr/>
        </p:nvSpPr>
        <p:spPr>
          <a:xfrm>
            <a:off x="347472" y="5230368"/>
            <a:ext cx="11494008" cy="804672"/>
          </a:xfrm>
          <a:prstGeom prst="roundRect">
            <a:avLst>
              <a:gd name="adj" fmla="val 8000"/>
            </a:avLst>
          </a:prstGeom>
          <a:solidFill>
            <a:srgbClr val="EAF1F8"/>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0"/>
              </a:spcAft>
            </a:pPr>
            <a:r>
              <a:rPr sz="100" b="0" i="0">
                <a:solidFill>
                  <a:srgbClr val="000000"/>
                </a:solidFill>
                <a:latin typeface="맑은 고딕"/>
                <a:ea typeface="맑은 고딕"/>
                <a:cs typeface="맑은 고딕"/>
              </a:rPr>
              <a:t/>
            </a:r>
          </a:p>
        </p:txBody>
      </p:sp>
      <p:sp>
        <p:nvSpPr>
          <p:cNvPr id="154" name="Rounded Rectangle 153"/>
          <p:cNvSpPr/>
          <p:nvPr/>
        </p:nvSpPr>
        <p:spPr>
          <a:xfrm>
            <a:off x="530352" y="5449824"/>
            <a:ext cx="658368" cy="365760"/>
          </a:xfrm>
          <a:prstGeom prst="roundRect">
            <a:avLst>
              <a:gd name="adj" fmla="val 2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0"/>
              </a:spcAft>
            </a:pPr>
            <a:r>
              <a:rPr sz="1100" b="1" i="0">
                <a:solidFill>
                  <a:srgbClr val="FFFFFF"/>
                </a:solidFill>
                <a:latin typeface="맑은 고딕"/>
                <a:ea typeface="맑은 고딕"/>
                <a:cs typeface="맑은 고딕"/>
              </a:rPr>
              <a:t>DP2</a:t>
            </a:r>
          </a:p>
        </p:txBody>
      </p:sp>
      <p:sp>
        <p:nvSpPr>
          <p:cNvPr id="155" name="TextBox 154"/>
          <p:cNvSpPr txBox="1"/>
          <p:nvPr/>
        </p:nvSpPr>
        <p:spPr>
          <a:xfrm>
            <a:off x="1353312" y="5340096"/>
            <a:ext cx="10332720" cy="585216"/>
          </a:xfrm>
          <a:prstGeom prst="rect">
            <a:avLst/>
          </a:prstGeom>
          <a:noFill/>
        </p:spPr>
        <p:txBody>
          <a:bodyPr wrap="square" lIns="0" rIns="0" tIns="0" bIns="0" anchor="ctr">
            <a:spAutoFit/>
          </a:bodyPr>
          <a:lstStyle/>
          <a:p>
            <a:pPr algn="l">
              <a:lnSpc>
                <a:spcPct val="100000"/>
              </a:lnSpc>
              <a:spcAft>
                <a:spcPts val="200"/>
              </a:spcAft>
            </a:pPr>
            <a:r>
              <a:rPr sz="1150" b="1" i="0">
                <a:solidFill>
                  <a:srgbClr val="1F3864"/>
                </a:solidFill>
                <a:latin typeface="맑은 고딕"/>
                <a:ea typeface="맑은 고딕"/>
                <a:cs typeface="맑은 고딕"/>
              </a:rPr>
              <a:t>Prefill은 P 노드가 기본이지만, 상황에 따라 D 노드에서 바로 처리하는 편이 유리할 수도 있음</a:t>
            </a:r>
          </a:p>
          <a:p>
            <a:pPr algn="l">
              <a:lnSpc>
                <a:spcPct val="100000"/>
              </a:lnSpc>
              <a:spcAft>
                <a:spcPts val="0"/>
              </a:spcAft>
            </a:pPr>
            <a:r>
              <a:rPr sz="1100" b="0" i="0">
                <a:solidFill>
                  <a:srgbClr val="000000"/>
                </a:solidFill>
                <a:latin typeface="맑은 고딕"/>
                <a:ea typeface="맑은 고딕"/>
                <a:cs typeface="맑은 고딕"/>
              </a:rPr>
              <a:t>→ 입력 크기 · KV 캐시 위치 · 노드 부하를 보고 </a:t>
            </a:r>
            <a:r>
              <a:rPr sz="1100" b="1" i="0">
                <a:solidFill>
                  <a:srgbClr val="2E75B6"/>
                </a:solidFill>
                <a:latin typeface="맑은 고딕"/>
                <a:ea typeface="맑은 고딕"/>
                <a:cs typeface="맑은 고딕"/>
              </a:rPr>
              <a:t>매 요청마다 Prefill을 어디서 실행할 것인가</a:t>
            </a:r>
            <a:r>
              <a:rPr sz="1100" b="0" i="0">
                <a:solidFill>
                  <a:srgbClr val="000000"/>
                </a:solidFill>
                <a:latin typeface="맑은 고딕"/>
                <a:ea typeface="맑은 고딕"/>
                <a:cs typeface="맑은 고딕"/>
              </a:rPr>
              <a:t>  ← DP2가 푸는 문제</a:t>
            </a:r>
          </a:p>
        </p:txBody>
      </p:sp>
    </p:spTree>
    <p:extLst>
      <p:ext uri="{BB962C8B-B14F-4D97-AF65-F5344CB8AC3E}">
        <p14:creationId xmlns:p14="http://schemas.microsoft.com/office/powerpoint/2010/main" val="71095786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234949" y="137379"/>
            <a:ext cx="8128859" cy="365125"/>
          </a:xfrm>
        </p:spPr>
        <p:txBody>
          <a:bodyPr/>
          <a:lstStyle/>
          <a:p>
            <a:r>
              <a:rPr lang="en-US" altLang="ko-KR" dirty="0" smtClean="0"/>
              <a:t>DP2. </a:t>
            </a:r>
            <a:r>
              <a:rPr lang="ko-KR" altLang="en-US" dirty="0" smtClean="0"/>
              <a:t>이기종 메모리 환경의 </a:t>
            </a:r>
            <a:r>
              <a:rPr lang="en-US" altLang="ko-KR" dirty="0" smtClean="0"/>
              <a:t>Prefill </a:t>
            </a:r>
            <a:r>
              <a:rPr lang="ko-KR" altLang="en-US" dirty="0" smtClean="0"/>
              <a:t>실행 위치 결정 구조 </a:t>
            </a:r>
            <a:r>
              <a:rPr lang="en-US" altLang="ko-KR" dirty="0" smtClean="0"/>
              <a:t>- </a:t>
            </a:r>
            <a:r>
              <a:rPr lang="en-US" altLang="ko-KR" dirty="0" smtClean="0"/>
              <a:t>배경</a:t>
            </a:r>
          </a:p>
        </p:txBody>
      </p:sp>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29</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001" name="DP2 9001"/>
          <p:cNvSpPr/>
          <p:nvPr/>
        </p:nvSpPr>
        <p:spPr>
          <a:xfrm>
            <a:off x="347472" y="629107"/>
            <a:ext cx="1179576" cy="301752"/>
          </a:xfrm>
          <a:prstGeom prst="roundRect">
            <a:avLst/>
          </a:prstGeom>
          <a:solidFill>
            <a:srgbClr val="A8C6E8"/>
          </a:solidFill>
          <a:ln w="9525">
            <a:solidFill>
              <a:srgbClr val="2E75B6"/>
            </a:solidFill>
            <a:prstDash val="solid"/>
          </a:ln>
        </p:spPr>
        <p:txBody>
          <a:bodyPr wrap="square" lIns="27432" tIns="7315" rIns="27432" bIns="7315" anchor="ctr">
            <a:normAutofit/>
          </a:bodyPr>
          <a:lstStyle/>
          <a:p>
            <a:pPr algn="ctr">
              <a:lnSpc>
                <a:spcPct val="90000"/>
              </a:lnSpc>
            </a:pPr>
            <a:r>
              <a:rPr lang="ko-KR" altLang="en-US" sz="1150" b="1" i="0" dirty="0">
                <a:solidFill>
                  <a:srgbClr val="1F3864"/>
                </a:solidFill>
                <a:latin typeface="맑은 고딕" panose="020B0503020000020004" pitchFamily="50" charset="-127"/>
                <a:ea typeface="맑은 고딕" panose="020B0503020000020004" pitchFamily="50" charset="-127"/>
              </a:rPr>
              <a:t>문제 정의</a:t>
            </a:r>
          </a:p>
        </p:txBody>
      </p:sp>
      <p:sp>
        <p:nvSpPr>
          <p:cNvPr id="9013" name="DP2 9013"/>
          <p:cNvSpPr/>
          <p:nvPr/>
        </p:nvSpPr>
        <p:spPr>
          <a:xfrm>
            <a:off x="421320" y="1901952"/>
            <a:ext cx="256032" cy="256032"/>
          </a:xfrm>
          <a:prstGeom prst="rect">
            <a:avLst/>
          </a:prstGeom>
          <a:noFill/>
          <a:ln>
            <a:noFill/>
          </a:ln>
        </p:spPr>
        <p:txBody>
          <a:bodyPr wrap="square" lIns="9144" tIns="7315" rIns="9144" bIns="7315" anchor="ctr">
            <a:normAutofit/>
          </a:bodyPr>
          <a:lstStyle/>
          <a:p>
            <a:pPr algn="l">
              <a:lnSpc>
                <a:spcPct val="90000"/>
              </a:lnSpc>
            </a:pPr>
            <a:endParaRPr lang="ko-KR" altLang="en-US" sz="1200" b="1" i="0" dirty="0">
              <a:solidFill>
                <a:srgbClr val="0066FF"/>
              </a:solidFill>
              <a:latin typeface="맑은 고딕" panose="020B0503020000020004" pitchFamily="50" charset="-127"/>
              <a:ea typeface="맑은 고딕" panose="020B0503020000020004" pitchFamily="50" charset="-127"/>
            </a:endParaRPr>
          </a:p>
        </p:txBody>
      </p:sp>
      <p:sp>
        <p:nvSpPr>
          <p:cNvPr id="9014" name="DP2 9014"/>
          <p:cNvSpPr/>
          <p:nvPr/>
        </p:nvSpPr>
        <p:spPr>
          <a:xfrm>
            <a:off x="355805" y="1920494"/>
            <a:ext cx="9603535" cy="256032"/>
          </a:xfrm>
          <a:prstGeom prst="rect">
            <a:avLst/>
          </a:prstGeom>
          <a:noFill/>
          <a:ln>
            <a:noFill/>
          </a:ln>
        </p:spPr>
        <p:txBody>
          <a:bodyPr wrap="square" lIns="9144" tIns="7315" rIns="9144" bIns="7315" anchor="ctr">
            <a:noAutofit/>
          </a:bodyPr>
          <a:lstStyle/>
          <a:p>
            <a:pPr>
              <a:lnSpc>
                <a:spcPct val="90000"/>
              </a:lnSpc>
            </a:pPr>
            <a:r>
              <a:rPr lang="ko-KR" altLang="en-US" sz="1200" b="1" dirty="0" smtClean="0">
                <a:solidFill>
                  <a:srgbClr val="0066FF"/>
                </a:solidFill>
                <a:latin typeface="맑은 고딕" panose="020B0503020000020004" pitchFamily="50" charset="-127"/>
              </a:rPr>
              <a:t>→</a:t>
            </a:r>
            <a:r>
              <a:rPr lang="en-US" altLang="ko-KR" sz="1200" b="1" i="0" dirty="0" smtClean="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 </a:t>
            </a:r>
            <a:r>
              <a:rPr lang="en-US" altLang="ko-KR" sz="1200" b="1" i="0" dirty="0" smtClean="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Agent </a:t>
            </a:r>
            <a:r>
              <a:rPr lang="ko-KR" altLang="en-US" sz="1200" b="1" dirty="0" smtClean="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워크로드</a:t>
            </a:r>
            <a:r>
              <a:rPr lang="en-US" altLang="ko-KR" sz="1200" b="1" dirty="0" smtClean="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 </a:t>
            </a:r>
            <a:r>
              <a:rPr lang="en-US" altLang="ko-KR" sz="1200" b="1" dirty="0" smtClean="0">
                <a:solidFill>
                  <a:srgbClr val="0066FF"/>
                </a:solidFill>
                <a:latin typeface="맑은 고딕" panose="020B0503020000020004" pitchFamily="50" charset="-127"/>
                <a:sym typeface="Wingdings" panose="05000000000000000000" pitchFamily="2" charset="2"/>
              </a:rPr>
              <a:t>KV </a:t>
            </a:r>
            <a:r>
              <a:rPr lang="ko-KR" altLang="en-US" sz="1200" b="1" dirty="0">
                <a:solidFill>
                  <a:srgbClr val="0066FF"/>
                </a:solidFill>
                <a:latin typeface="맑은 고딕" panose="020B0503020000020004" pitchFamily="50" charset="-127"/>
                <a:sym typeface="Wingdings" panose="05000000000000000000" pitchFamily="2" charset="2"/>
              </a:rPr>
              <a:t>배치 </a:t>
            </a:r>
            <a:r>
              <a:rPr lang="ko-KR" altLang="en-US" sz="1200" b="1" dirty="0" smtClean="0">
                <a:solidFill>
                  <a:srgbClr val="0066FF"/>
                </a:solidFill>
                <a:latin typeface="맑은 고딕" panose="020B0503020000020004" pitchFamily="50" charset="-127"/>
                <a:sym typeface="Wingdings" panose="05000000000000000000" pitchFamily="2" charset="2"/>
              </a:rPr>
              <a:t>및 </a:t>
            </a:r>
            <a:r>
              <a:rPr lang="en-US" altLang="ko-KR" sz="1200" b="1" dirty="0" smtClean="0">
                <a:solidFill>
                  <a:srgbClr val="0066FF"/>
                </a:solidFill>
                <a:latin typeface="맑은 고딕" panose="020B0503020000020004" pitchFamily="50" charset="-127"/>
                <a:sym typeface="Wingdings" panose="05000000000000000000" pitchFamily="2" charset="2"/>
              </a:rPr>
              <a:t>Runtime </a:t>
            </a:r>
            <a:r>
              <a:rPr lang="ko-KR" altLang="en-US" sz="1200" b="1" dirty="0">
                <a:solidFill>
                  <a:srgbClr val="0066FF"/>
                </a:solidFill>
                <a:latin typeface="맑은 고딕" panose="020B0503020000020004" pitchFamily="50" charset="-127"/>
                <a:sym typeface="Wingdings" panose="05000000000000000000" pitchFamily="2" charset="2"/>
              </a:rPr>
              <a:t>상태를 고려하여 </a:t>
            </a:r>
            <a:r>
              <a:rPr lang="en-US" altLang="ko-KR" sz="1200" b="1" dirty="0" smtClean="0">
                <a:solidFill>
                  <a:srgbClr val="0066FF"/>
                </a:solidFill>
                <a:latin typeface="맑은 고딕" panose="020B0503020000020004" pitchFamily="50" charset="-127"/>
                <a:sym typeface="Wingdings" panose="05000000000000000000" pitchFamily="2" charset="2"/>
              </a:rPr>
              <a:t>Prefill</a:t>
            </a:r>
            <a:r>
              <a:rPr lang="ko-KR" altLang="en-US" sz="1200" b="1" dirty="0" smtClean="0">
                <a:solidFill>
                  <a:srgbClr val="0066FF"/>
                </a:solidFill>
                <a:latin typeface="맑은 고딕" panose="020B0503020000020004" pitchFamily="50" charset="-127"/>
                <a:sym typeface="Wingdings" panose="05000000000000000000" pitchFamily="2" charset="2"/>
              </a:rPr>
              <a:t>의 </a:t>
            </a:r>
            <a:r>
              <a:rPr lang="ko-KR" altLang="en-US" sz="1200" b="1" dirty="0">
                <a:solidFill>
                  <a:srgbClr val="0066FF"/>
                </a:solidFill>
                <a:latin typeface="맑은 고딕" panose="020B0503020000020004" pitchFamily="50" charset="-127"/>
                <a:sym typeface="Wingdings" panose="05000000000000000000" pitchFamily="2" charset="2"/>
              </a:rPr>
              <a:t>실행 위치를 동적으로 결정하는 구조 </a:t>
            </a:r>
            <a:r>
              <a:rPr lang="ko-KR" altLang="en-US" sz="1200" b="1" dirty="0" smtClean="0">
                <a:solidFill>
                  <a:srgbClr val="0066FF"/>
                </a:solidFill>
                <a:latin typeface="맑은 고딕" panose="020B0503020000020004" pitchFamily="50" charset="-127"/>
                <a:sym typeface="Wingdings" panose="05000000000000000000" pitchFamily="2" charset="2"/>
              </a:rPr>
              <a:t>필요</a:t>
            </a:r>
            <a:endParaRPr lang="ko-KR" altLang="en-US" sz="1200" b="1" i="0" dirty="0">
              <a:solidFill>
                <a:srgbClr val="0066FF"/>
              </a:solidFill>
              <a:latin typeface="맑은 고딕" panose="020B0503020000020004" pitchFamily="50" charset="-127"/>
              <a:ea typeface="맑은 고딕" panose="020B0503020000020004" pitchFamily="50" charset="-127"/>
            </a:endParaRPr>
          </a:p>
        </p:txBody>
      </p:sp>
      <p:sp>
        <p:nvSpPr>
          <p:cNvPr id="9061" name="DP2 9061"/>
          <p:cNvSpPr/>
          <p:nvPr/>
        </p:nvSpPr>
        <p:spPr>
          <a:xfrm>
            <a:off x="347472" y="5687105"/>
            <a:ext cx="1179576" cy="301752"/>
          </a:xfrm>
          <a:prstGeom prst="roundRect">
            <a:avLst/>
          </a:prstGeom>
          <a:solidFill>
            <a:srgbClr val="FFD966"/>
          </a:solidFill>
          <a:ln w="9525">
            <a:solidFill>
              <a:srgbClr val="BF8F00"/>
            </a:solidFill>
            <a:prstDash val="solid"/>
          </a:ln>
        </p:spPr>
        <p:txBody>
          <a:bodyPr wrap="square" lIns="27432" tIns="7315" rIns="27432" bIns="7315" anchor="ctr">
            <a:normAutofit/>
          </a:bodyPr>
          <a:lstStyle/>
          <a:p>
            <a:pPr algn="ctr">
              <a:lnSpc>
                <a:spcPct val="90000"/>
              </a:lnSpc>
            </a:pPr>
            <a:r>
              <a:rPr lang="ko-KR" altLang="en-US" sz="1150" b="1" i="0" dirty="0">
                <a:solidFill>
                  <a:srgbClr val="1F3864"/>
                </a:solidFill>
                <a:latin typeface="맑은 고딕" panose="020B0503020000020004" pitchFamily="50" charset="-127"/>
                <a:ea typeface="맑은 고딕" panose="020B0503020000020004" pitchFamily="50" charset="-127"/>
              </a:rPr>
              <a:t>설계 쟁점</a:t>
            </a:r>
          </a:p>
        </p:txBody>
      </p:sp>
      <p:sp>
        <p:nvSpPr>
          <p:cNvPr id="79" name="Text 22"/>
          <p:cNvSpPr/>
          <p:nvPr/>
        </p:nvSpPr>
        <p:spPr>
          <a:xfrm>
            <a:off x="359582" y="1016673"/>
            <a:ext cx="11687638" cy="894644"/>
          </a:xfrm>
          <a:prstGeom prst="rect">
            <a:avLst/>
          </a:prstGeom>
          <a:noFill/>
          <a:ln/>
        </p:spPr>
        <p:txBody>
          <a:bodyPr wrap="square" lIns="0" tIns="0" rIns="0" bIns="0" rtlCol="0" anchor="t"/>
          <a:lstStyle/>
          <a:p>
            <a:pPr marL="285750" indent="-285750">
              <a:lnSpc>
                <a:spcPct val="150000"/>
              </a:lnSpc>
              <a:buFontTx/>
              <a:buChar char="-"/>
            </a:pPr>
            <a:r>
              <a:rPr lang="en-US" altLang="ko-KR" sz="1200" dirty="0">
                <a:solidFill>
                  <a:srgbClr val="404040"/>
                </a:solidFill>
                <a:latin typeface="맑은 고딕" panose="020B0503020000020004" pitchFamily="50" charset="-127"/>
              </a:rPr>
              <a:t>Agent</a:t>
            </a:r>
            <a:r>
              <a:rPr lang="ko-KR" altLang="en-US" sz="1200" dirty="0">
                <a:solidFill>
                  <a:srgbClr val="404040"/>
                </a:solidFill>
                <a:latin typeface="맑은 고딕" panose="020B0503020000020004" pitchFamily="50" charset="-127"/>
              </a:rPr>
              <a:t>는 </a:t>
            </a:r>
            <a:r>
              <a:rPr lang="en-US" altLang="ko-KR" sz="1200" dirty="0">
                <a:solidFill>
                  <a:srgbClr val="404040"/>
                </a:solidFill>
                <a:latin typeface="맑은 고딕" panose="020B0503020000020004" pitchFamily="50" charset="-127"/>
              </a:rPr>
              <a:t>LLM–Tool </a:t>
            </a:r>
            <a:r>
              <a:rPr lang="ko-KR" altLang="en-US" sz="1200" dirty="0">
                <a:solidFill>
                  <a:srgbClr val="404040"/>
                </a:solidFill>
                <a:latin typeface="맑은 고딕" panose="020B0503020000020004" pitchFamily="50" charset="-127"/>
              </a:rPr>
              <a:t>실행을 반복하는 </a:t>
            </a:r>
            <a:r>
              <a:rPr lang="en-US" altLang="ko-KR" sz="1200" dirty="0">
                <a:solidFill>
                  <a:srgbClr val="404040"/>
                </a:solidFill>
                <a:latin typeface="맑은 고딕" panose="020B0503020000020004" pitchFamily="50" charset="-127"/>
              </a:rPr>
              <a:t>Multi-turn </a:t>
            </a:r>
            <a:r>
              <a:rPr lang="ko-KR" altLang="en-US" sz="1200" dirty="0">
                <a:solidFill>
                  <a:srgbClr val="404040"/>
                </a:solidFill>
                <a:latin typeface="맑은 고딕" panose="020B0503020000020004" pitchFamily="50" charset="-127"/>
              </a:rPr>
              <a:t>특성으로 인해 기존 </a:t>
            </a:r>
            <a:r>
              <a:rPr lang="en-US" altLang="ko-KR" sz="1200" dirty="0">
                <a:solidFill>
                  <a:srgbClr val="404040"/>
                </a:solidFill>
                <a:latin typeface="맑은 고딕" panose="020B0503020000020004" pitchFamily="50" charset="-127"/>
              </a:rPr>
              <a:t>Context</a:t>
            </a:r>
            <a:r>
              <a:rPr lang="ko-KR" altLang="en-US" sz="1200" dirty="0">
                <a:solidFill>
                  <a:srgbClr val="404040"/>
                </a:solidFill>
                <a:latin typeface="맑은 고딕" panose="020B0503020000020004" pitchFamily="50" charset="-127"/>
              </a:rPr>
              <a:t>를 유지한 채 신규 입력이 지속적으로 </a:t>
            </a:r>
            <a:r>
              <a:rPr lang="ko-KR" altLang="en-US" sz="1200" dirty="0" smtClean="0">
                <a:solidFill>
                  <a:srgbClr val="404040"/>
                </a:solidFill>
                <a:latin typeface="맑은 고딕" panose="020B0503020000020004" pitchFamily="50" charset="-127"/>
              </a:rPr>
              <a:t>추가됨</a:t>
            </a:r>
            <a:endParaRPr lang="en-US" altLang="ko-KR" sz="1200" dirty="0" smtClean="0">
              <a:solidFill>
                <a:srgbClr val="404040"/>
              </a:solidFill>
              <a:latin typeface="맑은 고딕" panose="020B0503020000020004" pitchFamily="50" charset="-127"/>
            </a:endParaRPr>
          </a:p>
          <a:p>
            <a:pPr marL="285750" indent="-285750">
              <a:lnSpc>
                <a:spcPct val="150000"/>
              </a:lnSpc>
              <a:buFontTx/>
              <a:buChar char="-"/>
            </a:pPr>
            <a:r>
              <a:rPr lang="en-US" altLang="ko-KR" sz="1200" dirty="0" smtClean="0">
                <a:solidFill>
                  <a:srgbClr val="404040"/>
                </a:solidFill>
                <a:latin typeface="맑은 고딕" panose="020B0503020000020004" pitchFamily="50" charset="-127"/>
              </a:rPr>
              <a:t>Turn/Step </a:t>
            </a:r>
            <a:r>
              <a:rPr lang="ko-KR" altLang="en-US" sz="1200" dirty="0" smtClean="0">
                <a:solidFill>
                  <a:srgbClr val="404040"/>
                </a:solidFill>
                <a:latin typeface="맑은 고딕" panose="020B0503020000020004" pitchFamily="50" charset="-127"/>
              </a:rPr>
              <a:t>별 입력 크기가 다양하고 </a:t>
            </a:r>
            <a:r>
              <a:rPr lang="en-US" altLang="ko-KR" sz="1200" dirty="0" smtClean="0">
                <a:solidFill>
                  <a:srgbClr val="404040"/>
                </a:solidFill>
                <a:latin typeface="맑은 고딕" panose="020B0503020000020004" pitchFamily="50" charset="-127"/>
              </a:rPr>
              <a:t>KV </a:t>
            </a:r>
            <a:r>
              <a:rPr lang="ko-KR" altLang="en-US" sz="1200" dirty="0" smtClean="0">
                <a:solidFill>
                  <a:srgbClr val="404040"/>
                </a:solidFill>
                <a:latin typeface="맑은 고딕" panose="020B0503020000020004" pitchFamily="50" charset="-127"/>
              </a:rPr>
              <a:t>캐시가 서로 다른 </a:t>
            </a:r>
            <a:r>
              <a:rPr lang="en-US" altLang="ko-KR" sz="1200" dirty="0" smtClean="0">
                <a:solidFill>
                  <a:srgbClr val="404040"/>
                </a:solidFill>
                <a:latin typeface="맑은 고딕" panose="020B0503020000020004" pitchFamily="50" charset="-127"/>
              </a:rPr>
              <a:t>Memory Tier</a:t>
            </a:r>
            <a:r>
              <a:rPr lang="ko-KR" altLang="en-US" sz="1200" dirty="0" smtClean="0">
                <a:solidFill>
                  <a:srgbClr val="404040"/>
                </a:solidFill>
                <a:latin typeface="맑은 고딕" panose="020B0503020000020004" pitchFamily="50" charset="-127"/>
              </a:rPr>
              <a:t>에 배치될 수 있어 </a:t>
            </a:r>
            <a:r>
              <a:rPr lang="en-US" altLang="ko-KR" sz="1200" b="1" dirty="0">
                <a:solidFill>
                  <a:schemeClr val="accent2">
                    <a:lumMod val="75000"/>
                  </a:schemeClr>
                </a:solidFill>
                <a:latin typeface="맑은 고딕" panose="020B0503020000020004" pitchFamily="50" charset="-127"/>
              </a:rPr>
              <a:t>Prefill </a:t>
            </a:r>
            <a:r>
              <a:rPr lang="ko-KR" altLang="en-US" sz="1200" b="1" dirty="0">
                <a:solidFill>
                  <a:schemeClr val="accent2">
                    <a:lumMod val="75000"/>
                  </a:schemeClr>
                </a:solidFill>
                <a:latin typeface="맑은 고딕" panose="020B0503020000020004" pitchFamily="50" charset="-127"/>
              </a:rPr>
              <a:t>실행 위치에 따른 데이터 </a:t>
            </a:r>
            <a:r>
              <a:rPr lang="ko-KR" altLang="en-US" sz="1200" b="1" dirty="0">
                <a:solidFill>
                  <a:schemeClr val="accent2">
                    <a:lumMod val="75000"/>
                  </a:schemeClr>
                </a:solidFill>
              </a:rPr>
              <a:t>접근</a:t>
            </a:r>
            <a:r>
              <a:rPr lang="en-US" altLang="ko-KR" sz="1200" b="1" dirty="0">
                <a:solidFill>
                  <a:schemeClr val="accent2">
                    <a:lumMod val="75000"/>
                  </a:schemeClr>
                </a:solidFill>
              </a:rPr>
              <a:t>·</a:t>
            </a:r>
            <a:r>
              <a:rPr lang="ko-KR" altLang="en-US" sz="1200" b="1" dirty="0">
                <a:solidFill>
                  <a:schemeClr val="accent2">
                    <a:lumMod val="75000"/>
                  </a:schemeClr>
                </a:solidFill>
              </a:rPr>
              <a:t>이동 비용이 달라짐</a:t>
            </a:r>
            <a:endParaRPr lang="en-US" altLang="ko-KR" sz="1200" b="1" dirty="0">
              <a:solidFill>
                <a:schemeClr val="accent2">
                  <a:lumMod val="75000"/>
                </a:schemeClr>
              </a:solidFill>
            </a:endParaRPr>
          </a:p>
          <a:p>
            <a:pPr marL="285750" indent="-285750">
              <a:lnSpc>
                <a:spcPct val="150000"/>
              </a:lnSpc>
              <a:buFontTx/>
              <a:buChar char="-"/>
            </a:pPr>
            <a:r>
              <a:rPr lang="en-US" altLang="ko-KR" sz="1200" b="1" dirty="0">
                <a:solidFill>
                  <a:schemeClr val="accent2">
                    <a:lumMod val="75000"/>
                  </a:schemeClr>
                </a:solidFill>
              </a:rPr>
              <a:t>Agent </a:t>
            </a:r>
            <a:r>
              <a:rPr lang="ko-KR" altLang="en-US" sz="1200" b="1" dirty="0">
                <a:solidFill>
                  <a:schemeClr val="accent2">
                    <a:lumMod val="75000"/>
                  </a:schemeClr>
                </a:solidFill>
              </a:rPr>
              <a:t>워크로드</a:t>
            </a:r>
            <a:r>
              <a:rPr lang="en-US" altLang="ko-KR" sz="1200" b="1" dirty="0">
                <a:solidFill>
                  <a:schemeClr val="accent2">
                    <a:lumMod val="75000"/>
                  </a:schemeClr>
                </a:solidFill>
              </a:rPr>
              <a:t>, KV </a:t>
            </a:r>
            <a:r>
              <a:rPr lang="ko-KR" altLang="en-US" sz="1200" b="1" dirty="0" smtClean="0">
                <a:solidFill>
                  <a:schemeClr val="accent2">
                    <a:lumMod val="75000"/>
                  </a:schemeClr>
                </a:solidFill>
              </a:rPr>
              <a:t>캐시 배치 상태 및 </a:t>
            </a:r>
            <a:r>
              <a:rPr lang="en-US" altLang="ko-KR" sz="1200" b="1" dirty="0" smtClean="0">
                <a:solidFill>
                  <a:schemeClr val="accent2">
                    <a:lumMod val="75000"/>
                  </a:schemeClr>
                </a:solidFill>
              </a:rPr>
              <a:t>Prefill/Decode(P/D) Runtime </a:t>
            </a:r>
            <a:r>
              <a:rPr lang="ko-KR" altLang="en-US" sz="1200" b="1" dirty="0" smtClean="0">
                <a:solidFill>
                  <a:schemeClr val="accent2">
                    <a:lumMod val="75000"/>
                  </a:schemeClr>
                </a:solidFill>
              </a:rPr>
              <a:t>상태</a:t>
            </a:r>
            <a:r>
              <a:rPr lang="ko-KR" altLang="en-US" sz="1200" dirty="0" smtClean="0"/>
              <a:t>에 따라 </a:t>
            </a:r>
            <a:r>
              <a:rPr lang="en-US" altLang="ko-KR" sz="1200" dirty="0" smtClean="0"/>
              <a:t>Prefill</a:t>
            </a:r>
            <a:r>
              <a:rPr lang="ko-KR" altLang="en-US" sz="1200" dirty="0" smtClean="0"/>
              <a:t>을 어느 노드에서 수행하는 것이 유리한 지가 달라짐</a:t>
            </a:r>
            <a:endParaRPr lang="en-US" altLang="ko-KR" sz="1200" dirty="0" smtClean="0"/>
          </a:p>
        </p:txBody>
      </p:sp>
      <p:sp>
        <p:nvSpPr>
          <p:cNvPr id="166" name="Text 22"/>
          <p:cNvSpPr/>
          <p:nvPr/>
        </p:nvSpPr>
        <p:spPr>
          <a:xfrm>
            <a:off x="383682" y="6049083"/>
            <a:ext cx="11312059" cy="548567"/>
          </a:xfrm>
          <a:prstGeom prst="rect">
            <a:avLst/>
          </a:prstGeom>
          <a:noFill/>
          <a:ln/>
        </p:spPr>
        <p:txBody>
          <a:bodyPr wrap="square" lIns="0" tIns="0" rIns="0" bIns="0" rtlCol="0" anchor="t"/>
          <a:lstStyle/>
          <a:p>
            <a:pPr marL="228600" indent="-228600">
              <a:lnSpc>
                <a:spcPct val="125000"/>
              </a:lnSpc>
              <a:buAutoNum type="arabicPeriod"/>
            </a:pPr>
            <a:r>
              <a:rPr lang="ko-KR" altLang="en-US" sz="1200" dirty="0">
                <a:latin typeface="맑은 고딕" panose="020B0503020000020004" pitchFamily="50" charset="-127"/>
              </a:rPr>
              <a:t>이기종 메모리 환경에서 </a:t>
            </a:r>
            <a:r>
              <a:rPr lang="en-US" altLang="ko-KR" sz="1200" dirty="0" smtClean="0">
                <a:latin typeface="맑은 고딕" panose="020B0503020000020004" pitchFamily="50" charset="-127"/>
              </a:rPr>
              <a:t>Agent</a:t>
            </a:r>
            <a:r>
              <a:rPr lang="ko-KR" altLang="en-US" sz="1200" dirty="0" smtClean="0">
                <a:latin typeface="맑은 고딕" panose="020B0503020000020004" pitchFamily="50" charset="-127"/>
              </a:rPr>
              <a:t>의</a:t>
            </a:r>
            <a:r>
              <a:rPr lang="en-US" altLang="ko-KR" sz="1200" dirty="0" smtClean="0">
                <a:latin typeface="맑은 고딕" panose="020B0503020000020004" pitchFamily="50" charset="-127"/>
              </a:rPr>
              <a:t> Prefill/Decode </a:t>
            </a:r>
            <a:r>
              <a:rPr lang="ko-KR" altLang="en-US" sz="1200" b="1" dirty="0" smtClean="0">
                <a:solidFill>
                  <a:srgbClr val="0066FF"/>
                </a:solidFill>
                <a:latin typeface="맑은 고딕" panose="020B0503020000020004" pitchFamily="50" charset="-127"/>
              </a:rPr>
              <a:t>실행 </a:t>
            </a:r>
            <a:r>
              <a:rPr lang="ko-KR" altLang="en-US" sz="1200" b="1" dirty="0">
                <a:solidFill>
                  <a:srgbClr val="0066FF"/>
                </a:solidFill>
                <a:latin typeface="맑은 고딕" panose="020B0503020000020004" pitchFamily="50" charset="-127"/>
              </a:rPr>
              <a:t>효율 최적화</a:t>
            </a:r>
            <a:r>
              <a:rPr lang="ko-KR" altLang="en-US" sz="1200" dirty="0">
                <a:latin typeface="맑은 고딕" panose="020B0503020000020004" pitchFamily="50" charset="-127"/>
              </a:rPr>
              <a:t>를 위한 </a:t>
            </a:r>
            <a:r>
              <a:rPr lang="en-US" altLang="ko-KR" sz="1200" dirty="0">
                <a:latin typeface="맑은 고딕" panose="020B0503020000020004" pitchFamily="50" charset="-127"/>
              </a:rPr>
              <a:t>Prefill </a:t>
            </a:r>
            <a:r>
              <a:rPr lang="ko-KR" altLang="en-US" sz="1200" dirty="0">
                <a:latin typeface="맑은 고딕" panose="020B0503020000020004" pitchFamily="50" charset="-127"/>
              </a:rPr>
              <a:t>실행 위치 결정 구조 </a:t>
            </a:r>
            <a:r>
              <a:rPr lang="ko-KR" altLang="en-US" sz="1200" dirty="0" smtClean="0">
                <a:latin typeface="맑은 고딕" panose="020B0503020000020004" pitchFamily="50" charset="-127"/>
              </a:rPr>
              <a:t>설계</a:t>
            </a:r>
            <a:endParaRPr lang="en-US" altLang="ko-KR" sz="1200" dirty="0" smtClean="0">
              <a:latin typeface="맑은 고딕" panose="020B0503020000020004" pitchFamily="50" charset="-127"/>
            </a:endParaRPr>
          </a:p>
          <a:p>
            <a:pPr marL="228600" indent="-228600">
              <a:lnSpc>
                <a:spcPct val="125000"/>
              </a:lnSpc>
              <a:buAutoNum type="arabicPeriod"/>
            </a:pPr>
            <a:r>
              <a:rPr lang="en-US" altLang="ko-KR" sz="1200" dirty="0" smtClean="0"/>
              <a:t>P/D </a:t>
            </a:r>
            <a:r>
              <a:rPr lang="en-US" altLang="ko-KR" sz="1200" dirty="0"/>
              <a:t>Node </a:t>
            </a:r>
            <a:r>
              <a:rPr lang="ko-KR" altLang="en-US" sz="1200" dirty="0"/>
              <a:t>및 이기종 </a:t>
            </a:r>
            <a:r>
              <a:rPr lang="en-US" altLang="ko-KR" sz="1200" dirty="0"/>
              <a:t>Memory Resource </a:t>
            </a:r>
            <a:r>
              <a:rPr lang="ko-KR" altLang="en-US" sz="1200" dirty="0"/>
              <a:t>확장 시</a:t>
            </a:r>
            <a:r>
              <a:rPr lang="ko-KR" altLang="en-US" sz="1200" b="1" dirty="0">
                <a:solidFill>
                  <a:srgbClr val="0066FF"/>
                </a:solidFill>
              </a:rPr>
              <a:t> </a:t>
            </a:r>
            <a:r>
              <a:rPr lang="en-US" altLang="ko-KR" sz="1200" b="1" dirty="0">
                <a:solidFill>
                  <a:srgbClr val="0066FF"/>
                </a:solidFill>
              </a:rPr>
              <a:t>Decision·</a:t>
            </a:r>
            <a:r>
              <a:rPr lang="ko-KR" altLang="en-US" sz="1200" b="1" dirty="0">
                <a:solidFill>
                  <a:srgbClr val="0066FF"/>
                </a:solidFill>
              </a:rPr>
              <a:t>상태 관리 복잡도 최소화</a:t>
            </a:r>
            <a:r>
              <a:rPr lang="ko-KR" altLang="en-US" sz="1200" dirty="0"/>
              <a:t>를 위한 </a:t>
            </a:r>
            <a:r>
              <a:rPr lang="ko-KR" altLang="en-US" sz="1200" b="1" dirty="0">
                <a:solidFill>
                  <a:srgbClr val="0066FF"/>
                </a:solidFill>
              </a:rPr>
              <a:t>확장 가능한</a:t>
            </a:r>
            <a:r>
              <a:rPr lang="ko-KR" altLang="en-US" sz="1200" dirty="0"/>
              <a:t> </a:t>
            </a:r>
            <a:r>
              <a:rPr lang="en-US" altLang="ko-KR" sz="1200" dirty="0"/>
              <a:t>Prefill </a:t>
            </a:r>
            <a:r>
              <a:rPr lang="en-US" altLang="ko-KR" sz="1200" dirty="0" smtClean="0"/>
              <a:t>Placement </a:t>
            </a:r>
            <a:r>
              <a:rPr lang="ko-KR" altLang="en-US" sz="1200" dirty="0" smtClean="0"/>
              <a:t>구조 설계</a:t>
            </a:r>
            <a:endParaRPr lang="en-US" altLang="ko-KR" sz="1200" dirty="0" smtClean="0"/>
          </a:p>
        </p:txBody>
      </p:sp>
      <p:sp>
        <p:nvSpPr>
          <p:cNvPr id="9062" name="Rounded Rectangle 9061"/>
          <p:cNvSpPr/>
          <p:nvPr/>
        </p:nvSpPr>
        <p:spPr>
          <a:xfrm>
            <a:off x="347472" y="2542032"/>
            <a:ext cx="804672" cy="1024128"/>
          </a:xfrm>
          <a:prstGeom prst="roundRect">
            <a:avLst>
              <a:gd name="adj" fmla="val 8000"/>
            </a:avLst>
          </a:prstGeom>
          <a:solidFill>
            <a:srgbClr val="FBE5D6"/>
          </a:solidFill>
          <a:ln w="952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100"/>
              </a:spcAft>
            </a:pPr>
            <a:r>
              <a:rPr sz="950" b="1" i="0">
                <a:solidFill>
                  <a:srgbClr val="C55A11"/>
                </a:solidFill>
                <a:latin typeface="맑은 고딕"/>
                <a:ea typeface="맑은 고딕"/>
                <a:cs typeface="맑은 고딕"/>
              </a:rPr>
              <a:t>P 노드</a:t>
            </a:r>
          </a:p>
          <a:p>
            <a:pPr algn="ctr">
              <a:lnSpc>
                <a:spcPct val="100000"/>
              </a:lnSpc>
              <a:spcAft>
                <a:spcPts val="0"/>
              </a:spcAft>
            </a:pPr>
            <a:r>
              <a:rPr sz="700" b="0" i="0">
                <a:solidFill>
                  <a:srgbClr val="595959"/>
                </a:solidFill>
                <a:latin typeface="맑은 고딕"/>
                <a:ea typeface="맑은 고딕"/>
                <a:cs typeface="맑은 고딕"/>
              </a:rPr>
              <a:t>Prefill 전용</a:t>
            </a:r>
          </a:p>
        </p:txBody>
      </p:sp>
      <p:sp>
        <p:nvSpPr>
          <p:cNvPr id="9063" name="Rounded Rectangle 9062"/>
          <p:cNvSpPr/>
          <p:nvPr/>
        </p:nvSpPr>
        <p:spPr>
          <a:xfrm>
            <a:off x="347472" y="3895344"/>
            <a:ext cx="804672" cy="1024128"/>
          </a:xfrm>
          <a:prstGeom prst="roundRect">
            <a:avLst>
              <a:gd name="adj" fmla="val 8000"/>
            </a:avLst>
          </a:prstGeom>
          <a:solidFill>
            <a:srgbClr val="DEEBF7"/>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100"/>
              </a:spcAft>
            </a:pPr>
            <a:r>
              <a:rPr sz="950" b="1" i="0">
                <a:solidFill>
                  <a:srgbClr val="1F3864"/>
                </a:solidFill>
                <a:latin typeface="맑은 고딕"/>
                <a:ea typeface="맑은 고딕"/>
                <a:cs typeface="맑은 고딕"/>
              </a:rPr>
              <a:t>D 노드</a:t>
            </a:r>
          </a:p>
          <a:p>
            <a:pPr algn="ctr">
              <a:lnSpc>
                <a:spcPct val="100000"/>
              </a:lnSpc>
              <a:spcAft>
                <a:spcPts val="0"/>
              </a:spcAft>
            </a:pPr>
            <a:r>
              <a:rPr sz="700" b="0" i="0">
                <a:solidFill>
                  <a:srgbClr val="595959"/>
                </a:solidFill>
                <a:latin typeface="맑은 고딕"/>
                <a:ea typeface="맑은 고딕"/>
                <a:cs typeface="맑은 고딕"/>
              </a:rPr>
              <a:t>Decode 전용</a:t>
            </a:r>
          </a:p>
        </p:txBody>
      </p:sp>
      <p:sp>
        <p:nvSpPr>
          <p:cNvPr id="9064" name="Rounded Rectangle 9063"/>
          <p:cNvSpPr/>
          <p:nvPr/>
        </p:nvSpPr>
        <p:spPr>
          <a:xfrm>
            <a:off x="1225296" y="2542032"/>
            <a:ext cx="10616184" cy="1024128"/>
          </a:xfrm>
          <a:prstGeom prst="roundRect">
            <a:avLst>
              <a:gd name="adj" fmla="val 2000"/>
            </a:avLst>
          </a:prstGeom>
          <a:solidFill>
            <a:srgbClr val="FDF6F1"/>
          </a:solidFill>
          <a:ln w="952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0"/>
              </a:spcAft>
            </a:pPr>
            <a:r>
              <a:rPr sz="100" b="0" i="0">
                <a:solidFill>
                  <a:srgbClr val="000000"/>
                </a:solidFill>
                <a:latin typeface="맑은 고딕"/>
                <a:ea typeface="맑은 고딕"/>
                <a:cs typeface="맑은 고딕"/>
              </a:rPr>
              <a:t/>
            </a:r>
          </a:p>
        </p:txBody>
      </p:sp>
      <p:sp>
        <p:nvSpPr>
          <p:cNvPr id="9065" name="Rounded Rectangle 9064"/>
          <p:cNvSpPr/>
          <p:nvPr/>
        </p:nvSpPr>
        <p:spPr>
          <a:xfrm>
            <a:off x="1225296" y="3895344"/>
            <a:ext cx="10616184" cy="1024128"/>
          </a:xfrm>
          <a:prstGeom prst="roundRect">
            <a:avLst>
              <a:gd name="adj" fmla="val 2000"/>
            </a:avLst>
          </a:prstGeom>
          <a:solidFill>
            <a:srgbClr val="F2F8FD"/>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0"/>
              </a:spcAft>
            </a:pPr>
            <a:r>
              <a:rPr sz="100" b="0" i="0">
                <a:solidFill>
                  <a:srgbClr val="000000"/>
                </a:solidFill>
                <a:latin typeface="맑은 고딕"/>
                <a:ea typeface="맑은 고딕"/>
                <a:cs typeface="맑은 고딕"/>
              </a:rPr>
              <a:t/>
            </a:r>
          </a:p>
        </p:txBody>
      </p:sp>
      <p:cxnSp>
        <p:nvCxnSpPr>
          <p:cNvPr id="9066" name="Connector 9065"/>
          <p:cNvCxnSpPr/>
          <p:nvPr/>
        </p:nvCxnSpPr>
        <p:spPr>
          <a:xfrm>
            <a:off x="1225296" y="3730752"/>
            <a:ext cx="10616184" cy="0"/>
          </a:xfrm>
          <a:prstGeom prst="line">
            <a:avLst/>
          </a:prstGeom>
          <a:ln w="12700">
            <a:solidFill>
              <a:srgbClr val="E06666"/>
            </a:solidFill>
            <a:prstDash val="dash"/>
          </a:ln>
        </p:spPr>
        <p:style>
          <a:lnRef idx="2">
            <a:schemeClr val="accent1"/>
          </a:lnRef>
          <a:fillRef idx="0">
            <a:schemeClr val="accent1"/>
          </a:fillRef>
          <a:effectRef idx="1">
            <a:schemeClr val="accent1"/>
          </a:effectRef>
          <a:fontRef idx="minor">
            <a:schemeClr val="tx1"/>
          </a:fontRef>
        </p:style>
      </p:cxnSp>
      <p:sp>
        <p:nvSpPr>
          <p:cNvPr id="9067" name="Rectangle 9066"/>
          <p:cNvSpPr/>
          <p:nvPr/>
        </p:nvSpPr>
        <p:spPr>
          <a:xfrm>
            <a:off x="7589520" y="3630168"/>
            <a:ext cx="425196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0"/>
              </a:spcAft>
            </a:pPr>
            <a:r>
              <a:rPr sz="750" b="1" i="0">
                <a:solidFill>
                  <a:srgbClr val="C00000"/>
                </a:solidFill>
                <a:latin typeface="맑은 고딕"/>
                <a:ea typeface="맑은 고딕"/>
                <a:cs typeface="맑은 고딕"/>
              </a:rPr>
              <a:t>노드 간 링크 — KV 캐시가 이 선을 넘을 때마다 전송 비용 발생</a:t>
            </a:r>
          </a:p>
        </p:txBody>
      </p:sp>
      <p:sp>
        <p:nvSpPr>
          <p:cNvPr id="9068" name="TextBox 9067"/>
          <p:cNvSpPr txBox="1"/>
          <p:nvPr/>
        </p:nvSpPr>
        <p:spPr>
          <a:xfrm>
            <a:off x="1325880" y="2286000"/>
            <a:ext cx="2697480" cy="219456"/>
          </a:xfrm>
          <a:prstGeom prst="rect">
            <a:avLst/>
          </a:prstGeom>
          <a:noFill/>
        </p:spPr>
        <p:txBody>
          <a:bodyPr wrap="square" lIns="0" rIns="0" tIns="0" bIns="0" anchor="t">
            <a:spAutoFit/>
          </a:bodyPr>
          <a:lstStyle/>
          <a:p>
            <a:pPr algn="l">
              <a:lnSpc>
                <a:spcPct val="100000"/>
              </a:lnSpc>
              <a:spcAft>
                <a:spcPts val="0"/>
              </a:spcAft>
            </a:pPr>
            <a:r>
              <a:rPr sz="850" b="1" i="0">
                <a:solidFill>
                  <a:srgbClr val="1F3864"/>
                </a:solidFill>
                <a:latin typeface="맑은 고딕"/>
                <a:ea typeface="맑은 고딕"/>
                <a:cs typeface="맑은 고딕"/>
              </a:rPr>
              <a:t>Turn 1</a:t>
            </a:r>
            <a:r>
              <a:rPr sz="850" b="0" i="0">
                <a:solidFill>
                  <a:srgbClr val="595959"/>
                </a:solidFill>
                <a:latin typeface="맑은 고딕"/>
                <a:ea typeface="맑은 고딕"/>
                <a:cs typeface="맑은 고딕"/>
              </a:rPr>
              <a:t>  ·  사용자 질문 2,000 토큰</a:t>
            </a:r>
          </a:p>
        </p:txBody>
      </p:sp>
      <p:sp>
        <p:nvSpPr>
          <p:cNvPr id="9069" name="Rounded Rectangle 9068"/>
          <p:cNvSpPr/>
          <p:nvPr/>
        </p:nvSpPr>
        <p:spPr>
          <a:xfrm>
            <a:off x="1417320" y="2779776"/>
            <a:ext cx="1051560" cy="530352"/>
          </a:xfrm>
          <a:prstGeom prst="roundRect">
            <a:avLst>
              <a:gd name="adj" fmla="val 10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0"/>
              </a:spcAft>
            </a:pPr>
            <a:r>
              <a:rPr sz="900" b="1" i="0">
                <a:solidFill>
                  <a:srgbClr val="FFFFFF"/>
                </a:solidFill>
                <a:latin typeface="맑은 고딕"/>
                <a:ea typeface="맑은 고딕"/>
                <a:cs typeface="맑은 고딕"/>
              </a:rPr>
              <a:t>Prefill</a:t>
            </a:r>
          </a:p>
        </p:txBody>
      </p:sp>
      <p:sp>
        <p:nvSpPr>
          <p:cNvPr id="9070" name="Down Arrow 9069"/>
          <p:cNvSpPr/>
          <p:nvPr/>
        </p:nvSpPr>
        <p:spPr>
          <a:xfrm>
            <a:off x="1847088" y="3328416"/>
            <a:ext cx="201168" cy="786384"/>
          </a:xfrm>
          <a:prstGeom prst="down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0"/>
              </a:spcAft>
            </a:pPr>
            <a:r>
              <a:rPr sz="100" b="0" i="0">
                <a:solidFill>
                  <a:srgbClr val="000000"/>
                </a:solidFill>
                <a:latin typeface="맑은 고딕"/>
                <a:ea typeface="맑은 고딕"/>
                <a:cs typeface="맑은 고딕"/>
              </a:rPr>
              <a:t/>
            </a:r>
          </a:p>
        </p:txBody>
      </p:sp>
      <p:sp>
        <p:nvSpPr>
          <p:cNvPr id="9071" name="Rectangle 9070"/>
          <p:cNvSpPr/>
          <p:nvPr/>
        </p:nvSpPr>
        <p:spPr>
          <a:xfrm>
            <a:off x="2084831" y="3630168"/>
            <a:ext cx="896112" cy="182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spcAft>
                <a:spcPts val="0"/>
              </a:spcAft>
            </a:pPr>
            <a:r>
              <a:rPr sz="700" b="0" i="0">
                <a:solidFill>
                  <a:srgbClr val="595959"/>
                </a:solidFill>
                <a:latin typeface="맑은 고딕"/>
                <a:ea typeface="맑은 고딕"/>
                <a:cs typeface="맑은 고딕"/>
              </a:rPr>
              <a:t>KV 캐시 전송</a:t>
            </a:r>
          </a:p>
        </p:txBody>
      </p:sp>
      <p:sp>
        <p:nvSpPr>
          <p:cNvPr id="9072" name="Right Arrow 9071"/>
          <p:cNvSpPr/>
          <p:nvPr/>
        </p:nvSpPr>
        <p:spPr>
          <a:xfrm>
            <a:off x="2121408" y="4133087"/>
            <a:ext cx="640080" cy="146304"/>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0"/>
              </a:spcAft>
            </a:pPr>
            <a:r>
              <a:rPr sz="100" b="0" i="0">
                <a:solidFill>
                  <a:srgbClr val="000000"/>
                </a:solidFill>
                <a:latin typeface="맑은 고딕"/>
                <a:ea typeface="맑은 고딕"/>
                <a:cs typeface="맑은 고딕"/>
              </a:rPr>
              <a:t/>
            </a:r>
          </a:p>
        </p:txBody>
      </p:sp>
      <p:sp>
        <p:nvSpPr>
          <p:cNvPr id="9073" name="Rounded Rectangle 9072"/>
          <p:cNvSpPr/>
          <p:nvPr/>
        </p:nvSpPr>
        <p:spPr>
          <a:xfrm>
            <a:off x="2834640" y="4005072"/>
            <a:ext cx="1207008" cy="384048"/>
          </a:xfrm>
          <a:prstGeom prst="roundRect">
            <a:avLst>
              <a:gd name="adj" fmla="val 12000"/>
            </a:avLst>
          </a:prstGeom>
          <a:solidFill>
            <a:srgbClr val="FFFFFF"/>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0"/>
              </a:spcAft>
            </a:pPr>
            <a:r>
              <a:rPr sz="750" b="1" i="0">
                <a:solidFill>
                  <a:srgbClr val="1F3864"/>
                </a:solidFill>
                <a:latin typeface="맑은 고딕"/>
                <a:ea typeface="맑은 고딕"/>
                <a:cs typeface="맑은 고딕"/>
              </a:rPr>
              <a:t>KV 캐시 2,000</a:t>
            </a:r>
          </a:p>
        </p:txBody>
      </p:sp>
      <p:sp>
        <p:nvSpPr>
          <p:cNvPr id="9074" name="Rounded Rectangle 9073"/>
          <p:cNvSpPr/>
          <p:nvPr/>
        </p:nvSpPr>
        <p:spPr>
          <a:xfrm>
            <a:off x="2834640" y="4443984"/>
            <a:ext cx="1207008" cy="384048"/>
          </a:xfrm>
          <a:prstGeom prst="roundRect">
            <a:avLst>
              <a:gd name="adj" fmla="val 1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0"/>
              </a:spcAft>
            </a:pPr>
            <a:r>
              <a:rPr sz="850" b="1" i="0">
                <a:solidFill>
                  <a:srgbClr val="FFFFFF"/>
                </a:solidFill>
                <a:latin typeface="맑은 고딕"/>
                <a:ea typeface="맑은 고딕"/>
                <a:cs typeface="맑은 고딕"/>
              </a:rPr>
              <a:t>Decode</a:t>
            </a:r>
          </a:p>
        </p:txBody>
      </p:sp>
      <p:cxnSp>
        <p:nvCxnSpPr>
          <p:cNvPr id="9075" name="Connector 9074"/>
          <p:cNvCxnSpPr/>
          <p:nvPr/>
        </p:nvCxnSpPr>
        <p:spPr>
          <a:xfrm>
            <a:off x="4224528" y="2267712"/>
            <a:ext cx="0" cy="2688336"/>
          </a:xfrm>
          <a:prstGeom prst="line">
            <a:avLst/>
          </a:prstGeom>
          <a:ln w="12700">
            <a:solidFill>
              <a:srgbClr val="D9D9D9"/>
            </a:solidFill>
            <a:prstDash val="dash"/>
          </a:ln>
        </p:spPr>
        <p:style>
          <a:lnRef idx="2">
            <a:schemeClr val="accent1"/>
          </a:lnRef>
          <a:fillRef idx="0">
            <a:schemeClr val="accent1"/>
          </a:fillRef>
          <a:effectRef idx="1">
            <a:schemeClr val="accent1"/>
          </a:effectRef>
          <a:fontRef idx="minor">
            <a:schemeClr val="tx1"/>
          </a:fontRef>
        </p:style>
      </p:cxnSp>
      <p:sp>
        <p:nvSpPr>
          <p:cNvPr id="9076" name="TextBox 9075"/>
          <p:cNvSpPr txBox="1"/>
          <p:nvPr/>
        </p:nvSpPr>
        <p:spPr>
          <a:xfrm>
            <a:off x="4370832" y="2286000"/>
            <a:ext cx="7406640" cy="219456"/>
          </a:xfrm>
          <a:prstGeom prst="rect">
            <a:avLst/>
          </a:prstGeom>
          <a:noFill/>
        </p:spPr>
        <p:txBody>
          <a:bodyPr wrap="square" lIns="0" rIns="0" tIns="0" bIns="0" anchor="t">
            <a:spAutoFit/>
          </a:bodyPr>
          <a:lstStyle/>
          <a:p>
            <a:pPr algn="l">
              <a:lnSpc>
                <a:spcPct val="100000"/>
              </a:lnSpc>
              <a:spcAft>
                <a:spcPts val="0"/>
              </a:spcAft>
            </a:pPr>
            <a:r>
              <a:rPr sz="850" b="1" i="0">
                <a:solidFill>
                  <a:srgbClr val="1F3864"/>
                </a:solidFill>
                <a:latin typeface="맑은 고딕"/>
                <a:ea typeface="맑은 고딕"/>
                <a:cs typeface="맑은 고딕"/>
              </a:rPr>
              <a:t>Turn 2</a:t>
            </a:r>
            <a:r>
              <a:rPr sz="850" b="0" i="0">
                <a:solidFill>
                  <a:srgbClr val="595959"/>
                </a:solidFill>
                <a:latin typeface="맑은 고딕"/>
                <a:ea typeface="맑은 고딕"/>
                <a:cs typeface="맑은 고딕"/>
              </a:rPr>
              <a:t>  ·  Tool 결과 도착 — </a:t>
            </a:r>
            <a:r>
              <a:rPr sz="850" b="1" i="0">
                <a:solidFill>
                  <a:srgbClr val="C00000"/>
                </a:solidFill>
                <a:latin typeface="맑은 고딕"/>
                <a:ea typeface="맑은 고딕"/>
                <a:cs typeface="맑은 고딕"/>
              </a:rPr>
              <a:t>History KV는 D에 있는데, 이 새 입력의 Prefill을 어디서 할 것인가?</a:t>
            </a:r>
          </a:p>
        </p:txBody>
      </p:sp>
      <p:sp>
        <p:nvSpPr>
          <p:cNvPr id="9077" name="Rounded Rectangle 9076"/>
          <p:cNvSpPr/>
          <p:nvPr/>
        </p:nvSpPr>
        <p:spPr>
          <a:xfrm>
            <a:off x="4462272" y="4005072"/>
            <a:ext cx="1133856" cy="384048"/>
          </a:xfrm>
          <a:prstGeom prst="roundRect">
            <a:avLst>
              <a:gd name="adj" fmla="val 12000"/>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0"/>
              </a:spcAft>
            </a:pPr>
            <a:r>
              <a:rPr sz="700" b="0" i="0">
                <a:solidFill>
                  <a:srgbClr val="595959"/>
                </a:solidFill>
                <a:latin typeface="맑은 고딕"/>
                <a:ea typeface="맑은 고딕"/>
                <a:cs typeface="맑은 고딕"/>
              </a:rPr>
              <a:t>Tool 결과 ΔInput</a:t>
            </a:r>
          </a:p>
        </p:txBody>
      </p:sp>
      <p:sp>
        <p:nvSpPr>
          <p:cNvPr id="9078" name="Rounded Rectangle 9077"/>
          <p:cNvSpPr/>
          <p:nvPr/>
        </p:nvSpPr>
        <p:spPr>
          <a:xfrm>
            <a:off x="4462272" y="4443984"/>
            <a:ext cx="1133856" cy="384048"/>
          </a:xfrm>
          <a:prstGeom prst="roundRect">
            <a:avLst>
              <a:gd name="adj" fmla="val 12000"/>
            </a:avLst>
          </a:prstGeom>
          <a:solidFill>
            <a:srgbClr val="FFFFFF"/>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0"/>
              </a:spcAft>
            </a:pPr>
            <a:r>
              <a:rPr sz="750" b="1" i="0">
                <a:solidFill>
                  <a:srgbClr val="1F3864"/>
                </a:solidFill>
                <a:latin typeface="맑은 고딕"/>
                <a:ea typeface="맑은 고딕"/>
                <a:cs typeface="맑은 고딕"/>
              </a:rPr>
              <a:t>History KV</a:t>
            </a:r>
          </a:p>
        </p:txBody>
      </p:sp>
      <p:sp>
        <p:nvSpPr>
          <p:cNvPr id="9079" name="Right Arrow 9078"/>
          <p:cNvSpPr/>
          <p:nvPr/>
        </p:nvSpPr>
        <p:spPr>
          <a:xfrm>
            <a:off x="5614416" y="4343400"/>
            <a:ext cx="128016" cy="128016"/>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0"/>
              </a:spcAft>
            </a:pPr>
            <a:r>
              <a:rPr sz="100" b="0" i="0">
                <a:solidFill>
                  <a:srgbClr val="000000"/>
                </a:solidFill>
                <a:latin typeface="맑은 고딕"/>
                <a:ea typeface="맑은 고딕"/>
                <a:cs typeface="맑은 고딕"/>
              </a:rPr>
              <a:t/>
            </a:r>
          </a:p>
        </p:txBody>
      </p:sp>
      <p:sp>
        <p:nvSpPr>
          <p:cNvPr id="9080" name="Diamond 9079"/>
          <p:cNvSpPr/>
          <p:nvPr/>
        </p:nvSpPr>
        <p:spPr>
          <a:xfrm>
            <a:off x="5760720" y="4133087"/>
            <a:ext cx="566928" cy="566928"/>
          </a:xfrm>
          <a:prstGeom prst="diamond">
            <a:avLst/>
          </a:prstGeom>
          <a:solidFill>
            <a:srgbClr val="FFF2CC"/>
          </a:solidFill>
          <a:ln w="1270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0"/>
              </a:spcAft>
            </a:pPr>
            <a:r>
              <a:rPr sz="1300" b="1" i="0">
                <a:solidFill>
                  <a:srgbClr val="1F3864"/>
                </a:solidFill>
                <a:latin typeface="맑은 고딕"/>
                <a:ea typeface="맑은 고딕"/>
                <a:cs typeface="맑은 고딕"/>
              </a:rPr>
              <a:t>?</a:t>
            </a:r>
          </a:p>
        </p:txBody>
      </p:sp>
      <p:sp>
        <p:nvSpPr>
          <p:cNvPr id="9081" name="Right Arrow 9080"/>
          <p:cNvSpPr/>
          <p:nvPr/>
        </p:nvSpPr>
        <p:spPr>
          <a:xfrm>
            <a:off x="6364224" y="4343400"/>
            <a:ext cx="365760" cy="146304"/>
          </a:xfrm>
          <a:prstGeom prst="rightArrow">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0"/>
              </a:spcAft>
            </a:pPr>
            <a:r>
              <a:rPr sz="100" b="0" i="0">
                <a:solidFill>
                  <a:srgbClr val="000000"/>
                </a:solidFill>
                <a:latin typeface="맑은 고딕"/>
                <a:ea typeface="맑은 고딕"/>
                <a:cs typeface="맑은 고딕"/>
              </a:rPr>
              <a:t/>
            </a:r>
          </a:p>
        </p:txBody>
      </p:sp>
      <p:sp>
        <p:nvSpPr>
          <p:cNvPr id="9082" name="Rounded Rectangle 9081"/>
          <p:cNvSpPr/>
          <p:nvPr/>
        </p:nvSpPr>
        <p:spPr>
          <a:xfrm>
            <a:off x="6803136" y="4151376"/>
            <a:ext cx="1920240" cy="530352"/>
          </a:xfrm>
          <a:prstGeom prst="roundRect">
            <a:avLst>
              <a:gd name="adj" fmla="val 10000"/>
            </a:avLst>
          </a:prstGeom>
          <a:solidFill>
            <a:srgbClr val="DEEBF7"/>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100"/>
              </a:spcAft>
            </a:pPr>
            <a:r>
              <a:rPr sz="900" b="1" i="0">
                <a:solidFill>
                  <a:srgbClr val="1F3864"/>
                </a:solidFill>
                <a:latin typeface="맑은 고딕"/>
                <a:ea typeface="맑은 고딕"/>
                <a:cs typeface="맑은 고딕"/>
              </a:rPr>
              <a:t>① D에서 그대로 Prefill</a:t>
            </a:r>
          </a:p>
          <a:p>
            <a:pPr algn="ctr">
              <a:lnSpc>
                <a:spcPct val="100000"/>
              </a:lnSpc>
              <a:spcAft>
                <a:spcPts val="0"/>
              </a:spcAft>
            </a:pPr>
            <a:r>
              <a:rPr sz="700" b="0" i="0">
                <a:solidFill>
                  <a:srgbClr val="595959"/>
                </a:solidFill>
                <a:latin typeface="맑은 고딕"/>
                <a:ea typeface="맑은 고딕"/>
                <a:cs typeface="맑은 고딕"/>
              </a:rPr>
              <a:t>ΔInput 작을 때 유리</a:t>
            </a:r>
          </a:p>
        </p:txBody>
      </p:sp>
      <p:sp>
        <p:nvSpPr>
          <p:cNvPr id="9083" name="Rounded Rectangle 9082"/>
          <p:cNvSpPr/>
          <p:nvPr/>
        </p:nvSpPr>
        <p:spPr>
          <a:xfrm>
            <a:off x="8869680" y="4114800"/>
            <a:ext cx="2834640" cy="603504"/>
          </a:xfrm>
          <a:prstGeom prst="roundRect">
            <a:avLst>
              <a:gd name="adj" fmla="val 6000"/>
            </a:avLst>
          </a:prstGeom>
          <a:solidFill>
            <a:srgbClr val="FFFFFF"/>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spcAft>
                <a:spcPts val="200"/>
              </a:spcAft>
            </a:pPr>
            <a:r>
              <a:rPr sz="750" b="1" i="0">
                <a:solidFill>
                  <a:srgbClr val="2E75B6"/>
                </a:solidFill>
                <a:latin typeface="맑은 고딕"/>
                <a:ea typeface="맑은 고딕"/>
                <a:cs typeface="맑은 고딕"/>
              </a:rPr>
              <a:t>＋ KV 이동 비용 0</a:t>
            </a:r>
          </a:p>
          <a:p>
            <a:pPr algn="l">
              <a:lnSpc>
                <a:spcPct val="100000"/>
              </a:lnSpc>
              <a:spcAft>
                <a:spcPts val="0"/>
              </a:spcAft>
            </a:pPr>
            <a:r>
              <a:rPr sz="750" b="0" i="0">
                <a:solidFill>
                  <a:srgbClr val="595959"/>
                </a:solidFill>
                <a:latin typeface="맑은 고딕"/>
                <a:ea typeface="맑은 고딕"/>
                <a:cs typeface="맑은 고딕"/>
              </a:rPr>
              <a:t>－ 진행 중인 Decode와 자원 경합 → 응답 지연</a:t>
            </a:r>
          </a:p>
        </p:txBody>
      </p:sp>
      <p:sp>
        <p:nvSpPr>
          <p:cNvPr id="9084" name="Up Arrow 9083"/>
          <p:cNvSpPr/>
          <p:nvPr/>
        </p:nvSpPr>
        <p:spPr>
          <a:xfrm>
            <a:off x="5907024" y="3273552"/>
            <a:ext cx="201168" cy="859536"/>
          </a:xfrm>
          <a:prstGeom prst="upArrow">
            <a:avLst/>
          </a:prstGeom>
          <a:solidFill>
            <a:srgbClr val="E066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0"/>
              </a:spcAft>
            </a:pPr>
            <a:r>
              <a:rPr sz="100" b="0" i="0">
                <a:solidFill>
                  <a:srgbClr val="000000"/>
                </a:solidFill>
                <a:latin typeface="맑은 고딕"/>
                <a:ea typeface="맑은 고딕"/>
                <a:cs typeface="맑은 고딕"/>
              </a:rPr>
              <a:t/>
            </a:r>
          </a:p>
        </p:txBody>
      </p:sp>
      <p:sp>
        <p:nvSpPr>
          <p:cNvPr id="9085" name="Rectangle 9084"/>
          <p:cNvSpPr/>
          <p:nvPr/>
        </p:nvSpPr>
        <p:spPr>
          <a:xfrm>
            <a:off x="6144768" y="3630168"/>
            <a:ext cx="896112" cy="182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spcAft>
                <a:spcPts val="0"/>
              </a:spcAft>
            </a:pPr>
            <a:r>
              <a:rPr sz="700" b="1" i="0">
                <a:solidFill>
                  <a:srgbClr val="C00000"/>
                </a:solidFill>
                <a:latin typeface="맑은 고딕"/>
                <a:ea typeface="맑은 고딕"/>
                <a:cs typeface="맑은 고딕"/>
              </a:rPr>
              <a:t>KV 캐시 전송</a:t>
            </a:r>
          </a:p>
        </p:txBody>
      </p:sp>
      <p:sp>
        <p:nvSpPr>
          <p:cNvPr id="9086" name="Right Arrow 9085"/>
          <p:cNvSpPr/>
          <p:nvPr/>
        </p:nvSpPr>
        <p:spPr>
          <a:xfrm>
            <a:off x="6163056" y="2971800"/>
            <a:ext cx="548640" cy="146304"/>
          </a:xfrm>
          <a:prstGeom prst="rightArrow">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0"/>
              </a:spcAft>
            </a:pPr>
            <a:r>
              <a:rPr sz="100" b="0" i="0">
                <a:solidFill>
                  <a:srgbClr val="000000"/>
                </a:solidFill>
                <a:latin typeface="맑은 고딕"/>
                <a:ea typeface="맑은 고딕"/>
                <a:cs typeface="맑은 고딕"/>
              </a:rPr>
              <a:t/>
            </a:r>
          </a:p>
        </p:txBody>
      </p:sp>
      <p:sp>
        <p:nvSpPr>
          <p:cNvPr id="9087" name="Rounded Rectangle 9086"/>
          <p:cNvSpPr/>
          <p:nvPr/>
        </p:nvSpPr>
        <p:spPr>
          <a:xfrm>
            <a:off x="6803136" y="2779776"/>
            <a:ext cx="1920240" cy="530352"/>
          </a:xfrm>
          <a:prstGeom prst="roundRect">
            <a:avLst>
              <a:gd name="adj" fmla="val 10000"/>
            </a:avLst>
          </a:prstGeom>
          <a:solidFill>
            <a:srgbClr val="FBE5D6"/>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100"/>
              </a:spcAft>
            </a:pPr>
            <a:r>
              <a:rPr sz="900" b="1" i="0">
                <a:solidFill>
                  <a:srgbClr val="C55A11"/>
                </a:solidFill>
                <a:latin typeface="맑은 고딕"/>
                <a:ea typeface="맑은 고딕"/>
                <a:cs typeface="맑은 고딕"/>
              </a:rPr>
              <a:t>② KV를 P로 보내 Prefill</a:t>
            </a:r>
          </a:p>
          <a:p>
            <a:pPr algn="ctr">
              <a:lnSpc>
                <a:spcPct val="100000"/>
              </a:lnSpc>
              <a:spcAft>
                <a:spcPts val="0"/>
              </a:spcAft>
            </a:pPr>
            <a:r>
              <a:rPr sz="700" b="0" i="0">
                <a:solidFill>
                  <a:srgbClr val="595959"/>
                </a:solidFill>
                <a:latin typeface="맑은 고딕"/>
                <a:ea typeface="맑은 고딕"/>
                <a:cs typeface="맑은 고딕"/>
              </a:rPr>
              <a:t>ΔInput 크거나 D 혼잡 시 유리</a:t>
            </a:r>
          </a:p>
        </p:txBody>
      </p:sp>
      <p:sp>
        <p:nvSpPr>
          <p:cNvPr id="9088" name="Rounded Rectangle 9087"/>
          <p:cNvSpPr/>
          <p:nvPr/>
        </p:nvSpPr>
        <p:spPr>
          <a:xfrm>
            <a:off x="8869680" y="2743200"/>
            <a:ext cx="2834640" cy="603504"/>
          </a:xfrm>
          <a:prstGeom prst="roundRect">
            <a:avLst>
              <a:gd name="adj" fmla="val 6000"/>
            </a:avLst>
          </a:prstGeom>
          <a:solidFill>
            <a:srgbClr val="FFFFFF"/>
          </a:solidFill>
          <a:ln w="952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spcAft>
                <a:spcPts val="200"/>
              </a:spcAft>
            </a:pPr>
            <a:r>
              <a:rPr sz="750" b="1" i="0">
                <a:solidFill>
                  <a:srgbClr val="C00000"/>
                </a:solidFill>
                <a:latin typeface="맑은 고딕"/>
                <a:ea typeface="맑은 고딕"/>
                <a:cs typeface="맑은 고딕"/>
              </a:rPr>
              <a:t>＋ History KV 전송 비용 발생</a:t>
            </a:r>
          </a:p>
          <a:p>
            <a:pPr algn="l">
              <a:lnSpc>
                <a:spcPct val="100000"/>
              </a:lnSpc>
              <a:spcAft>
                <a:spcPts val="0"/>
              </a:spcAft>
            </a:pPr>
            <a:r>
              <a:rPr sz="750" b="0" i="0">
                <a:solidFill>
                  <a:srgbClr val="595959"/>
                </a:solidFill>
                <a:latin typeface="맑은 고딕"/>
                <a:ea typeface="맑은 고딕"/>
                <a:cs typeface="맑은 고딕"/>
              </a:rPr>
              <a:t>－ D의 Decode를 방해하지 않고 P 연산 자원 활용</a:t>
            </a:r>
          </a:p>
        </p:txBody>
      </p:sp>
      <p:sp>
        <p:nvSpPr>
          <p:cNvPr id="9089" name="Rounded Rectangle 9088"/>
          <p:cNvSpPr/>
          <p:nvPr/>
        </p:nvSpPr>
        <p:spPr>
          <a:xfrm>
            <a:off x="347472" y="5029200"/>
            <a:ext cx="11494008" cy="438912"/>
          </a:xfrm>
          <a:prstGeom prst="roundRect">
            <a:avLst>
              <a:gd name="adj" fmla="val 10000"/>
            </a:avLst>
          </a:prstGeom>
          <a:solidFill>
            <a:srgbClr val="FFF2CC"/>
          </a:solidFill>
          <a:ln w="952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0"/>
              </a:spcAft>
            </a:pPr>
            <a:r>
              <a:rPr sz="950" b="0" i="0">
                <a:solidFill>
                  <a:srgbClr val="000000"/>
                </a:solidFill>
                <a:latin typeface="맑은 고딕"/>
                <a:ea typeface="맑은 고딕"/>
                <a:cs typeface="맑은 고딕"/>
              </a:rPr>
              <a:t>①과 ② 중 어느 쪽이 싼지는 </a:t>
            </a:r>
            <a:r>
              <a:rPr sz="950" b="1" i="0">
                <a:solidFill>
                  <a:srgbClr val="C00000"/>
                </a:solidFill>
                <a:latin typeface="맑은 고딕"/>
                <a:ea typeface="맑은 고딕"/>
                <a:cs typeface="맑은 고딕"/>
              </a:rPr>
              <a:t>Tool 결과 크기 · History KV 크기 · P/D 노드 부하</a:t>
            </a:r>
            <a:r>
              <a:rPr sz="950" b="0" i="0">
                <a:solidFill>
                  <a:srgbClr val="000000"/>
                </a:solidFill>
                <a:latin typeface="맑은 고딕"/>
                <a:ea typeface="맑은 고딕"/>
                <a:cs typeface="맑은 고딕"/>
              </a:rPr>
              <a:t>에 따라 매 Turn 뒤바뀜 → 고정된 규칙 하나로는 대응 불가</a:t>
            </a:r>
          </a:p>
        </p:txBody>
      </p:sp>
    </p:spTree>
    <p:extLst>
      <p:ext uri="{BB962C8B-B14F-4D97-AF65-F5344CB8AC3E}">
        <p14:creationId xmlns:p14="http://schemas.microsoft.com/office/powerpoint/2010/main" val="211099819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와이드스크린</PresentationFormat>
  <Slides>2</Slides>
  <Notes>2</Notes>
  <HiddenSlides>0</HiddenSlides>
  <MMClips>0</MMClips>
  <ScaleCrop>false</ScaleCrop>
  <HeadingPairs>
    <vt:vector size="4" baseType="variant">
      <vt:variant>
        <vt:lpstr>테마</vt:lpstr>
      </vt:variant>
      <vt:variant>
        <vt:i4>1</vt:i4>
      </vt:variant>
      <vt:variant>
        <vt:lpstr>슬라이드 제목</vt:lpstr>
      </vt:variant>
      <vt:variant>
        <vt:i4>2</vt:i4>
      </vt:variant>
    </vt:vector>
  </HeadingPairs>
  <TitlesOfParts>
    <vt:vector size="3" baseType="lpstr">
      <vt:lpstr>Office 테마</vt:lpstr>
      <vt:lpstr>DP2. 이기종 메모리 환경의 Prefill 실행 위치 결정 구조 - 배경 (1)</vt:lpstr>
      <vt:lpstr>DP2. 이기종 메모리 환경의 Prefill 실행 위치 결정 구조 - 배경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DP2. 이기종 메모리 환경의 Prefill 실행 위치 결정 구조 - 배경</dc:title>
  <dc:creator>김명우/MYEONG WOO KIM</dc:creator>
  <cp:lastModifiedBy>김명우/MYEONG WOO KIM</cp:lastModifiedBy>
  <cp:revision>1</cp:revision>
  <dcterms:created xsi:type="dcterms:W3CDTF">2026-06-30T10:16:17Z</dcterms:created>
  <dcterms:modified xsi:type="dcterms:W3CDTF">2026-09-14T07:37:14Z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
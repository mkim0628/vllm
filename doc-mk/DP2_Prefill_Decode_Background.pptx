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0"/>
  </p:notesMasterIdLst>
  <p:sldIdLst>
    <p:sldId id="493" r:id="rId29"/>
    <p:sldId id="511" r:id="rId3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7118AFE9-5D72-4ADD-986E-7181C34260F3}">
          <p14:sldIdLst>
            <p14:sldId id="256"/>
            <p14:sldId id="257"/>
            <p14:sldId id="398"/>
            <p14:sldId id="428"/>
            <p14:sldId id="407"/>
            <p14:sldId id="427"/>
            <p14:sldId id="425"/>
            <p14:sldId id="431"/>
            <p14:sldId id="414"/>
            <p14:sldId id="439"/>
            <p14:sldId id="440"/>
            <p14:sldId id="437"/>
            <p14:sldId id="455"/>
          </p14:sldIdLst>
        </p14:section>
        <p14:section name="DP1" id="{31AE5E82-1D1F-425E-85AE-6E92077EDF4D}">
          <p14:sldIdLst>
            <p14:sldId id="489"/>
            <p14:sldId id="502"/>
            <p14:sldId id="500"/>
          </p14:sldIdLst>
        </p14:section>
        <p14:section name="DP1-stale" id="{7FBB2859-53B8-44D0-A64A-F427A157152A}">
          <p14:sldIdLst>
            <p14:sldId id="504"/>
            <p14:sldId id="503"/>
            <p14:sldId id="501"/>
            <p14:sldId id="485"/>
            <p14:sldId id="496"/>
            <p14:sldId id="490"/>
            <p14:sldId id="488"/>
            <p14:sldId id="487"/>
            <p14:sldId id="454"/>
            <p14:sldId id="481"/>
            <p14:sldId id="445"/>
          </p14:sldIdLst>
        </p14:section>
        <p14:section name="DP2" id="{78FD15F7-14D8-4B6E-AF7B-BC49579EF0CE}">
          <p14:sldIdLst>
            <p14:sldId id="493"/>
            <p14:sldId id="511"/>
            <p14:sldId id="494"/>
            <p14:sldId id="510"/>
          </p14:sldIdLst>
        </p14:section>
        <p14:section name="DP2-stale" id="{04C2DC1B-B75D-49C3-8C4B-258B35B266BF}">
          <p14:sldIdLst>
            <p14:sldId id="507"/>
            <p14:sldId id="508"/>
            <p14:sldId id="505"/>
            <p14:sldId id="509"/>
            <p14:sldId id="498"/>
            <p14:sldId id="499"/>
            <p14:sldId id="495"/>
            <p14:sldId id="497"/>
            <p14:sldId id="491"/>
            <p14:sldId id="492"/>
            <p14:sldId id="473"/>
            <p14:sldId id="469"/>
          </p14:sldIdLst>
        </p14:section>
        <p14:section name="DP3" id="{5053DDD8-1FF6-4628-88BD-15248D14C26A}">
          <p14:sldIdLst>
            <p14:sldId id="474"/>
            <p14:sldId id="475"/>
          </p14:sldIdLst>
        </p14:section>
        <p14:section name="DP3-stale" id="{3C07D0D1-354C-45BA-8E5E-CA726A33E42E}">
          <p14:sldIdLst>
            <p14:sldId id="478"/>
            <p14:sldId id="479"/>
            <p14:sldId id="480"/>
            <p14:sldId id="476"/>
            <p14:sldId id="477"/>
            <p14:sldId id="450"/>
            <p14:sldId id="451"/>
            <p14:sldId id="483"/>
            <p14:sldId id="463"/>
            <p14:sldId id="457"/>
            <p14:sldId id="465"/>
            <p14:sldId id="466"/>
            <p14:sldId id="458"/>
            <p14:sldId id="459"/>
            <p14:sldId id="456"/>
            <p14:sldId id="464"/>
            <p14:sldId id="460"/>
            <p14:sldId id="462"/>
            <p14:sldId id="467"/>
            <p14:sldId id="468"/>
            <p14:sldId id="470"/>
            <p14:sldId id="471"/>
            <p14:sldId id="472"/>
            <p14:sldId id="435"/>
            <p14:sldId id="442"/>
            <p14:sldId id="447"/>
            <p14:sldId id="448"/>
            <p14:sldId id="449"/>
            <p14:sldId id="446"/>
            <p14:sldId id="436"/>
            <p14:sldId id="438"/>
            <p14:sldId id="441"/>
            <p14:sldId id="434"/>
            <p14:sldId id="433"/>
            <p14:sldId id="429"/>
            <p14:sldId id="413"/>
            <p14:sldId id="417"/>
            <p14:sldId id="415"/>
            <p14:sldId id="419"/>
            <p14:sldId id="418"/>
            <p14:sldId id="420"/>
            <p14:sldId id="421"/>
            <p14:sldId id="424"/>
            <p14:sldId id="422"/>
            <p14:sldId id="423"/>
            <p14:sldId id="401"/>
            <p14:sldId id="402"/>
            <p14:sldId id="391"/>
            <p14:sldId id="392"/>
            <p14:sldId id="403"/>
            <p14:sldId id="393"/>
            <p14:sldId id="404"/>
            <p14:sldId id="405"/>
            <p14:sldId id="396"/>
            <p14:sldId id="389"/>
            <p14:sldId id="400"/>
            <p14:sldId id="394"/>
            <p14:sldId id="409"/>
            <p14:sldId id="259"/>
            <p14:sldId id="367"/>
            <p14:sldId id="276"/>
            <p14:sldId id="277"/>
            <p14:sldId id="261"/>
            <p14:sldId id="383"/>
            <p14:sldId id="364"/>
            <p14:sldId id="361"/>
            <p14:sldId id="362"/>
            <p14:sldId id="263"/>
            <p14:sldId id="265"/>
            <p14:sldId id="360"/>
            <p14:sldId id="363"/>
            <p14:sldId id="264"/>
            <p14:sldId id="268"/>
            <p14:sldId id="270"/>
            <p14:sldId id="271"/>
            <p14:sldId id="272"/>
            <p14:sldId id="369"/>
            <p14:sldId id="376"/>
            <p14:sldId id="377"/>
            <p14:sldId id="382"/>
            <p14:sldId id="388"/>
            <p14:sldId id="372"/>
            <p14:sldId id="384"/>
            <p14:sldId id="381"/>
            <p14:sldId id="378"/>
            <p14:sldId id="379"/>
            <p14:sldId id="380"/>
            <p14:sldId id="274"/>
            <p14:sldId id="275"/>
            <p14:sldId id="278"/>
            <p14:sldId id="368"/>
            <p14:sldId id="386"/>
            <p14:sldId id="365"/>
            <p14:sldId id="366"/>
            <p14:sldId id="387"/>
            <p14:sldId id="385"/>
            <p14:sldId id="373"/>
            <p14:sldId id="374"/>
            <p14:sldId id="375"/>
            <p14:sldId id="370"/>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406"/>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408"/>
            <p14:sldId id="410"/>
            <p14:sldId id="43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a:srgbClr val="0000FF"/>
    <a:srgbClr val="F5F9FD"/>
    <a:srgbClr val="F1E1FF"/>
    <a:srgbClr val="E6D4FE"/>
    <a:srgbClr val="FDD5FA"/>
    <a:srgbClr val="FFFFFF"/>
    <a:srgbClr val="FDF3ED"/>
    <a:srgbClr val="D9D9D9"/>
    <a:srgbClr val="E7F0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67" autoAdjust="0"/>
    <p:restoredTop sz="90806" autoAdjust="0"/>
  </p:normalViewPr>
  <p:slideViewPr>
    <p:cSldViewPr snapToGrid="0">
      <p:cViewPr varScale="1">
        <p:scale>
          <a:sx n="90" d="100"/>
          <a:sy n="90" d="100"/>
        </p:scale>
        <p:origin x="114" y="1410"/>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9" Type="http://schemas.openxmlformats.org/officeDocument/2006/relationships/slide" Target="slides/slide28.xml"/><Relationship Id="rId30" Type="http://schemas.openxmlformats.org/officeDocument/2006/relationships/slide" Target="slides/slide29.xml"/><Relationship Id="rId230" Type="http://schemas.openxmlformats.org/officeDocument/2006/relationships/notesMaster" Target="notesMasters/notesMaster1.xml"/><Relationship Id="rId231" Type="http://schemas.openxmlformats.org/officeDocument/2006/relationships/presProps" Target="presProps.xml"/><Relationship Id="rId232" Type="http://schemas.openxmlformats.org/officeDocument/2006/relationships/viewProps" Target="viewProps.xml"/><Relationship Id="rId233" Type="http://schemas.openxmlformats.org/officeDocument/2006/relationships/theme" Target="theme/theme1.xml"/><Relationship Id="rId2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E6DFF4-997A-46AB-885E-08C25B81A166}" type="datetimeFigureOut">
              <a:rPr lang="ko-KR" altLang="en-US" smtClean="0"/>
              <a:t>2026-09-09</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B17B06-B204-4E73-B04E-053CD704EFD3}" type="slidenum">
              <a:rPr lang="ko-KR" altLang="en-US" smtClean="0"/>
              <a:t>‹#›</a:t>
            </a:fld>
            <a:endParaRPr lang="ko-KR" altLang="en-US"/>
          </a:p>
        </p:txBody>
      </p:sp>
    </p:spTree>
    <p:extLst>
      <p:ext uri="{BB962C8B-B14F-4D97-AF65-F5344CB8AC3E}">
        <p14:creationId xmlns:p14="http://schemas.microsoft.com/office/powerpoint/2010/main" val="145527027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[Prefill / Decode 배경 설명]</a:t>
            </a:r>
          </a:p>
          <a:p>
            <a:r>
              <a:t>1) LLM이 답 하나를 만드는 과정은 두 단계입니다. 먼저 Prefill에서 질문 전체(여기서는 2,000 토큰)를 한 번에 읽어 KV 캐시를 만들고, 그 다음 Decode에서 답을 토큰 1개씩 순차적으로 생성합니다. Prefill 시간이 첫 글자가 나오기까지의 대기 시간을, Decode 속도가 글자가 이어지는 속도를 결정합니다.</a:t>
            </a:r>
          </a:p>
          <a:p>
            <a:r>
              <a:t>2) 두 단계는 필요로 하는 자원이 정반대입니다. Prefill은 수천 토큰을 한꺼번에 처리하므로 GPU 연산기를 포화시키는 compute-bound 작업이고, Decode는 토큰 1개를 만들 때마다 KV 캐시 전체를 다시 읽어야 하므로 메모리 대역폭이 병목인 memory-bound 작업입니다.</a:t>
            </a:r>
          </a:p>
          <a:p>
            <a:r>
              <a:t>3) 두 작업을 같은 GPU에서 섞으면 긴 Prefill이 진행 중인 Decode를 멈춰 세워 응답이 끊깁니다. 그래서 최근 추론 시스템은 Prefill 전용 노드(P)와 Decode 전용 노드(D)를 분리합니다. 다만 분리하면 P에서 만든 KV 캐시를 D로 옮겨야 하므로 전송 비용이 새로 생깁니다.</a:t>
            </a:r>
          </a:p>
          <a:p>
            <a:r>
              <a:t>4) 즉 P/D 분리는 공짜가 아니며, 입력이 작거나 KV가 이미 D에 있는 경우에는 D에서 바로 Prefill 하는 편이 나을 수 있습니다. 어느 쪽이 유리한지가 상황마다 달라진다는 점이 DP2의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[Turn 예시 - 실행 위치가 매번 바뀌는 이유]</a:t>
            </a:r>
          </a:p>
          <a:p>
            <a:r>
              <a:t>Turn 1은 첫 질문이라 옮길 KV 캐시가 없어 기본 경로인 P 노드 Prefill이 맞습니다.</a:t>
            </a:r>
          </a:p>
          <a:p>
            <a:r>
              <a:t>Turn 2는 Tool 결과 100 토큰만 추가된 상황입니다. 할 일이 적은데 P로 보내면 KV 전송 비용과 P 노드 대기 시간이 연산 이득보다 커집니다. KV가 이미 D에 있으므로 D에서 바로 처리하는 것이 유리합니다.</a:t>
            </a:r>
          </a:p>
          <a:p>
            <a:r>
              <a:t>Turn 3은 Tool 결과가 1,000 토큰으로 큽니다. 이 정도 Prefill을 D에서 수행하면 D가 돌리고 있던 다른 사용자의 Decode가 멈춥니다. 마침 P 노드가 한가하므로 P로 보내는 편이 전체적으로 이득입니다.</a:t>
            </a:r>
          </a:p>
          <a:p>
            <a:r>
              <a:t>세 경우 모두 같은 Agent 대화이지만 판단 결과가 다릅니다. 고정된 규칙 하나로는 대응할 수 없고, 입력 크기·KV 캐시 위치·노드 부하를 함께 보는 결정 구조가 필요하다는 것이 아래 설계 쟁점입니다.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042151"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22" name="갈매기형 수장 21"/>
          <p:cNvSpPr/>
          <p:nvPr userDrawn="1"/>
        </p:nvSpPr>
        <p:spPr>
          <a:xfrm>
            <a:off x="7390047"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282529"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18144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073928"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0966411"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38684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a:solidFill>
                <a:schemeClr val="bg1"/>
              </a:solidFill>
            </a:endParaRPr>
          </a:p>
        </p:txBody>
      </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597889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9883F9-11C6-43F9-9CCF-256006557EC2}" type="datetimeFigureOut">
              <a:rPr lang="ko-KR" altLang="en-US" smtClean="0"/>
              <a:t>2026-09-09</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44F6AC5-D4FC-4374-A58A-50B206F924DB}" type="slidenum">
              <a:rPr lang="ko-KR" altLang="en-US" smtClean="0"/>
              <a:t>‹#›</a:t>
            </a:fld>
            <a:endParaRPr lang="ko-KR" altLang="en-US"/>
          </a:p>
        </p:txBody>
      </p:sp>
    </p:spTree>
    <p:extLst>
      <p:ext uri="{BB962C8B-B14F-4D97-AF65-F5344CB8AC3E}">
        <p14:creationId xmlns:p14="http://schemas.microsoft.com/office/powerpoint/2010/main" val="1323046487"/>
      </p:ext>
    </p:extLst>
  </p:cSld>
  <p:clrMap bg1="lt1" tx1="dk1" bg2="lt2" tx2="dk2" accent1="accent1" accent2="accent2" accent3="accent3" accent4="accent4" accent5="accent5" accent6="accent6" hlink="hlink" folHlink="folHlink"/>
  <p:sldLayoutIdLst>
    <p:sldLayoutId id="2147483677" r:id="rId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image" Target="../media/image32.png"/><Relationship Id="rId13" Type="http://schemas.openxmlformats.org/officeDocument/2006/relationships/image" Target="../media/image33.png"/><Relationship Id="rId14" Type="http://schemas.openxmlformats.org/officeDocument/2006/relationships/image" Target="../media/image34.png"/><Relationship Id="rId15" Type="http://schemas.openxmlformats.org/officeDocument/2006/relationships/image" Target="../media/image35.png"/><Relationship Id="rId16" Type="http://schemas.openxmlformats.org/officeDocument/2006/relationships/image" Target="../media/image36.png"/><Relationship Id="rId17" Type="http://schemas.openxmlformats.org/officeDocument/2006/relationships/image" Target="../media/image37.png"/><Relationship Id="rId18" Type="http://schemas.openxmlformats.org/officeDocument/2006/relationships/image" Target="../media/image38.png"/><Relationship Id="rId19" Type="http://schemas.openxmlformats.org/officeDocument/2006/relationships/image" Target="../media/image39.png"/><Relationship Id="rId20" Type="http://schemas.openxmlformats.org/officeDocument/2006/relationships/notesSlide" Target="../notesSlides/notesSlide174.xml"/></Relationships>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smtClean="0"/>
              <a:t>DP2. </a:t>
            </a:r>
            <a:r>
              <a:rPr lang="ko-KR" altLang="en-US" dirty="0" smtClean="0"/>
              <a:t>이기종 메모리 환경의 </a:t>
            </a:r>
            <a:r>
              <a:rPr lang="en-US" altLang="ko-KR" dirty="0" smtClean="0"/>
              <a:t>Prefill </a:t>
            </a:r>
            <a:r>
              <a:rPr lang="ko-KR" altLang="en-US" dirty="0" smtClean="0"/>
              <a:t>실행 위치 결정 구조 </a:t>
            </a:r>
            <a:r>
              <a:rPr lang="en-US" altLang="ko-KR" dirty="0" smtClean="0"/>
              <a:t>- </a:t>
            </a:r>
            <a:r>
              <a:rPr lang="en-US" altLang="ko-KR" dirty="0" smtClean="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ounded Rectangle 101"/>
          <p:cNvSpPr/>
          <p:nvPr/>
        </p:nvSpPr>
        <p:spPr>
          <a:xfrm>
            <a:off x="347472" y="621792"/>
            <a:ext cx="1691640" cy="301752"/>
          </a:xfrm>
          <a:prstGeom prst="roundRect">
            <a:avLst>
              <a:gd name="adj" fmla="val 16000"/>
            </a:avLst>
          </a:prstGeom>
          <a:solidFill>
            <a:srgbClr val="A8C6E8"/>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50" b="1" i="0">
                <a:solidFill>
                  <a:srgbClr val="1F3864"/>
                </a:solidFill>
                <a:latin typeface="맑은 고딕"/>
                <a:ea typeface="맑은 고딕"/>
                <a:cs typeface="맑은 고딕"/>
              </a:rPr>
              <a:t>Prefill / Decode 란?</a:t>
            </a:r>
          </a:p>
        </p:txBody>
      </p:sp>
      <p:sp>
        <p:nvSpPr>
          <p:cNvPr id="103" name="TextBox 102"/>
          <p:cNvSpPr txBox="1"/>
          <p:nvPr/>
        </p:nvSpPr>
        <p:spPr>
          <a:xfrm>
            <a:off x="2157984" y="621792"/>
            <a:ext cx="9683496" cy="301752"/>
          </a:xfrm>
          <a:prstGeom prst="rect">
            <a:avLst/>
          </a:prstGeom>
          <a:noFill/>
        </p:spPr>
        <p:txBody>
          <a:bodyPr wrap="square" lIns="0" rIns="0" tIns="0" bIns="0" anchor="ctr">
            <a:spAutoFit/>
          </a:bodyPr>
          <a:lstStyle/>
          <a:p>
            <a:pPr algn="l">
              <a:lnSpc>
                <a:spcPct val="100000"/>
              </a:lnSpc>
              <a:spcAft>
                <a:spcPts val="0"/>
              </a:spcAft>
            </a:pPr>
            <a:r>
              <a:rPr sz="1050" b="0" i="0">
                <a:solidFill>
                  <a:srgbClr val="000000"/>
                </a:solidFill>
                <a:latin typeface="맑은 고딕"/>
                <a:ea typeface="맑은 고딕"/>
                <a:cs typeface="맑은 고딕"/>
              </a:rPr>
              <a:t>LLM 추론은 질문을 한 번에 읽는 Prefill과 답을 한 토큰씩 쓰는 Decode로 나뉨   </a:t>
            </a:r>
            <a:r>
              <a:rPr sz="1050" b="1" i="0">
                <a:solidFill>
                  <a:srgbClr val="2E75B6"/>
                </a:solidFill>
                <a:latin typeface="맑은 고딕"/>
                <a:ea typeface="맑은 고딕"/>
                <a:cs typeface="맑은 고딕"/>
              </a:rPr>
              <a:t>→ 두 단계는 필요로 하는 자원이 정반대</a:t>
            </a:r>
          </a:p>
        </p:txBody>
      </p:sp>
      <p:sp>
        <p:nvSpPr>
          <p:cNvPr id="104" name="Rounded Rectangle 103"/>
          <p:cNvSpPr/>
          <p:nvPr/>
        </p:nvSpPr>
        <p:spPr>
          <a:xfrm>
            <a:off x="347472" y="1051560"/>
            <a:ext cx="11494008" cy="1719072"/>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05" name="Oval 104"/>
          <p:cNvSpPr/>
          <p:nvPr/>
        </p:nvSpPr>
        <p:spPr>
          <a:xfrm>
            <a:off x="493776" y="1188719"/>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00" b="1" i="0">
                <a:solidFill>
                  <a:srgbClr val="FFFFFF"/>
                </a:solidFill>
                <a:latin typeface="맑은 고딕"/>
                <a:ea typeface="맑은 고딕"/>
                <a:cs typeface="맑은 고딕"/>
              </a:rPr>
              <a:t>1</a:t>
            </a:r>
          </a:p>
        </p:txBody>
      </p:sp>
      <p:sp>
        <p:nvSpPr>
          <p:cNvPr id="106" name="TextBox 105"/>
          <p:cNvSpPr txBox="1"/>
          <p:nvPr/>
        </p:nvSpPr>
        <p:spPr>
          <a:xfrm>
            <a:off x="841248" y="1197863"/>
            <a:ext cx="10853928" cy="274320"/>
          </a:xfrm>
          <a:prstGeom prst="rect">
            <a:avLst/>
          </a:prstGeom>
          <a:noFill/>
        </p:spPr>
        <p:txBody>
          <a:bodyPr wrap="square" lIns="0" rIns="0" tIns="0" bIns="0" anchor="ctr">
            <a:spAutoFit/>
          </a:bodyPr>
          <a:lstStyle/>
          <a:p>
            <a:pPr algn="l">
              <a:lnSpc>
                <a:spcPct val="100000"/>
              </a:lnSpc>
              <a:spcAft>
                <a:spcPts val="0"/>
              </a:spcAft>
            </a:pPr>
            <a:r>
              <a:rPr sz="1150" b="1" i="0">
                <a:solidFill>
                  <a:srgbClr val="1F3864"/>
                </a:solidFill>
                <a:latin typeface="맑은 고딕"/>
                <a:ea typeface="맑은 고딕"/>
                <a:cs typeface="맑은 고딕"/>
              </a:rPr>
              <a:t>답 하나를 만드는 과정</a:t>
            </a:r>
          </a:p>
        </p:txBody>
      </p:sp>
      <p:sp>
        <p:nvSpPr>
          <p:cNvPr id="107" name="Rounded Rectangle 106"/>
          <p:cNvSpPr/>
          <p:nvPr/>
        </p:nvSpPr>
        <p:spPr>
          <a:xfrm>
            <a:off x="566928" y="1618488"/>
            <a:ext cx="1700784" cy="566928"/>
          </a:xfrm>
          <a:prstGeom prst="roundRect">
            <a:avLst>
              <a:gd name="adj" fmla="val 10000"/>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100"/>
              </a:spcAft>
            </a:pPr>
            <a:r>
              <a:rPr sz="900" b="1" i="0">
                <a:solidFill>
                  <a:srgbClr val="000000"/>
                </a:solidFill>
                <a:latin typeface="맑은 고딕"/>
                <a:ea typeface="맑은 고딕"/>
                <a:cs typeface="맑은 고딕"/>
              </a:rPr>
              <a:t>사용자 질문</a:t>
            </a:r>
          </a:p>
          <a:p>
            <a:pPr algn="ctr">
              <a:lnSpc>
                <a:spcPct val="100000"/>
              </a:lnSpc>
              <a:spcAft>
                <a:spcPts val="0"/>
              </a:spcAft>
            </a:pPr>
            <a:r>
              <a:rPr sz="800" b="0" i="0">
                <a:solidFill>
                  <a:srgbClr val="595959"/>
                </a:solidFill>
                <a:latin typeface="맑은 고딕"/>
                <a:ea typeface="맑은 고딕"/>
                <a:cs typeface="맑은 고딕"/>
              </a:rPr>
              <a:t>2,000 토큰</a:t>
            </a:r>
          </a:p>
        </p:txBody>
      </p:sp>
      <p:sp>
        <p:nvSpPr>
          <p:cNvPr id="108" name="Right Arrow 107"/>
          <p:cNvSpPr/>
          <p:nvPr/>
        </p:nvSpPr>
        <p:spPr>
          <a:xfrm>
            <a:off x="2340864" y="1819656"/>
            <a:ext cx="237744" cy="164592"/>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09" name="Rounded Rectangle 108"/>
          <p:cNvSpPr/>
          <p:nvPr/>
        </p:nvSpPr>
        <p:spPr>
          <a:xfrm>
            <a:off x="2688336" y="1618488"/>
            <a:ext cx="2962656" cy="566928"/>
          </a:xfrm>
          <a:prstGeom prst="roundRect">
            <a:avLst>
              <a:gd name="adj" fmla="val 10000"/>
            </a:avLst>
          </a:prstGeom>
          <a:solidFill>
            <a:srgbClr val="FBE5D6"/>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100"/>
              </a:spcAft>
            </a:pPr>
            <a:r>
              <a:rPr sz="1100" b="1" i="0">
                <a:solidFill>
                  <a:srgbClr val="C55A11"/>
                </a:solidFill>
                <a:latin typeface="맑은 고딕"/>
                <a:ea typeface="맑은 고딕"/>
                <a:cs typeface="맑은 고딕"/>
              </a:rPr>
              <a:t>Prefill</a:t>
            </a:r>
          </a:p>
          <a:p>
            <a:pPr algn="ctr">
              <a:lnSpc>
                <a:spcPct val="100000"/>
              </a:lnSpc>
              <a:spcAft>
                <a:spcPts val="0"/>
              </a:spcAft>
            </a:pPr>
            <a:r>
              <a:rPr sz="800" b="0" i="0">
                <a:solidFill>
                  <a:srgbClr val="595959"/>
                </a:solidFill>
                <a:latin typeface="맑은 고딕"/>
                <a:ea typeface="맑은 고딕"/>
                <a:cs typeface="맑은 고딕"/>
              </a:rPr>
              <a:t>입력 2,000 토큰을 한 번에 읽어 KV 캐시 생성</a:t>
            </a:r>
          </a:p>
        </p:txBody>
      </p:sp>
      <p:sp>
        <p:nvSpPr>
          <p:cNvPr id="110" name="Right Arrow 109"/>
          <p:cNvSpPr/>
          <p:nvPr/>
        </p:nvSpPr>
        <p:spPr>
          <a:xfrm>
            <a:off x="5724144" y="1819656"/>
            <a:ext cx="237744" cy="164592"/>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11" name="Rounded Rectangle 110"/>
          <p:cNvSpPr/>
          <p:nvPr/>
        </p:nvSpPr>
        <p:spPr>
          <a:xfrm>
            <a:off x="6071616"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오</a:t>
            </a:r>
          </a:p>
        </p:txBody>
      </p:sp>
      <p:sp>
        <p:nvSpPr>
          <p:cNvPr id="112" name="Rounded Rectangle 111"/>
          <p:cNvSpPr/>
          <p:nvPr/>
        </p:nvSpPr>
        <p:spPr>
          <a:xfrm>
            <a:off x="6510527"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늘</a:t>
            </a:r>
          </a:p>
        </p:txBody>
      </p:sp>
      <p:sp>
        <p:nvSpPr>
          <p:cNvPr id="113" name="Rounded Rectangle 112"/>
          <p:cNvSpPr/>
          <p:nvPr/>
        </p:nvSpPr>
        <p:spPr>
          <a:xfrm>
            <a:off x="6949440"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은</a:t>
            </a:r>
          </a:p>
        </p:txBody>
      </p:sp>
      <p:sp>
        <p:nvSpPr>
          <p:cNvPr id="114" name="Rounded Rectangle 113"/>
          <p:cNvSpPr/>
          <p:nvPr/>
        </p:nvSpPr>
        <p:spPr>
          <a:xfrm>
            <a:off x="7388352"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맑</a:t>
            </a:r>
          </a:p>
        </p:txBody>
      </p:sp>
      <p:sp>
        <p:nvSpPr>
          <p:cNvPr id="115" name="Rounded Rectangle 114"/>
          <p:cNvSpPr/>
          <p:nvPr/>
        </p:nvSpPr>
        <p:spPr>
          <a:xfrm>
            <a:off x="7827264"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고</a:t>
            </a:r>
          </a:p>
        </p:txBody>
      </p:sp>
      <p:sp>
        <p:nvSpPr>
          <p:cNvPr id="116" name="Rounded Rectangle 115"/>
          <p:cNvSpPr/>
          <p:nvPr/>
        </p:nvSpPr>
        <p:spPr>
          <a:xfrm>
            <a:off x="8266176"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바</a:t>
            </a:r>
          </a:p>
        </p:txBody>
      </p:sp>
      <p:sp>
        <p:nvSpPr>
          <p:cNvPr id="117" name="Rounded Rectangle 116"/>
          <p:cNvSpPr/>
          <p:nvPr/>
        </p:nvSpPr>
        <p:spPr>
          <a:xfrm>
            <a:off x="8705088"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람</a:t>
            </a:r>
          </a:p>
        </p:txBody>
      </p:sp>
      <p:sp>
        <p:nvSpPr>
          <p:cNvPr id="118" name="Rounded Rectangle 117"/>
          <p:cNvSpPr/>
          <p:nvPr/>
        </p:nvSpPr>
        <p:spPr>
          <a:xfrm>
            <a:off x="9144000"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이</a:t>
            </a:r>
          </a:p>
        </p:txBody>
      </p:sp>
      <p:sp>
        <p:nvSpPr>
          <p:cNvPr id="119" name="Rounded Rectangle 118"/>
          <p:cNvSpPr/>
          <p:nvPr/>
        </p:nvSpPr>
        <p:spPr>
          <a:xfrm>
            <a:off x="9582912"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a:t>
            </a:r>
          </a:p>
        </p:txBody>
      </p:sp>
      <p:sp>
        <p:nvSpPr>
          <p:cNvPr id="120" name="Rounded Rectangle 119"/>
          <p:cNvSpPr/>
          <p:nvPr/>
        </p:nvSpPr>
        <p:spPr>
          <a:xfrm>
            <a:off x="10113264" y="1618488"/>
            <a:ext cx="1517904" cy="566928"/>
          </a:xfrm>
          <a:prstGeom prst="roundRect">
            <a:avLst>
              <a:gd name="adj" fmla="val 10000"/>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900" b="1" i="0">
                <a:solidFill>
                  <a:srgbClr val="000000"/>
                </a:solidFill>
                <a:latin typeface="맑은 고딕"/>
                <a:ea typeface="맑은 고딕"/>
                <a:cs typeface="맑은 고딕"/>
              </a:rPr>
              <a:t>답 완성</a:t>
            </a:r>
          </a:p>
        </p:txBody>
      </p:sp>
      <p:sp>
        <p:nvSpPr>
          <p:cNvPr id="121" name="TextBox 120"/>
          <p:cNvSpPr txBox="1"/>
          <p:nvPr/>
        </p:nvSpPr>
        <p:spPr>
          <a:xfrm>
            <a:off x="2688336" y="2240280"/>
            <a:ext cx="2962656" cy="219456"/>
          </a:xfrm>
          <a:prstGeom prst="rect">
            <a:avLst/>
          </a:prstGeom>
          <a:noFill/>
        </p:spPr>
        <p:txBody>
          <a:bodyPr wrap="square" lIns="0" rIns="0" tIns="0" bIns="0" anchor="t">
            <a:spAutoFit/>
          </a:bodyPr>
          <a:lstStyle/>
          <a:p>
            <a:pPr algn="ctr">
              <a:lnSpc>
                <a:spcPct val="100000"/>
              </a:lnSpc>
              <a:spcAft>
                <a:spcPts val="0"/>
              </a:spcAft>
            </a:pPr>
            <a:r>
              <a:rPr sz="800" b="0" i="0">
                <a:solidFill>
                  <a:srgbClr val="C55A11"/>
                </a:solidFill>
                <a:latin typeface="맑은 고딕"/>
                <a:ea typeface="맑은 고딕"/>
                <a:cs typeface="맑은 고딕"/>
              </a:rPr>
              <a:t>한 번 실행 · 오래 걸림</a:t>
            </a:r>
          </a:p>
        </p:txBody>
      </p:sp>
      <p:sp>
        <p:nvSpPr>
          <p:cNvPr id="122" name="TextBox 121"/>
          <p:cNvSpPr txBox="1"/>
          <p:nvPr/>
        </p:nvSpPr>
        <p:spPr>
          <a:xfrm>
            <a:off x="6071616" y="2240280"/>
            <a:ext cx="3895344" cy="219456"/>
          </a:xfrm>
          <a:prstGeom prst="rect">
            <a:avLst/>
          </a:prstGeom>
          <a:noFill/>
        </p:spPr>
        <p:txBody>
          <a:bodyPr wrap="square" lIns="0" rIns="0" tIns="0" bIns="0" anchor="t">
            <a:spAutoFit/>
          </a:bodyPr>
          <a:lstStyle/>
          <a:p>
            <a:pPr algn="ctr">
              <a:lnSpc>
                <a:spcPct val="100000"/>
              </a:lnSpc>
              <a:spcAft>
                <a:spcPts val="0"/>
              </a:spcAft>
            </a:pPr>
            <a:r>
              <a:rPr sz="800" b="1" i="0">
                <a:solidFill>
                  <a:srgbClr val="1F3864"/>
                </a:solidFill>
                <a:latin typeface="맑은 고딕"/>
                <a:ea typeface="맑은 고딕"/>
                <a:cs typeface="맑은 고딕"/>
              </a:rPr>
              <a:t>Decode — 토큰 1개씩 순차 생성 (답 길이만큼 반복)</a:t>
            </a:r>
          </a:p>
        </p:txBody>
      </p:sp>
      <p:sp>
        <p:nvSpPr>
          <p:cNvPr id="123" name="TextBox 122"/>
          <p:cNvSpPr txBox="1"/>
          <p:nvPr/>
        </p:nvSpPr>
        <p:spPr>
          <a:xfrm>
            <a:off x="566928" y="2459736"/>
            <a:ext cx="5084064" cy="201168"/>
          </a:xfrm>
          <a:prstGeom prst="rect">
            <a:avLst/>
          </a:prstGeom>
          <a:noFill/>
        </p:spPr>
        <p:txBody>
          <a:bodyPr wrap="square" lIns="0" rIns="0" tIns="0" bIns="0" anchor="t">
            <a:spAutoFit/>
          </a:bodyPr>
          <a:lstStyle/>
          <a:p>
            <a:pPr algn="l">
              <a:lnSpc>
                <a:spcPct val="100000"/>
              </a:lnSpc>
              <a:spcAft>
                <a:spcPts val="0"/>
              </a:spcAft>
            </a:pPr>
            <a:r>
              <a:rPr sz="800" b="0" i="0">
                <a:solidFill>
                  <a:srgbClr val="808080"/>
                </a:solidFill>
                <a:latin typeface="맑은 고딕"/>
                <a:ea typeface="맑은 고딕"/>
                <a:cs typeface="맑은 고딕"/>
              </a:rPr>
              <a:t>↳ 첫 글자가 나오기까지의 시간을 결정</a:t>
            </a:r>
          </a:p>
        </p:txBody>
      </p:sp>
      <p:sp>
        <p:nvSpPr>
          <p:cNvPr id="124" name="TextBox 123"/>
          <p:cNvSpPr txBox="1"/>
          <p:nvPr/>
        </p:nvSpPr>
        <p:spPr>
          <a:xfrm>
            <a:off x="6071616" y="2459736"/>
            <a:ext cx="5559552" cy="201168"/>
          </a:xfrm>
          <a:prstGeom prst="rect">
            <a:avLst/>
          </a:prstGeom>
          <a:noFill/>
        </p:spPr>
        <p:txBody>
          <a:bodyPr wrap="square" lIns="0" rIns="0" tIns="0" bIns="0" anchor="t">
            <a:spAutoFit/>
          </a:bodyPr>
          <a:lstStyle/>
          <a:p>
            <a:pPr algn="l">
              <a:lnSpc>
                <a:spcPct val="100000"/>
              </a:lnSpc>
              <a:spcAft>
                <a:spcPts val="0"/>
              </a:spcAft>
            </a:pPr>
            <a:r>
              <a:rPr sz="800" b="0" i="0">
                <a:solidFill>
                  <a:srgbClr val="808080"/>
                </a:solidFill>
                <a:latin typeface="맑은 고딕"/>
                <a:ea typeface="맑은 고딕"/>
                <a:cs typeface="맑은 고딕"/>
              </a:rPr>
              <a:t>↳ 글자가 이어져 나오는 속도를 결정</a:t>
            </a:r>
          </a:p>
        </p:txBody>
      </p:sp>
      <p:sp>
        <p:nvSpPr>
          <p:cNvPr id="125" name="Rounded Rectangle 124"/>
          <p:cNvSpPr/>
          <p:nvPr/>
        </p:nvSpPr>
        <p:spPr>
          <a:xfrm>
            <a:off x="347472" y="2907792"/>
            <a:ext cx="6766560" cy="2157984"/>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26" name="Oval 125"/>
          <p:cNvSpPr/>
          <p:nvPr/>
        </p:nvSpPr>
        <p:spPr>
          <a:xfrm>
            <a:off x="493776" y="3044952"/>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00" b="1" i="0">
                <a:solidFill>
                  <a:srgbClr val="FFFFFF"/>
                </a:solidFill>
                <a:latin typeface="맑은 고딕"/>
                <a:ea typeface="맑은 고딕"/>
                <a:cs typeface="맑은 고딕"/>
              </a:rPr>
              <a:t>2</a:t>
            </a:r>
          </a:p>
        </p:txBody>
      </p:sp>
      <p:sp>
        <p:nvSpPr>
          <p:cNvPr id="127" name="TextBox 126"/>
          <p:cNvSpPr txBox="1"/>
          <p:nvPr/>
        </p:nvSpPr>
        <p:spPr>
          <a:xfrm>
            <a:off x="841248" y="3054096"/>
            <a:ext cx="6126480" cy="274320"/>
          </a:xfrm>
          <a:prstGeom prst="rect">
            <a:avLst/>
          </a:prstGeom>
          <a:noFill/>
        </p:spPr>
        <p:txBody>
          <a:bodyPr wrap="square" lIns="0" rIns="0" tIns="0" bIns="0" anchor="ctr">
            <a:spAutoFit/>
          </a:bodyPr>
          <a:lstStyle/>
          <a:p>
            <a:pPr algn="l">
              <a:lnSpc>
                <a:spcPct val="100000"/>
              </a:lnSpc>
              <a:spcAft>
                <a:spcPts val="0"/>
              </a:spcAft>
            </a:pPr>
            <a:r>
              <a:rPr sz="1150" b="1" i="0">
                <a:solidFill>
                  <a:srgbClr val="1F3864"/>
                </a:solidFill>
                <a:latin typeface="맑은 고딕"/>
                <a:ea typeface="맑은 고딕"/>
                <a:cs typeface="맑은 고딕"/>
              </a:rPr>
              <a:t>두 단계는 필요로 하는 자원이 정반대</a:t>
            </a:r>
          </a:p>
        </p:txBody>
      </p:sp>
      <p:sp>
        <p:nvSpPr>
          <p:cNvPr id="128" name="Rounded Rectangle 127"/>
          <p:cNvSpPr/>
          <p:nvPr/>
        </p:nvSpPr>
        <p:spPr>
          <a:xfrm>
            <a:off x="1627631" y="3346704"/>
            <a:ext cx="2615184" cy="256032"/>
          </a:xfrm>
          <a:prstGeom prst="roundRect">
            <a:avLst>
              <a:gd name="adj" fmla="val 14000"/>
            </a:avLst>
          </a:prstGeom>
          <a:solidFill>
            <a:srgbClr val="FBE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950" b="1" i="0">
                <a:solidFill>
                  <a:srgbClr val="C55A11"/>
                </a:solidFill>
                <a:latin typeface="맑은 고딕"/>
                <a:ea typeface="맑은 고딕"/>
                <a:cs typeface="맑은 고딕"/>
              </a:rPr>
              <a:t>Prefill  (읽기)</a:t>
            </a:r>
          </a:p>
        </p:txBody>
      </p:sp>
      <p:sp>
        <p:nvSpPr>
          <p:cNvPr id="129" name="Rounded Rectangle 128"/>
          <p:cNvSpPr/>
          <p:nvPr/>
        </p:nvSpPr>
        <p:spPr>
          <a:xfrm>
            <a:off x="4261104" y="3346704"/>
            <a:ext cx="2651760" cy="256032"/>
          </a:xfrm>
          <a:prstGeom prst="roundRect">
            <a:avLst>
              <a:gd name="adj" fmla="val 14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950" b="1" i="0">
                <a:solidFill>
                  <a:srgbClr val="1F3864"/>
                </a:solidFill>
                <a:latin typeface="맑은 고딕"/>
                <a:ea typeface="맑은 고딕"/>
                <a:cs typeface="맑은 고딕"/>
              </a:rPr>
              <a:t>Decode  (쓰기)</a:t>
            </a:r>
          </a:p>
        </p:txBody>
      </p:sp>
      <p:sp>
        <p:nvSpPr>
          <p:cNvPr id="130" name="TextBox 129"/>
          <p:cNvSpPr txBox="1"/>
          <p:nvPr/>
        </p:nvSpPr>
        <p:spPr>
          <a:xfrm>
            <a:off x="512064" y="3639312"/>
            <a:ext cx="1097280" cy="347472"/>
          </a:xfrm>
          <a:prstGeom prst="rect">
            <a:avLst/>
          </a:prstGeom>
          <a:noFill/>
        </p:spPr>
        <p:txBody>
          <a:bodyPr wrap="square" lIns="0" rIns="0" tIns="0" bIns="0" anchor="ctr">
            <a:spAutoFit/>
          </a:bodyPr>
          <a:lstStyle/>
          <a:p>
            <a:pPr algn="l">
              <a:lnSpc>
                <a:spcPct val="100000"/>
              </a:lnSpc>
              <a:spcAft>
                <a:spcPts val="0"/>
              </a:spcAft>
            </a:pPr>
            <a:r>
              <a:rPr sz="850" b="1" i="0">
                <a:solidFill>
                  <a:srgbClr val="595959"/>
                </a:solidFill>
                <a:latin typeface="맑은 고딕"/>
                <a:ea typeface="맑은 고딕"/>
                <a:cs typeface="맑은 고딕"/>
              </a:rPr>
              <a:t>하는 일</a:t>
            </a:r>
          </a:p>
        </p:txBody>
      </p:sp>
      <p:sp>
        <p:nvSpPr>
          <p:cNvPr id="131" name="TextBox 130"/>
          <p:cNvSpPr txBox="1"/>
          <p:nvPr/>
        </p:nvSpPr>
        <p:spPr>
          <a:xfrm>
            <a:off x="1700784" y="3639312"/>
            <a:ext cx="2468879" cy="347472"/>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입력 전체를 한 번에 읽어
KV 캐시를 만듦</a:t>
            </a:r>
          </a:p>
        </p:txBody>
      </p:sp>
      <p:sp>
        <p:nvSpPr>
          <p:cNvPr id="132" name="TextBox 131"/>
          <p:cNvSpPr txBox="1"/>
          <p:nvPr/>
        </p:nvSpPr>
        <p:spPr>
          <a:xfrm>
            <a:off x="4334256" y="3639312"/>
            <a:ext cx="2505456" cy="347472"/>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토큰 1개를 만들 때마다
KV 캐시 전체를 다시 읽음</a:t>
            </a:r>
          </a:p>
        </p:txBody>
      </p:sp>
      <p:cxnSp>
        <p:nvCxnSpPr>
          <p:cNvPr id="133" name="Connector 132"/>
          <p:cNvCxnSpPr/>
          <p:nvPr/>
        </p:nvCxnSpPr>
        <p:spPr>
          <a:xfrm>
            <a:off x="512064" y="4005072"/>
            <a:ext cx="643737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12064" y="4041648"/>
            <a:ext cx="1097280" cy="237744"/>
          </a:xfrm>
          <a:prstGeom prst="rect">
            <a:avLst/>
          </a:prstGeom>
          <a:noFill/>
        </p:spPr>
        <p:txBody>
          <a:bodyPr wrap="square" lIns="0" rIns="0" tIns="0" bIns="0" anchor="ctr">
            <a:spAutoFit/>
          </a:bodyPr>
          <a:lstStyle/>
          <a:p>
            <a:pPr algn="l">
              <a:lnSpc>
                <a:spcPct val="100000"/>
              </a:lnSpc>
              <a:spcAft>
                <a:spcPts val="0"/>
              </a:spcAft>
            </a:pPr>
            <a:r>
              <a:rPr sz="850" b="1" i="0">
                <a:solidFill>
                  <a:srgbClr val="595959"/>
                </a:solidFill>
                <a:latin typeface="맑은 고딕"/>
                <a:ea typeface="맑은 고딕"/>
                <a:cs typeface="맑은 고딕"/>
              </a:rPr>
              <a:t>처리 단위</a:t>
            </a:r>
          </a:p>
        </p:txBody>
      </p:sp>
      <p:sp>
        <p:nvSpPr>
          <p:cNvPr id="135" name="TextBox 134"/>
          <p:cNvSpPr txBox="1"/>
          <p:nvPr/>
        </p:nvSpPr>
        <p:spPr>
          <a:xfrm>
            <a:off x="1700784" y="4041648"/>
            <a:ext cx="2468879" cy="237744"/>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수천 토큰을 한꺼번에 (병렬)</a:t>
            </a:r>
          </a:p>
        </p:txBody>
      </p:sp>
      <p:sp>
        <p:nvSpPr>
          <p:cNvPr id="136" name="TextBox 135"/>
          <p:cNvSpPr txBox="1"/>
          <p:nvPr/>
        </p:nvSpPr>
        <p:spPr>
          <a:xfrm>
            <a:off x="4334256" y="4041648"/>
            <a:ext cx="2505456" cy="237744"/>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1 토큰씩 순차 반복</a:t>
            </a:r>
          </a:p>
        </p:txBody>
      </p:sp>
      <p:cxnSp>
        <p:nvCxnSpPr>
          <p:cNvPr id="137" name="Connector 136"/>
          <p:cNvCxnSpPr/>
          <p:nvPr/>
        </p:nvCxnSpPr>
        <p:spPr>
          <a:xfrm>
            <a:off x="512064" y="4297680"/>
            <a:ext cx="643737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512064" y="4334256"/>
            <a:ext cx="1097280" cy="347472"/>
          </a:xfrm>
          <a:prstGeom prst="rect">
            <a:avLst/>
          </a:prstGeom>
          <a:noFill/>
        </p:spPr>
        <p:txBody>
          <a:bodyPr wrap="square" lIns="0" rIns="0" tIns="0" bIns="0" anchor="ctr">
            <a:spAutoFit/>
          </a:bodyPr>
          <a:lstStyle/>
          <a:p>
            <a:pPr algn="l">
              <a:lnSpc>
                <a:spcPct val="100000"/>
              </a:lnSpc>
              <a:spcAft>
                <a:spcPts val="0"/>
              </a:spcAft>
            </a:pPr>
            <a:r>
              <a:rPr sz="850" b="1" i="0">
                <a:solidFill>
                  <a:srgbClr val="595959"/>
                </a:solidFill>
                <a:latin typeface="맑은 고딕"/>
                <a:ea typeface="맑은 고딕"/>
                <a:cs typeface="맑은 고딕"/>
              </a:rPr>
              <a:t>병목 자원</a:t>
            </a:r>
          </a:p>
        </p:txBody>
      </p:sp>
      <p:sp>
        <p:nvSpPr>
          <p:cNvPr id="139" name="TextBox 138"/>
          <p:cNvSpPr txBox="1"/>
          <p:nvPr/>
        </p:nvSpPr>
        <p:spPr>
          <a:xfrm>
            <a:off x="1700784" y="4334256"/>
            <a:ext cx="2468879" cy="347472"/>
          </a:xfrm>
          <a:prstGeom prst="rect">
            <a:avLst/>
          </a:prstGeom>
          <a:noFill/>
        </p:spPr>
        <p:txBody>
          <a:bodyPr wrap="square" lIns="0" rIns="0" tIns="0" bIns="0" anchor="ctr">
            <a:spAutoFit/>
          </a:bodyPr>
          <a:lstStyle/>
          <a:p>
            <a:pPr algn="l">
              <a:lnSpc>
                <a:spcPct val="115000"/>
              </a:lnSpc>
              <a:spcAft>
                <a:spcPts val="0"/>
              </a:spcAft>
            </a:pPr>
            <a:r>
              <a:rPr sz="850" b="1" i="0">
                <a:solidFill>
                  <a:srgbClr val="C55A11"/>
                </a:solidFill>
                <a:latin typeface="맑은 고딕"/>
                <a:ea typeface="맑은 고딕"/>
                <a:cs typeface="맑은 고딕"/>
              </a:rPr>
              <a:t>GPU 연산기
(Compute-bound)</a:t>
            </a:r>
          </a:p>
        </p:txBody>
      </p:sp>
      <p:sp>
        <p:nvSpPr>
          <p:cNvPr id="140" name="TextBox 139"/>
          <p:cNvSpPr txBox="1"/>
          <p:nvPr/>
        </p:nvSpPr>
        <p:spPr>
          <a:xfrm>
            <a:off x="4334256" y="4334256"/>
            <a:ext cx="2505456" cy="347472"/>
          </a:xfrm>
          <a:prstGeom prst="rect">
            <a:avLst/>
          </a:prstGeom>
          <a:noFill/>
        </p:spPr>
        <p:txBody>
          <a:bodyPr wrap="square" lIns="0" rIns="0" tIns="0" bIns="0" anchor="ctr">
            <a:spAutoFit/>
          </a:bodyPr>
          <a:lstStyle/>
          <a:p>
            <a:pPr algn="l">
              <a:lnSpc>
                <a:spcPct val="115000"/>
              </a:lnSpc>
              <a:spcAft>
                <a:spcPts val="0"/>
              </a:spcAft>
            </a:pPr>
            <a:r>
              <a:rPr sz="850" b="1" i="0">
                <a:solidFill>
                  <a:srgbClr val="1F3864"/>
                </a:solidFill>
                <a:latin typeface="맑은 고딕"/>
                <a:ea typeface="맑은 고딕"/>
                <a:cs typeface="맑은 고딕"/>
              </a:rPr>
              <a:t>메모리 대역폭
(Memory-bound)</a:t>
            </a:r>
          </a:p>
        </p:txBody>
      </p:sp>
      <p:cxnSp>
        <p:nvCxnSpPr>
          <p:cNvPr id="141" name="Connector 140"/>
          <p:cNvCxnSpPr/>
          <p:nvPr/>
        </p:nvCxnSpPr>
        <p:spPr>
          <a:xfrm>
            <a:off x="512064" y="4700016"/>
            <a:ext cx="643737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512064" y="4736592"/>
            <a:ext cx="1097280" cy="237744"/>
          </a:xfrm>
          <a:prstGeom prst="rect">
            <a:avLst/>
          </a:prstGeom>
          <a:noFill/>
        </p:spPr>
        <p:txBody>
          <a:bodyPr wrap="square" lIns="0" rIns="0" tIns="0" bIns="0" anchor="ctr">
            <a:spAutoFit/>
          </a:bodyPr>
          <a:lstStyle/>
          <a:p>
            <a:pPr algn="l">
              <a:lnSpc>
                <a:spcPct val="100000"/>
              </a:lnSpc>
              <a:spcAft>
                <a:spcPts val="0"/>
              </a:spcAft>
            </a:pPr>
            <a:r>
              <a:rPr sz="850" b="1" i="0">
                <a:solidFill>
                  <a:srgbClr val="595959"/>
                </a:solidFill>
                <a:latin typeface="맑은 고딕"/>
                <a:ea typeface="맑은 고딕"/>
                <a:cs typeface="맑은 고딕"/>
              </a:rPr>
              <a:t>사용자 체감</a:t>
            </a:r>
          </a:p>
        </p:txBody>
      </p:sp>
      <p:sp>
        <p:nvSpPr>
          <p:cNvPr id="143" name="TextBox 142"/>
          <p:cNvSpPr txBox="1"/>
          <p:nvPr/>
        </p:nvSpPr>
        <p:spPr>
          <a:xfrm>
            <a:off x="1700784" y="4736592"/>
            <a:ext cx="2468879" cy="237744"/>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첫 글자까지의 대기 시간</a:t>
            </a:r>
          </a:p>
        </p:txBody>
      </p:sp>
      <p:sp>
        <p:nvSpPr>
          <p:cNvPr id="144" name="TextBox 143"/>
          <p:cNvSpPr txBox="1"/>
          <p:nvPr/>
        </p:nvSpPr>
        <p:spPr>
          <a:xfrm>
            <a:off x="4334256" y="4736592"/>
            <a:ext cx="2505456" cy="237744"/>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글자가 이어지는 속도</a:t>
            </a:r>
          </a:p>
        </p:txBody>
      </p:sp>
      <p:sp>
        <p:nvSpPr>
          <p:cNvPr id="145" name="Rounded Rectangle 144"/>
          <p:cNvSpPr/>
          <p:nvPr/>
        </p:nvSpPr>
        <p:spPr>
          <a:xfrm>
            <a:off x="7342631" y="2907792"/>
            <a:ext cx="4498848" cy="2157984"/>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46" name="Oval 145"/>
          <p:cNvSpPr/>
          <p:nvPr/>
        </p:nvSpPr>
        <p:spPr>
          <a:xfrm>
            <a:off x="7488936" y="3044952"/>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00" b="1" i="0">
                <a:solidFill>
                  <a:srgbClr val="FFFFFF"/>
                </a:solidFill>
                <a:latin typeface="맑은 고딕"/>
                <a:ea typeface="맑은 고딕"/>
                <a:cs typeface="맑은 고딕"/>
              </a:rPr>
              <a:t>3</a:t>
            </a:r>
          </a:p>
        </p:txBody>
      </p:sp>
      <p:sp>
        <p:nvSpPr>
          <p:cNvPr id="147" name="TextBox 146"/>
          <p:cNvSpPr txBox="1"/>
          <p:nvPr/>
        </p:nvSpPr>
        <p:spPr>
          <a:xfrm>
            <a:off x="7836408" y="3054096"/>
            <a:ext cx="3858768" cy="274320"/>
          </a:xfrm>
          <a:prstGeom prst="rect">
            <a:avLst/>
          </a:prstGeom>
          <a:noFill/>
        </p:spPr>
        <p:txBody>
          <a:bodyPr wrap="square" lIns="0" rIns="0" tIns="0" bIns="0" anchor="ctr">
            <a:spAutoFit/>
          </a:bodyPr>
          <a:lstStyle/>
          <a:p>
            <a:pPr algn="l">
              <a:lnSpc>
                <a:spcPct val="100000"/>
              </a:lnSpc>
              <a:spcAft>
                <a:spcPts val="0"/>
              </a:spcAft>
            </a:pPr>
            <a:r>
              <a:rPr sz="1150" b="1" i="0">
                <a:solidFill>
                  <a:srgbClr val="1F3864"/>
                </a:solidFill>
                <a:latin typeface="맑은 고딕"/>
                <a:ea typeface="맑은 고딕"/>
                <a:cs typeface="맑은 고딕"/>
              </a:rPr>
              <a:t>그래서 P / D 노드를 분리함</a:t>
            </a:r>
          </a:p>
        </p:txBody>
      </p:sp>
      <p:sp>
        <p:nvSpPr>
          <p:cNvPr id="148" name="Rounded Rectangle 147"/>
          <p:cNvSpPr/>
          <p:nvPr/>
        </p:nvSpPr>
        <p:spPr>
          <a:xfrm>
            <a:off x="7543800" y="3419856"/>
            <a:ext cx="1737360" cy="603504"/>
          </a:xfrm>
          <a:prstGeom prst="roundRect">
            <a:avLst>
              <a:gd name="adj" fmla="val 8000"/>
            </a:avLst>
          </a:prstGeom>
          <a:solidFill>
            <a:srgbClr val="FBE5D6"/>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100"/>
              </a:spcAft>
            </a:pPr>
            <a:r>
              <a:rPr sz="1050" b="1" i="0">
                <a:solidFill>
                  <a:srgbClr val="C55A11"/>
                </a:solidFill>
                <a:latin typeface="맑은 고딕"/>
                <a:ea typeface="맑은 고딕"/>
                <a:cs typeface="맑은 고딕"/>
              </a:rPr>
              <a:t>P 노드</a:t>
            </a:r>
          </a:p>
          <a:p>
            <a:pPr algn="ctr">
              <a:lnSpc>
                <a:spcPct val="100000"/>
              </a:lnSpc>
              <a:spcAft>
                <a:spcPts val="0"/>
              </a:spcAft>
            </a:pPr>
            <a:r>
              <a:rPr sz="800" b="0" i="0">
                <a:solidFill>
                  <a:srgbClr val="595959"/>
                </a:solidFill>
                <a:latin typeface="맑은 고딕"/>
                <a:ea typeface="맑은 고딕"/>
                <a:cs typeface="맑은 고딕"/>
              </a:rPr>
              <a:t>Prefill 전용</a:t>
            </a:r>
          </a:p>
        </p:txBody>
      </p:sp>
      <p:sp>
        <p:nvSpPr>
          <p:cNvPr id="149" name="Right Arrow 148"/>
          <p:cNvSpPr/>
          <p:nvPr/>
        </p:nvSpPr>
        <p:spPr>
          <a:xfrm>
            <a:off x="9390888" y="3639312"/>
            <a:ext cx="402336" cy="164592"/>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50" name="Rounded Rectangle 149"/>
          <p:cNvSpPr/>
          <p:nvPr/>
        </p:nvSpPr>
        <p:spPr>
          <a:xfrm>
            <a:off x="9902951" y="3419856"/>
            <a:ext cx="1737360" cy="603504"/>
          </a:xfrm>
          <a:prstGeom prst="roundRect">
            <a:avLst>
              <a:gd name="adj" fmla="val 8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100"/>
              </a:spcAft>
            </a:pPr>
            <a:r>
              <a:rPr sz="1050" b="1" i="0">
                <a:solidFill>
                  <a:srgbClr val="1F3864"/>
                </a:solidFill>
                <a:latin typeface="맑은 고딕"/>
                <a:ea typeface="맑은 고딕"/>
                <a:cs typeface="맑은 고딕"/>
              </a:rPr>
              <a:t>D 노드</a:t>
            </a:r>
          </a:p>
          <a:p>
            <a:pPr algn="ctr">
              <a:lnSpc>
                <a:spcPct val="100000"/>
              </a:lnSpc>
              <a:spcAft>
                <a:spcPts val="0"/>
              </a:spcAft>
            </a:pPr>
            <a:r>
              <a:rPr sz="800" b="0" i="0">
                <a:solidFill>
                  <a:srgbClr val="595959"/>
                </a:solidFill>
                <a:latin typeface="맑은 고딕"/>
                <a:ea typeface="맑은 고딕"/>
                <a:cs typeface="맑은 고딕"/>
              </a:rPr>
              <a:t>Decode 전용</a:t>
            </a:r>
          </a:p>
        </p:txBody>
      </p:sp>
      <p:sp>
        <p:nvSpPr>
          <p:cNvPr id="151" name="TextBox 150"/>
          <p:cNvSpPr txBox="1"/>
          <p:nvPr/>
        </p:nvSpPr>
        <p:spPr>
          <a:xfrm>
            <a:off x="9262872" y="3822192"/>
            <a:ext cx="658368" cy="182880"/>
          </a:xfrm>
          <a:prstGeom prst="rect">
            <a:avLst/>
          </a:prstGeom>
          <a:noFill/>
        </p:spPr>
        <p:txBody>
          <a:bodyPr wrap="square" lIns="0" rIns="0" tIns="0" bIns="0" anchor="t">
            <a:spAutoFit/>
          </a:bodyPr>
          <a:lstStyle/>
          <a:p>
            <a:pPr algn="ctr">
              <a:lnSpc>
                <a:spcPct val="100000"/>
              </a:lnSpc>
              <a:spcAft>
                <a:spcPts val="0"/>
              </a:spcAft>
            </a:pPr>
            <a:r>
              <a:rPr sz="700" b="0" i="0">
                <a:solidFill>
                  <a:srgbClr val="2E75B6"/>
                </a:solidFill>
                <a:latin typeface="맑은 고딕"/>
                <a:ea typeface="맑은 고딕"/>
                <a:cs typeface="맑은 고딕"/>
              </a:rPr>
              <a:t>KV 캐시</a:t>
            </a:r>
          </a:p>
        </p:txBody>
      </p:sp>
      <p:sp>
        <p:nvSpPr>
          <p:cNvPr id="152" name="TextBox 151"/>
          <p:cNvSpPr txBox="1"/>
          <p:nvPr/>
        </p:nvSpPr>
        <p:spPr>
          <a:xfrm>
            <a:off x="7543800" y="4169664"/>
            <a:ext cx="4096511" cy="786384"/>
          </a:xfrm>
          <a:prstGeom prst="rect">
            <a:avLst/>
          </a:prstGeom>
          <a:noFill/>
        </p:spPr>
        <p:txBody>
          <a:bodyPr wrap="square" lIns="0" rIns="0" tIns="0" bIns="0" anchor="t">
            <a:spAutoFit/>
          </a:bodyPr>
          <a:lstStyle/>
          <a:p>
            <a:pPr algn="l">
              <a:lnSpc>
                <a:spcPct val="120000"/>
              </a:lnSpc>
              <a:spcAft>
                <a:spcPts val="400"/>
              </a:spcAft>
            </a:pPr>
            <a:r>
              <a:rPr sz="900" b="0" i="0">
                <a:solidFill>
                  <a:srgbClr val="000000"/>
                </a:solidFill>
                <a:latin typeface="맑은 고딕"/>
                <a:ea typeface="맑은 고딕"/>
                <a:cs typeface="맑은 고딕"/>
              </a:rPr>
              <a:t>• 같은 GPU에서 섞으면 </a:t>
            </a:r>
            <a:r>
              <a:rPr sz="900" b="1" i="0">
                <a:solidFill>
                  <a:srgbClr val="C00000"/>
                </a:solidFill>
                <a:latin typeface="맑은 고딕"/>
                <a:ea typeface="맑은 고딕"/>
                <a:cs typeface="맑은 고딕"/>
              </a:rPr>
              <a:t>긴 Prefill이 진행 중인 Decode를 멈춰 세움</a:t>
            </a:r>
          </a:p>
          <a:p>
            <a:pPr algn="l">
              <a:lnSpc>
                <a:spcPct val="120000"/>
              </a:lnSpc>
              <a:spcAft>
                <a:spcPts val="0"/>
              </a:spcAft>
            </a:pPr>
            <a:r>
              <a:rPr sz="900" b="0" i="0">
                <a:solidFill>
                  <a:srgbClr val="000000"/>
                </a:solidFill>
                <a:latin typeface="맑은 고딕"/>
                <a:ea typeface="맑은 고딕"/>
                <a:cs typeface="맑은 고딕"/>
              </a:rPr>
              <a:t>• 나누면 대신 </a:t>
            </a:r>
            <a:r>
              <a:rPr sz="900" b="1" i="0">
                <a:solidFill>
                  <a:srgbClr val="2E75B6"/>
                </a:solidFill>
                <a:latin typeface="맑은 고딕"/>
                <a:ea typeface="맑은 고딕"/>
                <a:cs typeface="맑은 고딕"/>
              </a:rPr>
              <a:t>KV 캐시를 노드 간에 옮기는 전송 비용</a:t>
            </a:r>
            <a:r>
              <a:rPr sz="900" b="0" i="0">
                <a:solidFill>
                  <a:srgbClr val="000000"/>
                </a:solidFill>
                <a:latin typeface="맑은 고딕"/>
                <a:ea typeface="맑은 고딕"/>
                <a:cs typeface="맑은 고딕"/>
              </a:rPr>
              <a:t>이 새로 생김</a:t>
            </a:r>
          </a:p>
        </p:txBody>
      </p:sp>
      <p:sp>
        <p:nvSpPr>
          <p:cNvPr id="153" name="Rounded Rectangle 152"/>
          <p:cNvSpPr/>
          <p:nvPr/>
        </p:nvSpPr>
        <p:spPr>
          <a:xfrm>
            <a:off x="347472" y="5230368"/>
            <a:ext cx="11494008" cy="804672"/>
          </a:xfrm>
          <a:prstGeom prst="roundRect">
            <a:avLst>
              <a:gd name="adj" fmla="val 8000"/>
            </a:avLst>
          </a:prstGeom>
          <a:solidFill>
            <a:srgbClr val="EAF1F8"/>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54" name="Rounded Rectangle 153"/>
          <p:cNvSpPr/>
          <p:nvPr/>
        </p:nvSpPr>
        <p:spPr>
          <a:xfrm>
            <a:off x="530352" y="5449824"/>
            <a:ext cx="658368" cy="365760"/>
          </a:xfrm>
          <a:prstGeom prst="roundRect">
            <a:avLst>
              <a:gd name="adj" fmla="val 2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00" b="1" i="0">
                <a:solidFill>
                  <a:srgbClr val="FFFFFF"/>
                </a:solidFill>
                <a:latin typeface="맑은 고딕"/>
                <a:ea typeface="맑은 고딕"/>
                <a:cs typeface="맑은 고딕"/>
              </a:rPr>
              <a:t>DP2</a:t>
            </a:r>
          </a:p>
        </p:txBody>
      </p:sp>
      <p:sp>
        <p:nvSpPr>
          <p:cNvPr id="155" name="TextBox 154"/>
          <p:cNvSpPr txBox="1"/>
          <p:nvPr/>
        </p:nvSpPr>
        <p:spPr>
          <a:xfrm>
            <a:off x="1353312" y="5340096"/>
            <a:ext cx="10332720" cy="585216"/>
          </a:xfrm>
          <a:prstGeom prst="rect">
            <a:avLst/>
          </a:prstGeom>
          <a:noFill/>
        </p:spPr>
        <p:txBody>
          <a:bodyPr wrap="square" lIns="0" rIns="0" tIns="0" bIns="0" anchor="ctr">
            <a:spAutoFit/>
          </a:bodyPr>
          <a:lstStyle/>
          <a:p>
            <a:pPr algn="l">
              <a:lnSpc>
                <a:spcPct val="100000"/>
              </a:lnSpc>
              <a:spcAft>
                <a:spcPts val="200"/>
              </a:spcAft>
            </a:pPr>
            <a:r>
              <a:rPr sz="1150" b="1" i="0">
                <a:solidFill>
                  <a:srgbClr val="1F3864"/>
                </a:solidFill>
                <a:latin typeface="맑은 고딕"/>
                <a:ea typeface="맑은 고딕"/>
                <a:cs typeface="맑은 고딕"/>
              </a:rPr>
              <a:t>Prefill은 P 노드가 기본이지만, 상황에 따라 D 노드에서 바로 처리하는 편이 유리할 수도 있음</a:t>
            </a:r>
          </a:p>
          <a:p>
            <a:pPr algn="l">
              <a:lnSpc>
                <a:spcPct val="100000"/>
              </a:lnSpc>
              <a:spcAft>
                <a:spcPts val="0"/>
              </a:spcAft>
            </a:pPr>
            <a:r>
              <a:rPr sz="1100" b="0" i="0">
                <a:solidFill>
                  <a:srgbClr val="000000"/>
                </a:solidFill>
                <a:latin typeface="맑은 고딕"/>
                <a:ea typeface="맑은 고딕"/>
                <a:cs typeface="맑은 고딕"/>
              </a:rPr>
              <a:t>→ 입력 크기 · KV 캐시 위치 · 노드 부하를 보고 </a:t>
            </a:r>
            <a:r>
              <a:rPr sz="1100" b="1" i="0">
                <a:solidFill>
                  <a:srgbClr val="2E75B6"/>
                </a:solidFill>
                <a:latin typeface="맑은 고딕"/>
                <a:ea typeface="맑은 고딕"/>
                <a:cs typeface="맑은 고딕"/>
              </a:rPr>
              <a:t>매 요청마다 Prefill을 어디서 실행할 것인가</a:t>
            </a:r>
            <a:r>
              <a:rPr sz="1100" b="0" i="0">
                <a:solidFill>
                  <a:srgbClr val="000000"/>
                </a:solidFill>
                <a:latin typeface="맑은 고딕"/>
                <a:ea typeface="맑은 고딕"/>
                <a:cs typeface="맑은 고딕"/>
              </a:rPr>
              <a:t>  ← DP2가 푸는 문제</a:t>
            </a:r>
          </a:p>
        </p:txBody>
      </p:sp>
    </p:spTree>
    <p:extLst>
      <p:ext uri="{BB962C8B-B14F-4D97-AF65-F5344CB8AC3E}">
        <p14:creationId xmlns:p14="http://schemas.microsoft.com/office/powerpoint/2010/main" val="71095786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smtClean="0"/>
              <a:t>DP2. </a:t>
            </a:r>
            <a:r>
              <a:rPr lang="ko-KR" altLang="en-US" dirty="0" smtClean="0"/>
              <a:t>이기종 메모리 환경의 </a:t>
            </a:r>
            <a:r>
              <a:rPr lang="en-US" altLang="ko-KR" dirty="0" smtClean="0"/>
              <a:t>Prefill </a:t>
            </a:r>
            <a:r>
              <a:rPr lang="ko-KR" altLang="en-US" dirty="0" smtClean="0"/>
              <a:t>실행 위치 결정 구조 </a:t>
            </a:r>
            <a:r>
              <a:rPr lang="en-US" altLang="ko-KR" dirty="0" smtClean="0"/>
              <a:t>- </a:t>
            </a:r>
            <a:r>
              <a:rPr lang="en-US" altLang="ko-KR" dirty="0" smtClean="0"/>
              <a:t>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29</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01" name="DP2 9001"/>
          <p:cNvSpPr/>
          <p:nvPr/>
        </p:nvSpPr>
        <p:spPr>
          <a:xfrm>
            <a:off x="347472" y="629107"/>
            <a:ext cx="1179576" cy="301752"/>
          </a:xfrm>
          <a:prstGeom prst="roundRect">
            <a:avLst/>
          </a:prstGeom>
          <a:solidFill>
            <a:srgbClr val="A8C6E8"/>
          </a:solidFill>
          <a:ln w="9525">
            <a:solidFill>
              <a:srgbClr val="2E75B6"/>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문제 정의</a:t>
            </a:r>
          </a:p>
        </p:txBody>
      </p: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14" name="DP2 9014"/>
          <p:cNvSpPr/>
          <p:nvPr/>
        </p:nvSpPr>
        <p:spPr>
          <a:xfrm>
            <a:off x="355805" y="1920494"/>
            <a:ext cx="9603535" cy="256032"/>
          </a:xfrm>
          <a:prstGeom prst="rect">
            <a:avLst/>
          </a:prstGeom>
          <a:noFill/>
          <a:ln>
            <a:noFill/>
          </a:ln>
        </p:spPr>
        <p:txBody>
          <a:bodyPr wrap="square" lIns="9144" tIns="7315" rIns="9144" bIns="7315" anchor="ctr">
            <a:noAutofit/>
          </a:bodyPr>
          <a:lstStyle/>
          <a:p>
            <a:pPr>
              <a:lnSpc>
                <a:spcPct val="90000"/>
              </a:lnSpc>
            </a:pPr>
            <a:r>
              <a:rPr lang="ko-KR" altLang="en-US" sz="1200" b="1" dirty="0" smtClean="0">
                <a:solidFill>
                  <a:srgbClr val="0066FF"/>
                </a:solidFill>
                <a:latin typeface="맑은 고딕" panose="020B0503020000020004" pitchFamily="50" charset="-127"/>
              </a:rPr>
              <a:t>→</a:t>
            </a:r>
            <a:r>
              <a:rPr lang="en-US" altLang="ko-KR" sz="1200" b="1" i="0" dirty="0" smtClean="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en-US" altLang="ko-KR" sz="1200" b="1" i="0" dirty="0" smtClean="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Agent </a:t>
            </a:r>
            <a:r>
              <a:rPr lang="ko-KR" altLang="en-US" sz="1200" b="1" dirty="0" smtClean="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워크로드</a:t>
            </a:r>
            <a:r>
              <a:rPr lang="en-US" altLang="ko-KR" sz="1200" b="1" dirty="0" smtClean="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en-US" altLang="ko-KR" sz="1200" b="1" dirty="0" smtClean="0">
                <a:solidFill>
                  <a:srgbClr val="0066FF"/>
                </a:solidFill>
                <a:latin typeface="맑은 고딕" panose="020B0503020000020004" pitchFamily="50" charset="-127"/>
                <a:sym typeface="Wingdings" panose="05000000000000000000" pitchFamily="2" charset="2"/>
              </a:rPr>
              <a:t>KV </a:t>
            </a:r>
            <a:r>
              <a:rPr lang="ko-KR" altLang="en-US" sz="1200" b="1" dirty="0">
                <a:solidFill>
                  <a:srgbClr val="0066FF"/>
                </a:solidFill>
                <a:latin typeface="맑은 고딕" panose="020B0503020000020004" pitchFamily="50" charset="-127"/>
                <a:sym typeface="Wingdings" panose="05000000000000000000" pitchFamily="2" charset="2"/>
              </a:rPr>
              <a:t>배치 </a:t>
            </a:r>
            <a:r>
              <a:rPr lang="ko-KR" altLang="en-US" sz="1200" b="1" dirty="0" smtClean="0">
                <a:solidFill>
                  <a:srgbClr val="0066FF"/>
                </a:solidFill>
                <a:latin typeface="맑은 고딕" panose="020B0503020000020004" pitchFamily="50" charset="-127"/>
                <a:sym typeface="Wingdings" panose="05000000000000000000" pitchFamily="2" charset="2"/>
              </a:rPr>
              <a:t>및 </a:t>
            </a:r>
            <a:r>
              <a:rPr lang="en-US" altLang="ko-KR" sz="1200" b="1" dirty="0" smtClean="0">
                <a:solidFill>
                  <a:srgbClr val="0066FF"/>
                </a:solidFill>
                <a:latin typeface="맑은 고딕" panose="020B0503020000020004" pitchFamily="50" charset="-127"/>
                <a:sym typeface="Wingdings" panose="05000000000000000000" pitchFamily="2" charset="2"/>
              </a:rPr>
              <a:t>Runtime </a:t>
            </a:r>
            <a:r>
              <a:rPr lang="ko-KR" altLang="en-US" sz="1200" b="1" dirty="0">
                <a:solidFill>
                  <a:srgbClr val="0066FF"/>
                </a:solidFill>
                <a:latin typeface="맑은 고딕" panose="020B0503020000020004" pitchFamily="50" charset="-127"/>
                <a:sym typeface="Wingdings" panose="05000000000000000000" pitchFamily="2" charset="2"/>
              </a:rPr>
              <a:t>상태를 고려하여 </a:t>
            </a:r>
            <a:r>
              <a:rPr lang="en-US" altLang="ko-KR" sz="1200" b="1" dirty="0" smtClean="0">
                <a:solidFill>
                  <a:srgbClr val="0066FF"/>
                </a:solidFill>
                <a:latin typeface="맑은 고딕" panose="020B0503020000020004" pitchFamily="50" charset="-127"/>
                <a:sym typeface="Wingdings" panose="05000000000000000000" pitchFamily="2" charset="2"/>
              </a:rPr>
              <a:t>Prefill</a:t>
            </a:r>
            <a:r>
              <a:rPr lang="ko-KR" altLang="en-US" sz="1200" b="1" dirty="0" smtClean="0">
                <a:solidFill>
                  <a:srgbClr val="0066FF"/>
                </a:solidFill>
                <a:latin typeface="맑은 고딕" panose="020B0503020000020004" pitchFamily="50" charset="-127"/>
                <a:sym typeface="Wingdings" panose="05000000000000000000" pitchFamily="2" charset="2"/>
              </a:rPr>
              <a:t>의 </a:t>
            </a:r>
            <a:r>
              <a:rPr lang="ko-KR" altLang="en-US" sz="1200" b="1" dirty="0">
                <a:solidFill>
                  <a:srgbClr val="0066FF"/>
                </a:solidFill>
                <a:latin typeface="맑은 고딕" panose="020B0503020000020004" pitchFamily="50" charset="-127"/>
                <a:sym typeface="Wingdings" panose="05000000000000000000" pitchFamily="2" charset="2"/>
              </a:rPr>
              <a:t>실행 위치를 동적으로 결정하는 구조 </a:t>
            </a:r>
            <a:r>
              <a:rPr lang="ko-KR" altLang="en-US" sz="1200" b="1" dirty="0" smtClean="0">
                <a:solidFill>
                  <a:srgbClr val="0066FF"/>
                </a:solidFill>
                <a:latin typeface="맑은 고딕" panose="020B0503020000020004" pitchFamily="50" charset="-127"/>
                <a:sym typeface="Wingdings" panose="05000000000000000000" pitchFamily="2" charset="2"/>
              </a:rPr>
              <a:t>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61" name="DP2 9061"/>
          <p:cNvSpPr/>
          <p:nvPr/>
        </p:nvSpPr>
        <p:spPr>
          <a:xfrm>
            <a:off x="347472" y="5687105"/>
            <a:ext cx="1179576" cy="301752"/>
          </a:xfrm>
          <a:prstGeom prst="roundRect">
            <a:avLst/>
          </a:prstGeom>
          <a:solidFill>
            <a:srgbClr val="FFD966"/>
          </a:solidFill>
          <a:ln w="9525">
            <a:solidFill>
              <a:srgbClr val="BF8F00"/>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설계 쟁점</a:t>
            </a:r>
          </a:p>
        </p:txBody>
      </p:sp>
      <p:sp>
        <p:nvSpPr>
          <p:cNvPr id="79" name="Text 22"/>
          <p:cNvSpPr/>
          <p:nvPr/>
        </p:nvSpPr>
        <p:spPr>
          <a:xfrm>
            <a:off x="359582" y="1016673"/>
            <a:ext cx="11687638" cy="894644"/>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Agent</a:t>
            </a:r>
            <a:r>
              <a:rPr lang="ko-KR" altLang="en-US" sz="1200" dirty="0">
                <a:solidFill>
                  <a:srgbClr val="404040"/>
                </a:solidFill>
                <a:latin typeface="맑은 고딕" panose="020B0503020000020004" pitchFamily="50" charset="-127"/>
              </a:rPr>
              <a:t>는 </a:t>
            </a:r>
            <a:r>
              <a:rPr lang="en-US" altLang="ko-KR" sz="1200" dirty="0">
                <a:solidFill>
                  <a:srgbClr val="404040"/>
                </a:solidFill>
                <a:latin typeface="맑은 고딕" panose="020B0503020000020004" pitchFamily="50" charset="-127"/>
              </a:rPr>
              <a:t>LLM–Tool </a:t>
            </a:r>
            <a:r>
              <a:rPr lang="ko-KR" altLang="en-US" sz="1200" dirty="0">
                <a:solidFill>
                  <a:srgbClr val="404040"/>
                </a:solidFill>
                <a:latin typeface="맑은 고딕" panose="020B0503020000020004" pitchFamily="50" charset="-127"/>
              </a:rPr>
              <a:t>실행을 반복하는 </a:t>
            </a:r>
            <a:r>
              <a:rPr lang="en-US" altLang="ko-KR" sz="1200" dirty="0">
                <a:solidFill>
                  <a:srgbClr val="404040"/>
                </a:solidFill>
                <a:latin typeface="맑은 고딕" panose="020B0503020000020004" pitchFamily="50" charset="-127"/>
              </a:rPr>
              <a:t>Multi-turn </a:t>
            </a:r>
            <a:r>
              <a:rPr lang="ko-KR" altLang="en-US" sz="1200" dirty="0">
                <a:solidFill>
                  <a:srgbClr val="404040"/>
                </a:solidFill>
                <a:latin typeface="맑은 고딕" panose="020B0503020000020004" pitchFamily="50" charset="-127"/>
              </a:rPr>
              <a:t>특성으로 인해 기존 </a:t>
            </a:r>
            <a:r>
              <a:rPr lang="en-US" altLang="ko-KR" sz="1200" dirty="0">
                <a:solidFill>
                  <a:srgbClr val="404040"/>
                </a:solidFill>
                <a:latin typeface="맑은 고딕" panose="020B0503020000020004" pitchFamily="50" charset="-127"/>
              </a:rPr>
              <a:t>Context</a:t>
            </a:r>
            <a:r>
              <a:rPr lang="ko-KR" altLang="en-US" sz="1200" dirty="0">
                <a:solidFill>
                  <a:srgbClr val="404040"/>
                </a:solidFill>
                <a:latin typeface="맑은 고딕" panose="020B0503020000020004" pitchFamily="50" charset="-127"/>
              </a:rPr>
              <a:t>를 유지한 채 신규 입력이 지속적으로 </a:t>
            </a:r>
            <a:r>
              <a:rPr lang="ko-KR" altLang="en-US" sz="1200" dirty="0" smtClean="0">
                <a:solidFill>
                  <a:srgbClr val="404040"/>
                </a:solidFill>
                <a:latin typeface="맑은 고딕" panose="020B0503020000020004" pitchFamily="50" charset="-127"/>
              </a:rPr>
              <a:t>추가됨</a:t>
            </a:r>
            <a:endParaRPr lang="en-US" altLang="ko-KR" sz="1200" dirty="0" smtClean="0">
              <a:solidFill>
                <a:srgbClr val="404040"/>
              </a:solidFill>
              <a:latin typeface="맑은 고딕" panose="020B0503020000020004" pitchFamily="50" charset="-127"/>
            </a:endParaRPr>
          </a:p>
          <a:p>
            <a:pPr marL="285750" indent="-285750">
              <a:lnSpc>
                <a:spcPct val="150000"/>
              </a:lnSpc>
              <a:buFontTx/>
              <a:buChar char="-"/>
            </a:pPr>
            <a:r>
              <a:rPr lang="en-US" altLang="ko-KR" sz="1200" dirty="0" smtClean="0">
                <a:solidFill>
                  <a:srgbClr val="404040"/>
                </a:solidFill>
                <a:latin typeface="맑은 고딕" panose="020B0503020000020004" pitchFamily="50" charset="-127"/>
              </a:rPr>
              <a:t>Turn/Step </a:t>
            </a:r>
            <a:r>
              <a:rPr lang="ko-KR" altLang="en-US" sz="1200" dirty="0" smtClean="0">
                <a:solidFill>
                  <a:srgbClr val="404040"/>
                </a:solidFill>
                <a:latin typeface="맑은 고딕" panose="020B0503020000020004" pitchFamily="50" charset="-127"/>
              </a:rPr>
              <a:t>별 입력 크기가 다양하고 </a:t>
            </a:r>
            <a:r>
              <a:rPr lang="en-US" altLang="ko-KR" sz="1200" dirty="0" smtClean="0">
                <a:solidFill>
                  <a:srgbClr val="404040"/>
                </a:solidFill>
                <a:latin typeface="맑은 고딕" panose="020B0503020000020004" pitchFamily="50" charset="-127"/>
              </a:rPr>
              <a:t>KV </a:t>
            </a:r>
            <a:r>
              <a:rPr lang="ko-KR" altLang="en-US" sz="1200" dirty="0" smtClean="0">
                <a:solidFill>
                  <a:srgbClr val="404040"/>
                </a:solidFill>
                <a:latin typeface="맑은 고딕" panose="020B0503020000020004" pitchFamily="50" charset="-127"/>
              </a:rPr>
              <a:t>캐시가 서로 다른 </a:t>
            </a:r>
            <a:r>
              <a:rPr lang="en-US" altLang="ko-KR" sz="1200" dirty="0" smtClean="0">
                <a:solidFill>
                  <a:srgbClr val="404040"/>
                </a:solidFill>
                <a:latin typeface="맑은 고딕" panose="020B0503020000020004" pitchFamily="50" charset="-127"/>
              </a:rPr>
              <a:t>Memory Tier</a:t>
            </a:r>
            <a:r>
              <a:rPr lang="ko-KR" altLang="en-US" sz="1200" dirty="0" smtClean="0">
                <a:solidFill>
                  <a:srgbClr val="404040"/>
                </a:solidFill>
                <a:latin typeface="맑은 고딕" panose="020B0503020000020004" pitchFamily="50" charset="-127"/>
              </a:rPr>
              <a:t>에 배치될 수 있어 </a:t>
            </a:r>
            <a:r>
              <a:rPr lang="en-US" altLang="ko-KR" sz="1200" b="1" dirty="0">
                <a:solidFill>
                  <a:schemeClr val="accent2">
                    <a:lumMod val="75000"/>
                  </a:schemeClr>
                </a:solidFill>
                <a:latin typeface="맑은 고딕" panose="020B0503020000020004" pitchFamily="50" charset="-127"/>
              </a:rPr>
              <a:t>Prefill </a:t>
            </a:r>
            <a:r>
              <a:rPr lang="ko-KR" altLang="en-US" sz="1200" b="1" dirty="0">
                <a:solidFill>
                  <a:schemeClr val="accent2">
                    <a:lumMod val="75000"/>
                  </a:schemeClr>
                </a:solidFill>
                <a:latin typeface="맑은 고딕" panose="020B0503020000020004" pitchFamily="50" charset="-127"/>
              </a:rPr>
              <a:t>실행 위치에 따른 데이터 </a:t>
            </a:r>
            <a:r>
              <a:rPr lang="ko-KR" altLang="en-US" sz="1200" b="1" dirty="0">
                <a:solidFill>
                  <a:schemeClr val="accent2">
                    <a:lumMod val="75000"/>
                  </a:schemeClr>
                </a:solidFill>
              </a:rPr>
              <a:t>접근</a:t>
            </a:r>
            <a:r>
              <a:rPr lang="en-US" altLang="ko-KR" sz="1200" b="1" dirty="0">
                <a:solidFill>
                  <a:schemeClr val="accent2">
                    <a:lumMod val="75000"/>
                  </a:schemeClr>
                </a:solidFill>
              </a:rPr>
              <a:t>·</a:t>
            </a:r>
            <a:r>
              <a:rPr lang="ko-KR" altLang="en-US" sz="1200" b="1" dirty="0">
                <a:solidFill>
                  <a:schemeClr val="accent2">
                    <a:lumMod val="75000"/>
                  </a:schemeClr>
                </a:solidFill>
              </a:rPr>
              <a:t>이동 비용이 달라짐</a:t>
            </a:r>
            <a:endParaRPr lang="en-US" altLang="ko-KR" sz="1200" b="1" dirty="0">
              <a:solidFill>
                <a:schemeClr val="accent2">
                  <a:lumMod val="75000"/>
                </a:schemeClr>
              </a:solidFill>
            </a:endParaRPr>
          </a:p>
          <a:p>
            <a:pPr marL="285750" indent="-285750">
              <a:lnSpc>
                <a:spcPct val="150000"/>
              </a:lnSpc>
              <a:buFontTx/>
              <a:buChar char="-"/>
            </a:pPr>
            <a:r>
              <a:rPr lang="en-US" altLang="ko-KR" sz="1200" b="1" dirty="0">
                <a:solidFill>
                  <a:schemeClr val="accent2">
                    <a:lumMod val="75000"/>
                  </a:schemeClr>
                </a:solidFill>
              </a:rPr>
              <a:t>Agent </a:t>
            </a:r>
            <a:r>
              <a:rPr lang="ko-KR" altLang="en-US" sz="1200" b="1" dirty="0">
                <a:solidFill>
                  <a:schemeClr val="accent2">
                    <a:lumMod val="75000"/>
                  </a:schemeClr>
                </a:solidFill>
              </a:rPr>
              <a:t>워크로드</a:t>
            </a:r>
            <a:r>
              <a:rPr lang="en-US" altLang="ko-KR" sz="1200" b="1" dirty="0">
                <a:solidFill>
                  <a:schemeClr val="accent2">
                    <a:lumMod val="75000"/>
                  </a:schemeClr>
                </a:solidFill>
              </a:rPr>
              <a:t>, KV </a:t>
            </a:r>
            <a:r>
              <a:rPr lang="ko-KR" altLang="en-US" sz="1200" b="1" dirty="0" smtClean="0">
                <a:solidFill>
                  <a:schemeClr val="accent2">
                    <a:lumMod val="75000"/>
                  </a:schemeClr>
                </a:solidFill>
              </a:rPr>
              <a:t>캐시 배치 상태 및 </a:t>
            </a:r>
            <a:r>
              <a:rPr lang="en-US" altLang="ko-KR" sz="1200" b="1" dirty="0" smtClean="0">
                <a:solidFill>
                  <a:schemeClr val="accent2">
                    <a:lumMod val="75000"/>
                  </a:schemeClr>
                </a:solidFill>
              </a:rPr>
              <a:t>Prefill/Decode(P/D) Runtime </a:t>
            </a:r>
            <a:r>
              <a:rPr lang="ko-KR" altLang="en-US" sz="1200" b="1" dirty="0" smtClean="0">
                <a:solidFill>
                  <a:schemeClr val="accent2">
                    <a:lumMod val="75000"/>
                  </a:schemeClr>
                </a:solidFill>
              </a:rPr>
              <a:t>상태</a:t>
            </a:r>
            <a:r>
              <a:rPr lang="ko-KR" altLang="en-US" sz="1200" dirty="0" smtClean="0"/>
              <a:t>에 따라 </a:t>
            </a:r>
            <a:r>
              <a:rPr lang="en-US" altLang="ko-KR" sz="1200" dirty="0" smtClean="0"/>
              <a:t>Prefill</a:t>
            </a:r>
            <a:r>
              <a:rPr lang="ko-KR" altLang="en-US" sz="1200" dirty="0" smtClean="0"/>
              <a:t>을 어느 노드에서 수행하는 것이 유리한 지가 달라짐</a:t>
            </a:r>
            <a:endParaRPr lang="en-US" altLang="ko-KR" sz="1200" dirty="0" smtClean="0"/>
          </a:p>
        </p:txBody>
      </p:sp>
      <p:sp>
        <p:nvSpPr>
          <p:cNvPr id="166" name="Text 22"/>
          <p:cNvSpPr/>
          <p:nvPr/>
        </p:nvSpPr>
        <p:spPr>
          <a:xfrm>
            <a:off x="383682" y="6049083"/>
            <a:ext cx="11312059" cy="548567"/>
          </a:xfrm>
          <a:prstGeom prst="rect">
            <a:avLst/>
          </a:prstGeom>
          <a:noFill/>
          <a:ln/>
        </p:spPr>
        <p:txBody>
          <a:bodyPr wrap="square" lIns="0" tIns="0" rIns="0" bIns="0" rtlCol="0" anchor="t"/>
          <a:lstStyle/>
          <a:p>
            <a:pPr marL="228600" indent="-228600">
              <a:lnSpc>
                <a:spcPct val="125000"/>
              </a:lnSpc>
              <a:buAutoNum type="arabicPeriod"/>
            </a:pPr>
            <a:r>
              <a:rPr lang="ko-KR" altLang="en-US" sz="1200" dirty="0">
                <a:latin typeface="맑은 고딕" panose="020B0503020000020004" pitchFamily="50" charset="-127"/>
              </a:rPr>
              <a:t>이기종 메모리 환경에서 </a:t>
            </a:r>
            <a:r>
              <a:rPr lang="en-US" altLang="ko-KR" sz="1200" dirty="0" smtClean="0">
                <a:latin typeface="맑은 고딕" panose="020B0503020000020004" pitchFamily="50" charset="-127"/>
              </a:rPr>
              <a:t>Agent</a:t>
            </a:r>
            <a:r>
              <a:rPr lang="ko-KR" altLang="en-US" sz="1200" dirty="0" smtClean="0">
                <a:latin typeface="맑은 고딕" panose="020B0503020000020004" pitchFamily="50" charset="-127"/>
              </a:rPr>
              <a:t>의</a:t>
            </a:r>
            <a:r>
              <a:rPr lang="en-US" altLang="ko-KR" sz="1200" dirty="0" smtClean="0">
                <a:latin typeface="맑은 고딕" panose="020B0503020000020004" pitchFamily="50" charset="-127"/>
              </a:rPr>
              <a:t> Prefill/Decode </a:t>
            </a:r>
            <a:r>
              <a:rPr lang="ko-KR" altLang="en-US" sz="1200" b="1" dirty="0" smtClean="0">
                <a:solidFill>
                  <a:srgbClr val="0066FF"/>
                </a:solidFill>
                <a:latin typeface="맑은 고딕" panose="020B0503020000020004" pitchFamily="50" charset="-127"/>
              </a:rPr>
              <a:t>실행 </a:t>
            </a:r>
            <a:r>
              <a:rPr lang="ko-KR" altLang="en-US" sz="1200" b="1" dirty="0">
                <a:solidFill>
                  <a:srgbClr val="0066FF"/>
                </a:solidFill>
                <a:latin typeface="맑은 고딕" panose="020B0503020000020004" pitchFamily="50" charset="-127"/>
              </a:rPr>
              <a:t>효율 최적화</a:t>
            </a:r>
            <a:r>
              <a:rPr lang="ko-KR" altLang="en-US" sz="1200" dirty="0">
                <a:latin typeface="맑은 고딕" panose="020B0503020000020004" pitchFamily="50" charset="-127"/>
              </a:rPr>
              <a:t>를 위한 </a:t>
            </a:r>
            <a:r>
              <a:rPr lang="en-US" altLang="ko-KR" sz="1200" dirty="0">
                <a:latin typeface="맑은 고딕" panose="020B0503020000020004" pitchFamily="50" charset="-127"/>
              </a:rPr>
              <a:t>Prefill </a:t>
            </a:r>
            <a:r>
              <a:rPr lang="ko-KR" altLang="en-US" sz="1200" dirty="0">
                <a:latin typeface="맑은 고딕" panose="020B0503020000020004" pitchFamily="50" charset="-127"/>
              </a:rPr>
              <a:t>실행 위치 결정 구조 </a:t>
            </a:r>
            <a:r>
              <a:rPr lang="ko-KR" altLang="en-US" sz="1200" dirty="0" smtClean="0">
                <a:latin typeface="맑은 고딕" panose="020B0503020000020004" pitchFamily="50" charset="-127"/>
              </a:rPr>
              <a:t>설계</a:t>
            </a:r>
            <a:endParaRPr lang="en-US" altLang="ko-KR" sz="1200" dirty="0" smtClean="0">
              <a:latin typeface="맑은 고딕" panose="020B0503020000020004" pitchFamily="50" charset="-127"/>
            </a:endParaRPr>
          </a:p>
          <a:p>
            <a:pPr marL="228600" indent="-228600">
              <a:lnSpc>
                <a:spcPct val="125000"/>
              </a:lnSpc>
              <a:buAutoNum type="arabicPeriod"/>
            </a:pPr>
            <a:r>
              <a:rPr lang="en-US" altLang="ko-KR" sz="1200" dirty="0" smtClean="0"/>
              <a:t>P/D </a:t>
            </a:r>
            <a:r>
              <a:rPr lang="en-US" altLang="ko-KR" sz="1200" dirty="0"/>
              <a:t>Node </a:t>
            </a:r>
            <a:r>
              <a:rPr lang="ko-KR" altLang="en-US" sz="1200" dirty="0"/>
              <a:t>및 이기종 </a:t>
            </a:r>
            <a:r>
              <a:rPr lang="en-US" altLang="ko-KR" sz="1200" dirty="0"/>
              <a:t>Memory Resource </a:t>
            </a:r>
            <a:r>
              <a:rPr lang="ko-KR" altLang="en-US" sz="1200" dirty="0"/>
              <a:t>확장 시</a:t>
            </a:r>
            <a:r>
              <a:rPr lang="ko-KR" altLang="en-US" sz="1200" b="1" dirty="0">
                <a:solidFill>
                  <a:srgbClr val="0066FF"/>
                </a:solidFill>
              </a:rPr>
              <a:t> </a:t>
            </a:r>
            <a:r>
              <a:rPr lang="en-US" altLang="ko-KR" sz="1200" b="1" dirty="0">
                <a:solidFill>
                  <a:srgbClr val="0066FF"/>
                </a:solidFill>
              </a:rPr>
              <a:t>Decision·</a:t>
            </a:r>
            <a:r>
              <a:rPr lang="ko-KR" altLang="en-US" sz="1200" b="1" dirty="0">
                <a:solidFill>
                  <a:srgbClr val="0066FF"/>
                </a:solidFill>
              </a:rPr>
              <a:t>상태 관리 복잡도 최소화</a:t>
            </a:r>
            <a:r>
              <a:rPr lang="ko-KR" altLang="en-US" sz="1200" dirty="0"/>
              <a:t>를 위한 </a:t>
            </a:r>
            <a:r>
              <a:rPr lang="ko-KR" altLang="en-US" sz="1200" b="1" dirty="0">
                <a:solidFill>
                  <a:srgbClr val="0066FF"/>
                </a:solidFill>
              </a:rPr>
              <a:t>확장 가능한</a:t>
            </a:r>
            <a:r>
              <a:rPr lang="ko-KR" altLang="en-US" sz="1200" dirty="0"/>
              <a:t> </a:t>
            </a:r>
            <a:r>
              <a:rPr lang="en-US" altLang="ko-KR" sz="1200" dirty="0"/>
              <a:t>Prefill </a:t>
            </a:r>
            <a:r>
              <a:rPr lang="en-US" altLang="ko-KR" sz="1200" dirty="0" smtClean="0"/>
              <a:t>Placement </a:t>
            </a:r>
            <a:r>
              <a:rPr lang="ko-KR" altLang="en-US" sz="1200" dirty="0" smtClean="0"/>
              <a:t>구조 설계</a:t>
            </a:r>
            <a:endParaRPr lang="en-US" altLang="ko-KR" sz="1200" dirty="0" smtClean="0"/>
          </a:p>
        </p:txBody>
      </p:sp>
      <p:sp>
        <p:nvSpPr>
          <p:cNvPr id="9062" name="Rounded Rectangle 9061"/>
          <p:cNvSpPr/>
          <p:nvPr/>
        </p:nvSpPr>
        <p:spPr>
          <a:xfrm>
            <a:off x="347472" y="2286000"/>
            <a:ext cx="3520440" cy="2788920"/>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63" name="Rounded Rectangle 9062"/>
          <p:cNvSpPr/>
          <p:nvPr/>
        </p:nvSpPr>
        <p:spPr>
          <a:xfrm>
            <a:off x="347472" y="2286000"/>
            <a:ext cx="3520440" cy="310896"/>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50" b="1" i="0">
                <a:solidFill>
                  <a:srgbClr val="FFFFFF"/>
                </a:solidFill>
                <a:latin typeface="맑은 고딕"/>
                <a:ea typeface="맑은 고딕"/>
                <a:cs typeface="맑은 고딕"/>
              </a:rPr>
              <a:t>Turn 1</a:t>
            </a:r>
            <a:r>
              <a:rPr sz="900" b="0" i="0">
                <a:solidFill>
                  <a:srgbClr val="FFFFFF"/>
                </a:solidFill>
                <a:latin typeface="맑은 고딕"/>
                <a:ea typeface="맑은 고딕"/>
                <a:cs typeface="맑은 고딕"/>
              </a:rPr>
              <a:t>   ·   사용자의 첫 질문</a:t>
            </a:r>
          </a:p>
        </p:txBody>
      </p:sp>
      <p:sp>
        <p:nvSpPr>
          <p:cNvPr id="9064" name="TextBox 9063"/>
          <p:cNvSpPr txBox="1"/>
          <p:nvPr/>
        </p:nvSpPr>
        <p:spPr>
          <a:xfrm>
            <a:off x="493776" y="2670048"/>
            <a:ext cx="3227832" cy="292608"/>
          </a:xfrm>
          <a:prstGeom prst="rect">
            <a:avLst/>
          </a:prstGeom>
          <a:noFill/>
        </p:spPr>
        <p:txBody>
          <a:bodyPr wrap="square" lIns="0" rIns="0" tIns="0" bIns="0" anchor="t">
            <a:spAutoFit/>
          </a:bodyPr>
          <a:lstStyle/>
          <a:p>
            <a:pPr algn="l">
              <a:lnSpc>
                <a:spcPct val="115000"/>
              </a:lnSpc>
              <a:spcAft>
                <a:spcPts val="0"/>
              </a:spcAft>
            </a:pPr>
            <a:r>
              <a:rPr sz="800" b="1" i="0">
                <a:solidFill>
                  <a:srgbClr val="808080"/>
                </a:solidFill>
                <a:latin typeface="맑은 고딕"/>
                <a:ea typeface="맑은 고딕"/>
                <a:cs typeface="맑은 고딕"/>
              </a:rPr>
              <a:t>입력 :  </a:t>
            </a:r>
            <a:r>
              <a:rPr sz="800" b="0" i="0">
                <a:solidFill>
                  <a:srgbClr val="595959"/>
                </a:solidFill>
                <a:latin typeface="맑은 고딕"/>
                <a:ea typeface="맑은 고딕"/>
                <a:cs typeface="맑은 고딕"/>
              </a:rPr>
              <a:t>사용자 질문 2,000 토큰  (처음이라 전체를 Prefill)</a:t>
            </a:r>
          </a:p>
        </p:txBody>
      </p:sp>
      <p:sp>
        <p:nvSpPr>
          <p:cNvPr id="9065" name="Rounded Rectangle 9064"/>
          <p:cNvSpPr/>
          <p:nvPr/>
        </p:nvSpPr>
        <p:spPr>
          <a:xfrm>
            <a:off x="493776" y="3035808"/>
            <a:ext cx="3227832" cy="1005840"/>
          </a:xfrm>
          <a:prstGeom prst="roundRect">
            <a:avLst>
              <a:gd name="adj" fmla="val 6000"/>
            </a:avLst>
          </a:prstGeom>
          <a:solidFill>
            <a:srgbClr val="F7F9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66" name="TextBox 9065"/>
          <p:cNvSpPr txBox="1"/>
          <p:nvPr/>
        </p:nvSpPr>
        <p:spPr>
          <a:xfrm>
            <a:off x="603504" y="3099815"/>
            <a:ext cx="3008376" cy="164592"/>
          </a:xfrm>
          <a:prstGeom prst="rect">
            <a:avLst/>
          </a:prstGeom>
          <a:noFill/>
        </p:spPr>
        <p:txBody>
          <a:bodyPr wrap="square" lIns="0" rIns="0" tIns="0" bIns="0" anchor="t">
            <a:spAutoFit/>
          </a:bodyPr>
          <a:lstStyle/>
          <a:p>
            <a:pPr algn="l">
              <a:lnSpc>
                <a:spcPct val="100000"/>
              </a:lnSpc>
              <a:spcAft>
                <a:spcPts val="0"/>
              </a:spcAft>
            </a:pPr>
            <a:r>
              <a:rPr sz="750" b="1" i="0">
                <a:solidFill>
                  <a:srgbClr val="808080"/>
                </a:solidFill>
                <a:latin typeface="맑은 고딕"/>
                <a:ea typeface="맑은 고딕"/>
                <a:cs typeface="맑은 고딕"/>
              </a:rPr>
              <a:t>이 시점의 상태</a:t>
            </a:r>
          </a:p>
        </p:txBody>
      </p:sp>
      <p:sp>
        <p:nvSpPr>
          <p:cNvPr id="9067" name="TextBox 9066"/>
          <p:cNvSpPr txBox="1"/>
          <p:nvPr/>
        </p:nvSpPr>
        <p:spPr>
          <a:xfrm>
            <a:off x="603504" y="3291839"/>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새 입력 크기</a:t>
            </a:r>
          </a:p>
        </p:txBody>
      </p:sp>
      <p:sp>
        <p:nvSpPr>
          <p:cNvPr id="9068" name="TextBox 9067"/>
          <p:cNvSpPr txBox="1"/>
          <p:nvPr/>
        </p:nvSpPr>
        <p:spPr>
          <a:xfrm>
            <a:off x="1664207" y="3291839"/>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95959"/>
                </a:solidFill>
                <a:latin typeface="맑은 고딕"/>
                <a:ea typeface="맑은 고딕"/>
                <a:cs typeface="맑은 고딕"/>
              </a:rPr>
              <a:t>2,000 토큰 (전체)</a:t>
            </a:r>
          </a:p>
        </p:txBody>
      </p:sp>
      <p:sp>
        <p:nvSpPr>
          <p:cNvPr id="9069" name="TextBox 9068"/>
          <p:cNvSpPr txBox="1"/>
          <p:nvPr/>
        </p:nvSpPr>
        <p:spPr>
          <a:xfrm>
            <a:off x="603504" y="347472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누적 KV 캐시</a:t>
            </a:r>
          </a:p>
        </p:txBody>
      </p:sp>
      <p:sp>
        <p:nvSpPr>
          <p:cNvPr id="9070" name="TextBox 9069"/>
          <p:cNvSpPr txBox="1"/>
          <p:nvPr/>
        </p:nvSpPr>
        <p:spPr>
          <a:xfrm>
            <a:off x="1664207" y="347472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95959"/>
                </a:solidFill>
                <a:latin typeface="맑은 고딕"/>
                <a:ea typeface="맑은 고딕"/>
                <a:cs typeface="맑은 고딕"/>
              </a:rPr>
              <a:t>없음</a:t>
            </a:r>
          </a:p>
        </p:txBody>
      </p:sp>
      <p:sp>
        <p:nvSpPr>
          <p:cNvPr id="9071" name="TextBox 9070"/>
          <p:cNvSpPr txBox="1"/>
          <p:nvPr/>
        </p:nvSpPr>
        <p:spPr>
          <a:xfrm>
            <a:off x="603504" y="365760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P 노드 부하</a:t>
            </a:r>
          </a:p>
        </p:txBody>
      </p:sp>
      <p:sp>
        <p:nvSpPr>
          <p:cNvPr id="9072" name="TextBox 9071"/>
          <p:cNvSpPr txBox="1"/>
          <p:nvPr/>
        </p:nvSpPr>
        <p:spPr>
          <a:xfrm>
            <a:off x="1664207" y="365760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낮음</a:t>
            </a:r>
          </a:p>
        </p:txBody>
      </p:sp>
      <p:sp>
        <p:nvSpPr>
          <p:cNvPr id="9073" name="TextBox 9072"/>
          <p:cNvSpPr txBox="1"/>
          <p:nvPr/>
        </p:nvSpPr>
        <p:spPr>
          <a:xfrm>
            <a:off x="603504" y="384048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D 노드 부하</a:t>
            </a:r>
          </a:p>
        </p:txBody>
      </p:sp>
      <p:sp>
        <p:nvSpPr>
          <p:cNvPr id="9074" name="TextBox 9073"/>
          <p:cNvSpPr txBox="1"/>
          <p:nvPr/>
        </p:nvSpPr>
        <p:spPr>
          <a:xfrm>
            <a:off x="1664207" y="384048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낮음</a:t>
            </a:r>
          </a:p>
        </p:txBody>
      </p:sp>
      <p:sp>
        <p:nvSpPr>
          <p:cNvPr id="9075" name="Rounded Rectangle 9074"/>
          <p:cNvSpPr/>
          <p:nvPr/>
        </p:nvSpPr>
        <p:spPr>
          <a:xfrm>
            <a:off x="493776" y="4151376"/>
            <a:ext cx="3227832" cy="384048"/>
          </a:xfrm>
          <a:prstGeom prst="roundRect">
            <a:avLst>
              <a:gd name="adj" fmla="val 10000"/>
            </a:avLst>
          </a:prstGeom>
          <a:solidFill>
            <a:srgbClr val="FBE5D6"/>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00" b="1" i="0">
                <a:solidFill>
                  <a:srgbClr val="C55A11"/>
                </a:solidFill>
                <a:latin typeface="맑은 고딕"/>
                <a:ea typeface="맑은 고딕"/>
                <a:cs typeface="맑은 고딕"/>
              </a:rPr>
              <a:t>→ </a:t>
            </a:r>
            <a:r>
              <a:rPr sz="1050" b="1" i="0">
                <a:solidFill>
                  <a:srgbClr val="C55A11"/>
                </a:solidFill>
                <a:latin typeface="맑은 고딕"/>
                <a:ea typeface="맑은 고딕"/>
                <a:cs typeface="맑은 고딕"/>
              </a:rPr>
              <a:t>P 노드에서 Prefill</a:t>
            </a:r>
          </a:p>
        </p:txBody>
      </p:sp>
      <p:sp>
        <p:nvSpPr>
          <p:cNvPr id="9076" name="TextBox 9075"/>
          <p:cNvSpPr txBox="1"/>
          <p:nvPr/>
        </p:nvSpPr>
        <p:spPr>
          <a:xfrm>
            <a:off x="493776" y="4608576"/>
            <a:ext cx="3227832" cy="402336"/>
          </a:xfrm>
          <a:prstGeom prst="rect">
            <a:avLst/>
          </a:prstGeom>
          <a:noFill/>
        </p:spPr>
        <p:txBody>
          <a:bodyPr wrap="square" lIns="0" rIns="0" tIns="0" bIns="0" anchor="t">
            <a:spAutoFit/>
          </a:bodyPr>
          <a:lstStyle/>
          <a:p>
            <a:pPr algn="l">
              <a:lnSpc>
                <a:spcPct val="120000"/>
              </a:lnSpc>
              <a:spcAft>
                <a:spcPts val="0"/>
              </a:spcAft>
            </a:pPr>
            <a:r>
              <a:rPr sz="800" b="0" i="0">
                <a:solidFill>
                  <a:srgbClr val="595959"/>
                </a:solidFill>
                <a:latin typeface="맑은 고딕"/>
                <a:ea typeface="맑은 고딕"/>
                <a:cs typeface="맑은 고딕"/>
              </a:rPr>
              <a:t>이전 대화가 없어 옮길 KV 캐시가 없음 → 기본 경로대로 P에서 처리</a:t>
            </a:r>
          </a:p>
        </p:txBody>
      </p:sp>
      <p:sp>
        <p:nvSpPr>
          <p:cNvPr id="9077" name="Right Arrow 9076"/>
          <p:cNvSpPr/>
          <p:nvPr/>
        </p:nvSpPr>
        <p:spPr>
          <a:xfrm>
            <a:off x="3959352" y="3401568"/>
            <a:ext cx="274320" cy="182880"/>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78" name="TextBox 9077"/>
          <p:cNvSpPr txBox="1"/>
          <p:nvPr/>
        </p:nvSpPr>
        <p:spPr>
          <a:xfrm>
            <a:off x="3822192" y="3621024"/>
            <a:ext cx="548640" cy="182880"/>
          </a:xfrm>
          <a:prstGeom prst="rect">
            <a:avLst/>
          </a:prstGeom>
          <a:noFill/>
        </p:spPr>
        <p:txBody>
          <a:bodyPr wrap="square" lIns="0" rIns="0" tIns="0" bIns="0" anchor="t">
            <a:spAutoFit/>
          </a:bodyPr>
          <a:lstStyle/>
          <a:p>
            <a:pPr algn="ctr">
              <a:lnSpc>
                <a:spcPct val="100000"/>
              </a:lnSpc>
              <a:spcAft>
                <a:spcPts val="0"/>
              </a:spcAft>
            </a:pPr>
            <a:r>
              <a:rPr sz="700" b="0" i="0">
                <a:solidFill>
                  <a:srgbClr val="808080"/>
                </a:solidFill>
                <a:latin typeface="맑은 고딕"/>
                <a:ea typeface="맑은 고딕"/>
                <a:cs typeface="맑은 고딕"/>
              </a:rPr>
              <a:t>Tool 호출</a:t>
            </a:r>
          </a:p>
        </p:txBody>
      </p:sp>
      <p:sp>
        <p:nvSpPr>
          <p:cNvPr id="9079" name="Rounded Rectangle 9078"/>
          <p:cNvSpPr/>
          <p:nvPr/>
        </p:nvSpPr>
        <p:spPr>
          <a:xfrm>
            <a:off x="4325112" y="2286000"/>
            <a:ext cx="3520440" cy="2788920"/>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80" name="Rounded Rectangle 9079"/>
          <p:cNvSpPr/>
          <p:nvPr/>
        </p:nvSpPr>
        <p:spPr>
          <a:xfrm>
            <a:off x="4325112" y="2286000"/>
            <a:ext cx="3520440" cy="310896"/>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50" b="1" i="0">
                <a:solidFill>
                  <a:srgbClr val="FFFFFF"/>
                </a:solidFill>
                <a:latin typeface="맑은 고딕"/>
                <a:ea typeface="맑은 고딕"/>
                <a:cs typeface="맑은 고딕"/>
              </a:rPr>
              <a:t>Turn 2</a:t>
            </a:r>
            <a:r>
              <a:rPr sz="900" b="0" i="0">
                <a:solidFill>
                  <a:srgbClr val="FFFFFF"/>
                </a:solidFill>
                <a:latin typeface="맑은 고딕"/>
                <a:ea typeface="맑은 고딕"/>
                <a:cs typeface="맑은 고딕"/>
              </a:rPr>
              <a:t>   ·   Tool 결과가 돌아옴</a:t>
            </a:r>
          </a:p>
        </p:txBody>
      </p:sp>
      <p:sp>
        <p:nvSpPr>
          <p:cNvPr id="9081" name="TextBox 9080"/>
          <p:cNvSpPr txBox="1"/>
          <p:nvPr/>
        </p:nvSpPr>
        <p:spPr>
          <a:xfrm>
            <a:off x="4471416" y="2670048"/>
            <a:ext cx="3227832" cy="292608"/>
          </a:xfrm>
          <a:prstGeom prst="rect">
            <a:avLst/>
          </a:prstGeom>
          <a:noFill/>
        </p:spPr>
        <p:txBody>
          <a:bodyPr wrap="square" lIns="0" rIns="0" tIns="0" bIns="0" anchor="t">
            <a:spAutoFit/>
          </a:bodyPr>
          <a:lstStyle/>
          <a:p>
            <a:pPr algn="l">
              <a:lnSpc>
                <a:spcPct val="115000"/>
              </a:lnSpc>
              <a:spcAft>
                <a:spcPts val="0"/>
              </a:spcAft>
            </a:pPr>
            <a:r>
              <a:rPr sz="800" b="1" i="0">
                <a:solidFill>
                  <a:srgbClr val="808080"/>
                </a:solidFill>
                <a:latin typeface="맑은 고딕"/>
                <a:ea typeface="맑은 고딕"/>
                <a:cs typeface="맑은 고딕"/>
              </a:rPr>
              <a:t>입력 :  </a:t>
            </a:r>
            <a:r>
              <a:rPr sz="800" b="0" i="0">
                <a:solidFill>
                  <a:srgbClr val="595959"/>
                </a:solidFill>
                <a:latin typeface="맑은 고딕"/>
                <a:ea typeface="맑은 고딕"/>
                <a:cs typeface="맑은 고딕"/>
              </a:rPr>
              <a:t>Tool 결과 100 토큰  (새로 추가된 부분만 Prefill)</a:t>
            </a:r>
          </a:p>
        </p:txBody>
      </p:sp>
      <p:sp>
        <p:nvSpPr>
          <p:cNvPr id="9082" name="Rounded Rectangle 9081"/>
          <p:cNvSpPr/>
          <p:nvPr/>
        </p:nvSpPr>
        <p:spPr>
          <a:xfrm>
            <a:off x="4471416" y="3035808"/>
            <a:ext cx="3227832" cy="1005840"/>
          </a:xfrm>
          <a:prstGeom prst="roundRect">
            <a:avLst>
              <a:gd name="adj" fmla="val 6000"/>
            </a:avLst>
          </a:prstGeom>
          <a:solidFill>
            <a:srgbClr val="F7F9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83" name="TextBox 9082"/>
          <p:cNvSpPr txBox="1"/>
          <p:nvPr/>
        </p:nvSpPr>
        <p:spPr>
          <a:xfrm>
            <a:off x="4581144" y="3099815"/>
            <a:ext cx="3008376" cy="164592"/>
          </a:xfrm>
          <a:prstGeom prst="rect">
            <a:avLst/>
          </a:prstGeom>
          <a:noFill/>
        </p:spPr>
        <p:txBody>
          <a:bodyPr wrap="square" lIns="0" rIns="0" tIns="0" bIns="0" anchor="t">
            <a:spAutoFit/>
          </a:bodyPr>
          <a:lstStyle/>
          <a:p>
            <a:pPr algn="l">
              <a:lnSpc>
                <a:spcPct val="100000"/>
              </a:lnSpc>
              <a:spcAft>
                <a:spcPts val="0"/>
              </a:spcAft>
            </a:pPr>
            <a:r>
              <a:rPr sz="750" b="1" i="0">
                <a:solidFill>
                  <a:srgbClr val="808080"/>
                </a:solidFill>
                <a:latin typeface="맑은 고딕"/>
                <a:ea typeface="맑은 고딕"/>
                <a:cs typeface="맑은 고딕"/>
              </a:rPr>
              <a:t>이 시점의 상태</a:t>
            </a:r>
          </a:p>
        </p:txBody>
      </p:sp>
      <p:sp>
        <p:nvSpPr>
          <p:cNvPr id="9084" name="TextBox 9083"/>
          <p:cNvSpPr txBox="1"/>
          <p:nvPr/>
        </p:nvSpPr>
        <p:spPr>
          <a:xfrm>
            <a:off x="4581144" y="3291839"/>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새 입력 크기</a:t>
            </a:r>
          </a:p>
        </p:txBody>
      </p:sp>
      <p:sp>
        <p:nvSpPr>
          <p:cNvPr id="9085" name="TextBox 9084"/>
          <p:cNvSpPr txBox="1"/>
          <p:nvPr/>
        </p:nvSpPr>
        <p:spPr>
          <a:xfrm>
            <a:off x="5641848" y="3291839"/>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100 토큰 (작음)</a:t>
            </a:r>
          </a:p>
        </p:txBody>
      </p:sp>
      <p:sp>
        <p:nvSpPr>
          <p:cNvPr id="9086" name="TextBox 9085"/>
          <p:cNvSpPr txBox="1"/>
          <p:nvPr/>
        </p:nvSpPr>
        <p:spPr>
          <a:xfrm>
            <a:off x="4581144" y="347472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누적 KV 캐시</a:t>
            </a:r>
          </a:p>
        </p:txBody>
      </p:sp>
      <p:sp>
        <p:nvSpPr>
          <p:cNvPr id="9087" name="TextBox 9086"/>
          <p:cNvSpPr txBox="1"/>
          <p:nvPr/>
        </p:nvSpPr>
        <p:spPr>
          <a:xfrm>
            <a:off x="5641848" y="347472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95959"/>
                </a:solidFill>
                <a:latin typeface="맑은 고딕"/>
                <a:ea typeface="맑은 고딕"/>
                <a:cs typeface="맑은 고딕"/>
              </a:rPr>
              <a:t>중간 · D 노드에 있음</a:t>
            </a:r>
          </a:p>
        </p:txBody>
      </p:sp>
      <p:sp>
        <p:nvSpPr>
          <p:cNvPr id="9088" name="TextBox 9087"/>
          <p:cNvSpPr txBox="1"/>
          <p:nvPr/>
        </p:nvSpPr>
        <p:spPr>
          <a:xfrm>
            <a:off x="4581144" y="365760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P 노드 부하</a:t>
            </a:r>
          </a:p>
        </p:txBody>
      </p:sp>
      <p:sp>
        <p:nvSpPr>
          <p:cNvPr id="9089" name="TextBox 9088"/>
          <p:cNvSpPr txBox="1"/>
          <p:nvPr/>
        </p:nvSpPr>
        <p:spPr>
          <a:xfrm>
            <a:off x="5641848" y="365760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C00000"/>
                </a:solidFill>
                <a:latin typeface="맑은 고딕"/>
                <a:ea typeface="맑은 고딕"/>
                <a:cs typeface="맑은 고딕"/>
              </a:rPr>
              <a:t>높음</a:t>
            </a:r>
          </a:p>
        </p:txBody>
      </p:sp>
      <p:sp>
        <p:nvSpPr>
          <p:cNvPr id="9090" name="TextBox 9089"/>
          <p:cNvSpPr txBox="1"/>
          <p:nvPr/>
        </p:nvSpPr>
        <p:spPr>
          <a:xfrm>
            <a:off x="4581144" y="384048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D 노드 부하</a:t>
            </a:r>
          </a:p>
        </p:txBody>
      </p:sp>
      <p:sp>
        <p:nvSpPr>
          <p:cNvPr id="9091" name="TextBox 9090"/>
          <p:cNvSpPr txBox="1"/>
          <p:nvPr/>
        </p:nvSpPr>
        <p:spPr>
          <a:xfrm>
            <a:off x="5641848" y="384048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낮음</a:t>
            </a:r>
          </a:p>
        </p:txBody>
      </p:sp>
      <p:sp>
        <p:nvSpPr>
          <p:cNvPr id="9092" name="Rounded Rectangle 9091"/>
          <p:cNvSpPr/>
          <p:nvPr/>
        </p:nvSpPr>
        <p:spPr>
          <a:xfrm>
            <a:off x="4471416" y="4151376"/>
            <a:ext cx="3227832" cy="384048"/>
          </a:xfrm>
          <a:prstGeom prst="roundRect">
            <a:avLst>
              <a:gd name="adj" fmla="val 10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00" b="1" i="0">
                <a:solidFill>
                  <a:srgbClr val="1F3864"/>
                </a:solidFill>
                <a:latin typeface="맑은 고딕"/>
                <a:ea typeface="맑은 고딕"/>
                <a:cs typeface="맑은 고딕"/>
              </a:rPr>
              <a:t>→ </a:t>
            </a:r>
            <a:r>
              <a:rPr sz="1050" b="1" i="0">
                <a:solidFill>
                  <a:srgbClr val="1F3864"/>
                </a:solidFill>
                <a:latin typeface="맑은 고딕"/>
                <a:ea typeface="맑은 고딕"/>
                <a:cs typeface="맑은 고딕"/>
              </a:rPr>
              <a:t>D 노드에서 Prefill</a:t>
            </a:r>
          </a:p>
        </p:txBody>
      </p:sp>
      <p:sp>
        <p:nvSpPr>
          <p:cNvPr id="9093" name="TextBox 9092"/>
          <p:cNvSpPr txBox="1"/>
          <p:nvPr/>
        </p:nvSpPr>
        <p:spPr>
          <a:xfrm>
            <a:off x="4471416" y="4608576"/>
            <a:ext cx="3227832" cy="402336"/>
          </a:xfrm>
          <a:prstGeom prst="rect">
            <a:avLst/>
          </a:prstGeom>
          <a:noFill/>
        </p:spPr>
        <p:txBody>
          <a:bodyPr wrap="square" lIns="0" rIns="0" tIns="0" bIns="0" anchor="t">
            <a:spAutoFit/>
          </a:bodyPr>
          <a:lstStyle/>
          <a:p>
            <a:pPr algn="l">
              <a:lnSpc>
                <a:spcPct val="120000"/>
              </a:lnSpc>
              <a:spcAft>
                <a:spcPts val="0"/>
              </a:spcAft>
            </a:pPr>
            <a:r>
              <a:rPr sz="800" b="0" i="0">
                <a:solidFill>
                  <a:srgbClr val="595959"/>
                </a:solidFill>
                <a:latin typeface="맑은 고딕"/>
                <a:ea typeface="맑은 고딕"/>
                <a:cs typeface="맑은 고딕"/>
              </a:rPr>
              <a:t>할 일이 적은데 P로 보내면 KV 전송 + P 대기 비용이 더 큼 → D에서 바로 처리</a:t>
            </a:r>
          </a:p>
        </p:txBody>
      </p:sp>
      <p:sp>
        <p:nvSpPr>
          <p:cNvPr id="9094" name="Right Arrow 9093"/>
          <p:cNvSpPr/>
          <p:nvPr/>
        </p:nvSpPr>
        <p:spPr>
          <a:xfrm>
            <a:off x="7936992" y="3401568"/>
            <a:ext cx="274320" cy="182880"/>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95" name="TextBox 9094"/>
          <p:cNvSpPr txBox="1"/>
          <p:nvPr/>
        </p:nvSpPr>
        <p:spPr>
          <a:xfrm>
            <a:off x="7799831" y="3621024"/>
            <a:ext cx="548640" cy="182880"/>
          </a:xfrm>
          <a:prstGeom prst="rect">
            <a:avLst/>
          </a:prstGeom>
          <a:noFill/>
        </p:spPr>
        <p:txBody>
          <a:bodyPr wrap="square" lIns="0" rIns="0" tIns="0" bIns="0" anchor="t">
            <a:spAutoFit/>
          </a:bodyPr>
          <a:lstStyle/>
          <a:p>
            <a:pPr algn="ctr">
              <a:lnSpc>
                <a:spcPct val="100000"/>
              </a:lnSpc>
              <a:spcAft>
                <a:spcPts val="0"/>
              </a:spcAft>
            </a:pPr>
            <a:r>
              <a:rPr sz="700" b="0" i="0">
                <a:solidFill>
                  <a:srgbClr val="808080"/>
                </a:solidFill>
                <a:latin typeface="맑은 고딕"/>
                <a:ea typeface="맑은 고딕"/>
                <a:cs typeface="맑은 고딕"/>
              </a:rPr>
              <a:t>Tool 호출</a:t>
            </a:r>
          </a:p>
        </p:txBody>
      </p:sp>
      <p:sp>
        <p:nvSpPr>
          <p:cNvPr id="9096" name="Rounded Rectangle 9095"/>
          <p:cNvSpPr/>
          <p:nvPr/>
        </p:nvSpPr>
        <p:spPr>
          <a:xfrm>
            <a:off x="8302752" y="2286000"/>
            <a:ext cx="3520440" cy="2788920"/>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97" name="Rounded Rectangle 9096"/>
          <p:cNvSpPr/>
          <p:nvPr/>
        </p:nvSpPr>
        <p:spPr>
          <a:xfrm>
            <a:off x="8302752" y="2286000"/>
            <a:ext cx="3520440" cy="310896"/>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50" b="1" i="0">
                <a:solidFill>
                  <a:srgbClr val="FFFFFF"/>
                </a:solidFill>
                <a:latin typeface="맑은 고딕"/>
                <a:ea typeface="맑은 고딕"/>
                <a:cs typeface="맑은 고딕"/>
              </a:rPr>
              <a:t>Turn 3</a:t>
            </a:r>
            <a:r>
              <a:rPr sz="900" b="0" i="0">
                <a:solidFill>
                  <a:srgbClr val="FFFFFF"/>
                </a:solidFill>
                <a:latin typeface="맑은 고딕"/>
                <a:ea typeface="맑은 고딕"/>
                <a:cs typeface="맑은 고딕"/>
              </a:rPr>
              <a:t>   ·   Tool 결과가 큼</a:t>
            </a:r>
          </a:p>
        </p:txBody>
      </p:sp>
      <p:sp>
        <p:nvSpPr>
          <p:cNvPr id="9098" name="TextBox 9097"/>
          <p:cNvSpPr txBox="1"/>
          <p:nvPr/>
        </p:nvSpPr>
        <p:spPr>
          <a:xfrm>
            <a:off x="8449056" y="2670048"/>
            <a:ext cx="3227832" cy="292608"/>
          </a:xfrm>
          <a:prstGeom prst="rect">
            <a:avLst/>
          </a:prstGeom>
          <a:noFill/>
        </p:spPr>
        <p:txBody>
          <a:bodyPr wrap="square" lIns="0" rIns="0" tIns="0" bIns="0" anchor="t">
            <a:spAutoFit/>
          </a:bodyPr>
          <a:lstStyle/>
          <a:p>
            <a:pPr algn="l">
              <a:lnSpc>
                <a:spcPct val="115000"/>
              </a:lnSpc>
              <a:spcAft>
                <a:spcPts val="0"/>
              </a:spcAft>
            </a:pPr>
            <a:r>
              <a:rPr sz="800" b="1" i="0">
                <a:solidFill>
                  <a:srgbClr val="808080"/>
                </a:solidFill>
                <a:latin typeface="맑은 고딕"/>
                <a:ea typeface="맑은 고딕"/>
                <a:cs typeface="맑은 고딕"/>
              </a:rPr>
              <a:t>입력 :  </a:t>
            </a:r>
            <a:r>
              <a:rPr sz="800" b="0" i="0">
                <a:solidFill>
                  <a:srgbClr val="595959"/>
                </a:solidFill>
                <a:latin typeface="맑은 고딕"/>
                <a:ea typeface="맑은 고딕"/>
                <a:cs typeface="맑은 고딕"/>
              </a:rPr>
              <a:t>Tool 결과 1,000 토큰  (추가 입력이 큼)</a:t>
            </a:r>
          </a:p>
        </p:txBody>
      </p:sp>
      <p:sp>
        <p:nvSpPr>
          <p:cNvPr id="9099" name="Rounded Rectangle 9098"/>
          <p:cNvSpPr/>
          <p:nvPr/>
        </p:nvSpPr>
        <p:spPr>
          <a:xfrm>
            <a:off x="8449056" y="3035808"/>
            <a:ext cx="3227832" cy="1005840"/>
          </a:xfrm>
          <a:prstGeom prst="roundRect">
            <a:avLst>
              <a:gd name="adj" fmla="val 6000"/>
            </a:avLst>
          </a:prstGeom>
          <a:solidFill>
            <a:srgbClr val="F7F9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100" name="TextBox 9099"/>
          <p:cNvSpPr txBox="1"/>
          <p:nvPr/>
        </p:nvSpPr>
        <p:spPr>
          <a:xfrm>
            <a:off x="8558784" y="3099815"/>
            <a:ext cx="3008376" cy="164592"/>
          </a:xfrm>
          <a:prstGeom prst="rect">
            <a:avLst/>
          </a:prstGeom>
          <a:noFill/>
        </p:spPr>
        <p:txBody>
          <a:bodyPr wrap="square" lIns="0" rIns="0" tIns="0" bIns="0" anchor="t">
            <a:spAutoFit/>
          </a:bodyPr>
          <a:lstStyle/>
          <a:p>
            <a:pPr algn="l">
              <a:lnSpc>
                <a:spcPct val="100000"/>
              </a:lnSpc>
              <a:spcAft>
                <a:spcPts val="0"/>
              </a:spcAft>
            </a:pPr>
            <a:r>
              <a:rPr sz="750" b="1" i="0">
                <a:solidFill>
                  <a:srgbClr val="808080"/>
                </a:solidFill>
                <a:latin typeface="맑은 고딕"/>
                <a:ea typeface="맑은 고딕"/>
                <a:cs typeface="맑은 고딕"/>
              </a:rPr>
              <a:t>이 시점의 상태</a:t>
            </a:r>
          </a:p>
        </p:txBody>
      </p:sp>
      <p:sp>
        <p:nvSpPr>
          <p:cNvPr id="9101" name="TextBox 9100"/>
          <p:cNvSpPr txBox="1"/>
          <p:nvPr/>
        </p:nvSpPr>
        <p:spPr>
          <a:xfrm>
            <a:off x="8558784" y="3291839"/>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새 입력 크기</a:t>
            </a:r>
          </a:p>
        </p:txBody>
      </p:sp>
      <p:sp>
        <p:nvSpPr>
          <p:cNvPr id="9102" name="TextBox 9101"/>
          <p:cNvSpPr txBox="1"/>
          <p:nvPr/>
        </p:nvSpPr>
        <p:spPr>
          <a:xfrm>
            <a:off x="9619488" y="3291839"/>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C00000"/>
                </a:solidFill>
                <a:latin typeface="맑은 고딕"/>
                <a:ea typeface="맑은 고딕"/>
                <a:cs typeface="맑은 고딕"/>
              </a:rPr>
              <a:t>1,000 토큰 (큼)</a:t>
            </a:r>
          </a:p>
        </p:txBody>
      </p:sp>
      <p:sp>
        <p:nvSpPr>
          <p:cNvPr id="9103" name="TextBox 9102"/>
          <p:cNvSpPr txBox="1"/>
          <p:nvPr/>
        </p:nvSpPr>
        <p:spPr>
          <a:xfrm>
            <a:off x="8558784" y="347472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누적 KV 캐시</a:t>
            </a:r>
          </a:p>
        </p:txBody>
      </p:sp>
      <p:sp>
        <p:nvSpPr>
          <p:cNvPr id="9104" name="TextBox 9103"/>
          <p:cNvSpPr txBox="1"/>
          <p:nvPr/>
        </p:nvSpPr>
        <p:spPr>
          <a:xfrm>
            <a:off x="9619488" y="347472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95959"/>
                </a:solidFill>
                <a:latin typeface="맑은 고딕"/>
                <a:ea typeface="맑은 고딕"/>
                <a:cs typeface="맑은 고딕"/>
              </a:rPr>
              <a:t>큼 · D 노드에 있음</a:t>
            </a:r>
          </a:p>
        </p:txBody>
      </p:sp>
      <p:sp>
        <p:nvSpPr>
          <p:cNvPr id="9105" name="TextBox 9104"/>
          <p:cNvSpPr txBox="1"/>
          <p:nvPr/>
        </p:nvSpPr>
        <p:spPr>
          <a:xfrm>
            <a:off x="8558784" y="365760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P 노드 부하</a:t>
            </a:r>
          </a:p>
        </p:txBody>
      </p:sp>
      <p:sp>
        <p:nvSpPr>
          <p:cNvPr id="9106" name="TextBox 9105"/>
          <p:cNvSpPr txBox="1"/>
          <p:nvPr/>
        </p:nvSpPr>
        <p:spPr>
          <a:xfrm>
            <a:off x="9619488" y="365760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낮음</a:t>
            </a:r>
          </a:p>
        </p:txBody>
      </p:sp>
      <p:sp>
        <p:nvSpPr>
          <p:cNvPr id="9107" name="TextBox 9106"/>
          <p:cNvSpPr txBox="1"/>
          <p:nvPr/>
        </p:nvSpPr>
        <p:spPr>
          <a:xfrm>
            <a:off x="8558784" y="384048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D 노드 부하</a:t>
            </a:r>
          </a:p>
        </p:txBody>
      </p:sp>
      <p:sp>
        <p:nvSpPr>
          <p:cNvPr id="9108" name="TextBox 9107"/>
          <p:cNvSpPr txBox="1"/>
          <p:nvPr/>
        </p:nvSpPr>
        <p:spPr>
          <a:xfrm>
            <a:off x="9619488" y="384048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C00000"/>
                </a:solidFill>
                <a:latin typeface="맑은 고딕"/>
                <a:ea typeface="맑은 고딕"/>
                <a:cs typeface="맑은 고딕"/>
              </a:rPr>
              <a:t>높음</a:t>
            </a:r>
          </a:p>
        </p:txBody>
      </p:sp>
      <p:sp>
        <p:nvSpPr>
          <p:cNvPr id="9109" name="Rounded Rectangle 9108"/>
          <p:cNvSpPr/>
          <p:nvPr/>
        </p:nvSpPr>
        <p:spPr>
          <a:xfrm>
            <a:off x="8449056" y="4151376"/>
            <a:ext cx="3227832" cy="384048"/>
          </a:xfrm>
          <a:prstGeom prst="roundRect">
            <a:avLst>
              <a:gd name="adj" fmla="val 10000"/>
            </a:avLst>
          </a:prstGeom>
          <a:solidFill>
            <a:srgbClr val="FBE5D6"/>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00" b="1" i="0">
                <a:solidFill>
                  <a:srgbClr val="C55A11"/>
                </a:solidFill>
                <a:latin typeface="맑은 고딕"/>
                <a:ea typeface="맑은 고딕"/>
                <a:cs typeface="맑은 고딕"/>
              </a:rPr>
              <a:t>→ </a:t>
            </a:r>
            <a:r>
              <a:rPr sz="1050" b="1" i="0">
                <a:solidFill>
                  <a:srgbClr val="C55A11"/>
                </a:solidFill>
                <a:latin typeface="맑은 고딕"/>
                <a:ea typeface="맑은 고딕"/>
                <a:cs typeface="맑은 고딕"/>
              </a:rPr>
              <a:t>P 노드에서 Prefill</a:t>
            </a:r>
          </a:p>
        </p:txBody>
      </p:sp>
      <p:sp>
        <p:nvSpPr>
          <p:cNvPr id="9110" name="TextBox 9109"/>
          <p:cNvSpPr txBox="1"/>
          <p:nvPr/>
        </p:nvSpPr>
        <p:spPr>
          <a:xfrm>
            <a:off x="8449056" y="4608576"/>
            <a:ext cx="3227832" cy="402336"/>
          </a:xfrm>
          <a:prstGeom prst="rect">
            <a:avLst/>
          </a:prstGeom>
          <a:noFill/>
        </p:spPr>
        <p:txBody>
          <a:bodyPr wrap="square" lIns="0" rIns="0" tIns="0" bIns="0" anchor="t">
            <a:spAutoFit/>
          </a:bodyPr>
          <a:lstStyle/>
          <a:p>
            <a:pPr algn="l">
              <a:lnSpc>
                <a:spcPct val="120000"/>
              </a:lnSpc>
              <a:spcAft>
                <a:spcPts val="0"/>
              </a:spcAft>
            </a:pPr>
            <a:r>
              <a:rPr sz="800" b="0" i="0">
                <a:solidFill>
                  <a:srgbClr val="595959"/>
                </a:solidFill>
                <a:latin typeface="맑은 고딕"/>
                <a:ea typeface="맑은 고딕"/>
                <a:cs typeface="맑은 고딕"/>
              </a:rPr>
              <a:t>무거운 Prefill을 D에서 하면 진행 중인 Decode가 끊김 → 한가한 P로 보내는 편이 이득</a:t>
            </a:r>
          </a:p>
        </p:txBody>
      </p:sp>
      <p:sp>
        <p:nvSpPr>
          <p:cNvPr id="9111" name="Rounded Rectangle 9110"/>
          <p:cNvSpPr/>
          <p:nvPr/>
        </p:nvSpPr>
        <p:spPr>
          <a:xfrm>
            <a:off x="347472" y="5175504"/>
            <a:ext cx="11494008" cy="347472"/>
          </a:xfrm>
          <a:prstGeom prst="roundRect">
            <a:avLst>
              <a:gd name="adj" fmla="val 12000"/>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00" b="0" i="0">
                <a:solidFill>
                  <a:srgbClr val="000000"/>
                </a:solidFill>
                <a:latin typeface="맑은 고딕"/>
                <a:ea typeface="맑은 고딕"/>
                <a:cs typeface="맑은 고딕"/>
              </a:rPr>
              <a:t>같은 대화인데도 Turn마다 </a:t>
            </a:r>
            <a:r>
              <a:rPr sz="1000" b="1" i="0">
                <a:solidFill>
                  <a:srgbClr val="C00000"/>
                </a:solidFill>
                <a:latin typeface="맑은 고딕"/>
                <a:ea typeface="맑은 고딕"/>
                <a:cs typeface="맑은 고딕"/>
              </a:rPr>
              <a:t>입력 크기 · KV 캐시 위치 · 노드 부하</a:t>
            </a:r>
            <a:r>
              <a:rPr sz="1000" b="0" i="0">
                <a:solidFill>
                  <a:srgbClr val="000000"/>
                </a:solidFill>
                <a:latin typeface="맑은 고딕"/>
                <a:ea typeface="맑은 고딕"/>
                <a:cs typeface="맑은 고딕"/>
              </a:rPr>
              <a:t>가 달라져, 유리한 Prefill 실행 위치가 매번 바뀜</a:t>
            </a:r>
          </a:p>
        </p:txBody>
      </p:sp>
    </p:spTree>
    <p:extLst>
      <p:ext uri="{BB962C8B-B14F-4D97-AF65-F5344CB8AC3E}">
        <p14:creationId xmlns:p14="http://schemas.microsoft.com/office/powerpoint/2010/main" val="211099819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와이드스크린</PresentationFormat>
  <Slides>2</Slides>
  <Notes>2</Notes>
  <HiddenSlides>0</HiddenSlides>
  <MMClips>0</MMClips>
  <ScaleCrop>false</ScaleCrop>
  <HeadingPairs>
    <vt:vector size="4" baseType="variant">
      <vt:variant>
        <vt:lpstr>테마</vt:lpstr>
      </vt:variant>
      <vt:variant>
        <vt:i4>1</vt:i4>
      </vt:variant>
      <vt:variant>
        <vt:lpstr>슬라이드 제목</vt:lpstr>
      </vt:variant>
      <vt:variant>
        <vt:i4>2</vt:i4>
      </vt:variant>
    </vt:vector>
  </HeadingPairs>
  <TitlesOfParts>
    <vt:vector size="3" baseType="lpstr">
      <vt:lpstr>Office 테마</vt:lpstr>
      <vt:lpstr>DP2. 이기종 메모리 환경의 Prefill 실행 위치 결정 구조 - 배경 (1)</vt:lpstr>
      <vt:lpstr>DP2. 이기종 메모리 환경의 Prefill 실행 위치 결정 구조 - 배경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DP2. 이기종 메모리 환경의 Prefill 실행 위치 결정 구조 - 배경</dc:title>
  <dc:creator>김명우/MYEONG WOO KIM</dc:creator>
  <cp:lastModifiedBy>김명우/MYEONG WOO KIM</cp:lastModifiedBy>
  <cp:revision>1</cp:revision>
  <dcterms:created xsi:type="dcterms:W3CDTF">2026-06-30T10:16:17Z</dcterms:created>
  <dcterms:modified xsi:type="dcterms:W3CDTF">2026-09-14T07:37:14Z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
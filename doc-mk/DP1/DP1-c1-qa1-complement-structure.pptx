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274320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  <a:ea typeface="맑은 고딕"/>
              </a:rPr>
              <a:t>C1 QA1 보완 구조 - 기존 C1 pipeline에 Activity Gate와 Paced Migration을 추가 ([C] 설계 제안, 미구현)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96112"/>
            <a:ext cx="11430000" cy="36576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04040"/>
                </a:solidFill>
                <a:latin typeface="맑은 고딕"/>
                <a:ea typeface="맑은 고딕"/>
              </a:rPr>
              <a:t>진단 (qa_result.json, 통합 21쌍): QA1 격차 C1 x1.298 대 C2 x1.422의 ln 격차 96.5%가 B200 같은 class KV 3쌍에 있다. C1은 이 3쌍 15 seed-run 중 10개가 Baseline과 동일(이동 없음).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417320"/>
            <a:ext cx="2514600" cy="603504"/>
          </a:xfrm>
          <a:prstGeom prst="rect">
            <a:avLst/>
          </a:prstGeom>
          <a:solidFill>
            <a:srgbClr val="DCE9F5"/>
          </a:solidFill>
          <a:ln w="12700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Event Source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TELEMETRY / ALLOCATED / FREED / ACCESSED</a:t>
            </a:r>
          </a:p>
        </p:txBody>
      </p:sp>
      <p:sp>
        <p:nvSpPr>
          <p:cNvPr id="5" name="Rectangle 4"/>
          <p:cNvSpPr/>
          <p:nvPr/>
        </p:nvSpPr>
        <p:spPr>
          <a:xfrm>
            <a:off x="3246120" y="1417320"/>
            <a:ext cx="2514600" cy="603504"/>
          </a:xfrm>
          <a:prstGeom prst="rect">
            <a:avLst/>
          </a:prstGeom>
          <a:solidFill>
            <a:srgbClr val="DCE9F5"/>
          </a:solidFill>
          <a:ln w="12700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Resource State Monitor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capacity / BW / load -&gt; pressure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0" y="1417320"/>
            <a:ext cx="2514600" cy="603504"/>
          </a:xfrm>
          <a:prstGeom prst="rect">
            <a:avLst/>
          </a:prstGeom>
          <a:solidFill>
            <a:srgbClr val="DCE9F5"/>
          </a:solidFill>
          <a:ln w="12700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Resource Trend Analyzer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pressure source tier 선정</a:t>
            </a:r>
          </a:p>
        </p:txBody>
      </p:sp>
      <p:sp>
        <p:nvSpPr>
          <p:cNvPr id="7" name="Rectangle 6"/>
          <p:cNvSpPr/>
          <p:nvPr/>
        </p:nvSpPr>
        <p:spPr>
          <a:xfrm>
            <a:off x="9006840" y="1417320"/>
            <a:ext cx="2514600" cy="603504"/>
          </a:xfrm>
          <a:prstGeom prst="rect">
            <a:avLst/>
          </a:prstGeom>
          <a:solidFill>
            <a:srgbClr val="FDEBD3"/>
          </a:solidFill>
          <a:ln w="28575">
            <a:solidFill>
              <a:srgbClr val="C070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B2 No-benefit Rebalance Gate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[신규] 용량 부족도 SLO 위반도 없으면 rebalance 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보류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286000"/>
            <a:ext cx="2514600" cy="603504"/>
          </a:xfrm>
          <a:prstGeom prst="rect">
            <a:avLst/>
          </a:prstGeom>
          <a:solidFill>
            <a:srgbClr val="FDEBD3"/>
          </a:solidFill>
          <a:ln w="28575">
            <a:solidFill>
              <a:srgbClr val="C070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A1 Activity Tag Store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[신규] last_access_ts + 8 s window 횟수 (Registry 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밖)</a:t>
            </a:r>
          </a:p>
        </p:txBody>
      </p:sp>
      <p:sp>
        <p:nvSpPr>
          <p:cNvPr id="9" name="Rectangle 8"/>
          <p:cNvSpPr/>
          <p:nvPr/>
        </p:nvSpPr>
        <p:spPr>
          <a:xfrm>
            <a:off x="9006840" y="2286000"/>
            <a:ext cx="2514600" cy="603504"/>
          </a:xfrm>
          <a:prstGeom prst="rect">
            <a:avLst/>
          </a:prstGeom>
          <a:solidFill>
            <a:srgbClr val="E3F1E3"/>
          </a:solidFill>
          <a:ln w="28575">
            <a:solidFill>
              <a:srgbClr val="3F8A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A3 Data Eviction Manager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[변경] victim을 idle 우선 정렬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4023360"/>
            <a:ext cx="2514600" cy="603504"/>
          </a:xfrm>
          <a:prstGeom prst="rect">
            <a:avLst/>
          </a:prstGeom>
          <a:solidFill>
            <a:srgbClr val="DCE9F5"/>
          </a:solidFill>
          <a:ln w="12700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Data Object Registry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위치 / 크기 / tier, type-agnostic (변경 없음)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3154680"/>
            <a:ext cx="2514600" cy="603504"/>
          </a:xfrm>
          <a:prstGeom prst="rect">
            <a:avLst/>
          </a:prstGeom>
          <a:solidFill>
            <a:srgbClr val="E3F1E3"/>
          </a:solidFill>
          <a:ln w="28575">
            <a:solidFill>
              <a:srgbClr val="3F8A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A2 Promotion / Swap Pass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[변경] gain x act(p) &gt;= margin x loss x act(v)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006840" y="3154680"/>
            <a:ext cx="2514600" cy="603504"/>
          </a:xfrm>
          <a:prstGeom prst="rect">
            <a:avLst/>
          </a:prstGeom>
          <a:solidFill>
            <a:srgbClr val="DCE9F5"/>
          </a:solidFill>
          <a:ln w="12700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Data-Memory Affinity Mapper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static hint: op class, shape, sensitivity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4023360"/>
            <a:ext cx="2514600" cy="603504"/>
          </a:xfrm>
          <a:prstGeom prst="rect">
            <a:avLst/>
          </a:prstGeom>
          <a:solidFill>
            <a:srgbClr val="DCE9F5"/>
          </a:solidFill>
          <a:ln w="12700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Access Cost Estimator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descriptor 기반 비용 (B2, A2도 사용)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006840" y="4023360"/>
            <a:ext cx="2514600" cy="603504"/>
          </a:xfrm>
          <a:prstGeom prst="rect">
            <a:avLst/>
          </a:prstGeom>
          <a:solidFill>
            <a:srgbClr val="DCE9F5"/>
          </a:solidFill>
          <a:ln w="12700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Destination Tier Selector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SLO filter, do-no-harm, affinity score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06840" y="4892040"/>
            <a:ext cx="2514600" cy="603504"/>
          </a:xfrm>
          <a:prstGeom prst="rect">
            <a:avLst/>
          </a:prstGeom>
          <a:solidFill>
            <a:srgbClr val="E3F1E3"/>
          </a:solidFill>
          <a:ln w="28575">
            <a:solidFill>
              <a:srgbClr val="3F8A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Migration Budget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[변경] link-time token bucket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4892040"/>
            <a:ext cx="2514600" cy="603504"/>
          </a:xfrm>
          <a:prstGeom prst="rect">
            <a:avLst/>
          </a:prstGeom>
          <a:solidFill>
            <a:srgbClr val="FDEBD3"/>
          </a:solidFill>
          <a:ln w="28575">
            <a:solidFill>
              <a:srgbClr val="C070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B1 Staged Migration Pacer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[신규] tick당 share만 진행, copy-then-switch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46120" y="4892040"/>
            <a:ext cx="2514600" cy="603504"/>
          </a:xfrm>
          <a:prstGeom prst="rect">
            <a:avLst/>
          </a:prstGeom>
          <a:solidFill>
            <a:srgbClr val="DCE9F5"/>
          </a:solidFill>
          <a:ln w="12700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Migration Executor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common boundary (C1/C2 공유)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91640" y="2039112"/>
            <a:ext cx="1554480" cy="21945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ACCESSED (현재 C1은 버림)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0" y="2340864"/>
            <a:ext cx="1463040" cy="21945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idle-first (A3)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49039" y="2852928"/>
            <a:ext cx="1371600" cy="21945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activity (A2)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5596128"/>
            <a:ext cx="1325880" cy="274320"/>
          </a:xfrm>
          <a:prstGeom prst="rect">
            <a:avLst/>
          </a:prstGeom>
          <a:solidFill>
            <a:srgbClr val="DCE9F5"/>
          </a:solidFill>
          <a:ln w="12700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A1A1A"/>
                </a:solidFill>
                <a:latin typeface="맑은 고딕"/>
                <a:ea typeface="맑은 고딕"/>
              </a:rPr>
              <a:t>기존 블록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783080" y="5596128"/>
            <a:ext cx="1325880" cy="274320"/>
          </a:xfrm>
          <a:prstGeom prst="rect">
            <a:avLst/>
          </a:prstGeom>
          <a:solidFill>
            <a:srgbClr val="E3F1E3"/>
          </a:solidFill>
          <a:ln w="28575">
            <a:solidFill>
              <a:srgbClr val="3F8A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A1A1A"/>
                </a:solidFill>
                <a:latin typeface="맑은 고딕"/>
                <a:ea typeface="맑은 고딕"/>
              </a:rPr>
              <a:t>변경 블록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0" y="5596128"/>
            <a:ext cx="1325880" cy="274320"/>
          </a:xfrm>
          <a:prstGeom prst="rect">
            <a:avLst/>
          </a:prstGeom>
          <a:solidFill>
            <a:srgbClr val="FDEBD3"/>
          </a:solidFill>
          <a:ln w="28575">
            <a:solidFill>
              <a:srgbClr val="C070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A1A1A"/>
                </a:solidFill>
                <a:latin typeface="맑은 고딕"/>
                <a:ea typeface="맑은 고딕"/>
              </a:rPr>
              <a:t>신규 블록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5943600"/>
            <a:ext cx="5989320" cy="713232"/>
          </a:xfrm>
          <a:prstGeom prst="rect">
            <a:avLst/>
          </a:prstGeom>
          <a:solidFill>
            <a:srgbClr val="FFF8EC"/>
          </a:solidFill>
          <a:ln w="9525">
            <a:solidFill>
              <a:srgbClr val="C9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A1A1A"/>
                </a:solidFill>
                <a:latin typeface="맑은 고딕"/>
                <a:ea typeface="맑은 고딕"/>
              </a:rPr>
              <a:t>정체성 fence (C2와의 경계)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객체당 상태는 last_access_ts + window 횟수뿐(EWMA, 이력, 예측, class prior, type 없음). activity는 새 trigger가 아니라 기존 t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rigger의 후보 축소/가중/정렬에만 쓴다. 새 정책 상수 없음(window=COOLDOWN_S, margin=AFFINITY_MARGIN, share=LINK_S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HARE).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92240" y="5943600"/>
            <a:ext cx="5303520" cy="713232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404040"/>
                </a:solidFill>
                <a:latin typeface="맑은 고딕"/>
                <a:ea typeface="맑은 고딕"/>
              </a:rPr>
              <a:t>보존해야 할 C1 이점 (측정, 통합 21쌍)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404040"/>
                </a:solidFill>
                <a:latin typeface="맑은 고딕"/>
                <a:ea typeface="맑은 고딕"/>
              </a:rPr>
              <a:t>이동 138 대 1,339 GiB (C2), 링크 점유 1.6% 대 10.5%, 결정 연산 3 대 111 ms/run, HBM x0.97 대 x1.21, QA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404040"/>
                </a:solidFill>
                <a:latin typeface="맑은 고딕"/>
                <a:ea typeface="맑은 고딕"/>
              </a:rPr>
              <a:t>4 module 1.75 대 2.50. 보완 후 같은 항목을 재측정해 guard로 쓴다.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5596128"/>
            <a:ext cx="713232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A1/A2/A3 = QA1 격차(D1~D3), B1/B2 = 꼬리와 큰 객체 admission(D4, D5). A1 신호: C1이 관측(A1-observe) 또는 runtime hint push(A1-hint)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880360" y="1719072"/>
            <a:ext cx="365760" cy="0"/>
          </a:xfrm>
          <a:prstGeom prst="line">
            <a:avLst/>
          </a:prstGeom>
          <a:ln w="1587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760720" y="1719072"/>
            <a:ext cx="365759" cy="0"/>
          </a:xfrm>
          <a:prstGeom prst="line">
            <a:avLst/>
          </a:prstGeom>
          <a:ln w="1587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8641080" y="1719072"/>
            <a:ext cx="365760" cy="0"/>
          </a:xfrm>
          <a:prstGeom prst="line">
            <a:avLst/>
          </a:prstGeom>
          <a:ln w="1587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0264140" y="2020824"/>
            <a:ext cx="0" cy="265176"/>
          </a:xfrm>
          <a:prstGeom prst="line">
            <a:avLst/>
          </a:prstGeom>
          <a:ln w="1587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0264140" y="2889504"/>
            <a:ext cx="0" cy="265176"/>
          </a:xfrm>
          <a:prstGeom prst="line">
            <a:avLst/>
          </a:prstGeom>
          <a:ln w="1587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0264140" y="3758184"/>
            <a:ext cx="0" cy="265176"/>
          </a:xfrm>
          <a:prstGeom prst="line">
            <a:avLst/>
          </a:prstGeom>
          <a:ln w="1587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264140" y="4626864"/>
            <a:ext cx="0" cy="265176"/>
          </a:xfrm>
          <a:prstGeom prst="line">
            <a:avLst/>
          </a:prstGeom>
          <a:ln w="1587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>
            <a:off x="8641080" y="5193792"/>
            <a:ext cx="365760" cy="0"/>
          </a:xfrm>
          <a:prstGeom prst="line">
            <a:avLst/>
          </a:prstGeom>
          <a:ln w="1587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H="1">
            <a:off x="5760720" y="5193792"/>
            <a:ext cx="365759" cy="0"/>
          </a:xfrm>
          <a:prstGeom prst="line">
            <a:avLst/>
          </a:prstGeom>
          <a:ln w="1587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623060" y="2020824"/>
            <a:ext cx="0" cy="265176"/>
          </a:xfrm>
          <a:prstGeom prst="line">
            <a:avLst/>
          </a:prstGeom>
          <a:ln w="1587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880360" y="2587752"/>
            <a:ext cx="6126480" cy="0"/>
          </a:xfrm>
          <a:prstGeom prst="line">
            <a:avLst/>
          </a:prstGeom>
          <a:ln w="1587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880360" y="2777344"/>
            <a:ext cx="3246119" cy="489495"/>
          </a:xfrm>
          <a:prstGeom prst="line">
            <a:avLst/>
          </a:prstGeom>
          <a:ln w="1587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8641080" y="4325112"/>
            <a:ext cx="365760" cy="0"/>
          </a:xfrm>
          <a:prstGeom prst="line">
            <a:avLst/>
          </a:prstGeom>
          <a:ln w="1587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880360" y="3646024"/>
            <a:ext cx="3246119" cy="489495"/>
          </a:xfrm>
          <a:prstGeom prst="line">
            <a:avLst/>
          </a:prstGeom>
          <a:ln w="1587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8384326" y="3758184"/>
            <a:ext cx="879267" cy="265176"/>
          </a:xfrm>
          <a:prstGeom prst="line">
            <a:avLst/>
          </a:prstGeom>
          <a:ln w="1587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274320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  <a:ea typeface="맑은 고딕"/>
              </a:rPr>
              <a:t>C1 QA1 보완 컴포넌트 표 - 겨냥 진단, 기대 방향, 검증 상태 (전부 [C] 논증, 수치 이득 주장 없음)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14400"/>
            <a:ext cx="2148840" cy="38404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맑은 고딕"/>
                <a:ea typeface="맑은 고딕"/>
              </a:rPr>
              <a:t>ID / 컴포넌트</a:t>
            </a:r>
          </a:p>
        </p:txBody>
      </p:sp>
      <p:sp>
        <p:nvSpPr>
          <p:cNvPr id="4" name="Rectangle 3"/>
          <p:cNvSpPr/>
          <p:nvPr/>
        </p:nvSpPr>
        <p:spPr>
          <a:xfrm>
            <a:off x="2514600" y="914400"/>
            <a:ext cx="2880360" cy="38404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맑은 고딕"/>
                <a:ea typeface="맑은 고딕"/>
              </a:rPr>
              <a:t>겨냥 진단 (측정 [B+C], 출처 qa_result.json)</a:t>
            </a:r>
          </a:p>
        </p:txBody>
      </p:sp>
      <p:sp>
        <p:nvSpPr>
          <p:cNvPr id="5" name="Rectangle 4"/>
          <p:cNvSpPr/>
          <p:nvPr/>
        </p:nvSpPr>
        <p:spPr>
          <a:xfrm>
            <a:off x="5394960" y="914400"/>
            <a:ext cx="2011680" cy="38404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맑은 고딕"/>
                <a:ea typeface="맑은 고딕"/>
              </a:rPr>
              <a:t>기대 방향 (↑ 개선 ↓ 악화 ≈ 중립 ? </a:t>
            </a:r>
          </a:p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맑은 고딕"/>
                <a:ea typeface="맑은 고딕"/>
              </a:rPr>
              <a:t>불확실)</a:t>
            </a:r>
          </a:p>
        </p:txBody>
      </p:sp>
      <p:sp>
        <p:nvSpPr>
          <p:cNvPr id="6" name="Rectangle 5"/>
          <p:cNvSpPr/>
          <p:nvPr/>
        </p:nvSpPr>
        <p:spPr>
          <a:xfrm>
            <a:off x="7406640" y="914400"/>
            <a:ext cx="2423160" cy="38404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맑은 고딕"/>
                <a:ea typeface="맑은 고딕"/>
              </a:rPr>
              <a:t>리스크 / trade-off</a:t>
            </a:r>
          </a:p>
        </p:txBody>
      </p:sp>
      <p:sp>
        <p:nvSpPr>
          <p:cNvPr id="7" name="Rectangle 6"/>
          <p:cNvSpPr/>
          <p:nvPr/>
        </p:nvSpPr>
        <p:spPr>
          <a:xfrm>
            <a:off x="9829800" y="914400"/>
            <a:ext cx="1965960" cy="384048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맑은 고딕"/>
                <a:ea typeface="맑은 고딕"/>
              </a:rPr>
              <a:t>검증 상태 / 실험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335024"/>
            <a:ext cx="2148840" cy="822960"/>
          </a:xfrm>
          <a:prstGeom prst="rect">
            <a:avLst/>
          </a:prstGeom>
          <a:solidFill>
            <a:srgbClr val="FDEBD3"/>
          </a:solidFill>
          <a:ln w="28575">
            <a:solidFill>
              <a:srgbClr val="C070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A1 Activity Tag Store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신규 side-car: ACCESSED -&gt; last_access_t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s + 8 s window 횟수</a:t>
            </a:r>
          </a:p>
        </p:txBody>
      </p:sp>
      <p:sp>
        <p:nvSpPr>
          <p:cNvPr id="9" name="Rectangle 8"/>
          <p:cNvSpPr/>
          <p:nvPr/>
        </p:nvSpPr>
        <p:spPr>
          <a:xfrm>
            <a:off x="2514600" y="1335024"/>
            <a:ext cx="288036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D1: 같은 class KV 3쌍(B200)이 QA1 ln 격차의 96.5% (rece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ncy_shift 44.4, idle_kv 33.6, rotating 18.5%). C1 x1.11/1.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48/1.19 대 C2 x2.62/2.82/1.70, C1 이동 0.8~1.6회/run 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대 C2 21~30회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94960" y="1335024"/>
            <a:ext cx="201168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A"/>
                </a:solidFill>
                <a:latin typeface="맑은 고딕"/>
                <a:ea typeface="맑은 고딕"/>
              </a:rPr>
              <a:t>QA1 ↑ · QA2 ↑? (TTFT P50) · QA3 ≈ · Q</a:t>
            </a:r>
          </a:p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A"/>
                </a:solidFill>
                <a:latin typeface="맑은 고딕"/>
                <a:ea typeface="맑은 고딕"/>
              </a:rPr>
              <a:t>A4 ≈ (C1 로컬 1 module 예상)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06640" y="1335024"/>
            <a:ext cx="242316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C2화 drift. fence 필수. 낮은 접근률 noise (hot 2.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8회/window면 0회 확률 약 6%)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829800" y="1335024"/>
            <a:ext cx="196596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[C] 미구현. Exp-1: DP1_C1_ACTIVITY 변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형, off == 본 결과여야 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194560"/>
            <a:ext cx="2148840" cy="822960"/>
          </a:xfrm>
          <a:prstGeom prst="rect">
            <a:avLst/>
          </a:prstGeom>
          <a:solidFill>
            <a:srgbClr val="E3F1E3"/>
          </a:solidFill>
          <a:ln w="28575">
            <a:solidFill>
              <a:srgbClr val="3F8A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A2 Promotion / Swap (변경)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gain x (n_p+1) &gt;= margin x loss x (n_v+1), 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활성 객체만 승격 후보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14600" y="2194560"/>
            <a:ext cx="288036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D2: 같은 class는 static gain == loss라 margin 2.0 통과 불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가. D3: H100 1 TiB RAG C1 x1.06 대 C2 x1.41 (이동 1회 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대 18회, CI 겹침)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94960" y="2194560"/>
            <a:ext cx="201168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A"/>
                </a:solidFill>
                <a:latin typeface="맑은 고딕"/>
                <a:ea typeface="맑은 고딕"/>
              </a:rPr>
              <a:t>QA1 ↑ · QA2 ↑? · QA3 ≈/↓ (직접 승격</a:t>
            </a:r>
          </a:p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A"/>
                </a:solidFill>
                <a:latin typeface="맑은 고딕"/>
                <a:ea typeface="맑은 고딕"/>
              </a:rPr>
              <a:t>은 HBM 증가, C2는 HBM x1.21) · QA4 ≈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2194560"/>
            <a:ext cx="242316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새 trigger가 되면 C2화. rotating hotset thrash (기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존 cooldown 8 s, margin 2.0이 방어선)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829800" y="2194560"/>
            <a:ext cx="196596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[C] Exp-1 + fast-rotation 대조 시나리오,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QA3 HBM 비율 &lt;= x1.05 guard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054096"/>
            <a:ext cx="2148840" cy="822960"/>
          </a:xfrm>
          <a:prstGeom prst="rect">
            <a:avLst/>
          </a:prstGeom>
          <a:solidFill>
            <a:srgbClr val="E3F1E3"/>
          </a:solidFill>
          <a:ln w="28575">
            <a:solidFill>
              <a:srgbClr val="3F8A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A3 Eviction (변경)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victim 정렬: idle 우선 (현재 key = size x res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idency age)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514600" y="3054096"/>
            <a:ext cx="288036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D2: 현재 victim 순서가 접근 시각과 무관 (설계 8.8의 basic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age/LRU와 구현 차이)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94960" y="3054096"/>
            <a:ext cx="201168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A"/>
                </a:solidFill>
                <a:latin typeface="맑은 고딕"/>
                <a:ea typeface="맑은 고딕"/>
              </a:rPr>
              <a:t>QA1 ≈ · QA3 ↑ (cold가 HBM을 먼저 떠</a:t>
            </a:r>
          </a:p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A"/>
                </a:solidFill>
                <a:latin typeface="맑은 고딕"/>
                <a:ea typeface="맑은 고딕"/>
              </a:rPr>
              <a:t>남) · QA2 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06640" y="3054096"/>
            <a:ext cx="242316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작은 객체를 여러 개 고르면 이동 횟수 증가 가능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829800" y="3054096"/>
            <a:ext cx="196596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[C] Exp-1 variant (이동 횟수/GiB 모니터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링)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3913632"/>
            <a:ext cx="2148840" cy="822960"/>
          </a:xfrm>
          <a:prstGeom prst="rect">
            <a:avLst/>
          </a:prstGeom>
          <a:solidFill>
            <a:srgbClr val="FDEBD3"/>
          </a:solidFill>
          <a:ln w="28575">
            <a:solidFill>
              <a:srgbClr val="C070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B2 No-benefit Rebalance Gate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신규: 용량 부족도 SLO 위반도 없는 압박이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면 rebalance 보류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514600" y="3913632"/>
            <a:ext cx="288036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D4: Common 4쌍에서 C1 이동 231~284 GiB, QA1 x0.99~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1.00, TTFT P99 x3.76~4.32 (C1 악화 6쌍, C2 5쌍)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394960" y="3913632"/>
            <a:ext cx="201168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A"/>
                </a:solidFill>
                <a:latin typeface="맑은 고딕"/>
                <a:ea typeface="맑은 고딕"/>
              </a:rPr>
              <a:t>QA1 ≈ · QA2 ↑ (꼬리) · QA3 ≈ · QA4 ≈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06640" y="3913632"/>
            <a:ext cx="242316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host path 경합의 C1 승리(H100 x1.63, B200 x1.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37)를 막을 위험. 대역폭 충격을 비용 추정에 반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영해야 함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829800" y="3913632"/>
            <a:ext cx="196596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[C] Exp-2. 반증: dyn_host_path win 소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4773168"/>
            <a:ext cx="2148840" cy="822960"/>
          </a:xfrm>
          <a:prstGeom prst="rect">
            <a:avLst/>
          </a:prstGeom>
          <a:solidFill>
            <a:srgbClr val="FDEBD3"/>
          </a:solidFill>
          <a:ln w="28575">
            <a:solidFill>
              <a:srgbClr val="C070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B1 Staged Migration Pacer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신규: tick당 min(LINK_SHARE, 1 - bw_util)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만 진행, copy-then-switch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514600" y="4773168"/>
            <a:ext cx="288036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D5: 이동이 burst cap보다 크면 admit 불가. cap 1.0 s에서 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C1 QA1 x1.206, 0.5 s에서 x1.000 (2.0 s x1.298)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394960" y="4773168"/>
            <a:ext cx="201168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A"/>
                </a:solidFill>
                <a:latin typeface="맑은 고딕"/>
                <a:ea typeface="맑은 고딕"/>
              </a:rPr>
              <a:t>QA1 ↑? (큰 객체 통과) · QA2 ↑ (꼬리) · </a:t>
            </a:r>
          </a:p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A"/>
                </a:solidFill>
                <a:latin typeface="맑은 고딕"/>
                <a:ea typeface="맑은 고딕"/>
              </a:rPr>
              <a:t>QA3 ≈ · QA4 ↓? (공유 경계 변경)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406640" y="4773168"/>
            <a:ext cx="242316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simulator executor에 in-flight 모델 필요 (M-class,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C2에도 영향). 평균장 간섭 과대 가능성과 혼재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829800" y="4773168"/>
            <a:ext cx="196596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[C] Exp-3, 별도 iteration. 수정 전 결과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1A1A1A"/>
                </a:solidFill>
                <a:latin typeface="맑은 고딕"/>
                <a:ea typeface="맑은 고딕"/>
              </a:rPr>
              <a:t>는 pre_ 폴더에 보존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5669280"/>
            <a:ext cx="11430000" cy="1005840"/>
          </a:xfrm>
          <a:prstGeom prst="rect">
            <a:avLst/>
          </a:prstGeom>
          <a:solidFill>
            <a:srgbClr val="FFF8EC"/>
          </a:solidFill>
          <a:ln w="9525">
            <a:solidFill>
              <a:srgbClr val="C9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한계 (솔직하게)</a:t>
            </a:r>
          </a:p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A"/>
                </a:solidFill>
                <a:latin typeface="맑은 고딕"/>
                <a:ea typeface="맑은 고딕"/>
              </a:rPr>
              <a:t>격차의 96.5%를 차지하는 3쌍은 B200 한 시스템에만 있고(H100은 Baseline이 SLO 불가) hot/cold 대비 10~30배와 객체 8~9개를 시나리오가 심었다. 이득은 상한에 가깝다. A1은 per-object 관측이라 C1의 '객체별 behavior 비추적' 원칙을 부</a:t>
            </a:r>
          </a:p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A"/>
                </a:solidFill>
                <a:latin typeface="맑은 고딕"/>
                <a:ea typeface="맑은 고딕"/>
              </a:rPr>
              <a:t>분 양보하는 것이며, 양보 없이 닫히는 부분은 B(QA2)뿐이다. 회계식(예측 아님): 세 쌍의 격차를 비율 f만큼 닫으면 통합 QA1 = 1.298 x exp(0.088 f) (f=0.5이면 x1.357). C2의 이득 일부는 HBM 증가(x1.21)와 이동 증가로 얻은 것이라 같은 일</a:t>
            </a:r>
          </a:p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A"/>
                </a:solidFill>
                <a:latin typeface="맑은 고딕"/>
                <a:ea typeface="맑은 고딕"/>
              </a:rPr>
              <a:t>을 하면 QA3와 이동량 이점이 줄어든다. QA1 별 경계 1.30은 결과를 본 뒤 정한 값이라 별 변화는 성과가 아니다.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